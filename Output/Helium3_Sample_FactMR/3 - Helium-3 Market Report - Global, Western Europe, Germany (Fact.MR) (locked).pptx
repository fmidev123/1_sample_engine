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8.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479" r:id="rId231"/>
    <p:sldId id="471" r:id="rId223"/>
    <p:sldId id="472" r:id="rId224"/>
    <p:sldId id="473" r:id="rId225"/>
    <p:sldId id="474" r:id="rId226"/>
    <p:sldId id="475" r:id="rId227"/>
    <p:sldId id="476" r:id="rId228"/>
    <p:sldId id="477" r:id="rId229"/>
    <p:sldId id="478" r:id="rId230"/>
    <p:sldId id="490" r:id="rId242"/>
    <p:sldId id="480" r:id="rId232"/>
    <p:sldId id="481" r:id="rId233"/>
    <p:sldId id="482" r:id="rId234"/>
    <p:sldId id="483" r:id="rId235"/>
    <p:sldId id="484" r:id="rId236"/>
    <p:sldId id="485" r:id="rId237"/>
    <p:sldId id="486" r:id="rId238"/>
    <p:sldId id="487" r:id="rId239"/>
    <p:sldId id="488" r:id="rId240"/>
    <p:sldId id="489" r:id="rId241"/>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2" r:id="rId44"/>
    <p:sldId id="293" r:id="rId45"/>
    <p:sldId id="296" r:id="rId48"/>
    <p:sldId id="297" r:id="rId49"/>
    <p:sldId id="298" r:id="rId50"/>
    <p:sldId id="299" r:id="rId51"/>
    <p:sldId id="301" r:id="rId53"/>
    <p:sldId id="302" r:id="rId54"/>
    <p:sldId id="305" r:id="rId57"/>
    <p:sldId id="306" r:id="rId58"/>
    <p:sldId id="307" r:id="rId59"/>
    <p:sldId id="308" r:id="rId60"/>
    <p:sldId id="311" r:id="rId63"/>
    <p:sldId id="312" r:id="rId64"/>
    <p:sldId id="315" r:id="rId67"/>
    <p:sldId id="316" r:id="rId68"/>
    <p:sldId id="317" r:id="rId69"/>
    <p:sldId id="318" r:id="rId70"/>
    <p:sldId id="319" r:id="rId71"/>
    <p:sldId id="323" r:id="rId75"/>
    <p:sldId id="324" r:id="rId76"/>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4" r:id="rId106"/>
    <p:sldId id="355" r:id="rId107"/>
    <p:sldId id="358" r:id="rId110"/>
    <p:sldId id="359" r:id="rId111"/>
    <p:sldId id="360" r:id="rId112"/>
    <p:sldId id="361" r:id="rId113"/>
    <p:sldId id="363" r:id="rId115"/>
    <p:sldId id="364" r:id="rId116"/>
    <p:sldId id="367" r:id="rId119"/>
    <p:sldId id="368" r:id="rId120"/>
    <p:sldId id="369" r:id="rId121"/>
    <p:sldId id="370" r:id="rId122"/>
    <p:sldId id="372" r:id="rId124"/>
    <p:sldId id="373" r:id="rId125"/>
    <p:sldId id="376" r:id="rId128"/>
    <p:sldId id="377" r:id="rId129"/>
    <p:sldId id="378" r:id="rId130"/>
    <p:sldId id="379" r:id="rId131"/>
    <p:sldId id="380" r:id="rId132"/>
    <p:sldId id="382" r:id="rId134"/>
    <p:sldId id="383" r:id="rId135"/>
    <p:sldId id="386" r:id="rId138"/>
    <p:sldId id="387" r:id="rId139"/>
    <p:sldId id="388" r:id="rId140"/>
    <p:sldId id="389" r:id="rId141"/>
    <p:sldId id="390" r:id="rId142"/>
    <p:sldId id="391" r:id="rId143"/>
    <p:sldId id="392" r:id="rId144"/>
    <p:sldId id="393" r:id="rId145"/>
    <p:sldId id="394" r:id="rId146"/>
    <p:sldId id="396" r:id="rId148"/>
    <p:sldId id="397" r:id="rId149"/>
    <p:sldId id="398" r:id="rId150"/>
    <p:sldId id="400" r:id="rId152"/>
    <p:sldId id="401" r:id="rId153"/>
    <p:sldId id="402" r:id="rId154"/>
    <p:sldId id="404" r:id="rId156"/>
    <p:sldId id="405" r:id="rId157"/>
    <p:sldId id="406" r:id="rId158"/>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91" r:id="rId159"/>
    <p:sldId id="492" r:id="rId1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30.xml"/><Relationship Id="rId18" Type="http://schemas.openxmlformats.org/officeDocument/2006/relationships/slide" Target="slides/slide31.xml"/><Relationship Id="rId19" Type="http://schemas.openxmlformats.org/officeDocument/2006/relationships/slide" Target="slides/slide32.xml"/><Relationship Id="rId20" Type="http://schemas.openxmlformats.org/officeDocument/2006/relationships/slide" Target="slides/slide33.xml"/><Relationship Id="rId21" Type="http://schemas.openxmlformats.org/officeDocument/2006/relationships/slide" Target="slides/slide34.xml"/><Relationship Id="rId22" Type="http://schemas.openxmlformats.org/officeDocument/2006/relationships/slide" Target="slides/slide35.xml"/><Relationship Id="rId23" Type="http://schemas.openxmlformats.org/officeDocument/2006/relationships/slide" Target="slides/slide36.xml"/><Relationship Id="rId24" Type="http://schemas.openxmlformats.org/officeDocument/2006/relationships/slide" Target="slides/slide37.xml"/><Relationship Id="rId25" Type="http://schemas.openxmlformats.org/officeDocument/2006/relationships/slide" Target="slides/slide38.xml"/><Relationship Id="rId26" Type="http://schemas.openxmlformats.org/officeDocument/2006/relationships/slide" Target="slides/slide39.xml"/><Relationship Id="rId27" Type="http://schemas.openxmlformats.org/officeDocument/2006/relationships/slide" Target="slides/slide40.xml"/><Relationship Id="rId28" Type="http://schemas.openxmlformats.org/officeDocument/2006/relationships/slide" Target="slides/slide41.xml"/><Relationship Id="rId29" Type="http://schemas.openxmlformats.org/officeDocument/2006/relationships/slide" Target="slides/slide42.xml"/><Relationship Id="rId30" Type="http://schemas.openxmlformats.org/officeDocument/2006/relationships/slide" Target="slides/slide43.xml"/><Relationship Id="rId31" Type="http://schemas.openxmlformats.org/officeDocument/2006/relationships/slide" Target="slides/slide44.xml"/><Relationship Id="rId32" Type="http://schemas.openxmlformats.org/officeDocument/2006/relationships/slide" Target="slides/slide45.xml"/><Relationship Id="rId33" Type="http://schemas.openxmlformats.org/officeDocument/2006/relationships/slide" Target="slides/slide46.xml"/><Relationship Id="rId34" Type="http://schemas.openxmlformats.org/officeDocument/2006/relationships/slide" Target="slides/slide47.xml"/><Relationship Id="rId35" Type="http://schemas.openxmlformats.org/officeDocument/2006/relationships/slide" Target="slides/slide48.xml"/><Relationship Id="rId36" Type="http://schemas.openxmlformats.org/officeDocument/2006/relationships/slide" Target="slides/slide49.xml"/><Relationship Id="rId37" Type="http://schemas.openxmlformats.org/officeDocument/2006/relationships/slide" Target="slides/slide50.xml"/><Relationship Id="rId38" Type="http://schemas.openxmlformats.org/officeDocument/2006/relationships/slide" Target="slides/slide51.xml"/><Relationship Id="rId39" Type="http://schemas.openxmlformats.org/officeDocument/2006/relationships/slide" Target="slides/slide52.xml"/><Relationship Id="rId40" Type="http://schemas.openxmlformats.org/officeDocument/2006/relationships/slide" Target="slides/slide53.xml"/><Relationship Id="rId41" Type="http://schemas.openxmlformats.org/officeDocument/2006/relationships/slide" Target="slides/slide54.xml"/><Relationship Id="rId42" Type="http://schemas.openxmlformats.org/officeDocument/2006/relationships/slide" Target="slides/slide55.xml"/><Relationship Id="rId44" Type="http://schemas.openxmlformats.org/officeDocument/2006/relationships/slide" Target="slides/slide56.xml"/><Relationship Id="rId45"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3" Type="http://schemas.openxmlformats.org/officeDocument/2006/relationships/slide" Target="slides/slide62.xml"/><Relationship Id="rId54" Type="http://schemas.openxmlformats.org/officeDocument/2006/relationships/slide" Target="slides/slide63.xml"/><Relationship Id="rId57" Type="http://schemas.openxmlformats.org/officeDocument/2006/relationships/slide" Target="slides/slide64.xml"/><Relationship Id="rId58" Type="http://schemas.openxmlformats.org/officeDocument/2006/relationships/slide" Target="slides/slide65.xml"/><Relationship Id="rId59" Type="http://schemas.openxmlformats.org/officeDocument/2006/relationships/slide" Target="slides/slide66.xml"/><Relationship Id="rId60" Type="http://schemas.openxmlformats.org/officeDocument/2006/relationships/slide" Target="slides/slide67.xml"/><Relationship Id="rId63" Type="http://schemas.openxmlformats.org/officeDocument/2006/relationships/slide" Target="slides/slide68.xml"/><Relationship Id="rId64" Type="http://schemas.openxmlformats.org/officeDocument/2006/relationships/slide" Target="slides/slide69.xml"/><Relationship Id="rId67" Type="http://schemas.openxmlformats.org/officeDocument/2006/relationships/slide" Target="slides/slide70.xml"/><Relationship Id="rId68" Type="http://schemas.openxmlformats.org/officeDocument/2006/relationships/slide" Target="slides/slide71.xml"/><Relationship Id="rId69" Type="http://schemas.openxmlformats.org/officeDocument/2006/relationships/slide" Target="slides/slide72.xml"/><Relationship Id="rId70" Type="http://schemas.openxmlformats.org/officeDocument/2006/relationships/slide" Target="slides/slide73.xml"/><Relationship Id="rId71"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4" Type="http://schemas.openxmlformats.org/officeDocument/2006/relationships/slide" Target="slides/slide115.xml"/><Relationship Id="rId125" Type="http://schemas.openxmlformats.org/officeDocument/2006/relationships/slide" Target="slides/slide116.xml"/><Relationship Id="rId128" Type="http://schemas.openxmlformats.org/officeDocument/2006/relationships/slide" Target="slides/slide117.xml"/><Relationship Id="rId129" Type="http://schemas.openxmlformats.org/officeDocument/2006/relationships/slide" Target="slides/slide118.xml"/><Relationship Id="rId130" Type="http://schemas.openxmlformats.org/officeDocument/2006/relationships/slide" Target="slides/slide119.xml"/><Relationship Id="rId131" Type="http://schemas.openxmlformats.org/officeDocument/2006/relationships/slide" Target="slides/slide120.xml"/><Relationship Id="rId132" Type="http://schemas.openxmlformats.org/officeDocument/2006/relationships/slide" Target="slides/slide121.xml"/><Relationship Id="rId134" Type="http://schemas.openxmlformats.org/officeDocument/2006/relationships/slide" Target="slides/slide122.xml"/><Relationship Id="rId135" Type="http://schemas.openxmlformats.org/officeDocument/2006/relationships/slide" Target="slides/slide123.xml"/><Relationship Id="rId138" Type="http://schemas.openxmlformats.org/officeDocument/2006/relationships/slide" Target="slides/slide124.xml"/><Relationship Id="rId139" Type="http://schemas.openxmlformats.org/officeDocument/2006/relationships/slide" Target="slides/slide125.xml"/><Relationship Id="rId140" Type="http://schemas.openxmlformats.org/officeDocument/2006/relationships/slide" Target="slides/slide126.xml"/><Relationship Id="rId141" Type="http://schemas.openxmlformats.org/officeDocument/2006/relationships/slide" Target="slides/slide127.xml"/><Relationship Id="rId142"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5" Type="http://schemas.openxmlformats.org/officeDocument/2006/relationships/slide" Target="slides/slide131.xml"/><Relationship Id="rId146" Type="http://schemas.openxmlformats.org/officeDocument/2006/relationships/slide" Target="slides/slide132.xml"/><Relationship Id="rId148" Type="http://schemas.openxmlformats.org/officeDocument/2006/relationships/slide" Target="slides/slide133.xml"/><Relationship Id="rId149" Type="http://schemas.openxmlformats.org/officeDocument/2006/relationships/slide" Target="slides/slide134.xml"/><Relationship Id="rId150" Type="http://schemas.openxmlformats.org/officeDocument/2006/relationships/slide" Target="slides/slide135.xml"/><Relationship Id="rId152" Type="http://schemas.openxmlformats.org/officeDocument/2006/relationships/slide" Target="slides/slide136.xml"/><Relationship Id="rId153" Type="http://schemas.openxmlformats.org/officeDocument/2006/relationships/slide" Target="slides/slide137.xml"/><Relationship Id="rId154" Type="http://schemas.openxmlformats.org/officeDocument/2006/relationships/slide" Target="slides/slide138.xml"/><Relationship Id="rId155" Type="http://schemas.openxmlformats.org/officeDocument/2006/relationships/slide" Target="slides/slide196.xml"/><Relationship Id="rId156" Type="http://schemas.openxmlformats.org/officeDocument/2006/relationships/slide" Target="slides/slide139.xml"/><Relationship Id="rId157" Type="http://schemas.openxmlformats.org/officeDocument/2006/relationships/slide" Target="slides/slide140.xml"/><Relationship Id="rId158" Type="http://schemas.openxmlformats.org/officeDocument/2006/relationships/slide" Target="slides/slide141.xml"/><Relationship Id="rId159" Type="http://schemas.openxmlformats.org/officeDocument/2006/relationships/slide" Target="slides/slide195.xml"/><Relationship Id="rId160" Type="http://schemas.openxmlformats.org/officeDocument/2006/relationships/slide" Target="slides/slide142.xml"/><Relationship Id="rId161" Type="http://schemas.openxmlformats.org/officeDocument/2006/relationships/slide" Target="slides/slide143.xml"/><Relationship Id="rId162" Type="http://schemas.openxmlformats.org/officeDocument/2006/relationships/slide" Target="slides/slide144.xml"/><Relationship Id="rId163" Type="http://schemas.openxmlformats.org/officeDocument/2006/relationships/slide" Target="slides/slide145.xml"/><Relationship Id="rId164" Type="http://schemas.openxmlformats.org/officeDocument/2006/relationships/slide" Target="slides/slide146.xml"/><Relationship Id="rId165" Type="http://schemas.openxmlformats.org/officeDocument/2006/relationships/slide" Target="slides/slide147.xml"/><Relationship Id="rId166" Type="http://schemas.openxmlformats.org/officeDocument/2006/relationships/slide" Target="slides/slide148.xml"/><Relationship Id="rId167" Type="http://schemas.openxmlformats.org/officeDocument/2006/relationships/slide" Target="slides/slide149.xml"/><Relationship Id="rId168" Type="http://schemas.openxmlformats.org/officeDocument/2006/relationships/slide" Target="slides/slide150.xml"/><Relationship Id="rId169" Type="http://schemas.openxmlformats.org/officeDocument/2006/relationships/slide" Target="slides/slide151.xml"/><Relationship Id="rId170" Type="http://schemas.openxmlformats.org/officeDocument/2006/relationships/slide" Target="slides/slide152.xml"/><Relationship Id="rId171" Type="http://schemas.openxmlformats.org/officeDocument/2006/relationships/slide" Target="slides/slide153.xml"/><Relationship Id="rId172" Type="http://schemas.openxmlformats.org/officeDocument/2006/relationships/slide" Target="slides/slide154.xml"/><Relationship Id="rId173" Type="http://schemas.openxmlformats.org/officeDocument/2006/relationships/slide" Target="slides/slide155.xml"/><Relationship Id="rId174" Type="http://schemas.openxmlformats.org/officeDocument/2006/relationships/slide" Target="slides/slide156.xml"/><Relationship Id="rId175" Type="http://schemas.openxmlformats.org/officeDocument/2006/relationships/slide" Target="slides/slide157.xml"/><Relationship Id="rId176" Type="http://schemas.openxmlformats.org/officeDocument/2006/relationships/slide" Target="slides/slide158.xml"/><Relationship Id="rId177" Type="http://schemas.openxmlformats.org/officeDocument/2006/relationships/slide" Target="slides/slide159.xml"/><Relationship Id="rId178" Type="http://schemas.openxmlformats.org/officeDocument/2006/relationships/slide" Target="slides/slide160.xml"/><Relationship Id="rId179" Type="http://schemas.openxmlformats.org/officeDocument/2006/relationships/slide" Target="slides/slide161.xml"/><Relationship Id="rId180" Type="http://schemas.openxmlformats.org/officeDocument/2006/relationships/slide" Target="slides/slide162.xml"/><Relationship Id="rId181" Type="http://schemas.openxmlformats.org/officeDocument/2006/relationships/slide" Target="slides/slide163.xml"/><Relationship Id="rId182" Type="http://schemas.openxmlformats.org/officeDocument/2006/relationships/slide" Target="slides/slide164.xml"/><Relationship Id="rId183" Type="http://schemas.openxmlformats.org/officeDocument/2006/relationships/slide" Target="slides/slide165.xml"/><Relationship Id="rId184" Type="http://schemas.openxmlformats.org/officeDocument/2006/relationships/slide" Target="slides/slide166.xml"/><Relationship Id="rId185" Type="http://schemas.openxmlformats.org/officeDocument/2006/relationships/slide" Target="slides/slide167.xml"/><Relationship Id="rId186" Type="http://schemas.openxmlformats.org/officeDocument/2006/relationships/slide" Target="slides/slide168.xml"/><Relationship Id="rId187" Type="http://schemas.openxmlformats.org/officeDocument/2006/relationships/slide" Target="slides/slide169.xml"/><Relationship Id="rId188" Type="http://schemas.openxmlformats.org/officeDocument/2006/relationships/slide" Target="slides/slide170.xml"/><Relationship Id="rId189" Type="http://schemas.openxmlformats.org/officeDocument/2006/relationships/slide" Target="slides/slide171.xml"/><Relationship Id="rId190" Type="http://schemas.openxmlformats.org/officeDocument/2006/relationships/slide" Target="slides/slide172.xml"/><Relationship Id="rId191" Type="http://schemas.openxmlformats.org/officeDocument/2006/relationships/slide" Target="slides/slide173.xml"/><Relationship Id="rId192" Type="http://schemas.openxmlformats.org/officeDocument/2006/relationships/slide" Target="slides/slide174.xml"/><Relationship Id="rId193" Type="http://schemas.openxmlformats.org/officeDocument/2006/relationships/slide" Target="slides/slide175.xml"/><Relationship Id="rId194" Type="http://schemas.openxmlformats.org/officeDocument/2006/relationships/slide" Target="slides/slide176.xml"/><Relationship Id="rId195" Type="http://schemas.openxmlformats.org/officeDocument/2006/relationships/slide" Target="slides/slide177.xml"/><Relationship Id="rId196" Type="http://schemas.openxmlformats.org/officeDocument/2006/relationships/slide" Target="slides/slide178.xml"/><Relationship Id="rId197" Type="http://schemas.openxmlformats.org/officeDocument/2006/relationships/slide" Target="slides/slide179.xml"/><Relationship Id="rId198" Type="http://schemas.openxmlformats.org/officeDocument/2006/relationships/slide" Target="slides/slide180.xml"/><Relationship Id="rId199" Type="http://schemas.openxmlformats.org/officeDocument/2006/relationships/slide" Target="slides/slide181.xml"/><Relationship Id="rId200" Type="http://schemas.openxmlformats.org/officeDocument/2006/relationships/slide" Target="slides/slide182.xml"/><Relationship Id="rId201" Type="http://schemas.openxmlformats.org/officeDocument/2006/relationships/slide" Target="slides/slide183.xml"/><Relationship Id="rId202" Type="http://schemas.openxmlformats.org/officeDocument/2006/relationships/slide" Target="slides/slide184.xml"/><Relationship Id="rId203" Type="http://schemas.openxmlformats.org/officeDocument/2006/relationships/slide" Target="slides/slide185.xml"/><Relationship Id="rId204" Type="http://schemas.openxmlformats.org/officeDocument/2006/relationships/slide" Target="slides/slide186.xml"/><Relationship Id="rId205" Type="http://schemas.openxmlformats.org/officeDocument/2006/relationships/slide" Target="slides/slide187.xml"/><Relationship Id="rId206" Type="http://schemas.openxmlformats.org/officeDocument/2006/relationships/slide" Target="slides/slide188.xml"/><Relationship Id="rId207" Type="http://schemas.openxmlformats.org/officeDocument/2006/relationships/slide" Target="slides/slide189.xml"/><Relationship Id="rId208" Type="http://schemas.openxmlformats.org/officeDocument/2006/relationships/slide" Target="slides/slide190.xml"/><Relationship Id="rId209" Type="http://schemas.openxmlformats.org/officeDocument/2006/relationships/slide" Target="slides/slide191.xml"/><Relationship Id="rId210" Type="http://schemas.openxmlformats.org/officeDocument/2006/relationships/slide" Target="slides/slide192.xml"/><Relationship Id="rId211" Type="http://schemas.openxmlformats.org/officeDocument/2006/relationships/slide" Target="slides/slide193.xml"/><Relationship Id="rId212" Type="http://schemas.openxmlformats.org/officeDocument/2006/relationships/slide" Target="slides/slide194.xml"/><Relationship Id="rId223" Type="http://schemas.openxmlformats.org/officeDocument/2006/relationships/slide" Target="slides/slide11.xml"/><Relationship Id="rId224" Type="http://schemas.openxmlformats.org/officeDocument/2006/relationships/slide" Target="slides/slide12.xml"/><Relationship Id="rId225" Type="http://schemas.openxmlformats.org/officeDocument/2006/relationships/slide" Target="slides/slide13.xml"/><Relationship Id="rId226" Type="http://schemas.openxmlformats.org/officeDocument/2006/relationships/slide" Target="slides/slide14.xml"/><Relationship Id="rId227" Type="http://schemas.openxmlformats.org/officeDocument/2006/relationships/slide" Target="slides/slide15.xml"/><Relationship Id="rId228" Type="http://schemas.openxmlformats.org/officeDocument/2006/relationships/slide" Target="slides/slide16.xml"/><Relationship Id="rId229" Type="http://schemas.openxmlformats.org/officeDocument/2006/relationships/slide" Target="slides/slide17.xml"/><Relationship Id="rId230" Type="http://schemas.openxmlformats.org/officeDocument/2006/relationships/slide" Target="slides/slide18.xml"/><Relationship Id="rId231" Type="http://schemas.openxmlformats.org/officeDocument/2006/relationships/slide" Target="slides/slide10.xml"/><Relationship Id="rId232" Type="http://schemas.openxmlformats.org/officeDocument/2006/relationships/slide" Target="slides/slide20.xml"/><Relationship Id="rId233" Type="http://schemas.openxmlformats.org/officeDocument/2006/relationships/slide" Target="slides/slide21.xml"/><Relationship Id="rId234" Type="http://schemas.openxmlformats.org/officeDocument/2006/relationships/slide" Target="slides/slide22.xml"/><Relationship Id="rId235" Type="http://schemas.openxmlformats.org/officeDocument/2006/relationships/slide" Target="slides/slide23.xml"/><Relationship Id="rId236" Type="http://schemas.openxmlformats.org/officeDocument/2006/relationships/slide" Target="slides/slide24.xml"/><Relationship Id="rId237" Type="http://schemas.openxmlformats.org/officeDocument/2006/relationships/slide" Target="slides/slide25.xml"/><Relationship Id="rId238" Type="http://schemas.openxmlformats.org/officeDocument/2006/relationships/slide" Target="slides/slide26.xml"/><Relationship Id="rId239" Type="http://schemas.openxmlformats.org/officeDocument/2006/relationships/slide" Target="slides/slide27.xml"/><Relationship Id="rId240" Type="http://schemas.openxmlformats.org/officeDocument/2006/relationships/slide" Target="slides/slide28.xml"/><Relationship Id="rId241" Type="http://schemas.openxmlformats.org/officeDocument/2006/relationships/slide" Target="slides/slide29.xml"/><Relationship Id="rId242" Type="http://schemas.openxmlformats.org/officeDocument/2006/relationships/slide" Target="slides/slide19.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s>
</file>

<file path=ppt/charts/_rels/chart8.xml.rels><?xml version='1.0' encoding='UTF-8' standalone='yes'?>
<Relationships xmlns="http://schemas.openxmlformats.org/package/2006/relationships"><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s>
</file>

<file path=ppt/charts/_rels/chart9.xml.rels><?xml version='1.0' encoding='UTF-8' standalone='yes'?>
<Relationships xmlns="http://schemas.openxmlformats.org/package/2006/relationships"><Relationship Id="rId2" Type="http://schemas.openxmlformats.org/officeDocument/2006/relationships/image" Target="../media/image53.png"/><Relationship Id="rId3" Type="http://schemas.openxmlformats.org/officeDocument/2006/relationships/image" Target="../media/image54.png"/></Relationships>
</file>

<file path=ppt/charts/_rels/chart11.xml.rels><?xml version='1.0' encoding='UTF-8' standalone='yes'?>
<Relationships xmlns="http://schemas.openxmlformats.org/package/2006/relationships"><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84.png"/><Relationship Id="rId11" Type="http://schemas.openxmlformats.org/officeDocument/2006/relationships/image" Target="../media/image85.png"/><Relationship Id="rId12" Type="http://schemas.openxmlformats.org/officeDocument/2006/relationships/image" Target="../media/image86.png"/><Relationship Id="rId13" Type="http://schemas.openxmlformats.org/officeDocument/2006/relationships/image" Target="../media/image87.png"/><Relationship Id="rId14" Type="http://schemas.openxmlformats.org/officeDocument/2006/relationships/image" Target="../media/image88.png"/><Relationship Id="rId15" Type="http://schemas.openxmlformats.org/officeDocument/2006/relationships/image" Target="../media/image89.png"/></Relationships>
</file>

<file path=ppt/charts/_rels/chart12.xml.rels><?xml version='1.0' encoding='UTF-8' standalone='yes'?>
<Relationships xmlns="http://schemas.openxmlformats.org/package/2006/relationships"><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 Id="rId12" Type="http://schemas.openxmlformats.org/officeDocument/2006/relationships/image" Target="../media/image103.png"/><Relationship Id="rId13" Type="http://schemas.openxmlformats.org/officeDocument/2006/relationships/image" Target="../media/image104.png"/><Relationship Id="rId14" Type="http://schemas.openxmlformats.org/officeDocument/2006/relationships/image" Target="../media/image105.png"/><Relationship Id="rId15" Type="http://schemas.openxmlformats.org/officeDocument/2006/relationships/image" Target="../media/image106.png"/></Relationships>
</file>

<file path=ppt/charts/_rels/chart13.xml.rels><?xml version='1.0' encoding='UTF-8' standalone='yes'?>
<Relationships xmlns="http://schemas.openxmlformats.org/package/2006/relationships"><Relationship Id="rId2" Type="http://schemas.openxmlformats.org/officeDocument/2006/relationships/image" Target="../media/image110.png"/></Relationships>
</file>

<file path=ppt/charts/_rels/chart14.xml.rels><?xml version='1.0' encoding='UTF-8' standalone='yes'?>
<Relationships xmlns="http://schemas.openxmlformats.org/package/2006/relationships"><Relationship Id="rId2" Type="http://schemas.openxmlformats.org/officeDocument/2006/relationships/image" Target="../media/image111.png"/></Relationships>
</file>

<file path=ppt/charts/_rels/chart15.xml.rels><?xml version='1.0' encoding='UTF-8' standalone='yes'?>
<Relationships xmlns="http://schemas.openxmlformats.org/package/2006/relationships"><Relationship Id="rId2" Type="http://schemas.openxmlformats.org/officeDocument/2006/relationships/image" Target="../media/image117.png"/><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125.png"/><Relationship Id="rId11" Type="http://schemas.openxmlformats.org/officeDocument/2006/relationships/image" Target="../media/image126.png"/><Relationship Id="rId12" Type="http://schemas.openxmlformats.org/officeDocument/2006/relationships/image" Target="../media/image127.png"/><Relationship Id="rId13" Type="http://schemas.openxmlformats.org/officeDocument/2006/relationships/image" Target="../media/image128.png"/></Relationships>
</file>

<file path=ppt/charts/_rels/chart19.xml.rels><?xml version='1.0' encoding='UTF-8' standalone='yes'?>
<Relationships xmlns="http://schemas.openxmlformats.org/package/2006/relationships"><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s>
</file>

<file path=ppt/charts/_rels/chart20.xml.rels><?xml version='1.0' encoding='UTF-8' standalone='yes'?>
<Relationships xmlns="http://schemas.openxmlformats.org/package/2006/relationships"><Relationship Id="rId2" Type="http://schemas.openxmlformats.org/officeDocument/2006/relationships/image" Target="../media/image139.png"/><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image" Target="../media/image142.png"/><Relationship Id="rId6" Type="http://schemas.openxmlformats.org/officeDocument/2006/relationships/image" Target="../media/image143.png"/><Relationship Id="rId7" Type="http://schemas.openxmlformats.org/officeDocument/2006/relationships/image" Target="../media/image144.png"/><Relationship Id="rId8" Type="http://schemas.openxmlformats.org/officeDocument/2006/relationships/image" Target="../media/image145.png"/><Relationship Id="rId9" Type="http://schemas.openxmlformats.org/officeDocument/2006/relationships/image" Target="../media/image146.png"/><Relationship Id="rId10" Type="http://schemas.openxmlformats.org/officeDocument/2006/relationships/image" Target="../media/image147.png"/><Relationship Id="rId11" Type="http://schemas.openxmlformats.org/officeDocument/2006/relationships/image" Target="../media/image148.png"/><Relationship Id="rId12" Type="http://schemas.openxmlformats.org/officeDocument/2006/relationships/image" Target="../media/image149.png"/><Relationship Id="rId13" Type="http://schemas.openxmlformats.org/officeDocument/2006/relationships/image" Target="../media/image150.png"/><Relationship Id="rId14" Type="http://schemas.openxmlformats.org/officeDocument/2006/relationships/image" Target="../media/image151.png"/><Relationship Id="rId15" Type="http://schemas.openxmlformats.org/officeDocument/2006/relationships/image" Target="../media/image152.png"/></Relationships>
</file>

<file path=ppt/charts/_rels/chart24.xml.rels><?xml version='1.0' encoding='UTF-8' standalone='yes'?>
<Relationships xmlns="http://schemas.openxmlformats.org/package/2006/relationships"><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s>
</file>

<file path=ppt/charts/_rels/chart25.xml.rels><?xml version='1.0' encoding='UTF-8' standalone='yes'?>
<Relationships xmlns="http://schemas.openxmlformats.org/package/2006/relationships"><Relationship Id="rId2" Type="http://schemas.openxmlformats.org/officeDocument/2006/relationships/image" Target="../media/image170.png"/><Relationship Id="rId3" Type="http://schemas.openxmlformats.org/officeDocument/2006/relationships/image" Target="../media/image171.png"/><Relationship Id="rId4" Type="http://schemas.openxmlformats.org/officeDocument/2006/relationships/image" Target="../media/image172.png"/><Relationship Id="rId5" Type="http://schemas.openxmlformats.org/officeDocument/2006/relationships/image" Target="../media/image173.png"/><Relationship Id="rId6" Type="http://schemas.openxmlformats.org/officeDocument/2006/relationships/image" Target="../media/image174.png"/><Relationship Id="rId7" Type="http://schemas.openxmlformats.org/officeDocument/2006/relationships/image" Target="../media/image175.png"/><Relationship Id="rId8" Type="http://schemas.openxmlformats.org/officeDocument/2006/relationships/image" Target="../media/image176.png"/><Relationship Id="rId9" Type="http://schemas.openxmlformats.org/officeDocument/2006/relationships/image" Target="../media/image177.png"/><Relationship Id="rId10" Type="http://schemas.openxmlformats.org/officeDocument/2006/relationships/image" Target="../media/image178.png"/><Relationship Id="rId11" Type="http://schemas.openxmlformats.org/officeDocument/2006/relationships/image" Target="../media/image179.png"/><Relationship Id="rId12" Type="http://schemas.openxmlformats.org/officeDocument/2006/relationships/image" Target="../media/image180.png"/><Relationship Id="rId13" Type="http://schemas.openxmlformats.org/officeDocument/2006/relationships/image" Target="../media/image181.png"/><Relationship Id="rId14" Type="http://schemas.openxmlformats.org/officeDocument/2006/relationships/image" Target="../media/image182.png"/><Relationship Id="rId15" Type="http://schemas.openxmlformats.org/officeDocument/2006/relationships/image" Target="../media/image183.png"/><Relationship Id="rId16" Type="http://schemas.openxmlformats.org/officeDocument/2006/relationships/image" Target="../media/image184.png"/><Relationship Id="rId17" Type="http://schemas.openxmlformats.org/officeDocument/2006/relationships/image" Target="../media/image185.png"/><Relationship Id="rId18" Type="http://schemas.openxmlformats.org/officeDocument/2006/relationships/image" Target="../media/image186.png"/><Relationship Id="rId19" Type="http://schemas.openxmlformats.org/officeDocument/2006/relationships/image" Target="../media/image187.png"/><Relationship Id="rId20" Type="http://schemas.openxmlformats.org/officeDocument/2006/relationships/image" Target="../media/image188.png"/><Relationship Id="rId21" Type="http://schemas.openxmlformats.org/officeDocument/2006/relationships/image" Target="../media/image189.png"/><Relationship Id="rId22" Type="http://schemas.openxmlformats.org/officeDocument/2006/relationships/image" Target="../media/image190.png"/><Relationship Id="rId23" Type="http://schemas.openxmlformats.org/officeDocument/2006/relationships/image" Target="../media/image191.png"/><Relationship Id="rId24" Type="http://schemas.openxmlformats.org/officeDocument/2006/relationships/image" Target="../media/image192.png"/><Relationship Id="rId25" Type="http://schemas.openxmlformats.org/officeDocument/2006/relationships/image" Target="../media/image193.png"/><Relationship Id="rId26" Type="http://schemas.openxmlformats.org/officeDocument/2006/relationships/image" Target="../media/image194.png"/><Relationship Id="rId27" Type="http://schemas.openxmlformats.org/officeDocument/2006/relationships/image" Target="../media/image195.png"/><Relationship Id="rId28" Type="http://schemas.openxmlformats.org/officeDocument/2006/relationships/image" Target="../media/image196.png"/></Relationships>
</file>

<file path=ppt/charts/_rels/chart31.xml.rels><?xml version='1.0' encoding='UTF-8' standalone='yes'?>
<Relationships xmlns="http://schemas.openxmlformats.org/package/2006/relationships"><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image" Target="../media/image199.png"/><Relationship Id="rId5" Type="http://schemas.openxmlformats.org/officeDocument/2006/relationships/image" Target="../media/image200.png"/><Relationship Id="rId6" Type="http://schemas.openxmlformats.org/officeDocument/2006/relationships/image" Target="../media/image201.png"/><Relationship Id="rId7" Type="http://schemas.openxmlformats.org/officeDocument/2006/relationships/image" Target="../media/image202.png"/><Relationship Id="rId8" Type="http://schemas.openxmlformats.org/officeDocument/2006/relationships/image" Target="../media/image203.png"/><Relationship Id="rId9" Type="http://schemas.openxmlformats.org/officeDocument/2006/relationships/image" Target="../media/image204.png"/><Relationship Id="rId10" Type="http://schemas.openxmlformats.org/officeDocument/2006/relationships/image" Target="../media/image205.png"/><Relationship Id="rId11" Type="http://schemas.openxmlformats.org/officeDocument/2006/relationships/image" Target="../media/image206.png"/><Relationship Id="rId12" Type="http://schemas.openxmlformats.org/officeDocument/2006/relationships/image" Target="../media/image207.png"/><Relationship Id="rId13" Type="http://schemas.openxmlformats.org/officeDocument/2006/relationships/image" Target="../media/image208.png"/></Relationships>
</file>

<file path=ppt/charts/_rels/chart32.xml.rels><?xml version='1.0' encoding='UTF-8' standalone='yes'?>
<Relationships xmlns="http://schemas.openxmlformats.org/package/2006/relationships"><Relationship Id="rId2" Type="http://schemas.openxmlformats.org/officeDocument/2006/relationships/image" Target="../media/image224.png"/><Relationship Id="rId3" Type="http://schemas.openxmlformats.org/officeDocument/2006/relationships/image" Target="../media/image225.png"/><Relationship Id="rId4" Type="http://schemas.openxmlformats.org/officeDocument/2006/relationships/image" Target="../media/image226.png"/><Relationship Id="rId5" Type="http://schemas.openxmlformats.org/officeDocument/2006/relationships/image" Target="../media/image227.png"/><Relationship Id="rId6" Type="http://schemas.openxmlformats.org/officeDocument/2006/relationships/image" Target="../media/image228.png"/><Relationship Id="rId7" Type="http://schemas.openxmlformats.org/officeDocument/2006/relationships/image" Target="../media/image229.png"/><Relationship Id="rId8" Type="http://schemas.openxmlformats.org/officeDocument/2006/relationships/image" Target="../media/image230.png"/><Relationship Id="rId9" Type="http://schemas.openxmlformats.org/officeDocument/2006/relationships/image" Target="../media/image231.png"/><Relationship Id="rId10" Type="http://schemas.openxmlformats.org/officeDocument/2006/relationships/image" Target="../media/image232.png"/><Relationship Id="rId11" Type="http://schemas.openxmlformats.org/officeDocument/2006/relationships/image" Target="../media/image233.png"/><Relationship Id="rId12" Type="http://schemas.openxmlformats.org/officeDocument/2006/relationships/image" Target="../media/image234.png"/><Relationship Id="rId13" Type="http://schemas.openxmlformats.org/officeDocument/2006/relationships/image" Target="../media/image235.png"/><Relationship Id="rId14" Type="http://schemas.openxmlformats.org/officeDocument/2006/relationships/image" Target="../media/image236.png"/><Relationship Id="rId15" Type="http://schemas.openxmlformats.org/officeDocument/2006/relationships/image" Target="../media/image237.png"/><Relationship Id="rId16" Type="http://schemas.openxmlformats.org/officeDocument/2006/relationships/image" Target="../media/image238.png"/><Relationship Id="rId17" Type="http://schemas.openxmlformats.org/officeDocument/2006/relationships/image" Target="../media/image239.png"/><Relationship Id="rId18" Type="http://schemas.openxmlformats.org/officeDocument/2006/relationships/image" Target="../media/image240.png"/><Relationship Id="rId19" Type="http://schemas.openxmlformats.org/officeDocument/2006/relationships/image" Target="../media/image241.png"/><Relationship Id="rId20" Type="http://schemas.openxmlformats.org/officeDocument/2006/relationships/image" Target="../media/image242.png"/><Relationship Id="rId21" Type="http://schemas.openxmlformats.org/officeDocument/2006/relationships/image" Target="../media/image243.png"/><Relationship Id="rId22" Type="http://schemas.openxmlformats.org/officeDocument/2006/relationships/image" Target="../media/image244.png"/><Relationship Id="rId23" Type="http://schemas.openxmlformats.org/officeDocument/2006/relationships/image" Target="../media/image245.png"/><Relationship Id="rId24" Type="http://schemas.openxmlformats.org/officeDocument/2006/relationships/image" Target="../media/image246.png"/><Relationship Id="rId25" Type="http://schemas.openxmlformats.org/officeDocument/2006/relationships/image" Target="../media/image247.png"/><Relationship Id="rId26" Type="http://schemas.openxmlformats.org/officeDocument/2006/relationships/image" Target="../media/image248.png"/><Relationship Id="rId27" Type="http://schemas.openxmlformats.org/officeDocument/2006/relationships/image" Target="../media/image249.png"/><Relationship Id="rId28" Type="http://schemas.openxmlformats.org/officeDocument/2006/relationships/image" Target="../media/image250.png"/><Relationship Id="rId29" Type="http://schemas.openxmlformats.org/officeDocument/2006/relationships/image" Target="../media/image251.png"/><Relationship Id="rId30" Type="http://schemas.openxmlformats.org/officeDocument/2006/relationships/image" Target="../media/image252.png"/><Relationship Id="rId31" Type="http://schemas.openxmlformats.org/officeDocument/2006/relationships/image" Target="../media/image253.png"/><Relationship Id="rId32" Type="http://schemas.openxmlformats.org/officeDocument/2006/relationships/image" Target="../media/image254.png"/><Relationship Id="rId33" Type="http://schemas.openxmlformats.org/officeDocument/2006/relationships/image" Target="../media/image255.png"/><Relationship Id="rId34" Type="http://schemas.openxmlformats.org/officeDocument/2006/relationships/image" Target="../media/image256.png"/><Relationship Id="rId35" Type="http://schemas.openxmlformats.org/officeDocument/2006/relationships/image" Target="../media/image257.png"/><Relationship Id="rId36" Type="http://schemas.openxmlformats.org/officeDocument/2006/relationships/image" Target="../media/image258.png"/></Relationships>
</file>

<file path=ppt/charts/_rels/chart40.xml.rels><?xml version='1.0' encoding='UTF-8' standalone='yes'?>
<Relationships xmlns="http://schemas.openxmlformats.org/package/2006/relationships"><Relationship Id="rId2" Type="http://schemas.openxmlformats.org/officeDocument/2006/relationships/image" Target="../media/image259.png"/><Relationship Id="rId3" Type="http://schemas.openxmlformats.org/officeDocument/2006/relationships/image" Target="../media/image260.png"/><Relationship Id="rId4" Type="http://schemas.openxmlformats.org/officeDocument/2006/relationships/image" Target="../media/image261.png"/><Relationship Id="rId5" Type="http://schemas.openxmlformats.org/officeDocument/2006/relationships/image" Target="../media/image262.png"/><Relationship Id="rId6" Type="http://schemas.openxmlformats.org/officeDocument/2006/relationships/image" Target="../media/image263.png"/><Relationship Id="rId7" Type="http://schemas.openxmlformats.org/officeDocument/2006/relationships/image" Target="../media/image264.png"/><Relationship Id="rId8" Type="http://schemas.openxmlformats.org/officeDocument/2006/relationships/image" Target="../media/image265.png"/><Relationship Id="rId9" Type="http://schemas.openxmlformats.org/officeDocument/2006/relationships/image" Target="../media/image266.png"/><Relationship Id="rId10" Type="http://schemas.openxmlformats.org/officeDocument/2006/relationships/image" Target="../media/image267.png"/><Relationship Id="rId11" Type="http://schemas.openxmlformats.org/officeDocument/2006/relationships/image" Target="../media/image268.png"/><Relationship Id="rId12" Type="http://schemas.openxmlformats.org/officeDocument/2006/relationships/image" Target="../media/image269.png"/><Relationship Id="rId13" Type="http://schemas.openxmlformats.org/officeDocument/2006/relationships/image" Target="../media/image270.png"/><Relationship Id="rId14" Type="http://schemas.openxmlformats.org/officeDocument/2006/relationships/image" Target="../media/image271.png"/><Relationship Id="rId15" Type="http://schemas.openxmlformats.org/officeDocument/2006/relationships/image" Target="../media/image272.png"/><Relationship Id="rId16" Type="http://schemas.openxmlformats.org/officeDocument/2006/relationships/image" Target="../media/image273.png"/><Relationship Id="rId17" Type="http://schemas.openxmlformats.org/officeDocument/2006/relationships/image" Target="../media/image274.png"/></Relationships>
</file>

<file path=ppt/charts/_rels/chart41.xml.rels><?xml version='1.0' encoding='UTF-8' standalone='yes'?>
<Relationships xmlns="http://schemas.openxmlformats.org/package/2006/relationships"><Relationship Id="rId2" Type="http://schemas.openxmlformats.org/officeDocument/2006/relationships/image" Target="../media/image275.png"/></Relationships>
</file>

<file path=ppt/charts/_rels/chart43.xml.rels><?xml version='1.0' encoding='UTF-8' standalone='yes'?>
<Relationships xmlns="http://schemas.openxmlformats.org/package/2006/relationships"><Relationship Id="rId2" Type="http://schemas.openxmlformats.org/officeDocument/2006/relationships/image" Target="../media/image276.png"/></Relationships>
</file>

<file path=ppt/charts/_rels/chart45.xml.rels><?xml version='1.0' encoding='UTF-8' standalone='yes'?>
<Relationships xmlns="http://schemas.openxmlformats.org/package/2006/relationships"><Relationship Id="rId2" Type="http://schemas.openxmlformats.org/officeDocument/2006/relationships/image" Target="../media/image277.png"/><Relationship Id="rId3" Type="http://schemas.openxmlformats.org/officeDocument/2006/relationships/image" Target="../media/image278.png"/><Relationship Id="rId4" Type="http://schemas.openxmlformats.org/officeDocument/2006/relationships/image" Target="../media/image279.png"/><Relationship Id="rId5" Type="http://schemas.openxmlformats.org/officeDocument/2006/relationships/image" Target="../media/image280.png"/><Relationship Id="rId6" Type="http://schemas.openxmlformats.org/officeDocument/2006/relationships/image" Target="../media/image281.png"/><Relationship Id="rId7" Type="http://schemas.openxmlformats.org/officeDocument/2006/relationships/image" Target="../media/image282.png"/><Relationship Id="rId8" Type="http://schemas.openxmlformats.org/officeDocument/2006/relationships/image" Target="../media/image283.png"/><Relationship Id="rId9" Type="http://schemas.openxmlformats.org/officeDocument/2006/relationships/image" Target="../media/image284.png"/><Relationship Id="rId10" Type="http://schemas.openxmlformats.org/officeDocument/2006/relationships/image" Target="../media/image285.png"/><Relationship Id="rId11" Type="http://schemas.openxmlformats.org/officeDocument/2006/relationships/image" Target="../media/image286.png"/></Relationships>
</file>

<file path=ppt/charts/_rels/chart46.xml.rels><?xml version='1.0' encoding='UTF-8' standalone='yes'?>
<Relationships xmlns="http://schemas.openxmlformats.org/package/2006/relationships"><Relationship Id="rId2" Type="http://schemas.openxmlformats.org/officeDocument/2006/relationships/image" Target="../media/image287.png"/><Relationship Id="rId3" Type="http://schemas.openxmlformats.org/officeDocument/2006/relationships/image" Target="../media/image288.png"/><Relationship Id="rId4" Type="http://schemas.openxmlformats.org/officeDocument/2006/relationships/image" Target="../media/image289.png"/><Relationship Id="rId5" Type="http://schemas.openxmlformats.org/officeDocument/2006/relationships/image" Target="../media/image290.png"/><Relationship Id="rId6" Type="http://schemas.openxmlformats.org/officeDocument/2006/relationships/image" Target="../media/image291.png"/><Relationship Id="rId7" Type="http://schemas.openxmlformats.org/officeDocument/2006/relationships/image" Target="../media/image292.png"/><Relationship Id="rId8" Type="http://schemas.openxmlformats.org/officeDocument/2006/relationships/image" Target="../media/image293.png"/><Relationship Id="rId9" Type="http://schemas.openxmlformats.org/officeDocument/2006/relationships/image" Target="../media/image294.png"/><Relationship Id="rId10" Type="http://schemas.openxmlformats.org/officeDocument/2006/relationships/image" Target="../media/image295.png"/><Relationship Id="rId11" Type="http://schemas.openxmlformats.org/officeDocument/2006/relationships/image" Target="../media/image296.png"/><Relationship Id="rId12" Type="http://schemas.openxmlformats.org/officeDocument/2006/relationships/image" Target="../media/image297.png"/><Relationship Id="rId13" Type="http://schemas.openxmlformats.org/officeDocument/2006/relationships/image" Target="../media/image298.png"/><Relationship Id="rId14" Type="http://schemas.openxmlformats.org/officeDocument/2006/relationships/image" Target="../media/image299.png"/><Relationship Id="rId15" Type="http://schemas.openxmlformats.org/officeDocument/2006/relationships/image" Target="../media/image300.png"/><Relationship Id="rId16" Type="http://schemas.openxmlformats.org/officeDocument/2006/relationships/image" Target="../media/image301.png"/><Relationship Id="rId17" Type="http://schemas.openxmlformats.org/officeDocument/2006/relationships/image" Target="../media/image302.png"/><Relationship Id="rId18" Type="http://schemas.openxmlformats.org/officeDocument/2006/relationships/image" Target="../media/image303.png"/><Relationship Id="rId19" Type="http://schemas.openxmlformats.org/officeDocument/2006/relationships/image" Target="../media/image304.png"/><Relationship Id="rId20" Type="http://schemas.openxmlformats.org/officeDocument/2006/relationships/image" Target="../media/image305.png"/><Relationship Id="rId21" Type="http://schemas.openxmlformats.org/officeDocument/2006/relationships/image" Target="../media/image306.png"/><Relationship Id="rId22" Type="http://schemas.openxmlformats.org/officeDocument/2006/relationships/image" Target="../media/image307.png"/><Relationship Id="rId23" Type="http://schemas.openxmlformats.org/officeDocument/2006/relationships/image" Target="../media/image308.png"/></Relationships>
</file>

<file path=ppt/charts/_rels/chart47.xml.rels><?xml version='1.0' encoding='UTF-8' standalone='yes'?>
<Relationships xmlns="http://schemas.openxmlformats.org/package/2006/relationships"><Relationship Id="rId2" Type="http://schemas.openxmlformats.org/officeDocument/2006/relationships/image" Target="../media/image309.png"/><Relationship Id="rId3" Type="http://schemas.openxmlformats.org/officeDocument/2006/relationships/image" Target="../media/image310.png"/><Relationship Id="rId4" Type="http://schemas.openxmlformats.org/officeDocument/2006/relationships/image" Target="../media/image311.png"/><Relationship Id="rId5" Type="http://schemas.openxmlformats.org/officeDocument/2006/relationships/image" Target="../media/image312.png"/><Relationship Id="rId6" Type="http://schemas.openxmlformats.org/officeDocument/2006/relationships/image" Target="../media/image313.png"/></Relationships>
</file>

<file path=ppt/charts/_rels/chart48.xml.rels><?xml version='1.0' encoding='UTF-8' standalone='yes'?>
<Relationships xmlns="http://schemas.openxmlformats.org/package/2006/relationships"><Relationship Id="rId2" Type="http://schemas.openxmlformats.org/officeDocument/2006/relationships/image" Target="../media/image314.png"/><Relationship Id="rId3" Type="http://schemas.openxmlformats.org/officeDocument/2006/relationships/image" Target="../media/image315.png"/><Relationship Id="rId4" Type="http://schemas.openxmlformats.org/officeDocument/2006/relationships/image" Target="../media/image316.png"/><Relationship Id="rId5" Type="http://schemas.openxmlformats.org/officeDocument/2006/relationships/image" Target="../media/image317.png"/><Relationship Id="rId6" Type="http://schemas.openxmlformats.org/officeDocument/2006/relationships/image" Target="../media/image318.png"/></Relationships>
</file>

<file path=ppt/charts/_rels/chart49.xml.rels><?xml version='1.0' encoding='UTF-8' standalone='yes'?>
<Relationships xmlns="http://schemas.openxmlformats.org/package/2006/relationships"><Relationship Id="rId2" Type="http://schemas.openxmlformats.org/officeDocument/2006/relationships/image" Target="../media/image319.png"/><Relationship Id="rId3" Type="http://schemas.openxmlformats.org/officeDocument/2006/relationships/image" Target="../media/image320.png"/></Relationships>
</file>

<file path=ppt/charts/_rels/chart51.xml.rels><?xml version='1.0' encoding='UTF-8' standalone='yes'?>
<Relationships xmlns="http://schemas.openxmlformats.org/package/2006/relationships"><Relationship Id="rId2" Type="http://schemas.openxmlformats.org/officeDocument/2006/relationships/image" Target="../media/image321.png"/><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 Id="rId6" Type="http://schemas.openxmlformats.org/officeDocument/2006/relationships/image" Target="../media/image325.png"/><Relationship Id="rId7" Type="http://schemas.openxmlformats.org/officeDocument/2006/relationships/image" Target="../media/image326.png"/><Relationship Id="rId8" Type="http://schemas.openxmlformats.org/officeDocument/2006/relationships/image" Target="../media/image327.png"/><Relationship Id="rId9" Type="http://schemas.openxmlformats.org/officeDocument/2006/relationships/image" Target="../media/image328.png"/><Relationship Id="rId10" Type="http://schemas.openxmlformats.org/officeDocument/2006/relationships/image" Target="../media/image329.png"/><Relationship Id="rId11" Type="http://schemas.openxmlformats.org/officeDocument/2006/relationships/image" Target="../media/image330.png"/><Relationship Id="rId12" Type="http://schemas.openxmlformats.org/officeDocument/2006/relationships/image" Target="../media/image331.png"/><Relationship Id="rId13" Type="http://schemas.openxmlformats.org/officeDocument/2006/relationships/image" Target="../media/image332.png"/><Relationship Id="rId14" Type="http://schemas.openxmlformats.org/officeDocument/2006/relationships/image" Target="../media/image333.png"/><Relationship Id="rId15" Type="http://schemas.openxmlformats.org/officeDocument/2006/relationships/image" Target="../media/image334.png"/><Relationship Id="rId16" Type="http://schemas.openxmlformats.org/officeDocument/2006/relationships/image" Target="../media/image335.png"/></Relationships>
</file>

<file path=ppt/charts/_rels/chart52.xml.rels><?xml version='1.0' encoding='UTF-8' standalone='yes'?>
<Relationships xmlns="http://schemas.openxmlformats.org/package/2006/relationships"><Relationship Id="rId2" Type="http://schemas.openxmlformats.org/officeDocument/2006/relationships/image" Target="../media/image336.png"/><Relationship Id="rId3" Type="http://schemas.openxmlformats.org/officeDocument/2006/relationships/image" Target="../media/image337.png"/><Relationship Id="rId4" Type="http://schemas.openxmlformats.org/officeDocument/2006/relationships/image" Target="../media/image338.png"/><Relationship Id="rId5" Type="http://schemas.openxmlformats.org/officeDocument/2006/relationships/image" Target="../media/image339.png"/><Relationship Id="rId6" Type="http://schemas.openxmlformats.org/officeDocument/2006/relationships/image" Target="../media/image340.png"/><Relationship Id="rId7" Type="http://schemas.openxmlformats.org/officeDocument/2006/relationships/image" Target="../media/image341.png"/><Relationship Id="rId8" Type="http://schemas.openxmlformats.org/officeDocument/2006/relationships/image" Target="../media/image342.png"/><Relationship Id="rId9" Type="http://schemas.openxmlformats.org/officeDocument/2006/relationships/image" Target="../media/image343.png"/><Relationship Id="rId10" Type="http://schemas.openxmlformats.org/officeDocument/2006/relationships/image" Target="../media/image344.png"/><Relationship Id="rId11" Type="http://schemas.openxmlformats.org/officeDocument/2006/relationships/image" Target="../media/image345.png"/><Relationship Id="rId12" Type="http://schemas.openxmlformats.org/officeDocument/2006/relationships/image" Target="../media/image346.png"/><Relationship Id="rId13" Type="http://schemas.openxmlformats.org/officeDocument/2006/relationships/image" Target="../media/image347.png"/><Relationship Id="rId14" Type="http://schemas.openxmlformats.org/officeDocument/2006/relationships/image" Target="../media/image348.png"/><Relationship Id="rId15" Type="http://schemas.openxmlformats.org/officeDocument/2006/relationships/image" Target="../media/image349.png"/></Relationships>
</file>

<file path=ppt/charts/_rels/chart55.xml.rels><?xml version='1.0' encoding='UTF-8' standalone='yes'?>
<Relationships xmlns="http://schemas.openxmlformats.org/package/2006/relationships"><Relationship Id="rId2" Type="http://schemas.openxmlformats.org/officeDocument/2006/relationships/image" Target="../media/image353.png"/><Relationship Id="rId3" Type="http://schemas.openxmlformats.org/officeDocument/2006/relationships/image" Target="../media/image354.png"/><Relationship Id="rId4" Type="http://schemas.openxmlformats.org/officeDocument/2006/relationships/image" Target="../media/image355.png"/><Relationship Id="rId5" Type="http://schemas.openxmlformats.org/officeDocument/2006/relationships/image" Target="../media/image356.png"/><Relationship Id="rId6" Type="http://schemas.openxmlformats.org/officeDocument/2006/relationships/image" Target="../media/image357.png"/><Relationship Id="rId7" Type="http://schemas.openxmlformats.org/officeDocument/2006/relationships/image" Target="../media/image358.png"/><Relationship Id="rId8" Type="http://schemas.openxmlformats.org/officeDocument/2006/relationships/image" Target="../media/image359.png"/><Relationship Id="rId9" Type="http://schemas.openxmlformats.org/officeDocument/2006/relationships/image" Target="../media/image360.png"/><Relationship Id="rId10" Type="http://schemas.openxmlformats.org/officeDocument/2006/relationships/image" Target="../media/image361.png"/><Relationship Id="rId11" Type="http://schemas.openxmlformats.org/officeDocument/2006/relationships/image" Target="../media/image362.png"/><Relationship Id="rId12" Type="http://schemas.openxmlformats.org/officeDocument/2006/relationships/image" Target="../media/image363.png"/><Relationship Id="rId13" Type="http://schemas.openxmlformats.org/officeDocument/2006/relationships/image" Target="../media/image364.png"/><Relationship Id="rId14" Type="http://schemas.openxmlformats.org/officeDocument/2006/relationships/image" Target="../media/image365.png"/><Relationship Id="rId15" Type="http://schemas.openxmlformats.org/officeDocument/2006/relationships/image" Target="../media/image366.png"/><Relationship Id="rId16" Type="http://schemas.openxmlformats.org/officeDocument/2006/relationships/image" Target="../media/image367.png"/><Relationship Id="rId17" Type="http://schemas.openxmlformats.org/officeDocument/2006/relationships/image" Target="../media/image368.png"/></Relationships>
</file>

<file path=ppt/charts/_rels/chart59.xml.rels><?xml version='1.0' encoding='UTF-8' standalone='yes'?>
<Relationships xmlns="http://schemas.openxmlformats.org/package/2006/relationships"><Relationship Id="rId2" Type="http://schemas.openxmlformats.org/officeDocument/2006/relationships/image" Target="../media/image369.png"/><Relationship Id="rId3" Type="http://schemas.openxmlformats.org/officeDocument/2006/relationships/image" Target="../media/image370.png"/><Relationship Id="rId4" Type="http://schemas.openxmlformats.org/officeDocument/2006/relationships/image" Target="../media/image371.png"/><Relationship Id="rId5" Type="http://schemas.openxmlformats.org/officeDocument/2006/relationships/image" Target="../media/image372.png"/><Relationship Id="rId6" Type="http://schemas.openxmlformats.org/officeDocument/2006/relationships/image" Target="../media/image373.png"/><Relationship Id="rId7" Type="http://schemas.openxmlformats.org/officeDocument/2006/relationships/image" Target="../media/image374.png"/></Relationships>
</file>

<file path=ppt/charts/_rels/chart60.xml.rels><?xml version='1.0' encoding='UTF-8' standalone='yes'?>
<Relationships xmlns="http://schemas.openxmlformats.org/package/2006/relationships"><Relationship Id="rId2" Type="http://schemas.openxmlformats.org/officeDocument/2006/relationships/image" Target="../media/image379.png"/><Relationship Id="rId3" Type="http://schemas.openxmlformats.org/officeDocument/2006/relationships/image" Target="../media/image380.png"/><Relationship Id="rId4" Type="http://schemas.openxmlformats.org/officeDocument/2006/relationships/image" Target="../media/image381.png"/><Relationship Id="rId5" Type="http://schemas.openxmlformats.org/officeDocument/2006/relationships/image" Target="../media/image382.png"/><Relationship Id="rId6" Type="http://schemas.openxmlformats.org/officeDocument/2006/relationships/image" Target="../media/image383.png"/><Relationship Id="rId7" Type="http://schemas.openxmlformats.org/officeDocument/2006/relationships/image" Target="../media/image384.png"/><Relationship Id="rId8" Type="http://schemas.openxmlformats.org/officeDocument/2006/relationships/image" Target="../media/image385.png"/><Relationship Id="rId9" Type="http://schemas.openxmlformats.org/officeDocument/2006/relationships/image" Target="../media/image386.png"/><Relationship Id="rId10" Type="http://schemas.openxmlformats.org/officeDocument/2006/relationships/image" Target="../media/image387.png"/><Relationship Id="rId11" Type="http://schemas.openxmlformats.org/officeDocument/2006/relationships/image" Target="../media/image388.png"/><Relationship Id="rId12" Type="http://schemas.openxmlformats.org/officeDocument/2006/relationships/image" Target="../media/image389.png"/><Relationship Id="rId13" Type="http://schemas.openxmlformats.org/officeDocument/2006/relationships/image" Target="../media/image390.png"/><Relationship Id="rId14" Type="http://schemas.openxmlformats.org/officeDocument/2006/relationships/image" Target="../media/image391.png"/><Relationship Id="rId15" Type="http://schemas.openxmlformats.org/officeDocument/2006/relationships/image" Target="../media/image392.png"/><Relationship Id="rId16" Type="http://schemas.openxmlformats.org/officeDocument/2006/relationships/image" Target="../media/image393.png"/><Relationship Id="rId17" Type="http://schemas.openxmlformats.org/officeDocument/2006/relationships/image" Target="../media/image394.png"/></Relationships>
</file>

<file path=ppt/charts/_rels/chart64.xml.rels><?xml version='1.0' encoding='UTF-8' standalone='yes'?>
<Relationships xmlns="http://schemas.openxmlformats.org/package/2006/relationships"><Relationship Id="rId2" Type="http://schemas.openxmlformats.org/officeDocument/2006/relationships/image" Target="../media/image395.png"/><Relationship Id="rId3" Type="http://schemas.openxmlformats.org/officeDocument/2006/relationships/image" Target="../media/image396.png"/><Relationship Id="rId4" Type="http://schemas.openxmlformats.org/officeDocument/2006/relationships/image" Target="../media/image397.png"/><Relationship Id="rId5" Type="http://schemas.openxmlformats.org/officeDocument/2006/relationships/image" Target="../media/image398.png"/><Relationship Id="rId6" Type="http://schemas.openxmlformats.org/officeDocument/2006/relationships/image" Target="../media/image399.png"/><Relationship Id="rId7" Type="http://schemas.openxmlformats.org/officeDocument/2006/relationships/image" Target="../media/image400.png"/></Relationships>
</file>

<file path=ppt/charts/_rels/chart65.xml.rels><?xml version='1.0' encoding='UTF-8' standalone='yes'?>
<Relationships xmlns="http://schemas.openxmlformats.org/package/2006/relationships"><Relationship Id="rId2" Type="http://schemas.openxmlformats.org/officeDocument/2006/relationships/image" Target="../media/image413.png"/><Relationship Id="rId3" Type="http://schemas.openxmlformats.org/officeDocument/2006/relationships/image" Target="../media/image414.png"/><Relationship Id="rId4" Type="http://schemas.openxmlformats.org/officeDocument/2006/relationships/image" Target="../media/image415.png"/><Relationship Id="rId5" Type="http://schemas.openxmlformats.org/officeDocument/2006/relationships/image" Target="../media/image416.png"/><Relationship Id="rId6" Type="http://schemas.openxmlformats.org/officeDocument/2006/relationships/image" Target="../media/image417.png"/><Relationship Id="rId7" Type="http://schemas.openxmlformats.org/officeDocument/2006/relationships/image" Target="../media/image418.png"/><Relationship Id="rId8" Type="http://schemas.openxmlformats.org/officeDocument/2006/relationships/image" Target="../media/image419.png"/><Relationship Id="rId9" Type="http://schemas.openxmlformats.org/officeDocument/2006/relationships/image" Target="../media/image420.png"/><Relationship Id="rId10" Type="http://schemas.openxmlformats.org/officeDocument/2006/relationships/image" Target="../media/image421.png"/><Relationship Id="rId11" Type="http://schemas.openxmlformats.org/officeDocument/2006/relationships/image" Target="../media/image422.png"/><Relationship Id="rId12" Type="http://schemas.openxmlformats.org/officeDocument/2006/relationships/image" Target="../media/image423.png"/><Relationship Id="rId13" Type="http://schemas.openxmlformats.org/officeDocument/2006/relationships/image" Target="../media/image424.png"/><Relationship Id="rId14" Type="http://schemas.openxmlformats.org/officeDocument/2006/relationships/image" Target="../media/image425.png"/><Relationship Id="rId15" Type="http://schemas.openxmlformats.org/officeDocument/2006/relationships/image" Target="../media/image426.png"/><Relationship Id="rId16" Type="http://schemas.openxmlformats.org/officeDocument/2006/relationships/image" Target="../media/image427.png"/><Relationship Id="rId17" Type="http://schemas.openxmlformats.org/officeDocument/2006/relationships/image" Target="../media/image428.png"/><Relationship Id="rId18" Type="http://schemas.openxmlformats.org/officeDocument/2006/relationships/image" Target="../media/image429.png"/><Relationship Id="rId19" Type="http://schemas.openxmlformats.org/officeDocument/2006/relationships/image" Target="../media/image430.png"/><Relationship Id="rId20" Type="http://schemas.openxmlformats.org/officeDocument/2006/relationships/image" Target="../media/image431.png"/><Relationship Id="rId21" Type="http://schemas.openxmlformats.org/officeDocument/2006/relationships/image" Target="../media/image432.png"/><Relationship Id="rId22" Type="http://schemas.openxmlformats.org/officeDocument/2006/relationships/image" Target="../media/image433.png"/><Relationship Id="rId23" Type="http://schemas.openxmlformats.org/officeDocument/2006/relationships/image" Target="../media/image434.png"/><Relationship Id="rId24" Type="http://schemas.openxmlformats.org/officeDocument/2006/relationships/image" Target="../media/image435.png"/><Relationship Id="rId25" Type="http://schemas.openxmlformats.org/officeDocument/2006/relationships/image" Target="../media/image436.png"/><Relationship Id="rId26" Type="http://schemas.openxmlformats.org/officeDocument/2006/relationships/image" Target="../media/image437.png"/><Relationship Id="rId27" Type="http://schemas.openxmlformats.org/officeDocument/2006/relationships/image" Target="../media/image438.png"/><Relationship Id="rId28" Type="http://schemas.openxmlformats.org/officeDocument/2006/relationships/image" Target="../media/image439.png"/><Relationship Id="rId29" Type="http://schemas.openxmlformats.org/officeDocument/2006/relationships/image" Target="../media/image440.png"/><Relationship Id="rId30" Type="http://schemas.openxmlformats.org/officeDocument/2006/relationships/image" Target="../media/image441.png"/><Relationship Id="rId31" Type="http://schemas.openxmlformats.org/officeDocument/2006/relationships/image" Target="../media/image442.png"/><Relationship Id="rId32" Type="http://schemas.openxmlformats.org/officeDocument/2006/relationships/image" Target="../media/image443.png"/></Relationships>
</file>

<file path=ppt/charts/_rels/chart71.xml.rels><?xml version='1.0' encoding='UTF-8' standalone='yes'?>
<Relationships xmlns="http://schemas.openxmlformats.org/package/2006/relationships"><Relationship Id="rId2" Type="http://schemas.openxmlformats.org/officeDocument/2006/relationships/image" Target="../media/image444.png"/><Relationship Id="rId3" Type="http://schemas.openxmlformats.org/officeDocument/2006/relationships/image" Target="../media/image445.png"/><Relationship Id="rId4" Type="http://schemas.openxmlformats.org/officeDocument/2006/relationships/image" Target="../media/image446.png"/><Relationship Id="rId5" Type="http://schemas.openxmlformats.org/officeDocument/2006/relationships/image" Target="../media/image447.png"/><Relationship Id="rId6" Type="http://schemas.openxmlformats.org/officeDocument/2006/relationships/image" Target="../media/image448.png"/><Relationship Id="rId7" Type="http://schemas.openxmlformats.org/officeDocument/2006/relationships/image" Target="../media/image449.png"/><Relationship Id="rId8" Type="http://schemas.openxmlformats.org/officeDocument/2006/relationships/image" Target="../media/image450.png"/><Relationship Id="rId9" Type="http://schemas.openxmlformats.org/officeDocument/2006/relationships/image" Target="../media/image451.png"/><Relationship Id="rId10" Type="http://schemas.openxmlformats.org/officeDocument/2006/relationships/image" Target="../media/image452.png"/><Relationship Id="rId11" Type="http://schemas.openxmlformats.org/officeDocument/2006/relationships/image" Target="../media/image453.png"/><Relationship Id="rId12" Type="http://schemas.openxmlformats.org/officeDocument/2006/relationships/image" Target="../media/image454.png"/><Relationship Id="rId13" Type="http://schemas.openxmlformats.org/officeDocument/2006/relationships/image" Target="../media/image455.png"/></Relationships>
</file>

<file path=ppt/charts/_rels/chart72.xml.rels><?xml version='1.0' encoding='UTF-8' standalone='yes'?>
<Relationships xmlns="http://schemas.openxmlformats.org/package/2006/relationships"><Relationship Id="rId2" Type="http://schemas.openxmlformats.org/officeDocument/2006/relationships/image" Target="../media/image468.png"/><Relationship Id="rId3" Type="http://schemas.openxmlformats.org/officeDocument/2006/relationships/image" Target="../media/image469.png"/><Relationship Id="rId4" Type="http://schemas.openxmlformats.org/officeDocument/2006/relationships/image" Target="../media/image470.png"/><Relationship Id="rId5" Type="http://schemas.openxmlformats.org/officeDocument/2006/relationships/image" Target="../media/image471.png"/><Relationship Id="rId6" Type="http://schemas.openxmlformats.org/officeDocument/2006/relationships/image" Target="../media/image472.png"/><Relationship Id="rId7" Type="http://schemas.openxmlformats.org/officeDocument/2006/relationships/image" Target="../media/image473.png"/><Relationship Id="rId8" Type="http://schemas.openxmlformats.org/officeDocument/2006/relationships/image" Target="../media/image474.png"/><Relationship Id="rId9" Type="http://schemas.openxmlformats.org/officeDocument/2006/relationships/image" Target="../media/image475.png"/><Relationship Id="rId10" Type="http://schemas.openxmlformats.org/officeDocument/2006/relationships/image" Target="../media/image476.png"/><Relationship Id="rId11" Type="http://schemas.openxmlformats.org/officeDocument/2006/relationships/image" Target="../media/image477.png"/><Relationship Id="rId12" Type="http://schemas.openxmlformats.org/officeDocument/2006/relationships/image" Target="../media/image478.png"/><Relationship Id="rId13" Type="http://schemas.openxmlformats.org/officeDocument/2006/relationships/image" Target="../media/image479.png"/><Relationship Id="rId14" Type="http://schemas.openxmlformats.org/officeDocument/2006/relationships/image" Target="../media/image480.png"/><Relationship Id="rId15" Type="http://schemas.openxmlformats.org/officeDocument/2006/relationships/image" Target="../media/image481.png"/><Relationship Id="rId16" Type="http://schemas.openxmlformats.org/officeDocument/2006/relationships/image" Target="../media/image482.png"/><Relationship Id="rId17" Type="http://schemas.openxmlformats.org/officeDocument/2006/relationships/image" Target="../media/image483.png"/><Relationship Id="rId18" Type="http://schemas.openxmlformats.org/officeDocument/2006/relationships/image" Target="../media/image484.png"/><Relationship Id="rId19" Type="http://schemas.openxmlformats.org/officeDocument/2006/relationships/image" Target="../media/image485.png"/><Relationship Id="rId20" Type="http://schemas.openxmlformats.org/officeDocument/2006/relationships/image" Target="../media/image486.png"/><Relationship Id="rId21" Type="http://schemas.openxmlformats.org/officeDocument/2006/relationships/image" Target="../media/image487.png"/><Relationship Id="rId22" Type="http://schemas.openxmlformats.org/officeDocument/2006/relationships/image" Target="../media/image488.png"/><Relationship Id="rId23" Type="http://schemas.openxmlformats.org/officeDocument/2006/relationships/image" Target="../media/image489.png"/><Relationship Id="rId24" Type="http://schemas.openxmlformats.org/officeDocument/2006/relationships/image" Target="../media/image490.png"/><Relationship Id="rId25" Type="http://schemas.openxmlformats.org/officeDocument/2006/relationships/image" Target="../media/image491.png"/><Relationship Id="rId26" Type="http://schemas.openxmlformats.org/officeDocument/2006/relationships/image" Target="../media/image492.png"/><Relationship Id="rId27" Type="http://schemas.openxmlformats.org/officeDocument/2006/relationships/image" Target="../media/image493.png"/><Relationship Id="rId28" Type="http://schemas.openxmlformats.org/officeDocument/2006/relationships/image" Target="../media/image494.png"/><Relationship Id="rId29" Type="http://schemas.openxmlformats.org/officeDocument/2006/relationships/image" Target="../media/image495.png"/><Relationship Id="rId30" Type="http://schemas.openxmlformats.org/officeDocument/2006/relationships/image" Target="../media/image496.png"/><Relationship Id="rId31" Type="http://schemas.openxmlformats.org/officeDocument/2006/relationships/image" Target="../media/image497.png"/><Relationship Id="rId32" Type="http://schemas.openxmlformats.org/officeDocument/2006/relationships/image" Target="../media/image498.png"/><Relationship Id="rId33" Type="http://schemas.openxmlformats.org/officeDocument/2006/relationships/image" Target="../media/image499.png"/><Relationship Id="rId34" Type="http://schemas.openxmlformats.org/officeDocument/2006/relationships/image" Target="../media/image500.png"/><Relationship Id="rId35" Type="http://schemas.openxmlformats.org/officeDocument/2006/relationships/image" Target="../media/image501.png"/><Relationship Id="rId36" Type="http://schemas.openxmlformats.org/officeDocument/2006/relationships/image" Target="../media/image502.png"/><Relationship Id="rId37" Type="http://schemas.openxmlformats.org/officeDocument/2006/relationships/image" Target="../media/image503.png"/><Relationship Id="rId38" Type="http://schemas.openxmlformats.org/officeDocument/2006/relationships/image" Target="../media/image504.png"/><Relationship Id="rId39" Type="http://schemas.openxmlformats.org/officeDocument/2006/relationships/image" Target="../media/image505.png"/><Relationship Id="rId40" Type="http://schemas.openxmlformats.org/officeDocument/2006/relationships/image" Target="../media/image506.png"/><Relationship Id="rId41" Type="http://schemas.openxmlformats.org/officeDocument/2006/relationships/image" Target="../media/image507.png"/><Relationship Id="rId42" Type="http://schemas.openxmlformats.org/officeDocument/2006/relationships/image" Target="../media/image508.png"/><Relationship Id="rId43" Type="http://schemas.openxmlformats.org/officeDocument/2006/relationships/image" Target="../media/image509.png"/><Relationship Id="rId44" Type="http://schemas.openxmlformats.org/officeDocument/2006/relationships/image" Target="../media/image510.png"/><Relationship Id="rId45" Type="http://schemas.openxmlformats.org/officeDocument/2006/relationships/image" Target="../media/image511.png"/><Relationship Id="rId46" Type="http://schemas.openxmlformats.org/officeDocument/2006/relationships/image" Target="../media/image512.png"/></Relationships>
</file>

<file path=ppt/charts/_rels/chart80.xml.rels><?xml version='1.0' encoding='UTF-8' standalone='yes'?>
<Relationships xmlns="http://schemas.openxmlformats.org/package/2006/relationships"><Relationship Id="rId2" Type="http://schemas.openxmlformats.org/officeDocument/2006/relationships/image" Target="../media/image513.png"/><Relationship Id="rId3" Type="http://schemas.openxmlformats.org/officeDocument/2006/relationships/image" Target="../media/image514.png"/><Relationship Id="rId4" Type="http://schemas.openxmlformats.org/officeDocument/2006/relationships/image" Target="../media/image515.png"/><Relationship Id="rId5" Type="http://schemas.openxmlformats.org/officeDocument/2006/relationships/image" Target="../media/image516.png"/><Relationship Id="rId6" Type="http://schemas.openxmlformats.org/officeDocument/2006/relationships/image" Target="../media/image517.png"/><Relationship Id="rId7" Type="http://schemas.openxmlformats.org/officeDocument/2006/relationships/image" Target="../media/image518.png"/><Relationship Id="rId8" Type="http://schemas.openxmlformats.org/officeDocument/2006/relationships/image" Target="../media/image519.png"/><Relationship Id="rId9" Type="http://schemas.openxmlformats.org/officeDocument/2006/relationships/image" Target="../media/image520.png"/><Relationship Id="rId10" Type="http://schemas.openxmlformats.org/officeDocument/2006/relationships/image" Target="../media/image521.png"/><Relationship Id="rId11" Type="http://schemas.openxmlformats.org/officeDocument/2006/relationships/image" Target="../media/image522.png"/><Relationship Id="rId12" Type="http://schemas.openxmlformats.org/officeDocument/2006/relationships/image" Target="../media/image523.png"/><Relationship Id="rId13" Type="http://schemas.openxmlformats.org/officeDocument/2006/relationships/image" Target="../media/image524.png"/><Relationship Id="rId14" Type="http://schemas.openxmlformats.org/officeDocument/2006/relationships/image" Target="../media/image525.png"/><Relationship Id="rId15" Type="http://schemas.openxmlformats.org/officeDocument/2006/relationships/image" Target="../media/image526.png"/><Relationship Id="rId16" Type="http://schemas.openxmlformats.org/officeDocument/2006/relationships/image" Target="../media/image527.png"/><Relationship Id="rId17" Type="http://schemas.openxmlformats.org/officeDocument/2006/relationships/image" Target="../media/image528.png"/><Relationship Id="rId18" Type="http://schemas.openxmlformats.org/officeDocument/2006/relationships/image" Target="../media/image529.png"/></Relationships>
</file>

<file path=ppt/charts/_rels/chart104.xml.rels><?xml version='1.0' encoding='UTF-8' standalone='yes'?>
<Relationships xmlns="http://schemas.openxmlformats.org/package/2006/relationships"><Relationship Id="rId2" Type="http://schemas.openxmlformats.org/officeDocument/2006/relationships/image" Target="../media/image530.png"/><Relationship Id="rId3" Type="http://schemas.openxmlformats.org/officeDocument/2006/relationships/image" Target="../media/image531.png"/><Relationship Id="rId4" Type="http://schemas.openxmlformats.org/officeDocument/2006/relationships/image" Target="../media/image532.png"/><Relationship Id="rId5" Type="http://schemas.openxmlformats.org/officeDocument/2006/relationships/image" Target="../media/image533.png"/><Relationship Id="rId6" Type="http://schemas.openxmlformats.org/officeDocument/2006/relationships/image" Target="../media/image534.png"/><Relationship Id="rId7" Type="http://schemas.openxmlformats.org/officeDocument/2006/relationships/image" Target="../media/image535.png"/><Relationship Id="rId8" Type="http://schemas.openxmlformats.org/officeDocument/2006/relationships/image" Target="../media/image536.png"/><Relationship Id="rId9" Type="http://schemas.openxmlformats.org/officeDocument/2006/relationships/image" Target="../media/image537.png"/><Relationship Id="rId10" Type="http://schemas.openxmlformats.org/officeDocument/2006/relationships/image" Target="../media/image538.png"/><Relationship Id="rId11" Type="http://schemas.openxmlformats.org/officeDocument/2006/relationships/image" Target="../media/image539.png"/></Relationships>
</file>

<file path=ppt/charts/_rels/chart105.xml.rels><?xml version='1.0' encoding='UTF-8' standalone='yes'?>
<Relationships xmlns="http://schemas.openxmlformats.org/package/2006/relationships"><Relationship Id="rId2" Type="http://schemas.openxmlformats.org/officeDocument/2006/relationships/image" Target="../media/image540.png"/><Relationship Id="rId3" Type="http://schemas.openxmlformats.org/officeDocument/2006/relationships/image" Target="../media/image541.png"/><Relationship Id="rId4" Type="http://schemas.openxmlformats.org/officeDocument/2006/relationships/image" Target="../media/image542.png"/><Relationship Id="rId5" Type="http://schemas.openxmlformats.org/officeDocument/2006/relationships/image" Target="../media/image543.png"/><Relationship Id="rId6" Type="http://schemas.openxmlformats.org/officeDocument/2006/relationships/image" Target="../media/image544.png"/><Relationship Id="rId7" Type="http://schemas.openxmlformats.org/officeDocument/2006/relationships/image" Target="../media/image545.png"/><Relationship Id="rId8" Type="http://schemas.openxmlformats.org/officeDocument/2006/relationships/image" Target="../media/image546.png"/><Relationship Id="rId9" Type="http://schemas.openxmlformats.org/officeDocument/2006/relationships/image" Target="../media/image547.png"/><Relationship Id="rId10" Type="http://schemas.openxmlformats.org/officeDocument/2006/relationships/image" Target="../media/image548.png"/><Relationship Id="rId11" Type="http://schemas.openxmlformats.org/officeDocument/2006/relationships/image" Target="../media/image549.png"/><Relationship Id="rId12" Type="http://schemas.openxmlformats.org/officeDocument/2006/relationships/image" Target="../media/image550.png"/></Relationships>
</file>

<file path=ppt/charts/_rels/chart106.xml.rels><?xml version='1.0' encoding='UTF-8' standalone='yes'?>
<Relationships xmlns="http://schemas.openxmlformats.org/package/2006/relationships"><Relationship Id="rId2" Type="http://schemas.openxmlformats.org/officeDocument/2006/relationships/image" Target="../media/image551.png"/><Relationship Id="rId3" Type="http://schemas.openxmlformats.org/officeDocument/2006/relationships/image" Target="../media/image552.png"/><Relationship Id="rId4" Type="http://schemas.openxmlformats.org/officeDocument/2006/relationships/image" Target="../media/image553.png"/><Relationship Id="rId5" Type="http://schemas.openxmlformats.org/officeDocument/2006/relationships/image" Target="../media/image554.png"/><Relationship Id="rId6" Type="http://schemas.openxmlformats.org/officeDocument/2006/relationships/image" Target="../media/image555.png"/><Relationship Id="rId7" Type="http://schemas.openxmlformats.org/officeDocument/2006/relationships/image" Target="../media/image556.png"/><Relationship Id="rId8" Type="http://schemas.openxmlformats.org/officeDocument/2006/relationships/image" Target="../media/image557.png"/><Relationship Id="rId9" Type="http://schemas.openxmlformats.org/officeDocument/2006/relationships/image" Target="../media/image558.png"/><Relationship Id="rId10" Type="http://schemas.openxmlformats.org/officeDocument/2006/relationships/image" Target="../media/image559.png"/><Relationship Id="rId11" Type="http://schemas.openxmlformats.org/officeDocument/2006/relationships/image" Target="../media/image560.png"/></Relationships>
</file>

<file path=ppt/charts/_rels/chart107.xml.rels><?xml version='1.0' encoding='UTF-8' standalone='yes'?>
<Relationships xmlns="http://schemas.openxmlformats.org/package/2006/relationships"><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image" Target="../media/image563.png"/><Relationship Id="rId5" Type="http://schemas.openxmlformats.org/officeDocument/2006/relationships/image" Target="../media/image564.png"/><Relationship Id="rId6" Type="http://schemas.openxmlformats.org/officeDocument/2006/relationships/image" Target="../media/image565.png"/><Relationship Id="rId7" Type="http://schemas.openxmlformats.org/officeDocument/2006/relationships/image" Target="../media/image566.png"/><Relationship Id="rId8" Type="http://schemas.openxmlformats.org/officeDocument/2006/relationships/image" Target="../media/image567.png"/><Relationship Id="rId9" Type="http://schemas.openxmlformats.org/officeDocument/2006/relationships/image" Target="../media/image568.png"/><Relationship Id="rId10" Type="http://schemas.openxmlformats.org/officeDocument/2006/relationships/image" Target="../media/image569.png"/><Relationship Id="rId11" Type="http://schemas.openxmlformats.org/officeDocument/2006/relationships/image" Target="../media/image570.png"/></Relationships>
</file>

<file path=ppt/charts/_rels/chart108.xml.rels><?xml version='1.0' encoding='UTF-8' standalone='yes'?>
<Relationships xmlns="http://schemas.openxmlformats.org/package/2006/relationships"><Relationship Id="rId2" Type="http://schemas.openxmlformats.org/officeDocument/2006/relationships/image" Target="../media/image571.png"/><Relationship Id="rId3" Type="http://schemas.openxmlformats.org/officeDocument/2006/relationships/image" Target="../media/image572.png"/><Relationship Id="rId4" Type="http://schemas.openxmlformats.org/officeDocument/2006/relationships/image" Target="../media/image573.png"/><Relationship Id="rId5" Type="http://schemas.openxmlformats.org/officeDocument/2006/relationships/image" Target="../media/image574.png"/><Relationship Id="rId6" Type="http://schemas.openxmlformats.org/officeDocument/2006/relationships/image" Target="../media/image575.png"/><Relationship Id="rId7" Type="http://schemas.openxmlformats.org/officeDocument/2006/relationships/image" Target="../media/image576.png"/><Relationship Id="rId8" Type="http://schemas.openxmlformats.org/officeDocument/2006/relationships/image" Target="../media/image577.png"/><Relationship Id="rId9" Type="http://schemas.openxmlformats.org/officeDocument/2006/relationships/image" Target="../media/image578.png"/><Relationship Id="rId10" Type="http://schemas.openxmlformats.org/officeDocument/2006/relationships/image" Target="../media/image579.png"/><Relationship Id="rId11" Type="http://schemas.openxmlformats.org/officeDocument/2006/relationships/image" Target="../media/image580.png"/><Relationship Id="rId12" Type="http://schemas.openxmlformats.org/officeDocument/2006/relationships/image" Target="../media/image581.png"/></Relationships>
</file>

<file path=ppt/charts/_rels/chart109.xml.rels><?xml version='1.0' encoding='UTF-8' standalone='yes'?>
<Relationships xmlns="http://schemas.openxmlformats.org/package/2006/relationships"><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image" Target="../media/image588.png"/><Relationship Id="rId9" Type="http://schemas.openxmlformats.org/officeDocument/2006/relationships/image" Target="../media/image589.png"/><Relationship Id="rId10" Type="http://schemas.openxmlformats.org/officeDocument/2006/relationships/image" Target="../media/image590.png"/></Relationships>
</file>

<file path=ppt/charts/_rels/chart110.xml.rels><?xml version='1.0' encoding='UTF-8' standalone='yes'?>
<Relationships xmlns="http://schemas.openxmlformats.org/package/2006/relationships"><Relationship Id="rId2" Type="http://schemas.openxmlformats.org/officeDocument/2006/relationships/image" Target="../media/image591.png"/><Relationship Id="rId3" Type="http://schemas.openxmlformats.org/officeDocument/2006/relationships/image" Target="../media/image592.png"/><Relationship Id="rId4" Type="http://schemas.openxmlformats.org/officeDocument/2006/relationships/image" Target="../media/image593.png"/><Relationship Id="rId5" Type="http://schemas.openxmlformats.org/officeDocument/2006/relationships/image" Target="../media/image594.png"/></Relationships>
</file>

<file path=ppt/charts/_rels/chart111.xml.rels><?xml version='1.0' encoding='UTF-8' standalone='yes'?>
<Relationships xmlns="http://schemas.openxmlformats.org/package/2006/relationships"><Relationship Id="rId2" Type="http://schemas.openxmlformats.org/officeDocument/2006/relationships/image" Target="../media/image595.png"/><Relationship Id="rId3" Type="http://schemas.openxmlformats.org/officeDocument/2006/relationships/image" Target="../media/image596.png"/><Relationship Id="rId4" Type="http://schemas.openxmlformats.org/officeDocument/2006/relationships/image" Target="../media/image597.png"/><Relationship Id="rId5" Type="http://schemas.openxmlformats.org/officeDocument/2006/relationships/image" Target="../media/image598.png"/><Relationship Id="rId6" Type="http://schemas.openxmlformats.org/officeDocument/2006/relationships/image" Target="../media/image599.png"/></Relationships>
</file>

<file path=ppt/charts/_rels/chart112.xml.rels><?xml version='1.0' encoding='UTF-8' standalone='yes'?>
<Relationships xmlns="http://schemas.openxmlformats.org/package/2006/relationships"><Relationship Id="rId2" Type="http://schemas.openxmlformats.org/officeDocument/2006/relationships/image" Target="../media/image600.png"/><Relationship Id="rId3" Type="http://schemas.openxmlformats.org/officeDocument/2006/relationships/image" Target="../media/image601.png"/></Relationships>
</file>

<file path=ppt/charts/_rels/chart113.xml.rels><?xml version='1.0' encoding='UTF-8' standalone='yes'?>
<Relationships xmlns="http://schemas.openxmlformats.org/package/2006/relationships"><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image" Target="../media/image610.png"/><Relationship Id="rId11" Type="http://schemas.openxmlformats.org/officeDocument/2006/relationships/image" Target="../media/image611.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3.6198398995503034</c:v>
                </c:pt>
                <c:pt idx="1">
                  <c:v>4.553107255971756</c:v>
                </c:pt>
                <c:pt idx="2">
                  <c:v>4.241087899563123</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010101577882717"/>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2225502.348</c:v>
                </c:pt>
                <c:pt idx="2">
                  <c:v>0.0</c:v>
                </c:pt>
                <c:pt idx="3">
                  <c:v>2658536.5870000003</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2225502.348</c:v>
                </c:pt>
                <c:pt idx="1">
                  <c:v>433034.23900000006</c:v>
                </c:pt>
                <c:pt idx="2">
                  <c:v>2658536.5870000003</c:v>
                </c:pt>
                <c:pt idx="3">
                  <c:v>1491119.3059999999</c:v>
                </c:pt>
                <c:pt idx="4">
                  <c:v>4149655.893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4.126859335369337</c:v>
                </c:pt>
                <c:pt idx="1">
                  <c:v>4.9939469101035305</c:v>
                </c:pt>
                <c:pt idx="2">
                  <c:v>4.704118403200064</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9200992133666"/>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8904.563</c:v>
                </c:pt>
                <c:pt idx="2">
                  <c:v>0.0</c:v>
                </c:pt>
                <c:pt idx="3">
                  <c:v>10899.999</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8904.563</c:v>
                </c:pt>
                <c:pt idx="1">
                  <c:v>1995.4359999999997</c:v>
                </c:pt>
                <c:pt idx="2">
                  <c:v>10899.999</c:v>
                </c:pt>
                <c:pt idx="3">
                  <c:v>6844.718000000001</c:v>
                </c:pt>
                <c:pt idx="4">
                  <c:v>17744.717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8904.563</c:v>
                </c:pt>
                <c:pt idx="1">
                  <c:v>9270.468</c:v>
                </c:pt>
                <c:pt idx="2">
                  <c:v>9652.224</c:v>
                </c:pt>
                <c:pt idx="3">
                  <c:v>10050.559000000001</c:v>
                </c:pt>
                <c:pt idx="4">
                  <c:v>10466.22</c:v>
                </c:pt>
              </c:numCache>
            </c:numRef>
          </c:val>
        </c:ser>
        <c:gapWidth val="50"/>
        <c:axId val="-2068027336"/>
        <c:axId val="-2113994440"/>
      </c:barChart>
      <c:barChart>
        <c:barDir val="col"/>
        <c:grouping val="clustered"/>
        <c:varyColors val="0"/>
        <c:ser>
          <c:idx val="1"/>
          <c:order val="1"/>
          <c:tx>
            <c:strRef>
              <c:strCache>
                <c:ptCount val="1"/>
                <c:pt idx="0">
                  <c:v>Volume (Litres)</c:v>
                </c:pt>
              </c:strCache>
            </c:strRef>
          </c:tx>
          <c:spPr>
            <a:solidFill>
              <a:srgbClr val="F1975A"/>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2225502.348</c:v>
                </c:pt>
                <c:pt idx="1">
                  <c:v>2305239.798</c:v>
                </c:pt>
                <c:pt idx="2">
                  <c:v>2388259.938</c:v>
                </c:pt>
                <c:pt idx="3">
                  <c:v>2474711.164</c:v>
                </c:pt>
                <c:pt idx="4">
                  <c:v>2564749.029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235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0755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10899.999</c:v>
                </c:pt>
                <c:pt idx="1">
                  <c:v>11439.934000000001</c:v>
                </c:pt>
                <c:pt idx="2">
                  <c:v>12007.632</c:v>
                </c:pt>
                <c:pt idx="3">
                  <c:v>12604.572</c:v>
                </c:pt>
                <c:pt idx="4">
                  <c:v>13232.323</c:v>
                </c:pt>
                <c:pt idx="5">
                  <c:v>13892.524000000001</c:v>
                </c:pt>
                <c:pt idx="6">
                  <c:v>14586.923</c:v>
                </c:pt>
                <c:pt idx="7">
                  <c:v>15317.345</c:v>
                </c:pt>
                <c:pt idx="8">
                  <c:v>16085.737000000001</c:v>
                </c:pt>
                <c:pt idx="9">
                  <c:v>16894.14</c:v>
                </c:pt>
                <c:pt idx="10">
                  <c:v>17744.717</c:v>
                </c:pt>
              </c:numCache>
            </c:numRef>
          </c:val>
        </c:ser>
        <c:gapWidth val="50"/>
        <c:axId val="-2068027336"/>
        <c:axId val="-2113994440"/>
      </c:barChart>
      <c:barChart>
        <c:barDir val="col"/>
        <c:grouping val="clustered"/>
        <c:varyColors val="0"/>
        <c:ser>
          <c:idx val="1"/>
          <c:order val="1"/>
          <c:tx>
            <c:strRef>
              <c:strCache>
                <c:ptCount val="1"/>
                <c:pt idx="0">
                  <c:v>Volume (Litres)</c:v>
                </c:pt>
              </c:strCache>
            </c:strRef>
          </c:tx>
          <c:spPr>
            <a:solidFill>
              <a:srgbClr val="F1975A"/>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2658536.5870000003</c:v>
                </c:pt>
                <c:pt idx="1">
                  <c:v>2777384.4790000003</c:v>
                </c:pt>
                <c:pt idx="2">
                  <c:v>2902057.076</c:v>
                </c:pt>
                <c:pt idx="3">
                  <c:v>3032860.343</c:v>
                </c:pt>
                <c:pt idx="4">
                  <c:v>3170117.193</c:v>
                </c:pt>
                <c:pt idx="5">
                  <c:v>3314168.417</c:v>
                </c:pt>
                <c:pt idx="6">
                  <c:v>3465373.738</c:v>
                </c:pt>
                <c:pt idx="7">
                  <c:v>3624112.901</c:v>
                </c:pt>
                <c:pt idx="8">
                  <c:v>3790786.815</c:v>
                </c:pt>
                <c:pt idx="9">
                  <c:v>3965818.808</c:v>
                </c:pt>
                <c:pt idx="10">
                  <c:v>4149655.893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2093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803428"/>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9"/>
                <c:pt idx="0">
                  <c:v>Turkiye</c:v>
                </c:pt>
                <c:pt idx="1">
                  <c:v>Hungary</c:v>
                </c:pt>
                <c:pt idx="2">
                  <c:v>Russia</c:v>
                </c:pt>
                <c:pt idx="3">
                  <c:v>Brazil</c:v>
                </c:pt>
                <c:pt idx="4">
                  <c:v>Poland</c:v>
                </c:pt>
                <c:pt idx="5">
                  <c:v>France</c:v>
                </c:pt>
                <c:pt idx="6">
                  <c:v>Chile</c:v>
                </c:pt>
                <c:pt idx="7">
                  <c:v>Germany</c:v>
                </c:pt>
                <c:pt idx="8">
                  <c:v>India</c:v>
                </c:pt>
              </c:strCache>
            </c:strRef>
          </c:cat>
          <c:val>
            <c:numRef>
              <c:numCache>
                <c:formatCode>General</c:formatCode>
                <c:ptCount val="9"/>
                <c:pt idx="0">
                  <c:v>110.06599292276161</c:v>
                </c:pt>
                <c:pt idx="1">
                  <c:v>116.34082488153128</c:v>
                </c:pt>
                <c:pt idx="2">
                  <c:v>118.36155088916583</c:v>
                </c:pt>
                <c:pt idx="3">
                  <c:v>118.5729789167459</c:v>
                </c:pt>
                <c:pt idx="4">
                  <c:v>119.26787899803611</c:v>
                </c:pt>
                <c:pt idx="5">
                  <c:v>122.98526572334856</c:v>
                </c:pt>
                <c:pt idx="6">
                  <c:v>126.79162205238038</c:v>
                </c:pt>
                <c:pt idx="7">
                  <c:v>131.054746758804</c:v>
                </c:pt>
                <c:pt idx="8">
                  <c:v>135.42999057944166</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8"/>
                <c:pt idx="0">
                  <c:v>Japan</c:v>
                </c:pt>
                <c:pt idx="1">
                  <c:v>Russia</c:v>
                </c:pt>
                <c:pt idx="2">
                  <c:v>Mexico</c:v>
                </c:pt>
                <c:pt idx="3">
                  <c:v>Brazil</c:v>
                </c:pt>
                <c:pt idx="4">
                  <c:v>China</c:v>
                </c:pt>
                <c:pt idx="5">
                  <c:v>Canada</c:v>
                </c:pt>
                <c:pt idx="6">
                  <c:v>India</c:v>
                </c:pt>
                <c:pt idx="7">
                  <c:v>U.S.</c:v>
                </c:pt>
              </c:strCache>
            </c:strRef>
          </c:cat>
          <c:val>
            <c:numRef>
              <c:numCache>
                <c:formatCode>General</c:formatCode>
                <c:ptCount val="8"/>
                <c:pt idx="0">
                  <c:v>3.6518378112874785</c:v>
                </c:pt>
                <c:pt idx="1">
                  <c:v>4.5035018243264355</c:v>
                </c:pt>
                <c:pt idx="2">
                  <c:v>6.552366364837822</c:v>
                </c:pt>
                <c:pt idx="3">
                  <c:v>7.401985005079828</c:v>
                </c:pt>
                <c:pt idx="4">
                  <c:v>9.179384746018759</c:v>
                </c:pt>
                <c:pt idx="5">
                  <c:v>9.191306347463838</c:v>
                </c:pt>
                <c:pt idx="6">
                  <c:v>11.485513354969482</c:v>
                </c:pt>
                <c:pt idx="7">
                  <c:v>16.577600421229917</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Lbls>
            <c:dLbl>
              <c:idx val="0"/>
              <c:layout>
                <c:manualLayout>
                  <c:x val="0.0350"/>
                  <c:y val="0.0000"/>
                </c:manualLayout>
              </c:layout>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Gaseous Helium-3</c:v>
                </c:pt>
                <c:pt idx="1">
                  <c:v>Liquid Helium-3</c:v>
                </c:pt>
              </c:strCache>
            </c:strRef>
          </c:cat>
          <c:val>
            <c:numRef>
              <c:numCache>
                <c:formatCode>General</c:formatCode>
                <c:ptCount val="2"/>
                <c:pt idx="0">
                  <c:v>12762.837</c:v>
                </c:pt>
                <c:pt idx="1">
                  <c:v>4981.88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0.05622613063278267</c:v>
                </c:pt>
                <c:pt idx="1">
                  <c:v>0.05680668330072368</c:v>
                </c:pt>
                <c:pt idx="2">
                  <c:v>0.058072392720919394</c:v>
                </c:pt>
                <c:pt idx="3">
                  <c:v>0.05881508171954663</c:v>
                </c:pt>
                <c:pt idx="4">
                  <c:v>0.06006510052709529</c:v>
                </c:pt>
                <c:pt idx="5">
                  <c:v>0.061927053227879066</c:v>
                </c:pt>
                <c:pt idx="6">
                  <c:v>0.06270112345180041</c:v>
                </c:pt>
                <c:pt idx="7">
                  <c:v>0.06388314960454516</c:v>
                </c:pt>
                <c:pt idx="8">
                  <c:v>0.06467291044111356</c:v>
                </c:pt>
                <c:pt idx="9">
                  <c:v>0.06581832516434853</c:v>
                </c:pt>
                <c:pt idx="10">
                  <c:v>0.06707880438032855</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0.04356444320429449</c:v>
                </c:pt>
                <c:pt idx="1">
                  <c:v>0.04510944552960777</c:v>
                </c:pt>
                <c:pt idx="2">
                  <c:v>0.046215477834915614</c:v>
                </c:pt>
                <c:pt idx="3">
                  <c:v>0.04674912766315752</c:v>
                </c:pt>
                <c:pt idx="4">
                  <c:v>0.04826830822258813</c:v>
                </c:pt>
                <c:pt idx="5">
                  <c:v>0.04875892177435892</c:v>
                </c:pt>
                <c:pt idx="6">
                  <c:v>0.050157600759670386</c:v>
                </c:pt>
                <c:pt idx="7">
                  <c:v>0.05124211492674266</c:v>
                </c:pt>
                <c:pt idx="8">
                  <c:v>0.05229220007263804</c:v>
                </c:pt>
                <c:pt idx="9">
                  <c:v>0.0537253080791264</c:v>
                </c:pt>
                <c:pt idx="10">
                  <c:v>0.054788304107963114</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0.0342144380942096</c:v>
                </c:pt>
                <c:pt idx="1">
                  <c:v>0.0375544380942096</c:v>
                </c:pt>
                <c:pt idx="2">
                  <c:v>0.0397244380942096</c:v>
                </c:pt>
                <c:pt idx="3">
                  <c:v>0.040824438094209596</c:v>
                </c:pt>
                <c:pt idx="4">
                  <c:v>0.040824438094209596</c:v>
                </c:pt>
                <c:pt idx="5">
                  <c:v>0.039554438094209596</c:v>
                </c:pt>
                <c:pt idx="6">
                  <c:v>0.0372144380942096</c:v>
                </c:pt>
                <c:pt idx="7">
                  <c:v>0.035794438094209596</c:v>
                </c:pt>
                <c:pt idx="8">
                  <c:v>0.034524438094209596</c:v>
                </c:pt>
                <c:pt idx="9">
                  <c:v>0.0333044380942096</c:v>
                </c:pt>
                <c:pt idx="10">
                  <c:v>0.0321244380942096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BFBFBF"/>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21.93168165716126</c:v>
                </c:pt>
                <c:pt idx="1">
                  <c:v>25.520202115708297</c:v>
                </c:pt>
              </c:numCache>
            </c:numRef>
          </c:val>
        </c:ser>
        <c:ser>
          <c:idx val="1"/>
          <c:order val="1"/>
          <c:tx>
            <c:strRef>
              <c:strCache>
                <c:ptCount val="1"/>
                <c:pt idx="0">
                  <c:v>North America</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27.99086394517993</c:v>
                </c:pt>
                <c:pt idx="1">
                  <c:v>23.517177668784594</c:v>
                </c:pt>
              </c:numCache>
            </c:numRef>
          </c:val>
        </c:ser>
        <c:ser>
          <c:idx val="2"/>
          <c:order val="2"/>
          <c:tx>
            <c:strRef>
              <c:strCache>
                <c:ptCount val="1"/>
                <c:pt idx="0">
                  <c:v>East Asia</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21.255378871338436</c:v>
                </c:pt>
                <c:pt idx="1">
                  <c:v>21.738692297877236</c:v>
                </c:pt>
              </c:numCache>
            </c:numRef>
          </c:val>
        </c:ser>
        <c:ser>
          <c:idx val="3"/>
          <c:order val="3"/>
          <c:tx>
            <c:strRef>
              <c:strCache>
                <c:ptCount val="1"/>
                <c:pt idx="0">
                  <c:v>Latin America</c:v>
                </c:pt>
              </c:strCache>
            </c:strRef>
          </c:tx>
          <c:spPr>
            <a:solidFill>
              <a:srgbClr val="EBC46B"/>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9.48547133912361</c:v>
                </c:pt>
                <c:pt idx="1">
                  <c:v>10.083008345482588</c:v>
                </c:pt>
              </c:numCache>
            </c:numRef>
          </c:val>
        </c:ser>
        <c:ser>
          <c:idx val="4"/>
          <c:order val="4"/>
          <c:tx>
            <c:strRef>
              <c:strCache>
                <c:ptCount val="1"/>
                <c:pt idx="0">
                  <c:v>Middle East &amp; Africa</c:v>
                </c:pt>
              </c:strCache>
            </c:strRef>
          </c:tx>
          <c:spPr>
            <a:solidFill>
              <a:srgbClr val="EDA28B"/>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8.761792150577614</c:v>
                </c:pt>
                <c:pt idx="1">
                  <c:v>8.687066669988099</c:v>
                </c:pt>
              </c:numCache>
            </c:numRef>
          </c:val>
        </c:ser>
        <c:ser>
          <c:idx val="5"/>
          <c:order val="5"/>
          <c:tx>
            <c:strRef>
              <c:strCache>
                <c:ptCount val="1"/>
                <c:pt idx="0">
                  <c:v>Eastern Europe</c:v>
                </c:pt>
              </c:strCache>
            </c:strRef>
          </c:tx>
          <c:spPr>
            <a:solidFill>
              <a:srgbClr val="C4E2F4"/>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6.7517964160333</c:v>
                </c:pt>
                <c:pt idx="1">
                  <c:v>6.741032322026322</c:v>
                </c:pt>
              </c:numCache>
            </c:numRef>
          </c:val>
        </c:ser>
        <c:ser>
          <c:idx val="6"/>
          <c:order val="6"/>
          <c:tx>
            <c:strRef>
              <c:strCache>
                <c:ptCount val="1"/>
                <c:pt idx="0">
                  <c:v>Western Europe</c:v>
                </c:pt>
              </c:strCache>
            </c:strRef>
          </c:tx>
          <c:spPr>
            <a:solidFill>
              <a:srgbClr val="9AB3C7"/>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3.823015620585853</c:v>
                </c:pt>
                <c:pt idx="1">
                  <c:v>3.7128205801328593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39.60093023861745</c:v>
                </c:pt>
                <c:pt idx="1">
                  <c:v>36.79292828395065</c:v>
                </c:pt>
              </c:numCache>
            </c:numRef>
          </c:val>
        </c:ser>
        <c:ser>
          <c:idx val="1"/>
          <c:order val="1"/>
          <c:tx>
            <c:strRef>
              <c:strCache>
                <c:ptCount val="1"/>
                <c:pt idx="0">
                  <c:v>South Asia &amp; Pacific</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14.400340770673465</c:v>
                </c:pt>
                <c:pt idx="1">
                  <c:v>15.899413893160427</c:v>
                </c:pt>
              </c:numCache>
            </c:numRef>
          </c:val>
        </c:ser>
        <c:ser>
          <c:idx val="2"/>
          <c:order val="2"/>
          <c:tx>
            <c:strRef>
              <c:strCache>
                <c:ptCount val="1"/>
                <c:pt idx="0">
                  <c:v>East Asia</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15.600359229390756</c:v>
                </c:pt>
                <c:pt idx="1">
                  <c:v>15.307603947698913</c:v>
                </c:pt>
              </c:numCache>
            </c:numRef>
          </c:val>
        </c:ser>
        <c:ser>
          <c:idx val="3"/>
          <c:order val="3"/>
          <c:tx>
            <c:strRef>
              <c:strCache>
                <c:ptCount val="1"/>
                <c:pt idx="0">
                  <c:v>Latin America</c:v>
                </c:pt>
              </c:strCache>
            </c:strRef>
          </c:tx>
          <c:spPr>
            <a:solidFill>
              <a:srgbClr val="EBC46B"/>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9.600230238553232</c:v>
                </c:pt>
                <c:pt idx="1">
                  <c:v>10.450130030250694</c:v>
                </c:pt>
              </c:numCache>
            </c:numRef>
          </c:val>
        </c:ser>
        <c:ser>
          <c:idx val="4"/>
          <c:order val="4"/>
          <c:tx>
            <c:strRef>
              <c:strCache>
                <c:ptCount val="1"/>
                <c:pt idx="0">
                  <c:v>Middle East &amp; Africa</c:v>
                </c:pt>
              </c:strCache>
            </c:strRef>
          </c:tx>
          <c:spPr>
            <a:solidFill>
              <a:srgbClr val="EDA28B"/>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8.400202605523175</c:v>
                </c:pt>
                <c:pt idx="1">
                  <c:v>8.340510586897496</c:v>
                </c:pt>
              </c:numCache>
            </c:numRef>
          </c:val>
        </c:ser>
        <c:ser>
          <c:idx val="5"/>
          <c:order val="5"/>
          <c:tx>
            <c:strRef>
              <c:strCache>
                <c:ptCount val="1"/>
                <c:pt idx="0">
                  <c:v>Eastern Europe</c:v>
                </c:pt>
              </c:strCache>
            </c:strRef>
          </c:tx>
          <c:spPr>
            <a:solidFill>
              <a:srgbClr val="C4E2F4"/>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7.373092419549764</c:v>
                </c:pt>
                <c:pt idx="1">
                  <c:v>7.89159951099812</c:v>
                </c:pt>
              </c:numCache>
            </c:numRef>
          </c:val>
        </c:ser>
        <c:ser>
          <c:idx val="6"/>
          <c:order val="6"/>
          <c:tx>
            <c:strRef>
              <c:strCache>
                <c:ptCount val="1"/>
                <c:pt idx="0">
                  <c:v>Western Europe</c:v>
                </c:pt>
              </c:strCache>
            </c:strRef>
          </c:tx>
          <c:spPr>
            <a:solidFill>
              <a:srgbClr val="9AB3C7"/>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5.024844497692156</c:v>
                </c:pt>
                <c:pt idx="1">
                  <c:v>5.317813747043697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675781.745</c:v>
                </c:pt>
                <c:pt idx="1">
                  <c:v>688909.276</c:v>
                </c:pt>
                <c:pt idx="2">
                  <c:v>702303.837</c:v>
                </c:pt>
                <c:pt idx="3">
                  <c:v>715971.13</c:v>
                </c:pt>
                <c:pt idx="4">
                  <c:v>729916.983</c:v>
                </c:pt>
                <c:pt idx="5">
                  <c:v>744147.359</c:v>
                </c:pt>
                <c:pt idx="6">
                  <c:v>764537.754</c:v>
                </c:pt>
                <c:pt idx="7">
                  <c:v>785500.335</c:v>
                </c:pt>
                <c:pt idx="8">
                  <c:v>807051.572</c:v>
                </c:pt>
                <c:pt idx="9">
                  <c:v>829208.418</c:v>
                </c:pt>
                <c:pt idx="10">
                  <c:v>851988.334</c:v>
                </c:pt>
                <c:pt idx="11">
                  <c:v>875409.291</c:v>
                </c:pt>
                <c:pt idx="12">
                  <c:v>899489.792</c:v>
                </c:pt>
                <c:pt idx="13">
                  <c:v>924248.892</c:v>
                </c:pt>
                <c:pt idx="14">
                  <c:v>949706.211</c:v>
                </c:pt>
                <c:pt idx="15">
                  <c:v>975881.949</c:v>
                </c:pt>
              </c:numCache>
            </c:numRef>
          </c:val>
        </c:ser>
        <c:ser>
          <c:idx val="1"/>
          <c:order val="1"/>
          <c:tx>
            <c:strRef>
              <c:strCache>
                <c:ptCount val="1"/>
                <c:pt idx="0">
                  <c:v>East Asia</c:v>
                </c:pt>
              </c:strCache>
            </c:strRef>
          </c:tx>
          <c:spPr>
            <a:solidFill>
              <a:srgbClr val="6ECFF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465061.54</c:v>
                </c:pt>
                <c:pt idx="1">
                  <c:v>483517.996</c:v>
                </c:pt>
                <c:pt idx="2">
                  <c:v>502717.377</c:v>
                </c:pt>
                <c:pt idx="3">
                  <c:v>522689.949</c:v>
                </c:pt>
                <c:pt idx="4">
                  <c:v>543467.228</c:v>
                </c:pt>
                <c:pt idx="5">
                  <c:v>565082.024</c:v>
                </c:pt>
                <c:pt idx="6">
                  <c:v>592087.691</c:v>
                </c:pt>
                <c:pt idx="7">
                  <c:v>620396.463</c:v>
                </c:pt>
                <c:pt idx="8">
                  <c:v>650071.749</c:v>
                </c:pt>
                <c:pt idx="9">
                  <c:v>681180.074</c:v>
                </c:pt>
                <c:pt idx="10">
                  <c:v>713791.217</c:v>
                </c:pt>
                <c:pt idx="11">
                  <c:v>747978.386</c:v>
                </c:pt>
                <c:pt idx="12">
                  <c:v>783818.378</c:v>
                </c:pt>
                <c:pt idx="13">
                  <c:v>821391.76</c:v>
                </c:pt>
                <c:pt idx="14">
                  <c:v>860783.052</c:v>
                </c:pt>
                <c:pt idx="15">
                  <c:v>902080.926</c:v>
                </c:pt>
              </c:numCache>
            </c:numRef>
          </c:val>
        </c:ser>
        <c:ser>
          <c:idx val="2"/>
          <c:order val="2"/>
          <c:tx>
            <c:strRef>
              <c:strCache>
                <c:ptCount val="1"/>
                <c:pt idx="0">
                  <c:v>South Asia &amp; Pacific</c:v>
                </c:pt>
              </c:strCache>
            </c:strRef>
          </c:tx>
          <c:spPr>
            <a:solidFill>
              <a:srgbClr val="D6CAC4"/>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450410.342</c:v>
                </c:pt>
                <c:pt idx="1">
                  <c:v>474211.194</c:v>
                </c:pt>
                <c:pt idx="2">
                  <c:v>499303.191</c:v>
                </c:pt>
                <c:pt idx="3">
                  <c:v>525757.868</c:v>
                </c:pt>
                <c:pt idx="4">
                  <c:v>553650.791</c:v>
                </c:pt>
                <c:pt idx="5">
                  <c:v>583061.781</c:v>
                </c:pt>
                <c:pt idx="6">
                  <c:v>618743.574</c:v>
                </c:pt>
                <c:pt idx="7">
                  <c:v>656650.801</c:v>
                </c:pt>
                <c:pt idx="8">
                  <c:v>696924.458</c:v>
                </c:pt>
                <c:pt idx="9">
                  <c:v>739714.596</c:v>
                </c:pt>
                <c:pt idx="10">
                  <c:v>785180.898</c:v>
                </c:pt>
                <c:pt idx="11">
                  <c:v>833493.309</c:v>
                </c:pt>
                <c:pt idx="12">
                  <c:v>884832.697</c:v>
                </c:pt>
                <c:pt idx="13">
                  <c:v>939391.571</c:v>
                </c:pt>
                <c:pt idx="14">
                  <c:v>997374.83</c:v>
                </c:pt>
                <c:pt idx="15">
                  <c:v>1059000.571</c:v>
                </c:pt>
              </c:numCache>
            </c:numRef>
          </c:val>
        </c:ser>
        <c:ser>
          <c:idx val="3"/>
          <c:order val="3"/>
          <c:tx>
            <c:strRef>
              <c:strCache>
                <c:ptCount val="1"/>
                <c:pt idx="0">
                  <c:v>Latin America</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203541.364</c:v>
                </c:pt>
                <c:pt idx="1">
                  <c:v>212440.846</c:v>
                </c:pt>
                <c:pt idx="2">
                  <c:v>221735.753</c:v>
                </c:pt>
                <c:pt idx="3">
                  <c:v>231443.848</c:v>
                </c:pt>
                <c:pt idx="4">
                  <c:v>241583.704</c:v>
                </c:pt>
                <c:pt idx="5">
                  <c:v>252174.726</c:v>
                </c:pt>
                <c:pt idx="6">
                  <c:v>265241.576</c:v>
                </c:pt>
                <c:pt idx="7">
                  <c:v>278992.875</c:v>
                </c:pt>
                <c:pt idx="8">
                  <c:v>293464.761</c:v>
                </c:pt>
                <c:pt idx="9">
                  <c:v>308695.293</c:v>
                </c:pt>
                <c:pt idx="10">
                  <c:v>324724.552</c:v>
                </c:pt>
                <c:pt idx="11">
                  <c:v>341594.745</c:v>
                </c:pt>
                <c:pt idx="12">
                  <c:v>359350.328</c:v>
                </c:pt>
                <c:pt idx="13">
                  <c:v>378038.115</c:v>
                </c:pt>
                <c:pt idx="14">
                  <c:v>397707.414</c:v>
                </c:pt>
                <c:pt idx="15">
                  <c:v>418410.15</c:v>
                </c:pt>
              </c:numCache>
            </c:numRef>
          </c:val>
        </c:ser>
        <c:ser>
          <c:idx val="4"/>
          <c:order val="4"/>
          <c:tx>
            <c:strRef>
              <c:strCache>
                <c:ptCount val="1"/>
                <c:pt idx="0">
                  <c:v>Middle East &amp; Africa</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195003.22</c:v>
                </c:pt>
                <c:pt idx="1">
                  <c:v>202035.576</c:v>
                </c:pt>
                <c:pt idx="2">
                  <c:v>209334.161</c:v>
                </c:pt>
                <c:pt idx="3">
                  <c:v>216909.569</c:v>
                </c:pt>
                <c:pt idx="4">
                  <c:v>224772.832</c:v>
                </c:pt>
                <c:pt idx="5">
                  <c:v>232935.45</c:v>
                </c:pt>
                <c:pt idx="6">
                  <c:v>243264.779</c:v>
                </c:pt>
                <c:pt idx="7">
                  <c:v>254067.702</c:v>
                </c:pt>
                <c:pt idx="8">
                  <c:v>265366.689</c:v>
                </c:pt>
                <c:pt idx="9">
                  <c:v>277185.318</c:v>
                </c:pt>
                <c:pt idx="10">
                  <c:v>289548.32</c:v>
                </c:pt>
                <c:pt idx="11">
                  <c:v>302481.647</c:v>
                </c:pt>
                <c:pt idx="12">
                  <c:v>316012.53</c:v>
                </c:pt>
                <c:pt idx="13">
                  <c:v>330169.541</c:v>
                </c:pt>
                <c:pt idx="14">
                  <c:v>344982.666</c:v>
                </c:pt>
                <c:pt idx="15">
                  <c:v>360483.374</c:v>
                </c:pt>
              </c:numCache>
            </c:numRef>
          </c:val>
        </c:ser>
        <c:ser>
          <c:idx val="5"/>
          <c:order val="5"/>
          <c:tx>
            <c:strRef>
              <c:strCache>
                <c:ptCount val="1"/>
                <c:pt idx="0">
                  <c:v>Eastern Europe</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149560.806</c:v>
                </c:pt>
                <c:pt idx="1">
                  <c:v>155107.299</c:v>
                </c:pt>
                <c:pt idx="2">
                  <c:v>160865.955</c:v>
                </c:pt>
                <c:pt idx="3">
                  <c:v>166845.02</c:v>
                </c:pt>
                <c:pt idx="4">
                  <c:v>173053.059</c:v>
                </c:pt>
                <c:pt idx="5">
                  <c:v>179498.978</c:v>
                </c:pt>
                <c:pt idx="6">
                  <c:v>187612.16</c:v>
                </c:pt>
                <c:pt idx="7">
                  <c:v>196099.234</c:v>
                </c:pt>
                <c:pt idx="8">
                  <c:v>204977.63</c:v>
                </c:pt>
                <c:pt idx="9">
                  <c:v>214265.599</c:v>
                </c:pt>
                <c:pt idx="10">
                  <c:v>223982.247</c:v>
                </c:pt>
                <c:pt idx="11">
                  <c:v>234147.578</c:v>
                </c:pt>
                <c:pt idx="12">
                  <c:v>244782.537</c:v>
                </c:pt>
                <c:pt idx="13">
                  <c:v>255909.049</c:v>
                </c:pt>
                <c:pt idx="14">
                  <c:v>267550.073</c:v>
                </c:pt>
                <c:pt idx="15">
                  <c:v>279729.645</c:v>
                </c:pt>
              </c:numCache>
            </c:numRef>
          </c:val>
        </c:ser>
        <c:ser>
          <c:idx val="6"/>
          <c:order val="6"/>
          <c:tx>
            <c:strRef>
              <c:strCache>
                <c:ptCount val="1"/>
                <c:pt idx="0">
                  <c:v>Western Europe</c:v>
                </c:pt>
              </c:strCache>
            </c:strRef>
          </c:tx>
          <c:spPr>
            <a:solidFill>
              <a:srgbClr val="9AB3C7"/>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86143.331</c:v>
                </c:pt>
                <c:pt idx="1">
                  <c:v>89017.611</c:v>
                </c:pt>
                <c:pt idx="2">
                  <c:v>91999.664</c:v>
                </c:pt>
                <c:pt idx="3">
                  <c:v>95093.78</c:v>
                </c:pt>
                <c:pt idx="4">
                  <c:v>98304.432</c:v>
                </c:pt>
                <c:pt idx="5">
                  <c:v>101636.269</c:v>
                </c:pt>
                <c:pt idx="6">
                  <c:v>105896.945</c:v>
                </c:pt>
                <c:pt idx="7">
                  <c:v>110349.666</c:v>
                </c:pt>
                <c:pt idx="8">
                  <c:v>115003.484</c:v>
                </c:pt>
                <c:pt idx="9">
                  <c:v>119867.895</c:v>
                </c:pt>
                <c:pt idx="10">
                  <c:v>124952.849</c:v>
                </c:pt>
                <c:pt idx="11">
                  <c:v>130268.782</c:v>
                </c:pt>
                <c:pt idx="12">
                  <c:v>135826.639</c:v>
                </c:pt>
                <c:pt idx="13">
                  <c:v>141637.887</c:v>
                </c:pt>
                <c:pt idx="14">
                  <c:v>147714.562</c:v>
                </c:pt>
                <c:pt idx="15">
                  <c:v>154069.278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3650.6</c:v>
                </c:pt>
                <c:pt idx="1">
                  <c:v>3774.844</c:v>
                </c:pt>
                <c:pt idx="2">
                  <c:v>3903.403</c:v>
                </c:pt>
                <c:pt idx="3">
                  <c:v>4036.426</c:v>
                </c:pt>
                <c:pt idx="4">
                  <c:v>4174.07</c:v>
                </c:pt>
                <c:pt idx="5">
                  <c:v>4316.501</c:v>
                </c:pt>
                <c:pt idx="6">
                  <c:v>4498.421</c:v>
                </c:pt>
                <c:pt idx="7">
                  <c:v>4688.108</c:v>
                </c:pt>
                <c:pt idx="8">
                  <c:v>4885.898</c:v>
                </c:pt>
                <c:pt idx="9">
                  <c:v>5092.141</c:v>
                </c:pt>
                <c:pt idx="10">
                  <c:v>5307.203</c:v>
                </c:pt>
                <c:pt idx="11">
                  <c:v>5531.469</c:v>
                </c:pt>
                <c:pt idx="12">
                  <c:v>5765.335</c:v>
                </c:pt>
                <c:pt idx="13">
                  <c:v>6009.219</c:v>
                </c:pt>
                <c:pt idx="14">
                  <c:v>6263.557</c:v>
                </c:pt>
                <c:pt idx="15">
                  <c:v>6528.801</c:v>
                </c:pt>
              </c:numCache>
            </c:numRef>
          </c:val>
        </c:ser>
        <c:ser>
          <c:idx val="1"/>
          <c:order val="1"/>
          <c:tx>
            <c:strRef>
              <c:strCache>
                <c:ptCount val="1"/>
                <c:pt idx="0">
                  <c:v>East Asia</c:v>
                </c:pt>
              </c:strCache>
            </c:strRef>
          </c:tx>
          <c:spPr>
            <a:solidFill>
              <a:srgbClr val="6ECFF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1398.599</c:v>
                </c:pt>
                <c:pt idx="1">
                  <c:v>1454.306</c:v>
                </c:pt>
                <c:pt idx="2">
                  <c:v>1512.252</c:v>
                </c:pt>
                <c:pt idx="3">
                  <c:v>1572.527</c:v>
                </c:pt>
                <c:pt idx="4">
                  <c:v>1635.222</c:v>
                </c:pt>
                <c:pt idx="5">
                  <c:v>1700.439</c:v>
                </c:pt>
                <c:pt idx="6">
                  <c:v>1781.884</c:v>
                </c:pt>
                <c:pt idx="7">
                  <c:v>1867.25</c:v>
                </c:pt>
                <c:pt idx="8">
                  <c:v>1956.73</c:v>
                </c:pt>
                <c:pt idx="9">
                  <c:v>2050.524</c:v>
                </c:pt>
                <c:pt idx="10">
                  <c:v>2148.839</c:v>
                </c:pt>
                <c:pt idx="11">
                  <c:v>2251.894</c:v>
                </c:pt>
                <c:pt idx="12">
                  <c:v>2359.921</c:v>
                </c:pt>
                <c:pt idx="13">
                  <c:v>2473.158</c:v>
                </c:pt>
                <c:pt idx="14">
                  <c:v>2591.86</c:v>
                </c:pt>
                <c:pt idx="15">
                  <c:v>2716.291</c:v>
                </c:pt>
              </c:numCache>
            </c:numRef>
          </c:val>
        </c:ser>
        <c:ser>
          <c:idx val="2"/>
          <c:order val="2"/>
          <c:tx>
            <c:strRef>
              <c:strCache>
                <c:ptCount val="1"/>
                <c:pt idx="0">
                  <c:v>South Asia &amp; Pacific</c:v>
                </c:pt>
              </c:strCache>
            </c:strRef>
          </c:tx>
          <c:spPr>
            <a:solidFill>
              <a:srgbClr val="D6CAC4"/>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1219.484</c:v>
                </c:pt>
                <c:pt idx="1">
                  <c:v>1282.422</c:v>
                </c:pt>
                <c:pt idx="2">
                  <c:v>1348.718</c:v>
                </c:pt>
                <c:pt idx="3">
                  <c:v>1418.554</c:v>
                </c:pt>
                <c:pt idx="4">
                  <c:v>1492.127</c:v>
                </c:pt>
                <c:pt idx="5">
                  <c:v>1569.637</c:v>
                </c:pt>
                <c:pt idx="6">
                  <c:v>1663.861</c:v>
                </c:pt>
                <c:pt idx="7">
                  <c:v>1763.876</c:v>
                </c:pt>
                <c:pt idx="8">
                  <c:v>1870.046</c:v>
                </c:pt>
                <c:pt idx="9">
                  <c:v>1982.757</c:v>
                </c:pt>
                <c:pt idx="10">
                  <c:v>2102.419</c:v>
                </c:pt>
                <c:pt idx="11">
                  <c:v>2229.471</c:v>
                </c:pt>
                <c:pt idx="12">
                  <c:v>2364.372</c:v>
                </c:pt>
                <c:pt idx="13">
                  <c:v>2507.624</c:v>
                </c:pt>
                <c:pt idx="14">
                  <c:v>2659.748</c:v>
                </c:pt>
                <c:pt idx="15">
                  <c:v>2821.306</c:v>
                </c:pt>
              </c:numCache>
            </c:numRef>
          </c:val>
        </c:ser>
        <c:ser>
          <c:idx val="3"/>
          <c:order val="3"/>
          <c:tx>
            <c:strRef>
              <c:strCache>
                <c:ptCount val="1"/>
                <c:pt idx="0">
                  <c:v>Latin America</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817.319</c:v>
                </c:pt>
                <c:pt idx="1">
                  <c:v>858.676</c:v>
                </c:pt>
                <c:pt idx="2">
                  <c:v>902.151</c:v>
                </c:pt>
                <c:pt idx="3">
                  <c:v>947.857</c:v>
                </c:pt>
                <c:pt idx="4">
                  <c:v>995.908</c:v>
                </c:pt>
                <c:pt idx="5">
                  <c:v>1046.425</c:v>
                </c:pt>
                <c:pt idx="6">
                  <c:v>1107.907</c:v>
                </c:pt>
                <c:pt idx="7">
                  <c:v>1173.034</c:v>
                </c:pt>
                <c:pt idx="8">
                  <c:v>1242.024</c:v>
                </c:pt>
                <c:pt idx="9">
                  <c:v>1315.108</c:v>
                </c:pt>
                <c:pt idx="10">
                  <c:v>1392.529</c:v>
                </c:pt>
                <c:pt idx="11">
                  <c:v>1474.549</c:v>
                </c:pt>
                <c:pt idx="12">
                  <c:v>1561.44</c:v>
                </c:pt>
                <c:pt idx="13">
                  <c:v>1653.494</c:v>
                </c:pt>
                <c:pt idx="14">
                  <c:v>1751.02</c:v>
                </c:pt>
                <c:pt idx="15">
                  <c:v>1854.346</c:v>
                </c:pt>
              </c:numCache>
            </c:numRef>
          </c:val>
        </c:ser>
        <c:ser>
          <c:idx val="4"/>
          <c:order val="4"/>
          <c:tx>
            <c:strRef>
              <c:strCache>
                <c:ptCount val="1"/>
                <c:pt idx="0">
                  <c:v>Middle East &amp; Africa</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749.887</c:v>
                </c:pt>
                <c:pt idx="1">
                  <c:v>780.353</c:v>
                </c:pt>
                <c:pt idx="2">
                  <c:v>812.102</c:v>
                </c:pt>
                <c:pt idx="3">
                  <c:v>845.191</c:v>
                </c:pt>
                <c:pt idx="4">
                  <c:v>879.677</c:v>
                </c:pt>
                <c:pt idx="5">
                  <c:v>915.622</c:v>
                </c:pt>
                <c:pt idx="6">
                  <c:v>960.414</c:v>
                </c:pt>
                <c:pt idx="7">
                  <c:v>1007.457</c:v>
                </c:pt>
                <c:pt idx="8">
                  <c:v>1056.861</c:v>
                </c:pt>
                <c:pt idx="9">
                  <c:v>1108.752</c:v>
                </c:pt>
                <c:pt idx="10">
                  <c:v>1163.258</c:v>
                </c:pt>
                <c:pt idx="11">
                  <c:v>1220.515</c:v>
                </c:pt>
                <c:pt idx="12">
                  <c:v>1280.664</c:v>
                </c:pt>
                <c:pt idx="13">
                  <c:v>1343.852</c:v>
                </c:pt>
                <c:pt idx="14">
                  <c:v>1410.243</c:v>
                </c:pt>
                <c:pt idx="15">
                  <c:v>1480.0</c:v>
                </c:pt>
              </c:numCache>
            </c:numRef>
          </c:val>
        </c:ser>
        <c:ser>
          <c:idx val="5"/>
          <c:order val="5"/>
          <c:tx>
            <c:strRef>
              <c:strCache>
                <c:ptCount val="1"/>
                <c:pt idx="0">
                  <c:v>Eastern Europe</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633.212</c:v>
                </c:pt>
                <c:pt idx="1">
                  <c:v>664.083</c:v>
                </c:pt>
                <c:pt idx="2">
                  <c:v>696.485</c:v>
                </c:pt>
                <c:pt idx="3">
                  <c:v>730.495</c:v>
                </c:pt>
                <c:pt idx="4">
                  <c:v>766.195</c:v>
                </c:pt>
                <c:pt idx="5">
                  <c:v>803.667</c:v>
                </c:pt>
                <c:pt idx="6">
                  <c:v>849.431</c:v>
                </c:pt>
                <c:pt idx="7">
                  <c:v>897.831</c:v>
                </c:pt>
                <c:pt idx="8">
                  <c:v>949.021</c:v>
                </c:pt>
                <c:pt idx="9">
                  <c:v>1003.164</c:v>
                </c:pt>
                <c:pt idx="10">
                  <c:v>1060.428</c:v>
                </c:pt>
                <c:pt idx="11">
                  <c:v>1120.998</c:v>
                </c:pt>
                <c:pt idx="12">
                  <c:v>1185.064</c:v>
                </c:pt>
                <c:pt idx="13">
                  <c:v>1252.833</c:v>
                </c:pt>
                <c:pt idx="14">
                  <c:v>1324.515</c:v>
                </c:pt>
                <c:pt idx="15">
                  <c:v>1400.342</c:v>
                </c:pt>
              </c:numCache>
            </c:numRef>
          </c:val>
        </c:ser>
        <c:ser>
          <c:idx val="6"/>
          <c:order val="6"/>
          <c:tx>
            <c:strRef>
              <c:strCache>
                <c:ptCount val="1"/>
                <c:pt idx="0">
                  <c:v>Western Europe</c:v>
                </c:pt>
              </c:strCache>
            </c:strRef>
          </c:tx>
          <c:spPr>
            <a:solidFill>
              <a:srgbClr val="9AB3C7"/>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435.462</c:v>
                </c:pt>
                <c:pt idx="1">
                  <c:v>455.784</c:v>
                </c:pt>
                <c:pt idx="2">
                  <c:v>477.113</c:v>
                </c:pt>
                <c:pt idx="3">
                  <c:v>499.509</c:v>
                </c:pt>
                <c:pt idx="4">
                  <c:v>523.021</c:v>
                </c:pt>
                <c:pt idx="5">
                  <c:v>547.708</c:v>
                </c:pt>
                <c:pt idx="6">
                  <c:v>578.016</c:v>
                </c:pt>
                <c:pt idx="7">
                  <c:v>610.076</c:v>
                </c:pt>
                <c:pt idx="8">
                  <c:v>643.992</c:v>
                </c:pt>
                <c:pt idx="9">
                  <c:v>679.877</c:v>
                </c:pt>
                <c:pt idx="10">
                  <c:v>717.848</c:v>
                </c:pt>
                <c:pt idx="11">
                  <c:v>758.027</c:v>
                </c:pt>
                <c:pt idx="12">
                  <c:v>800.549</c:v>
                </c:pt>
                <c:pt idx="13">
                  <c:v>845.557</c:v>
                </c:pt>
                <c:pt idx="14">
                  <c:v>893.197</c:v>
                </c:pt>
                <c:pt idx="15">
                  <c:v>943.631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Gaseous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68.90585408915138</c:v>
                </c:pt>
                <c:pt idx="1">
                  <c:v>73.47540815029473</c:v>
                </c:pt>
                <c:pt idx="2">
                  <c:v>70.56162162162161</c:v>
                </c:pt>
                <c:pt idx="3">
                  <c:v>69.0557749201066</c:v>
                </c:pt>
                <c:pt idx="4">
                  <c:v>73.15858278807387</c:v>
                </c:pt>
                <c:pt idx="5">
                  <c:v>69.08846470393499</c:v>
                </c:pt>
                <c:pt idx="6">
                  <c:v>73.86457329607687</c:v>
                </c:pt>
              </c:numCache>
            </c:numRef>
          </c:val>
        </c:ser>
        <c:ser>
          <c:idx val="1"/>
          <c:order val="1"/>
          <c:tx>
            <c:strRef>
              <c:strCache>
                <c:ptCount val="1"/>
                <c:pt idx="0">
                  <c:v>Liquid Helium-3</c:v>
                </c:pt>
              </c:strCache>
            </c:strRef>
          </c:tx>
          <c:spPr>
            <a:solidFill>
              <a:srgbClr val="6ECFF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31.094145910848624</c:v>
                </c:pt>
                <c:pt idx="1">
                  <c:v>26.52459184970529</c:v>
                </c:pt>
                <c:pt idx="2">
                  <c:v>29.438378378378378</c:v>
                </c:pt>
                <c:pt idx="3">
                  <c:v>30.944225079893396</c:v>
                </c:pt>
                <c:pt idx="4">
                  <c:v>26.841417211926117</c:v>
                </c:pt>
                <c:pt idx="5">
                  <c:v>30.91153529606501</c:v>
                </c:pt>
                <c:pt idx="6">
                  <c:v>26.135426703923127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Gaseous Helium-3</c:v>
                </c:pt>
              </c:strCache>
            </c:strRef>
          </c:tx>
          <c:spPr>
            <a:solidFill>
              <a:srgbClr val="00A4DC"/>
            </a:solidFill>
          </c:spPr>
          <c:invertIfNegative val="0"/>
          <c:xVal>
            <c:numRef>
              <c:numCache>
                <c:formatCode>General</c:formatCode>
                <c:ptCount val="1"/>
                <c:pt idx="0">
                  <c:v>113.26361935576072</c:v>
                </c:pt>
              </c:numCache>
            </c:numRef>
          </c:xVal>
          <c:yVal>
            <c:numRef>
              <c:numCache>
                <c:formatCode>General</c:formatCode>
                <c:ptCount val="1"/>
                <c:pt idx="0">
                  <c:v>135.08146193407907</c:v>
                </c:pt>
              </c:numCache>
            </c:numRef>
          </c:yVal>
          <c:bubbleSize>
            <c:numRef>
              <c:numCache>
                <c:formatCode>General</c:formatCode>
                <c:ptCount val="1"/>
                <c:pt idx="0">
                  <c:v>12762.837</c:v>
                </c:pt>
              </c:numCache>
            </c:numRef>
          </c:bubbleSize>
          <c:bubble3D val="0"/>
        </c:ser>
        <c:ser>
          <c:idx val="1"/>
          <c:order val="1"/>
          <c:tx>
            <c:strRef>
              <c:strCache>
                <c:ptCount val="1"/>
                <c:pt idx="0">
                  <c:v>Liquid Helium-3</c:v>
                </c:pt>
              </c:strCache>
            </c:strRef>
          </c:tx>
          <c:spPr>
            <a:solidFill>
              <a:srgbClr val="6ECFF2"/>
            </a:solidFill>
          </c:spPr>
          <c:invertIfNegative val="0"/>
          <c:xVal>
            <c:numRef>
              <c:numCache>
                <c:formatCode>General</c:formatCode>
                <c:ptCount val="1"/>
                <c:pt idx="0">
                  <c:v>69.71483425113396</c:v>
                </c:pt>
              </c:numCache>
            </c:numRef>
          </c:xVal>
          <c:yVal>
            <c:numRef>
              <c:numCache>
                <c:formatCode>General</c:formatCode>
                <c:ptCount val="1"/>
                <c:pt idx="0">
                  <c:v>64.91853806592093</c:v>
                </c:pt>
              </c:numCache>
            </c:numRef>
          </c:yVal>
          <c:bubbleSize>
            <c:numRef>
              <c:numCache>
                <c:formatCode>General</c:formatCode>
                <c:ptCount val="1"/>
                <c:pt idx="0">
                  <c:v>4981.88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5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7361.939</c:v>
                </c:pt>
                <c:pt idx="2">
                  <c:v>8220.416</c:v>
                </c:pt>
                <c:pt idx="3">
                  <c:v>9177.543</c:v>
                </c:pt>
                <c:pt idx="4">
                  <c:v>10244.823</c:v>
                </c:pt>
                <c:pt idx="5">
                  <c:v>11435.116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7361.939</c:v>
                </c:pt>
                <c:pt idx="1">
                  <c:v>858.476999999999</c:v>
                </c:pt>
                <c:pt idx="2">
                  <c:v>957.1270000000004</c:v>
                </c:pt>
                <c:pt idx="3">
                  <c:v>1067.2800000000007</c:v>
                </c:pt>
                <c:pt idx="4">
                  <c:v>1190.2929999999997</c:v>
                </c:pt>
                <c:pt idx="5">
                  <c:v>1327.7209999999995</c:v>
                </c:pt>
                <c:pt idx="6">
                  <c:v>12762.837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3538.06</c:v>
                </c:pt>
                <c:pt idx="2">
                  <c:v>3787.216</c:v>
                </c:pt>
                <c:pt idx="3">
                  <c:v>4054.78</c:v>
                </c:pt>
                <c:pt idx="4">
                  <c:v>4342.1</c:v>
                </c:pt>
                <c:pt idx="5">
                  <c:v>4650.621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3538.06</c:v>
                </c:pt>
                <c:pt idx="1">
                  <c:v>249.15599999999995</c:v>
                </c:pt>
                <c:pt idx="2">
                  <c:v>267.5640000000003</c:v>
                </c:pt>
                <c:pt idx="3">
                  <c:v>287.32000000000016</c:v>
                </c:pt>
                <c:pt idx="4">
                  <c:v>308.52099999999973</c:v>
                </c:pt>
                <c:pt idx="5">
                  <c:v>331.259</c:v>
                </c:pt>
                <c:pt idx="6">
                  <c:v>4981.88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Gaseous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65.14031064747367</c:v>
                </c:pt>
                <c:pt idx="1">
                  <c:v>67.54073096703954</c:v>
                </c:pt>
                <c:pt idx="2">
                  <c:v>71.92471426847776</c:v>
                </c:pt>
              </c:numCache>
            </c:numRef>
          </c:val>
        </c:ser>
        <c:ser>
          <c:idx val="1"/>
          <c:order val="1"/>
          <c:tx>
            <c:strRef>
              <c:strCache>
                <c:ptCount val="1"/>
                <c:pt idx="0">
                  <c:v>Liquid Helium-3</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34.85968935252634</c:v>
                </c:pt>
                <c:pt idx="1">
                  <c:v>32.459269032960464</c:v>
                </c:pt>
                <c:pt idx="2">
                  <c:v>28.075285731522232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Tritium-Decay-Derived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85.29234414723551</c:v>
                </c:pt>
                <c:pt idx="1">
                  <c:v>86.6443340269734</c:v>
                </c:pt>
                <c:pt idx="2">
                  <c:v>87.4914864864865</c:v>
                </c:pt>
                <c:pt idx="3">
                  <c:v>88.15625562866907</c:v>
                </c:pt>
                <c:pt idx="4">
                  <c:v>88.0576491988524</c:v>
                </c:pt>
                <c:pt idx="5">
                  <c:v>82.28791914099357</c:v>
                </c:pt>
                <c:pt idx="6">
                  <c:v>86.99945058824737</c:v>
                </c:pt>
              </c:numCache>
            </c:numRef>
          </c:val>
        </c:ser>
        <c:ser>
          <c:idx val="1"/>
          <c:order val="1"/>
          <c:tx>
            <c:strRef>
              <c:strCache>
                <c:ptCount val="1"/>
                <c:pt idx="0">
                  <c:v>Terrestrial Natural / Geological Helium-3</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14.707655852764479</c:v>
                </c:pt>
                <c:pt idx="1">
                  <c:v>13.35566597302659</c:v>
                </c:pt>
                <c:pt idx="2">
                  <c:v>12.508513513513513</c:v>
                </c:pt>
                <c:pt idx="3">
                  <c:v>11.843744371330917</c:v>
                </c:pt>
                <c:pt idx="4">
                  <c:v>11.942350801147594</c:v>
                </c:pt>
                <c:pt idx="5">
                  <c:v>17.71208085900643</c:v>
                </c:pt>
                <c:pt idx="6">
                  <c:v>13.000549411752631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Tritium-Decay-Derived Helium-3</c:v>
                </c:pt>
              </c:strCache>
            </c:strRef>
          </c:tx>
          <c:spPr>
            <a:solidFill>
              <a:srgbClr val="00A4DC"/>
            </a:solidFill>
          </c:spPr>
          <c:invertIfNegative val="0"/>
          <c:xVal>
            <c:numRef>
              <c:numCache>
                <c:formatCode>General</c:formatCode>
                <c:ptCount val="1"/>
                <c:pt idx="0">
                  <c:v>100.47300617256806</c:v>
                </c:pt>
              </c:numCache>
            </c:numRef>
          </c:xVal>
          <c:yVal>
            <c:numRef>
              <c:numCache>
                <c:formatCode>General</c:formatCode>
                <c:ptCount val="1"/>
                <c:pt idx="0">
                  <c:v>172.5223644515931</c:v>
                </c:pt>
              </c:numCache>
            </c:numRef>
          </c:yVal>
          <c:bubbleSize>
            <c:numRef>
              <c:numCache>
                <c:formatCode>General</c:formatCode>
                <c:ptCount val="1"/>
                <c:pt idx="0">
                  <c:v>15341.275</c:v>
                </c:pt>
              </c:numCache>
            </c:numRef>
          </c:bubbleSize>
          <c:bubble3D val="0"/>
        </c:ser>
        <c:ser>
          <c:idx val="1"/>
          <c:order val="1"/>
          <c:tx>
            <c:strRef>
              <c:strCache>
                <c:ptCount val="1"/>
                <c:pt idx="0">
                  <c:v>Terrestrial Natural / Geological Helium-3</c:v>
                </c:pt>
              </c:strCache>
            </c:strRef>
          </c:tx>
          <c:spPr>
            <a:solidFill>
              <a:srgbClr val="6ECFF2"/>
            </a:solidFill>
          </c:spPr>
          <c:invertIfNegative val="0"/>
          <c:xVal>
            <c:numRef>
              <c:numCache>
                <c:formatCode>General</c:formatCode>
                <c:ptCount val="1"/>
                <c:pt idx="0">
                  <c:v>97.00806535256557</c:v>
                </c:pt>
              </c:numCache>
            </c:numRef>
          </c:xVal>
          <c:yVal>
            <c:numRef>
              <c:numCache>
                <c:formatCode>General</c:formatCode>
                <c:ptCount val="1"/>
                <c:pt idx="0">
                  <c:v>27.47763554840693</c:v>
                </c:pt>
              </c:numCache>
            </c:numRef>
          </c:yVal>
          <c:bubbleSize>
            <c:numRef>
              <c:numCache>
                <c:formatCode>General</c:formatCode>
                <c:ptCount val="1"/>
                <c:pt idx="0">
                  <c:v>2403.442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9402.468</c:v>
                </c:pt>
                <c:pt idx="2">
                  <c:v>10363.004</c:v>
                </c:pt>
                <c:pt idx="3">
                  <c:v>11425.318</c:v>
                </c:pt>
                <c:pt idx="4">
                  <c:v>12600.596</c:v>
                </c:pt>
                <c:pt idx="5">
                  <c:v>13901.285</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9402.468</c:v>
                </c:pt>
                <c:pt idx="1">
                  <c:v>960.5360000000001</c:v>
                </c:pt>
                <c:pt idx="2">
                  <c:v>1062.3139999999985</c:v>
                </c:pt>
                <c:pt idx="3">
                  <c:v>1175.2780000000002</c:v>
                </c:pt>
                <c:pt idx="4">
                  <c:v>1300.6890000000003</c:v>
                </c:pt>
                <c:pt idx="5">
                  <c:v>1439.9899999999998</c:v>
                </c:pt>
                <c:pt idx="6">
                  <c:v>15341.275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1497.531</c:v>
                </c:pt>
                <c:pt idx="2">
                  <c:v>1644.628</c:v>
                </c:pt>
                <c:pt idx="3">
                  <c:v>1807.005</c:v>
                </c:pt>
                <c:pt idx="4">
                  <c:v>1986.327</c:v>
                </c:pt>
                <c:pt idx="5">
                  <c:v>2184.452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1497.531</c:v>
                </c:pt>
                <c:pt idx="1">
                  <c:v>147.09699999999998</c:v>
                </c:pt>
                <c:pt idx="2">
                  <c:v>162.37700000000018</c:v>
                </c:pt>
                <c:pt idx="3">
                  <c:v>179.3219999999999</c:v>
                </c:pt>
                <c:pt idx="4">
                  <c:v>198.12500000000023</c:v>
                </c:pt>
                <c:pt idx="5">
                  <c:v>218.98999999999978</c:v>
                </c:pt>
                <c:pt idx="6">
                  <c:v>2403.442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Tritium-Decay-Derived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86.14756277203047</c:v>
                </c:pt>
                <c:pt idx="1">
                  <c:v>86.26118222579655</c:v>
                </c:pt>
                <c:pt idx="2">
                  <c:v>86.45545037432831</c:v>
                </c:pt>
              </c:numCache>
            </c:numRef>
          </c:val>
        </c:ser>
        <c:ser>
          <c:idx val="1"/>
          <c:order val="1"/>
          <c:tx>
            <c:strRef>
              <c:strCache>
                <c:ptCount val="1"/>
                <c:pt idx="0">
                  <c:v>Terrestrial Natural / Geological Helium-3</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13.852437227969524</c:v>
                </c:pt>
                <c:pt idx="1">
                  <c:v>13.738817774203465</c:v>
                </c:pt>
                <c:pt idx="2">
                  <c:v>13.544549625671683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Neutron Detection and Radiation Monitoring</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14.395669493689804</c:v>
                </c:pt>
                <c:pt idx="1">
                  <c:v>16.2892350582929</c:v>
                </c:pt>
                <c:pt idx="2">
                  <c:v>17.322094594594596</c:v>
                </c:pt>
                <c:pt idx="3">
                  <c:v>15.051829593829847</c:v>
                </c:pt>
                <c:pt idx="4">
                  <c:v>16.93176467469796</c:v>
                </c:pt>
                <c:pt idx="5">
                  <c:v>16.123986550909397</c:v>
                </c:pt>
                <c:pt idx="6">
                  <c:v>14.869621543067401</c:v>
                </c:pt>
              </c:numCache>
            </c:numRef>
          </c:val>
        </c:ser>
        <c:ser>
          <c:idx val="1"/>
          <c:order val="1"/>
          <c:tx>
            <c:strRef>
              <c:strCache>
                <c:ptCount val="1"/>
                <c:pt idx="0">
                  <c:v>Cryogenic Refrigeration and Ultra-Low-Temperature Cooling</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25.56200463952541</c:v>
                </c:pt>
                <c:pt idx="1">
                  <c:v>23.174624484590193</c:v>
                </c:pt>
                <c:pt idx="2">
                  <c:v>24.99831081081081</c:v>
                </c:pt>
                <c:pt idx="3">
                  <c:v>25.021597911069453</c:v>
                </c:pt>
                <c:pt idx="4">
                  <c:v>25.864938624028134</c:v>
                </c:pt>
                <c:pt idx="5">
                  <c:v>24.62384441815244</c:v>
                </c:pt>
                <c:pt idx="6">
                  <c:v>28.32922921069274</c:v>
                </c:pt>
              </c:numCache>
            </c:numRef>
          </c:val>
        </c:ser>
        <c:ser>
          <c:idx val="2"/>
          <c:order val="2"/>
          <c:tx>
            <c:strRef>
              <c:strCache>
                <c:ptCount val="1"/>
                <c:pt idx="0">
                  <c:v>Medical and Biomedical Imaging</c:v>
                </c:pt>
              </c:strCache>
            </c:strRef>
          </c:tx>
          <c:spPr>
            <a:solidFill>
              <a:srgbClr val="D6CAC4"/>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47.33110718066702</c:v>
                </c:pt>
                <c:pt idx="1">
                  <c:v>50.779738092551675</c:v>
                </c:pt>
                <c:pt idx="2">
                  <c:v>46.13398648648649</c:v>
                </c:pt>
                <c:pt idx="3">
                  <c:v>47.795341322493215</c:v>
                </c:pt>
                <c:pt idx="4">
                  <c:v>47.46015798749102</c:v>
                </c:pt>
                <c:pt idx="5">
                  <c:v>48.02254700482684</c:v>
                </c:pt>
                <c:pt idx="6">
                  <c:v>46.5176684049644</c:v>
                </c:pt>
              </c:numCache>
            </c:numRef>
          </c:val>
        </c:ser>
        <c:ser>
          <c:idx val="3"/>
          <c:order val="3"/>
          <c:tx>
            <c:strRef>
              <c:strCache>
                <c:ptCount val="1"/>
                <c:pt idx="0">
                  <c:v>Nuclear Fusion Research</c:v>
                </c:pt>
              </c:strCache>
            </c:strRef>
          </c:tx>
          <c:spPr>
            <a:solidFill>
              <a:srgbClr val="EBC46B"/>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12.711218686117773</c:v>
                </c:pt>
                <c:pt idx="1">
                  <c:v>9.756402364565227</c:v>
                </c:pt>
                <c:pt idx="2">
                  <c:v>11.545608108108107</c:v>
                </c:pt>
                <c:pt idx="3">
                  <c:v>12.131231172607485</c:v>
                </c:pt>
                <c:pt idx="4">
                  <c:v>9.743138713782875</c:v>
                </c:pt>
                <c:pt idx="5">
                  <c:v>11.22962202611131</c:v>
                </c:pt>
                <c:pt idx="6">
                  <c:v>10.28348084127545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Neutron Detection and Radiation Monitoring</c:v>
                </c:pt>
              </c:strCache>
            </c:strRef>
          </c:tx>
          <c:spPr>
            <a:solidFill>
              <a:srgbClr val="00A4DC"/>
            </a:solidFill>
          </c:spPr>
          <c:invertIfNegative val="0"/>
          <c:xVal>
            <c:numRef>
              <c:numCache>
                <c:formatCode>General</c:formatCode>
                <c:ptCount val="1"/>
                <c:pt idx="0">
                  <c:v>156.7236750341338</c:v>
                </c:pt>
              </c:numCache>
            </c:numRef>
          </c:xVal>
          <c:yVal>
            <c:numRef>
              <c:numCache>
                <c:formatCode>General</c:formatCode>
                <c:ptCount val="1"/>
                <c:pt idx="0">
                  <c:v>48.106609918037606</c:v>
                </c:pt>
              </c:numCache>
            </c:numRef>
          </c:yVal>
          <c:bubbleSize>
            <c:numRef>
              <c:numCache>
                <c:formatCode>General</c:formatCode>
                <c:ptCount val="1"/>
                <c:pt idx="0">
                  <c:v>2785.058</c:v>
                </c:pt>
              </c:numCache>
            </c:numRef>
          </c:bubbleSize>
          <c:bubble3D val="0"/>
        </c:ser>
        <c:ser>
          <c:idx val="1"/>
          <c:order val="1"/>
          <c:tx>
            <c:strRef>
              <c:strCache>
                <c:ptCount val="1"/>
                <c:pt idx="0">
                  <c:v>Cryogenic Refrigeration and Ultra-Low-Temperature Cooling</c:v>
                </c:pt>
              </c:strCache>
            </c:strRef>
          </c:tx>
          <c:spPr>
            <a:solidFill>
              <a:srgbClr val="6ECFF2"/>
            </a:solidFill>
          </c:spPr>
          <c:invertIfNegative val="0"/>
          <c:xVal>
            <c:numRef>
              <c:numCache>
                <c:formatCode>General</c:formatCode>
                <c:ptCount val="1"/>
                <c:pt idx="0">
                  <c:v>129.1270119602589</c:v>
                </c:pt>
              </c:numCache>
            </c:numRef>
          </c:xVal>
          <c:yVal>
            <c:numRef>
              <c:numCache>
                <c:formatCode>General</c:formatCode>
                <c:ptCount val="1"/>
                <c:pt idx="0">
                  <c:v>91.27799002550367</c:v>
                </c:pt>
              </c:numCache>
            </c:numRef>
          </c:yVal>
          <c:bubbleSize>
            <c:numRef>
              <c:numCache>
                <c:formatCode>General</c:formatCode>
                <c:ptCount val="1"/>
                <c:pt idx="0">
                  <c:v>4646.537</c:v>
                </c:pt>
              </c:numCache>
            </c:numRef>
          </c:bubbleSize>
          <c:bubble3D val="0"/>
        </c:ser>
        <c:ser>
          <c:idx val="2"/>
          <c:order val="2"/>
          <c:tx>
            <c:strRef>
              <c:strCache>
                <c:ptCount val="1"/>
                <c:pt idx="0">
                  <c:v>Medical and Biomedical Imaging</c:v>
                </c:pt>
              </c:strCache>
            </c:strRef>
          </c:tx>
          <c:spPr>
            <a:solidFill>
              <a:srgbClr val="D6CAC4"/>
            </a:solidFill>
          </c:spPr>
          <c:invertIfNegative val="0"/>
          <c:xVal>
            <c:numRef>
              <c:numCache>
                <c:formatCode>General</c:formatCode>
                <c:ptCount val="1"/>
                <c:pt idx="0">
                  <c:v>72.87249111850856</c:v>
                </c:pt>
              </c:numCache>
            </c:numRef>
          </c:xVal>
          <c:yVal>
            <c:numRef>
              <c:numCache>
                <c:formatCode>General</c:formatCode>
                <c:ptCount val="1"/>
                <c:pt idx="0">
                  <c:v>215.81315741405115</c:v>
                </c:pt>
              </c:numCache>
            </c:numRef>
          </c:yVal>
          <c:bubbleSize>
            <c:numRef>
              <c:numCache>
                <c:formatCode>General</c:formatCode>
                <c:ptCount val="1"/>
                <c:pt idx="0">
                  <c:v>8407.86</c:v>
                </c:pt>
              </c:numCache>
            </c:numRef>
          </c:bubbleSize>
          <c:bubble3D val="0"/>
        </c:ser>
        <c:ser>
          <c:idx val="3"/>
          <c:order val="3"/>
          <c:tx>
            <c:strRef>
              <c:strCache>
                <c:ptCount val="1"/>
                <c:pt idx="0">
                  <c:v>Nuclear Fusion Research</c:v>
                </c:pt>
              </c:strCache>
            </c:strRef>
          </c:tx>
          <c:spPr>
            <a:solidFill>
              <a:srgbClr val="EBC46B"/>
            </a:solidFill>
          </c:spPr>
          <c:invertIfNegative val="0"/>
          <c:xVal>
            <c:numRef>
              <c:numCache>
                <c:formatCode>General</c:formatCode>
                <c:ptCount val="1"/>
                <c:pt idx="0">
                  <c:v>91.13349322815321</c:v>
                </c:pt>
              </c:numCache>
            </c:numRef>
          </c:xVal>
          <c:yVal>
            <c:numRef>
              <c:numCache>
                <c:formatCode>General</c:formatCode>
                <c:ptCount val="1"/>
                <c:pt idx="0">
                  <c:v>44.802242642407585</c:v>
                </c:pt>
              </c:numCache>
            </c:numRef>
          </c:yVal>
          <c:bubbleSize>
            <c:numRef>
              <c:numCache>
                <c:formatCode>General</c:formatCode>
                <c:ptCount val="1"/>
                <c:pt idx="0">
                  <c:v>1905.262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5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1310.905</c:v>
                </c:pt>
                <c:pt idx="2">
                  <c:v>1525.551</c:v>
                </c:pt>
                <c:pt idx="3">
                  <c:v>1774.343</c:v>
                </c:pt>
                <c:pt idx="4">
                  <c:v>2062.755</c:v>
                </c:pt>
                <c:pt idx="5">
                  <c:v>2397.18</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1310.905</c:v>
                </c:pt>
                <c:pt idx="1">
                  <c:v>214.64599999999996</c:v>
                </c:pt>
                <c:pt idx="2">
                  <c:v>248.79200000000014</c:v>
                </c:pt>
                <c:pt idx="3">
                  <c:v>288.41200000000003</c:v>
                </c:pt>
                <c:pt idx="4">
                  <c:v>334.4249999999997</c:v>
                </c:pt>
                <c:pt idx="5">
                  <c:v>387.87800000000016</c:v>
                </c:pt>
                <c:pt idx="6">
                  <c:v>2785.058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2487.325</c:v>
                </c:pt>
                <c:pt idx="2">
                  <c:v>2814.933</c:v>
                </c:pt>
                <c:pt idx="3">
                  <c:v>3187.619</c:v>
                </c:pt>
                <c:pt idx="4">
                  <c:v>3611.907</c:v>
                </c:pt>
                <c:pt idx="5">
                  <c:v>4095.319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2487.325</c:v>
                </c:pt>
                <c:pt idx="1">
                  <c:v>327.6080000000002</c:v>
                </c:pt>
                <c:pt idx="2">
                  <c:v>372.68600000000015</c:v>
                </c:pt>
                <c:pt idx="3">
                  <c:v>424.288</c:v>
                </c:pt>
                <c:pt idx="4">
                  <c:v>483.4119999999998</c:v>
                </c:pt>
                <c:pt idx="5">
                  <c:v>551.2180000000003</c:v>
                </c:pt>
                <c:pt idx="6">
                  <c:v>4646.537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5880.908</c:v>
                </c:pt>
                <c:pt idx="2">
                  <c:v>6332.517</c:v>
                </c:pt>
                <c:pt idx="3">
                  <c:v>6811.379</c:v>
                </c:pt>
                <c:pt idx="4">
                  <c:v>7317.415</c:v>
                </c:pt>
                <c:pt idx="5">
                  <c:v>7849.996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5880.908</c:v>
                </c:pt>
                <c:pt idx="1">
                  <c:v>451.60899999999947</c:v>
                </c:pt>
                <c:pt idx="2">
                  <c:v>478.8620000000001</c:v>
                </c:pt>
                <c:pt idx="3">
                  <c:v>506.03600000000006</c:v>
                </c:pt>
                <c:pt idx="4">
                  <c:v>532.5810000000001</c:v>
                </c:pt>
                <c:pt idx="5">
                  <c:v>557.8640000000005</c:v>
                </c:pt>
                <c:pt idx="6">
                  <c:v>8407.86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1220.861</c:v>
                </c:pt>
                <c:pt idx="2">
                  <c:v>1334.631</c:v>
                </c:pt>
                <c:pt idx="3">
                  <c:v>1458.982</c:v>
                </c:pt>
                <c:pt idx="4">
                  <c:v>1594.846</c:v>
                </c:pt>
                <c:pt idx="5">
                  <c:v>1743.242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1220.861</c:v>
                </c:pt>
                <c:pt idx="1">
                  <c:v>113.76999999999998</c:v>
                </c:pt>
                <c:pt idx="2">
                  <c:v>124.35099999999989</c:v>
                </c:pt>
                <c:pt idx="3">
                  <c:v>135.86400000000003</c:v>
                </c:pt>
                <c:pt idx="4">
                  <c:v>148.39599999999996</c:v>
                </c:pt>
                <c:pt idx="5">
                  <c:v>162.01999999999998</c:v>
                </c:pt>
                <c:pt idx="6">
                  <c:v>1905.262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Medical and Biomedical Imaging</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56.80693145750105</c:v>
                </c:pt>
                <c:pt idx="1">
                  <c:v>53.95328935351279</c:v>
                </c:pt>
                <c:pt idx="2">
                  <c:v>47.382327934562156</c:v>
                </c:pt>
              </c:numCache>
            </c:numRef>
          </c:val>
        </c:ser>
        <c:ser>
          <c:idx val="1"/>
          <c:order val="1"/>
          <c:tx>
            <c:strRef>
              <c:strCache>
                <c:ptCount val="1"/>
                <c:pt idx="0">
                  <c:v>Cryogenic Refrigeration and Ultra-Low-Temperature Cooling</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21.355668998018206</c:v>
                </c:pt>
                <c:pt idx="1">
                  <c:v>22.819497506375917</c:v>
                </c:pt>
                <c:pt idx="2">
                  <c:v>26.185466919534417</c:v>
                </c:pt>
              </c:numCache>
            </c:numRef>
          </c:val>
        </c:ser>
        <c:ser>
          <c:idx val="2"/>
          <c:order val="2"/>
          <c:tx>
            <c:strRef>
              <c:strCache>
                <c:ptCount val="1"/>
                <c:pt idx="0">
                  <c:v>Neutron Detection and Radiation Monitoring</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10.43596412311306</c:v>
                </c:pt>
                <c:pt idx="1">
                  <c:v>12.026652479509401</c:v>
                </c:pt>
                <c:pt idx="2">
                  <c:v>15.695139009542952</c:v>
                </c:pt>
              </c:numCache>
            </c:numRef>
          </c:val>
        </c:ser>
        <c:ser>
          <c:idx val="3"/>
          <c:order val="3"/>
          <c:tx>
            <c:strRef>
              <c:strCache>
                <c:ptCount val="1"/>
                <c:pt idx="0">
                  <c:v>Nuclear Fusion Research</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11.401435421367674</c:v>
                </c:pt>
                <c:pt idx="1">
                  <c:v>11.200560660601896</c:v>
                </c:pt>
                <c:pt idx="2">
                  <c:v>10.737066136360472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Government and Defense Agencies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27.451408442495</c:v>
                </c:pt>
                <c:pt idx="1">
                  <c:v>26.731398472658825</c:v>
                </c:pt>
                <c:pt idx="2">
                  <c:v>26.09033783783784</c:v>
                </c:pt>
                <c:pt idx="3">
                  <c:v>24.881818172013205</c:v>
                </c:pt>
                <c:pt idx="4">
                  <c:v>24.96915831183036</c:v>
                </c:pt>
                <c:pt idx="5">
                  <c:v>27.700079324965106</c:v>
                </c:pt>
                <c:pt idx="6">
                  <c:v>23.564587127100367</c:v>
                </c:pt>
              </c:numCache>
            </c:numRef>
          </c:val>
        </c:ser>
        <c:ser>
          <c:idx val="1"/>
          <c:order val="1"/>
          <c:tx>
            <c:strRef>
              <c:strCache>
                <c:ptCount val="1"/>
                <c:pt idx="0">
                  <c:v>Academic Institutions and Universities</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32.96786561696256</c:v>
                </c:pt>
                <c:pt idx="1">
                  <c:v>32.73557459534885</c:v>
                </c:pt>
                <c:pt idx="2">
                  <c:v>32.45243243243243</c:v>
                </c:pt>
                <c:pt idx="3">
                  <c:v>33.179514502687205</c:v>
                </c:pt>
                <c:pt idx="4">
                  <c:v>33.465486577100904</c:v>
                </c:pt>
                <c:pt idx="5">
                  <c:v>31.14036549030839</c:v>
                </c:pt>
                <c:pt idx="6">
                  <c:v>32.51921754086241</c:v>
                </c:pt>
              </c:numCache>
            </c:numRef>
          </c:val>
        </c:ser>
        <c:ser>
          <c:idx val="2"/>
          <c:order val="2"/>
          <c:tx>
            <c:strRef>
              <c:strCache>
                <c:ptCount val="1"/>
                <c:pt idx="0">
                  <c:v>Independent Research Institutions</c:v>
                </c:pt>
              </c:strCache>
            </c:strRef>
          </c:tx>
          <c:spPr>
            <a:solidFill>
              <a:srgbClr val="D6CAC4"/>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3.3703852459276975</c:v>
                </c:pt>
                <c:pt idx="1">
                  <c:v>3.1806515836845572</c:v>
                </c:pt>
                <c:pt idx="2">
                  <c:v>3.503243243243243</c:v>
                </c:pt>
                <c:pt idx="3">
                  <c:v>3.7364116513315206</c:v>
                </c:pt>
                <c:pt idx="4">
                  <c:v>4.209269183603672</c:v>
                </c:pt>
                <c:pt idx="5">
                  <c:v>4.105439112240926</c:v>
                </c:pt>
                <c:pt idx="6">
                  <c:v>2.9501282088395713</c:v>
                </c:pt>
              </c:numCache>
            </c:numRef>
          </c:val>
        </c:ser>
        <c:ser>
          <c:idx val="3"/>
          <c:order val="3"/>
          <c:tx>
            <c:strRef>
              <c:strCache>
                <c:ptCount val="1"/>
                <c:pt idx="0">
                  <c:v>Healthcare and Medical Research Institutions</c:v>
                </c:pt>
              </c:strCache>
            </c:strRef>
          </c:tx>
          <c:spPr>
            <a:solidFill>
              <a:srgbClr val="EBC46B"/>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11.787764496927295</c:v>
                </c:pt>
                <c:pt idx="1">
                  <c:v>12.381118326808735</c:v>
                </c:pt>
                <c:pt idx="2">
                  <c:v>12.503040540540539</c:v>
                </c:pt>
                <c:pt idx="3">
                  <c:v>10.750366975742391</c:v>
                </c:pt>
                <c:pt idx="4">
                  <c:v>10.392075075903133</c:v>
                </c:pt>
                <c:pt idx="5">
                  <c:v>12.198535004710585</c:v>
                </c:pt>
                <c:pt idx="6">
                  <c:v>11.768087279731763</c:v>
                </c:pt>
              </c:numCache>
            </c:numRef>
          </c:val>
        </c:ser>
        <c:ser>
          <c:idx val="4"/>
          <c:order val="4"/>
          <c:tx>
            <c:strRef>
              <c:strCache>
                <c:ptCount val="1"/>
                <c:pt idx="0">
                  <c:v>Commercial and Industrial Enterprises</c:v>
                </c:pt>
              </c:strCache>
            </c:strRef>
          </c:tx>
          <c:spPr>
            <a:solidFill>
              <a:srgbClr val="EDA28B"/>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3.6905315743124167</c:v>
                </c:pt>
                <c:pt idx="1">
                  <c:v>3.5344223054082504</c:v>
                </c:pt>
                <c:pt idx="2">
                  <c:v>3.1107432432432436</c:v>
                </c:pt>
                <c:pt idx="3">
                  <c:v>3.481443053238177</c:v>
                </c:pt>
                <c:pt idx="4">
                  <c:v>3.2156716640448315</c:v>
                </c:pt>
                <c:pt idx="5">
                  <c:v>3.641859479262441</c:v>
                </c:pt>
                <c:pt idx="6">
                  <c:v>3.230455331691072</c:v>
                </c:pt>
              </c:numCache>
            </c:numRef>
          </c:val>
        </c:ser>
        <c:ser>
          <c:idx val="5"/>
          <c:order val="5"/>
          <c:tx>
            <c:strRef>
              <c:strCache>
                <c:ptCount val="1"/>
                <c:pt idx="0">
                  <c:v>Other End Users</c:v>
                </c:pt>
              </c:strCache>
            </c:strRef>
          </c:tx>
          <c:spPr>
            <a:solidFill>
              <a:srgbClr val="C4E2F4"/>
            </a:solidFill>
            <a:ln>
              <a:noFill/>
            </a:ln>
          </c:spPr>
          <c:dLbls>
            <c:dLbl>
              <c:idx val="0"/>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20.732044623375025</c:v>
                </c:pt>
                <c:pt idx="1">
                  <c:v>21.436834716090786</c:v>
                </c:pt>
                <c:pt idx="2">
                  <c:v>22.3402027027027</c:v>
                </c:pt>
                <c:pt idx="3">
                  <c:v>23.970445644987507</c:v>
                </c:pt>
                <c:pt idx="4">
                  <c:v>23.748339187517093</c:v>
                </c:pt>
                <c:pt idx="5">
                  <c:v>21.213721588512556</c:v>
                </c:pt>
                <c:pt idx="6">
                  <c:v>25.967524511774826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Government and Defense Agencies</c:v>
                </c:pt>
              </c:strCache>
            </c:strRef>
          </c:tx>
          <c:spPr>
            <a:solidFill>
              <a:srgbClr val="00A4DC"/>
            </a:solidFill>
          </c:spPr>
          <c:invertIfNegative val="0"/>
          <c:xVal>
            <c:numRef>
              <c:numCache>
                <c:formatCode>General</c:formatCode>
                <c:ptCount val="1"/>
                <c:pt idx="0">
                  <c:v>114.53466867011146</c:v>
                </c:pt>
              </c:numCache>
            </c:numRef>
          </c:xVal>
          <c:yVal>
            <c:numRef>
              <c:numCache>
                <c:formatCode>General</c:formatCode>
                <c:ptCount val="1"/>
                <c:pt idx="0">
                  <c:v>141.36920563020234</c:v>
                </c:pt>
              </c:numCache>
            </c:numRef>
          </c:yVal>
          <c:bubbleSize>
            <c:numRef>
              <c:numCache>
                <c:formatCode>General</c:formatCode>
                <c:ptCount val="1"/>
                <c:pt idx="0">
                  <c:v>4479.127</c:v>
                </c:pt>
              </c:numCache>
            </c:numRef>
          </c:bubbleSize>
          <c:bubble3D val="0"/>
        </c:ser>
        <c:ser>
          <c:idx val="1"/>
          <c:order val="1"/>
          <c:tx>
            <c:strRef>
              <c:strCache>
                <c:ptCount val="1"/>
                <c:pt idx="0">
                  <c:v>Academic Institutions and Universities</c:v>
                </c:pt>
              </c:strCache>
            </c:strRef>
          </c:tx>
          <c:spPr>
            <a:solidFill>
              <a:srgbClr val="6ECFF2"/>
            </a:solidFill>
          </c:spPr>
          <c:invertIfNegative val="0"/>
          <c:xVal>
            <c:numRef>
              <c:numCache>
                <c:formatCode>General</c:formatCode>
                <c:ptCount val="1"/>
                <c:pt idx="0">
                  <c:v>92.23662688552136</c:v>
                </c:pt>
              </c:numCache>
            </c:numRef>
          </c:xVal>
          <c:yVal>
            <c:numRef>
              <c:numCache>
                <c:formatCode>General</c:formatCode>
                <c:ptCount val="1"/>
                <c:pt idx="0">
                  <c:v>202.65530299589938</c:v>
                </c:pt>
              </c:numCache>
            </c:numRef>
          </c:yVal>
          <c:bubbleSize>
            <c:numRef>
              <c:numCache>
                <c:formatCode>General</c:formatCode>
                <c:ptCount val="1"/>
                <c:pt idx="0">
                  <c:v>5775.764</c:v>
                </c:pt>
              </c:numCache>
            </c:numRef>
          </c:bubbleSize>
          <c:bubble3D val="0"/>
        </c:ser>
        <c:ser>
          <c:idx val="2"/>
          <c:order val="2"/>
          <c:tx>
            <c:strRef>
              <c:strCache>
                <c:ptCount val="1"/>
                <c:pt idx="0">
                  <c:v>Independent Research Institutions</c:v>
                </c:pt>
              </c:strCache>
            </c:strRef>
          </c:tx>
          <c:spPr>
            <a:solidFill>
              <a:srgbClr val="D6CAC4"/>
            </a:solidFill>
          </c:spPr>
          <c:invertIfNegative val="0"/>
          <c:xVal>
            <c:numRef>
              <c:numCache>
                <c:formatCode>General</c:formatCode>
                <c:ptCount val="1"/>
                <c:pt idx="0">
                  <c:v>99.50932613697272</c:v>
                </c:pt>
              </c:numCache>
            </c:numRef>
          </c:xVal>
          <c:yVal>
            <c:numRef>
              <c:numCache>
                <c:formatCode>General</c:formatCode>
                <c:ptCount val="1"/>
                <c:pt idx="0">
                  <c:v>21.021414772606864</c:v>
                </c:pt>
              </c:numCache>
            </c:numRef>
          </c:yVal>
          <c:bubbleSize>
            <c:numRef>
              <c:numCache>
                <c:formatCode>General</c:formatCode>
                <c:ptCount val="1"/>
                <c:pt idx="0">
                  <c:v>620.249</c:v>
                </c:pt>
              </c:numCache>
            </c:numRef>
          </c:bubbleSize>
          <c:bubble3D val="0"/>
        </c:ser>
        <c:ser>
          <c:idx val="3"/>
          <c:order val="3"/>
          <c:tx>
            <c:strRef>
              <c:strCache>
                <c:ptCount val="1"/>
                <c:pt idx="0">
                  <c:v>Healthcare and Medical Research Institutions</c:v>
                </c:pt>
              </c:strCache>
            </c:strRef>
          </c:tx>
          <c:spPr>
            <a:solidFill>
              <a:srgbClr val="EBC46B"/>
            </a:solidFill>
          </c:spPr>
          <c:invertIfNegative val="0"/>
          <c:xVal>
            <c:numRef>
              <c:numCache>
                <c:formatCode>General</c:formatCode>
                <c:ptCount val="1"/>
                <c:pt idx="0">
                  <c:v>87.53262808264265</c:v>
                </c:pt>
              </c:numCache>
            </c:numRef>
          </c:xVal>
          <c:yVal>
            <c:numRef>
              <c:numCache>
                <c:formatCode>General</c:formatCode>
                <c:ptCount val="1"/>
                <c:pt idx="0">
                  <c:v>74.05784165668273</c:v>
                </c:pt>
              </c:numCache>
            </c:numRef>
          </c:yVal>
          <c:bubbleSize>
            <c:numRef>
              <c:numCache>
                <c:formatCode>General</c:formatCode>
                <c:ptCount val="1"/>
                <c:pt idx="0">
                  <c:v>2063.757</c:v>
                </c:pt>
              </c:numCache>
            </c:numRef>
          </c:bubbleSize>
          <c:bubble3D val="0"/>
        </c:ser>
        <c:ser>
          <c:idx val="4"/>
          <c:order val="4"/>
          <c:tx>
            <c:strRef>
              <c:strCache>
                <c:ptCount val="1"/>
                <c:pt idx="0">
                  <c:v>Commercial and Industrial Enterprises</c:v>
                </c:pt>
              </c:strCache>
            </c:strRef>
          </c:tx>
          <c:spPr>
            <a:solidFill>
              <a:srgbClr val="EDA28B"/>
            </a:solidFill>
          </c:spPr>
          <c:invertIfNegative val="0"/>
          <c:xVal>
            <c:numRef>
              <c:numCache>
                <c:formatCode>General</c:formatCode>
                <c:ptCount val="1"/>
                <c:pt idx="0">
                  <c:v>67.89375597341446</c:v>
                </c:pt>
              </c:numCache>
            </c:numRef>
          </c:xVal>
          <c:yVal>
            <c:numRef>
              <c:numCache>
                <c:formatCode>General</c:formatCode>
                <c:ptCount val="1"/>
                <c:pt idx="0">
                  <c:v>23.501947110270375</c:v>
                </c:pt>
              </c:numCache>
            </c:numRef>
          </c:yVal>
          <c:bubbleSize>
            <c:numRef>
              <c:numCache>
                <c:formatCode>General</c:formatCode>
                <c:ptCount val="1"/>
                <c:pt idx="0">
                  <c:v>595.921</c:v>
                </c:pt>
              </c:numCache>
            </c:numRef>
          </c:bubbleSize>
          <c:bubble3D val="0"/>
        </c:ser>
        <c:ser>
          <c:idx val="5"/>
          <c:order val="5"/>
          <c:tx>
            <c:strRef>
              <c:strCache>
                <c:ptCount val="1"/>
                <c:pt idx="0">
                  <c:v>Other End Users</c:v>
                </c:pt>
              </c:strCache>
            </c:strRef>
          </c:tx>
          <c:spPr>
            <a:solidFill>
              <a:srgbClr val="C4E2F4"/>
            </a:solidFill>
          </c:spPr>
          <c:invertIfNegative val="0"/>
          <c:xVal>
            <c:numRef>
              <c:numCache>
                <c:formatCode>General</c:formatCode>
                <c:ptCount val="1"/>
                <c:pt idx="0">
                  <c:v>107.46118627402849</c:v>
                </c:pt>
              </c:numCache>
            </c:numRef>
          </c:xVal>
          <c:yVal>
            <c:numRef>
              <c:numCache>
                <c:formatCode>General</c:formatCode>
                <c:ptCount val="1"/>
                <c:pt idx="0">
                  <c:v>137.39428783433837</c:v>
                </c:pt>
              </c:numCache>
            </c:numRef>
          </c:yVal>
          <c:bubbleSize>
            <c:numRef>
              <c:numCache>
                <c:formatCode>General</c:formatCode>
                <c:ptCount val="1"/>
                <c:pt idx="0">
                  <c:v>4209.899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55.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2568.207</c:v>
                </c:pt>
                <c:pt idx="2">
                  <c:v>2867.576</c:v>
                </c:pt>
                <c:pt idx="3">
                  <c:v>3203.403</c:v>
                </c:pt>
                <c:pt idx="4">
                  <c:v>3580.318</c:v>
                </c:pt>
                <c:pt idx="5">
                  <c:v>4003.579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2568.207</c:v>
                </c:pt>
                <c:pt idx="1">
                  <c:v>299.36900000000014</c:v>
                </c:pt>
                <c:pt idx="2">
                  <c:v>335.82699999999977</c:v>
                </c:pt>
                <c:pt idx="3">
                  <c:v>376.9150000000004</c:v>
                </c:pt>
                <c:pt idx="4">
                  <c:v>423.26099999999997</c:v>
                </c:pt>
                <c:pt idx="5">
                  <c:v>475.54800000000023</c:v>
                </c:pt>
                <c:pt idx="6">
                  <c:v>4479.127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3681.571</c:v>
                </c:pt>
                <c:pt idx="2">
                  <c:v>4027.495</c:v>
                </c:pt>
                <c:pt idx="3">
                  <c:v>4406.522</c:v>
                </c:pt>
                <c:pt idx="4">
                  <c:v>4821.86</c:v>
                </c:pt>
                <c:pt idx="5">
                  <c:v>5276.997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3681.571</c:v>
                </c:pt>
                <c:pt idx="1">
                  <c:v>345.924</c:v>
                </c:pt>
                <c:pt idx="2">
                  <c:v>379.02700000000004</c:v>
                </c:pt>
                <c:pt idx="3">
                  <c:v>415.33799999999974</c:v>
                </c:pt>
                <c:pt idx="4">
                  <c:v>455.1370000000006</c:v>
                </c:pt>
                <c:pt idx="5">
                  <c:v>498.7669999999998</c:v>
                </c:pt>
                <c:pt idx="6">
                  <c:v>5775.764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381.889</c:v>
                </c:pt>
                <c:pt idx="2">
                  <c:v>420.549</c:v>
                </c:pt>
                <c:pt idx="3">
                  <c:v>463.256</c:v>
                </c:pt>
                <c:pt idx="4">
                  <c:v>510.441</c:v>
                </c:pt>
                <c:pt idx="5">
                  <c:v>562.596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381.889</c:v>
                </c:pt>
                <c:pt idx="1">
                  <c:v>38.65999999999997</c:v>
                </c:pt>
                <c:pt idx="2">
                  <c:v>42.706999999999994</c:v>
                </c:pt>
                <c:pt idx="3">
                  <c:v>47.185</c:v>
                </c:pt>
                <c:pt idx="4">
                  <c:v>52.15500000000003</c:v>
                </c:pt>
                <c:pt idx="5">
                  <c:v>57.65300000000002</c:v>
                </c:pt>
                <c:pt idx="6">
                  <c:v>620.249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1345.384</c:v>
                </c:pt>
                <c:pt idx="2">
                  <c:v>1465.814</c:v>
                </c:pt>
                <c:pt idx="3">
                  <c:v>1596.928</c:v>
                </c:pt>
                <c:pt idx="4">
                  <c:v>1739.639</c:v>
                </c:pt>
                <c:pt idx="5">
                  <c:v>1894.9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1345.384</c:v>
                </c:pt>
                <c:pt idx="1">
                  <c:v>120.43000000000006</c:v>
                </c:pt>
                <c:pt idx="2">
                  <c:v>131.11400000000003</c:v>
                </c:pt>
                <c:pt idx="3">
                  <c:v>142.71099999999979</c:v>
                </c:pt>
                <c:pt idx="4">
                  <c:v>155.2610000000002</c:v>
                </c:pt>
                <c:pt idx="5">
                  <c:v>168.85699999999997</c:v>
                </c:pt>
                <c:pt idx="6">
                  <c:v>2063.757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426.952</c:v>
                </c:pt>
                <c:pt idx="2">
                  <c:v>457.612</c:v>
                </c:pt>
                <c:pt idx="3">
                  <c:v>489.897</c:v>
                </c:pt>
                <c:pt idx="4">
                  <c:v>523.763</c:v>
                </c:pt>
                <c:pt idx="5">
                  <c:v>559.144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426.952</c:v>
                </c:pt>
                <c:pt idx="1">
                  <c:v>30.660000000000025</c:v>
                </c:pt>
                <c:pt idx="2">
                  <c:v>32.28499999999997</c:v>
                </c:pt>
                <c:pt idx="3">
                  <c:v>33.86600000000004</c:v>
                </c:pt>
                <c:pt idx="4">
                  <c:v>35.38099999999997</c:v>
                </c:pt>
                <c:pt idx="5">
                  <c:v>36.777000000000044</c:v>
                </c:pt>
                <c:pt idx="6">
                  <c:v>595.921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2495.996</c:v>
                </c:pt>
                <c:pt idx="2">
                  <c:v>2768.586</c:v>
                </c:pt>
                <c:pt idx="3">
                  <c:v>3072.317</c:v>
                </c:pt>
                <c:pt idx="4">
                  <c:v>3410.902</c:v>
                </c:pt>
                <c:pt idx="5">
                  <c:v>3788.521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2495.996</c:v>
                </c:pt>
                <c:pt idx="1">
                  <c:v>272.5899999999997</c:v>
                </c:pt>
                <c:pt idx="2">
                  <c:v>303.7310000000002</c:v>
                </c:pt>
                <c:pt idx="3">
                  <c:v>338.58500000000004</c:v>
                </c:pt>
                <c:pt idx="4">
                  <c:v>377.61900000000014</c:v>
                </c:pt>
                <c:pt idx="5">
                  <c:v>421.37800000000016</c:v>
                </c:pt>
                <c:pt idx="6">
                  <c:v>4209.899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Academic Institutions and Universities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34.34208955565815</c:v>
                </c:pt>
                <c:pt idx="1">
                  <c:v>33.775883832649896</c:v>
                </c:pt>
                <c:pt idx="2">
                  <c:v>32.549203236095565</c:v>
                </c:pt>
              </c:numCache>
            </c:numRef>
          </c:val>
        </c:ser>
        <c:ser>
          <c:idx val="1"/>
          <c:order val="1"/>
          <c:tx>
            <c:strRef>
              <c:strCache>
                <c:ptCount val="1"/>
                <c:pt idx="0">
                  <c:v>Government and Defense Agencies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22.794740179838133</c:v>
                </c:pt>
                <c:pt idx="1">
                  <c:v>23.561534271700392</c:v>
                </c:pt>
                <c:pt idx="2">
                  <c:v>25.242031191593533</c:v>
                </c:pt>
              </c:numCache>
            </c:numRef>
          </c:val>
        </c:ser>
        <c:ser>
          <c:idx val="2"/>
          <c:order val="2"/>
          <c:tx>
            <c:strRef>
              <c:strCache>
                <c:ptCount val="1"/>
                <c:pt idx="0">
                  <c:v>Other End Users</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22.519353279885827</c:v>
                </c:pt>
                <c:pt idx="1">
                  <c:v>22.899047972389724</c:v>
                </c:pt>
                <c:pt idx="2">
                  <c:v>23.724802148154858</c:v>
                </c:pt>
              </c:numCache>
            </c:numRef>
          </c:val>
        </c:ser>
        <c:ser>
          <c:idx val="3"/>
          <c:order val="3"/>
          <c:tx>
            <c:strRef>
              <c:strCache>
                <c:ptCount val="1"/>
                <c:pt idx="0">
                  <c:v>Healthcare and Medical Research Institutions</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12.667920929977136</c:v>
                </c:pt>
                <c:pt idx="1">
                  <c:v>12.342973609447121</c:v>
                </c:pt>
                <c:pt idx="2">
                  <c:v>11.630261558975553</c:v>
                </c:pt>
              </c:numCache>
            </c:numRef>
          </c:val>
        </c:ser>
        <c:ser>
          <c:idx val="4"/>
          <c:order val="4"/>
          <c:tx>
            <c:strRef>
              <c:strCache>
                <c:ptCount val="1"/>
                <c:pt idx="0">
                  <c:v>Independent Research Institutions</c:v>
                </c:pt>
              </c:strCache>
            </c:strRef>
          </c:tx>
          <c:spPr>
            <a:solidFill>
              <a:srgbClr val="EDA28B"/>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3.5056857927783764</c:v>
                </c:pt>
                <c:pt idx="1">
                  <c:v>3.5035691287678103</c:v>
                </c:pt>
                <c:pt idx="2">
                  <c:v>3.495400912846342</c:v>
                </c:pt>
              </c:numCache>
            </c:numRef>
          </c:val>
        </c:ser>
        <c:ser>
          <c:idx val="5"/>
          <c:order val="5"/>
          <c:tx>
            <c:strRef>
              <c:strCache>
                <c:ptCount val="1"/>
                <c:pt idx="0">
                  <c:v>Commercial and Industrial Enterprises</c:v>
                </c:pt>
              </c:strCache>
            </c:strRef>
          </c:tx>
          <c:spPr>
            <a:solidFill>
              <a:srgbClr val="C4E2F4"/>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4.1702102618623735</c:v>
                </c:pt>
                <c:pt idx="1">
                  <c:v>3.9169911850450627</c:v>
                </c:pt>
                <c:pt idx="2">
                  <c:v>3.3583009523341514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3.3630725471938794</c:v>
                </c:pt>
                <c:pt idx="1">
                  <c:v>4.247760334819195</c:v>
                </c:pt>
                <c:pt idx="2">
                  <c:v>3.952026249019247</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607043641961337"/>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86143.331</c:v>
                </c:pt>
                <c:pt idx="2">
                  <c:v>0.0</c:v>
                </c:pt>
                <c:pt idx="3">
                  <c:v>101636.269</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86143.331</c:v>
                </c:pt>
                <c:pt idx="1">
                  <c:v>15492.937999999995</c:v>
                </c:pt>
                <c:pt idx="2">
                  <c:v>101636.269</c:v>
                </c:pt>
                <c:pt idx="3">
                  <c:v>52433.00899999999</c:v>
                </c:pt>
                <c:pt idx="4">
                  <c:v>154069.278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4.6935109436657685</c:v>
                </c:pt>
                <c:pt idx="1">
                  <c:v>5.590613092955543</c:v>
                </c:pt>
                <c:pt idx="2">
                  <c:v>5.290728154682811</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379609282701317"/>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435.462</c:v>
                </c:pt>
                <c:pt idx="2">
                  <c:v>0.0</c:v>
                </c:pt>
                <c:pt idx="3">
                  <c:v>547.708</c:v>
                </c:pt>
                <c:pt idx="4">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435.462</c:v>
                </c:pt>
                <c:pt idx="1">
                  <c:v>112.24599999999998</c:v>
                </c:pt>
                <c:pt idx="2">
                  <c:v>547.708</c:v>
                </c:pt>
                <c:pt idx="3">
                  <c:v>395.923</c:v>
                </c:pt>
                <c:pt idx="4">
                  <c:v>943.631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435.462</c:v>
                </c:pt>
                <c:pt idx="1">
                  <c:v>455.784</c:v>
                </c:pt>
                <c:pt idx="2">
                  <c:v>477.113</c:v>
                </c:pt>
                <c:pt idx="3">
                  <c:v>499.509</c:v>
                </c:pt>
                <c:pt idx="4">
                  <c:v>523.021</c:v>
                </c:pt>
              </c:numCache>
            </c:numRef>
          </c:val>
        </c:ser>
        <c:gapWidth val="50"/>
        <c:axId val="-2068027336"/>
        <c:axId val="-2113994440"/>
      </c:barChart>
      <c:barChart>
        <c:barDir val="col"/>
        <c:grouping val="clustered"/>
        <c:varyColors val="0"/>
        <c:ser>
          <c:idx val="1"/>
          <c:order val="1"/>
          <c:tx>
            <c:strRef>
              <c:strCache>
                <c:ptCount val="1"/>
                <c:pt idx="0">
                  <c:v>Volume (Litres)</c:v>
                </c:pt>
              </c:strCache>
            </c:strRef>
          </c:tx>
          <c:spPr>
            <a:solidFill>
              <a:srgbClr val="F1975A"/>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86143.331</c:v>
                </c:pt>
                <c:pt idx="1">
                  <c:v>89017.611</c:v>
                </c:pt>
                <c:pt idx="2">
                  <c:v>91999.664</c:v>
                </c:pt>
                <c:pt idx="3">
                  <c:v>95093.78</c:v>
                </c:pt>
                <c:pt idx="4">
                  <c:v>98304.432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617"/>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38736"/>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A9D8E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547.708</c:v>
                </c:pt>
                <c:pt idx="1">
                  <c:v>578.0160000000001</c:v>
                </c:pt>
                <c:pt idx="2">
                  <c:v>610.076</c:v>
                </c:pt>
                <c:pt idx="3">
                  <c:v>643.992</c:v>
                </c:pt>
                <c:pt idx="4">
                  <c:v>679.877</c:v>
                </c:pt>
                <c:pt idx="5">
                  <c:v>717.848</c:v>
                </c:pt>
                <c:pt idx="6">
                  <c:v>758.027</c:v>
                </c:pt>
                <c:pt idx="7">
                  <c:v>800.549</c:v>
                </c:pt>
                <c:pt idx="8">
                  <c:v>845.557</c:v>
                </c:pt>
                <c:pt idx="9">
                  <c:v>893.1969999999999</c:v>
                </c:pt>
                <c:pt idx="10">
                  <c:v>943.631</c:v>
                </c:pt>
              </c:numCache>
            </c:numRef>
          </c:val>
        </c:ser>
        <c:gapWidth val="50"/>
        <c:axId val="-2068027336"/>
        <c:axId val="-2113994440"/>
      </c:barChart>
      <c:barChart>
        <c:barDir val="col"/>
        <c:grouping val="clustered"/>
        <c:varyColors val="0"/>
        <c:ser>
          <c:idx val="1"/>
          <c:order val="1"/>
          <c:tx>
            <c:strRef>
              <c:strCache>
                <c:ptCount val="1"/>
                <c:pt idx="0">
                  <c:v>Volume (Litres)</c:v>
                </c:pt>
              </c:strCache>
            </c:strRef>
          </c:tx>
          <c:spPr>
            <a:solidFill>
              <a:srgbClr val="F1975A"/>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101636.269</c:v>
                </c:pt>
                <c:pt idx="1">
                  <c:v>105896.945</c:v>
                </c:pt>
                <c:pt idx="2">
                  <c:v>110349.666</c:v>
                </c:pt>
                <c:pt idx="3">
                  <c:v>115003.484</c:v>
                </c:pt>
                <c:pt idx="4">
                  <c:v>119867.89499999999</c:v>
                </c:pt>
                <c:pt idx="5">
                  <c:v>124952.84900000002</c:v>
                </c:pt>
                <c:pt idx="6">
                  <c:v>130268.782</c:v>
                </c:pt>
                <c:pt idx="7">
                  <c:v>135826.639</c:v>
                </c:pt>
                <c:pt idx="8">
                  <c:v>141637.887</c:v>
                </c:pt>
                <c:pt idx="9">
                  <c:v>147714.56199999998</c:v>
                </c:pt>
                <c:pt idx="10">
                  <c:v>154069.278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113"/>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34802"/>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Italy</c:v>
                </c:pt>
                <c:pt idx="1">
                  <c:v>U.K.</c:v>
                </c:pt>
                <c:pt idx="2">
                  <c:v>Spain</c:v>
                </c:pt>
                <c:pt idx="3">
                  <c:v>France</c:v>
                </c:pt>
                <c:pt idx="4">
                  <c:v>Germany</c:v>
                </c:pt>
              </c:strCache>
            </c:strRef>
          </c:cat>
          <c:val>
            <c:numRef>
              <c:numCache>
                <c:formatCode>General</c:formatCode>
                <c:ptCount val="5"/>
                <c:pt idx="0">
                  <c:v>65.78603178155589</c:v>
                </c:pt>
                <c:pt idx="1">
                  <c:v>69.3361528417407</c:v>
                </c:pt>
                <c:pt idx="2">
                  <c:v>102.20039095731232</c:v>
                </c:pt>
                <c:pt idx="3">
                  <c:v>109.85948723965151</c:v>
                </c:pt>
                <c:pt idx="4">
                  <c:v>117.0677413636813</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0A4DC"/>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U.K.</c:v>
                </c:pt>
                <c:pt idx="1">
                  <c:v>Spain</c:v>
                </c:pt>
                <c:pt idx="2">
                  <c:v>Italy</c:v>
                </c:pt>
                <c:pt idx="3">
                  <c:v>France</c:v>
                </c:pt>
                <c:pt idx="4">
                  <c:v>Germany</c:v>
                </c:pt>
              </c:strCache>
            </c:strRef>
          </c:cat>
          <c:val>
            <c:numRef>
              <c:numCache>
                <c:formatCode>General</c:formatCode>
                <c:ptCount val="5"/>
                <c:pt idx="0">
                  <c:v>5.466466964536032</c:v>
                </c:pt>
                <c:pt idx="1">
                  <c:v>6.791219504802701</c:v>
                </c:pt>
                <c:pt idx="2">
                  <c:v>11.404490267046876</c:v>
                </c:pt>
                <c:pt idx="3">
                  <c:v>13.402606062289891</c:v>
                </c:pt>
                <c:pt idx="4">
                  <c:v>51.48905216418345</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Gaseous Helium-3</c:v>
                </c:pt>
                <c:pt idx="1">
                  <c:v>Liquid Helium-3</c:v>
                </c:pt>
              </c:strCache>
            </c:strRef>
          </c:cat>
          <c:val>
            <c:numRef>
              <c:numCache>
                <c:formatCode>General</c:formatCode>
                <c:ptCount val="2"/>
                <c:pt idx="0">
                  <c:v>650.217</c:v>
                </c:pt>
                <c:pt idx="1">
                  <c:v>293.414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0.07272710351453582</c:v>
                </c:pt>
                <c:pt idx="1">
                  <c:v>0.07079710351453582</c:v>
                </c:pt>
                <c:pt idx="2">
                  <c:v>0.06877710351453582</c:v>
                </c:pt>
                <c:pt idx="3">
                  <c:v>0.06646710351453582</c:v>
                </c:pt>
                <c:pt idx="4">
                  <c:v>0.06558710351453581</c:v>
                </c:pt>
                <c:pt idx="5">
                  <c:v>0.06625710351453581</c:v>
                </c:pt>
                <c:pt idx="6">
                  <c:v>0.06863710351453582</c:v>
                </c:pt>
                <c:pt idx="7">
                  <c:v>0.07022710351453582</c:v>
                </c:pt>
                <c:pt idx="8">
                  <c:v>0.07008710351453581</c:v>
                </c:pt>
                <c:pt idx="9">
                  <c:v>0.06938710351453582</c:v>
                </c:pt>
                <c:pt idx="10">
                  <c:v>0.06884710351453582</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0.0614096234385896</c:v>
                </c:pt>
                <c:pt idx="1">
                  <c:v>0.060776426170853874</c:v>
                </c:pt>
                <c:pt idx="2">
                  <c:v>0.05936932113144116</c:v>
                </c:pt>
                <c:pt idx="3">
                  <c:v>0.05792703846604312</c:v>
                </c:pt>
                <c:pt idx="4">
                  <c:v>0.05655511105261572</c:v>
                </c:pt>
                <c:pt idx="5">
                  <c:v>0.05496156459548082</c:v>
                </c:pt>
                <c:pt idx="6">
                  <c:v>0.05374793649898735</c:v>
                </c:pt>
                <c:pt idx="7">
                  <c:v>0.052006644012714105</c:v>
                </c:pt>
                <c:pt idx="8">
                  <c:v>0.05072617842684853</c:v>
                </c:pt>
                <c:pt idx="9">
                  <c:v>0.049797489100836145</c:v>
                </c:pt>
                <c:pt idx="10">
                  <c:v>0.049044687904750334</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0.03505211057226507</c:v>
                </c:pt>
                <c:pt idx="1">
                  <c:v>0.036544706473102984</c:v>
                </c:pt>
                <c:pt idx="2">
                  <c:v>0.038153841393225536</c:v>
                </c:pt>
                <c:pt idx="3">
                  <c:v>0.03883962869901593</c:v>
                </c:pt>
                <c:pt idx="4">
                  <c:v>0.03996916073208246</c:v>
                </c:pt>
                <c:pt idx="5">
                  <c:v>0.041062834605369095</c:v>
                </c:pt>
                <c:pt idx="6">
                  <c:v>0.042582324126041925</c:v>
                </c:pt>
                <c:pt idx="7">
                  <c:v>0.043626693029631215</c:v>
                </c:pt>
                <c:pt idx="8">
                  <c:v>0.04504309034093686</c:v>
                </c:pt>
                <c:pt idx="9">
                  <c:v>0.04643707630238008</c:v>
                </c:pt>
                <c:pt idx="10">
                  <c:v>0.04744558704618948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BFBFBF"/>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41.501029519294924</c:v>
                </c:pt>
                <c:pt idx="1">
                  <c:v>45.12787617528785</c:v>
                </c:pt>
              </c:numCache>
            </c:numRef>
          </c:val>
        </c:ser>
        <c:ser>
          <c:idx val="1"/>
          <c:order val="1"/>
          <c:tx>
            <c:strRef>
              <c:strCache>
                <c:ptCount val="1"/>
                <c:pt idx="0">
                  <c:v>Italy</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18.903852127826532</c:v>
                </c:pt>
                <c:pt idx="1">
                  <c:v>15.624414102855729</c:v>
                </c:pt>
              </c:numCache>
            </c:numRef>
          </c:val>
        </c:ser>
        <c:ser>
          <c:idx val="2"/>
          <c:order val="2"/>
          <c:tx>
            <c:strRef>
              <c:strCache>
                <c:ptCount val="1"/>
                <c:pt idx="0">
                  <c:v>France</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11.976426446744124</c:v>
                </c:pt>
                <c:pt idx="1">
                  <c:v>12.794665007776567</c:v>
                </c:pt>
              </c:numCache>
            </c:numRef>
          </c:val>
        </c:ser>
        <c:ser>
          <c:idx val="3"/>
          <c:order val="3"/>
          <c:tx>
            <c:strRef>
              <c:strCache>
                <c:ptCount val="1"/>
                <c:pt idx="0">
                  <c:v>U.K.</c:v>
                </c:pt>
              </c:strCache>
            </c:strRef>
          </c:tx>
          <c:spPr>
            <a:solidFill>
              <a:srgbClr val="EBC46B"/>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8.698892715158602</c:v>
                </c:pt>
                <c:pt idx="1">
                  <c:v>7.517746010336987</c:v>
                </c:pt>
              </c:numCache>
            </c:numRef>
          </c:val>
        </c:ser>
        <c:ser>
          <c:idx val="4"/>
          <c:order val="4"/>
          <c:tx>
            <c:strRef>
              <c:strCache>
                <c:ptCount val="1"/>
                <c:pt idx="0">
                  <c:v>Spain</c:v>
                </c:pt>
              </c:strCache>
            </c:strRef>
          </c:tx>
          <c:spPr>
            <a:solidFill>
              <a:srgbClr val="EDA28B"/>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6.6158243175967035</c:v>
                </c:pt>
                <c:pt idx="1">
                  <c:v>6.81722348306195</c:v>
                </c:pt>
              </c:numCache>
            </c:numRef>
          </c:val>
        </c:ser>
        <c:ser>
          <c:idx val="5"/>
          <c:order val="5"/>
          <c:tx>
            <c:strRef>
              <c:strCache>
                <c:ptCount val="1"/>
                <c:pt idx="0">
                  <c:v>BENELUX</c:v>
                </c:pt>
              </c:strCache>
            </c:strRef>
          </c:tx>
          <c:spPr>
            <a:solidFill>
              <a:srgbClr val="C4E2F4"/>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5.369650080327132</c:v>
                </c:pt>
                <c:pt idx="1">
                  <c:v>5.138590965552522</c:v>
                </c:pt>
              </c:numCache>
            </c:numRef>
          </c:val>
        </c:ser>
        <c:ser>
          <c:idx val="6"/>
          <c:order val="6"/>
          <c:tx>
            <c:strRef>
              <c:strCache>
                <c:ptCount val="1"/>
                <c:pt idx="0">
                  <c:v>Nordic Countries</c:v>
                </c:pt>
              </c:strCache>
            </c:strRef>
          </c:tx>
          <c:spPr>
            <a:solidFill>
              <a:srgbClr val="9AB3C7"/>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4.842641360634755</c:v>
                </c:pt>
                <c:pt idx="1">
                  <c:v>4.883558940283994</c:v>
                </c:pt>
              </c:numCache>
            </c:numRef>
          </c:val>
        </c:ser>
        <c:ser>
          <c:idx val="7"/>
          <c:order val="7"/>
          <c:tx>
            <c:strRef>
              <c:strCache>
                <c:ptCount val="1"/>
                <c:pt idx="0">
                  <c:v>Rest of Western Europe</c:v>
                </c:pt>
              </c:strCache>
            </c:strRef>
          </c:tx>
          <c:spPr>
            <a:solidFill>
              <a:srgbClr val="7D72E5"/>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2.0916834324172213</c:v>
                </c:pt>
                <c:pt idx="1">
                  <c:v>2.095925314844404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Germany</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42.054160245970486</c:v>
                </c:pt>
                <c:pt idx="1">
                  <c:v>46.01279525577265</c:v>
                </c:pt>
              </c:numCache>
            </c:numRef>
          </c:val>
        </c:ser>
        <c:ser>
          <c:idx val="1"/>
          <c:order val="1"/>
          <c:tx>
            <c:strRef>
              <c:strCache>
                <c:ptCount val="1"/>
                <c:pt idx="0">
                  <c:v>Italy</c:v>
                </c:pt>
              </c:strCache>
            </c:strRef>
          </c:tx>
          <c:spPr>
            <a:solidFill>
              <a:srgbClr val="6ECFF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18.950608718514246</c:v>
                </c:pt>
                <c:pt idx="1">
                  <c:v>15.784453880807222</c:v>
                </c:pt>
              </c:numCache>
            </c:numRef>
          </c:val>
        </c:ser>
        <c:ser>
          <c:idx val="2"/>
          <c:order val="2"/>
          <c:tx>
            <c:strRef>
              <c:strCache>
                <c:ptCount val="1"/>
                <c:pt idx="0">
                  <c:v>France</c:v>
                </c:pt>
              </c:strCache>
            </c:strRef>
          </c:tx>
          <c:spPr>
            <a:solidFill>
              <a:srgbClr val="D6CAC4"/>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11.8882689316205</c:v>
                </c:pt>
                <c:pt idx="1">
                  <c:v>12.523645365614314</c:v>
                </c:pt>
              </c:numCache>
            </c:numRef>
          </c:val>
        </c:ser>
        <c:ser>
          <c:idx val="3"/>
          <c:order val="3"/>
          <c:tx>
            <c:strRef>
              <c:strCache>
                <c:ptCount val="1"/>
                <c:pt idx="0">
                  <c:v>U.K.</c:v>
                </c:pt>
              </c:strCache>
            </c:strRef>
          </c:tx>
          <c:spPr>
            <a:solidFill>
              <a:srgbClr val="EBC46B"/>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8.539586787120145</c:v>
                </c:pt>
                <c:pt idx="1">
                  <c:v>7.250185718782025</c:v>
                </c:pt>
              </c:numCache>
            </c:numRef>
          </c:val>
        </c:ser>
        <c:ser>
          <c:idx val="4"/>
          <c:order val="4"/>
          <c:tx>
            <c:strRef>
              <c:strCache>
                <c:ptCount val="1"/>
                <c:pt idx="0">
                  <c:v>Spain</c:v>
                </c:pt>
              </c:strCache>
            </c:strRef>
          </c:tx>
          <c:spPr>
            <a:solidFill>
              <a:srgbClr val="EDA28B"/>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6.606805085921696</c:v>
                </c:pt>
                <c:pt idx="1">
                  <c:v>6.68418057482215</c:v>
                </c:pt>
              </c:numCache>
            </c:numRef>
          </c:val>
        </c:ser>
        <c:ser>
          <c:idx val="5"/>
          <c:order val="5"/>
          <c:tx>
            <c:strRef>
              <c:strCache>
                <c:ptCount val="1"/>
                <c:pt idx="0">
                  <c:v>BENELUX</c:v>
                </c:pt>
              </c:strCache>
            </c:strRef>
          </c:tx>
          <c:spPr>
            <a:solidFill>
              <a:srgbClr val="C4E2F4"/>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5.3572341466620905</c:v>
                </c:pt>
                <c:pt idx="1">
                  <c:v>5.159114102864361</c:v>
                </c:pt>
              </c:numCache>
            </c:numRef>
          </c:val>
        </c:ser>
        <c:ser>
          <c:idx val="6"/>
          <c:order val="6"/>
          <c:tx>
            <c:strRef>
              <c:strCache>
                <c:ptCount val="1"/>
                <c:pt idx="0">
                  <c:v>Nordic Countries</c:v>
                </c:pt>
              </c:strCache>
            </c:strRef>
          </c:tx>
          <c:spPr>
            <a:solidFill>
              <a:srgbClr val="9AB3C7"/>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4.4868798702958514</c:v>
                </c:pt>
                <c:pt idx="1">
                  <c:v>4.483108333660086</c:v>
                </c:pt>
              </c:numCache>
            </c:numRef>
          </c:val>
        </c:ser>
        <c:ser>
          <c:idx val="7"/>
          <c:order val="7"/>
          <c:tx>
            <c:strRef>
              <c:strCache>
                <c:ptCount val="1"/>
                <c:pt idx="0">
                  <c:v>Rest of Western Europe</c:v>
                </c:pt>
              </c:strCache>
            </c:strRef>
          </c:tx>
          <c:spPr>
            <a:solidFill>
              <a:srgbClr val="7D72E5"/>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2.1164562138949954</c:v>
                </c:pt>
                <c:pt idx="1">
                  <c:v>2.102516767677196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34115.135</c:v>
                </c:pt>
                <c:pt idx="1">
                  <c:v>35594.196</c:v>
                </c:pt>
                <c:pt idx="2">
                  <c:v>37137.382</c:v>
                </c:pt>
                <c:pt idx="3">
                  <c:v>38747.473</c:v>
                </c:pt>
                <c:pt idx="4">
                  <c:v>40427.37</c:v>
                </c:pt>
                <c:pt idx="5">
                  <c:v>42180.098</c:v>
                </c:pt>
                <c:pt idx="6">
                  <c:v>44341.759</c:v>
                </c:pt>
                <c:pt idx="7">
                  <c:v>46614.202</c:v>
                </c:pt>
                <c:pt idx="8">
                  <c:v>49003.104</c:v>
                </c:pt>
                <c:pt idx="9">
                  <c:v>51514.433</c:v>
                </c:pt>
                <c:pt idx="10">
                  <c:v>54154.464</c:v>
                </c:pt>
                <c:pt idx="11">
                  <c:v>56929.792</c:v>
                </c:pt>
                <c:pt idx="12">
                  <c:v>59847.351</c:v>
                </c:pt>
                <c:pt idx="13">
                  <c:v>62914.43</c:v>
                </c:pt>
                <c:pt idx="14">
                  <c:v>66138.692</c:v>
                </c:pt>
                <c:pt idx="15">
                  <c:v>69528.193</c:v>
                </c:pt>
              </c:numCache>
            </c:numRef>
          </c:val>
        </c:ser>
        <c:ser>
          <c:idx val="1"/>
          <c:order val="1"/>
          <c:tx>
            <c:strRef>
              <c:strCache>
                <c:ptCount val="1"/>
                <c:pt idx="0">
                  <c:v>Italy</c:v>
                </c:pt>
              </c:strCache>
            </c:strRef>
          </c:tx>
          <c:spPr>
            <a:solidFill>
              <a:srgbClr val="6ECFF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17842.642</c:v>
                </c:pt>
                <c:pt idx="1">
                  <c:v>18108.694</c:v>
                </c:pt>
                <c:pt idx="2">
                  <c:v>18378.713</c:v>
                </c:pt>
                <c:pt idx="3">
                  <c:v>18652.759</c:v>
                </c:pt>
                <c:pt idx="4">
                  <c:v>18930.891</c:v>
                </c:pt>
                <c:pt idx="5">
                  <c:v>19213.17</c:v>
                </c:pt>
                <c:pt idx="6">
                  <c:v>19651.291</c:v>
                </c:pt>
                <c:pt idx="7">
                  <c:v>20099.404</c:v>
                </c:pt>
                <c:pt idx="8">
                  <c:v>20557.734</c:v>
                </c:pt>
                <c:pt idx="9">
                  <c:v>21026.516</c:v>
                </c:pt>
                <c:pt idx="10">
                  <c:v>21505.988</c:v>
                </c:pt>
                <c:pt idx="11">
                  <c:v>21996.393</c:v>
                </c:pt>
                <c:pt idx="12">
                  <c:v>22497.982</c:v>
                </c:pt>
                <c:pt idx="13">
                  <c:v>23011.007</c:v>
                </c:pt>
                <c:pt idx="14">
                  <c:v>23535.732</c:v>
                </c:pt>
                <c:pt idx="15">
                  <c:v>24072.422</c:v>
                </c:pt>
              </c:numCache>
            </c:numRef>
          </c:val>
        </c:ser>
        <c:ser>
          <c:idx val="2"/>
          <c:order val="2"/>
          <c:tx>
            <c:strRef>
              <c:strCache>
                <c:ptCount val="1"/>
                <c:pt idx="0">
                  <c:v>France</c:v>
                </c:pt>
              </c:strCache>
            </c:strRef>
          </c:tx>
          <c:spPr>
            <a:solidFill>
              <a:srgbClr val="D6CAC4"/>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9933.906</c:v>
                </c:pt>
                <c:pt idx="1">
                  <c:v>10345.97</c:v>
                </c:pt>
                <c:pt idx="2">
                  <c:v>10775.128</c:v>
                </c:pt>
                <c:pt idx="3">
                  <c:v>11222.086</c:v>
                </c:pt>
                <c:pt idx="4">
                  <c:v>11687.585</c:v>
                </c:pt>
                <c:pt idx="5">
                  <c:v>12172.393</c:v>
                </c:pt>
                <c:pt idx="6">
                  <c:v>12773.587</c:v>
                </c:pt>
                <c:pt idx="7">
                  <c:v>13404.474</c:v>
                </c:pt>
                <c:pt idx="8">
                  <c:v>14066.52</c:v>
                </c:pt>
                <c:pt idx="9">
                  <c:v>14761.265</c:v>
                </c:pt>
                <c:pt idx="10">
                  <c:v>15490.323</c:v>
                </c:pt>
                <c:pt idx="11">
                  <c:v>16255.389</c:v>
                </c:pt>
                <c:pt idx="12">
                  <c:v>17058.242</c:v>
                </c:pt>
                <c:pt idx="13">
                  <c:v>17900.747</c:v>
                </c:pt>
                <c:pt idx="14">
                  <c:v>18784.864</c:v>
                </c:pt>
                <c:pt idx="15">
                  <c:v>19712.648</c:v>
                </c:pt>
              </c:numCache>
            </c:numRef>
          </c:val>
        </c:ser>
        <c:ser>
          <c:idx val="3"/>
          <c:order val="3"/>
          <c:tx>
            <c:strRef>
              <c:strCache>
                <c:ptCount val="1"/>
                <c:pt idx="0">
                  <c:v>U.K.</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8028.889</c:v>
                </c:pt>
                <c:pt idx="1">
                  <c:v>8185.155</c:v>
                </c:pt>
                <c:pt idx="2">
                  <c:v>8344.462</c:v>
                </c:pt>
                <c:pt idx="3">
                  <c:v>8506.87</c:v>
                </c:pt>
                <c:pt idx="4">
                  <c:v>8672.439</c:v>
                </c:pt>
                <c:pt idx="5">
                  <c:v>8841.23</c:v>
                </c:pt>
                <c:pt idx="6">
                  <c:v>9083.261</c:v>
                </c:pt>
                <c:pt idx="7">
                  <c:v>9331.918</c:v>
                </c:pt>
                <c:pt idx="8">
                  <c:v>9587.381</c:v>
                </c:pt>
                <c:pt idx="9">
                  <c:v>9849.838</c:v>
                </c:pt>
                <c:pt idx="10">
                  <c:v>10119.48</c:v>
                </c:pt>
                <c:pt idx="11">
                  <c:v>10396.503</c:v>
                </c:pt>
                <c:pt idx="12">
                  <c:v>10681.11</c:v>
                </c:pt>
                <c:pt idx="13">
                  <c:v>10973.508</c:v>
                </c:pt>
                <c:pt idx="14">
                  <c:v>11273.911</c:v>
                </c:pt>
                <c:pt idx="15">
                  <c:v>11582.537</c:v>
                </c:pt>
              </c:numCache>
            </c:numRef>
          </c:val>
        </c:ser>
        <c:ser>
          <c:idx val="4"/>
          <c:order val="4"/>
          <c:tx>
            <c:strRef>
              <c:strCache>
                <c:ptCount val="1"/>
                <c:pt idx="0">
                  <c:v>Spain</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5588.338</c:v>
                </c:pt>
                <c:pt idx="1">
                  <c:v>5798.994</c:v>
                </c:pt>
                <c:pt idx="2">
                  <c:v>6017.591</c:v>
                </c:pt>
                <c:pt idx="3">
                  <c:v>6244.428</c:v>
                </c:pt>
                <c:pt idx="4">
                  <c:v>6479.816</c:v>
                </c:pt>
                <c:pt idx="5">
                  <c:v>6724.077</c:v>
                </c:pt>
                <c:pt idx="6">
                  <c:v>7030.752</c:v>
                </c:pt>
                <c:pt idx="7">
                  <c:v>7351.414</c:v>
                </c:pt>
                <c:pt idx="8">
                  <c:v>7686.7</c:v>
                </c:pt>
                <c:pt idx="9">
                  <c:v>8037.279</c:v>
                </c:pt>
                <c:pt idx="10">
                  <c:v>8403.847</c:v>
                </c:pt>
                <c:pt idx="11">
                  <c:v>8787.133</c:v>
                </c:pt>
                <c:pt idx="12">
                  <c:v>9187.901</c:v>
                </c:pt>
                <c:pt idx="13">
                  <c:v>9606.947</c:v>
                </c:pt>
                <c:pt idx="14">
                  <c:v>10045.105</c:v>
                </c:pt>
                <c:pt idx="15">
                  <c:v>10503.247</c:v>
                </c:pt>
              </c:numCache>
            </c:numRef>
          </c:val>
        </c:ser>
        <c:ser>
          <c:idx val="5"/>
          <c:order val="5"/>
          <c:tx>
            <c:strRef>
              <c:strCache>
                <c:ptCount val="1"/>
                <c:pt idx="0">
                  <c:v>BENELUX</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4707.488</c:v>
                </c:pt>
                <c:pt idx="1">
                  <c:v>4848.756</c:v>
                </c:pt>
                <c:pt idx="2">
                  <c:v>4994.263</c:v>
                </c:pt>
                <c:pt idx="3">
                  <c:v>5144.137</c:v>
                </c:pt>
                <c:pt idx="4">
                  <c:v>5298.508</c:v>
                </c:pt>
                <c:pt idx="5">
                  <c:v>5457.512</c:v>
                </c:pt>
                <c:pt idx="6">
                  <c:v>5664.365</c:v>
                </c:pt>
                <c:pt idx="7">
                  <c:v>5879.058</c:v>
                </c:pt>
                <c:pt idx="8">
                  <c:v>6101.889</c:v>
                </c:pt>
                <c:pt idx="9">
                  <c:v>6333.166</c:v>
                </c:pt>
                <c:pt idx="10">
                  <c:v>6573.208</c:v>
                </c:pt>
                <c:pt idx="11">
                  <c:v>6822.349</c:v>
                </c:pt>
                <c:pt idx="12">
                  <c:v>7080.933</c:v>
                </c:pt>
                <c:pt idx="13">
                  <c:v>7349.318</c:v>
                </c:pt>
                <c:pt idx="14">
                  <c:v>7627.875</c:v>
                </c:pt>
                <c:pt idx="15">
                  <c:v>7916.99</c:v>
                </c:pt>
              </c:numCache>
            </c:numRef>
          </c:val>
        </c:ser>
        <c:ser>
          <c:idx val="6"/>
          <c:order val="6"/>
          <c:tx>
            <c:strRef>
              <c:strCache>
                <c:ptCount val="1"/>
                <c:pt idx="0">
                  <c:v>Nordic Countries</c:v>
                </c:pt>
              </c:strCache>
            </c:strRef>
          </c:tx>
          <c:spPr>
            <a:solidFill>
              <a:srgbClr val="9AB3C7"/>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4135.103</c:v>
                </c:pt>
                <c:pt idx="1">
                  <c:v>4281.69</c:v>
                </c:pt>
                <c:pt idx="2">
                  <c:v>4433.474</c:v>
                </c:pt>
                <c:pt idx="3">
                  <c:v>4590.639</c:v>
                </c:pt>
                <c:pt idx="4">
                  <c:v>4753.375</c:v>
                </c:pt>
                <c:pt idx="5">
                  <c:v>4921.88</c:v>
                </c:pt>
                <c:pt idx="6">
                  <c:v>5135.268</c:v>
                </c:pt>
                <c:pt idx="7">
                  <c:v>5357.908</c:v>
                </c:pt>
                <c:pt idx="8">
                  <c:v>5590.201</c:v>
                </c:pt>
                <c:pt idx="9">
                  <c:v>5832.565</c:v>
                </c:pt>
                <c:pt idx="10">
                  <c:v>6085.436</c:v>
                </c:pt>
                <c:pt idx="11">
                  <c:v>6349.271</c:v>
                </c:pt>
                <c:pt idx="12">
                  <c:v>6624.544</c:v>
                </c:pt>
                <c:pt idx="13">
                  <c:v>6911.752</c:v>
                </c:pt>
                <c:pt idx="14">
                  <c:v>7211.412</c:v>
                </c:pt>
                <c:pt idx="15">
                  <c:v>7524.064</c:v>
                </c:pt>
              </c:numCache>
            </c:numRef>
          </c:val>
        </c:ser>
        <c:ser>
          <c:idx val="7"/>
          <c:order val="7"/>
          <c:tx>
            <c:strRef>
              <c:strCache>
                <c:ptCount val="1"/>
                <c:pt idx="0">
                  <c:v>Rest of Western Europe</c:v>
                </c:pt>
              </c:strCache>
            </c:strRef>
          </c:tx>
          <c:spPr>
            <a:solidFill>
              <a:srgbClr val="7D72E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1791.83</c:v>
                </c:pt>
                <c:pt idx="1">
                  <c:v>1854.156</c:v>
                </c:pt>
                <c:pt idx="2">
                  <c:v>1918.651</c:v>
                </c:pt>
                <c:pt idx="3">
                  <c:v>1985.388</c:v>
                </c:pt>
                <c:pt idx="4">
                  <c:v>2054.448</c:v>
                </c:pt>
                <c:pt idx="5">
                  <c:v>2125.909</c:v>
                </c:pt>
                <c:pt idx="6">
                  <c:v>2216.662</c:v>
                </c:pt>
                <c:pt idx="7">
                  <c:v>2311.288</c:v>
                </c:pt>
                <c:pt idx="8">
                  <c:v>2409.955</c:v>
                </c:pt>
                <c:pt idx="9">
                  <c:v>2512.833</c:v>
                </c:pt>
                <c:pt idx="10">
                  <c:v>2620.103</c:v>
                </c:pt>
                <c:pt idx="11">
                  <c:v>2731.952</c:v>
                </c:pt>
                <c:pt idx="12">
                  <c:v>2848.576</c:v>
                </c:pt>
                <c:pt idx="13">
                  <c:v>2970.178</c:v>
                </c:pt>
                <c:pt idx="14">
                  <c:v>3096.971</c:v>
                </c:pt>
                <c:pt idx="15">
                  <c:v>3229.177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Germany</c:v>
                </c:pt>
              </c:strCache>
            </c:strRef>
          </c:tx>
          <c:spPr>
            <a:solidFill>
              <a:srgbClr val="00A4D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174.206</c:v>
                </c:pt>
                <c:pt idx="1">
                  <c:v>184.214</c:v>
                </c:pt>
                <c:pt idx="2">
                  <c:v>194.796</c:v>
                </c:pt>
                <c:pt idx="3">
                  <c:v>205.987</c:v>
                </c:pt>
                <c:pt idx="4">
                  <c:v>217.821</c:v>
                </c:pt>
                <c:pt idx="5">
                  <c:v>230.334</c:v>
                </c:pt>
                <c:pt idx="6">
                  <c:v>245.409</c:v>
                </c:pt>
                <c:pt idx="7">
                  <c:v>261.47</c:v>
                </c:pt>
                <c:pt idx="8">
                  <c:v>278.583</c:v>
                </c:pt>
                <c:pt idx="9">
                  <c:v>296.816</c:v>
                </c:pt>
                <c:pt idx="10">
                  <c:v>316.242</c:v>
                </c:pt>
                <c:pt idx="11">
                  <c:v>336.939</c:v>
                </c:pt>
                <c:pt idx="12">
                  <c:v>358.991</c:v>
                </c:pt>
                <c:pt idx="13">
                  <c:v>382.487</c:v>
                </c:pt>
                <c:pt idx="14">
                  <c:v>407.52</c:v>
                </c:pt>
                <c:pt idx="15">
                  <c:v>434.191</c:v>
                </c:pt>
              </c:numCache>
            </c:numRef>
          </c:val>
        </c:ser>
        <c:ser>
          <c:idx val="1"/>
          <c:order val="1"/>
          <c:tx>
            <c:strRef>
              <c:strCache>
                <c:ptCount val="1"/>
                <c:pt idx="0">
                  <c:v>Italy</c:v>
                </c:pt>
              </c:strCache>
            </c:strRef>
          </c:tx>
          <c:spPr>
            <a:solidFill>
              <a:srgbClr val="6ECFF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90.067</c:v>
                </c:pt>
                <c:pt idx="1">
                  <c:v>92.659</c:v>
                </c:pt>
                <c:pt idx="2">
                  <c:v>95.325</c:v>
                </c:pt>
                <c:pt idx="3">
                  <c:v>98.069</c:v>
                </c:pt>
                <c:pt idx="4">
                  <c:v>100.891</c:v>
                </c:pt>
                <c:pt idx="5">
                  <c:v>103.794</c:v>
                </c:pt>
                <c:pt idx="6">
                  <c:v>107.612</c:v>
                </c:pt>
                <c:pt idx="7">
                  <c:v>111.569</c:v>
                </c:pt>
                <c:pt idx="8">
                  <c:v>115.673</c:v>
                </c:pt>
                <c:pt idx="9">
                  <c:v>119.927</c:v>
                </c:pt>
                <c:pt idx="10">
                  <c:v>124.338</c:v>
                </c:pt>
                <c:pt idx="11">
                  <c:v>128.911</c:v>
                </c:pt>
                <c:pt idx="12">
                  <c:v>133.652</c:v>
                </c:pt>
                <c:pt idx="13">
                  <c:v>138.567</c:v>
                </c:pt>
                <c:pt idx="14">
                  <c:v>143.663</c:v>
                </c:pt>
                <c:pt idx="15">
                  <c:v>148.947</c:v>
                </c:pt>
              </c:numCache>
            </c:numRef>
          </c:val>
        </c:ser>
        <c:ser>
          <c:idx val="2"/>
          <c:order val="2"/>
          <c:tx>
            <c:strRef>
              <c:strCache>
                <c:ptCount val="1"/>
                <c:pt idx="0">
                  <c:v>France</c:v>
                </c:pt>
              </c:strCache>
            </c:strRef>
          </c:tx>
          <c:spPr>
            <a:solidFill>
              <a:srgbClr val="D6CA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50.195</c:v>
                </c:pt>
                <c:pt idx="1">
                  <c:v>52.877</c:v>
                </c:pt>
                <c:pt idx="2">
                  <c:v>55.701</c:v>
                </c:pt>
                <c:pt idx="3">
                  <c:v>58.677</c:v>
                </c:pt>
                <c:pt idx="4">
                  <c:v>61.811</c:v>
                </c:pt>
                <c:pt idx="5">
                  <c:v>65.113</c:v>
                </c:pt>
                <c:pt idx="6">
                  <c:v>69.112</c:v>
                </c:pt>
                <c:pt idx="7">
                  <c:v>73.357</c:v>
                </c:pt>
                <c:pt idx="8">
                  <c:v>77.862</c:v>
                </c:pt>
                <c:pt idx="9">
                  <c:v>82.645</c:v>
                </c:pt>
                <c:pt idx="10">
                  <c:v>87.721</c:v>
                </c:pt>
                <c:pt idx="11">
                  <c:v>93.108</c:v>
                </c:pt>
                <c:pt idx="12">
                  <c:v>98.827</c:v>
                </c:pt>
                <c:pt idx="13">
                  <c:v>104.897</c:v>
                </c:pt>
                <c:pt idx="14">
                  <c:v>111.339</c:v>
                </c:pt>
                <c:pt idx="15">
                  <c:v>118.177</c:v>
                </c:pt>
              </c:numCache>
            </c:numRef>
          </c:val>
        </c:ser>
        <c:ser>
          <c:idx val="3"/>
          <c:order val="3"/>
          <c:tx>
            <c:strRef>
              <c:strCache>
                <c:ptCount val="1"/>
                <c:pt idx="0">
                  <c:v>U.K.</c:v>
                </c:pt>
              </c:strCache>
            </c:strRef>
          </c:tx>
          <c:spPr>
            <a:solidFill>
              <a:srgbClr val="EBC4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40.197</c:v>
                </c:pt>
                <c:pt idx="1">
                  <c:v>41.434</c:v>
                </c:pt>
                <c:pt idx="2">
                  <c:v>42.708</c:v>
                </c:pt>
                <c:pt idx="3">
                  <c:v>44.022</c:v>
                </c:pt>
                <c:pt idx="4">
                  <c:v>45.376</c:v>
                </c:pt>
                <c:pt idx="5">
                  <c:v>46.772</c:v>
                </c:pt>
                <c:pt idx="6">
                  <c:v>48.585</c:v>
                </c:pt>
                <c:pt idx="7">
                  <c:v>50.469</c:v>
                </c:pt>
                <c:pt idx="8">
                  <c:v>52.425</c:v>
                </c:pt>
                <c:pt idx="9">
                  <c:v>54.457</c:v>
                </c:pt>
                <c:pt idx="10">
                  <c:v>56.568</c:v>
                </c:pt>
                <c:pt idx="11">
                  <c:v>58.761</c:v>
                </c:pt>
                <c:pt idx="12">
                  <c:v>61.038</c:v>
                </c:pt>
                <c:pt idx="13">
                  <c:v>63.404</c:v>
                </c:pt>
                <c:pt idx="14">
                  <c:v>65.862</c:v>
                </c:pt>
                <c:pt idx="15">
                  <c:v>68.415</c:v>
                </c:pt>
              </c:numCache>
            </c:numRef>
          </c:val>
        </c:ser>
        <c:ser>
          <c:idx val="4"/>
          <c:order val="4"/>
          <c:tx>
            <c:strRef>
              <c:strCache>
                <c:ptCount val="1"/>
                <c:pt idx="0">
                  <c:v>Spain</c:v>
                </c:pt>
              </c:strCache>
            </c:strRef>
          </c:tx>
          <c:spPr>
            <a:solidFill>
              <a:srgbClr val="EDA28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28.47</c:v>
                </c:pt>
                <c:pt idx="1">
                  <c:v>29.869</c:v>
                </c:pt>
                <c:pt idx="2">
                  <c:v>31.336</c:v>
                </c:pt>
                <c:pt idx="3">
                  <c:v>32.876</c:v>
                </c:pt>
                <c:pt idx="4">
                  <c:v>34.491</c:v>
                </c:pt>
                <c:pt idx="5">
                  <c:v>36.186</c:v>
                </c:pt>
                <c:pt idx="6">
                  <c:v>38.254</c:v>
                </c:pt>
                <c:pt idx="7">
                  <c:v>40.439</c:v>
                </c:pt>
                <c:pt idx="8">
                  <c:v>42.75</c:v>
                </c:pt>
                <c:pt idx="9">
                  <c:v>45.192</c:v>
                </c:pt>
                <c:pt idx="10">
                  <c:v>47.775</c:v>
                </c:pt>
                <c:pt idx="11">
                  <c:v>50.504</c:v>
                </c:pt>
                <c:pt idx="12">
                  <c:v>53.39</c:v>
                </c:pt>
                <c:pt idx="13">
                  <c:v>56.44</c:v>
                </c:pt>
                <c:pt idx="14">
                  <c:v>59.665</c:v>
                </c:pt>
                <c:pt idx="15">
                  <c:v>63.074</c:v>
                </c:pt>
              </c:numCache>
            </c:numRef>
          </c:val>
        </c:ser>
        <c:ser>
          <c:idx val="5"/>
          <c:order val="5"/>
          <c:tx>
            <c:strRef>
              <c:strCache>
                <c:ptCount val="1"/>
                <c:pt idx="0">
                  <c:v>BENELUX</c:v>
                </c:pt>
              </c:strCache>
            </c:strRef>
          </c:tx>
          <c:spPr>
            <a:solidFill>
              <a:srgbClr val="C4E2F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23.665</c:v>
                </c:pt>
                <c:pt idx="1">
                  <c:v>24.705</c:v>
                </c:pt>
                <c:pt idx="2">
                  <c:v>25.791</c:v>
                </c:pt>
                <c:pt idx="3">
                  <c:v>26.924</c:v>
                </c:pt>
                <c:pt idx="4">
                  <c:v>28.107</c:v>
                </c:pt>
                <c:pt idx="5">
                  <c:v>29.342</c:v>
                </c:pt>
                <c:pt idx="6">
                  <c:v>30.865</c:v>
                </c:pt>
                <c:pt idx="7">
                  <c:v>32.469</c:v>
                </c:pt>
                <c:pt idx="8">
                  <c:v>34.155</c:v>
                </c:pt>
                <c:pt idx="9">
                  <c:v>35.929</c:v>
                </c:pt>
                <c:pt idx="10">
                  <c:v>37.795</c:v>
                </c:pt>
                <c:pt idx="11">
                  <c:v>39.758</c:v>
                </c:pt>
                <c:pt idx="12">
                  <c:v>41.822</c:v>
                </c:pt>
                <c:pt idx="13">
                  <c:v>43.994</c:v>
                </c:pt>
                <c:pt idx="14">
                  <c:v>46.279</c:v>
                </c:pt>
                <c:pt idx="15">
                  <c:v>48.683</c:v>
                </c:pt>
              </c:numCache>
            </c:numRef>
          </c:val>
        </c:ser>
        <c:ser>
          <c:idx val="6"/>
          <c:order val="6"/>
          <c:tx>
            <c:strRef>
              <c:strCache>
                <c:ptCount val="1"/>
                <c:pt idx="0">
                  <c:v>Nordic Countries</c:v>
                </c:pt>
              </c:strCache>
            </c:strRef>
          </c:tx>
          <c:spPr>
            <a:solidFill>
              <a:srgbClr val="9AB3C7"/>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19.457</c:v>
                </c:pt>
                <c:pt idx="1">
                  <c:v>20.387</c:v>
                </c:pt>
                <c:pt idx="2">
                  <c:v>21.362</c:v>
                </c:pt>
                <c:pt idx="3">
                  <c:v>22.383</c:v>
                </c:pt>
                <c:pt idx="4">
                  <c:v>23.454</c:v>
                </c:pt>
                <c:pt idx="5">
                  <c:v>24.575</c:v>
                </c:pt>
                <c:pt idx="6">
                  <c:v>25.947</c:v>
                </c:pt>
                <c:pt idx="7">
                  <c:v>27.395</c:v>
                </c:pt>
                <c:pt idx="8">
                  <c:v>28.924</c:v>
                </c:pt>
                <c:pt idx="9">
                  <c:v>30.539</c:v>
                </c:pt>
                <c:pt idx="10">
                  <c:v>32.243</c:v>
                </c:pt>
                <c:pt idx="11">
                  <c:v>34.043</c:v>
                </c:pt>
                <c:pt idx="12">
                  <c:v>35.943</c:v>
                </c:pt>
                <c:pt idx="13">
                  <c:v>37.949</c:v>
                </c:pt>
                <c:pt idx="14">
                  <c:v>40.067</c:v>
                </c:pt>
                <c:pt idx="15">
                  <c:v>42.304</c:v>
                </c:pt>
              </c:numCache>
            </c:numRef>
          </c:val>
        </c:ser>
        <c:ser>
          <c:idx val="7"/>
          <c:order val="7"/>
          <c:tx>
            <c:strRef>
              <c:strCache>
                <c:ptCount val="1"/>
                <c:pt idx="0">
                  <c:v>Rest of Western Europe</c:v>
                </c:pt>
              </c:strCache>
            </c:strRef>
          </c:tx>
          <c:spPr>
            <a:solidFill>
              <a:srgbClr val="7D72E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txPr>
                <a:bodyPr/>
                <a:lstStyle/>
                <a:p>
                  <a:pPr>
                    <a:defRPr/>
                  </a:pPr>
                </a:p>
              </c:txPr>
              <c:showLegendKey val="0"/>
              <c:showVal val="1"/>
              <c:showCatName val="0"/>
              <c:showSerName val="0"/>
              <c:showPercent val="0"/>
              <c:showBubbleSize val="0"/>
            </c:dLbl>
            <c:dLbl>
              <c:idx val="14"/>
              <c:numFmt formatCode="&quot;&quot;" sourceLinked="0"/>
              <c:txPr>
                <a:bodyPr/>
                <a:lstStyle/>
                <a:p>
                  <a:pPr>
                    <a:defRPr/>
                  </a:pPr>
                </a:p>
              </c:txPr>
              <c:showLegendKey val="0"/>
              <c:showVal val="1"/>
              <c:showCatName val="0"/>
              <c:showSerName val="0"/>
              <c:showPercent val="0"/>
              <c:showBubbleSize val="0"/>
            </c:dLbl>
            <c:dLbl>
              <c:idx val="15"/>
              <c:numFmt formatCode="&quot;&quot;" sourceLinked="0"/>
              <c:txPr>
                <a:bodyPr/>
                <a:lstStyle/>
                <a:p>
                  <a:pPr>
                    <a:defRPr/>
                  </a:pPr>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9.205</c:v>
                </c:pt>
                <c:pt idx="1">
                  <c:v>9.639</c:v>
                </c:pt>
                <c:pt idx="2">
                  <c:v>10.094</c:v>
                </c:pt>
                <c:pt idx="3">
                  <c:v>10.571</c:v>
                </c:pt>
                <c:pt idx="4">
                  <c:v>11.07</c:v>
                </c:pt>
                <c:pt idx="5">
                  <c:v>11.592</c:v>
                </c:pt>
                <c:pt idx="6">
                  <c:v>12.232</c:v>
                </c:pt>
                <c:pt idx="7">
                  <c:v>12.908</c:v>
                </c:pt>
                <c:pt idx="8">
                  <c:v>13.62</c:v>
                </c:pt>
                <c:pt idx="9">
                  <c:v>14.372</c:v>
                </c:pt>
                <c:pt idx="10">
                  <c:v>15.166</c:v>
                </c:pt>
                <c:pt idx="11">
                  <c:v>16.003</c:v>
                </c:pt>
                <c:pt idx="12">
                  <c:v>16.886</c:v>
                </c:pt>
                <c:pt idx="13">
                  <c:v>17.819</c:v>
                </c:pt>
                <c:pt idx="14">
                  <c:v>18.802</c:v>
                </c:pt>
                <c:pt idx="15">
                  <c:v>19.84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Gaseous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65.94254032258064</c:v>
                </c:pt>
                <c:pt idx="1">
                  <c:v>73.04510211800303</c:v>
                </c:pt>
                <c:pt idx="2">
                  <c:v>71.54037343631246</c:v>
                </c:pt>
                <c:pt idx="3">
                  <c:v>64.64311760788915</c:v>
                </c:pt>
                <c:pt idx="4">
                  <c:v>72.39786596506615</c:v>
                </c:pt>
                <c:pt idx="5">
                  <c:v>68.32547788486761</c:v>
                </c:pt>
                <c:pt idx="6">
                  <c:v>65.39104513686075</c:v>
                </c:pt>
                <c:pt idx="7">
                  <c:v>69.77528322788818</c:v>
                </c:pt>
              </c:numCache>
            </c:numRef>
          </c:val>
        </c:ser>
        <c:ser>
          <c:idx val="1"/>
          <c:order val="1"/>
          <c:tx>
            <c:strRef>
              <c:strCache>
                <c:ptCount val="1"/>
                <c:pt idx="0">
                  <c:v>Liquid Helium-3</c:v>
                </c:pt>
              </c:strCache>
            </c:strRef>
          </c:tx>
          <c:spPr>
            <a:solidFill>
              <a:srgbClr val="6ECFF2"/>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34.05745967741935</c:v>
                </c:pt>
                <c:pt idx="1">
                  <c:v>26.954897881996974</c:v>
                </c:pt>
                <c:pt idx="2">
                  <c:v>28.45962656368753</c:v>
                </c:pt>
                <c:pt idx="3">
                  <c:v>35.35688239211085</c:v>
                </c:pt>
                <c:pt idx="4">
                  <c:v>27.60213403493386</c:v>
                </c:pt>
                <c:pt idx="5">
                  <c:v>31.674522115132387</c:v>
                </c:pt>
                <c:pt idx="6">
                  <c:v>34.60895486313923</c:v>
                </c:pt>
                <c:pt idx="7">
                  <c:v>30.224716772111808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Gaseous Helium-3</c:v>
                </c:pt>
              </c:strCache>
            </c:strRef>
          </c:tx>
          <c:spPr>
            <a:solidFill>
              <a:srgbClr val="00A4DC"/>
            </a:solidFill>
          </c:spPr>
          <c:invertIfNegative val="0"/>
          <c:xVal>
            <c:numRef>
              <c:numCache>
                <c:formatCode>General</c:formatCode>
                <c:ptCount val="1"/>
                <c:pt idx="0">
                  <c:v>114.20178239721832</c:v>
                </c:pt>
              </c:numCache>
            </c:numRef>
          </c:xVal>
          <c:yVal>
            <c:numRef>
              <c:numCache>
                <c:formatCode>General</c:formatCode>
                <c:ptCount val="1"/>
                <c:pt idx="0">
                  <c:v>127.86521285064305</c:v>
                </c:pt>
              </c:numCache>
            </c:numRef>
          </c:yVal>
          <c:bubbleSize>
            <c:numRef>
              <c:numCache>
                <c:formatCode>General</c:formatCode>
                <c:ptCount val="1"/>
                <c:pt idx="0">
                  <c:v>650.217</c:v>
                </c:pt>
              </c:numCache>
            </c:numRef>
          </c:bubbleSize>
          <c:bubble3D val="0"/>
        </c:ser>
        <c:ser>
          <c:idx val="1"/>
          <c:order val="1"/>
          <c:tx>
            <c:strRef>
              <c:strCache>
                <c:ptCount val="1"/>
                <c:pt idx="0">
                  <c:v>Liquid Helium-3</c:v>
                </c:pt>
              </c:strCache>
            </c:strRef>
          </c:tx>
          <c:spPr>
            <a:solidFill>
              <a:srgbClr val="6ECFF2"/>
            </a:solidFill>
          </c:spPr>
          <c:invertIfNegative val="0"/>
          <c:xVal>
            <c:numRef>
              <c:numCache>
                <c:formatCode>General</c:formatCode>
                <c:ptCount val="1"/>
                <c:pt idx="0">
                  <c:v>72.18409672067352</c:v>
                </c:pt>
              </c:numCache>
            </c:numRef>
          </c:xVal>
          <c:yVal>
            <c:numRef>
              <c:numCache>
                <c:formatCode>General</c:formatCode>
                <c:ptCount val="1"/>
                <c:pt idx="0">
                  <c:v>72.13478714935697</c:v>
                </c:pt>
              </c:numCache>
            </c:numRef>
          </c:yVal>
          <c:bubbleSize>
            <c:numRef>
              <c:numCache>
                <c:formatCode>General</c:formatCode>
                <c:ptCount val="1"/>
                <c:pt idx="0">
                  <c:v>293.414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6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150.0"/>
          <c:min val="5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350.164</c:v>
                </c:pt>
                <c:pt idx="2">
                  <c:v>396.37</c:v>
                </c:pt>
                <c:pt idx="3">
                  <c:v>448.625</c:v>
                </c:pt>
                <c:pt idx="4">
                  <c:v>507.731</c:v>
                </c:pt>
                <c:pt idx="5">
                  <c:v>574.584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350.164</c:v>
                </c:pt>
                <c:pt idx="1">
                  <c:v>46.20600000000002</c:v>
                </c:pt>
                <c:pt idx="2">
                  <c:v>52.254999999999995</c:v>
                </c:pt>
                <c:pt idx="3">
                  <c:v>59.105999999999995</c:v>
                </c:pt>
                <c:pt idx="4">
                  <c:v>66.85299999999995</c:v>
                </c:pt>
                <c:pt idx="5">
                  <c:v>75.63300000000004</c:v>
                </c:pt>
                <c:pt idx="6">
                  <c:v>650.217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197.544</c:v>
                </c:pt>
                <c:pt idx="2">
                  <c:v>213.706</c:v>
                </c:pt>
                <c:pt idx="3">
                  <c:v>231.252</c:v>
                </c:pt>
                <c:pt idx="4">
                  <c:v>250.296</c:v>
                </c:pt>
                <c:pt idx="5">
                  <c:v>270.973</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197.544</c:v>
                </c:pt>
                <c:pt idx="1">
                  <c:v>16.161999999999978</c:v>
                </c:pt>
                <c:pt idx="2">
                  <c:v>17.54600000000002</c:v>
                </c:pt>
                <c:pt idx="3">
                  <c:v>19.043999999999983</c:v>
                </c:pt>
                <c:pt idx="4">
                  <c:v>20.67700000000002</c:v>
                </c:pt>
                <c:pt idx="5">
                  <c:v>22.440999999999974</c:v>
                </c:pt>
                <c:pt idx="6">
                  <c:v>293.414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Gaseous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61.234504962545536</c:v>
                </c:pt>
                <c:pt idx="1">
                  <c:v>63.932606425321524</c:v>
                </c:pt>
                <c:pt idx="2">
                  <c:v>68.90585408915138</c:v>
                </c:pt>
              </c:numCache>
            </c:numRef>
          </c:val>
        </c:ser>
        <c:ser>
          <c:idx val="1"/>
          <c:order val="1"/>
          <c:tx>
            <c:strRef>
              <c:strCache>
                <c:ptCount val="1"/>
                <c:pt idx="0">
                  <c:v>Liquid Helium-3</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38.76549503745447</c:v>
                </c:pt>
                <c:pt idx="1">
                  <c:v>36.06739357467848</c:v>
                </c:pt>
                <c:pt idx="2">
                  <c:v>31.094145910848624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Tritium-Decay-Derived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80.27721774193549</c:v>
                </c:pt>
                <c:pt idx="1">
                  <c:v>86.95158850226929</c:v>
                </c:pt>
                <c:pt idx="2">
                  <c:v>83.45829139535361</c:v>
                </c:pt>
                <c:pt idx="3">
                  <c:v>86.14484573675367</c:v>
                </c:pt>
                <c:pt idx="4">
                  <c:v>86.16531462398596</c:v>
                </c:pt>
                <c:pt idx="5">
                  <c:v>87.43494927100875</c:v>
                </c:pt>
                <c:pt idx="6">
                  <c:v>86.03261562837787</c:v>
                </c:pt>
                <c:pt idx="7">
                  <c:v>84.46697421181001</c:v>
                </c:pt>
              </c:numCache>
            </c:numRef>
          </c:val>
        </c:ser>
        <c:ser>
          <c:idx val="1"/>
          <c:order val="1"/>
          <c:tx>
            <c:strRef>
              <c:strCache>
                <c:ptCount val="1"/>
                <c:pt idx="0">
                  <c:v>Terrestrial Natural / Geological Helium-3</c:v>
                </c:pt>
              </c:strCache>
            </c:strRef>
          </c:tx>
          <c:spPr>
            <a:solidFill>
              <a:srgbClr val="6ECFF2"/>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19.722782258064512</c:v>
                </c:pt>
                <c:pt idx="1">
                  <c:v>13.048411497730708</c:v>
                </c:pt>
                <c:pt idx="2">
                  <c:v>16.541708604646384</c:v>
                </c:pt>
                <c:pt idx="3">
                  <c:v>13.855154263246346</c:v>
                </c:pt>
                <c:pt idx="4">
                  <c:v>13.834685376014031</c:v>
                </c:pt>
                <c:pt idx="5">
                  <c:v>12.56505072899126</c:v>
                </c:pt>
                <c:pt idx="6">
                  <c:v>13.967384371622119</c:v>
                </c:pt>
                <c:pt idx="7">
                  <c:v>15.533025788189992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Tritium-Decay-Derived Helium-3</c:v>
                </c:pt>
              </c:strCache>
            </c:strRef>
          </c:tx>
          <c:spPr>
            <a:solidFill>
              <a:srgbClr val="00A4DC"/>
            </a:solidFill>
          </c:spPr>
          <c:invertIfNegative val="0"/>
          <c:xVal>
            <c:numRef>
              <c:numCache>
                <c:formatCode>General</c:formatCode>
                <c:ptCount val="1"/>
                <c:pt idx="0">
                  <c:v>100.64566786016076</c:v>
                </c:pt>
              </c:numCache>
            </c:numRef>
          </c:xVal>
          <c:yVal>
            <c:numRef>
              <c:numCache>
                <c:formatCode>General</c:formatCode>
                <c:ptCount val="1"/>
                <c:pt idx="0">
                  <c:v>170.0026291381539</c:v>
                </c:pt>
              </c:numCache>
            </c:numRef>
          </c:yVal>
          <c:bubbleSize>
            <c:numRef>
              <c:numCache>
                <c:formatCode>General</c:formatCode>
                <c:ptCount val="1"/>
                <c:pt idx="0">
                  <c:v>804.845</c:v>
                </c:pt>
              </c:numCache>
            </c:numRef>
          </c:bubbleSize>
          <c:bubble3D val="0"/>
        </c:ser>
        <c:ser>
          <c:idx val="1"/>
          <c:order val="1"/>
          <c:tx>
            <c:strRef>
              <c:strCache>
                <c:ptCount val="1"/>
                <c:pt idx="0">
                  <c:v>Terrestrial Natural / Geological Helium-3</c:v>
                </c:pt>
              </c:strCache>
            </c:strRef>
          </c:tx>
          <c:spPr>
            <a:solidFill>
              <a:srgbClr val="6ECFF2"/>
            </a:solidFill>
          </c:spPr>
          <c:invertIfNegative val="0"/>
          <c:xVal>
            <c:numRef>
              <c:numCache>
                <c:formatCode>General</c:formatCode>
                <c:ptCount val="1"/>
                <c:pt idx="0">
                  <c:v>96.30280539094484</c:v>
                </c:pt>
              </c:numCache>
            </c:numRef>
          </c:xVal>
          <c:yVal>
            <c:numRef>
              <c:numCache>
                <c:formatCode>General</c:formatCode>
                <c:ptCount val="1"/>
                <c:pt idx="0">
                  <c:v>29.99737086184609</c:v>
                </c:pt>
              </c:numCache>
            </c:numRef>
          </c:yVal>
          <c:bubbleSize>
            <c:numRef>
              <c:numCache>
                <c:formatCode>General</c:formatCode>
                <c:ptCount val="1"/>
                <c:pt idx="0">
                  <c:v>138.786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465.559</c:v>
                </c:pt>
                <c:pt idx="2">
                  <c:v>518.943</c:v>
                </c:pt>
                <c:pt idx="3">
                  <c:v>578.722</c:v>
                </c:pt>
                <c:pt idx="4">
                  <c:v>645.687</c:v>
                </c:pt>
                <c:pt idx="5">
                  <c:v>720.726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465.559</c:v>
                </c:pt>
                <c:pt idx="1">
                  <c:v>53.38399999999996</c:v>
                </c:pt>
                <c:pt idx="2">
                  <c:v>59.778999999999996</c:v>
                </c:pt>
                <c:pt idx="3">
                  <c:v>66.96500000000003</c:v>
                </c:pt>
                <c:pt idx="4">
                  <c:v>75.03899999999999</c:v>
                </c:pt>
                <c:pt idx="5">
                  <c:v>84.11900000000003</c:v>
                </c:pt>
                <c:pt idx="6">
                  <c:v>804.845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82.149</c:v>
                </c:pt>
                <c:pt idx="2">
                  <c:v>91.133</c:v>
                </c:pt>
                <c:pt idx="3">
                  <c:v>101.155</c:v>
                </c:pt>
                <c:pt idx="4">
                  <c:v>112.34</c:v>
                </c:pt>
                <c:pt idx="5">
                  <c:v>124.831</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82.149</c:v>
                </c:pt>
                <c:pt idx="1">
                  <c:v>8.983999999999995</c:v>
                </c:pt>
                <c:pt idx="2">
                  <c:v>10.022000000000006</c:v>
                </c:pt>
                <c:pt idx="3">
                  <c:v>11.185000000000002</c:v>
                </c:pt>
                <c:pt idx="4">
                  <c:v>12.491</c:v>
                </c:pt>
                <c:pt idx="5">
                  <c:v>13.954999999999998</c:v>
                </c:pt>
                <c:pt idx="6">
                  <c:v>138.786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Tritium-Decay-Derived Helium-3</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84.84161649007261</c:v>
                </c:pt>
                <c:pt idx="1">
                  <c:v>85.00131456907695</c:v>
                </c:pt>
                <c:pt idx="2">
                  <c:v>85.29234414723551</c:v>
                </c:pt>
              </c:numCache>
            </c:numRef>
          </c:val>
        </c:ser>
        <c:ser>
          <c:idx val="1"/>
          <c:order val="1"/>
          <c:tx>
            <c:strRef>
              <c:strCache>
                <c:ptCount val="1"/>
                <c:pt idx="0">
                  <c:v>Terrestrial Natural / Geological Helium-3</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15.158383509927386</c:v>
                </c:pt>
                <c:pt idx="1">
                  <c:v>14.998685430923045</c:v>
                </c:pt>
                <c:pt idx="2">
                  <c:v>14.707655852764479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Neutron Detection and Radiation Monitoring</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16.431451612903224</c:v>
                </c:pt>
                <c:pt idx="1">
                  <c:v>14.82602118003026</c:v>
                </c:pt>
                <c:pt idx="2">
                  <c:v>15.233243637409362</c:v>
                </c:pt>
                <c:pt idx="3">
                  <c:v>11.228081301328597</c:v>
                </c:pt>
                <c:pt idx="4">
                  <c:v>12.887524665643502</c:v>
                </c:pt>
                <c:pt idx="5">
                  <c:v>15.81610634895115</c:v>
                </c:pt>
                <c:pt idx="6">
                  <c:v>16.38972251874828</c:v>
                </c:pt>
                <c:pt idx="7">
                  <c:v>13.79392939973422</c:v>
                </c:pt>
              </c:numCache>
            </c:numRef>
          </c:val>
        </c:ser>
        <c:ser>
          <c:idx val="1"/>
          <c:order val="1"/>
          <c:tx>
            <c:strRef>
              <c:strCache>
                <c:ptCount val="1"/>
                <c:pt idx="0">
                  <c:v>Cryogenic Refrigeration and Ultra-Low-Temperature Cooling</c:v>
                </c:pt>
              </c:strCache>
            </c:strRef>
          </c:tx>
          <c:spPr>
            <a:solidFill>
              <a:srgbClr val="6ECFF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24.037298387096776</c:v>
                </c:pt>
                <c:pt idx="1">
                  <c:v>29.59294629349471</c:v>
                </c:pt>
                <c:pt idx="2">
                  <c:v>29.10872378448329</c:v>
                </c:pt>
                <c:pt idx="3">
                  <c:v>24.669435900688082</c:v>
                </c:pt>
                <c:pt idx="4">
                  <c:v>23.620551048746623</c:v>
                </c:pt>
                <c:pt idx="5">
                  <c:v>24.283066925036177</c:v>
                </c:pt>
                <c:pt idx="6">
                  <c:v>29.20636199453497</c:v>
                </c:pt>
                <c:pt idx="7">
                  <c:v>24.37475673148453</c:v>
                </c:pt>
              </c:numCache>
            </c:numRef>
          </c:val>
        </c:ser>
        <c:ser>
          <c:idx val="2"/>
          <c:order val="2"/>
          <c:tx>
            <c:strRef>
              <c:strCache>
                <c:ptCount val="1"/>
                <c:pt idx="0">
                  <c:v>Medical and Biomedical Imaging</c:v>
                </c:pt>
              </c:strCache>
            </c:strRef>
          </c:tx>
          <c:spPr>
            <a:solidFill>
              <a:srgbClr val="D6CAC4"/>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49.1733870967742</c:v>
                </c:pt>
                <c:pt idx="1">
                  <c:v>44.08330181543118</c:v>
                </c:pt>
                <c:pt idx="2">
                  <c:v>43.81406240371382</c:v>
                </c:pt>
                <c:pt idx="3">
                  <c:v>53.05672701905699</c:v>
                </c:pt>
                <c:pt idx="4">
                  <c:v>52.582036103193744</c:v>
                </c:pt>
                <c:pt idx="5">
                  <c:v>50.01226973099673</c:v>
                </c:pt>
                <c:pt idx="6">
                  <c:v>42.302966827126426</c:v>
                </c:pt>
                <c:pt idx="7">
                  <c:v>47.29370254104761</c:v>
                </c:pt>
              </c:numCache>
            </c:numRef>
          </c:val>
        </c:ser>
        <c:ser>
          <c:idx val="3"/>
          <c:order val="3"/>
          <c:tx>
            <c:strRef>
              <c:strCache>
                <c:ptCount val="1"/>
                <c:pt idx="0">
                  <c:v>Nuclear Fusion Research</c:v>
                </c:pt>
              </c:strCache>
            </c:strRef>
          </c:tx>
          <c:spPr>
            <a:solidFill>
              <a:srgbClr val="EBC46B"/>
            </a:solidFill>
            <a:ln>
              <a:noFill/>
            </a:ln>
          </c:spPr>
          <c:dLbls>
            <c:dLbl>
              <c:idx val="0"/>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10.357862903225808</c:v>
                </c:pt>
                <c:pt idx="1">
                  <c:v>11.497730711043875</c:v>
                </c:pt>
                <c:pt idx="2">
                  <c:v>11.843970174393526</c:v>
                </c:pt>
                <c:pt idx="3">
                  <c:v>11.04575577892634</c:v>
                </c:pt>
                <c:pt idx="4">
                  <c:v>10.90988818241614</c:v>
                </c:pt>
                <c:pt idx="5">
                  <c:v>9.888556995015952</c:v>
                </c:pt>
                <c:pt idx="6">
                  <c:v>12.100948659590324</c:v>
                </c:pt>
                <c:pt idx="7">
                  <c:v>14.537611327733648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Neutron Detection and Radiation Monitoring</c:v>
                </c:pt>
              </c:strCache>
            </c:strRef>
          </c:tx>
          <c:spPr>
            <a:solidFill>
              <a:srgbClr val="00A4DC"/>
            </a:solidFill>
          </c:spPr>
          <c:invertIfNegative val="0"/>
          <c:xVal>
            <c:numRef>
              <c:numCache>
                <c:formatCode>General</c:formatCode>
                <c:ptCount val="1"/>
                <c:pt idx="0">
                  <c:v>150.80108689102966</c:v>
                </c:pt>
              </c:numCache>
            </c:numRef>
          </c:xVal>
          <c:yVal>
            <c:numRef>
              <c:numCache>
                <c:formatCode>General</c:formatCode>
                <c:ptCount val="1"/>
                <c:pt idx="0">
                  <c:v>44.1592965594806</c:v>
                </c:pt>
              </c:numCache>
            </c:numRef>
          </c:yVal>
          <c:bubbleSize>
            <c:numRef>
              <c:numCache>
                <c:formatCode>General</c:formatCode>
                <c:ptCount val="1"/>
                <c:pt idx="0">
                  <c:v>135.842</c:v>
                </c:pt>
              </c:numCache>
            </c:numRef>
          </c:bubbleSize>
          <c:bubble3D val="0"/>
        </c:ser>
        <c:ser>
          <c:idx val="1"/>
          <c:order val="1"/>
          <c:tx>
            <c:strRef>
              <c:strCache>
                <c:ptCount val="1"/>
                <c:pt idx="0">
                  <c:v>Cryogenic Refrigeration and Ultra-Low-Temperature Cooling</c:v>
                </c:pt>
              </c:strCache>
            </c:strRef>
          </c:tx>
          <c:spPr>
            <a:solidFill>
              <a:srgbClr val="6ECFF2"/>
            </a:solidFill>
          </c:spPr>
          <c:invertIfNegative val="0"/>
          <c:xVal>
            <c:numRef>
              <c:numCache>
                <c:formatCode>General</c:formatCode>
                <c:ptCount val="1"/>
                <c:pt idx="0">
                  <c:v>126.72336483397677</c:v>
                </c:pt>
              </c:numCache>
            </c:numRef>
          </c:xVal>
          <c:yVal>
            <c:numRef>
              <c:numCache>
                <c:formatCode>General</c:formatCode>
                <c:ptCount val="1"/>
                <c:pt idx="0">
                  <c:v>88.8458813820503</c:v>
                </c:pt>
              </c:numCache>
            </c:numRef>
          </c:yVal>
          <c:bubbleSize>
            <c:numRef>
              <c:numCache>
                <c:formatCode>General</c:formatCode>
                <c:ptCount val="1"/>
                <c:pt idx="0">
                  <c:v>241.211</c:v>
                </c:pt>
              </c:numCache>
            </c:numRef>
          </c:bubbleSize>
          <c:bubble3D val="0"/>
        </c:ser>
        <c:ser>
          <c:idx val="2"/>
          <c:order val="2"/>
          <c:tx>
            <c:strRef>
              <c:strCache>
                <c:ptCount val="1"/>
                <c:pt idx="0">
                  <c:v>Medical and Biomedical Imaging</c:v>
                </c:pt>
              </c:strCache>
            </c:strRef>
          </c:tx>
          <c:spPr>
            <a:solidFill>
              <a:srgbClr val="D6CAC4"/>
            </a:solidFill>
          </c:spPr>
          <c:invertIfNegative val="0"/>
          <c:xVal>
            <c:numRef>
              <c:numCache>
                <c:formatCode>General</c:formatCode>
                <c:ptCount val="1"/>
                <c:pt idx="0">
                  <c:v>76.63277916829365</c:v>
                </c:pt>
              </c:numCache>
            </c:numRef>
          </c:xVal>
          <c:yVal>
            <c:numRef>
              <c:numCache>
                <c:formatCode>General</c:formatCode>
                <c:ptCount val="1"/>
                <c:pt idx="0">
                  <c:v>214.42374403879438</c:v>
                </c:pt>
              </c:numCache>
            </c:numRef>
          </c:yVal>
          <c:bubbleSize>
            <c:numRef>
              <c:numCache>
                <c:formatCode>General</c:formatCode>
                <c:ptCount val="1"/>
                <c:pt idx="0">
                  <c:v>446.631</c:v>
                </c:pt>
              </c:numCache>
            </c:numRef>
          </c:bubbleSize>
          <c:bubble3D val="0"/>
        </c:ser>
        <c:ser>
          <c:idx val="3"/>
          <c:order val="3"/>
          <c:tx>
            <c:strRef>
              <c:strCache>
                <c:ptCount val="1"/>
                <c:pt idx="0">
                  <c:v>Nuclear Fusion Research</c:v>
                </c:pt>
              </c:strCache>
            </c:strRef>
          </c:tx>
          <c:spPr>
            <a:solidFill>
              <a:srgbClr val="EBC46B"/>
            </a:solidFill>
          </c:spPr>
          <c:invertIfNegative val="0"/>
          <c:xVal>
            <c:numRef>
              <c:numCache>
                <c:formatCode>General</c:formatCode>
                <c:ptCount val="1"/>
                <c:pt idx="0">
                  <c:v>93.70470879450376</c:v>
                </c:pt>
              </c:numCache>
            </c:numRef>
          </c:xVal>
          <c:yVal>
            <c:numRef>
              <c:numCache>
                <c:formatCode>General</c:formatCode>
                <c:ptCount val="1"/>
                <c:pt idx="0">
                  <c:v>52.57107801967471</c:v>
                </c:pt>
              </c:numCache>
            </c:numRef>
          </c:yVal>
          <c:bubbleSize>
            <c:numRef>
              <c:numCache>
                <c:formatCode>General</c:formatCode>
                <c:ptCount val="1"/>
                <c:pt idx="0">
                  <c:v>119.947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5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60.466</c:v>
                </c:pt>
                <c:pt idx="2">
                  <c:v>71.126</c:v>
                </c:pt>
                <c:pt idx="3">
                  <c:v>83.638</c:v>
                </c:pt>
                <c:pt idx="4">
                  <c:v>98.326</c:v>
                </c:pt>
                <c:pt idx="5">
                  <c:v>115.575</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60.466</c:v>
                </c:pt>
                <c:pt idx="1">
                  <c:v>10.660000000000004</c:v>
                </c:pt>
                <c:pt idx="2">
                  <c:v>12.512</c:v>
                </c:pt>
                <c:pt idx="3">
                  <c:v>14.687999999999988</c:v>
                </c:pt>
                <c:pt idx="4">
                  <c:v>17.24900000000001</c:v>
                </c:pt>
                <c:pt idx="5">
                  <c:v>20.26700000000001</c:v>
                </c:pt>
                <c:pt idx="6">
                  <c:v>135.842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121.654</c:v>
                </c:pt>
                <c:pt idx="2">
                  <c:v>139.264</c:v>
                </c:pt>
                <c:pt idx="3">
                  <c:v>159.556</c:v>
                </c:pt>
                <c:pt idx="4">
                  <c:v>182.961</c:v>
                </c:pt>
                <c:pt idx="5">
                  <c:v>209.984</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121.654</c:v>
                </c:pt>
                <c:pt idx="1">
                  <c:v>17.610000000000014</c:v>
                </c:pt>
                <c:pt idx="2">
                  <c:v>20.292</c:v>
                </c:pt>
                <c:pt idx="3">
                  <c:v>23.405</c:v>
                </c:pt>
                <c:pt idx="4">
                  <c:v>27.022999999999996</c:v>
                </c:pt>
                <c:pt idx="5">
                  <c:v>31.227000000000004</c:v>
                </c:pt>
                <c:pt idx="6">
                  <c:v>241.211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293.604</c:v>
                </c:pt>
                <c:pt idx="2">
                  <c:v>319.986</c:v>
                </c:pt>
                <c:pt idx="3">
                  <c:v>348.423</c:v>
                </c:pt>
                <c:pt idx="4">
                  <c:v>378.987</c:v>
                </c:pt>
                <c:pt idx="5">
                  <c:v>411.72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293.604</c:v>
                </c:pt>
                <c:pt idx="1">
                  <c:v>26.382000000000005</c:v>
                </c:pt>
                <c:pt idx="2">
                  <c:v>28.437000000000012</c:v>
                </c:pt>
                <c:pt idx="3">
                  <c:v>30.56400000000002</c:v>
                </c:pt>
                <c:pt idx="4">
                  <c:v>32.733000000000004</c:v>
                </c:pt>
                <c:pt idx="5">
                  <c:v>34.910999999999945</c:v>
                </c:pt>
                <c:pt idx="6">
                  <c:v>446.631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71.984</c:v>
                </c:pt>
                <c:pt idx="2">
                  <c:v>79.7</c:v>
                </c:pt>
                <c:pt idx="3">
                  <c:v>88.26</c:v>
                </c:pt>
                <c:pt idx="4">
                  <c:v>97.753</c:v>
                </c:pt>
                <c:pt idx="5">
                  <c:v>108.278</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71.984</c:v>
                </c:pt>
                <c:pt idx="1">
                  <c:v>7.716000000000008</c:v>
                </c:pt>
                <c:pt idx="2">
                  <c:v>8.560000000000002</c:v>
                </c:pt>
                <c:pt idx="3">
                  <c:v>9.492999999999995</c:v>
                </c:pt>
                <c:pt idx="4">
                  <c:v>10.525000000000006</c:v>
                </c:pt>
                <c:pt idx="5">
                  <c:v>11.668999999999997</c:v>
                </c:pt>
                <c:pt idx="6">
                  <c:v>119.947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Medical and Biomedical Imaging</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56.30801309873193</c:v>
                </c:pt>
                <c:pt idx="1">
                  <c:v>53.605936009698596</c:v>
                </c:pt>
                <c:pt idx="2">
                  <c:v>47.33110718066702</c:v>
                </c:pt>
              </c:numCache>
            </c:numRef>
          </c:val>
        </c:ser>
        <c:ser>
          <c:idx val="1"/>
          <c:order val="1"/>
          <c:tx>
            <c:strRef>
              <c:strCache>
                <c:ptCount val="1"/>
                <c:pt idx="0">
                  <c:v>Cryogenic Refrigeration and Ultra-Low-Temperature Cooling</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20.775406350037432</c:v>
                </c:pt>
                <c:pt idx="1">
                  <c:v>22.211470345512573</c:v>
                </c:pt>
                <c:pt idx="2">
                  <c:v>25.56200463952541</c:v>
                </c:pt>
              </c:numCache>
            </c:numRef>
          </c:val>
        </c:ser>
        <c:ser>
          <c:idx val="2"/>
          <c:order val="2"/>
          <c:tx>
            <c:strRef>
              <c:strCache>
                <c:ptCount val="1"/>
                <c:pt idx="0">
                  <c:v>Neutron Detection and Radiation Monitoring</c:v>
                </c:pt>
              </c:strCache>
            </c:strRef>
          </c:tx>
          <c:spPr>
            <a:solidFill>
              <a:srgbClr val="D6CAC4"/>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9.590963160964677</c:v>
                </c:pt>
                <c:pt idx="1">
                  <c:v>11.03982413987015</c:v>
                </c:pt>
                <c:pt idx="2">
                  <c:v>14.395669493689804</c:v>
                </c:pt>
              </c:numCache>
            </c:numRef>
          </c:val>
        </c:ser>
        <c:ser>
          <c:idx val="3"/>
          <c:order val="3"/>
          <c:tx>
            <c:strRef>
              <c:strCache>
                <c:ptCount val="1"/>
                <c:pt idx="0">
                  <c:v>Nuclear Fusion Research</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13.32561739026597</c:v>
                </c:pt>
                <c:pt idx="1">
                  <c:v>13.142769504918677</c:v>
                </c:pt>
                <c:pt idx="2">
                  <c:v>12.711218686117773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Government and Defense Agencies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21.965725806451612</c:v>
                </c:pt>
                <c:pt idx="1">
                  <c:v>30.647220121028738</c:v>
                </c:pt>
                <c:pt idx="2">
                  <c:v>25.542797280364816</c:v>
                </c:pt>
                <c:pt idx="3">
                  <c:v>28.609252623902087</c:v>
                </c:pt>
                <c:pt idx="4">
                  <c:v>26.29247971935979</c:v>
                </c:pt>
                <c:pt idx="5">
                  <c:v>24.86439831777757</c:v>
                </c:pt>
                <c:pt idx="6">
                  <c:v>27.274802446507817</c:v>
                </c:pt>
                <c:pt idx="7">
                  <c:v>28.383821866413626</c:v>
                </c:pt>
              </c:numCache>
            </c:numRef>
          </c:val>
        </c:ser>
        <c:ser>
          <c:idx val="1"/>
          <c:order val="1"/>
          <c:tx>
            <c:strRef>
              <c:strCache>
                <c:ptCount val="1"/>
                <c:pt idx="0">
                  <c:v>Academic Institutions and Universities</c:v>
                </c:pt>
              </c:strCache>
            </c:strRef>
          </c:tx>
          <c:spPr>
            <a:solidFill>
              <a:srgbClr val="6ECFF2"/>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38.4375</c:v>
                </c:pt>
                <c:pt idx="1">
                  <c:v>31.410741301059</c:v>
                </c:pt>
                <c:pt idx="2">
                  <c:v>30.889632931413434</c:v>
                </c:pt>
                <c:pt idx="3">
                  <c:v>25.78717062498018</c:v>
                </c:pt>
                <c:pt idx="4">
                  <c:v>33.04099978074984</c:v>
                </c:pt>
                <c:pt idx="5">
                  <c:v>40.37249210929368</c:v>
                </c:pt>
                <c:pt idx="6">
                  <c:v>29.002933929518555</c:v>
                </c:pt>
                <c:pt idx="7">
                  <c:v>33.47904493644502</c:v>
                </c:pt>
              </c:numCache>
            </c:numRef>
          </c:val>
        </c:ser>
        <c:ser>
          <c:idx val="2"/>
          <c:order val="2"/>
          <c:tx>
            <c:strRef>
              <c:strCache>
                <c:ptCount val="1"/>
                <c:pt idx="0">
                  <c:v>Independent Research Institutions</c:v>
                </c:pt>
              </c:strCache>
            </c:strRef>
          </c:tx>
          <c:spPr>
            <a:solidFill>
              <a:srgbClr val="D6CAC4"/>
            </a:solidFill>
            <a:ln>
              <a:noFill/>
            </a:ln>
          </c:spPr>
          <c:dLbls>
            <c:dLbl>
              <c:idx val="0"/>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3.387096774193549</c:v>
                </c:pt>
                <c:pt idx="1">
                  <c:v>3.985438729198184</c:v>
                </c:pt>
                <c:pt idx="2">
                  <c:v>4.3608651890803785</c:v>
                </c:pt>
                <c:pt idx="3">
                  <c:v>3.743222246884612</c:v>
                </c:pt>
                <c:pt idx="4">
                  <c:v>2.942337206752905</c:v>
                </c:pt>
                <c:pt idx="5">
                  <c:v>2.780574900361322</c:v>
                </c:pt>
                <c:pt idx="6">
                  <c:v>4.190752415288659</c:v>
                </c:pt>
                <c:pt idx="7">
                  <c:v>3.091035972647982</c:v>
                </c:pt>
              </c:numCache>
            </c:numRef>
          </c:val>
        </c:ser>
        <c:ser>
          <c:idx val="3"/>
          <c:order val="3"/>
          <c:tx>
            <c:strRef>
              <c:strCache>
                <c:ptCount val="1"/>
                <c:pt idx="0">
                  <c:v>Healthcare and Medical Research Institutions</c:v>
                </c:pt>
              </c:strCache>
            </c:strRef>
          </c:tx>
          <c:spPr>
            <a:solidFill>
              <a:srgbClr val="EBC46B"/>
            </a:solidFill>
            <a:ln>
              <a:noFill/>
            </a:ln>
          </c:spPr>
          <c:dLbls>
            <c:dLbl>
              <c:idx val="0"/>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13.62399193548387</c:v>
                </c:pt>
                <c:pt idx="1">
                  <c:v>12.421993192133131</c:v>
                </c:pt>
                <c:pt idx="2">
                  <c:v>10.350635745537458</c:v>
                </c:pt>
                <c:pt idx="3">
                  <c:v>12.700954434473791</c:v>
                </c:pt>
                <c:pt idx="4">
                  <c:v>11.686033764525325</c:v>
                </c:pt>
                <c:pt idx="5">
                  <c:v>8.851976272878817</c:v>
                </c:pt>
                <c:pt idx="6">
                  <c:v>9.76588988029299</c:v>
                </c:pt>
                <c:pt idx="7">
                  <c:v>13.1792229686935</c:v>
                </c:pt>
              </c:numCache>
            </c:numRef>
          </c:val>
        </c:ser>
        <c:ser>
          <c:idx val="4"/>
          <c:order val="4"/>
          <c:tx>
            <c:strRef>
              <c:strCache>
                <c:ptCount val="1"/>
                <c:pt idx="0">
                  <c:v>Commercial and Industrial Enterprises</c:v>
                </c:pt>
              </c:strCache>
            </c:strRef>
          </c:tx>
          <c:spPr>
            <a:solidFill>
              <a:srgbClr val="EDA28B"/>
            </a:solidFill>
            <a:ln>
              <a:noFill/>
            </a:ln>
          </c:spPr>
          <c:dLbls>
            <c:dLbl>
              <c:idx val="0"/>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3.8558467741935485</c:v>
                </c:pt>
                <c:pt idx="1">
                  <c:v>3.2431921331316187</c:v>
                </c:pt>
                <c:pt idx="2">
                  <c:v>2.964073701292033</c:v>
                </c:pt>
                <c:pt idx="3">
                  <c:v>2.5810952214858736</c:v>
                </c:pt>
                <c:pt idx="4">
                  <c:v>3.63809106190163</c:v>
                </c:pt>
                <c:pt idx="5">
                  <c:v>3.4389094324614775</c:v>
                </c:pt>
                <c:pt idx="6">
                  <c:v>3.4253794974051175</c:v>
                </c:pt>
                <c:pt idx="7">
                  <c:v>4.136889064950678</c:v>
                </c:pt>
              </c:numCache>
            </c:numRef>
          </c:val>
        </c:ser>
        <c:ser>
          <c:idx val="5"/>
          <c:order val="5"/>
          <c:tx>
            <c:strRef>
              <c:strCache>
                <c:ptCount val="1"/>
                <c:pt idx="0">
                  <c:v>Other End Users</c:v>
                </c:pt>
              </c:strCache>
            </c:strRef>
          </c:tx>
          <c:spPr>
            <a:solidFill>
              <a:srgbClr val="C4E2F4"/>
            </a:solidFill>
            <a:ln>
              <a:noFill/>
            </a:ln>
          </c:spPr>
          <c:dLbls>
            <c:dLbl>
              <c:idx val="0"/>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7"/>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Rest of Western Europe</c:v>
                </c:pt>
                <c:pt idx="1">
                  <c:v>Nordic Countries</c:v>
                </c:pt>
                <c:pt idx="2">
                  <c:v>BENELUX</c:v>
                </c:pt>
                <c:pt idx="3">
                  <c:v>Spain</c:v>
                </c:pt>
                <c:pt idx="4">
                  <c:v>U.K.</c:v>
                </c:pt>
                <c:pt idx="5">
                  <c:v>France</c:v>
                </c:pt>
                <c:pt idx="6">
                  <c:v>Italy</c:v>
                </c:pt>
                <c:pt idx="7">
                  <c:v>Germany</c:v>
                </c:pt>
              </c:strCache>
            </c:strRef>
          </c:cat>
          <c:val>
            <c:numRef>
              <c:numCache>
                <c:formatCode>General</c:formatCode>
                <c:ptCount val="8"/>
                <c:pt idx="0">
                  <c:v>18.72983870967742</c:v>
                </c:pt>
                <c:pt idx="1">
                  <c:v>18.29141452344932</c:v>
                </c:pt>
                <c:pt idx="2">
                  <c:v>25.891995152311896</c:v>
                </c:pt>
                <c:pt idx="3">
                  <c:v>26.578304848273454</c:v>
                </c:pt>
                <c:pt idx="4">
                  <c:v>22.40005846671052</c:v>
                </c:pt>
                <c:pt idx="5">
                  <c:v>19.691648967227124</c:v>
                </c:pt>
                <c:pt idx="6">
                  <c:v>26.34024183098686</c:v>
                </c:pt>
                <c:pt idx="7">
                  <c:v>17.729985190849188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Government and Defense Agencies</c:v>
                </c:pt>
              </c:strCache>
            </c:strRef>
          </c:tx>
          <c:spPr>
            <a:solidFill>
              <a:srgbClr val="00A4DC"/>
            </a:solidFill>
          </c:spPr>
          <c:invertIfNegative val="0"/>
          <c:xVal>
            <c:numRef>
              <c:numCache>
                <c:formatCode>General</c:formatCode>
                <c:ptCount val="1"/>
                <c:pt idx="0">
                  <c:v>113.08936406485941</c:v>
                </c:pt>
              </c:numCache>
            </c:numRef>
          </c:xVal>
          <c:yVal>
            <c:numRef>
              <c:numCache>
                <c:formatCode>General</c:formatCode>
                <c:ptCount val="1"/>
                <c:pt idx="0">
                  <c:v>153.71694406508578</c:v>
                </c:pt>
              </c:numCache>
            </c:numRef>
          </c:yVal>
          <c:bubbleSize>
            <c:numRef>
              <c:numCache>
                <c:formatCode>General</c:formatCode>
                <c:ptCount val="1"/>
                <c:pt idx="0">
                  <c:v>259.04</c:v>
                </c:pt>
              </c:numCache>
            </c:numRef>
          </c:bubbleSize>
          <c:bubble3D val="0"/>
        </c:ser>
        <c:ser>
          <c:idx val="1"/>
          <c:order val="1"/>
          <c:tx>
            <c:strRef>
              <c:strCache>
                <c:ptCount val="1"/>
                <c:pt idx="0">
                  <c:v>Academic Institutions and Universities</c:v>
                </c:pt>
              </c:strCache>
            </c:strRef>
          </c:tx>
          <c:spPr>
            <a:solidFill>
              <a:srgbClr val="6ECFF2"/>
            </a:solidFill>
          </c:spPr>
          <c:invertIfNegative val="0"/>
          <c:xVal>
            <c:numRef>
              <c:numCache>
                <c:formatCode>General</c:formatCode>
                <c:ptCount val="1"/>
                <c:pt idx="0">
                  <c:v>94.26923980706914</c:v>
                </c:pt>
              </c:numCache>
            </c:numRef>
          </c:xVal>
          <c:yVal>
            <c:numRef>
              <c:numCache>
                <c:formatCode>General</c:formatCode>
                <c:ptCount val="1"/>
                <c:pt idx="0">
                  <c:v>203.91047784585953</c:v>
                </c:pt>
              </c:numCache>
            </c:numRef>
          </c:yVal>
          <c:bubbleSize>
            <c:numRef>
              <c:numCache>
                <c:formatCode>General</c:formatCode>
                <c:ptCount val="1"/>
                <c:pt idx="0">
                  <c:v>311.095</c:v>
                </c:pt>
              </c:numCache>
            </c:numRef>
          </c:bubbleSize>
          <c:bubble3D val="0"/>
        </c:ser>
        <c:ser>
          <c:idx val="2"/>
          <c:order val="2"/>
          <c:tx>
            <c:strRef>
              <c:strCache>
                <c:ptCount val="1"/>
                <c:pt idx="0">
                  <c:v>Independent Research Institutions</c:v>
                </c:pt>
              </c:strCache>
            </c:strRef>
          </c:tx>
          <c:spPr>
            <a:solidFill>
              <a:srgbClr val="D6CAC4"/>
            </a:solidFill>
          </c:spPr>
          <c:invertIfNegative val="0"/>
          <c:xVal>
            <c:numRef>
              <c:numCache>
                <c:formatCode>General</c:formatCode>
                <c:ptCount val="1"/>
                <c:pt idx="0">
                  <c:v>95.71450068251724</c:v>
                </c:pt>
              </c:numCache>
            </c:numRef>
          </c:xVal>
          <c:yVal>
            <c:numRef>
              <c:numCache>
                <c:formatCode>General</c:formatCode>
                <c:ptCount val="1"/>
                <c:pt idx="0">
                  <c:v>20.686935374323546</c:v>
                </c:pt>
              </c:numCache>
            </c:numRef>
          </c:yVal>
          <c:bubbleSize>
            <c:numRef>
              <c:numCache>
                <c:formatCode>General</c:formatCode>
                <c:ptCount val="1"/>
                <c:pt idx="0">
                  <c:v>31.804</c:v>
                </c:pt>
              </c:numCache>
            </c:numRef>
          </c:bubbleSize>
          <c:bubble3D val="0"/>
        </c:ser>
        <c:ser>
          <c:idx val="3"/>
          <c:order val="3"/>
          <c:tx>
            <c:strRef>
              <c:strCache>
                <c:ptCount val="1"/>
                <c:pt idx="0">
                  <c:v>Healthcare and Medical Research Institutions</c:v>
                </c:pt>
              </c:strCache>
            </c:strRef>
          </c:tx>
          <c:spPr>
            <a:solidFill>
              <a:srgbClr val="EBC46B"/>
            </a:solidFill>
          </c:spPr>
          <c:invertIfNegative val="0"/>
          <c:xVal>
            <c:numRef>
              <c:numCache>
                <c:formatCode>General</c:formatCode>
                <c:ptCount val="1"/>
                <c:pt idx="0">
                  <c:v>90.04016219252416</c:v>
                </c:pt>
              </c:numCache>
            </c:numRef>
          </c:xVal>
          <c:yVal>
            <c:numRef>
              <c:numCache>
                <c:formatCode>General</c:formatCode>
                <c:ptCount val="1"/>
                <c:pt idx="0">
                  <c:v>74.56673994172078</c:v>
                </c:pt>
              </c:numCache>
            </c:numRef>
          </c:yVal>
          <c:bubbleSize>
            <c:numRef>
              <c:numCache>
                <c:formatCode>General</c:formatCode>
                <c:ptCount val="1"/>
                <c:pt idx="0">
                  <c:v>111.233</c:v>
                </c:pt>
              </c:numCache>
            </c:numRef>
          </c:bubbleSize>
          <c:bubble3D val="0"/>
        </c:ser>
        <c:ser>
          <c:idx val="4"/>
          <c:order val="4"/>
          <c:tx>
            <c:strRef>
              <c:strCache>
                <c:ptCount val="1"/>
                <c:pt idx="0">
                  <c:v>Commercial and Industrial Enterprises</c:v>
                </c:pt>
              </c:strCache>
            </c:strRef>
          </c:tx>
          <c:spPr>
            <a:solidFill>
              <a:srgbClr val="EDA28B"/>
            </a:solidFill>
          </c:spPr>
          <c:invertIfNegative val="0"/>
          <c:xVal>
            <c:numRef>
              <c:numCache>
                <c:formatCode>General</c:formatCode>
                <c:ptCount val="1"/>
                <c:pt idx="0">
                  <c:v>71.46567473412216</c:v>
                </c:pt>
              </c:numCache>
            </c:numRef>
          </c:xVal>
          <c:yVal>
            <c:numRef>
              <c:numCache>
                <c:formatCode>General</c:formatCode>
                <c:ptCount val="1"/>
                <c:pt idx="0">
                  <c:v>25.784176970210403</c:v>
                </c:pt>
              </c:numCache>
            </c:numRef>
          </c:yVal>
          <c:bubbleSize>
            <c:numRef>
              <c:numCache>
                <c:formatCode>General</c:formatCode>
                <c:ptCount val="1"/>
                <c:pt idx="0">
                  <c:v>34.825</c:v>
                </c:pt>
              </c:numCache>
            </c:numRef>
          </c:bubbleSize>
          <c:bubble3D val="0"/>
        </c:ser>
        <c:ser>
          <c:idx val="5"/>
          <c:order val="5"/>
          <c:tx>
            <c:strRef>
              <c:strCache>
                <c:ptCount val="1"/>
                <c:pt idx="0">
                  <c:v>Other End Users</c:v>
                </c:pt>
              </c:strCache>
            </c:strRef>
          </c:tx>
          <c:spPr>
            <a:solidFill>
              <a:srgbClr val="C4E2F4"/>
            </a:solidFill>
          </c:spPr>
          <c:invertIfNegative val="0"/>
          <c:xVal>
            <c:numRef>
              <c:numCache>
                <c:formatCode>General</c:formatCode>
                <c:ptCount val="1"/>
                <c:pt idx="0">
                  <c:v>104.70628654244445</c:v>
                </c:pt>
              </c:numCache>
            </c:numRef>
          </c:xVal>
          <c:yVal>
            <c:numRef>
              <c:numCache>
                <c:formatCode>General</c:formatCode>
                <c:ptCount val="1"/>
                <c:pt idx="0">
                  <c:v>121.33472580280005</c:v>
                </c:pt>
              </c:numCache>
            </c:numRef>
          </c:yVal>
          <c:bubbleSize>
            <c:numRef>
              <c:numCache>
                <c:formatCode>General</c:formatCode>
                <c:ptCount val="1"/>
                <c:pt idx="0">
                  <c:v>195.634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60.0"/>
        </c:scaling>
        <c:delete val="0"/>
        <c:axPos val="b"/>
        <c:title>
          <c:tx>
            <c:rich>
              <a:bodyPr/>
              <a:lstStyle/>
              <a:p>
                <a:r>
                  <a:rPr sz="1100" b="0">
                    <a:solidFill>
                      <a:srgbClr val="605E5C"/>
                    </a:solidFill>
                    <a:latin typeface="Segoe UI"/>
                  </a:rPr>
                  <a:t>CAGR Index (100 = segment average growth)</a:t>
                </a:r>
              </a:p>
            </c:rich>
          </c:tx>
          <c:layout/>
          <c:overlay val="0"/>
        </c:title>
        <c:numFmt formatCode="General" sourceLinked="1"/>
        <c:majorTickMark val="out"/>
        <c:minorTickMark val="none"/>
        <c:tickLblPos val="nextTo"/>
        <c:spPr>
          <a:ln>
            <a:solidFill>
              <a:srgbClr val="BFBFBF"/>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05E5C"/>
                    </a:solidFill>
                    <a:latin typeface="Segoe UI"/>
                  </a:rPr>
                  <a:t>Market Share Index (100 = equal share)</a:t>
                </a:r>
              </a:p>
            </c:rich>
          </c:tx>
          <c:layout/>
          <c:overlay val="0"/>
        </c:title>
        <c:numFmt formatCode="General" sourceLinked="1"/>
        <c:majorTickMark val="out"/>
        <c:minorTickMark val="none"/>
        <c:tickLblPos val="none"/>
        <c:spPr>
          <a:ln>
            <a:solidFill>
              <a:srgbClr val="BFBFBF"/>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140.32</c:v>
                </c:pt>
                <c:pt idx="2">
                  <c:v>158.424</c:v>
                </c:pt>
                <c:pt idx="3">
                  <c:v>178.974</c:v>
                </c:pt>
                <c:pt idx="4">
                  <c:v>202.325</c:v>
                </c:pt>
                <c:pt idx="5">
                  <c:v>228.862</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140.32</c:v>
                </c:pt>
                <c:pt idx="1">
                  <c:v>18.104000000000013</c:v>
                </c:pt>
                <c:pt idx="2">
                  <c:v>20.549999999999983</c:v>
                </c:pt>
                <c:pt idx="3">
                  <c:v>23.351</c:v>
                </c:pt>
                <c:pt idx="4">
                  <c:v>26.537000000000006</c:v>
                </c:pt>
                <c:pt idx="5">
                  <c:v>30.178000000000026</c:v>
                </c:pt>
                <c:pt idx="6">
                  <c:v>259.04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186.139</c:v>
                </c:pt>
                <c:pt idx="2">
                  <c:v>206.171</c:v>
                </c:pt>
                <c:pt idx="3">
                  <c:v>228.418</c:v>
                </c:pt>
                <c:pt idx="4">
                  <c:v>253.132</c:v>
                </c:pt>
                <c:pt idx="5">
                  <c:v>280.586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186.139</c:v>
                </c:pt>
                <c:pt idx="1">
                  <c:v>20.031999999999982</c:v>
                </c:pt>
                <c:pt idx="2">
                  <c:v>22.247000000000014</c:v>
                </c:pt>
                <c:pt idx="3">
                  <c:v>24.714</c:v>
                </c:pt>
                <c:pt idx="4">
                  <c:v>27.454000000000008</c:v>
                </c:pt>
                <c:pt idx="5">
                  <c:v>30.509000000000015</c:v>
                </c:pt>
                <c:pt idx="6">
                  <c:v>311.095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18.884</c:v>
                </c:pt>
                <c:pt idx="2">
                  <c:v>20.939</c:v>
                </c:pt>
                <c:pt idx="3">
                  <c:v>23.231</c:v>
                </c:pt>
                <c:pt idx="4">
                  <c:v>25.783</c:v>
                </c:pt>
                <c:pt idx="5">
                  <c:v>28.629</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18.884</c:v>
                </c:pt>
                <c:pt idx="1">
                  <c:v>2.0549999999999997</c:v>
                </c:pt>
                <c:pt idx="2">
                  <c:v>2.2920000000000016</c:v>
                </c:pt>
                <c:pt idx="3">
                  <c:v>2.5519999999999996</c:v>
                </c:pt>
                <c:pt idx="4">
                  <c:v>2.846</c:v>
                </c:pt>
                <c:pt idx="5">
                  <c:v>3.174999999999997</c:v>
                </c:pt>
                <c:pt idx="6">
                  <c:v>31.804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68.068</c:v>
                </c:pt>
                <c:pt idx="2">
                  <c:v>75.085</c:v>
                </c:pt>
                <c:pt idx="3">
                  <c:v>82.834</c:v>
                </c:pt>
                <c:pt idx="4">
                  <c:v>91.387</c:v>
                </c:pt>
                <c:pt idx="5">
                  <c:v>100.826</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68.068</c:v>
                </c:pt>
                <c:pt idx="1">
                  <c:v>7.016999999999996</c:v>
                </c:pt>
                <c:pt idx="2">
                  <c:v>7.749000000000009</c:v>
                </c:pt>
                <c:pt idx="3">
                  <c:v>8.552999999999997</c:v>
                </c:pt>
                <c:pt idx="4">
                  <c:v>9.438999999999993</c:v>
                </c:pt>
                <c:pt idx="5">
                  <c:v>10.40700000000001</c:v>
                </c:pt>
                <c:pt idx="6">
                  <c:v>111.233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23.537</c:v>
                </c:pt>
                <c:pt idx="2">
                  <c:v>25.515</c:v>
                </c:pt>
                <c:pt idx="3">
                  <c:v>27.632</c:v>
                </c:pt>
                <c:pt idx="4">
                  <c:v>29.888</c:v>
                </c:pt>
                <c:pt idx="5">
                  <c:v>32.287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23.537</c:v>
                </c:pt>
                <c:pt idx="1">
                  <c:v>1.9780000000000015</c:v>
                </c:pt>
                <c:pt idx="2">
                  <c:v>2.117000000000001</c:v>
                </c:pt>
                <c:pt idx="3">
                  <c:v>2.2560000000000002</c:v>
                </c:pt>
                <c:pt idx="4">
                  <c:v>2.3989999999999974</c:v>
                </c:pt>
                <c:pt idx="5">
                  <c:v>2.538000000000004</c:v>
                </c:pt>
                <c:pt idx="6">
                  <c:v>34.825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110.76</c:v>
                </c:pt>
                <c:pt idx="2">
                  <c:v>123.942</c:v>
                </c:pt>
                <c:pt idx="3">
                  <c:v>138.788</c:v>
                </c:pt>
                <c:pt idx="4">
                  <c:v>155.512</c:v>
                </c:pt>
                <c:pt idx="5">
                  <c:v>174.367</c:v>
                </c:pt>
                <c:pt idx="6">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110.76</c:v>
                </c:pt>
                <c:pt idx="1">
                  <c:v>13.181999999999988</c:v>
                </c:pt>
                <c:pt idx="2">
                  <c:v>14.846000000000018</c:v>
                </c:pt>
                <c:pt idx="3">
                  <c:v>16.72399999999999</c:v>
                </c:pt>
                <c:pt idx="4">
                  <c:v>18.85499999999999</c:v>
                </c:pt>
                <c:pt idx="5">
                  <c:v>21.266999999999996</c:v>
                </c:pt>
                <c:pt idx="6">
                  <c:v>195.634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Academic Institutions and Universities</c:v>
                </c:pt>
              </c:strCache>
            </c:strRef>
          </c:tx>
          <c:spPr>
            <a:solidFill>
              <a:srgbClr val="00A4DC"/>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34.43928517298869</c:v>
                </c:pt>
                <c:pt idx="1">
                  <c:v>33.985079640976586</c:v>
                </c:pt>
                <c:pt idx="2">
                  <c:v>32.96786561696256</c:v>
                </c:pt>
              </c:numCache>
            </c:numRef>
          </c:val>
        </c:ser>
        <c:ser>
          <c:idx val="1"/>
          <c:order val="1"/>
          <c:tx>
            <c:strRef>
              <c:strCache>
                <c:ptCount val="1"/>
                <c:pt idx="0">
                  <c:v>Government and Defense Agencies</c:v>
                </c:pt>
              </c:strCache>
            </c:strRef>
          </c:tx>
          <c:spPr>
            <a:solidFill>
              <a:srgbClr val="6ECFF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24.784252127625372</c:v>
                </c:pt>
                <c:pt idx="1">
                  <c:v>25.619490677514296</c:v>
                </c:pt>
                <c:pt idx="2">
                  <c:v>27.451408442495</c:v>
                </c:pt>
              </c:numCache>
            </c:numRef>
          </c:val>
        </c:ser>
        <c:ser>
          <c:idx val="2"/>
          <c:order val="2"/>
          <c:tx>
            <c:strRef>
              <c:strCache>
                <c:ptCount val="1"/>
                <c:pt idx="0">
                  <c:v>Other End Users</c:v>
                </c:pt>
              </c:strCache>
            </c:strRef>
          </c:tx>
          <c:spPr>
            <a:solidFill>
              <a:srgbClr val="D6CAC4"/>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20.00587881376561</c:v>
                </c:pt>
                <c:pt idx="1">
                  <c:v>20.222454300466673</c:v>
                </c:pt>
                <c:pt idx="2">
                  <c:v>20.732044623375025</c:v>
                </c:pt>
              </c:numCache>
            </c:numRef>
          </c:val>
        </c:ser>
        <c:ser>
          <c:idx val="3"/>
          <c:order val="3"/>
          <c:tx>
            <c:strRef>
              <c:strCache>
                <c:ptCount val="1"/>
                <c:pt idx="0">
                  <c:v>Healthcare and Medical Research Institutions</c:v>
                </c:pt>
              </c:strCache>
            </c:strRef>
          </c:tx>
          <c:spPr>
            <a:solidFill>
              <a:srgbClr val="EBC46B"/>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12.711327279992284</c:v>
                </c:pt>
                <c:pt idx="1">
                  <c:v>12.427789990286795</c:v>
                </c:pt>
                <c:pt idx="2">
                  <c:v>11.787764496927295</c:v>
                </c:pt>
              </c:numCache>
            </c:numRef>
          </c:val>
        </c:ser>
        <c:ser>
          <c:idx val="4"/>
          <c:order val="4"/>
          <c:tx>
            <c:strRef>
              <c:strCache>
                <c:ptCount val="1"/>
                <c:pt idx="0">
                  <c:v>Commercial and Industrial Enterprises</c:v>
                </c:pt>
              </c:strCache>
            </c:strRef>
          </c:tx>
          <c:spPr>
            <a:solidFill>
              <a:srgbClr val="EDA28B"/>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4.571925908575261</c:v>
                </c:pt>
                <c:pt idx="1">
                  <c:v>4.297362828368401</c:v>
                </c:pt>
                <c:pt idx="2">
                  <c:v>3.6905315743124167</c:v>
                </c:pt>
              </c:numCache>
            </c:numRef>
          </c:val>
        </c:ser>
        <c:ser>
          <c:idx val="5"/>
          <c:order val="5"/>
          <c:tx>
            <c:strRef>
              <c:strCache>
                <c:ptCount val="1"/>
                <c:pt idx="0">
                  <c:v>Independent Research Institutions</c:v>
                </c:pt>
              </c:strCache>
            </c:strRef>
          </c:tx>
          <c:spPr>
            <a:solidFill>
              <a:srgbClr val="C4E2F4"/>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3.4873306970527853</c:v>
                </c:pt>
                <c:pt idx="1">
                  <c:v>3.447822562387258</c:v>
                </c:pt>
                <c:pt idx="2">
                  <c:v>3.3703852459276975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(Litres)</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34115.135</c:v>
                </c:pt>
                <c:pt idx="1">
                  <c:v>35594.195999999996</c:v>
                </c:pt>
                <c:pt idx="2">
                  <c:v>37137.382</c:v>
                </c:pt>
                <c:pt idx="3">
                  <c:v>38747.473</c:v>
                </c:pt>
                <c:pt idx="4">
                  <c:v>40427.369999999995</c:v>
                </c:pt>
                <c:pt idx="5">
                  <c:v>42180.098</c:v>
                </c:pt>
                <c:pt idx="6">
                  <c:v>44341.759</c:v>
                </c:pt>
                <c:pt idx="7">
                  <c:v>46614.202000000005</c:v>
                </c:pt>
                <c:pt idx="8">
                  <c:v>49003.104</c:v>
                </c:pt>
                <c:pt idx="9">
                  <c:v>51514.433000000005</c:v>
                </c:pt>
                <c:pt idx="10">
                  <c:v>54154.464</c:v>
                </c:pt>
                <c:pt idx="11">
                  <c:v>56929.792</c:v>
                </c:pt>
                <c:pt idx="12">
                  <c:v>59847.350999999995</c:v>
                </c:pt>
                <c:pt idx="13">
                  <c:v>62914.42999999999</c:v>
                </c:pt>
                <c:pt idx="14">
                  <c:v>66138.69200000001</c:v>
                </c:pt>
                <c:pt idx="15">
                  <c:v>69528.193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strCache>
                <c:ptCount val="3"/>
                <c:pt idx="0">
                  <c:v>Global</c:v>
                </c:pt>
                <c:pt idx="1">
                  <c:v>Western Europe</c:v>
                </c:pt>
                <c:pt idx="2">
                  <c:v>Germany</c:v>
                </c:pt>
              </c:strCache>
            </c:strRef>
          </c:cat>
          <c:val>
            <c:numRef>
              <c:numCache>
                <c:formatCode>General</c:formatCode>
                <c:ptCount val="3"/>
                <c:pt idx="0">
                  <c:v>0.045531072559717556</c:v>
                </c:pt>
                <c:pt idx="1">
                  <c:v>0.04247760334819195</c:v>
                </c:pt>
                <c:pt idx="2">
                  <c:v>0.051248370933512755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918530076024222"/>
          <c:min val="0.0"/>
        </c:scaling>
        <c:delete/>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42180.098</c:v>
                </c:pt>
                <c:pt idx="2">
                  <c:v>44341.759</c:v>
                </c:pt>
                <c:pt idx="3">
                  <c:v>46614.202000000005</c:v>
                </c:pt>
                <c:pt idx="4">
                  <c:v>49003.104</c:v>
                </c:pt>
                <c:pt idx="5">
                  <c:v>51514.433000000005</c:v>
                </c:pt>
                <c:pt idx="6">
                  <c:v>54154.464</c:v>
                </c:pt>
                <c:pt idx="7">
                  <c:v>56929.792</c:v>
                </c:pt>
                <c:pt idx="8">
                  <c:v>59847.350999999995</c:v>
                </c:pt>
                <c:pt idx="9">
                  <c:v>62914.42999999999</c:v>
                </c:pt>
                <c:pt idx="10">
                  <c:v>66138.69200000001</c:v>
                </c:pt>
                <c:pt idx="11">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42180.098</c:v>
                </c:pt>
                <c:pt idx="1">
                  <c:v>2161.661</c:v>
                </c:pt>
                <c:pt idx="2">
                  <c:v>2272.4430000000066</c:v>
                </c:pt>
                <c:pt idx="3">
                  <c:v>2388.9019999999946</c:v>
                </c:pt>
                <c:pt idx="4">
                  <c:v>2511.329000000005</c:v>
                </c:pt>
                <c:pt idx="5">
                  <c:v>2640.0309999999954</c:v>
                </c:pt>
                <c:pt idx="6">
                  <c:v>2775.3280000000013</c:v>
                </c:pt>
                <c:pt idx="7">
                  <c:v>2917.558999999994</c:v>
                </c:pt>
                <c:pt idx="8">
                  <c:v>3067.078999999998</c:v>
                </c:pt>
                <c:pt idx="9">
                  <c:v>3224.262000000017</c:v>
                </c:pt>
                <c:pt idx="10">
                  <c:v>3389.5009999999893</c:v>
                </c:pt>
                <c:pt idx="11">
                  <c:v>69528.193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41.501029519294924</c:v>
                </c:pt>
                <c:pt idx="1">
                  <c:v>1.5865908412265908</c:v>
                </c:pt>
              </c:numCache>
            </c:numRef>
          </c:val>
        </c:ser>
        <c:ser>
          <c:idx val="1"/>
          <c:order val="1"/>
          <c:tx>
            <c:strRef>
              <c:strCache>
                <c:ptCount val="1"/>
                <c:pt idx="0">
                  <c:v>Rest of the market</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58.498970480705076</c:v>
                </c:pt>
                <c:pt idx="1">
                  <c:v>98.4134091587734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174.20600000000002</c:v>
                </c:pt>
                <c:pt idx="1">
                  <c:v>184.214</c:v>
                </c:pt>
                <c:pt idx="2">
                  <c:v>194.796</c:v>
                </c:pt>
                <c:pt idx="3">
                  <c:v>205.98700000000002</c:v>
                </c:pt>
                <c:pt idx="4">
                  <c:v>217.821</c:v>
                </c:pt>
                <c:pt idx="5">
                  <c:v>230.334</c:v>
                </c:pt>
                <c:pt idx="6">
                  <c:v>245.409</c:v>
                </c:pt>
                <c:pt idx="7">
                  <c:v>261.47</c:v>
                </c:pt>
                <c:pt idx="8">
                  <c:v>278.583</c:v>
                </c:pt>
                <c:pt idx="9">
                  <c:v>296.81600000000003</c:v>
                </c:pt>
                <c:pt idx="10">
                  <c:v>316.24199999999996</c:v>
                </c:pt>
                <c:pt idx="11">
                  <c:v>336.93899999999996</c:v>
                </c:pt>
                <c:pt idx="12">
                  <c:v>358.991</c:v>
                </c:pt>
                <c:pt idx="13">
                  <c:v>382.48699999999997</c:v>
                </c:pt>
                <c:pt idx="14">
                  <c:v>407.52</c:v>
                </c:pt>
                <c:pt idx="15">
                  <c:v>434.19100000000003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strCache>
                <c:ptCount val="3"/>
                <c:pt idx="0">
                  <c:v>Global</c:v>
                </c:pt>
                <c:pt idx="1">
                  <c:v>Western Europe</c:v>
                </c:pt>
                <c:pt idx="2">
                  <c:v>Germany</c:v>
                </c:pt>
              </c:strCache>
            </c:strRef>
          </c:cat>
          <c:val>
            <c:numRef>
              <c:numCache>
                <c:formatCode>General</c:formatCode>
                <c:ptCount val="3"/>
                <c:pt idx="0">
                  <c:v>0.049939469101035305</c:v>
                </c:pt>
                <c:pt idx="1">
                  <c:v>0.05590613092955543</c:v>
                </c:pt>
                <c:pt idx="2">
                  <c:v>0.06544804476305299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835486043012154"/>
          <c:min val="0.0"/>
        </c:scaling>
        <c:delete/>
        <c:axPos val="b"/>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230.334</c:v>
                </c:pt>
                <c:pt idx="2">
                  <c:v>245.409</c:v>
                </c:pt>
                <c:pt idx="3">
                  <c:v>261.47</c:v>
                </c:pt>
                <c:pt idx="4">
                  <c:v>278.583</c:v>
                </c:pt>
                <c:pt idx="5">
                  <c:v>296.81600000000003</c:v>
                </c:pt>
                <c:pt idx="6">
                  <c:v>316.24199999999996</c:v>
                </c:pt>
                <c:pt idx="7">
                  <c:v>336.93899999999996</c:v>
                </c:pt>
                <c:pt idx="8">
                  <c:v>358.991</c:v>
                </c:pt>
                <c:pt idx="9">
                  <c:v>382.48699999999997</c:v>
                </c:pt>
                <c:pt idx="10">
                  <c:v>407.52</c:v>
                </c:pt>
                <c:pt idx="11">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230.334</c:v>
                </c:pt>
                <c:pt idx="1">
                  <c:v>15.074999999999989</c:v>
                </c:pt>
                <c:pt idx="2">
                  <c:v>16.061000000000035</c:v>
                </c:pt>
                <c:pt idx="3">
                  <c:v>17.113</c:v>
                </c:pt>
                <c:pt idx="4">
                  <c:v>18.233000000000004</c:v>
                </c:pt>
                <c:pt idx="5">
                  <c:v>19.42599999999993</c:v>
                </c:pt>
                <c:pt idx="6">
                  <c:v>20.697000000000003</c:v>
                </c:pt>
                <c:pt idx="7">
                  <c:v>22.05200000000002</c:v>
                </c:pt>
                <c:pt idx="8">
                  <c:v>23.49599999999998</c:v>
                </c:pt>
                <c:pt idx="9">
                  <c:v>25.033000000000015</c:v>
                </c:pt>
                <c:pt idx="10">
                  <c:v>26.67100000000005</c:v>
                </c:pt>
                <c:pt idx="11">
                  <c:v>434.19100000000003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Germany</c:v>
                </c:pt>
              </c:strCache>
            </c:strRef>
          </c:tx>
          <c:spPr>
            <a:solidFill>
              <a:srgbClr val="00A4D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42.054160245970486</c:v>
                </c:pt>
                <c:pt idx="1">
                  <c:v>2.1131561571702897</c:v>
                </c:pt>
              </c:numCache>
            </c:numRef>
          </c:val>
        </c:ser>
        <c:ser>
          <c:idx val="1"/>
          <c:order val="1"/>
          <c:tx>
            <c:strRef>
              <c:strCache>
                <c:ptCount val="1"/>
                <c:pt idx="0">
                  <c:v>Rest of the market</c:v>
                </c:pt>
              </c:strCache>
            </c:strRef>
          </c:tx>
          <c:spPr>
            <a:solidFill>
              <a:srgbClr val="6ECFF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strCache>
                <c:ptCount val="2"/>
                <c:pt idx="0">
                  <c:v>Share of Western Europe</c:v>
                </c:pt>
                <c:pt idx="1">
                  <c:v>Share of Global</c:v>
                </c:pt>
              </c:strCache>
            </c:strRef>
          </c:cat>
          <c:val>
            <c:numRef>
              <c:numCache>
                <c:formatCode>General</c:formatCode>
                <c:ptCount val="2"/>
                <c:pt idx="0">
                  <c:v>57.945839754029514</c:v>
                </c:pt>
                <c:pt idx="1">
                  <c:v>97.8868438428297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A5C5DF"/>
              </a:solidFill>
            </c:spPr>
          </c:dPt>
          <c:dPt>
            <c:idx val="5"/>
            <c:spPr>
              <a:solidFill>
                <a:srgbClr val="1F6FB0"/>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    </c:v>
                </c:pt>
                <c:pt idx="4">
                  <c:v>Liquid Helium-3</c:v>
                </c:pt>
                <c:pt idx="5">
                  <c:v>Gaseous Helium-3</c:v>
                </c:pt>
              </c:strCache>
            </c:strRef>
          </c:cat>
          <c:val>
            <c:numRef>
              <c:numCache>
                <c:formatCode>General</c:formatCode>
                <c:ptCount val="6"/>
                <c:pt idx="4">
                  <c:v>80.734</c:v>
                </c:pt>
                <c:pt idx="5">
                  <c:v>149.6</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00.46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9EB0BF"/>
              </a:solidFill>
            </c:spPr>
          </c:dPt>
          <c:dPt>
            <c:idx val="5"/>
            <c:spPr>
              <a:solidFill>
                <a:srgbClr val="0E3A5F"/>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6"/>
                <c:pt idx="0">
                  <c:v> </c:v>
                </c:pt>
                <c:pt idx="1">
                  <c:v>  </c:v>
                </c:pt>
                <c:pt idx="2">
                  <c:v>   </c:v>
                </c:pt>
                <c:pt idx="3">
                  <c:v>    </c:v>
                </c:pt>
                <c:pt idx="4">
                  <c:v>Terrestrial Natural /…</c:v>
                </c:pt>
                <c:pt idx="5">
                  <c:v>Tritium-Decay-Derived…</c:v>
                </c:pt>
              </c:strCache>
            </c:strRef>
          </c:cat>
          <c:val>
            <c:numRef>
              <c:numCache>
                <c:formatCode>General</c:formatCode>
                <c:ptCount val="6"/>
                <c:pt idx="4">
                  <c:v>36.6</c:v>
                </c:pt>
                <c:pt idx="5">
                  <c:v>193.734</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59.60356"/>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FFFFFF"/>
              </a:solidFill>
            </c:spPr>
          </c:dPt>
          <c:dPt>
            <c:idx val="1"/>
            <c:spPr>
              <a:solidFill>
                <a:srgbClr val="FFFFFF"/>
              </a:solidFill>
            </c:spPr>
          </c:dPt>
          <c:dPt>
            <c:idx val="2"/>
            <c:spPr>
              <a:solidFill>
                <a:srgbClr val="C9B8DF"/>
              </a:solidFill>
            </c:spPr>
          </c:dPt>
          <c:dPt>
            <c:idx val="3"/>
            <c:spPr>
              <a:solidFill>
                <a:srgbClr val="AF95CF"/>
              </a:solidFill>
            </c:spPr>
          </c:dPt>
          <c:dPt>
            <c:idx val="4"/>
            <c:spPr>
              <a:solidFill>
                <a:srgbClr val="9472BF"/>
              </a:solidFill>
            </c:spPr>
          </c:dPt>
          <c:dPt>
            <c:idx val="5"/>
            <c:spPr>
              <a:solidFill>
                <a:srgbClr val="7A4FB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6"/>
                <c:pt idx="0">
                  <c:v> </c:v>
                </c:pt>
                <c:pt idx="1">
                  <c:v>  </c:v>
                </c:pt>
                <c:pt idx="2">
                  <c:v>Neutron Detection and…</c:v>
                </c:pt>
                <c:pt idx="3">
                  <c:v>Nuclear Fusion Resear…</c:v>
                </c:pt>
                <c:pt idx="4">
                  <c:v>Cryogenic Refrigerati…</c:v>
                </c:pt>
                <c:pt idx="5">
                  <c:v>Medical and Biomedica…</c:v>
                </c:pt>
              </c:strCache>
            </c:strRef>
          </c:cat>
          <c:val>
            <c:numRef>
              <c:numCache>
                <c:formatCode>General</c:formatCode>
                <c:ptCount val="6"/>
                <c:pt idx="2">
                  <c:v>24.131</c:v>
                </c:pt>
                <c:pt idx="3">
                  <c:v>34.742</c:v>
                </c:pt>
                <c:pt idx="4">
                  <c:v>48.241</c:v>
                </c:pt>
                <c:pt idx="5">
                  <c:v>123.22</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65.114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00A4DC"/>
            </a:solidFill>
            <a:ln>
              <a:noFill/>
            </a:ln>
          </c:spPr>
          <c:dPt>
            <c:idx val="0"/>
            <c:spPr>
              <a:solidFill>
                <a:srgbClr val="BDCAD6"/>
              </a:solidFill>
            </c:spPr>
          </c:dPt>
          <c:dPt>
            <c:idx val="1"/>
            <c:spPr>
              <a:solidFill>
                <a:srgbClr val="A9BAC9"/>
              </a:solidFill>
            </c:spPr>
          </c:dPt>
          <c:dPt>
            <c:idx val="2"/>
            <c:spPr>
              <a:solidFill>
                <a:srgbClr val="96ABBD"/>
              </a:solidFill>
            </c:spPr>
          </c:dPt>
          <c:dPt>
            <c:idx val="3"/>
            <c:spPr>
              <a:solidFill>
                <a:srgbClr val="829BB1"/>
              </a:solidFill>
            </c:spPr>
          </c:dPt>
          <c:dPt>
            <c:idx val="4"/>
            <c:spPr>
              <a:solidFill>
                <a:srgbClr val="6E8BA5"/>
              </a:solidFill>
            </c:spPr>
          </c:dPt>
          <c:dPt>
            <c:idx val="5"/>
            <c:spPr>
              <a:solidFill>
                <a:srgbClr val="5B7C99"/>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6"/>
                <c:pt idx="0">
                  <c:v>Independent Research…</c:v>
                </c:pt>
                <c:pt idx="1">
                  <c:v>Commercial and Indust…</c:v>
                </c:pt>
                <c:pt idx="2">
                  <c:v>Healthcare and Medica…</c:v>
                </c:pt>
                <c:pt idx="3">
                  <c:v>Other End Users</c:v>
                </c:pt>
                <c:pt idx="4">
                  <c:v>Government and Defens…</c:v>
                </c:pt>
                <c:pt idx="5">
                  <c:v>Academic Institutions…</c:v>
                </c:pt>
              </c:strCache>
            </c:strRef>
          </c:cat>
          <c:val>
            <c:numRef>
              <c:numCache>
                <c:formatCode>General</c:formatCode>
                <c:ptCount val="6"/>
                <c:pt idx="0">
                  <c:v>7.181</c:v>
                </c:pt>
                <c:pt idx="1">
                  <c:v>11.147</c:v>
                </c:pt>
                <c:pt idx="2">
                  <c:v>32.212</c:v>
                </c:pt>
                <c:pt idx="3">
                  <c:v>39.08</c:v>
                </c:pt>
                <c:pt idx="4">
                  <c:v>60.95</c:v>
                </c:pt>
                <c:pt idx="5">
                  <c:v>79.764</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06.88376"/>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Gaseous Helium-3</c:v>
                </c:pt>
                <c:pt idx="2">
                  <c:v>Liquid Helium-3</c:v>
                </c:pt>
                <c:pt idx="3">
                  <c:v>2036 Total</c:v>
                </c:pt>
              </c:strCache>
            </c:strRef>
          </c:cat>
          <c:val>
            <c:numRef>
              <c:numCache>
                <c:formatCode>General</c:formatCode>
                <c:ptCount val="4"/>
                <c:pt idx="0">
                  <c:v>0.0</c:v>
                </c:pt>
                <c:pt idx="1">
                  <c:v>230.334</c:v>
                </c:pt>
                <c:pt idx="2">
                  <c:v>383.692</c:v>
                </c:pt>
                <c:pt idx="3">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4"/>
                <c:pt idx="0">
                  <c:v>2026</c:v>
                </c:pt>
                <c:pt idx="1">
                  <c:v>Gaseous Helium-3</c:v>
                </c:pt>
                <c:pt idx="2">
                  <c:v>Liquid Helium-3</c:v>
                </c:pt>
                <c:pt idx="3">
                  <c:v>2036 Total</c:v>
                </c:pt>
              </c:strCache>
            </c:strRef>
          </c:cat>
          <c:val>
            <c:numRef>
              <c:numCache>
                <c:formatCode>General</c:formatCode>
                <c:ptCount val="4"/>
                <c:pt idx="0">
                  <c:v>230.334</c:v>
                </c:pt>
                <c:pt idx="1">
                  <c:v>153.35800000000003</c:v>
                </c:pt>
                <c:pt idx="2">
                  <c:v>50.49900000000001</c:v>
                </c:pt>
                <c:pt idx="3">
                  <c:v>434.19100000000003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Gaseous Helium-3</c:v>
                </c:pt>
                <c:pt idx="1">
                  <c:v>Liquid Helium-3</c:v>
                </c:pt>
                <c:pt idx="2">
                  <c:v>Total Absolute $ Opportunity</c:v>
                </c:pt>
              </c:strCache>
            </c:strRef>
          </c:cat>
          <c:val>
            <c:numRef>
              <c:numCache>
                <c:formatCode>General</c:formatCode>
                <c:ptCount val="3"/>
                <c:pt idx="0">
                  <c:v>0.0</c:v>
                </c:pt>
                <c:pt idx="1">
                  <c:v>153.35800000000003</c:v>
                </c:pt>
                <c:pt idx="2">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3"/>
                <c:pt idx="0">
                  <c:v>Gaseous Helium-3</c:v>
                </c:pt>
                <c:pt idx="1">
                  <c:v>Liquid Helium-3</c:v>
                </c:pt>
                <c:pt idx="2">
                  <c:v>Total Absolute $ Opportunity</c:v>
                </c:pt>
              </c:strCache>
            </c:strRef>
          </c:cat>
          <c:val>
            <c:numRef>
              <c:numCache>
                <c:formatCode>General</c:formatCode>
                <c:ptCount val="3"/>
                <c:pt idx="0">
                  <c:v>153.35800000000003</c:v>
                </c:pt>
                <c:pt idx="1">
                  <c:v>50.49900000000001</c:v>
                </c:pt>
                <c:pt idx="2">
                  <c:v>203.85700000000003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Tritium-Decay-Derived Helium-3</c:v>
                </c:pt>
                <c:pt idx="2">
                  <c:v>Terrestrial Natural / Geological Helium-3</c:v>
                </c:pt>
                <c:pt idx="3">
                  <c:v>2036 Total</c:v>
                </c:pt>
              </c:strCache>
            </c:strRef>
          </c:cat>
          <c:val>
            <c:numRef>
              <c:numCache>
                <c:formatCode>General</c:formatCode>
                <c:ptCount val="4"/>
                <c:pt idx="0">
                  <c:v>0.0</c:v>
                </c:pt>
                <c:pt idx="1">
                  <c:v>230.334</c:v>
                </c:pt>
                <c:pt idx="2">
                  <c:v>403.34799999999996</c:v>
                </c:pt>
                <c:pt idx="3">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4"/>
                <c:pt idx="0">
                  <c:v>2026</c:v>
                </c:pt>
                <c:pt idx="1">
                  <c:v>Tritium-Decay-Derived Helium-3</c:v>
                </c:pt>
                <c:pt idx="2">
                  <c:v>Terrestrial Natural / Geological Helium-3</c:v>
                </c:pt>
                <c:pt idx="3">
                  <c:v>2036 Total</c:v>
                </c:pt>
              </c:strCache>
            </c:strRef>
          </c:cat>
          <c:val>
            <c:numRef>
              <c:numCache>
                <c:formatCode>General</c:formatCode>
                <c:ptCount val="4"/>
                <c:pt idx="0">
                  <c:v>230.334</c:v>
                </c:pt>
                <c:pt idx="1">
                  <c:v>173.01399999999998</c:v>
                </c:pt>
                <c:pt idx="2">
                  <c:v>30.842999999999996</c:v>
                </c:pt>
                <c:pt idx="3">
                  <c:v>434.191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Tritium-Decay-Derived Helium-3</c:v>
                </c:pt>
                <c:pt idx="1">
                  <c:v>Terrestrial Natural / Geological Helium-3</c:v>
                </c:pt>
                <c:pt idx="2">
                  <c:v>Total Absolute $ Opportunity</c:v>
                </c:pt>
              </c:strCache>
            </c:strRef>
          </c:cat>
          <c:val>
            <c:numRef>
              <c:numCache>
                <c:formatCode>General</c:formatCode>
                <c:ptCount val="3"/>
                <c:pt idx="0">
                  <c:v>0.0</c:v>
                </c:pt>
                <c:pt idx="1">
                  <c:v>173.01399999999998</c:v>
                </c:pt>
                <c:pt idx="2">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3"/>
                <c:pt idx="0">
                  <c:v>Tritium-Decay-Derived Helium-3</c:v>
                </c:pt>
                <c:pt idx="1">
                  <c:v>Terrestrial Natural / Geological Helium-3</c:v>
                </c:pt>
                <c:pt idx="2">
                  <c:v>Total Absolute $ Opportunity</c:v>
                </c:pt>
              </c:strCache>
            </c:strRef>
          </c:cat>
          <c:val>
            <c:numRef>
              <c:numCache>
                <c:formatCode>General</c:formatCode>
                <c:ptCount val="3"/>
                <c:pt idx="0">
                  <c:v>173.01399999999998</c:v>
                </c:pt>
                <c:pt idx="1">
                  <c:v>30.842999999999996</c:v>
                </c:pt>
                <c:pt idx="2">
                  <c:v>203.85699999999997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Neutron Detection and Radiation Monitoring</c:v>
                </c:pt>
                <c:pt idx="2">
                  <c:v>Cryogenic Refrigeration and Ultra-Low-Temperature Cooling</c:v>
                </c:pt>
                <c:pt idx="3">
                  <c:v>Medical and Biomedical Imaging</c:v>
                </c:pt>
                <c:pt idx="4">
                  <c:v>Nuclear Fusion Research</c:v>
                </c:pt>
                <c:pt idx="5">
                  <c:v>2036 Total</c:v>
                </c:pt>
              </c:strCache>
            </c:strRef>
          </c:cat>
          <c:val>
            <c:numRef>
              <c:numCache>
                <c:formatCode>General</c:formatCode>
                <c:ptCount val="6"/>
                <c:pt idx="0">
                  <c:v>0.0</c:v>
                </c:pt>
                <c:pt idx="1">
                  <c:v>230.33399999999997</c:v>
                </c:pt>
                <c:pt idx="2">
                  <c:v>266.09499999999997</c:v>
                </c:pt>
                <c:pt idx="3">
                  <c:v>323.68699999999995</c:v>
                </c:pt>
                <c:pt idx="4">
                  <c:v>405.81199999999995</c:v>
                </c:pt>
                <c:pt idx="5">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6"/>
                <c:pt idx="0">
                  <c:v>2026</c:v>
                </c:pt>
                <c:pt idx="1">
                  <c:v>Neutron Detection and Radiation Monitoring</c:v>
                </c:pt>
                <c:pt idx="2">
                  <c:v>Cryogenic Refrigeration and Ultra-Low-Temperature Cooling</c:v>
                </c:pt>
                <c:pt idx="3">
                  <c:v>Medical and Biomedical Imaging</c:v>
                </c:pt>
                <c:pt idx="4">
                  <c:v>Nuclear Fusion Research</c:v>
                </c:pt>
                <c:pt idx="5">
                  <c:v>2036 Total</c:v>
                </c:pt>
              </c:strCache>
            </c:strRef>
          </c:cat>
          <c:val>
            <c:numRef>
              <c:numCache>
                <c:formatCode>General</c:formatCode>
                <c:ptCount val="6"/>
                <c:pt idx="0">
                  <c:v>230.33399999999997</c:v>
                </c:pt>
                <c:pt idx="1">
                  <c:v>35.761</c:v>
                </c:pt>
                <c:pt idx="2">
                  <c:v>57.592</c:v>
                </c:pt>
                <c:pt idx="3">
                  <c:v>82.125</c:v>
                </c:pt>
                <c:pt idx="4">
                  <c:v>28.379000000000005</c:v>
                </c:pt>
                <c:pt idx="5">
                  <c:v>434.191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Neutron Detection and Radiation Monitoring</c:v>
                </c:pt>
                <c:pt idx="1">
                  <c:v>Cryogenic Refrigeration and Ultra-Low-Temperature Cooling</c:v>
                </c:pt>
                <c:pt idx="2">
                  <c:v>Medical and Biomedical Imaging</c:v>
                </c:pt>
                <c:pt idx="3">
                  <c:v>Nuclear Fusion Research</c:v>
                </c:pt>
                <c:pt idx="4">
                  <c:v>Total Absolute $ Opportunity</c:v>
                </c:pt>
              </c:strCache>
            </c:strRef>
          </c:cat>
          <c:val>
            <c:numRef>
              <c:numCache>
                <c:formatCode>General</c:formatCode>
                <c:ptCount val="5"/>
                <c:pt idx="0">
                  <c:v>0.0</c:v>
                </c:pt>
                <c:pt idx="1">
                  <c:v>35.761</c:v>
                </c:pt>
                <c:pt idx="2">
                  <c:v>93.35300000000001</c:v>
                </c:pt>
                <c:pt idx="3">
                  <c:v>175.478</c:v>
                </c:pt>
                <c:pt idx="4">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5"/>
                <c:pt idx="0">
                  <c:v>Neutron Detection and Radiation Monitoring</c:v>
                </c:pt>
                <c:pt idx="1">
                  <c:v>Cryogenic Refrigeration and Ultra-Low-Temperature Cooling</c:v>
                </c:pt>
                <c:pt idx="2">
                  <c:v>Medical and Biomedical Imaging</c:v>
                </c:pt>
                <c:pt idx="3">
                  <c:v>Nuclear Fusion Research</c:v>
                </c:pt>
                <c:pt idx="4">
                  <c:v>Total Absolute $ Opportunity</c:v>
                </c:pt>
              </c:strCache>
            </c:strRef>
          </c:cat>
          <c:val>
            <c:numRef>
              <c:numCache>
                <c:formatCode>General</c:formatCode>
                <c:ptCount val="5"/>
                <c:pt idx="0">
                  <c:v>35.761</c:v>
                </c:pt>
                <c:pt idx="1">
                  <c:v>57.592</c:v>
                </c:pt>
                <c:pt idx="2">
                  <c:v>82.125</c:v>
                </c:pt>
                <c:pt idx="3">
                  <c:v>28.379000000000005</c:v>
                </c:pt>
                <c:pt idx="4">
                  <c:v>203.85700000000003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Government and Defense Agencies</c:v>
                </c:pt>
                <c:pt idx="2">
                  <c:v>Academic Institutions and Universities</c:v>
                </c:pt>
                <c:pt idx="3">
                  <c:v>Independent Research Institutions</c:v>
                </c:pt>
                <c:pt idx="4">
                  <c:v>Healthcare and Medical Research Institutions</c:v>
                </c:pt>
                <c:pt idx="5">
                  <c:v>Commercial and Industrial Enterprises</c:v>
                </c:pt>
                <c:pt idx="6">
                  <c:v>Other End Users</c:v>
                </c:pt>
                <c:pt idx="7">
                  <c:v>2036 Total</c:v>
                </c:pt>
              </c:strCache>
            </c:strRef>
          </c:cat>
          <c:val>
            <c:numRef>
              <c:numCache>
                <c:formatCode>General</c:formatCode>
                <c:ptCount val="8"/>
                <c:pt idx="0">
                  <c:v>0.0</c:v>
                </c:pt>
                <c:pt idx="1">
                  <c:v>230.334</c:v>
                </c:pt>
                <c:pt idx="2">
                  <c:v>292.624</c:v>
                </c:pt>
                <c:pt idx="3">
                  <c:v>358.223</c:v>
                </c:pt>
                <c:pt idx="4">
                  <c:v>364.463</c:v>
                </c:pt>
                <c:pt idx="5">
                  <c:v>389.47400000000005</c:v>
                </c:pt>
                <c:pt idx="6">
                  <c:v>396.28900000000004</c:v>
                </c:pt>
                <c:pt idx="7">
                  <c:v>0.0</c:v>
                </c:pt>
              </c:numCache>
            </c:numRef>
          </c:val>
        </c:ser>
        <c:ser>
          <c:idx val="1"/>
          <c:order val="1"/>
          <c:tx>
            <c:strRef>
              <c:strCache>
                <c:ptCount val="1"/>
                <c:pt idx="0">
                  <c:v>value</c:v>
                </c:pt>
              </c:strCache>
            </c:strRef>
          </c:tx>
          <c:spPr/>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8"/>
                <c:pt idx="0">
                  <c:v>2026</c:v>
                </c:pt>
                <c:pt idx="1">
                  <c:v>Government and Defense Agencies</c:v>
                </c:pt>
                <c:pt idx="2">
                  <c:v>Academic Institutions and Universities</c:v>
                </c:pt>
                <c:pt idx="3">
                  <c:v>Independent Research Institutions</c:v>
                </c:pt>
                <c:pt idx="4">
                  <c:v>Healthcare and Medical Research Institutions</c:v>
                </c:pt>
                <c:pt idx="5">
                  <c:v>Commercial and Industrial Enterprises</c:v>
                </c:pt>
                <c:pt idx="6">
                  <c:v>Other End Users</c:v>
                </c:pt>
                <c:pt idx="7">
                  <c:v>2036 Total</c:v>
                </c:pt>
              </c:strCache>
            </c:strRef>
          </c:cat>
          <c:val>
            <c:numRef>
              <c:numCache>
                <c:formatCode>General</c:formatCode>
                <c:ptCount val="8"/>
                <c:pt idx="0">
                  <c:v>230.334</c:v>
                </c:pt>
                <c:pt idx="1">
                  <c:v>62.28999999999999</c:v>
                </c:pt>
                <c:pt idx="2">
                  <c:v>65.599</c:v>
                </c:pt>
                <c:pt idx="3">
                  <c:v>6.239999999999999</c:v>
                </c:pt>
                <c:pt idx="4">
                  <c:v>25.010999999999996</c:v>
                </c:pt>
                <c:pt idx="5">
                  <c:v>6.8149999999999995</c:v>
                </c:pt>
                <c:pt idx="6">
                  <c:v>37.902</c:v>
                </c:pt>
                <c:pt idx="7">
                  <c:v>434.19100000000003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Government and Defense Agencies</c:v>
                </c:pt>
                <c:pt idx="1">
                  <c:v>Academic Institutions and Universities</c:v>
                </c:pt>
                <c:pt idx="2">
                  <c:v>Independent Research Institutions</c:v>
                </c:pt>
                <c:pt idx="3">
                  <c:v>Healthcare and Medical Research Institutions</c:v>
                </c:pt>
                <c:pt idx="4">
                  <c:v>Commercial and Industrial Enterprises</c:v>
                </c:pt>
                <c:pt idx="5">
                  <c:v>Other End Users</c:v>
                </c:pt>
                <c:pt idx="6">
                  <c:v>Total Absolute $ Opportunity</c:v>
                </c:pt>
              </c:strCache>
            </c:strRef>
          </c:cat>
          <c:val>
            <c:numRef>
              <c:numCache>
                <c:formatCode>General</c:formatCode>
                <c:ptCount val="7"/>
                <c:pt idx="0">
                  <c:v>0.0</c:v>
                </c:pt>
                <c:pt idx="1">
                  <c:v>62.28999999999999</c:v>
                </c:pt>
                <c:pt idx="2">
                  <c:v>127.889</c:v>
                </c:pt>
                <c:pt idx="3">
                  <c:v>134.129</c:v>
                </c:pt>
                <c:pt idx="4">
                  <c:v>159.14</c:v>
                </c:pt>
                <c:pt idx="5">
                  <c:v>165.95499999999998</c:v>
                </c:pt>
                <c:pt idx="6">
                  <c:v>0.0</c:v>
                </c:pt>
              </c:numCache>
            </c:numRef>
          </c:val>
        </c:ser>
        <c:ser>
          <c:idx val="1"/>
          <c:order val="1"/>
          <c:tx>
            <c:strRef>
              <c:strCache>
                <c:ptCount val="1"/>
                <c:pt idx="0">
                  <c:v>value</c:v>
                </c:pt>
              </c:strCache>
            </c:strRef>
          </c:tx>
          <c:spPr/>
          <c:dPt>
            <c:idx val="0"/>
            <c:spPr>
              <a:solidFill>
                <a:srgbClr val="2F6FB0"/>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00A4DC"/>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strCache>
                <c:ptCount val="7"/>
                <c:pt idx="0">
                  <c:v>Government and Defense Agencies</c:v>
                </c:pt>
                <c:pt idx="1">
                  <c:v>Academic Institutions and Universities</c:v>
                </c:pt>
                <c:pt idx="2">
                  <c:v>Independent Research Institutions</c:v>
                </c:pt>
                <c:pt idx="3">
                  <c:v>Healthcare and Medical Research Institutions</c:v>
                </c:pt>
                <c:pt idx="4">
                  <c:v>Commercial and Industrial Enterprises</c:v>
                </c:pt>
                <c:pt idx="5">
                  <c:v>Other End Users</c:v>
                </c:pt>
                <c:pt idx="6">
                  <c:v>Total Absolute $ Opportunity</c:v>
                </c:pt>
              </c:strCache>
            </c:strRef>
          </c:cat>
          <c:val>
            <c:numRef>
              <c:numCache>
                <c:formatCode>General</c:formatCode>
                <c:ptCount val="7"/>
                <c:pt idx="0">
                  <c:v>62.28999999999999</c:v>
                </c:pt>
                <c:pt idx="1">
                  <c:v>65.599</c:v>
                </c:pt>
                <c:pt idx="2">
                  <c:v>6.239999999999999</c:v>
                </c:pt>
                <c:pt idx="3">
                  <c:v>25.010999999999996</c:v>
                </c:pt>
                <c:pt idx="4">
                  <c:v>6.8149999999999995</c:v>
                </c:pt>
                <c:pt idx="5">
                  <c:v>37.902</c:v>
                </c:pt>
                <c:pt idx="6">
                  <c:v>203.85699999999997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Gaseous Helium-3</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4129.0</c:v>
                </c:pt>
                <c:pt idx="1">
                  <c:v>4140.0</c:v>
                </c:pt>
                <c:pt idx="2">
                  <c:v>4155.0</c:v>
                </c:pt>
                <c:pt idx="3">
                  <c:v>4175.0</c:v>
                </c:pt>
                <c:pt idx="4">
                  <c:v>4198.0</c:v>
                </c:pt>
                <c:pt idx="5">
                  <c:v>4224.0</c:v>
                </c:pt>
                <c:pt idx="6">
                  <c:v>4251.0</c:v>
                </c:pt>
                <c:pt idx="7">
                  <c:v>4276.0</c:v>
                </c:pt>
                <c:pt idx="8">
                  <c:v>4298.0</c:v>
                </c:pt>
                <c:pt idx="9">
                  <c:v>4317.0</c:v>
                </c:pt>
                <c:pt idx="10">
                  <c:v>4334.0</c:v>
                </c:pt>
                <c:pt idx="11">
                  <c:v>4348.0</c:v>
                </c:pt>
                <c:pt idx="12">
                  <c:v>4361.0</c:v>
                </c:pt>
                <c:pt idx="13">
                  <c:v>4372.0</c:v>
                </c:pt>
                <c:pt idx="14">
                  <c:v>4383.0</c:v>
                </c:pt>
                <c:pt idx="15">
                  <c:v>4392.0</c:v>
                </c:pt>
              </c:numCache>
            </c:numRef>
          </c:val>
          <c:smooth val="0"/>
        </c:ser>
        <c:ser>
          <c:idx val="1"/>
          <c:order val="1"/>
          <c:tx>
            <c:strRef>
              <c:strCache>
                <c:ptCount val="1"/>
                <c:pt idx="0">
                  <c:v>Liquid Helium-3</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3783.0</c:v>
                </c:pt>
                <c:pt idx="1">
                  <c:v>3802.0</c:v>
                </c:pt>
                <c:pt idx="2">
                  <c:v>3819.0</c:v>
                </c:pt>
                <c:pt idx="3">
                  <c:v>3835.0</c:v>
                </c:pt>
                <c:pt idx="4">
                  <c:v>3849.0</c:v>
                </c:pt>
                <c:pt idx="5">
                  <c:v>3864.0</c:v>
                </c:pt>
                <c:pt idx="6">
                  <c:v>3876.0</c:v>
                </c:pt>
                <c:pt idx="7">
                  <c:v>3890.0</c:v>
                </c:pt>
                <c:pt idx="8">
                  <c:v>3905.0</c:v>
                </c:pt>
                <c:pt idx="9">
                  <c:v>3920.0</c:v>
                </c:pt>
                <c:pt idx="10">
                  <c:v>3935.0</c:v>
                </c:pt>
                <c:pt idx="11">
                  <c:v>3949.0</c:v>
                </c:pt>
                <c:pt idx="12">
                  <c:v>3964.0</c:v>
                </c:pt>
                <c:pt idx="13">
                  <c:v>3979.0</c:v>
                </c:pt>
                <c:pt idx="14">
                  <c:v>3993.0</c:v>
                </c:pt>
                <c:pt idx="15">
                  <c:v>4006.0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4500.0"/>
          <c:min val="3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C55A11"/>
              </a:solidFill>
            </c:spPr>
          </c:dPt>
          <c:cat>
            <c:strRef>
              <c:strCache>
                <c:ptCount val="2"/>
                <c:pt idx="0">
                  <c:v>Liquid Helium-3</c:v>
                </c:pt>
                <c:pt idx="1">
                  <c:v>Gaseous Helium-3</c:v>
                </c:pt>
              </c:strCache>
            </c:strRef>
          </c:cat>
          <c:val>
            <c:numRef>
              <c:numCache>
                <c:formatCode>General</c:formatCode>
                <c:ptCount val="2"/>
                <c:pt idx="0">
                  <c:v>94.2</c:v>
                </c:pt>
                <c:pt idx="1">
                  <c:v>103.0</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05.0"/>
          <c:min val="91.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134.7</c:v>
                </c:pt>
                <c:pt idx="1">
                  <c:v>125.6</c:v>
                </c:pt>
                <c:pt idx="2">
                  <c:v>103.9</c:v>
                </c:pt>
                <c:pt idx="3">
                  <c:v>96.8</c:v>
                </c:pt>
                <c:pt idx="4">
                  <c:v>91.5</c:v>
                </c:pt>
                <c:pt idx="5">
                  <c:v>70.0</c:v>
                </c:pt>
                <c:pt idx="6">
                  <c:v>62.6</c:v>
                </c:pt>
              </c:numCache>
            </c:numRef>
          </c:val>
        </c:ser>
        <c:ser>
          <c:idx val="1"/>
          <c:order val="1"/>
          <c:tx>
            <c:strRef>
              <c:strCache>
                <c:ptCount val="1"/>
                <c:pt idx="0">
                  <c:v>Range</c:v>
                </c:pt>
              </c:strCache>
            </c:strRef>
          </c:tx>
          <c:spPr>
            <a:solidFill>
              <a:srgbClr val="008189"/>
            </a:solidFill>
          </c:spPr>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10.0</c:v>
                </c:pt>
                <c:pt idx="1">
                  <c:v>9.4</c:v>
                </c:pt>
                <c:pt idx="2">
                  <c:v>7.9</c:v>
                </c:pt>
                <c:pt idx="3">
                  <c:v>7.0</c:v>
                </c:pt>
                <c:pt idx="4">
                  <c:v>6.8</c:v>
                </c:pt>
                <c:pt idx="5">
                  <c:v>5.0</c:v>
                </c:pt>
                <c:pt idx="6">
                  <c:v>4.9</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45.0"/>
          <c:min val="6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13.257277768762723</c:v>
                </c:pt>
                <c:pt idx="1">
                  <c:v>11.068290254169384</c:v>
                </c:pt>
                <c:pt idx="2">
                  <c:v>12.589358575079316</c:v>
                </c:pt>
                <c:pt idx="3">
                  <c:v>12.215437450069626</c:v>
                </c:pt>
                <c:pt idx="4">
                  <c:v>8.651701491037262</c:v>
                </c:pt>
                <c:pt idx="5">
                  <c:v>5.225916176548457</c:v>
                </c:pt>
                <c:pt idx="6">
                  <c:v>4.4928995088464045</c:v>
                </c:pt>
                <c:pt idx="7">
                  <c:v>4.585103214436975</c:v>
                </c:pt>
                <c:pt idx="8">
                  <c:v>3.999752878424063</c:v>
                </c:pt>
                <c:pt idx="9">
                  <c:v>2.5965461190797754</c:v>
                </c:pt>
                <c:pt idx="10">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Pt>
            <c:idx val="2"/>
            <c:spPr>
              <a:solidFill>
                <a:srgbClr val="D6CAC4"/>
              </a:solidFill>
            </c:spPr>
          </c:dPt>
          <c:dPt>
            <c:idx val="3"/>
            <c:spPr>
              <a:solidFill>
                <a:srgbClr val="EBC46B"/>
              </a:solidFill>
            </c:spPr>
          </c:dPt>
          <c:dPt>
            <c:idx val="4"/>
            <c:spPr>
              <a:solidFill>
                <a:srgbClr val="EDA28B"/>
              </a:solidFill>
            </c:spPr>
          </c:dPt>
          <c:dPt>
            <c:idx val="5"/>
            <c:spPr>
              <a:solidFill>
                <a:srgbClr val="C4E2F4"/>
              </a:solidFill>
            </c:spPr>
          </c:dPt>
          <c:dPt>
            <c:idx val="6"/>
            <c:spPr>
              <a:solidFill>
                <a:srgbClr val="9AB3C7"/>
              </a:solidFill>
            </c:spPr>
          </c:dPt>
          <c:dPt>
            <c:idx val="7"/>
            <c:spPr>
              <a:solidFill>
                <a:srgbClr val="7D72E5"/>
              </a:solidFill>
            </c:spPr>
          </c:dPt>
          <c:dPt>
            <c:idx val="8"/>
            <c:spPr>
              <a:solidFill>
                <a:srgbClr val="CF72E5"/>
              </a:solidFill>
            </c:spPr>
          </c:dPt>
          <c:dPt>
            <c:idx val="9"/>
            <c:spPr>
              <a:solidFill>
                <a:srgbClr val="E572A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Air Liquide</c:v>
                </c:pt>
                <c:pt idx="1">
                  <c:v>Linde</c:v>
                </c:pt>
                <c:pt idx="2">
                  <c:v>Chemgas</c:v>
                </c:pt>
                <c:pt idx="3">
                  <c:v>Airgas</c:v>
                </c:pt>
                <c:pt idx="4">
                  <c:v>Merck KGaA</c:v>
                </c:pt>
                <c:pt idx="5">
                  <c:v>Eurisotop</c:v>
                </c:pt>
                <c:pt idx="6">
                  <c:v>ISOFLEX USA</c:v>
                </c:pt>
                <c:pt idx="7">
                  <c:v>DWS Specialty Gas</c:v>
                </c:pt>
                <c:pt idx="8">
                  <c:v>Wuhan Baisida Gas</c:v>
                </c:pt>
                <c:pt idx="9">
                  <c:v>Shanghai Wechem Chemical</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4"/>
                <c:pt idx="0">
                  <c:v>Neutron Detection and Radiation Monitoring</c:v>
                </c:pt>
                <c:pt idx="1">
                  <c:v>Cryogenic Refrigeration and Ultra-Low-Temperature Cooling</c:v>
                </c:pt>
                <c:pt idx="2">
                  <c:v>Medical and Biomedical Imaging</c:v>
                </c:pt>
                <c:pt idx="3">
                  <c:v>Nuclear Fusion Research</c:v>
                </c:pt>
              </c:strCache>
            </c:strRef>
          </c:cat>
          <c:val>
            <c:numRef>
              <c:numCache>
                <c:formatCode>General</c:formatCode>
                <c:ptCount val="4"/>
                <c:pt idx="0">
                  <c:v>763.4935546779672</c:v>
                </c:pt>
                <c:pt idx="1">
                  <c:v>424.75852365506705</c:v>
                </c:pt>
                <c:pt idx="2">
                  <c:v>534.6500644677277</c:v>
                </c:pt>
                <c:pt idx="3">
                  <c:v>1010.004449886173</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33.2058738497485"/>
          <c:min val="0.0"/>
        </c:scaling>
        <c:delete val="0"/>
        <c:axPos val="l"/>
        <c:numFmt formatCode="#,##0" sourceLinked="0"/>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7.6015577391522"/>
          <c:min val="0.0"/>
        </c:scaling>
        <c:delete val="0"/>
        <c:axPos val="l"/>
        <c:majorTickMark val="out"/>
        <c:minorTickMark val="none"/>
        <c:tickLblPos val="none"/>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00A4DC"/>
              </a:solidFill>
            </c:spPr>
          </c:dPt>
          <c:dPt>
            <c:idx val="1"/>
            <c:spPr>
              <a:solidFill>
                <a:srgbClr val="6ECFF2"/>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Gaseous Helium-3</c:v>
                </c:pt>
                <c:pt idx="1">
                  <c:v>Liquid Helium-3</c:v>
                </c:pt>
              </c:strCache>
            </c:strRef>
          </c:cat>
          <c:val>
            <c:numRef>
              <c:numCache>
                <c:formatCode>General</c:formatCode>
                <c:ptCount val="2"/>
                <c:pt idx="0">
                  <c:v>1143.3643778168293</c:v>
                </c:pt>
                <c:pt idx="1">
                  <c:v>1589.5422148701055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A9D8E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2768.1758520000003</c:v>
                </c:pt>
                <c:pt idx="1">
                  <c:v>2488.319464247069</c:v>
                </c:pt>
                <c:pt idx="2">
                  <c:v>1818.5074304918792</c:v>
                </c:pt>
                <c:pt idx="3">
                  <c:v>1165.038742407389</c:v>
                </c:pt>
                <c:pt idx="4">
                  <c:v>924.2987374890702</c:v>
                </c:pt>
              </c:numCache>
            </c:numRef>
          </c:val>
        </c:ser>
        <c:ser>
          <c:idx val="1"/>
          <c:order val="1"/>
          <c:tx>
            <c:strRef>
              <c:strCache>
                <c:ptCount val="1"/>
                <c:pt idx="0">
                  <c:v>SOM</c:v>
                </c:pt>
              </c:strCache>
            </c:strRef>
          </c:tx>
          <c:spPr>
            <a:solidFill>
              <a:srgbClr val="00A4DC"/>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43.2650905600003"/>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Global Helium-3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Volume Share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Volume Share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By Product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By Supply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By End User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Western Europe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Western Europe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Western Europe Helium-3 –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Western Europe Helium-3 –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By Product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Product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By Supply Source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Source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By End User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End User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Product Form Segmental</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Product Form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Supply Source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Supply Source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Application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End User Segmental</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Country End User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Company Profiles &amp; Strategic Benchmarking Air Liquide Snapshot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Company Profiles &amp; Strategic Benchmarking Air Liquide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Company Profiles &amp; Strategic Benchmarking Air Liquide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Company Profiles &amp; Strategic Benchmarking Air Liquide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Competitor Company Profiles &amp; Strategic Benchmarking Air Liquide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(1/8)</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(2/8)</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(3/8)</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(4/8)</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(5/8)</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(6/8)</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(7/8)</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Table of Contents  (8/8)</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Figures  (1/5)</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Figures  (2/5)</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Figures  (3/5)</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Figures  (4/5)</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Figures  (5/5)</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Tables  (1/5)</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Tables  (2/5)</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Tables  (3/5)</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Tables  (4/5)</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Helium-3 Market List of Tables  (5/5)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2.jpg"/><Relationship Id="rId3" Type="http://schemas.openxmlformats.org/officeDocument/2006/relationships/image" Target="../media/image613.png"/><Relationship Id="rId4" Type="http://schemas.openxmlformats.org/officeDocument/2006/relationships/image" Target="../media/image6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30.xml"/><Relationship Id="rId9" Type="http://schemas.openxmlformats.org/officeDocument/2006/relationships/slide" Target="slide31.xml"/><Relationship Id="rId10" Type="http://schemas.openxmlformats.org/officeDocument/2006/relationships/slide" Target="slide42.xml"/><Relationship Id="rId11" Type="http://schemas.openxmlformats.org/officeDocument/2006/relationships/slide" Target="slide51.xml"/><Relationship Id="rId12" Type="http://schemas.openxmlformats.org/officeDocument/2006/relationships/slide" Target="slide77.xml"/><Relationship Id="rId13" Type="http://schemas.openxmlformats.org/officeDocument/2006/relationships/slide" Target="slide78.xml"/><Relationship Id="rId14" Type="http://schemas.openxmlformats.org/officeDocument/2006/relationships/slide" Target="slide89.xml"/><Relationship Id="rId15" Type="http://schemas.openxmlformats.org/officeDocument/2006/relationships/slide" Target="slide98.xml"/><Relationship Id="rId16" Type="http://schemas.openxmlformats.org/officeDocument/2006/relationships/slide" Target="slide124.xml"/><Relationship Id="rId17" Type="http://schemas.openxmlformats.org/officeDocument/2006/relationships/slide" Target="slide125.xml"/><Relationship Id="rId18" Type="http://schemas.openxmlformats.org/officeDocument/2006/relationships/slide" Target="slide129.xml"/><Relationship Id="rId19" Type="http://schemas.openxmlformats.org/officeDocument/2006/relationships/slide" Target="slide142.xml"/><Relationship Id="rId20" Type="http://schemas.openxmlformats.org/officeDocument/2006/relationships/slide" Target="slide143.xml"/><Relationship Id="rId21" Type="http://schemas.openxmlformats.org/officeDocument/2006/relationships/slide" Target="slide155.xml"/><Relationship Id="rId22" Type="http://schemas.openxmlformats.org/officeDocument/2006/relationships/slide" Target="slide159.xml"/><Relationship Id="rId23" Type="http://schemas.openxmlformats.org/officeDocument/2006/relationships/slide" Target="slide160.xml"/><Relationship Id="rId24" Type="http://schemas.openxmlformats.org/officeDocument/2006/relationships/slide" Target="slide168.xml"/><Relationship Id="rId25" Type="http://schemas.openxmlformats.org/officeDocument/2006/relationships/slide" Target="slide169.xml"/><Relationship Id="rId26" Type="http://schemas.openxmlformats.org/officeDocument/2006/relationships/slide" Target="slide183.xml"/><Relationship Id="rId27" Type="http://schemas.openxmlformats.org/officeDocument/2006/relationships/slide" Target="slide18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 Id="rId14" Type="http://schemas.openxmlformats.org/officeDocument/2006/relationships/image" Target="../media/image65.png"/><Relationship Id="rId15" Type="http://schemas.openxmlformats.org/officeDocument/2006/relationships/image" Target="../media/image66.png"/><Relationship Id="rId16" Type="http://schemas.openxmlformats.org/officeDocument/2006/relationships/image" Target="../media/image67.png"/><Relationship Id="rId17" Type="http://schemas.openxmlformats.org/officeDocument/2006/relationships/image" Target="../media/image68.png"/><Relationship Id="rId18" Type="http://schemas.openxmlformats.org/officeDocument/2006/relationships/image" Target="../media/image69.png"/><Relationship Id="rId19" Type="http://schemas.openxmlformats.org/officeDocument/2006/relationships/image" Target="../media/image70.png"/><Relationship Id="rId20" Type="http://schemas.openxmlformats.org/officeDocument/2006/relationships/image" Target="../media/image71.png"/><Relationship Id="rId21" Type="http://schemas.openxmlformats.org/officeDocument/2006/relationships/image" Target="../media/image72.png"/><Relationship Id="rId22" Type="http://schemas.openxmlformats.org/officeDocument/2006/relationships/image" Target="../media/image73.png"/><Relationship Id="rId23" Type="http://schemas.openxmlformats.org/officeDocument/2006/relationships/image" Target="../media/image74.png"/><Relationship Id="rId24" Type="http://schemas.openxmlformats.org/officeDocument/2006/relationships/image" Target="../media/image75.png"/><Relationship Id="rId25"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72.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9.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09.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60.png"/><Relationship Id="rId10"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5.xml"/><Relationship Id="rId6"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notesSlide" Target="../notesSlides/notesSlide38.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 Id="rId4" Type="http://schemas.openxmlformats.org/officeDocument/2006/relationships/image" Target="../media/image159.png"/><Relationship Id="rId5" Type="http://schemas.openxmlformats.org/officeDocument/2006/relationships/image" Target="../media/image160.png"/><Relationship Id="rId6" Type="http://schemas.openxmlformats.org/officeDocument/2006/relationships/image" Target="../media/image161.png"/><Relationship Id="rId7" Type="http://schemas.openxmlformats.org/officeDocument/2006/relationships/image" Target="../media/image162.png"/><Relationship Id="rId8" Type="http://schemas.openxmlformats.org/officeDocument/2006/relationships/image" Target="../media/image163.png"/><Relationship Id="rId9" Type="http://schemas.openxmlformats.org/officeDocument/2006/relationships/image" Target="../media/image164.png"/><Relationship Id="rId10" Type="http://schemas.openxmlformats.org/officeDocument/2006/relationships/image" Target="../media/image165.png"/><Relationship Id="rId11" Type="http://schemas.openxmlformats.org/officeDocument/2006/relationships/image" Target="../media/image166.png"/><Relationship Id="rId12" Type="http://schemas.openxmlformats.org/officeDocument/2006/relationships/image" Target="../media/image167.png"/><Relationship Id="rId13" Type="http://schemas.openxmlformats.org/officeDocument/2006/relationships/image" Target="../media/image168.png"/><Relationship Id="rId14" Type="http://schemas.openxmlformats.org/officeDocument/2006/relationships/image" Target="../media/image169.png"/><Relationship Id="rId15" Type="http://schemas.openxmlformats.org/officeDocument/2006/relationships/image" Target="../media/image92.png"/><Relationship Id="rId1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notesSlide" Target="../notesSlides/notesSlide42.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chart" Target="../charts/chart29.xml"/><Relationship Id="rId6" Type="http://schemas.openxmlformats.org/officeDocument/2006/relationships/chart" Target="../charts/chart30.xml"/><Relationship Id="rId7" Type="http://schemas.openxmlformats.org/officeDocument/2006/relationships/notesSlide" Target="../notesSlides/notesSlide43.xml"/><Relationship Id="rId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notesSlide" Target="../notesSlides/notesSlide47.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 Id="rId4" Type="http://schemas.openxmlformats.org/officeDocument/2006/relationships/image" Target="../media/image209.png"/><Relationship Id="rId5" Type="http://schemas.openxmlformats.org/officeDocument/2006/relationships/image" Target="../media/image210.png"/><Relationship Id="rId6" Type="http://schemas.openxmlformats.org/officeDocument/2006/relationships/image" Target="../media/image92.png"/><Relationship Id="rId7" Type="http://schemas.openxmlformats.org/officeDocument/2006/relationships/image" Target="../media/image211.png"/><Relationship Id="rId8" Type="http://schemas.openxmlformats.org/officeDocument/2006/relationships/image" Target="../media/image212.png"/><Relationship Id="rId9" Type="http://schemas.openxmlformats.org/officeDocument/2006/relationships/image" Target="../media/image72.png"/><Relationship Id="rId10" Type="http://schemas.openxmlformats.org/officeDocument/2006/relationships/image" Target="../media/image213.png"/><Relationship Id="rId11" Type="http://schemas.openxmlformats.org/officeDocument/2006/relationships/image" Target="../media/image214.png"/><Relationship Id="rId12" Type="http://schemas.openxmlformats.org/officeDocument/2006/relationships/image" Target="../media/image215.png"/><Relationship Id="rId13" Type="http://schemas.openxmlformats.org/officeDocument/2006/relationships/image" Target="../media/image216.png"/><Relationship Id="rId14" Type="http://schemas.openxmlformats.org/officeDocument/2006/relationships/image" Target="../media/image217.png"/><Relationship Id="rId15" Type="http://schemas.openxmlformats.org/officeDocument/2006/relationships/image" Target="../media/image218.png"/><Relationship Id="rId16" Type="http://schemas.openxmlformats.org/officeDocument/2006/relationships/image" Target="../media/image219.png"/><Relationship Id="rId17" Type="http://schemas.openxmlformats.org/officeDocument/2006/relationships/image" Target="../media/image220.png"/><Relationship Id="rId18" Type="http://schemas.openxmlformats.org/officeDocument/2006/relationships/image" Target="../media/image221.png"/><Relationship Id="rId19" Type="http://schemas.openxmlformats.org/officeDocument/2006/relationships/image" Target="../media/image222.png"/><Relationship Id="rId20" Type="http://schemas.openxmlformats.org/officeDocument/2006/relationships/image" Target="../media/image223.png"/><Relationship Id="rId21" Type="http://schemas.openxmlformats.org/officeDocument/2006/relationships/image" Target="../media/image109.png"/><Relationship Id="rId2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notesSlide" Target="../notesSlides/notesSlide51.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chart" Target="../charts/chart36.xml"/><Relationship Id="rId6" Type="http://schemas.openxmlformats.org/officeDocument/2006/relationships/chart" Target="../charts/chart37.xml"/><Relationship Id="rId7" Type="http://schemas.openxmlformats.org/officeDocument/2006/relationships/notesSlide" Target="../notesSlides/notesSlide52.xml"/><Relationship Id="rId8"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notesSlide" Target="../notesSlides/notesSlide53.xml"/><Relationship Id="rId6"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notesSlide" Target="../notesSlides/notesSlide58.xml"/><Relationship Id="rId5"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chart" Target="../charts/chart42.xml"/><Relationship Id="rId5" Type="http://schemas.openxmlformats.org/officeDocument/2006/relationships/notesSlide" Target="../notesSlides/notesSlide62.xml"/><Relationship Id="rId6"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xml"/><Relationship Id="rId4" Type="http://schemas.openxmlformats.org/officeDocument/2006/relationships/chart" Target="../charts/chart44.xml"/><Relationship Id="rId5" Type="http://schemas.openxmlformats.org/officeDocument/2006/relationships/notesSlide" Target="../notesSlides/notesSlide64.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notesSlide" Target="../notesSlides/notesSlide65.xml"/><Relationship Id="rId6"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notesSlide" Target="../notesSlides/notesSlide66.xml"/><Relationship Id="rId6"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notesSlide" Target="../notesSlides/notesSlide69.xml"/><Relationship Id="rId5"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notesSlide" Target="../notesSlides/notesSlide71.xml"/><Relationship Id="rId5"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74.xml"/><Relationship Id="rId5"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75.xml"/><Relationship Id="rId5"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chart" Target="../charts/chart54.xml"/><Relationship Id="rId5" Type="http://schemas.openxmlformats.org/officeDocument/2006/relationships/notesSlide" Target="../notesSlides/notesSlide78.xml"/><Relationship Id="rId6"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350.png"/><Relationship Id="rId5" Type="http://schemas.openxmlformats.org/officeDocument/2006/relationships/image" Target="../media/image319.png"/><Relationship Id="rId6" Type="http://schemas.openxmlformats.org/officeDocument/2006/relationships/image" Target="../media/image164.png"/><Relationship Id="rId7" Type="http://schemas.openxmlformats.org/officeDocument/2006/relationships/image" Target="../media/image351.png"/><Relationship Id="rId8" Type="http://schemas.openxmlformats.org/officeDocument/2006/relationships/image" Target="../media/image320.png"/><Relationship Id="rId9" Type="http://schemas.openxmlformats.org/officeDocument/2006/relationships/image" Target="../media/image352.png"/><Relationship Id="rId10"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notesSlide" Target="../notesSlides/notesSlide81.xml"/><Relationship Id="rId6"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chart" Target="../charts/chart58.xml"/><Relationship Id="rId5" Type="http://schemas.openxmlformats.org/officeDocument/2006/relationships/notesSlide" Target="../notesSlides/notesSlide82.xml"/><Relationship Id="rId6"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notesSlide" Target="../notesSlides/notesSlide85.xml"/><Relationship Id="rId5"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375.png"/><Relationship Id="rId5" Type="http://schemas.openxmlformats.org/officeDocument/2006/relationships/image" Target="../media/image376.png"/><Relationship Id="rId6" Type="http://schemas.openxmlformats.org/officeDocument/2006/relationships/image" Target="../media/image75.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215.png"/><Relationship Id="rId10"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notesSlide" Target="../notesSlides/notesSlide89.xml"/><Relationship Id="rId6"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chart" Target="../charts/chart63.xml"/><Relationship Id="rId5" Type="http://schemas.openxmlformats.org/officeDocument/2006/relationships/notesSlide" Target="../notesSlides/notesSlide90.xml"/><Relationship Id="rId6"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93.xml"/><Relationship Id="rId5"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image" Target="../media/image401.png"/><Relationship Id="rId5" Type="http://schemas.openxmlformats.org/officeDocument/2006/relationships/image" Target="../media/image402.png"/><Relationship Id="rId6" Type="http://schemas.openxmlformats.org/officeDocument/2006/relationships/image" Target="../media/image403.png"/><Relationship Id="rId7" Type="http://schemas.openxmlformats.org/officeDocument/2006/relationships/image" Target="../media/image404.png"/><Relationship Id="rId8" Type="http://schemas.openxmlformats.org/officeDocument/2006/relationships/image" Target="../media/image405.png"/><Relationship Id="rId9" Type="http://schemas.openxmlformats.org/officeDocument/2006/relationships/image" Target="../media/image406.png"/><Relationship Id="rId10" Type="http://schemas.openxmlformats.org/officeDocument/2006/relationships/image" Target="../media/image407.png"/><Relationship Id="rId11" Type="http://schemas.openxmlformats.org/officeDocument/2006/relationships/image" Target="../media/image408.png"/><Relationship Id="rId12" Type="http://schemas.openxmlformats.org/officeDocument/2006/relationships/image" Target="../media/image409.png"/><Relationship Id="rId13" Type="http://schemas.openxmlformats.org/officeDocument/2006/relationships/image" Target="../media/image410.png"/><Relationship Id="rId14" Type="http://schemas.openxmlformats.org/officeDocument/2006/relationships/image" Target="../media/image411.png"/><Relationship Id="rId15" Type="http://schemas.openxmlformats.org/officeDocument/2006/relationships/image" Target="../media/image412.png"/><Relationship Id="rId1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chart" Target="../charts/chart66.xml"/><Relationship Id="rId5" Type="http://schemas.openxmlformats.org/officeDocument/2006/relationships/notesSlide" Target="../notesSlides/notesSlide97.xml"/><Relationship Id="rId6"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chart" Target="../charts/chart69.xml"/><Relationship Id="rId6" Type="http://schemas.openxmlformats.org/officeDocument/2006/relationships/chart" Target="../charts/chart70.xml"/><Relationship Id="rId7" Type="http://schemas.openxmlformats.org/officeDocument/2006/relationships/notesSlide" Target="../notesSlides/notesSlide98.xml"/><Relationship Id="rId8"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notesSlide" Target="../notesSlides/notesSlide101.xml"/><Relationship Id="rId5"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456.png"/><Relationship Id="rId5" Type="http://schemas.openxmlformats.org/officeDocument/2006/relationships/image" Target="../media/image457.png"/><Relationship Id="rId6" Type="http://schemas.openxmlformats.org/officeDocument/2006/relationships/image" Target="../media/image458.png"/><Relationship Id="rId7" Type="http://schemas.openxmlformats.org/officeDocument/2006/relationships/image" Target="../media/image459.png"/><Relationship Id="rId8" Type="http://schemas.openxmlformats.org/officeDocument/2006/relationships/image" Target="../media/image460.png"/><Relationship Id="rId9" Type="http://schemas.openxmlformats.org/officeDocument/2006/relationships/image" Target="../media/image461.png"/><Relationship Id="rId10" Type="http://schemas.openxmlformats.org/officeDocument/2006/relationships/image" Target="../media/image462.png"/><Relationship Id="rId11" Type="http://schemas.openxmlformats.org/officeDocument/2006/relationships/image" Target="../media/image463.png"/><Relationship Id="rId12" Type="http://schemas.openxmlformats.org/officeDocument/2006/relationships/image" Target="../media/image66.png"/><Relationship Id="rId13" Type="http://schemas.openxmlformats.org/officeDocument/2006/relationships/image" Target="../media/image464.png"/><Relationship Id="rId14" Type="http://schemas.openxmlformats.org/officeDocument/2006/relationships/image" Target="../media/image465.png"/><Relationship Id="rId15" Type="http://schemas.openxmlformats.org/officeDocument/2006/relationships/image" Target="../media/image109.png"/><Relationship Id="rId16" Type="http://schemas.openxmlformats.org/officeDocument/2006/relationships/image" Target="../media/image79.png"/><Relationship Id="rId17" Type="http://schemas.openxmlformats.org/officeDocument/2006/relationships/image" Target="../media/image466.png"/><Relationship Id="rId18" Type="http://schemas.openxmlformats.org/officeDocument/2006/relationships/image" Target="../media/image352.png"/><Relationship Id="rId19" Type="http://schemas.openxmlformats.org/officeDocument/2006/relationships/image" Target="../media/image323.png"/><Relationship Id="rId20" Type="http://schemas.openxmlformats.org/officeDocument/2006/relationships/image" Target="../media/image467.png"/><Relationship Id="rId21" Type="http://schemas.openxmlformats.org/officeDocument/2006/relationships/image" Target="../media/image215.png"/><Relationship Id="rId22"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notesSlide" Target="../notesSlides/notesSlide105.xml"/><Relationship Id="rId6"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chart" Target="../charts/chart76.xml"/><Relationship Id="rId6" Type="http://schemas.openxmlformats.org/officeDocument/2006/relationships/chart" Target="../charts/chart77.xml"/><Relationship Id="rId7" Type="http://schemas.openxmlformats.org/officeDocument/2006/relationships/notesSlide" Target="../notesSlides/notesSlide106.xml"/><Relationship Id="rId8"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notesSlide" Target="../notesSlides/notesSlide107.xml"/><Relationship Id="rId6"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notesSlide" Target="../notesSlides/notesSlide110.xml"/><Relationship Id="rId5"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chart" Target="../charts/chart83.xml"/><Relationship Id="rId6" Type="http://schemas.openxmlformats.org/officeDocument/2006/relationships/chart" Target="../charts/chart84.xml"/><Relationship Id="rId7" Type="http://schemas.openxmlformats.org/officeDocument/2006/relationships/notesSlide" Target="../notesSlides/notesSlide114.xml"/><Relationship Id="rId8"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chart" Target="../charts/chart86.xml"/><Relationship Id="rId5" Type="http://schemas.openxmlformats.org/officeDocument/2006/relationships/chart" Target="../charts/chart87.xml"/><Relationship Id="rId6" Type="http://schemas.openxmlformats.org/officeDocument/2006/relationships/chart" Target="../charts/chart88.xml"/><Relationship Id="rId7" Type="http://schemas.openxmlformats.org/officeDocument/2006/relationships/notesSlide" Target="../notesSlides/notesSlide115.xml"/><Relationship Id="rId8"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chart" Target="../charts/chart90.xml"/><Relationship Id="rId5" Type="http://schemas.openxmlformats.org/officeDocument/2006/relationships/chart" Target="../charts/chart91.xml"/><Relationship Id="rId6" Type="http://schemas.openxmlformats.org/officeDocument/2006/relationships/chart" Target="../charts/chart92.xml"/><Relationship Id="rId7" Type="http://schemas.openxmlformats.org/officeDocument/2006/relationships/notesSlide" Target="../notesSlides/notesSlide116.xml"/><Relationship Id="rId8"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notesSlide" Target="../notesSlides/notesSlide117.xml"/><Relationship Id="rId6"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notesSlide" Target="../notesSlides/notesSlide120.xml"/><Relationship Id="rId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chart" Target="../charts/chart98.xml"/><Relationship Id="rId5" Type="http://schemas.openxmlformats.org/officeDocument/2006/relationships/notesSlide" Target="../notesSlides/notesSlide123.xml"/><Relationship Id="rId6"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notesSlide" Target="../notesSlides/notesSlide126.xml"/><Relationship Id="rId6"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notesSlide" Target="../notesSlides/notesSlide131.xml"/><Relationship Id="rId6"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xml"/><Relationship Id="rId4" Type="http://schemas.openxmlformats.org/officeDocument/2006/relationships/notesSlide" Target="../notesSlides/notesSlide132.xml"/><Relationship Id="rId5"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 Id="rId4"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 Id="rId4"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 Id="rId4"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notesSlide" Target="../notesSlides/notesSlide167.xml"/><Relationship Id="rId5"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chart" Target="../charts/chart106.xml"/><Relationship Id="rId5" Type="http://schemas.openxmlformats.org/officeDocument/2006/relationships/notesSlide" Target="../notesSlides/notesSlide168.xml"/><Relationship Id="rId6"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chart" Target="../charts/chart109.xml"/><Relationship Id="rId6" Type="http://schemas.openxmlformats.org/officeDocument/2006/relationships/notesSlide" Target="../notesSlides/notesSlide169.xml"/><Relationship Id="rId7"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chart" Target="../charts/chart111.xml"/><Relationship Id="rId5" Type="http://schemas.openxmlformats.org/officeDocument/2006/relationships/chart" Target="../charts/chart112.xml"/><Relationship Id="rId6" Type="http://schemas.openxmlformats.org/officeDocument/2006/relationships/notesSlide" Target="../notesSlides/notesSlide171.xml"/><Relationship Id="rId7"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notesSlide" Target="../notesSlides/notesSlide172.xml"/><Relationship Id="rId5"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2.jpg"/><Relationship Id="rId3" Type="http://schemas.openxmlformats.org/officeDocument/2006/relationships/image" Target="../media/image615.jpg"/><Relationship Id="rId4" Type="http://schemas.openxmlformats.org/officeDocument/2006/relationships/image" Target="../media/image616.png"/><Relationship Id="rId5" Type="http://schemas.openxmlformats.org/officeDocument/2006/relationships/image" Target="../media/image617.png"/><Relationship Id="rId6" Type="http://schemas.openxmlformats.org/officeDocument/2006/relationships/image" Target="../media/image618.png"/><Relationship Id="rId7" Type="http://schemas.openxmlformats.org/officeDocument/2006/relationships/image" Target="../media/image619.png"/><Relationship Id="rId8" Type="http://schemas.openxmlformats.org/officeDocument/2006/relationships/image" Target="../media/image620.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2.jpg"/><Relationship Id="rId3" Type="http://schemas.openxmlformats.org/officeDocument/2006/relationships/image" Target="../media/image62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1">
            <a:extLst>
              <a:ext uri="{FF2B5EF4-FFF2-40B4-BE49-F238E27FC236}">
                <a16:creationId xmlns:a16="http://schemas.microsoft.com/office/drawing/2014/main" id="{55F53C7E-56C6-0F7B-0EF0-5B8F37D19E78}"/>
              </a:ext>
            </a:extLst>
          </p:cNvPr>
          <p:cNvSpPr/>
          <p:nvPr userDrawn="1"/>
        </p:nvSpPr>
        <p:spPr>
          <a:xfrm>
            <a:off x="-441466" y="-305555"/>
            <a:ext cx="13274958" cy="7469109"/>
          </a:xfrm>
          <a:prstGeom prst="rect">
            <a:avLst/>
          </a:prstGeom>
          <a:solidFill>
            <a:srgbClr val="FFFFFF"/>
          </a:solidFill>
          <a:ln>
            <a:noFill/>
          </a:ln>
        </p:spPr>
        <p:style>
          <a:lnRef idx="2">
            <a:srgbClr val="92278F">
              <a:shade val="15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4">
            <a:extLst>
              <a:ext uri="{FF2B5EF4-FFF2-40B4-BE49-F238E27FC236}">
                <a16:creationId xmlns:a16="http://schemas.microsoft.com/office/drawing/2014/main" id="{940A6342-3830-1E2E-1724-6D3D7768626F}"/>
              </a:ext>
            </a:extLst>
          </p:cNvPr>
          <p:cNvPicPr/>
          <p:nvPr userDrawn="1"/>
        </p:nvPicPr>
        <p:blipFill>
          <a:blip r:embed="rId3" cstate="email">
            <a:extLst>
              <a:ext uri="{28A0092B-C50C-407E-A947-70E740481C1C}">
                <a14:useLocalDpi xmlns:a14="http://schemas.microsoft.com/office/drawing/2010/main"/>
              </a:ext>
            </a:extLst>
          </a:blip>
          <a:stretch>
            <a:fillRect/>
          </a:stretch>
        </p:blipFill>
        <p:spPr>
          <a:xfrm>
            <a:off x="9887447" y="276521"/>
            <a:ext cx="1991485" cy="498500"/>
          </a:xfrm>
          <a:prstGeom prst="rect">
            <a:avLst/>
          </a:prstGeom>
          <a:effectLst>
            <a:outerShdw blurRad="63500" sx="102000" sy="102000" algn="ctr" rotWithShape="0">
              <a:prstClr val="black">
                <a:alpha val="40000"/>
              </a:prstClr>
            </a:outerShdw>
          </a:effectLst>
        </p:spPr>
      </p:pic>
      <p:grpSp>
        <p:nvGrpSpPr>
          <p:cNvPr id="29" name="Group 29">
            <a:extLst>
              <a:ext uri="{FF2B5EF4-FFF2-40B4-BE49-F238E27FC236}">
                <a16:creationId xmlns:a16="http://schemas.microsoft.com/office/drawing/2014/main" id="{D5C8EA58-0CBB-BB7A-EFA8-69EB33BEFCE1}"/>
              </a:ext>
            </a:extLst>
          </p:cNvPr>
          <p:cNvGrpSpPr/>
          <p:nvPr userDrawn="1"/>
        </p:nvGrpSpPr>
        <p:grpSpPr>
          <a:xfrm>
            <a:off x="-2267497" y="-431245"/>
            <a:ext cx="7003897" cy="7821407"/>
            <a:chOff x="-2144946" y="-431245"/>
            <a:chExt cx="7003897" cy="7821407"/>
          </a:xfrm>
          <a:blipFill dpi="0" rotWithShape="1">
            <a:blip r:embed="rId4"/>
            <a:srcRect/>
            <a:stretch>
              <a:fillRect l="-75000" r="-33000"/>
            </a:stretch>
          </a:blipFill>
        </p:grpSpPr>
        <p:sp>
          <p:nvSpPr>
            <p:cNvPr id="30" name="Free-form: Shape 25">
              <a:extLst>
                <a:ext uri="{FF2B5EF4-FFF2-40B4-BE49-F238E27FC236}">
                  <a16:creationId xmlns:a16="http://schemas.microsoft.com/office/drawing/2014/main" id="{D25E30EA-85F9-3626-40A9-4C5EB97C8212}"/>
                </a:ext>
              </a:extLst>
            </p:cNvPr>
            <p:cNvSpPr/>
            <p:nvPr userDrawn="1"/>
          </p:nvSpPr>
          <p:spPr>
            <a:xfrm rot="19729671">
              <a:off x="1145403" y="-431242"/>
              <a:ext cx="3713548" cy="7729997"/>
            </a:xfrm>
            <a:custGeom>
              <a:avLst/>
              <a:gdLst>
                <a:gd name="connsiteX0" fmla="*/ 2692070 w 3713548"/>
                <a:gd name="connsiteY0" fmla="*/ 0 h 7729997"/>
                <a:gd name="connsiteX1" fmla="*/ 3713548 w 3713548"/>
                <a:gd name="connsiteY1" fmla="*/ 617951 h 7729997"/>
                <a:gd name="connsiteX2" fmla="*/ 3713548 w 3713548"/>
                <a:gd name="connsiteY2" fmla="*/ 6829513 h 7729997"/>
                <a:gd name="connsiteX3" fmla="*/ 3706238 w 3713548"/>
                <a:gd name="connsiteY3" fmla="*/ 6829513 h 7729997"/>
                <a:gd name="connsiteX4" fmla="*/ 3708841 w 3713548"/>
                <a:gd name="connsiteY4" fmla="*/ 6837294 h 7729997"/>
                <a:gd name="connsiteX5" fmla="*/ 1039864 w 3713548"/>
                <a:gd name="connsiteY5" fmla="*/ 7729997 h 7729997"/>
                <a:gd name="connsiteX6" fmla="*/ 0 w 3713548"/>
                <a:gd name="connsiteY6" fmla="*/ 7100924 h 7729997"/>
                <a:gd name="connsiteX7" fmla="*/ 2692070 w 3713548"/>
                <a:gd name="connsiteY7" fmla="*/ 6200497 h 772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8" h="7729997">
                  <a:moveTo>
                    <a:pt x="2692070" y="0"/>
                  </a:moveTo>
                  <a:lnTo>
                    <a:pt x="3713548" y="617951"/>
                  </a:lnTo>
                  <a:lnTo>
                    <a:pt x="3713548" y="6829513"/>
                  </a:lnTo>
                  <a:lnTo>
                    <a:pt x="3706238" y="6829513"/>
                  </a:lnTo>
                  <a:lnTo>
                    <a:pt x="3708841" y="6837294"/>
                  </a:lnTo>
                  <a:lnTo>
                    <a:pt x="1039864" y="7729997"/>
                  </a:lnTo>
                  <a:lnTo>
                    <a:pt x="0" y="7100924"/>
                  </a:lnTo>
                  <a:lnTo>
                    <a:pt x="2692070" y="6200497"/>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sp>
          <p:nvSpPr>
            <p:cNvPr id="31" name="Free-form: Shape 27">
              <a:extLst>
                <a:ext uri="{FF2B5EF4-FFF2-40B4-BE49-F238E27FC236}">
                  <a16:creationId xmlns:a16="http://schemas.microsoft.com/office/drawing/2014/main" id="{411A5C5C-B5BE-309D-6D6D-46909D3518D5}"/>
                </a:ext>
              </a:extLst>
            </p:cNvPr>
            <p:cNvSpPr/>
            <p:nvPr userDrawn="1"/>
          </p:nvSpPr>
          <p:spPr>
            <a:xfrm rot="19729671">
              <a:off x="-334175" y="-431245"/>
              <a:ext cx="3713547" cy="7730002"/>
            </a:xfrm>
            <a:custGeom>
              <a:avLst/>
              <a:gdLst>
                <a:gd name="connsiteX0" fmla="*/ 2692069 w 3713547"/>
                <a:gd name="connsiteY0" fmla="*/ 0 h 7730002"/>
                <a:gd name="connsiteX1" fmla="*/ 3713547 w 3713547"/>
                <a:gd name="connsiteY1" fmla="*/ 617951 h 7730002"/>
                <a:gd name="connsiteX2" fmla="*/ 3713547 w 3713547"/>
                <a:gd name="connsiteY2" fmla="*/ 6829519 h 7730002"/>
                <a:gd name="connsiteX3" fmla="*/ 3706237 w 3713547"/>
                <a:gd name="connsiteY3" fmla="*/ 6829519 h 7730002"/>
                <a:gd name="connsiteX4" fmla="*/ 3708840 w 3713547"/>
                <a:gd name="connsiteY4" fmla="*/ 6837300 h 7730002"/>
                <a:gd name="connsiteX5" fmla="*/ 1039864 w 3713547"/>
                <a:gd name="connsiteY5" fmla="*/ 7730002 h 7730002"/>
                <a:gd name="connsiteX6" fmla="*/ 0 w 3713547"/>
                <a:gd name="connsiteY6" fmla="*/ 7100929 h 7730002"/>
                <a:gd name="connsiteX7" fmla="*/ 2692069 w 3713547"/>
                <a:gd name="connsiteY7" fmla="*/ 6200503 h 773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3547" h="7730002">
                  <a:moveTo>
                    <a:pt x="2692069" y="0"/>
                  </a:moveTo>
                  <a:lnTo>
                    <a:pt x="3713547" y="617951"/>
                  </a:lnTo>
                  <a:lnTo>
                    <a:pt x="3713547" y="6829519"/>
                  </a:lnTo>
                  <a:lnTo>
                    <a:pt x="3706237" y="6829519"/>
                  </a:lnTo>
                  <a:lnTo>
                    <a:pt x="3708840" y="6837300"/>
                  </a:lnTo>
                  <a:lnTo>
                    <a:pt x="1039864" y="7730002"/>
                  </a:lnTo>
                  <a:lnTo>
                    <a:pt x="0" y="7100929"/>
                  </a:lnTo>
                  <a:lnTo>
                    <a:pt x="2692069" y="6200503"/>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sp>
          <p:nvSpPr>
            <p:cNvPr id="32" name="Free-form: Shape 28">
              <a:extLst>
                <a:ext uri="{FF2B5EF4-FFF2-40B4-BE49-F238E27FC236}">
                  <a16:creationId xmlns:a16="http://schemas.microsoft.com/office/drawing/2014/main" id="{83B63AAB-2135-DDBB-A5A0-2D3342DB8BE0}"/>
                </a:ext>
              </a:extLst>
            </p:cNvPr>
            <p:cNvSpPr/>
            <p:nvPr userDrawn="1"/>
          </p:nvSpPr>
          <p:spPr>
            <a:xfrm rot="3539777">
              <a:off x="-3712637" y="1682414"/>
              <a:ext cx="7275439" cy="4140057"/>
            </a:xfrm>
            <a:custGeom>
              <a:avLst/>
              <a:gdLst>
                <a:gd name="connsiteX0" fmla="*/ 0 w 7275439"/>
                <a:gd name="connsiteY0" fmla="*/ 311590 h 4140057"/>
                <a:gd name="connsiteX1" fmla="*/ 187250 w 7275439"/>
                <a:gd name="connsiteY1" fmla="*/ 0 h 4140057"/>
                <a:gd name="connsiteX2" fmla="*/ 6370703 w 7275439"/>
                <a:gd name="connsiteY2" fmla="*/ 0 h 4140057"/>
                <a:gd name="connsiteX3" fmla="*/ 6370703 w 7275439"/>
                <a:gd name="connsiteY3" fmla="*/ 10427 h 4140057"/>
                <a:gd name="connsiteX4" fmla="*/ 6381792 w 7275439"/>
                <a:gd name="connsiteY4" fmla="*/ 6663 h 4140057"/>
                <a:gd name="connsiteX5" fmla="*/ 7275439 w 7275439"/>
                <a:gd name="connsiteY5" fmla="*/ 2639049 h 4140057"/>
                <a:gd name="connsiteX6" fmla="*/ 6679803 w 7275439"/>
                <a:gd name="connsiteY6" fmla="*/ 3630209 h 4140057"/>
                <a:gd name="connsiteX7" fmla="*/ 6370703 w 7275439"/>
                <a:gd name="connsiteY7" fmla="*/ 3735143 h 4140057"/>
                <a:gd name="connsiteX8" fmla="*/ 6370703 w 7275439"/>
                <a:gd name="connsiteY8" fmla="*/ 4140057 h 41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75439" h="4140057">
                  <a:moveTo>
                    <a:pt x="0" y="311590"/>
                  </a:moveTo>
                  <a:lnTo>
                    <a:pt x="187250" y="0"/>
                  </a:lnTo>
                  <a:lnTo>
                    <a:pt x="6370703" y="0"/>
                  </a:lnTo>
                  <a:lnTo>
                    <a:pt x="6370703" y="10427"/>
                  </a:lnTo>
                  <a:lnTo>
                    <a:pt x="6381792" y="6663"/>
                  </a:lnTo>
                  <a:lnTo>
                    <a:pt x="7275439" y="2639049"/>
                  </a:lnTo>
                  <a:lnTo>
                    <a:pt x="6679803" y="3630209"/>
                  </a:lnTo>
                  <a:lnTo>
                    <a:pt x="6370703" y="3735143"/>
                  </a:lnTo>
                  <a:lnTo>
                    <a:pt x="6370703" y="4140057"/>
                  </a:lnTo>
                  <a:close/>
                </a:path>
              </a:pathLst>
            </a:custGeom>
            <a:grpFill/>
            <a:ln>
              <a:noFill/>
            </a:ln>
          </p:spPr>
          <p:style>
            <a:lnRef idx="2">
              <a:srgbClr val="92278F">
                <a:shade val="15000"/>
              </a:srgbClr>
            </a:lnRef>
            <a:fillRef idx="1">
              <a:srgbClr val="92278F"/>
            </a:fillRef>
            <a:effectRef idx="0">
              <a:srgbClr val="92278F"/>
            </a:effectRef>
            <a:fontRef idx="minor">
              <a:srgbClr val="FFFFFF"/>
            </a:fontRef>
          </p:style>
          <p:txBody>
            <a:bodyPr wrap="square" rtlCol="0" anchor="ctr">
              <a:noAutofit/>
            </a:bodyPr>
            <a:lstStyle/>
            <a:p>
              <a:pPr algn="ctr"/>
              <a:endParaRPr lang="en-IN"/>
            </a:p>
          </p:txBody>
        </p:sp>
      </p:grpSp>
      <p:sp>
        <p:nvSpPr>
          <p:cNvPr id="33" name="Text Placeholder 7"/>
          <p:cNvSpPr>
            <a:spLocks noGrp="1"/>
          </p:cNvSpPr>
          <p:nvPr/>
        </p:nvSpPr>
        <p:spPr>
          <a:xfrm>
            <a:off x="5949415" y="1693544"/>
            <a:ext cx="6028353" cy="1135380"/>
          </a:xfrm>
        </p:spPr>
        <p:txBody>
          <a:bodyPr lIns="0" anchor="b"/>
          <a:lstStyle>
            <a:lvl1pPr marL="0" indent="0">
              <a:buNone/>
              <a:defRPr sz="3600" b="1">
                <a:solidFill>
                  <a:srgbClr val="002060"/>
                </a:solidFill>
              </a:defRPr>
            </a:lvl1pPr>
          </a:lstStyle>
          <a:p>
            <a:r>
              <a:rPr lang="en-US" sz="2800" dirty="0" b="1">
                <a:latin typeface="Aptos Display" panose="020B0004020202020204" pitchFamily="34" charset="0"/>
              </a:rPr>
              <a:t>Helium-3 Market</a:t>
            </a:r>
            <a:endParaRPr lang="en-IN" sz="2800" dirty="0">
              <a:latin typeface="Aptos Display" panose="020B0004020202020204" pitchFamily="34" charset="0"/>
            </a:endParaRPr>
          </a:p>
        </p:txBody>
      </p:sp>
      <p:sp>
        <p:nvSpPr>
          <p:cNvPr id="33" name="Front Page Subtitle"/>
          <p:cNvSpPr>
            <a:spLocks noGrp="1"/>
          </p:cNvSpPr>
          <p:nvPr/>
        </p:nvSpPr>
        <p:spPr>
          <a:xfrm>
            <a:off x="5949415" y="3150000"/>
            <a:ext cx="6028353" cy="700000"/>
          </a:xfrm>
        </p:spPr>
        <p:txBody>
          <a:bodyPr lIns="0" anchor="b"/>
          <a:lstStyle>
            <a:lvl1pPr marL="0" indent="0">
              <a:buNone/>
              <a:defRPr sz="3600" b="1">
                <a:solidFill>
                  <a:srgbClr val="002060"/>
                </a:solidFill>
              </a:defRPr>
            </a:lvl1pPr>
          </a:lstStyle>
          <a:p>
            <a:r>
              <a:rPr lang="en-US" sz="1800" dirty="0" b="0">
                <a:latin typeface="Aptos Display" panose="020B0004020202020204" pitchFamily="34" charset="0"/>
              </a:rPr>
              <a:t>Global Industry Analysis 2021–2025 and Opportunity Assessment, 2026–2036</a:t>
            </a:r>
            <a:endParaRPr lang="en-IN" sz="2800" dirty="0">
              <a:latin typeface="Aptos Display" panose="020B0004020202020204" pitchFamily="34" charset="0"/>
            </a:endParaRPr>
          </a:p>
        </p:txBody>
      </p:sp>
      <p:grpSp>
        <p:nvGrpSpPr>
          <p:cNvPr id="34" name="Group 9"/>
          <p:cNvGrpSpPr/>
          <p:nvPr/>
        </p:nvGrpSpPr>
        <p:grpSpPr>
          <a:xfrm>
            <a:off x="5949416" y="2963228"/>
            <a:ext cx="6036689" cy="45720"/>
            <a:chOff x="838200" y="3714750"/>
            <a:chExt cx="6652260" cy="27432"/>
          </a:xfrm>
          <a:solidFill>
            <a:srgbClr val="EAE5EB">
              <a:lumMod val="50000"/>
            </a:srgbClr>
          </a:solidFill>
        </p:grpSpPr>
        <p:sp>
          <p:nvSpPr>
            <p:cNvPr id="35" name="Rectangle 10"/>
            <p:cNvSpPr/>
            <p:nvPr userDrawn="1"/>
          </p:nvSpPr>
          <p:spPr>
            <a:xfrm>
              <a:off x="83820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36" name="Rectangle 11"/>
            <p:cNvSpPr/>
            <p:nvPr userDrawn="1"/>
          </p:nvSpPr>
          <p:spPr>
            <a:xfrm>
              <a:off x="306705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37" name="Rectangle 12"/>
            <p:cNvSpPr/>
            <p:nvPr userDrawn="1"/>
          </p:nvSpPr>
          <p:spPr>
            <a:xfrm>
              <a:off x="5295900" y="3714750"/>
              <a:ext cx="2194560" cy="27432"/>
            </a:xfrm>
            <a:prstGeom prst="rect">
              <a:avLst/>
            </a:prstGeom>
            <a:grp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grpSp>
      <p:sp>
        <p:nvSpPr>
          <p:cNvPr id="38" name="Footer Placeholder 1">
            <a:extLst>
              <a:ext uri="{FF2B5EF4-FFF2-40B4-BE49-F238E27FC236}">
                <a16:creationId xmlns:a16="http://schemas.microsoft.com/office/drawing/2014/main" id="{7B717881-4573-0FDD-568A-2957EB8BEB84}"/>
              </a:ext>
            </a:extLst>
          </p:cNvPr>
          <p:cNvSpPr txBox="1">
            <a:spLocks/>
          </p:cNvSpPr>
          <p:nvPr/>
        </p:nvSpPr>
        <p:spPr bwMode="gray">
          <a:xfrm>
            <a:off x="5949415" y="1991358"/>
            <a:ext cx="4497605" cy="269876"/>
          </a:xfrm>
          <a:prstGeom prst="rect">
            <a:avLst/>
          </a:prstGeom>
        </p:spPr>
        <p:txBody>
          <a:bodyPr lIns="0" rIns="0" anchor="ctr">
            <a:noAutofit/>
          </a:bodyPr>
          <a:lstStyle>
            <a:defPPr>
              <a:defRPr lang="en-US"/>
            </a:defPPr>
            <a:lvl1pPr marL="0" algn="l" defTabSz="914400" rtl="0" eaLnBrk="1" latinLnBrk="0" hangingPunct="1">
              <a:defRPr sz="11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sz="1400" dirty="0">
                <a:solidFill>
                  <a:srgbClr val="461E96"/>
                </a:solidFill>
                <a:latin typeface="+mj-lt"/>
              </a:rPr>
              <a:t>SAMPLE REPORT  |  2026</a:t>
            </a:r>
          </a:p>
        </p:txBody>
      </p:sp>
      <p:sp>
        <p:nvSpPr>
          <p:cNvPr id="39" name="TextBox 4">
            <a:extLst>
              <a:ext uri="{FF2B5EF4-FFF2-40B4-BE49-F238E27FC236}">
                <a16:creationId xmlns:a16="http://schemas.microsoft.com/office/drawing/2014/main" id="{4FF7E7D1-13C0-09F6-FE4F-3E29CF81B660}"/>
              </a:ext>
            </a:extLst>
          </p:cNvPr>
          <p:cNvSpPr txBox="1"/>
          <p:nvPr/>
        </p:nvSpPr>
        <p:spPr>
          <a:xfrm>
            <a:off x="5851673" y="6468102"/>
            <a:ext cx="6364445" cy="246221"/>
          </a:xfrm>
          <a:prstGeom prst="rect">
            <a:avLst/>
          </a:prstGeom>
          <a:noFill/>
        </p:spPr>
        <p:txBody>
          <a:bodyPr wrap="square" rtlCol="0">
            <a:spAutoFit/>
          </a:bodyPr>
          <a:lstStyle/>
          <a:p>
            <a:r>
              <a:rPr lang="en-US" sz="1000" dirty="0">
                <a:solidFill>
                  <a:srgbClr val="461E96"/>
                </a:solidFill>
              </a:rPr>
              <a:t>MARKET STATISTICS | DEMAND FORECASTING | COMPETITION EVALUATION | TRENDS &amp; DYNAMICS | ADVISORY</a:t>
            </a:r>
            <a:endParaRPr lang="en-IN" sz="1000" dirty="0">
              <a:solidFill>
                <a:srgbClr val="461E96"/>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Agenda</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Storyline of the report by section · click a section card to jump to it</a:t>
            </a:r>
          </a:p>
        </p:txBody>
      </p:sp>
      <p:sp>
        <p:nvSpPr>
          <p:cNvPr id="8" name="Rounded Rectangle 7">
            <a:hlinkClick action="ppaction://hlinksldjump" r:id="rId3"/>
          </p:cNvPr>
          <p:cNvSpPr/>
          <p:nvPr/>
        </p:nvSpPr>
        <p:spPr>
          <a:xfrm>
            <a:off x="314325" y="113503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 Market Signals</a:t>
            </a:r>
          </a:p>
        </p:txBody>
      </p:sp>
      <p:sp>
        <p:nvSpPr>
          <p:cNvPr id="9" name="Rounded Rectangle 8">
            <a:hlinkClick action="ppaction://hlinksldjump" r:id="rId4"/>
          </p:cNvPr>
          <p:cNvSpPr/>
          <p:nvPr/>
        </p:nvSpPr>
        <p:spPr>
          <a:xfrm>
            <a:off x="142875" y="1559435"/>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Market Overview</a:t>
            </a:r>
          </a:p>
        </p:txBody>
      </p:sp>
      <p:sp>
        <p:nvSpPr>
          <p:cNvPr id="10" name="Rounded Rectangle 9">
            <a:hlinkClick action="ppaction://hlinksldjump" r:id="rId5"/>
          </p:cNvPr>
          <p:cNvSpPr/>
          <p:nvPr/>
        </p:nvSpPr>
        <p:spPr>
          <a:xfrm>
            <a:off x="314325" y="1965580"/>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2. Market Taxonomy</a:t>
            </a:r>
          </a:p>
        </p:txBody>
      </p:sp>
      <p:sp>
        <p:nvSpPr>
          <p:cNvPr id="11" name="Rounded Rectangle 10">
            <a:hlinkClick action="ppaction://hlinksldjump" r:id="rId6"/>
          </p:cNvPr>
          <p:cNvSpPr/>
          <p:nvPr/>
        </p:nvSpPr>
        <p:spPr>
          <a:xfrm>
            <a:off x="314325" y="238997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3. Table of Contents</a:t>
            </a:r>
          </a:p>
        </p:txBody>
      </p:sp>
      <p:sp>
        <p:nvSpPr>
          <p:cNvPr id="12" name="Rounded Rectangle 11">
            <a:hlinkClick action="ppaction://hlinksldjump" r:id="rId7"/>
          </p:cNvPr>
          <p:cNvSpPr/>
          <p:nvPr/>
        </p:nvSpPr>
        <p:spPr>
          <a:xfrm>
            <a:off x="314325" y="281437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4. List of Figures, List of Tables</a:t>
            </a:r>
          </a:p>
        </p:txBody>
      </p:sp>
      <p:sp>
        <p:nvSpPr>
          <p:cNvPr id="13" name="Rounded Rectangle 12">
            <a:hlinkClick action="ppaction://hlinksldjump" r:id="rId8"/>
          </p:cNvPr>
          <p:cNvSpPr/>
          <p:nvPr/>
        </p:nvSpPr>
        <p:spPr>
          <a:xfrm>
            <a:off x="142875" y="3238775"/>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Global Market Outlook</a:t>
            </a:r>
          </a:p>
        </p:txBody>
      </p:sp>
      <p:sp>
        <p:nvSpPr>
          <p:cNvPr id="14" name="Rounded Rectangle 13">
            <a:hlinkClick action="ppaction://hlinksldjump" r:id="rId9"/>
          </p:cNvPr>
          <p:cNvSpPr/>
          <p:nvPr/>
        </p:nvSpPr>
        <p:spPr>
          <a:xfrm>
            <a:off x="314325" y="3644920"/>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5. Helium-3 Market Global Overview</a:t>
            </a:r>
          </a:p>
        </p:txBody>
      </p:sp>
      <p:sp>
        <p:nvSpPr>
          <p:cNvPr id="15" name="Rounded Rectangle 14">
            <a:hlinkClick action="ppaction://hlinksldjump" r:id="rId10"/>
          </p:cNvPr>
          <p:cNvSpPr/>
          <p:nvPr/>
        </p:nvSpPr>
        <p:spPr>
          <a:xfrm>
            <a:off x="314325" y="406931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6. Global Market Analysis By Region</a:t>
            </a:r>
          </a:p>
        </p:txBody>
      </p:sp>
      <p:sp>
        <p:nvSpPr>
          <p:cNvPr id="16" name="Rounded Rectangle 15">
            <a:hlinkClick action="ppaction://hlinksldjump" r:id="rId11"/>
          </p:cNvPr>
          <p:cNvSpPr/>
          <p:nvPr/>
        </p:nvSpPr>
        <p:spPr>
          <a:xfrm>
            <a:off x="314325" y="449371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7. Global Market Analysis By Segments</a:t>
            </a:r>
          </a:p>
        </p:txBody>
      </p:sp>
      <p:sp>
        <p:nvSpPr>
          <p:cNvPr id="17" name="Rounded Rectangle 16">
            <a:hlinkClick action="ppaction://hlinksldjump" r:id="rId12"/>
          </p:cNvPr>
          <p:cNvSpPr/>
          <p:nvPr/>
        </p:nvSpPr>
        <p:spPr>
          <a:xfrm>
            <a:off x="142875" y="4918115"/>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Western Europe Market Outlook</a:t>
            </a:r>
          </a:p>
        </p:txBody>
      </p:sp>
      <p:sp>
        <p:nvSpPr>
          <p:cNvPr id="18" name="Rounded Rectangle 17">
            <a:hlinkClick action="ppaction://hlinksldjump" r:id="rId13"/>
          </p:cNvPr>
          <p:cNvSpPr/>
          <p:nvPr/>
        </p:nvSpPr>
        <p:spPr>
          <a:xfrm>
            <a:off x="314325" y="5324261"/>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8. Western Europe Overview</a:t>
            </a:r>
          </a:p>
        </p:txBody>
      </p:sp>
      <p:sp>
        <p:nvSpPr>
          <p:cNvPr id="19" name="Rounded Rectangle 18">
            <a:hlinkClick action="ppaction://hlinksldjump" r:id="rId14"/>
          </p:cNvPr>
          <p:cNvSpPr/>
          <p:nvPr/>
        </p:nvSpPr>
        <p:spPr>
          <a:xfrm>
            <a:off x="314325" y="5748660"/>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9. Western Europe Market Analysis By Country</a:t>
            </a:r>
          </a:p>
        </p:txBody>
      </p:sp>
      <p:sp>
        <p:nvSpPr>
          <p:cNvPr id="20" name="Rounded Rectangle 19">
            <a:hlinkClick action="ppaction://hlinksldjump" r:id="rId15"/>
          </p:cNvPr>
          <p:cNvSpPr/>
          <p:nvPr/>
        </p:nvSpPr>
        <p:spPr>
          <a:xfrm>
            <a:off x="314325" y="6173058"/>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10. Western Europe Market Analysis By Segments</a:t>
            </a:r>
          </a:p>
        </p:txBody>
      </p:sp>
      <p:sp>
        <p:nvSpPr>
          <p:cNvPr id="21" name="Rounded Rectangle 20">
            <a:hlinkClick action="ppaction://hlinksldjump" r:id="rId16"/>
          </p:cNvPr>
          <p:cNvSpPr/>
          <p:nvPr/>
        </p:nvSpPr>
        <p:spPr>
          <a:xfrm>
            <a:off x="6219825" y="1135037"/>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Country Market Outlook</a:t>
            </a:r>
          </a:p>
        </p:txBody>
      </p:sp>
      <p:sp>
        <p:nvSpPr>
          <p:cNvPr id="22" name="Rounded Rectangle 21">
            <a:hlinkClick action="ppaction://hlinksldjump" r:id="rId17"/>
          </p:cNvPr>
          <p:cNvSpPr/>
          <p:nvPr/>
        </p:nvSpPr>
        <p:spPr>
          <a:xfrm>
            <a:off x="6391275" y="158142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11. Helium-3 Market Overview (Volume &amp; Value)</a:t>
            </a:r>
          </a:p>
        </p:txBody>
      </p:sp>
      <p:sp>
        <p:nvSpPr>
          <p:cNvPr id="23" name="Rounded Rectangle 22">
            <a:hlinkClick action="ppaction://hlinksldjump" r:id="rId18"/>
          </p:cNvPr>
          <p:cNvSpPr/>
          <p:nvPr/>
        </p:nvSpPr>
        <p:spPr>
          <a:xfrm>
            <a:off x="6391275" y="2046062"/>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12. Segment Overview (Volume &amp; Value)</a:t>
            </a:r>
          </a:p>
        </p:txBody>
      </p:sp>
      <p:sp>
        <p:nvSpPr>
          <p:cNvPr id="24" name="Rounded Rectangle 23">
            <a:hlinkClick action="ppaction://hlinksldjump" r:id="rId19"/>
          </p:cNvPr>
          <p:cNvSpPr/>
          <p:nvPr/>
        </p:nvSpPr>
        <p:spPr>
          <a:xfrm>
            <a:off x="6219825" y="2510702"/>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Pricing Assessment</a:t>
            </a:r>
          </a:p>
        </p:txBody>
      </p:sp>
      <p:sp>
        <p:nvSpPr>
          <p:cNvPr id="25" name="Rounded Rectangle 24">
            <a:hlinkClick action="ppaction://hlinksldjump" r:id="rId20"/>
          </p:cNvPr>
          <p:cNvSpPr/>
          <p:nvPr/>
        </p:nvSpPr>
        <p:spPr>
          <a:xfrm>
            <a:off x="6391275" y="2957088"/>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13. Helium-3 Market Pricing Analysis</a:t>
            </a:r>
          </a:p>
        </p:txBody>
      </p:sp>
      <p:sp>
        <p:nvSpPr>
          <p:cNvPr id="26" name="Rounded Rectangle 25">
            <a:hlinkClick action="ppaction://hlinksldjump" r:id="rId21"/>
          </p:cNvPr>
          <p:cNvSpPr/>
          <p:nvPr/>
        </p:nvSpPr>
        <p:spPr>
          <a:xfrm>
            <a:off x="6391275" y="3421727"/>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14. Supply Chain Analysis</a:t>
            </a:r>
          </a:p>
        </p:txBody>
      </p:sp>
      <p:sp>
        <p:nvSpPr>
          <p:cNvPr id="27" name="Rounded Rectangle 26">
            <a:hlinkClick action="ppaction://hlinksldjump" r:id="rId22"/>
          </p:cNvPr>
          <p:cNvSpPr/>
          <p:nvPr/>
        </p:nvSpPr>
        <p:spPr>
          <a:xfrm>
            <a:off x="6219825" y="3886367"/>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Market Dynamics</a:t>
            </a:r>
          </a:p>
        </p:txBody>
      </p:sp>
      <p:sp>
        <p:nvSpPr>
          <p:cNvPr id="28" name="Rounded Rectangle 27">
            <a:hlinkClick action="ppaction://hlinksldjump" r:id="rId23"/>
          </p:cNvPr>
          <p:cNvSpPr/>
          <p:nvPr/>
        </p:nvSpPr>
        <p:spPr>
          <a:xfrm>
            <a:off x="6391275" y="4332753"/>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15. Market Dynamics &amp; Forces</a:t>
            </a:r>
          </a:p>
        </p:txBody>
      </p:sp>
      <p:sp>
        <p:nvSpPr>
          <p:cNvPr id="29" name="Rounded Rectangle 28">
            <a:hlinkClick action="ppaction://hlinksldjump" r:id="rId24"/>
          </p:cNvPr>
          <p:cNvSpPr/>
          <p:nvPr/>
        </p:nvSpPr>
        <p:spPr>
          <a:xfrm>
            <a:off x="6219825" y="4797393"/>
            <a:ext cx="5829300" cy="310313"/>
          </a:xfrm>
          <a:prstGeom prst="roundRect">
            <a:avLst>
              <a:gd name="adj" fmla="val 23529"/>
            </a:avLst>
          </a:prstGeom>
          <a:solidFill>
            <a:srgbClr val="007BA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FFFFFF"/>
                </a:solidFill>
                <a:latin typeface="Segoe UI"/>
              </a:rPr>
              <a:t>Competition Assessment</a:t>
            </a:r>
          </a:p>
        </p:txBody>
      </p:sp>
      <p:sp>
        <p:nvSpPr>
          <p:cNvPr id="30" name="Rounded Rectangle 29">
            <a:hlinkClick action="ppaction://hlinksldjump" r:id="rId25"/>
          </p:cNvPr>
          <p:cNvSpPr/>
          <p:nvPr/>
        </p:nvSpPr>
        <p:spPr>
          <a:xfrm>
            <a:off x="6391275" y="5243779"/>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16. Competitive Landscape</a:t>
            </a:r>
          </a:p>
        </p:txBody>
      </p:sp>
      <p:sp>
        <p:nvSpPr>
          <p:cNvPr id="31" name="Rounded Rectangle 30">
            <a:hlinkClick action="ppaction://hlinksldjump" r:id="rId26"/>
          </p:cNvPr>
          <p:cNvSpPr/>
          <p:nvPr/>
        </p:nvSpPr>
        <p:spPr>
          <a:xfrm>
            <a:off x="6391275" y="5708418"/>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17. Market Share by Leading Players</a:t>
            </a:r>
          </a:p>
        </p:txBody>
      </p:sp>
      <p:sp>
        <p:nvSpPr>
          <p:cNvPr id="32" name="Rounded Rectangle 31">
            <a:hlinkClick action="ppaction://hlinksldjump" r:id="rId27"/>
          </p:cNvPr>
          <p:cNvSpPr/>
          <p:nvPr/>
        </p:nvSpPr>
        <p:spPr>
          <a:xfrm>
            <a:off x="6391275" y="6173058"/>
            <a:ext cx="5657850" cy="328567"/>
          </a:xfrm>
          <a:prstGeom prst="roundRect">
            <a:avLst>
              <a:gd name="adj" fmla="val 22222"/>
            </a:avLst>
          </a:prstGeom>
          <a:solidFill>
            <a:srgbClr val="007BA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FFFFFF"/>
                </a:solidFill>
                <a:latin typeface="Segoe UI"/>
              </a:rPr>
              <a:t>18. Company Profiles &amp; Strategic Benchmarking</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0526E"/>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Signals Reshaping Helium-3 Demand</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Signals reshaping Helium-3 demand, the evidence behind each and what it implies for the global market</a:t>
            </a:r>
          </a:p>
        </p:txBody>
      </p:sp>
      <p:graphicFrame>
        <p:nvGraphicFramePr>
          <p:cNvPr id="8" name="Table 7"/>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07BA5"/>
                          </a:solidFill>
                          <a:latin typeface="Segoe UI"/>
                        </a:rPr>
                        <a:t>QUESTIONS WE'RE HEARING</a:t>
                      </a:r>
                    </a:p>
                  </a:txBody>
                  <a:tcPr marL="70000" marR="70000" marT="45000" marB="45000" anchor="ctr">
                    <a:solidFill>
                      <a:srgbClr val="CFEEFA"/>
                    </a:solidFill>
                  </a:tcPr>
                </a:tc>
                <a:tc>
                  <a:txBody>
                    <a:bodyPr wrap="square"/>
                    <a:lstStyle/>
                    <a:p>
                      <a:pPr algn="l"/>
                      <a:r>
                        <a:rPr sz="1100" b="1">
                          <a:solidFill>
                            <a:srgbClr val="007BA5"/>
                          </a:solidFill>
                          <a:latin typeface="Segoe UI"/>
                        </a:rPr>
                        <a:t>WHAT WE'RE OBSERVING</a:t>
                      </a:r>
                    </a:p>
                  </a:txBody>
                  <a:tcPr marL="70000" marR="70000" marT="45000" marB="45000" anchor="ctr">
                    <a:solidFill>
                      <a:srgbClr val="CFEEFA"/>
                    </a:solidFill>
                  </a:tcPr>
                </a:tc>
                <a:tc>
                  <a:txBody>
                    <a:bodyPr wrap="square"/>
                    <a:lstStyle/>
                    <a:p>
                      <a:pPr algn="l"/>
                      <a:r>
                        <a:rPr sz="1100" b="1">
                          <a:solidFill>
                            <a:srgbClr val="007BA5"/>
                          </a:solidFill>
                          <a:latin typeface="Segoe UI"/>
                        </a:rPr>
                        <a:t>SELECT DATA POINTS</a:t>
                      </a:r>
                    </a:p>
                  </a:txBody>
                  <a:tcPr marL="70000" marR="70000" marT="45000" marB="45000" anchor="ctr">
                    <a:solidFill>
                      <a:srgbClr val="CFEEFA"/>
                    </a:solidFill>
                  </a:tcPr>
                </a:tc>
              </a:tr>
              <a:tr h="1040461">
                <a:tc>
                  <a:txBody>
                    <a:bodyPr wrap="square"/>
                    <a:lstStyle/>
                    <a:p>
                      <a:pPr algn="l"/>
                      <a:r>
                        <a:rPr sz="1100" b="1">
                          <a:solidFill>
                            <a:srgbClr val="007BA5"/>
                          </a:solidFill>
                          <a:latin typeface="Segoe UI"/>
                        </a:rPr>
                        <a:t>How fast is Helium-3 demand set to grow through 2036?</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07BA5"/>
                          </a:solidFill>
                          <a:latin typeface="Segoe UI"/>
                        </a:rPr>
                        <a:t>Which product form categories are buyers prioritising?</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r>
              <a:tr h="1040461">
                <a:tc>
                  <a:txBody>
                    <a:bodyPr wrap="square"/>
                    <a:lstStyle/>
                    <a:p>
                      <a:pPr algn="l"/>
                      <a:r>
                        <a:rPr sz="1100" b="1">
                          <a:solidFill>
                            <a:srgbClr val="007BA5"/>
                          </a:solidFill>
                          <a:latin typeface="Segoe UI"/>
                        </a:rPr>
                        <a:t>Where is incremental demand concentrating?</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r>
              <a:tr h="1040461">
                <a:tc>
                  <a:txBody>
                    <a:bodyPr wrap="square"/>
                    <a:lstStyle/>
                    <a:p>
                      <a:pPr algn="l"/>
                      <a:r>
                        <a:rPr sz="1100" b="1">
                          <a:solidFill>
                            <a:srgbClr val="007BA5"/>
                          </a:solidFill>
                          <a:latin typeface="Segoe UI"/>
                        </a:rPr>
                        <a:t>Which regions will drive the next wave of Helium-3 demand?</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c>
                  <a:txBody>
                    <a:bodyPr wrap="square"/>
                    <a:lstStyle/>
                    <a:p>
                      <a:pPr algn="l"/>
                      <a:r>
                        <a:rPr sz="1100" b="0">
                          <a:solidFill>
                            <a:srgbClr val="252423"/>
                          </a:solidFill>
                          <a:latin typeface="Segoe UI"/>
                        </a:rPr>
                        <a:t/>
                      </a:r>
                    </a:p>
                  </a:txBody>
                  <a:tcPr marL="70000" marR="70000" marT="45000" marB="45000" anchor="ctr">
                    <a:solidFill>
                      <a:srgbClr val="F3FAFD"/>
                    </a:solidFill>
                  </a:tcPr>
                </a:tc>
              </a:tr>
              <a:tr h="1040461">
                <a:tc>
                  <a:txBody>
                    <a:bodyPr wrap="square"/>
                    <a:lstStyle/>
                    <a:p>
                      <a:pPr algn="l"/>
                      <a:r>
                        <a:rPr sz="1100" b="1">
                          <a:solidFill>
                            <a:srgbClr val="007BA5"/>
                          </a:solidFill>
                          <a:latin typeface="Segoe UI"/>
                        </a:rPr>
                        <a:t>Where should suppliers focus investment?</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c>
                  <a:txBody>
                    <a:bodyPr wrap="square"/>
                    <a:lstStyle/>
                    <a:p>
                      <a:pPr algn="l"/>
                      <a:r>
                        <a:rPr sz="1100" b="0">
                          <a:solidFill>
                            <a:srgbClr val="252423"/>
                          </a:solidFill>
                          <a:latin typeface="Segoe UI"/>
                        </a:rPr>
                        <a:t/>
                      </a:r>
                    </a:p>
                  </a:txBody>
                  <a:tcPr marL="70000" marR="70000" marT="45000" marB="45000" anchor="ctr">
                    <a:solidFill>
                      <a:srgbClr val="FFFFFF"/>
                    </a:solidFill>
                  </a:tcP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0" name="TextBox 9"/>
          <p:cNvSpPr txBox="1"/>
          <p:nvPr/>
        </p:nvSpPr>
        <p:spPr>
          <a:xfrm>
            <a:off x="3784750" y="1761432"/>
            <a:ext cx="1837397" cy="186689"/>
          </a:xfrm>
          <a:prstGeom prst="rect">
            <a:avLst/>
          </a:prstGeom>
          <a:noFill/>
        </p:spPr>
        <p:txBody>
          <a:bodyPr wrap="none" lIns="0" rIns="0" tIns="0" bIns="0">
            <a:spAutoFit/>
          </a:bodyPr>
          <a:lstStyle/>
          <a:p>
            <a:r>
              <a:rPr sz="1100" b="0">
                <a:solidFill>
                  <a:srgbClr val="252423"/>
                </a:solidFill>
                <a:latin typeface="Segoe UI"/>
              </a:rPr>
              <a:t>Global demand expands at a</a:t>
            </a:r>
          </a:p>
        </p:txBody>
      </p:sp>
      <p:pic>
        <p:nvPicPr>
          <p:cNvPr id="11" name="Picture 10" descr="lock.png"/>
          <p:cNvPicPr>
            <a:picLocks noChangeAspect="1"/>
          </p:cNvPicPr>
          <p:nvPr/>
        </p:nvPicPr>
        <p:blipFill>
          <a:blip r:embed="rId4"/>
          <a:stretch>
            <a:fillRect/>
          </a:stretch>
        </p:blipFill>
        <p:spPr>
          <a:xfrm>
            <a:off x="5570198" y="1751653"/>
            <a:ext cx="128699" cy="187198"/>
          </a:xfrm>
          <a:prstGeom prst="rect">
            <a:avLst/>
          </a:prstGeom>
        </p:spPr>
      </p:pic>
      <p:sp>
        <p:nvSpPr>
          <p:cNvPr id="12" name="TextBox 11"/>
          <p:cNvSpPr txBox="1"/>
          <p:nvPr/>
        </p:nvSpPr>
        <p:spPr>
          <a:xfrm>
            <a:off x="5737694" y="1761432"/>
            <a:ext cx="2566729" cy="186689"/>
          </a:xfrm>
          <a:prstGeom prst="rect">
            <a:avLst/>
          </a:prstGeom>
          <a:noFill/>
        </p:spPr>
        <p:txBody>
          <a:bodyPr wrap="none" lIns="0" rIns="0" tIns="0" bIns="0">
            <a:spAutoFit/>
          </a:bodyPr>
          <a:lstStyle/>
          <a:p>
            <a:r>
              <a:rPr sz="1100" b="0">
                <a:solidFill>
                  <a:srgbClr val="252423"/>
                </a:solidFill>
                <a:latin typeface="Segoe UI"/>
              </a:rPr>
              <a:t>forecast CAGR (2026–2036), accelerating</a:t>
            </a:r>
          </a:p>
        </p:txBody>
      </p:sp>
      <p:sp>
        <p:nvSpPr>
          <p:cNvPr id="13" name="TextBox 12"/>
          <p:cNvSpPr txBox="1"/>
          <p:nvPr/>
        </p:nvSpPr>
        <p:spPr>
          <a:xfrm>
            <a:off x="3784750" y="1929072"/>
            <a:ext cx="370576" cy="186689"/>
          </a:xfrm>
          <a:prstGeom prst="rect">
            <a:avLst/>
          </a:prstGeom>
          <a:noFill/>
        </p:spPr>
        <p:txBody>
          <a:bodyPr wrap="none" lIns="0" rIns="0" tIns="0" bIns="0">
            <a:spAutoFit/>
          </a:bodyPr>
          <a:lstStyle/>
          <a:p>
            <a:r>
              <a:rPr sz="1100" b="0">
                <a:solidFill>
                  <a:srgbClr val="252423"/>
                </a:solidFill>
                <a:latin typeface="Segoe UI"/>
              </a:rPr>
              <a:t>from</a:t>
            </a:r>
          </a:p>
        </p:txBody>
      </p:sp>
      <p:pic>
        <p:nvPicPr>
          <p:cNvPr id="14" name="Picture 13" descr="lock.png"/>
          <p:cNvPicPr>
            <a:picLocks noChangeAspect="1"/>
          </p:cNvPicPr>
          <p:nvPr/>
        </p:nvPicPr>
        <p:blipFill>
          <a:blip r:embed="rId4"/>
          <a:stretch>
            <a:fillRect/>
          </a:stretch>
        </p:blipFill>
        <p:spPr>
          <a:xfrm>
            <a:off x="4103378" y="1919293"/>
            <a:ext cx="128699" cy="187198"/>
          </a:xfrm>
          <a:prstGeom prst="rect">
            <a:avLst/>
          </a:prstGeom>
        </p:spPr>
      </p:pic>
      <p:sp>
        <p:nvSpPr>
          <p:cNvPr id="15" name="TextBox 14"/>
          <p:cNvSpPr txBox="1"/>
          <p:nvPr/>
        </p:nvSpPr>
        <p:spPr>
          <a:xfrm>
            <a:off x="4270874" y="1929072"/>
            <a:ext cx="1201682" cy="186689"/>
          </a:xfrm>
          <a:prstGeom prst="rect">
            <a:avLst/>
          </a:prstGeom>
          <a:noFill/>
        </p:spPr>
        <p:txBody>
          <a:bodyPr wrap="none" lIns="0" rIns="0" tIns="0" bIns="0">
            <a:spAutoFit/>
          </a:bodyPr>
          <a:lstStyle/>
          <a:p>
            <a:r>
              <a:rPr sz="1100" b="0">
                <a:solidFill>
                  <a:srgbClr val="252423"/>
                </a:solidFill>
                <a:latin typeface="Segoe UI"/>
              </a:rPr>
              <a:t>across 2021–2025.</a:t>
            </a:r>
          </a:p>
        </p:txBody>
      </p:sp>
      <p:pic>
        <p:nvPicPr>
          <p:cNvPr id="16" name="Picture 15" descr="lock.png"/>
          <p:cNvPicPr>
            <a:picLocks noChangeAspect="1"/>
          </p:cNvPicPr>
          <p:nvPr/>
        </p:nvPicPr>
        <p:blipFill>
          <a:blip r:embed="rId4"/>
          <a:stretch>
            <a:fillRect/>
          </a:stretch>
        </p:blipFill>
        <p:spPr>
          <a:xfrm>
            <a:off x="10214228" y="1689042"/>
            <a:ext cx="330041" cy="480060"/>
          </a:xfrm>
          <a:prstGeom prst="rect">
            <a:avLst/>
          </a:prstGeom>
        </p:spPr>
      </p:pic>
      <p:sp>
        <p:nvSpPr>
          <p:cNvPr id="17" name="TextBox 16"/>
          <p:cNvSpPr txBox="1"/>
          <p:nvPr/>
        </p:nvSpPr>
        <p:spPr>
          <a:xfrm>
            <a:off x="3784750" y="2801893"/>
            <a:ext cx="2627600" cy="186689"/>
          </a:xfrm>
          <a:prstGeom prst="rect">
            <a:avLst/>
          </a:prstGeom>
          <a:noFill/>
        </p:spPr>
        <p:txBody>
          <a:bodyPr wrap="none" lIns="0" rIns="0" tIns="0" bIns="0">
            <a:spAutoFit/>
          </a:bodyPr>
          <a:lstStyle/>
          <a:p>
            <a:r>
              <a:rPr sz="1100" b="0">
                <a:solidFill>
                  <a:srgbClr val="252423"/>
                </a:solidFill>
                <a:latin typeface="Segoe UI"/>
              </a:rPr>
              <a:t>Gaseous Helium-3 leads Product Form, at</a:t>
            </a:r>
          </a:p>
        </p:txBody>
      </p:sp>
      <p:pic>
        <p:nvPicPr>
          <p:cNvPr id="18" name="Picture 17" descr="lock.png"/>
          <p:cNvPicPr>
            <a:picLocks noChangeAspect="1"/>
          </p:cNvPicPr>
          <p:nvPr/>
        </p:nvPicPr>
        <p:blipFill>
          <a:blip r:embed="rId4"/>
          <a:stretch>
            <a:fillRect/>
          </a:stretch>
        </p:blipFill>
        <p:spPr>
          <a:xfrm>
            <a:off x="6360402" y="2792114"/>
            <a:ext cx="128699" cy="187198"/>
          </a:xfrm>
          <a:prstGeom prst="rect">
            <a:avLst/>
          </a:prstGeom>
        </p:spPr>
      </p:pic>
      <p:sp>
        <p:nvSpPr>
          <p:cNvPr id="19" name="TextBox 18"/>
          <p:cNvSpPr txBox="1"/>
          <p:nvPr/>
        </p:nvSpPr>
        <p:spPr>
          <a:xfrm>
            <a:off x="6527898" y="2801893"/>
            <a:ext cx="1989320" cy="186689"/>
          </a:xfrm>
          <a:prstGeom prst="rect">
            <a:avLst/>
          </a:prstGeom>
          <a:noFill/>
        </p:spPr>
        <p:txBody>
          <a:bodyPr wrap="none" lIns="0" rIns="0" tIns="0" bIns="0">
            <a:spAutoFit/>
          </a:bodyPr>
          <a:lstStyle/>
          <a:p>
            <a:r>
              <a:rPr sz="1100" b="0">
                <a:solidFill>
                  <a:srgbClr val="252423"/>
                </a:solidFill>
                <a:latin typeface="Segoe UI"/>
              </a:rPr>
              <a:t>of 2036 value, within a mix of 2</a:t>
            </a:r>
          </a:p>
        </p:txBody>
      </p:sp>
      <p:sp>
        <p:nvSpPr>
          <p:cNvPr id="20" name="TextBox 19"/>
          <p:cNvSpPr txBox="1"/>
          <p:nvPr/>
        </p:nvSpPr>
        <p:spPr>
          <a:xfrm>
            <a:off x="3784750" y="2969533"/>
            <a:ext cx="1237123" cy="186689"/>
          </a:xfrm>
          <a:prstGeom prst="rect">
            <a:avLst/>
          </a:prstGeom>
          <a:noFill/>
        </p:spPr>
        <p:txBody>
          <a:bodyPr wrap="none" lIns="0" rIns="0" tIns="0" bIns="0">
            <a:spAutoFit/>
          </a:bodyPr>
          <a:lstStyle/>
          <a:p>
            <a:r>
              <a:rPr sz="1100" b="0">
                <a:solidFill>
                  <a:srgbClr val="252423"/>
                </a:solidFill>
                <a:latin typeface="Segoe UI"/>
              </a:rPr>
              <a:t>tracked categories.</a:t>
            </a:r>
          </a:p>
        </p:txBody>
      </p:sp>
      <p:sp>
        <p:nvSpPr>
          <p:cNvPr id="21" name="TextBox 20"/>
          <p:cNvSpPr txBox="1"/>
          <p:nvPr/>
        </p:nvSpPr>
        <p:spPr>
          <a:xfrm>
            <a:off x="8785375" y="2885713"/>
            <a:ext cx="1634182" cy="186689"/>
          </a:xfrm>
          <a:prstGeom prst="rect">
            <a:avLst/>
          </a:prstGeom>
          <a:noFill/>
        </p:spPr>
        <p:txBody>
          <a:bodyPr wrap="none" lIns="0" rIns="0" tIns="0" bIns="0">
            <a:spAutoFit/>
          </a:bodyPr>
          <a:lstStyle/>
          <a:p>
            <a:r>
              <a:rPr sz="1100" b="0">
                <a:solidFill>
                  <a:srgbClr val="252423"/>
                </a:solidFill>
                <a:latin typeface="Segoe UI"/>
              </a:rPr>
              <a:t>Lead: Gaseous Helium-3 ·</a:t>
            </a:r>
          </a:p>
        </p:txBody>
      </p:sp>
      <p:pic>
        <p:nvPicPr>
          <p:cNvPr id="22" name="Picture 21" descr="lock.png"/>
          <p:cNvPicPr>
            <a:picLocks noChangeAspect="1"/>
          </p:cNvPicPr>
          <p:nvPr/>
        </p:nvPicPr>
        <p:blipFill>
          <a:blip r:embed="rId4"/>
          <a:stretch>
            <a:fillRect/>
          </a:stretch>
        </p:blipFill>
        <p:spPr>
          <a:xfrm>
            <a:off x="10367609" y="2875934"/>
            <a:ext cx="128699" cy="187198"/>
          </a:xfrm>
          <a:prstGeom prst="rect">
            <a:avLst/>
          </a:prstGeom>
        </p:spPr>
      </p:pic>
      <p:sp>
        <p:nvSpPr>
          <p:cNvPr id="23" name="TextBox 22"/>
          <p:cNvSpPr txBox="1"/>
          <p:nvPr/>
        </p:nvSpPr>
        <p:spPr>
          <a:xfrm>
            <a:off x="10535104" y="2885713"/>
            <a:ext cx="831423" cy="186689"/>
          </a:xfrm>
          <a:prstGeom prst="rect">
            <a:avLst/>
          </a:prstGeom>
          <a:noFill/>
        </p:spPr>
        <p:txBody>
          <a:bodyPr wrap="none" lIns="0" rIns="0" tIns="0" bIns="0">
            <a:spAutoFit/>
          </a:bodyPr>
          <a:lstStyle/>
          <a:p>
            <a:r>
              <a:rPr sz="1100" b="0">
                <a:solidFill>
                  <a:srgbClr val="252423"/>
                </a:solidFill>
                <a:latin typeface="Segoe UI"/>
              </a:rPr>
              <a:t>share (2036)</a:t>
            </a:r>
          </a:p>
        </p:txBody>
      </p:sp>
      <p:sp>
        <p:nvSpPr>
          <p:cNvPr id="24" name="TextBox 23"/>
          <p:cNvSpPr txBox="1"/>
          <p:nvPr/>
        </p:nvSpPr>
        <p:spPr>
          <a:xfrm>
            <a:off x="3784750" y="3842354"/>
            <a:ext cx="4677061" cy="186689"/>
          </a:xfrm>
          <a:prstGeom prst="rect">
            <a:avLst/>
          </a:prstGeom>
          <a:noFill/>
        </p:spPr>
        <p:txBody>
          <a:bodyPr wrap="none" lIns="0" rIns="0" tIns="0" bIns="0">
            <a:spAutoFit/>
          </a:bodyPr>
          <a:lstStyle/>
          <a:p>
            <a:r>
              <a:rPr sz="1100" b="0">
                <a:solidFill>
                  <a:srgbClr val="252423"/>
                </a:solidFill>
                <a:latin typeface="Segoe UI"/>
              </a:rPr>
              <a:t>Neutron Detection and Radiation Monitoring is the fastest-growing part of</a:t>
            </a:r>
          </a:p>
        </p:txBody>
      </p:sp>
      <p:sp>
        <p:nvSpPr>
          <p:cNvPr id="25" name="TextBox 24"/>
          <p:cNvSpPr txBox="1"/>
          <p:nvPr/>
        </p:nvSpPr>
        <p:spPr>
          <a:xfrm>
            <a:off x="3784750" y="4009994"/>
            <a:ext cx="1072926" cy="186689"/>
          </a:xfrm>
          <a:prstGeom prst="rect">
            <a:avLst/>
          </a:prstGeom>
          <a:noFill/>
        </p:spPr>
        <p:txBody>
          <a:bodyPr wrap="none" lIns="0" rIns="0" tIns="0" bIns="0">
            <a:spAutoFit/>
          </a:bodyPr>
          <a:lstStyle/>
          <a:p>
            <a:r>
              <a:rPr sz="1100" b="0">
                <a:solidFill>
                  <a:srgbClr val="252423"/>
                </a:solidFill>
                <a:latin typeface="Segoe UI"/>
              </a:rPr>
              <a:t>Application, at a</a:t>
            </a:r>
          </a:p>
        </p:txBody>
      </p:sp>
      <p:pic>
        <p:nvPicPr>
          <p:cNvPr id="26" name="Picture 25" descr="lock.png"/>
          <p:cNvPicPr>
            <a:picLocks noChangeAspect="1"/>
          </p:cNvPicPr>
          <p:nvPr/>
        </p:nvPicPr>
        <p:blipFill>
          <a:blip r:embed="rId4"/>
          <a:stretch>
            <a:fillRect/>
          </a:stretch>
        </p:blipFill>
        <p:spPr>
          <a:xfrm>
            <a:off x="4805728" y="4000215"/>
            <a:ext cx="128699" cy="187198"/>
          </a:xfrm>
          <a:prstGeom prst="rect">
            <a:avLst/>
          </a:prstGeom>
        </p:spPr>
      </p:pic>
      <p:sp>
        <p:nvSpPr>
          <p:cNvPr id="27" name="TextBox 26"/>
          <p:cNvSpPr txBox="1"/>
          <p:nvPr/>
        </p:nvSpPr>
        <p:spPr>
          <a:xfrm>
            <a:off x="4973224" y="4009994"/>
            <a:ext cx="2733642" cy="186689"/>
          </a:xfrm>
          <a:prstGeom prst="rect">
            <a:avLst/>
          </a:prstGeom>
          <a:noFill/>
        </p:spPr>
        <p:txBody>
          <a:bodyPr wrap="none" lIns="0" rIns="0" tIns="0" bIns="0">
            <a:spAutoFit/>
          </a:bodyPr>
          <a:lstStyle/>
          <a:p>
            <a:r>
              <a:rPr sz="1100" b="0">
                <a:solidFill>
                  <a:srgbClr val="252423"/>
                </a:solidFill>
                <a:latin typeface="Segoe UI"/>
              </a:rPr>
              <a:t>forecast CAGR outpacing the wider market.</a:t>
            </a:r>
          </a:p>
        </p:txBody>
      </p:sp>
      <p:sp>
        <p:nvSpPr>
          <p:cNvPr id="28" name="TextBox 27"/>
          <p:cNvSpPr txBox="1"/>
          <p:nvPr/>
        </p:nvSpPr>
        <p:spPr>
          <a:xfrm>
            <a:off x="8785375" y="3842354"/>
            <a:ext cx="2614665" cy="186689"/>
          </a:xfrm>
          <a:prstGeom prst="rect">
            <a:avLst/>
          </a:prstGeom>
          <a:noFill/>
        </p:spPr>
        <p:txBody>
          <a:bodyPr wrap="none" lIns="0" rIns="0" tIns="0" bIns="0">
            <a:spAutoFit/>
          </a:bodyPr>
          <a:lstStyle/>
          <a:p>
            <a:r>
              <a:rPr sz="1100" b="0">
                <a:solidFill>
                  <a:srgbClr val="252423"/>
                </a:solidFill>
                <a:latin typeface="Segoe UI"/>
              </a:rPr>
              <a:t>Fastest: Neutron Detection and Radiation</a:t>
            </a:r>
          </a:p>
        </p:txBody>
      </p:sp>
      <p:sp>
        <p:nvSpPr>
          <p:cNvPr id="29" name="TextBox 28"/>
          <p:cNvSpPr txBox="1"/>
          <p:nvPr/>
        </p:nvSpPr>
        <p:spPr>
          <a:xfrm>
            <a:off x="8785375" y="4009994"/>
            <a:ext cx="838257" cy="186689"/>
          </a:xfrm>
          <a:prstGeom prst="rect">
            <a:avLst/>
          </a:prstGeom>
          <a:noFill/>
        </p:spPr>
        <p:txBody>
          <a:bodyPr wrap="none" lIns="0" rIns="0" tIns="0" bIns="0">
            <a:spAutoFit/>
          </a:bodyPr>
          <a:lstStyle/>
          <a:p>
            <a:r>
              <a:rPr sz="1100" b="0">
                <a:solidFill>
                  <a:srgbClr val="252423"/>
                </a:solidFill>
                <a:latin typeface="Segoe UI"/>
              </a:rPr>
              <a:t>Monitoring ·</a:t>
            </a:r>
          </a:p>
        </p:txBody>
      </p:sp>
      <p:pic>
        <p:nvPicPr>
          <p:cNvPr id="30" name="Picture 29" descr="lock.png"/>
          <p:cNvPicPr>
            <a:picLocks noChangeAspect="1"/>
          </p:cNvPicPr>
          <p:nvPr/>
        </p:nvPicPr>
        <p:blipFill>
          <a:blip r:embed="rId4"/>
          <a:stretch>
            <a:fillRect/>
          </a:stretch>
        </p:blipFill>
        <p:spPr>
          <a:xfrm>
            <a:off x="9571683" y="4000215"/>
            <a:ext cx="128699" cy="187198"/>
          </a:xfrm>
          <a:prstGeom prst="rect">
            <a:avLst/>
          </a:prstGeom>
        </p:spPr>
      </p:pic>
      <p:sp>
        <p:nvSpPr>
          <p:cNvPr id="31" name="TextBox 30"/>
          <p:cNvSpPr txBox="1"/>
          <p:nvPr/>
        </p:nvSpPr>
        <p:spPr>
          <a:xfrm>
            <a:off x="9739179" y="4009994"/>
            <a:ext cx="556116" cy="186689"/>
          </a:xfrm>
          <a:prstGeom prst="rect">
            <a:avLst/>
          </a:prstGeom>
          <a:noFill/>
        </p:spPr>
        <p:txBody>
          <a:bodyPr wrap="none" lIns="0" rIns="0" tIns="0" bIns="0">
            <a:spAutoFit/>
          </a:bodyPr>
          <a:lstStyle/>
          <a:p>
            <a:r>
              <a:rPr sz="1100" b="0">
                <a:solidFill>
                  <a:srgbClr val="252423"/>
                </a:solidFill>
                <a:latin typeface="Segoe UI"/>
              </a:rPr>
              <a:t>F-CAGR</a:t>
            </a:r>
          </a:p>
        </p:txBody>
      </p:sp>
      <p:sp>
        <p:nvSpPr>
          <p:cNvPr id="32" name="TextBox 31"/>
          <p:cNvSpPr txBox="1"/>
          <p:nvPr/>
        </p:nvSpPr>
        <p:spPr>
          <a:xfrm>
            <a:off x="3784750" y="4882815"/>
            <a:ext cx="2891989" cy="186689"/>
          </a:xfrm>
          <a:prstGeom prst="rect">
            <a:avLst/>
          </a:prstGeom>
          <a:noFill/>
        </p:spPr>
        <p:txBody>
          <a:bodyPr wrap="none" lIns="0" rIns="0" tIns="0" bIns="0">
            <a:spAutoFit/>
          </a:bodyPr>
          <a:lstStyle/>
          <a:p>
            <a:r>
              <a:rPr sz="1100" b="0">
                <a:solidFill>
                  <a:srgbClr val="252423"/>
                </a:solidFill>
                <a:latin typeface="Segoe UI"/>
              </a:rPr>
              <a:t>North America is the largest regional market (</a:t>
            </a:r>
          </a:p>
        </p:txBody>
      </p:sp>
      <p:pic>
        <p:nvPicPr>
          <p:cNvPr id="33" name="Picture 32" descr="lock.png"/>
          <p:cNvPicPr>
            <a:picLocks noChangeAspect="1"/>
          </p:cNvPicPr>
          <p:nvPr/>
        </p:nvPicPr>
        <p:blipFill>
          <a:blip r:embed="rId4"/>
          <a:stretch>
            <a:fillRect/>
          </a:stretch>
        </p:blipFill>
        <p:spPr>
          <a:xfrm>
            <a:off x="6624791" y="4873036"/>
            <a:ext cx="128699" cy="187198"/>
          </a:xfrm>
          <a:prstGeom prst="rect">
            <a:avLst/>
          </a:prstGeom>
        </p:spPr>
      </p:pic>
      <p:sp>
        <p:nvSpPr>
          <p:cNvPr id="34" name="TextBox 33"/>
          <p:cNvSpPr txBox="1"/>
          <p:nvPr/>
        </p:nvSpPr>
        <p:spPr>
          <a:xfrm>
            <a:off x="6792287" y="4882815"/>
            <a:ext cx="1735060" cy="186689"/>
          </a:xfrm>
          <a:prstGeom prst="rect">
            <a:avLst/>
          </a:prstGeom>
          <a:noFill/>
        </p:spPr>
        <p:txBody>
          <a:bodyPr wrap="none" lIns="0" rIns="0" tIns="0" bIns="0">
            <a:spAutoFit/>
          </a:bodyPr>
          <a:lstStyle/>
          <a:p>
            <a:r>
              <a:rPr sz="1100" b="0">
                <a:solidFill>
                  <a:srgbClr val="252423"/>
                </a:solidFill>
                <a:latin typeface="Segoe UI"/>
              </a:rPr>
              <a:t>of 2036 value), while South</a:t>
            </a:r>
          </a:p>
        </p:txBody>
      </p:sp>
      <p:sp>
        <p:nvSpPr>
          <p:cNvPr id="35" name="TextBox 34"/>
          <p:cNvSpPr txBox="1"/>
          <p:nvPr/>
        </p:nvSpPr>
        <p:spPr>
          <a:xfrm>
            <a:off x="3784750" y="5050455"/>
            <a:ext cx="1916468" cy="186689"/>
          </a:xfrm>
          <a:prstGeom prst="rect">
            <a:avLst/>
          </a:prstGeom>
          <a:noFill/>
        </p:spPr>
        <p:txBody>
          <a:bodyPr wrap="none" lIns="0" rIns="0" tIns="0" bIns="0">
            <a:spAutoFit/>
          </a:bodyPr>
          <a:lstStyle/>
          <a:p>
            <a:r>
              <a:rPr sz="1100" b="0">
                <a:solidFill>
                  <a:srgbClr val="252423"/>
                </a:solidFill>
                <a:latin typeface="Segoe UI"/>
              </a:rPr>
              <a:t>Asia &amp; Pacific grows fastest at</a:t>
            </a:r>
          </a:p>
        </p:txBody>
      </p:sp>
      <p:pic>
        <p:nvPicPr>
          <p:cNvPr id="36" name="Picture 35" descr="lock.png"/>
          <p:cNvPicPr>
            <a:picLocks noChangeAspect="1"/>
          </p:cNvPicPr>
          <p:nvPr/>
        </p:nvPicPr>
        <p:blipFill>
          <a:blip r:embed="rId4"/>
          <a:stretch>
            <a:fillRect/>
          </a:stretch>
        </p:blipFill>
        <p:spPr>
          <a:xfrm>
            <a:off x="5649270" y="5040676"/>
            <a:ext cx="128699" cy="187198"/>
          </a:xfrm>
          <a:prstGeom prst="rect">
            <a:avLst/>
          </a:prstGeom>
        </p:spPr>
      </p:pic>
      <p:sp>
        <p:nvSpPr>
          <p:cNvPr id="37" name="TextBox 36"/>
          <p:cNvSpPr txBox="1"/>
          <p:nvPr/>
        </p:nvSpPr>
        <p:spPr>
          <a:xfrm>
            <a:off x="5816766" y="5050455"/>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38" name="TextBox 37"/>
          <p:cNvSpPr txBox="1"/>
          <p:nvPr/>
        </p:nvSpPr>
        <p:spPr>
          <a:xfrm>
            <a:off x="8785375" y="4882815"/>
            <a:ext cx="1574462" cy="186689"/>
          </a:xfrm>
          <a:prstGeom prst="rect">
            <a:avLst/>
          </a:prstGeom>
          <a:noFill/>
        </p:spPr>
        <p:txBody>
          <a:bodyPr wrap="none" lIns="0" rIns="0" tIns="0" bIns="0">
            <a:spAutoFit/>
          </a:bodyPr>
          <a:lstStyle/>
          <a:p>
            <a:r>
              <a:rPr sz="1100" b="0">
                <a:solidFill>
                  <a:srgbClr val="252423"/>
                </a:solidFill>
                <a:latin typeface="Segoe UI"/>
              </a:rPr>
              <a:t>Largest: North America (</a:t>
            </a:r>
          </a:p>
        </p:txBody>
      </p:sp>
      <p:pic>
        <p:nvPicPr>
          <p:cNvPr id="39" name="Picture 38" descr="lock.png"/>
          <p:cNvPicPr>
            <a:picLocks noChangeAspect="1"/>
          </p:cNvPicPr>
          <p:nvPr/>
        </p:nvPicPr>
        <p:blipFill>
          <a:blip r:embed="rId4"/>
          <a:stretch>
            <a:fillRect/>
          </a:stretch>
        </p:blipFill>
        <p:spPr>
          <a:xfrm>
            <a:off x="10307888" y="4873036"/>
            <a:ext cx="128699" cy="187198"/>
          </a:xfrm>
          <a:prstGeom prst="rect">
            <a:avLst/>
          </a:prstGeom>
        </p:spPr>
      </p:pic>
      <p:sp>
        <p:nvSpPr>
          <p:cNvPr id="40" name="TextBox 39"/>
          <p:cNvSpPr txBox="1"/>
          <p:nvPr/>
        </p:nvSpPr>
        <p:spPr>
          <a:xfrm>
            <a:off x="10475384" y="4882815"/>
            <a:ext cx="1373783" cy="186689"/>
          </a:xfrm>
          <a:prstGeom prst="rect">
            <a:avLst/>
          </a:prstGeom>
          <a:noFill/>
        </p:spPr>
        <p:txBody>
          <a:bodyPr wrap="none" lIns="0" rIns="0" tIns="0" bIns="0">
            <a:spAutoFit/>
          </a:bodyPr>
          <a:lstStyle/>
          <a:p>
            <a:r>
              <a:rPr sz="1100" b="0">
                <a:solidFill>
                  <a:srgbClr val="252423"/>
                </a:solidFill>
                <a:latin typeface="Segoe UI"/>
              </a:rPr>
              <a:t>) · Fastest: South Asia</a:t>
            </a:r>
          </a:p>
        </p:txBody>
      </p:sp>
      <p:sp>
        <p:nvSpPr>
          <p:cNvPr id="41" name="TextBox 40"/>
          <p:cNvSpPr txBox="1"/>
          <p:nvPr/>
        </p:nvSpPr>
        <p:spPr>
          <a:xfrm>
            <a:off x="8785375" y="5050455"/>
            <a:ext cx="696869" cy="186689"/>
          </a:xfrm>
          <a:prstGeom prst="rect">
            <a:avLst/>
          </a:prstGeom>
          <a:noFill/>
        </p:spPr>
        <p:txBody>
          <a:bodyPr wrap="none" lIns="0" rIns="0" tIns="0" bIns="0">
            <a:spAutoFit/>
          </a:bodyPr>
          <a:lstStyle/>
          <a:p>
            <a:r>
              <a:rPr sz="1100" b="0">
                <a:solidFill>
                  <a:srgbClr val="252423"/>
                </a:solidFill>
                <a:latin typeface="Segoe UI"/>
              </a:rPr>
              <a:t>&amp; Pacific (</a:t>
            </a:r>
          </a:p>
        </p:txBody>
      </p:sp>
      <p:pic>
        <p:nvPicPr>
          <p:cNvPr id="42" name="Picture 41" descr="lock.png"/>
          <p:cNvPicPr>
            <a:picLocks noChangeAspect="1"/>
          </p:cNvPicPr>
          <p:nvPr/>
        </p:nvPicPr>
        <p:blipFill>
          <a:blip r:embed="rId4"/>
          <a:stretch>
            <a:fillRect/>
          </a:stretch>
        </p:blipFill>
        <p:spPr>
          <a:xfrm>
            <a:off x="9430295" y="5040676"/>
            <a:ext cx="128699" cy="187198"/>
          </a:xfrm>
          <a:prstGeom prst="rect">
            <a:avLst/>
          </a:prstGeom>
        </p:spPr>
      </p:pic>
      <p:sp>
        <p:nvSpPr>
          <p:cNvPr id="43" name="TextBox 42"/>
          <p:cNvSpPr txBox="1"/>
          <p:nvPr/>
        </p:nvSpPr>
        <p:spPr>
          <a:xfrm>
            <a:off x="9597791" y="5050455"/>
            <a:ext cx="118491"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4" name="TextBox 43"/>
          <p:cNvSpPr txBox="1"/>
          <p:nvPr/>
        </p:nvSpPr>
        <p:spPr>
          <a:xfrm>
            <a:off x="3784750" y="5923276"/>
            <a:ext cx="1007958" cy="186689"/>
          </a:xfrm>
          <a:prstGeom prst="rect">
            <a:avLst/>
          </a:prstGeom>
          <a:noFill/>
        </p:spPr>
        <p:txBody>
          <a:bodyPr wrap="none" lIns="0" rIns="0" tIns="0" bIns="0">
            <a:spAutoFit/>
          </a:bodyPr>
          <a:lstStyle/>
          <a:p>
            <a:r>
              <a:rPr sz="1100" b="0">
                <a:solidFill>
                  <a:srgbClr val="252423"/>
                </a:solidFill>
                <a:latin typeface="Segoe UI"/>
              </a:rPr>
              <a:t>An incremental</a:t>
            </a:r>
          </a:p>
        </p:txBody>
      </p:sp>
      <p:pic>
        <p:nvPicPr>
          <p:cNvPr id="45" name="Picture 44" descr="lock.png"/>
          <p:cNvPicPr>
            <a:picLocks noChangeAspect="1"/>
          </p:cNvPicPr>
          <p:nvPr/>
        </p:nvPicPr>
        <p:blipFill>
          <a:blip r:embed="rId4"/>
          <a:stretch>
            <a:fillRect/>
          </a:stretch>
        </p:blipFill>
        <p:spPr>
          <a:xfrm>
            <a:off x="4740759" y="5913497"/>
            <a:ext cx="128699" cy="187198"/>
          </a:xfrm>
          <a:prstGeom prst="rect">
            <a:avLst/>
          </a:prstGeom>
        </p:spPr>
      </p:pic>
      <p:sp>
        <p:nvSpPr>
          <p:cNvPr id="46" name="TextBox 45"/>
          <p:cNvSpPr txBox="1"/>
          <p:nvPr/>
        </p:nvSpPr>
        <p:spPr>
          <a:xfrm>
            <a:off x="4908255" y="5923276"/>
            <a:ext cx="3383386" cy="186689"/>
          </a:xfrm>
          <a:prstGeom prst="rect">
            <a:avLst/>
          </a:prstGeom>
          <a:noFill/>
        </p:spPr>
        <p:txBody>
          <a:bodyPr wrap="none" lIns="0" rIns="0" tIns="0" bIns="0">
            <a:spAutoFit/>
          </a:bodyPr>
          <a:lstStyle/>
          <a:p>
            <a:r>
              <a:rPr sz="1100" b="0">
                <a:solidFill>
                  <a:srgbClr val="252423"/>
                </a:solidFill>
                <a:latin typeface="Segoe UI"/>
              </a:rPr>
              <a:t>US$ Mn of demand is added between 2026 and 2036,</a:t>
            </a:r>
          </a:p>
        </p:txBody>
      </p:sp>
      <p:sp>
        <p:nvSpPr>
          <p:cNvPr id="47" name="TextBox 46"/>
          <p:cNvSpPr txBox="1"/>
          <p:nvPr/>
        </p:nvSpPr>
        <p:spPr>
          <a:xfrm>
            <a:off x="3784750" y="6090916"/>
            <a:ext cx="3625214" cy="186689"/>
          </a:xfrm>
          <a:prstGeom prst="rect">
            <a:avLst/>
          </a:prstGeom>
          <a:noFill/>
        </p:spPr>
        <p:txBody>
          <a:bodyPr wrap="none" lIns="0" rIns="0" tIns="0" bIns="0">
            <a:spAutoFit/>
          </a:bodyPr>
          <a:lstStyle/>
          <a:p>
            <a:r>
              <a:rPr sz="1100" b="0">
                <a:solidFill>
                  <a:srgbClr val="252423"/>
                </a:solidFill>
                <a:latin typeface="Segoe UI"/>
              </a:rPr>
              <a:t>front-loaded in the leading categories and regions above.</a:t>
            </a:r>
          </a:p>
        </p:txBody>
      </p:sp>
      <p:sp>
        <p:nvSpPr>
          <p:cNvPr id="48" name="TextBox 47"/>
          <p:cNvSpPr txBox="1"/>
          <p:nvPr/>
        </p:nvSpPr>
        <p:spPr>
          <a:xfrm>
            <a:off x="8785375" y="5923276"/>
            <a:ext cx="921012" cy="186689"/>
          </a:xfrm>
          <a:prstGeom prst="rect">
            <a:avLst/>
          </a:prstGeom>
          <a:noFill/>
        </p:spPr>
        <p:txBody>
          <a:bodyPr wrap="none" lIns="0" rIns="0" tIns="0" bIns="0">
            <a:spAutoFit/>
          </a:bodyPr>
          <a:lstStyle/>
          <a:p>
            <a:r>
              <a:rPr sz="1100" b="0">
                <a:solidFill>
                  <a:srgbClr val="252423"/>
                </a:solidFill>
                <a:latin typeface="Segoe UI"/>
              </a:rPr>
              <a:t>$ opportunity</a:t>
            </a:r>
          </a:p>
        </p:txBody>
      </p:sp>
      <p:pic>
        <p:nvPicPr>
          <p:cNvPr id="49" name="Picture 48" descr="lock.png"/>
          <p:cNvPicPr>
            <a:picLocks noChangeAspect="1"/>
          </p:cNvPicPr>
          <p:nvPr/>
        </p:nvPicPr>
        <p:blipFill>
          <a:blip r:embed="rId4"/>
          <a:stretch>
            <a:fillRect/>
          </a:stretch>
        </p:blipFill>
        <p:spPr>
          <a:xfrm>
            <a:off x="9654438" y="5913497"/>
            <a:ext cx="128699" cy="187198"/>
          </a:xfrm>
          <a:prstGeom prst="rect">
            <a:avLst/>
          </a:prstGeom>
        </p:spPr>
      </p:pic>
      <p:sp>
        <p:nvSpPr>
          <p:cNvPr id="50" name="TextBox 49"/>
          <p:cNvSpPr txBox="1"/>
          <p:nvPr/>
        </p:nvSpPr>
        <p:spPr>
          <a:xfrm>
            <a:off x="9821934" y="5923276"/>
            <a:ext cx="1428179" cy="186689"/>
          </a:xfrm>
          <a:prstGeom prst="rect">
            <a:avLst/>
          </a:prstGeom>
          <a:noFill/>
        </p:spPr>
        <p:txBody>
          <a:bodyPr wrap="none" lIns="0" rIns="0" tIns="0" bIns="0">
            <a:spAutoFit/>
          </a:bodyPr>
          <a:lstStyle/>
          <a:p>
            <a:r>
              <a:rPr sz="1100" b="0">
                <a:solidFill>
                  <a:srgbClr val="252423"/>
                </a:solidFill>
                <a:latin typeface="Segoe UI"/>
              </a:rPr>
              <a:t>US$ Mn (2026–2036) ·</a:t>
            </a:r>
          </a:p>
        </p:txBody>
      </p:sp>
      <p:pic>
        <p:nvPicPr>
          <p:cNvPr id="51" name="Picture 50" descr="lock.png"/>
          <p:cNvPicPr>
            <a:picLocks noChangeAspect="1"/>
          </p:cNvPicPr>
          <p:nvPr/>
        </p:nvPicPr>
        <p:blipFill>
          <a:blip r:embed="rId4"/>
          <a:stretch>
            <a:fillRect/>
          </a:stretch>
        </p:blipFill>
        <p:spPr>
          <a:xfrm>
            <a:off x="11198165" y="5913497"/>
            <a:ext cx="128699" cy="187198"/>
          </a:xfrm>
          <a:prstGeom prst="rect">
            <a:avLst/>
          </a:prstGeom>
        </p:spPr>
      </p:pic>
      <p:sp>
        <p:nvSpPr>
          <p:cNvPr id="52" name="TextBox 51"/>
          <p:cNvSpPr txBox="1"/>
          <p:nvPr/>
        </p:nvSpPr>
        <p:spPr>
          <a:xfrm>
            <a:off x="11365661" y="5923276"/>
            <a:ext cx="225995" cy="186689"/>
          </a:xfrm>
          <a:prstGeom prst="rect">
            <a:avLst/>
          </a:prstGeom>
          <a:noFill/>
        </p:spPr>
        <p:txBody>
          <a:bodyPr wrap="none" lIns="0" rIns="0" tIns="0" bIns="0">
            <a:spAutoFit/>
          </a:bodyPr>
          <a:lstStyle/>
          <a:p>
            <a:r>
              <a:rPr sz="1100" b="0">
                <a:solidFill>
                  <a:srgbClr val="252423"/>
                </a:solidFill>
                <a:latin typeface="Segoe UI"/>
              </a:rPr>
              <a:t>by</a:t>
            </a:r>
          </a:p>
        </p:txBody>
      </p:sp>
      <p:sp>
        <p:nvSpPr>
          <p:cNvPr id="53" name="TextBox 52"/>
          <p:cNvSpPr txBox="1"/>
          <p:nvPr/>
        </p:nvSpPr>
        <p:spPr>
          <a:xfrm>
            <a:off x="8785375" y="6090916"/>
            <a:ext cx="377428" cy="186689"/>
          </a:xfrm>
          <a:prstGeom prst="rect">
            <a:avLst/>
          </a:prstGeom>
          <a:noFill/>
        </p:spPr>
        <p:txBody>
          <a:bodyPr wrap="none" lIns="0" rIns="0" tIns="0" bIns="0">
            <a:spAutoFit/>
          </a:bodyPr>
          <a:lstStyle/>
          <a:p>
            <a:r>
              <a:rPr sz="1100" b="0">
                <a:solidFill>
                  <a:srgbClr val="252423"/>
                </a:solidFill>
                <a:latin typeface="Segoe UI"/>
              </a:rPr>
              <a:t>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Taxonomy</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Table of Contents</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Taxonomy Regions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Geographic scope of the study: the global market broken into 7 regions and the countries assessed under each</a:t>
            </a:r>
          </a:p>
        </p:txBody>
      </p:sp>
      <p:cxnSp>
        <p:nvCxnSpPr>
          <p:cNvPr id="8" name="Connector 7"/>
          <p:cNvCxnSpPr/>
          <p:nvPr/>
        </p:nvCxnSpPr>
        <p:spPr>
          <a:xfrm>
            <a:off x="6096000" y="1445350"/>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2975" y="1627887"/>
            <a:ext cx="10296525" cy="0"/>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2975"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657475"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71975"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86475"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10500"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25000"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239500" y="1627887"/>
            <a:ext cx="0" cy="182537"/>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9650"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9650" y="2558825"/>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9650" y="3106436"/>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24150"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24150" y="2558825"/>
            <a:ext cx="0" cy="237298"/>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24150" y="3097309"/>
            <a:ext cx="0" cy="237298"/>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38650"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38650" y="2558825"/>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38650" y="3106436"/>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53150"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53150" y="2558825"/>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53150" y="3106436"/>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53150" y="3827457"/>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877175"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77175" y="2558825"/>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77175" y="3106436"/>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77175" y="3663174"/>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877175" y="4210785"/>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77175" y="4767523"/>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5315134"/>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77175" y="5871872"/>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591675"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91675" y="2558825"/>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3106436"/>
            <a:ext cx="0" cy="237298"/>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3644920"/>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91675" y="4365941"/>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306175" y="2093356"/>
            <a:ext cx="0" cy="164283"/>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306175" y="2732236"/>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3288973"/>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3836584"/>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4393322"/>
            <a:ext cx="0" cy="246425"/>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306175" y="4940933"/>
            <a:ext cx="0" cy="255552"/>
          </a:xfrm>
          <a:prstGeom prst="line">
            <a:avLst/>
          </a:prstGeom>
          <a:ln w="15875">
            <a:solidFill>
              <a:srgbClr val="8FB9CC"/>
            </a:solidFill>
          </a:ln>
          <a:effectLst/>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4667250" y="1080276"/>
            <a:ext cx="2857500" cy="365074"/>
          </a:xfrm>
          <a:prstGeom prst="roundRect">
            <a:avLst>
              <a:gd name="adj" fmla="val 17500"/>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Segoe UI"/>
              </a:rPr>
              <a:t>Helium-3 Market</a:t>
            </a:r>
          </a:p>
        </p:txBody>
      </p:sp>
      <p:sp>
        <p:nvSpPr>
          <p:cNvPr id="50" name="Rounded Rectangle 49"/>
          <p:cNvSpPr/>
          <p:nvPr/>
        </p:nvSpPr>
        <p:spPr>
          <a:xfrm>
            <a:off x="142875"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North America</a:t>
            </a:r>
          </a:p>
        </p:txBody>
      </p:sp>
      <p:sp>
        <p:nvSpPr>
          <p:cNvPr id="51" name="Rounded Rectangle 50"/>
          <p:cNvSpPr/>
          <p:nvPr/>
        </p:nvSpPr>
        <p:spPr>
          <a:xfrm>
            <a:off x="276225"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U.S.</a:t>
            </a:r>
          </a:p>
        </p:txBody>
      </p:sp>
      <p:sp>
        <p:nvSpPr>
          <p:cNvPr id="52" name="Rounded Rectangle 51"/>
          <p:cNvSpPr/>
          <p:nvPr/>
        </p:nvSpPr>
        <p:spPr>
          <a:xfrm>
            <a:off x="276225" y="2805250"/>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Canada</a:t>
            </a:r>
          </a:p>
        </p:txBody>
      </p:sp>
      <p:sp>
        <p:nvSpPr>
          <p:cNvPr id="53" name="Rounded Rectangle 52"/>
          <p:cNvSpPr/>
          <p:nvPr/>
        </p:nvSpPr>
        <p:spPr>
          <a:xfrm>
            <a:off x="276225" y="3352861"/>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Mexico</a:t>
            </a:r>
          </a:p>
        </p:txBody>
      </p:sp>
      <p:sp>
        <p:nvSpPr>
          <p:cNvPr id="54" name="Rounded Rectangle 53"/>
          <p:cNvSpPr/>
          <p:nvPr/>
        </p:nvSpPr>
        <p:spPr>
          <a:xfrm>
            <a:off x="1857375"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Latin America</a:t>
            </a:r>
          </a:p>
        </p:txBody>
      </p:sp>
      <p:sp>
        <p:nvSpPr>
          <p:cNvPr id="55" name="Rounded Rectangle 54"/>
          <p:cNvSpPr/>
          <p:nvPr/>
        </p:nvSpPr>
        <p:spPr>
          <a:xfrm>
            <a:off x="1990725"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Brazil</a:t>
            </a:r>
          </a:p>
        </p:txBody>
      </p:sp>
      <p:sp>
        <p:nvSpPr>
          <p:cNvPr id="56" name="Rounded Rectangle 55"/>
          <p:cNvSpPr/>
          <p:nvPr/>
        </p:nvSpPr>
        <p:spPr>
          <a:xfrm>
            <a:off x="1990725" y="2796123"/>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Chile</a:t>
            </a:r>
          </a:p>
        </p:txBody>
      </p:sp>
      <p:sp>
        <p:nvSpPr>
          <p:cNvPr id="57" name="Rounded Rectangle 56"/>
          <p:cNvSpPr/>
          <p:nvPr/>
        </p:nvSpPr>
        <p:spPr>
          <a:xfrm>
            <a:off x="1990725" y="3334608"/>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Latin America</a:t>
            </a:r>
          </a:p>
        </p:txBody>
      </p:sp>
      <p:sp>
        <p:nvSpPr>
          <p:cNvPr id="58" name="Rounded Rectangle 57"/>
          <p:cNvSpPr/>
          <p:nvPr/>
        </p:nvSpPr>
        <p:spPr>
          <a:xfrm>
            <a:off x="3571875"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East Asia</a:t>
            </a:r>
          </a:p>
        </p:txBody>
      </p:sp>
      <p:sp>
        <p:nvSpPr>
          <p:cNvPr id="59" name="Rounded Rectangle 58"/>
          <p:cNvSpPr/>
          <p:nvPr/>
        </p:nvSpPr>
        <p:spPr>
          <a:xfrm>
            <a:off x="3705225"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China</a:t>
            </a:r>
          </a:p>
        </p:txBody>
      </p:sp>
      <p:sp>
        <p:nvSpPr>
          <p:cNvPr id="60" name="Rounded Rectangle 59"/>
          <p:cNvSpPr/>
          <p:nvPr/>
        </p:nvSpPr>
        <p:spPr>
          <a:xfrm>
            <a:off x="3705225" y="2805250"/>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Japan</a:t>
            </a:r>
          </a:p>
        </p:txBody>
      </p:sp>
      <p:sp>
        <p:nvSpPr>
          <p:cNvPr id="61" name="Rounded Rectangle 60"/>
          <p:cNvSpPr/>
          <p:nvPr/>
        </p:nvSpPr>
        <p:spPr>
          <a:xfrm>
            <a:off x="3705225" y="3352861"/>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South Korea</a:t>
            </a:r>
          </a:p>
        </p:txBody>
      </p:sp>
      <p:sp>
        <p:nvSpPr>
          <p:cNvPr id="62" name="Rounded Rectangle 61"/>
          <p:cNvSpPr/>
          <p:nvPr/>
        </p:nvSpPr>
        <p:spPr>
          <a:xfrm>
            <a:off x="5286375"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South Asia &amp; Pacific</a:t>
            </a:r>
          </a:p>
        </p:txBody>
      </p:sp>
      <p:sp>
        <p:nvSpPr>
          <p:cNvPr id="63" name="Rounded Rectangle 62"/>
          <p:cNvSpPr/>
          <p:nvPr/>
        </p:nvSpPr>
        <p:spPr>
          <a:xfrm>
            <a:off x="5419725"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India</a:t>
            </a:r>
          </a:p>
        </p:txBody>
      </p:sp>
      <p:sp>
        <p:nvSpPr>
          <p:cNvPr id="64" name="Rounded Rectangle 63"/>
          <p:cNvSpPr/>
          <p:nvPr/>
        </p:nvSpPr>
        <p:spPr>
          <a:xfrm>
            <a:off x="5419725" y="2805250"/>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ASEAN</a:t>
            </a:r>
          </a:p>
        </p:txBody>
      </p:sp>
      <p:sp>
        <p:nvSpPr>
          <p:cNvPr id="65" name="Rounded Rectangle 64"/>
          <p:cNvSpPr/>
          <p:nvPr/>
        </p:nvSpPr>
        <p:spPr>
          <a:xfrm>
            <a:off x="5419725" y="3352861"/>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Australia &amp; New Zealand</a:t>
            </a:r>
          </a:p>
        </p:txBody>
      </p:sp>
      <p:sp>
        <p:nvSpPr>
          <p:cNvPr id="66" name="Rounded Rectangle 65"/>
          <p:cNvSpPr/>
          <p:nvPr/>
        </p:nvSpPr>
        <p:spPr>
          <a:xfrm>
            <a:off x="5419725" y="4073882"/>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South Asia</a:t>
            </a:r>
          </a:p>
        </p:txBody>
      </p:sp>
      <p:sp>
        <p:nvSpPr>
          <p:cNvPr id="67" name="Rounded Rectangle 66"/>
          <p:cNvSpPr/>
          <p:nvPr/>
        </p:nvSpPr>
        <p:spPr>
          <a:xfrm>
            <a:off x="7010400"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Western Europe</a:t>
            </a:r>
          </a:p>
        </p:txBody>
      </p:sp>
      <p:sp>
        <p:nvSpPr>
          <p:cNvPr id="68" name="Rounded Rectangle 67"/>
          <p:cNvSpPr/>
          <p:nvPr/>
        </p:nvSpPr>
        <p:spPr>
          <a:xfrm>
            <a:off x="7143750"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Germany</a:t>
            </a:r>
          </a:p>
        </p:txBody>
      </p:sp>
      <p:sp>
        <p:nvSpPr>
          <p:cNvPr id="69" name="Rounded Rectangle 68"/>
          <p:cNvSpPr/>
          <p:nvPr/>
        </p:nvSpPr>
        <p:spPr>
          <a:xfrm>
            <a:off x="7143750" y="2805250"/>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Italy</a:t>
            </a:r>
          </a:p>
        </p:txBody>
      </p:sp>
      <p:sp>
        <p:nvSpPr>
          <p:cNvPr id="70" name="Rounded Rectangle 69"/>
          <p:cNvSpPr/>
          <p:nvPr/>
        </p:nvSpPr>
        <p:spPr>
          <a:xfrm>
            <a:off x="7143750" y="3361988"/>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France</a:t>
            </a:r>
          </a:p>
        </p:txBody>
      </p:sp>
      <p:sp>
        <p:nvSpPr>
          <p:cNvPr id="71" name="Rounded Rectangle 70"/>
          <p:cNvSpPr/>
          <p:nvPr/>
        </p:nvSpPr>
        <p:spPr>
          <a:xfrm>
            <a:off x="7143750" y="390959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U.K.</a:t>
            </a:r>
          </a:p>
        </p:txBody>
      </p:sp>
      <p:sp>
        <p:nvSpPr>
          <p:cNvPr id="72" name="Rounded Rectangle 71"/>
          <p:cNvSpPr/>
          <p:nvPr/>
        </p:nvSpPr>
        <p:spPr>
          <a:xfrm>
            <a:off x="7143750" y="446633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Spain</a:t>
            </a:r>
          </a:p>
        </p:txBody>
      </p:sp>
      <p:sp>
        <p:nvSpPr>
          <p:cNvPr id="73" name="Rounded Rectangle 72"/>
          <p:cNvSpPr/>
          <p:nvPr/>
        </p:nvSpPr>
        <p:spPr>
          <a:xfrm>
            <a:off x="7143750" y="5013948"/>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BENELUX</a:t>
            </a:r>
          </a:p>
        </p:txBody>
      </p:sp>
      <p:sp>
        <p:nvSpPr>
          <p:cNvPr id="74" name="Rounded Rectangle 73"/>
          <p:cNvSpPr/>
          <p:nvPr/>
        </p:nvSpPr>
        <p:spPr>
          <a:xfrm>
            <a:off x="7143750" y="5570686"/>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Nordic Countries</a:t>
            </a:r>
          </a:p>
        </p:txBody>
      </p:sp>
      <p:sp>
        <p:nvSpPr>
          <p:cNvPr id="75" name="Rounded Rectangle 74"/>
          <p:cNvSpPr/>
          <p:nvPr/>
        </p:nvSpPr>
        <p:spPr>
          <a:xfrm>
            <a:off x="7143750" y="6118296"/>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Western Europe</a:t>
            </a:r>
          </a:p>
        </p:txBody>
      </p:sp>
      <p:sp>
        <p:nvSpPr>
          <p:cNvPr id="76" name="Rounded Rectangle 75"/>
          <p:cNvSpPr/>
          <p:nvPr/>
        </p:nvSpPr>
        <p:spPr>
          <a:xfrm>
            <a:off x="8724900"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Eastern Europe</a:t>
            </a:r>
          </a:p>
        </p:txBody>
      </p:sp>
      <p:sp>
        <p:nvSpPr>
          <p:cNvPr id="77" name="Rounded Rectangle 76"/>
          <p:cNvSpPr/>
          <p:nvPr/>
        </p:nvSpPr>
        <p:spPr>
          <a:xfrm>
            <a:off x="8858250" y="2257639"/>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Russia</a:t>
            </a:r>
          </a:p>
        </p:txBody>
      </p:sp>
      <p:sp>
        <p:nvSpPr>
          <p:cNvPr id="78" name="Rounded Rectangle 77"/>
          <p:cNvSpPr/>
          <p:nvPr/>
        </p:nvSpPr>
        <p:spPr>
          <a:xfrm>
            <a:off x="8858250" y="2805250"/>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Hungary</a:t>
            </a:r>
          </a:p>
        </p:txBody>
      </p:sp>
      <p:sp>
        <p:nvSpPr>
          <p:cNvPr id="79" name="Rounded Rectangle 78"/>
          <p:cNvSpPr/>
          <p:nvPr/>
        </p:nvSpPr>
        <p:spPr>
          <a:xfrm>
            <a:off x="8858250" y="3343734"/>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Poland</a:t>
            </a:r>
          </a:p>
        </p:txBody>
      </p:sp>
      <p:sp>
        <p:nvSpPr>
          <p:cNvPr id="80" name="Rounded Rectangle 79"/>
          <p:cNvSpPr/>
          <p:nvPr/>
        </p:nvSpPr>
        <p:spPr>
          <a:xfrm>
            <a:off x="8858250" y="3891345"/>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Balkan &amp; Baltic Countries</a:t>
            </a:r>
          </a:p>
        </p:txBody>
      </p:sp>
      <p:sp>
        <p:nvSpPr>
          <p:cNvPr id="81" name="Rounded Rectangle 80"/>
          <p:cNvSpPr/>
          <p:nvPr/>
        </p:nvSpPr>
        <p:spPr>
          <a:xfrm>
            <a:off x="8858250" y="4612366"/>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Eastern Europe</a:t>
            </a:r>
          </a:p>
        </p:txBody>
      </p:sp>
      <p:sp>
        <p:nvSpPr>
          <p:cNvPr id="82" name="Rounded Rectangle 81"/>
          <p:cNvSpPr/>
          <p:nvPr/>
        </p:nvSpPr>
        <p:spPr>
          <a:xfrm>
            <a:off x="10439400" y="1810424"/>
            <a:ext cx="1600200" cy="282932"/>
          </a:xfrm>
          <a:prstGeom prst="roundRect">
            <a:avLst>
              <a:gd name="adj" fmla="val 22580"/>
            </a:avLst>
          </a:prstGeom>
          <a:solidFill>
            <a:srgbClr val="00A4DC"/>
          </a:solidFill>
          <a:ln w="12700">
            <a:solidFill>
              <a:srgbClr val="00A4D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Segoe UI"/>
              </a:rPr>
              <a:t>Middle East &amp; Africa</a:t>
            </a:r>
          </a:p>
        </p:txBody>
      </p:sp>
      <p:sp>
        <p:nvSpPr>
          <p:cNvPr id="83" name="Rounded Rectangle 82"/>
          <p:cNvSpPr/>
          <p:nvPr/>
        </p:nvSpPr>
        <p:spPr>
          <a:xfrm>
            <a:off x="10572750" y="2257639"/>
            <a:ext cx="1466850" cy="474596"/>
          </a:xfrm>
          <a:prstGeom prst="roundRect">
            <a:avLst>
              <a:gd name="adj" fmla="val 13461"/>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Kingdom of Saudi Arabia</a:t>
            </a:r>
          </a:p>
        </p:txBody>
      </p:sp>
      <p:sp>
        <p:nvSpPr>
          <p:cNvPr id="84" name="Rounded Rectangle 83"/>
          <p:cNvSpPr/>
          <p:nvPr/>
        </p:nvSpPr>
        <p:spPr>
          <a:xfrm>
            <a:off x="10572750" y="298778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Other GCC Countries</a:t>
            </a:r>
          </a:p>
        </p:txBody>
      </p:sp>
      <p:sp>
        <p:nvSpPr>
          <p:cNvPr id="85" name="Rounded Rectangle 84"/>
          <p:cNvSpPr/>
          <p:nvPr/>
        </p:nvSpPr>
        <p:spPr>
          <a:xfrm>
            <a:off x="10572750" y="3535398"/>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Turkiye</a:t>
            </a:r>
          </a:p>
        </p:txBody>
      </p:sp>
      <p:sp>
        <p:nvSpPr>
          <p:cNvPr id="86" name="Rounded Rectangle 85"/>
          <p:cNvSpPr/>
          <p:nvPr/>
        </p:nvSpPr>
        <p:spPr>
          <a:xfrm>
            <a:off x="10572750" y="4092136"/>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South Africa</a:t>
            </a:r>
          </a:p>
        </p:txBody>
      </p:sp>
      <p:sp>
        <p:nvSpPr>
          <p:cNvPr id="87" name="Rounded Rectangle 86"/>
          <p:cNvSpPr/>
          <p:nvPr/>
        </p:nvSpPr>
        <p:spPr>
          <a:xfrm>
            <a:off x="10572750" y="4639747"/>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Other African Union</a:t>
            </a:r>
          </a:p>
        </p:txBody>
      </p:sp>
      <p:sp>
        <p:nvSpPr>
          <p:cNvPr id="88" name="Rounded Rectangle 87"/>
          <p:cNvSpPr/>
          <p:nvPr/>
        </p:nvSpPr>
        <p:spPr>
          <a:xfrm>
            <a:off x="10572750" y="5196485"/>
            <a:ext cx="1466850" cy="301186"/>
          </a:xfrm>
          <a:prstGeom prst="roundRect">
            <a:avLst>
              <a:gd name="adj" fmla="val 21212"/>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F3D4C"/>
                </a:solidFill>
                <a:latin typeface="Segoe UI"/>
              </a:rPr>
              <a:t>Rest of MEA</a:t>
            </a:r>
          </a:p>
        </p:txBody>
      </p:sp>
      <p:sp>
        <p:nvSpPr>
          <p:cNvPr id="89" name="TextBox 8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Taxonomy Segments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Segmentation framework of the study: 4 axes and the sub-segments sized under each</a:t>
            </a:r>
          </a:p>
        </p:txBody>
      </p:sp>
      <p:sp>
        <p:nvSpPr>
          <p:cNvPr id="8" name="Rectangle 7"/>
          <p:cNvSpPr/>
          <p:nvPr/>
        </p:nvSpPr>
        <p:spPr>
          <a:xfrm>
            <a:off x="1428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Product Form</a:t>
            </a:r>
          </a:p>
        </p:txBody>
      </p:sp>
      <p:sp>
        <p:nvSpPr>
          <p:cNvPr id="11" name="TextBox 10"/>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2" name="TextBox 11"/>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Gaseous Helium-3</a:t>
            </a:r>
          </a:p>
        </p:txBody>
      </p:sp>
      <p:cxnSp>
        <p:nvCxnSpPr>
          <p:cNvPr id="13" name="Connector 12"/>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5" name="TextBox 14"/>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Liquid Helium-3</a:t>
            </a:r>
          </a:p>
        </p:txBody>
      </p:sp>
      <p:sp>
        <p:nvSpPr>
          <p:cNvPr id="16" name="Rectangle 15"/>
          <p:cNvSpPr/>
          <p:nvPr/>
        </p:nvSpPr>
        <p:spPr>
          <a:xfrm>
            <a:off x="31527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527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Supply Source</a:t>
            </a:r>
          </a:p>
        </p:txBody>
      </p:sp>
      <p:sp>
        <p:nvSpPr>
          <p:cNvPr id="19" name="TextBox 18"/>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0" name="TextBox 19"/>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Tritium-Decay-Derived Helium-3</a:t>
            </a:r>
          </a:p>
        </p:txBody>
      </p:sp>
      <p:cxnSp>
        <p:nvCxnSpPr>
          <p:cNvPr id="21" name="Connector 20"/>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3" name="TextBox 22"/>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Terrestrial Natural / Geological Helium-3</a:t>
            </a:r>
          </a:p>
        </p:txBody>
      </p:sp>
      <p:sp>
        <p:nvSpPr>
          <p:cNvPr id="24" name="Rectangle 23"/>
          <p:cNvSpPr/>
          <p:nvPr/>
        </p:nvSpPr>
        <p:spPr>
          <a:xfrm>
            <a:off x="61626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626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Application</a:t>
            </a:r>
          </a:p>
        </p:txBody>
      </p:sp>
      <p:sp>
        <p:nvSpPr>
          <p:cNvPr id="27" name="TextBox 26"/>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8" name="TextBox 27"/>
          <p:cNvSpPr txBox="1"/>
          <p:nvPr/>
        </p:nvSpPr>
        <p:spPr>
          <a:xfrm>
            <a:off x="6410325" y="1257300"/>
            <a:ext cx="259080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Neutron Detection and Radiation Monitoring</a:t>
            </a:r>
          </a:p>
        </p:txBody>
      </p:sp>
      <p:cxnSp>
        <p:nvCxnSpPr>
          <p:cNvPr id="29" name="Connector 28"/>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1" name="TextBox 30"/>
          <p:cNvSpPr txBox="1"/>
          <p:nvPr/>
        </p:nvSpPr>
        <p:spPr>
          <a:xfrm>
            <a:off x="6410325" y="1611630"/>
            <a:ext cx="259080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Cryogenic Refrigeration and Ultra-Low-Temperature Cooling</a:t>
            </a:r>
          </a:p>
        </p:txBody>
      </p:sp>
      <p:cxnSp>
        <p:nvCxnSpPr>
          <p:cNvPr id="32" name="Connector 31"/>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219825" y="196596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4" name="TextBox 33"/>
          <p:cNvSpPr txBox="1"/>
          <p:nvPr/>
        </p:nvSpPr>
        <p:spPr>
          <a:xfrm>
            <a:off x="6410325" y="196596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Medical and Biomedical Imaging</a:t>
            </a:r>
          </a:p>
        </p:txBody>
      </p:sp>
      <p:cxnSp>
        <p:nvCxnSpPr>
          <p:cNvPr id="35" name="Connector 34"/>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19825" y="214312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7" name="TextBox 36"/>
          <p:cNvSpPr txBox="1"/>
          <p:nvPr/>
        </p:nvSpPr>
        <p:spPr>
          <a:xfrm>
            <a:off x="6410325" y="214312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Nuclear Fusion Research</a:t>
            </a:r>
          </a:p>
        </p:txBody>
      </p:sp>
      <p:sp>
        <p:nvSpPr>
          <p:cNvPr id="38" name="Rectangle 37"/>
          <p:cNvSpPr/>
          <p:nvPr/>
        </p:nvSpPr>
        <p:spPr>
          <a:xfrm>
            <a:off x="91725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72575" y="1028700"/>
            <a:ext cx="2876550" cy="228600"/>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Segoe UI"/>
              </a:rPr>
              <a:t>By End User</a:t>
            </a:r>
          </a:p>
        </p:txBody>
      </p:sp>
      <p:sp>
        <p:nvSpPr>
          <p:cNvPr id="41" name="TextBox 40"/>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2" name="TextBox 41"/>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Government and Defense Agencies</a:t>
            </a:r>
          </a:p>
        </p:txBody>
      </p:sp>
      <p:cxnSp>
        <p:nvCxnSpPr>
          <p:cNvPr id="43" name="Connector 42"/>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5" name="TextBox 44"/>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Academic Institutions and Universities</a:t>
            </a:r>
          </a:p>
        </p:txBody>
      </p:sp>
      <p:cxnSp>
        <p:nvCxnSpPr>
          <p:cNvPr id="46" name="Connector 45"/>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8" name="TextBox 47"/>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Independent Research Institutions</a:t>
            </a:r>
          </a:p>
        </p:txBody>
      </p:sp>
      <p:cxnSp>
        <p:nvCxnSpPr>
          <p:cNvPr id="49" name="Connector 48"/>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1" name="TextBox 50"/>
          <p:cNvSpPr txBox="1"/>
          <p:nvPr/>
        </p:nvSpPr>
        <p:spPr>
          <a:xfrm>
            <a:off x="9420225" y="1788795"/>
            <a:ext cx="2590800" cy="354330"/>
          </a:xfrm>
          <a:prstGeom prst="rect">
            <a:avLst/>
          </a:prstGeom>
          <a:noFill/>
        </p:spPr>
        <p:txBody>
          <a:bodyPr wrap="square" lIns="28575" rIns="28575" tIns="9525" bIns="9525" anchor="t">
            <a:spAutoFit/>
          </a:bodyPr>
          <a:lstStyle/>
          <a:p>
            <a:pPr algn="l">
              <a:lnSpc>
                <a:spcPct val="100000"/>
              </a:lnSpc>
            </a:pPr>
            <a:r>
              <a:rPr sz="1100" b="0">
                <a:solidFill>
                  <a:srgbClr val="252423"/>
                </a:solidFill>
                <a:latin typeface="Segoe UI"/>
              </a:rPr>
              <a:t>Healthcare and Medical Research Institutions</a:t>
            </a:r>
          </a:p>
        </p:txBody>
      </p:sp>
      <p:cxnSp>
        <p:nvCxnSpPr>
          <p:cNvPr id="52" name="Connector 51"/>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4" name="TextBox 53"/>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Commercial and Industrial Enterprises</a:t>
            </a:r>
          </a:p>
        </p:txBody>
      </p:sp>
      <p:cxnSp>
        <p:nvCxnSpPr>
          <p:cNvPr id="55" name="Connector 54"/>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229725" y="2320290"/>
            <a:ext cx="190500" cy="177165"/>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7" name="TextBox 56"/>
          <p:cNvSpPr txBox="1"/>
          <p:nvPr/>
        </p:nvSpPr>
        <p:spPr>
          <a:xfrm>
            <a:off x="9420225" y="2320290"/>
            <a:ext cx="2590800" cy="177165"/>
          </a:xfrm>
          <a:prstGeom prst="rect">
            <a:avLst/>
          </a:prstGeom>
          <a:noFill/>
        </p:spPr>
        <p:txBody>
          <a:bodyPr wrap="square" lIns="28575" rIns="28575" tIns="9525" bIns="9525" anchor="ctr">
            <a:spAutoFit/>
          </a:bodyPr>
          <a:lstStyle/>
          <a:p>
            <a:pPr algn="l"/>
            <a:r>
              <a:rPr sz="1100" b="0">
                <a:solidFill>
                  <a:srgbClr val="252423"/>
                </a:solidFill>
                <a:latin typeface="Segoe UI"/>
              </a:rPr>
              <a:t>Other End Users</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Company Coverage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Companies profiled and benchmarked across the competition assessment</a:t>
            </a:r>
          </a:p>
        </p:txBody>
      </p:sp>
      <p:sp>
        <p:nvSpPr>
          <p:cNvPr id="8" name="TextBox 7"/>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05E5C"/>
                </a:solidFill>
                <a:latin typeface="Segoe UI"/>
              </a:rPr>
              <a:t>Companies covered in this study of the Helium-3 Market profiled and benchmarked in the Competition Assessment section.</a:t>
            </a:r>
          </a:p>
        </p:txBody>
      </p:sp>
      <p:sp>
        <p:nvSpPr>
          <p:cNvPr id="9" name="Rectangle 8"/>
          <p:cNvSpPr/>
          <p:nvPr/>
        </p:nvSpPr>
        <p:spPr>
          <a:xfrm>
            <a:off x="142875" y="2084229"/>
            <a:ext cx="5857875" cy="3595978"/>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2875" y="2084229"/>
            <a:ext cx="5857875" cy="273805"/>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2148117"/>
            <a:ext cx="5857875" cy="164283"/>
          </a:xfrm>
          <a:prstGeom prst="rect">
            <a:avLst/>
          </a:prstGeom>
          <a:noFill/>
        </p:spPr>
        <p:txBody>
          <a:bodyPr wrap="square" lIns="28575" rIns="28575" tIns="9525" bIns="9525" anchor="ctr">
            <a:spAutoFit/>
          </a:bodyPr>
          <a:lstStyle/>
          <a:p>
            <a:pPr algn="ctr"/>
            <a:r>
              <a:rPr sz="1100" b="1">
                <a:solidFill>
                  <a:srgbClr val="FFFFFF"/>
                </a:solidFill>
                <a:latin typeface="Segoe UI"/>
              </a:rPr>
              <a:t>List Companies</a:t>
            </a:r>
          </a:p>
        </p:txBody>
      </p:sp>
      <p:sp>
        <p:nvSpPr>
          <p:cNvPr id="12" name="TextBox 11"/>
          <p:cNvSpPr txBox="1"/>
          <p:nvPr/>
        </p:nvSpPr>
        <p:spPr>
          <a:xfrm>
            <a:off x="333375" y="2358035"/>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3" name="TextBox 12"/>
          <p:cNvSpPr txBox="1"/>
          <p:nvPr/>
        </p:nvSpPr>
        <p:spPr>
          <a:xfrm>
            <a:off x="581025" y="2358035"/>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Air Liquide</a:t>
            </a:r>
          </a:p>
        </p:txBody>
      </p:sp>
      <p:sp>
        <p:nvSpPr>
          <p:cNvPr id="14" name="Rectangle 13"/>
          <p:cNvSpPr/>
          <p:nvPr/>
        </p:nvSpPr>
        <p:spPr>
          <a:xfrm>
            <a:off x="152400" y="2832631"/>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52400"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17" name="TextBox 16"/>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Linde</a:t>
            </a:r>
          </a:p>
        </p:txBody>
      </p:sp>
      <p:cxnSp>
        <p:nvCxnSpPr>
          <p:cNvPr id="18" name="Connector 17"/>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0" name="TextBox 19"/>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Chemgas</a:t>
            </a:r>
          </a:p>
        </p:txBody>
      </p:sp>
      <p:sp>
        <p:nvSpPr>
          <p:cNvPr id="21" name="Rectangle 20"/>
          <p:cNvSpPr/>
          <p:nvPr/>
        </p:nvSpPr>
        <p:spPr>
          <a:xfrm>
            <a:off x="152400" y="378182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4" name="TextBox 23"/>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Airgas</a:t>
            </a:r>
          </a:p>
        </p:txBody>
      </p:sp>
      <p:cxnSp>
        <p:nvCxnSpPr>
          <p:cNvPr id="25" name="Connector 24"/>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27" name="TextBox 26"/>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Merck KGaA (Sigma-Aldrich)</a:t>
            </a:r>
          </a:p>
        </p:txBody>
      </p:sp>
      <p:sp>
        <p:nvSpPr>
          <p:cNvPr id="28" name="Rectangle 27"/>
          <p:cNvSpPr/>
          <p:nvPr/>
        </p:nvSpPr>
        <p:spPr>
          <a:xfrm>
            <a:off x="152400" y="473101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1" name="TextBox 30"/>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Eurisotop</a:t>
            </a:r>
          </a:p>
        </p:txBody>
      </p:sp>
      <p:cxnSp>
        <p:nvCxnSpPr>
          <p:cNvPr id="32" name="Connector 31"/>
          <p:cNvCxnSpPr/>
          <p:nvPr/>
        </p:nvCxnSpPr>
        <p:spPr>
          <a:xfrm>
            <a:off x="152400"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33375" y="5205612"/>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4" name="TextBox 33"/>
          <p:cNvSpPr txBox="1"/>
          <p:nvPr/>
        </p:nvSpPr>
        <p:spPr>
          <a:xfrm>
            <a:off x="581025" y="5205612"/>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ISOFLEX USA</a:t>
            </a:r>
          </a:p>
        </p:txBody>
      </p:sp>
      <p:sp>
        <p:nvSpPr>
          <p:cNvPr id="35" name="Rectangle 34"/>
          <p:cNvSpPr/>
          <p:nvPr/>
        </p:nvSpPr>
        <p:spPr>
          <a:xfrm>
            <a:off x="6191250" y="2084229"/>
            <a:ext cx="5857875" cy="3595978"/>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1250" y="2084229"/>
            <a:ext cx="5857875" cy="273805"/>
          </a:xfrm>
          <a:prstGeom prst="rect">
            <a:avLst/>
          </a:prstGeom>
          <a:solidFill>
            <a:srgbClr val="007BA5"/>
          </a:solidFill>
          <a:ln w="12700">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1250" y="2148117"/>
            <a:ext cx="5857875" cy="164283"/>
          </a:xfrm>
          <a:prstGeom prst="rect">
            <a:avLst/>
          </a:prstGeom>
          <a:noFill/>
        </p:spPr>
        <p:txBody>
          <a:bodyPr wrap="square" lIns="28575" rIns="28575" tIns="9525" bIns="9525" anchor="ctr">
            <a:spAutoFit/>
          </a:bodyPr>
          <a:lstStyle/>
          <a:p>
            <a:pPr algn="ctr"/>
            <a:r>
              <a:rPr sz="1100" b="1">
                <a:solidFill>
                  <a:srgbClr val="FFFFFF"/>
                </a:solidFill>
                <a:latin typeface="Segoe UI"/>
              </a:rPr>
              <a:t>List Companies</a:t>
            </a:r>
          </a:p>
        </p:txBody>
      </p:sp>
      <p:sp>
        <p:nvSpPr>
          <p:cNvPr id="38" name="TextBox 37"/>
          <p:cNvSpPr txBox="1"/>
          <p:nvPr/>
        </p:nvSpPr>
        <p:spPr>
          <a:xfrm>
            <a:off x="6381750" y="2358035"/>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39" name="TextBox 38"/>
          <p:cNvSpPr txBox="1"/>
          <p:nvPr/>
        </p:nvSpPr>
        <p:spPr>
          <a:xfrm>
            <a:off x="6629400" y="2358035"/>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DWS Specialty Gas</a:t>
            </a:r>
          </a:p>
        </p:txBody>
      </p:sp>
      <p:sp>
        <p:nvSpPr>
          <p:cNvPr id="40" name="Rectangle 39"/>
          <p:cNvSpPr/>
          <p:nvPr/>
        </p:nvSpPr>
        <p:spPr>
          <a:xfrm>
            <a:off x="6200775" y="2832631"/>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6200775"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43" name="TextBox 42"/>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Wuhan Baisida Gas</a:t>
            </a:r>
          </a:p>
        </p:txBody>
      </p:sp>
      <p:cxnSp>
        <p:nvCxnSpPr>
          <p:cNvPr id="44" name="Connector 43"/>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46" name="TextBox 45"/>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Shanghai Wechem Chemical</a:t>
            </a:r>
          </a:p>
        </p:txBody>
      </p:sp>
      <p:sp>
        <p:nvSpPr>
          <p:cNvPr id="47" name="Rectangle 46"/>
          <p:cNvSpPr/>
          <p:nvPr/>
        </p:nvSpPr>
        <p:spPr>
          <a:xfrm>
            <a:off x="6200775" y="378182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0" name="TextBox 49"/>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Laurentis Energy Partners</a:t>
            </a:r>
          </a:p>
        </p:txBody>
      </p:sp>
      <p:cxnSp>
        <p:nvCxnSpPr>
          <p:cNvPr id="51" name="Connector 50"/>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3" name="TextBox 52"/>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V/O Izotop (Rosatom Group)</a:t>
            </a:r>
          </a:p>
        </p:txBody>
      </p:sp>
      <p:sp>
        <p:nvSpPr>
          <p:cNvPr id="54" name="Rectangle 53"/>
          <p:cNvSpPr/>
          <p:nvPr/>
        </p:nvSpPr>
        <p:spPr>
          <a:xfrm>
            <a:off x="6200775" y="473101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05E5C"/>
                </a:solidFill>
                <a:latin typeface="Segoe UI"/>
              </a:rPr>
              <a:t>❑</a:t>
            </a:r>
          </a:p>
        </p:txBody>
      </p:sp>
      <p:sp>
        <p:nvSpPr>
          <p:cNvPr id="57" name="TextBox 56"/>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52423"/>
                </a:solidFill>
                <a:latin typeface="Segoe UI"/>
              </a:rPr>
              <a:t>Changyou Gas</a:t>
            </a:r>
          </a:p>
        </p:txBody>
      </p:sp>
      <p:cxnSp>
        <p:nvCxnSpPr>
          <p:cNvPr id="58" name="Connector 57"/>
          <p:cNvCxnSpPr/>
          <p:nvPr/>
        </p:nvCxnSpPr>
        <p:spPr>
          <a:xfrm>
            <a:off x="6200775"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Segoe UI"/>
              </a:rPr>
              <a:t>Note: the list of companies is indicative and can be customised on request.</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0526E"/>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(1/8)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 Scope / Limitations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Key Market Trends</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Key Trends Impacting the Market</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Product Innovation / Development Trends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Key Success Factors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Product Adoption / Usage Analysis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Product USPs / Features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Strategic Promotional Strategies</a:t>
                      </a:r>
                      <a:endParaRPr sz="1100"/>
                    </a:p>
                  </a:txBody>
                  <a:tcPr marL="4286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Helium-3 Market Demand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Historical Market Volume (Units) Analysis, 2021–2025</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Current and Future Market Volume (Units) Projections, 2026–2036</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Helium-3 Market - Pricing Analysis</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Regional Pricing Analysis By Product Form</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Global Average Pricing Analysis Benchmark</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Helium-3 Selling Price and Transaction Data</a:t>
                      </a:r>
                      <a:endParaRPr sz="1100"/>
                    </a:p>
                  </a:txBody>
                  <a:tcPr marL="428625" marR="9525" marT="9525" marB="0" anchor="ctr"/>
                </a:tc>
              </a:tr>
              <a:tr h="175260">
                <a:tc>
                  <a:txBody>
                    <a:bodyPr wrap="square"/>
                    <a:lstStyle/>
                    <a:p>
                      <a:pPr algn="l"/>
                      <a:r>
                        <a:rPr sz="1100" b="0" i="0">
                          <a:solidFill>
                            <a:srgbClr val="000000"/>
                          </a:solidFill>
                          <a:latin typeface="Calibri"/>
                        </a:rPr>
                        <a:t>6.3.1.</a:t>
                      </a:r>
                      <a:r>
                        <a:rPr sz="700" b="0" i="0">
                          <a:solidFill>
                            <a:srgbClr val="000000"/>
                          </a:solidFill>
                          <a:latin typeface="Times New Roman"/>
                        </a:rPr>
                        <a:t>   </a:t>
                      </a:r>
                      <a:r>
                        <a:rPr sz="1100" b="0" i="0">
                          <a:solidFill>
                            <a:srgbClr val="000000"/>
                          </a:solidFill>
                          <a:latin typeface="Calibri"/>
                        </a:rPr>
                        <a:t>Average Realized Selling Price by Isotopic Purity</a:t>
                      </a:r>
                      <a:endParaRPr sz="1100"/>
                    </a:p>
                  </a:txBody>
                  <a:tcPr marL="771525" marR="9525" marT="9525" marB="0" anchor="ctr"/>
                </a:tc>
              </a:tr>
              <a:tr h="175260">
                <a:tc>
                  <a:txBody>
                    <a:bodyPr wrap="square"/>
                    <a:lstStyle/>
                    <a:p>
                      <a:pPr algn="l"/>
                      <a:r>
                        <a:rPr sz="1100" b="0" i="0">
                          <a:solidFill>
                            <a:srgbClr val="000000"/>
                          </a:solidFill>
                          <a:latin typeface="Calibri"/>
                        </a:rPr>
                        <a:t>6.3.2.</a:t>
                      </a:r>
                      <a:r>
                        <a:rPr sz="700" b="0" i="0">
                          <a:solidFill>
                            <a:srgbClr val="000000"/>
                          </a:solidFill>
                          <a:latin typeface="Times New Roman"/>
                        </a:rPr>
                        <a:t>   </a:t>
                      </a:r>
                      <a:r>
                        <a:rPr sz="1100" b="0" i="0">
                          <a:solidFill>
                            <a:srgbClr val="000000"/>
                          </a:solidFill>
                          <a:latin typeface="Calibri"/>
                        </a:rPr>
                        <a:t>Selling Price by Order Volume and Cylinder Package Size</a:t>
                      </a:r>
                      <a:endParaRPr sz="1100"/>
                    </a:p>
                  </a:txBody>
                  <a:tcPr marL="771525" marR="9525" marT="9525" marB="0" anchor="ctr"/>
                </a:tc>
              </a:tr>
              <a:tr h="175260">
                <a:tc>
                  <a:txBody>
                    <a:bodyPr wrap="square"/>
                    <a:lstStyle/>
                    <a:p>
                      <a:pPr algn="l"/>
                      <a:r>
                        <a:rPr sz="1100" b="0" i="0">
                          <a:solidFill>
                            <a:srgbClr val="000000"/>
                          </a:solidFill>
                          <a:latin typeface="Calibri"/>
                        </a:rPr>
                        <a:t>6.3.3.</a:t>
                      </a:r>
                      <a:r>
                        <a:rPr sz="700" b="0" i="0">
                          <a:solidFill>
                            <a:srgbClr val="000000"/>
                          </a:solidFill>
                          <a:latin typeface="Times New Roman"/>
                        </a:rPr>
                        <a:t>   </a:t>
                      </a:r>
                      <a:r>
                        <a:rPr sz="1100" b="0" i="0">
                          <a:solidFill>
                            <a:srgbClr val="000000"/>
                          </a:solidFill>
                          <a:latin typeface="Calibri"/>
                        </a:rPr>
                        <a:t>Government Procurement versus Commercial Contract Prices</a:t>
                      </a:r>
                      <a:endParaRPr sz="1100"/>
                    </a:p>
                  </a:txBody>
                  <a:tcPr marL="771525" marR="9525" marT="9525" marB="0" anchor="ctr"/>
                </a:tc>
              </a:tr>
              <a:tr h="175260">
                <a:tc>
                  <a:txBody>
                    <a:bodyPr wrap="square"/>
                    <a:lstStyle/>
                    <a:p>
                      <a:pPr algn="l"/>
                      <a:r>
                        <a:rPr sz="1100" b="0" i="0">
                          <a:solidFill>
                            <a:srgbClr val="000000"/>
                          </a:solidFill>
                          <a:latin typeface="Calibri"/>
                        </a:rPr>
                        <a:t>6.3.4.</a:t>
                      </a:r>
                      <a:r>
                        <a:rPr sz="700" b="0" i="0">
                          <a:solidFill>
                            <a:srgbClr val="000000"/>
                          </a:solidFill>
                          <a:latin typeface="Times New Roman"/>
                        </a:rPr>
                        <a:t>   </a:t>
                      </a:r>
                      <a:r>
                        <a:rPr sz="1100" b="0" i="0">
                          <a:solidFill>
                            <a:srgbClr val="000000"/>
                          </a:solidFill>
                          <a:latin typeface="Calibri"/>
                        </a:rPr>
                        <a:t>Gaseous versus Liquid Helium-3 Pricing</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Helium-3 Market Demand (US$ Mn)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Historical Market Value (US$ Mn) Analysis, 2021–2025</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Current and Future Market Value (US$ Mn) Projections, 2026–2036</a:t>
                      </a:r>
                      <a:endParaRPr sz="1100"/>
                    </a:p>
                  </a:txBody>
                  <a:tcPr marL="4286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Value Chain</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Dynamics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Drivers</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Restraints</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Opportunity Analysis</a:t>
                      </a:r>
                      <a:endParaRPr sz="1100"/>
                    </a:p>
                  </a:txBody>
                  <a:tcPr marL="7715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Helium-3 Adoption and Penetration Rates</a:t>
                      </a:r>
                      <a:endParaRPr sz="1100"/>
                    </a:p>
                  </a:txBody>
                  <a:tcPr marL="428625" marR="9525" marT="9525" marB="0" anchor="ctr"/>
                </a:tc>
              </a:tr>
              <a:tr h="35052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Helium-3-Based Detectors as a Share of Addressable Neutron Detection Systems</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Helium-3 Adoption in Active Cryogenic Refrigeration Systems</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Active Helium-3 Procurement Organizations by Application</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Helium-3 Usage Share Relative to Alternative Detection Technologies</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Helium-3 Market Analysis 2021–2025 and Forecast 2026–2036, by Product Form</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Historical Market Size (US$ Mn) and Volume Analysis By Product Form, 2021–2025</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Size (US$ Mn) and Volume Analysis and Forecast By Product Form, 2026–2036</a:t>
                      </a:r>
                      <a:endParaRPr sz="1100"/>
                    </a:p>
                  </a:txBody>
                  <a:tcPr marL="428625" marR="9525" marT="9525" marB="0" anchor="ctr"/>
                </a:tc>
              </a:tr>
              <a:tr h="175260">
                <a:tc>
                  <a:txBody>
                    <a:bodyPr wrap="square"/>
                    <a:lstStyle/>
                    <a:p>
                      <a:pPr algn="l"/>
                      <a:r>
                        <a:rPr sz="1100" b="0" i="0">
                          <a:solidFill>
                            <a:srgbClr val="000000"/>
                          </a:solidFill>
                          <a:latin typeface="Calibri"/>
                        </a:rPr>
                        <a:t>9.3.1.</a:t>
                      </a:r>
                      <a:r>
                        <a:rPr sz="700" b="0" i="0">
                          <a:solidFill>
                            <a:srgbClr val="000000"/>
                          </a:solidFill>
                          <a:latin typeface="Times New Roman"/>
                        </a:rPr>
                        <a:t>   </a:t>
                      </a:r>
                      <a:r>
                        <a:rPr sz="1100" b="0" i="0">
                          <a:solidFill>
                            <a:srgbClr val="000000"/>
                          </a:solidFill>
                          <a:latin typeface="Calibri"/>
                        </a:rPr>
                        <a:t>Gaseous Helium-3</a:t>
                      </a:r>
                      <a:endParaRPr sz="1100"/>
                    </a:p>
                  </a:txBody>
                  <a:tcPr marL="771525" marR="9525" marT="9525" marB="0" anchor="ctr"/>
                </a:tc>
              </a:tr>
              <a:tr h="175260">
                <a:tc>
                  <a:txBody>
                    <a:bodyPr wrap="square"/>
                    <a:lstStyle/>
                    <a:p>
                      <a:pPr algn="l"/>
                      <a:r>
                        <a:rPr sz="1100" b="0" i="0">
                          <a:solidFill>
                            <a:srgbClr val="000000"/>
                          </a:solidFill>
                          <a:latin typeface="Calibri"/>
                        </a:rPr>
                        <a:t>9.3.2.</a:t>
                      </a:r>
                      <a:r>
                        <a:rPr sz="700" b="0" i="0">
                          <a:solidFill>
                            <a:srgbClr val="000000"/>
                          </a:solidFill>
                          <a:latin typeface="Times New Roman"/>
                        </a:rPr>
                        <a:t>   </a:t>
                      </a:r>
                      <a:r>
                        <a:rPr sz="1100" b="0" i="0">
                          <a:solidFill>
                            <a:srgbClr val="000000"/>
                          </a:solidFill>
                          <a:latin typeface="Calibri"/>
                        </a:rPr>
                        <a:t>Liquid Helium-3</a:t>
                      </a:r>
                      <a:endParaRPr sz="1100"/>
                    </a:p>
                  </a:txBody>
                  <a:tcPr marL="7715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Market Attractiveness Analysis By Product Form</a:t>
                      </a:r>
                      <a:endParaRPr sz="1100"/>
                    </a:p>
                  </a:txBody>
                  <a:tcPr marL="4286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Helium-3 Market Analysis 2021–2025 and Forecast 2026–2036, by Supply Source</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Historical Market Size (US$ Mn) and Volume Analysis By Supply Source, 2021–2025</a:t>
                      </a:r>
                      <a:endParaRPr sz="1100"/>
                    </a:p>
                  </a:txBody>
                  <a:tcPr marL="428625" marR="9525" marT="9525" marB="0" anchor="ctr"/>
                </a:tc>
              </a:tr>
              <a:tr h="35052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Size (US$ Mn) and Volume Analysis and Forecast By Supply Source, 2026–2036</a:t>
                      </a:r>
                      <a:endParaRPr sz="1100"/>
                    </a:p>
                  </a:txBody>
                  <a:tcPr marL="428625" marR="9525" marT="9525" marB="0" anchor="ctr"/>
                </a:tc>
              </a:tr>
              <a:tr h="175260">
                <a:tc>
                  <a:txBody>
                    <a:bodyPr wrap="square"/>
                    <a:lstStyle/>
                    <a:p>
                      <a:pPr algn="l"/>
                      <a:r>
                        <a:rPr sz="1100" b="0" i="0">
                          <a:solidFill>
                            <a:srgbClr val="000000"/>
                          </a:solidFill>
                          <a:latin typeface="Calibri"/>
                        </a:rPr>
                        <a:t>10.3.1.</a:t>
                      </a:r>
                      <a:r>
                        <a:rPr sz="700" b="0" i="0">
                          <a:solidFill>
                            <a:srgbClr val="000000"/>
                          </a:solidFill>
                          <a:latin typeface="Times New Roman"/>
                        </a:rPr>
                        <a:t> </a:t>
                      </a:r>
                      <a:r>
                        <a:rPr sz="1100" b="0" i="0">
                          <a:solidFill>
                            <a:srgbClr val="000000"/>
                          </a:solidFill>
                          <a:latin typeface="Calibri"/>
                        </a:rPr>
                        <a:t>Tritium-Decay-Derived Helium-3</a:t>
                      </a:r>
                      <a:endParaRPr sz="1100"/>
                    </a:p>
                  </a:txBody>
                  <a:tcPr marL="771525" marR="9525" marT="9525" marB="0" anchor="ctr"/>
                </a:tc>
              </a:tr>
              <a:tr h="175260">
                <a:tc>
                  <a:txBody>
                    <a:bodyPr wrap="square"/>
                    <a:lstStyle/>
                    <a:p>
                      <a:pPr algn="l"/>
                      <a:r>
                        <a:rPr sz="1100" b="0" i="0">
                          <a:solidFill>
                            <a:srgbClr val="000000"/>
                          </a:solidFill>
                          <a:latin typeface="Calibri"/>
                        </a:rPr>
                        <a:t>10.3.2.</a:t>
                      </a:r>
                      <a:r>
                        <a:rPr sz="700" b="0" i="0">
                          <a:solidFill>
                            <a:srgbClr val="000000"/>
                          </a:solidFill>
                          <a:latin typeface="Times New Roman"/>
                        </a:rPr>
                        <a:t> </a:t>
                      </a:r>
                      <a:r>
                        <a:rPr sz="1100" b="0" i="0">
                          <a:solidFill>
                            <a:srgbClr val="000000"/>
                          </a:solidFill>
                          <a:latin typeface="Calibri"/>
                        </a:rPr>
                        <a:t>Terrestrial Natural / Geological Helium-3</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(2/8)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Attractiveness Analysis By Supply Source</a:t>
                      </a:r>
                      <a:endParaRPr sz="1100"/>
                    </a:p>
                  </a:txBody>
                  <a:tcPr marL="4286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Helium-3 Market Analysis 2021–2025 and Forecast 2026–2036, by Application</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Historical Market Size (US$ Mn) and Volume Analysis By Application, 2021–2025</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Size (US$ Mn) and Volume Analysis and Forecast By Application, 2026–2036</a:t>
                      </a:r>
                      <a:endParaRPr sz="1100"/>
                    </a:p>
                  </a:txBody>
                  <a:tcPr marL="428625" marR="9525" marT="9525" marB="0" anchor="ctr"/>
                </a:tc>
              </a:tr>
              <a:tr h="175260">
                <a:tc>
                  <a:txBody>
                    <a:bodyPr wrap="square"/>
                    <a:lstStyle/>
                    <a:p>
                      <a:pPr algn="l"/>
                      <a:r>
                        <a:rPr sz="1100" b="0" i="0">
                          <a:solidFill>
                            <a:srgbClr val="000000"/>
                          </a:solidFill>
                          <a:latin typeface="Calibri"/>
                        </a:rPr>
                        <a:t>11.3.1.</a:t>
                      </a:r>
                      <a:r>
                        <a:rPr sz="700" b="0" i="0">
                          <a:solidFill>
                            <a:srgbClr val="000000"/>
                          </a:solidFill>
                          <a:latin typeface="Times New Roman"/>
                        </a:rPr>
                        <a:t> </a:t>
                      </a:r>
                      <a:r>
                        <a:rPr sz="1100" b="0" i="0">
                          <a:solidFill>
                            <a:srgbClr val="000000"/>
                          </a:solidFill>
                          <a:latin typeface="Calibri"/>
                        </a:rPr>
                        <a:t>Neutron Detection and Radiation Monitoring</a:t>
                      </a:r>
                      <a:endParaRPr sz="1100"/>
                    </a:p>
                  </a:txBody>
                  <a:tcPr marL="771525" marR="9525" marT="9525" marB="0" anchor="ctr"/>
                </a:tc>
              </a:tr>
              <a:tr h="175260">
                <a:tc>
                  <a:txBody>
                    <a:bodyPr wrap="square"/>
                    <a:lstStyle/>
                    <a:p>
                      <a:pPr algn="l"/>
                      <a:r>
                        <a:rPr sz="1100" b="0" i="0">
                          <a:solidFill>
                            <a:srgbClr val="000000"/>
                          </a:solidFill>
                          <a:latin typeface="Calibri"/>
                        </a:rPr>
                        <a:t>11.3.2.</a:t>
                      </a:r>
                      <a:r>
                        <a:rPr sz="700" b="0" i="0">
                          <a:solidFill>
                            <a:srgbClr val="000000"/>
                          </a:solidFill>
                          <a:latin typeface="Times New Roman"/>
                        </a:rPr>
                        <a:t> </a:t>
                      </a:r>
                      <a:r>
                        <a:rPr sz="1100" b="0" i="0">
                          <a:solidFill>
                            <a:srgbClr val="000000"/>
                          </a:solidFill>
                          <a:latin typeface="Calibri"/>
                        </a:rPr>
                        <a:t>Cryogenic Refrigeration and Ultra-Low-Temperature Cooling</a:t>
                      </a:r>
                      <a:endParaRPr sz="1100"/>
                    </a:p>
                  </a:txBody>
                  <a:tcPr marL="771525" marR="9525" marT="9525" marB="0" anchor="ctr"/>
                </a:tc>
              </a:tr>
              <a:tr h="175260">
                <a:tc>
                  <a:txBody>
                    <a:bodyPr wrap="square"/>
                    <a:lstStyle/>
                    <a:p>
                      <a:pPr algn="l"/>
                      <a:r>
                        <a:rPr sz="1100" b="0" i="0">
                          <a:solidFill>
                            <a:srgbClr val="000000"/>
                          </a:solidFill>
                          <a:latin typeface="Calibri"/>
                        </a:rPr>
                        <a:t>11.3.3.</a:t>
                      </a:r>
                      <a:r>
                        <a:rPr sz="700" b="0" i="0">
                          <a:solidFill>
                            <a:srgbClr val="000000"/>
                          </a:solidFill>
                          <a:latin typeface="Times New Roman"/>
                        </a:rPr>
                        <a:t> </a:t>
                      </a:r>
                      <a:r>
                        <a:rPr sz="1100" b="0" i="0">
                          <a:solidFill>
                            <a:srgbClr val="000000"/>
                          </a:solidFill>
                          <a:latin typeface="Calibri"/>
                        </a:rPr>
                        <a:t>Medical and Biomedical Imaging</a:t>
                      </a:r>
                      <a:endParaRPr sz="1100"/>
                    </a:p>
                  </a:txBody>
                  <a:tcPr marL="771525" marR="9525" marT="9525" marB="0" anchor="ctr"/>
                </a:tc>
              </a:tr>
              <a:tr h="175260">
                <a:tc>
                  <a:txBody>
                    <a:bodyPr wrap="square"/>
                    <a:lstStyle/>
                    <a:p>
                      <a:pPr algn="l"/>
                      <a:r>
                        <a:rPr sz="1100" b="0" i="0">
                          <a:solidFill>
                            <a:srgbClr val="000000"/>
                          </a:solidFill>
                          <a:latin typeface="Calibri"/>
                        </a:rPr>
                        <a:t>11.3.4.</a:t>
                      </a:r>
                      <a:r>
                        <a:rPr sz="700" b="0" i="0">
                          <a:solidFill>
                            <a:srgbClr val="000000"/>
                          </a:solidFill>
                          <a:latin typeface="Times New Roman"/>
                        </a:rPr>
                        <a:t> </a:t>
                      </a:r>
                      <a:r>
                        <a:rPr sz="1100" b="0" i="0">
                          <a:solidFill>
                            <a:srgbClr val="000000"/>
                          </a:solidFill>
                          <a:latin typeface="Calibri"/>
                        </a:rPr>
                        <a:t>Nuclear Fusion Research</a:t>
                      </a:r>
                      <a:endParaRPr sz="1100"/>
                    </a:p>
                  </a:txBody>
                  <a:tcPr marL="7715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Analysis By Application</a:t>
                      </a:r>
                      <a:endParaRPr sz="1100"/>
                    </a:p>
                  </a:txBody>
                  <a:tcPr marL="4286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Helium-3 Market Analysis 2021–2025 and Forecast 2026–2036, by End User</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Historical Market Size (US$ Mn) and Volume Analysis By End User, 2021–2025</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Size (US$ Mn) and Volume Analysis and Forecast By End User, 2026–2036</a:t>
                      </a:r>
                      <a:endParaRPr sz="1100"/>
                    </a:p>
                  </a:txBody>
                  <a:tcPr marL="428625" marR="9525" marT="9525" marB="0" anchor="ctr"/>
                </a:tc>
              </a:tr>
              <a:tr h="175260">
                <a:tc>
                  <a:txBody>
                    <a:bodyPr wrap="square"/>
                    <a:lstStyle/>
                    <a:p>
                      <a:pPr algn="l"/>
                      <a:r>
                        <a:rPr sz="1100" b="0" i="0">
                          <a:solidFill>
                            <a:srgbClr val="000000"/>
                          </a:solidFill>
                          <a:latin typeface="Calibri"/>
                        </a:rPr>
                        <a:t>12.3.1.</a:t>
                      </a:r>
                      <a:r>
                        <a:rPr sz="700" b="0" i="0">
                          <a:solidFill>
                            <a:srgbClr val="000000"/>
                          </a:solidFill>
                          <a:latin typeface="Times New Roman"/>
                        </a:rPr>
                        <a:t> </a:t>
                      </a:r>
                      <a:r>
                        <a:rPr sz="1100" b="0" i="0">
                          <a:solidFill>
                            <a:srgbClr val="000000"/>
                          </a:solidFill>
                          <a:latin typeface="Calibri"/>
                        </a:rPr>
                        <a:t>Government and Defense Agencies</a:t>
                      </a:r>
                      <a:endParaRPr sz="1100"/>
                    </a:p>
                  </a:txBody>
                  <a:tcPr marL="771525" marR="9525" marT="9525" marB="0" anchor="ctr"/>
                </a:tc>
              </a:tr>
              <a:tr h="175260">
                <a:tc>
                  <a:txBody>
                    <a:bodyPr wrap="square"/>
                    <a:lstStyle/>
                    <a:p>
                      <a:pPr algn="l"/>
                      <a:r>
                        <a:rPr sz="1100" b="0" i="0">
                          <a:solidFill>
                            <a:srgbClr val="000000"/>
                          </a:solidFill>
                          <a:latin typeface="Calibri"/>
                        </a:rPr>
                        <a:t>12.3.2.</a:t>
                      </a:r>
                      <a:r>
                        <a:rPr sz="700" b="0" i="0">
                          <a:solidFill>
                            <a:srgbClr val="000000"/>
                          </a:solidFill>
                          <a:latin typeface="Times New Roman"/>
                        </a:rPr>
                        <a:t> </a:t>
                      </a:r>
                      <a:r>
                        <a:rPr sz="1100" b="0" i="0">
                          <a:solidFill>
                            <a:srgbClr val="000000"/>
                          </a:solidFill>
                          <a:latin typeface="Calibri"/>
                        </a:rPr>
                        <a:t>Academic Institutions and Universities</a:t>
                      </a:r>
                      <a:endParaRPr sz="1100"/>
                    </a:p>
                  </a:txBody>
                  <a:tcPr marL="771525" marR="9525" marT="9525" marB="0" anchor="ctr"/>
                </a:tc>
              </a:tr>
              <a:tr h="175260">
                <a:tc>
                  <a:txBody>
                    <a:bodyPr wrap="square"/>
                    <a:lstStyle/>
                    <a:p>
                      <a:pPr algn="l"/>
                      <a:r>
                        <a:rPr sz="1100" b="0" i="0">
                          <a:solidFill>
                            <a:srgbClr val="000000"/>
                          </a:solidFill>
                          <a:latin typeface="Calibri"/>
                        </a:rPr>
                        <a:t>12.3.3.</a:t>
                      </a:r>
                      <a:r>
                        <a:rPr sz="700" b="0" i="0">
                          <a:solidFill>
                            <a:srgbClr val="000000"/>
                          </a:solidFill>
                          <a:latin typeface="Times New Roman"/>
                        </a:rPr>
                        <a:t> </a:t>
                      </a:r>
                      <a:r>
                        <a:rPr sz="1100" b="0" i="0">
                          <a:solidFill>
                            <a:srgbClr val="000000"/>
                          </a:solidFill>
                          <a:latin typeface="Calibri"/>
                        </a:rPr>
                        <a:t>Independent Research Institutions</a:t>
                      </a:r>
                      <a:endParaRPr sz="1100"/>
                    </a:p>
                  </a:txBody>
                  <a:tcPr marL="771525" marR="9525" marT="9525" marB="0" anchor="ctr"/>
                </a:tc>
              </a:tr>
              <a:tr h="175260">
                <a:tc>
                  <a:txBody>
                    <a:bodyPr wrap="square"/>
                    <a:lstStyle/>
                    <a:p>
                      <a:pPr algn="l"/>
                      <a:r>
                        <a:rPr sz="1100" b="0" i="0">
                          <a:solidFill>
                            <a:srgbClr val="000000"/>
                          </a:solidFill>
                          <a:latin typeface="Calibri"/>
                        </a:rPr>
                        <a:t>12.3.4.</a:t>
                      </a:r>
                      <a:r>
                        <a:rPr sz="700" b="0" i="0">
                          <a:solidFill>
                            <a:srgbClr val="000000"/>
                          </a:solidFill>
                          <a:latin typeface="Times New Roman"/>
                        </a:rPr>
                        <a:t> </a:t>
                      </a:r>
                      <a:r>
                        <a:rPr sz="1100" b="0" i="0">
                          <a:solidFill>
                            <a:srgbClr val="000000"/>
                          </a:solidFill>
                          <a:latin typeface="Calibri"/>
                        </a:rPr>
                        <a:t>Healthcare and Medical Research Institutions</a:t>
                      </a:r>
                      <a:endParaRPr sz="1100"/>
                    </a:p>
                  </a:txBody>
                  <a:tcPr marL="771525" marR="9525" marT="9525" marB="0" anchor="ctr"/>
                </a:tc>
              </a:tr>
              <a:tr h="175260">
                <a:tc>
                  <a:txBody>
                    <a:bodyPr wrap="square"/>
                    <a:lstStyle/>
                    <a:p>
                      <a:pPr algn="l"/>
                      <a:r>
                        <a:rPr sz="1100" b="0" i="0">
                          <a:solidFill>
                            <a:srgbClr val="000000"/>
                          </a:solidFill>
                          <a:latin typeface="Calibri"/>
                        </a:rPr>
                        <a:t>12.3.5.</a:t>
                      </a:r>
                      <a:r>
                        <a:rPr sz="700" b="0" i="0">
                          <a:solidFill>
                            <a:srgbClr val="000000"/>
                          </a:solidFill>
                          <a:latin typeface="Times New Roman"/>
                        </a:rPr>
                        <a:t> </a:t>
                      </a:r>
                      <a:r>
                        <a:rPr sz="1100" b="0" i="0">
                          <a:solidFill>
                            <a:srgbClr val="000000"/>
                          </a:solidFill>
                          <a:latin typeface="Calibri"/>
                        </a:rPr>
                        <a:t>Commercial and Industrial Enterprises</a:t>
                      </a:r>
                      <a:endParaRPr sz="1100"/>
                    </a:p>
                  </a:txBody>
                  <a:tcPr marL="771525" marR="9525" marT="9525" marB="0" anchor="ctr"/>
                </a:tc>
              </a:tr>
              <a:tr h="175260">
                <a:tc>
                  <a:txBody>
                    <a:bodyPr wrap="square"/>
                    <a:lstStyle/>
                    <a:p>
                      <a:pPr algn="l"/>
                      <a:r>
                        <a:rPr sz="1100" b="0" i="0">
                          <a:solidFill>
                            <a:srgbClr val="000000"/>
                          </a:solidFill>
                          <a:latin typeface="Calibri"/>
                        </a:rPr>
                        <a:t>12.3.6.</a:t>
                      </a:r>
                      <a:r>
                        <a:rPr sz="700" b="0" i="0">
                          <a:solidFill>
                            <a:srgbClr val="000000"/>
                          </a:solidFill>
                          <a:latin typeface="Times New Roman"/>
                        </a:rPr>
                        <a:t> </a:t>
                      </a:r>
                      <a:r>
                        <a:rPr sz="1100" b="0" i="0">
                          <a:solidFill>
                            <a:srgbClr val="000000"/>
                          </a:solidFill>
                          <a:latin typeface="Calibri"/>
                        </a:rPr>
                        <a:t>Other End Users</a:t>
                      </a:r>
                      <a:endParaRPr sz="1100"/>
                    </a:p>
                  </a:txBody>
                  <a:tcPr marL="7715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Analysis By End User</a:t>
                      </a:r>
                      <a:endParaRPr sz="1100"/>
                    </a:p>
                  </a:txBody>
                  <a:tcPr marL="4286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Helium-3 Market Analysis 2021–2025 and Forecast 2026–2036, by Region</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Historical Market Size (US$ Mn) and Volume Analysis By Region, 2021–2025</a:t>
                      </a:r>
                      <a:endParaRPr sz="1100"/>
                    </a:p>
                  </a:txBody>
                  <a:tcPr marL="428625" marR="9525" marT="9525" marB="0" anchor="ctr"/>
                </a:tc>
              </a:tr>
              <a:tr h="35052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Current Market Size (US$ Mn) and Volume Analysis and Forecast By Region, 2026–2036</a:t>
                      </a:r>
                      <a:endParaRPr sz="1100"/>
                    </a:p>
                  </a:txBody>
                  <a:tcPr marL="428625" marR="9525" marT="9525" marB="0" anchor="ctr"/>
                </a:tc>
              </a:tr>
              <a:tr h="175260">
                <a:tc>
                  <a:txBody>
                    <a:bodyPr wrap="square"/>
                    <a:lstStyle/>
                    <a:p>
                      <a:pPr algn="l"/>
                      <a:r>
                        <a:rPr sz="1100" b="0" i="0">
                          <a:solidFill>
                            <a:srgbClr val="000000"/>
                          </a:solidFill>
                          <a:latin typeface="Calibri"/>
                        </a:rPr>
                        <a:t>13.3.1.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0">
                          <a:solidFill>
                            <a:srgbClr val="000000"/>
                          </a:solidFill>
                          <a:latin typeface="Calibri"/>
                        </a:rPr>
                        <a:t>13.3.2.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13.3.3.</a:t>
                      </a:r>
                      <a:r>
                        <a:rPr sz="700" b="0" i="0">
                          <a:solidFill>
                            <a:srgbClr val="000000"/>
                          </a:solidFill>
                          <a:latin typeface="Times New Roman"/>
                        </a:rPr>
                        <a:t> </a:t>
                      </a:r>
                      <a:r>
                        <a:rPr sz="1100" b="0" i="0">
                          <a:solidFill>
                            <a:srgbClr val="000000"/>
                          </a:solidFill>
                          <a:latin typeface="Calibri"/>
                        </a:rPr>
                        <a:t>Western Europe</a:t>
                      </a:r>
                      <a:endParaRPr sz="1100"/>
                    </a:p>
                  </a:txBody>
                  <a:tcPr marL="771525" marR="9525" marT="9525" marB="0" anchor="ctr"/>
                </a:tc>
              </a:tr>
              <a:tr h="175260">
                <a:tc>
                  <a:txBody>
                    <a:bodyPr wrap="square"/>
                    <a:lstStyle/>
                    <a:p>
                      <a:pPr algn="l"/>
                      <a:r>
                        <a:rPr sz="1100" b="0" i="0">
                          <a:solidFill>
                            <a:srgbClr val="000000"/>
                          </a:solidFill>
                          <a:latin typeface="Calibri"/>
                        </a:rPr>
                        <a:t>13.3.4.</a:t>
                      </a:r>
                      <a:r>
                        <a:rPr sz="700" b="0" i="0">
                          <a:solidFill>
                            <a:srgbClr val="000000"/>
                          </a:solidFill>
                          <a:latin typeface="Times New Roman"/>
                        </a:rPr>
                        <a:t> </a:t>
                      </a:r>
                      <a:r>
                        <a:rPr sz="1100" b="0" i="0">
                          <a:solidFill>
                            <a:srgbClr val="000000"/>
                          </a:solidFill>
                          <a:latin typeface="Calibri"/>
                        </a:rPr>
                        <a:t>Eastern Europe</a:t>
                      </a:r>
                      <a:endParaRPr sz="1100"/>
                    </a:p>
                  </a:txBody>
                  <a:tcPr marL="771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13.3.5.</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0">
                          <a:solidFill>
                            <a:srgbClr val="000000"/>
                          </a:solidFill>
                          <a:latin typeface="Calibri"/>
                        </a:rPr>
                        <a:t>13.3.6.</a:t>
                      </a:r>
                      <a:r>
                        <a:rPr sz="700" b="0" i="0">
                          <a:solidFill>
                            <a:srgbClr val="000000"/>
                          </a:solidFill>
                          <a:latin typeface="Times New Roman"/>
                        </a:rPr>
                        <a:t> </a:t>
                      </a:r>
                      <a:r>
                        <a:rPr sz="1100" b="0" i="0">
                          <a:solidFill>
                            <a:srgbClr val="000000"/>
                          </a:solidFill>
                          <a:latin typeface="Calibri"/>
                        </a:rPr>
                        <a:t>South Asia and Pacific</a:t>
                      </a:r>
                      <a:endParaRPr sz="1100"/>
                    </a:p>
                  </a:txBody>
                  <a:tcPr marL="771525" marR="9525" marT="9525" marB="0" anchor="ctr"/>
                </a:tc>
              </a:tr>
              <a:tr h="175260">
                <a:tc>
                  <a:txBody>
                    <a:bodyPr wrap="square"/>
                    <a:lstStyle/>
                    <a:p>
                      <a:pPr algn="l"/>
                      <a:r>
                        <a:rPr sz="1100" b="0" i="0">
                          <a:solidFill>
                            <a:srgbClr val="000000"/>
                          </a:solidFill>
                          <a:latin typeface="Calibri"/>
                        </a:rPr>
                        <a:t>13.3.7.</a:t>
                      </a:r>
                      <a:r>
                        <a:rPr sz="700" b="0" i="0">
                          <a:solidFill>
                            <a:srgbClr val="000000"/>
                          </a:solidFill>
                          <a:latin typeface="Times New Roman"/>
                        </a:rPr>
                        <a:t> </a:t>
                      </a:r>
                      <a:r>
                        <a:rPr sz="1100" b="0" i="0">
                          <a:solidFill>
                            <a:srgbClr val="000000"/>
                          </a:solidFill>
                          <a:latin typeface="Calibri"/>
                        </a:rPr>
                        <a:t>Middle East and Africa (MEA)</a:t>
                      </a:r>
                      <a:endParaRPr sz="1100"/>
                    </a:p>
                  </a:txBody>
                  <a:tcPr marL="7715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Analysis By Region</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North America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14.4.1.1.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14.4.1.2.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1">
                          <a:solidFill>
                            <a:srgbClr val="000000"/>
                          </a:solidFill>
                          <a:latin typeface="Calibri"/>
                        </a:rPr>
                        <a:t>14.4.1.3.</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14.5.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14.5.1.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14.5.2.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14.5.3.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14.5.4.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14.5.5.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14.6.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14.7.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14.8.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Latin America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(3/8)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15.4.1.1.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15.4.1.2.</a:t>
                      </a:r>
                      <a:r>
                        <a:rPr sz="700" b="0" i="1">
                          <a:solidFill>
                            <a:srgbClr val="000000"/>
                          </a:solidFill>
                          <a:latin typeface="Times New Roman"/>
                        </a:rPr>
                        <a:t> </a:t>
                      </a:r>
                      <a:r>
                        <a:rPr sz="1100" b="0" i="1">
                          <a:solidFill>
                            <a:srgbClr val="000000"/>
                          </a:solidFill>
                          <a:latin typeface="Calibri"/>
                        </a:rPr>
                        <a:t>Argentina</a:t>
                      </a:r>
                      <a:endParaRPr sz="1100"/>
                    </a:p>
                  </a:txBody>
                  <a:tcPr marL="1028700" marR="9525" marT="9525" marB="0" anchor="ctr"/>
                </a:tc>
              </a:tr>
              <a:tr h="175260">
                <a:tc>
                  <a:txBody>
                    <a:bodyPr wrap="square"/>
                    <a:lstStyle/>
                    <a:p>
                      <a:pPr algn="l"/>
                      <a:r>
                        <a:rPr sz="1100" b="0" i="1">
                          <a:solidFill>
                            <a:srgbClr val="000000"/>
                          </a:solidFill>
                          <a:latin typeface="Calibri"/>
                        </a:rPr>
                        <a:t>15.4.1.3.</a:t>
                      </a:r>
                      <a:r>
                        <a:rPr sz="700" b="0" i="1">
                          <a:solidFill>
                            <a:srgbClr val="000000"/>
                          </a:solidFill>
                          <a:latin typeface="Times New Roman"/>
                        </a:rPr>
                        <a:t> </a:t>
                      </a:r>
                      <a:r>
                        <a:rPr sz="1100" b="0" i="1">
                          <a:solidFill>
                            <a:srgbClr val="000000"/>
                          </a:solidFill>
                          <a:latin typeface="Calibri"/>
                        </a:rPr>
                        <a:t>Rest of Latin America</a:t>
                      </a:r>
                      <a:endParaRPr sz="1100"/>
                    </a:p>
                  </a:txBody>
                  <a:tcPr marL="1028700"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70C0"/>
                          </a:solidFill>
                          <a:latin typeface="Calibri"/>
                        </a:rPr>
                        <a:t>15.5.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15.5.1.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15.5.2.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15.5.3.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15.5.4.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0000"/>
                          </a:solidFill>
                          <a:latin typeface="Calibri"/>
                        </a:rPr>
                        <a:t>15.5.5.</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70C0"/>
                          </a:solidFill>
                          <a:latin typeface="Calibri"/>
                        </a:rPr>
                        <a:t>15.6.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15.7.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15.8.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Western Europe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16.4.1.1.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16.4.1.2.</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16.4.1.3.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16.4.1.4.</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16.4.1.5.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16.4.1.6.</a:t>
                      </a:r>
                      <a:r>
                        <a:rPr sz="700" b="0" i="1">
                          <a:solidFill>
                            <a:srgbClr val="000000"/>
                          </a:solidFill>
                          <a:latin typeface="Times New Roman"/>
                        </a:rPr>
                        <a:t> </a:t>
                      </a:r>
                      <a:r>
                        <a:rPr sz="1100" b="0" i="1">
                          <a:solidFill>
                            <a:srgbClr val="000000"/>
                          </a:solidFill>
                          <a:latin typeface="Calibri"/>
                        </a:rPr>
                        <a:t>BENELUX</a:t>
                      </a:r>
                      <a:endParaRPr sz="1100"/>
                    </a:p>
                  </a:txBody>
                  <a:tcPr marL="1028700" marR="9525" marT="9525" marB="0" anchor="ctr"/>
                </a:tc>
              </a:tr>
              <a:tr h="175260">
                <a:tc>
                  <a:txBody>
                    <a:bodyPr wrap="square"/>
                    <a:lstStyle/>
                    <a:p>
                      <a:pPr algn="l"/>
                      <a:r>
                        <a:rPr sz="1100" b="0" i="1">
                          <a:solidFill>
                            <a:srgbClr val="000000"/>
                          </a:solidFill>
                          <a:latin typeface="Calibri"/>
                        </a:rPr>
                        <a:t>16.4.1.7.</a:t>
                      </a:r>
                      <a:r>
                        <a:rPr sz="700" b="0" i="1">
                          <a:solidFill>
                            <a:srgbClr val="000000"/>
                          </a:solidFill>
                          <a:latin typeface="Times New Roman"/>
                        </a:rPr>
                        <a:t> </a:t>
                      </a:r>
                      <a:r>
                        <a:rPr sz="1100" b="0" i="1">
                          <a:solidFill>
                            <a:srgbClr val="000000"/>
                          </a:solidFill>
                          <a:latin typeface="Calibri"/>
                        </a:rPr>
                        <a:t>Nordics</a:t>
                      </a:r>
                      <a:endParaRPr sz="1100"/>
                    </a:p>
                  </a:txBody>
                  <a:tcPr marL="1028700" marR="9525" marT="9525" marB="0" anchor="ctr"/>
                </a:tc>
              </a:tr>
              <a:tr h="175260">
                <a:tc>
                  <a:txBody>
                    <a:bodyPr wrap="square"/>
                    <a:lstStyle/>
                    <a:p>
                      <a:pPr algn="l"/>
                      <a:r>
                        <a:rPr sz="1100" b="0" i="1">
                          <a:solidFill>
                            <a:srgbClr val="000000"/>
                          </a:solidFill>
                          <a:latin typeface="Calibri"/>
                        </a:rPr>
                        <a:t>16.4.1.8.</a:t>
                      </a:r>
                      <a:r>
                        <a:rPr sz="700" b="0" i="1">
                          <a:solidFill>
                            <a:srgbClr val="000000"/>
                          </a:solidFill>
                          <a:latin typeface="Times New Roman"/>
                        </a:rPr>
                        <a:t> </a:t>
                      </a:r>
                      <a:r>
                        <a:rPr sz="1100" b="0" i="1">
                          <a:solidFill>
                            <a:srgbClr val="000000"/>
                          </a:solidFill>
                          <a:latin typeface="Calibri"/>
                        </a:rPr>
                        <a:t>Rest of Western Europe</a:t>
                      </a:r>
                      <a:endParaRPr sz="1100"/>
                    </a:p>
                  </a:txBody>
                  <a:tcPr marL="1028700"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16.5.1.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16.5.2.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16.5.3.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16.5.4.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16.5.5.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Eastern Europe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17.4.1.1.</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17.4.1.2.</a:t>
                      </a:r>
                      <a:r>
                        <a:rPr sz="700" b="0" i="1">
                          <a:solidFill>
                            <a:srgbClr val="000000"/>
                          </a:solidFill>
                          <a:latin typeface="Times New Roman"/>
                        </a:rPr>
                        <a:t> </a:t>
                      </a:r>
                      <a:r>
                        <a:rPr sz="1100" b="0" i="1">
                          <a:solidFill>
                            <a:srgbClr val="000000"/>
                          </a:solidFill>
                          <a:latin typeface="Calibri"/>
                        </a:rPr>
                        <a:t>Hungary</a:t>
                      </a:r>
                      <a:endParaRPr sz="1100"/>
                    </a:p>
                  </a:txBody>
                  <a:tcPr marL="1028700" marR="9525" marT="9525" marB="0" anchor="ctr"/>
                </a:tc>
              </a:tr>
              <a:tr h="175260">
                <a:tc>
                  <a:txBody>
                    <a:bodyPr wrap="square"/>
                    <a:lstStyle/>
                    <a:p>
                      <a:pPr algn="l"/>
                      <a:r>
                        <a:rPr sz="1100" b="0" i="1">
                          <a:solidFill>
                            <a:srgbClr val="000000"/>
                          </a:solidFill>
                          <a:latin typeface="Calibri"/>
                        </a:rPr>
                        <a:t>17.4.1.3.</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17.4.1.4.</a:t>
                      </a:r>
                      <a:r>
                        <a:rPr sz="700" b="0" i="1">
                          <a:solidFill>
                            <a:srgbClr val="000000"/>
                          </a:solidFill>
                          <a:latin typeface="Times New Roman"/>
                        </a:rPr>
                        <a:t> </a:t>
                      </a:r>
                      <a:r>
                        <a:rPr sz="1100" b="0" i="1">
                          <a:solidFill>
                            <a:srgbClr val="000000"/>
                          </a:solidFill>
                          <a:latin typeface="Calibri"/>
                        </a:rPr>
                        <a:t>Balkan &amp; Baltics</a:t>
                      </a:r>
                      <a:endParaRPr sz="1100"/>
                    </a:p>
                  </a:txBody>
                  <a:tcPr marL="1028700" marR="9525" marT="9525" marB="0" anchor="ctr"/>
                </a:tc>
              </a:tr>
              <a:tr h="175260">
                <a:tc>
                  <a:txBody>
                    <a:bodyPr wrap="square"/>
                    <a:lstStyle/>
                    <a:p>
                      <a:pPr algn="l"/>
                      <a:r>
                        <a:rPr sz="1100" b="0" i="1">
                          <a:solidFill>
                            <a:srgbClr val="000000"/>
                          </a:solidFill>
                          <a:latin typeface="Calibri"/>
                        </a:rPr>
                        <a:t>17.4.1.5.</a:t>
                      </a:r>
                      <a:r>
                        <a:rPr sz="700" b="0" i="1">
                          <a:solidFill>
                            <a:srgbClr val="000000"/>
                          </a:solidFill>
                          <a:latin typeface="Times New Roman"/>
                        </a:rPr>
                        <a:t> </a:t>
                      </a:r>
                      <a:r>
                        <a:rPr sz="1100" b="0" i="1">
                          <a:solidFill>
                            <a:srgbClr val="000000"/>
                          </a:solidFill>
                          <a:latin typeface="Calibri"/>
                        </a:rPr>
                        <a:t>Rest of Eastern Europe</a:t>
                      </a:r>
                      <a:endParaRPr sz="1100"/>
                    </a:p>
                  </a:txBody>
                  <a:tcPr marL="1028700"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(4/8)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17.5.1.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17.5.2.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17.5.3.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17.5.4.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17.5.5.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South Asia and Pacific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18.4.1.1.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18.4.1.2.</a:t>
                      </a:r>
                      <a:r>
                        <a:rPr sz="700" b="0" i="1">
                          <a:solidFill>
                            <a:srgbClr val="000000"/>
                          </a:solidFill>
                          <a:latin typeface="Times New Roman"/>
                        </a:rPr>
                        <a:t> </a:t>
                      </a:r>
                      <a:r>
                        <a:rPr sz="1100" b="0" i="1">
                          <a:solidFill>
                            <a:srgbClr val="000000"/>
                          </a:solidFill>
                          <a:latin typeface="Calibri"/>
                        </a:rPr>
                        <a:t>ASEAN</a:t>
                      </a:r>
                      <a:endParaRPr sz="1100"/>
                    </a:p>
                  </a:txBody>
                  <a:tcPr marL="1028700" marR="9525" marT="9525" marB="0" anchor="ctr"/>
                </a:tc>
              </a:tr>
              <a:tr h="175260">
                <a:tc>
                  <a:txBody>
                    <a:bodyPr wrap="square"/>
                    <a:lstStyle/>
                    <a:p>
                      <a:pPr algn="l"/>
                      <a:r>
                        <a:rPr sz="1100" b="0" i="1">
                          <a:solidFill>
                            <a:srgbClr val="000000"/>
                          </a:solidFill>
                          <a:latin typeface="Calibri"/>
                        </a:rPr>
                        <a:t>18.4.1.3.</a:t>
                      </a:r>
                      <a:r>
                        <a:rPr sz="700" b="0" i="1">
                          <a:solidFill>
                            <a:srgbClr val="000000"/>
                          </a:solidFill>
                          <a:latin typeface="Times New Roman"/>
                        </a:rPr>
                        <a:t> </a:t>
                      </a:r>
                      <a:r>
                        <a:rPr sz="1100" b="0" i="1">
                          <a:solidFill>
                            <a:srgbClr val="000000"/>
                          </a:solidFill>
                          <a:latin typeface="Calibri"/>
                        </a:rPr>
                        <a:t>Australia and New Zealand</a:t>
                      </a:r>
                      <a:endParaRPr sz="1100"/>
                    </a:p>
                  </a:txBody>
                  <a:tcPr marL="1028700" marR="9525" marT="9525" marB="0" anchor="ctr"/>
                </a:tc>
              </a:tr>
              <a:tr h="175260">
                <a:tc>
                  <a:txBody>
                    <a:bodyPr wrap="square"/>
                    <a:lstStyle/>
                    <a:p>
                      <a:pPr algn="l"/>
                      <a:r>
                        <a:rPr sz="1100" b="0" i="1">
                          <a:solidFill>
                            <a:srgbClr val="000000"/>
                          </a:solidFill>
                          <a:latin typeface="Calibri"/>
                        </a:rPr>
                        <a:t>18.4.1.4.</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18.5.1.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18.5.2.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18.5.3.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18.5.4.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18.5.5.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East Asia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19.4.1.1.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19.4.1.2.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19.4.1.3.</a:t>
                      </a:r>
                      <a:r>
                        <a:rPr sz="700" b="0" i="1">
                          <a:solidFill>
                            <a:srgbClr val="000000"/>
                          </a:solidFill>
                          <a:latin typeface="Times New Roman"/>
                        </a:rPr>
                        <a:t> </a:t>
                      </a:r>
                      <a:r>
                        <a:rPr sz="1100" b="0" i="1">
                          <a:solidFill>
                            <a:srgbClr val="000000"/>
                          </a:solidFill>
                          <a:latin typeface="Calibri"/>
                        </a:rPr>
                        <a:t>South Korea</a:t>
                      </a:r>
                      <a:endParaRPr sz="1100"/>
                    </a:p>
                  </a:txBody>
                  <a:tcPr marL="1028700"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19.4.5.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19.5.1.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19.5.2.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19.5.3.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19.5.4.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19.5.5.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(5/8)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Middle East and Africa Helium-3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20.4.1.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20.4.1.1.</a:t>
                      </a:r>
                      <a:r>
                        <a:rPr sz="700" b="0" i="1">
                          <a:solidFill>
                            <a:srgbClr val="000000"/>
                          </a:solidFill>
                          <a:latin typeface="Times New Roman"/>
                        </a:rPr>
                        <a:t> </a:t>
                      </a:r>
                      <a:r>
                        <a:rPr sz="1100" b="0" i="1">
                          <a:solidFill>
                            <a:srgbClr val="000000"/>
                          </a:solidFill>
                          <a:latin typeface="Calibri"/>
                        </a:rPr>
                        <a:t>GCC Countries</a:t>
                      </a:r>
                      <a:endParaRPr sz="1100"/>
                    </a:p>
                  </a:txBody>
                  <a:tcPr marL="1028700" marR="9525" marT="9525" marB="0" anchor="ctr"/>
                </a:tc>
              </a:tr>
              <a:tr h="175260">
                <a:tc>
                  <a:txBody>
                    <a:bodyPr wrap="square"/>
                    <a:lstStyle/>
                    <a:p>
                      <a:pPr algn="l"/>
                      <a:r>
                        <a:rPr sz="1100" b="0" i="1">
                          <a:solidFill>
                            <a:srgbClr val="000000"/>
                          </a:solidFill>
                          <a:latin typeface="Calibri"/>
                        </a:rPr>
                        <a:t>20.4.1.2.</a:t>
                      </a:r>
                      <a:r>
                        <a:rPr sz="700" b="0" i="1">
                          <a:solidFill>
                            <a:srgbClr val="000000"/>
                          </a:solidFill>
                          <a:latin typeface="Times New Roman"/>
                        </a:rPr>
                        <a:t> </a:t>
                      </a:r>
                      <a:r>
                        <a:rPr sz="1100" b="0" i="1">
                          <a:solidFill>
                            <a:srgbClr val="000000"/>
                          </a:solidFill>
                          <a:latin typeface="Calibri"/>
                        </a:rPr>
                        <a:t>Turkiye</a:t>
                      </a:r>
                      <a:endParaRPr sz="1100"/>
                    </a:p>
                  </a:txBody>
                  <a:tcPr marL="1028700" marR="9525" marT="9525" marB="0" anchor="ctr"/>
                </a:tc>
              </a:tr>
              <a:tr h="175260">
                <a:tc>
                  <a:txBody>
                    <a:bodyPr wrap="square"/>
                    <a:lstStyle/>
                    <a:p>
                      <a:pPr algn="l"/>
                      <a:r>
                        <a:rPr sz="1100" b="0" i="1">
                          <a:solidFill>
                            <a:srgbClr val="000000"/>
                          </a:solidFill>
                          <a:latin typeface="Calibri"/>
                        </a:rPr>
                        <a:t>20.4.1.3.</a:t>
                      </a:r>
                      <a:r>
                        <a:rPr sz="700" b="0" i="1">
                          <a:solidFill>
                            <a:srgbClr val="000000"/>
                          </a:solidFill>
                          <a:latin typeface="Times New Roman"/>
                        </a:rPr>
                        <a:t> </a:t>
                      </a:r>
                      <a:r>
                        <a:rPr sz="1100" b="0" i="1">
                          <a:solidFill>
                            <a:srgbClr val="000000"/>
                          </a:solidFill>
                          <a:latin typeface="Calibri"/>
                        </a:rPr>
                        <a:t>Northern Africa</a:t>
                      </a:r>
                      <a:endParaRPr sz="1100"/>
                    </a:p>
                  </a:txBody>
                  <a:tcPr marL="1028700" marR="9525" marT="9525" marB="0" anchor="ctr"/>
                </a:tc>
              </a:tr>
              <a:tr h="175260">
                <a:tc>
                  <a:txBody>
                    <a:bodyPr wrap="square"/>
                    <a:lstStyle/>
                    <a:p>
                      <a:pPr algn="l"/>
                      <a:r>
                        <a:rPr sz="1100" b="0" i="1">
                          <a:solidFill>
                            <a:srgbClr val="000000"/>
                          </a:solidFill>
                          <a:latin typeface="Calibri"/>
                        </a:rPr>
                        <a:t>20.4.1.4.</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20.4.1.5.</a:t>
                      </a:r>
                      <a:r>
                        <a:rPr sz="700" b="0" i="1">
                          <a:solidFill>
                            <a:srgbClr val="000000"/>
                          </a:solidFill>
                          <a:latin typeface="Times New Roman"/>
                        </a:rPr>
                        <a:t> </a:t>
                      </a:r>
                      <a:r>
                        <a:rPr sz="1100" b="0" i="1">
                          <a:solidFill>
                            <a:srgbClr val="000000"/>
                          </a:solidFill>
                          <a:latin typeface="Calibri"/>
                        </a:rPr>
                        <a:t>Rest of Middle East and Africa</a:t>
                      </a:r>
                      <a:endParaRPr sz="1100"/>
                    </a:p>
                  </a:txBody>
                  <a:tcPr marL="1028700" marR="9525" marT="9525" marB="0" anchor="ctr"/>
                </a:tc>
              </a:tr>
              <a:tr h="175260">
                <a:tc>
                  <a:txBody>
                    <a:bodyPr wrap="square"/>
                    <a:lstStyle/>
                    <a:p>
                      <a:pPr algn="l"/>
                      <a:r>
                        <a:rPr sz="1100" b="0" i="0">
                          <a:solidFill>
                            <a:srgbClr val="000000"/>
                          </a:solidFill>
                          <a:latin typeface="Calibri"/>
                        </a:rPr>
                        <a:t>20.4.2.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20.4.3.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20.4.4.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20.4.5.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20.5.1.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20.5.2.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20.5.3.</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20.5.4.</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20.5.5.</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Country Wise Helium-3 Market Analysis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U.S.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21.1.4.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Canada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Mexico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21.3.1.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21.3.2.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21.3.3.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21.3.4.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Brazil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Germany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Italy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21.6.1.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21.6.2.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21.6.3.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21.6.4.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France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21.7.1.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21.7.2.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21.7.3.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(6/8)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21.7.4.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U.K.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21.8.1.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21.8.2.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21.8.3.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21.8.4.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21.9.</a:t>
                      </a:r>
                      <a:r>
                        <a:rPr sz="700" b="0" i="0">
                          <a:solidFill>
                            <a:srgbClr val="0070C0"/>
                          </a:solidFill>
                          <a:latin typeface="Times New Roman"/>
                        </a:rPr>
                        <a:t>  </a:t>
                      </a:r>
                      <a:r>
                        <a:rPr sz="1100" b="0" i="0">
                          <a:solidFill>
                            <a:srgbClr val="0070C0"/>
                          </a:solidFill>
                          <a:latin typeface="Calibri"/>
                        </a:rPr>
                        <a:t>Spain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21.9.1.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21.9.2.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21.9.3.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21.9.4.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21.10.</a:t>
                      </a:r>
                      <a:r>
                        <a:rPr sz="700" b="0" i="0">
                          <a:solidFill>
                            <a:srgbClr val="0070C0"/>
                          </a:solidFill>
                          <a:latin typeface="Times New Roman"/>
                        </a:rPr>
                        <a:t> </a:t>
                      </a:r>
                      <a:r>
                        <a:rPr sz="1100" b="0" i="0">
                          <a:solidFill>
                            <a:srgbClr val="0070C0"/>
                          </a:solidFill>
                          <a:latin typeface="Calibri"/>
                        </a:rPr>
                        <a:t>BENELUX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21.10.1.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21.10.2.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21.10.3.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21.10.4.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21.11.</a:t>
                      </a:r>
                      <a:r>
                        <a:rPr sz="700" b="0" i="0">
                          <a:solidFill>
                            <a:srgbClr val="0070C0"/>
                          </a:solidFill>
                          <a:latin typeface="Times New Roman"/>
                        </a:rPr>
                        <a:t> </a:t>
                      </a:r>
                      <a:r>
                        <a:rPr sz="1100" b="0" i="0">
                          <a:solidFill>
                            <a:srgbClr val="0070C0"/>
                          </a:solidFill>
                          <a:latin typeface="Calibri"/>
                        </a:rPr>
                        <a:t>Nordics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21.11.1.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21.11.2.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21.11.3.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21.11.4.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21.12.</a:t>
                      </a:r>
                      <a:r>
                        <a:rPr sz="700" b="0" i="0">
                          <a:solidFill>
                            <a:srgbClr val="0070C0"/>
                          </a:solidFill>
                          <a:latin typeface="Times New Roman"/>
                        </a:rPr>
                        <a:t> </a:t>
                      </a:r>
                      <a:r>
                        <a:rPr sz="1100" b="0" i="0">
                          <a:solidFill>
                            <a:srgbClr val="0070C0"/>
                          </a:solidFill>
                          <a:latin typeface="Calibri"/>
                        </a:rPr>
                        <a:t>Russia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21.12.1.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21.12.2.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21.12.3.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21.12.4.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21.13.</a:t>
                      </a:r>
                      <a:r>
                        <a:rPr sz="700" b="0" i="0">
                          <a:solidFill>
                            <a:srgbClr val="0070C0"/>
                          </a:solidFill>
                          <a:latin typeface="Times New Roman"/>
                        </a:rPr>
                        <a:t> </a:t>
                      </a:r>
                      <a:r>
                        <a:rPr sz="1100" b="0" i="0">
                          <a:solidFill>
                            <a:srgbClr val="0070C0"/>
                          </a:solidFill>
                          <a:latin typeface="Calibri"/>
                        </a:rPr>
                        <a:t>Hungary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21.13.1.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21.13.2.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21.13.3.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21.13.4.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21.14.</a:t>
                      </a:r>
                      <a:r>
                        <a:rPr sz="700" b="0" i="0">
                          <a:solidFill>
                            <a:srgbClr val="0070C0"/>
                          </a:solidFill>
                          <a:latin typeface="Times New Roman"/>
                        </a:rPr>
                        <a:t> </a:t>
                      </a:r>
                      <a:r>
                        <a:rPr sz="1100" b="0" i="0">
                          <a:solidFill>
                            <a:srgbClr val="0070C0"/>
                          </a:solidFill>
                          <a:latin typeface="Calibri"/>
                        </a:rPr>
                        <a:t>Poland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21.14.1.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21.14.2.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21.14.3.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21.14.4.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21.15.</a:t>
                      </a:r>
                      <a:r>
                        <a:rPr sz="700" b="0" i="0">
                          <a:solidFill>
                            <a:srgbClr val="0070C0"/>
                          </a:solidFill>
                          <a:latin typeface="Times New Roman"/>
                        </a:rPr>
                        <a:t> </a:t>
                      </a:r>
                      <a:r>
                        <a:rPr sz="1100" b="0" i="0">
                          <a:solidFill>
                            <a:srgbClr val="0070C0"/>
                          </a:solidFill>
                          <a:latin typeface="Calibri"/>
                        </a:rPr>
                        <a:t>Balkan &amp; Baltics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21.15.1.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21.15.2.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21.15.3.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21.15.4.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21.16.</a:t>
                      </a:r>
                      <a:r>
                        <a:rPr sz="700" b="0" i="0">
                          <a:solidFill>
                            <a:srgbClr val="0070C0"/>
                          </a:solidFill>
                          <a:latin typeface="Times New Roman"/>
                        </a:rPr>
                        <a:t> </a:t>
                      </a:r>
                      <a:r>
                        <a:rPr sz="1100" b="0" i="0">
                          <a:solidFill>
                            <a:srgbClr val="0070C0"/>
                          </a:solidFill>
                          <a:latin typeface="Calibri"/>
                        </a:rPr>
                        <a:t>China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21.16.1.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21.16.2.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21.16.3.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21.16.4.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21.17.</a:t>
                      </a:r>
                      <a:r>
                        <a:rPr sz="700" b="0" i="0">
                          <a:solidFill>
                            <a:srgbClr val="0070C0"/>
                          </a:solidFill>
                          <a:latin typeface="Times New Roman"/>
                        </a:rPr>
                        <a:t> </a:t>
                      </a:r>
                      <a:r>
                        <a:rPr sz="1100" b="0" i="0">
                          <a:solidFill>
                            <a:srgbClr val="0070C0"/>
                          </a:solidFill>
                          <a:latin typeface="Calibri"/>
                        </a:rPr>
                        <a:t>Japan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21.17.1.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21.17.2.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21.17.3.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21.17.4.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21.18.</a:t>
                      </a:r>
                      <a:r>
                        <a:rPr sz="700" b="0" i="0">
                          <a:solidFill>
                            <a:srgbClr val="0070C0"/>
                          </a:solidFill>
                          <a:latin typeface="Times New Roman"/>
                        </a:rPr>
                        <a:t> </a:t>
                      </a:r>
                      <a:r>
                        <a:rPr sz="1100" b="0" i="0">
                          <a:solidFill>
                            <a:srgbClr val="0070C0"/>
                          </a:solidFill>
                          <a:latin typeface="Calibri"/>
                        </a:rPr>
                        <a:t>S. Korea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21.18.1.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21.18.2.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21.18.3.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21.18.4.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21.19.</a:t>
                      </a:r>
                      <a:r>
                        <a:rPr sz="700" b="0" i="0">
                          <a:solidFill>
                            <a:srgbClr val="0070C0"/>
                          </a:solidFill>
                          <a:latin typeface="Times New Roman"/>
                        </a:rPr>
                        <a:t> </a:t>
                      </a:r>
                      <a:r>
                        <a:rPr sz="1100" b="0" i="0">
                          <a:solidFill>
                            <a:srgbClr val="0070C0"/>
                          </a:solidFill>
                          <a:latin typeface="Calibri"/>
                        </a:rPr>
                        <a:t>India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21.19.1.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21.19.2.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21.19.3.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(7/8)</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21.19.4.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21.20.</a:t>
                      </a:r>
                      <a:r>
                        <a:rPr sz="700" b="0" i="0">
                          <a:solidFill>
                            <a:srgbClr val="0070C0"/>
                          </a:solidFill>
                          <a:latin typeface="Times New Roman"/>
                        </a:rPr>
                        <a:t> </a:t>
                      </a:r>
                      <a:r>
                        <a:rPr sz="1100" b="0" i="0">
                          <a:solidFill>
                            <a:srgbClr val="0070C0"/>
                          </a:solidFill>
                          <a:latin typeface="Calibri"/>
                        </a:rPr>
                        <a:t>ASEAN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21.20.1.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21.20.2.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21.20.3.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21.20.4.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21.21.</a:t>
                      </a:r>
                      <a:r>
                        <a:rPr sz="700" b="0" i="0">
                          <a:solidFill>
                            <a:srgbClr val="0070C0"/>
                          </a:solidFill>
                          <a:latin typeface="Times New Roman"/>
                        </a:rPr>
                        <a:t> </a:t>
                      </a:r>
                      <a:r>
                        <a:rPr sz="1100" b="0" i="0">
                          <a:solidFill>
                            <a:srgbClr val="0070C0"/>
                          </a:solidFill>
                          <a:latin typeface="Calibri"/>
                        </a:rPr>
                        <a:t>Australia and New Zealand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21.21.1.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21.21.2.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21.21.3.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21.21.4.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21.22.</a:t>
                      </a:r>
                      <a:r>
                        <a:rPr sz="700" b="0" i="0">
                          <a:solidFill>
                            <a:srgbClr val="0070C0"/>
                          </a:solidFill>
                          <a:latin typeface="Times New Roman"/>
                        </a:rPr>
                        <a:t> </a:t>
                      </a:r>
                      <a:r>
                        <a:rPr sz="1100" b="0" i="0">
                          <a:solidFill>
                            <a:srgbClr val="0070C0"/>
                          </a:solidFill>
                          <a:latin typeface="Calibri"/>
                        </a:rPr>
                        <a:t>GCC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21.22.1.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21.22.2.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21.22.3.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21.22.4.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21.23.</a:t>
                      </a:r>
                      <a:r>
                        <a:rPr sz="700" b="0" i="0">
                          <a:solidFill>
                            <a:srgbClr val="0070C0"/>
                          </a:solidFill>
                          <a:latin typeface="Times New Roman"/>
                        </a:rPr>
                        <a:t> </a:t>
                      </a:r>
                      <a:r>
                        <a:rPr sz="1100" b="0" i="0">
                          <a:solidFill>
                            <a:srgbClr val="0070C0"/>
                          </a:solidFill>
                          <a:latin typeface="Calibri"/>
                        </a:rPr>
                        <a:t>Northern Africa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21.23.1.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21.23.2.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21.23.3.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21.23.4.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21.24.</a:t>
                      </a:r>
                      <a:r>
                        <a:rPr sz="700" b="0" i="0">
                          <a:solidFill>
                            <a:srgbClr val="0070C0"/>
                          </a:solidFill>
                          <a:latin typeface="Times New Roman"/>
                        </a:rPr>
                        <a:t> </a:t>
                      </a:r>
                      <a:r>
                        <a:rPr sz="1100" b="0" i="0">
                          <a:solidFill>
                            <a:srgbClr val="0070C0"/>
                          </a:solidFill>
                          <a:latin typeface="Calibri"/>
                        </a:rPr>
                        <a:t>Turkiye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21.24.1.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21.24.2.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21.24.3.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r h="175260">
                <a:tc>
                  <a:txBody>
                    <a:bodyPr wrap="square"/>
                    <a:lstStyle/>
                    <a:p>
                      <a:pPr algn="l"/>
                      <a:r>
                        <a:rPr sz="1100" b="0" i="0">
                          <a:solidFill>
                            <a:srgbClr val="000000"/>
                          </a:solidFill>
                          <a:latin typeface="Calibri"/>
                        </a:rPr>
                        <a:t>21.24.4.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0" i="0">
                          <a:solidFill>
                            <a:srgbClr val="0070C0"/>
                          </a:solidFill>
                          <a:latin typeface="Calibri"/>
                        </a:rPr>
                        <a:t>21.25.</a:t>
                      </a:r>
                      <a:r>
                        <a:rPr sz="700" b="0" i="0">
                          <a:solidFill>
                            <a:srgbClr val="0070C0"/>
                          </a:solidFill>
                          <a:latin typeface="Times New Roman"/>
                        </a:rPr>
                        <a:t> </a:t>
                      </a:r>
                      <a:r>
                        <a:rPr sz="1100" b="0" i="0">
                          <a:solidFill>
                            <a:srgbClr val="0070C0"/>
                          </a:solidFill>
                          <a:latin typeface="Calibri"/>
                        </a:rPr>
                        <a:t>South Africa Helium-3 Market Analysis</a:t>
                      </a:r>
                      <a:endParaRPr sz="1100"/>
                    </a:p>
                  </a:txBody>
                  <a:tcPr marL="428625" marR="9525" marT="9525" marB="0" anchor="ctr"/>
                </a:tc>
              </a:tr>
              <a:tr h="175260">
                <a:tc>
                  <a:txBody>
                    <a:bodyPr wrap="square"/>
                    <a:lstStyle/>
                    <a:p>
                      <a:pPr algn="l"/>
                      <a:r>
                        <a:rPr sz="1100" b="0" i="0">
                          <a:solidFill>
                            <a:srgbClr val="000000"/>
                          </a:solidFill>
                          <a:latin typeface="Calibri"/>
                        </a:rPr>
                        <a:t>21.25.1.</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21.25.2.</a:t>
                      </a:r>
                      <a:r>
                        <a:rPr sz="700" b="0" i="0">
                          <a:solidFill>
                            <a:srgbClr val="000000"/>
                          </a:solidFill>
                          <a:latin typeface="Times New Roman"/>
                        </a:rPr>
                        <a:t> </a:t>
                      </a:r>
                      <a:r>
                        <a:rPr sz="1100" b="0" i="0">
                          <a:solidFill>
                            <a:srgbClr val="000000"/>
                          </a:solidFill>
                          <a:latin typeface="Calibri"/>
                        </a:rPr>
                        <a:t>By Supply Source</a:t>
                      </a:r>
                      <a:endParaRPr sz="1100"/>
                    </a:p>
                  </a:txBody>
                  <a:tcPr marL="771525" marR="9525" marT="9525" marB="0" anchor="ctr"/>
                </a:tc>
              </a:tr>
              <a:tr h="175260">
                <a:tc>
                  <a:txBody>
                    <a:bodyPr wrap="square"/>
                    <a:lstStyle/>
                    <a:p>
                      <a:pPr algn="l"/>
                      <a:r>
                        <a:rPr sz="1100" b="0" i="0">
                          <a:solidFill>
                            <a:srgbClr val="000000"/>
                          </a:solidFill>
                          <a:latin typeface="Calibri"/>
                        </a:rPr>
                        <a:t>21.25.3.</a:t>
                      </a:r>
                      <a:r>
                        <a:rPr sz="700" b="0" i="0">
                          <a:solidFill>
                            <a:srgbClr val="000000"/>
                          </a:solidFill>
                          <a:latin typeface="Times New Roman"/>
                        </a:rPr>
                        <a:t> </a:t>
                      </a:r>
                      <a:r>
                        <a:rPr sz="1100" b="0" i="0">
                          <a:solidFill>
                            <a:srgbClr val="000000"/>
                          </a:solidFill>
                          <a:latin typeface="Calibri"/>
                        </a:rPr>
                        <a:t>By Application</a:t>
                      </a:r>
                      <a:endParaRPr sz="1100"/>
                    </a:p>
                  </a:txBody>
                  <a:tcPr marL="771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21.25.4.</a:t>
                      </a:r>
                      <a:r>
                        <a:rPr sz="700" b="0" i="0">
                          <a:solidFill>
                            <a:srgbClr val="000000"/>
                          </a:solidFill>
                          <a:latin typeface="Times New Roman"/>
                        </a:rPr>
                        <a:t> </a:t>
                      </a:r>
                      <a:r>
                        <a:rPr sz="1100" b="0" i="0">
                          <a:solidFill>
                            <a:srgbClr val="000000"/>
                          </a:solidFill>
                          <a:latin typeface="Calibri"/>
                        </a:rPr>
                        <a:t>By End User</a:t>
                      </a:r>
                      <a:endParaRPr sz="1100"/>
                    </a:p>
                  </a:txBody>
                  <a:tcPr marL="7715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Market Analysis by Tier of Companies</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Market Share Analysis of Top Players</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Market Presence Analysis</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Competition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Competition Dashboard</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Helium-3 Supplier and Competitor Landscape</a:t>
                      </a:r>
                      <a:endParaRPr sz="1100"/>
                    </a:p>
                  </a:txBody>
                  <a:tcPr marL="428625" marR="9525" marT="9525" marB="0" anchor="ctr"/>
                </a:tc>
              </a:tr>
              <a:tr h="175260">
                <a:tc>
                  <a:txBody>
                    <a:bodyPr wrap="square"/>
                    <a:lstStyle/>
                    <a:p>
                      <a:pPr algn="l"/>
                      <a:r>
                        <a:rPr sz="1100" b="0" i="0">
                          <a:solidFill>
                            <a:srgbClr val="000000"/>
                          </a:solidFill>
                          <a:latin typeface="Calibri"/>
                        </a:rPr>
                        <a:t>23.2.1.</a:t>
                      </a:r>
                      <a:r>
                        <a:rPr sz="700" b="0" i="0">
                          <a:solidFill>
                            <a:srgbClr val="000000"/>
                          </a:solidFill>
                          <a:latin typeface="Times New Roman"/>
                        </a:rPr>
                        <a:t> </a:t>
                      </a:r>
                      <a:r>
                        <a:rPr sz="1100" b="0" i="0">
                          <a:solidFill>
                            <a:srgbClr val="000000"/>
                          </a:solidFill>
                          <a:latin typeface="Calibri"/>
                        </a:rPr>
                        <a:t>Verified Helium-3 Suppliers and Producers</a:t>
                      </a:r>
                      <a:endParaRPr sz="1100"/>
                    </a:p>
                  </a:txBody>
                  <a:tcPr marL="771525" marR="9525" marT="9525" marB="0" anchor="ctr"/>
                </a:tc>
              </a:tr>
              <a:tr h="175260">
                <a:tc>
                  <a:txBody>
                    <a:bodyPr wrap="square"/>
                    <a:lstStyle/>
                    <a:p>
                      <a:pPr algn="l"/>
                      <a:r>
                        <a:rPr sz="1100" b="0" i="0">
                          <a:solidFill>
                            <a:srgbClr val="000000"/>
                          </a:solidFill>
                          <a:latin typeface="Calibri"/>
                        </a:rPr>
                        <a:t>23.2.2.</a:t>
                      </a:r>
                      <a:r>
                        <a:rPr sz="700" b="0" i="0">
                          <a:solidFill>
                            <a:srgbClr val="000000"/>
                          </a:solidFill>
                          <a:latin typeface="Times New Roman"/>
                        </a:rPr>
                        <a:t> </a:t>
                      </a:r>
                      <a:r>
                        <a:rPr sz="1100" b="0" i="0">
                          <a:solidFill>
                            <a:srgbClr val="000000"/>
                          </a:solidFill>
                          <a:latin typeface="Calibri"/>
                        </a:rPr>
                        <a:t>Upstream Recovery Operators vs. Distributors vs. Direct Suppliers</a:t>
                      </a:r>
                      <a:endParaRPr sz="1100"/>
                    </a:p>
                  </a:txBody>
                  <a:tcPr marL="771525" marR="9525" marT="9525" marB="0" anchor="ctr"/>
                </a:tc>
              </a:tr>
              <a:tr h="175260">
                <a:tc>
                  <a:txBody>
                    <a:bodyPr wrap="square"/>
                    <a:lstStyle/>
                    <a:p>
                      <a:pPr algn="l"/>
                      <a:r>
                        <a:rPr sz="1100" b="0" i="0">
                          <a:solidFill>
                            <a:srgbClr val="000000"/>
                          </a:solidFill>
                          <a:latin typeface="Calibri"/>
                        </a:rPr>
                        <a:t>23.2.3.</a:t>
                      </a:r>
                      <a:r>
                        <a:rPr sz="700" b="0" i="0">
                          <a:solidFill>
                            <a:srgbClr val="000000"/>
                          </a:solidFill>
                          <a:latin typeface="Times New Roman"/>
                        </a:rPr>
                        <a:t> </a:t>
                      </a:r>
                      <a:r>
                        <a:rPr sz="1100" b="0" i="0">
                          <a:solidFill>
                            <a:srgbClr val="000000"/>
                          </a:solidFill>
                          <a:latin typeface="Calibri"/>
                        </a:rPr>
                        <a:t>Parent Companies, Subsidiaries and Distribution Partnerships</a:t>
                      </a:r>
                      <a:endParaRPr sz="1100"/>
                    </a:p>
                  </a:txBody>
                  <a:tcPr marL="7715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Competitor Presence by Country and Region</a:t>
                      </a:r>
                      <a:endParaRPr sz="1100"/>
                    </a:p>
                  </a:txBody>
                  <a:tcPr marL="428625" marR="9525" marT="9525" marB="0" anchor="ctr"/>
                </a:tc>
              </a:tr>
              <a:tr h="17526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Company-Wise Helium-3 Sales and Revenue</a:t>
                      </a:r>
                      <a:endParaRPr sz="1100"/>
                    </a:p>
                  </a:txBody>
                  <a:tcPr marL="428625" marR="9525" marT="9525" marB="0" anchor="ctr"/>
                </a:tc>
              </a:tr>
              <a:tr h="175260">
                <a:tc>
                  <a:txBody>
                    <a:bodyPr wrap="square"/>
                    <a:lstStyle/>
                    <a:p>
                      <a:pPr algn="l"/>
                      <a:r>
                        <a:rPr sz="1100" b="0" i="0">
                          <a:solidFill>
                            <a:srgbClr val="000000"/>
                          </a:solidFill>
                          <a:latin typeface="Calibri"/>
                        </a:rPr>
                        <a:t>23.4.1.</a:t>
                      </a:r>
                      <a:r>
                        <a:rPr sz="700" b="0" i="0">
                          <a:solidFill>
                            <a:srgbClr val="000000"/>
                          </a:solidFill>
                          <a:latin typeface="Times New Roman"/>
                        </a:rPr>
                        <a:t> </a:t>
                      </a:r>
                      <a:r>
                        <a:rPr sz="1100" b="0" i="0">
                          <a:solidFill>
                            <a:srgbClr val="000000"/>
                          </a:solidFill>
                          <a:latin typeface="Calibri"/>
                        </a:rPr>
                        <a:t>Reported Helium-3 Product Revenue by Company</a:t>
                      </a:r>
                      <a:endParaRPr sz="1100"/>
                    </a:p>
                  </a:txBody>
                  <a:tcPr marL="771525" marR="9525" marT="9525" marB="0" anchor="ctr"/>
                </a:tc>
              </a:tr>
              <a:tr h="175260">
                <a:tc>
                  <a:txBody>
                    <a:bodyPr wrap="square"/>
                    <a:lstStyle/>
                    <a:p>
                      <a:pPr algn="l"/>
                      <a:r>
                        <a:rPr sz="1100" b="0" i="0">
                          <a:solidFill>
                            <a:srgbClr val="000000"/>
                          </a:solidFill>
                          <a:latin typeface="Calibri"/>
                        </a:rPr>
                        <a:t>23.4.2.</a:t>
                      </a:r>
                      <a:r>
                        <a:rPr sz="700" b="0" i="0">
                          <a:solidFill>
                            <a:srgbClr val="000000"/>
                          </a:solidFill>
                          <a:latin typeface="Times New Roman"/>
                        </a:rPr>
                        <a:t> </a:t>
                      </a:r>
                      <a:r>
                        <a:rPr sz="1100" b="0" i="0">
                          <a:solidFill>
                            <a:srgbClr val="000000"/>
                          </a:solidFill>
                          <a:latin typeface="Calibri"/>
                        </a:rPr>
                        <a:t>Estimated Helium-3 Revenue from Relevant Product Portfolios</a:t>
                      </a:r>
                      <a:endParaRPr sz="1100"/>
                    </a:p>
                  </a:txBody>
                  <a:tcPr marL="771525" marR="9525" marT="9525" marB="0" anchor="ctr"/>
                </a:tc>
              </a:tr>
              <a:tr h="175260">
                <a:tc>
                  <a:txBody>
                    <a:bodyPr wrap="square"/>
                    <a:lstStyle/>
                    <a:p>
                      <a:pPr algn="l"/>
                      <a:r>
                        <a:rPr sz="1100" b="0" i="0">
                          <a:solidFill>
                            <a:srgbClr val="000000"/>
                          </a:solidFill>
                          <a:latin typeface="Calibri"/>
                        </a:rPr>
                        <a:t>23.4.3.</a:t>
                      </a:r>
                      <a:r>
                        <a:rPr sz="700" b="0" i="0">
                          <a:solidFill>
                            <a:srgbClr val="000000"/>
                          </a:solidFill>
                          <a:latin typeface="Times New Roman"/>
                        </a:rPr>
                        <a:t> </a:t>
                      </a:r>
                      <a:r>
                        <a:rPr sz="1100" b="0" i="0">
                          <a:solidFill>
                            <a:srgbClr val="000000"/>
                          </a:solidFill>
                          <a:latin typeface="Calibri"/>
                        </a:rPr>
                        <a:t>Annual Helium-3 Sales Volume by Company</a:t>
                      </a:r>
                      <a:endParaRPr sz="1100"/>
                    </a:p>
                  </a:txBody>
                  <a:tcPr marL="771525" marR="9525" marT="9525" marB="0" anchor="ctr"/>
                </a:tc>
              </a:tr>
              <a:tr h="175260">
                <a:tc>
                  <a:txBody>
                    <a:bodyPr wrap="square"/>
                    <a:lstStyle/>
                    <a:p>
                      <a:pPr algn="l"/>
                      <a:r>
                        <a:rPr sz="1100" b="0" i="0">
                          <a:solidFill>
                            <a:srgbClr val="000000"/>
                          </a:solidFill>
                          <a:latin typeface="Calibri"/>
                        </a:rPr>
                        <a:t>23.4.4.</a:t>
                      </a:r>
                      <a:r>
                        <a:rPr sz="700" b="0" i="0">
                          <a:solidFill>
                            <a:srgbClr val="000000"/>
                          </a:solidFill>
                          <a:latin typeface="Times New Roman"/>
                        </a:rPr>
                        <a:t> </a:t>
                      </a:r>
                      <a:r>
                        <a:rPr sz="1100" b="0" i="0">
                          <a:solidFill>
                            <a:srgbClr val="000000"/>
                          </a:solidFill>
                          <a:latin typeface="Calibri"/>
                        </a:rPr>
                        <a:t>Company-Wise Revenue and Volume Growth, Where Available</a:t>
                      </a:r>
                      <a:endParaRPr sz="1100"/>
                    </a:p>
                  </a:txBody>
                  <a:tcPr marL="771525" marR="9525" marT="9525" marB="0" anchor="ctr"/>
                </a:tc>
              </a:tr>
              <a:tr h="17526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Competition Benchmarking</a:t>
                      </a:r>
                      <a:endParaRPr sz="1100"/>
                    </a:p>
                  </a:txBody>
                  <a:tcPr marL="428625" marR="9525" marT="9525" marB="0" anchor="ctr"/>
                </a:tc>
              </a:tr>
              <a:tr h="17526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Competition Deep Dive</a:t>
                      </a:r>
                      <a:endParaRPr sz="1100"/>
                    </a:p>
                  </a:txBody>
                  <a:tcPr marL="428625" marR="9525" marT="9525" marB="0" anchor="ctr"/>
                </a:tc>
              </a:tr>
              <a:tr h="175260">
                <a:tc>
                  <a:txBody>
                    <a:bodyPr wrap="square"/>
                    <a:lstStyle/>
                    <a:p>
                      <a:pPr algn="l"/>
                      <a:r>
                        <a:rPr sz="1100" b="0" i="0">
                          <a:solidFill>
                            <a:srgbClr val="000000"/>
                          </a:solidFill>
                          <a:latin typeface="Calibri"/>
                        </a:rPr>
                        <a:t>23.6.1.</a:t>
                      </a:r>
                      <a:r>
                        <a:rPr sz="700" b="0" i="0">
                          <a:solidFill>
                            <a:srgbClr val="000000"/>
                          </a:solidFill>
                          <a:latin typeface="Times New Roman"/>
                        </a:rPr>
                        <a:t> </a:t>
                      </a:r>
                      <a:r>
                        <a:rPr sz="1100" b="0" i="0">
                          <a:solidFill>
                            <a:srgbClr val="000000"/>
                          </a:solidFill>
                          <a:latin typeface="Calibri"/>
                        </a:rPr>
                        <a:t>Air Liquide</a:t>
                      </a:r>
                      <a:endParaRPr sz="1100"/>
                    </a:p>
                  </a:txBody>
                  <a:tcPr marL="771525" marR="9525" marT="9525" marB="0" anchor="ctr"/>
                </a:tc>
              </a:tr>
              <a:tr h="175260">
                <a:tc>
                  <a:txBody>
                    <a:bodyPr wrap="square"/>
                    <a:lstStyle/>
                    <a:p>
                      <a:pPr algn="l"/>
                      <a:r>
                        <a:rPr sz="1100" b="0" i="1">
                          <a:solidFill>
                            <a:srgbClr val="000000"/>
                          </a:solidFill>
                          <a:latin typeface="Calibri"/>
                        </a:rPr>
                        <a:t>23.6.1.1.</a:t>
                      </a:r>
                      <a:r>
                        <a:rPr sz="700" b="0" i="1">
                          <a:solidFill>
                            <a:srgbClr val="000000"/>
                          </a:solidFill>
                          <a:latin typeface="Times New Roman"/>
                        </a:rPr>
                        <a:t> </a:t>
                      </a:r>
                      <a:r>
                        <a:rPr sz="1100" b="0" i="1">
                          <a:solidFill>
                            <a:srgbClr val="000000"/>
                          </a:solidFill>
                          <a:latin typeface="Calibri"/>
                        </a:rPr>
                        <a:t>Overview</a:t>
                      </a:r>
                      <a:endParaRPr sz="1100"/>
                    </a:p>
                  </a:txBody>
                  <a:tcPr marL="1028700" marR="9525" marT="9525" marB="0" anchor="ctr"/>
                </a:tc>
              </a:tr>
              <a:tr h="175260">
                <a:tc>
                  <a:txBody>
                    <a:bodyPr wrap="square"/>
                    <a:lstStyle/>
                    <a:p>
                      <a:pPr algn="l"/>
                      <a:r>
                        <a:rPr sz="1100" b="0" i="1">
                          <a:solidFill>
                            <a:srgbClr val="000000"/>
                          </a:solidFill>
                          <a:latin typeface="Calibri"/>
                        </a:rPr>
                        <a:t>23.6.1.2.</a:t>
                      </a:r>
                      <a:r>
                        <a:rPr sz="700" b="0" i="1">
                          <a:solidFill>
                            <a:srgbClr val="000000"/>
                          </a:solidFill>
                          <a:latin typeface="Times New Roman"/>
                        </a:rPr>
                        <a:t> </a:t>
                      </a:r>
                      <a:r>
                        <a:rPr sz="1100" b="0" i="1">
                          <a:solidFill>
                            <a:srgbClr val="000000"/>
                          </a:solidFill>
                          <a:latin typeface="Calibri"/>
                        </a:rPr>
                        <a:t>Product Portfolio</a:t>
                      </a:r>
                      <a:endParaRPr sz="1100"/>
                    </a:p>
                  </a:txBody>
                  <a:tcPr marL="1028700" marR="9525" marT="9525" marB="0" anchor="ctr"/>
                </a:tc>
              </a:tr>
              <a:tr h="175260">
                <a:tc>
                  <a:txBody>
                    <a:bodyPr wrap="square"/>
                    <a:lstStyle/>
                    <a:p>
                      <a:pPr algn="l"/>
                      <a:r>
                        <a:rPr sz="1100" b="0" i="1">
                          <a:solidFill>
                            <a:srgbClr val="000000"/>
                          </a:solidFill>
                          <a:latin typeface="Calibri"/>
                        </a:rPr>
                        <a:t>23.6.1.3.</a:t>
                      </a:r>
                      <a:r>
                        <a:rPr sz="700" b="0" i="1">
                          <a:solidFill>
                            <a:srgbClr val="000000"/>
                          </a:solidFill>
                          <a:latin typeface="Times New Roman"/>
                        </a:rPr>
                        <a:t> </a:t>
                      </a:r>
                      <a:r>
                        <a:rPr sz="1100" b="0" i="1">
                          <a:solidFill>
                            <a:srgbClr val="000000"/>
                          </a:solidFill>
                          <a:latin typeface="Calibri"/>
                        </a:rPr>
                        <a:t>Profitability by Market Segments (Product/Channel/Region)</a:t>
                      </a:r>
                      <a:endParaRPr sz="1100"/>
                    </a:p>
                  </a:txBody>
                  <a:tcPr marL="1028700" marR="9525" marT="9525" marB="0" anchor="ctr"/>
                </a:tc>
              </a:tr>
              <a:tr h="175260">
                <a:tc>
                  <a:txBody>
                    <a:bodyPr wrap="square"/>
                    <a:lstStyle/>
                    <a:p>
                      <a:pPr algn="l"/>
                      <a:r>
                        <a:rPr sz="1100" b="0" i="1">
                          <a:solidFill>
                            <a:srgbClr val="000000"/>
                          </a:solidFill>
                          <a:latin typeface="Calibri"/>
                        </a:rPr>
                        <a:t>23.6.1.4.</a:t>
                      </a:r>
                      <a:r>
                        <a:rPr sz="700" b="0" i="1">
                          <a:solidFill>
                            <a:srgbClr val="000000"/>
                          </a:solidFill>
                          <a:latin typeface="Times New Roman"/>
                        </a:rPr>
                        <a:t> </a:t>
                      </a:r>
                      <a:r>
                        <a:rPr sz="1100" b="0" i="1">
                          <a:solidFill>
                            <a:srgbClr val="000000"/>
                          </a:solidFill>
                          <a:latin typeface="Calibri"/>
                        </a:rPr>
                        <a:t>Sales Footprint</a:t>
                      </a:r>
                      <a:endParaRPr sz="1100"/>
                    </a:p>
                  </a:txBody>
                  <a:tcPr marL="1028700" marR="9525" marT="9525" marB="0" anchor="ctr"/>
                </a:tc>
              </a:tr>
              <a:tr h="175260">
                <a:tc>
                  <a:txBody>
                    <a:bodyPr wrap="square"/>
                    <a:lstStyle/>
                    <a:p>
                      <a:pPr algn="l"/>
                      <a:r>
                        <a:rPr sz="1100" b="0" i="1">
                          <a:solidFill>
                            <a:srgbClr val="000000"/>
                          </a:solidFill>
                          <a:latin typeface="Calibri"/>
                        </a:rPr>
                        <a:t>23.6.1.5.</a:t>
                      </a:r>
                      <a:r>
                        <a:rPr sz="700" b="0" i="1">
                          <a:solidFill>
                            <a:srgbClr val="000000"/>
                          </a:solidFill>
                          <a:latin typeface="Times New Roman"/>
                        </a:rPr>
                        <a:t> </a:t>
                      </a:r>
                      <a:r>
                        <a:rPr sz="1100" b="0" i="1">
                          <a:solidFill>
                            <a:srgbClr val="000000"/>
                          </a:solidFill>
                          <a:latin typeface="Calibri"/>
                        </a:rPr>
                        <a:t>Strategy Overview</a:t>
                      </a:r>
                      <a:endParaRPr sz="1100"/>
                    </a:p>
                  </a:txBody>
                  <a:tcPr marL="1028700" marR="9525" marT="9525" marB="0" anchor="ctr"/>
                </a:tc>
              </a:tr>
              <a:tr h="175260">
                <a:tc>
                  <a:txBody>
                    <a:bodyPr wrap="square"/>
                    <a:lstStyle/>
                    <a:p>
                      <a:pPr algn="l"/>
                      <a:r>
                        <a:rPr sz="1100" b="0" i="0">
                          <a:solidFill>
                            <a:srgbClr val="000000"/>
                          </a:solidFill>
                          <a:latin typeface="Calibri"/>
                        </a:rPr>
                        <a:t>23.6.2.</a:t>
                      </a:r>
                      <a:r>
                        <a:rPr sz="700" b="0" i="0">
                          <a:solidFill>
                            <a:srgbClr val="000000"/>
                          </a:solidFill>
                          <a:latin typeface="Times New Roman"/>
                        </a:rPr>
                        <a:t> </a:t>
                      </a:r>
                      <a:r>
                        <a:rPr sz="1100" b="0" i="0">
                          <a:solidFill>
                            <a:srgbClr val="000000"/>
                          </a:solidFill>
                          <a:latin typeface="Calibri"/>
                        </a:rPr>
                        <a:t>Linde plc</a:t>
                      </a:r>
                      <a:endParaRPr sz="1100"/>
                    </a:p>
                  </a:txBody>
                  <a:tcPr marL="771525" marR="9525" marT="9525" marB="0" anchor="ctr"/>
                </a:tc>
              </a:tr>
              <a:tr h="175260">
                <a:tc>
                  <a:txBody>
                    <a:bodyPr wrap="square"/>
                    <a:lstStyle/>
                    <a:p>
                      <a:pPr algn="l"/>
                      <a:r>
                        <a:rPr sz="1100" b="0" i="0">
                          <a:solidFill>
                            <a:srgbClr val="000000"/>
                          </a:solidFill>
                          <a:latin typeface="Calibri"/>
                        </a:rPr>
                        <a:t>23.6.3.</a:t>
                      </a:r>
                      <a:r>
                        <a:rPr sz="700" b="0" i="0">
                          <a:solidFill>
                            <a:srgbClr val="000000"/>
                          </a:solidFill>
                          <a:latin typeface="Times New Roman"/>
                        </a:rPr>
                        <a:t> </a:t>
                      </a:r>
                      <a:r>
                        <a:rPr sz="1100" b="0" i="0">
                          <a:solidFill>
                            <a:srgbClr val="000000"/>
                          </a:solidFill>
                          <a:latin typeface="Calibri"/>
                        </a:rPr>
                        <a:t>Chemgas</a:t>
                      </a:r>
                      <a:endParaRPr sz="1100"/>
                    </a:p>
                  </a:txBody>
                  <a:tcPr marL="771525" marR="9525" marT="9525" marB="0" anchor="ctr"/>
                </a:tc>
              </a:tr>
              <a:tr h="175260">
                <a:tc>
                  <a:txBody>
                    <a:bodyPr wrap="square"/>
                    <a:lstStyle/>
                    <a:p>
                      <a:pPr algn="l"/>
                      <a:r>
                        <a:rPr sz="1100" b="0" i="0">
                          <a:solidFill>
                            <a:srgbClr val="000000"/>
                          </a:solidFill>
                          <a:latin typeface="Calibri"/>
                        </a:rPr>
                        <a:t>23.6.4.</a:t>
                      </a:r>
                      <a:r>
                        <a:rPr sz="700" b="0" i="0">
                          <a:solidFill>
                            <a:srgbClr val="000000"/>
                          </a:solidFill>
                          <a:latin typeface="Times New Roman"/>
                        </a:rPr>
                        <a:t> </a:t>
                      </a:r>
                      <a:r>
                        <a:rPr sz="1100" b="0" i="0">
                          <a:solidFill>
                            <a:srgbClr val="000000"/>
                          </a:solidFill>
                          <a:latin typeface="Calibri"/>
                        </a:rPr>
                        <a:t>Airgas</a:t>
                      </a:r>
                      <a:endParaRPr sz="1100"/>
                    </a:p>
                  </a:txBody>
                  <a:tcPr marL="771525" marR="9525" marT="9525" marB="0" anchor="ctr"/>
                </a:tc>
              </a:tr>
              <a:tr h="175260">
                <a:tc>
                  <a:txBody>
                    <a:bodyPr wrap="square"/>
                    <a:lstStyle/>
                    <a:p>
                      <a:pPr algn="l"/>
                      <a:r>
                        <a:rPr sz="1100" b="0" i="0">
                          <a:solidFill>
                            <a:srgbClr val="000000"/>
                          </a:solidFill>
                          <a:latin typeface="Calibri"/>
                        </a:rPr>
                        <a:t>23.6.5.</a:t>
                      </a:r>
                      <a:r>
                        <a:rPr sz="700" b="0" i="0">
                          <a:solidFill>
                            <a:srgbClr val="000000"/>
                          </a:solidFill>
                          <a:latin typeface="Times New Roman"/>
                        </a:rPr>
                        <a:t> </a:t>
                      </a:r>
                      <a:r>
                        <a:rPr sz="1100" b="0" i="0">
                          <a:solidFill>
                            <a:srgbClr val="000000"/>
                          </a:solidFill>
                          <a:latin typeface="Calibri"/>
                        </a:rPr>
                        <a:t>Merck KGaA (Sigma-Aldrich)</a:t>
                      </a:r>
                      <a:endParaRPr sz="1100"/>
                    </a:p>
                  </a:txBody>
                  <a:tcPr marL="771525" marR="9525" marT="9525" marB="0" anchor="ctr"/>
                </a:tc>
              </a:tr>
              <a:tr h="175260">
                <a:tc>
                  <a:txBody>
                    <a:bodyPr wrap="square"/>
                    <a:lstStyle/>
                    <a:p>
                      <a:pPr algn="l"/>
                      <a:r>
                        <a:rPr sz="1100" b="0" i="0">
                          <a:solidFill>
                            <a:srgbClr val="000000"/>
                          </a:solidFill>
                          <a:latin typeface="Calibri"/>
                        </a:rPr>
                        <a:t>23.6.6.</a:t>
                      </a:r>
                      <a:r>
                        <a:rPr sz="700" b="0" i="0">
                          <a:solidFill>
                            <a:srgbClr val="000000"/>
                          </a:solidFill>
                          <a:latin typeface="Times New Roman"/>
                        </a:rPr>
                        <a:t> </a:t>
                      </a:r>
                      <a:r>
                        <a:rPr sz="1100" b="0" i="0">
                          <a:solidFill>
                            <a:srgbClr val="000000"/>
                          </a:solidFill>
                          <a:latin typeface="Calibri"/>
                        </a:rPr>
                        <a:t>Eurisotop</a:t>
                      </a:r>
                      <a:endParaRPr sz="1100"/>
                    </a:p>
                  </a:txBody>
                  <a:tcPr marL="771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Table of Contents (8/8)</a:t>
            </a:r>
          </a:p>
        </p:txBody>
      </p:sp>
      <p:graphicFrame>
        <p:nvGraphicFramePr>
          <p:cNvPr id="7" name="FMI Contents Table"/>
          <p:cNvGraphicFramePr>
            <a:graphicFrameLocks noGrp="1"/>
          </p:cNvGraphicFramePr>
          <p:nvPr/>
        </p:nvGraphicFramePr>
        <p:xfrm>
          <a:off x="142875" y="981075"/>
          <a:ext cx="5876925" cy="157734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23.6.7.</a:t>
                      </a:r>
                      <a:r>
                        <a:rPr sz="700" b="0" i="0">
                          <a:solidFill>
                            <a:srgbClr val="000000"/>
                          </a:solidFill>
                          <a:latin typeface="Times New Roman"/>
                        </a:rPr>
                        <a:t> </a:t>
                      </a:r>
                      <a:r>
                        <a:rPr sz="1100" b="0" i="0">
                          <a:solidFill>
                            <a:srgbClr val="000000"/>
                          </a:solidFill>
                          <a:latin typeface="Calibri"/>
                        </a:rPr>
                        <a:t>ISOFLEX USA</a:t>
                      </a:r>
                      <a:endParaRPr sz="1100"/>
                    </a:p>
                  </a:txBody>
                  <a:tcPr marL="771525" marR="9525" marT="9525" marB="0" anchor="ctr"/>
                </a:tc>
              </a:tr>
              <a:tr h="175260">
                <a:tc>
                  <a:txBody>
                    <a:bodyPr wrap="square"/>
                    <a:lstStyle/>
                    <a:p>
                      <a:pPr algn="l"/>
                      <a:r>
                        <a:rPr sz="1100" b="0" i="0">
                          <a:solidFill>
                            <a:srgbClr val="000000"/>
                          </a:solidFill>
                          <a:latin typeface="Calibri"/>
                        </a:rPr>
                        <a:t>23.6.8.</a:t>
                      </a:r>
                      <a:r>
                        <a:rPr sz="700" b="0" i="0">
                          <a:solidFill>
                            <a:srgbClr val="000000"/>
                          </a:solidFill>
                          <a:latin typeface="Times New Roman"/>
                        </a:rPr>
                        <a:t> </a:t>
                      </a:r>
                      <a:r>
                        <a:rPr sz="1100" b="0" i="0">
                          <a:solidFill>
                            <a:srgbClr val="000000"/>
                          </a:solidFill>
                          <a:latin typeface="Calibri"/>
                        </a:rPr>
                        <a:t>DWS Specialty Gas Co., Ltd.</a:t>
                      </a:r>
                      <a:endParaRPr sz="1100"/>
                    </a:p>
                  </a:txBody>
                  <a:tcPr marL="771525" marR="9525" marT="9525" marB="0" anchor="ctr"/>
                </a:tc>
              </a:tr>
              <a:tr h="175260">
                <a:tc>
                  <a:txBody>
                    <a:bodyPr wrap="square"/>
                    <a:lstStyle/>
                    <a:p>
                      <a:pPr algn="l"/>
                      <a:r>
                        <a:rPr sz="1100" b="0" i="0">
                          <a:solidFill>
                            <a:srgbClr val="000000"/>
                          </a:solidFill>
                          <a:latin typeface="Calibri"/>
                        </a:rPr>
                        <a:t>23.6.9.</a:t>
                      </a:r>
                      <a:r>
                        <a:rPr sz="700" b="0" i="0">
                          <a:solidFill>
                            <a:srgbClr val="000000"/>
                          </a:solidFill>
                          <a:latin typeface="Times New Roman"/>
                        </a:rPr>
                        <a:t> </a:t>
                      </a:r>
                      <a:r>
                        <a:rPr sz="1100" b="0" i="0">
                          <a:solidFill>
                            <a:srgbClr val="000000"/>
                          </a:solidFill>
                          <a:latin typeface="Calibri"/>
                        </a:rPr>
                        <a:t>Wuhan Baisida Gas Co., Ltd.</a:t>
                      </a:r>
                      <a:endParaRPr sz="1100"/>
                    </a:p>
                  </a:txBody>
                  <a:tcPr marL="771525" marR="9525" marT="9525" marB="0" anchor="ctr"/>
                </a:tc>
              </a:tr>
              <a:tr h="175260">
                <a:tc>
                  <a:txBody>
                    <a:bodyPr wrap="square"/>
                    <a:lstStyle/>
                    <a:p>
                      <a:pPr algn="l"/>
                      <a:r>
                        <a:rPr sz="1100" b="0" i="0">
                          <a:solidFill>
                            <a:srgbClr val="000000"/>
                          </a:solidFill>
                          <a:latin typeface="Calibri"/>
                        </a:rPr>
                        <a:t>23.6.10.</a:t>
                      </a:r>
                      <a:r>
                        <a:rPr sz="700" b="0" i="0">
                          <a:solidFill>
                            <a:srgbClr val="000000"/>
                          </a:solidFill>
                          <a:latin typeface="Times New Roman"/>
                        </a:rPr>
                        <a:t> </a:t>
                      </a:r>
                      <a:r>
                        <a:rPr sz="1100" b="0" i="0">
                          <a:solidFill>
                            <a:srgbClr val="000000"/>
                          </a:solidFill>
                          <a:latin typeface="Calibri"/>
                        </a:rPr>
                        <a:t>Shanghai Wechem Chemical Co., Ltd.</a:t>
                      </a:r>
                      <a:endParaRPr sz="1100"/>
                    </a:p>
                  </a:txBody>
                  <a:tcPr marL="771525" marR="9525" marT="9525" marB="0" anchor="ctr"/>
                </a:tc>
              </a:tr>
              <a:tr h="175260">
                <a:tc>
                  <a:txBody>
                    <a:bodyPr wrap="square"/>
                    <a:lstStyle/>
                    <a:p>
                      <a:pPr algn="l"/>
                      <a:r>
                        <a:rPr sz="1100" b="0" i="0">
                          <a:solidFill>
                            <a:srgbClr val="000000"/>
                          </a:solidFill>
                          <a:latin typeface="Calibri"/>
                        </a:rPr>
                        <a:t>23.6.11.</a:t>
                      </a:r>
                      <a:r>
                        <a:rPr sz="700" b="0" i="0">
                          <a:solidFill>
                            <a:srgbClr val="000000"/>
                          </a:solidFill>
                          <a:latin typeface="Times New Roman"/>
                        </a:rPr>
                        <a:t> </a:t>
                      </a:r>
                      <a:r>
                        <a:rPr sz="1100" b="0" i="0">
                          <a:solidFill>
                            <a:srgbClr val="000000"/>
                          </a:solidFill>
                          <a:latin typeface="Calibri"/>
                        </a:rPr>
                        <a:t>Laurentis Energy Partners</a:t>
                      </a:r>
                      <a:endParaRPr sz="1100"/>
                    </a:p>
                  </a:txBody>
                  <a:tcPr marL="771525" marR="9525" marT="9525" marB="0" anchor="ctr"/>
                </a:tc>
              </a:tr>
              <a:tr h="175260">
                <a:tc>
                  <a:txBody>
                    <a:bodyPr wrap="square"/>
                    <a:lstStyle/>
                    <a:p>
                      <a:pPr algn="l"/>
                      <a:r>
                        <a:rPr sz="1100" b="0" i="0">
                          <a:solidFill>
                            <a:srgbClr val="000000"/>
                          </a:solidFill>
                          <a:latin typeface="Calibri"/>
                        </a:rPr>
                        <a:t>23.6.12.</a:t>
                      </a:r>
                      <a:r>
                        <a:rPr sz="700" b="0" i="0">
                          <a:solidFill>
                            <a:srgbClr val="000000"/>
                          </a:solidFill>
                          <a:latin typeface="Times New Roman"/>
                        </a:rPr>
                        <a:t> </a:t>
                      </a:r>
                      <a:r>
                        <a:rPr sz="1100" b="0" i="0">
                          <a:solidFill>
                            <a:srgbClr val="000000"/>
                          </a:solidFill>
                          <a:latin typeface="Calibri"/>
                        </a:rPr>
                        <a:t>V/O Izotop (Rosatom Group)</a:t>
                      </a:r>
                      <a:endParaRPr sz="1100"/>
                    </a:p>
                  </a:txBody>
                  <a:tcPr marL="771525" marR="9525" marT="9525" marB="0" anchor="ctr"/>
                </a:tc>
              </a:tr>
              <a:tr h="175260">
                <a:tc>
                  <a:txBody>
                    <a:bodyPr wrap="square"/>
                    <a:lstStyle/>
                    <a:p>
                      <a:pPr algn="l"/>
                      <a:r>
                        <a:rPr sz="1100" b="0" i="0">
                          <a:solidFill>
                            <a:srgbClr val="000000"/>
                          </a:solidFill>
                          <a:latin typeface="Calibri"/>
                        </a:rPr>
                        <a:t>23.6.13.</a:t>
                      </a:r>
                      <a:r>
                        <a:rPr sz="700" b="0" i="0">
                          <a:solidFill>
                            <a:srgbClr val="000000"/>
                          </a:solidFill>
                          <a:latin typeface="Times New Roman"/>
                        </a:rPr>
                        <a:t> </a:t>
                      </a:r>
                      <a:r>
                        <a:rPr sz="1100" b="0" i="0">
                          <a:solidFill>
                            <a:srgbClr val="000000"/>
                          </a:solidFill>
                          <a:latin typeface="Calibri"/>
                        </a:rPr>
                        <a:t>Changyou Gas Company</a:t>
                      </a:r>
                      <a:endParaRPr sz="1100"/>
                    </a:p>
                  </a:txBody>
                  <a:tcPr marL="771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0526E"/>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(1/5)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2: Global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3: Global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4: Global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5: Global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6: Global Helium-3 Market Attractiveness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7: Global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8: Global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9: Global Helium-3 Market Value, 2026-2036 BPS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10: Global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11: Global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12: Global Helium-3 Market Value, 2026-2036 Y-o-Y Comparison By Application</a:t>
                      </a:r>
                      <a:endParaRPr sz="1050"/>
                    </a:p>
                  </a:txBody>
                  <a:tcPr marL="9525" marR="9525" marT="9525" marB="0" anchor="ctr"/>
                </a:tc>
              </a:tr>
              <a:tr h="169606">
                <a:tc>
                  <a:txBody>
                    <a:bodyPr wrap="square"/>
                    <a:lstStyle/>
                    <a:p>
                      <a:pPr algn="l"/>
                      <a:r>
                        <a:rPr sz="1050" b="0" i="0">
                          <a:solidFill>
                            <a:srgbClr val="000000"/>
                          </a:solidFill>
                          <a:latin typeface="Calibri"/>
                        </a:rPr>
                        <a:t>Figure 13: Global Helium-3 Market Value, 2026-2036 BPS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14: Global Helium-3 Market Attractiveness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15: Global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16: Global Helium-3 Market Value, 2026-2036 Y-o-Y Comparison By End User</a:t>
                      </a:r>
                      <a:endParaRPr sz="1050"/>
                    </a:p>
                  </a:txBody>
                  <a:tcPr marL="9525" marR="9525" marT="9525" marB="0" anchor="ctr"/>
                </a:tc>
              </a:tr>
              <a:tr h="169606">
                <a:tc>
                  <a:txBody>
                    <a:bodyPr wrap="square"/>
                    <a:lstStyle/>
                    <a:p>
                      <a:pPr algn="l"/>
                      <a:r>
                        <a:rPr sz="1050" b="0" i="0">
                          <a:solidFill>
                            <a:srgbClr val="000000"/>
                          </a:solidFill>
                          <a:latin typeface="Calibri"/>
                        </a:rPr>
                        <a:t>Figure 17: Global Helium-3 Market Value, 2026-2036 BPS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18: Global Helium-3 Market Attractiveness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19: Global Helium-3 Market Value, 2026-2036 By Region</a:t>
                      </a:r>
                      <a:endParaRPr sz="1050"/>
                    </a:p>
                  </a:txBody>
                  <a:tcPr marL="9525" marR="9525" marT="9525" marB="0" anchor="ctr"/>
                </a:tc>
              </a:tr>
              <a:tr h="169606">
                <a:tc>
                  <a:txBody>
                    <a:bodyPr wrap="square"/>
                    <a:lstStyle/>
                    <a:p>
                      <a:pPr algn="l"/>
                      <a:r>
                        <a:rPr sz="1050" b="0" i="0">
                          <a:solidFill>
                            <a:srgbClr val="000000"/>
                          </a:solidFill>
                          <a:latin typeface="Calibri"/>
                        </a:rPr>
                        <a:t>Figure 20: Global Helium-3 Market Value, 2026-2036 Y-o-Y Comparison By Region</a:t>
                      </a:r>
                      <a:endParaRPr sz="1050"/>
                    </a:p>
                  </a:txBody>
                  <a:tcPr marL="9525" marR="9525" marT="9525" marB="0" anchor="ctr"/>
                </a:tc>
              </a:tr>
              <a:tr h="169606">
                <a:tc>
                  <a:txBody>
                    <a:bodyPr wrap="square"/>
                    <a:lstStyle/>
                    <a:p>
                      <a:pPr algn="l"/>
                      <a:r>
                        <a:rPr sz="1050" b="0" i="0">
                          <a:solidFill>
                            <a:srgbClr val="000000"/>
                          </a:solidFill>
                          <a:latin typeface="Calibri"/>
                        </a:rPr>
                        <a:t>Figure 21: Global Helium-3 Market Value, 2026-2036 BPS Analysis By Region</a:t>
                      </a:r>
                      <a:endParaRPr sz="1050"/>
                    </a:p>
                  </a:txBody>
                  <a:tcPr marL="9525" marR="9525" marT="9525" marB="0" anchor="ctr"/>
                </a:tc>
              </a:tr>
              <a:tr h="169606">
                <a:tc>
                  <a:txBody>
                    <a:bodyPr wrap="square"/>
                    <a:lstStyle/>
                    <a:p>
                      <a:pPr algn="l"/>
                      <a:r>
                        <a:rPr sz="1050" b="0" i="0">
                          <a:solidFill>
                            <a:srgbClr val="000000"/>
                          </a:solidFill>
                          <a:latin typeface="Calibri"/>
                        </a:rPr>
                        <a:t>Figure 22: Global Helium-3 Market Attractiveness Analysis By Region</a:t>
                      </a:r>
                      <a:endParaRPr sz="1050"/>
                    </a:p>
                  </a:txBody>
                  <a:tcPr marL="9525" marR="9525" marT="9525" marB="0" anchor="ctr"/>
                </a:tc>
              </a:tr>
              <a:tr h="169606">
                <a:tc>
                  <a:txBody>
                    <a:bodyPr wrap="square"/>
                    <a:lstStyle/>
                    <a:p>
                      <a:pPr algn="l"/>
                      <a:r>
                        <a:rPr sz="1050" b="0" i="0">
                          <a:solidFill>
                            <a:srgbClr val="000000"/>
                          </a:solidFill>
                          <a:latin typeface="Calibri"/>
                        </a:rPr>
                        <a:t>Figure 23: North America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24: North America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25: North America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26: North America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27: North America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28: North America Helium-3 Market Attractiveness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29: North America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30: North America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31: North America Helium-3 Market Value, 2026-2036 BPS Analysis By Supply Source</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North America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33: North America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34: North America Helium-3 Market Value, 2026-2036 Y-o-Y Comparison By Application</a:t>
                      </a:r>
                      <a:endParaRPr sz="1050"/>
                    </a:p>
                  </a:txBody>
                  <a:tcPr marL="9525" marR="9525" marT="9525" marB="0" anchor="ctr"/>
                </a:tc>
              </a:tr>
              <a:tr h="169606">
                <a:tc>
                  <a:txBody>
                    <a:bodyPr wrap="square"/>
                    <a:lstStyle/>
                    <a:p>
                      <a:pPr algn="l"/>
                      <a:r>
                        <a:rPr sz="1050" b="0" i="0">
                          <a:solidFill>
                            <a:srgbClr val="000000"/>
                          </a:solidFill>
                          <a:latin typeface="Calibri"/>
                        </a:rPr>
                        <a:t>Figure 35: North America Helium-3 Market Value, 2026-2036 BPS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36: North America Helium-3 Market Attractiveness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37: North America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38: North America Helium-3 Market Value, 2026-2036 Y-o-Y Comparison By End User</a:t>
                      </a:r>
                      <a:endParaRPr sz="1050"/>
                    </a:p>
                  </a:txBody>
                  <a:tcPr marL="9525" marR="9525" marT="9525" marB="0" anchor="ctr"/>
                </a:tc>
              </a:tr>
              <a:tr h="169606">
                <a:tc>
                  <a:txBody>
                    <a:bodyPr wrap="square"/>
                    <a:lstStyle/>
                    <a:p>
                      <a:pPr algn="l"/>
                      <a:r>
                        <a:rPr sz="1050" b="0" i="0">
                          <a:solidFill>
                            <a:srgbClr val="000000"/>
                          </a:solidFill>
                          <a:latin typeface="Calibri"/>
                        </a:rPr>
                        <a:t>Figure 39: North America Helium-3 Market Value, 2026-2036 BPS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40: North America Helium-3 Market Attractiveness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41: North America Helium-3 Market Value, 2026-2036 By Region</a:t>
                      </a:r>
                      <a:endParaRPr sz="1050"/>
                    </a:p>
                  </a:txBody>
                  <a:tcPr marL="9525" marR="9525" marT="9525" marB="0" anchor="ctr"/>
                </a:tc>
              </a:tr>
              <a:tr h="169606">
                <a:tc>
                  <a:txBody>
                    <a:bodyPr wrap="square"/>
                    <a:lstStyle/>
                    <a:p>
                      <a:pPr algn="l"/>
                      <a:r>
                        <a:rPr sz="1050" b="0" i="0">
                          <a:solidFill>
                            <a:srgbClr val="000000"/>
                          </a:solidFill>
                          <a:latin typeface="Calibri"/>
                        </a:rPr>
                        <a:t>Figure 42: North America Helium-3 Market Value, 2026-2036 Y-o-Y Comparison By Region</a:t>
                      </a:r>
                      <a:endParaRPr sz="1050"/>
                    </a:p>
                  </a:txBody>
                  <a:tcPr marL="9525" marR="9525" marT="9525" marB="0" anchor="ctr"/>
                </a:tc>
              </a:tr>
              <a:tr h="169606">
                <a:tc>
                  <a:txBody>
                    <a:bodyPr wrap="square"/>
                    <a:lstStyle/>
                    <a:p>
                      <a:pPr algn="l"/>
                      <a:r>
                        <a:rPr sz="1050" b="0" i="0">
                          <a:solidFill>
                            <a:srgbClr val="000000"/>
                          </a:solidFill>
                          <a:latin typeface="Calibri"/>
                        </a:rPr>
                        <a:t>Figure 43: North America Helium-3 Market Value, 2026-2036 BPS Analysis By Region</a:t>
                      </a:r>
                      <a:endParaRPr sz="1050"/>
                    </a:p>
                  </a:txBody>
                  <a:tcPr marL="9525" marR="9525" marT="9525" marB="0" anchor="ctr"/>
                </a:tc>
              </a:tr>
              <a:tr h="169606">
                <a:tc>
                  <a:txBody>
                    <a:bodyPr wrap="square"/>
                    <a:lstStyle/>
                    <a:p>
                      <a:pPr algn="l"/>
                      <a:r>
                        <a:rPr sz="1050" b="0" i="0">
                          <a:solidFill>
                            <a:srgbClr val="000000"/>
                          </a:solidFill>
                          <a:latin typeface="Calibri"/>
                        </a:rPr>
                        <a:t>Figure 44: North America Helium-3 Market Attractiveness Analysis By Region</a:t>
                      </a:r>
                      <a:endParaRPr sz="1050"/>
                    </a:p>
                  </a:txBody>
                  <a:tcPr marL="9525" marR="9525" marT="9525" marB="0" anchor="ctr"/>
                </a:tc>
              </a:tr>
              <a:tr h="169606">
                <a:tc>
                  <a:txBody>
                    <a:bodyPr wrap="square"/>
                    <a:lstStyle/>
                    <a:p>
                      <a:pPr algn="l"/>
                      <a:r>
                        <a:rPr sz="1050" b="0" i="0">
                          <a:solidFill>
                            <a:srgbClr val="000000"/>
                          </a:solidFill>
                          <a:latin typeface="Calibri"/>
                        </a:rPr>
                        <a:t>Figure 45: U.S.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46: U.S.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47: U.S.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48: U.S.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49: Canada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50: Canada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51: Canada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52: Canada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53: Mexico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54: Mexico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55: Mexico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56: Mexico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57: Latin America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58: Latin America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59: Latin America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60: Latin America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61: Latin America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62: Latin America Helium-3 Market Attractiveness Analysis By Product Form</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(2/5)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Latin America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64: Latin America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65: Latin America Helium-3 Market Value, 2026-2036 BPS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66: Latin America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67: Latin America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68: Latin America Helium-3 Market Value, 2026-2036 Y-o-Y Comparison By Application</a:t>
                      </a:r>
                      <a:endParaRPr sz="1050"/>
                    </a:p>
                  </a:txBody>
                  <a:tcPr marL="9525" marR="9525" marT="9525" marB="0" anchor="ctr"/>
                </a:tc>
              </a:tr>
              <a:tr h="169606">
                <a:tc>
                  <a:txBody>
                    <a:bodyPr wrap="square"/>
                    <a:lstStyle/>
                    <a:p>
                      <a:pPr algn="l"/>
                      <a:r>
                        <a:rPr sz="1050" b="0" i="0">
                          <a:solidFill>
                            <a:srgbClr val="000000"/>
                          </a:solidFill>
                          <a:latin typeface="Calibri"/>
                        </a:rPr>
                        <a:t>Figure 69: Latin America Helium-3 Market Value, 2026-2036 BPS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70: Latin America Helium-3 Market Attractiveness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71: Latin America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72: Latin America Helium-3 Market Value, 2026-2036 Y-o-Y Comparison By End User</a:t>
                      </a:r>
                      <a:endParaRPr sz="1050"/>
                    </a:p>
                  </a:txBody>
                  <a:tcPr marL="9525" marR="9525" marT="9525" marB="0" anchor="ctr"/>
                </a:tc>
              </a:tr>
              <a:tr h="169606">
                <a:tc>
                  <a:txBody>
                    <a:bodyPr wrap="square"/>
                    <a:lstStyle/>
                    <a:p>
                      <a:pPr algn="l"/>
                      <a:r>
                        <a:rPr sz="1050" b="0" i="0">
                          <a:solidFill>
                            <a:srgbClr val="000000"/>
                          </a:solidFill>
                          <a:latin typeface="Calibri"/>
                        </a:rPr>
                        <a:t>Figure 73: Latin America Helium-3 Market Value, 2026-2036 BPS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74: Latin America Helium-3 Market Attractiveness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75: Latin America Helium-3 Market Value, 2026-2036 By Region</a:t>
                      </a:r>
                      <a:endParaRPr sz="1050"/>
                    </a:p>
                  </a:txBody>
                  <a:tcPr marL="9525" marR="9525" marT="9525" marB="0" anchor="ctr"/>
                </a:tc>
              </a:tr>
              <a:tr h="169606">
                <a:tc>
                  <a:txBody>
                    <a:bodyPr wrap="square"/>
                    <a:lstStyle/>
                    <a:p>
                      <a:pPr algn="l"/>
                      <a:r>
                        <a:rPr sz="1050" b="0" i="0">
                          <a:solidFill>
                            <a:srgbClr val="000000"/>
                          </a:solidFill>
                          <a:latin typeface="Calibri"/>
                        </a:rPr>
                        <a:t>Figure 76: Latin America Helium-3 Market Value, 2026-2036 Y-o-Y Comparison By Region</a:t>
                      </a:r>
                      <a:endParaRPr sz="1050"/>
                    </a:p>
                  </a:txBody>
                  <a:tcPr marL="9525" marR="9525" marT="9525" marB="0" anchor="ctr"/>
                </a:tc>
              </a:tr>
              <a:tr h="169606">
                <a:tc>
                  <a:txBody>
                    <a:bodyPr wrap="square"/>
                    <a:lstStyle/>
                    <a:p>
                      <a:pPr algn="l"/>
                      <a:r>
                        <a:rPr sz="1050" b="0" i="0">
                          <a:solidFill>
                            <a:srgbClr val="000000"/>
                          </a:solidFill>
                          <a:latin typeface="Calibri"/>
                        </a:rPr>
                        <a:t>Figure 77: Latin America Helium-3 Market Value, 2026-2036 BPS Analysis By Region</a:t>
                      </a:r>
                      <a:endParaRPr sz="1050"/>
                    </a:p>
                  </a:txBody>
                  <a:tcPr marL="9525" marR="9525" marT="9525" marB="0" anchor="ctr"/>
                </a:tc>
              </a:tr>
              <a:tr h="169606">
                <a:tc>
                  <a:txBody>
                    <a:bodyPr wrap="square"/>
                    <a:lstStyle/>
                    <a:p>
                      <a:pPr algn="l"/>
                      <a:r>
                        <a:rPr sz="1050" b="0" i="0">
                          <a:solidFill>
                            <a:srgbClr val="000000"/>
                          </a:solidFill>
                          <a:latin typeface="Calibri"/>
                        </a:rPr>
                        <a:t>Figure 78: Latin America Helium-3 Market Attractiveness Analysis By Region</a:t>
                      </a:r>
                      <a:endParaRPr sz="1050"/>
                    </a:p>
                  </a:txBody>
                  <a:tcPr marL="9525" marR="9525" marT="9525" marB="0" anchor="ctr"/>
                </a:tc>
              </a:tr>
              <a:tr h="169606">
                <a:tc>
                  <a:txBody>
                    <a:bodyPr wrap="square"/>
                    <a:lstStyle/>
                    <a:p>
                      <a:pPr algn="l"/>
                      <a:r>
                        <a:rPr sz="1050" b="0" i="0">
                          <a:solidFill>
                            <a:srgbClr val="000000"/>
                          </a:solidFill>
                          <a:latin typeface="Calibri"/>
                        </a:rPr>
                        <a:t>Figure 79: Brazil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80: Brazil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81: Brazil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82: Brazil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83: Argentina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84: Argentina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85: Argentina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86: Argentina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87: Eastern Europe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88: Eastern Europe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89: Eastern Europe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90: Eastern Europe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91: Eastern Europe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92: Eastern Europe Helium-3 Market Attractiveness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93: Eastern Europe Helium-3 Market Value, 2026-2036 By Supply Source</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Eastern Europe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95: Eastern Europe Helium-3 Market Value, 2026-2036 BPS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96: Eastern Europe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97: Eastern Europe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98: Eastern Europe Helium-3 Market Value, 2026-2036 Y-o-Y Comparison By Application</a:t>
                      </a:r>
                      <a:endParaRPr sz="1050"/>
                    </a:p>
                  </a:txBody>
                  <a:tcPr marL="9525" marR="9525" marT="9525" marB="0" anchor="ctr"/>
                </a:tc>
              </a:tr>
              <a:tr h="169606">
                <a:tc>
                  <a:txBody>
                    <a:bodyPr wrap="square"/>
                    <a:lstStyle/>
                    <a:p>
                      <a:pPr algn="l"/>
                      <a:r>
                        <a:rPr sz="1050" b="0" i="0">
                          <a:solidFill>
                            <a:srgbClr val="000000"/>
                          </a:solidFill>
                          <a:latin typeface="Calibri"/>
                        </a:rPr>
                        <a:t>Figure 99: Eastern Europe Helium-3 Market Value, 2026-2036 BPS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100: Eastern Europe Helium-3 Market Attractiveness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101: Eastern Europe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102: Eastern Europe Helium-3 Market Value, 2026-2036 Y-o-Y Comparison By End User</a:t>
                      </a:r>
                      <a:endParaRPr sz="1050"/>
                    </a:p>
                  </a:txBody>
                  <a:tcPr marL="9525" marR="9525" marT="9525" marB="0" anchor="ctr"/>
                </a:tc>
              </a:tr>
              <a:tr h="169606">
                <a:tc>
                  <a:txBody>
                    <a:bodyPr wrap="square"/>
                    <a:lstStyle/>
                    <a:p>
                      <a:pPr algn="l"/>
                      <a:r>
                        <a:rPr sz="1050" b="0" i="0">
                          <a:solidFill>
                            <a:srgbClr val="000000"/>
                          </a:solidFill>
                          <a:latin typeface="Calibri"/>
                        </a:rPr>
                        <a:t>Figure 103: Eastern Europe Helium-3 Market Value, 2026-2036 BPS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104: Eastern Europe Helium-3 Market Attractiveness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105: Eastern Europe Helium-3 Market Value, 2026-2036 By Region</a:t>
                      </a:r>
                      <a:endParaRPr sz="1050"/>
                    </a:p>
                  </a:txBody>
                  <a:tcPr marL="9525" marR="9525" marT="9525" marB="0" anchor="ctr"/>
                </a:tc>
              </a:tr>
              <a:tr h="169606">
                <a:tc>
                  <a:txBody>
                    <a:bodyPr wrap="square"/>
                    <a:lstStyle/>
                    <a:p>
                      <a:pPr algn="l"/>
                      <a:r>
                        <a:rPr sz="1050" b="0" i="0">
                          <a:solidFill>
                            <a:srgbClr val="000000"/>
                          </a:solidFill>
                          <a:latin typeface="Calibri"/>
                        </a:rPr>
                        <a:t>Figure 106: Eastern Europe Helium-3 Market Value, 2026-2036 Y-o-Y Comparison By Region</a:t>
                      </a:r>
                      <a:endParaRPr sz="1050"/>
                    </a:p>
                  </a:txBody>
                  <a:tcPr marL="9525" marR="9525" marT="9525" marB="0" anchor="ctr"/>
                </a:tc>
              </a:tr>
              <a:tr h="169606">
                <a:tc>
                  <a:txBody>
                    <a:bodyPr wrap="square"/>
                    <a:lstStyle/>
                    <a:p>
                      <a:pPr algn="l"/>
                      <a:r>
                        <a:rPr sz="1050" b="0" i="0">
                          <a:solidFill>
                            <a:srgbClr val="000000"/>
                          </a:solidFill>
                          <a:latin typeface="Calibri"/>
                        </a:rPr>
                        <a:t>Figure 107: Eastern Europe Helium-3 Market Value, 2026-2036 BPS Analysis By Region</a:t>
                      </a:r>
                      <a:endParaRPr sz="1050"/>
                    </a:p>
                  </a:txBody>
                  <a:tcPr marL="9525" marR="9525" marT="9525" marB="0" anchor="ctr"/>
                </a:tc>
              </a:tr>
              <a:tr h="169606">
                <a:tc>
                  <a:txBody>
                    <a:bodyPr wrap="square"/>
                    <a:lstStyle/>
                    <a:p>
                      <a:pPr algn="l"/>
                      <a:r>
                        <a:rPr sz="1050" b="0" i="0">
                          <a:solidFill>
                            <a:srgbClr val="000000"/>
                          </a:solidFill>
                          <a:latin typeface="Calibri"/>
                        </a:rPr>
                        <a:t>Figure 108: Eastern Europe Helium-3 Market Attractiveness Analysis By Region</a:t>
                      </a:r>
                      <a:endParaRPr sz="1050"/>
                    </a:p>
                  </a:txBody>
                  <a:tcPr marL="9525" marR="9525" marT="9525" marB="0" anchor="ctr"/>
                </a:tc>
              </a:tr>
              <a:tr h="169606">
                <a:tc>
                  <a:txBody>
                    <a:bodyPr wrap="square"/>
                    <a:lstStyle/>
                    <a:p>
                      <a:pPr algn="l"/>
                      <a:r>
                        <a:rPr sz="1050" b="0" i="0">
                          <a:solidFill>
                            <a:srgbClr val="000000"/>
                          </a:solidFill>
                          <a:latin typeface="Calibri"/>
                        </a:rPr>
                        <a:t>Figure 109: Russia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110: Russia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111: Russia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112: Russia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113: Hungary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114: Hungary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115: Hungary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116: Hungary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117: Poland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118: Poland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119: Poland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120: Poland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121: Balkan and Baltics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122: Balkan and Baltics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123: Balkan and Baltics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124: Balkan and Baltics Helium-3 Market Value, 2026-2036 By End User</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(3/5)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Western Europe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126: Western Europe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127: Western Europe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128: Western Europe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129: Western Europe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130: Western Europe Helium-3 Market Attractiveness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131: Western Europe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132: Western Europe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133: Western Europe Helium-3 Market Value, 2026-2036 BPS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134: Western Europe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135: Western Europe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136: Western Europe Helium-3 Market Value, 2026-2036 Y-o-Y Comparison By Application</a:t>
                      </a:r>
                      <a:endParaRPr sz="1050"/>
                    </a:p>
                  </a:txBody>
                  <a:tcPr marL="9525" marR="9525" marT="9525" marB="0" anchor="ctr"/>
                </a:tc>
              </a:tr>
              <a:tr h="169606">
                <a:tc>
                  <a:txBody>
                    <a:bodyPr wrap="square"/>
                    <a:lstStyle/>
                    <a:p>
                      <a:pPr algn="l"/>
                      <a:r>
                        <a:rPr sz="1050" b="0" i="0">
                          <a:solidFill>
                            <a:srgbClr val="000000"/>
                          </a:solidFill>
                          <a:latin typeface="Calibri"/>
                        </a:rPr>
                        <a:t>Figure 137: Western Europe Helium-3 Market Value, 2026-2036 BPS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138: Western Europe Helium-3 Market Attractiveness Analysis By Application</a:t>
                      </a:r>
                      <a:endParaRPr sz="1050"/>
                    </a:p>
                  </a:txBody>
                  <a:tcPr marL="9525" marR="9525" marT="9525" marB="0" anchor="ctr"/>
                </a:tc>
              </a:tr>
              <a:tr h="169606">
                <a:tc>
                  <a:txBody>
                    <a:bodyPr wrap="square"/>
                    <a:lstStyle/>
                    <a:p>
                      <a:pPr algn="l"/>
                      <a:r>
                        <a:rPr sz="1050" b="0" i="0">
                          <a:solidFill>
                            <a:srgbClr val="000000"/>
                          </a:solidFill>
                          <a:latin typeface="Calibri"/>
                        </a:rPr>
                        <a:t>Figure 139: Western Europe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140: Western Europe Helium-3 Market Value, 2026-2036 Y-o-Y Comparison By End User</a:t>
                      </a:r>
                      <a:endParaRPr sz="1050"/>
                    </a:p>
                  </a:txBody>
                  <a:tcPr marL="9525" marR="9525" marT="9525" marB="0" anchor="ctr"/>
                </a:tc>
              </a:tr>
              <a:tr h="169606">
                <a:tc>
                  <a:txBody>
                    <a:bodyPr wrap="square"/>
                    <a:lstStyle/>
                    <a:p>
                      <a:pPr algn="l"/>
                      <a:r>
                        <a:rPr sz="1050" b="0" i="0">
                          <a:solidFill>
                            <a:srgbClr val="000000"/>
                          </a:solidFill>
                          <a:latin typeface="Calibri"/>
                        </a:rPr>
                        <a:t>Figure 141: Western Europe Helium-3 Market Value, 2026-2036 BPS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142: Western Europe Helium-3 Market Attractiveness Analysis By End User</a:t>
                      </a:r>
                      <a:endParaRPr sz="1050"/>
                    </a:p>
                  </a:txBody>
                  <a:tcPr marL="9525" marR="9525" marT="9525" marB="0" anchor="ctr"/>
                </a:tc>
              </a:tr>
              <a:tr h="169606">
                <a:tc>
                  <a:txBody>
                    <a:bodyPr wrap="square"/>
                    <a:lstStyle/>
                    <a:p>
                      <a:pPr algn="l"/>
                      <a:r>
                        <a:rPr sz="1050" b="0" i="0">
                          <a:solidFill>
                            <a:srgbClr val="000000"/>
                          </a:solidFill>
                          <a:latin typeface="Calibri"/>
                        </a:rPr>
                        <a:t>Figure 143: Western Europe Helium-3 Market Value, 2026-2036 By Region</a:t>
                      </a:r>
                      <a:endParaRPr sz="1050"/>
                    </a:p>
                  </a:txBody>
                  <a:tcPr marL="9525" marR="9525" marT="9525" marB="0" anchor="ctr"/>
                </a:tc>
              </a:tr>
              <a:tr h="169606">
                <a:tc>
                  <a:txBody>
                    <a:bodyPr wrap="square"/>
                    <a:lstStyle/>
                    <a:p>
                      <a:pPr algn="l"/>
                      <a:r>
                        <a:rPr sz="1050" b="0" i="0">
                          <a:solidFill>
                            <a:srgbClr val="000000"/>
                          </a:solidFill>
                          <a:latin typeface="Calibri"/>
                        </a:rPr>
                        <a:t>Figure 144: Western Europe Helium-3 Market Value, 2026-2036 Y-o-Y Comparison By Region</a:t>
                      </a:r>
                      <a:endParaRPr sz="1050"/>
                    </a:p>
                  </a:txBody>
                  <a:tcPr marL="9525" marR="9525" marT="9525" marB="0" anchor="ctr"/>
                </a:tc>
              </a:tr>
              <a:tr h="169606">
                <a:tc>
                  <a:txBody>
                    <a:bodyPr wrap="square"/>
                    <a:lstStyle/>
                    <a:p>
                      <a:pPr algn="l"/>
                      <a:r>
                        <a:rPr sz="1050" b="0" i="0">
                          <a:solidFill>
                            <a:srgbClr val="000000"/>
                          </a:solidFill>
                          <a:latin typeface="Calibri"/>
                        </a:rPr>
                        <a:t>Figure 145: Western Europe Helium-3 Market Value, 2026-2036 BPS Analysis By Region</a:t>
                      </a:r>
                      <a:endParaRPr sz="1050"/>
                    </a:p>
                  </a:txBody>
                  <a:tcPr marL="9525" marR="9525" marT="9525" marB="0" anchor="ctr"/>
                </a:tc>
              </a:tr>
              <a:tr h="169606">
                <a:tc>
                  <a:txBody>
                    <a:bodyPr wrap="square"/>
                    <a:lstStyle/>
                    <a:p>
                      <a:pPr algn="l"/>
                      <a:r>
                        <a:rPr sz="1050" b="0" i="0">
                          <a:solidFill>
                            <a:srgbClr val="000000"/>
                          </a:solidFill>
                          <a:latin typeface="Calibri"/>
                        </a:rPr>
                        <a:t>Figure 146: Western Europe Helium-3 Market Attractiveness Analysis By Region</a:t>
                      </a:r>
                      <a:endParaRPr sz="1050"/>
                    </a:p>
                  </a:txBody>
                  <a:tcPr marL="9525" marR="9525" marT="9525" marB="0" anchor="ctr"/>
                </a:tc>
              </a:tr>
              <a:tr h="169606">
                <a:tc>
                  <a:txBody>
                    <a:bodyPr wrap="square"/>
                    <a:lstStyle/>
                    <a:p>
                      <a:pPr algn="l"/>
                      <a:r>
                        <a:rPr sz="1050" b="0" i="0">
                          <a:solidFill>
                            <a:srgbClr val="000000"/>
                          </a:solidFill>
                          <a:latin typeface="Calibri"/>
                        </a:rPr>
                        <a:t>Figure 147: Germany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148: Germany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149: Germany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150: Germany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151: Italy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152: Italy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153: Italy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154: Italy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155: France Helium-3 Market Value, 2026-2036 By Product Form</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156: France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157: France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158: France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159: U.K.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160: U.K.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161: U.K.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162: U.K.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163: Spain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164: Spain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165: Spain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166: Spain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167: BENELUX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168: BENELUX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169: BENELUX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170: BENELUX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171: Nordics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172: Nordics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173: Nordics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174: Nordics Helium-3 Market Value, 2026-2036 By End User</a:t>
                      </a:r>
                      <a:endParaRPr sz="1050"/>
                    </a:p>
                  </a:txBody>
                  <a:tcPr marL="9525" marR="9525" marT="9525" marB="0" anchor="ctr"/>
                </a:tc>
              </a:tr>
              <a:tr h="169606">
                <a:tc>
                  <a:txBody>
                    <a:bodyPr wrap="square"/>
                    <a:lstStyle/>
                    <a:p>
                      <a:pPr algn="l"/>
                      <a:r>
                        <a:rPr sz="1050" b="0" i="0">
                          <a:solidFill>
                            <a:srgbClr val="000000"/>
                          </a:solidFill>
                          <a:latin typeface="Calibri"/>
                        </a:rPr>
                        <a:t>Figure 175: East Asia Helium-3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176: East Asia Helium-3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177: East Asia Helium-3 Market Value, 2026-2036 By Product Form</a:t>
                      </a:r>
                      <a:endParaRPr sz="1050"/>
                    </a:p>
                  </a:txBody>
                  <a:tcPr marL="9525" marR="9525" marT="9525" marB="0" anchor="ctr"/>
                </a:tc>
              </a:tr>
              <a:tr h="169606">
                <a:tc>
                  <a:txBody>
                    <a:bodyPr wrap="square"/>
                    <a:lstStyle/>
                    <a:p>
                      <a:pPr algn="l"/>
                      <a:r>
                        <a:rPr sz="1050" b="0" i="0">
                          <a:solidFill>
                            <a:srgbClr val="000000"/>
                          </a:solidFill>
                          <a:latin typeface="Calibri"/>
                        </a:rPr>
                        <a:t>Figure 178: East Asia Helium-3 Market Value, 2026-2036 Y-o-Y Comparison By Product Form</a:t>
                      </a:r>
                      <a:endParaRPr sz="1050"/>
                    </a:p>
                  </a:txBody>
                  <a:tcPr marL="9525" marR="9525" marT="9525" marB="0" anchor="ctr"/>
                </a:tc>
              </a:tr>
              <a:tr h="169606">
                <a:tc>
                  <a:txBody>
                    <a:bodyPr wrap="square"/>
                    <a:lstStyle/>
                    <a:p>
                      <a:pPr algn="l"/>
                      <a:r>
                        <a:rPr sz="1050" b="0" i="0">
                          <a:solidFill>
                            <a:srgbClr val="000000"/>
                          </a:solidFill>
                          <a:latin typeface="Calibri"/>
                        </a:rPr>
                        <a:t>Figure 179: East Asia Helium-3 Market Value, 2026-2036 BPS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180: East Asia Helium-3 Market Attractiveness Analysis By Product Form</a:t>
                      </a:r>
                      <a:endParaRPr sz="1050"/>
                    </a:p>
                  </a:txBody>
                  <a:tcPr marL="9525" marR="9525" marT="9525" marB="0" anchor="ctr"/>
                </a:tc>
              </a:tr>
              <a:tr h="169606">
                <a:tc>
                  <a:txBody>
                    <a:bodyPr wrap="square"/>
                    <a:lstStyle/>
                    <a:p>
                      <a:pPr algn="l"/>
                      <a:r>
                        <a:rPr sz="1050" b="0" i="0">
                          <a:solidFill>
                            <a:srgbClr val="000000"/>
                          </a:solidFill>
                          <a:latin typeface="Calibri"/>
                        </a:rPr>
                        <a:t>Figure 181: East Asia Helium-3 Market Value, 2026-2036 By Supply Source</a:t>
                      </a:r>
                      <a:endParaRPr sz="1050"/>
                    </a:p>
                  </a:txBody>
                  <a:tcPr marL="9525" marR="9525" marT="9525" marB="0" anchor="ctr"/>
                </a:tc>
              </a:tr>
              <a:tr h="169606">
                <a:tc>
                  <a:txBody>
                    <a:bodyPr wrap="square"/>
                    <a:lstStyle/>
                    <a:p>
                      <a:pPr algn="l"/>
                      <a:r>
                        <a:rPr sz="1050" b="0" i="0">
                          <a:solidFill>
                            <a:srgbClr val="000000"/>
                          </a:solidFill>
                          <a:latin typeface="Calibri"/>
                        </a:rPr>
                        <a:t>Figure 182: East Asia Helium-3 Market Value, 2026-2036 Y-o-Y Comparison By Supply Source</a:t>
                      </a:r>
                      <a:endParaRPr sz="1050"/>
                    </a:p>
                  </a:txBody>
                  <a:tcPr marL="9525" marR="9525" marT="9525" marB="0" anchor="ctr"/>
                </a:tc>
              </a:tr>
              <a:tr h="169606">
                <a:tc>
                  <a:txBody>
                    <a:bodyPr wrap="square"/>
                    <a:lstStyle/>
                    <a:p>
                      <a:pPr algn="l"/>
                      <a:r>
                        <a:rPr sz="1050" b="0" i="0">
                          <a:solidFill>
                            <a:srgbClr val="000000"/>
                          </a:solidFill>
                          <a:latin typeface="Calibri"/>
                        </a:rPr>
                        <a:t>Figure 183: East Asia Helium-3 Market Value, 2026-2036 BPS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184: East Asia Helium-3 Market Attractiveness Analysis By Supply Source</a:t>
                      </a:r>
                      <a:endParaRPr sz="1050"/>
                    </a:p>
                  </a:txBody>
                  <a:tcPr marL="9525" marR="9525" marT="9525" marB="0" anchor="ctr"/>
                </a:tc>
              </a:tr>
              <a:tr h="169606">
                <a:tc>
                  <a:txBody>
                    <a:bodyPr wrap="square"/>
                    <a:lstStyle/>
                    <a:p>
                      <a:pPr algn="l"/>
                      <a:r>
                        <a:rPr sz="1050" b="0" i="0">
                          <a:solidFill>
                            <a:srgbClr val="000000"/>
                          </a:solidFill>
                          <a:latin typeface="Calibri"/>
                        </a:rPr>
                        <a:t>Figure 185: East Asia Helium-3 Market Value, 2026-2036 By Application</a:t>
                      </a:r>
                      <a:endParaRPr sz="1050"/>
                    </a:p>
                  </a:txBody>
                  <a:tcPr marL="9525" marR="9525" marT="9525" marB="0" anchor="ctr"/>
                </a:tc>
              </a:tr>
              <a:tr h="169606">
                <a:tc>
                  <a:txBody>
                    <a:bodyPr wrap="square"/>
                    <a:lstStyle/>
                    <a:p>
                      <a:pPr algn="l"/>
                      <a:r>
                        <a:rPr sz="1050" b="0" i="0">
                          <a:solidFill>
                            <a:srgbClr val="000000"/>
                          </a:solidFill>
                          <a:latin typeface="Calibri"/>
                        </a:rPr>
                        <a:t>Figure 186: East Asia Helium-3 Market Value, 2026-2036 Y-o-Y Comparison By Application</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(4/5)</a:t>
            </a:r>
          </a:p>
        </p:txBody>
      </p:sp>
      <p:graphicFrame>
        <p:nvGraphicFramePr>
          <p:cNvPr id="7"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494">
                <a:tc>
                  <a:txBody>
                    <a:bodyPr wrap="square"/>
                    <a:lstStyle/>
                    <a:p>
                      <a:pPr algn="l"/>
                      <a:r>
                        <a:rPr sz="1050" b="0" i="0">
                          <a:solidFill>
                            <a:srgbClr val="000000"/>
                          </a:solidFill>
                          <a:latin typeface="Calibri"/>
                        </a:rPr>
                        <a:t>Figure 187: East Asia Helium-3 Market Value, 2026-2036 BPS Analysis By Application</a:t>
                      </a:r>
                      <a:endParaRPr sz="1050"/>
                    </a:p>
                  </a:txBody>
                  <a:tcPr marL="9525" marR="9525" marT="9525" marB="0" anchor="ctr"/>
                </a:tc>
              </a:tr>
              <a:tr h="175494">
                <a:tc>
                  <a:txBody>
                    <a:bodyPr wrap="square"/>
                    <a:lstStyle/>
                    <a:p>
                      <a:pPr algn="l"/>
                      <a:r>
                        <a:rPr sz="1050" b="0" i="0">
                          <a:solidFill>
                            <a:srgbClr val="000000"/>
                          </a:solidFill>
                          <a:latin typeface="Calibri"/>
                        </a:rPr>
                        <a:t>Figure 188: East Asia Helium-3 Market Attractiveness Analysis By Application</a:t>
                      </a:r>
                      <a:endParaRPr sz="1050"/>
                    </a:p>
                  </a:txBody>
                  <a:tcPr marL="9525" marR="9525" marT="9525" marB="0" anchor="ctr"/>
                </a:tc>
              </a:tr>
              <a:tr h="175494">
                <a:tc>
                  <a:txBody>
                    <a:bodyPr wrap="square"/>
                    <a:lstStyle/>
                    <a:p>
                      <a:pPr algn="l"/>
                      <a:r>
                        <a:rPr sz="1050" b="0" i="0">
                          <a:solidFill>
                            <a:srgbClr val="000000"/>
                          </a:solidFill>
                          <a:latin typeface="Calibri"/>
                        </a:rPr>
                        <a:t>Figure 189: East Asia Helium-3 Market Value, 2026-2036 By End User</a:t>
                      </a:r>
                      <a:endParaRPr sz="1050"/>
                    </a:p>
                  </a:txBody>
                  <a:tcPr marL="9525" marR="9525" marT="9525" marB="0" anchor="ctr"/>
                </a:tc>
              </a:tr>
              <a:tr h="175494">
                <a:tc>
                  <a:txBody>
                    <a:bodyPr wrap="square"/>
                    <a:lstStyle/>
                    <a:p>
                      <a:pPr algn="l"/>
                      <a:r>
                        <a:rPr sz="1050" b="0" i="0">
                          <a:solidFill>
                            <a:srgbClr val="000000"/>
                          </a:solidFill>
                          <a:latin typeface="Calibri"/>
                        </a:rPr>
                        <a:t>Figure 190: East Asia Helium-3 Market Value, 2026-2036 Y-o-Y Comparison By End User</a:t>
                      </a:r>
                      <a:endParaRPr sz="1050"/>
                    </a:p>
                  </a:txBody>
                  <a:tcPr marL="9525" marR="9525" marT="9525" marB="0" anchor="ctr"/>
                </a:tc>
              </a:tr>
              <a:tr h="175494">
                <a:tc>
                  <a:txBody>
                    <a:bodyPr wrap="square"/>
                    <a:lstStyle/>
                    <a:p>
                      <a:pPr algn="l"/>
                      <a:r>
                        <a:rPr sz="1050" b="0" i="0">
                          <a:solidFill>
                            <a:srgbClr val="000000"/>
                          </a:solidFill>
                          <a:latin typeface="Calibri"/>
                        </a:rPr>
                        <a:t>Figure 191: East Asia Helium-3 Market Value, 2026-2036 BPS Analysis By End User</a:t>
                      </a:r>
                      <a:endParaRPr sz="1050"/>
                    </a:p>
                  </a:txBody>
                  <a:tcPr marL="9525" marR="9525" marT="9525" marB="0" anchor="ctr"/>
                </a:tc>
              </a:tr>
              <a:tr h="175494">
                <a:tc>
                  <a:txBody>
                    <a:bodyPr wrap="square"/>
                    <a:lstStyle/>
                    <a:p>
                      <a:pPr algn="l"/>
                      <a:r>
                        <a:rPr sz="1050" b="0" i="0">
                          <a:solidFill>
                            <a:srgbClr val="000000"/>
                          </a:solidFill>
                          <a:latin typeface="Calibri"/>
                        </a:rPr>
                        <a:t>Figure 192: East Asia Helium-3 Market Attractiveness Analysis By End User</a:t>
                      </a:r>
                      <a:endParaRPr sz="1050"/>
                    </a:p>
                  </a:txBody>
                  <a:tcPr marL="9525" marR="9525" marT="9525" marB="0" anchor="ctr"/>
                </a:tc>
              </a:tr>
              <a:tr h="175494">
                <a:tc>
                  <a:txBody>
                    <a:bodyPr wrap="square"/>
                    <a:lstStyle/>
                    <a:p>
                      <a:pPr algn="l"/>
                      <a:r>
                        <a:rPr sz="1050" b="0" i="0">
                          <a:solidFill>
                            <a:srgbClr val="000000"/>
                          </a:solidFill>
                          <a:latin typeface="Calibri"/>
                        </a:rPr>
                        <a:t>Figure 193: East Asia Helium-3 Market Value, 2026-2036 By Region</a:t>
                      </a:r>
                      <a:endParaRPr sz="1050"/>
                    </a:p>
                  </a:txBody>
                  <a:tcPr marL="9525" marR="9525" marT="9525" marB="0" anchor="ctr"/>
                </a:tc>
              </a:tr>
              <a:tr h="175494">
                <a:tc>
                  <a:txBody>
                    <a:bodyPr wrap="square"/>
                    <a:lstStyle/>
                    <a:p>
                      <a:pPr algn="l"/>
                      <a:r>
                        <a:rPr sz="1050" b="0" i="0">
                          <a:solidFill>
                            <a:srgbClr val="000000"/>
                          </a:solidFill>
                          <a:latin typeface="Calibri"/>
                        </a:rPr>
                        <a:t>Figure 194: East Asia Helium-3 Market Value, 2026-2036 Y-o-Y Comparison By Region</a:t>
                      </a:r>
                      <a:endParaRPr sz="1050"/>
                    </a:p>
                  </a:txBody>
                  <a:tcPr marL="9525" marR="9525" marT="9525" marB="0" anchor="ctr"/>
                </a:tc>
              </a:tr>
              <a:tr h="175494">
                <a:tc>
                  <a:txBody>
                    <a:bodyPr wrap="square"/>
                    <a:lstStyle/>
                    <a:p>
                      <a:pPr algn="l"/>
                      <a:r>
                        <a:rPr sz="1050" b="0" i="0">
                          <a:solidFill>
                            <a:srgbClr val="000000"/>
                          </a:solidFill>
                          <a:latin typeface="Calibri"/>
                        </a:rPr>
                        <a:t>Figure 195: East Asia Helium-3 Market Value, 2026-2036 BPS Analysis By Region</a:t>
                      </a:r>
                      <a:endParaRPr sz="1050"/>
                    </a:p>
                  </a:txBody>
                  <a:tcPr marL="9525" marR="9525" marT="9525" marB="0" anchor="ctr"/>
                </a:tc>
              </a:tr>
              <a:tr h="175494">
                <a:tc>
                  <a:txBody>
                    <a:bodyPr wrap="square"/>
                    <a:lstStyle/>
                    <a:p>
                      <a:pPr algn="l"/>
                      <a:r>
                        <a:rPr sz="1050" b="0" i="0">
                          <a:solidFill>
                            <a:srgbClr val="000000"/>
                          </a:solidFill>
                          <a:latin typeface="Calibri"/>
                        </a:rPr>
                        <a:t>Figure 196: East Asia Helium-3 Market Attractiveness Analysis By Region</a:t>
                      </a:r>
                      <a:endParaRPr sz="1050"/>
                    </a:p>
                  </a:txBody>
                  <a:tcPr marL="9525" marR="9525" marT="9525" marB="0" anchor="ctr"/>
                </a:tc>
              </a:tr>
              <a:tr h="175494">
                <a:tc>
                  <a:txBody>
                    <a:bodyPr wrap="square"/>
                    <a:lstStyle/>
                    <a:p>
                      <a:pPr algn="l"/>
                      <a:r>
                        <a:rPr sz="1050" b="0" i="0">
                          <a:solidFill>
                            <a:srgbClr val="000000"/>
                          </a:solidFill>
                          <a:latin typeface="Calibri"/>
                        </a:rPr>
                        <a:t>Figure 197: China Helium-3 Market Value, 2026-2036 By Product Form</a:t>
                      </a:r>
                      <a:endParaRPr sz="1050"/>
                    </a:p>
                  </a:txBody>
                  <a:tcPr marL="9525" marR="9525" marT="9525" marB="0" anchor="ctr"/>
                </a:tc>
              </a:tr>
              <a:tr h="175494">
                <a:tc>
                  <a:txBody>
                    <a:bodyPr wrap="square"/>
                    <a:lstStyle/>
                    <a:p>
                      <a:pPr algn="l"/>
                      <a:r>
                        <a:rPr sz="1050" b="0" i="0">
                          <a:solidFill>
                            <a:srgbClr val="000000"/>
                          </a:solidFill>
                          <a:latin typeface="Calibri"/>
                        </a:rPr>
                        <a:t>Figure 198: China Helium-3 Market Value, 2026-2036 By Supply Source</a:t>
                      </a:r>
                      <a:endParaRPr sz="1050"/>
                    </a:p>
                  </a:txBody>
                  <a:tcPr marL="9525" marR="9525" marT="9525" marB="0" anchor="ctr"/>
                </a:tc>
              </a:tr>
              <a:tr h="175494">
                <a:tc>
                  <a:txBody>
                    <a:bodyPr wrap="square"/>
                    <a:lstStyle/>
                    <a:p>
                      <a:pPr algn="l"/>
                      <a:r>
                        <a:rPr sz="1050" b="0" i="0">
                          <a:solidFill>
                            <a:srgbClr val="000000"/>
                          </a:solidFill>
                          <a:latin typeface="Calibri"/>
                        </a:rPr>
                        <a:t>Figure 199: China Helium-3 Market Value, 2026-2036 By Application</a:t>
                      </a:r>
                      <a:endParaRPr sz="1050"/>
                    </a:p>
                  </a:txBody>
                  <a:tcPr marL="9525" marR="9525" marT="9525" marB="0" anchor="ctr"/>
                </a:tc>
              </a:tr>
              <a:tr h="175494">
                <a:tc>
                  <a:txBody>
                    <a:bodyPr wrap="square"/>
                    <a:lstStyle/>
                    <a:p>
                      <a:pPr algn="l"/>
                      <a:r>
                        <a:rPr sz="1050" b="0" i="0">
                          <a:solidFill>
                            <a:srgbClr val="000000"/>
                          </a:solidFill>
                          <a:latin typeface="Calibri"/>
                        </a:rPr>
                        <a:t>Figure 200: China Helium-3 Market Value, 2026-2036 By End User</a:t>
                      </a:r>
                      <a:endParaRPr sz="1050"/>
                    </a:p>
                  </a:txBody>
                  <a:tcPr marL="9525" marR="9525" marT="9525" marB="0" anchor="ctr"/>
                </a:tc>
              </a:tr>
              <a:tr h="175494">
                <a:tc>
                  <a:txBody>
                    <a:bodyPr wrap="square"/>
                    <a:lstStyle/>
                    <a:p>
                      <a:pPr algn="l"/>
                      <a:r>
                        <a:rPr sz="1050" b="0" i="0">
                          <a:solidFill>
                            <a:srgbClr val="000000"/>
                          </a:solidFill>
                          <a:latin typeface="Calibri"/>
                        </a:rPr>
                        <a:t>Figure 201: Japan Helium-3 Market Value, 2026-2036 By Product Form</a:t>
                      </a:r>
                      <a:endParaRPr sz="1050"/>
                    </a:p>
                  </a:txBody>
                  <a:tcPr marL="9525" marR="9525" marT="9525" marB="0" anchor="ctr"/>
                </a:tc>
              </a:tr>
              <a:tr h="175494">
                <a:tc>
                  <a:txBody>
                    <a:bodyPr wrap="square"/>
                    <a:lstStyle/>
                    <a:p>
                      <a:pPr algn="l"/>
                      <a:r>
                        <a:rPr sz="1050" b="0" i="0">
                          <a:solidFill>
                            <a:srgbClr val="000000"/>
                          </a:solidFill>
                          <a:latin typeface="Calibri"/>
                        </a:rPr>
                        <a:t>Figure 202: Japan Helium-3 Market Value, 2026-2036 By Supply Source</a:t>
                      </a:r>
                      <a:endParaRPr sz="1050"/>
                    </a:p>
                  </a:txBody>
                  <a:tcPr marL="9525" marR="9525" marT="9525" marB="0" anchor="ctr"/>
                </a:tc>
              </a:tr>
              <a:tr h="175494">
                <a:tc>
                  <a:txBody>
                    <a:bodyPr wrap="square"/>
                    <a:lstStyle/>
                    <a:p>
                      <a:pPr algn="l"/>
                      <a:r>
                        <a:rPr sz="1050" b="0" i="0">
                          <a:solidFill>
                            <a:srgbClr val="000000"/>
                          </a:solidFill>
                          <a:latin typeface="Calibri"/>
                        </a:rPr>
                        <a:t>Figure 203: Japan Helium-3 Market Value, 2026-2036 By Application</a:t>
                      </a:r>
                      <a:endParaRPr sz="1050"/>
                    </a:p>
                  </a:txBody>
                  <a:tcPr marL="9525" marR="9525" marT="9525" marB="0" anchor="ctr"/>
                </a:tc>
              </a:tr>
              <a:tr h="175494">
                <a:tc>
                  <a:txBody>
                    <a:bodyPr wrap="square"/>
                    <a:lstStyle/>
                    <a:p>
                      <a:pPr algn="l"/>
                      <a:r>
                        <a:rPr sz="1050" b="0" i="0">
                          <a:solidFill>
                            <a:srgbClr val="000000"/>
                          </a:solidFill>
                          <a:latin typeface="Calibri"/>
                        </a:rPr>
                        <a:t>Figure 204: Japan Helium-3 Market Value, 2026-2036 By End User</a:t>
                      </a:r>
                      <a:endParaRPr sz="1050"/>
                    </a:p>
                  </a:txBody>
                  <a:tcPr marL="9525" marR="9525" marT="9525" marB="0" anchor="ctr"/>
                </a:tc>
              </a:tr>
              <a:tr h="175494">
                <a:tc>
                  <a:txBody>
                    <a:bodyPr wrap="square"/>
                    <a:lstStyle/>
                    <a:p>
                      <a:pPr algn="l"/>
                      <a:r>
                        <a:rPr sz="1050" b="0" i="0">
                          <a:solidFill>
                            <a:srgbClr val="000000"/>
                          </a:solidFill>
                          <a:latin typeface="Calibri"/>
                        </a:rPr>
                        <a:t>Figure 205: South Korea Helium-3 Market Value, 2026-2036 By Product Form</a:t>
                      </a:r>
                      <a:endParaRPr sz="1050"/>
                    </a:p>
                  </a:txBody>
                  <a:tcPr marL="9525" marR="9525" marT="9525" marB="0" anchor="ctr"/>
                </a:tc>
              </a:tr>
              <a:tr h="175494">
                <a:tc>
                  <a:txBody>
                    <a:bodyPr wrap="square"/>
                    <a:lstStyle/>
                    <a:p>
                      <a:pPr algn="l"/>
                      <a:r>
                        <a:rPr sz="1050" b="0" i="0">
                          <a:solidFill>
                            <a:srgbClr val="000000"/>
                          </a:solidFill>
                          <a:latin typeface="Calibri"/>
                        </a:rPr>
                        <a:t>Figure 206: South Korea Helium-3 Market Value, 2026-2036 By Supply Source</a:t>
                      </a:r>
                      <a:endParaRPr sz="1050"/>
                    </a:p>
                  </a:txBody>
                  <a:tcPr marL="9525" marR="9525" marT="9525" marB="0" anchor="ctr"/>
                </a:tc>
              </a:tr>
              <a:tr h="175494">
                <a:tc>
                  <a:txBody>
                    <a:bodyPr wrap="square"/>
                    <a:lstStyle/>
                    <a:p>
                      <a:pPr algn="l"/>
                      <a:r>
                        <a:rPr sz="1050" b="0" i="0">
                          <a:solidFill>
                            <a:srgbClr val="000000"/>
                          </a:solidFill>
                          <a:latin typeface="Calibri"/>
                        </a:rPr>
                        <a:t>Figure 207: South Korea Helium-3 Market Value, 2026-2036 By Application</a:t>
                      </a:r>
                      <a:endParaRPr sz="1050"/>
                    </a:p>
                  </a:txBody>
                  <a:tcPr marL="9525" marR="9525" marT="9525" marB="0" anchor="ctr"/>
                </a:tc>
              </a:tr>
              <a:tr h="175494">
                <a:tc>
                  <a:txBody>
                    <a:bodyPr wrap="square"/>
                    <a:lstStyle/>
                    <a:p>
                      <a:pPr algn="l"/>
                      <a:r>
                        <a:rPr sz="1050" b="0" i="0">
                          <a:solidFill>
                            <a:srgbClr val="000000"/>
                          </a:solidFill>
                          <a:latin typeface="Calibri"/>
                        </a:rPr>
                        <a:t>Figure 208: South Korea Helium-3 Market Value, 2026-2036 By End User</a:t>
                      </a:r>
                      <a:endParaRPr sz="1050"/>
                    </a:p>
                  </a:txBody>
                  <a:tcPr marL="9525" marR="9525" marT="9525" marB="0" anchor="ctr"/>
                </a:tc>
              </a:tr>
              <a:tr h="175494">
                <a:tc>
                  <a:txBody>
                    <a:bodyPr wrap="square"/>
                    <a:lstStyle/>
                    <a:p>
                      <a:pPr algn="l"/>
                      <a:r>
                        <a:rPr sz="1050" b="0" i="0">
                          <a:solidFill>
                            <a:srgbClr val="000000"/>
                          </a:solidFill>
                          <a:latin typeface="Calibri"/>
                        </a:rPr>
                        <a:t>Figure 209: South Asia and Pacific Helium-3 Market Value, 2021-2036</a:t>
                      </a:r>
                      <a:endParaRPr sz="1050"/>
                    </a:p>
                  </a:txBody>
                  <a:tcPr marL="9525" marR="9525" marT="9525" marB="0" anchor="ctr"/>
                </a:tc>
              </a:tr>
              <a:tr h="175494">
                <a:tc>
                  <a:txBody>
                    <a:bodyPr wrap="square"/>
                    <a:lstStyle/>
                    <a:p>
                      <a:pPr algn="l"/>
                      <a:r>
                        <a:rPr sz="1050" b="0" i="0">
                          <a:solidFill>
                            <a:srgbClr val="000000"/>
                          </a:solidFill>
                          <a:latin typeface="Calibri"/>
                        </a:rPr>
                        <a:t>Figure 210: South Asia and Pacific Helium-3 Market Incremental $ Opportunity, 2026-2036</a:t>
                      </a:r>
                      <a:endParaRPr sz="1050"/>
                    </a:p>
                  </a:txBody>
                  <a:tcPr marL="9525" marR="9525" marT="9525" marB="0" anchor="ctr"/>
                </a:tc>
              </a:tr>
              <a:tr h="175494">
                <a:tc>
                  <a:txBody>
                    <a:bodyPr wrap="square"/>
                    <a:lstStyle/>
                    <a:p>
                      <a:pPr algn="l"/>
                      <a:r>
                        <a:rPr sz="1050" b="0" i="0">
                          <a:solidFill>
                            <a:srgbClr val="000000"/>
                          </a:solidFill>
                          <a:latin typeface="Calibri"/>
                        </a:rPr>
                        <a:t>Figure 211: South Asia and Pacific Helium-3 Market Value, 2026-2036 By Product Form</a:t>
                      </a:r>
                      <a:endParaRPr sz="1050"/>
                    </a:p>
                  </a:txBody>
                  <a:tcPr marL="9525" marR="9525" marT="9525" marB="0" anchor="ctr"/>
                </a:tc>
              </a:tr>
              <a:tr h="343968">
                <a:tc>
                  <a:txBody>
                    <a:bodyPr wrap="square"/>
                    <a:lstStyle/>
                    <a:p>
                      <a:pPr algn="l"/>
                      <a:r>
                        <a:rPr sz="1050" b="0" i="0">
                          <a:solidFill>
                            <a:srgbClr val="000000"/>
                          </a:solidFill>
                          <a:latin typeface="Calibri"/>
                        </a:rPr>
                        <a:t>Figure 212: South Asia and Pacific Helium-3 Market Value, 2026-2036 Y-o-Y Comparison By Product Form</a:t>
                      </a:r>
                      <a:endParaRPr sz="1050"/>
                    </a:p>
                  </a:txBody>
                  <a:tcPr marL="9525" marR="9525" marT="9525" marB="0" anchor="ctr"/>
                </a:tc>
              </a:tr>
              <a:tr h="175494">
                <a:tc>
                  <a:txBody>
                    <a:bodyPr wrap="square"/>
                    <a:lstStyle/>
                    <a:p>
                      <a:pPr algn="l"/>
                      <a:r>
                        <a:rPr sz="1050" b="0" i="0">
                          <a:solidFill>
                            <a:srgbClr val="000000"/>
                          </a:solidFill>
                          <a:latin typeface="Calibri"/>
                        </a:rPr>
                        <a:t>Figure 213: South Asia and Pacific Helium-3 Market Value, 2026-2036 BPS Analysis By Product Form</a:t>
                      </a:r>
                      <a:endParaRPr sz="1050"/>
                    </a:p>
                  </a:txBody>
                  <a:tcPr marL="9525" marR="9525" marT="9525" marB="0" anchor="ctr"/>
                </a:tc>
              </a:tr>
              <a:tr h="175494">
                <a:tc>
                  <a:txBody>
                    <a:bodyPr wrap="square"/>
                    <a:lstStyle/>
                    <a:p>
                      <a:pPr algn="l"/>
                      <a:r>
                        <a:rPr sz="1050" b="0" i="0">
                          <a:solidFill>
                            <a:srgbClr val="000000"/>
                          </a:solidFill>
                          <a:latin typeface="Calibri"/>
                        </a:rPr>
                        <a:t>Figure 214: South Asia and Pacific Helium-3 Market Attractiveness Analysis By Product Form</a:t>
                      </a:r>
                      <a:endParaRPr sz="1050"/>
                    </a:p>
                  </a:txBody>
                  <a:tcPr marL="9525" marR="9525" marT="9525" marB="0" anchor="ctr"/>
                </a:tc>
              </a:tr>
              <a:tr h="175494">
                <a:tc>
                  <a:txBody>
                    <a:bodyPr wrap="square"/>
                    <a:lstStyle/>
                    <a:p>
                      <a:pPr algn="l"/>
                      <a:r>
                        <a:rPr sz="1050" b="0" i="0">
                          <a:solidFill>
                            <a:srgbClr val="000000"/>
                          </a:solidFill>
                          <a:latin typeface="Calibri"/>
                        </a:rPr>
                        <a:t>Figure 215: South Asia and Pacific Helium-3 Market Value, 2026-2036 By Supply Source</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332858">
                <a:tc>
                  <a:txBody>
                    <a:bodyPr wrap="square"/>
                    <a:lstStyle/>
                    <a:p>
                      <a:pPr algn="l"/>
                      <a:r>
                        <a:rPr sz="1050" b="0" i="0">
                          <a:solidFill>
                            <a:srgbClr val="000000"/>
                          </a:solidFill>
                          <a:latin typeface="Calibri"/>
                        </a:rPr>
                        <a:t>Figure 216: South Asia and Pacific Helium-3 Market Value, 2026-2036 Y-o-Y Comparison By Supply Source</a:t>
                      </a:r>
                      <a:endParaRPr sz="1050"/>
                    </a:p>
                  </a:txBody>
                  <a:tcPr marL="9525" marR="9525" marT="9525" marB="0" anchor="ctr"/>
                </a:tc>
              </a:tr>
              <a:tr h="169826">
                <a:tc>
                  <a:txBody>
                    <a:bodyPr wrap="square"/>
                    <a:lstStyle/>
                    <a:p>
                      <a:pPr algn="l"/>
                      <a:r>
                        <a:rPr sz="1050" b="0" i="0">
                          <a:solidFill>
                            <a:srgbClr val="000000"/>
                          </a:solidFill>
                          <a:latin typeface="Calibri"/>
                        </a:rPr>
                        <a:t>Figure 217: South Asia and Pacific Helium-3 Market Value, 2026-2036 BPS Analysis By Supply Source</a:t>
                      </a:r>
                      <a:endParaRPr sz="1050"/>
                    </a:p>
                  </a:txBody>
                  <a:tcPr marL="9525" marR="9525" marT="9525" marB="0" anchor="ctr"/>
                </a:tc>
              </a:tr>
              <a:tr h="169826">
                <a:tc>
                  <a:txBody>
                    <a:bodyPr wrap="square"/>
                    <a:lstStyle/>
                    <a:p>
                      <a:pPr algn="l"/>
                      <a:r>
                        <a:rPr sz="1050" b="0" i="0">
                          <a:solidFill>
                            <a:srgbClr val="000000"/>
                          </a:solidFill>
                          <a:latin typeface="Calibri"/>
                        </a:rPr>
                        <a:t>Figure 218: South Asia and Pacific Helium-3 Market Attractiveness Analysis By Supply Source</a:t>
                      </a:r>
                      <a:endParaRPr sz="1050"/>
                    </a:p>
                  </a:txBody>
                  <a:tcPr marL="9525" marR="9525" marT="9525" marB="0" anchor="ctr"/>
                </a:tc>
              </a:tr>
              <a:tr h="169826">
                <a:tc>
                  <a:txBody>
                    <a:bodyPr wrap="square"/>
                    <a:lstStyle/>
                    <a:p>
                      <a:pPr algn="l"/>
                      <a:r>
                        <a:rPr sz="1050" b="0" i="0">
                          <a:solidFill>
                            <a:srgbClr val="000000"/>
                          </a:solidFill>
                          <a:latin typeface="Calibri"/>
                        </a:rPr>
                        <a:t>Figure 219: South Asia and Pacific Helium-3 Market Value, 2026-2036 By Application</a:t>
                      </a:r>
                      <a:endParaRPr sz="1050"/>
                    </a:p>
                  </a:txBody>
                  <a:tcPr marL="9525" marR="9525" marT="9525" marB="0" anchor="ctr"/>
                </a:tc>
              </a:tr>
              <a:tr h="169826">
                <a:tc>
                  <a:txBody>
                    <a:bodyPr wrap="square"/>
                    <a:lstStyle/>
                    <a:p>
                      <a:pPr algn="l"/>
                      <a:r>
                        <a:rPr sz="1050" b="0" i="0">
                          <a:solidFill>
                            <a:srgbClr val="000000"/>
                          </a:solidFill>
                          <a:latin typeface="Calibri"/>
                        </a:rPr>
                        <a:t>Figure 220: South Asia and Pacific Helium-3 Market Value, 2026-2036 Y-o-Y Comparison By Application</a:t>
                      </a:r>
                      <a:endParaRPr sz="1050"/>
                    </a:p>
                  </a:txBody>
                  <a:tcPr marL="9525" marR="9525" marT="9525" marB="0" anchor="ctr"/>
                </a:tc>
              </a:tr>
              <a:tr h="169826">
                <a:tc>
                  <a:txBody>
                    <a:bodyPr wrap="square"/>
                    <a:lstStyle/>
                    <a:p>
                      <a:pPr algn="l"/>
                      <a:r>
                        <a:rPr sz="1050" b="0" i="0">
                          <a:solidFill>
                            <a:srgbClr val="000000"/>
                          </a:solidFill>
                          <a:latin typeface="Calibri"/>
                        </a:rPr>
                        <a:t>Figure 221: South Asia and Pacific Helium-3 Market Value, 2026-2036 BPS Analysis By Application</a:t>
                      </a:r>
                      <a:endParaRPr sz="1050"/>
                    </a:p>
                  </a:txBody>
                  <a:tcPr marL="9525" marR="9525" marT="9525" marB="0" anchor="ctr"/>
                </a:tc>
              </a:tr>
              <a:tr h="169826">
                <a:tc>
                  <a:txBody>
                    <a:bodyPr wrap="square"/>
                    <a:lstStyle/>
                    <a:p>
                      <a:pPr algn="l"/>
                      <a:r>
                        <a:rPr sz="1050" b="0" i="0">
                          <a:solidFill>
                            <a:srgbClr val="000000"/>
                          </a:solidFill>
                          <a:latin typeface="Calibri"/>
                        </a:rPr>
                        <a:t>Figure 222: South Asia and Pacific Helium-3 Market Attractiveness Analysis By Application</a:t>
                      </a:r>
                      <a:endParaRPr sz="1050"/>
                    </a:p>
                  </a:txBody>
                  <a:tcPr marL="9525" marR="9525" marT="9525" marB="0" anchor="ctr"/>
                </a:tc>
              </a:tr>
              <a:tr h="169826">
                <a:tc>
                  <a:txBody>
                    <a:bodyPr wrap="square"/>
                    <a:lstStyle/>
                    <a:p>
                      <a:pPr algn="l"/>
                      <a:r>
                        <a:rPr sz="1050" b="0" i="0">
                          <a:solidFill>
                            <a:srgbClr val="000000"/>
                          </a:solidFill>
                          <a:latin typeface="Calibri"/>
                        </a:rPr>
                        <a:t>Figure 223: South Asia and Pacific Helium-3 Market Value, 2026-2036 By End User</a:t>
                      </a:r>
                      <a:endParaRPr sz="1050"/>
                    </a:p>
                  </a:txBody>
                  <a:tcPr marL="9525" marR="9525" marT="9525" marB="0" anchor="ctr"/>
                </a:tc>
              </a:tr>
              <a:tr h="169826">
                <a:tc>
                  <a:txBody>
                    <a:bodyPr wrap="square"/>
                    <a:lstStyle/>
                    <a:p>
                      <a:pPr algn="l"/>
                      <a:r>
                        <a:rPr sz="1050" b="0" i="0">
                          <a:solidFill>
                            <a:srgbClr val="000000"/>
                          </a:solidFill>
                          <a:latin typeface="Calibri"/>
                        </a:rPr>
                        <a:t>Figure 224: South Asia and Pacific Helium-3 Market Value, 2026-2036 Y-o-Y Comparison By End User</a:t>
                      </a:r>
                      <a:endParaRPr sz="1050"/>
                    </a:p>
                  </a:txBody>
                  <a:tcPr marL="9525" marR="9525" marT="9525" marB="0" anchor="ctr"/>
                </a:tc>
              </a:tr>
              <a:tr h="169826">
                <a:tc>
                  <a:txBody>
                    <a:bodyPr wrap="square"/>
                    <a:lstStyle/>
                    <a:p>
                      <a:pPr algn="l"/>
                      <a:r>
                        <a:rPr sz="1050" b="0" i="0">
                          <a:solidFill>
                            <a:srgbClr val="000000"/>
                          </a:solidFill>
                          <a:latin typeface="Calibri"/>
                        </a:rPr>
                        <a:t>Figure 225: South Asia and Pacific Helium-3 Market Value, 2026-2036 BPS Analysis By End User</a:t>
                      </a:r>
                      <a:endParaRPr sz="1050"/>
                    </a:p>
                  </a:txBody>
                  <a:tcPr marL="9525" marR="9525" marT="9525" marB="0" anchor="ctr"/>
                </a:tc>
              </a:tr>
              <a:tr h="169826">
                <a:tc>
                  <a:txBody>
                    <a:bodyPr wrap="square"/>
                    <a:lstStyle/>
                    <a:p>
                      <a:pPr algn="l"/>
                      <a:r>
                        <a:rPr sz="1050" b="0" i="0">
                          <a:solidFill>
                            <a:srgbClr val="000000"/>
                          </a:solidFill>
                          <a:latin typeface="Calibri"/>
                        </a:rPr>
                        <a:t>Figure 226: South Asia and Pacific Helium-3 Market Attractiveness Analysis By End User</a:t>
                      </a:r>
                      <a:endParaRPr sz="1050"/>
                    </a:p>
                  </a:txBody>
                  <a:tcPr marL="9525" marR="9525" marT="9525" marB="0" anchor="ctr"/>
                </a:tc>
              </a:tr>
              <a:tr h="169826">
                <a:tc>
                  <a:txBody>
                    <a:bodyPr wrap="square"/>
                    <a:lstStyle/>
                    <a:p>
                      <a:pPr algn="l"/>
                      <a:r>
                        <a:rPr sz="1050" b="0" i="0">
                          <a:solidFill>
                            <a:srgbClr val="000000"/>
                          </a:solidFill>
                          <a:latin typeface="Calibri"/>
                        </a:rPr>
                        <a:t>Figure 227: South Asia and Pacific Helium-3 Market Value, 2026-2036 By Region</a:t>
                      </a:r>
                      <a:endParaRPr sz="1050"/>
                    </a:p>
                  </a:txBody>
                  <a:tcPr marL="9525" marR="9525" marT="9525" marB="0" anchor="ctr"/>
                </a:tc>
              </a:tr>
              <a:tr h="169826">
                <a:tc>
                  <a:txBody>
                    <a:bodyPr wrap="square"/>
                    <a:lstStyle/>
                    <a:p>
                      <a:pPr algn="l"/>
                      <a:r>
                        <a:rPr sz="1050" b="0" i="0">
                          <a:solidFill>
                            <a:srgbClr val="000000"/>
                          </a:solidFill>
                          <a:latin typeface="Calibri"/>
                        </a:rPr>
                        <a:t>Figure 228: South Asia and Pacific Helium-3 Market Value, 2026-2036 Y-o-Y Comparison By Region</a:t>
                      </a:r>
                      <a:endParaRPr sz="1050"/>
                    </a:p>
                  </a:txBody>
                  <a:tcPr marL="9525" marR="9525" marT="9525" marB="0" anchor="ctr"/>
                </a:tc>
              </a:tr>
              <a:tr h="169826">
                <a:tc>
                  <a:txBody>
                    <a:bodyPr wrap="square"/>
                    <a:lstStyle/>
                    <a:p>
                      <a:pPr algn="l"/>
                      <a:r>
                        <a:rPr sz="1050" b="0" i="0">
                          <a:solidFill>
                            <a:srgbClr val="000000"/>
                          </a:solidFill>
                          <a:latin typeface="Calibri"/>
                        </a:rPr>
                        <a:t>Figure 229: South Asia and Pacific Helium-3 Market Value, 2026-2036 BPS Analysis By Region</a:t>
                      </a:r>
                      <a:endParaRPr sz="1050"/>
                    </a:p>
                  </a:txBody>
                  <a:tcPr marL="9525" marR="9525" marT="9525" marB="0" anchor="ctr"/>
                </a:tc>
              </a:tr>
              <a:tr h="169826">
                <a:tc>
                  <a:txBody>
                    <a:bodyPr wrap="square"/>
                    <a:lstStyle/>
                    <a:p>
                      <a:pPr algn="l"/>
                      <a:r>
                        <a:rPr sz="1050" b="0" i="0">
                          <a:solidFill>
                            <a:srgbClr val="000000"/>
                          </a:solidFill>
                          <a:latin typeface="Calibri"/>
                        </a:rPr>
                        <a:t>Figure 230: South Asia and Pacific Helium-3 Market Attractiveness Analysis By Region</a:t>
                      </a:r>
                      <a:endParaRPr sz="1050"/>
                    </a:p>
                  </a:txBody>
                  <a:tcPr marL="9525" marR="9525" marT="9525" marB="0" anchor="ctr"/>
                </a:tc>
              </a:tr>
              <a:tr h="169826">
                <a:tc>
                  <a:txBody>
                    <a:bodyPr wrap="square"/>
                    <a:lstStyle/>
                    <a:p>
                      <a:pPr algn="l"/>
                      <a:r>
                        <a:rPr sz="1050" b="0" i="0">
                          <a:solidFill>
                            <a:srgbClr val="000000"/>
                          </a:solidFill>
                          <a:latin typeface="Calibri"/>
                        </a:rPr>
                        <a:t>Figure 231: India Helium-3 Market Value, 2026-2036 By Product Form</a:t>
                      </a:r>
                      <a:endParaRPr sz="1050"/>
                    </a:p>
                  </a:txBody>
                  <a:tcPr marL="9525" marR="9525" marT="9525" marB="0" anchor="ctr"/>
                </a:tc>
              </a:tr>
              <a:tr h="169826">
                <a:tc>
                  <a:txBody>
                    <a:bodyPr wrap="square"/>
                    <a:lstStyle/>
                    <a:p>
                      <a:pPr algn="l"/>
                      <a:r>
                        <a:rPr sz="1050" b="0" i="0">
                          <a:solidFill>
                            <a:srgbClr val="000000"/>
                          </a:solidFill>
                          <a:latin typeface="Calibri"/>
                        </a:rPr>
                        <a:t>Figure 232: India Helium-3 Market Value, 2026-2036 By Supply Source</a:t>
                      </a:r>
                      <a:endParaRPr sz="1050"/>
                    </a:p>
                  </a:txBody>
                  <a:tcPr marL="9525" marR="9525" marT="9525" marB="0" anchor="ctr"/>
                </a:tc>
              </a:tr>
              <a:tr h="169826">
                <a:tc>
                  <a:txBody>
                    <a:bodyPr wrap="square"/>
                    <a:lstStyle/>
                    <a:p>
                      <a:pPr algn="l"/>
                      <a:r>
                        <a:rPr sz="1050" b="0" i="0">
                          <a:solidFill>
                            <a:srgbClr val="000000"/>
                          </a:solidFill>
                          <a:latin typeface="Calibri"/>
                        </a:rPr>
                        <a:t>Figure 233: India Helium-3 Market Value, 2026-2036 By Application</a:t>
                      </a:r>
                      <a:endParaRPr sz="1050"/>
                    </a:p>
                  </a:txBody>
                  <a:tcPr marL="9525" marR="9525" marT="9525" marB="0" anchor="ctr"/>
                </a:tc>
              </a:tr>
              <a:tr h="169826">
                <a:tc>
                  <a:txBody>
                    <a:bodyPr wrap="square"/>
                    <a:lstStyle/>
                    <a:p>
                      <a:pPr algn="l"/>
                      <a:r>
                        <a:rPr sz="1050" b="0" i="0">
                          <a:solidFill>
                            <a:srgbClr val="000000"/>
                          </a:solidFill>
                          <a:latin typeface="Calibri"/>
                        </a:rPr>
                        <a:t>Figure 234: India Helium-3 Market Value, 2026-2036 By End User</a:t>
                      </a:r>
                      <a:endParaRPr sz="1050"/>
                    </a:p>
                  </a:txBody>
                  <a:tcPr marL="9525" marR="9525" marT="9525" marB="0" anchor="ctr"/>
                </a:tc>
              </a:tr>
              <a:tr h="169826">
                <a:tc>
                  <a:txBody>
                    <a:bodyPr wrap="square"/>
                    <a:lstStyle/>
                    <a:p>
                      <a:pPr algn="l"/>
                      <a:r>
                        <a:rPr sz="1050" b="0" i="0">
                          <a:solidFill>
                            <a:srgbClr val="000000"/>
                          </a:solidFill>
                          <a:latin typeface="Calibri"/>
                        </a:rPr>
                        <a:t>Figure 235: ASEAN Helium-3 Market Value, 2026-2036 By Product Form</a:t>
                      </a:r>
                      <a:endParaRPr sz="1050"/>
                    </a:p>
                  </a:txBody>
                  <a:tcPr marL="9525" marR="9525" marT="9525" marB="0" anchor="ctr"/>
                </a:tc>
              </a:tr>
              <a:tr h="169826">
                <a:tc>
                  <a:txBody>
                    <a:bodyPr wrap="square"/>
                    <a:lstStyle/>
                    <a:p>
                      <a:pPr algn="l"/>
                      <a:r>
                        <a:rPr sz="1050" b="0" i="0">
                          <a:solidFill>
                            <a:srgbClr val="000000"/>
                          </a:solidFill>
                          <a:latin typeface="Calibri"/>
                        </a:rPr>
                        <a:t>Figure 236: ASEAN Helium-3 Market Value, 2026-2036 By Supply Source</a:t>
                      </a:r>
                      <a:endParaRPr sz="1050"/>
                    </a:p>
                  </a:txBody>
                  <a:tcPr marL="9525" marR="9525" marT="9525" marB="0" anchor="ctr"/>
                </a:tc>
              </a:tr>
              <a:tr h="169826">
                <a:tc>
                  <a:txBody>
                    <a:bodyPr wrap="square"/>
                    <a:lstStyle/>
                    <a:p>
                      <a:pPr algn="l"/>
                      <a:r>
                        <a:rPr sz="1050" b="0" i="0">
                          <a:solidFill>
                            <a:srgbClr val="000000"/>
                          </a:solidFill>
                          <a:latin typeface="Calibri"/>
                        </a:rPr>
                        <a:t>Figure 237: ASEAN Helium-3 Market Value, 2026-2036 By Application</a:t>
                      </a:r>
                      <a:endParaRPr sz="1050"/>
                    </a:p>
                  </a:txBody>
                  <a:tcPr marL="9525" marR="9525" marT="9525" marB="0" anchor="ctr"/>
                </a:tc>
              </a:tr>
              <a:tr h="169826">
                <a:tc>
                  <a:txBody>
                    <a:bodyPr wrap="square"/>
                    <a:lstStyle/>
                    <a:p>
                      <a:pPr algn="l"/>
                      <a:r>
                        <a:rPr sz="1050" b="0" i="0">
                          <a:solidFill>
                            <a:srgbClr val="000000"/>
                          </a:solidFill>
                          <a:latin typeface="Calibri"/>
                        </a:rPr>
                        <a:t>Figure 238: ASEAN Helium-3 Market Value, 2026-2036 By End User</a:t>
                      </a:r>
                      <a:endParaRPr sz="1050"/>
                    </a:p>
                  </a:txBody>
                  <a:tcPr marL="9525" marR="9525" marT="9525" marB="0" anchor="ctr"/>
                </a:tc>
              </a:tr>
              <a:tr h="169826">
                <a:tc>
                  <a:txBody>
                    <a:bodyPr wrap="square"/>
                    <a:lstStyle/>
                    <a:p>
                      <a:pPr algn="l"/>
                      <a:r>
                        <a:rPr sz="1050" b="0" i="0">
                          <a:solidFill>
                            <a:srgbClr val="000000"/>
                          </a:solidFill>
                          <a:latin typeface="Calibri"/>
                        </a:rPr>
                        <a:t>Figure 239: Australia and New Zealand Helium-3 Market Value, 2026-2036 By Product Form</a:t>
                      </a:r>
                      <a:endParaRPr sz="1050"/>
                    </a:p>
                  </a:txBody>
                  <a:tcPr marL="9525" marR="9525" marT="9525" marB="0" anchor="ctr"/>
                </a:tc>
              </a:tr>
              <a:tr h="169826">
                <a:tc>
                  <a:txBody>
                    <a:bodyPr wrap="square"/>
                    <a:lstStyle/>
                    <a:p>
                      <a:pPr algn="l"/>
                      <a:r>
                        <a:rPr sz="1050" b="0" i="0">
                          <a:solidFill>
                            <a:srgbClr val="000000"/>
                          </a:solidFill>
                          <a:latin typeface="Calibri"/>
                        </a:rPr>
                        <a:t>Figure 240: Australia and New Zealand Helium-3 Market Value, 2026-2036 By Supply Source</a:t>
                      </a:r>
                      <a:endParaRPr sz="1050"/>
                    </a:p>
                  </a:txBody>
                  <a:tcPr marL="9525" marR="9525" marT="9525" marB="0" anchor="ctr"/>
                </a:tc>
              </a:tr>
              <a:tr h="169826">
                <a:tc>
                  <a:txBody>
                    <a:bodyPr wrap="square"/>
                    <a:lstStyle/>
                    <a:p>
                      <a:pPr algn="l"/>
                      <a:r>
                        <a:rPr sz="1050" b="0" i="0">
                          <a:solidFill>
                            <a:srgbClr val="000000"/>
                          </a:solidFill>
                          <a:latin typeface="Calibri"/>
                        </a:rPr>
                        <a:t>Figure 241: Australia and New Zealand Helium-3 Market Value, 2026-2036 By Application</a:t>
                      </a:r>
                      <a:endParaRPr sz="1050"/>
                    </a:p>
                  </a:txBody>
                  <a:tcPr marL="9525" marR="9525" marT="9525" marB="0" anchor="ctr"/>
                </a:tc>
              </a:tr>
              <a:tr h="169826">
                <a:tc>
                  <a:txBody>
                    <a:bodyPr wrap="square"/>
                    <a:lstStyle/>
                    <a:p>
                      <a:pPr algn="l"/>
                      <a:r>
                        <a:rPr sz="1050" b="0" i="0">
                          <a:solidFill>
                            <a:srgbClr val="000000"/>
                          </a:solidFill>
                          <a:latin typeface="Calibri"/>
                        </a:rPr>
                        <a:t>Figure 242: Australia and New Zealand Helium-3 Market Value, 2026-2036 By End User</a:t>
                      </a:r>
                      <a:endParaRPr sz="1050"/>
                    </a:p>
                  </a:txBody>
                  <a:tcPr marL="9525" marR="9525" marT="9525" marB="0" anchor="ctr"/>
                </a:tc>
              </a:tr>
              <a:tr h="169826">
                <a:tc>
                  <a:txBody>
                    <a:bodyPr wrap="square"/>
                    <a:lstStyle/>
                    <a:p>
                      <a:pPr algn="l"/>
                      <a:r>
                        <a:rPr sz="1050" b="0" i="0">
                          <a:solidFill>
                            <a:srgbClr val="000000"/>
                          </a:solidFill>
                          <a:latin typeface="Calibri"/>
                        </a:rPr>
                        <a:t>Figure 243: Middle East and Africa Helium-3 Market Value, 2021-2036</a:t>
                      </a:r>
                      <a:endParaRPr sz="1050"/>
                    </a:p>
                  </a:txBody>
                  <a:tcPr marL="9525" marR="9525" marT="9525" marB="0" anchor="ctr"/>
                </a:tc>
              </a:tr>
              <a:tr h="169826">
                <a:tc>
                  <a:txBody>
                    <a:bodyPr wrap="square"/>
                    <a:lstStyle/>
                    <a:p>
                      <a:pPr algn="l"/>
                      <a:r>
                        <a:rPr sz="1050" b="0" i="0">
                          <a:solidFill>
                            <a:srgbClr val="000000"/>
                          </a:solidFill>
                          <a:latin typeface="Calibri"/>
                        </a:rPr>
                        <a:t>Figure 244: Middle East and Africa Helium-3 Market Incremental $ Opportunity, 2026-2036</a:t>
                      </a:r>
                      <a:endParaRPr sz="1050"/>
                    </a:p>
                  </a:txBody>
                  <a:tcPr marL="9525" marR="9525" marT="9525" marB="0" anchor="ctr"/>
                </a:tc>
              </a:tr>
              <a:tr h="169826">
                <a:tc>
                  <a:txBody>
                    <a:bodyPr wrap="square"/>
                    <a:lstStyle/>
                    <a:p>
                      <a:pPr algn="l"/>
                      <a:r>
                        <a:rPr sz="1050" b="0" i="0">
                          <a:solidFill>
                            <a:srgbClr val="000000"/>
                          </a:solidFill>
                          <a:latin typeface="Calibri"/>
                        </a:rPr>
                        <a:t>Figure 245: Middle East and Africa Helium-3 Market Value, 2026-2036 By Product Form</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Figures (5/5)</a:t>
            </a:r>
          </a:p>
        </p:txBody>
      </p:sp>
      <p:graphicFrame>
        <p:nvGraphicFramePr>
          <p:cNvPr id="7"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333289">
                <a:tc>
                  <a:txBody>
                    <a:bodyPr wrap="square"/>
                    <a:lstStyle/>
                    <a:p>
                      <a:pPr algn="l"/>
                      <a:r>
                        <a:rPr sz="1050" b="0" i="0">
                          <a:solidFill>
                            <a:srgbClr val="000000"/>
                          </a:solidFill>
                          <a:latin typeface="Calibri"/>
                        </a:rPr>
                        <a:t>Figure 246: Middle East and Africa Helium-3 Market Value, 2026-2036 Y-o-Y Comparison By Product Form</a:t>
                      </a:r>
                      <a:endParaRPr sz="1050"/>
                    </a:p>
                  </a:txBody>
                  <a:tcPr marL="9525" marR="9525" marT="9525" marB="0" anchor="ctr"/>
                </a:tc>
              </a:tr>
              <a:tr h="170045">
                <a:tc>
                  <a:txBody>
                    <a:bodyPr wrap="square"/>
                    <a:lstStyle/>
                    <a:p>
                      <a:pPr algn="l"/>
                      <a:r>
                        <a:rPr sz="1050" b="0" i="0">
                          <a:solidFill>
                            <a:srgbClr val="000000"/>
                          </a:solidFill>
                          <a:latin typeface="Calibri"/>
                        </a:rPr>
                        <a:t>Figure 247: Middle East and Africa Helium-3 Market Value, 2026-2036 BPS Analysis By Product Form</a:t>
                      </a:r>
                      <a:endParaRPr sz="1050"/>
                    </a:p>
                  </a:txBody>
                  <a:tcPr marL="9525" marR="9525" marT="9525" marB="0" anchor="ctr"/>
                </a:tc>
              </a:tr>
              <a:tr h="170045">
                <a:tc>
                  <a:txBody>
                    <a:bodyPr wrap="square"/>
                    <a:lstStyle/>
                    <a:p>
                      <a:pPr algn="l"/>
                      <a:r>
                        <a:rPr sz="1050" b="0" i="0">
                          <a:solidFill>
                            <a:srgbClr val="000000"/>
                          </a:solidFill>
                          <a:latin typeface="Calibri"/>
                        </a:rPr>
                        <a:t>Figure 248: Middle East and Africa Helium-3 Market Attractiveness Analysis By Product Form</a:t>
                      </a:r>
                      <a:endParaRPr sz="1050"/>
                    </a:p>
                  </a:txBody>
                  <a:tcPr marL="9525" marR="9525" marT="9525" marB="0" anchor="ctr"/>
                </a:tc>
              </a:tr>
              <a:tr h="170045">
                <a:tc>
                  <a:txBody>
                    <a:bodyPr wrap="square"/>
                    <a:lstStyle/>
                    <a:p>
                      <a:pPr algn="l"/>
                      <a:r>
                        <a:rPr sz="1050" b="0" i="0">
                          <a:solidFill>
                            <a:srgbClr val="000000"/>
                          </a:solidFill>
                          <a:latin typeface="Calibri"/>
                        </a:rPr>
                        <a:t>Figure 249: Middle East and Africa Helium-3 Market Value, 2026-2036 By Supply Source</a:t>
                      </a:r>
                      <a:endParaRPr sz="1050"/>
                    </a:p>
                  </a:txBody>
                  <a:tcPr marL="9525" marR="9525" marT="9525" marB="0" anchor="ctr"/>
                </a:tc>
              </a:tr>
              <a:tr h="333289">
                <a:tc>
                  <a:txBody>
                    <a:bodyPr wrap="square"/>
                    <a:lstStyle/>
                    <a:p>
                      <a:pPr algn="l"/>
                      <a:r>
                        <a:rPr sz="1050" b="0" i="0">
                          <a:solidFill>
                            <a:srgbClr val="000000"/>
                          </a:solidFill>
                          <a:latin typeface="Calibri"/>
                        </a:rPr>
                        <a:t>Figure 250: Middle East and Africa Helium-3 Market Value, 2026-2036 Y-o-Y Comparison By Supply Source</a:t>
                      </a:r>
                      <a:endParaRPr sz="1050"/>
                    </a:p>
                  </a:txBody>
                  <a:tcPr marL="9525" marR="9525" marT="9525" marB="0" anchor="ctr"/>
                </a:tc>
              </a:tr>
              <a:tr h="170045">
                <a:tc>
                  <a:txBody>
                    <a:bodyPr wrap="square"/>
                    <a:lstStyle/>
                    <a:p>
                      <a:pPr algn="l"/>
                      <a:r>
                        <a:rPr sz="1050" b="0" i="0">
                          <a:solidFill>
                            <a:srgbClr val="000000"/>
                          </a:solidFill>
                          <a:latin typeface="Calibri"/>
                        </a:rPr>
                        <a:t>Figure 251: Middle East and Africa Helium-3 Market Value, 2026-2036 BPS Analysis By Supply Source</a:t>
                      </a:r>
                      <a:endParaRPr sz="1050"/>
                    </a:p>
                  </a:txBody>
                  <a:tcPr marL="9525" marR="9525" marT="9525" marB="0" anchor="ctr"/>
                </a:tc>
              </a:tr>
              <a:tr h="170045">
                <a:tc>
                  <a:txBody>
                    <a:bodyPr wrap="square"/>
                    <a:lstStyle/>
                    <a:p>
                      <a:pPr algn="l"/>
                      <a:r>
                        <a:rPr sz="1050" b="0" i="0">
                          <a:solidFill>
                            <a:srgbClr val="000000"/>
                          </a:solidFill>
                          <a:latin typeface="Calibri"/>
                        </a:rPr>
                        <a:t>Figure 252: Middle East and Africa Helium-3 Market Attractiveness Analysis By Supply Source</a:t>
                      </a:r>
                      <a:endParaRPr sz="1050"/>
                    </a:p>
                  </a:txBody>
                  <a:tcPr marL="9525" marR="9525" marT="9525" marB="0" anchor="ctr"/>
                </a:tc>
              </a:tr>
              <a:tr h="170045">
                <a:tc>
                  <a:txBody>
                    <a:bodyPr wrap="square"/>
                    <a:lstStyle/>
                    <a:p>
                      <a:pPr algn="l"/>
                      <a:r>
                        <a:rPr sz="1050" b="0" i="0">
                          <a:solidFill>
                            <a:srgbClr val="000000"/>
                          </a:solidFill>
                          <a:latin typeface="Calibri"/>
                        </a:rPr>
                        <a:t>Figure 253: Middle East and Africa Helium-3 Market Value, 2026-2036 By Application</a:t>
                      </a:r>
                      <a:endParaRPr sz="1050"/>
                    </a:p>
                  </a:txBody>
                  <a:tcPr marL="9525" marR="9525" marT="9525" marB="0" anchor="ctr"/>
                </a:tc>
              </a:tr>
              <a:tr h="170045">
                <a:tc>
                  <a:txBody>
                    <a:bodyPr wrap="square"/>
                    <a:lstStyle/>
                    <a:p>
                      <a:pPr algn="l"/>
                      <a:r>
                        <a:rPr sz="1050" b="0" i="0">
                          <a:solidFill>
                            <a:srgbClr val="000000"/>
                          </a:solidFill>
                          <a:latin typeface="Calibri"/>
                        </a:rPr>
                        <a:t>Figure 254: Middle East and Africa Helium-3 Market Value, 2026-2036 Y-o-Y Comparison By Application</a:t>
                      </a:r>
                      <a:endParaRPr sz="1050"/>
                    </a:p>
                  </a:txBody>
                  <a:tcPr marL="9525" marR="9525" marT="9525" marB="0" anchor="ctr"/>
                </a:tc>
              </a:tr>
              <a:tr h="170045">
                <a:tc>
                  <a:txBody>
                    <a:bodyPr wrap="square"/>
                    <a:lstStyle/>
                    <a:p>
                      <a:pPr algn="l"/>
                      <a:r>
                        <a:rPr sz="1050" b="0" i="0">
                          <a:solidFill>
                            <a:srgbClr val="000000"/>
                          </a:solidFill>
                          <a:latin typeface="Calibri"/>
                        </a:rPr>
                        <a:t>Figure 255: Middle East and Africa Helium-3 Market Value, 2026-2036 BPS Analysis By Application</a:t>
                      </a:r>
                      <a:endParaRPr sz="1050"/>
                    </a:p>
                  </a:txBody>
                  <a:tcPr marL="9525" marR="9525" marT="9525" marB="0" anchor="ctr"/>
                </a:tc>
              </a:tr>
              <a:tr h="170045">
                <a:tc>
                  <a:txBody>
                    <a:bodyPr wrap="square"/>
                    <a:lstStyle/>
                    <a:p>
                      <a:pPr algn="l"/>
                      <a:r>
                        <a:rPr sz="1050" b="0" i="0">
                          <a:solidFill>
                            <a:srgbClr val="000000"/>
                          </a:solidFill>
                          <a:latin typeface="Calibri"/>
                        </a:rPr>
                        <a:t>Figure 256: Middle East and Africa Helium-3 Market Attractiveness Analysis By Application</a:t>
                      </a:r>
                      <a:endParaRPr sz="1050"/>
                    </a:p>
                  </a:txBody>
                  <a:tcPr marL="9525" marR="9525" marT="9525" marB="0" anchor="ctr"/>
                </a:tc>
              </a:tr>
              <a:tr h="170045">
                <a:tc>
                  <a:txBody>
                    <a:bodyPr wrap="square"/>
                    <a:lstStyle/>
                    <a:p>
                      <a:pPr algn="l"/>
                      <a:r>
                        <a:rPr sz="1050" b="0" i="0">
                          <a:solidFill>
                            <a:srgbClr val="000000"/>
                          </a:solidFill>
                          <a:latin typeface="Calibri"/>
                        </a:rPr>
                        <a:t>Figure 257: Middle East and Africa Helium-3 Market Value, 2026-2036 By End User</a:t>
                      </a:r>
                      <a:endParaRPr sz="1050"/>
                    </a:p>
                  </a:txBody>
                  <a:tcPr marL="9525" marR="9525" marT="9525" marB="0" anchor="ctr"/>
                </a:tc>
              </a:tr>
              <a:tr h="170045">
                <a:tc>
                  <a:txBody>
                    <a:bodyPr wrap="square"/>
                    <a:lstStyle/>
                    <a:p>
                      <a:pPr algn="l"/>
                      <a:r>
                        <a:rPr sz="1050" b="0" i="0">
                          <a:solidFill>
                            <a:srgbClr val="000000"/>
                          </a:solidFill>
                          <a:latin typeface="Calibri"/>
                        </a:rPr>
                        <a:t>Figure 258: Middle East and Africa Helium-3 Market Value, 2026-2036 Y-o-Y Comparison By End User</a:t>
                      </a:r>
                      <a:endParaRPr sz="1050"/>
                    </a:p>
                  </a:txBody>
                  <a:tcPr marL="9525" marR="9525" marT="9525" marB="0" anchor="ctr"/>
                </a:tc>
              </a:tr>
              <a:tr h="170045">
                <a:tc>
                  <a:txBody>
                    <a:bodyPr wrap="square"/>
                    <a:lstStyle/>
                    <a:p>
                      <a:pPr algn="l"/>
                      <a:r>
                        <a:rPr sz="1050" b="0" i="0">
                          <a:solidFill>
                            <a:srgbClr val="000000"/>
                          </a:solidFill>
                          <a:latin typeface="Calibri"/>
                        </a:rPr>
                        <a:t>Figure 259: Middle East and Africa Helium-3 Market Value, 2026-2036 BPS Analysis By End User</a:t>
                      </a:r>
                      <a:endParaRPr sz="1050"/>
                    </a:p>
                  </a:txBody>
                  <a:tcPr marL="9525" marR="9525" marT="9525" marB="0" anchor="ctr"/>
                </a:tc>
              </a:tr>
              <a:tr h="170045">
                <a:tc>
                  <a:txBody>
                    <a:bodyPr wrap="square"/>
                    <a:lstStyle/>
                    <a:p>
                      <a:pPr algn="l"/>
                      <a:r>
                        <a:rPr sz="1050" b="0" i="0">
                          <a:solidFill>
                            <a:srgbClr val="000000"/>
                          </a:solidFill>
                          <a:latin typeface="Calibri"/>
                        </a:rPr>
                        <a:t>Figure 260: Middle East and Africa Helium-3 Market Attractiveness Analysis By End User</a:t>
                      </a:r>
                      <a:endParaRPr sz="1050"/>
                    </a:p>
                  </a:txBody>
                  <a:tcPr marL="9525" marR="9525" marT="9525" marB="0" anchor="ctr"/>
                </a:tc>
              </a:tr>
              <a:tr h="170045">
                <a:tc>
                  <a:txBody>
                    <a:bodyPr wrap="square"/>
                    <a:lstStyle/>
                    <a:p>
                      <a:pPr algn="l"/>
                      <a:r>
                        <a:rPr sz="1050" b="0" i="0">
                          <a:solidFill>
                            <a:srgbClr val="000000"/>
                          </a:solidFill>
                          <a:latin typeface="Calibri"/>
                        </a:rPr>
                        <a:t>Figure 261: Middle East and Africa Helium-3 Market Value, 2026-2036 By Region</a:t>
                      </a:r>
                      <a:endParaRPr sz="1050"/>
                    </a:p>
                  </a:txBody>
                  <a:tcPr marL="9525" marR="9525" marT="9525" marB="0" anchor="ctr"/>
                </a:tc>
              </a:tr>
              <a:tr h="170045">
                <a:tc>
                  <a:txBody>
                    <a:bodyPr wrap="square"/>
                    <a:lstStyle/>
                    <a:p>
                      <a:pPr algn="l"/>
                      <a:r>
                        <a:rPr sz="1050" b="0" i="0">
                          <a:solidFill>
                            <a:srgbClr val="000000"/>
                          </a:solidFill>
                          <a:latin typeface="Calibri"/>
                        </a:rPr>
                        <a:t>Figure 262: Middle East and Africa Helium-3 Market Value, 2026-2036 Y-o-Y Comparison By Region</a:t>
                      </a:r>
                      <a:endParaRPr sz="1050"/>
                    </a:p>
                  </a:txBody>
                  <a:tcPr marL="9525" marR="9525" marT="9525" marB="0" anchor="ctr"/>
                </a:tc>
              </a:tr>
              <a:tr h="170045">
                <a:tc>
                  <a:txBody>
                    <a:bodyPr wrap="square"/>
                    <a:lstStyle/>
                    <a:p>
                      <a:pPr algn="l"/>
                      <a:r>
                        <a:rPr sz="1050" b="0" i="0">
                          <a:solidFill>
                            <a:srgbClr val="000000"/>
                          </a:solidFill>
                          <a:latin typeface="Calibri"/>
                        </a:rPr>
                        <a:t>Figure 263: Middle East and Africa Helium-3 Market Value, 2026-2036 BPS Analysis By Region</a:t>
                      </a:r>
                      <a:endParaRPr sz="1050"/>
                    </a:p>
                  </a:txBody>
                  <a:tcPr marL="9525" marR="9525" marT="9525" marB="0" anchor="ctr"/>
                </a:tc>
              </a:tr>
              <a:tr h="170045">
                <a:tc>
                  <a:txBody>
                    <a:bodyPr wrap="square"/>
                    <a:lstStyle/>
                    <a:p>
                      <a:pPr algn="l"/>
                      <a:r>
                        <a:rPr sz="1050" b="0" i="0">
                          <a:solidFill>
                            <a:srgbClr val="000000"/>
                          </a:solidFill>
                          <a:latin typeface="Calibri"/>
                        </a:rPr>
                        <a:t>Figure 264: Middle East and Africa Helium-3 Market Attractiveness Analysis By Region</a:t>
                      </a:r>
                      <a:endParaRPr sz="1050"/>
                    </a:p>
                  </a:txBody>
                  <a:tcPr marL="9525" marR="9525" marT="9525" marB="0" anchor="ctr"/>
                </a:tc>
              </a:tr>
              <a:tr h="170045">
                <a:tc>
                  <a:txBody>
                    <a:bodyPr wrap="square"/>
                    <a:lstStyle/>
                    <a:p>
                      <a:pPr algn="l"/>
                      <a:r>
                        <a:rPr sz="1050" b="0" i="0">
                          <a:solidFill>
                            <a:srgbClr val="000000"/>
                          </a:solidFill>
                          <a:latin typeface="Calibri"/>
                        </a:rPr>
                        <a:t>Figure 265: GCC Countries Helium-3 Market Value, 2026-2036 By Product Form</a:t>
                      </a:r>
                      <a:endParaRPr sz="1050"/>
                    </a:p>
                  </a:txBody>
                  <a:tcPr marL="9525" marR="9525" marT="9525" marB="0" anchor="ctr"/>
                </a:tc>
              </a:tr>
              <a:tr h="170045">
                <a:tc>
                  <a:txBody>
                    <a:bodyPr wrap="square"/>
                    <a:lstStyle/>
                    <a:p>
                      <a:pPr algn="l"/>
                      <a:r>
                        <a:rPr sz="1050" b="0" i="0">
                          <a:solidFill>
                            <a:srgbClr val="000000"/>
                          </a:solidFill>
                          <a:latin typeface="Calibri"/>
                        </a:rPr>
                        <a:t>Figure 266: GCC Countries Helium-3 Market Value, 2026-2036 By Supply Source</a:t>
                      </a:r>
                      <a:endParaRPr sz="1050"/>
                    </a:p>
                  </a:txBody>
                  <a:tcPr marL="9525" marR="9525" marT="9525" marB="0" anchor="ctr"/>
                </a:tc>
              </a:tr>
              <a:tr h="170045">
                <a:tc>
                  <a:txBody>
                    <a:bodyPr wrap="square"/>
                    <a:lstStyle/>
                    <a:p>
                      <a:pPr algn="l"/>
                      <a:r>
                        <a:rPr sz="1050" b="0" i="0">
                          <a:solidFill>
                            <a:srgbClr val="000000"/>
                          </a:solidFill>
                          <a:latin typeface="Calibri"/>
                        </a:rPr>
                        <a:t>Figure 267: GCC Countries Helium-3 Market Value, 2026-2036 By Application</a:t>
                      </a:r>
                      <a:endParaRPr sz="1050"/>
                    </a:p>
                  </a:txBody>
                  <a:tcPr marL="9525" marR="9525" marT="9525" marB="0" anchor="ctr"/>
                </a:tc>
              </a:tr>
              <a:tr h="170045">
                <a:tc>
                  <a:txBody>
                    <a:bodyPr wrap="square"/>
                    <a:lstStyle/>
                    <a:p>
                      <a:pPr algn="l"/>
                      <a:r>
                        <a:rPr sz="1050" b="0" i="0">
                          <a:solidFill>
                            <a:srgbClr val="000000"/>
                          </a:solidFill>
                          <a:latin typeface="Calibri"/>
                        </a:rPr>
                        <a:t>Figure 268: GCC Countries Helium-3 Market Value, 2026-2036 By End User</a:t>
                      </a:r>
                      <a:endParaRPr sz="1050"/>
                    </a:p>
                  </a:txBody>
                  <a:tcPr marL="9525" marR="9525" marT="9525" marB="0" anchor="ctr"/>
                </a:tc>
              </a:tr>
              <a:tr h="170045">
                <a:tc>
                  <a:txBody>
                    <a:bodyPr wrap="square"/>
                    <a:lstStyle/>
                    <a:p>
                      <a:pPr algn="l"/>
                      <a:r>
                        <a:rPr sz="1050" b="0" i="0">
                          <a:solidFill>
                            <a:srgbClr val="000000"/>
                          </a:solidFill>
                          <a:latin typeface="Calibri"/>
                        </a:rPr>
                        <a:t>Figure 269: Turkiye Helium-3 Market Value, 2026-2036 By Product Form</a:t>
                      </a:r>
                      <a:endParaRPr sz="1050"/>
                    </a:p>
                  </a:txBody>
                  <a:tcPr marL="9525" marR="9525" marT="9525" marB="0" anchor="ctr"/>
                </a:tc>
              </a:tr>
              <a:tr h="170045">
                <a:tc>
                  <a:txBody>
                    <a:bodyPr wrap="square"/>
                    <a:lstStyle/>
                    <a:p>
                      <a:pPr algn="l"/>
                      <a:r>
                        <a:rPr sz="1050" b="0" i="0">
                          <a:solidFill>
                            <a:srgbClr val="000000"/>
                          </a:solidFill>
                          <a:latin typeface="Calibri"/>
                        </a:rPr>
                        <a:t>Figure 270: Turkiye Helium-3 Market Value, 2026-2036 By Supply Source</a:t>
                      </a:r>
                      <a:endParaRPr sz="1050"/>
                    </a:p>
                  </a:txBody>
                  <a:tcPr marL="9525" marR="9525" marT="9525" marB="0" anchor="ctr"/>
                </a:tc>
              </a:tr>
              <a:tr h="170045">
                <a:tc>
                  <a:txBody>
                    <a:bodyPr wrap="square"/>
                    <a:lstStyle/>
                    <a:p>
                      <a:pPr algn="l"/>
                      <a:r>
                        <a:rPr sz="1050" b="0" i="0">
                          <a:solidFill>
                            <a:srgbClr val="000000"/>
                          </a:solidFill>
                          <a:latin typeface="Calibri"/>
                        </a:rPr>
                        <a:t>Figure 271: Turkiye Helium-3 Market Value, 2026-2036 By Application</a:t>
                      </a:r>
                      <a:endParaRPr sz="1050"/>
                    </a:p>
                  </a:txBody>
                  <a:tcPr marL="9525" marR="9525" marT="9525" marB="0" anchor="ctr"/>
                </a:tc>
              </a:tr>
              <a:tr h="170045">
                <a:tc>
                  <a:txBody>
                    <a:bodyPr wrap="square"/>
                    <a:lstStyle/>
                    <a:p>
                      <a:pPr algn="l"/>
                      <a:r>
                        <a:rPr sz="1050" b="0" i="0">
                          <a:solidFill>
                            <a:srgbClr val="000000"/>
                          </a:solidFill>
                          <a:latin typeface="Calibri"/>
                        </a:rPr>
                        <a:t>Figure 272: Turkiye Helium-3 Market Value, 2026-2036 By End User</a:t>
                      </a:r>
                      <a:endParaRPr sz="1050"/>
                    </a:p>
                  </a:txBody>
                  <a:tcPr marL="9525" marR="9525" marT="9525" marB="0" anchor="ctr"/>
                </a:tc>
              </a:tr>
              <a:tr h="170045">
                <a:tc>
                  <a:txBody>
                    <a:bodyPr wrap="square"/>
                    <a:lstStyle/>
                    <a:p>
                      <a:pPr algn="l"/>
                      <a:r>
                        <a:rPr sz="1050" b="0" i="0">
                          <a:solidFill>
                            <a:srgbClr val="000000"/>
                          </a:solidFill>
                          <a:latin typeface="Calibri"/>
                        </a:rPr>
                        <a:t>Figure 273: Northern Africa Helium-3 Market Value, 2026-2036 By Product Form</a:t>
                      </a:r>
                      <a:endParaRPr sz="1050"/>
                    </a:p>
                  </a:txBody>
                  <a:tcPr marL="9525" marR="9525" marT="9525" marB="0" anchor="ctr"/>
                </a:tc>
              </a:tr>
              <a:tr h="170045">
                <a:tc>
                  <a:txBody>
                    <a:bodyPr wrap="square"/>
                    <a:lstStyle/>
                    <a:p>
                      <a:pPr algn="l"/>
                      <a:r>
                        <a:rPr sz="1050" b="0" i="0">
                          <a:solidFill>
                            <a:srgbClr val="000000"/>
                          </a:solidFill>
                          <a:latin typeface="Calibri"/>
                        </a:rPr>
                        <a:t>Figure 274: Northern Africa Helium-3 Market Value, 2026-2036 By Supply Source</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100012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275: Northern Africa Helium-3 Market Value, 2026-2036 By Application</a:t>
                      </a:r>
                      <a:endParaRPr sz="1050"/>
                    </a:p>
                  </a:txBody>
                  <a:tcPr marL="9525" marR="9525" marT="9525" marB="0" anchor="ctr"/>
                </a:tc>
              </a:tr>
              <a:tr h="166688">
                <a:tc>
                  <a:txBody>
                    <a:bodyPr wrap="square"/>
                    <a:lstStyle/>
                    <a:p>
                      <a:pPr algn="l"/>
                      <a:r>
                        <a:rPr sz="1050" b="0" i="0">
                          <a:solidFill>
                            <a:srgbClr val="000000"/>
                          </a:solidFill>
                          <a:latin typeface="Calibri"/>
                        </a:rPr>
                        <a:t>Figure 276: Northern Africa Helium-3 Market Value, 2026-2036 By End User</a:t>
                      </a:r>
                      <a:endParaRPr sz="1050"/>
                    </a:p>
                  </a:txBody>
                  <a:tcPr marL="9525" marR="9525" marT="9525" marB="0" anchor="ctr"/>
                </a:tc>
              </a:tr>
              <a:tr h="166688">
                <a:tc>
                  <a:txBody>
                    <a:bodyPr wrap="square"/>
                    <a:lstStyle/>
                    <a:p>
                      <a:pPr algn="l"/>
                      <a:r>
                        <a:rPr sz="1050" b="0" i="0">
                          <a:solidFill>
                            <a:srgbClr val="000000"/>
                          </a:solidFill>
                          <a:latin typeface="Calibri"/>
                        </a:rPr>
                        <a:t>Figure 277: South Africa Helium-3 Market Value, 2026-2036 By Product Form</a:t>
                      </a:r>
                      <a:endParaRPr sz="1050"/>
                    </a:p>
                  </a:txBody>
                  <a:tcPr marL="9525" marR="9525" marT="9525" marB="0" anchor="ctr"/>
                </a:tc>
              </a:tr>
              <a:tr h="166688">
                <a:tc>
                  <a:txBody>
                    <a:bodyPr wrap="square"/>
                    <a:lstStyle/>
                    <a:p>
                      <a:pPr algn="l"/>
                      <a:r>
                        <a:rPr sz="1050" b="0" i="0">
                          <a:solidFill>
                            <a:srgbClr val="000000"/>
                          </a:solidFill>
                          <a:latin typeface="Calibri"/>
                        </a:rPr>
                        <a:t>Figure 278: South Africa Helium-3 Market Value, 2026-2036 By Supply Source</a:t>
                      </a:r>
                      <a:endParaRPr sz="1050"/>
                    </a:p>
                  </a:txBody>
                  <a:tcPr marL="9525" marR="9525" marT="9525" marB="0" anchor="ctr"/>
                </a:tc>
              </a:tr>
              <a:tr h="166688">
                <a:tc>
                  <a:txBody>
                    <a:bodyPr wrap="square"/>
                    <a:lstStyle/>
                    <a:p>
                      <a:pPr algn="l"/>
                      <a:r>
                        <a:rPr sz="1050" b="0" i="0">
                          <a:solidFill>
                            <a:srgbClr val="000000"/>
                          </a:solidFill>
                          <a:latin typeface="Calibri"/>
                        </a:rPr>
                        <a:t>Figure 279: South Africa Helium-3 Market Value, 2026-2036 By Application</a:t>
                      </a:r>
                      <a:endParaRPr sz="1050"/>
                    </a:p>
                  </a:txBody>
                  <a:tcPr marL="9525" marR="9525" marT="9525" marB="0" anchor="ctr"/>
                </a:tc>
              </a:tr>
              <a:tr h="166688">
                <a:tc>
                  <a:txBody>
                    <a:bodyPr wrap="square"/>
                    <a:lstStyle/>
                    <a:p>
                      <a:pPr algn="l"/>
                      <a:r>
                        <a:rPr sz="1050" b="0" i="0">
                          <a:solidFill>
                            <a:srgbClr val="000000"/>
                          </a:solidFill>
                          <a:latin typeface="Calibri"/>
                        </a:rPr>
                        <a:t>Figure 280: South Africa Helium-3 Market Value, 2026-2036 By End User</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(1/5)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 Global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3: Global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4: Global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5: Global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6: Global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7: Global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8: Global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9: Global Helium-3 Market Value, 2021-2036 By Region</a:t>
                      </a:r>
                      <a:endParaRPr sz="1050"/>
                    </a:p>
                  </a:txBody>
                  <a:tcPr marL="9525" marR="9525" marT="9525" marB="0" anchor="ctr"/>
                </a:tc>
              </a:tr>
              <a:tr h="169606">
                <a:tc>
                  <a:txBody>
                    <a:bodyPr wrap="square"/>
                    <a:lstStyle/>
                    <a:p>
                      <a:pPr algn="l"/>
                      <a:r>
                        <a:rPr sz="1050" b="0" i="0">
                          <a:solidFill>
                            <a:srgbClr val="000000"/>
                          </a:solidFill>
                          <a:latin typeface="Calibri"/>
                        </a:rPr>
                        <a:t>Table 10: Global Helium-3 Market Volume,2021-2036 By Region</a:t>
                      </a:r>
                      <a:endParaRPr sz="1050"/>
                    </a:p>
                  </a:txBody>
                  <a:tcPr marL="9525" marR="9525" marT="9525" marB="0" anchor="ctr"/>
                </a:tc>
              </a:tr>
              <a:tr h="169606">
                <a:tc>
                  <a:txBody>
                    <a:bodyPr wrap="square"/>
                    <a:lstStyle/>
                    <a:p>
                      <a:pPr algn="l"/>
                      <a:r>
                        <a:rPr sz="1050" b="0" i="0">
                          <a:solidFill>
                            <a:srgbClr val="000000"/>
                          </a:solidFill>
                          <a:latin typeface="Calibri"/>
                        </a:rPr>
                        <a:t>Table 11: North America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12: North America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13: North America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14: North America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15: North America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16: North America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17: North America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18: North America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19: North America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20: North America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21: U.S.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22: U.S.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23: U.S.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24: U.S.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25: U.S.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26: U.S.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27: U.S.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28: U.S.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29: Canada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30: Canada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31: Canada Helium-3 Market Value, 2021-2036 By Supply Source</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32: Canada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33: Canada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34: Canada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35: Canada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36: Canada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37: Mexico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38: Mexico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39: Mexico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40: Mexico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41: Mexico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42: Mexico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43: Mexico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44: Mexico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45: Latin America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46: Latin America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47: Latin America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48: Latin America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49: Latin America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50: Latin America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51: Latin America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52: Latin America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53: Latin America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54: Latin America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55: Brazil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56: Brazil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57: Brazil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58: Brazil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59: Brazil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60: Brazil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61: Brazil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62: Brazil Helium-3 Market Volume, 2021-2036 By End User</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(2/5)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63: Argentina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64: Argentina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65: Argentina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66: Argentina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67: Argentina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68: Argentina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69: Argentina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70: Argentina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71: Eastern Europe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72: Eastern Europe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73: Eastern Europe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74: Eastern Europe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75: Eastern Europe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76: Eastern Europe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77: Eastern Europe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78: Eastern Europe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79: Eastern Europe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80: Eastern Europe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81: Hungary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82: Hungary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83: Hungary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84: Hungary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85: Hungary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86: Hungary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87: Hungary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88: Hungary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89: Poland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90: Poland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91: Poland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92: Poland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93: Poland Helium-3 Market Value, 2021-2036 By Application</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94: Poland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95: Poland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96: Poland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97: Russia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98: Russia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99: Russia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100: Russia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101: Russia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102: Russia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103: Russia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104: Russia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105: Balkan and Baltics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106: Balkan and Baltics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107: Balkan and Baltics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108: Balkan and Baltics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109: Balkan and Baltics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110: Balkan and Baltics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111: Balkan and Baltics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112: Balkan and Baltics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113: Western Europe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114: Western Europe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115: Western Europe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116: Western Europe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117: Western Europe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118: Western Europe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119: Western Europe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120: Western Europe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121: Western Europe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122: Western Europe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123: Germany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124: Germany Helium-3 Market Volume, 2021-2036 By Product Form</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(3/5)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125: Germany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126: Germany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127: Germany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128: Germany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129: Germany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130: Germany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131: Italy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132: Italy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133: Italy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134: Italy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135: Italy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136: Italy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137: Italy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138: Italy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139: France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140: France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141: France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142: France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143: France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144: France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145: France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146: France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147: U.K.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148: U.K.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149: U.K.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150: U.K.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151: U.K.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152: U.K.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153: U.K.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154: U.K.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155: Spain Helium-3 Market Value, 2021-2036 By Product Form</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156: Spain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157: Spain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158: Spain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159: Spain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160: Spain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161: Spain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162: Spain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163: BENELUX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164: BENELUX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165: BENELUX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166: BENELUX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167: BENELUX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168: BENELUX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169: BENELUX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170: BENELUX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171: Nordics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172: Nordics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173: Nordics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174: Nordics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175: Nordics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176: Nordics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177: Nordics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178: Nordics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179: East Asia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180: East Asia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181: East Asia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182: East Asia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183: East Asia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184: East Asia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185: East Asia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186: East Asia Helium-3 Market Volume, 2021-2036 By End User</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(4/5)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187: East Asia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188: East Asia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189: China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190: China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191: China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192: China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193: China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194: China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195: China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196: China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197: Japan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198: Japan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199: Japan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200: Japan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201: Japan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202: Japan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203: Japan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204: Japan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205: South Korea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206: South Korea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207: South Korea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208: South Korea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209: South Korea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210: South Korea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211: South Korea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212: South Korea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213: South Asia and Pacific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214: South Asia and Pacific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215: South Asia and Pacific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216: South Asia and Pacific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217: South Asia and Pacific Helium-3 Market Value, 2021-2036 By Application</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218: South Asia and Pacific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219: South Asia and Pacific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220: South Asia and Pacific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221: South Asia and Pacific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222: South Asia and Pacific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223: India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224: India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225: India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226: India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227: India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228: India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229: India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230: India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231: ASEAN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232: ASEAN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233: ASEAN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234: ASEAN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235: ASEAN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236: ASEAN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237: ASEAN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238: ASEAN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239: Australia and New Zealand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240: Australia and New Zealand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241: Australia and New Zealand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242: Australia and New Zealand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243: Australia and New Zealand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244: Australia and New Zealand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245: Australia and New Zealand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246: Australia and New Zealand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247: Middle East and Africa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248: Middle East and Africa Helium-3 Market Volume, 2021-2036 By Product Form</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76200"/>
            <a:ext cx="10182225" cy="762000"/>
          </a:xfrm>
          <a:prstGeom prst="rect">
            <a:avLst/>
          </a:prstGeom>
          <a:noFill/>
        </p:spPr>
        <p:txBody>
          <a:bodyPr wrap="square" lIns="28575" rIns="28575" tIns="0" bIns="0" anchor="ctr">
            <a:spAutoFit/>
          </a:bodyPr>
          <a:lstStyle/>
          <a:p>
            <a:pPr algn="l">
              <a:lnSpc>
                <a:spcPct val="90000"/>
              </a:lnSpc>
            </a:pPr>
            <a:r>
              <a:rPr sz="2100" b="1">
                <a:solidFill>
                  <a:srgbClr val="FFFFFF"/>
                </a:solidFill>
                <a:latin typeface="Segoe UI"/>
              </a:rPr>
              <a:t>List of Tables (5/5)</a:t>
            </a:r>
          </a:p>
        </p:txBody>
      </p:sp>
      <p:graphicFrame>
        <p:nvGraphicFramePr>
          <p:cNvPr id="7"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249: Middle East and Africa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250: Middle East and Africa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251: Middle East and Africa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252: Middle East and Africa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253: Middle East and Africa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254: Middle East and Africa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255: Middle East and Africa Helium-3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256: Middle East and Africa Helium-3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257: GCC Countries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258: GCC Countries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259: GCC Countries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260: GCC Countries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261: GCC Countries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262: GCC Countries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263: GCC Countries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264: GCC Countries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265: Turkiye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266: Turkiye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267: Turkiye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268: Turkiye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269: Turkiye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270: Turkiye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271: Turkiye Helium-3 Market Value,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272: Turkiye Helium-3 Market Volume, 2021-2036 By End User</a:t>
                      </a:r>
                      <a:endParaRPr sz="1050"/>
                    </a:p>
                  </a:txBody>
                  <a:tcPr marL="9525" marR="9525" marT="9525" marB="0" anchor="ctr"/>
                </a:tc>
              </a:tr>
              <a:tr h="169606">
                <a:tc>
                  <a:txBody>
                    <a:bodyPr wrap="square"/>
                    <a:lstStyle/>
                    <a:p>
                      <a:pPr algn="l"/>
                      <a:r>
                        <a:rPr sz="1050" b="0" i="0">
                          <a:solidFill>
                            <a:srgbClr val="000000"/>
                          </a:solidFill>
                          <a:latin typeface="Calibri"/>
                        </a:rPr>
                        <a:t>Table 273: Northern Africa Helium-3 Market Value,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274: Northern Africa Helium-3 Market Volume, 2021-2036 By Product Form</a:t>
                      </a:r>
                      <a:endParaRPr sz="1050"/>
                    </a:p>
                  </a:txBody>
                  <a:tcPr marL="9525" marR="9525" marT="9525" marB="0" anchor="ctr"/>
                </a:tc>
              </a:tr>
              <a:tr h="169606">
                <a:tc>
                  <a:txBody>
                    <a:bodyPr wrap="square"/>
                    <a:lstStyle/>
                    <a:p>
                      <a:pPr algn="l"/>
                      <a:r>
                        <a:rPr sz="1050" b="0" i="0">
                          <a:solidFill>
                            <a:srgbClr val="000000"/>
                          </a:solidFill>
                          <a:latin typeface="Calibri"/>
                        </a:rPr>
                        <a:t>Table 275: Northern Africa Helium-3 Market Value,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276: Northern Africa Helium-3 Market Volume, 2021-2036 By Supply Source</a:t>
                      </a:r>
                      <a:endParaRPr sz="1050"/>
                    </a:p>
                  </a:txBody>
                  <a:tcPr marL="9525" marR="9525" marT="9525" marB="0" anchor="ctr"/>
                </a:tc>
              </a:tr>
              <a:tr h="169606">
                <a:tc>
                  <a:txBody>
                    <a:bodyPr wrap="square"/>
                    <a:lstStyle/>
                    <a:p>
                      <a:pPr algn="l"/>
                      <a:r>
                        <a:rPr sz="1050" b="0" i="0">
                          <a:solidFill>
                            <a:srgbClr val="000000"/>
                          </a:solidFill>
                          <a:latin typeface="Calibri"/>
                        </a:rPr>
                        <a:t>Table 277: Northern Africa Helium-3 Market Value,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278: Northern Africa Helium-3 Market Volume, 2021-2036 By Application</a:t>
                      </a:r>
                      <a:endParaRPr sz="1050"/>
                    </a:p>
                  </a:txBody>
                  <a:tcPr marL="9525" marR="9525" marT="9525" marB="0" anchor="ctr"/>
                </a:tc>
              </a:tr>
              <a:tr h="169606">
                <a:tc>
                  <a:txBody>
                    <a:bodyPr wrap="square"/>
                    <a:lstStyle/>
                    <a:p>
                      <a:pPr algn="l"/>
                      <a:r>
                        <a:rPr sz="1050" b="0" i="0">
                          <a:solidFill>
                            <a:srgbClr val="000000"/>
                          </a:solidFill>
                          <a:latin typeface="Calibri"/>
                        </a:rPr>
                        <a:t>Table 279: Northern Africa Helium-3 Market Value, 2021-2036 By End User</a:t>
                      </a:r>
                      <a:endParaRPr sz="1050"/>
                    </a:p>
                  </a:txBody>
                  <a:tcPr marL="9525" marR="9525" marT="9525" marB="0" anchor="ctr"/>
                </a:tc>
              </a:tr>
            </a:tbl>
          </a:graphicData>
        </a:graphic>
      </p:graphicFrame>
      <p:graphicFrame>
        <p:nvGraphicFramePr>
          <p:cNvPr id="8" name="FMI Contents Table"/>
          <p:cNvGraphicFramePr>
            <a:graphicFrameLocks noGrp="1"/>
          </p:cNvGraphicFramePr>
          <p:nvPr/>
        </p:nvGraphicFramePr>
        <p:xfrm>
          <a:off x="6172200" y="981075"/>
          <a:ext cx="5876925" cy="150019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280: Northern Africa Helium-3 Market Volume, 2021-2036 By End User</a:t>
                      </a:r>
                      <a:endParaRPr sz="1050"/>
                    </a:p>
                  </a:txBody>
                  <a:tcPr marL="9525" marR="9525" marT="9525" marB="0" anchor="ctr"/>
                </a:tc>
              </a:tr>
              <a:tr h="166688">
                <a:tc>
                  <a:txBody>
                    <a:bodyPr wrap="square"/>
                    <a:lstStyle/>
                    <a:p>
                      <a:pPr algn="l"/>
                      <a:r>
                        <a:rPr sz="1050" b="0" i="0">
                          <a:solidFill>
                            <a:srgbClr val="000000"/>
                          </a:solidFill>
                          <a:latin typeface="Calibri"/>
                        </a:rPr>
                        <a:t>Table 281: South Africa Helium-3 Market Value, 2021-2036 By Product Form</a:t>
                      </a:r>
                      <a:endParaRPr sz="1050"/>
                    </a:p>
                  </a:txBody>
                  <a:tcPr marL="9525" marR="9525" marT="9525" marB="0" anchor="ctr"/>
                </a:tc>
              </a:tr>
              <a:tr h="166688">
                <a:tc>
                  <a:txBody>
                    <a:bodyPr wrap="square"/>
                    <a:lstStyle/>
                    <a:p>
                      <a:pPr algn="l"/>
                      <a:r>
                        <a:rPr sz="1050" b="0" i="0">
                          <a:solidFill>
                            <a:srgbClr val="000000"/>
                          </a:solidFill>
                          <a:latin typeface="Calibri"/>
                        </a:rPr>
                        <a:t>Table 282: South Africa Helium-3 Market Volume, 2021-2036 By Product Form</a:t>
                      </a:r>
                      <a:endParaRPr sz="1050"/>
                    </a:p>
                  </a:txBody>
                  <a:tcPr marL="9525" marR="9525" marT="9525" marB="0" anchor="ctr"/>
                </a:tc>
              </a:tr>
              <a:tr h="166688">
                <a:tc>
                  <a:txBody>
                    <a:bodyPr wrap="square"/>
                    <a:lstStyle/>
                    <a:p>
                      <a:pPr algn="l"/>
                      <a:r>
                        <a:rPr sz="1050" b="0" i="0">
                          <a:solidFill>
                            <a:srgbClr val="000000"/>
                          </a:solidFill>
                          <a:latin typeface="Calibri"/>
                        </a:rPr>
                        <a:t>Table 283: South Africa Helium-3 Market Value, 2021-2036 By Supply Source</a:t>
                      </a:r>
                      <a:endParaRPr sz="1050"/>
                    </a:p>
                  </a:txBody>
                  <a:tcPr marL="9525" marR="9525" marT="9525" marB="0" anchor="ctr"/>
                </a:tc>
              </a:tr>
              <a:tr h="166688">
                <a:tc>
                  <a:txBody>
                    <a:bodyPr wrap="square"/>
                    <a:lstStyle/>
                    <a:p>
                      <a:pPr algn="l"/>
                      <a:r>
                        <a:rPr sz="1050" b="0" i="0">
                          <a:solidFill>
                            <a:srgbClr val="000000"/>
                          </a:solidFill>
                          <a:latin typeface="Calibri"/>
                        </a:rPr>
                        <a:t>Table 284: South Africa Helium-3 Market Volume, 2021-2036 By Supply Source</a:t>
                      </a:r>
                      <a:endParaRPr sz="1050"/>
                    </a:p>
                  </a:txBody>
                  <a:tcPr marL="9525" marR="9525" marT="9525" marB="0" anchor="ctr"/>
                </a:tc>
              </a:tr>
              <a:tr h="166688">
                <a:tc>
                  <a:txBody>
                    <a:bodyPr wrap="square"/>
                    <a:lstStyle/>
                    <a:p>
                      <a:pPr algn="l"/>
                      <a:r>
                        <a:rPr sz="1050" b="0" i="0">
                          <a:solidFill>
                            <a:srgbClr val="000000"/>
                          </a:solidFill>
                          <a:latin typeface="Calibri"/>
                        </a:rPr>
                        <a:t>Table 285: South Africa Helium-3 Market Value, 2021-2036 By Application</a:t>
                      </a:r>
                      <a:endParaRPr sz="1050"/>
                    </a:p>
                  </a:txBody>
                  <a:tcPr marL="9525" marR="9525" marT="9525" marB="0" anchor="ctr"/>
                </a:tc>
              </a:tr>
              <a:tr h="166688">
                <a:tc>
                  <a:txBody>
                    <a:bodyPr wrap="square"/>
                    <a:lstStyle/>
                    <a:p>
                      <a:pPr algn="l"/>
                      <a:r>
                        <a:rPr sz="1050" b="0" i="0">
                          <a:solidFill>
                            <a:srgbClr val="000000"/>
                          </a:solidFill>
                          <a:latin typeface="Calibri"/>
                        </a:rPr>
                        <a:t>Table 286: South Africa Helium-3 Market Volume, 2021-2036 By Application</a:t>
                      </a:r>
                      <a:endParaRPr sz="1050"/>
                    </a:p>
                  </a:txBody>
                  <a:tcPr marL="9525" marR="9525" marT="9525" marB="0" anchor="ctr"/>
                </a:tc>
              </a:tr>
              <a:tr h="166688">
                <a:tc>
                  <a:txBody>
                    <a:bodyPr wrap="square"/>
                    <a:lstStyle/>
                    <a:p>
                      <a:pPr algn="l"/>
                      <a:r>
                        <a:rPr sz="1050" b="0" i="0">
                          <a:solidFill>
                            <a:srgbClr val="000000"/>
                          </a:solidFill>
                          <a:latin typeface="Calibri"/>
                        </a:rPr>
                        <a:t>Table 287: South Africa Helium-3 Market Value, 2021-2036 By End User</a:t>
                      </a:r>
                      <a:endParaRPr sz="1050"/>
                    </a:p>
                  </a:txBody>
                  <a:tcPr marL="9525" marR="9525" marT="9525" marB="0" anchor="ctr"/>
                </a:tc>
              </a:tr>
              <a:tr h="166688">
                <a:tc>
                  <a:txBody>
                    <a:bodyPr wrap="square"/>
                    <a:lstStyle/>
                    <a:p>
                      <a:pPr algn="l"/>
                      <a:r>
                        <a:rPr sz="1050" b="0" i="0">
                          <a:solidFill>
                            <a:srgbClr val="000000"/>
                          </a:solidFill>
                          <a:latin typeface="Calibri"/>
                        </a:rPr>
                        <a:t>Table 288: South Africa Helium-3 Market Volume, 2021-2036 By End User</a:t>
                      </a:r>
                      <a:endParaRPr sz="1050"/>
                    </a:p>
                  </a:txBody>
                  <a:tcPr marL="9525" marR="9525" marT="9525" marB="0" anchor="ctr"/>
                </a:tc>
              </a:tr>
            </a:tbl>
          </a:graphicData>
        </a:graphic>
      </p:graphicFrame>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22059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2525395"/>
            <a:ext cx="7239000" cy="9715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6874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Overview</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Market Analysis By Region</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Global Market Analysis By Segments</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Product Form</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Supply Source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End User</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Summary, By Volume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volume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(LITRES)</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(LITRES)</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(Litres)</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112821" cy="194310"/>
          </a:xfrm>
          <a:prstGeom prst="rect">
            <a:avLst/>
          </a:prstGeom>
          <a:noFill/>
        </p:spPr>
        <p:txBody>
          <a:bodyPr wrap="none" lIns="0" rIns="0" tIns="0" bIns="0">
            <a:spAutoFit/>
          </a:bodyPr>
          <a:lstStyle/>
          <a:p>
            <a:r>
              <a:rPr sz="1150" b="0">
                <a:solidFill>
                  <a:srgbClr val="252423"/>
                </a:solidFill>
                <a:latin typeface="Segoe UI"/>
              </a:rPr>
              <a:t>Global Helium-3 market is projected to register</a:t>
            </a:r>
          </a:p>
        </p:txBody>
      </p:sp>
      <p:pic>
        <p:nvPicPr>
          <p:cNvPr id="33" name="Picture 32" descr="lock.png"/>
          <p:cNvPicPr>
            <a:picLocks noChangeAspect="1"/>
          </p:cNvPicPr>
          <p:nvPr/>
        </p:nvPicPr>
        <p:blipFill>
          <a:blip r:embed="rId6"/>
          <a:stretch>
            <a:fillRect/>
          </a:stretch>
        </p:blipFill>
        <p:spPr>
          <a:xfrm>
            <a:off x="11110600" y="2036763"/>
            <a:ext cx="134549" cy="195707"/>
          </a:xfrm>
          <a:prstGeom prst="rect">
            <a:avLst/>
          </a:prstGeom>
        </p:spPr>
      </p:pic>
      <p:sp>
        <p:nvSpPr>
          <p:cNvPr id="34" name="TextBox 33"/>
          <p:cNvSpPr txBox="1"/>
          <p:nvPr/>
        </p:nvSpPr>
        <p:spPr>
          <a:xfrm>
            <a:off x="11285709" y="2046987"/>
            <a:ext cx="162346" cy="194310"/>
          </a:xfrm>
          <a:prstGeom prst="rect">
            <a:avLst/>
          </a:prstGeom>
          <a:noFill/>
        </p:spPr>
        <p:txBody>
          <a:bodyPr wrap="none" lIns="0" rIns="0" tIns="0" bIns="0">
            <a:spAutoFit/>
          </a:bodyPr>
          <a:lstStyle/>
          <a:p>
            <a:r>
              <a:rPr sz="1150" b="0">
                <a:solidFill>
                  <a:srgbClr val="252423"/>
                </a:solidFill>
                <a:latin typeface="Segoe UI"/>
              </a:rPr>
              <a:t>X</a:t>
            </a:r>
          </a:p>
        </p:txBody>
      </p:sp>
      <p:sp>
        <p:nvSpPr>
          <p:cNvPr id="35" name="TextBox 34"/>
          <p:cNvSpPr txBox="1"/>
          <p:nvPr/>
        </p:nvSpPr>
        <p:spPr>
          <a:xfrm>
            <a:off x="8048625" y="2222247"/>
            <a:ext cx="3607527" cy="194310"/>
          </a:xfrm>
          <a:prstGeom prst="rect">
            <a:avLst/>
          </a:prstGeom>
          <a:noFill/>
        </p:spPr>
        <p:txBody>
          <a:bodyPr wrap="none" lIns="0" rIns="0" tIns="0" bIns="0">
            <a:spAutoFit/>
          </a:bodyPr>
          <a:lstStyle/>
          <a:p>
            <a:r>
              <a:rPr sz="1150" b="0">
                <a:solidFill>
                  <a:srgbClr val="252423"/>
                </a:solidFill>
                <a:latin typeface="Segoe UI"/>
              </a:rPr>
              <a:t>increase in volume by the end of forecast period, 2036.</a:t>
            </a:r>
          </a:p>
        </p:txBody>
      </p:sp>
      <p:sp>
        <p:nvSpPr>
          <p:cNvPr id="36" name="TextBox 35"/>
          <p:cNvSpPr txBox="1"/>
          <p:nvPr/>
        </p:nvSpPr>
        <p:spPr>
          <a:xfrm>
            <a:off x="8048625" y="2397507"/>
            <a:ext cx="2707845" cy="194310"/>
          </a:xfrm>
          <a:prstGeom prst="rect">
            <a:avLst/>
          </a:prstGeom>
          <a:noFill/>
        </p:spPr>
        <p:txBody>
          <a:bodyPr wrap="none" lIns="0" rIns="0" tIns="0" bIns="0">
            <a:spAutoFit/>
          </a:bodyPr>
          <a:lstStyle/>
          <a:p>
            <a:r>
              <a:rPr sz="1150" b="0">
                <a:solidFill>
                  <a:srgbClr val="252423"/>
                </a:solidFill>
                <a:latin typeface="Segoe UI"/>
              </a:rPr>
              <a:t>Global Helium-3 market volume stood at</a:t>
            </a:r>
          </a:p>
        </p:txBody>
      </p:sp>
      <p:pic>
        <p:nvPicPr>
          <p:cNvPr id="37" name="Picture 36" descr="lock.png"/>
          <p:cNvPicPr>
            <a:picLocks noChangeAspect="1"/>
          </p:cNvPicPr>
          <p:nvPr/>
        </p:nvPicPr>
        <p:blipFill>
          <a:blip r:embed="rId6"/>
          <a:stretch>
            <a:fillRect/>
          </a:stretch>
        </p:blipFill>
        <p:spPr>
          <a:xfrm>
            <a:off x="10705624" y="2387283"/>
            <a:ext cx="134549" cy="195707"/>
          </a:xfrm>
          <a:prstGeom prst="rect">
            <a:avLst/>
          </a:prstGeom>
        </p:spPr>
      </p:pic>
      <p:sp>
        <p:nvSpPr>
          <p:cNvPr id="38" name="TextBox 37"/>
          <p:cNvSpPr txBox="1"/>
          <p:nvPr/>
        </p:nvSpPr>
        <p:spPr>
          <a:xfrm>
            <a:off x="10880733" y="2397507"/>
            <a:ext cx="931930" cy="194310"/>
          </a:xfrm>
          <a:prstGeom prst="rect">
            <a:avLst/>
          </a:prstGeom>
          <a:noFill/>
        </p:spPr>
        <p:txBody>
          <a:bodyPr wrap="none" lIns="0" rIns="0" tIns="0" bIns="0">
            <a:spAutoFit/>
          </a:bodyPr>
          <a:lstStyle/>
          <a:p>
            <a:r>
              <a:rPr sz="1150" b="0">
                <a:solidFill>
                  <a:srgbClr val="252423"/>
                </a:solidFill>
                <a:latin typeface="Segoe UI"/>
              </a:rPr>
              <a:t>Litres in 2025</a:t>
            </a:r>
          </a:p>
        </p:txBody>
      </p:sp>
      <p:sp>
        <p:nvSpPr>
          <p:cNvPr id="39" name="TextBox 38"/>
          <p:cNvSpPr txBox="1"/>
          <p:nvPr/>
        </p:nvSpPr>
        <p:spPr>
          <a:xfrm>
            <a:off x="8048625" y="2572767"/>
            <a:ext cx="1649308" cy="194310"/>
          </a:xfrm>
          <a:prstGeom prst="rect">
            <a:avLst/>
          </a:prstGeom>
          <a:noFill/>
        </p:spPr>
        <p:txBody>
          <a:bodyPr wrap="none" lIns="0" rIns="0" tIns="0" bIns="0">
            <a:spAutoFit/>
          </a:bodyPr>
          <a:lstStyle/>
          <a:p>
            <a:r>
              <a:rPr sz="1150" b="0">
                <a:solidFill>
                  <a:srgbClr val="252423"/>
                </a:solidFill>
                <a:latin typeface="Segoe UI"/>
              </a:rPr>
              <a:t>and is expected to reach</a:t>
            </a:r>
          </a:p>
        </p:txBody>
      </p:sp>
      <p:pic>
        <p:nvPicPr>
          <p:cNvPr id="40" name="Picture 39" descr="lock.png"/>
          <p:cNvPicPr>
            <a:picLocks noChangeAspect="1"/>
          </p:cNvPicPr>
          <p:nvPr/>
        </p:nvPicPr>
        <p:blipFill>
          <a:blip r:embed="rId6"/>
          <a:stretch>
            <a:fillRect/>
          </a:stretch>
        </p:blipFill>
        <p:spPr>
          <a:xfrm>
            <a:off x="9647087" y="2562543"/>
            <a:ext cx="134549" cy="195707"/>
          </a:xfrm>
          <a:prstGeom prst="rect">
            <a:avLst/>
          </a:prstGeom>
        </p:spPr>
      </p:pic>
      <p:sp>
        <p:nvSpPr>
          <p:cNvPr id="41" name="TextBox 40"/>
          <p:cNvSpPr txBox="1"/>
          <p:nvPr/>
        </p:nvSpPr>
        <p:spPr>
          <a:xfrm>
            <a:off x="9822196" y="2572767"/>
            <a:ext cx="1977640" cy="194310"/>
          </a:xfrm>
          <a:prstGeom prst="rect">
            <a:avLst/>
          </a:prstGeom>
          <a:noFill/>
        </p:spPr>
        <p:txBody>
          <a:bodyPr wrap="none" lIns="0" rIns="0" tIns="0" bIns="0">
            <a:spAutoFit/>
          </a:bodyPr>
          <a:lstStyle/>
          <a:p>
            <a:r>
              <a:rPr sz="1150" b="0">
                <a:solidFill>
                  <a:srgbClr val="252423"/>
                </a:solidFill>
                <a:latin typeface="Segoe UI"/>
              </a:rPr>
              <a:t>Litres by 2036 end, at a CAGR</a:t>
            </a:r>
          </a:p>
        </p:txBody>
      </p:sp>
      <p:sp>
        <p:nvSpPr>
          <p:cNvPr id="42" name="TextBox 41"/>
          <p:cNvSpPr txBox="1"/>
          <p:nvPr/>
        </p:nvSpPr>
        <p:spPr>
          <a:xfrm>
            <a:off x="8048625" y="2748027"/>
            <a:ext cx="207376" cy="194310"/>
          </a:xfrm>
          <a:prstGeom prst="rect">
            <a:avLst/>
          </a:prstGeom>
          <a:noFill/>
        </p:spPr>
        <p:txBody>
          <a:bodyPr wrap="none" lIns="0" rIns="0" tIns="0" bIns="0">
            <a:spAutoFit/>
          </a:bodyPr>
          <a:lstStyle/>
          <a:p>
            <a:r>
              <a:rPr sz="1150" b="0">
                <a:solidFill>
                  <a:srgbClr val="252423"/>
                </a:solidFill>
                <a:latin typeface="Segoe UI"/>
              </a:rPr>
              <a:t>of</a:t>
            </a:r>
          </a:p>
        </p:txBody>
      </p:sp>
      <p:pic>
        <p:nvPicPr>
          <p:cNvPr id="43" name="Picture 42" descr="lock.png"/>
          <p:cNvPicPr>
            <a:picLocks noChangeAspect="1"/>
          </p:cNvPicPr>
          <p:nvPr/>
        </p:nvPicPr>
        <p:blipFill>
          <a:blip r:embed="rId6"/>
          <a:stretch>
            <a:fillRect/>
          </a:stretch>
        </p:blipFill>
        <p:spPr>
          <a:xfrm>
            <a:off x="8205155" y="2737803"/>
            <a:ext cx="134549" cy="195707"/>
          </a:xfrm>
          <a:prstGeom prst="rect">
            <a:avLst/>
          </a:prstGeom>
        </p:spPr>
      </p:pic>
      <p:sp>
        <p:nvSpPr>
          <p:cNvPr id="44" name="TextBox 43"/>
          <p:cNvSpPr txBox="1"/>
          <p:nvPr/>
        </p:nvSpPr>
        <p:spPr>
          <a:xfrm>
            <a:off x="8380264" y="274802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5" name="TextBox 44"/>
          <p:cNvSpPr txBox="1"/>
          <p:nvPr/>
        </p:nvSpPr>
        <p:spPr>
          <a:xfrm>
            <a:off x="8048625" y="2975864"/>
            <a:ext cx="3585086" cy="194310"/>
          </a:xfrm>
          <a:prstGeom prst="rect">
            <a:avLst/>
          </a:prstGeom>
          <a:noFill/>
        </p:spPr>
        <p:txBody>
          <a:bodyPr wrap="none" lIns="0" rIns="0" tIns="0" bIns="0">
            <a:spAutoFit/>
          </a:bodyPr>
          <a:lstStyle/>
          <a:p>
            <a:r>
              <a:rPr sz="1150" b="0">
                <a:solidFill>
                  <a:srgbClr val="252423"/>
                </a:solidFill>
                <a:latin typeface="Segoe UI"/>
              </a:rPr>
              <a:t>Value is projected to grow faster than volume over the</a:t>
            </a:r>
          </a:p>
        </p:txBody>
      </p:sp>
      <p:sp>
        <p:nvSpPr>
          <p:cNvPr id="46" name="TextBox 45"/>
          <p:cNvSpPr txBox="1"/>
          <p:nvPr/>
        </p:nvSpPr>
        <p:spPr>
          <a:xfrm>
            <a:off x="8048625" y="3151124"/>
            <a:ext cx="3612969" cy="194310"/>
          </a:xfrm>
          <a:prstGeom prst="rect">
            <a:avLst/>
          </a:prstGeom>
          <a:noFill/>
        </p:spPr>
        <p:txBody>
          <a:bodyPr wrap="none" lIns="0" rIns="0" tIns="0" bIns="0">
            <a:spAutoFit/>
          </a:bodyPr>
          <a:lstStyle/>
          <a:p>
            <a:r>
              <a:rPr sz="1150" b="0">
                <a:solidFill>
                  <a:srgbClr val="252423"/>
                </a:solidFill>
                <a:latin typeface="Segoe UI"/>
              </a:rPr>
              <a:t>forecast period, owing to an increase in average selling</a:t>
            </a:r>
          </a:p>
        </p:txBody>
      </p:sp>
      <p:sp>
        <p:nvSpPr>
          <p:cNvPr id="47" name="TextBox 46"/>
          <p:cNvSpPr txBox="1"/>
          <p:nvPr/>
        </p:nvSpPr>
        <p:spPr>
          <a:xfrm>
            <a:off x="8048625" y="3326384"/>
            <a:ext cx="423924" cy="194310"/>
          </a:xfrm>
          <a:prstGeom prst="rect">
            <a:avLst/>
          </a:prstGeom>
          <a:noFill/>
        </p:spPr>
        <p:txBody>
          <a:bodyPr wrap="none" lIns="0" rIns="0" tIns="0" bIns="0">
            <a:spAutoFit/>
          </a:bodyPr>
          <a:lstStyle/>
          <a:p>
            <a:r>
              <a:rPr sz="1150" b="0">
                <a:solidFill>
                  <a:srgbClr val="252423"/>
                </a:solidFill>
                <a:latin typeface="Segoe UI"/>
              </a:rPr>
              <a:t>price.</a:t>
            </a:r>
          </a:p>
        </p:txBody>
      </p:sp>
      <p:sp>
        <p:nvSpPr>
          <p:cNvPr id="48" name="TextBox 47"/>
          <p:cNvSpPr txBox="1"/>
          <p:nvPr/>
        </p:nvSpPr>
        <p:spPr>
          <a:xfrm>
            <a:off x="8048625" y="4456475"/>
            <a:ext cx="3129138" cy="194310"/>
          </a:xfrm>
          <a:prstGeom prst="rect">
            <a:avLst/>
          </a:prstGeom>
          <a:noFill/>
        </p:spPr>
        <p:txBody>
          <a:bodyPr wrap="none" lIns="0" rIns="0" tIns="0" bIns="0">
            <a:spAutoFit/>
          </a:bodyPr>
          <a:lstStyle/>
          <a:p>
            <a:r>
              <a:rPr sz="1150" b="0">
                <a:solidFill>
                  <a:srgbClr val="252423"/>
                </a:solidFill>
                <a:latin typeface="Segoe UI"/>
              </a:rPr>
              <a:t>▪ 'South Asia &amp; Pacific' leads regional growth at</a:t>
            </a:r>
          </a:p>
        </p:txBody>
      </p:sp>
      <p:pic>
        <p:nvPicPr>
          <p:cNvPr id="49" name="Picture 48" descr="lock.png"/>
          <p:cNvPicPr>
            <a:picLocks noChangeAspect="1"/>
          </p:cNvPicPr>
          <p:nvPr/>
        </p:nvPicPr>
        <p:blipFill>
          <a:blip r:embed="rId6"/>
          <a:stretch>
            <a:fillRect/>
          </a:stretch>
        </p:blipFill>
        <p:spPr>
          <a:xfrm>
            <a:off x="11126917" y="4446251"/>
            <a:ext cx="134549" cy="195707"/>
          </a:xfrm>
          <a:prstGeom prst="rect">
            <a:avLst/>
          </a:prstGeom>
        </p:spPr>
      </p:pic>
      <p:sp>
        <p:nvSpPr>
          <p:cNvPr id="50" name="TextBox 49"/>
          <p:cNvSpPr txBox="1"/>
          <p:nvPr/>
        </p:nvSpPr>
        <p:spPr>
          <a:xfrm>
            <a:off x="11302027"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1" name="TextBox 50"/>
          <p:cNvSpPr txBox="1"/>
          <p:nvPr/>
        </p:nvSpPr>
        <p:spPr>
          <a:xfrm>
            <a:off x="8048625" y="4684312"/>
            <a:ext cx="3457581" cy="194310"/>
          </a:xfrm>
          <a:prstGeom prst="rect">
            <a:avLst/>
          </a:prstGeom>
          <a:noFill/>
        </p:spPr>
        <p:txBody>
          <a:bodyPr wrap="none" lIns="0" rIns="0" tIns="0" bIns="0">
            <a:spAutoFit/>
          </a:bodyPr>
          <a:lstStyle/>
          <a:p>
            <a:r>
              <a:rPr sz="1150" b="0">
                <a:solidFill>
                  <a:srgbClr val="252423"/>
                </a:solidFill>
                <a:latin typeface="Segoe UI"/>
              </a:rPr>
              <a:t>▪ Demand concentrates in 'Gaseous Helium-3' within</a:t>
            </a:r>
          </a:p>
        </p:txBody>
      </p:sp>
      <p:sp>
        <p:nvSpPr>
          <p:cNvPr id="52" name="TextBox 51"/>
          <p:cNvSpPr txBox="1"/>
          <p:nvPr/>
        </p:nvSpPr>
        <p:spPr>
          <a:xfrm>
            <a:off x="8048625" y="4859572"/>
            <a:ext cx="985553" cy="194310"/>
          </a:xfrm>
          <a:prstGeom prst="rect">
            <a:avLst/>
          </a:prstGeom>
          <a:noFill/>
        </p:spPr>
        <p:txBody>
          <a:bodyPr wrap="none" lIns="0" rIns="0" tIns="0" bIns="0">
            <a:spAutoFit/>
          </a:bodyPr>
          <a:lstStyle/>
          <a:p>
            <a:r>
              <a:rPr sz="1150" b="0">
                <a:solidFill>
                  <a:srgbClr val="252423"/>
                </a:solidFill>
                <a:latin typeface="Segoe UI"/>
              </a:rPr>
              <a:t>Product Form.</a:t>
            </a:r>
          </a:p>
        </p:txBody>
      </p:sp>
      <p:sp>
        <p:nvSpPr>
          <p:cNvPr id="53" name="TextBox 52"/>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54" name="TextBox 53"/>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55"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region, highlighting where pricing power sits</a:t>
            </a:r>
          </a:p>
        </p:txBody>
      </p:sp>
      <p:sp>
        <p:nvSpPr>
          <p:cNvPr id="8" name="Rectangle 7"/>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Product Form  ·  range across 2021–2036 (US$/Litres)</a:t>
            </a:r>
          </a:p>
        </p:txBody>
      </p:sp>
      <p:cxnSp>
        <p:nvCxnSpPr>
          <p:cNvPr id="10" name="Connector 9"/>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1"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2"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3"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cxnSp>
        <p:nvCxnSpPr>
          <p:cNvPr id="24" name="Connector 23"/>
          <p:cNvCxnSpPr/>
          <p:nvPr/>
        </p:nvCxnSpPr>
        <p:spPr>
          <a:xfrm flipV="1">
            <a:off x="2409825" y="1670329"/>
            <a:ext cx="0" cy="62531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278380" y="22956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190750" y="1811109"/>
            <a:ext cx="438150" cy="313078"/>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2190750" y="1962529"/>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0" name="Connector 29"/>
          <p:cNvCxnSpPr/>
          <p:nvPr/>
        </p:nvCxnSpPr>
        <p:spPr>
          <a:xfrm flipV="1">
            <a:off x="5915025" y="2587129"/>
            <a:ext cx="0" cy="53242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25871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95950" y="2706362"/>
            <a:ext cx="438150" cy="26651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695950" y="2835044"/>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62425" y="24347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36" name="TextBox 35"/>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Gaseous Helium-3</a:t>
            </a:r>
          </a:p>
        </p:txBody>
      </p:sp>
      <p:sp>
        <p:nvSpPr>
          <p:cNvPr id="37" name="TextBox 36"/>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Liquid Helium-3</a:t>
            </a:r>
          </a:p>
        </p:txBody>
      </p:sp>
      <p:sp>
        <p:nvSpPr>
          <p:cNvPr id="38" name="Rectangle 37"/>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Region vs Global  ·  2026–2036</a:t>
            </a:r>
          </a:p>
        </p:txBody>
      </p:sp>
      <p:cxnSp>
        <p:nvCxnSpPr>
          <p:cNvPr id="40" name="Connector 39"/>
          <p:cNvCxnSpPr/>
          <p:nvPr/>
        </p:nvCxnSpPr>
        <p:spPr>
          <a:xfrm>
            <a:off x="619125" y="431708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9125" y="47284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5511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9624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4317081"/>
            <a:ext cx="0" cy="16453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90550" y="431708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72842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513977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55112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96247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1" name="FMI Scale tick"/>
          <p:cNvSpPr txBox="1"/>
          <p:nvPr/>
        </p:nvSpPr>
        <p:spPr>
          <a:xfrm>
            <a:off x="219075" y="4250406"/>
            <a:ext cx="361950" cy="133350"/>
          </a:xfrm>
          <a:prstGeom prst="rect">
            <a:avLst/>
          </a:prstGeom>
          <a:noFill/>
        </p:spPr>
        <p:txBody>
          <a:bodyPr wrap="none" lIns="0" rIns="0" tIns="0" bIns="0" anchor="ctr">
            <a:spAutoFit/>
          </a:bodyPr>
          <a:lstStyle/>
          <a:p>
            <a:pPr algn="r"/>
            <a:r>
              <a:rPr sz="1100" b="0">
                <a:solidFill>
                  <a:srgbClr val="605E5C"/>
                </a:solidFill>
                <a:latin typeface="Segoe UI"/>
              </a:rPr>
              <a:t>+56%</a:t>
            </a:r>
          </a:p>
        </p:txBody>
      </p:sp>
      <p:sp>
        <p:nvSpPr>
          <p:cNvPr id="52" name="FMI Scale tick"/>
          <p:cNvSpPr txBox="1"/>
          <p:nvPr/>
        </p:nvSpPr>
        <p:spPr>
          <a:xfrm>
            <a:off x="219075" y="4661753"/>
            <a:ext cx="361950" cy="133350"/>
          </a:xfrm>
          <a:prstGeom prst="rect">
            <a:avLst/>
          </a:prstGeom>
          <a:noFill/>
        </p:spPr>
        <p:txBody>
          <a:bodyPr wrap="none" lIns="0" rIns="0" tIns="0" bIns="0" anchor="ctr">
            <a:spAutoFit/>
          </a:bodyPr>
          <a:lstStyle/>
          <a:p>
            <a:pPr algn="r"/>
            <a:r>
              <a:rPr sz="1100" b="0">
                <a:solidFill>
                  <a:srgbClr val="605E5C"/>
                </a:solidFill>
                <a:latin typeface="Segoe UI"/>
              </a:rPr>
              <a:t>+28%</a:t>
            </a:r>
          </a:p>
        </p:txBody>
      </p:sp>
      <p:sp>
        <p:nvSpPr>
          <p:cNvPr id="53" name="FMI Scale tick"/>
          <p:cNvSpPr txBox="1"/>
          <p:nvPr/>
        </p:nvSpPr>
        <p:spPr>
          <a:xfrm>
            <a:off x="57150" y="5073101"/>
            <a:ext cx="526219" cy="133350"/>
          </a:xfrm>
          <a:prstGeom prst="rect">
            <a:avLst/>
          </a:prstGeom>
          <a:noFill/>
        </p:spPr>
        <p:txBody>
          <a:bodyPr wrap="square" lIns="28575" rIns="28575" tIns="9525" bIns="9525" anchor="ctr">
            <a:spAutoFit/>
          </a:bodyPr>
          <a:lstStyle/>
          <a:p>
            <a:pPr algn="r"/>
            <a:r>
              <a:rPr sz="1100" b="1">
                <a:solidFill>
                  <a:srgbClr val="605E5C"/>
                </a:solidFill>
                <a:latin typeface="Segoe UI"/>
              </a:rPr>
              <a:t>Global</a:t>
            </a:r>
          </a:p>
        </p:txBody>
      </p:sp>
      <p:sp>
        <p:nvSpPr>
          <p:cNvPr id="54" name="FMI Scale tick"/>
          <p:cNvSpPr txBox="1"/>
          <p:nvPr/>
        </p:nvSpPr>
        <p:spPr>
          <a:xfrm>
            <a:off x="219075" y="5484448"/>
            <a:ext cx="361950" cy="133350"/>
          </a:xfrm>
          <a:prstGeom prst="rect">
            <a:avLst/>
          </a:prstGeom>
          <a:noFill/>
        </p:spPr>
        <p:txBody>
          <a:bodyPr wrap="none" lIns="0" rIns="0" tIns="0" bIns="0" anchor="ctr">
            <a:spAutoFit/>
          </a:bodyPr>
          <a:lstStyle/>
          <a:p>
            <a:pPr algn="r"/>
            <a:r>
              <a:rPr sz="1100" b="0">
                <a:solidFill>
                  <a:srgbClr val="605E5C"/>
                </a:solidFill>
                <a:latin typeface="Segoe UI"/>
              </a:rPr>
              <a:t>-28%</a:t>
            </a:r>
          </a:p>
        </p:txBody>
      </p:sp>
      <p:sp>
        <p:nvSpPr>
          <p:cNvPr id="55" name="FMI Scale tick"/>
          <p:cNvSpPr txBox="1"/>
          <p:nvPr/>
        </p:nvSpPr>
        <p:spPr>
          <a:xfrm>
            <a:off x="219075" y="5895796"/>
            <a:ext cx="361950" cy="133350"/>
          </a:xfrm>
          <a:prstGeom prst="rect">
            <a:avLst/>
          </a:prstGeom>
          <a:noFill/>
        </p:spPr>
        <p:txBody>
          <a:bodyPr wrap="none" lIns="0" rIns="0" tIns="0" bIns="0" anchor="ctr">
            <a:spAutoFit/>
          </a:bodyPr>
          <a:lstStyle/>
          <a:p>
            <a:pPr algn="r"/>
            <a:r>
              <a:rPr sz="1100" b="0">
                <a:solidFill>
                  <a:srgbClr val="605E5C"/>
                </a:solidFill>
                <a:latin typeface="Segoe UI"/>
              </a:rPr>
              <a:t>-56%</a:t>
            </a:r>
          </a:p>
        </p:txBody>
      </p:sp>
      <p:cxnSp>
        <p:nvCxnSpPr>
          <p:cNvPr id="56" name="Connector 55"/>
          <p:cNvCxnSpPr/>
          <p:nvPr/>
        </p:nvCxnSpPr>
        <p:spPr>
          <a:xfrm>
            <a:off x="619125" y="513977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893989" y="4423458"/>
            <a:ext cx="457200" cy="71631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9" name="Rectangle 58"/>
          <p:cNvSpPr/>
          <p:nvPr/>
        </p:nvSpPr>
        <p:spPr>
          <a:xfrm>
            <a:off x="1900918" y="5103163"/>
            <a:ext cx="457200" cy="36612"/>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1626054" y="4960288"/>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1" name="Rectangle 60"/>
          <p:cNvSpPr/>
          <p:nvPr/>
        </p:nvSpPr>
        <p:spPr>
          <a:xfrm>
            <a:off x="2907846" y="5139776"/>
            <a:ext cx="457200" cy="41268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2632982" y="5561985"/>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3" name="Rectangle 62"/>
          <p:cNvSpPr/>
          <p:nvPr/>
        </p:nvSpPr>
        <p:spPr>
          <a:xfrm>
            <a:off x="3914775" y="5139776"/>
            <a:ext cx="457200" cy="528830"/>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3639911" y="5678131"/>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5" name="Rectangle 64"/>
          <p:cNvSpPr/>
          <p:nvPr/>
        </p:nvSpPr>
        <p:spPr>
          <a:xfrm>
            <a:off x="4921704" y="4590074"/>
            <a:ext cx="457200" cy="549702"/>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4646839" y="4447199"/>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7" name="Rectangle 66"/>
          <p:cNvSpPr/>
          <p:nvPr/>
        </p:nvSpPr>
        <p:spPr>
          <a:xfrm>
            <a:off x="5928632" y="4944313"/>
            <a:ext cx="457200" cy="195463"/>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5653768" y="4801438"/>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9" name="Rectangle 68"/>
          <p:cNvSpPr/>
          <p:nvPr/>
        </p:nvSpPr>
        <p:spPr>
          <a:xfrm>
            <a:off x="6935561" y="5139776"/>
            <a:ext cx="457200" cy="60032"/>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6660696" y="5209333"/>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1" name="TextBox 70"/>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North America</a:t>
            </a:r>
          </a:p>
        </p:txBody>
      </p:sp>
      <p:sp>
        <p:nvSpPr>
          <p:cNvPr id="72" name="TextBox 71"/>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Latin America</a:t>
            </a:r>
          </a:p>
        </p:txBody>
      </p:sp>
      <p:sp>
        <p:nvSpPr>
          <p:cNvPr id="73" name="TextBox 72"/>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 Asia</a:t>
            </a:r>
          </a:p>
        </p:txBody>
      </p:sp>
      <p:sp>
        <p:nvSpPr>
          <p:cNvPr id="74" name="TextBox 73"/>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South Asia &amp; Pacific</a:t>
            </a:r>
          </a:p>
        </p:txBody>
      </p:sp>
      <p:sp>
        <p:nvSpPr>
          <p:cNvPr id="75" name="TextBox 74"/>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Western Europe</a:t>
            </a:r>
          </a:p>
        </p:txBody>
      </p:sp>
      <p:sp>
        <p:nvSpPr>
          <p:cNvPr id="76" name="TextBox 75"/>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Eastern Europe</a:t>
            </a:r>
          </a:p>
        </p:txBody>
      </p:sp>
      <p:sp>
        <p:nvSpPr>
          <p:cNvPr id="77" name="TextBox 76"/>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Middle East &amp; Africa</a:t>
            </a:r>
          </a:p>
        </p:txBody>
      </p:sp>
      <p:sp>
        <p:nvSpPr>
          <p:cNvPr id="78" name="Rectangle 77"/>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80" name="Rectangle 79"/>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82" name="TextBox 8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83" name="Picture 82" descr="lock.png"/>
          <p:cNvPicPr>
            <a:picLocks noChangeAspect="1"/>
          </p:cNvPicPr>
          <p:nvPr/>
        </p:nvPicPr>
        <p:blipFill>
          <a:blip r:embed="rId4"/>
          <a:stretch>
            <a:fillRect/>
          </a:stretch>
        </p:blipFill>
        <p:spPr>
          <a:xfrm>
            <a:off x="2345475" y="1491005"/>
            <a:ext cx="128699" cy="187198"/>
          </a:xfrm>
          <a:prstGeom prst="rect">
            <a:avLst/>
          </a:prstGeom>
        </p:spPr>
      </p:pic>
      <p:pic>
        <p:nvPicPr>
          <p:cNvPr id="84" name="Picture 83" descr="lock.png"/>
          <p:cNvPicPr>
            <a:picLocks noChangeAspect="1"/>
          </p:cNvPicPr>
          <p:nvPr/>
        </p:nvPicPr>
        <p:blipFill>
          <a:blip r:embed="rId4"/>
          <a:stretch>
            <a:fillRect/>
          </a:stretch>
        </p:blipFill>
        <p:spPr>
          <a:xfrm>
            <a:off x="5850675" y="2407805"/>
            <a:ext cx="128699" cy="187198"/>
          </a:xfrm>
          <a:prstGeom prst="rect">
            <a:avLst/>
          </a:prstGeom>
        </p:spPr>
      </p:pic>
      <p:pic>
        <p:nvPicPr>
          <p:cNvPr id="85" name="Picture 84" descr="lock.png"/>
          <p:cNvPicPr>
            <a:picLocks noChangeAspect="1"/>
          </p:cNvPicPr>
          <p:nvPr/>
        </p:nvPicPr>
        <p:blipFill>
          <a:blip r:embed="rId4"/>
          <a:stretch>
            <a:fillRect/>
          </a:stretch>
        </p:blipFill>
        <p:spPr>
          <a:xfrm>
            <a:off x="1058240" y="4253659"/>
            <a:ext cx="128699" cy="187198"/>
          </a:xfrm>
          <a:prstGeom prst="rect">
            <a:avLst/>
          </a:prstGeom>
        </p:spPr>
      </p:pic>
      <p:pic>
        <p:nvPicPr>
          <p:cNvPr id="86" name="Picture 85" descr="lock.png"/>
          <p:cNvPicPr>
            <a:picLocks noChangeAspect="1"/>
          </p:cNvPicPr>
          <p:nvPr/>
        </p:nvPicPr>
        <p:blipFill>
          <a:blip r:embed="rId4"/>
          <a:stretch>
            <a:fillRect/>
          </a:stretch>
        </p:blipFill>
        <p:spPr>
          <a:xfrm>
            <a:off x="2065168" y="4933363"/>
            <a:ext cx="128699" cy="187198"/>
          </a:xfrm>
          <a:prstGeom prst="rect">
            <a:avLst/>
          </a:prstGeom>
        </p:spPr>
      </p:pic>
      <p:pic>
        <p:nvPicPr>
          <p:cNvPr id="87" name="Picture 86" descr="lock.png"/>
          <p:cNvPicPr>
            <a:picLocks noChangeAspect="1"/>
          </p:cNvPicPr>
          <p:nvPr/>
        </p:nvPicPr>
        <p:blipFill>
          <a:blip r:embed="rId4"/>
          <a:stretch>
            <a:fillRect/>
          </a:stretch>
        </p:blipFill>
        <p:spPr>
          <a:xfrm>
            <a:off x="3072097" y="5535060"/>
            <a:ext cx="128699" cy="187198"/>
          </a:xfrm>
          <a:prstGeom prst="rect">
            <a:avLst/>
          </a:prstGeom>
        </p:spPr>
      </p:pic>
      <p:pic>
        <p:nvPicPr>
          <p:cNvPr id="88" name="Picture 87" descr="lock.png"/>
          <p:cNvPicPr>
            <a:picLocks noChangeAspect="1"/>
          </p:cNvPicPr>
          <p:nvPr/>
        </p:nvPicPr>
        <p:blipFill>
          <a:blip r:embed="rId4"/>
          <a:stretch>
            <a:fillRect/>
          </a:stretch>
        </p:blipFill>
        <p:spPr>
          <a:xfrm>
            <a:off x="4079026" y="5651206"/>
            <a:ext cx="128699" cy="187198"/>
          </a:xfrm>
          <a:prstGeom prst="rect">
            <a:avLst/>
          </a:prstGeom>
        </p:spPr>
      </p:pic>
      <p:pic>
        <p:nvPicPr>
          <p:cNvPr id="89" name="Picture 88" descr="lock.png"/>
          <p:cNvPicPr>
            <a:picLocks noChangeAspect="1"/>
          </p:cNvPicPr>
          <p:nvPr/>
        </p:nvPicPr>
        <p:blipFill>
          <a:blip r:embed="rId4"/>
          <a:stretch>
            <a:fillRect/>
          </a:stretch>
        </p:blipFill>
        <p:spPr>
          <a:xfrm>
            <a:off x="5085954" y="4420275"/>
            <a:ext cx="128699" cy="187198"/>
          </a:xfrm>
          <a:prstGeom prst="rect">
            <a:avLst/>
          </a:prstGeom>
        </p:spPr>
      </p:pic>
      <p:pic>
        <p:nvPicPr>
          <p:cNvPr id="90" name="Picture 89" descr="lock.png"/>
          <p:cNvPicPr>
            <a:picLocks noChangeAspect="1"/>
          </p:cNvPicPr>
          <p:nvPr/>
        </p:nvPicPr>
        <p:blipFill>
          <a:blip r:embed="rId4"/>
          <a:stretch>
            <a:fillRect/>
          </a:stretch>
        </p:blipFill>
        <p:spPr>
          <a:xfrm>
            <a:off x="6092883" y="4774514"/>
            <a:ext cx="128699" cy="187198"/>
          </a:xfrm>
          <a:prstGeom prst="rect">
            <a:avLst/>
          </a:prstGeom>
        </p:spPr>
      </p:pic>
      <p:pic>
        <p:nvPicPr>
          <p:cNvPr id="91" name="Picture 90" descr="lock.png"/>
          <p:cNvPicPr>
            <a:picLocks noChangeAspect="1"/>
          </p:cNvPicPr>
          <p:nvPr/>
        </p:nvPicPr>
        <p:blipFill>
          <a:blip r:embed="rId4"/>
          <a:stretch>
            <a:fillRect/>
          </a:stretch>
        </p:blipFill>
        <p:spPr>
          <a:xfrm>
            <a:off x="7099811" y="5182408"/>
            <a:ext cx="128699" cy="187198"/>
          </a:xfrm>
          <a:prstGeom prst="rect">
            <a:avLst/>
          </a:prstGeom>
        </p:spPr>
      </p:pic>
      <p:sp>
        <p:nvSpPr>
          <p:cNvPr id="92" name="TextBox 91"/>
          <p:cNvSpPr txBox="1"/>
          <p:nvPr/>
        </p:nvSpPr>
        <p:spPr>
          <a:xfrm>
            <a:off x="8048625" y="1471995"/>
            <a:ext cx="3729696" cy="194310"/>
          </a:xfrm>
          <a:prstGeom prst="rect">
            <a:avLst/>
          </a:prstGeom>
          <a:noFill/>
        </p:spPr>
        <p:txBody>
          <a:bodyPr wrap="none" lIns="0" rIns="0" tIns="0" bIns="0">
            <a:spAutoFit/>
          </a:bodyPr>
          <a:lstStyle/>
          <a:p>
            <a:r>
              <a:rPr sz="1150" b="0">
                <a:solidFill>
                  <a:srgbClr val="252423"/>
                </a:solidFill>
                <a:latin typeface="Segoe UI"/>
              </a:rPr>
              <a:t>Gaseous Helium-3 segment is expected to command the</a:t>
            </a:r>
          </a:p>
        </p:txBody>
      </p:sp>
      <p:sp>
        <p:nvSpPr>
          <p:cNvPr id="93" name="TextBox 92"/>
          <p:cNvSpPr txBox="1"/>
          <p:nvPr/>
        </p:nvSpPr>
        <p:spPr>
          <a:xfrm>
            <a:off x="8048625" y="1647255"/>
            <a:ext cx="1923450" cy="194310"/>
          </a:xfrm>
          <a:prstGeom prst="rect">
            <a:avLst/>
          </a:prstGeom>
          <a:noFill/>
        </p:spPr>
        <p:txBody>
          <a:bodyPr wrap="none" lIns="0" rIns="0" tIns="0" bIns="0">
            <a:spAutoFit/>
          </a:bodyPr>
          <a:lstStyle/>
          <a:p>
            <a:r>
              <a:rPr sz="1150" b="0">
                <a:solidFill>
                  <a:srgbClr val="252423"/>
                </a:solidFill>
                <a:latin typeface="Segoe UI"/>
              </a:rPr>
              <a:t>highest average price of US$</a:t>
            </a:r>
          </a:p>
        </p:txBody>
      </p:sp>
      <p:pic>
        <p:nvPicPr>
          <p:cNvPr id="94" name="Picture 93" descr="lock.png"/>
          <p:cNvPicPr>
            <a:picLocks noChangeAspect="1"/>
          </p:cNvPicPr>
          <p:nvPr/>
        </p:nvPicPr>
        <p:blipFill>
          <a:blip r:embed="rId4"/>
          <a:stretch>
            <a:fillRect/>
          </a:stretch>
        </p:blipFill>
        <p:spPr>
          <a:xfrm>
            <a:off x="9921229" y="1637031"/>
            <a:ext cx="134549" cy="195707"/>
          </a:xfrm>
          <a:prstGeom prst="rect">
            <a:avLst/>
          </a:prstGeom>
        </p:spPr>
      </p:pic>
      <p:sp>
        <p:nvSpPr>
          <p:cNvPr id="95" name="TextBox 94"/>
          <p:cNvSpPr txBox="1"/>
          <p:nvPr/>
        </p:nvSpPr>
        <p:spPr>
          <a:xfrm>
            <a:off x="10096339" y="1647255"/>
            <a:ext cx="1722877" cy="194310"/>
          </a:xfrm>
          <a:prstGeom prst="rect">
            <a:avLst/>
          </a:prstGeom>
          <a:noFill/>
        </p:spPr>
        <p:txBody>
          <a:bodyPr wrap="none" lIns="0" rIns="0" tIns="0" bIns="0">
            <a:spAutoFit/>
          </a:bodyPr>
          <a:lstStyle/>
          <a:p>
            <a:r>
              <a:rPr sz="1150" b="0">
                <a:solidFill>
                  <a:srgbClr val="252423"/>
                </a:solidFill>
                <a:latin typeface="Segoe UI"/>
              </a:rPr>
              <a:t>per Litre in 2036. Average</a:t>
            </a:r>
          </a:p>
        </p:txBody>
      </p:sp>
      <p:sp>
        <p:nvSpPr>
          <p:cNvPr id="96" name="TextBox 95"/>
          <p:cNvSpPr txBox="1"/>
          <p:nvPr/>
        </p:nvSpPr>
        <p:spPr>
          <a:xfrm>
            <a:off x="8048625" y="1822515"/>
            <a:ext cx="2926969" cy="194310"/>
          </a:xfrm>
          <a:prstGeom prst="rect">
            <a:avLst/>
          </a:prstGeom>
          <a:noFill/>
        </p:spPr>
        <p:txBody>
          <a:bodyPr wrap="none" lIns="0" rIns="0" tIns="0" bIns="0">
            <a:spAutoFit/>
          </a:bodyPr>
          <a:lstStyle/>
          <a:p>
            <a:r>
              <a:rPr sz="1150" b="0">
                <a:solidFill>
                  <a:srgbClr val="252423"/>
                </a:solidFill>
                <a:latin typeface="Segoe UI"/>
              </a:rPr>
              <a:t>selling price of Helium-3 is estimated at US$</a:t>
            </a:r>
          </a:p>
        </p:txBody>
      </p:sp>
      <p:pic>
        <p:nvPicPr>
          <p:cNvPr id="97" name="Picture 96" descr="lock.png"/>
          <p:cNvPicPr>
            <a:picLocks noChangeAspect="1"/>
          </p:cNvPicPr>
          <p:nvPr/>
        </p:nvPicPr>
        <p:blipFill>
          <a:blip r:embed="rId4"/>
          <a:stretch>
            <a:fillRect/>
          </a:stretch>
        </p:blipFill>
        <p:spPr>
          <a:xfrm>
            <a:off x="10924748" y="1812291"/>
            <a:ext cx="134549" cy="195707"/>
          </a:xfrm>
          <a:prstGeom prst="rect">
            <a:avLst/>
          </a:prstGeom>
        </p:spPr>
      </p:pic>
      <p:sp>
        <p:nvSpPr>
          <p:cNvPr id="98" name="TextBox 97"/>
          <p:cNvSpPr txBox="1"/>
          <p:nvPr/>
        </p:nvSpPr>
        <p:spPr>
          <a:xfrm>
            <a:off x="11099857" y="1822515"/>
            <a:ext cx="610164" cy="194310"/>
          </a:xfrm>
          <a:prstGeom prst="rect">
            <a:avLst/>
          </a:prstGeom>
          <a:noFill/>
        </p:spPr>
        <p:txBody>
          <a:bodyPr wrap="none" lIns="0" rIns="0" tIns="0" bIns="0">
            <a:spAutoFit/>
          </a:bodyPr>
          <a:lstStyle/>
          <a:p>
            <a:r>
              <a:rPr sz="1150" b="0">
                <a:solidFill>
                  <a:srgbClr val="252423"/>
                </a:solidFill>
                <a:latin typeface="Segoe UI"/>
              </a:rPr>
              <a:t>per Litre</a:t>
            </a:r>
          </a:p>
        </p:txBody>
      </p:sp>
      <p:sp>
        <p:nvSpPr>
          <p:cNvPr id="99" name="TextBox 98"/>
          <p:cNvSpPr txBox="1"/>
          <p:nvPr/>
        </p:nvSpPr>
        <p:spPr>
          <a:xfrm>
            <a:off x="8048625" y="1997775"/>
            <a:ext cx="3697052" cy="194310"/>
          </a:xfrm>
          <a:prstGeom prst="rect">
            <a:avLst/>
          </a:prstGeom>
          <a:noFill/>
        </p:spPr>
        <p:txBody>
          <a:bodyPr wrap="none" lIns="0" rIns="0" tIns="0" bIns="0">
            <a:spAutoFit/>
          </a:bodyPr>
          <a:lstStyle/>
          <a:p>
            <a:r>
              <a:rPr sz="1150" b="0">
                <a:solidFill>
                  <a:srgbClr val="252423"/>
                </a:solidFill>
                <a:latin typeface="Segoe UI"/>
              </a:rPr>
              <a:t>in 2025 and is projected to remain broadly stable at US$</a:t>
            </a:r>
          </a:p>
        </p:txBody>
      </p:sp>
      <p:pic>
        <p:nvPicPr>
          <p:cNvPr id="100" name="Picture 99" descr="lock.png"/>
          <p:cNvPicPr>
            <a:picLocks noChangeAspect="1"/>
          </p:cNvPicPr>
          <p:nvPr/>
        </p:nvPicPr>
        <p:blipFill>
          <a:blip r:embed="rId4"/>
          <a:stretch>
            <a:fillRect/>
          </a:stretch>
        </p:blipFill>
        <p:spPr>
          <a:xfrm>
            <a:off x="8034545" y="2162811"/>
            <a:ext cx="134549" cy="195707"/>
          </a:xfrm>
          <a:prstGeom prst="rect">
            <a:avLst/>
          </a:prstGeom>
        </p:spPr>
      </p:pic>
      <p:sp>
        <p:nvSpPr>
          <p:cNvPr id="101" name="TextBox 100"/>
          <p:cNvSpPr txBox="1"/>
          <p:nvPr/>
        </p:nvSpPr>
        <p:spPr>
          <a:xfrm>
            <a:off x="8209654" y="2173035"/>
            <a:ext cx="1193223" cy="194310"/>
          </a:xfrm>
          <a:prstGeom prst="rect">
            <a:avLst/>
          </a:prstGeom>
          <a:noFill/>
        </p:spPr>
        <p:txBody>
          <a:bodyPr wrap="none" lIns="0" rIns="0" tIns="0" bIns="0">
            <a:spAutoFit/>
          </a:bodyPr>
          <a:lstStyle/>
          <a:p>
            <a:r>
              <a:rPr sz="1150" b="0">
                <a:solidFill>
                  <a:srgbClr val="252423"/>
                </a:solidFill>
                <a:latin typeface="Segoe UI"/>
              </a:rPr>
              <a:t>per Litre by 2036.</a:t>
            </a:r>
          </a:p>
        </p:txBody>
      </p:sp>
      <p:sp>
        <p:nvSpPr>
          <p:cNvPr id="102" name="TextBox 101"/>
          <p:cNvSpPr txBox="1"/>
          <p:nvPr/>
        </p:nvSpPr>
        <p:spPr>
          <a:xfrm>
            <a:off x="8048625" y="2400873"/>
            <a:ext cx="3662322" cy="194310"/>
          </a:xfrm>
          <a:prstGeom prst="rect">
            <a:avLst/>
          </a:prstGeom>
          <a:noFill/>
        </p:spPr>
        <p:txBody>
          <a:bodyPr wrap="none" lIns="0" rIns="0" tIns="0" bIns="0">
            <a:spAutoFit/>
          </a:bodyPr>
          <a:lstStyle/>
          <a:p>
            <a:r>
              <a:rPr sz="1150" b="0">
                <a:solidFill>
                  <a:srgbClr val="252423"/>
                </a:solidFill>
                <a:latin typeface="Segoe UI"/>
              </a:rPr>
              <a:t>North America is the highest-priced region, while South</a:t>
            </a:r>
          </a:p>
        </p:txBody>
      </p:sp>
      <p:sp>
        <p:nvSpPr>
          <p:cNvPr id="103" name="TextBox 102"/>
          <p:cNvSpPr txBox="1"/>
          <p:nvPr/>
        </p:nvSpPr>
        <p:spPr>
          <a:xfrm>
            <a:off x="8048625" y="2576133"/>
            <a:ext cx="3848100" cy="194310"/>
          </a:xfrm>
          <a:prstGeom prst="rect">
            <a:avLst/>
          </a:prstGeom>
          <a:noFill/>
        </p:spPr>
        <p:txBody>
          <a:bodyPr wrap="none" lIns="0" rIns="0" tIns="0" bIns="0">
            <a:spAutoFit/>
          </a:bodyPr>
          <a:lstStyle/>
          <a:p>
            <a:r>
              <a:rPr sz="1150" b="0">
                <a:solidFill>
                  <a:srgbClr val="252423"/>
                </a:solidFill>
                <a:latin typeface="Segoe UI"/>
              </a:rPr>
              <a:t>Asia &amp; Pacific is the most price-competitive market. Against</a:t>
            </a:r>
          </a:p>
        </p:txBody>
      </p:sp>
      <p:sp>
        <p:nvSpPr>
          <p:cNvPr id="104" name="TextBox 103"/>
          <p:cNvSpPr txBox="1"/>
          <p:nvPr/>
        </p:nvSpPr>
        <p:spPr>
          <a:xfrm>
            <a:off x="8048625" y="2751393"/>
            <a:ext cx="1254797" cy="194310"/>
          </a:xfrm>
          <a:prstGeom prst="rect">
            <a:avLst/>
          </a:prstGeom>
          <a:noFill/>
        </p:spPr>
        <p:txBody>
          <a:bodyPr wrap="none" lIns="0" rIns="0" tIns="0" bIns="0">
            <a:spAutoFit/>
          </a:bodyPr>
          <a:lstStyle/>
          <a:p>
            <a:r>
              <a:rPr sz="1150" b="0">
                <a:solidFill>
                  <a:srgbClr val="252423"/>
                </a:solidFill>
                <a:latin typeface="Segoe UI"/>
              </a:rPr>
              <a:t>the global price of</a:t>
            </a:r>
          </a:p>
        </p:txBody>
      </p:sp>
      <p:pic>
        <p:nvPicPr>
          <p:cNvPr id="105" name="Picture 104" descr="lock.png"/>
          <p:cNvPicPr>
            <a:picLocks noChangeAspect="1"/>
          </p:cNvPicPr>
          <p:nvPr/>
        </p:nvPicPr>
        <p:blipFill>
          <a:blip r:embed="rId4"/>
          <a:stretch>
            <a:fillRect/>
          </a:stretch>
        </p:blipFill>
        <p:spPr>
          <a:xfrm>
            <a:off x="9252576" y="2741169"/>
            <a:ext cx="134549" cy="195707"/>
          </a:xfrm>
          <a:prstGeom prst="rect">
            <a:avLst/>
          </a:prstGeom>
        </p:spPr>
      </p:pic>
      <p:sp>
        <p:nvSpPr>
          <p:cNvPr id="106" name="TextBox 105"/>
          <p:cNvSpPr txBox="1"/>
          <p:nvPr/>
        </p:nvSpPr>
        <p:spPr>
          <a:xfrm>
            <a:off x="9427686" y="2751393"/>
            <a:ext cx="2047772" cy="194310"/>
          </a:xfrm>
          <a:prstGeom prst="rect">
            <a:avLst/>
          </a:prstGeom>
          <a:noFill/>
        </p:spPr>
        <p:txBody>
          <a:bodyPr wrap="none" lIns="0" rIns="0" tIns="0" bIns="0">
            <a:spAutoFit/>
          </a:bodyPr>
          <a:lstStyle/>
          <a:p>
            <a:r>
              <a:rPr sz="1150" b="0">
                <a:solidFill>
                  <a:srgbClr val="252423"/>
                </a:solidFill>
                <a:latin typeface="Segoe UI"/>
              </a:rPr>
              <a:t>US$/Litres, 4 of 7 regions price</a:t>
            </a:r>
          </a:p>
        </p:txBody>
      </p:sp>
      <p:sp>
        <p:nvSpPr>
          <p:cNvPr id="107" name="TextBox 106"/>
          <p:cNvSpPr txBox="1"/>
          <p:nvPr/>
        </p:nvSpPr>
        <p:spPr>
          <a:xfrm>
            <a:off x="8048625" y="2926653"/>
            <a:ext cx="1330621" cy="194310"/>
          </a:xfrm>
          <a:prstGeom prst="rect">
            <a:avLst/>
          </a:prstGeom>
          <a:noFill/>
        </p:spPr>
        <p:txBody>
          <a:bodyPr wrap="none" lIns="0" rIns="0" tIns="0" bIns="0">
            <a:spAutoFit/>
          </a:bodyPr>
          <a:lstStyle/>
          <a:p>
            <a:r>
              <a:rPr sz="1150" b="0">
                <a:solidFill>
                  <a:srgbClr val="252423"/>
                </a:solidFill>
                <a:latin typeface="Segoe UI"/>
              </a:rPr>
              <a:t>above and 3 below.</a:t>
            </a:r>
          </a:p>
        </p:txBody>
      </p:sp>
      <p:sp>
        <p:nvSpPr>
          <p:cNvPr id="108" name="TextBox 107"/>
          <p:cNvSpPr txBox="1"/>
          <p:nvPr/>
        </p:nvSpPr>
        <p:spPr>
          <a:xfrm>
            <a:off x="8048625" y="3154490"/>
            <a:ext cx="2291517" cy="194310"/>
          </a:xfrm>
          <a:prstGeom prst="rect">
            <a:avLst/>
          </a:prstGeom>
          <a:noFill/>
        </p:spPr>
        <p:txBody>
          <a:bodyPr wrap="none" lIns="0" rIns="0" tIns="0" bIns="0">
            <a:spAutoFit/>
          </a:bodyPr>
          <a:lstStyle/>
          <a:p>
            <a:r>
              <a:rPr sz="1150" b="0">
                <a:solidFill>
                  <a:srgbClr val="252423"/>
                </a:solidFill>
                <a:latin typeface="Segoe UI"/>
              </a:rPr>
              <a:t>'North America' is the dearest at +</a:t>
            </a:r>
          </a:p>
        </p:txBody>
      </p:sp>
      <p:pic>
        <p:nvPicPr>
          <p:cNvPr id="109" name="Picture 108" descr="lock.png"/>
          <p:cNvPicPr>
            <a:picLocks noChangeAspect="1"/>
          </p:cNvPicPr>
          <p:nvPr/>
        </p:nvPicPr>
        <p:blipFill>
          <a:blip r:embed="rId4"/>
          <a:stretch>
            <a:fillRect/>
          </a:stretch>
        </p:blipFill>
        <p:spPr>
          <a:xfrm>
            <a:off x="10289296" y="3144267"/>
            <a:ext cx="134549" cy="195707"/>
          </a:xfrm>
          <a:prstGeom prst="rect">
            <a:avLst/>
          </a:prstGeom>
        </p:spPr>
      </p:pic>
      <p:sp>
        <p:nvSpPr>
          <p:cNvPr id="110" name="TextBox 109"/>
          <p:cNvSpPr txBox="1"/>
          <p:nvPr/>
        </p:nvSpPr>
        <p:spPr>
          <a:xfrm>
            <a:off x="10464405" y="3154490"/>
            <a:ext cx="968162" cy="194310"/>
          </a:xfrm>
          <a:prstGeom prst="rect">
            <a:avLst/>
          </a:prstGeom>
          <a:noFill/>
        </p:spPr>
        <p:txBody>
          <a:bodyPr wrap="none" lIns="0" rIns="0" tIns="0" bIns="0">
            <a:spAutoFit/>
          </a:bodyPr>
          <a:lstStyle/>
          <a:p>
            <a:r>
              <a:rPr sz="1150" b="0">
                <a:solidFill>
                  <a:srgbClr val="252423"/>
                </a:solidFill>
                <a:latin typeface="Segoe UI"/>
              </a:rPr>
              <a:t>versus Global,</a:t>
            </a:r>
          </a:p>
        </p:txBody>
      </p:sp>
      <p:sp>
        <p:nvSpPr>
          <p:cNvPr id="111" name="TextBox 110"/>
          <p:cNvSpPr txBox="1"/>
          <p:nvPr/>
        </p:nvSpPr>
        <p:spPr>
          <a:xfrm>
            <a:off x="8048625" y="3329750"/>
            <a:ext cx="2558408" cy="194310"/>
          </a:xfrm>
          <a:prstGeom prst="rect">
            <a:avLst/>
          </a:prstGeom>
          <a:noFill/>
        </p:spPr>
        <p:txBody>
          <a:bodyPr wrap="none" lIns="0" rIns="0" tIns="0" bIns="0">
            <a:spAutoFit/>
          </a:bodyPr>
          <a:lstStyle/>
          <a:p>
            <a:r>
              <a:rPr sz="1150" b="0">
                <a:solidFill>
                  <a:srgbClr val="252423"/>
                </a:solidFill>
                <a:latin typeface="Segoe UI"/>
              </a:rPr>
              <a:t>'South Asia &amp; Pacific' the cheapest at -</a:t>
            </a:r>
          </a:p>
        </p:txBody>
      </p:sp>
      <p:pic>
        <p:nvPicPr>
          <p:cNvPr id="112" name="Picture 111" descr="lock.png"/>
          <p:cNvPicPr>
            <a:picLocks noChangeAspect="1"/>
          </p:cNvPicPr>
          <p:nvPr/>
        </p:nvPicPr>
        <p:blipFill>
          <a:blip r:embed="rId4"/>
          <a:stretch>
            <a:fillRect/>
          </a:stretch>
        </p:blipFill>
        <p:spPr>
          <a:xfrm>
            <a:off x="10556187" y="3319527"/>
            <a:ext cx="134549" cy="195707"/>
          </a:xfrm>
          <a:prstGeom prst="rect">
            <a:avLst/>
          </a:prstGeom>
        </p:spPr>
      </p:pic>
      <p:sp>
        <p:nvSpPr>
          <p:cNvPr id="113" name="TextBox 112"/>
          <p:cNvSpPr txBox="1"/>
          <p:nvPr/>
        </p:nvSpPr>
        <p:spPr>
          <a:xfrm>
            <a:off x="10731296" y="3329750"/>
            <a:ext cx="794736" cy="194310"/>
          </a:xfrm>
          <a:prstGeom prst="rect">
            <a:avLst/>
          </a:prstGeom>
          <a:noFill/>
        </p:spPr>
        <p:txBody>
          <a:bodyPr wrap="none" lIns="0" rIns="0" tIns="0" bIns="0">
            <a:spAutoFit/>
          </a:bodyPr>
          <a:lstStyle/>
          <a:p>
            <a:r>
              <a:rPr sz="1150" b="0">
                <a:solidFill>
                  <a:srgbClr val="252423"/>
                </a:solidFill>
                <a:latin typeface="Segoe UI"/>
              </a:rPr>
              <a:t>pointing to</a:t>
            </a:r>
          </a:p>
        </p:txBody>
      </p:sp>
      <p:sp>
        <p:nvSpPr>
          <p:cNvPr id="114" name="TextBox 113"/>
          <p:cNvSpPr txBox="1"/>
          <p:nvPr/>
        </p:nvSpPr>
        <p:spPr>
          <a:xfrm>
            <a:off x="8048625" y="3505010"/>
            <a:ext cx="3602834" cy="194310"/>
          </a:xfrm>
          <a:prstGeom prst="rect">
            <a:avLst/>
          </a:prstGeom>
          <a:noFill/>
        </p:spPr>
        <p:txBody>
          <a:bodyPr wrap="none" lIns="0" rIns="0" tIns="0" bIns="0">
            <a:spAutoFit/>
          </a:bodyPr>
          <a:lstStyle/>
          <a:p>
            <a:r>
              <a:rPr sz="1150" b="0">
                <a:solidFill>
                  <a:srgbClr val="252423"/>
                </a:solidFill>
                <a:latin typeface="Segoe UI"/>
              </a:rPr>
              <a:t>premiumisation headroom in the lower-priced regions.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value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2656161" cy="194310"/>
          </a:xfrm>
          <a:prstGeom prst="rect">
            <a:avLst/>
          </a:prstGeom>
          <a:noFill/>
        </p:spPr>
        <p:txBody>
          <a:bodyPr wrap="none" lIns="0" rIns="0" tIns="0" bIns="0">
            <a:spAutoFit/>
          </a:bodyPr>
          <a:lstStyle/>
          <a:p>
            <a:r>
              <a:rPr sz="1150" b="0">
                <a:solidFill>
                  <a:srgbClr val="252423"/>
                </a:solidFill>
                <a:latin typeface="Segoe UI"/>
              </a:rPr>
              <a:t>Helium-3 market is projected to register</a:t>
            </a:r>
          </a:p>
        </p:txBody>
      </p:sp>
      <p:pic>
        <p:nvPicPr>
          <p:cNvPr id="33" name="Picture 32" descr="lock.png"/>
          <p:cNvPicPr>
            <a:picLocks noChangeAspect="1"/>
          </p:cNvPicPr>
          <p:nvPr/>
        </p:nvPicPr>
        <p:blipFill>
          <a:blip r:embed="rId6"/>
          <a:stretch>
            <a:fillRect/>
          </a:stretch>
        </p:blipFill>
        <p:spPr>
          <a:xfrm>
            <a:off x="10653940" y="2036763"/>
            <a:ext cx="134549" cy="195707"/>
          </a:xfrm>
          <a:prstGeom prst="rect">
            <a:avLst/>
          </a:prstGeom>
        </p:spPr>
      </p:pic>
      <p:sp>
        <p:nvSpPr>
          <p:cNvPr id="34" name="TextBox 33"/>
          <p:cNvSpPr txBox="1"/>
          <p:nvPr/>
        </p:nvSpPr>
        <p:spPr>
          <a:xfrm>
            <a:off x="10829049" y="2046987"/>
            <a:ext cx="886004" cy="194310"/>
          </a:xfrm>
          <a:prstGeom prst="rect">
            <a:avLst/>
          </a:prstGeom>
          <a:noFill/>
        </p:spPr>
        <p:txBody>
          <a:bodyPr wrap="none" lIns="0" rIns="0" tIns="0" bIns="0">
            <a:spAutoFit/>
          </a:bodyPr>
          <a:lstStyle/>
          <a:p>
            <a:r>
              <a:rPr sz="1150" b="0">
                <a:solidFill>
                  <a:srgbClr val="252423"/>
                </a:solidFill>
                <a:latin typeface="Segoe UI"/>
              </a:rPr>
              <a:t>X increase in</a:t>
            </a:r>
          </a:p>
        </p:txBody>
      </p:sp>
      <p:sp>
        <p:nvSpPr>
          <p:cNvPr id="35" name="TextBox 34"/>
          <p:cNvSpPr txBox="1"/>
          <p:nvPr/>
        </p:nvSpPr>
        <p:spPr>
          <a:xfrm>
            <a:off x="8048625" y="2222247"/>
            <a:ext cx="3566990" cy="194310"/>
          </a:xfrm>
          <a:prstGeom prst="rect">
            <a:avLst/>
          </a:prstGeom>
          <a:noFill/>
        </p:spPr>
        <p:txBody>
          <a:bodyPr wrap="none" lIns="0" rIns="0" tIns="0" bIns="0">
            <a:spAutoFit/>
          </a:bodyPr>
          <a:lstStyle/>
          <a:p>
            <a:r>
              <a:rPr sz="1150" b="0">
                <a:solidFill>
                  <a:srgbClr val="252423"/>
                </a:solidFill>
                <a:latin typeface="Segoe UI"/>
              </a:rPr>
              <a:t>its revenue by the end of forecast period, 2036. Global</a:t>
            </a:r>
          </a:p>
        </p:txBody>
      </p:sp>
      <p:sp>
        <p:nvSpPr>
          <p:cNvPr id="36" name="TextBox 35"/>
          <p:cNvSpPr txBox="1"/>
          <p:nvPr/>
        </p:nvSpPr>
        <p:spPr>
          <a:xfrm>
            <a:off x="8048625" y="2397507"/>
            <a:ext cx="3228420" cy="194310"/>
          </a:xfrm>
          <a:prstGeom prst="rect">
            <a:avLst/>
          </a:prstGeom>
          <a:noFill/>
        </p:spPr>
        <p:txBody>
          <a:bodyPr wrap="none" lIns="0" rIns="0" tIns="0" bIns="0">
            <a:spAutoFit/>
          </a:bodyPr>
          <a:lstStyle/>
          <a:p>
            <a:r>
              <a:rPr sz="1150" b="0">
                <a:solidFill>
                  <a:srgbClr val="252423"/>
                </a:solidFill>
                <a:latin typeface="Segoe UI"/>
              </a:rPr>
              <a:t>Helium-3 market is expected to be valued at US$</a:t>
            </a:r>
          </a:p>
        </p:txBody>
      </p:sp>
      <p:pic>
        <p:nvPicPr>
          <p:cNvPr id="37" name="Picture 36" descr="lock.png"/>
          <p:cNvPicPr>
            <a:picLocks noChangeAspect="1"/>
          </p:cNvPicPr>
          <p:nvPr/>
        </p:nvPicPr>
        <p:blipFill>
          <a:blip r:embed="rId6"/>
          <a:stretch>
            <a:fillRect/>
          </a:stretch>
        </p:blipFill>
        <p:spPr>
          <a:xfrm>
            <a:off x="11226199" y="2387283"/>
            <a:ext cx="134549" cy="195707"/>
          </a:xfrm>
          <a:prstGeom prst="rect">
            <a:avLst/>
          </a:prstGeom>
        </p:spPr>
      </p:pic>
      <p:sp>
        <p:nvSpPr>
          <p:cNvPr id="38" name="TextBox 37"/>
          <p:cNvSpPr txBox="1"/>
          <p:nvPr/>
        </p:nvSpPr>
        <p:spPr>
          <a:xfrm>
            <a:off x="11401308" y="2397507"/>
            <a:ext cx="290140" cy="194310"/>
          </a:xfrm>
          <a:prstGeom prst="rect">
            <a:avLst/>
          </a:prstGeom>
          <a:noFill/>
        </p:spPr>
        <p:txBody>
          <a:bodyPr wrap="none" lIns="0" rIns="0" tIns="0" bIns="0">
            <a:spAutoFit/>
          </a:bodyPr>
          <a:lstStyle/>
          <a:p>
            <a:r>
              <a:rPr sz="1150" b="0">
                <a:solidFill>
                  <a:srgbClr val="252423"/>
                </a:solidFill>
                <a:latin typeface="Segoe UI"/>
              </a:rPr>
              <a:t>Mn</a:t>
            </a:r>
          </a:p>
        </p:txBody>
      </p:sp>
      <p:sp>
        <p:nvSpPr>
          <p:cNvPr id="39" name="TextBox 38"/>
          <p:cNvSpPr txBox="1"/>
          <p:nvPr/>
        </p:nvSpPr>
        <p:spPr>
          <a:xfrm>
            <a:off x="8048625" y="2572767"/>
            <a:ext cx="904577" cy="194310"/>
          </a:xfrm>
          <a:prstGeom prst="rect">
            <a:avLst/>
          </a:prstGeom>
          <a:noFill/>
        </p:spPr>
        <p:txBody>
          <a:bodyPr wrap="none" lIns="0" rIns="0" tIns="0" bIns="0">
            <a:spAutoFit/>
          </a:bodyPr>
          <a:lstStyle/>
          <a:p>
            <a:r>
              <a:rPr sz="1150" b="0">
                <a:solidFill>
                  <a:srgbClr val="252423"/>
                </a:solidFill>
                <a:latin typeface="Segoe UI"/>
              </a:rPr>
              <a:t>by 2036 end.</a:t>
            </a:r>
          </a:p>
        </p:txBody>
      </p:sp>
      <p:sp>
        <p:nvSpPr>
          <p:cNvPr id="40" name="TextBox 39"/>
          <p:cNvSpPr txBox="1"/>
          <p:nvPr/>
        </p:nvSpPr>
        <p:spPr>
          <a:xfrm>
            <a:off x="8048625" y="2800604"/>
            <a:ext cx="3806616" cy="194310"/>
          </a:xfrm>
          <a:prstGeom prst="rect">
            <a:avLst/>
          </a:prstGeom>
          <a:noFill/>
        </p:spPr>
        <p:txBody>
          <a:bodyPr wrap="none" lIns="0" rIns="0" tIns="0" bIns="0">
            <a:spAutoFit/>
          </a:bodyPr>
          <a:lstStyle/>
          <a:p>
            <a:r>
              <a:rPr sz="1150" b="0">
                <a:solidFill>
                  <a:srgbClr val="252423"/>
                </a:solidFill>
                <a:latin typeface="Segoe UI"/>
              </a:rPr>
              <a:t>It is projected to create overall incremental opportunity of</a:t>
            </a:r>
          </a:p>
        </p:txBody>
      </p:sp>
      <p:sp>
        <p:nvSpPr>
          <p:cNvPr id="41" name="TextBox 40"/>
          <p:cNvSpPr txBox="1"/>
          <p:nvPr/>
        </p:nvSpPr>
        <p:spPr>
          <a:xfrm>
            <a:off x="8048625" y="2975864"/>
            <a:ext cx="332928" cy="194310"/>
          </a:xfrm>
          <a:prstGeom prst="rect">
            <a:avLst/>
          </a:prstGeom>
          <a:noFill/>
        </p:spPr>
        <p:txBody>
          <a:bodyPr wrap="none" lIns="0" rIns="0" tIns="0" bIns="0">
            <a:spAutoFit/>
          </a:bodyPr>
          <a:lstStyle/>
          <a:p>
            <a:r>
              <a:rPr sz="1150" b="0">
                <a:solidFill>
                  <a:srgbClr val="252423"/>
                </a:solidFill>
                <a:latin typeface="Segoe UI"/>
              </a:rPr>
              <a:t>US$</a:t>
            </a:r>
          </a:p>
        </p:txBody>
      </p:sp>
      <p:pic>
        <p:nvPicPr>
          <p:cNvPr id="42" name="Picture 41" descr="lock.png"/>
          <p:cNvPicPr>
            <a:picLocks noChangeAspect="1"/>
          </p:cNvPicPr>
          <p:nvPr/>
        </p:nvPicPr>
        <p:blipFill>
          <a:blip r:embed="rId6"/>
          <a:stretch>
            <a:fillRect/>
          </a:stretch>
        </p:blipFill>
        <p:spPr>
          <a:xfrm>
            <a:off x="8330707" y="2965641"/>
            <a:ext cx="134549" cy="195707"/>
          </a:xfrm>
          <a:prstGeom prst="rect">
            <a:avLst/>
          </a:prstGeom>
        </p:spPr>
      </p:pic>
      <p:sp>
        <p:nvSpPr>
          <p:cNvPr id="43" name="TextBox 42"/>
          <p:cNvSpPr txBox="1"/>
          <p:nvPr/>
        </p:nvSpPr>
        <p:spPr>
          <a:xfrm>
            <a:off x="8505816" y="2975864"/>
            <a:ext cx="1554336" cy="194310"/>
          </a:xfrm>
          <a:prstGeom prst="rect">
            <a:avLst/>
          </a:prstGeom>
          <a:noFill/>
        </p:spPr>
        <p:txBody>
          <a:bodyPr wrap="none" lIns="0" rIns="0" tIns="0" bIns="0">
            <a:spAutoFit/>
          </a:bodyPr>
          <a:lstStyle/>
          <a:p>
            <a:r>
              <a:rPr sz="1150" b="0">
                <a:solidFill>
                  <a:srgbClr val="252423"/>
                </a:solidFill>
                <a:latin typeface="Segoe UI"/>
              </a:rPr>
              <a:t>Mn from 2025 to 2036.</a:t>
            </a:r>
          </a:p>
        </p:txBody>
      </p:sp>
      <p:sp>
        <p:nvSpPr>
          <p:cNvPr id="44" name="TextBox 43"/>
          <p:cNvSpPr txBox="1"/>
          <p:nvPr/>
        </p:nvSpPr>
        <p:spPr>
          <a:xfrm>
            <a:off x="8048625" y="4456475"/>
            <a:ext cx="3129138" cy="194310"/>
          </a:xfrm>
          <a:prstGeom prst="rect">
            <a:avLst/>
          </a:prstGeom>
          <a:noFill/>
        </p:spPr>
        <p:txBody>
          <a:bodyPr wrap="none" lIns="0" rIns="0" tIns="0" bIns="0">
            <a:spAutoFit/>
          </a:bodyPr>
          <a:lstStyle/>
          <a:p>
            <a:r>
              <a:rPr sz="1150" b="0">
                <a:solidFill>
                  <a:srgbClr val="252423"/>
                </a:solidFill>
                <a:latin typeface="Segoe UI"/>
              </a:rPr>
              <a:t>▪ 'South Asia &amp; Pacific' leads regional growth at</a:t>
            </a:r>
          </a:p>
        </p:txBody>
      </p:sp>
      <p:pic>
        <p:nvPicPr>
          <p:cNvPr id="45" name="Picture 44" descr="lock.png"/>
          <p:cNvPicPr>
            <a:picLocks noChangeAspect="1"/>
          </p:cNvPicPr>
          <p:nvPr/>
        </p:nvPicPr>
        <p:blipFill>
          <a:blip r:embed="rId6"/>
          <a:stretch>
            <a:fillRect/>
          </a:stretch>
        </p:blipFill>
        <p:spPr>
          <a:xfrm>
            <a:off x="11126917" y="4446251"/>
            <a:ext cx="134549" cy="195707"/>
          </a:xfrm>
          <a:prstGeom prst="rect">
            <a:avLst/>
          </a:prstGeom>
        </p:spPr>
      </p:pic>
      <p:sp>
        <p:nvSpPr>
          <p:cNvPr id="46" name="TextBox 45"/>
          <p:cNvSpPr txBox="1"/>
          <p:nvPr/>
        </p:nvSpPr>
        <p:spPr>
          <a:xfrm>
            <a:off x="11302027"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47" name="TextBox 46"/>
          <p:cNvSpPr txBox="1"/>
          <p:nvPr/>
        </p:nvSpPr>
        <p:spPr>
          <a:xfrm>
            <a:off x="8048625" y="4684312"/>
            <a:ext cx="3457581" cy="194310"/>
          </a:xfrm>
          <a:prstGeom prst="rect">
            <a:avLst/>
          </a:prstGeom>
          <a:noFill/>
        </p:spPr>
        <p:txBody>
          <a:bodyPr wrap="none" lIns="0" rIns="0" tIns="0" bIns="0">
            <a:spAutoFit/>
          </a:bodyPr>
          <a:lstStyle/>
          <a:p>
            <a:r>
              <a:rPr sz="1150" b="0">
                <a:solidFill>
                  <a:srgbClr val="252423"/>
                </a:solidFill>
                <a:latin typeface="Segoe UI"/>
              </a:rPr>
              <a:t>▪ Demand concentrates in 'Gaseous Helium-3' within</a:t>
            </a:r>
          </a:p>
        </p:txBody>
      </p:sp>
      <p:sp>
        <p:nvSpPr>
          <p:cNvPr id="48" name="TextBox 47"/>
          <p:cNvSpPr txBox="1"/>
          <p:nvPr/>
        </p:nvSpPr>
        <p:spPr>
          <a:xfrm>
            <a:off x="8048625" y="4859572"/>
            <a:ext cx="985553" cy="194310"/>
          </a:xfrm>
          <a:prstGeom prst="rect">
            <a:avLst/>
          </a:prstGeom>
          <a:noFill/>
        </p:spPr>
        <p:txBody>
          <a:bodyPr wrap="none" lIns="0" rIns="0" tIns="0" bIns="0">
            <a:spAutoFit/>
          </a:bodyPr>
          <a:lstStyle/>
          <a:p>
            <a:r>
              <a:rPr sz="1150" b="0">
                <a:solidFill>
                  <a:srgbClr val="252423"/>
                </a:solidFill>
                <a:latin typeface="Segoe UI"/>
              </a:rPr>
              <a:t>Product Form.</a:t>
            </a:r>
          </a:p>
        </p:txBody>
      </p:sp>
      <p:sp>
        <p:nvSpPr>
          <p:cNvPr id="49" name="TextBox 48"/>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50" name="TextBox 49"/>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51"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global market and the incremental $ opportunity it creates, 2021–2036</a:t>
            </a:r>
          </a:p>
        </p:txBody>
      </p:sp>
      <p:sp>
        <p:nvSpPr>
          <p:cNvPr id="8" name="Rectangle 7"/>
          <p:cNvSpPr/>
          <p:nvPr/>
        </p:nvSpPr>
        <p:spPr>
          <a:xfrm>
            <a:off x="142875" y="981075"/>
            <a:ext cx="4695825"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2021–2025 (Historical)</a:t>
            </a:r>
          </a:p>
        </p:txBody>
      </p:sp>
      <p:graphicFrame>
        <p:nvGraphicFramePr>
          <p:cNvPr id="10" name="Chart 9"/>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1" name="Rectangle 10"/>
          <p:cNvSpPr/>
          <p:nvPr/>
        </p:nvSpPr>
        <p:spPr>
          <a:xfrm>
            <a:off x="4991100" y="981075"/>
            <a:ext cx="7048500"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2026–2036 (Forecast)</a:t>
            </a:r>
          </a:p>
        </p:txBody>
      </p:sp>
      <p:graphicFrame>
        <p:nvGraphicFramePr>
          <p:cNvPr id="13" name="Chart 12"/>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4" name="Rounded Rectangle 13"/>
          <p:cNvSpPr/>
          <p:nvPr/>
        </p:nvSpPr>
        <p:spPr>
          <a:xfrm>
            <a:off x="142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 </a:t>
            </a:r>
          </a:p>
        </p:txBody>
      </p:sp>
      <p:sp>
        <p:nvSpPr>
          <p:cNvPr id="15" name="Rounded Rectangle 14"/>
          <p:cNvSpPr/>
          <p:nvPr/>
        </p:nvSpPr>
        <p:spPr>
          <a:xfrm>
            <a:off x="2809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 </a:t>
            </a:r>
          </a:p>
        </p:txBody>
      </p:sp>
      <p:sp>
        <p:nvSpPr>
          <p:cNvPr id="16" name="Rounded Rectangle 15"/>
          <p:cNvSpPr/>
          <p:nvPr/>
        </p:nvSpPr>
        <p:spPr>
          <a:xfrm>
            <a:off x="54768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 </a:t>
            </a:r>
          </a:p>
        </p:txBody>
      </p:sp>
      <p:sp>
        <p:nvSpPr>
          <p:cNvPr id="17" name="Rounded Rectangle 16"/>
          <p:cNvSpPr/>
          <p:nvPr/>
        </p:nvSpPr>
        <p:spPr>
          <a:xfrm>
            <a:off x="88296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 </a:t>
            </a:r>
          </a:p>
        </p:txBody>
      </p:sp>
      <p:sp>
        <p:nvSpPr>
          <p:cNvPr id="18" name="Rectangle 17"/>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&amp; Value Analysis</a:t>
            </a:r>
          </a:p>
        </p:txBody>
      </p:sp>
      <p:sp>
        <p:nvSpPr>
          <p:cNvPr id="20" name="Rectangle 19"/>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4022407"/>
            <a:ext cx="157162" cy="228600"/>
          </a:xfrm>
          <a:prstGeom prst="rect">
            <a:avLst/>
          </a:prstGeom>
        </p:spPr>
      </p:pic>
      <p:sp>
        <p:nvSpPr>
          <p:cNvPr id="29" name="TextBox 28"/>
          <p:cNvSpPr txBox="1"/>
          <p:nvPr/>
        </p:nvSpPr>
        <p:spPr>
          <a:xfrm>
            <a:off x="276225" y="4972050"/>
            <a:ext cx="2656161" cy="194310"/>
          </a:xfrm>
          <a:prstGeom prst="rect">
            <a:avLst/>
          </a:prstGeom>
          <a:noFill/>
        </p:spPr>
        <p:txBody>
          <a:bodyPr wrap="none" lIns="0" rIns="0" tIns="0" bIns="0">
            <a:spAutoFit/>
          </a:bodyPr>
          <a:lstStyle/>
          <a:p>
            <a:r>
              <a:rPr sz="1150" b="0">
                <a:solidFill>
                  <a:srgbClr val="252423"/>
                </a:solidFill>
                <a:latin typeface="Segoe UI"/>
              </a:rPr>
              <a:t>Helium-3 market is projected to register</a:t>
            </a:r>
          </a:p>
        </p:txBody>
      </p:sp>
      <p:pic>
        <p:nvPicPr>
          <p:cNvPr id="30" name="Picture 29" descr="lock.png"/>
          <p:cNvPicPr>
            <a:picLocks noChangeAspect="1"/>
          </p:cNvPicPr>
          <p:nvPr/>
        </p:nvPicPr>
        <p:blipFill>
          <a:blip r:embed="rId6"/>
          <a:stretch>
            <a:fillRect/>
          </a:stretch>
        </p:blipFill>
        <p:spPr>
          <a:xfrm>
            <a:off x="2881540" y="4961826"/>
            <a:ext cx="134549" cy="195707"/>
          </a:xfrm>
          <a:prstGeom prst="rect">
            <a:avLst/>
          </a:prstGeom>
        </p:spPr>
      </p:pic>
      <p:sp>
        <p:nvSpPr>
          <p:cNvPr id="31" name="TextBox 30"/>
          <p:cNvSpPr txBox="1"/>
          <p:nvPr/>
        </p:nvSpPr>
        <p:spPr>
          <a:xfrm>
            <a:off x="3056649" y="4972050"/>
            <a:ext cx="7608886" cy="194310"/>
          </a:xfrm>
          <a:prstGeom prst="rect">
            <a:avLst/>
          </a:prstGeom>
          <a:noFill/>
        </p:spPr>
        <p:txBody>
          <a:bodyPr wrap="none" lIns="0" rIns="0" tIns="0" bIns="0">
            <a:spAutoFit/>
          </a:bodyPr>
          <a:lstStyle/>
          <a:p>
            <a:r>
              <a:rPr sz="1150" b="0">
                <a:solidFill>
                  <a:srgbClr val="252423"/>
                </a:solidFill>
                <a:latin typeface="Segoe UI"/>
              </a:rPr>
              <a:t>X increase in its revenue by the end of forecast period, 2036. Global Helium-3 market is expected to be valued at US$</a:t>
            </a:r>
          </a:p>
        </p:txBody>
      </p:sp>
      <p:pic>
        <p:nvPicPr>
          <p:cNvPr id="32" name="Picture 31" descr="lock.png"/>
          <p:cNvPicPr>
            <a:picLocks noChangeAspect="1"/>
          </p:cNvPicPr>
          <p:nvPr/>
        </p:nvPicPr>
        <p:blipFill>
          <a:blip r:embed="rId6"/>
          <a:stretch>
            <a:fillRect/>
          </a:stretch>
        </p:blipFill>
        <p:spPr>
          <a:xfrm>
            <a:off x="10614689" y="4961826"/>
            <a:ext cx="134549" cy="195707"/>
          </a:xfrm>
          <a:prstGeom prst="rect">
            <a:avLst/>
          </a:prstGeom>
        </p:spPr>
      </p:pic>
      <p:sp>
        <p:nvSpPr>
          <p:cNvPr id="33" name="TextBox 32"/>
          <p:cNvSpPr txBox="1"/>
          <p:nvPr/>
        </p:nvSpPr>
        <p:spPr>
          <a:xfrm>
            <a:off x="10789799" y="4972050"/>
            <a:ext cx="841536" cy="194310"/>
          </a:xfrm>
          <a:prstGeom prst="rect">
            <a:avLst/>
          </a:prstGeom>
          <a:noFill/>
        </p:spPr>
        <p:txBody>
          <a:bodyPr wrap="none" lIns="0" rIns="0" tIns="0" bIns="0">
            <a:spAutoFit/>
          </a:bodyPr>
          <a:lstStyle/>
          <a:p>
            <a:r>
              <a:rPr sz="1150" b="0">
                <a:solidFill>
                  <a:srgbClr val="252423"/>
                </a:solidFill>
                <a:latin typeface="Segoe UI"/>
              </a:rPr>
              <a:t>Mn by 2036</a:t>
            </a:r>
          </a:p>
        </p:txBody>
      </p:sp>
      <p:sp>
        <p:nvSpPr>
          <p:cNvPr id="34" name="TextBox 33"/>
          <p:cNvSpPr txBox="1"/>
          <p:nvPr/>
        </p:nvSpPr>
        <p:spPr>
          <a:xfrm>
            <a:off x="276225" y="5147310"/>
            <a:ext cx="353181" cy="194310"/>
          </a:xfrm>
          <a:prstGeom prst="rect">
            <a:avLst/>
          </a:prstGeom>
          <a:noFill/>
        </p:spPr>
        <p:txBody>
          <a:bodyPr wrap="none" lIns="0" rIns="0" tIns="0" bIns="0">
            <a:spAutoFit/>
          </a:bodyPr>
          <a:lstStyle/>
          <a:p>
            <a:r>
              <a:rPr sz="1150" b="0">
                <a:solidFill>
                  <a:srgbClr val="252423"/>
                </a:solidFill>
                <a:latin typeface="Segoe UI"/>
              </a:rPr>
              <a:t>end.</a:t>
            </a:r>
          </a:p>
        </p:txBody>
      </p:sp>
      <p:sp>
        <p:nvSpPr>
          <p:cNvPr id="35" name="TextBox 34"/>
          <p:cNvSpPr txBox="1"/>
          <p:nvPr/>
        </p:nvSpPr>
        <p:spPr>
          <a:xfrm>
            <a:off x="276225" y="5375147"/>
            <a:ext cx="4103280" cy="194310"/>
          </a:xfrm>
          <a:prstGeom prst="rect">
            <a:avLst/>
          </a:prstGeom>
          <a:noFill/>
        </p:spPr>
        <p:txBody>
          <a:bodyPr wrap="none" lIns="0" rIns="0" tIns="0" bIns="0">
            <a:spAutoFit/>
          </a:bodyPr>
          <a:lstStyle/>
          <a:p>
            <a:r>
              <a:rPr sz="1150" b="0">
                <a:solidFill>
                  <a:srgbClr val="252423"/>
                </a:solidFill>
                <a:latin typeface="Segoe UI"/>
              </a:rPr>
              <a:t>It is projected to create overall incremental opportunity of US$</a:t>
            </a:r>
          </a:p>
        </p:txBody>
      </p:sp>
      <p:pic>
        <p:nvPicPr>
          <p:cNvPr id="36" name="Picture 35" descr="lock.png"/>
          <p:cNvPicPr>
            <a:picLocks noChangeAspect="1"/>
          </p:cNvPicPr>
          <p:nvPr/>
        </p:nvPicPr>
        <p:blipFill>
          <a:blip r:embed="rId6"/>
          <a:stretch>
            <a:fillRect/>
          </a:stretch>
        </p:blipFill>
        <p:spPr>
          <a:xfrm>
            <a:off x="4328659" y="5364924"/>
            <a:ext cx="134549" cy="195707"/>
          </a:xfrm>
          <a:prstGeom prst="rect">
            <a:avLst/>
          </a:prstGeom>
        </p:spPr>
      </p:pic>
      <p:sp>
        <p:nvSpPr>
          <p:cNvPr id="37" name="TextBox 36"/>
          <p:cNvSpPr txBox="1"/>
          <p:nvPr/>
        </p:nvSpPr>
        <p:spPr>
          <a:xfrm>
            <a:off x="4503769" y="5375147"/>
            <a:ext cx="4630893" cy="194310"/>
          </a:xfrm>
          <a:prstGeom prst="rect">
            <a:avLst/>
          </a:prstGeom>
          <a:noFill/>
        </p:spPr>
        <p:txBody>
          <a:bodyPr wrap="none" lIns="0" rIns="0" tIns="0" bIns="0">
            <a:spAutoFit/>
          </a:bodyPr>
          <a:lstStyle/>
          <a:p>
            <a:r>
              <a:rPr sz="1150" b="0">
                <a:solidFill>
                  <a:srgbClr val="252423"/>
                </a:solidFill>
                <a:latin typeface="Segoe UI"/>
              </a:rPr>
              <a:t>Mn from 2025 to 2036. Global Helium-3 market is projected to register</a:t>
            </a:r>
          </a:p>
        </p:txBody>
      </p:sp>
      <p:pic>
        <p:nvPicPr>
          <p:cNvPr id="38" name="Picture 37" descr="lock.png"/>
          <p:cNvPicPr>
            <a:picLocks noChangeAspect="1"/>
          </p:cNvPicPr>
          <p:nvPr/>
        </p:nvPicPr>
        <p:blipFill>
          <a:blip r:embed="rId6"/>
          <a:stretch>
            <a:fillRect/>
          </a:stretch>
        </p:blipFill>
        <p:spPr>
          <a:xfrm>
            <a:off x="9083816" y="5364924"/>
            <a:ext cx="134549" cy="195707"/>
          </a:xfrm>
          <a:prstGeom prst="rect">
            <a:avLst/>
          </a:prstGeom>
        </p:spPr>
      </p:pic>
      <p:sp>
        <p:nvSpPr>
          <p:cNvPr id="39" name="TextBox 38"/>
          <p:cNvSpPr txBox="1"/>
          <p:nvPr/>
        </p:nvSpPr>
        <p:spPr>
          <a:xfrm>
            <a:off x="9258926" y="5375147"/>
            <a:ext cx="2303377" cy="194310"/>
          </a:xfrm>
          <a:prstGeom prst="rect">
            <a:avLst/>
          </a:prstGeom>
          <a:noFill/>
        </p:spPr>
        <p:txBody>
          <a:bodyPr wrap="none" lIns="0" rIns="0" tIns="0" bIns="0">
            <a:spAutoFit/>
          </a:bodyPr>
          <a:lstStyle/>
          <a:p>
            <a:r>
              <a:rPr sz="1150" b="0">
                <a:solidFill>
                  <a:srgbClr val="252423"/>
                </a:solidFill>
                <a:latin typeface="Segoe UI"/>
              </a:rPr>
              <a:t>X increase in volume by the end of</a:t>
            </a:r>
          </a:p>
        </p:txBody>
      </p:sp>
      <p:sp>
        <p:nvSpPr>
          <p:cNvPr id="40" name="TextBox 39"/>
          <p:cNvSpPr txBox="1"/>
          <p:nvPr/>
        </p:nvSpPr>
        <p:spPr>
          <a:xfrm>
            <a:off x="276225" y="5550407"/>
            <a:ext cx="1466496" cy="194310"/>
          </a:xfrm>
          <a:prstGeom prst="rect">
            <a:avLst/>
          </a:prstGeom>
          <a:noFill/>
        </p:spPr>
        <p:txBody>
          <a:bodyPr wrap="none" lIns="0" rIns="0" tIns="0" bIns="0">
            <a:spAutoFit/>
          </a:bodyPr>
          <a:lstStyle/>
          <a:p>
            <a:r>
              <a:rPr sz="1150" b="0">
                <a:solidFill>
                  <a:srgbClr val="252423"/>
                </a:solidFill>
                <a:latin typeface="Segoe UI"/>
              </a:rPr>
              <a:t>forecast period, 2036.</a:t>
            </a:r>
          </a:p>
        </p:txBody>
      </p:sp>
      <p:sp>
        <p:nvSpPr>
          <p:cNvPr id="41" name="TextBox 40"/>
          <p:cNvSpPr txBox="1"/>
          <p:nvPr/>
        </p:nvSpPr>
        <p:spPr>
          <a:xfrm>
            <a:off x="276225" y="5778245"/>
            <a:ext cx="2707845" cy="194310"/>
          </a:xfrm>
          <a:prstGeom prst="rect">
            <a:avLst/>
          </a:prstGeom>
          <a:noFill/>
        </p:spPr>
        <p:txBody>
          <a:bodyPr wrap="none" lIns="0" rIns="0" tIns="0" bIns="0">
            <a:spAutoFit/>
          </a:bodyPr>
          <a:lstStyle/>
          <a:p>
            <a:r>
              <a:rPr sz="1150" b="0">
                <a:solidFill>
                  <a:srgbClr val="252423"/>
                </a:solidFill>
                <a:latin typeface="Segoe UI"/>
              </a:rPr>
              <a:t>Global Helium-3 market volume stood at</a:t>
            </a:r>
          </a:p>
        </p:txBody>
      </p:sp>
      <p:pic>
        <p:nvPicPr>
          <p:cNvPr id="42" name="Picture 41" descr="lock.png"/>
          <p:cNvPicPr>
            <a:picLocks noChangeAspect="1"/>
          </p:cNvPicPr>
          <p:nvPr/>
        </p:nvPicPr>
        <p:blipFill>
          <a:blip r:embed="rId6"/>
          <a:stretch>
            <a:fillRect/>
          </a:stretch>
        </p:blipFill>
        <p:spPr>
          <a:xfrm>
            <a:off x="2933224" y="5768022"/>
            <a:ext cx="134549" cy="195707"/>
          </a:xfrm>
          <a:prstGeom prst="rect">
            <a:avLst/>
          </a:prstGeom>
        </p:spPr>
      </p:pic>
      <p:sp>
        <p:nvSpPr>
          <p:cNvPr id="43" name="TextBox 42"/>
          <p:cNvSpPr txBox="1"/>
          <p:nvPr/>
        </p:nvSpPr>
        <p:spPr>
          <a:xfrm>
            <a:off x="3108333" y="5778245"/>
            <a:ext cx="2544974" cy="194310"/>
          </a:xfrm>
          <a:prstGeom prst="rect">
            <a:avLst/>
          </a:prstGeom>
          <a:noFill/>
        </p:spPr>
        <p:txBody>
          <a:bodyPr wrap="none" lIns="0" rIns="0" tIns="0" bIns="0">
            <a:spAutoFit/>
          </a:bodyPr>
          <a:lstStyle/>
          <a:p>
            <a:r>
              <a:rPr sz="1150" b="0">
                <a:solidFill>
                  <a:srgbClr val="252423"/>
                </a:solidFill>
                <a:latin typeface="Segoe UI"/>
              </a:rPr>
              <a:t>Litres in 2025 and is expected to reach</a:t>
            </a:r>
          </a:p>
        </p:txBody>
      </p:sp>
      <p:pic>
        <p:nvPicPr>
          <p:cNvPr id="44" name="Picture 43" descr="lock.png"/>
          <p:cNvPicPr>
            <a:picLocks noChangeAspect="1"/>
          </p:cNvPicPr>
          <p:nvPr/>
        </p:nvPicPr>
        <p:blipFill>
          <a:blip r:embed="rId6"/>
          <a:stretch>
            <a:fillRect/>
          </a:stretch>
        </p:blipFill>
        <p:spPr>
          <a:xfrm>
            <a:off x="5602462" y="5768022"/>
            <a:ext cx="134549" cy="195707"/>
          </a:xfrm>
          <a:prstGeom prst="rect">
            <a:avLst/>
          </a:prstGeom>
        </p:spPr>
      </p:pic>
      <p:sp>
        <p:nvSpPr>
          <p:cNvPr id="45" name="TextBox 44"/>
          <p:cNvSpPr txBox="1"/>
          <p:nvPr/>
        </p:nvSpPr>
        <p:spPr>
          <a:xfrm>
            <a:off x="5777571" y="5778245"/>
            <a:ext cx="2148752" cy="194310"/>
          </a:xfrm>
          <a:prstGeom prst="rect">
            <a:avLst/>
          </a:prstGeom>
          <a:noFill/>
        </p:spPr>
        <p:txBody>
          <a:bodyPr wrap="none" lIns="0" rIns="0" tIns="0" bIns="0">
            <a:spAutoFit/>
          </a:bodyPr>
          <a:lstStyle/>
          <a:p>
            <a:r>
              <a:rPr sz="1150" b="0">
                <a:solidFill>
                  <a:srgbClr val="252423"/>
                </a:solidFill>
                <a:latin typeface="Segoe UI"/>
              </a:rPr>
              <a:t>Litres by 2036 end, at a CAGR of</a:t>
            </a:r>
          </a:p>
        </p:txBody>
      </p:sp>
      <p:pic>
        <p:nvPicPr>
          <p:cNvPr id="46" name="Picture 45" descr="lock.png"/>
          <p:cNvPicPr>
            <a:picLocks noChangeAspect="1"/>
          </p:cNvPicPr>
          <p:nvPr/>
        </p:nvPicPr>
        <p:blipFill>
          <a:blip r:embed="rId6"/>
          <a:stretch>
            <a:fillRect/>
          </a:stretch>
        </p:blipFill>
        <p:spPr>
          <a:xfrm>
            <a:off x="7875477" y="5768022"/>
            <a:ext cx="134549" cy="195707"/>
          </a:xfrm>
          <a:prstGeom prst="rect">
            <a:avLst/>
          </a:prstGeom>
        </p:spPr>
      </p:pic>
      <p:sp>
        <p:nvSpPr>
          <p:cNvPr id="47" name="TextBox 46"/>
          <p:cNvSpPr txBox="1"/>
          <p:nvPr/>
        </p:nvSpPr>
        <p:spPr>
          <a:xfrm>
            <a:off x="8050587" y="5778245"/>
            <a:ext cx="3407943" cy="194310"/>
          </a:xfrm>
          <a:prstGeom prst="rect">
            <a:avLst/>
          </a:prstGeom>
          <a:noFill/>
        </p:spPr>
        <p:txBody>
          <a:bodyPr wrap="none" lIns="0" rIns="0" tIns="0" bIns="0">
            <a:spAutoFit/>
          </a:bodyPr>
          <a:lstStyle/>
          <a:p>
            <a:r>
              <a:rPr sz="1150" b="0">
                <a:solidFill>
                  <a:srgbClr val="252423"/>
                </a:solidFill>
                <a:latin typeface="Segoe UI"/>
              </a:rPr>
              <a:t>. Value is projected to grow faster than volume over</a:t>
            </a:r>
          </a:p>
        </p:txBody>
      </p:sp>
      <p:sp>
        <p:nvSpPr>
          <p:cNvPr id="48" name="TextBox 47"/>
          <p:cNvSpPr txBox="1"/>
          <p:nvPr/>
        </p:nvSpPr>
        <p:spPr>
          <a:xfrm>
            <a:off x="276225" y="5953505"/>
            <a:ext cx="4249371" cy="194310"/>
          </a:xfrm>
          <a:prstGeom prst="rect">
            <a:avLst/>
          </a:prstGeom>
          <a:noFill/>
        </p:spPr>
        <p:txBody>
          <a:bodyPr wrap="none" lIns="0" rIns="0" tIns="0" bIns="0">
            <a:spAutoFit/>
          </a:bodyPr>
          <a:lstStyle/>
          <a:p>
            <a:r>
              <a:rPr sz="1150" b="0">
                <a:solidFill>
                  <a:srgbClr val="252423"/>
                </a:solidFill>
                <a:latin typeface="Segoe UI"/>
              </a:rPr>
              <a:t>the forecast period, owing to an increase in average selling price.</a:t>
            </a:r>
          </a:p>
        </p:txBody>
      </p:sp>
      <p:sp>
        <p:nvSpPr>
          <p:cNvPr id="49" name="lockshield_10"/>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ockshield_13"/>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Summary Country Indices (Value)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1"/>
        </p:xfrm>
        <a:graphic>
          <a:graphicData uri="http://schemas.openxmlformats.org/drawingml/2006/table">
            <a:tbl>
              <a:tblPr>
                <a:tableStyleId>{5C22544A-7EE6-4342-B048-85BDC9FD1C3A}</a:tableStyleId>
              </a:tblPr>
              <a:tblGrid>
                <a:gridCol w="812699"/>
                <a:gridCol w="1036778"/>
                <a:gridCol w="710280"/>
                <a:gridCol w="1355018"/>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377189">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52423"/>
                          </a:solidFill>
                          <a:latin typeface="Segoe UI"/>
                        </a:rPr>
                        <a:t>Germany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77189">
                <a:tc>
                  <a:txBody>
                    <a:bodyPr wrap="none"/>
                    <a:lstStyle/>
                    <a:p>
                      <a:pPr algn="l"/>
                      <a:r>
                        <a:rPr sz="1100" b="1">
                          <a:solidFill>
                            <a:srgbClr val="252423"/>
                          </a:solidFill>
                          <a:latin typeface="Segoe U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77189">
                <a:tc>
                  <a:txBody>
                    <a:bodyPr wrap="none"/>
                    <a:lstStyle/>
                    <a:p>
                      <a:pPr algn="l"/>
                      <a:r>
                        <a:rPr sz="1100" b="1">
                          <a:solidFill>
                            <a:srgbClr val="252423"/>
                          </a:solidFill>
                          <a:latin typeface="Segoe UI"/>
                        </a:rPr>
                        <a:t>Poland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2523950" cy="1794080"/>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 </a:t>
            </a:r>
          </a:p>
        </p:txBody>
      </p:sp>
      <p:sp>
        <p:nvSpPr>
          <p:cNvPr id="17" name="Rectangle 16"/>
          <p:cNvSpPr/>
          <p:nvPr/>
        </p:nvSpPr>
        <p:spPr>
          <a:xfrm>
            <a:off x="6734000" y="1293011"/>
            <a:ext cx="1219375" cy="1794080"/>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8" name="Rectangle 17"/>
          <p:cNvSpPr/>
          <p:nvPr/>
        </p:nvSpPr>
        <p:spPr>
          <a:xfrm>
            <a:off x="4210050" y="3087091"/>
            <a:ext cx="1452626" cy="1407612"/>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 </a:t>
            </a:r>
          </a:p>
        </p:txBody>
      </p:sp>
      <p:sp>
        <p:nvSpPr>
          <p:cNvPr id="19" name="Rectangle 18"/>
          <p:cNvSpPr/>
          <p:nvPr/>
        </p:nvSpPr>
        <p:spPr>
          <a:xfrm>
            <a:off x="4210050" y="4494703"/>
            <a:ext cx="1452626" cy="1383906"/>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 </a:t>
            </a:r>
          </a:p>
        </p:txBody>
      </p:sp>
      <p:sp>
        <p:nvSpPr>
          <p:cNvPr id="20" name="Rectangle 19"/>
          <p:cNvSpPr/>
          <p:nvPr/>
        </p:nvSpPr>
        <p:spPr>
          <a:xfrm>
            <a:off x="5662676" y="3087091"/>
            <a:ext cx="1148173" cy="1260029"/>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Brazil</a:t>
            </a:r>
          </a:p>
          <a:p>
            <a:pPr algn="ctr"/>
            <a:r>
              <a:rPr sz="1100" b="0">
                <a:solidFill>
                  <a:srgbClr val="252423"/>
                </a:solidFill>
                <a:latin typeface="Segoe UI"/>
              </a:rPr>
              <a:t> </a:t>
            </a:r>
          </a:p>
        </p:txBody>
      </p:sp>
      <p:sp>
        <p:nvSpPr>
          <p:cNvPr id="21" name="Rectangle 20"/>
          <p:cNvSpPr/>
          <p:nvPr/>
        </p:nvSpPr>
        <p:spPr>
          <a:xfrm>
            <a:off x="6810849" y="3087091"/>
            <a:ext cx="1142526" cy="1260029"/>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22" name="Rectangle 21"/>
          <p:cNvSpPr/>
          <p:nvPr/>
        </p:nvSpPr>
        <p:spPr>
          <a:xfrm>
            <a:off x="5662676" y="4347120"/>
            <a:ext cx="1182618" cy="786238"/>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Kingdom of Saudi Arabia</a:t>
            </a:r>
          </a:p>
          <a:p>
            <a:pPr algn="ctr"/>
            <a:r>
              <a:rPr sz="1100" b="0">
                <a:solidFill>
                  <a:srgbClr val="252423"/>
                </a:solidFill>
                <a:latin typeface="Segoe UI"/>
              </a:rPr>
              <a:t> </a:t>
            </a:r>
          </a:p>
        </p:txBody>
      </p:sp>
      <p:sp>
        <p:nvSpPr>
          <p:cNvPr id="23" name="Rectangle 22"/>
          <p:cNvSpPr/>
          <p:nvPr/>
        </p:nvSpPr>
        <p:spPr>
          <a:xfrm>
            <a:off x="5662676" y="5133358"/>
            <a:ext cx="1182618" cy="745251"/>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 </a:t>
            </a:r>
          </a:p>
        </p:txBody>
      </p:sp>
      <p:sp>
        <p:nvSpPr>
          <p:cNvPr id="24" name="Rectangle 23"/>
          <p:cNvSpPr/>
          <p:nvPr/>
        </p:nvSpPr>
        <p:spPr>
          <a:xfrm>
            <a:off x="6845295" y="4347120"/>
            <a:ext cx="1108080" cy="780138"/>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 </a:t>
            </a:r>
          </a:p>
        </p:txBody>
      </p:sp>
      <p:sp>
        <p:nvSpPr>
          <p:cNvPr id="25" name="Rectangle 24"/>
          <p:cNvSpPr/>
          <p:nvPr/>
        </p:nvSpPr>
        <p:spPr>
          <a:xfrm>
            <a:off x="6845295" y="5127258"/>
            <a:ext cx="1108080" cy="751351"/>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 </a:t>
            </a:r>
          </a:p>
        </p:txBody>
      </p:sp>
      <p:sp>
        <p:nvSpPr>
          <p:cNvPr id="26" name="Rectangle 25"/>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8" name="Chart 27"/>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9" name="Rectangle 28"/>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8096250" y="3547710"/>
          <a:ext cx="3914774" cy="2159451"/>
        </p:xfrm>
        <a:graphic>
          <a:graphicData uri="http://schemas.openxmlformats.org/drawingml/2006/table">
            <a:tbl>
              <a:tblPr>
                <a:tableStyleId>{5C22544A-7EE6-4342-B048-85BDC9FD1C3A}</a:tableStyleId>
              </a:tblPr>
              <a:tblGrid>
                <a:gridCol w="704897"/>
                <a:gridCol w="1230006"/>
                <a:gridCol w="680900"/>
                <a:gridCol w="1298971"/>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382665">
                <a:tc>
                  <a:txBody>
                    <a:bodyPr wrap="none"/>
                    <a:lstStyle/>
                    <a:p>
                      <a:pPr algn="l"/>
                      <a:r>
                        <a:rPr sz="1100" b="1">
                          <a:solidFill>
                            <a:srgbClr val="252423"/>
                          </a:solidFill>
                          <a:latin typeface="Segoe U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52423"/>
                          </a:solidFill>
                          <a:latin typeface="Segoe UI"/>
                        </a:rPr>
                        <a:t>India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82665">
                <a:tc>
                  <a:txBody>
                    <a:bodyPr wrap="none"/>
                    <a:lstStyle/>
                    <a:p>
                      <a:pPr algn="l"/>
                      <a:r>
                        <a:rPr sz="1100" b="1">
                          <a:solidFill>
                            <a:srgbClr val="252423"/>
                          </a:solidFill>
                          <a:latin typeface="Segoe U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52423"/>
                          </a:solidFill>
                          <a:latin typeface="Segoe UI"/>
                        </a:rPr>
                        <a:t>China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82665">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1" name="TextBox 30"/>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32" name="Rectangle 31"/>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340898" y="4504722"/>
            <a:ext cx="344218" cy="500680"/>
          </a:xfrm>
          <a:prstGeom prst="rect">
            <a:avLst/>
          </a:prstGeom>
        </p:spPr>
      </p:pic>
      <p:pic>
        <p:nvPicPr>
          <p:cNvPr id="36" name="Picture 35" descr="lock.png"/>
          <p:cNvPicPr>
            <a:picLocks noChangeAspect="1"/>
          </p:cNvPicPr>
          <p:nvPr/>
        </p:nvPicPr>
        <p:blipFill>
          <a:blip r:embed="rId6"/>
          <a:stretch>
            <a:fillRect/>
          </a:stretch>
        </p:blipFill>
        <p:spPr>
          <a:xfrm>
            <a:off x="5414399" y="2190051"/>
            <a:ext cx="115252" cy="167639"/>
          </a:xfrm>
          <a:prstGeom prst="rect">
            <a:avLst/>
          </a:prstGeom>
        </p:spPr>
      </p:pic>
      <p:pic>
        <p:nvPicPr>
          <p:cNvPr id="37" name="Picture 36" descr="lock.png"/>
          <p:cNvPicPr>
            <a:picLocks noChangeAspect="1"/>
          </p:cNvPicPr>
          <p:nvPr/>
        </p:nvPicPr>
        <p:blipFill>
          <a:blip r:embed="rId6"/>
          <a:stretch>
            <a:fillRect/>
          </a:stretch>
        </p:blipFill>
        <p:spPr>
          <a:xfrm>
            <a:off x="7286061" y="2190051"/>
            <a:ext cx="115252" cy="167639"/>
          </a:xfrm>
          <a:prstGeom prst="rect">
            <a:avLst/>
          </a:prstGeom>
        </p:spPr>
      </p:pic>
      <p:pic>
        <p:nvPicPr>
          <p:cNvPr id="38" name="Picture 37" descr="lock.png"/>
          <p:cNvPicPr>
            <a:picLocks noChangeAspect="1"/>
          </p:cNvPicPr>
          <p:nvPr/>
        </p:nvPicPr>
        <p:blipFill>
          <a:blip r:embed="rId6"/>
          <a:stretch>
            <a:fillRect/>
          </a:stretch>
        </p:blipFill>
        <p:spPr>
          <a:xfrm>
            <a:off x="4878737" y="3790897"/>
            <a:ext cx="115252" cy="167639"/>
          </a:xfrm>
          <a:prstGeom prst="rect">
            <a:avLst/>
          </a:prstGeom>
        </p:spPr>
      </p:pic>
      <p:pic>
        <p:nvPicPr>
          <p:cNvPr id="39" name="Picture 38" descr="lock.png"/>
          <p:cNvPicPr>
            <a:picLocks noChangeAspect="1"/>
          </p:cNvPicPr>
          <p:nvPr/>
        </p:nvPicPr>
        <p:blipFill>
          <a:blip r:embed="rId6"/>
          <a:stretch>
            <a:fillRect/>
          </a:stretch>
        </p:blipFill>
        <p:spPr>
          <a:xfrm>
            <a:off x="4878737" y="5186656"/>
            <a:ext cx="115252" cy="167639"/>
          </a:xfrm>
          <a:prstGeom prst="rect">
            <a:avLst/>
          </a:prstGeom>
        </p:spPr>
      </p:pic>
      <p:pic>
        <p:nvPicPr>
          <p:cNvPr id="40" name="Picture 39" descr="lock.png"/>
          <p:cNvPicPr>
            <a:picLocks noChangeAspect="1"/>
          </p:cNvPicPr>
          <p:nvPr/>
        </p:nvPicPr>
        <p:blipFill>
          <a:blip r:embed="rId6"/>
          <a:stretch>
            <a:fillRect/>
          </a:stretch>
        </p:blipFill>
        <p:spPr>
          <a:xfrm>
            <a:off x="6179136" y="3717105"/>
            <a:ext cx="115252" cy="167639"/>
          </a:xfrm>
          <a:prstGeom prst="rect">
            <a:avLst/>
          </a:prstGeom>
        </p:spPr>
      </p:pic>
      <p:pic>
        <p:nvPicPr>
          <p:cNvPr id="41" name="Picture 40" descr="lock.png"/>
          <p:cNvPicPr>
            <a:picLocks noChangeAspect="1"/>
          </p:cNvPicPr>
          <p:nvPr/>
        </p:nvPicPr>
        <p:blipFill>
          <a:blip r:embed="rId6"/>
          <a:stretch>
            <a:fillRect/>
          </a:stretch>
        </p:blipFill>
        <p:spPr>
          <a:xfrm>
            <a:off x="7324486" y="3717105"/>
            <a:ext cx="115252" cy="167639"/>
          </a:xfrm>
          <a:prstGeom prst="rect">
            <a:avLst/>
          </a:prstGeom>
        </p:spPr>
      </p:pic>
      <p:pic>
        <p:nvPicPr>
          <p:cNvPr id="42" name="Picture 41" descr="lock.png"/>
          <p:cNvPicPr>
            <a:picLocks noChangeAspect="1"/>
          </p:cNvPicPr>
          <p:nvPr/>
        </p:nvPicPr>
        <p:blipFill>
          <a:blip r:embed="rId6"/>
          <a:stretch>
            <a:fillRect/>
          </a:stretch>
        </p:blipFill>
        <p:spPr>
          <a:xfrm>
            <a:off x="6196359" y="4740239"/>
            <a:ext cx="115252" cy="167639"/>
          </a:xfrm>
          <a:prstGeom prst="rect">
            <a:avLst/>
          </a:prstGeom>
        </p:spPr>
      </p:pic>
      <p:pic>
        <p:nvPicPr>
          <p:cNvPr id="43" name="Picture 42" descr="lock.png"/>
          <p:cNvPicPr>
            <a:picLocks noChangeAspect="1"/>
          </p:cNvPicPr>
          <p:nvPr/>
        </p:nvPicPr>
        <p:blipFill>
          <a:blip r:embed="rId6"/>
          <a:stretch>
            <a:fillRect/>
          </a:stretch>
        </p:blipFill>
        <p:spPr>
          <a:xfrm>
            <a:off x="6196359" y="5505983"/>
            <a:ext cx="115252" cy="167639"/>
          </a:xfrm>
          <a:prstGeom prst="rect">
            <a:avLst/>
          </a:prstGeom>
        </p:spPr>
      </p:pic>
      <p:pic>
        <p:nvPicPr>
          <p:cNvPr id="44" name="Picture 43" descr="lock.png"/>
          <p:cNvPicPr>
            <a:picLocks noChangeAspect="1"/>
          </p:cNvPicPr>
          <p:nvPr/>
        </p:nvPicPr>
        <p:blipFill>
          <a:blip r:embed="rId6"/>
          <a:stretch>
            <a:fillRect/>
          </a:stretch>
        </p:blipFill>
        <p:spPr>
          <a:xfrm>
            <a:off x="7341709" y="4737189"/>
            <a:ext cx="115252" cy="167639"/>
          </a:xfrm>
          <a:prstGeom prst="rect">
            <a:avLst/>
          </a:prstGeom>
        </p:spPr>
      </p:pic>
      <p:pic>
        <p:nvPicPr>
          <p:cNvPr id="45" name="Picture 44" descr="lock.png"/>
          <p:cNvPicPr>
            <a:picLocks noChangeAspect="1"/>
          </p:cNvPicPr>
          <p:nvPr/>
        </p:nvPicPr>
        <p:blipFill>
          <a:blip r:embed="rId6"/>
          <a:stretch>
            <a:fillRect/>
          </a:stretch>
        </p:blipFill>
        <p:spPr>
          <a:xfrm>
            <a:off x="7341709" y="5502933"/>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226538" y="4494003"/>
            <a:ext cx="352681" cy="512990"/>
          </a:xfrm>
          <a:prstGeom prst="rect">
            <a:avLst/>
          </a:prstGeom>
        </p:spPr>
      </p:pic>
      <p:sp>
        <p:nvSpPr>
          <p:cNvPr id="48" name="TextBox 47"/>
          <p:cNvSpPr txBox="1"/>
          <p:nvPr/>
        </p:nvSpPr>
        <p:spPr>
          <a:xfrm>
            <a:off x="257175" y="6160574"/>
            <a:ext cx="3076595" cy="186689"/>
          </a:xfrm>
          <a:prstGeom prst="rect">
            <a:avLst/>
          </a:prstGeom>
          <a:noFill/>
        </p:spPr>
        <p:txBody>
          <a:bodyPr wrap="none" lIns="0" rIns="0" tIns="0" bIns="0">
            <a:spAutoFit/>
          </a:bodyPr>
          <a:lstStyle/>
          <a:p>
            <a:r>
              <a:rPr sz="1100" b="0">
                <a:solidFill>
                  <a:srgbClr val="252423"/>
                </a:solidFill>
                <a:latin typeface="Segoe UI"/>
              </a:rPr>
              <a:t>The U.S. Helium-3 market is projected to register</a:t>
            </a:r>
          </a:p>
        </p:txBody>
      </p:sp>
      <p:pic>
        <p:nvPicPr>
          <p:cNvPr id="49" name="Picture 48" descr="lock.png"/>
          <p:cNvPicPr>
            <a:picLocks noChangeAspect="1"/>
          </p:cNvPicPr>
          <p:nvPr/>
        </p:nvPicPr>
        <p:blipFill>
          <a:blip r:embed="rId6"/>
          <a:stretch>
            <a:fillRect/>
          </a:stretch>
        </p:blipFill>
        <p:spPr>
          <a:xfrm>
            <a:off x="3281821" y="6150795"/>
            <a:ext cx="128699" cy="187198"/>
          </a:xfrm>
          <a:prstGeom prst="rect">
            <a:avLst/>
          </a:prstGeom>
        </p:spPr>
      </p:pic>
      <p:sp>
        <p:nvSpPr>
          <p:cNvPr id="50" name="TextBox 49"/>
          <p:cNvSpPr txBox="1"/>
          <p:nvPr/>
        </p:nvSpPr>
        <p:spPr>
          <a:xfrm>
            <a:off x="3449317" y="6160574"/>
            <a:ext cx="4580092" cy="186689"/>
          </a:xfrm>
          <a:prstGeom prst="rect">
            <a:avLst/>
          </a:prstGeom>
          <a:noFill/>
        </p:spPr>
        <p:txBody>
          <a:bodyPr wrap="none" lIns="0" rIns="0" tIns="0" bIns="0">
            <a:spAutoFit/>
          </a:bodyPr>
          <a:lstStyle/>
          <a:p>
            <a:r>
              <a:rPr sz="1100" b="0">
                <a:solidFill>
                  <a:srgbClr val="252423"/>
                </a:solidFill>
                <a:latin typeface="Segoe UI"/>
              </a:rPr>
              <a:t>X higher value than Canada in 2036. India posts the highest CAGR Index (</a:t>
            </a:r>
          </a:p>
        </p:txBody>
      </p:sp>
      <p:pic>
        <p:nvPicPr>
          <p:cNvPr id="51" name="Picture 50" descr="lock.png"/>
          <p:cNvPicPr>
            <a:picLocks noChangeAspect="1"/>
          </p:cNvPicPr>
          <p:nvPr/>
        </p:nvPicPr>
        <p:blipFill>
          <a:blip r:embed="rId6"/>
          <a:stretch>
            <a:fillRect/>
          </a:stretch>
        </p:blipFill>
        <p:spPr>
          <a:xfrm>
            <a:off x="7977461" y="6150795"/>
            <a:ext cx="128699" cy="187198"/>
          </a:xfrm>
          <a:prstGeom prst="rect">
            <a:avLst/>
          </a:prstGeom>
        </p:spPr>
      </p:pic>
      <p:sp>
        <p:nvSpPr>
          <p:cNvPr id="52" name="TextBox 51"/>
          <p:cNvSpPr txBox="1"/>
          <p:nvPr/>
        </p:nvSpPr>
        <p:spPr>
          <a:xfrm>
            <a:off x="8144957" y="6160574"/>
            <a:ext cx="852978" cy="186689"/>
          </a:xfrm>
          <a:prstGeom prst="rect">
            <a:avLst/>
          </a:prstGeom>
          <a:noFill/>
        </p:spPr>
        <p:txBody>
          <a:bodyPr wrap="none" lIns="0" rIns="0" tIns="0" bIns="0">
            <a:spAutoFit/>
          </a:bodyPr>
          <a:lstStyle/>
          <a:p>
            <a:r>
              <a:rPr sz="1100" b="0">
                <a:solidFill>
                  <a:srgbClr val="252423"/>
                </a:solidFill>
                <a:latin typeface="Segoe UI"/>
              </a:rPr>
              <a:t>), growing at</a:t>
            </a:r>
          </a:p>
        </p:txBody>
      </p:sp>
      <p:pic>
        <p:nvPicPr>
          <p:cNvPr id="53" name="Picture 52" descr="lock.png"/>
          <p:cNvPicPr>
            <a:picLocks noChangeAspect="1"/>
          </p:cNvPicPr>
          <p:nvPr/>
        </p:nvPicPr>
        <p:blipFill>
          <a:blip r:embed="rId6"/>
          <a:stretch>
            <a:fillRect/>
          </a:stretch>
        </p:blipFill>
        <p:spPr>
          <a:xfrm>
            <a:off x="8945987" y="6150795"/>
            <a:ext cx="128699" cy="187198"/>
          </a:xfrm>
          <a:prstGeom prst="rect">
            <a:avLst/>
          </a:prstGeom>
        </p:spPr>
      </p:pic>
      <p:sp>
        <p:nvSpPr>
          <p:cNvPr id="54" name="TextBox 53"/>
          <p:cNvSpPr txBox="1"/>
          <p:nvPr/>
        </p:nvSpPr>
        <p:spPr>
          <a:xfrm>
            <a:off x="9113483" y="6160574"/>
            <a:ext cx="1182037" cy="186689"/>
          </a:xfrm>
          <a:prstGeom prst="rect">
            <a:avLst/>
          </a:prstGeom>
          <a:noFill/>
        </p:spPr>
        <p:txBody>
          <a:bodyPr wrap="none" lIns="0" rIns="0" tIns="0" bIns="0">
            <a:spAutoFit/>
          </a:bodyPr>
          <a:lstStyle/>
          <a:p>
            <a:r>
              <a:rPr sz="1100" b="0">
                <a:solidFill>
                  <a:srgbClr val="252423"/>
                </a:solidFill>
                <a:latin typeface="Segoe UI"/>
              </a:rPr>
              <a:t>against the global</a:t>
            </a:r>
          </a:p>
        </p:txBody>
      </p:sp>
      <p:sp>
        <p:nvSpPr>
          <p:cNvPr id="55" name="TextBox 54"/>
          <p:cNvSpPr txBox="1"/>
          <p:nvPr/>
        </p:nvSpPr>
        <p:spPr>
          <a:xfrm>
            <a:off x="257175" y="6328214"/>
            <a:ext cx="3838362" cy="186689"/>
          </a:xfrm>
          <a:prstGeom prst="rect">
            <a:avLst/>
          </a:prstGeom>
          <a:noFill/>
        </p:spPr>
        <p:txBody>
          <a:bodyPr wrap="none" lIns="0" rIns="0" tIns="0" bIns="0">
            <a:spAutoFit/>
          </a:bodyPr>
          <a:lstStyle/>
          <a:p>
            <a:r>
              <a:rPr sz="1100" b="0">
                <a:solidFill>
                  <a:srgbClr val="252423"/>
                </a:solidFill>
                <a:latin typeface="Segoe UI"/>
              </a:rPr>
              <a:t>benchmark, while U.S. offers the largest absolute opportunity</a:t>
            </a:r>
          </a:p>
        </p:txBody>
      </p:sp>
      <p:pic>
        <p:nvPicPr>
          <p:cNvPr id="56" name="Picture 55" descr="lock.png"/>
          <p:cNvPicPr>
            <a:picLocks noChangeAspect="1"/>
          </p:cNvPicPr>
          <p:nvPr/>
        </p:nvPicPr>
        <p:blipFill>
          <a:blip r:embed="rId6"/>
          <a:stretch>
            <a:fillRect/>
          </a:stretch>
        </p:blipFill>
        <p:spPr>
          <a:xfrm>
            <a:off x="4043589" y="6318435"/>
            <a:ext cx="128699" cy="187198"/>
          </a:xfrm>
          <a:prstGeom prst="rect">
            <a:avLst/>
          </a:prstGeom>
        </p:spPr>
      </p:pic>
      <p:sp>
        <p:nvSpPr>
          <p:cNvPr id="57" name="TextBox 56"/>
          <p:cNvSpPr txBox="1"/>
          <p:nvPr/>
        </p:nvSpPr>
        <p:spPr>
          <a:xfrm>
            <a:off x="4211085" y="6328214"/>
            <a:ext cx="3556848" cy="186689"/>
          </a:xfrm>
          <a:prstGeom prst="rect">
            <a:avLst/>
          </a:prstGeom>
          <a:noFill/>
        </p:spPr>
        <p:txBody>
          <a:bodyPr wrap="none" lIns="0" rIns="0" tIns="0" bIns="0">
            <a:spAutoFit/>
          </a:bodyPr>
          <a:lstStyle/>
          <a:p>
            <a:r>
              <a:rPr sz="1100" b="0">
                <a:solidFill>
                  <a:srgbClr val="252423"/>
                </a:solidFill>
                <a:latin typeface="Segoe UI"/>
              </a:rPr>
              <a:t>US$ Mn of incremental market between 2026 and 2036 (</a:t>
            </a:r>
          </a:p>
        </p:txBody>
      </p:sp>
      <p:pic>
        <p:nvPicPr>
          <p:cNvPr id="58" name="Picture 57" descr="lock.png"/>
          <p:cNvPicPr>
            <a:picLocks noChangeAspect="1"/>
          </p:cNvPicPr>
          <p:nvPr/>
        </p:nvPicPr>
        <p:blipFill>
          <a:blip r:embed="rId6"/>
          <a:stretch>
            <a:fillRect/>
          </a:stretch>
        </p:blipFill>
        <p:spPr>
          <a:xfrm>
            <a:off x="7715984" y="6318435"/>
            <a:ext cx="128699" cy="187198"/>
          </a:xfrm>
          <a:prstGeom prst="rect">
            <a:avLst/>
          </a:prstGeom>
        </p:spPr>
      </p:pic>
      <p:sp>
        <p:nvSpPr>
          <p:cNvPr id="59" name="TextBox 58"/>
          <p:cNvSpPr txBox="1"/>
          <p:nvPr/>
        </p:nvSpPr>
        <p:spPr>
          <a:xfrm>
            <a:off x="7883480" y="6328214"/>
            <a:ext cx="1593156" cy="186689"/>
          </a:xfrm>
          <a:prstGeom prst="rect">
            <a:avLst/>
          </a:prstGeom>
          <a:noFill/>
        </p:spPr>
        <p:txBody>
          <a:bodyPr wrap="none" lIns="0" rIns="0" tIns="0" bIns="0">
            <a:spAutoFit/>
          </a:bodyPr>
          <a:lstStyle/>
          <a:p>
            <a:r>
              <a:rPr sz="1100" b="0">
                <a:solidFill>
                  <a:srgbClr val="252423"/>
                </a:solidFill>
                <a:latin typeface="Segoe UI"/>
              </a:rPr>
              <a:t>of the global increment).</a:t>
            </a:r>
          </a:p>
        </p:txBody>
      </p:sp>
      <p:sp>
        <p:nvSpPr>
          <p:cNvPr id="60" name="lockshield_10"/>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8"/>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Summary Country Indices (Value)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98107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057275"/>
          <a:ext cx="11887201" cy="1485896"/>
        </p:xfrm>
        <a:graphic>
          <a:graphicData uri="http://schemas.openxmlformats.org/drawingml/2006/table">
            <a:tbl>
              <a:tblPr>
                <a:tableStyleId>{5C22544A-7EE6-4342-B048-85BDC9FD1C3A}</a:tableStyleId>
              </a:tblPr>
              <a:tblGrid>
                <a:gridCol w="1924228"/>
                <a:gridCol w="3320991"/>
                <a:gridCol w="3320991"/>
                <a:gridCol w="3320991"/>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Russia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Turkiye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0" name="TextBox 9"/>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1" name="Rectangle 10"/>
          <p:cNvSpPr/>
          <p:nvPr/>
        </p:nvSpPr>
        <p:spPr>
          <a:xfrm>
            <a:off x="142875" y="290512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3987940"/>
                <a:gridCol w="2633087"/>
                <a:gridCol w="2633087"/>
                <a:gridCol w="2633087"/>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Russia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ASEAN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Kingdom of Saudi Arabia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4"/>
          <a:stretch>
            <a:fillRect/>
          </a:stretch>
        </p:blipFill>
        <p:spPr>
          <a:xfrm>
            <a:off x="6871424"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7903280" y="3580638"/>
            <a:ext cx="366712" cy="5334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Overview (1/4)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market size, competitive landscape and the drivers, restraints and trends shaping demand</a:t>
            </a:r>
          </a:p>
        </p:txBody>
      </p:sp>
      <p:sp>
        <p:nvSpPr>
          <p:cNvPr id="8" name="Rectangle 7"/>
          <p:cNvSpPr/>
          <p:nvPr/>
        </p:nvSpPr>
        <p:spPr>
          <a:xfrm>
            <a:off x="142875" y="981075"/>
            <a:ext cx="1190625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Market Overview</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2" name="Rectangle 11"/>
          <p:cNvSpPr/>
          <p:nvPr/>
        </p:nvSpPr>
        <p:spPr>
          <a:xfrm>
            <a:off x="142875" y="2857500"/>
            <a:ext cx="11906250" cy="1628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Competitive Landscape</a:t>
            </a:r>
          </a:p>
        </p:txBody>
      </p:sp>
      <p:sp>
        <p:nvSpPr>
          <p:cNvPr id="14" name="Rectangle 13"/>
          <p:cNvSpPr/>
          <p:nvPr/>
        </p:nvSpPr>
        <p:spPr>
          <a:xfrm>
            <a:off x="276225" y="31813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Rectangle 15"/>
          <p:cNvSpPr/>
          <p:nvPr/>
        </p:nvSpPr>
        <p:spPr>
          <a:xfrm>
            <a:off x="142875" y="4619625"/>
            <a:ext cx="3943350"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07BA5"/>
                </a:solidFill>
                <a:latin typeface="Segoe UI"/>
              </a:rPr>
              <a:t>Drivers</a:t>
            </a:r>
          </a:p>
        </p:txBody>
      </p:sp>
      <p:sp>
        <p:nvSpPr>
          <p:cNvPr id="18" name="Rectangle 17"/>
          <p:cNvSpPr/>
          <p:nvPr/>
        </p:nvSpPr>
        <p:spPr>
          <a:xfrm>
            <a:off x="276225" y="4943475"/>
            <a:ext cx="3676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4238625" y="4619625"/>
            <a:ext cx="3819525"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07BA5"/>
                </a:solidFill>
                <a:latin typeface="Segoe UI"/>
              </a:rPr>
              <a:t>Restraints</a:t>
            </a:r>
          </a:p>
        </p:txBody>
      </p:sp>
      <p:sp>
        <p:nvSpPr>
          <p:cNvPr id="22" name="Rectangle 21"/>
          <p:cNvSpPr/>
          <p:nvPr/>
        </p:nvSpPr>
        <p:spPr>
          <a:xfrm>
            <a:off x="4371975" y="49434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8210550" y="4619625"/>
            <a:ext cx="3819525"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07BA5"/>
                </a:solidFill>
                <a:latin typeface="Segoe UI"/>
              </a:rPr>
              <a:t>Trends</a:t>
            </a:r>
          </a:p>
        </p:txBody>
      </p:sp>
      <p:sp>
        <p:nvSpPr>
          <p:cNvPr id="26" name="Rectangle 25"/>
          <p:cNvSpPr/>
          <p:nvPr/>
        </p:nvSpPr>
        <p:spPr>
          <a:xfrm>
            <a:off x="8343900" y="49434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Mix shifting toward 'Gaseous Helium-3' and higher-growth tiers.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South Asia &amp; Pacific outpacing the global average.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broadening across 2 product form categories.</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3070684" cy="194310"/>
          </a:xfrm>
          <a:prstGeom prst="rect">
            <a:avLst/>
          </a:prstGeom>
          <a:noFill/>
        </p:spPr>
        <p:txBody>
          <a:bodyPr wrap="none" lIns="0" rIns="0" tIns="0" bIns="0">
            <a:spAutoFit/>
          </a:bodyPr>
          <a:lstStyle/>
          <a:p>
            <a:r>
              <a:rPr sz="1150" b="0">
                <a:solidFill>
                  <a:srgbClr val="252423"/>
                </a:solidFill>
                <a:latin typeface="Segoe UI"/>
              </a:rPr>
              <a:t>Global Helium-3 market is expected to witness</a:t>
            </a:r>
          </a:p>
        </p:txBody>
      </p:sp>
      <p:pic>
        <p:nvPicPr>
          <p:cNvPr id="30" name="Picture 29" descr="lock.png"/>
          <p:cNvPicPr>
            <a:picLocks noChangeAspect="1"/>
          </p:cNvPicPr>
          <p:nvPr/>
        </p:nvPicPr>
        <p:blipFill>
          <a:blip r:embed="rId4"/>
          <a:stretch>
            <a:fillRect/>
          </a:stretch>
        </p:blipFill>
        <p:spPr>
          <a:xfrm>
            <a:off x="3296063" y="1389951"/>
            <a:ext cx="134549" cy="195707"/>
          </a:xfrm>
          <a:prstGeom prst="rect">
            <a:avLst/>
          </a:prstGeom>
        </p:spPr>
      </p:pic>
      <p:sp>
        <p:nvSpPr>
          <p:cNvPr id="31" name="TextBox 30"/>
          <p:cNvSpPr txBox="1"/>
          <p:nvPr/>
        </p:nvSpPr>
        <p:spPr>
          <a:xfrm>
            <a:off x="3471172" y="1400175"/>
            <a:ext cx="5124169" cy="194310"/>
          </a:xfrm>
          <a:prstGeom prst="rect">
            <a:avLst/>
          </a:prstGeom>
          <a:noFill/>
        </p:spPr>
        <p:txBody>
          <a:bodyPr wrap="none" lIns="0" rIns="0" tIns="0" bIns="0">
            <a:spAutoFit/>
          </a:bodyPr>
          <a:lstStyle/>
          <a:p>
            <a:r>
              <a:rPr sz="1150" b="0">
                <a:solidFill>
                  <a:srgbClr val="252423"/>
                </a:solidFill>
                <a:latin typeface="Segoe UI"/>
              </a:rPr>
              <a:t>X increase in revenue by 2036 end. Global Helium-3 market accounted for US$</a:t>
            </a:r>
          </a:p>
        </p:txBody>
      </p:sp>
      <p:pic>
        <p:nvPicPr>
          <p:cNvPr id="32" name="Picture 31" descr="lock.png"/>
          <p:cNvPicPr>
            <a:picLocks noChangeAspect="1"/>
          </p:cNvPicPr>
          <p:nvPr/>
        </p:nvPicPr>
        <p:blipFill>
          <a:blip r:embed="rId4"/>
          <a:stretch>
            <a:fillRect/>
          </a:stretch>
        </p:blipFill>
        <p:spPr>
          <a:xfrm>
            <a:off x="8544495" y="1389951"/>
            <a:ext cx="134549" cy="195707"/>
          </a:xfrm>
          <a:prstGeom prst="rect">
            <a:avLst/>
          </a:prstGeom>
        </p:spPr>
      </p:pic>
      <p:sp>
        <p:nvSpPr>
          <p:cNvPr id="33" name="TextBox 32"/>
          <p:cNvSpPr txBox="1"/>
          <p:nvPr/>
        </p:nvSpPr>
        <p:spPr>
          <a:xfrm>
            <a:off x="8719604" y="1400175"/>
            <a:ext cx="2927228" cy="194310"/>
          </a:xfrm>
          <a:prstGeom prst="rect">
            <a:avLst/>
          </a:prstGeom>
          <a:noFill/>
        </p:spPr>
        <p:txBody>
          <a:bodyPr wrap="none" lIns="0" rIns="0" tIns="0" bIns="0">
            <a:spAutoFit/>
          </a:bodyPr>
          <a:lstStyle/>
          <a:p>
            <a:r>
              <a:rPr sz="1150" b="0">
                <a:solidFill>
                  <a:srgbClr val="252423"/>
                </a:solidFill>
                <a:latin typeface="Segoe UI"/>
              </a:rPr>
              <a:t>Mn in 2025, which is expected to increase to</a:t>
            </a:r>
          </a:p>
        </p:txBody>
      </p:sp>
      <p:sp>
        <p:nvSpPr>
          <p:cNvPr id="34" name="TextBox 33"/>
          <p:cNvSpPr txBox="1"/>
          <p:nvPr/>
        </p:nvSpPr>
        <p:spPr>
          <a:xfrm>
            <a:off x="276225" y="1575435"/>
            <a:ext cx="332928" cy="194310"/>
          </a:xfrm>
          <a:prstGeom prst="rect">
            <a:avLst/>
          </a:prstGeom>
          <a:noFill/>
        </p:spPr>
        <p:txBody>
          <a:bodyPr wrap="none" lIns="0" rIns="0" tIns="0" bIns="0">
            <a:spAutoFit/>
          </a:bodyPr>
          <a:lstStyle/>
          <a:p>
            <a:r>
              <a:rPr sz="1150" b="0">
                <a:solidFill>
                  <a:srgbClr val="252423"/>
                </a:solidFill>
                <a:latin typeface="Segoe UI"/>
              </a:rPr>
              <a:t>US$</a:t>
            </a:r>
          </a:p>
        </p:txBody>
      </p:sp>
      <p:pic>
        <p:nvPicPr>
          <p:cNvPr id="35" name="Picture 34" descr="lock.png"/>
          <p:cNvPicPr>
            <a:picLocks noChangeAspect="1"/>
          </p:cNvPicPr>
          <p:nvPr/>
        </p:nvPicPr>
        <p:blipFill>
          <a:blip r:embed="rId4"/>
          <a:stretch>
            <a:fillRect/>
          </a:stretch>
        </p:blipFill>
        <p:spPr>
          <a:xfrm>
            <a:off x="558307" y="1565211"/>
            <a:ext cx="134549" cy="195707"/>
          </a:xfrm>
          <a:prstGeom prst="rect">
            <a:avLst/>
          </a:prstGeom>
        </p:spPr>
      </p:pic>
      <p:sp>
        <p:nvSpPr>
          <p:cNvPr id="36" name="TextBox 35"/>
          <p:cNvSpPr txBox="1"/>
          <p:nvPr/>
        </p:nvSpPr>
        <p:spPr>
          <a:xfrm>
            <a:off x="733416" y="1575435"/>
            <a:ext cx="1664422" cy="194310"/>
          </a:xfrm>
          <a:prstGeom prst="rect">
            <a:avLst/>
          </a:prstGeom>
          <a:noFill/>
        </p:spPr>
        <p:txBody>
          <a:bodyPr wrap="none" lIns="0" rIns="0" tIns="0" bIns="0">
            <a:spAutoFit/>
          </a:bodyPr>
          <a:lstStyle/>
          <a:p>
            <a:r>
              <a:rPr sz="1150" b="0">
                <a:solidFill>
                  <a:srgbClr val="252423"/>
                </a:solidFill>
                <a:latin typeface="Segoe UI"/>
              </a:rPr>
              <a:t>Mn in 2036 at a CAGR of</a:t>
            </a:r>
          </a:p>
        </p:txBody>
      </p:sp>
      <p:pic>
        <p:nvPicPr>
          <p:cNvPr id="37" name="Picture 36" descr="lock.png"/>
          <p:cNvPicPr>
            <a:picLocks noChangeAspect="1"/>
          </p:cNvPicPr>
          <p:nvPr/>
        </p:nvPicPr>
        <p:blipFill>
          <a:blip r:embed="rId4"/>
          <a:stretch>
            <a:fillRect/>
          </a:stretch>
        </p:blipFill>
        <p:spPr>
          <a:xfrm>
            <a:off x="2346993" y="1565211"/>
            <a:ext cx="134549" cy="195707"/>
          </a:xfrm>
          <a:prstGeom prst="rect">
            <a:avLst/>
          </a:prstGeom>
        </p:spPr>
      </p:pic>
      <p:sp>
        <p:nvSpPr>
          <p:cNvPr id="38" name="TextBox 37"/>
          <p:cNvSpPr txBox="1"/>
          <p:nvPr/>
        </p:nvSpPr>
        <p:spPr>
          <a:xfrm>
            <a:off x="2522102" y="157543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9" name="TextBox 38"/>
          <p:cNvSpPr txBox="1"/>
          <p:nvPr/>
        </p:nvSpPr>
        <p:spPr>
          <a:xfrm>
            <a:off x="276225" y="1803273"/>
            <a:ext cx="11396541" cy="194310"/>
          </a:xfrm>
          <a:prstGeom prst="rect">
            <a:avLst/>
          </a:prstGeom>
          <a:noFill/>
        </p:spPr>
        <p:txBody>
          <a:bodyPr wrap="none" lIns="0" rIns="0" tIns="0" bIns="0">
            <a:spAutoFit/>
          </a:bodyPr>
          <a:lstStyle/>
          <a:p>
            <a:r>
              <a:rPr sz="1150" b="0">
                <a:solidFill>
                  <a:srgbClr val="252423"/>
                </a:solidFill>
                <a:latin typeface="Segoe UI"/>
              </a:rPr>
              <a:t>The global Helium-3 market has been analysed on the basis of product form, supply source, application and end user across the globe. North America is expected to remain the</a:t>
            </a:r>
          </a:p>
        </p:txBody>
      </p:sp>
      <p:sp>
        <p:nvSpPr>
          <p:cNvPr id="40" name="TextBox 39"/>
          <p:cNvSpPr txBox="1"/>
          <p:nvPr/>
        </p:nvSpPr>
        <p:spPr>
          <a:xfrm>
            <a:off x="276225" y="1978533"/>
            <a:ext cx="7366973" cy="194310"/>
          </a:xfrm>
          <a:prstGeom prst="rect">
            <a:avLst/>
          </a:prstGeom>
          <a:noFill/>
        </p:spPr>
        <p:txBody>
          <a:bodyPr wrap="none" lIns="0" rIns="0" tIns="0" bIns="0">
            <a:spAutoFit/>
          </a:bodyPr>
          <a:lstStyle/>
          <a:p>
            <a:r>
              <a:rPr sz="1150" b="0">
                <a:solidFill>
                  <a:srgbClr val="252423"/>
                </a:solidFill>
                <a:latin typeface="Segoe UI"/>
              </a:rPr>
              <a:t>largest market for Helium-3, while demand in South Asia &amp; Pacific is projected to increase at the highest CAGR of</a:t>
            </a:r>
          </a:p>
        </p:txBody>
      </p:sp>
      <p:pic>
        <p:nvPicPr>
          <p:cNvPr id="41" name="Picture 40" descr="lock.png"/>
          <p:cNvPicPr>
            <a:picLocks noChangeAspect="1"/>
          </p:cNvPicPr>
          <p:nvPr/>
        </p:nvPicPr>
        <p:blipFill>
          <a:blip r:embed="rId4"/>
          <a:stretch>
            <a:fillRect/>
          </a:stretch>
        </p:blipFill>
        <p:spPr>
          <a:xfrm>
            <a:off x="7592352" y="1968309"/>
            <a:ext cx="134549" cy="195707"/>
          </a:xfrm>
          <a:prstGeom prst="rect">
            <a:avLst/>
          </a:prstGeom>
        </p:spPr>
      </p:pic>
      <p:sp>
        <p:nvSpPr>
          <p:cNvPr id="42" name="TextBox 41"/>
          <p:cNvSpPr txBox="1"/>
          <p:nvPr/>
        </p:nvSpPr>
        <p:spPr>
          <a:xfrm>
            <a:off x="7767461" y="1978533"/>
            <a:ext cx="2106860" cy="194310"/>
          </a:xfrm>
          <a:prstGeom prst="rect">
            <a:avLst/>
          </a:prstGeom>
          <a:noFill/>
        </p:spPr>
        <p:txBody>
          <a:bodyPr wrap="none" lIns="0" rIns="0" tIns="0" bIns="0">
            <a:spAutoFit/>
          </a:bodyPr>
          <a:lstStyle/>
          <a:p>
            <a:r>
              <a:rPr sz="1150" b="0">
                <a:solidFill>
                  <a:srgbClr val="252423"/>
                </a:solidFill>
                <a:latin typeface="Segoe UI"/>
              </a:rPr>
              <a:t>throughout the forecast period.</a:t>
            </a:r>
          </a:p>
        </p:txBody>
      </p:sp>
      <p:sp>
        <p:nvSpPr>
          <p:cNvPr id="43" name="TextBox 42"/>
          <p:cNvSpPr txBox="1"/>
          <p:nvPr/>
        </p:nvSpPr>
        <p:spPr>
          <a:xfrm>
            <a:off x="276225" y="3276600"/>
            <a:ext cx="5870255" cy="194310"/>
          </a:xfrm>
          <a:prstGeom prst="rect">
            <a:avLst/>
          </a:prstGeom>
          <a:noFill/>
        </p:spPr>
        <p:txBody>
          <a:bodyPr wrap="none" lIns="0" rIns="0" tIns="0" bIns="0">
            <a:spAutoFit/>
          </a:bodyPr>
          <a:lstStyle/>
          <a:p>
            <a:r>
              <a:rPr sz="1150" b="0">
                <a:solidFill>
                  <a:srgbClr val="252423"/>
                </a:solidFill>
                <a:latin typeface="Segoe UI"/>
              </a:rPr>
              <a:t>▪ The market is consolidated: the leading product form category 'Gaseous Helium-3' holds</a:t>
            </a:r>
          </a:p>
        </p:txBody>
      </p:sp>
      <p:pic>
        <p:nvPicPr>
          <p:cNvPr id="44" name="Picture 43" descr="lock.png"/>
          <p:cNvPicPr>
            <a:picLocks noChangeAspect="1"/>
          </p:cNvPicPr>
          <p:nvPr/>
        </p:nvPicPr>
        <p:blipFill>
          <a:blip r:embed="rId4"/>
          <a:stretch>
            <a:fillRect/>
          </a:stretch>
        </p:blipFill>
        <p:spPr>
          <a:xfrm>
            <a:off x="6095633" y="3266376"/>
            <a:ext cx="134549" cy="195707"/>
          </a:xfrm>
          <a:prstGeom prst="rect">
            <a:avLst/>
          </a:prstGeom>
        </p:spPr>
      </p:pic>
      <p:sp>
        <p:nvSpPr>
          <p:cNvPr id="45" name="TextBox 44"/>
          <p:cNvSpPr txBox="1"/>
          <p:nvPr/>
        </p:nvSpPr>
        <p:spPr>
          <a:xfrm>
            <a:off x="6270743" y="3276600"/>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46" name="TextBox 45"/>
          <p:cNvSpPr txBox="1"/>
          <p:nvPr/>
        </p:nvSpPr>
        <p:spPr>
          <a:xfrm>
            <a:off x="276225" y="3504437"/>
            <a:ext cx="5362409" cy="194310"/>
          </a:xfrm>
          <a:prstGeom prst="rect">
            <a:avLst/>
          </a:prstGeom>
          <a:noFill/>
        </p:spPr>
        <p:txBody>
          <a:bodyPr wrap="none" lIns="0" rIns="0" tIns="0" bIns="0">
            <a:spAutoFit/>
          </a:bodyPr>
          <a:lstStyle/>
          <a:p>
            <a:r>
              <a:rPr sz="1150" b="0">
                <a:solidFill>
                  <a:srgbClr val="252423"/>
                </a:solidFill>
                <a:latin typeface="Segoe UI"/>
              </a:rPr>
              <a:t>▪ Demand spans 7 regions and 4 segmentation lenses (2 product form categories).</a:t>
            </a:r>
          </a:p>
        </p:txBody>
      </p:sp>
      <p:sp>
        <p:nvSpPr>
          <p:cNvPr id="47" name="TextBox 46"/>
          <p:cNvSpPr txBox="1"/>
          <p:nvPr/>
        </p:nvSpPr>
        <p:spPr>
          <a:xfrm>
            <a:off x="276225" y="3732275"/>
            <a:ext cx="3191417" cy="194310"/>
          </a:xfrm>
          <a:prstGeom prst="rect">
            <a:avLst/>
          </a:prstGeom>
          <a:noFill/>
        </p:spPr>
        <p:txBody>
          <a:bodyPr wrap="none" lIns="0" rIns="0" tIns="0" bIns="0">
            <a:spAutoFit/>
          </a:bodyPr>
          <a:lstStyle/>
          <a:p>
            <a:r>
              <a:rPr sz="1150" b="0">
                <a:solidFill>
                  <a:srgbClr val="252423"/>
                </a:solidFill>
                <a:latin typeface="Segoe UI"/>
              </a:rPr>
              <a:t>▪ North America is the largest regional market at</a:t>
            </a:r>
          </a:p>
        </p:txBody>
      </p:sp>
      <p:pic>
        <p:nvPicPr>
          <p:cNvPr id="48" name="Picture 47" descr="lock.png"/>
          <p:cNvPicPr>
            <a:picLocks noChangeAspect="1"/>
          </p:cNvPicPr>
          <p:nvPr/>
        </p:nvPicPr>
        <p:blipFill>
          <a:blip r:embed="rId4"/>
          <a:stretch>
            <a:fillRect/>
          </a:stretch>
        </p:blipFill>
        <p:spPr>
          <a:xfrm>
            <a:off x="3416796" y="3722052"/>
            <a:ext cx="134549" cy="195707"/>
          </a:xfrm>
          <a:prstGeom prst="rect">
            <a:avLst/>
          </a:prstGeom>
        </p:spPr>
      </p:pic>
      <p:sp>
        <p:nvSpPr>
          <p:cNvPr id="49" name="TextBox 48"/>
          <p:cNvSpPr txBox="1"/>
          <p:nvPr/>
        </p:nvSpPr>
        <p:spPr>
          <a:xfrm>
            <a:off x="3591906" y="3732275"/>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50" name="TextBox 49"/>
          <p:cNvSpPr txBox="1"/>
          <p:nvPr/>
        </p:nvSpPr>
        <p:spPr>
          <a:xfrm>
            <a:off x="276225" y="5038725"/>
            <a:ext cx="2988557" cy="194310"/>
          </a:xfrm>
          <a:prstGeom prst="rect">
            <a:avLst/>
          </a:prstGeom>
          <a:noFill/>
        </p:spPr>
        <p:txBody>
          <a:bodyPr wrap="none" lIns="0" rIns="0" tIns="0" bIns="0">
            <a:spAutoFit/>
          </a:bodyPr>
          <a:lstStyle/>
          <a:p>
            <a:r>
              <a:rPr sz="1150" b="0">
                <a:solidFill>
                  <a:srgbClr val="252423"/>
                </a:solidFill>
                <a:latin typeface="Segoe UI"/>
              </a:rPr>
              <a:t>▪ Accelerating uptake of 'Gaseous Helium-3' (</a:t>
            </a:r>
          </a:p>
        </p:txBody>
      </p:sp>
      <p:pic>
        <p:nvPicPr>
          <p:cNvPr id="51" name="Picture 50" descr="lock.png"/>
          <p:cNvPicPr>
            <a:picLocks noChangeAspect="1"/>
          </p:cNvPicPr>
          <p:nvPr/>
        </p:nvPicPr>
        <p:blipFill>
          <a:blip r:embed="rId4"/>
          <a:stretch>
            <a:fillRect/>
          </a:stretch>
        </p:blipFill>
        <p:spPr>
          <a:xfrm>
            <a:off x="3213936" y="5028501"/>
            <a:ext cx="134549" cy="195707"/>
          </a:xfrm>
          <a:prstGeom prst="rect">
            <a:avLst/>
          </a:prstGeom>
        </p:spPr>
      </p:pic>
      <p:sp>
        <p:nvSpPr>
          <p:cNvPr id="52" name="TextBox 51"/>
          <p:cNvSpPr txBox="1"/>
          <p:nvPr/>
        </p:nvSpPr>
        <p:spPr>
          <a:xfrm>
            <a:off x="276225" y="5213985"/>
            <a:ext cx="524017"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3" name="TextBox 52"/>
          <p:cNvSpPr txBox="1"/>
          <p:nvPr/>
        </p:nvSpPr>
        <p:spPr>
          <a:xfrm>
            <a:off x="276225" y="5441822"/>
            <a:ext cx="3158056" cy="194310"/>
          </a:xfrm>
          <a:prstGeom prst="rect">
            <a:avLst/>
          </a:prstGeom>
          <a:noFill/>
        </p:spPr>
        <p:txBody>
          <a:bodyPr wrap="none" lIns="0" rIns="0" tIns="0" bIns="0">
            <a:spAutoFit/>
          </a:bodyPr>
          <a:lstStyle/>
          <a:p>
            <a:r>
              <a:rPr sz="1150" b="0">
                <a:solidFill>
                  <a:srgbClr val="252423"/>
                </a:solidFill>
                <a:latin typeface="Segoe UI"/>
              </a:rPr>
              <a:t>▪ Fast-growing demand in South Asia &amp; Pacific (</a:t>
            </a:r>
          </a:p>
        </p:txBody>
      </p:sp>
      <p:pic>
        <p:nvPicPr>
          <p:cNvPr id="54" name="Picture 53" descr="lock.png"/>
          <p:cNvPicPr>
            <a:picLocks noChangeAspect="1"/>
          </p:cNvPicPr>
          <p:nvPr/>
        </p:nvPicPr>
        <p:blipFill>
          <a:blip r:embed="rId4"/>
          <a:stretch>
            <a:fillRect/>
          </a:stretch>
        </p:blipFill>
        <p:spPr>
          <a:xfrm>
            <a:off x="3383435" y="5431599"/>
            <a:ext cx="134549" cy="195707"/>
          </a:xfrm>
          <a:prstGeom prst="rect">
            <a:avLst/>
          </a:prstGeom>
        </p:spPr>
      </p:pic>
      <p:sp>
        <p:nvSpPr>
          <p:cNvPr id="55" name="TextBox 54"/>
          <p:cNvSpPr txBox="1"/>
          <p:nvPr/>
        </p:nvSpPr>
        <p:spPr>
          <a:xfrm>
            <a:off x="3558544" y="5441822"/>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6" name="TextBox 55"/>
          <p:cNvSpPr txBox="1"/>
          <p:nvPr/>
        </p:nvSpPr>
        <p:spPr>
          <a:xfrm>
            <a:off x="276225" y="5669660"/>
            <a:ext cx="3262722" cy="194310"/>
          </a:xfrm>
          <a:prstGeom prst="rect">
            <a:avLst/>
          </a:prstGeom>
          <a:noFill/>
        </p:spPr>
        <p:txBody>
          <a:bodyPr wrap="none" lIns="0" rIns="0" tIns="0" bIns="0">
            <a:spAutoFit/>
          </a:bodyPr>
          <a:lstStyle/>
          <a:p>
            <a:r>
              <a:rPr sz="1150" b="0">
                <a:solidFill>
                  <a:srgbClr val="252423"/>
                </a:solidFill>
                <a:latin typeface="Segoe UI"/>
              </a:rPr>
              <a:t>▪ Momentum in Neutron Detection and Radiation</a:t>
            </a:r>
          </a:p>
        </p:txBody>
      </p:sp>
      <p:sp>
        <p:nvSpPr>
          <p:cNvPr id="57" name="TextBox 56"/>
          <p:cNvSpPr txBox="1"/>
          <p:nvPr/>
        </p:nvSpPr>
        <p:spPr>
          <a:xfrm>
            <a:off x="276225" y="5844920"/>
            <a:ext cx="2068965" cy="194310"/>
          </a:xfrm>
          <a:prstGeom prst="rect">
            <a:avLst/>
          </a:prstGeom>
          <a:noFill/>
        </p:spPr>
        <p:txBody>
          <a:bodyPr wrap="none" lIns="0" rIns="0" tIns="0" bIns="0">
            <a:spAutoFit/>
          </a:bodyPr>
          <a:lstStyle/>
          <a:p>
            <a:r>
              <a:rPr sz="1150" b="0">
                <a:solidFill>
                  <a:srgbClr val="252423"/>
                </a:solidFill>
                <a:latin typeface="Segoe UI"/>
              </a:rPr>
              <a:t>Monitoring within application (</a:t>
            </a:r>
          </a:p>
        </p:txBody>
      </p:sp>
      <p:pic>
        <p:nvPicPr>
          <p:cNvPr id="58" name="Picture 57" descr="lock.png"/>
          <p:cNvPicPr>
            <a:picLocks noChangeAspect="1"/>
          </p:cNvPicPr>
          <p:nvPr/>
        </p:nvPicPr>
        <p:blipFill>
          <a:blip r:embed="rId4"/>
          <a:stretch>
            <a:fillRect/>
          </a:stretch>
        </p:blipFill>
        <p:spPr>
          <a:xfrm>
            <a:off x="2294344" y="5834697"/>
            <a:ext cx="134549" cy="195707"/>
          </a:xfrm>
          <a:prstGeom prst="rect">
            <a:avLst/>
          </a:prstGeom>
        </p:spPr>
      </p:pic>
      <p:sp>
        <p:nvSpPr>
          <p:cNvPr id="59" name="TextBox 58"/>
          <p:cNvSpPr txBox="1"/>
          <p:nvPr/>
        </p:nvSpPr>
        <p:spPr>
          <a:xfrm>
            <a:off x="2469454" y="584492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0" name="TextBox 59"/>
          <p:cNvSpPr txBox="1"/>
          <p:nvPr/>
        </p:nvSpPr>
        <p:spPr>
          <a:xfrm>
            <a:off x="4371975" y="5038725"/>
            <a:ext cx="2774122" cy="194310"/>
          </a:xfrm>
          <a:prstGeom prst="rect">
            <a:avLst/>
          </a:prstGeom>
          <a:noFill/>
        </p:spPr>
        <p:txBody>
          <a:bodyPr wrap="none" lIns="0" rIns="0" tIns="0" bIns="0">
            <a:spAutoFit/>
          </a:bodyPr>
          <a:lstStyle/>
          <a:p>
            <a:r>
              <a:rPr sz="1150" b="0">
                <a:solidFill>
                  <a:srgbClr val="252423"/>
                </a:solidFill>
                <a:latin typeface="Segoe UI"/>
              </a:rPr>
              <a:t>▪ Slower momentum in 'Liquid Helium-3' (</a:t>
            </a:r>
          </a:p>
        </p:txBody>
      </p:sp>
      <p:pic>
        <p:nvPicPr>
          <p:cNvPr id="61" name="Picture 60" descr="lock.png"/>
          <p:cNvPicPr>
            <a:picLocks noChangeAspect="1"/>
          </p:cNvPicPr>
          <p:nvPr/>
        </p:nvPicPr>
        <p:blipFill>
          <a:blip r:embed="rId4"/>
          <a:stretch>
            <a:fillRect/>
          </a:stretch>
        </p:blipFill>
        <p:spPr>
          <a:xfrm>
            <a:off x="7095251" y="5028501"/>
            <a:ext cx="134549" cy="195707"/>
          </a:xfrm>
          <a:prstGeom prst="rect">
            <a:avLst/>
          </a:prstGeom>
        </p:spPr>
      </p:pic>
      <p:sp>
        <p:nvSpPr>
          <p:cNvPr id="62" name="TextBox 61"/>
          <p:cNvSpPr txBox="1"/>
          <p:nvPr/>
        </p:nvSpPr>
        <p:spPr>
          <a:xfrm>
            <a:off x="7270360" y="503872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3" name="TextBox 62"/>
          <p:cNvSpPr txBox="1"/>
          <p:nvPr/>
        </p:nvSpPr>
        <p:spPr>
          <a:xfrm>
            <a:off x="4371975" y="5266563"/>
            <a:ext cx="3533775" cy="194310"/>
          </a:xfrm>
          <a:prstGeom prst="rect">
            <a:avLst/>
          </a:prstGeom>
          <a:noFill/>
        </p:spPr>
        <p:txBody>
          <a:bodyPr wrap="none" lIns="0" rIns="0" tIns="0" bIns="0">
            <a:spAutoFit/>
          </a:bodyPr>
          <a:lstStyle/>
          <a:p>
            <a:r>
              <a:rPr sz="1150" b="0">
                <a:solidFill>
                  <a:srgbClr val="252423"/>
                </a:solidFill>
                <a:latin typeface="Segoe UI"/>
              </a:rPr>
              <a:t>▪ Maturing demand in established categories caps the</a:t>
            </a:r>
          </a:p>
        </p:txBody>
      </p:sp>
      <p:sp>
        <p:nvSpPr>
          <p:cNvPr id="64" name="TextBox 63"/>
          <p:cNvSpPr txBox="1"/>
          <p:nvPr/>
        </p:nvSpPr>
        <p:spPr>
          <a:xfrm>
            <a:off x="4371975" y="5441822"/>
            <a:ext cx="605345" cy="194310"/>
          </a:xfrm>
          <a:prstGeom prst="rect">
            <a:avLst/>
          </a:prstGeom>
          <a:noFill/>
        </p:spPr>
        <p:txBody>
          <a:bodyPr wrap="none" lIns="0" rIns="0" tIns="0" bIns="0">
            <a:spAutoFit/>
          </a:bodyPr>
          <a:lstStyle/>
          <a:p>
            <a:r>
              <a:rPr sz="1150" b="0">
                <a:solidFill>
                  <a:srgbClr val="252423"/>
                </a:solidFill>
                <a:latin typeface="Segoe UI"/>
              </a:rPr>
              <a:t>blended</a:t>
            </a:r>
          </a:p>
        </p:txBody>
      </p:sp>
      <p:pic>
        <p:nvPicPr>
          <p:cNvPr id="65" name="Picture 64" descr="lock.png"/>
          <p:cNvPicPr>
            <a:picLocks noChangeAspect="1"/>
          </p:cNvPicPr>
          <p:nvPr/>
        </p:nvPicPr>
        <p:blipFill>
          <a:blip r:embed="rId4"/>
          <a:stretch>
            <a:fillRect/>
          </a:stretch>
        </p:blipFill>
        <p:spPr>
          <a:xfrm>
            <a:off x="4926474" y="5431599"/>
            <a:ext cx="134549" cy="195707"/>
          </a:xfrm>
          <a:prstGeom prst="rect">
            <a:avLst/>
          </a:prstGeom>
        </p:spPr>
      </p:pic>
      <p:sp>
        <p:nvSpPr>
          <p:cNvPr id="66" name="TextBox 65"/>
          <p:cNvSpPr txBox="1"/>
          <p:nvPr/>
        </p:nvSpPr>
        <p:spPr>
          <a:xfrm>
            <a:off x="5101584" y="5441822"/>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7" name="TextBox 66"/>
          <p:cNvSpPr txBox="1"/>
          <p:nvPr/>
        </p:nvSpPr>
        <p:spPr>
          <a:xfrm>
            <a:off x="4371975" y="5669660"/>
            <a:ext cx="3303968" cy="194310"/>
          </a:xfrm>
          <a:prstGeom prst="rect">
            <a:avLst/>
          </a:prstGeom>
          <a:noFill/>
        </p:spPr>
        <p:txBody>
          <a:bodyPr wrap="none" lIns="0" rIns="0" tIns="0" bIns="0">
            <a:spAutoFit/>
          </a:bodyPr>
          <a:lstStyle/>
          <a:p>
            <a:r>
              <a:rPr sz="1150" b="0">
                <a:solidFill>
                  <a:srgbClr val="252423"/>
                </a:solidFill>
                <a:latin typeface="Segoe UI"/>
              </a:rPr>
              <a:t>▪ Value concentration in 'Gaseous Helium-3' raises</a:t>
            </a:r>
          </a:p>
        </p:txBody>
      </p:sp>
      <p:sp>
        <p:nvSpPr>
          <p:cNvPr id="68" name="TextBox 67"/>
          <p:cNvSpPr txBox="1"/>
          <p:nvPr/>
        </p:nvSpPr>
        <p:spPr>
          <a:xfrm>
            <a:off x="4371975" y="5844920"/>
            <a:ext cx="1689012" cy="194310"/>
          </a:xfrm>
          <a:prstGeom prst="rect">
            <a:avLst/>
          </a:prstGeom>
          <a:noFill/>
        </p:spPr>
        <p:txBody>
          <a:bodyPr wrap="none" lIns="0" rIns="0" tIns="0" bIns="0">
            <a:spAutoFit/>
          </a:bodyPr>
          <a:lstStyle/>
          <a:p>
            <a:r>
              <a:rPr sz="1150" b="0">
                <a:solidFill>
                  <a:srgbClr val="252423"/>
                </a:solidFill>
                <a:latin typeface="Segoe UI"/>
              </a:rPr>
              <a:t>barriers for new entrants.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'Gaseous Helium-3' and South Asia &amp; Pacific.</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product form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North America and South Asia &amp; Pacific.</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product form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5"/>
          <a:stretch>
            <a:fillRect/>
          </a:stretch>
        </p:blipFill>
        <p:spPr>
          <a:xfrm>
            <a:off x="4135025" y="5284520"/>
            <a:ext cx="382860" cy="556888"/>
          </a:xfrm>
          <a:prstGeom prst="rect">
            <a:avLst/>
          </a:prstGeom>
        </p:spPr>
      </p:pic>
      <p:sp>
        <p:nvSpPr>
          <p:cNvPr id="30" name="TextBox 29"/>
          <p:cNvSpPr txBox="1"/>
          <p:nvPr/>
        </p:nvSpPr>
        <p:spPr>
          <a:xfrm>
            <a:off x="6305550" y="1400175"/>
            <a:ext cx="732680" cy="186689"/>
          </a:xfrm>
          <a:prstGeom prst="rect">
            <a:avLst/>
          </a:prstGeom>
          <a:noFill/>
        </p:spPr>
        <p:txBody>
          <a:bodyPr wrap="none" lIns="0" rIns="0" tIns="0" bIns="0">
            <a:spAutoFit/>
          </a:bodyPr>
          <a:lstStyle/>
          <a:p>
            <a:r>
              <a:rPr sz="1100" b="0">
                <a:solidFill>
                  <a:srgbClr val="252423"/>
                </a:solidFill>
                <a:latin typeface="Segoe UI"/>
              </a:rPr>
              <a:t>▪ 2026 size</a:t>
            </a:r>
          </a:p>
        </p:txBody>
      </p:sp>
      <p:pic>
        <p:nvPicPr>
          <p:cNvPr id="31" name="Picture 30" descr="lock.png"/>
          <p:cNvPicPr>
            <a:picLocks noChangeAspect="1"/>
          </p:cNvPicPr>
          <p:nvPr/>
        </p:nvPicPr>
        <p:blipFill>
          <a:blip r:embed="rId5"/>
          <a:stretch>
            <a:fillRect/>
          </a:stretch>
        </p:blipFill>
        <p:spPr>
          <a:xfrm>
            <a:off x="6986282" y="1390396"/>
            <a:ext cx="128699" cy="187198"/>
          </a:xfrm>
          <a:prstGeom prst="rect">
            <a:avLst/>
          </a:prstGeom>
        </p:spPr>
      </p:pic>
      <p:sp>
        <p:nvSpPr>
          <p:cNvPr id="32" name="TextBox 31"/>
          <p:cNvSpPr txBox="1"/>
          <p:nvPr/>
        </p:nvSpPr>
        <p:spPr>
          <a:xfrm>
            <a:off x="7153778" y="1400175"/>
            <a:ext cx="934318" cy="186689"/>
          </a:xfrm>
          <a:prstGeom prst="rect">
            <a:avLst/>
          </a:prstGeom>
          <a:noFill/>
        </p:spPr>
        <p:txBody>
          <a:bodyPr wrap="none" lIns="0" rIns="0" tIns="0" bIns="0">
            <a:spAutoFit/>
          </a:bodyPr>
          <a:lstStyle/>
          <a:p>
            <a:r>
              <a:rPr sz="1100" b="0">
                <a:solidFill>
                  <a:srgbClr val="252423"/>
                </a:solidFill>
                <a:latin typeface="Segoe UI"/>
              </a:rPr>
              <a:t>US$ Mn; 2036</a:t>
            </a:r>
          </a:p>
        </p:txBody>
      </p:sp>
      <p:pic>
        <p:nvPicPr>
          <p:cNvPr id="33" name="Picture 32" descr="lock.png"/>
          <p:cNvPicPr>
            <a:picLocks noChangeAspect="1"/>
          </p:cNvPicPr>
          <p:nvPr/>
        </p:nvPicPr>
        <p:blipFill>
          <a:blip r:embed="rId5"/>
          <a:stretch>
            <a:fillRect/>
          </a:stretch>
        </p:blipFill>
        <p:spPr>
          <a:xfrm>
            <a:off x="8036148" y="1390396"/>
            <a:ext cx="128699" cy="187198"/>
          </a:xfrm>
          <a:prstGeom prst="rect">
            <a:avLst/>
          </a:prstGeom>
        </p:spPr>
      </p:pic>
      <p:sp>
        <p:nvSpPr>
          <p:cNvPr id="34" name="TextBox 33"/>
          <p:cNvSpPr txBox="1"/>
          <p:nvPr/>
        </p:nvSpPr>
        <p:spPr>
          <a:xfrm>
            <a:off x="8203643" y="1400175"/>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5" name="TextBox 34"/>
          <p:cNvSpPr txBox="1"/>
          <p:nvPr/>
        </p:nvSpPr>
        <p:spPr>
          <a:xfrm>
            <a:off x="6305550" y="1618107"/>
            <a:ext cx="1072048" cy="186689"/>
          </a:xfrm>
          <a:prstGeom prst="rect">
            <a:avLst/>
          </a:prstGeom>
          <a:noFill/>
        </p:spPr>
        <p:txBody>
          <a:bodyPr wrap="none" lIns="0" rIns="0" tIns="0" bIns="0">
            <a:spAutoFit/>
          </a:bodyPr>
          <a:lstStyle/>
          <a:p>
            <a:r>
              <a:rPr sz="1100" b="0">
                <a:solidFill>
                  <a:srgbClr val="252423"/>
                </a:solidFill>
                <a:latin typeface="Segoe UI"/>
              </a:rPr>
              <a:t>▪ Forecast CAGR</a:t>
            </a:r>
          </a:p>
        </p:txBody>
      </p:sp>
      <p:pic>
        <p:nvPicPr>
          <p:cNvPr id="36" name="Picture 35" descr="lock.png"/>
          <p:cNvPicPr>
            <a:picLocks noChangeAspect="1"/>
          </p:cNvPicPr>
          <p:nvPr/>
        </p:nvPicPr>
        <p:blipFill>
          <a:blip r:embed="rId5"/>
          <a:stretch>
            <a:fillRect/>
          </a:stretch>
        </p:blipFill>
        <p:spPr>
          <a:xfrm>
            <a:off x="7325650" y="1608328"/>
            <a:ext cx="128699" cy="187198"/>
          </a:xfrm>
          <a:prstGeom prst="rect">
            <a:avLst/>
          </a:prstGeom>
        </p:spPr>
      </p:pic>
      <p:sp>
        <p:nvSpPr>
          <p:cNvPr id="37" name="TextBox 36"/>
          <p:cNvSpPr txBox="1"/>
          <p:nvPr/>
        </p:nvSpPr>
        <p:spPr>
          <a:xfrm>
            <a:off x="7493145" y="1618107"/>
            <a:ext cx="863376" cy="186689"/>
          </a:xfrm>
          <a:prstGeom prst="rect">
            <a:avLst/>
          </a:prstGeom>
          <a:noFill/>
        </p:spPr>
        <p:txBody>
          <a:bodyPr wrap="none" lIns="0" rIns="0" tIns="0" bIns="0">
            <a:spAutoFit/>
          </a:bodyPr>
          <a:lstStyle/>
          <a:p>
            <a:r>
              <a:rPr sz="1100" b="0">
                <a:solidFill>
                  <a:srgbClr val="252423"/>
                </a:solidFill>
                <a:latin typeface="Segoe UI"/>
              </a:rPr>
              <a:t>(2026–2036).</a:t>
            </a:r>
          </a:p>
        </p:txBody>
      </p:sp>
      <p:sp>
        <p:nvSpPr>
          <p:cNvPr id="38" name="TextBox 37"/>
          <p:cNvSpPr txBox="1"/>
          <p:nvPr/>
        </p:nvSpPr>
        <p:spPr>
          <a:xfrm>
            <a:off x="6305550" y="1836039"/>
            <a:ext cx="2262632" cy="186689"/>
          </a:xfrm>
          <a:prstGeom prst="rect">
            <a:avLst/>
          </a:prstGeom>
          <a:noFill/>
        </p:spPr>
        <p:txBody>
          <a:bodyPr wrap="none" lIns="0" rIns="0" tIns="0" bIns="0">
            <a:spAutoFit/>
          </a:bodyPr>
          <a:lstStyle/>
          <a:p>
            <a:r>
              <a:rPr sz="1100" b="0">
                <a:solidFill>
                  <a:srgbClr val="252423"/>
                </a:solidFill>
                <a:latin typeface="Segoe UI"/>
              </a:rPr>
              <a:t>▪ Lead category 'Gaseous Helium-3'</a:t>
            </a:r>
          </a:p>
        </p:txBody>
      </p:sp>
      <p:pic>
        <p:nvPicPr>
          <p:cNvPr id="39" name="Picture 38" descr="lock.png"/>
          <p:cNvPicPr>
            <a:picLocks noChangeAspect="1"/>
          </p:cNvPicPr>
          <p:nvPr/>
        </p:nvPicPr>
        <p:blipFill>
          <a:blip r:embed="rId5"/>
          <a:stretch>
            <a:fillRect/>
          </a:stretch>
        </p:blipFill>
        <p:spPr>
          <a:xfrm>
            <a:off x="8516233" y="1826260"/>
            <a:ext cx="128699" cy="187198"/>
          </a:xfrm>
          <a:prstGeom prst="rect">
            <a:avLst/>
          </a:prstGeom>
        </p:spPr>
      </p:pic>
      <p:sp>
        <p:nvSpPr>
          <p:cNvPr id="40" name="TextBox 39"/>
          <p:cNvSpPr txBox="1"/>
          <p:nvPr/>
        </p:nvSpPr>
        <p:spPr>
          <a:xfrm>
            <a:off x="8683729" y="1836039"/>
            <a:ext cx="571387" cy="186689"/>
          </a:xfrm>
          <a:prstGeom prst="rect">
            <a:avLst/>
          </a:prstGeom>
          <a:noFill/>
        </p:spPr>
        <p:txBody>
          <a:bodyPr wrap="none" lIns="0" rIns="0" tIns="0" bIns="0">
            <a:spAutoFit/>
          </a:bodyPr>
          <a:lstStyle/>
          <a:p>
            <a:r>
              <a:rPr sz="1100" b="0">
                <a:solidFill>
                  <a:srgbClr val="252423"/>
                </a:solidFill>
                <a:latin typeface="Segoe UI"/>
              </a:rPr>
              <a:t>of 2036.</a:t>
            </a:r>
          </a:p>
        </p:txBody>
      </p:sp>
      <p:sp>
        <p:nvSpPr>
          <p:cNvPr id="41" name="TextBox 40"/>
          <p:cNvSpPr txBox="1"/>
          <p:nvPr/>
        </p:nvSpPr>
        <p:spPr>
          <a:xfrm>
            <a:off x="6305550" y="2053970"/>
            <a:ext cx="1833125" cy="186689"/>
          </a:xfrm>
          <a:prstGeom prst="rect">
            <a:avLst/>
          </a:prstGeom>
          <a:noFill/>
        </p:spPr>
        <p:txBody>
          <a:bodyPr wrap="none" lIns="0" rIns="0" tIns="0" bIns="0">
            <a:spAutoFit/>
          </a:bodyPr>
          <a:lstStyle/>
          <a:p>
            <a:r>
              <a:rPr sz="1100" b="0">
                <a:solidFill>
                  <a:srgbClr val="252423"/>
                </a:solidFill>
                <a:latin typeface="Segoe UI"/>
              </a:rPr>
              <a:t>▪ Lead region North America</a:t>
            </a:r>
          </a:p>
        </p:txBody>
      </p:sp>
      <p:pic>
        <p:nvPicPr>
          <p:cNvPr id="42" name="Picture 41" descr="lock.png"/>
          <p:cNvPicPr>
            <a:picLocks noChangeAspect="1"/>
          </p:cNvPicPr>
          <p:nvPr/>
        </p:nvPicPr>
        <p:blipFill>
          <a:blip r:embed="rId5"/>
          <a:stretch>
            <a:fillRect/>
          </a:stretch>
        </p:blipFill>
        <p:spPr>
          <a:xfrm>
            <a:off x="8086726" y="2044192"/>
            <a:ext cx="128699" cy="187198"/>
          </a:xfrm>
          <a:prstGeom prst="rect">
            <a:avLst/>
          </a:prstGeom>
        </p:spPr>
      </p:pic>
      <p:sp>
        <p:nvSpPr>
          <p:cNvPr id="43" name="TextBox 42"/>
          <p:cNvSpPr txBox="1"/>
          <p:nvPr/>
        </p:nvSpPr>
        <p:spPr>
          <a:xfrm>
            <a:off x="8254222" y="2053970"/>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4" name="TextBox 43"/>
          <p:cNvSpPr txBox="1"/>
          <p:nvPr/>
        </p:nvSpPr>
        <p:spPr>
          <a:xfrm>
            <a:off x="6305550" y="2271903"/>
            <a:ext cx="1660955" cy="186689"/>
          </a:xfrm>
          <a:prstGeom prst="rect">
            <a:avLst/>
          </a:prstGeom>
          <a:noFill/>
        </p:spPr>
        <p:txBody>
          <a:bodyPr wrap="none" lIns="0" rIns="0" tIns="0" bIns="0">
            <a:spAutoFit/>
          </a:bodyPr>
          <a:lstStyle/>
          <a:p>
            <a:r>
              <a:rPr sz="1100" b="0">
                <a:solidFill>
                  <a:srgbClr val="252423"/>
                </a:solidFill>
                <a:latin typeface="Segoe UI"/>
              </a:rPr>
              <a:t>▪ Incremental opportunity</a:t>
            </a:r>
          </a:p>
        </p:txBody>
      </p:sp>
      <p:pic>
        <p:nvPicPr>
          <p:cNvPr id="45" name="Picture 44" descr="lock.png"/>
          <p:cNvPicPr>
            <a:picLocks noChangeAspect="1"/>
          </p:cNvPicPr>
          <p:nvPr/>
        </p:nvPicPr>
        <p:blipFill>
          <a:blip r:embed="rId5"/>
          <a:stretch>
            <a:fillRect/>
          </a:stretch>
        </p:blipFill>
        <p:spPr>
          <a:xfrm>
            <a:off x="7914557" y="2262124"/>
            <a:ext cx="128699" cy="187198"/>
          </a:xfrm>
          <a:prstGeom prst="rect">
            <a:avLst/>
          </a:prstGeom>
        </p:spPr>
      </p:pic>
      <p:sp>
        <p:nvSpPr>
          <p:cNvPr id="46" name="TextBox 45"/>
          <p:cNvSpPr txBox="1"/>
          <p:nvPr/>
        </p:nvSpPr>
        <p:spPr>
          <a:xfrm>
            <a:off x="8082053" y="2271903"/>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7" name="TextBox 46"/>
          <p:cNvSpPr txBox="1"/>
          <p:nvPr/>
        </p:nvSpPr>
        <p:spPr>
          <a:xfrm>
            <a:off x="276225" y="3314700"/>
            <a:ext cx="4949526" cy="194310"/>
          </a:xfrm>
          <a:prstGeom prst="rect">
            <a:avLst/>
          </a:prstGeom>
          <a:noFill/>
        </p:spPr>
        <p:txBody>
          <a:bodyPr wrap="none" lIns="0" rIns="0" tIns="0" bIns="0">
            <a:spAutoFit/>
          </a:bodyPr>
          <a:lstStyle/>
          <a:p>
            <a:r>
              <a:rPr sz="1150" b="0">
                <a:solidFill>
                  <a:srgbClr val="252423"/>
                </a:solidFill>
                <a:latin typeface="Segoe UI"/>
              </a:rPr>
              <a:t>▪ Investment is flowing toward the fastest-growing tier 'Gaseous Helium-3' (</a:t>
            </a:r>
          </a:p>
        </p:txBody>
      </p:sp>
      <p:pic>
        <p:nvPicPr>
          <p:cNvPr id="48" name="Picture 47" descr="lock.png"/>
          <p:cNvPicPr>
            <a:picLocks noChangeAspect="1"/>
          </p:cNvPicPr>
          <p:nvPr/>
        </p:nvPicPr>
        <p:blipFill>
          <a:blip r:embed="rId5"/>
          <a:stretch>
            <a:fillRect/>
          </a:stretch>
        </p:blipFill>
        <p:spPr>
          <a:xfrm>
            <a:off x="5174905" y="3304476"/>
            <a:ext cx="134549" cy="195707"/>
          </a:xfrm>
          <a:prstGeom prst="rect">
            <a:avLst/>
          </a:prstGeom>
        </p:spPr>
      </p:pic>
      <p:sp>
        <p:nvSpPr>
          <p:cNvPr id="49" name="TextBox 48"/>
          <p:cNvSpPr txBox="1"/>
          <p:nvPr/>
        </p:nvSpPr>
        <p:spPr>
          <a:xfrm>
            <a:off x="5350014" y="331470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0" name="TextBox 49"/>
          <p:cNvSpPr txBox="1"/>
          <p:nvPr/>
        </p:nvSpPr>
        <p:spPr>
          <a:xfrm>
            <a:off x="276225" y="3542537"/>
            <a:ext cx="1540622" cy="194310"/>
          </a:xfrm>
          <a:prstGeom prst="rect">
            <a:avLst/>
          </a:prstGeom>
          <a:noFill/>
        </p:spPr>
        <p:txBody>
          <a:bodyPr wrap="none" lIns="0" rIns="0" tIns="0" bIns="0">
            <a:spAutoFit/>
          </a:bodyPr>
          <a:lstStyle/>
          <a:p>
            <a:r>
              <a:rPr sz="1150" b="0">
                <a:solidFill>
                  <a:srgbClr val="252423"/>
                </a:solidFill>
                <a:latin typeface="Segoe UI"/>
              </a:rPr>
              <a:t>▪ South Asia &amp; Pacific (</a:t>
            </a:r>
          </a:p>
        </p:txBody>
      </p:sp>
      <p:pic>
        <p:nvPicPr>
          <p:cNvPr id="51" name="Picture 50" descr="lock.png"/>
          <p:cNvPicPr>
            <a:picLocks noChangeAspect="1"/>
          </p:cNvPicPr>
          <p:nvPr/>
        </p:nvPicPr>
        <p:blipFill>
          <a:blip r:embed="rId5"/>
          <a:stretch>
            <a:fillRect/>
          </a:stretch>
        </p:blipFill>
        <p:spPr>
          <a:xfrm>
            <a:off x="1766001" y="3532314"/>
            <a:ext cx="134549" cy="195707"/>
          </a:xfrm>
          <a:prstGeom prst="rect">
            <a:avLst/>
          </a:prstGeom>
        </p:spPr>
      </p:pic>
      <p:sp>
        <p:nvSpPr>
          <p:cNvPr id="52" name="TextBox 51"/>
          <p:cNvSpPr txBox="1"/>
          <p:nvPr/>
        </p:nvSpPr>
        <p:spPr>
          <a:xfrm>
            <a:off x="1941110" y="3542537"/>
            <a:ext cx="2456724" cy="194310"/>
          </a:xfrm>
          <a:prstGeom prst="rect">
            <a:avLst/>
          </a:prstGeom>
          <a:noFill/>
        </p:spPr>
        <p:txBody>
          <a:bodyPr wrap="none" lIns="0" rIns="0" tIns="0" bIns="0">
            <a:spAutoFit/>
          </a:bodyPr>
          <a:lstStyle/>
          <a:p>
            <a:r>
              <a:rPr sz="1150" b="0">
                <a:solidFill>
                  <a:srgbClr val="252423"/>
                </a:solidFill>
                <a:latin typeface="Segoe UI"/>
              </a:rPr>
              <a:t>) is a priority region for new capacity.</a:t>
            </a:r>
          </a:p>
        </p:txBody>
      </p:sp>
      <p:sp>
        <p:nvSpPr>
          <p:cNvPr id="53" name="TextBox 52"/>
          <p:cNvSpPr txBox="1"/>
          <p:nvPr/>
        </p:nvSpPr>
        <p:spPr>
          <a:xfrm>
            <a:off x="276225" y="3770375"/>
            <a:ext cx="3352033" cy="194310"/>
          </a:xfrm>
          <a:prstGeom prst="rect">
            <a:avLst/>
          </a:prstGeom>
          <a:noFill/>
        </p:spPr>
        <p:txBody>
          <a:bodyPr wrap="none" lIns="0" rIns="0" tIns="0" bIns="0">
            <a:spAutoFit/>
          </a:bodyPr>
          <a:lstStyle/>
          <a:p>
            <a:r>
              <a:rPr sz="1150" b="0">
                <a:solidFill>
                  <a:srgbClr val="252423"/>
                </a:solidFill>
                <a:latin typeface="Segoe UI"/>
              </a:rPr>
              <a:t>▪ Scale players anchor around 'Gaseous Helium-3' (</a:t>
            </a:r>
          </a:p>
        </p:txBody>
      </p:sp>
      <p:pic>
        <p:nvPicPr>
          <p:cNvPr id="54" name="Picture 53" descr="lock.png"/>
          <p:cNvPicPr>
            <a:picLocks noChangeAspect="1"/>
          </p:cNvPicPr>
          <p:nvPr/>
        </p:nvPicPr>
        <p:blipFill>
          <a:blip r:embed="rId5"/>
          <a:stretch>
            <a:fillRect/>
          </a:stretch>
        </p:blipFill>
        <p:spPr>
          <a:xfrm>
            <a:off x="3577412" y="3760152"/>
            <a:ext cx="134549" cy="195707"/>
          </a:xfrm>
          <a:prstGeom prst="rect">
            <a:avLst/>
          </a:prstGeom>
        </p:spPr>
      </p:pic>
      <p:sp>
        <p:nvSpPr>
          <p:cNvPr id="55" name="TextBox 54"/>
          <p:cNvSpPr txBox="1"/>
          <p:nvPr/>
        </p:nvSpPr>
        <p:spPr>
          <a:xfrm>
            <a:off x="3752521" y="3770375"/>
            <a:ext cx="498344" cy="194310"/>
          </a:xfrm>
          <a:prstGeom prst="rect">
            <a:avLst/>
          </a:prstGeom>
          <a:noFill/>
        </p:spPr>
        <p:txBody>
          <a:bodyPr wrap="none" lIns="0" rIns="0" tIns="0" bIns="0">
            <a:spAutoFit/>
          </a:bodyPr>
          <a:lstStyle/>
          <a:p>
            <a:r>
              <a:rPr sz="1150" b="0">
                <a:solidFill>
                  <a:srgbClr val="252423"/>
                </a:solidFill>
                <a:latin typeface="Segoe UI"/>
              </a:rPr>
              <a:t>share).</a:t>
            </a:r>
          </a:p>
        </p:txBody>
      </p:sp>
      <p:sp>
        <p:nvSpPr>
          <p:cNvPr id="56" name="TextBox 55"/>
          <p:cNvSpPr txBox="1"/>
          <p:nvPr/>
        </p:nvSpPr>
        <p:spPr>
          <a:xfrm>
            <a:off x="6305550" y="3314700"/>
            <a:ext cx="5186407" cy="186689"/>
          </a:xfrm>
          <a:prstGeom prst="rect">
            <a:avLst/>
          </a:prstGeom>
          <a:noFill/>
        </p:spPr>
        <p:txBody>
          <a:bodyPr wrap="none" lIns="0" rIns="0" tIns="0" bIns="0">
            <a:spAutoFit/>
          </a:bodyPr>
          <a:lstStyle/>
          <a:p>
            <a:r>
              <a:rPr sz="1100" b="0">
                <a:solidFill>
                  <a:srgbClr val="252423"/>
                </a:solidFill>
                <a:latin typeface="Segoe UI"/>
              </a:rPr>
              <a:t>▪ R&amp;D aligns with the migration to 'Gaseous Helium-3' and adjacent premium tiers.</a:t>
            </a:r>
          </a:p>
        </p:txBody>
      </p:sp>
      <p:sp>
        <p:nvSpPr>
          <p:cNvPr id="57" name="TextBox 56"/>
          <p:cNvSpPr txBox="1"/>
          <p:nvPr/>
        </p:nvSpPr>
        <p:spPr>
          <a:xfrm>
            <a:off x="6305550" y="3532632"/>
            <a:ext cx="4811943" cy="186689"/>
          </a:xfrm>
          <a:prstGeom prst="rect">
            <a:avLst/>
          </a:prstGeom>
          <a:noFill/>
        </p:spPr>
        <p:txBody>
          <a:bodyPr wrap="none" lIns="0" rIns="0" tIns="0" bIns="0">
            <a:spAutoFit/>
          </a:bodyPr>
          <a:lstStyle/>
          <a:p>
            <a:r>
              <a:rPr sz="1100" b="0">
                <a:solidFill>
                  <a:srgbClr val="252423"/>
                </a:solidFill>
                <a:latin typeface="Segoe UI"/>
              </a:rPr>
              <a:t>▪ Development spend targets product form categories gaining share to 2036.</a:t>
            </a:r>
          </a:p>
        </p:txBody>
      </p:sp>
      <p:sp>
        <p:nvSpPr>
          <p:cNvPr id="58" name="TextBox 57"/>
          <p:cNvSpPr txBox="1"/>
          <p:nvPr/>
        </p:nvSpPr>
        <p:spPr>
          <a:xfrm>
            <a:off x="6305550" y="3750564"/>
            <a:ext cx="1714089" cy="186689"/>
          </a:xfrm>
          <a:prstGeom prst="rect">
            <a:avLst/>
          </a:prstGeom>
          <a:noFill/>
        </p:spPr>
        <p:txBody>
          <a:bodyPr wrap="none" lIns="0" rIns="0" tIns="0" bIns="0">
            <a:spAutoFit/>
          </a:bodyPr>
          <a:lstStyle/>
          <a:p>
            <a:r>
              <a:rPr sz="1100" b="0">
                <a:solidFill>
                  <a:srgbClr val="252423"/>
                </a:solidFill>
                <a:latin typeface="Segoe UI"/>
              </a:rPr>
              <a:t>▪ Innovation underpins the</a:t>
            </a:r>
          </a:p>
        </p:txBody>
      </p:sp>
      <p:pic>
        <p:nvPicPr>
          <p:cNvPr id="59" name="Picture 58" descr="lock.png"/>
          <p:cNvPicPr>
            <a:picLocks noChangeAspect="1"/>
          </p:cNvPicPr>
          <p:nvPr/>
        </p:nvPicPr>
        <p:blipFill>
          <a:blip r:embed="rId5"/>
          <a:stretch>
            <a:fillRect/>
          </a:stretch>
        </p:blipFill>
        <p:spPr>
          <a:xfrm>
            <a:off x="7967691" y="3740785"/>
            <a:ext cx="128699" cy="187198"/>
          </a:xfrm>
          <a:prstGeom prst="rect">
            <a:avLst/>
          </a:prstGeom>
        </p:spPr>
      </p:pic>
      <p:sp>
        <p:nvSpPr>
          <p:cNvPr id="60" name="TextBox 59"/>
          <p:cNvSpPr txBox="1"/>
          <p:nvPr/>
        </p:nvSpPr>
        <p:spPr>
          <a:xfrm>
            <a:off x="8135186" y="3750564"/>
            <a:ext cx="990193" cy="186689"/>
          </a:xfrm>
          <a:prstGeom prst="rect">
            <a:avLst/>
          </a:prstGeom>
          <a:noFill/>
        </p:spPr>
        <p:txBody>
          <a:bodyPr wrap="none" lIns="0" rIns="0" tIns="0" bIns="0">
            <a:spAutoFit/>
          </a:bodyPr>
          <a:lstStyle/>
          <a:p>
            <a:r>
              <a:rPr sz="1100" b="0">
                <a:solidFill>
                  <a:srgbClr val="252423"/>
                </a:solidFill>
                <a:latin typeface="Segoe UI"/>
              </a:rPr>
              <a:t>forecast CAGR.</a:t>
            </a:r>
          </a:p>
        </p:txBody>
      </p:sp>
      <p:sp>
        <p:nvSpPr>
          <p:cNvPr id="61" name="lockshield_26"/>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'Gaseous Helium-3' tier and Neutron Detection and Radiation Monitoring within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Region</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343333" cy="194310"/>
          </a:xfrm>
          <a:prstGeom prst="rect">
            <a:avLst/>
          </a:prstGeom>
          <a:noFill/>
        </p:spPr>
        <p:txBody>
          <a:bodyPr wrap="none" lIns="0" rIns="0" tIns="0" bIns="0">
            <a:spAutoFit/>
          </a:bodyPr>
          <a:lstStyle/>
          <a:p>
            <a:r>
              <a:rPr sz="1150" b="0">
                <a:solidFill>
                  <a:srgbClr val="252423"/>
                </a:solidFill>
                <a:latin typeface="Segoe UI"/>
              </a:rPr>
              <a:t>▪ Balance scale in 'Gaseous Helium-3' with targeted growth in 'Gaseous Helium-3',</a:t>
            </a:r>
          </a:p>
        </p:txBody>
      </p:sp>
      <p:sp>
        <p:nvSpPr>
          <p:cNvPr id="30" name="TextBox 29"/>
          <p:cNvSpPr txBox="1"/>
          <p:nvPr/>
        </p:nvSpPr>
        <p:spPr>
          <a:xfrm>
            <a:off x="276225" y="1575435"/>
            <a:ext cx="893185" cy="194310"/>
          </a:xfrm>
          <a:prstGeom prst="rect">
            <a:avLst/>
          </a:prstGeom>
          <a:noFill/>
        </p:spPr>
        <p:txBody>
          <a:bodyPr wrap="none" lIns="0" rIns="0" tIns="0" bIns="0">
            <a:spAutoFit/>
          </a:bodyPr>
          <a:lstStyle/>
          <a:p>
            <a:r>
              <a:rPr sz="1150" b="0">
                <a:solidFill>
                  <a:srgbClr val="252423"/>
                </a:solidFill>
                <a:latin typeface="Segoe UI"/>
              </a:rPr>
              <a:t>pursuing the</a:t>
            </a:r>
          </a:p>
        </p:txBody>
      </p:sp>
      <p:pic>
        <p:nvPicPr>
          <p:cNvPr id="31" name="Picture 30" descr="lock.png"/>
          <p:cNvPicPr>
            <a:picLocks noChangeAspect="1"/>
          </p:cNvPicPr>
          <p:nvPr/>
        </p:nvPicPr>
        <p:blipFill>
          <a:blip r:embed="rId4"/>
          <a:stretch>
            <a:fillRect/>
          </a:stretch>
        </p:blipFill>
        <p:spPr>
          <a:xfrm>
            <a:off x="1118563" y="1565211"/>
            <a:ext cx="134549" cy="195707"/>
          </a:xfrm>
          <a:prstGeom prst="rect">
            <a:avLst/>
          </a:prstGeom>
        </p:spPr>
      </p:pic>
      <p:sp>
        <p:nvSpPr>
          <p:cNvPr id="32" name="TextBox 31"/>
          <p:cNvSpPr txBox="1"/>
          <p:nvPr/>
        </p:nvSpPr>
        <p:spPr>
          <a:xfrm>
            <a:off x="1293673" y="1575435"/>
            <a:ext cx="1660812" cy="194310"/>
          </a:xfrm>
          <a:prstGeom prst="rect">
            <a:avLst/>
          </a:prstGeom>
          <a:noFill/>
        </p:spPr>
        <p:txBody>
          <a:bodyPr wrap="none" lIns="0" rIns="0" tIns="0" bIns="0">
            <a:spAutoFit/>
          </a:bodyPr>
          <a:lstStyle/>
          <a:p>
            <a:r>
              <a:rPr sz="1150" b="0">
                <a:solidFill>
                  <a:srgbClr val="252423"/>
                </a:solidFill>
                <a:latin typeface="Segoe UI"/>
              </a:rPr>
              <a:t>CAGR trajectory to 2036.</a:t>
            </a:r>
          </a:p>
        </p:txBody>
      </p:sp>
      <p:sp>
        <p:nvSpPr>
          <p:cNvPr id="33" name="TextBox 32"/>
          <p:cNvSpPr txBox="1"/>
          <p:nvPr/>
        </p:nvSpPr>
        <p:spPr>
          <a:xfrm>
            <a:off x="276225" y="3276600"/>
            <a:ext cx="2102073" cy="194310"/>
          </a:xfrm>
          <a:prstGeom prst="rect">
            <a:avLst/>
          </a:prstGeom>
          <a:noFill/>
        </p:spPr>
        <p:txBody>
          <a:bodyPr wrap="none" lIns="0" rIns="0" tIns="0" bIns="0">
            <a:spAutoFit/>
          </a:bodyPr>
          <a:lstStyle/>
          <a:p>
            <a:r>
              <a:rPr sz="1150" b="0">
                <a:solidFill>
                  <a:srgbClr val="252423"/>
                </a:solidFill>
                <a:latin typeface="Segoe UI"/>
              </a:rPr>
              <a:t>▪ Prioritise 'Gaseous Helium-3' (</a:t>
            </a:r>
          </a:p>
        </p:txBody>
      </p:sp>
      <p:pic>
        <p:nvPicPr>
          <p:cNvPr id="34" name="Picture 33" descr="lock.png"/>
          <p:cNvPicPr>
            <a:picLocks noChangeAspect="1"/>
          </p:cNvPicPr>
          <p:nvPr/>
        </p:nvPicPr>
        <p:blipFill>
          <a:blip r:embed="rId4"/>
          <a:stretch>
            <a:fillRect/>
          </a:stretch>
        </p:blipFill>
        <p:spPr>
          <a:xfrm>
            <a:off x="2327452" y="3266376"/>
            <a:ext cx="134549" cy="195707"/>
          </a:xfrm>
          <a:prstGeom prst="rect">
            <a:avLst/>
          </a:prstGeom>
        </p:spPr>
      </p:pic>
      <p:sp>
        <p:nvSpPr>
          <p:cNvPr id="35" name="TextBox 34"/>
          <p:cNvSpPr txBox="1"/>
          <p:nvPr/>
        </p:nvSpPr>
        <p:spPr>
          <a:xfrm>
            <a:off x="2502561" y="3276600"/>
            <a:ext cx="1984851" cy="194310"/>
          </a:xfrm>
          <a:prstGeom prst="rect">
            <a:avLst/>
          </a:prstGeom>
          <a:noFill/>
        </p:spPr>
        <p:txBody>
          <a:bodyPr wrap="none" lIns="0" rIns="0" tIns="0" bIns="0">
            <a:spAutoFit/>
          </a:bodyPr>
          <a:lstStyle/>
          <a:p>
            <a:r>
              <a:rPr sz="1150" b="0">
                <a:solidFill>
                  <a:srgbClr val="252423"/>
                </a:solidFill>
                <a:latin typeface="Segoe UI"/>
              </a:rPr>
              <a:t>); 'Gaseous Helium-3' anchors</a:t>
            </a:r>
          </a:p>
        </p:txBody>
      </p:sp>
      <p:pic>
        <p:nvPicPr>
          <p:cNvPr id="36" name="Picture 35" descr="lock.png"/>
          <p:cNvPicPr>
            <a:picLocks noChangeAspect="1"/>
          </p:cNvPicPr>
          <p:nvPr/>
        </p:nvPicPr>
        <p:blipFill>
          <a:blip r:embed="rId4"/>
          <a:stretch>
            <a:fillRect/>
          </a:stretch>
        </p:blipFill>
        <p:spPr>
          <a:xfrm>
            <a:off x="4436567" y="3266376"/>
            <a:ext cx="134549" cy="195707"/>
          </a:xfrm>
          <a:prstGeom prst="rect">
            <a:avLst/>
          </a:prstGeom>
        </p:spPr>
      </p:pic>
      <p:sp>
        <p:nvSpPr>
          <p:cNvPr id="37" name="TextBox 36"/>
          <p:cNvSpPr txBox="1"/>
          <p:nvPr/>
        </p:nvSpPr>
        <p:spPr>
          <a:xfrm>
            <a:off x="4611676" y="3276600"/>
            <a:ext cx="617816" cy="194310"/>
          </a:xfrm>
          <a:prstGeom prst="rect">
            <a:avLst/>
          </a:prstGeom>
          <a:noFill/>
        </p:spPr>
        <p:txBody>
          <a:bodyPr wrap="none" lIns="0" rIns="0" tIns="0" bIns="0">
            <a:spAutoFit/>
          </a:bodyPr>
          <a:lstStyle/>
          <a:p>
            <a:r>
              <a:rPr sz="1150" b="0">
                <a:solidFill>
                  <a:srgbClr val="252423"/>
                </a:solidFill>
                <a:latin typeface="Segoe UI"/>
              </a:rPr>
              <a:t>of value.</a:t>
            </a:r>
          </a:p>
        </p:txBody>
      </p:sp>
      <p:sp>
        <p:nvSpPr>
          <p:cNvPr id="38" name="TextBox 37"/>
          <p:cNvSpPr txBox="1"/>
          <p:nvPr/>
        </p:nvSpPr>
        <p:spPr>
          <a:xfrm>
            <a:off x="6305550" y="3276600"/>
            <a:ext cx="1853398" cy="194310"/>
          </a:xfrm>
          <a:prstGeom prst="rect">
            <a:avLst/>
          </a:prstGeom>
          <a:noFill/>
        </p:spPr>
        <p:txBody>
          <a:bodyPr wrap="none" lIns="0" rIns="0" tIns="0" bIns="0">
            <a:spAutoFit/>
          </a:bodyPr>
          <a:lstStyle/>
          <a:p>
            <a:r>
              <a:rPr sz="1150" b="0">
                <a:solidFill>
                  <a:srgbClr val="252423"/>
                </a:solidFill>
                <a:latin typeface="Segoe UI"/>
              </a:rPr>
              <a:t>▪ Lead with North America (</a:t>
            </a:r>
          </a:p>
        </p:txBody>
      </p:sp>
      <p:pic>
        <p:nvPicPr>
          <p:cNvPr id="39" name="Picture 38" descr="lock.png"/>
          <p:cNvPicPr>
            <a:picLocks noChangeAspect="1"/>
          </p:cNvPicPr>
          <p:nvPr/>
        </p:nvPicPr>
        <p:blipFill>
          <a:blip r:embed="rId4"/>
          <a:stretch>
            <a:fillRect/>
          </a:stretch>
        </p:blipFill>
        <p:spPr>
          <a:xfrm>
            <a:off x="8108102" y="3266376"/>
            <a:ext cx="134549" cy="195707"/>
          </a:xfrm>
          <a:prstGeom prst="rect">
            <a:avLst/>
          </a:prstGeom>
        </p:spPr>
      </p:pic>
      <p:sp>
        <p:nvSpPr>
          <p:cNvPr id="40" name="TextBox 39"/>
          <p:cNvSpPr txBox="1"/>
          <p:nvPr/>
        </p:nvSpPr>
        <p:spPr>
          <a:xfrm>
            <a:off x="8283211" y="3276600"/>
            <a:ext cx="2718689" cy="194310"/>
          </a:xfrm>
          <a:prstGeom prst="rect">
            <a:avLst/>
          </a:prstGeom>
          <a:noFill/>
        </p:spPr>
        <p:txBody>
          <a:bodyPr wrap="none" lIns="0" rIns="0" tIns="0" bIns="0">
            <a:spAutoFit/>
          </a:bodyPr>
          <a:lstStyle/>
          <a:p>
            <a:r>
              <a:rPr sz="1150" b="0">
                <a:solidFill>
                  <a:srgbClr val="252423"/>
                </a:solidFill>
                <a:latin typeface="Segoe UI"/>
              </a:rPr>
              <a:t>); capture upside in South Asia &amp; Pacific (</a:t>
            </a:r>
          </a:p>
        </p:txBody>
      </p:sp>
      <p:pic>
        <p:nvPicPr>
          <p:cNvPr id="41" name="Picture 40" descr="lock.png"/>
          <p:cNvPicPr>
            <a:picLocks noChangeAspect="1"/>
          </p:cNvPicPr>
          <p:nvPr/>
        </p:nvPicPr>
        <p:blipFill>
          <a:blip r:embed="rId4"/>
          <a:stretch>
            <a:fillRect/>
          </a:stretch>
        </p:blipFill>
        <p:spPr>
          <a:xfrm>
            <a:off x="10951055" y="3266376"/>
            <a:ext cx="134549" cy="195707"/>
          </a:xfrm>
          <a:prstGeom prst="rect">
            <a:avLst/>
          </a:prstGeom>
        </p:spPr>
      </p:pic>
      <p:sp>
        <p:nvSpPr>
          <p:cNvPr id="42" name="TextBox 41"/>
          <p:cNvSpPr txBox="1"/>
          <p:nvPr/>
        </p:nvSpPr>
        <p:spPr>
          <a:xfrm>
            <a:off x="11126164" y="327660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3" name="TextBox 42"/>
          <p:cNvSpPr txBox="1"/>
          <p:nvPr/>
        </p:nvSpPr>
        <p:spPr>
          <a:xfrm>
            <a:off x="276225" y="4972050"/>
            <a:ext cx="1113097" cy="194310"/>
          </a:xfrm>
          <a:prstGeom prst="rect">
            <a:avLst/>
          </a:prstGeom>
          <a:noFill/>
        </p:spPr>
        <p:txBody>
          <a:bodyPr wrap="none" lIns="0" rIns="0" tIns="0" bIns="0">
            <a:spAutoFit/>
          </a:bodyPr>
          <a:lstStyle/>
          <a:p>
            <a:r>
              <a:rPr sz="1150" b="0">
                <a:solidFill>
                  <a:srgbClr val="252423"/>
                </a:solidFill>
                <a:latin typeface="Segoe UI"/>
              </a:rPr>
              <a:t>▪ Helium-3 adds</a:t>
            </a:r>
          </a:p>
        </p:txBody>
      </p:sp>
      <p:pic>
        <p:nvPicPr>
          <p:cNvPr id="44" name="Picture 43" descr="lock.png"/>
          <p:cNvPicPr>
            <a:picLocks noChangeAspect="1"/>
          </p:cNvPicPr>
          <p:nvPr/>
        </p:nvPicPr>
        <p:blipFill>
          <a:blip r:embed="rId4"/>
          <a:stretch>
            <a:fillRect/>
          </a:stretch>
        </p:blipFill>
        <p:spPr>
          <a:xfrm>
            <a:off x="1338476" y="4961826"/>
            <a:ext cx="134549" cy="195707"/>
          </a:xfrm>
          <a:prstGeom prst="rect">
            <a:avLst/>
          </a:prstGeom>
        </p:spPr>
      </p:pic>
      <p:sp>
        <p:nvSpPr>
          <p:cNvPr id="45" name="TextBox 44"/>
          <p:cNvSpPr txBox="1"/>
          <p:nvPr/>
        </p:nvSpPr>
        <p:spPr>
          <a:xfrm>
            <a:off x="1513586" y="4972050"/>
            <a:ext cx="1973936" cy="194310"/>
          </a:xfrm>
          <a:prstGeom prst="rect">
            <a:avLst/>
          </a:prstGeom>
          <a:noFill/>
        </p:spPr>
        <p:txBody>
          <a:bodyPr wrap="none" lIns="0" rIns="0" tIns="0" bIns="0">
            <a:spAutoFit/>
          </a:bodyPr>
          <a:lstStyle/>
          <a:p>
            <a:r>
              <a:rPr sz="1150" b="0">
                <a:solidFill>
                  <a:srgbClr val="252423"/>
                </a:solidFill>
                <a:latin typeface="Segoe UI"/>
              </a:rPr>
              <a:t>US$ Mn of demand to 2036 a</a:t>
            </a:r>
          </a:p>
        </p:txBody>
      </p:sp>
      <p:pic>
        <p:nvPicPr>
          <p:cNvPr id="46" name="Picture 45" descr="lock.png"/>
          <p:cNvPicPr>
            <a:picLocks noChangeAspect="1"/>
          </p:cNvPicPr>
          <p:nvPr/>
        </p:nvPicPr>
        <p:blipFill>
          <a:blip r:embed="rId4"/>
          <a:stretch>
            <a:fillRect/>
          </a:stretch>
        </p:blipFill>
        <p:spPr>
          <a:xfrm>
            <a:off x="3436676" y="4961826"/>
            <a:ext cx="134549" cy="195707"/>
          </a:xfrm>
          <a:prstGeom prst="rect">
            <a:avLst/>
          </a:prstGeom>
        </p:spPr>
      </p:pic>
      <p:sp>
        <p:nvSpPr>
          <p:cNvPr id="47" name="TextBox 46"/>
          <p:cNvSpPr txBox="1"/>
          <p:nvPr/>
        </p:nvSpPr>
        <p:spPr>
          <a:xfrm>
            <a:off x="3611785" y="4972050"/>
            <a:ext cx="899696" cy="194310"/>
          </a:xfrm>
          <a:prstGeom prst="rect">
            <a:avLst/>
          </a:prstGeom>
          <a:noFill/>
        </p:spPr>
        <p:txBody>
          <a:bodyPr wrap="none" lIns="0" rIns="0" tIns="0" bIns="0">
            <a:spAutoFit/>
          </a:bodyPr>
          <a:lstStyle/>
          <a:p>
            <a:r>
              <a:rPr sz="1150" b="0">
                <a:solidFill>
                  <a:srgbClr val="252423"/>
                </a:solidFill>
                <a:latin typeface="Segoe UI"/>
              </a:rPr>
              <a:t>× expansion.</a:t>
            </a:r>
          </a:p>
        </p:txBody>
      </p:sp>
      <p:sp>
        <p:nvSpPr>
          <p:cNvPr id="48" name="TextBox 47"/>
          <p:cNvSpPr txBox="1"/>
          <p:nvPr/>
        </p:nvSpPr>
        <p:spPr>
          <a:xfrm>
            <a:off x="276225" y="5199888"/>
            <a:ext cx="6793171" cy="194310"/>
          </a:xfrm>
          <a:prstGeom prst="rect">
            <a:avLst/>
          </a:prstGeom>
          <a:noFill/>
        </p:spPr>
        <p:txBody>
          <a:bodyPr wrap="none" lIns="0" rIns="0" tIns="0" bIns="0">
            <a:spAutoFit/>
          </a:bodyPr>
          <a:lstStyle/>
          <a:p>
            <a:r>
              <a:rPr sz="1150" b="0">
                <a:solidFill>
                  <a:srgbClr val="252423"/>
                </a:solidFill>
                <a:latin typeface="Segoe UI"/>
              </a:rPr>
              <a:t>▪ Concentrate resources on the leading segment/region while seeding the fastest-growing pockets early.</a:t>
            </a:r>
          </a:p>
        </p:txBody>
      </p:sp>
      <p:sp>
        <p:nvSpPr>
          <p:cNvPr id="49" name="TextBox 48"/>
          <p:cNvSpPr txBox="1"/>
          <p:nvPr/>
        </p:nvSpPr>
        <p:spPr>
          <a:xfrm>
            <a:off x="276225" y="5427725"/>
            <a:ext cx="4807376" cy="194310"/>
          </a:xfrm>
          <a:prstGeom prst="rect">
            <a:avLst/>
          </a:prstGeom>
          <a:noFill/>
        </p:spPr>
        <p:txBody>
          <a:bodyPr wrap="none" lIns="0" rIns="0" tIns="0" bIns="0">
            <a:spAutoFit/>
          </a:bodyPr>
          <a:lstStyle/>
          <a:p>
            <a:r>
              <a:rPr sz="1150" b="0">
                <a:solidFill>
                  <a:srgbClr val="252423"/>
                </a:solidFill>
                <a:latin typeface="Segoe UI"/>
              </a:rPr>
              <a:t>▪ Defend share in 'Gaseous Helium-3' as the value anchor of the portfolio.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Scenario Outlook (4/4)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Scenario outlook comparing optimistic, likely and conservative outcomes for 2036 and the CAGR behind each</a:t>
            </a:r>
          </a:p>
        </p:txBody>
      </p:sp>
      <p:sp>
        <p:nvSpPr>
          <p:cNvPr id="8" name="Rounded Rectangle 7"/>
          <p:cNvSpPr/>
          <p:nvPr/>
        </p:nvSpPr>
        <p:spPr>
          <a:xfrm>
            <a:off x="142875" y="981075"/>
            <a:ext cx="3943350"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9" name="Rounded Rectangle 8"/>
          <p:cNvSpPr/>
          <p:nvPr/>
        </p:nvSpPr>
        <p:spPr>
          <a:xfrm>
            <a:off x="4238625"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0" name="Rounded Rectangle 9"/>
          <p:cNvSpPr/>
          <p:nvPr/>
        </p:nvSpPr>
        <p:spPr>
          <a:xfrm>
            <a:off x="8210550"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1" name="Rectangle 10"/>
          <p:cNvSpPr/>
          <p:nvPr/>
        </p:nvSpPr>
        <p:spPr>
          <a:xfrm>
            <a:off x="142875"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669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Helium-3 Market Value (US$ Mn) Scenario Forecast, 2025 &amp; 2036</a:t>
            </a:r>
          </a:p>
        </p:txBody>
      </p:sp>
      <p:cxnSp>
        <p:nvCxnSpPr>
          <p:cNvPr id="13" name="Connector 12"/>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06342" y="3403783"/>
            <a:ext cx="635826" cy="901517"/>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3936" y="2962662"/>
            <a:ext cx="635826" cy="1342638"/>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5725" y="2776844"/>
            <a:ext cx="635826" cy="1528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7515" y="2567940"/>
            <a:ext cx="635826" cy="173736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456468" y="2829312"/>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70768" y="2724537"/>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0" name="Connector 19"/>
          <p:cNvCxnSpPr/>
          <p:nvPr/>
        </p:nvCxnSpPr>
        <p:spPr>
          <a:xfrm>
            <a:off x="1456468" y="2572137"/>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467362"/>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2" name="Connector 21"/>
          <p:cNvCxnSpPr/>
          <p:nvPr/>
        </p:nvCxnSpPr>
        <p:spPr>
          <a:xfrm>
            <a:off x="1456468" y="2314962"/>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210187"/>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sp>
        <p:nvSpPr>
          <p:cNvPr id="24" name="TextBox 23"/>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2025</a:t>
            </a:r>
          </a:p>
        </p:txBody>
      </p:sp>
      <p:sp>
        <p:nvSpPr>
          <p:cNvPr id="25" name="TextBox 24"/>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2036</a:t>
            </a:r>
          </a:p>
        </p:txBody>
      </p:sp>
      <p:sp>
        <p:nvSpPr>
          <p:cNvPr id="26" name="Oval 25"/>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Conservative Scenario</a:t>
            </a:r>
          </a:p>
        </p:txBody>
      </p:sp>
      <p:sp>
        <p:nvSpPr>
          <p:cNvPr id="28" name="Oval 27"/>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Likely Scenario</a:t>
            </a:r>
          </a:p>
        </p:txBody>
      </p:sp>
      <p:sp>
        <p:nvSpPr>
          <p:cNvPr id="30" name="Oval 29"/>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Optimistic Scenario</a:t>
            </a:r>
          </a:p>
        </p:txBody>
      </p:sp>
      <p:sp>
        <p:nvSpPr>
          <p:cNvPr id="32" name="Rectangle 31"/>
          <p:cNvSpPr/>
          <p:nvPr/>
        </p:nvSpPr>
        <p:spPr>
          <a:xfrm>
            <a:off x="6172200"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Helium-3 Market Attractiveness Analysis By Region, 2026–2036</a:t>
            </a:r>
          </a:p>
        </p:txBody>
      </p:sp>
      <p:graphicFrame>
        <p:nvGraphicFramePr>
          <p:cNvPr id="34" name="Chart 33"/>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5" name="Rectangle 34"/>
          <p:cNvSpPr/>
          <p:nvPr/>
        </p:nvSpPr>
        <p:spPr>
          <a:xfrm>
            <a:off x="142875" y="4953000"/>
            <a:ext cx="11906250"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07BA5"/>
                </a:solidFill>
                <a:latin typeface="Segoe UI"/>
              </a:rPr>
              <a:t>Scenario Assumptions &amp; Outlook</a:t>
            </a:r>
          </a:p>
        </p:txBody>
      </p:sp>
      <p:sp>
        <p:nvSpPr>
          <p:cNvPr id="37" name="Rectangle 36"/>
          <p:cNvSpPr/>
          <p:nvPr/>
        </p:nvSpPr>
        <p:spPr>
          <a:xfrm>
            <a:off x="276225" y="52768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39" name="TextBox 3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564099" y="1028326"/>
            <a:ext cx="1177101" cy="166573"/>
          </a:xfrm>
          <a:prstGeom prst="rect">
            <a:avLst/>
          </a:prstGeom>
          <a:noFill/>
        </p:spPr>
        <p:txBody>
          <a:bodyPr wrap="none" lIns="0" rIns="0" tIns="0" bIns="0">
            <a:spAutoFit/>
          </a:bodyPr>
          <a:lstStyle/>
          <a:p>
            <a:r>
              <a:rPr sz="968" b="1">
                <a:solidFill>
                  <a:srgbClr val="605E5C"/>
                </a:solidFill>
                <a:latin typeface="Segoe UI"/>
              </a:rPr>
              <a:t>OPTIMISTIC (2036)</a:t>
            </a:r>
          </a:p>
        </p:txBody>
      </p:sp>
      <p:sp>
        <p:nvSpPr>
          <p:cNvPr id="44" name="TextBox 43"/>
          <p:cNvSpPr txBox="1"/>
          <p:nvPr/>
        </p:nvSpPr>
        <p:spPr>
          <a:xfrm>
            <a:off x="1890239"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5" name="Picture 44" descr="lock.png"/>
          <p:cNvPicPr>
            <a:picLocks noChangeAspect="1"/>
          </p:cNvPicPr>
          <p:nvPr/>
        </p:nvPicPr>
        <p:blipFill>
          <a:blip r:embed="rId5"/>
          <a:stretch>
            <a:fillRect/>
          </a:stretch>
        </p:blipFill>
        <p:spPr>
          <a:xfrm>
            <a:off x="2224657" y="1473019"/>
            <a:ext cx="113255" cy="164734"/>
          </a:xfrm>
          <a:prstGeom prst="rect">
            <a:avLst/>
          </a:prstGeom>
        </p:spPr>
      </p:pic>
      <p:sp>
        <p:nvSpPr>
          <p:cNvPr id="46" name="TextBox 45"/>
          <p:cNvSpPr txBox="1"/>
          <p:nvPr/>
        </p:nvSpPr>
        <p:spPr>
          <a:xfrm>
            <a:off x="5752154" y="1028326"/>
            <a:ext cx="868665" cy="166573"/>
          </a:xfrm>
          <a:prstGeom prst="rect">
            <a:avLst/>
          </a:prstGeom>
          <a:noFill/>
        </p:spPr>
        <p:txBody>
          <a:bodyPr wrap="none" lIns="0" rIns="0" tIns="0" bIns="0">
            <a:spAutoFit/>
          </a:bodyPr>
          <a:lstStyle/>
          <a:p>
            <a:r>
              <a:rPr sz="968" b="1">
                <a:solidFill>
                  <a:srgbClr val="605E5C"/>
                </a:solidFill>
                <a:latin typeface="Segoe UI"/>
              </a:rPr>
              <a:t>LIKELY (2036)</a:t>
            </a:r>
          </a:p>
        </p:txBody>
      </p:sp>
      <p:sp>
        <p:nvSpPr>
          <p:cNvPr id="47" name="TextBox 46"/>
          <p:cNvSpPr txBox="1"/>
          <p:nvPr/>
        </p:nvSpPr>
        <p:spPr>
          <a:xfrm>
            <a:off x="5924076"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8" name="Picture 47" descr="lock.png"/>
          <p:cNvPicPr>
            <a:picLocks noChangeAspect="1"/>
          </p:cNvPicPr>
          <p:nvPr/>
        </p:nvPicPr>
        <p:blipFill>
          <a:blip r:embed="rId5"/>
          <a:stretch>
            <a:fillRect/>
          </a:stretch>
        </p:blipFill>
        <p:spPr>
          <a:xfrm>
            <a:off x="6258494" y="1473019"/>
            <a:ext cx="113255" cy="164734"/>
          </a:xfrm>
          <a:prstGeom prst="rect">
            <a:avLst/>
          </a:prstGeom>
        </p:spPr>
      </p:pic>
      <p:sp>
        <p:nvSpPr>
          <p:cNvPr id="49" name="TextBox 48"/>
          <p:cNvSpPr txBox="1"/>
          <p:nvPr/>
        </p:nvSpPr>
        <p:spPr>
          <a:xfrm>
            <a:off x="9461940" y="1028326"/>
            <a:ext cx="1392944" cy="166573"/>
          </a:xfrm>
          <a:prstGeom prst="rect">
            <a:avLst/>
          </a:prstGeom>
          <a:noFill/>
        </p:spPr>
        <p:txBody>
          <a:bodyPr wrap="none" lIns="0" rIns="0" tIns="0" bIns="0">
            <a:spAutoFit/>
          </a:bodyPr>
          <a:lstStyle/>
          <a:p>
            <a:r>
              <a:rPr sz="968" b="1">
                <a:solidFill>
                  <a:srgbClr val="605E5C"/>
                </a:solidFill>
                <a:latin typeface="Segoe UI"/>
              </a:rPr>
              <a:t>CONSERVATIVE (2036)</a:t>
            </a:r>
          </a:p>
        </p:txBody>
      </p:sp>
      <p:sp>
        <p:nvSpPr>
          <p:cNvPr id="50" name="TextBox 49"/>
          <p:cNvSpPr txBox="1"/>
          <p:nvPr/>
        </p:nvSpPr>
        <p:spPr>
          <a:xfrm>
            <a:off x="9896001"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51" name="Picture 50" descr="lock.png"/>
          <p:cNvPicPr>
            <a:picLocks noChangeAspect="1"/>
          </p:cNvPicPr>
          <p:nvPr/>
        </p:nvPicPr>
        <p:blipFill>
          <a:blip r:embed="rId5"/>
          <a:stretch>
            <a:fillRect/>
          </a:stretch>
        </p:blipFill>
        <p:spPr>
          <a:xfrm>
            <a:off x="10230419" y="1473019"/>
            <a:ext cx="113255" cy="164734"/>
          </a:xfrm>
          <a:prstGeom prst="rect">
            <a:avLst/>
          </a:prstGeom>
        </p:spPr>
      </p:pic>
      <p:sp>
        <p:nvSpPr>
          <p:cNvPr id="52" name="TextBox 51"/>
          <p:cNvSpPr txBox="1"/>
          <p:nvPr/>
        </p:nvSpPr>
        <p:spPr>
          <a:xfrm>
            <a:off x="2011674" y="2758903"/>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3" name="Picture 52" descr="lock.png"/>
          <p:cNvPicPr>
            <a:picLocks noChangeAspect="1"/>
          </p:cNvPicPr>
          <p:nvPr/>
        </p:nvPicPr>
        <p:blipFill>
          <a:blip r:embed="rId5"/>
          <a:stretch>
            <a:fillRect/>
          </a:stretch>
        </p:blipFill>
        <p:spPr>
          <a:xfrm>
            <a:off x="2379717" y="2750688"/>
            <a:ext cx="108107" cy="157246"/>
          </a:xfrm>
          <a:prstGeom prst="rect">
            <a:avLst/>
          </a:prstGeom>
        </p:spPr>
      </p:pic>
      <p:sp>
        <p:nvSpPr>
          <p:cNvPr id="54" name="TextBox 53"/>
          <p:cNvSpPr txBox="1"/>
          <p:nvPr/>
        </p:nvSpPr>
        <p:spPr>
          <a:xfrm>
            <a:off x="2011674" y="2501728"/>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5" name="Picture 54" descr="lock.png"/>
          <p:cNvPicPr>
            <a:picLocks noChangeAspect="1"/>
          </p:cNvPicPr>
          <p:nvPr/>
        </p:nvPicPr>
        <p:blipFill>
          <a:blip r:embed="rId5"/>
          <a:stretch>
            <a:fillRect/>
          </a:stretch>
        </p:blipFill>
        <p:spPr>
          <a:xfrm>
            <a:off x="2379717" y="2493513"/>
            <a:ext cx="108107" cy="157246"/>
          </a:xfrm>
          <a:prstGeom prst="rect">
            <a:avLst/>
          </a:prstGeom>
        </p:spPr>
      </p:pic>
      <p:sp>
        <p:nvSpPr>
          <p:cNvPr id="56" name="TextBox 55"/>
          <p:cNvSpPr txBox="1"/>
          <p:nvPr/>
        </p:nvSpPr>
        <p:spPr>
          <a:xfrm>
            <a:off x="2011674" y="2244553"/>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7" name="Picture 56" descr="lock.png"/>
          <p:cNvPicPr>
            <a:picLocks noChangeAspect="1"/>
          </p:cNvPicPr>
          <p:nvPr/>
        </p:nvPicPr>
        <p:blipFill>
          <a:blip r:embed="rId5"/>
          <a:stretch>
            <a:fillRect/>
          </a:stretch>
        </p:blipFill>
        <p:spPr>
          <a:xfrm>
            <a:off x="2379717" y="2236338"/>
            <a:ext cx="108107" cy="157246"/>
          </a:xfrm>
          <a:prstGeom prst="rect">
            <a:avLst/>
          </a:prstGeom>
        </p:spPr>
      </p:pic>
      <p:sp>
        <p:nvSpPr>
          <p:cNvPr id="58" name="TextBox 57"/>
          <p:cNvSpPr txBox="1"/>
          <p:nvPr/>
        </p:nvSpPr>
        <p:spPr>
          <a:xfrm>
            <a:off x="276225" y="5372100"/>
            <a:ext cx="856084" cy="194310"/>
          </a:xfrm>
          <a:prstGeom prst="rect">
            <a:avLst/>
          </a:prstGeom>
          <a:noFill/>
        </p:spPr>
        <p:txBody>
          <a:bodyPr wrap="none" lIns="0" rIns="0" tIns="0" bIns="0">
            <a:spAutoFit/>
          </a:bodyPr>
          <a:lstStyle/>
          <a:p>
            <a:r>
              <a:rPr sz="1150" b="0">
                <a:solidFill>
                  <a:srgbClr val="252423"/>
                </a:solidFill>
                <a:latin typeface="Segoe UI"/>
              </a:rPr>
              <a:t>▪ Optimistic:</a:t>
            </a:r>
          </a:p>
        </p:txBody>
      </p:sp>
      <p:pic>
        <p:nvPicPr>
          <p:cNvPr id="59" name="Picture 58" descr="lock.png"/>
          <p:cNvPicPr>
            <a:picLocks noChangeAspect="1"/>
          </p:cNvPicPr>
          <p:nvPr/>
        </p:nvPicPr>
        <p:blipFill>
          <a:blip r:embed="rId5"/>
          <a:stretch>
            <a:fillRect/>
          </a:stretch>
        </p:blipFill>
        <p:spPr>
          <a:xfrm>
            <a:off x="1081463" y="5361876"/>
            <a:ext cx="134549" cy="195707"/>
          </a:xfrm>
          <a:prstGeom prst="rect">
            <a:avLst/>
          </a:prstGeom>
        </p:spPr>
      </p:pic>
      <p:sp>
        <p:nvSpPr>
          <p:cNvPr id="60" name="TextBox 59"/>
          <p:cNvSpPr txBox="1"/>
          <p:nvPr/>
        </p:nvSpPr>
        <p:spPr>
          <a:xfrm>
            <a:off x="1256572" y="5372100"/>
            <a:ext cx="1302221" cy="194310"/>
          </a:xfrm>
          <a:prstGeom prst="rect">
            <a:avLst/>
          </a:prstGeom>
          <a:noFill/>
        </p:spPr>
        <p:txBody>
          <a:bodyPr wrap="none" lIns="0" rIns="0" tIns="0" bIns="0">
            <a:spAutoFit/>
          </a:bodyPr>
          <a:lstStyle/>
          <a:p>
            <a:r>
              <a:rPr sz="1150" b="0">
                <a:solidFill>
                  <a:srgbClr val="252423"/>
                </a:solidFill>
                <a:latin typeface="Segoe UI"/>
              </a:rPr>
              <a:t>US$ Mn by 2036 at</a:t>
            </a:r>
          </a:p>
        </p:txBody>
      </p:sp>
      <p:pic>
        <p:nvPicPr>
          <p:cNvPr id="61" name="Picture 60" descr="lock.png"/>
          <p:cNvPicPr>
            <a:picLocks noChangeAspect="1"/>
          </p:cNvPicPr>
          <p:nvPr/>
        </p:nvPicPr>
        <p:blipFill>
          <a:blip r:embed="rId5"/>
          <a:stretch>
            <a:fillRect/>
          </a:stretch>
        </p:blipFill>
        <p:spPr>
          <a:xfrm>
            <a:off x="2507947" y="5361876"/>
            <a:ext cx="134549" cy="195707"/>
          </a:xfrm>
          <a:prstGeom prst="rect">
            <a:avLst/>
          </a:prstGeom>
        </p:spPr>
      </p:pic>
      <p:sp>
        <p:nvSpPr>
          <p:cNvPr id="62" name="TextBox 61"/>
          <p:cNvSpPr txBox="1"/>
          <p:nvPr/>
        </p:nvSpPr>
        <p:spPr>
          <a:xfrm>
            <a:off x="2683056" y="5372100"/>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3" name="TextBox 62"/>
          <p:cNvSpPr txBox="1"/>
          <p:nvPr/>
        </p:nvSpPr>
        <p:spPr>
          <a:xfrm>
            <a:off x="276225" y="5599938"/>
            <a:ext cx="1537734" cy="194310"/>
          </a:xfrm>
          <a:prstGeom prst="rect">
            <a:avLst/>
          </a:prstGeom>
          <a:noFill/>
        </p:spPr>
        <p:txBody>
          <a:bodyPr wrap="none" lIns="0" rIns="0" tIns="0" bIns="0">
            <a:spAutoFit/>
          </a:bodyPr>
          <a:lstStyle/>
          <a:p>
            <a:r>
              <a:rPr sz="1150" b="0">
                <a:solidFill>
                  <a:srgbClr val="252423"/>
                </a:solidFill>
                <a:latin typeface="Segoe UI"/>
              </a:rPr>
              <a:t>▪ Likely (base forecast):</a:t>
            </a:r>
          </a:p>
        </p:txBody>
      </p:sp>
      <p:pic>
        <p:nvPicPr>
          <p:cNvPr id="64" name="Picture 63" descr="lock.png"/>
          <p:cNvPicPr>
            <a:picLocks noChangeAspect="1"/>
          </p:cNvPicPr>
          <p:nvPr/>
        </p:nvPicPr>
        <p:blipFill>
          <a:blip r:embed="rId5"/>
          <a:stretch>
            <a:fillRect/>
          </a:stretch>
        </p:blipFill>
        <p:spPr>
          <a:xfrm>
            <a:off x="1763112" y="5589714"/>
            <a:ext cx="134549" cy="195707"/>
          </a:xfrm>
          <a:prstGeom prst="rect">
            <a:avLst/>
          </a:prstGeom>
        </p:spPr>
      </p:pic>
      <p:sp>
        <p:nvSpPr>
          <p:cNvPr id="65" name="TextBox 64"/>
          <p:cNvSpPr txBox="1"/>
          <p:nvPr/>
        </p:nvSpPr>
        <p:spPr>
          <a:xfrm>
            <a:off x="1938222" y="5599938"/>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66" name="Picture 65" descr="lock.png"/>
          <p:cNvPicPr>
            <a:picLocks noChangeAspect="1"/>
          </p:cNvPicPr>
          <p:nvPr/>
        </p:nvPicPr>
        <p:blipFill>
          <a:blip r:embed="rId5"/>
          <a:stretch>
            <a:fillRect/>
          </a:stretch>
        </p:blipFill>
        <p:spPr>
          <a:xfrm>
            <a:off x="2638201" y="5589714"/>
            <a:ext cx="134549" cy="195707"/>
          </a:xfrm>
          <a:prstGeom prst="rect">
            <a:avLst/>
          </a:prstGeom>
        </p:spPr>
      </p:pic>
      <p:sp>
        <p:nvSpPr>
          <p:cNvPr id="67" name="TextBox 66"/>
          <p:cNvSpPr txBox="1"/>
          <p:nvPr/>
        </p:nvSpPr>
        <p:spPr>
          <a:xfrm>
            <a:off x="2813310" y="5599938"/>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8" name="TextBox 67"/>
          <p:cNvSpPr txBox="1"/>
          <p:nvPr/>
        </p:nvSpPr>
        <p:spPr>
          <a:xfrm>
            <a:off x="276225" y="5827775"/>
            <a:ext cx="1022997" cy="194310"/>
          </a:xfrm>
          <a:prstGeom prst="rect">
            <a:avLst/>
          </a:prstGeom>
          <a:noFill/>
        </p:spPr>
        <p:txBody>
          <a:bodyPr wrap="none" lIns="0" rIns="0" tIns="0" bIns="0">
            <a:spAutoFit/>
          </a:bodyPr>
          <a:lstStyle/>
          <a:p>
            <a:r>
              <a:rPr sz="1150" b="0">
                <a:solidFill>
                  <a:srgbClr val="252423"/>
                </a:solidFill>
                <a:latin typeface="Segoe UI"/>
              </a:rPr>
              <a:t>▪ Conservative:</a:t>
            </a:r>
          </a:p>
        </p:txBody>
      </p:sp>
      <p:pic>
        <p:nvPicPr>
          <p:cNvPr id="69" name="Picture 68" descr="lock.png"/>
          <p:cNvPicPr>
            <a:picLocks noChangeAspect="1"/>
          </p:cNvPicPr>
          <p:nvPr/>
        </p:nvPicPr>
        <p:blipFill>
          <a:blip r:embed="rId5"/>
          <a:stretch>
            <a:fillRect/>
          </a:stretch>
        </p:blipFill>
        <p:spPr>
          <a:xfrm>
            <a:off x="1248376" y="5817552"/>
            <a:ext cx="134549" cy="195707"/>
          </a:xfrm>
          <a:prstGeom prst="rect">
            <a:avLst/>
          </a:prstGeom>
        </p:spPr>
      </p:pic>
      <p:sp>
        <p:nvSpPr>
          <p:cNvPr id="70" name="TextBox 69"/>
          <p:cNvSpPr txBox="1"/>
          <p:nvPr/>
        </p:nvSpPr>
        <p:spPr>
          <a:xfrm>
            <a:off x="1423486" y="5827775"/>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71" name="Picture 70" descr="lock.png"/>
          <p:cNvPicPr>
            <a:picLocks noChangeAspect="1"/>
          </p:cNvPicPr>
          <p:nvPr/>
        </p:nvPicPr>
        <p:blipFill>
          <a:blip r:embed="rId5"/>
          <a:stretch>
            <a:fillRect/>
          </a:stretch>
        </p:blipFill>
        <p:spPr>
          <a:xfrm>
            <a:off x="2123465" y="5817552"/>
            <a:ext cx="134549" cy="195707"/>
          </a:xfrm>
          <a:prstGeom prst="rect">
            <a:avLst/>
          </a:prstGeom>
        </p:spPr>
      </p:pic>
      <p:sp>
        <p:nvSpPr>
          <p:cNvPr id="72" name="TextBox 71"/>
          <p:cNvSpPr txBox="1"/>
          <p:nvPr/>
        </p:nvSpPr>
        <p:spPr>
          <a:xfrm>
            <a:off x="2298574" y="58277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73" name="TextBox 72"/>
          <p:cNvSpPr txBox="1"/>
          <p:nvPr/>
        </p:nvSpPr>
        <p:spPr>
          <a:xfrm>
            <a:off x="276225" y="6055613"/>
            <a:ext cx="3985849" cy="194310"/>
          </a:xfrm>
          <a:prstGeom prst="rect">
            <a:avLst/>
          </a:prstGeom>
          <a:noFill/>
        </p:spPr>
        <p:txBody>
          <a:bodyPr wrap="none" lIns="0" rIns="0" tIns="0" bIns="0">
            <a:spAutoFit/>
          </a:bodyPr>
          <a:lstStyle/>
          <a:p>
            <a:r>
              <a:rPr sz="1150" b="0">
                <a:solidFill>
                  <a:srgbClr val="252423"/>
                </a:solidFill>
                <a:latin typeface="Segoe U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4211228" y="6045390"/>
            <a:ext cx="134549" cy="195707"/>
          </a:xfrm>
          <a:prstGeom prst="rect">
            <a:avLst/>
          </a:prstGeom>
        </p:spPr>
      </p:pic>
      <p:sp>
        <p:nvSpPr>
          <p:cNvPr id="75" name="TextBox 74"/>
          <p:cNvSpPr txBox="1"/>
          <p:nvPr/>
        </p:nvSpPr>
        <p:spPr>
          <a:xfrm>
            <a:off x="4386338" y="6055613"/>
            <a:ext cx="2030443" cy="194310"/>
          </a:xfrm>
          <a:prstGeom prst="rect">
            <a:avLst/>
          </a:prstGeom>
          <a:noFill/>
        </p:spPr>
        <p:txBody>
          <a:bodyPr wrap="none" lIns="0" rIns="0" tIns="0" bIns="0">
            <a:spAutoFit/>
          </a:bodyPr>
          <a:lstStyle/>
          <a:p>
            <a:r>
              <a:rPr sz="1150" b="0">
                <a:solidFill>
                  <a:srgbClr val="252423"/>
                </a:solidFill>
                <a:latin typeface="Segoe UI"/>
              </a:rPr>
              <a:t>across the 2026–2036 horizon.</a:t>
            </a:r>
          </a:p>
        </p:txBody>
      </p:sp>
      <p:sp>
        <p:nvSpPr>
          <p:cNvPr id="76" name="lockshield_34"/>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Helium-3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 Regional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7 regions,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Region view breaks the Global market down geographically. Each region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Region</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330779"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330779"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North America</a:t>
            </a:r>
          </a:p>
        </p:txBody>
      </p:sp>
      <p:sp>
        <p:nvSpPr>
          <p:cNvPr id="20" name="Rectangle 19"/>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370364"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3311979" y="1773916"/>
            <a:ext cx="1330779"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11979" y="1992961"/>
            <a:ext cx="1330779"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 Asia</a:t>
            </a:r>
          </a:p>
        </p:txBody>
      </p:sp>
      <p:sp>
        <p:nvSpPr>
          <p:cNvPr id="27" name="Rectangle 26"/>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3815443"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4757057" y="1773916"/>
            <a:ext cx="1330779"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7057" y="1992961"/>
            <a:ext cx="1330779"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South Asia &amp; Pacific</a:t>
            </a:r>
          </a:p>
        </p:txBody>
      </p:sp>
      <p:sp>
        <p:nvSpPr>
          <p:cNvPr id="34" name="Rectangle 33"/>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5260521"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6202136" y="1773916"/>
            <a:ext cx="1330779"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02136" y="1992961"/>
            <a:ext cx="1330779"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Latin America</a:t>
            </a:r>
          </a:p>
        </p:txBody>
      </p:sp>
      <p:sp>
        <p:nvSpPr>
          <p:cNvPr id="41" name="Rectangle 40"/>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670560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7647214" y="1773916"/>
            <a:ext cx="1330779"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647214" y="1992961"/>
            <a:ext cx="1330779"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Middle East &amp; Africa</a:t>
            </a:r>
          </a:p>
        </p:txBody>
      </p:sp>
      <p:sp>
        <p:nvSpPr>
          <p:cNvPr id="48" name="Rectangle 47"/>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49" name="Rectangle 48"/>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0" name="Rectangle 49"/>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1" name="Oval 50"/>
          <p:cNvSpPr/>
          <p:nvPr/>
        </p:nvSpPr>
        <p:spPr>
          <a:xfrm>
            <a:off x="8150679"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2" name="Rounded Rectangle 51"/>
          <p:cNvSpPr/>
          <p:nvPr/>
        </p:nvSpPr>
        <p:spPr>
          <a:xfrm>
            <a:off x="9092293" y="1773916"/>
            <a:ext cx="1330779"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92293" y="1992961"/>
            <a:ext cx="1330779"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Eastern Europe</a:t>
            </a:r>
          </a:p>
        </p:txBody>
      </p:sp>
      <p:sp>
        <p:nvSpPr>
          <p:cNvPr id="55" name="Rectangle 54"/>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6" name="Rectangle 55"/>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7" name="Rectangle 56"/>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8" name="Oval 57"/>
          <p:cNvSpPr/>
          <p:nvPr/>
        </p:nvSpPr>
        <p:spPr>
          <a:xfrm>
            <a:off x="9595757"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59" name="Rounded Rectangle 58"/>
          <p:cNvSpPr/>
          <p:nvPr/>
        </p:nvSpPr>
        <p:spPr>
          <a:xfrm>
            <a:off x="10537371" y="1773916"/>
            <a:ext cx="1330779"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537371" y="1992961"/>
            <a:ext cx="1330779"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Western Europe</a:t>
            </a:r>
          </a:p>
        </p:txBody>
      </p:sp>
      <p:sp>
        <p:nvSpPr>
          <p:cNvPr id="62" name="Rectangle 61"/>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3" name="Rectangle 62"/>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4" name="Rectangle 63"/>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r>
          </a:p>
        </p:txBody>
      </p:sp>
      <p:sp>
        <p:nvSpPr>
          <p:cNvPr id="65" name="Oval 64"/>
          <p:cNvSpPr/>
          <p:nvPr/>
        </p:nvSpPr>
        <p:spPr>
          <a:xfrm>
            <a:off x="11040836"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66" name="Rounded Rectangle 6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8" name="Rectangle 6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70" name="Rounded Rectangle 6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Region Insights</a:t>
            </a:r>
          </a:p>
        </p:txBody>
      </p:sp>
      <p:sp>
        <p:nvSpPr>
          <p:cNvPr id="72" name="Rectangle 7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C58A21"/>
                </a:solidFill>
                <a:latin typeface="Segoe UI"/>
              </a:rPr>
              <a:t/>
            </a:r>
            <a:r>
              <a:rPr sz="1100" b="1">
                <a:solidFill>
                  <a:srgbClr val="C58A21"/>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B5532F"/>
                </a:solidFill>
                <a:latin typeface="Segoe UI"/>
              </a:rPr>
              <a:t/>
            </a:r>
            <a:r>
              <a:rPr sz="1100" b="1">
                <a:solidFill>
                  <a:srgbClr val="B5532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2C6E7F"/>
                </a:solidFill>
                <a:latin typeface="Segoe UI"/>
              </a:rPr>
              <a:t/>
            </a:r>
            <a:r>
              <a:rPr sz="1100" b="1">
                <a:solidFill>
                  <a:srgbClr val="2C6E7F"/>
                </a:solidFill>
                <a:latin typeface="Segoe UI"/>
              </a:rPr>
              <a:t/>
            </a:r>
            <a:r>
              <a:rPr sz="1100" b="0">
                <a:solidFill>
                  <a:srgbClr val="252423"/>
                </a:solidFill>
                <a:latin typeface="Segoe UI"/>
              </a:rPr>
              <a:t/>
            </a:r>
          </a:p>
        </p:txBody>
      </p:sp>
      <p:sp>
        <p:nvSpPr>
          <p:cNvPr id="74" name="Rounded Rectangle 7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Region Overview</a:t>
            </a:r>
          </a:p>
        </p:txBody>
      </p:sp>
      <p:sp>
        <p:nvSpPr>
          <p:cNvPr id="76" name="Rectangle 7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Region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78" name="Rectangle 7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80" name="TextBox 7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81" name="TextBox 8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82" name="Picture 81" descr="4_317_605E5C.png"/>
          <p:cNvPicPr>
            <a:picLocks noChangeAspect="1"/>
          </p:cNvPicPr>
          <p:nvPr/>
        </p:nvPicPr>
        <p:blipFill>
          <a:blip r:embed="rId4"/>
          <a:stretch>
            <a:fillRect/>
          </a:stretch>
        </p:blipFill>
        <p:spPr>
          <a:xfrm>
            <a:off x="1934425" y="2286582"/>
            <a:ext cx="1195728" cy="361950"/>
          </a:xfrm>
          <a:prstGeom prst="rect">
            <a:avLst/>
          </a:prstGeom>
        </p:spPr>
      </p:pic>
      <p:pic>
        <p:nvPicPr>
          <p:cNvPr id="83" name="Picture 82" descr="6_529_605E5C.png"/>
          <p:cNvPicPr>
            <a:picLocks noChangeAspect="1"/>
          </p:cNvPicPr>
          <p:nvPr/>
        </p:nvPicPr>
        <p:blipFill>
          <a:blip r:embed="rId5"/>
          <a:stretch>
            <a:fillRect/>
          </a:stretch>
        </p:blipFill>
        <p:spPr>
          <a:xfrm>
            <a:off x="1934425" y="2779432"/>
            <a:ext cx="1195728" cy="361950"/>
          </a:xfrm>
          <a:prstGeom prst="rect">
            <a:avLst/>
          </a:prstGeom>
        </p:spPr>
      </p:pic>
      <p:pic>
        <p:nvPicPr>
          <p:cNvPr id="84" name="Picture 83" descr="4_2__605E5C.png"/>
          <p:cNvPicPr>
            <a:picLocks noChangeAspect="1"/>
          </p:cNvPicPr>
          <p:nvPr/>
        </p:nvPicPr>
        <p:blipFill>
          <a:blip r:embed="rId6"/>
          <a:stretch>
            <a:fillRect/>
          </a:stretch>
        </p:blipFill>
        <p:spPr>
          <a:xfrm>
            <a:off x="2041071" y="3272281"/>
            <a:ext cx="982436" cy="361950"/>
          </a:xfrm>
          <a:prstGeom prst="rect">
            <a:avLst/>
          </a:prstGeom>
        </p:spPr>
      </p:pic>
      <p:pic>
        <p:nvPicPr>
          <p:cNvPr id="85" name="Picture 84" descr="1_700_605E5C.png"/>
          <p:cNvPicPr>
            <a:picLocks noChangeAspect="1"/>
          </p:cNvPicPr>
          <p:nvPr/>
        </p:nvPicPr>
        <p:blipFill>
          <a:blip r:embed="rId7"/>
          <a:stretch>
            <a:fillRect/>
          </a:stretch>
        </p:blipFill>
        <p:spPr>
          <a:xfrm>
            <a:off x="3379504" y="2286582"/>
            <a:ext cx="1195728" cy="361950"/>
          </a:xfrm>
          <a:prstGeom prst="rect">
            <a:avLst/>
          </a:prstGeom>
        </p:spPr>
      </p:pic>
      <p:pic>
        <p:nvPicPr>
          <p:cNvPr id="86" name="Picture 85" descr="2_716_605E5C.png"/>
          <p:cNvPicPr>
            <a:picLocks noChangeAspect="1"/>
          </p:cNvPicPr>
          <p:nvPr/>
        </p:nvPicPr>
        <p:blipFill>
          <a:blip r:embed="rId8"/>
          <a:stretch>
            <a:fillRect/>
          </a:stretch>
        </p:blipFill>
        <p:spPr>
          <a:xfrm>
            <a:off x="3379504" y="2779432"/>
            <a:ext cx="1195728" cy="361950"/>
          </a:xfrm>
          <a:prstGeom prst="rect">
            <a:avLst/>
          </a:prstGeom>
        </p:spPr>
      </p:pic>
      <p:pic>
        <p:nvPicPr>
          <p:cNvPr id="87" name="Picture 86" descr="4_8__605E5C.png"/>
          <p:cNvPicPr>
            <a:picLocks noChangeAspect="1"/>
          </p:cNvPicPr>
          <p:nvPr/>
        </p:nvPicPr>
        <p:blipFill>
          <a:blip r:embed="rId9"/>
          <a:stretch>
            <a:fillRect/>
          </a:stretch>
        </p:blipFill>
        <p:spPr>
          <a:xfrm>
            <a:off x="3486150" y="3272281"/>
            <a:ext cx="982436" cy="361950"/>
          </a:xfrm>
          <a:prstGeom prst="rect">
            <a:avLst/>
          </a:prstGeom>
        </p:spPr>
      </p:pic>
      <p:pic>
        <p:nvPicPr>
          <p:cNvPr id="88" name="Picture 87" descr="1_570_605E5C.png"/>
          <p:cNvPicPr>
            <a:picLocks noChangeAspect="1"/>
          </p:cNvPicPr>
          <p:nvPr/>
        </p:nvPicPr>
        <p:blipFill>
          <a:blip r:embed="rId10"/>
          <a:stretch>
            <a:fillRect/>
          </a:stretch>
        </p:blipFill>
        <p:spPr>
          <a:xfrm>
            <a:off x="4824582" y="2286582"/>
            <a:ext cx="1195728" cy="361950"/>
          </a:xfrm>
          <a:prstGeom prst="rect">
            <a:avLst/>
          </a:prstGeom>
        </p:spPr>
      </p:pic>
      <p:pic>
        <p:nvPicPr>
          <p:cNvPr id="89" name="Picture 88" descr="2_821_605E5C.png"/>
          <p:cNvPicPr>
            <a:picLocks noChangeAspect="1"/>
          </p:cNvPicPr>
          <p:nvPr/>
        </p:nvPicPr>
        <p:blipFill>
          <a:blip r:embed="rId11"/>
          <a:stretch>
            <a:fillRect/>
          </a:stretch>
        </p:blipFill>
        <p:spPr>
          <a:xfrm>
            <a:off x="4824582" y="2779432"/>
            <a:ext cx="1195728" cy="361950"/>
          </a:xfrm>
          <a:prstGeom prst="rect">
            <a:avLst/>
          </a:prstGeom>
        </p:spPr>
      </p:pic>
      <p:pic>
        <p:nvPicPr>
          <p:cNvPr id="90" name="Picture 89" descr="6_0__605E5C.png"/>
          <p:cNvPicPr>
            <a:picLocks noChangeAspect="1"/>
          </p:cNvPicPr>
          <p:nvPr/>
        </p:nvPicPr>
        <p:blipFill>
          <a:blip r:embed="rId12"/>
          <a:stretch>
            <a:fillRect/>
          </a:stretch>
        </p:blipFill>
        <p:spPr>
          <a:xfrm>
            <a:off x="4931228" y="3272281"/>
            <a:ext cx="982436" cy="361950"/>
          </a:xfrm>
          <a:prstGeom prst="rect">
            <a:avLst/>
          </a:prstGeom>
        </p:spPr>
      </p:pic>
      <p:pic>
        <p:nvPicPr>
          <p:cNvPr id="91" name="Picture 90" descr="1_046_605E5C.png"/>
          <p:cNvPicPr>
            <a:picLocks noChangeAspect="1"/>
          </p:cNvPicPr>
          <p:nvPr/>
        </p:nvPicPr>
        <p:blipFill>
          <a:blip r:embed="rId13"/>
          <a:stretch>
            <a:fillRect/>
          </a:stretch>
        </p:blipFill>
        <p:spPr>
          <a:xfrm>
            <a:off x="6269661" y="2286582"/>
            <a:ext cx="1195728" cy="361950"/>
          </a:xfrm>
          <a:prstGeom prst="rect">
            <a:avLst/>
          </a:prstGeom>
        </p:spPr>
      </p:pic>
      <p:pic>
        <p:nvPicPr>
          <p:cNvPr id="92" name="Picture 91" descr="1_854_605E5C.png"/>
          <p:cNvPicPr>
            <a:picLocks noChangeAspect="1"/>
          </p:cNvPicPr>
          <p:nvPr/>
        </p:nvPicPr>
        <p:blipFill>
          <a:blip r:embed="rId14"/>
          <a:stretch>
            <a:fillRect/>
          </a:stretch>
        </p:blipFill>
        <p:spPr>
          <a:xfrm>
            <a:off x="6269661" y="2779432"/>
            <a:ext cx="1195728" cy="361950"/>
          </a:xfrm>
          <a:prstGeom prst="rect">
            <a:avLst/>
          </a:prstGeom>
        </p:spPr>
      </p:pic>
      <p:pic>
        <p:nvPicPr>
          <p:cNvPr id="93" name="Picture 92" descr="5_9__605E5C.png"/>
          <p:cNvPicPr>
            <a:picLocks noChangeAspect="1"/>
          </p:cNvPicPr>
          <p:nvPr/>
        </p:nvPicPr>
        <p:blipFill>
          <a:blip r:embed="rId15"/>
          <a:stretch>
            <a:fillRect/>
          </a:stretch>
        </p:blipFill>
        <p:spPr>
          <a:xfrm>
            <a:off x="6376307" y="3272281"/>
            <a:ext cx="982436" cy="361950"/>
          </a:xfrm>
          <a:prstGeom prst="rect">
            <a:avLst/>
          </a:prstGeom>
        </p:spPr>
      </p:pic>
      <p:pic>
        <p:nvPicPr>
          <p:cNvPr id="94" name="Picture 93" descr="915_6_605E5C.png"/>
          <p:cNvPicPr>
            <a:picLocks noChangeAspect="1"/>
          </p:cNvPicPr>
          <p:nvPr/>
        </p:nvPicPr>
        <p:blipFill>
          <a:blip r:embed="rId16"/>
          <a:stretch>
            <a:fillRect/>
          </a:stretch>
        </p:blipFill>
        <p:spPr>
          <a:xfrm>
            <a:off x="7714739" y="2286582"/>
            <a:ext cx="1195728" cy="361950"/>
          </a:xfrm>
          <a:prstGeom prst="rect">
            <a:avLst/>
          </a:prstGeom>
        </p:spPr>
      </p:pic>
      <p:pic>
        <p:nvPicPr>
          <p:cNvPr id="95" name="Picture 94" descr="1_480_605E5C.png"/>
          <p:cNvPicPr>
            <a:picLocks noChangeAspect="1"/>
          </p:cNvPicPr>
          <p:nvPr/>
        </p:nvPicPr>
        <p:blipFill>
          <a:blip r:embed="rId17"/>
          <a:stretch>
            <a:fillRect/>
          </a:stretch>
        </p:blipFill>
        <p:spPr>
          <a:xfrm>
            <a:off x="7714739" y="2779432"/>
            <a:ext cx="1195728" cy="361950"/>
          </a:xfrm>
          <a:prstGeom prst="rect">
            <a:avLst/>
          </a:prstGeom>
        </p:spPr>
      </p:pic>
      <p:pic>
        <p:nvPicPr>
          <p:cNvPr id="96" name="Picture 95" descr="4_9__605E5C.png"/>
          <p:cNvPicPr>
            <a:picLocks noChangeAspect="1"/>
          </p:cNvPicPr>
          <p:nvPr/>
        </p:nvPicPr>
        <p:blipFill>
          <a:blip r:embed="rId18"/>
          <a:stretch>
            <a:fillRect/>
          </a:stretch>
        </p:blipFill>
        <p:spPr>
          <a:xfrm>
            <a:off x="7821385" y="3272281"/>
            <a:ext cx="982436" cy="361950"/>
          </a:xfrm>
          <a:prstGeom prst="rect">
            <a:avLst/>
          </a:prstGeom>
        </p:spPr>
      </p:pic>
      <p:pic>
        <p:nvPicPr>
          <p:cNvPr id="97" name="Picture 96" descr="803_7_605E5C.png"/>
          <p:cNvPicPr>
            <a:picLocks noChangeAspect="1"/>
          </p:cNvPicPr>
          <p:nvPr/>
        </p:nvPicPr>
        <p:blipFill>
          <a:blip r:embed="rId19"/>
          <a:stretch>
            <a:fillRect/>
          </a:stretch>
        </p:blipFill>
        <p:spPr>
          <a:xfrm>
            <a:off x="9159818" y="2286582"/>
            <a:ext cx="1195728" cy="361950"/>
          </a:xfrm>
          <a:prstGeom prst="rect">
            <a:avLst/>
          </a:prstGeom>
        </p:spPr>
      </p:pic>
      <p:pic>
        <p:nvPicPr>
          <p:cNvPr id="98" name="Picture 97" descr="1_400_605E5C.png"/>
          <p:cNvPicPr>
            <a:picLocks noChangeAspect="1"/>
          </p:cNvPicPr>
          <p:nvPr/>
        </p:nvPicPr>
        <p:blipFill>
          <a:blip r:embed="rId20"/>
          <a:stretch>
            <a:fillRect/>
          </a:stretch>
        </p:blipFill>
        <p:spPr>
          <a:xfrm>
            <a:off x="9159818" y="2779432"/>
            <a:ext cx="1195728" cy="361950"/>
          </a:xfrm>
          <a:prstGeom prst="rect">
            <a:avLst/>
          </a:prstGeom>
        </p:spPr>
      </p:pic>
      <p:pic>
        <p:nvPicPr>
          <p:cNvPr id="99" name="Picture 98" descr="5_7__605E5C.png"/>
          <p:cNvPicPr>
            <a:picLocks noChangeAspect="1"/>
          </p:cNvPicPr>
          <p:nvPr/>
        </p:nvPicPr>
        <p:blipFill>
          <a:blip r:embed="rId21"/>
          <a:stretch>
            <a:fillRect/>
          </a:stretch>
        </p:blipFill>
        <p:spPr>
          <a:xfrm>
            <a:off x="9266464" y="3272281"/>
            <a:ext cx="982436" cy="361950"/>
          </a:xfrm>
          <a:prstGeom prst="rect">
            <a:avLst/>
          </a:prstGeom>
        </p:spPr>
      </p:pic>
      <p:pic>
        <p:nvPicPr>
          <p:cNvPr id="100" name="Picture 99" descr="547_7_605E5C.png"/>
          <p:cNvPicPr>
            <a:picLocks noChangeAspect="1"/>
          </p:cNvPicPr>
          <p:nvPr/>
        </p:nvPicPr>
        <p:blipFill>
          <a:blip r:embed="rId22"/>
          <a:stretch>
            <a:fillRect/>
          </a:stretch>
        </p:blipFill>
        <p:spPr>
          <a:xfrm>
            <a:off x="10604896" y="2286582"/>
            <a:ext cx="1195728" cy="361950"/>
          </a:xfrm>
          <a:prstGeom prst="rect">
            <a:avLst/>
          </a:prstGeom>
        </p:spPr>
      </p:pic>
      <p:pic>
        <p:nvPicPr>
          <p:cNvPr id="101" name="Picture 100" descr="943_6_605E5C.png"/>
          <p:cNvPicPr>
            <a:picLocks noChangeAspect="1"/>
          </p:cNvPicPr>
          <p:nvPr/>
        </p:nvPicPr>
        <p:blipFill>
          <a:blip r:embed="rId23"/>
          <a:stretch>
            <a:fillRect/>
          </a:stretch>
        </p:blipFill>
        <p:spPr>
          <a:xfrm>
            <a:off x="10604896" y="2779432"/>
            <a:ext cx="1195728" cy="361950"/>
          </a:xfrm>
          <a:prstGeom prst="rect">
            <a:avLst/>
          </a:prstGeom>
        </p:spPr>
      </p:pic>
      <p:pic>
        <p:nvPicPr>
          <p:cNvPr id="102" name="Picture 101" descr="5_6__605E5C.png"/>
          <p:cNvPicPr>
            <a:picLocks noChangeAspect="1"/>
          </p:cNvPicPr>
          <p:nvPr/>
        </p:nvPicPr>
        <p:blipFill>
          <a:blip r:embed="rId24"/>
          <a:stretch>
            <a:fillRect/>
          </a:stretch>
        </p:blipFill>
        <p:spPr>
          <a:xfrm>
            <a:off x="10711542" y="3272281"/>
            <a:ext cx="982436" cy="361950"/>
          </a:xfrm>
          <a:prstGeom prst="rect">
            <a:avLst/>
          </a:prstGeom>
        </p:spPr>
      </p:pic>
      <p:pic>
        <p:nvPicPr>
          <p:cNvPr id="103" name="Picture 102" descr="lock.png"/>
          <p:cNvPicPr>
            <a:picLocks noChangeAspect="1"/>
          </p:cNvPicPr>
          <p:nvPr/>
        </p:nvPicPr>
        <p:blipFill>
          <a:blip r:embed="rId25"/>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5"/>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5"/>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11109415" y="2827057"/>
            <a:ext cx="183356" cy="266700"/>
          </a:xfrm>
          <a:prstGeom prst="rect">
            <a:avLst/>
          </a:prstGeom>
        </p:spPr>
      </p:pic>
      <p:sp>
        <p:nvSpPr>
          <p:cNvPr id="110" name="TextBox 109"/>
          <p:cNvSpPr txBox="1"/>
          <p:nvPr/>
        </p:nvSpPr>
        <p:spPr>
          <a:xfrm>
            <a:off x="485775" y="4229437"/>
            <a:ext cx="2914650" cy="186689"/>
          </a:xfrm>
          <a:prstGeom prst="rect">
            <a:avLst/>
          </a:prstGeom>
          <a:noFill/>
        </p:spPr>
        <p:txBody>
          <a:bodyPr wrap="none" lIns="0" rIns="0" tIns="0" bIns="0">
            <a:spAutoFit/>
          </a:bodyPr>
          <a:lstStyle/>
          <a:p>
            <a:r>
              <a:rPr sz="1100" b="0">
                <a:solidFill>
                  <a:srgbClr val="252423"/>
                </a:solidFill>
                <a:latin typeface="Segoe UI"/>
              </a:rPr>
              <a:t>North America Helium-3 market is projected to</a:t>
            </a:r>
          </a:p>
        </p:txBody>
      </p:sp>
      <p:sp>
        <p:nvSpPr>
          <p:cNvPr id="111" name="TextBox 110"/>
          <p:cNvSpPr txBox="1"/>
          <p:nvPr/>
        </p:nvSpPr>
        <p:spPr>
          <a:xfrm>
            <a:off x="485775" y="4397077"/>
            <a:ext cx="542456" cy="186689"/>
          </a:xfrm>
          <a:prstGeom prst="rect">
            <a:avLst/>
          </a:prstGeom>
          <a:noFill/>
        </p:spPr>
        <p:txBody>
          <a:bodyPr wrap="none" lIns="0" rIns="0" tIns="0" bIns="0">
            <a:spAutoFit/>
          </a:bodyPr>
          <a:lstStyle/>
          <a:p>
            <a:r>
              <a:rPr sz="1100" b="0">
                <a:solidFill>
                  <a:srgbClr val="252423"/>
                </a:solidFill>
                <a:latin typeface="Segoe UI"/>
              </a:rPr>
              <a:t>register</a:t>
            </a:r>
          </a:p>
        </p:txBody>
      </p:sp>
      <p:pic>
        <p:nvPicPr>
          <p:cNvPr id="112" name="Picture 111" descr="lock.png"/>
          <p:cNvPicPr>
            <a:picLocks noChangeAspect="1"/>
          </p:cNvPicPr>
          <p:nvPr/>
        </p:nvPicPr>
        <p:blipFill>
          <a:blip r:embed="rId25"/>
          <a:stretch>
            <a:fillRect/>
          </a:stretch>
        </p:blipFill>
        <p:spPr>
          <a:xfrm>
            <a:off x="976283" y="4387298"/>
            <a:ext cx="128699" cy="187198"/>
          </a:xfrm>
          <a:prstGeom prst="rect">
            <a:avLst/>
          </a:prstGeom>
        </p:spPr>
      </p:pic>
      <p:sp>
        <p:nvSpPr>
          <p:cNvPr id="113" name="TextBox 112"/>
          <p:cNvSpPr txBox="1"/>
          <p:nvPr/>
        </p:nvSpPr>
        <p:spPr>
          <a:xfrm>
            <a:off x="1143778" y="4397077"/>
            <a:ext cx="2112998" cy="186689"/>
          </a:xfrm>
          <a:prstGeom prst="rect">
            <a:avLst/>
          </a:prstGeom>
          <a:noFill/>
        </p:spPr>
        <p:txBody>
          <a:bodyPr wrap="none" lIns="0" rIns="0" tIns="0" bIns="0">
            <a:spAutoFit/>
          </a:bodyPr>
          <a:lstStyle/>
          <a:p>
            <a:r>
              <a:rPr sz="1100" b="0">
                <a:solidFill>
                  <a:srgbClr val="252423"/>
                </a:solidFill>
                <a:latin typeface="Segoe UI"/>
              </a:rPr>
              <a:t>X higher value than South Asia &amp;</a:t>
            </a:r>
          </a:p>
        </p:txBody>
      </p:sp>
      <p:sp>
        <p:nvSpPr>
          <p:cNvPr id="114" name="TextBox 113"/>
          <p:cNvSpPr txBox="1"/>
          <p:nvPr/>
        </p:nvSpPr>
        <p:spPr>
          <a:xfrm>
            <a:off x="485775" y="4564717"/>
            <a:ext cx="2743498" cy="186689"/>
          </a:xfrm>
          <a:prstGeom prst="rect">
            <a:avLst/>
          </a:prstGeom>
          <a:noFill/>
        </p:spPr>
        <p:txBody>
          <a:bodyPr wrap="none" lIns="0" rIns="0" tIns="0" bIns="0">
            <a:spAutoFit/>
          </a:bodyPr>
          <a:lstStyle/>
          <a:p>
            <a:r>
              <a:rPr sz="1100" b="0">
                <a:solidFill>
                  <a:srgbClr val="252423"/>
                </a:solidFill>
                <a:latin typeface="Segoe UI"/>
              </a:rPr>
              <a:t>Pacific in 2036. Among Helium-3 by region,</a:t>
            </a:r>
          </a:p>
        </p:txBody>
      </p:sp>
      <p:sp>
        <p:nvSpPr>
          <p:cNvPr id="115" name="TextBox 114"/>
          <p:cNvSpPr txBox="1"/>
          <p:nvPr/>
        </p:nvSpPr>
        <p:spPr>
          <a:xfrm>
            <a:off x="485775" y="4732357"/>
            <a:ext cx="2914650" cy="186689"/>
          </a:xfrm>
          <a:prstGeom prst="rect">
            <a:avLst/>
          </a:prstGeom>
          <a:noFill/>
        </p:spPr>
        <p:txBody>
          <a:bodyPr wrap="none" lIns="0" rIns="0" tIns="0" bIns="0">
            <a:spAutoFit/>
          </a:bodyPr>
          <a:lstStyle/>
          <a:p>
            <a:r>
              <a:rPr sz="1100" b="0">
                <a:solidFill>
                  <a:srgbClr val="252423"/>
                </a:solidFill>
                <a:latin typeface="Segoe UI"/>
              </a:rPr>
              <a:t>South Asia &amp; Pacific is expected to witness the</a:t>
            </a:r>
          </a:p>
        </p:txBody>
      </p:sp>
      <p:sp>
        <p:nvSpPr>
          <p:cNvPr id="116" name="TextBox 115"/>
          <p:cNvSpPr txBox="1"/>
          <p:nvPr/>
        </p:nvSpPr>
        <p:spPr>
          <a:xfrm>
            <a:off x="485775" y="4899997"/>
            <a:ext cx="1088138" cy="186689"/>
          </a:xfrm>
          <a:prstGeom prst="rect">
            <a:avLst/>
          </a:prstGeom>
          <a:noFill/>
        </p:spPr>
        <p:txBody>
          <a:bodyPr wrap="none" lIns="0" rIns="0" tIns="0" bIns="0">
            <a:spAutoFit/>
          </a:bodyPr>
          <a:lstStyle/>
          <a:p>
            <a:r>
              <a:rPr sz="1100" b="0">
                <a:solidFill>
                  <a:srgbClr val="252423"/>
                </a:solidFill>
                <a:latin typeface="Segoe UI"/>
              </a:rPr>
              <a:t>highest CAGR of</a:t>
            </a:r>
          </a:p>
        </p:txBody>
      </p:sp>
      <p:pic>
        <p:nvPicPr>
          <p:cNvPr id="117" name="Picture 116" descr="lock.png"/>
          <p:cNvPicPr>
            <a:picLocks noChangeAspect="1"/>
          </p:cNvPicPr>
          <p:nvPr/>
        </p:nvPicPr>
        <p:blipFill>
          <a:blip r:embed="rId25"/>
          <a:stretch>
            <a:fillRect/>
          </a:stretch>
        </p:blipFill>
        <p:spPr>
          <a:xfrm>
            <a:off x="1521964" y="4890217"/>
            <a:ext cx="128699" cy="187198"/>
          </a:xfrm>
          <a:prstGeom prst="rect">
            <a:avLst/>
          </a:prstGeom>
        </p:spPr>
      </p:pic>
      <p:sp>
        <p:nvSpPr>
          <p:cNvPr id="118" name="TextBox 117"/>
          <p:cNvSpPr txBox="1"/>
          <p:nvPr/>
        </p:nvSpPr>
        <p:spPr>
          <a:xfrm>
            <a:off x="1689460" y="4899997"/>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119" name="TextBox 118"/>
          <p:cNvSpPr txBox="1"/>
          <p:nvPr/>
        </p:nvSpPr>
        <p:spPr>
          <a:xfrm>
            <a:off x="485775" y="5117929"/>
            <a:ext cx="2529860" cy="186689"/>
          </a:xfrm>
          <a:prstGeom prst="rect">
            <a:avLst/>
          </a:prstGeom>
          <a:noFill/>
        </p:spPr>
        <p:txBody>
          <a:bodyPr wrap="none" lIns="0" rIns="0" tIns="0" bIns="0">
            <a:spAutoFit/>
          </a:bodyPr>
          <a:lstStyle/>
          <a:p>
            <a:r>
              <a:rPr sz="1100" b="0">
                <a:solidFill>
                  <a:srgbClr val="252423"/>
                </a:solidFill>
                <a:latin typeface="Segoe UI"/>
              </a:rPr>
              <a:t>In terms of value share by region, North</a:t>
            </a:r>
          </a:p>
        </p:txBody>
      </p:sp>
      <p:sp>
        <p:nvSpPr>
          <p:cNvPr id="120" name="TextBox 119"/>
          <p:cNvSpPr txBox="1"/>
          <p:nvPr/>
        </p:nvSpPr>
        <p:spPr>
          <a:xfrm>
            <a:off x="485775" y="5285569"/>
            <a:ext cx="2839273" cy="186689"/>
          </a:xfrm>
          <a:prstGeom prst="rect">
            <a:avLst/>
          </a:prstGeom>
          <a:noFill/>
        </p:spPr>
        <p:txBody>
          <a:bodyPr wrap="none" lIns="0" rIns="0" tIns="0" bIns="0">
            <a:spAutoFit/>
          </a:bodyPr>
          <a:lstStyle/>
          <a:p>
            <a:r>
              <a:rPr sz="1100" b="0">
                <a:solidFill>
                  <a:srgbClr val="252423"/>
                </a:solidFill>
                <a:latin typeface="Segoe UI"/>
              </a:rPr>
              <a:t>America is expected to dominate the market,</a:t>
            </a:r>
          </a:p>
        </p:txBody>
      </p:sp>
      <p:sp>
        <p:nvSpPr>
          <p:cNvPr id="121" name="TextBox 120"/>
          <p:cNvSpPr txBox="1"/>
          <p:nvPr/>
        </p:nvSpPr>
        <p:spPr>
          <a:xfrm>
            <a:off x="485775" y="5453209"/>
            <a:ext cx="446459" cy="186689"/>
          </a:xfrm>
          <a:prstGeom prst="rect">
            <a:avLst/>
          </a:prstGeom>
          <a:noFill/>
        </p:spPr>
        <p:txBody>
          <a:bodyPr wrap="none" lIns="0" rIns="0" tIns="0" bIns="0">
            <a:spAutoFit/>
          </a:bodyPr>
          <a:lstStyle/>
          <a:p>
            <a:r>
              <a:rPr sz="1100" b="0">
                <a:solidFill>
                  <a:srgbClr val="252423"/>
                </a:solidFill>
                <a:latin typeface="Segoe UI"/>
              </a:rPr>
              <a:t>losing</a:t>
            </a:r>
          </a:p>
        </p:txBody>
      </p:sp>
      <p:pic>
        <p:nvPicPr>
          <p:cNvPr id="122" name="Picture 121" descr="lock.png"/>
          <p:cNvPicPr>
            <a:picLocks noChangeAspect="1"/>
          </p:cNvPicPr>
          <p:nvPr/>
        </p:nvPicPr>
        <p:blipFill>
          <a:blip r:embed="rId25"/>
          <a:stretch>
            <a:fillRect/>
          </a:stretch>
        </p:blipFill>
        <p:spPr>
          <a:xfrm>
            <a:off x="880286" y="5443430"/>
            <a:ext cx="128699" cy="187198"/>
          </a:xfrm>
          <a:prstGeom prst="rect">
            <a:avLst/>
          </a:prstGeom>
        </p:spPr>
      </p:pic>
      <p:sp>
        <p:nvSpPr>
          <p:cNvPr id="123" name="TextBox 122"/>
          <p:cNvSpPr txBox="1"/>
          <p:nvPr/>
        </p:nvSpPr>
        <p:spPr>
          <a:xfrm>
            <a:off x="1047781" y="5453209"/>
            <a:ext cx="1513854" cy="186689"/>
          </a:xfrm>
          <a:prstGeom prst="rect">
            <a:avLst/>
          </a:prstGeom>
          <a:noFill/>
        </p:spPr>
        <p:txBody>
          <a:bodyPr wrap="none" lIns="0" rIns="0" tIns="0" bIns="0">
            <a:spAutoFit/>
          </a:bodyPr>
          <a:lstStyle/>
          <a:p>
            <a:r>
              <a:rPr sz="1100" b="0">
                <a:solidFill>
                  <a:srgbClr val="252423"/>
                </a:solidFill>
                <a:latin typeface="Segoe UI"/>
              </a:rPr>
              <a:t>BPS and accounting for</a:t>
            </a:r>
          </a:p>
        </p:txBody>
      </p:sp>
      <p:pic>
        <p:nvPicPr>
          <p:cNvPr id="124" name="Picture 123" descr="lock.png"/>
          <p:cNvPicPr>
            <a:picLocks noChangeAspect="1"/>
          </p:cNvPicPr>
          <p:nvPr/>
        </p:nvPicPr>
        <p:blipFill>
          <a:blip r:embed="rId25"/>
          <a:stretch>
            <a:fillRect/>
          </a:stretch>
        </p:blipFill>
        <p:spPr>
          <a:xfrm>
            <a:off x="2509688" y="5443430"/>
            <a:ext cx="128699" cy="187198"/>
          </a:xfrm>
          <a:prstGeom prst="rect">
            <a:avLst/>
          </a:prstGeom>
        </p:spPr>
      </p:pic>
      <p:sp>
        <p:nvSpPr>
          <p:cNvPr id="125" name="TextBox 124"/>
          <p:cNvSpPr txBox="1"/>
          <p:nvPr/>
        </p:nvSpPr>
        <p:spPr>
          <a:xfrm>
            <a:off x="2677184" y="5453209"/>
            <a:ext cx="407411" cy="186689"/>
          </a:xfrm>
          <a:prstGeom prst="rect">
            <a:avLst/>
          </a:prstGeom>
          <a:noFill/>
        </p:spPr>
        <p:txBody>
          <a:bodyPr wrap="none" lIns="0" rIns="0" tIns="0" bIns="0">
            <a:spAutoFit/>
          </a:bodyPr>
          <a:lstStyle/>
          <a:p>
            <a:r>
              <a:rPr sz="1100" b="0">
                <a:solidFill>
                  <a:srgbClr val="252423"/>
                </a:solidFill>
                <a:latin typeface="Segoe UI"/>
              </a:rPr>
              <a:t>share</a:t>
            </a:r>
          </a:p>
        </p:txBody>
      </p:sp>
      <p:sp>
        <p:nvSpPr>
          <p:cNvPr id="126" name="TextBox 125"/>
          <p:cNvSpPr txBox="1"/>
          <p:nvPr/>
        </p:nvSpPr>
        <p:spPr>
          <a:xfrm>
            <a:off x="485775" y="5620849"/>
            <a:ext cx="595709" cy="186689"/>
          </a:xfrm>
          <a:prstGeom prst="rect">
            <a:avLst/>
          </a:prstGeom>
          <a:noFill/>
        </p:spPr>
        <p:txBody>
          <a:bodyPr wrap="none" lIns="0" rIns="0" tIns="0" bIns="0">
            <a:spAutoFit/>
          </a:bodyPr>
          <a:lstStyle/>
          <a:p>
            <a:r>
              <a:rPr sz="1100" b="0">
                <a:solidFill>
                  <a:srgbClr val="252423"/>
                </a:solidFill>
                <a:latin typeface="Segoe UI"/>
              </a:rPr>
              <a:t>by 2036.</a:t>
            </a:r>
          </a:p>
        </p:txBody>
      </p:sp>
      <p:sp>
        <p:nvSpPr>
          <p:cNvPr id="127" name="TextBox 126"/>
          <p:cNvSpPr txBox="1"/>
          <p:nvPr/>
        </p:nvSpPr>
        <p:spPr>
          <a:xfrm>
            <a:off x="3838575" y="4229437"/>
            <a:ext cx="1130562" cy="186689"/>
          </a:xfrm>
          <a:prstGeom prst="rect">
            <a:avLst/>
          </a:prstGeom>
          <a:noFill/>
        </p:spPr>
        <p:txBody>
          <a:bodyPr wrap="none" lIns="0" rIns="0" tIns="0" bIns="0">
            <a:spAutoFit/>
          </a:bodyPr>
          <a:lstStyle/>
          <a:p>
            <a:r>
              <a:rPr sz="1100" b="0">
                <a:solidFill>
                  <a:srgbClr val="252423"/>
                </a:solidFill>
                <a:latin typeface="Segoe UI"/>
              </a:rPr>
              <a:t>● North America:</a:t>
            </a:r>
          </a:p>
        </p:txBody>
      </p:sp>
      <p:pic>
        <p:nvPicPr>
          <p:cNvPr id="128" name="Picture 127" descr="lock.png"/>
          <p:cNvPicPr>
            <a:picLocks noChangeAspect="1"/>
          </p:cNvPicPr>
          <p:nvPr/>
        </p:nvPicPr>
        <p:blipFill>
          <a:blip r:embed="rId25"/>
          <a:stretch>
            <a:fillRect/>
          </a:stretch>
        </p:blipFill>
        <p:spPr>
          <a:xfrm>
            <a:off x="4917188" y="4219658"/>
            <a:ext cx="128699" cy="187198"/>
          </a:xfrm>
          <a:prstGeom prst="rect">
            <a:avLst/>
          </a:prstGeom>
        </p:spPr>
      </p:pic>
      <p:sp>
        <p:nvSpPr>
          <p:cNvPr id="129" name="TextBox 128"/>
          <p:cNvSpPr txBox="1"/>
          <p:nvPr/>
        </p:nvSpPr>
        <p:spPr>
          <a:xfrm>
            <a:off x="5084684"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30" name="Picture 129" descr="lock.png"/>
          <p:cNvPicPr>
            <a:picLocks noChangeAspect="1"/>
          </p:cNvPicPr>
          <p:nvPr/>
        </p:nvPicPr>
        <p:blipFill>
          <a:blip r:embed="rId25"/>
          <a:stretch>
            <a:fillRect/>
          </a:stretch>
        </p:blipFill>
        <p:spPr>
          <a:xfrm>
            <a:off x="6004631" y="4219658"/>
            <a:ext cx="128699" cy="187198"/>
          </a:xfrm>
          <a:prstGeom prst="rect">
            <a:avLst/>
          </a:prstGeom>
        </p:spPr>
      </p:pic>
      <p:sp>
        <p:nvSpPr>
          <p:cNvPr id="131" name="TextBox 130"/>
          <p:cNvSpPr txBox="1"/>
          <p:nvPr/>
        </p:nvSpPr>
        <p:spPr>
          <a:xfrm>
            <a:off x="6172127" y="4229437"/>
            <a:ext cx="1526606" cy="186689"/>
          </a:xfrm>
          <a:prstGeom prst="rect">
            <a:avLst/>
          </a:prstGeom>
          <a:noFill/>
        </p:spPr>
        <p:txBody>
          <a:bodyPr wrap="none" lIns="0" rIns="0" tIns="0" bIns="0">
            <a:spAutoFit/>
          </a:bodyPr>
          <a:lstStyle/>
          <a:p>
            <a:r>
              <a:rPr sz="1100" b="0">
                <a:solidFill>
                  <a:srgbClr val="252423"/>
                </a:solidFill>
                <a:latin typeface="Segoe UI"/>
              </a:rPr>
              <a:t>CAGR leads the market.</a:t>
            </a:r>
          </a:p>
        </p:txBody>
      </p:sp>
      <p:sp>
        <p:nvSpPr>
          <p:cNvPr id="132" name="TextBox 131"/>
          <p:cNvSpPr txBox="1"/>
          <p:nvPr/>
        </p:nvSpPr>
        <p:spPr>
          <a:xfrm>
            <a:off x="3838575" y="4447369"/>
            <a:ext cx="770061" cy="186689"/>
          </a:xfrm>
          <a:prstGeom prst="rect">
            <a:avLst/>
          </a:prstGeom>
          <a:noFill/>
        </p:spPr>
        <p:txBody>
          <a:bodyPr wrap="none" lIns="0" rIns="0" tIns="0" bIns="0">
            <a:spAutoFit/>
          </a:bodyPr>
          <a:lstStyle/>
          <a:p>
            <a:r>
              <a:rPr sz="1100" b="0">
                <a:solidFill>
                  <a:srgbClr val="252423"/>
                </a:solidFill>
                <a:latin typeface="Segoe UI"/>
              </a:rPr>
              <a:t>● East Asia:</a:t>
            </a:r>
          </a:p>
        </p:txBody>
      </p:sp>
      <p:pic>
        <p:nvPicPr>
          <p:cNvPr id="133" name="Picture 132" descr="lock.png"/>
          <p:cNvPicPr>
            <a:picLocks noChangeAspect="1"/>
          </p:cNvPicPr>
          <p:nvPr/>
        </p:nvPicPr>
        <p:blipFill>
          <a:blip r:embed="rId25"/>
          <a:stretch>
            <a:fillRect/>
          </a:stretch>
        </p:blipFill>
        <p:spPr>
          <a:xfrm>
            <a:off x="4556688" y="4437590"/>
            <a:ext cx="128699" cy="187198"/>
          </a:xfrm>
          <a:prstGeom prst="rect">
            <a:avLst/>
          </a:prstGeom>
        </p:spPr>
      </p:pic>
      <p:sp>
        <p:nvSpPr>
          <p:cNvPr id="134" name="TextBox 133"/>
          <p:cNvSpPr txBox="1"/>
          <p:nvPr/>
        </p:nvSpPr>
        <p:spPr>
          <a:xfrm>
            <a:off x="4724183" y="444736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35" name="Picture 134" descr="lock.png"/>
          <p:cNvPicPr>
            <a:picLocks noChangeAspect="1"/>
          </p:cNvPicPr>
          <p:nvPr/>
        </p:nvPicPr>
        <p:blipFill>
          <a:blip r:embed="rId25"/>
          <a:stretch>
            <a:fillRect/>
          </a:stretch>
        </p:blipFill>
        <p:spPr>
          <a:xfrm>
            <a:off x="5644130" y="4437590"/>
            <a:ext cx="128699" cy="187198"/>
          </a:xfrm>
          <a:prstGeom prst="rect">
            <a:avLst/>
          </a:prstGeom>
        </p:spPr>
      </p:pic>
      <p:sp>
        <p:nvSpPr>
          <p:cNvPr id="136" name="TextBox 135"/>
          <p:cNvSpPr txBox="1"/>
          <p:nvPr/>
        </p:nvSpPr>
        <p:spPr>
          <a:xfrm>
            <a:off x="5811626" y="444736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37" name="TextBox 136"/>
          <p:cNvSpPr txBox="1"/>
          <p:nvPr/>
        </p:nvSpPr>
        <p:spPr>
          <a:xfrm>
            <a:off x="3838575" y="4665301"/>
            <a:ext cx="1461672" cy="186689"/>
          </a:xfrm>
          <a:prstGeom prst="rect">
            <a:avLst/>
          </a:prstGeom>
          <a:noFill/>
        </p:spPr>
        <p:txBody>
          <a:bodyPr wrap="none" lIns="0" rIns="0" tIns="0" bIns="0">
            <a:spAutoFit/>
          </a:bodyPr>
          <a:lstStyle/>
          <a:p>
            <a:r>
              <a:rPr sz="1100" b="0">
                <a:solidFill>
                  <a:srgbClr val="252423"/>
                </a:solidFill>
                <a:latin typeface="Segoe UI"/>
              </a:rPr>
              <a:t>● South Asia &amp; Pacific:</a:t>
            </a:r>
          </a:p>
        </p:txBody>
      </p:sp>
      <p:pic>
        <p:nvPicPr>
          <p:cNvPr id="138" name="Picture 137" descr="lock.png"/>
          <p:cNvPicPr>
            <a:picLocks noChangeAspect="1"/>
          </p:cNvPicPr>
          <p:nvPr/>
        </p:nvPicPr>
        <p:blipFill>
          <a:blip r:embed="rId25"/>
          <a:stretch>
            <a:fillRect/>
          </a:stretch>
        </p:blipFill>
        <p:spPr>
          <a:xfrm>
            <a:off x="5248298" y="4655522"/>
            <a:ext cx="128699" cy="187198"/>
          </a:xfrm>
          <a:prstGeom prst="rect">
            <a:avLst/>
          </a:prstGeom>
        </p:spPr>
      </p:pic>
      <p:sp>
        <p:nvSpPr>
          <p:cNvPr id="139" name="TextBox 138"/>
          <p:cNvSpPr txBox="1"/>
          <p:nvPr/>
        </p:nvSpPr>
        <p:spPr>
          <a:xfrm>
            <a:off x="5415794" y="466530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40" name="Picture 139" descr="lock.png"/>
          <p:cNvPicPr>
            <a:picLocks noChangeAspect="1"/>
          </p:cNvPicPr>
          <p:nvPr/>
        </p:nvPicPr>
        <p:blipFill>
          <a:blip r:embed="rId25"/>
          <a:stretch>
            <a:fillRect/>
          </a:stretch>
        </p:blipFill>
        <p:spPr>
          <a:xfrm>
            <a:off x="6335740" y="4655522"/>
            <a:ext cx="128699" cy="187198"/>
          </a:xfrm>
          <a:prstGeom prst="rect">
            <a:avLst/>
          </a:prstGeom>
        </p:spPr>
      </p:pic>
      <p:sp>
        <p:nvSpPr>
          <p:cNvPr id="141" name="TextBox 140"/>
          <p:cNvSpPr txBox="1"/>
          <p:nvPr/>
        </p:nvSpPr>
        <p:spPr>
          <a:xfrm>
            <a:off x="6503236" y="4665301"/>
            <a:ext cx="843126" cy="186689"/>
          </a:xfrm>
          <a:prstGeom prst="rect">
            <a:avLst/>
          </a:prstGeom>
          <a:noFill/>
        </p:spPr>
        <p:txBody>
          <a:bodyPr wrap="none" lIns="0" rIns="0" tIns="0" bIns="0">
            <a:spAutoFit/>
          </a:bodyPr>
          <a:lstStyle/>
          <a:p>
            <a:r>
              <a:rPr sz="1100" b="0">
                <a:solidFill>
                  <a:srgbClr val="252423"/>
                </a:solidFill>
                <a:latin typeface="Segoe UI"/>
              </a:rPr>
              <a:t>CAGR grows</a:t>
            </a:r>
          </a:p>
        </p:txBody>
      </p:sp>
      <p:sp>
        <p:nvSpPr>
          <p:cNvPr id="142" name="TextBox 141"/>
          <p:cNvSpPr txBox="1"/>
          <p:nvPr/>
        </p:nvSpPr>
        <p:spPr>
          <a:xfrm>
            <a:off x="3838575" y="4832941"/>
            <a:ext cx="507834" cy="186689"/>
          </a:xfrm>
          <a:prstGeom prst="rect">
            <a:avLst/>
          </a:prstGeom>
          <a:noFill/>
        </p:spPr>
        <p:txBody>
          <a:bodyPr wrap="none" lIns="0" rIns="0" tIns="0" bIns="0">
            <a:spAutoFit/>
          </a:bodyPr>
          <a:lstStyle/>
          <a:p>
            <a:r>
              <a:rPr sz="1100" b="0">
                <a:solidFill>
                  <a:srgbClr val="252423"/>
                </a:solidFill>
                <a:latin typeface="Segoe UI"/>
              </a:rPr>
              <a:t>fastest.</a:t>
            </a:r>
          </a:p>
        </p:txBody>
      </p:sp>
      <p:sp>
        <p:nvSpPr>
          <p:cNvPr id="143" name="TextBox 142"/>
          <p:cNvSpPr txBox="1"/>
          <p:nvPr/>
        </p:nvSpPr>
        <p:spPr>
          <a:xfrm>
            <a:off x="3838575" y="5050872"/>
            <a:ext cx="1066378" cy="186689"/>
          </a:xfrm>
          <a:prstGeom prst="rect">
            <a:avLst/>
          </a:prstGeom>
          <a:noFill/>
        </p:spPr>
        <p:txBody>
          <a:bodyPr wrap="none" lIns="0" rIns="0" tIns="0" bIns="0">
            <a:spAutoFit/>
          </a:bodyPr>
          <a:lstStyle/>
          <a:p>
            <a:r>
              <a:rPr sz="1100" b="0">
                <a:solidFill>
                  <a:srgbClr val="252423"/>
                </a:solidFill>
                <a:latin typeface="Segoe UI"/>
              </a:rPr>
              <a:t>● Latin America:</a:t>
            </a:r>
          </a:p>
        </p:txBody>
      </p:sp>
      <p:pic>
        <p:nvPicPr>
          <p:cNvPr id="144" name="Picture 143" descr="lock.png"/>
          <p:cNvPicPr>
            <a:picLocks noChangeAspect="1"/>
          </p:cNvPicPr>
          <p:nvPr/>
        </p:nvPicPr>
        <p:blipFill>
          <a:blip r:embed="rId25"/>
          <a:stretch>
            <a:fillRect/>
          </a:stretch>
        </p:blipFill>
        <p:spPr>
          <a:xfrm>
            <a:off x="4853004" y="5041093"/>
            <a:ext cx="128699" cy="187198"/>
          </a:xfrm>
          <a:prstGeom prst="rect">
            <a:avLst/>
          </a:prstGeom>
        </p:spPr>
      </p:pic>
      <p:sp>
        <p:nvSpPr>
          <p:cNvPr id="145" name="TextBox 144"/>
          <p:cNvSpPr txBox="1"/>
          <p:nvPr/>
        </p:nvSpPr>
        <p:spPr>
          <a:xfrm>
            <a:off x="5020500" y="5050872"/>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46" name="Picture 145" descr="lock.png"/>
          <p:cNvPicPr>
            <a:picLocks noChangeAspect="1"/>
          </p:cNvPicPr>
          <p:nvPr/>
        </p:nvPicPr>
        <p:blipFill>
          <a:blip r:embed="rId25"/>
          <a:stretch>
            <a:fillRect/>
          </a:stretch>
        </p:blipFill>
        <p:spPr>
          <a:xfrm>
            <a:off x="5940447" y="5041093"/>
            <a:ext cx="128699" cy="187198"/>
          </a:xfrm>
          <a:prstGeom prst="rect">
            <a:avLst/>
          </a:prstGeom>
        </p:spPr>
      </p:pic>
      <p:sp>
        <p:nvSpPr>
          <p:cNvPr id="147" name="TextBox 146"/>
          <p:cNvSpPr txBox="1"/>
          <p:nvPr/>
        </p:nvSpPr>
        <p:spPr>
          <a:xfrm>
            <a:off x="6107943" y="5050872"/>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48" name="TextBox 147"/>
          <p:cNvSpPr txBox="1"/>
          <p:nvPr/>
        </p:nvSpPr>
        <p:spPr>
          <a:xfrm>
            <a:off x="3838575" y="5268804"/>
            <a:ext cx="1487115" cy="186689"/>
          </a:xfrm>
          <a:prstGeom prst="rect">
            <a:avLst/>
          </a:prstGeom>
          <a:noFill/>
        </p:spPr>
        <p:txBody>
          <a:bodyPr wrap="none" lIns="0" rIns="0" tIns="0" bIns="0">
            <a:spAutoFit/>
          </a:bodyPr>
          <a:lstStyle/>
          <a:p>
            <a:r>
              <a:rPr sz="1100" b="0">
                <a:solidFill>
                  <a:srgbClr val="252423"/>
                </a:solidFill>
                <a:latin typeface="Segoe UI"/>
              </a:rPr>
              <a:t>● Middle East &amp; Africa:</a:t>
            </a:r>
          </a:p>
        </p:txBody>
      </p:sp>
      <p:pic>
        <p:nvPicPr>
          <p:cNvPr id="149" name="Picture 148" descr="lock.png"/>
          <p:cNvPicPr>
            <a:picLocks noChangeAspect="1"/>
          </p:cNvPicPr>
          <p:nvPr/>
        </p:nvPicPr>
        <p:blipFill>
          <a:blip r:embed="rId25"/>
          <a:stretch>
            <a:fillRect/>
          </a:stretch>
        </p:blipFill>
        <p:spPr>
          <a:xfrm>
            <a:off x="5273742" y="5259025"/>
            <a:ext cx="128699" cy="187198"/>
          </a:xfrm>
          <a:prstGeom prst="rect">
            <a:avLst/>
          </a:prstGeom>
        </p:spPr>
      </p:pic>
      <p:sp>
        <p:nvSpPr>
          <p:cNvPr id="150" name="TextBox 149"/>
          <p:cNvSpPr txBox="1"/>
          <p:nvPr/>
        </p:nvSpPr>
        <p:spPr>
          <a:xfrm>
            <a:off x="5441237" y="5268804"/>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51" name="Picture 150" descr="lock.png"/>
          <p:cNvPicPr>
            <a:picLocks noChangeAspect="1"/>
          </p:cNvPicPr>
          <p:nvPr/>
        </p:nvPicPr>
        <p:blipFill>
          <a:blip r:embed="rId25"/>
          <a:stretch>
            <a:fillRect/>
          </a:stretch>
        </p:blipFill>
        <p:spPr>
          <a:xfrm>
            <a:off x="6361184" y="5259025"/>
            <a:ext cx="128699" cy="187198"/>
          </a:xfrm>
          <a:prstGeom prst="rect">
            <a:avLst/>
          </a:prstGeom>
        </p:spPr>
      </p:pic>
      <p:sp>
        <p:nvSpPr>
          <p:cNvPr id="152" name="TextBox 151"/>
          <p:cNvSpPr txBox="1"/>
          <p:nvPr/>
        </p:nvSpPr>
        <p:spPr>
          <a:xfrm>
            <a:off x="6528680" y="5268804"/>
            <a:ext cx="1019690" cy="186689"/>
          </a:xfrm>
          <a:prstGeom prst="rect">
            <a:avLst/>
          </a:prstGeom>
          <a:noFill/>
        </p:spPr>
        <p:txBody>
          <a:bodyPr wrap="none" lIns="0" rIns="0" tIns="0" bIns="0">
            <a:spAutoFit/>
          </a:bodyPr>
          <a:lstStyle/>
          <a:p>
            <a:r>
              <a:rPr sz="1100" b="0">
                <a:solidFill>
                  <a:srgbClr val="252423"/>
                </a:solidFill>
                <a:latin typeface="Segoe UI"/>
              </a:rPr>
              <a:t>CAGR a smaller</a:t>
            </a:r>
          </a:p>
        </p:txBody>
      </p:sp>
      <p:sp>
        <p:nvSpPr>
          <p:cNvPr id="153" name="TextBox 152"/>
          <p:cNvSpPr txBox="1"/>
          <p:nvPr/>
        </p:nvSpPr>
        <p:spPr>
          <a:xfrm>
            <a:off x="3838575" y="5436445"/>
            <a:ext cx="536730" cy="186689"/>
          </a:xfrm>
          <a:prstGeom prst="rect">
            <a:avLst/>
          </a:prstGeom>
          <a:noFill/>
        </p:spPr>
        <p:txBody>
          <a:bodyPr wrap="none" lIns="0" rIns="0" tIns="0" bIns="0">
            <a:spAutoFit/>
          </a:bodyPr>
          <a:lstStyle/>
          <a:p>
            <a:r>
              <a:rPr sz="1100" b="0">
                <a:solidFill>
                  <a:srgbClr val="252423"/>
                </a:solidFill>
                <a:latin typeface="Segoe UI"/>
              </a:rPr>
              <a:t>market.</a:t>
            </a:r>
          </a:p>
        </p:txBody>
      </p:sp>
      <p:sp>
        <p:nvSpPr>
          <p:cNvPr id="154" name="TextBox 153"/>
          <p:cNvSpPr txBox="1"/>
          <p:nvPr/>
        </p:nvSpPr>
        <p:spPr>
          <a:xfrm>
            <a:off x="3838575" y="5654377"/>
            <a:ext cx="1152002" cy="186689"/>
          </a:xfrm>
          <a:prstGeom prst="rect">
            <a:avLst/>
          </a:prstGeom>
          <a:noFill/>
        </p:spPr>
        <p:txBody>
          <a:bodyPr wrap="none" lIns="0" rIns="0" tIns="0" bIns="0">
            <a:spAutoFit/>
          </a:bodyPr>
          <a:lstStyle/>
          <a:p>
            <a:r>
              <a:rPr sz="1100" b="0">
                <a:solidFill>
                  <a:srgbClr val="252423"/>
                </a:solidFill>
                <a:latin typeface="Segoe UI"/>
              </a:rPr>
              <a:t>● Eastern Europe:</a:t>
            </a:r>
          </a:p>
        </p:txBody>
      </p:sp>
      <p:pic>
        <p:nvPicPr>
          <p:cNvPr id="155" name="Picture 154" descr="lock.png"/>
          <p:cNvPicPr>
            <a:picLocks noChangeAspect="1"/>
          </p:cNvPicPr>
          <p:nvPr/>
        </p:nvPicPr>
        <p:blipFill>
          <a:blip r:embed="rId25"/>
          <a:stretch>
            <a:fillRect/>
          </a:stretch>
        </p:blipFill>
        <p:spPr>
          <a:xfrm>
            <a:off x="4938629" y="5644597"/>
            <a:ext cx="128699" cy="187198"/>
          </a:xfrm>
          <a:prstGeom prst="rect">
            <a:avLst/>
          </a:prstGeom>
        </p:spPr>
      </p:pic>
      <p:sp>
        <p:nvSpPr>
          <p:cNvPr id="156" name="TextBox 155"/>
          <p:cNvSpPr txBox="1"/>
          <p:nvPr/>
        </p:nvSpPr>
        <p:spPr>
          <a:xfrm>
            <a:off x="5106124" y="565437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57" name="Picture 156" descr="lock.png"/>
          <p:cNvPicPr>
            <a:picLocks noChangeAspect="1"/>
          </p:cNvPicPr>
          <p:nvPr/>
        </p:nvPicPr>
        <p:blipFill>
          <a:blip r:embed="rId25"/>
          <a:stretch>
            <a:fillRect/>
          </a:stretch>
        </p:blipFill>
        <p:spPr>
          <a:xfrm>
            <a:off x="6026071" y="5644597"/>
            <a:ext cx="128699" cy="187198"/>
          </a:xfrm>
          <a:prstGeom prst="rect">
            <a:avLst/>
          </a:prstGeom>
        </p:spPr>
      </p:pic>
      <p:sp>
        <p:nvSpPr>
          <p:cNvPr id="158" name="TextBox 157"/>
          <p:cNvSpPr txBox="1"/>
          <p:nvPr/>
        </p:nvSpPr>
        <p:spPr>
          <a:xfrm>
            <a:off x="6193567" y="5654377"/>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59" name="TextBox 158"/>
          <p:cNvSpPr txBox="1"/>
          <p:nvPr/>
        </p:nvSpPr>
        <p:spPr>
          <a:xfrm>
            <a:off x="3838575" y="5872309"/>
            <a:ext cx="1213615" cy="186689"/>
          </a:xfrm>
          <a:prstGeom prst="rect">
            <a:avLst/>
          </a:prstGeom>
          <a:noFill/>
        </p:spPr>
        <p:txBody>
          <a:bodyPr wrap="none" lIns="0" rIns="0" tIns="0" bIns="0">
            <a:spAutoFit/>
          </a:bodyPr>
          <a:lstStyle/>
          <a:p>
            <a:r>
              <a:rPr sz="1100" b="0">
                <a:solidFill>
                  <a:srgbClr val="252423"/>
                </a:solidFill>
                <a:latin typeface="Segoe UI"/>
              </a:rPr>
              <a:t>● Western Europe:</a:t>
            </a:r>
          </a:p>
        </p:txBody>
      </p:sp>
      <p:pic>
        <p:nvPicPr>
          <p:cNvPr id="160" name="Picture 159" descr="lock.png"/>
          <p:cNvPicPr>
            <a:picLocks noChangeAspect="1"/>
          </p:cNvPicPr>
          <p:nvPr/>
        </p:nvPicPr>
        <p:blipFill>
          <a:blip r:embed="rId25"/>
          <a:stretch>
            <a:fillRect/>
          </a:stretch>
        </p:blipFill>
        <p:spPr>
          <a:xfrm>
            <a:off x="5000242" y="5862529"/>
            <a:ext cx="128699" cy="187198"/>
          </a:xfrm>
          <a:prstGeom prst="rect">
            <a:avLst/>
          </a:prstGeom>
        </p:spPr>
      </p:pic>
      <p:sp>
        <p:nvSpPr>
          <p:cNvPr id="161" name="TextBox 160"/>
          <p:cNvSpPr txBox="1"/>
          <p:nvPr/>
        </p:nvSpPr>
        <p:spPr>
          <a:xfrm>
            <a:off x="5167738" y="58723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62" name="Picture 161" descr="lock.png"/>
          <p:cNvPicPr>
            <a:picLocks noChangeAspect="1"/>
          </p:cNvPicPr>
          <p:nvPr/>
        </p:nvPicPr>
        <p:blipFill>
          <a:blip r:embed="rId25"/>
          <a:stretch>
            <a:fillRect/>
          </a:stretch>
        </p:blipFill>
        <p:spPr>
          <a:xfrm>
            <a:off x="6087684" y="5862529"/>
            <a:ext cx="128699" cy="187198"/>
          </a:xfrm>
          <a:prstGeom prst="rect">
            <a:avLst/>
          </a:prstGeom>
        </p:spPr>
      </p:pic>
      <p:sp>
        <p:nvSpPr>
          <p:cNvPr id="163" name="TextBox 162"/>
          <p:cNvSpPr txBox="1"/>
          <p:nvPr/>
        </p:nvSpPr>
        <p:spPr>
          <a:xfrm>
            <a:off x="6255180" y="587230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64" name="TextBox 163"/>
          <p:cNvSpPr txBox="1"/>
          <p:nvPr/>
        </p:nvSpPr>
        <p:spPr>
          <a:xfrm>
            <a:off x="8524875" y="5842641"/>
            <a:ext cx="3059862" cy="194310"/>
          </a:xfrm>
          <a:prstGeom prst="rect">
            <a:avLst/>
          </a:prstGeom>
          <a:noFill/>
        </p:spPr>
        <p:txBody>
          <a:bodyPr wrap="none" lIns="0" rIns="0" tIns="0" bIns="0">
            <a:spAutoFit/>
          </a:bodyPr>
          <a:lstStyle/>
          <a:p>
            <a:r>
              <a:rPr sz="1150" b="1">
                <a:solidFill>
                  <a:srgbClr val="0E3A5F"/>
                </a:solidFill>
                <a:latin typeface="Segoe UI"/>
              </a:rPr>
              <a:t>The Global market is projected to grow at a</a:t>
            </a:r>
          </a:p>
        </p:txBody>
      </p:sp>
      <p:sp>
        <p:nvSpPr>
          <p:cNvPr id="165" name="TextBox 164"/>
          <p:cNvSpPr txBox="1"/>
          <p:nvPr/>
        </p:nvSpPr>
        <p:spPr>
          <a:xfrm>
            <a:off x="8524875" y="6017901"/>
            <a:ext cx="654636" cy="194310"/>
          </a:xfrm>
          <a:prstGeom prst="rect">
            <a:avLst/>
          </a:prstGeom>
          <a:noFill/>
        </p:spPr>
        <p:txBody>
          <a:bodyPr wrap="none" lIns="0" rIns="0" tIns="0" bIns="0">
            <a:spAutoFit/>
          </a:bodyPr>
          <a:lstStyle/>
          <a:p>
            <a:r>
              <a:rPr sz="1150" b="1">
                <a:solidFill>
                  <a:srgbClr val="0E3A5F"/>
                </a:solidFill>
                <a:latin typeface="Segoe UI"/>
              </a:rPr>
              <a:t>CAGR of</a:t>
            </a:r>
          </a:p>
        </p:txBody>
      </p:sp>
      <p:pic>
        <p:nvPicPr>
          <p:cNvPr id="166" name="Picture 165" descr="lock.png"/>
          <p:cNvPicPr>
            <a:picLocks noChangeAspect="1"/>
          </p:cNvPicPr>
          <p:nvPr/>
        </p:nvPicPr>
        <p:blipFill>
          <a:blip r:embed="rId25"/>
          <a:stretch>
            <a:fillRect/>
          </a:stretch>
        </p:blipFill>
        <p:spPr>
          <a:xfrm>
            <a:off x="9128665" y="6007677"/>
            <a:ext cx="134549" cy="195707"/>
          </a:xfrm>
          <a:prstGeom prst="rect">
            <a:avLst/>
          </a:prstGeom>
        </p:spPr>
      </p:pic>
      <p:sp>
        <p:nvSpPr>
          <p:cNvPr id="167" name="TextBox 166"/>
          <p:cNvSpPr txBox="1"/>
          <p:nvPr/>
        </p:nvSpPr>
        <p:spPr>
          <a:xfrm>
            <a:off x="9303775"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Analysis, By Region Volume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region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MI Lock Anchor"/>
          <p:cNvSpPr txBox="1"/>
          <p:nvPr/>
        </p:nvSpPr>
        <p:spPr>
          <a:xfrm>
            <a:off x="2489835" y="3352800"/>
            <a:ext cx="38100" cy="38100"/>
          </a:xfrm>
          <a:prstGeom prst="rect">
            <a:avLst/>
          </a:prstGeom>
          <a:noFill/>
        </p:spPr>
        <p:txBody>
          <a:bodyPr wrap="none">
            <a:spAutoFit/>
          </a:bodyPr>
          <a:lstStyle/>
          <a:p/>
        </p:txBody>
      </p:sp>
      <p:sp>
        <p:nvSpPr>
          <p:cNvPr id="13" name="FMI Legend Chip"/>
          <p:cNvSpPr/>
          <p:nvPr/>
        </p:nvSpPr>
        <p:spPr>
          <a:xfrm>
            <a:off x="4551045" y="1530164"/>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4712970" y="15254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4920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16" name="BPS Value 1"/>
          <p:cNvSpPr txBox="1"/>
          <p:nvPr/>
        </p:nvSpPr>
        <p:spPr>
          <a:xfrm>
            <a:off x="6305550" y="151111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551045" y="172184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712970" y="17170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64088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0" name="BPS Value 2"/>
          <p:cNvSpPr txBox="1"/>
          <p:nvPr/>
        </p:nvSpPr>
        <p:spPr>
          <a:xfrm>
            <a:off x="6305550" y="170279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MI Legend Chip"/>
          <p:cNvSpPr/>
          <p:nvPr/>
        </p:nvSpPr>
        <p:spPr>
          <a:xfrm>
            <a:off x="4551045" y="2004726"/>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19999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192376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24" name="BPS Value 3"/>
          <p:cNvSpPr txBox="1"/>
          <p:nvPr/>
        </p:nvSpPr>
        <p:spPr>
          <a:xfrm>
            <a:off x="6305550" y="198567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551045" y="234888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34412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226792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8" name="BPS Value 4"/>
          <p:cNvSpPr txBox="1"/>
          <p:nvPr/>
        </p:nvSpPr>
        <p:spPr>
          <a:xfrm>
            <a:off x="6305550" y="2329837"/>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551045" y="2932358"/>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4712970" y="292759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85139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32" name="BPS Value 5"/>
          <p:cNvSpPr txBox="1"/>
          <p:nvPr/>
        </p:nvSpPr>
        <p:spPr>
          <a:xfrm>
            <a:off x="6305550" y="291330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3" name="FMI Legend Chip"/>
          <p:cNvSpPr/>
          <p:nvPr/>
        </p:nvSpPr>
        <p:spPr>
          <a:xfrm>
            <a:off x="4551045" y="376215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rot="10800000">
            <a:off x="4712970" y="375739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368119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36" name="BPS Value 6"/>
          <p:cNvSpPr txBox="1"/>
          <p:nvPr/>
        </p:nvSpPr>
        <p:spPr>
          <a:xfrm>
            <a:off x="6305550" y="374310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7" name="FMI Legend Chip"/>
          <p:cNvSpPr/>
          <p:nvPr/>
        </p:nvSpPr>
        <p:spPr>
          <a:xfrm>
            <a:off x="4551045" y="466128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a:off x="4712970" y="465652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458032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&amp; Pacific</a:t>
            </a:r>
          </a:p>
        </p:txBody>
      </p:sp>
      <p:sp>
        <p:nvSpPr>
          <p:cNvPr id="40" name="BPS Value 7"/>
          <p:cNvSpPr txBox="1"/>
          <p:nvPr/>
        </p:nvSpPr>
        <p:spPr>
          <a:xfrm>
            <a:off x="6305550" y="464223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41" name="Rectangle 40"/>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3" name="Rectangle 42"/>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5" name="Rounded Rectangle 44"/>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(LITRES)</a:t>
            </a:r>
          </a:p>
          <a:p>
            <a:pPr algn="ctr">
              <a:lnSpc>
                <a:spcPct val="95000"/>
              </a:lnSpc>
            </a:pPr>
            <a:r>
              <a:rPr sz="2000" b="1">
                <a:solidFill>
                  <a:srgbClr val="00A4DC"/>
                </a:solidFill>
                <a:latin typeface="Segoe UI"/>
              </a:rPr>
              <a:t/>
            </a:r>
          </a:p>
        </p:txBody>
      </p:sp>
      <p:sp>
        <p:nvSpPr>
          <p:cNvPr id="46" name="Rounded Rectangle 45"/>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(LITRES)</a:t>
            </a:r>
          </a:p>
          <a:p>
            <a:pPr algn="ctr">
              <a:lnSpc>
                <a:spcPct val="95000"/>
              </a:lnSpc>
            </a:pPr>
            <a:r>
              <a:rPr sz="2000" b="1">
                <a:solidFill>
                  <a:srgbClr val="00A4DC"/>
                </a:solidFill>
                <a:latin typeface="Segoe UI"/>
              </a:rPr>
              <a:t/>
            </a:r>
          </a:p>
        </p:txBody>
      </p:sp>
      <p:sp>
        <p:nvSpPr>
          <p:cNvPr id="47" name="Rounded Rectangle 46"/>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r>
          </a:p>
        </p:txBody>
      </p:sp>
      <p:sp>
        <p:nvSpPr>
          <p:cNvPr id="48" name="TextBox 4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2_658_537_605E5C.png"/>
          <p:cNvPicPr>
            <a:picLocks noChangeAspect="1"/>
          </p:cNvPicPr>
          <p:nvPr/>
        </p:nvPicPr>
        <p:blipFill>
          <a:blip r:embed="rId6"/>
          <a:stretch>
            <a:fillRect/>
          </a:stretch>
        </p:blipFill>
        <p:spPr>
          <a:xfrm>
            <a:off x="744310" y="5897562"/>
            <a:ext cx="2740473" cy="482599"/>
          </a:xfrm>
          <a:prstGeom prst="rect">
            <a:avLst/>
          </a:prstGeom>
        </p:spPr>
      </p:pic>
      <p:pic>
        <p:nvPicPr>
          <p:cNvPr id="51" name="Picture 50" descr="4_149_656_605E5C.png"/>
          <p:cNvPicPr>
            <a:picLocks noChangeAspect="1"/>
          </p:cNvPicPr>
          <p:nvPr/>
        </p:nvPicPr>
        <p:blipFill>
          <a:blip r:embed="rId7"/>
          <a:stretch>
            <a:fillRect/>
          </a:stretch>
        </p:blipFill>
        <p:spPr>
          <a:xfrm>
            <a:off x="4778148" y="5897562"/>
            <a:ext cx="2740473" cy="482599"/>
          </a:xfrm>
          <a:prstGeom prst="rect">
            <a:avLst/>
          </a:prstGeom>
        </p:spPr>
      </p:pic>
      <p:pic>
        <p:nvPicPr>
          <p:cNvPr id="52" name="Picture 51" descr="4_6__605E5C.png"/>
          <p:cNvPicPr>
            <a:picLocks noChangeAspect="1"/>
          </p:cNvPicPr>
          <p:nvPr/>
        </p:nvPicPr>
        <p:blipFill>
          <a:blip r:embed="rId8"/>
          <a:stretch>
            <a:fillRect/>
          </a:stretch>
        </p:blipFill>
        <p:spPr>
          <a:xfrm>
            <a:off x="9465355" y="5897562"/>
            <a:ext cx="1309912"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3984802" cy="194310"/>
          </a:xfrm>
          <a:prstGeom prst="rect">
            <a:avLst/>
          </a:prstGeom>
          <a:noFill/>
        </p:spPr>
        <p:txBody>
          <a:bodyPr wrap="none" lIns="0" rIns="0" tIns="0" bIns="0">
            <a:spAutoFit/>
          </a:bodyPr>
          <a:lstStyle/>
          <a:p>
            <a:r>
              <a:rPr sz="1150" b="0">
                <a:solidFill>
                  <a:srgbClr val="252423"/>
                </a:solidFill>
                <a:latin typeface="Segoe UI"/>
              </a:rPr>
              <a:t>South Asia &amp; Pacific Helium-3 market is projected to register</a:t>
            </a:r>
          </a:p>
        </p:txBody>
      </p:sp>
      <p:pic>
        <p:nvPicPr>
          <p:cNvPr id="55" name="Picture 54" descr="lock.png"/>
          <p:cNvPicPr>
            <a:picLocks noChangeAspect="1"/>
          </p:cNvPicPr>
          <p:nvPr/>
        </p:nvPicPr>
        <p:blipFill>
          <a:blip r:embed="rId5"/>
          <a:stretch>
            <a:fillRect/>
          </a:stretch>
        </p:blipFill>
        <p:spPr>
          <a:xfrm>
            <a:off x="11172956" y="1389951"/>
            <a:ext cx="134549" cy="195707"/>
          </a:xfrm>
          <a:prstGeom prst="rect">
            <a:avLst/>
          </a:prstGeom>
        </p:spPr>
      </p:pic>
      <p:sp>
        <p:nvSpPr>
          <p:cNvPr id="56" name="TextBox 55"/>
          <p:cNvSpPr txBox="1"/>
          <p:nvPr/>
        </p:nvSpPr>
        <p:spPr>
          <a:xfrm>
            <a:off x="11348065" y="1400175"/>
            <a:ext cx="162346" cy="194310"/>
          </a:xfrm>
          <a:prstGeom prst="rect">
            <a:avLst/>
          </a:prstGeom>
          <a:noFill/>
        </p:spPr>
        <p:txBody>
          <a:bodyPr wrap="none" lIns="0" rIns="0" tIns="0" bIns="0">
            <a:spAutoFit/>
          </a:bodyPr>
          <a:lstStyle/>
          <a:p>
            <a:r>
              <a:rPr sz="1150" b="0">
                <a:solidFill>
                  <a:srgbClr val="252423"/>
                </a:solidFill>
                <a:latin typeface="Segoe UI"/>
              </a:rPr>
              <a:t>X</a:t>
            </a:r>
          </a:p>
        </p:txBody>
      </p:sp>
      <p:sp>
        <p:nvSpPr>
          <p:cNvPr id="57" name="TextBox 56"/>
          <p:cNvSpPr txBox="1"/>
          <p:nvPr/>
        </p:nvSpPr>
        <p:spPr>
          <a:xfrm>
            <a:off x="7239000" y="1575435"/>
            <a:ext cx="4648200" cy="194310"/>
          </a:xfrm>
          <a:prstGeom prst="rect">
            <a:avLst/>
          </a:prstGeom>
          <a:noFill/>
        </p:spPr>
        <p:txBody>
          <a:bodyPr wrap="none" lIns="0" rIns="0" tIns="0" bIns="0">
            <a:spAutoFit/>
          </a:bodyPr>
          <a:lstStyle/>
          <a:p>
            <a:r>
              <a:rPr sz="1150" b="0">
                <a:solidFill>
                  <a:srgbClr val="252423"/>
                </a:solidFill>
                <a:latin typeface="Segoe UI"/>
              </a:rPr>
              <a:t>higher volume than North America in 2036. Among Helium-3 by region,</a:t>
            </a:r>
          </a:p>
        </p:txBody>
      </p:sp>
      <p:sp>
        <p:nvSpPr>
          <p:cNvPr id="58" name="TextBox 57"/>
          <p:cNvSpPr txBox="1"/>
          <p:nvPr/>
        </p:nvSpPr>
        <p:spPr>
          <a:xfrm>
            <a:off x="7239000" y="1750695"/>
            <a:ext cx="4162854" cy="194310"/>
          </a:xfrm>
          <a:prstGeom prst="rect">
            <a:avLst/>
          </a:prstGeom>
          <a:noFill/>
        </p:spPr>
        <p:txBody>
          <a:bodyPr wrap="none" lIns="0" rIns="0" tIns="0" bIns="0">
            <a:spAutoFit/>
          </a:bodyPr>
          <a:lstStyle/>
          <a:p>
            <a:r>
              <a:rPr sz="1150" b="0">
                <a:solidFill>
                  <a:srgbClr val="252423"/>
                </a:solidFill>
                <a:latin typeface="Segoe UI"/>
              </a:rPr>
              <a:t>South Asia &amp; Pacific is expected to witness the highest CAGR of</a:t>
            </a:r>
          </a:p>
        </p:txBody>
      </p:sp>
      <p:pic>
        <p:nvPicPr>
          <p:cNvPr id="59" name="Picture 58" descr="lock.png"/>
          <p:cNvPicPr>
            <a:picLocks noChangeAspect="1"/>
          </p:cNvPicPr>
          <p:nvPr/>
        </p:nvPicPr>
        <p:blipFill>
          <a:blip r:embed="rId5"/>
          <a:stretch>
            <a:fillRect/>
          </a:stretch>
        </p:blipFill>
        <p:spPr>
          <a:xfrm>
            <a:off x="11351008" y="1740471"/>
            <a:ext cx="134549" cy="195707"/>
          </a:xfrm>
          <a:prstGeom prst="rect">
            <a:avLst/>
          </a:prstGeom>
        </p:spPr>
      </p:pic>
      <p:sp>
        <p:nvSpPr>
          <p:cNvPr id="60" name="TextBox 59"/>
          <p:cNvSpPr txBox="1"/>
          <p:nvPr/>
        </p:nvSpPr>
        <p:spPr>
          <a:xfrm>
            <a:off x="7239000" y="192595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61" name="TextBox 60"/>
          <p:cNvSpPr txBox="1"/>
          <p:nvPr/>
        </p:nvSpPr>
        <p:spPr>
          <a:xfrm>
            <a:off x="7239000" y="2153793"/>
            <a:ext cx="4626895" cy="194310"/>
          </a:xfrm>
          <a:prstGeom prst="rect">
            <a:avLst/>
          </a:prstGeom>
          <a:noFill/>
        </p:spPr>
        <p:txBody>
          <a:bodyPr wrap="none" lIns="0" rIns="0" tIns="0" bIns="0">
            <a:spAutoFit/>
          </a:bodyPr>
          <a:lstStyle/>
          <a:p>
            <a:r>
              <a:rPr sz="1150" b="0">
                <a:solidFill>
                  <a:srgbClr val="252423"/>
                </a:solidFill>
                <a:latin typeface="Segoe UI"/>
              </a:rPr>
              <a:t>In terms of volume share by region, South Asia &amp; Pacific is expected to</a:t>
            </a:r>
          </a:p>
        </p:txBody>
      </p:sp>
      <p:sp>
        <p:nvSpPr>
          <p:cNvPr id="62" name="TextBox 61"/>
          <p:cNvSpPr txBox="1"/>
          <p:nvPr/>
        </p:nvSpPr>
        <p:spPr>
          <a:xfrm>
            <a:off x="7239000" y="2329053"/>
            <a:ext cx="1985341" cy="194310"/>
          </a:xfrm>
          <a:prstGeom prst="rect">
            <a:avLst/>
          </a:prstGeom>
          <a:noFill/>
        </p:spPr>
        <p:txBody>
          <a:bodyPr wrap="none" lIns="0" rIns="0" tIns="0" bIns="0">
            <a:spAutoFit/>
          </a:bodyPr>
          <a:lstStyle/>
          <a:p>
            <a:r>
              <a:rPr sz="1150" b="0">
                <a:solidFill>
                  <a:srgbClr val="252423"/>
                </a:solidFill>
                <a:latin typeface="Segoe UI"/>
              </a:rPr>
              <a:t>dominate the market, gaining</a:t>
            </a:r>
          </a:p>
        </p:txBody>
      </p:sp>
      <p:pic>
        <p:nvPicPr>
          <p:cNvPr id="63" name="Picture 62" descr="lock.png"/>
          <p:cNvPicPr>
            <a:picLocks noChangeAspect="1"/>
          </p:cNvPicPr>
          <p:nvPr/>
        </p:nvPicPr>
        <p:blipFill>
          <a:blip r:embed="rId5"/>
          <a:stretch>
            <a:fillRect/>
          </a:stretch>
        </p:blipFill>
        <p:spPr>
          <a:xfrm>
            <a:off x="9173495" y="2318829"/>
            <a:ext cx="134549" cy="195707"/>
          </a:xfrm>
          <a:prstGeom prst="rect">
            <a:avLst/>
          </a:prstGeom>
        </p:spPr>
      </p:pic>
      <p:sp>
        <p:nvSpPr>
          <p:cNvPr id="64" name="TextBox 63"/>
          <p:cNvSpPr txBox="1"/>
          <p:nvPr/>
        </p:nvSpPr>
        <p:spPr>
          <a:xfrm>
            <a:off x="9348605"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5" name="Picture 64" descr="lock.png"/>
          <p:cNvPicPr>
            <a:picLocks noChangeAspect="1"/>
          </p:cNvPicPr>
          <p:nvPr/>
        </p:nvPicPr>
        <p:blipFill>
          <a:blip r:embed="rId5"/>
          <a:stretch>
            <a:fillRect/>
          </a:stretch>
        </p:blipFill>
        <p:spPr>
          <a:xfrm>
            <a:off x="10876961" y="2318829"/>
            <a:ext cx="134549" cy="195707"/>
          </a:xfrm>
          <a:prstGeom prst="rect">
            <a:avLst/>
          </a:prstGeom>
        </p:spPr>
      </p:pic>
      <p:sp>
        <p:nvSpPr>
          <p:cNvPr id="66" name="TextBox 65"/>
          <p:cNvSpPr txBox="1"/>
          <p:nvPr/>
        </p:nvSpPr>
        <p:spPr>
          <a:xfrm>
            <a:off x="11052071" y="232905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67" name="TextBox 66"/>
          <p:cNvSpPr txBox="1"/>
          <p:nvPr/>
        </p:nvSpPr>
        <p:spPr>
          <a:xfrm>
            <a:off x="7239000" y="2504313"/>
            <a:ext cx="2642375" cy="194310"/>
          </a:xfrm>
          <a:prstGeom prst="rect">
            <a:avLst/>
          </a:prstGeom>
          <a:noFill/>
        </p:spPr>
        <p:txBody>
          <a:bodyPr wrap="none" lIns="0" rIns="0" tIns="0" bIns="0">
            <a:spAutoFit/>
          </a:bodyPr>
          <a:lstStyle/>
          <a:p>
            <a:r>
              <a:rPr sz="1150" b="0">
                <a:solidFill>
                  <a:srgbClr val="252423"/>
                </a:solidFill>
                <a:latin typeface="Segoe UI"/>
              </a:rPr>
              <a:t>2036. North America is expected to lose</a:t>
            </a:r>
          </a:p>
        </p:txBody>
      </p:sp>
      <p:pic>
        <p:nvPicPr>
          <p:cNvPr id="68" name="Picture 67" descr="lock.png"/>
          <p:cNvPicPr>
            <a:picLocks noChangeAspect="1"/>
          </p:cNvPicPr>
          <p:nvPr/>
        </p:nvPicPr>
        <p:blipFill>
          <a:blip r:embed="rId5"/>
          <a:stretch>
            <a:fillRect/>
          </a:stretch>
        </p:blipFill>
        <p:spPr>
          <a:xfrm>
            <a:off x="9830529" y="2494089"/>
            <a:ext cx="134549" cy="195707"/>
          </a:xfrm>
          <a:prstGeom prst="rect">
            <a:avLst/>
          </a:prstGeom>
        </p:spPr>
      </p:pic>
      <p:sp>
        <p:nvSpPr>
          <p:cNvPr id="69" name="TextBox 68"/>
          <p:cNvSpPr txBox="1"/>
          <p:nvPr/>
        </p:nvSpPr>
        <p:spPr>
          <a:xfrm>
            <a:off x="10005638" y="2504313"/>
            <a:ext cx="1442806" cy="194310"/>
          </a:xfrm>
          <a:prstGeom prst="rect">
            <a:avLst/>
          </a:prstGeom>
          <a:noFill/>
        </p:spPr>
        <p:txBody>
          <a:bodyPr wrap="none" lIns="0" rIns="0" tIns="0" bIns="0">
            <a:spAutoFit/>
          </a:bodyPr>
          <a:lstStyle/>
          <a:p>
            <a:r>
              <a:rPr sz="1150" b="0">
                <a:solidFill>
                  <a:srgbClr val="252423"/>
                </a:solidFill>
                <a:latin typeface="Segoe UI"/>
              </a:rPr>
              <a:t>BPS over the forecast</a:t>
            </a:r>
          </a:p>
        </p:txBody>
      </p:sp>
      <p:sp>
        <p:nvSpPr>
          <p:cNvPr id="70" name="TextBox 69"/>
          <p:cNvSpPr txBox="1"/>
          <p:nvPr/>
        </p:nvSpPr>
        <p:spPr>
          <a:xfrm>
            <a:off x="7239000" y="2679573"/>
            <a:ext cx="1443689" cy="194310"/>
          </a:xfrm>
          <a:prstGeom prst="rect">
            <a:avLst/>
          </a:prstGeom>
          <a:noFill/>
        </p:spPr>
        <p:txBody>
          <a:bodyPr wrap="none" lIns="0" rIns="0" tIns="0" bIns="0">
            <a:spAutoFit/>
          </a:bodyPr>
          <a:lstStyle/>
          <a:p>
            <a:r>
              <a:rPr sz="1150" b="0">
                <a:solidFill>
                  <a:srgbClr val="252423"/>
                </a:solidFill>
                <a:latin typeface="Segoe UI"/>
              </a:rPr>
              <a:t>period to account for</a:t>
            </a:r>
          </a:p>
        </p:txBody>
      </p:sp>
      <p:pic>
        <p:nvPicPr>
          <p:cNvPr id="71" name="Picture 70" descr="lock.png"/>
          <p:cNvPicPr>
            <a:picLocks noChangeAspect="1"/>
          </p:cNvPicPr>
          <p:nvPr/>
        </p:nvPicPr>
        <p:blipFill>
          <a:blip r:embed="rId5"/>
          <a:stretch>
            <a:fillRect/>
          </a:stretch>
        </p:blipFill>
        <p:spPr>
          <a:xfrm>
            <a:off x="8631843" y="2669349"/>
            <a:ext cx="134549" cy="195707"/>
          </a:xfrm>
          <a:prstGeom prst="rect">
            <a:avLst/>
          </a:prstGeom>
        </p:spPr>
      </p:pic>
      <p:sp>
        <p:nvSpPr>
          <p:cNvPr id="72" name="TextBox 71"/>
          <p:cNvSpPr txBox="1"/>
          <p:nvPr/>
        </p:nvSpPr>
        <p:spPr>
          <a:xfrm>
            <a:off x="8806952"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3"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region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MI Lock Anchor"/>
          <p:cNvSpPr txBox="1"/>
          <p:nvPr/>
        </p:nvSpPr>
        <p:spPr>
          <a:xfrm>
            <a:off x="2489835" y="3352800"/>
            <a:ext cx="38100" cy="38100"/>
          </a:xfrm>
          <a:prstGeom prst="rect">
            <a:avLst/>
          </a:prstGeom>
          <a:noFill/>
        </p:spPr>
        <p:txBody>
          <a:bodyPr wrap="none">
            <a:spAutoFit/>
          </a:bodyPr>
          <a:lstStyle/>
          <a:p/>
        </p:txBody>
      </p:sp>
      <p:sp>
        <p:nvSpPr>
          <p:cNvPr id="13" name="FMI Legend Chip"/>
          <p:cNvSpPr/>
          <p:nvPr/>
        </p:nvSpPr>
        <p:spPr>
          <a:xfrm>
            <a:off x="4551045" y="1559593"/>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4712970" y="155483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7863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16" name="BPS Value 1"/>
          <p:cNvSpPr txBox="1"/>
          <p:nvPr/>
        </p:nvSpPr>
        <p:spPr>
          <a:xfrm>
            <a:off x="6305550" y="154054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17" name="FMI Legend Chip"/>
          <p:cNvSpPr/>
          <p:nvPr/>
        </p:nvSpPr>
        <p:spPr>
          <a:xfrm>
            <a:off x="4551045" y="180179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4712970" y="179703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720833"/>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0" name="BPS Value 2"/>
          <p:cNvSpPr txBox="1"/>
          <p:nvPr/>
        </p:nvSpPr>
        <p:spPr>
          <a:xfrm>
            <a:off x="6305550" y="1782746"/>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MI Legend Chip"/>
          <p:cNvSpPr/>
          <p:nvPr/>
        </p:nvSpPr>
        <p:spPr>
          <a:xfrm>
            <a:off x="4551045" y="2099422"/>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209465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201845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24" name="BPS Value 3"/>
          <p:cNvSpPr txBox="1"/>
          <p:nvPr/>
        </p:nvSpPr>
        <p:spPr>
          <a:xfrm>
            <a:off x="6305550" y="208037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551045" y="2443960"/>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43919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236299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8" name="BPS Value 4"/>
          <p:cNvSpPr txBox="1"/>
          <p:nvPr/>
        </p:nvSpPr>
        <p:spPr>
          <a:xfrm>
            <a:off x="6305550" y="242491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551045" y="291624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0800000">
            <a:off x="4712970" y="291148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83528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32" name="BPS Value 5"/>
          <p:cNvSpPr txBox="1"/>
          <p:nvPr/>
        </p:nvSpPr>
        <p:spPr>
          <a:xfrm>
            <a:off x="6305550" y="289719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3" name="FMI Legend Chip"/>
          <p:cNvSpPr/>
          <p:nvPr/>
        </p:nvSpPr>
        <p:spPr>
          <a:xfrm>
            <a:off x="4551045" y="348844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4712970" y="348368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340748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&amp; Pacific</a:t>
            </a:r>
          </a:p>
        </p:txBody>
      </p:sp>
      <p:sp>
        <p:nvSpPr>
          <p:cNvPr id="36" name="BPS Value 6"/>
          <p:cNvSpPr txBox="1"/>
          <p:nvPr/>
        </p:nvSpPr>
        <p:spPr>
          <a:xfrm>
            <a:off x="6305550" y="346939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7" name="FMI Legend Chip"/>
          <p:cNvSpPr/>
          <p:nvPr/>
        </p:nvSpPr>
        <p:spPr>
          <a:xfrm>
            <a:off x="4551045" y="445459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rot="10800000">
            <a:off x="4712970" y="444982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437362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40" name="BPS Value 7"/>
          <p:cNvSpPr txBox="1"/>
          <p:nvPr/>
        </p:nvSpPr>
        <p:spPr>
          <a:xfrm>
            <a:off x="6305550" y="443554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41" name="Rectangle 40"/>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3" name="Rectangle 42"/>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5" name="Rounded Rectangle 44"/>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
            </a:r>
          </a:p>
        </p:txBody>
      </p:sp>
      <p:sp>
        <p:nvSpPr>
          <p:cNvPr id="46" name="Rounded Rectangle 45"/>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
            </a:r>
          </a:p>
        </p:txBody>
      </p:sp>
      <p:sp>
        <p:nvSpPr>
          <p:cNvPr id="47" name="Rounded Rectangle 46"/>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r>
          </a:p>
        </p:txBody>
      </p:sp>
      <p:sp>
        <p:nvSpPr>
          <p:cNvPr id="48" name="TextBox 4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51" name="Picture 50" descr="17_745_605E5C.png"/>
          <p:cNvPicPr>
            <a:picLocks noChangeAspect="1"/>
          </p:cNvPicPr>
          <p:nvPr/>
        </p:nvPicPr>
        <p:blipFill>
          <a:blip r:embed="rId7"/>
          <a:stretch>
            <a:fillRect/>
          </a:stretch>
        </p:blipFill>
        <p:spPr>
          <a:xfrm>
            <a:off x="5209041" y="5897562"/>
            <a:ext cx="1878689" cy="482599"/>
          </a:xfrm>
          <a:prstGeom prst="rect">
            <a:avLst/>
          </a:prstGeom>
        </p:spPr>
      </p:pic>
      <p:pic>
        <p:nvPicPr>
          <p:cNvPr id="52" name="Picture 51"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3638642" cy="194310"/>
          </a:xfrm>
          <a:prstGeom prst="rect">
            <a:avLst/>
          </a:prstGeom>
          <a:noFill/>
        </p:spPr>
        <p:txBody>
          <a:bodyPr wrap="none" lIns="0" rIns="0" tIns="0" bIns="0">
            <a:spAutoFit/>
          </a:bodyPr>
          <a:lstStyle/>
          <a:p>
            <a:r>
              <a:rPr sz="1150" b="0">
                <a:solidFill>
                  <a:srgbClr val="252423"/>
                </a:solidFill>
                <a:latin typeface="Segoe UI"/>
              </a:rPr>
              <a:t>North America Helium-3 market is projected to register</a:t>
            </a:r>
          </a:p>
        </p:txBody>
      </p:sp>
      <p:pic>
        <p:nvPicPr>
          <p:cNvPr id="55" name="Picture 54" descr="lock.png"/>
          <p:cNvPicPr>
            <a:picLocks noChangeAspect="1"/>
          </p:cNvPicPr>
          <p:nvPr/>
        </p:nvPicPr>
        <p:blipFill>
          <a:blip r:embed="rId5"/>
          <a:stretch>
            <a:fillRect/>
          </a:stretch>
        </p:blipFill>
        <p:spPr>
          <a:xfrm>
            <a:off x="10826796" y="1389951"/>
            <a:ext cx="134549" cy="195707"/>
          </a:xfrm>
          <a:prstGeom prst="rect">
            <a:avLst/>
          </a:prstGeom>
        </p:spPr>
      </p:pic>
      <p:sp>
        <p:nvSpPr>
          <p:cNvPr id="56" name="TextBox 55"/>
          <p:cNvSpPr txBox="1"/>
          <p:nvPr/>
        </p:nvSpPr>
        <p:spPr>
          <a:xfrm>
            <a:off x="11001905" y="1400175"/>
            <a:ext cx="616470" cy="194310"/>
          </a:xfrm>
          <a:prstGeom prst="rect">
            <a:avLst/>
          </a:prstGeom>
          <a:noFill/>
        </p:spPr>
        <p:txBody>
          <a:bodyPr wrap="none" lIns="0" rIns="0" tIns="0" bIns="0">
            <a:spAutoFit/>
          </a:bodyPr>
          <a:lstStyle/>
          <a:p>
            <a:r>
              <a:rPr sz="1150" b="0">
                <a:solidFill>
                  <a:srgbClr val="252423"/>
                </a:solidFill>
                <a:latin typeface="Segoe UI"/>
              </a:rPr>
              <a:t>X higher</a:t>
            </a:r>
          </a:p>
        </p:txBody>
      </p:sp>
      <p:sp>
        <p:nvSpPr>
          <p:cNvPr id="57" name="TextBox 56"/>
          <p:cNvSpPr txBox="1"/>
          <p:nvPr/>
        </p:nvSpPr>
        <p:spPr>
          <a:xfrm>
            <a:off x="7239000" y="1575435"/>
            <a:ext cx="4453849" cy="194310"/>
          </a:xfrm>
          <a:prstGeom prst="rect">
            <a:avLst/>
          </a:prstGeom>
          <a:noFill/>
        </p:spPr>
        <p:txBody>
          <a:bodyPr wrap="none" lIns="0" rIns="0" tIns="0" bIns="0">
            <a:spAutoFit/>
          </a:bodyPr>
          <a:lstStyle/>
          <a:p>
            <a:r>
              <a:rPr sz="1150" b="0">
                <a:solidFill>
                  <a:srgbClr val="252423"/>
                </a:solidFill>
                <a:latin typeface="Segoe UI"/>
              </a:rPr>
              <a:t>value than South Asia &amp; Pacific in 2036. Among Helium-3 by region,</a:t>
            </a:r>
          </a:p>
        </p:txBody>
      </p:sp>
      <p:sp>
        <p:nvSpPr>
          <p:cNvPr id="58" name="TextBox 57"/>
          <p:cNvSpPr txBox="1"/>
          <p:nvPr/>
        </p:nvSpPr>
        <p:spPr>
          <a:xfrm>
            <a:off x="7239000" y="1750695"/>
            <a:ext cx="4162854" cy="194310"/>
          </a:xfrm>
          <a:prstGeom prst="rect">
            <a:avLst/>
          </a:prstGeom>
          <a:noFill/>
        </p:spPr>
        <p:txBody>
          <a:bodyPr wrap="none" lIns="0" rIns="0" tIns="0" bIns="0">
            <a:spAutoFit/>
          </a:bodyPr>
          <a:lstStyle/>
          <a:p>
            <a:r>
              <a:rPr sz="1150" b="0">
                <a:solidFill>
                  <a:srgbClr val="252423"/>
                </a:solidFill>
                <a:latin typeface="Segoe UI"/>
              </a:rPr>
              <a:t>South Asia &amp; Pacific is expected to witness the highest CAGR of</a:t>
            </a:r>
          </a:p>
        </p:txBody>
      </p:sp>
      <p:pic>
        <p:nvPicPr>
          <p:cNvPr id="59" name="Picture 58" descr="lock.png"/>
          <p:cNvPicPr>
            <a:picLocks noChangeAspect="1"/>
          </p:cNvPicPr>
          <p:nvPr/>
        </p:nvPicPr>
        <p:blipFill>
          <a:blip r:embed="rId5"/>
          <a:stretch>
            <a:fillRect/>
          </a:stretch>
        </p:blipFill>
        <p:spPr>
          <a:xfrm>
            <a:off x="11351008" y="1740471"/>
            <a:ext cx="134549" cy="195707"/>
          </a:xfrm>
          <a:prstGeom prst="rect">
            <a:avLst/>
          </a:prstGeom>
        </p:spPr>
      </p:pic>
      <p:sp>
        <p:nvSpPr>
          <p:cNvPr id="60" name="TextBox 59"/>
          <p:cNvSpPr txBox="1"/>
          <p:nvPr/>
        </p:nvSpPr>
        <p:spPr>
          <a:xfrm>
            <a:off x="7239000" y="192595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61" name="TextBox 60"/>
          <p:cNvSpPr txBox="1"/>
          <p:nvPr/>
        </p:nvSpPr>
        <p:spPr>
          <a:xfrm>
            <a:off x="7239000" y="2153793"/>
            <a:ext cx="4143786" cy="194310"/>
          </a:xfrm>
          <a:prstGeom prst="rect">
            <a:avLst/>
          </a:prstGeom>
          <a:noFill/>
        </p:spPr>
        <p:txBody>
          <a:bodyPr wrap="none" lIns="0" rIns="0" tIns="0" bIns="0">
            <a:spAutoFit/>
          </a:bodyPr>
          <a:lstStyle/>
          <a:p>
            <a:r>
              <a:rPr sz="1150" b="0">
                <a:solidFill>
                  <a:srgbClr val="252423"/>
                </a:solidFill>
                <a:latin typeface="Segoe UI"/>
              </a:rPr>
              <a:t>In terms of value share by region, North America is expected to</a:t>
            </a:r>
          </a:p>
        </p:txBody>
      </p:sp>
      <p:sp>
        <p:nvSpPr>
          <p:cNvPr id="62" name="TextBox 61"/>
          <p:cNvSpPr txBox="1"/>
          <p:nvPr/>
        </p:nvSpPr>
        <p:spPr>
          <a:xfrm>
            <a:off x="7239000" y="2329053"/>
            <a:ext cx="1889496" cy="194310"/>
          </a:xfrm>
          <a:prstGeom prst="rect">
            <a:avLst/>
          </a:prstGeom>
          <a:noFill/>
        </p:spPr>
        <p:txBody>
          <a:bodyPr wrap="none" lIns="0" rIns="0" tIns="0" bIns="0">
            <a:spAutoFit/>
          </a:bodyPr>
          <a:lstStyle/>
          <a:p>
            <a:r>
              <a:rPr sz="1150" b="0">
                <a:solidFill>
                  <a:srgbClr val="252423"/>
                </a:solidFill>
                <a:latin typeface="Segoe UI"/>
              </a:rPr>
              <a:t>dominate the market, losing</a:t>
            </a:r>
          </a:p>
        </p:txBody>
      </p:sp>
      <p:pic>
        <p:nvPicPr>
          <p:cNvPr id="63" name="Picture 62" descr="lock.png"/>
          <p:cNvPicPr>
            <a:picLocks noChangeAspect="1"/>
          </p:cNvPicPr>
          <p:nvPr/>
        </p:nvPicPr>
        <p:blipFill>
          <a:blip r:embed="rId5"/>
          <a:stretch>
            <a:fillRect/>
          </a:stretch>
        </p:blipFill>
        <p:spPr>
          <a:xfrm>
            <a:off x="9077650" y="2318829"/>
            <a:ext cx="134549" cy="195707"/>
          </a:xfrm>
          <a:prstGeom prst="rect">
            <a:avLst/>
          </a:prstGeom>
        </p:spPr>
      </p:pic>
      <p:sp>
        <p:nvSpPr>
          <p:cNvPr id="64" name="TextBox 63"/>
          <p:cNvSpPr txBox="1"/>
          <p:nvPr/>
        </p:nvSpPr>
        <p:spPr>
          <a:xfrm>
            <a:off x="9252759"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5" name="Picture 64" descr="lock.png"/>
          <p:cNvPicPr>
            <a:picLocks noChangeAspect="1"/>
          </p:cNvPicPr>
          <p:nvPr/>
        </p:nvPicPr>
        <p:blipFill>
          <a:blip r:embed="rId5"/>
          <a:stretch>
            <a:fillRect/>
          </a:stretch>
        </p:blipFill>
        <p:spPr>
          <a:xfrm>
            <a:off x="10781116" y="2318829"/>
            <a:ext cx="134549" cy="195707"/>
          </a:xfrm>
          <a:prstGeom prst="rect">
            <a:avLst/>
          </a:prstGeom>
        </p:spPr>
      </p:pic>
      <p:sp>
        <p:nvSpPr>
          <p:cNvPr id="66" name="TextBox 65"/>
          <p:cNvSpPr txBox="1"/>
          <p:nvPr/>
        </p:nvSpPr>
        <p:spPr>
          <a:xfrm>
            <a:off x="10956225" y="2329053"/>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67" name="TextBox 66"/>
          <p:cNvSpPr txBox="1"/>
          <p:nvPr/>
        </p:nvSpPr>
        <p:spPr>
          <a:xfrm>
            <a:off x="7239000" y="2504313"/>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68"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Share Analysis, By Region Volume (Litres)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region, 2021–2036, highlighting the geographies gaining and ceding ground</a:t>
            </a:r>
          </a:p>
        </p:txBody>
      </p:sp>
      <p:sp>
        <p:nvSpPr>
          <p:cNvPr id="8" name="Rectangle 7"/>
          <p:cNvSpPr/>
          <p:nvPr/>
        </p:nvSpPr>
        <p:spPr>
          <a:xfrm>
            <a:off x="142875" y="981075"/>
            <a:ext cx="11906250" cy="5581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(Litres)</a:t>
            </a:r>
          </a:p>
        </p:txBody>
      </p:sp>
      <p:graphicFrame>
        <p:nvGraphicFramePr>
          <p:cNvPr id="10" name="Table 9"/>
          <p:cNvGraphicFramePr>
            <a:graphicFrameLocks noGrp="1"/>
          </p:cNvGraphicFramePr>
          <p:nvPr/>
        </p:nvGraphicFramePr>
        <p:xfrm>
          <a:off x="152400" y="1238250"/>
          <a:ext cx="11918488" cy="5114923"/>
        </p:xfrm>
        <a:graphic>
          <a:graphicData uri="http://schemas.openxmlformats.org/drawingml/2006/table">
            <a:tbl>
              <a:tblPr>
                <a:tableStyleId>{5C22544A-7EE6-4342-B048-85BDC9FD1C3A}</a:tableStyleId>
              </a:tblPr>
              <a:tblGrid>
                <a:gridCol w="1428750"/>
                <a:gridCol w="629308"/>
                <a:gridCol w="629308"/>
                <a:gridCol w="629308"/>
                <a:gridCol w="629308"/>
                <a:gridCol w="629308"/>
                <a:gridCol w="629308"/>
                <a:gridCol w="629308"/>
                <a:gridCol w="629308"/>
                <a:gridCol w="629308"/>
                <a:gridCol w="629308"/>
                <a:gridCol w="629308"/>
                <a:gridCol w="629308"/>
                <a:gridCol w="629308"/>
                <a:gridCol w="629308"/>
                <a:gridCol w="629308"/>
                <a:gridCol w="629308"/>
                <a:gridCol w="420810"/>
              </a:tblGrid>
              <a:tr h="631697">
                <a:tc>
                  <a:txBody>
                    <a:bodyPr wrap="none"/>
                    <a:lstStyle/>
                    <a:p>
                      <a:pPr algn="l"/>
                      <a:r>
                        <a:rPr sz="1100" b="1">
                          <a:solidFill>
                            <a:srgbClr val="FFFFFF"/>
                          </a:solidFill>
                          <a:latin typeface="Segoe UI"/>
                        </a:rPr>
                        <a:t>Region</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632698">
                <a:tc>
                  <a:txBody>
                    <a:bodyPr wrap="none"/>
                    <a:lstStyle/>
                    <a:p>
                      <a:pPr algn="l"/>
                      <a:r>
                        <a:rPr sz="1100" b="1">
                          <a:solidFill>
                            <a:srgbClr val="252423"/>
                          </a:solidFill>
                          <a:latin typeface="Segoe UI"/>
                        </a:rPr>
                        <a:t>North</a:t>
                      </a:r>
                      <a:endParaRPr sz="1100"/>
                    </a:p>
                    <a:p>
                      <a:pPr algn="l"/>
                      <a:r>
                        <a:rPr sz="1100" b="1">
                          <a:solidFill>
                            <a:srgbClr val="252423"/>
                          </a:solidFill>
                          <a:latin typeface="Segoe UI"/>
                        </a:rPr>
                        <a:t>Americ</a:t>
                      </a:r>
                      <a:endParaRPr sz="1100"/>
                    </a:p>
                    <a:p>
                      <a:pPr algn="l"/>
                      <a:r>
                        <a:rPr sz="1100" b="1">
                          <a:solidFill>
                            <a:srgbClr val="252423"/>
                          </a:solidFill>
                          <a:latin typeface="Segoe UI"/>
                        </a:rPr>
                        <a:t>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698">
                <a:tc>
                  <a:txBody>
                    <a:bodyPr wrap="none"/>
                    <a:lstStyle/>
                    <a:p>
                      <a:pPr algn="l"/>
                      <a:r>
                        <a:rPr sz="1100" b="1">
                          <a:solidFill>
                            <a:srgbClr val="252423"/>
                          </a:solidFill>
                          <a:latin typeface="Segoe UI"/>
                        </a:rPr>
                        <a:t>Latin</a:t>
                      </a:r>
                      <a:endParaRPr sz="1100"/>
                    </a:p>
                    <a:p>
                      <a:pPr algn="l"/>
                      <a:r>
                        <a:rPr sz="1100" b="1">
                          <a:solidFill>
                            <a:srgbClr val="252423"/>
                          </a:solidFill>
                          <a:latin typeface="Segoe UI"/>
                        </a:rPr>
                        <a:t>Americ</a:t>
                      </a:r>
                      <a:endParaRPr sz="1100"/>
                    </a:p>
                    <a:p>
                      <a:pPr algn="l"/>
                      <a:r>
                        <a:rPr sz="1100" b="1">
                          <a:solidFill>
                            <a:srgbClr val="252423"/>
                          </a:solidFill>
                          <a:latin typeface="Segoe UI"/>
                        </a:rPr>
                        <a:t>a</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439912">
                <a:tc>
                  <a:txBody>
                    <a:bodyPr wrap="none"/>
                    <a:lstStyle/>
                    <a:p>
                      <a:pPr algn="l"/>
                      <a:r>
                        <a:rPr sz="1100" b="1">
                          <a:solidFill>
                            <a:srgbClr val="252423"/>
                          </a:solidFill>
                          <a:latin typeface="Segoe UI"/>
                        </a:rPr>
                        <a:t>East</a:t>
                      </a:r>
                      <a:endParaRPr sz="1100"/>
                    </a:p>
                    <a:p>
                      <a:pPr algn="l"/>
                      <a:r>
                        <a:rPr sz="1100" b="1">
                          <a:solidFill>
                            <a:srgbClr val="252423"/>
                          </a:solidFill>
                          <a:latin typeface="Segoe UI"/>
                        </a:rPr>
                        <a:t>Asia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698">
                <a:tc>
                  <a:txBody>
                    <a:bodyPr wrap="none"/>
                    <a:lstStyle/>
                    <a:p>
                      <a:pPr algn="l"/>
                      <a:r>
                        <a:rPr sz="1100" b="1">
                          <a:solidFill>
                            <a:srgbClr val="252423"/>
                          </a:solidFill>
                          <a:latin typeface="Segoe UI"/>
                        </a:rPr>
                        <a:t>South</a:t>
                      </a:r>
                      <a:endParaRPr sz="1100"/>
                    </a:p>
                    <a:p>
                      <a:pPr algn="l"/>
                      <a:r>
                        <a:rPr sz="1100" b="1">
                          <a:solidFill>
                            <a:srgbClr val="252423"/>
                          </a:solidFill>
                          <a:latin typeface="Segoe UI"/>
                        </a:rPr>
                        <a:t>Asia &amp;</a:t>
                      </a:r>
                      <a:endParaRPr sz="1100"/>
                    </a:p>
                    <a:p>
                      <a:pPr algn="l"/>
                      <a:r>
                        <a:rPr sz="1100" b="1">
                          <a:solidFill>
                            <a:srgbClr val="252423"/>
                          </a:solidFill>
                          <a:latin typeface="Segoe UI"/>
                        </a:rPr>
                        <a:t>Pacific</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632698">
                <a:tc>
                  <a:txBody>
                    <a:bodyPr wrap="none"/>
                    <a:lstStyle/>
                    <a:p>
                      <a:pPr algn="l"/>
                      <a:r>
                        <a:rPr sz="1100" b="1">
                          <a:solidFill>
                            <a:srgbClr val="252423"/>
                          </a:solidFill>
                          <a:latin typeface="Segoe UI"/>
                        </a:rPr>
                        <a:t>Wester</a:t>
                      </a:r>
                      <a:endParaRPr sz="1100"/>
                    </a:p>
                    <a:p>
                      <a:pPr algn="l"/>
                      <a:r>
                        <a:rPr sz="1100" b="1">
                          <a:solidFill>
                            <a:srgbClr val="252423"/>
                          </a:solidFill>
                          <a:latin typeface="Segoe UI"/>
                        </a:rPr>
                        <a:t>n</a:t>
                      </a:r>
                      <a:endParaRPr sz="1100"/>
                    </a:p>
                    <a:p>
                      <a:pPr algn="l"/>
                      <a:r>
                        <a:rPr sz="1100" b="1">
                          <a:solidFill>
                            <a:srgbClr val="252423"/>
                          </a:solidFill>
                          <a:latin typeface="Segoe U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912">
                <a:tc>
                  <a:txBody>
                    <a:bodyPr wrap="none"/>
                    <a:lstStyle/>
                    <a:p>
                      <a:pPr algn="l"/>
                      <a:r>
                        <a:rPr sz="1100" b="1">
                          <a:solidFill>
                            <a:srgbClr val="252423"/>
                          </a:solidFill>
                          <a:latin typeface="Segoe UI"/>
                        </a:rPr>
                        <a:t>Eastern</a:t>
                      </a:r>
                      <a:endParaRPr sz="1100"/>
                    </a:p>
                    <a:p>
                      <a:pPr algn="l"/>
                      <a:r>
                        <a:rPr sz="1100" b="1">
                          <a:solidFill>
                            <a:srgbClr val="252423"/>
                          </a:solidFill>
                          <a:latin typeface="Segoe UI"/>
                        </a:rPr>
                        <a:t>Europe</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632698">
                <a:tc>
                  <a:txBody>
                    <a:bodyPr wrap="none"/>
                    <a:lstStyle/>
                    <a:p>
                      <a:pPr algn="l"/>
                      <a:r>
                        <a:rPr sz="1100" b="1">
                          <a:solidFill>
                            <a:srgbClr val="252423"/>
                          </a:solidFill>
                          <a:latin typeface="Segoe UI"/>
                        </a:rPr>
                        <a:t>Middle</a:t>
                      </a:r>
                      <a:endParaRPr sz="1100"/>
                    </a:p>
                    <a:p>
                      <a:pPr algn="l"/>
                      <a:r>
                        <a:rPr sz="1100" b="1">
                          <a:solidFill>
                            <a:srgbClr val="252423"/>
                          </a:solidFill>
                          <a:latin typeface="Segoe UI"/>
                        </a:rPr>
                        <a:t>East &amp;</a:t>
                      </a:r>
                      <a:endParaRPr sz="1100"/>
                    </a:p>
                    <a:p>
                      <a:pPr algn="l"/>
                      <a:r>
                        <a:rPr sz="1100" b="1">
                          <a:solidFill>
                            <a:srgbClr val="252423"/>
                          </a:solidFill>
                          <a:latin typeface="Segoe UI"/>
                        </a:rPr>
                        <a:t>Africa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912">
                <a:tc>
                  <a:txBody>
                    <a:bodyPr wrap="none"/>
                    <a:lstStyle/>
                    <a:p>
                      <a:pPr algn="l"/>
                      <a:r>
                        <a:rPr sz="1100" b="1">
                          <a:solidFill>
                            <a:srgbClr val="252423"/>
                          </a:solidFill>
                          <a:latin typeface="Segoe UI"/>
                        </a:rPr>
                        <a:t>Total</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squar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r>
            </a:tbl>
          </a:graphicData>
        </a:graphic>
      </p:graphicFrame>
      <p:sp>
        <p:nvSpPr>
          <p:cNvPr id="11" name="TextBox 10"/>
          <p:cNvSpPr txBox="1"/>
          <p:nvPr/>
        </p:nvSpPr>
        <p:spPr>
          <a:xfrm>
            <a:off x="219075" y="63627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3" name="Picture 12" descr="lock.png"/>
          <p:cNvPicPr>
            <a:picLocks noChangeAspect="1"/>
          </p:cNvPicPr>
          <p:nvPr/>
        </p:nvPicPr>
        <p:blipFill>
          <a:blip r:embed="rId4"/>
          <a:stretch>
            <a:fillRect/>
          </a:stretch>
        </p:blipFill>
        <p:spPr>
          <a:xfrm>
            <a:off x="6203699" y="3844860"/>
            <a:ext cx="366712" cy="5334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Share Analysis, By Region Volume (Litres)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region, 2021–2036, highlighting the geographies gaining and ceding ground</a:t>
            </a:r>
          </a:p>
        </p:txBody>
      </p:sp>
      <p:sp>
        <p:nvSpPr>
          <p:cNvPr id="8" name="Rectangle 7"/>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Share Read-out, By Region</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3" name="TextBox 12"/>
          <p:cNvSpPr txBox="1"/>
          <p:nvPr/>
        </p:nvSpPr>
        <p:spPr>
          <a:xfrm>
            <a:off x="276225" y="1400175"/>
            <a:ext cx="3984802" cy="194310"/>
          </a:xfrm>
          <a:prstGeom prst="rect">
            <a:avLst/>
          </a:prstGeom>
          <a:noFill/>
        </p:spPr>
        <p:txBody>
          <a:bodyPr wrap="none" lIns="0" rIns="0" tIns="0" bIns="0">
            <a:spAutoFit/>
          </a:bodyPr>
          <a:lstStyle/>
          <a:p>
            <a:r>
              <a:rPr sz="1150" b="0">
                <a:solidFill>
                  <a:srgbClr val="252423"/>
                </a:solidFill>
                <a:latin typeface="Segoe UI"/>
              </a:rPr>
              <a:t>South Asia &amp; Pacific Helium-3 market is projected to register</a:t>
            </a:r>
          </a:p>
        </p:txBody>
      </p:sp>
      <p:pic>
        <p:nvPicPr>
          <p:cNvPr id="14" name="Picture 13" descr="lock.png"/>
          <p:cNvPicPr>
            <a:picLocks noChangeAspect="1"/>
          </p:cNvPicPr>
          <p:nvPr/>
        </p:nvPicPr>
        <p:blipFill>
          <a:blip r:embed="rId4"/>
          <a:stretch>
            <a:fillRect/>
          </a:stretch>
        </p:blipFill>
        <p:spPr>
          <a:xfrm>
            <a:off x="4210181" y="1389951"/>
            <a:ext cx="134549" cy="195707"/>
          </a:xfrm>
          <a:prstGeom prst="rect">
            <a:avLst/>
          </a:prstGeom>
        </p:spPr>
      </p:pic>
      <p:sp>
        <p:nvSpPr>
          <p:cNvPr id="15" name="TextBox 14"/>
          <p:cNvSpPr txBox="1"/>
          <p:nvPr/>
        </p:nvSpPr>
        <p:spPr>
          <a:xfrm>
            <a:off x="4385290" y="1400175"/>
            <a:ext cx="7091364" cy="194310"/>
          </a:xfrm>
          <a:prstGeom prst="rect">
            <a:avLst/>
          </a:prstGeom>
          <a:noFill/>
        </p:spPr>
        <p:txBody>
          <a:bodyPr wrap="none" lIns="0" rIns="0" tIns="0" bIns="0">
            <a:spAutoFit/>
          </a:bodyPr>
          <a:lstStyle/>
          <a:p>
            <a:r>
              <a:rPr sz="1150" b="0">
                <a:solidFill>
                  <a:srgbClr val="252423"/>
                </a:solidFill>
                <a:latin typeface="Segoe UI"/>
              </a:rPr>
              <a:t>X higher volume than North America in 2036. Among Helium-3 by region, South Asia &amp; Pacific is expected to</a:t>
            </a:r>
          </a:p>
        </p:txBody>
      </p:sp>
      <p:sp>
        <p:nvSpPr>
          <p:cNvPr id="16" name="TextBox 15"/>
          <p:cNvSpPr txBox="1"/>
          <p:nvPr/>
        </p:nvSpPr>
        <p:spPr>
          <a:xfrm>
            <a:off x="276225" y="1575435"/>
            <a:ext cx="1896333" cy="194310"/>
          </a:xfrm>
          <a:prstGeom prst="rect">
            <a:avLst/>
          </a:prstGeom>
          <a:noFill/>
        </p:spPr>
        <p:txBody>
          <a:bodyPr wrap="none" lIns="0" rIns="0" tIns="0" bIns="0">
            <a:spAutoFit/>
          </a:bodyPr>
          <a:lstStyle/>
          <a:p>
            <a:r>
              <a:rPr sz="1150" b="0">
                <a:solidFill>
                  <a:srgbClr val="252423"/>
                </a:solidFill>
                <a:latin typeface="Segoe UI"/>
              </a:rPr>
              <a:t>witness the highest CAGR of</a:t>
            </a:r>
          </a:p>
        </p:txBody>
      </p:sp>
      <p:pic>
        <p:nvPicPr>
          <p:cNvPr id="17" name="Picture 16" descr="lock.png"/>
          <p:cNvPicPr>
            <a:picLocks noChangeAspect="1"/>
          </p:cNvPicPr>
          <p:nvPr/>
        </p:nvPicPr>
        <p:blipFill>
          <a:blip r:embed="rId4"/>
          <a:stretch>
            <a:fillRect/>
          </a:stretch>
        </p:blipFill>
        <p:spPr>
          <a:xfrm>
            <a:off x="2121712" y="1565211"/>
            <a:ext cx="134549" cy="195707"/>
          </a:xfrm>
          <a:prstGeom prst="rect">
            <a:avLst/>
          </a:prstGeom>
        </p:spPr>
      </p:pic>
      <p:sp>
        <p:nvSpPr>
          <p:cNvPr id="18" name="TextBox 17"/>
          <p:cNvSpPr txBox="1"/>
          <p:nvPr/>
        </p:nvSpPr>
        <p:spPr>
          <a:xfrm>
            <a:off x="2296822" y="15754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19" name="TextBox 18"/>
          <p:cNvSpPr txBox="1"/>
          <p:nvPr/>
        </p:nvSpPr>
        <p:spPr>
          <a:xfrm>
            <a:off x="276225" y="1803273"/>
            <a:ext cx="6575973" cy="194310"/>
          </a:xfrm>
          <a:prstGeom prst="rect">
            <a:avLst/>
          </a:prstGeom>
          <a:noFill/>
        </p:spPr>
        <p:txBody>
          <a:bodyPr wrap="none" lIns="0" rIns="0" tIns="0" bIns="0">
            <a:spAutoFit/>
          </a:bodyPr>
          <a:lstStyle/>
          <a:p>
            <a:r>
              <a:rPr sz="1150" b="0">
                <a:solidFill>
                  <a:srgbClr val="252423"/>
                </a:solidFill>
                <a:latin typeface="Segoe UI"/>
              </a:rPr>
              <a:t>In terms of volume share by region, South Asia &amp; Pacific is expected to dominate the market, gaining</a:t>
            </a:r>
          </a:p>
        </p:txBody>
      </p:sp>
      <p:pic>
        <p:nvPicPr>
          <p:cNvPr id="20" name="Picture 19" descr="lock.png"/>
          <p:cNvPicPr>
            <a:picLocks noChangeAspect="1"/>
          </p:cNvPicPr>
          <p:nvPr/>
        </p:nvPicPr>
        <p:blipFill>
          <a:blip r:embed="rId4"/>
          <a:stretch>
            <a:fillRect/>
          </a:stretch>
        </p:blipFill>
        <p:spPr>
          <a:xfrm>
            <a:off x="6801352" y="1793049"/>
            <a:ext cx="134549" cy="195707"/>
          </a:xfrm>
          <a:prstGeom prst="rect">
            <a:avLst/>
          </a:prstGeom>
        </p:spPr>
      </p:pic>
      <p:sp>
        <p:nvSpPr>
          <p:cNvPr id="21" name="TextBox 20"/>
          <p:cNvSpPr txBox="1"/>
          <p:nvPr/>
        </p:nvSpPr>
        <p:spPr>
          <a:xfrm>
            <a:off x="6976461" y="180327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2" name="Picture 21" descr="lock.png"/>
          <p:cNvPicPr>
            <a:picLocks noChangeAspect="1"/>
          </p:cNvPicPr>
          <p:nvPr/>
        </p:nvPicPr>
        <p:blipFill>
          <a:blip r:embed="rId4"/>
          <a:stretch>
            <a:fillRect/>
          </a:stretch>
        </p:blipFill>
        <p:spPr>
          <a:xfrm>
            <a:off x="8504818" y="1793049"/>
            <a:ext cx="134549" cy="195707"/>
          </a:xfrm>
          <a:prstGeom prst="rect">
            <a:avLst/>
          </a:prstGeom>
        </p:spPr>
      </p:pic>
      <p:sp>
        <p:nvSpPr>
          <p:cNvPr id="23" name="TextBox 22"/>
          <p:cNvSpPr txBox="1"/>
          <p:nvPr/>
        </p:nvSpPr>
        <p:spPr>
          <a:xfrm>
            <a:off x="8679927" y="1803273"/>
            <a:ext cx="2925886" cy="194310"/>
          </a:xfrm>
          <a:prstGeom prst="rect">
            <a:avLst/>
          </a:prstGeom>
          <a:noFill/>
        </p:spPr>
        <p:txBody>
          <a:bodyPr wrap="none" lIns="0" rIns="0" tIns="0" bIns="0">
            <a:spAutoFit/>
          </a:bodyPr>
          <a:lstStyle/>
          <a:p>
            <a:r>
              <a:rPr sz="1150" b="0">
                <a:solidFill>
                  <a:srgbClr val="252423"/>
                </a:solidFill>
                <a:latin typeface="Segoe UI"/>
              </a:rPr>
              <a:t>share by 2036. North America is expected to</a:t>
            </a:r>
          </a:p>
        </p:txBody>
      </p:sp>
      <p:sp>
        <p:nvSpPr>
          <p:cNvPr id="24" name="TextBox 23"/>
          <p:cNvSpPr txBox="1"/>
          <p:nvPr/>
        </p:nvSpPr>
        <p:spPr>
          <a:xfrm>
            <a:off x="276225" y="1978533"/>
            <a:ext cx="335495" cy="194310"/>
          </a:xfrm>
          <a:prstGeom prst="rect">
            <a:avLst/>
          </a:prstGeom>
          <a:noFill/>
        </p:spPr>
        <p:txBody>
          <a:bodyPr wrap="none" lIns="0" rIns="0" tIns="0" bIns="0">
            <a:spAutoFit/>
          </a:bodyPr>
          <a:lstStyle/>
          <a:p>
            <a:r>
              <a:rPr sz="1150" b="0">
                <a:solidFill>
                  <a:srgbClr val="252423"/>
                </a:solidFill>
                <a:latin typeface="Segoe UI"/>
              </a:rPr>
              <a:t>lose</a:t>
            </a:r>
          </a:p>
        </p:txBody>
      </p:sp>
      <p:pic>
        <p:nvPicPr>
          <p:cNvPr id="25" name="Picture 24" descr="lock.png"/>
          <p:cNvPicPr>
            <a:picLocks noChangeAspect="1"/>
          </p:cNvPicPr>
          <p:nvPr/>
        </p:nvPicPr>
        <p:blipFill>
          <a:blip r:embed="rId4"/>
          <a:stretch>
            <a:fillRect/>
          </a:stretch>
        </p:blipFill>
        <p:spPr>
          <a:xfrm>
            <a:off x="560874" y="1968309"/>
            <a:ext cx="134549" cy="195707"/>
          </a:xfrm>
          <a:prstGeom prst="rect">
            <a:avLst/>
          </a:prstGeom>
        </p:spPr>
      </p:pic>
      <p:sp>
        <p:nvSpPr>
          <p:cNvPr id="26" name="TextBox 25"/>
          <p:cNvSpPr txBox="1"/>
          <p:nvPr/>
        </p:nvSpPr>
        <p:spPr>
          <a:xfrm>
            <a:off x="735984" y="1978533"/>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27" name="Picture 26" descr="lock.png"/>
          <p:cNvPicPr>
            <a:picLocks noChangeAspect="1"/>
          </p:cNvPicPr>
          <p:nvPr/>
        </p:nvPicPr>
        <p:blipFill>
          <a:blip r:embed="rId4"/>
          <a:stretch>
            <a:fillRect/>
          </a:stretch>
        </p:blipFill>
        <p:spPr>
          <a:xfrm>
            <a:off x="3535369" y="1968309"/>
            <a:ext cx="134549" cy="195707"/>
          </a:xfrm>
          <a:prstGeom prst="rect">
            <a:avLst/>
          </a:prstGeom>
        </p:spPr>
      </p:pic>
      <p:sp>
        <p:nvSpPr>
          <p:cNvPr id="28" name="TextBox 27"/>
          <p:cNvSpPr txBox="1"/>
          <p:nvPr/>
        </p:nvSpPr>
        <p:spPr>
          <a:xfrm>
            <a:off x="3710479" y="197853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Share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region, 2021–2036, highlighting the geographies gaining and ceding ground</a:t>
            </a:r>
          </a:p>
        </p:txBody>
      </p:sp>
      <p:sp>
        <p:nvSpPr>
          <p:cNvPr id="8" name="Rectangle 7"/>
          <p:cNvSpPr/>
          <p:nvPr/>
        </p:nvSpPr>
        <p:spPr>
          <a:xfrm>
            <a:off x="142875" y="981075"/>
            <a:ext cx="11906250" cy="2686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(US$ Mn)</a:t>
            </a:r>
          </a:p>
        </p:txBody>
      </p:sp>
      <p:graphicFrame>
        <p:nvGraphicFramePr>
          <p:cNvPr id="10" name="Table 9"/>
          <p:cNvGraphicFramePr>
            <a:graphicFrameLocks noGrp="1"/>
          </p:cNvGraphicFramePr>
          <p:nvPr/>
        </p:nvGraphicFramePr>
        <p:xfrm>
          <a:off x="152400" y="1238250"/>
          <a:ext cx="11887194" cy="2219326"/>
        </p:xfrm>
        <a:graphic>
          <a:graphicData uri="http://schemas.openxmlformats.org/drawingml/2006/table">
            <a:tbl>
              <a:tblPr>
                <a:tableStyleId>{5C22544A-7EE6-4342-B048-85BDC9FD1C3A}</a:tableStyleId>
              </a:tblPr>
              <a:tblGrid>
                <a:gridCol w="1617868"/>
                <a:gridCol w="580161"/>
                <a:gridCol w="580161"/>
                <a:gridCol w="580161"/>
                <a:gridCol w="603925"/>
                <a:gridCol w="603925"/>
                <a:gridCol w="603925"/>
                <a:gridCol w="603925"/>
                <a:gridCol w="603925"/>
                <a:gridCol w="603925"/>
                <a:gridCol w="603925"/>
                <a:gridCol w="603925"/>
                <a:gridCol w="603925"/>
                <a:gridCol w="603925"/>
                <a:gridCol w="603925"/>
                <a:gridCol w="603925"/>
                <a:gridCol w="603925"/>
                <a:gridCol w="677818"/>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6650">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650">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800475"/>
            <a:ext cx="11906250" cy="2828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Share Read-out, By Region</a:t>
            </a:r>
          </a:p>
        </p:txBody>
      </p:sp>
      <p:sp>
        <p:nvSpPr>
          <p:cNvPr id="14" name="Rectangle 13"/>
          <p:cNvSpPr/>
          <p:nvPr/>
        </p:nvSpPr>
        <p:spPr>
          <a:xfrm>
            <a:off x="276225" y="4124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718241" y="2204276"/>
            <a:ext cx="366712" cy="533400"/>
          </a:xfrm>
          <a:prstGeom prst="rect">
            <a:avLst/>
          </a:prstGeom>
        </p:spPr>
      </p:pic>
      <p:sp>
        <p:nvSpPr>
          <p:cNvPr id="18" name="TextBox 17"/>
          <p:cNvSpPr txBox="1"/>
          <p:nvPr/>
        </p:nvSpPr>
        <p:spPr>
          <a:xfrm>
            <a:off x="276225" y="4219575"/>
            <a:ext cx="3638642" cy="194310"/>
          </a:xfrm>
          <a:prstGeom prst="rect">
            <a:avLst/>
          </a:prstGeom>
          <a:noFill/>
        </p:spPr>
        <p:txBody>
          <a:bodyPr wrap="none" lIns="0" rIns="0" tIns="0" bIns="0">
            <a:spAutoFit/>
          </a:bodyPr>
          <a:lstStyle/>
          <a:p>
            <a:r>
              <a:rPr sz="1150" b="0">
                <a:solidFill>
                  <a:srgbClr val="252423"/>
                </a:solidFill>
                <a:latin typeface="Segoe UI"/>
              </a:rPr>
              <a:t>North America Helium-3 market is projected to register</a:t>
            </a:r>
          </a:p>
        </p:txBody>
      </p:sp>
      <p:pic>
        <p:nvPicPr>
          <p:cNvPr id="19" name="Picture 18" descr="lock.png"/>
          <p:cNvPicPr>
            <a:picLocks noChangeAspect="1"/>
          </p:cNvPicPr>
          <p:nvPr/>
        </p:nvPicPr>
        <p:blipFill>
          <a:blip r:embed="rId4"/>
          <a:stretch>
            <a:fillRect/>
          </a:stretch>
        </p:blipFill>
        <p:spPr>
          <a:xfrm>
            <a:off x="3864021" y="4209351"/>
            <a:ext cx="134549" cy="195707"/>
          </a:xfrm>
          <a:prstGeom prst="rect">
            <a:avLst/>
          </a:prstGeom>
        </p:spPr>
      </p:pic>
      <p:sp>
        <p:nvSpPr>
          <p:cNvPr id="20" name="TextBox 19"/>
          <p:cNvSpPr txBox="1"/>
          <p:nvPr/>
        </p:nvSpPr>
        <p:spPr>
          <a:xfrm>
            <a:off x="4039130" y="4219575"/>
            <a:ext cx="7814033" cy="194310"/>
          </a:xfrm>
          <a:prstGeom prst="rect">
            <a:avLst/>
          </a:prstGeom>
          <a:noFill/>
        </p:spPr>
        <p:txBody>
          <a:bodyPr wrap="none" lIns="0" rIns="0" tIns="0" bIns="0">
            <a:spAutoFit/>
          </a:bodyPr>
          <a:lstStyle/>
          <a:p>
            <a:r>
              <a:rPr sz="1150" b="0">
                <a:solidFill>
                  <a:srgbClr val="252423"/>
                </a:solidFill>
                <a:latin typeface="Segoe UI"/>
              </a:rPr>
              <a:t>X higher value than South Asia &amp; Pacific in 2036. Among Helium-3 by region, South Asia &amp; Pacific is expected to witness</a:t>
            </a:r>
          </a:p>
        </p:txBody>
      </p:sp>
      <p:sp>
        <p:nvSpPr>
          <p:cNvPr id="21" name="TextBox 20"/>
          <p:cNvSpPr txBox="1"/>
          <p:nvPr/>
        </p:nvSpPr>
        <p:spPr>
          <a:xfrm>
            <a:off x="276225" y="4394835"/>
            <a:ext cx="1382876" cy="194310"/>
          </a:xfrm>
          <a:prstGeom prst="rect">
            <a:avLst/>
          </a:prstGeom>
          <a:noFill/>
        </p:spPr>
        <p:txBody>
          <a:bodyPr wrap="none" lIns="0" rIns="0" tIns="0" bIns="0">
            <a:spAutoFit/>
          </a:bodyPr>
          <a:lstStyle/>
          <a:p>
            <a:r>
              <a:rPr sz="1150" b="0">
                <a:solidFill>
                  <a:srgbClr val="252423"/>
                </a:solidFill>
                <a:latin typeface="Segoe UI"/>
              </a:rPr>
              <a:t>the highest CAGR of</a:t>
            </a:r>
          </a:p>
        </p:txBody>
      </p:sp>
      <p:pic>
        <p:nvPicPr>
          <p:cNvPr id="22" name="Picture 21" descr="lock.png"/>
          <p:cNvPicPr>
            <a:picLocks noChangeAspect="1"/>
          </p:cNvPicPr>
          <p:nvPr/>
        </p:nvPicPr>
        <p:blipFill>
          <a:blip r:embed="rId4"/>
          <a:stretch>
            <a:fillRect/>
          </a:stretch>
        </p:blipFill>
        <p:spPr>
          <a:xfrm>
            <a:off x="1608255" y="4384611"/>
            <a:ext cx="134549" cy="195707"/>
          </a:xfrm>
          <a:prstGeom prst="rect">
            <a:avLst/>
          </a:prstGeom>
        </p:spPr>
      </p:pic>
      <p:sp>
        <p:nvSpPr>
          <p:cNvPr id="23" name="TextBox 22"/>
          <p:cNvSpPr txBox="1"/>
          <p:nvPr/>
        </p:nvSpPr>
        <p:spPr>
          <a:xfrm>
            <a:off x="1783365" y="439483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622672"/>
            <a:ext cx="5997019" cy="194310"/>
          </a:xfrm>
          <a:prstGeom prst="rect">
            <a:avLst/>
          </a:prstGeom>
          <a:noFill/>
        </p:spPr>
        <p:txBody>
          <a:bodyPr wrap="none" lIns="0" rIns="0" tIns="0" bIns="0">
            <a:spAutoFit/>
          </a:bodyPr>
          <a:lstStyle/>
          <a:p>
            <a:r>
              <a:rPr sz="1150" b="0">
                <a:solidFill>
                  <a:srgbClr val="252423"/>
                </a:solidFill>
                <a:latin typeface="Segoe UI"/>
              </a:rPr>
              <a:t>In terms of value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6222398" y="4612449"/>
            <a:ext cx="134549" cy="195707"/>
          </a:xfrm>
          <a:prstGeom prst="rect">
            <a:avLst/>
          </a:prstGeom>
        </p:spPr>
      </p:pic>
      <p:sp>
        <p:nvSpPr>
          <p:cNvPr id="26" name="TextBox 25"/>
          <p:cNvSpPr txBox="1"/>
          <p:nvPr/>
        </p:nvSpPr>
        <p:spPr>
          <a:xfrm>
            <a:off x="6397507" y="462267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7925864" y="4612449"/>
            <a:ext cx="134549" cy="195707"/>
          </a:xfrm>
          <a:prstGeom prst="rect">
            <a:avLst/>
          </a:prstGeom>
        </p:spPr>
      </p:pic>
      <p:sp>
        <p:nvSpPr>
          <p:cNvPr id="28" name="TextBox 27"/>
          <p:cNvSpPr txBox="1"/>
          <p:nvPr/>
        </p:nvSpPr>
        <p:spPr>
          <a:xfrm>
            <a:off x="8100973" y="462267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Trends, By Region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regional volume and value shares shift over 2021–2036, highlighting who gains ground</a:t>
            </a:r>
          </a:p>
        </p:txBody>
      </p:sp>
      <p:sp>
        <p:nvSpPr>
          <p:cNvPr id="8" name="Rectangle 7"/>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Volume By Region (Litres)</a:t>
            </a:r>
          </a:p>
        </p:txBody>
      </p:sp>
      <p:graphicFrame>
        <p:nvGraphicFramePr>
          <p:cNvPr id="10" name="Chart 9"/>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1" name="Rectangle 10"/>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MI Dense Legend"/>
          <p:cNvSpPr txBox="1"/>
          <p:nvPr/>
        </p:nvSpPr>
        <p:spPr>
          <a:xfrm>
            <a:off x="9839325" y="1362075"/>
            <a:ext cx="2057400" cy="171450"/>
          </a:xfrm>
          <a:prstGeom prst="rect">
            <a:avLst/>
          </a:prstGeom>
          <a:noFill/>
        </p:spPr>
        <p:txBody>
          <a:bodyPr wrap="none">
            <a:spAutoFit/>
          </a:bodyPr>
          <a:lstStyle/>
          <a:p>
            <a:pPr/>
            <a:r>
              <a:rPr sz="850" b="1">
                <a:solidFill>
                  <a:srgbClr val="605E5C"/>
                </a:solidFill>
                <a:latin typeface="Segoe UI"/>
              </a:rPr>
              <a:t/>
            </a:r>
          </a:p>
        </p:txBody>
      </p:sp>
      <p:sp>
        <p:nvSpPr>
          <p:cNvPr id="13"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D6CAC4"/>
                </a:solidFill>
                <a:latin typeface="Segoe UI"/>
              </a:rPr>
              <a:t>■  </a:t>
            </a:r>
            <a:r>
              <a:rPr sz="750">
                <a:solidFill>
                  <a:srgbClr val="252423"/>
                </a:solidFill>
                <a:latin typeface="Segoe UI"/>
              </a:rPr>
              <a:t>   South Asia &amp; Pacific</a:t>
            </a:r>
          </a:p>
          <a:p>
            <a:pPr>
              <a:spcBef>
                <a:spcPts val="500"/>
              </a:spcBef>
            </a:pPr>
            <a:r>
              <a:rPr sz="900">
                <a:solidFill>
                  <a:srgbClr val="00A4DC"/>
                </a:solidFill>
                <a:latin typeface="Segoe UI"/>
              </a:rPr>
              <a:t>■  </a:t>
            </a:r>
            <a:r>
              <a:rPr sz="750">
                <a:solidFill>
                  <a:srgbClr val="252423"/>
                </a:solidFill>
                <a:latin typeface="Segoe UI"/>
              </a:rPr>
              <a:t>   North America</a:t>
            </a:r>
          </a:p>
          <a:p>
            <a:pPr>
              <a:spcBef>
                <a:spcPts val="500"/>
              </a:spcBef>
            </a:pPr>
            <a:r>
              <a:rPr sz="900">
                <a:solidFill>
                  <a:srgbClr val="6ECFF2"/>
                </a:solidFill>
                <a:latin typeface="Segoe UI"/>
              </a:rPr>
              <a:t>■  </a:t>
            </a:r>
            <a:r>
              <a:rPr sz="750">
                <a:solidFill>
                  <a:srgbClr val="252423"/>
                </a:solidFill>
                <a:latin typeface="Segoe UI"/>
              </a:rPr>
              <a:t>   East Asia</a:t>
            </a:r>
          </a:p>
          <a:p>
            <a:pPr>
              <a:spcBef>
                <a:spcPts val="500"/>
              </a:spcBef>
            </a:pPr>
            <a:r>
              <a:rPr sz="900">
                <a:solidFill>
                  <a:srgbClr val="EBC46B"/>
                </a:solidFill>
                <a:latin typeface="Segoe UI"/>
              </a:rPr>
              <a:t>■  </a:t>
            </a:r>
            <a:r>
              <a:rPr sz="750">
                <a:solidFill>
                  <a:srgbClr val="252423"/>
                </a:solidFill>
                <a:latin typeface="Segoe UI"/>
              </a:rPr>
              <a:t>   Latin America</a:t>
            </a:r>
          </a:p>
          <a:p>
            <a:pPr>
              <a:spcBef>
                <a:spcPts val="500"/>
              </a:spcBef>
            </a:pPr>
            <a:r>
              <a:rPr sz="900">
                <a:solidFill>
                  <a:srgbClr val="EDA28B"/>
                </a:solidFill>
                <a:latin typeface="Segoe UI"/>
              </a:rPr>
              <a:t>■  </a:t>
            </a:r>
            <a:r>
              <a:rPr sz="750">
                <a:solidFill>
                  <a:srgbClr val="252423"/>
                </a:solidFill>
                <a:latin typeface="Segoe UI"/>
              </a:rPr>
              <a:t>   Middle East &amp; Africa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Western Europe</a:t>
            </a:r>
          </a:p>
        </p:txBody>
      </p:sp>
      <p:sp>
        <p:nvSpPr>
          <p:cNvPr id="14" name="Rectangle 13"/>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Region (US$ Mn)</a:t>
            </a:r>
          </a:p>
        </p:txBody>
      </p:sp>
      <p:graphicFrame>
        <p:nvGraphicFramePr>
          <p:cNvPr id="16" name="Chart 15"/>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7" name="Rectangle 16"/>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MI Dense Legend"/>
          <p:cNvSpPr txBox="1"/>
          <p:nvPr/>
        </p:nvSpPr>
        <p:spPr>
          <a:xfrm>
            <a:off x="9839325" y="4248150"/>
            <a:ext cx="2057400" cy="171450"/>
          </a:xfrm>
          <a:prstGeom prst="rect">
            <a:avLst/>
          </a:prstGeom>
          <a:noFill/>
        </p:spPr>
        <p:txBody>
          <a:bodyPr wrap="none">
            <a:spAutoFit/>
          </a:bodyPr>
          <a:lstStyle/>
          <a:p>
            <a:pPr/>
            <a:r>
              <a:rPr sz="850" b="1">
                <a:solidFill>
                  <a:srgbClr val="605E5C"/>
                </a:solidFill>
                <a:latin typeface="Segoe UI"/>
              </a:rPr>
              <a:t/>
            </a:r>
          </a:p>
        </p:txBody>
      </p:sp>
      <p:sp>
        <p:nvSpPr>
          <p:cNvPr id="19"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North America</a:t>
            </a:r>
          </a:p>
          <a:p>
            <a:pPr>
              <a:spcBef>
                <a:spcPts val="500"/>
              </a:spcBef>
            </a:pPr>
            <a:r>
              <a:rPr sz="900">
                <a:solidFill>
                  <a:srgbClr val="D6CAC4"/>
                </a:solidFill>
                <a:latin typeface="Segoe UI"/>
              </a:rPr>
              <a:t>■  </a:t>
            </a:r>
            <a:r>
              <a:rPr sz="750">
                <a:solidFill>
                  <a:srgbClr val="252423"/>
                </a:solidFill>
                <a:latin typeface="Segoe UI"/>
              </a:rPr>
              <a:t>   South Asia &amp; Pacific</a:t>
            </a:r>
          </a:p>
          <a:p>
            <a:pPr>
              <a:spcBef>
                <a:spcPts val="500"/>
              </a:spcBef>
            </a:pPr>
            <a:r>
              <a:rPr sz="900">
                <a:solidFill>
                  <a:srgbClr val="6ECFF2"/>
                </a:solidFill>
                <a:latin typeface="Segoe UI"/>
              </a:rPr>
              <a:t>■  </a:t>
            </a:r>
            <a:r>
              <a:rPr sz="750">
                <a:solidFill>
                  <a:srgbClr val="252423"/>
                </a:solidFill>
                <a:latin typeface="Segoe UI"/>
              </a:rPr>
              <a:t>   East Asia</a:t>
            </a:r>
          </a:p>
          <a:p>
            <a:pPr>
              <a:spcBef>
                <a:spcPts val="500"/>
              </a:spcBef>
            </a:pPr>
            <a:r>
              <a:rPr sz="900">
                <a:solidFill>
                  <a:srgbClr val="EBC46B"/>
                </a:solidFill>
                <a:latin typeface="Segoe UI"/>
              </a:rPr>
              <a:t>■  </a:t>
            </a:r>
            <a:r>
              <a:rPr sz="750">
                <a:solidFill>
                  <a:srgbClr val="252423"/>
                </a:solidFill>
                <a:latin typeface="Segoe UI"/>
              </a:rPr>
              <a:t>   Latin America</a:t>
            </a:r>
          </a:p>
          <a:p>
            <a:pPr>
              <a:spcBef>
                <a:spcPts val="500"/>
              </a:spcBef>
            </a:pPr>
            <a:r>
              <a:rPr sz="900">
                <a:solidFill>
                  <a:srgbClr val="EDA28B"/>
                </a:solidFill>
                <a:latin typeface="Segoe UI"/>
              </a:rPr>
              <a:t>■  </a:t>
            </a:r>
            <a:r>
              <a:rPr sz="750">
                <a:solidFill>
                  <a:srgbClr val="252423"/>
                </a:solidFill>
                <a:latin typeface="Segoe UI"/>
              </a:rPr>
              <a:t>   Middle East &amp; Africa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Western Europe</a:t>
            </a:r>
          </a:p>
        </p:txBody>
      </p:sp>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1" name="TextBox 20"/>
          <p:cNvSpPr txBox="1"/>
          <p:nvPr/>
        </p:nvSpPr>
        <p:spPr>
          <a:xfrm>
            <a:off x="9930765" y="1407795"/>
            <a:ext cx="504137" cy="112318"/>
          </a:xfrm>
          <a:prstGeom prst="rect">
            <a:avLst/>
          </a:prstGeom>
          <a:noFill/>
        </p:spPr>
        <p:txBody>
          <a:bodyPr wrap="none" lIns="0" rIns="0" tIns="0" bIns="0">
            <a:spAutoFit/>
          </a:bodyPr>
          <a:lstStyle/>
          <a:p>
            <a:r>
              <a:rPr sz="611" b="1">
                <a:solidFill>
                  <a:srgbClr val="605E5C"/>
                </a:solidFill>
                <a:latin typeface="Segoe UI"/>
              </a:rPr>
              <a:t>By segment</a:t>
            </a:r>
          </a:p>
        </p:txBody>
      </p:sp>
      <p:sp>
        <p:nvSpPr>
          <p:cNvPr id="22" name="TextBox 21"/>
          <p:cNvSpPr txBox="1"/>
          <p:nvPr/>
        </p:nvSpPr>
        <p:spPr>
          <a:xfrm>
            <a:off x="9930765" y="4293870"/>
            <a:ext cx="504137" cy="112318"/>
          </a:xfrm>
          <a:prstGeom prst="rect">
            <a:avLst/>
          </a:prstGeom>
          <a:noFill/>
        </p:spPr>
        <p:txBody>
          <a:bodyPr wrap="none" lIns="0" rIns="0" tIns="0" bIns="0">
            <a:spAutoFit/>
          </a:bodyPr>
          <a:lstStyle/>
          <a:p>
            <a:r>
              <a:rPr sz="611" b="1">
                <a:solidFill>
                  <a:srgbClr val="605E5C"/>
                </a:solidFill>
                <a:latin typeface="Segoe UI"/>
              </a:rPr>
              <a:t>By segment</a:t>
            </a:r>
          </a:p>
        </p:txBody>
      </p:sp>
      <p:sp>
        <p:nvSpPr>
          <p:cNvPr id="23" name="lockshield_10"/>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6"/>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Top 10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global market in 2036, highlighting the leading countries within each region by value</a:t>
            </a:r>
          </a:p>
        </p:txBody>
      </p:sp>
      <p:sp>
        <p:nvSpPr>
          <p:cNvPr id="8" name="Rectangle 7"/>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by country  ·  2036 (US$ Mn)  ·  tile size = market value</a:t>
            </a:r>
          </a:p>
        </p:txBody>
      </p:sp>
      <p:sp>
        <p:nvSpPr>
          <p:cNvPr id="10" name="Rectangle 9"/>
          <p:cNvSpPr/>
          <p:nvPr/>
        </p:nvSpPr>
        <p:spPr>
          <a:xfrm>
            <a:off x="238125" y="1266825"/>
            <a:ext cx="3090574"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 </a:t>
            </a:r>
          </a:p>
        </p:txBody>
      </p:sp>
      <p:sp>
        <p:nvSpPr>
          <p:cNvPr id="11" name="Rectangle 10"/>
          <p:cNvSpPr/>
          <p:nvPr/>
        </p:nvSpPr>
        <p:spPr>
          <a:xfrm>
            <a:off x="3328699" y="1266825"/>
            <a:ext cx="2888699" cy="2742291"/>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 </a:t>
            </a:r>
          </a:p>
        </p:txBody>
      </p:sp>
      <p:sp>
        <p:nvSpPr>
          <p:cNvPr id="12" name="Rectangle 11"/>
          <p:cNvSpPr/>
          <p:nvPr/>
        </p:nvSpPr>
        <p:spPr>
          <a:xfrm>
            <a:off x="3328699" y="4009116"/>
            <a:ext cx="2888699" cy="2563134"/>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 </a:t>
            </a:r>
          </a:p>
        </p:txBody>
      </p:sp>
      <p:sp>
        <p:nvSpPr>
          <p:cNvPr id="13" name="Rectangle 12"/>
          <p:cNvSpPr/>
          <p:nvPr/>
        </p:nvSpPr>
        <p:spPr>
          <a:xfrm>
            <a:off x="6217398" y="1266825"/>
            <a:ext cx="2359499" cy="3085160"/>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 </a:t>
            </a:r>
          </a:p>
        </p:txBody>
      </p:sp>
      <p:sp>
        <p:nvSpPr>
          <p:cNvPr id="14" name="Rectangle 13"/>
          <p:cNvSpPr/>
          <p:nvPr/>
        </p:nvSpPr>
        <p:spPr>
          <a:xfrm>
            <a:off x="6217398" y="4351985"/>
            <a:ext cx="2359499" cy="2220265"/>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Brazil</a:t>
            </a:r>
          </a:p>
          <a:p>
            <a:pPr algn="ctr"/>
            <a:r>
              <a:rPr sz="1100" b="0">
                <a:solidFill>
                  <a:srgbClr val="252423"/>
                </a:solidFill>
                <a:latin typeface="Segoe UI"/>
              </a:rPr>
              <a:t> </a:t>
            </a:r>
          </a:p>
        </p:txBody>
      </p:sp>
      <p:sp>
        <p:nvSpPr>
          <p:cNvPr id="15" name="Rectangle 14"/>
          <p:cNvSpPr/>
          <p:nvPr/>
        </p:nvSpPr>
        <p:spPr>
          <a:xfrm>
            <a:off x="8576896" y="1266825"/>
            <a:ext cx="2051777" cy="2540699"/>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 </a:t>
            </a:r>
          </a:p>
        </p:txBody>
      </p:sp>
      <p:sp>
        <p:nvSpPr>
          <p:cNvPr id="16" name="Rectangle 15"/>
          <p:cNvSpPr/>
          <p:nvPr/>
        </p:nvSpPr>
        <p:spPr>
          <a:xfrm>
            <a:off x="10628673" y="1266825"/>
            <a:ext cx="1325202" cy="2540699"/>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Kingdom of Saudi Arabia</a:t>
            </a:r>
          </a:p>
          <a:p>
            <a:pPr algn="ctr"/>
            <a:r>
              <a:rPr sz="1100" b="0">
                <a:solidFill>
                  <a:srgbClr val="252423"/>
                </a:solidFill>
                <a:latin typeface="Segoe UI"/>
              </a:rPr>
              <a:t> </a:t>
            </a:r>
          </a:p>
        </p:txBody>
      </p:sp>
      <p:sp>
        <p:nvSpPr>
          <p:cNvPr id="17" name="Rectangle 16"/>
          <p:cNvSpPr/>
          <p:nvPr/>
        </p:nvSpPr>
        <p:spPr>
          <a:xfrm>
            <a:off x="8576896" y="3807524"/>
            <a:ext cx="2286546" cy="1395738"/>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 </a:t>
            </a:r>
          </a:p>
        </p:txBody>
      </p:sp>
      <p:sp>
        <p:nvSpPr>
          <p:cNvPr id="18" name="Rectangle 17"/>
          <p:cNvSpPr/>
          <p:nvPr/>
        </p:nvSpPr>
        <p:spPr>
          <a:xfrm>
            <a:off x="8576896" y="5203263"/>
            <a:ext cx="2286546" cy="1368987"/>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 </a:t>
            </a:r>
          </a:p>
        </p:txBody>
      </p:sp>
      <p:sp>
        <p:nvSpPr>
          <p:cNvPr id="19" name="Rectangle 18"/>
          <p:cNvSpPr/>
          <p:nvPr/>
        </p:nvSpPr>
        <p:spPr>
          <a:xfrm>
            <a:off x="10863442" y="3807524"/>
            <a:ext cx="1090433" cy="2764726"/>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 </a:t>
            </a:r>
          </a:p>
        </p:txBody>
      </p:sp>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4"/>
          <a:stretch>
            <a:fillRect/>
          </a:stretch>
        </p:blipFill>
        <p:spPr>
          <a:xfrm>
            <a:off x="1628973"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4618610" y="2637970"/>
            <a:ext cx="308877" cy="449275"/>
          </a:xfrm>
          <a:prstGeom prst="rect">
            <a:avLst/>
          </a:prstGeom>
        </p:spPr>
      </p:pic>
      <p:pic>
        <p:nvPicPr>
          <p:cNvPr id="23" name="Picture 22" descr="lock.png"/>
          <p:cNvPicPr>
            <a:picLocks noChangeAspect="1"/>
          </p:cNvPicPr>
          <p:nvPr/>
        </p:nvPicPr>
        <p:blipFill>
          <a:blip r:embed="rId4"/>
          <a:stretch>
            <a:fillRect/>
          </a:stretch>
        </p:blipFill>
        <p:spPr>
          <a:xfrm>
            <a:off x="4618610" y="5290683"/>
            <a:ext cx="308877" cy="449275"/>
          </a:xfrm>
          <a:prstGeom prst="rect">
            <a:avLst/>
          </a:prstGeom>
        </p:spPr>
      </p:pic>
      <p:pic>
        <p:nvPicPr>
          <p:cNvPr id="24" name="Picture 23" descr="lock.png"/>
          <p:cNvPicPr>
            <a:picLocks noChangeAspect="1"/>
          </p:cNvPicPr>
          <p:nvPr/>
        </p:nvPicPr>
        <p:blipFill>
          <a:blip r:embed="rId4"/>
          <a:stretch>
            <a:fillRect/>
          </a:stretch>
        </p:blipFill>
        <p:spPr>
          <a:xfrm>
            <a:off x="7242709" y="2809405"/>
            <a:ext cx="308877" cy="449275"/>
          </a:xfrm>
          <a:prstGeom prst="rect">
            <a:avLst/>
          </a:prstGeom>
        </p:spPr>
      </p:pic>
      <p:pic>
        <p:nvPicPr>
          <p:cNvPr id="25" name="Picture 24" descr="lock.png"/>
          <p:cNvPicPr>
            <a:picLocks noChangeAspect="1"/>
          </p:cNvPicPr>
          <p:nvPr/>
        </p:nvPicPr>
        <p:blipFill>
          <a:blip r:embed="rId4"/>
          <a:stretch>
            <a:fillRect/>
          </a:stretch>
        </p:blipFill>
        <p:spPr>
          <a:xfrm>
            <a:off x="7242709" y="5462117"/>
            <a:ext cx="308877" cy="449275"/>
          </a:xfrm>
          <a:prstGeom prst="rect">
            <a:avLst/>
          </a:prstGeom>
        </p:spPr>
      </p:pic>
      <p:pic>
        <p:nvPicPr>
          <p:cNvPr id="26" name="Picture 25" descr="lock.png"/>
          <p:cNvPicPr>
            <a:picLocks noChangeAspect="1"/>
          </p:cNvPicPr>
          <p:nvPr/>
        </p:nvPicPr>
        <p:blipFill>
          <a:blip r:embed="rId4"/>
          <a:stretch>
            <a:fillRect/>
          </a:stretch>
        </p:blipFill>
        <p:spPr>
          <a:xfrm>
            <a:off x="9448346" y="2537174"/>
            <a:ext cx="308877" cy="449275"/>
          </a:xfrm>
          <a:prstGeom prst="rect">
            <a:avLst/>
          </a:prstGeom>
        </p:spPr>
      </p:pic>
      <p:pic>
        <p:nvPicPr>
          <p:cNvPr id="27" name="Picture 26" descr="lock.png"/>
          <p:cNvPicPr>
            <a:picLocks noChangeAspect="1"/>
          </p:cNvPicPr>
          <p:nvPr/>
        </p:nvPicPr>
        <p:blipFill>
          <a:blip r:embed="rId4"/>
          <a:stretch>
            <a:fillRect/>
          </a:stretch>
        </p:blipFill>
        <p:spPr>
          <a:xfrm>
            <a:off x="11136835" y="2537174"/>
            <a:ext cx="308877" cy="449275"/>
          </a:xfrm>
          <a:prstGeom prst="rect">
            <a:avLst/>
          </a:prstGeom>
        </p:spPr>
      </p:pic>
      <p:pic>
        <p:nvPicPr>
          <p:cNvPr id="28" name="Picture 27" descr="lock.png"/>
          <p:cNvPicPr>
            <a:picLocks noChangeAspect="1"/>
          </p:cNvPicPr>
          <p:nvPr/>
        </p:nvPicPr>
        <p:blipFill>
          <a:blip r:embed="rId4"/>
          <a:stretch>
            <a:fillRect/>
          </a:stretch>
        </p:blipFill>
        <p:spPr>
          <a:xfrm>
            <a:off x="9565730" y="4505393"/>
            <a:ext cx="308877" cy="449275"/>
          </a:xfrm>
          <a:prstGeom prst="rect">
            <a:avLst/>
          </a:prstGeom>
        </p:spPr>
      </p:pic>
      <p:pic>
        <p:nvPicPr>
          <p:cNvPr id="29" name="Picture 28" descr="lock.png"/>
          <p:cNvPicPr>
            <a:picLocks noChangeAspect="1"/>
          </p:cNvPicPr>
          <p:nvPr/>
        </p:nvPicPr>
        <p:blipFill>
          <a:blip r:embed="rId4"/>
          <a:stretch>
            <a:fillRect/>
          </a:stretch>
        </p:blipFill>
        <p:spPr>
          <a:xfrm>
            <a:off x="9565730" y="5887756"/>
            <a:ext cx="308877" cy="449275"/>
          </a:xfrm>
          <a:prstGeom prst="rect">
            <a:avLst/>
          </a:prstGeom>
        </p:spPr>
      </p:pic>
      <p:pic>
        <p:nvPicPr>
          <p:cNvPr id="30" name="Picture 29" descr="lock.png"/>
          <p:cNvPicPr>
            <a:picLocks noChangeAspect="1"/>
          </p:cNvPicPr>
          <p:nvPr/>
        </p:nvPicPr>
        <p:blipFill>
          <a:blip r:embed="rId4"/>
          <a:stretch>
            <a:fillRect/>
          </a:stretch>
        </p:blipFill>
        <p:spPr>
          <a:xfrm>
            <a:off x="11254220" y="5189887"/>
            <a:ext cx="308877" cy="449275"/>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Global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Supply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Product 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Product Form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Product Form,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Product Form segment categorizes the market by product form.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Gaseous Helium-3</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Liquid Helium-3</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Product Form split shows how demand is distributed across product form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7_362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2_763_605E5C.png"/>
          <p:cNvPicPr>
            <a:picLocks noChangeAspect="1"/>
          </p:cNvPicPr>
          <p:nvPr/>
        </p:nvPicPr>
        <p:blipFill>
          <a:blip r:embed="rId5"/>
          <a:stretch>
            <a:fillRect/>
          </a:stretch>
        </p:blipFill>
        <p:spPr>
          <a:xfrm>
            <a:off x="3634127" y="2779432"/>
            <a:ext cx="1409020" cy="361950"/>
          </a:xfrm>
          <a:prstGeom prst="rect">
            <a:avLst/>
          </a:prstGeom>
        </p:spPr>
      </p:pic>
      <p:pic>
        <p:nvPicPr>
          <p:cNvPr id="49" name="Picture 48" descr="5_7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3_538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4_982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3_5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758569" cy="186689"/>
          </a:xfrm>
          <a:prstGeom prst="rect">
            <a:avLst/>
          </a:prstGeom>
          <a:noFill/>
        </p:spPr>
        <p:txBody>
          <a:bodyPr wrap="none" lIns="0" rIns="0" tIns="0" bIns="0">
            <a:spAutoFit/>
          </a:bodyPr>
          <a:lstStyle/>
          <a:p>
            <a:r>
              <a:rPr sz="1100" b="0">
                <a:solidFill>
                  <a:srgbClr val="252423"/>
                </a:solidFill>
                <a:latin typeface="Segoe UI"/>
              </a:rPr>
              <a:t>Among Helium-3 by product form, gaseous</a:t>
            </a:r>
          </a:p>
        </p:txBody>
      </p:sp>
      <p:sp>
        <p:nvSpPr>
          <p:cNvPr id="56" name="TextBox 55"/>
          <p:cNvSpPr txBox="1"/>
          <p:nvPr/>
        </p:nvSpPr>
        <p:spPr>
          <a:xfrm>
            <a:off x="485775" y="4397077"/>
            <a:ext cx="2846154" cy="186689"/>
          </a:xfrm>
          <a:prstGeom prst="rect">
            <a:avLst/>
          </a:prstGeom>
          <a:noFill/>
        </p:spPr>
        <p:txBody>
          <a:bodyPr wrap="none" lIns="0" rIns="0" tIns="0" bIns="0">
            <a:spAutoFit/>
          </a:bodyPr>
          <a:lstStyle/>
          <a:p>
            <a:r>
              <a:rPr sz="1100" b="0">
                <a:solidFill>
                  <a:srgbClr val="252423"/>
                </a:solidFill>
                <a:latin typeface="Segoe UI"/>
              </a:rPr>
              <a:t>Helium-3 segment is expected to witness the</a:t>
            </a:r>
          </a:p>
        </p:txBody>
      </p:sp>
      <p:sp>
        <p:nvSpPr>
          <p:cNvPr id="57" name="TextBox 56"/>
          <p:cNvSpPr txBox="1"/>
          <p:nvPr/>
        </p:nvSpPr>
        <p:spPr>
          <a:xfrm>
            <a:off x="485775" y="4564717"/>
            <a:ext cx="1088138" cy="186689"/>
          </a:xfrm>
          <a:prstGeom prst="rect">
            <a:avLst/>
          </a:prstGeom>
          <a:noFill/>
        </p:spPr>
        <p:txBody>
          <a:bodyPr wrap="none" lIns="0" rIns="0" tIns="0" bIns="0">
            <a:spAutoFit/>
          </a:bodyPr>
          <a:lstStyle/>
          <a:p>
            <a:r>
              <a:rPr sz="1100" b="0">
                <a:solidFill>
                  <a:srgbClr val="252423"/>
                </a:solidFill>
                <a:latin typeface="Segoe UI"/>
              </a:rPr>
              <a:t>highest CAGR of</a:t>
            </a:r>
          </a:p>
        </p:txBody>
      </p:sp>
      <p:pic>
        <p:nvPicPr>
          <p:cNvPr id="58" name="Picture 57" descr="lock.png"/>
          <p:cNvPicPr>
            <a:picLocks noChangeAspect="1"/>
          </p:cNvPicPr>
          <p:nvPr/>
        </p:nvPicPr>
        <p:blipFill>
          <a:blip r:embed="rId10"/>
          <a:stretch>
            <a:fillRect/>
          </a:stretch>
        </p:blipFill>
        <p:spPr>
          <a:xfrm>
            <a:off x="1521964" y="4554938"/>
            <a:ext cx="128699" cy="187198"/>
          </a:xfrm>
          <a:prstGeom prst="rect">
            <a:avLst/>
          </a:prstGeom>
        </p:spPr>
      </p:pic>
      <p:sp>
        <p:nvSpPr>
          <p:cNvPr id="59" name="TextBox 58"/>
          <p:cNvSpPr txBox="1"/>
          <p:nvPr/>
        </p:nvSpPr>
        <p:spPr>
          <a:xfrm>
            <a:off x="1689460" y="4564717"/>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60" name="TextBox 59"/>
          <p:cNvSpPr txBox="1"/>
          <p:nvPr/>
        </p:nvSpPr>
        <p:spPr>
          <a:xfrm>
            <a:off x="485775" y="4732357"/>
            <a:ext cx="2787909" cy="186689"/>
          </a:xfrm>
          <a:prstGeom prst="rect">
            <a:avLst/>
          </a:prstGeom>
          <a:noFill/>
        </p:spPr>
        <p:txBody>
          <a:bodyPr wrap="none" lIns="0" rIns="0" tIns="0" bIns="0">
            <a:spAutoFit/>
          </a:bodyPr>
          <a:lstStyle/>
          <a:p>
            <a:r>
              <a:rPr sz="1100" b="0">
                <a:solidFill>
                  <a:srgbClr val="252423"/>
                </a:solidFill>
                <a:latin typeface="Segoe UI"/>
              </a:rPr>
              <a:t>In terms of value share by product form, the</a:t>
            </a:r>
          </a:p>
        </p:txBody>
      </p:sp>
      <p:sp>
        <p:nvSpPr>
          <p:cNvPr id="61" name="TextBox 60"/>
          <p:cNvSpPr txBox="1"/>
          <p:nvPr/>
        </p:nvSpPr>
        <p:spPr>
          <a:xfrm>
            <a:off x="485775" y="4899997"/>
            <a:ext cx="2661434" cy="186689"/>
          </a:xfrm>
          <a:prstGeom prst="rect">
            <a:avLst/>
          </a:prstGeom>
          <a:noFill/>
        </p:spPr>
        <p:txBody>
          <a:bodyPr wrap="none" lIns="0" rIns="0" tIns="0" bIns="0">
            <a:spAutoFit/>
          </a:bodyPr>
          <a:lstStyle/>
          <a:p>
            <a:r>
              <a:rPr sz="1100" b="0">
                <a:solidFill>
                  <a:srgbClr val="252423"/>
                </a:solidFill>
                <a:latin typeface="Segoe UI"/>
              </a:rPr>
              <a:t>gaseous Helium-3 segment is expected to</a:t>
            </a:r>
          </a:p>
        </p:txBody>
      </p:sp>
      <p:sp>
        <p:nvSpPr>
          <p:cNvPr id="62" name="TextBox 61"/>
          <p:cNvSpPr txBox="1"/>
          <p:nvPr/>
        </p:nvSpPr>
        <p:spPr>
          <a:xfrm>
            <a:off x="485775" y="5067637"/>
            <a:ext cx="1902335" cy="186689"/>
          </a:xfrm>
          <a:prstGeom prst="rect">
            <a:avLst/>
          </a:prstGeom>
          <a:noFill/>
        </p:spPr>
        <p:txBody>
          <a:bodyPr wrap="none" lIns="0" rIns="0" tIns="0" bIns="0">
            <a:spAutoFit/>
          </a:bodyPr>
          <a:lstStyle/>
          <a:p>
            <a:r>
              <a:rPr sz="1100" b="0">
                <a:solidFill>
                  <a:srgbClr val="252423"/>
                </a:solidFill>
                <a:latin typeface="Segoe UI"/>
              </a:rPr>
              <a:t>dominate the market, gaining</a:t>
            </a:r>
          </a:p>
        </p:txBody>
      </p:sp>
      <p:pic>
        <p:nvPicPr>
          <p:cNvPr id="63" name="Picture 62" descr="lock.png"/>
          <p:cNvPicPr>
            <a:picLocks noChangeAspect="1"/>
          </p:cNvPicPr>
          <p:nvPr/>
        </p:nvPicPr>
        <p:blipFill>
          <a:blip r:embed="rId10"/>
          <a:stretch>
            <a:fillRect/>
          </a:stretch>
        </p:blipFill>
        <p:spPr>
          <a:xfrm>
            <a:off x="2336162" y="5057858"/>
            <a:ext cx="128699" cy="187198"/>
          </a:xfrm>
          <a:prstGeom prst="rect">
            <a:avLst/>
          </a:prstGeom>
        </p:spPr>
      </p:pic>
      <p:sp>
        <p:nvSpPr>
          <p:cNvPr id="64" name="TextBox 63"/>
          <p:cNvSpPr txBox="1"/>
          <p:nvPr/>
        </p:nvSpPr>
        <p:spPr>
          <a:xfrm>
            <a:off x="2503658" y="5067637"/>
            <a:ext cx="579883" cy="186689"/>
          </a:xfrm>
          <a:prstGeom prst="rect">
            <a:avLst/>
          </a:prstGeom>
          <a:noFill/>
        </p:spPr>
        <p:txBody>
          <a:bodyPr wrap="none" lIns="0" rIns="0" tIns="0" bIns="0">
            <a:spAutoFit/>
          </a:bodyPr>
          <a:lstStyle/>
          <a:p>
            <a:r>
              <a:rPr sz="1100" b="0">
                <a:solidFill>
                  <a:srgbClr val="252423"/>
                </a:solidFill>
                <a:latin typeface="Segoe UI"/>
              </a:rPr>
              <a:t>BPS and</a:t>
            </a:r>
          </a:p>
        </p:txBody>
      </p:sp>
      <p:sp>
        <p:nvSpPr>
          <p:cNvPr id="65" name="TextBox 64"/>
          <p:cNvSpPr txBox="1"/>
          <p:nvPr/>
        </p:nvSpPr>
        <p:spPr>
          <a:xfrm>
            <a:off x="485775" y="5235277"/>
            <a:ext cx="971971" cy="186689"/>
          </a:xfrm>
          <a:prstGeom prst="rect">
            <a:avLst/>
          </a:prstGeom>
          <a:noFill/>
        </p:spPr>
        <p:txBody>
          <a:bodyPr wrap="none" lIns="0" rIns="0" tIns="0" bIns="0">
            <a:spAutoFit/>
          </a:bodyPr>
          <a:lstStyle/>
          <a:p>
            <a:r>
              <a:rPr sz="1100" b="0">
                <a:solidFill>
                  <a:srgbClr val="252423"/>
                </a:solidFill>
                <a:latin typeface="Segoe UI"/>
              </a:rPr>
              <a:t>accounting for</a:t>
            </a:r>
          </a:p>
        </p:txBody>
      </p:sp>
      <p:pic>
        <p:nvPicPr>
          <p:cNvPr id="66" name="Picture 65" descr="lock.png"/>
          <p:cNvPicPr>
            <a:picLocks noChangeAspect="1"/>
          </p:cNvPicPr>
          <p:nvPr/>
        </p:nvPicPr>
        <p:blipFill>
          <a:blip r:embed="rId10"/>
          <a:stretch>
            <a:fillRect/>
          </a:stretch>
        </p:blipFill>
        <p:spPr>
          <a:xfrm>
            <a:off x="1405798" y="5225498"/>
            <a:ext cx="128699" cy="187198"/>
          </a:xfrm>
          <a:prstGeom prst="rect">
            <a:avLst/>
          </a:prstGeom>
        </p:spPr>
      </p:pic>
      <p:sp>
        <p:nvSpPr>
          <p:cNvPr id="67" name="TextBox 66"/>
          <p:cNvSpPr txBox="1"/>
          <p:nvPr/>
        </p:nvSpPr>
        <p:spPr>
          <a:xfrm>
            <a:off x="1573294" y="5235277"/>
            <a:ext cx="965120" cy="186689"/>
          </a:xfrm>
          <a:prstGeom prst="rect">
            <a:avLst/>
          </a:prstGeom>
          <a:noFill/>
        </p:spPr>
        <p:txBody>
          <a:bodyPr wrap="none" lIns="0" rIns="0" tIns="0" bIns="0">
            <a:spAutoFit/>
          </a:bodyPr>
          <a:lstStyle/>
          <a:p>
            <a:r>
              <a:rPr sz="1100" b="0">
                <a:solidFill>
                  <a:srgbClr val="252423"/>
                </a:solidFill>
                <a:latin typeface="Segoe UI"/>
              </a:rPr>
              <a:t>share by 2036.</a:t>
            </a:r>
          </a:p>
        </p:txBody>
      </p:sp>
      <p:sp>
        <p:nvSpPr>
          <p:cNvPr id="68" name="TextBox 67"/>
          <p:cNvSpPr txBox="1"/>
          <p:nvPr/>
        </p:nvSpPr>
        <p:spPr>
          <a:xfrm>
            <a:off x="485775" y="5453209"/>
            <a:ext cx="2701786" cy="186689"/>
          </a:xfrm>
          <a:prstGeom prst="rect">
            <a:avLst/>
          </a:prstGeom>
          <a:noFill/>
        </p:spPr>
        <p:txBody>
          <a:bodyPr wrap="none" lIns="0" rIns="0" tIns="0" bIns="0">
            <a:spAutoFit/>
          </a:bodyPr>
          <a:lstStyle/>
          <a:p>
            <a:r>
              <a:rPr sz="1100" b="0">
                <a:solidFill>
                  <a:srgbClr val="252423"/>
                </a:solidFill>
                <a:latin typeface="Segoe UI"/>
              </a:rPr>
              <a:t>Gaseous Helium-3 segment is projected to</a:t>
            </a:r>
          </a:p>
        </p:txBody>
      </p:sp>
      <p:sp>
        <p:nvSpPr>
          <p:cNvPr id="69" name="TextBox 68"/>
          <p:cNvSpPr txBox="1"/>
          <p:nvPr/>
        </p:nvSpPr>
        <p:spPr>
          <a:xfrm>
            <a:off x="485775" y="5620849"/>
            <a:ext cx="542456" cy="186689"/>
          </a:xfrm>
          <a:prstGeom prst="rect">
            <a:avLst/>
          </a:prstGeom>
          <a:noFill/>
        </p:spPr>
        <p:txBody>
          <a:bodyPr wrap="none" lIns="0" rIns="0" tIns="0" bIns="0">
            <a:spAutoFit/>
          </a:bodyPr>
          <a:lstStyle/>
          <a:p>
            <a:r>
              <a:rPr sz="1100" b="0">
                <a:solidFill>
                  <a:srgbClr val="252423"/>
                </a:solidFill>
                <a:latin typeface="Segoe UI"/>
              </a:rPr>
              <a:t>register</a:t>
            </a:r>
          </a:p>
        </p:txBody>
      </p:sp>
      <p:pic>
        <p:nvPicPr>
          <p:cNvPr id="70" name="Picture 69" descr="lock.png"/>
          <p:cNvPicPr>
            <a:picLocks noChangeAspect="1"/>
          </p:cNvPicPr>
          <p:nvPr/>
        </p:nvPicPr>
        <p:blipFill>
          <a:blip r:embed="rId10"/>
          <a:stretch>
            <a:fillRect/>
          </a:stretch>
        </p:blipFill>
        <p:spPr>
          <a:xfrm>
            <a:off x="976283" y="5611070"/>
            <a:ext cx="128699" cy="187198"/>
          </a:xfrm>
          <a:prstGeom prst="rect">
            <a:avLst/>
          </a:prstGeom>
        </p:spPr>
      </p:pic>
      <p:sp>
        <p:nvSpPr>
          <p:cNvPr id="71" name="TextBox 70"/>
          <p:cNvSpPr txBox="1"/>
          <p:nvPr/>
        </p:nvSpPr>
        <p:spPr>
          <a:xfrm>
            <a:off x="1143778" y="5620849"/>
            <a:ext cx="1654062" cy="186689"/>
          </a:xfrm>
          <a:prstGeom prst="rect">
            <a:avLst/>
          </a:prstGeom>
          <a:noFill/>
        </p:spPr>
        <p:txBody>
          <a:bodyPr wrap="none" lIns="0" rIns="0" tIns="0" bIns="0">
            <a:spAutoFit/>
          </a:bodyPr>
          <a:lstStyle/>
          <a:p>
            <a:r>
              <a:rPr sz="1100" b="0">
                <a:solidFill>
                  <a:srgbClr val="252423"/>
                </a:solidFill>
                <a:latin typeface="Segoe UI"/>
              </a:rPr>
              <a:t>X higher value than liquid</a:t>
            </a:r>
          </a:p>
        </p:txBody>
      </p:sp>
      <p:sp>
        <p:nvSpPr>
          <p:cNvPr id="72" name="TextBox 71"/>
          <p:cNvSpPr txBox="1"/>
          <p:nvPr/>
        </p:nvSpPr>
        <p:spPr>
          <a:xfrm>
            <a:off x="485775" y="5788489"/>
            <a:ext cx="1740867" cy="186689"/>
          </a:xfrm>
          <a:prstGeom prst="rect">
            <a:avLst/>
          </a:prstGeom>
          <a:noFill/>
        </p:spPr>
        <p:txBody>
          <a:bodyPr wrap="none" lIns="0" rIns="0" tIns="0" bIns="0">
            <a:spAutoFit/>
          </a:bodyPr>
          <a:lstStyle/>
          <a:p>
            <a:r>
              <a:rPr sz="1100" b="0">
                <a:solidFill>
                  <a:srgbClr val="252423"/>
                </a:solidFill>
                <a:latin typeface="Segoe UI"/>
              </a:rPr>
              <a:t>Helium-3 segment in 2036.</a:t>
            </a:r>
          </a:p>
        </p:txBody>
      </p:sp>
      <p:sp>
        <p:nvSpPr>
          <p:cNvPr id="73" name="TextBox 72"/>
          <p:cNvSpPr txBox="1"/>
          <p:nvPr/>
        </p:nvSpPr>
        <p:spPr>
          <a:xfrm>
            <a:off x="3838575" y="4229437"/>
            <a:ext cx="1357510" cy="186689"/>
          </a:xfrm>
          <a:prstGeom prst="rect">
            <a:avLst/>
          </a:prstGeom>
          <a:noFill/>
        </p:spPr>
        <p:txBody>
          <a:bodyPr wrap="none" lIns="0" rIns="0" tIns="0" bIns="0">
            <a:spAutoFit/>
          </a:bodyPr>
          <a:lstStyle/>
          <a:p>
            <a:r>
              <a:rPr sz="1100" b="0">
                <a:solidFill>
                  <a:srgbClr val="252423"/>
                </a:solidFill>
                <a:latin typeface="Segoe UI"/>
              </a:rPr>
              <a:t>● Gaseous Helium-3:</a:t>
            </a:r>
          </a:p>
        </p:txBody>
      </p:sp>
      <p:pic>
        <p:nvPicPr>
          <p:cNvPr id="74" name="Picture 73" descr="lock.png"/>
          <p:cNvPicPr>
            <a:picLocks noChangeAspect="1"/>
          </p:cNvPicPr>
          <p:nvPr/>
        </p:nvPicPr>
        <p:blipFill>
          <a:blip r:embed="rId10"/>
          <a:stretch>
            <a:fillRect/>
          </a:stretch>
        </p:blipFill>
        <p:spPr>
          <a:xfrm>
            <a:off x="5144137" y="4219658"/>
            <a:ext cx="128699" cy="187198"/>
          </a:xfrm>
          <a:prstGeom prst="rect">
            <a:avLst/>
          </a:prstGeom>
        </p:spPr>
      </p:pic>
      <p:sp>
        <p:nvSpPr>
          <p:cNvPr id="75" name="TextBox 74"/>
          <p:cNvSpPr txBox="1"/>
          <p:nvPr/>
        </p:nvSpPr>
        <p:spPr>
          <a:xfrm>
            <a:off x="5311633"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10"/>
          <a:stretch>
            <a:fillRect/>
          </a:stretch>
        </p:blipFill>
        <p:spPr>
          <a:xfrm>
            <a:off x="6231579" y="4219658"/>
            <a:ext cx="128699" cy="187198"/>
          </a:xfrm>
          <a:prstGeom prst="rect">
            <a:avLst/>
          </a:prstGeom>
        </p:spPr>
      </p:pic>
      <p:sp>
        <p:nvSpPr>
          <p:cNvPr id="77" name="TextBox 76"/>
          <p:cNvSpPr txBox="1"/>
          <p:nvPr/>
        </p:nvSpPr>
        <p:spPr>
          <a:xfrm>
            <a:off x="6399075" y="4229437"/>
            <a:ext cx="1027876" cy="186689"/>
          </a:xfrm>
          <a:prstGeom prst="rect">
            <a:avLst/>
          </a:prstGeom>
          <a:noFill/>
        </p:spPr>
        <p:txBody>
          <a:bodyPr wrap="none" lIns="0" rIns="0" tIns="0" bIns="0">
            <a:spAutoFit/>
          </a:bodyPr>
          <a:lstStyle/>
          <a:p>
            <a:r>
              <a:rPr sz="1100" b="0">
                <a:solidFill>
                  <a:srgbClr val="252423"/>
                </a:solidFill>
                <a:latin typeface="Segoe UI"/>
              </a:rPr>
              <a:t>CAGR leads the</a:t>
            </a:r>
          </a:p>
        </p:txBody>
      </p:sp>
      <p:sp>
        <p:nvSpPr>
          <p:cNvPr id="78" name="TextBox 77"/>
          <p:cNvSpPr txBox="1"/>
          <p:nvPr/>
        </p:nvSpPr>
        <p:spPr>
          <a:xfrm>
            <a:off x="3838575" y="4397077"/>
            <a:ext cx="641275" cy="186689"/>
          </a:xfrm>
          <a:prstGeom prst="rect">
            <a:avLst/>
          </a:prstGeom>
          <a:noFill/>
        </p:spPr>
        <p:txBody>
          <a:bodyPr wrap="none" lIns="0" rIns="0" tIns="0" bIns="0">
            <a:spAutoFit/>
          </a:bodyPr>
          <a:lstStyle/>
          <a:p>
            <a:r>
              <a:rPr sz="1100" b="0">
                <a:solidFill>
                  <a:srgbClr val="252423"/>
                </a:solidFill>
                <a:latin typeface="Segoe UI"/>
              </a:rPr>
              <a:t>segment.</a:t>
            </a:r>
          </a:p>
        </p:txBody>
      </p:sp>
      <p:sp>
        <p:nvSpPr>
          <p:cNvPr id="79" name="TextBox 78"/>
          <p:cNvSpPr txBox="1"/>
          <p:nvPr/>
        </p:nvSpPr>
        <p:spPr>
          <a:xfrm>
            <a:off x="3838575" y="4615009"/>
            <a:ext cx="1215355" cy="186689"/>
          </a:xfrm>
          <a:prstGeom prst="rect">
            <a:avLst/>
          </a:prstGeom>
          <a:noFill/>
        </p:spPr>
        <p:txBody>
          <a:bodyPr wrap="none" lIns="0" rIns="0" tIns="0" bIns="0">
            <a:spAutoFit/>
          </a:bodyPr>
          <a:lstStyle/>
          <a:p>
            <a:r>
              <a:rPr sz="1100" b="0">
                <a:solidFill>
                  <a:srgbClr val="252423"/>
                </a:solidFill>
                <a:latin typeface="Segoe UI"/>
              </a:rPr>
              <a:t>● Liquid Helium-3:</a:t>
            </a:r>
          </a:p>
        </p:txBody>
      </p:sp>
      <p:pic>
        <p:nvPicPr>
          <p:cNvPr id="80" name="Picture 79" descr="lock.png"/>
          <p:cNvPicPr>
            <a:picLocks noChangeAspect="1"/>
          </p:cNvPicPr>
          <p:nvPr/>
        </p:nvPicPr>
        <p:blipFill>
          <a:blip r:embed="rId10"/>
          <a:stretch>
            <a:fillRect/>
          </a:stretch>
        </p:blipFill>
        <p:spPr>
          <a:xfrm>
            <a:off x="5001981" y="4605230"/>
            <a:ext cx="128699" cy="187198"/>
          </a:xfrm>
          <a:prstGeom prst="rect">
            <a:avLst/>
          </a:prstGeom>
        </p:spPr>
      </p:pic>
      <p:sp>
        <p:nvSpPr>
          <p:cNvPr id="81" name="TextBox 80"/>
          <p:cNvSpPr txBox="1"/>
          <p:nvPr/>
        </p:nvSpPr>
        <p:spPr>
          <a:xfrm>
            <a:off x="5169477"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6089424" y="4605230"/>
            <a:ext cx="128699" cy="187198"/>
          </a:xfrm>
          <a:prstGeom prst="rect">
            <a:avLst/>
          </a:prstGeom>
        </p:spPr>
      </p:pic>
      <p:sp>
        <p:nvSpPr>
          <p:cNvPr id="83" name="TextBox 82"/>
          <p:cNvSpPr txBox="1"/>
          <p:nvPr/>
        </p:nvSpPr>
        <p:spPr>
          <a:xfrm>
            <a:off x="6256920" y="4615009"/>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84" name="TextBox 83"/>
          <p:cNvSpPr txBox="1"/>
          <p:nvPr/>
        </p:nvSpPr>
        <p:spPr>
          <a:xfrm>
            <a:off x="8524875" y="5842641"/>
            <a:ext cx="2968928" cy="194310"/>
          </a:xfrm>
          <a:prstGeom prst="rect">
            <a:avLst/>
          </a:prstGeom>
          <a:noFill/>
        </p:spPr>
        <p:txBody>
          <a:bodyPr wrap="none" lIns="0" rIns="0" tIns="0" bIns="0">
            <a:spAutoFit/>
          </a:bodyPr>
          <a:lstStyle/>
          <a:p>
            <a:r>
              <a:rPr sz="1150" b="1">
                <a:solidFill>
                  <a:srgbClr val="0E3A5F"/>
                </a:solidFill>
                <a:latin typeface="Segoe UI"/>
              </a:rPr>
              <a:t>The Product Form segment is projected to</a:t>
            </a:r>
          </a:p>
        </p:txBody>
      </p:sp>
      <p:sp>
        <p:nvSpPr>
          <p:cNvPr id="85" name="TextBox 84"/>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86" name="Picture 85" descr="lock.png"/>
          <p:cNvPicPr>
            <a:picLocks noChangeAspect="1"/>
          </p:cNvPicPr>
          <p:nvPr/>
        </p:nvPicPr>
        <p:blipFill>
          <a:blip r:embed="rId10"/>
          <a:stretch>
            <a:fillRect/>
          </a:stretch>
        </p:blipFill>
        <p:spPr>
          <a:xfrm>
            <a:off x="9817830" y="6007677"/>
            <a:ext cx="134549" cy="195707"/>
          </a:xfrm>
          <a:prstGeom prst="rect">
            <a:avLst/>
          </a:prstGeom>
        </p:spPr>
      </p:pic>
      <p:sp>
        <p:nvSpPr>
          <p:cNvPr id="87" name="TextBox 86"/>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Product Form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Product Form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Product Form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Product Form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597020" cy="186689"/>
          </a:xfrm>
          <a:prstGeom prst="rect">
            <a:avLst/>
          </a:prstGeom>
          <a:noFill/>
        </p:spPr>
        <p:txBody>
          <a:bodyPr wrap="none" lIns="0" rIns="0" tIns="0" bIns="0">
            <a:spAutoFit/>
          </a:bodyPr>
          <a:lstStyle/>
          <a:p>
            <a:r>
              <a:rPr sz="1100" b="0">
                <a:solidFill>
                  <a:srgbClr val="252423"/>
                </a:solidFill>
                <a:latin typeface="Segoe UI"/>
              </a:rPr>
              <a:t>Gaseous Helium-3 followed by liquid Helium-3 are expected to be the two most attractive product form segments in the global Helium-3 market in terms of value over the forecast period.</a:t>
            </a:r>
          </a:p>
        </p:txBody>
      </p:sp>
      <p:sp>
        <p:nvSpPr>
          <p:cNvPr id="18" name="TextBox 17"/>
          <p:cNvSpPr txBox="1"/>
          <p:nvPr/>
        </p:nvSpPr>
        <p:spPr>
          <a:xfrm>
            <a:off x="257175" y="5945505"/>
            <a:ext cx="3957990" cy="186689"/>
          </a:xfrm>
          <a:prstGeom prst="rect">
            <a:avLst/>
          </a:prstGeom>
          <a:noFill/>
        </p:spPr>
        <p:txBody>
          <a:bodyPr wrap="none" lIns="0" rIns="0" tIns="0" bIns="0">
            <a:spAutoFit/>
          </a:bodyPr>
          <a:lstStyle/>
          <a:p>
            <a:r>
              <a:rPr sz="1100" b="0">
                <a:solidFill>
                  <a:srgbClr val="252423"/>
                </a:solidFill>
                <a:latin typeface="Segoe UI"/>
              </a:rPr>
              <a:t>Gaseous Helium-3 and liquid Helium-3 exhibit a CAGR index of</a:t>
            </a:r>
          </a:p>
        </p:txBody>
      </p:sp>
      <p:pic>
        <p:nvPicPr>
          <p:cNvPr id="19" name="Picture 18" descr="lock.png"/>
          <p:cNvPicPr>
            <a:picLocks noChangeAspect="1"/>
          </p:cNvPicPr>
          <p:nvPr/>
        </p:nvPicPr>
        <p:blipFill>
          <a:blip r:embed="rId6"/>
          <a:stretch>
            <a:fillRect/>
          </a:stretch>
        </p:blipFill>
        <p:spPr>
          <a:xfrm>
            <a:off x="4163217" y="5935726"/>
            <a:ext cx="128699" cy="187198"/>
          </a:xfrm>
          <a:prstGeom prst="rect">
            <a:avLst/>
          </a:prstGeom>
        </p:spPr>
      </p:pic>
      <p:sp>
        <p:nvSpPr>
          <p:cNvPr id="20" name="TextBox 19"/>
          <p:cNvSpPr txBox="1"/>
          <p:nvPr/>
        </p:nvSpPr>
        <p:spPr>
          <a:xfrm>
            <a:off x="4330713"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4587707" y="5935726"/>
            <a:ext cx="128699" cy="187198"/>
          </a:xfrm>
          <a:prstGeom prst="rect">
            <a:avLst/>
          </a:prstGeom>
        </p:spPr>
      </p:pic>
      <p:sp>
        <p:nvSpPr>
          <p:cNvPr id="22" name="TextBox 21"/>
          <p:cNvSpPr txBox="1"/>
          <p:nvPr/>
        </p:nvSpPr>
        <p:spPr>
          <a:xfrm>
            <a:off x="4755203" y="594550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6493943" y="5935726"/>
            <a:ext cx="128699" cy="187198"/>
          </a:xfrm>
          <a:prstGeom prst="rect">
            <a:avLst/>
          </a:prstGeom>
        </p:spPr>
      </p:pic>
      <p:sp>
        <p:nvSpPr>
          <p:cNvPr id="24" name="TextBox 23"/>
          <p:cNvSpPr txBox="1"/>
          <p:nvPr/>
        </p:nvSpPr>
        <p:spPr>
          <a:xfrm>
            <a:off x="6661438"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6918432" y="5935726"/>
            <a:ext cx="128699" cy="187198"/>
          </a:xfrm>
          <a:prstGeom prst="rect">
            <a:avLst/>
          </a:prstGeom>
        </p:spPr>
      </p:pic>
      <p:sp>
        <p:nvSpPr>
          <p:cNvPr id="26" name="TextBox 25"/>
          <p:cNvSpPr txBox="1"/>
          <p:nvPr/>
        </p:nvSpPr>
        <p:spPr>
          <a:xfrm>
            <a:off x="7085928" y="594550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9845862" y="5935726"/>
            <a:ext cx="128699" cy="187198"/>
          </a:xfrm>
          <a:prstGeom prst="rect">
            <a:avLst/>
          </a:prstGeom>
        </p:spPr>
      </p:pic>
      <p:sp>
        <p:nvSpPr>
          <p:cNvPr id="28" name="TextBox 27"/>
          <p:cNvSpPr txBox="1"/>
          <p:nvPr/>
        </p:nvSpPr>
        <p:spPr>
          <a:xfrm>
            <a:off x="10013358" y="5945505"/>
            <a:ext cx="1127731" cy="186689"/>
          </a:xfrm>
          <a:prstGeom prst="rect">
            <a:avLst/>
          </a:prstGeom>
          <a:noFill/>
        </p:spPr>
        <p:txBody>
          <a:bodyPr wrap="none" lIns="0" rIns="0" tIns="0" bIns="0">
            <a:spAutoFit/>
          </a:bodyPr>
          <a:lstStyle/>
          <a:p>
            <a:r>
              <a:rPr sz="1100" b="0">
                <a:solidFill>
                  <a:srgbClr val="252423"/>
                </a:solidFill>
                <a:latin typeface="Segoe UI"/>
              </a:rPr>
              <a:t>. Bubbles right of</a:t>
            </a:r>
          </a:p>
        </p:txBody>
      </p:sp>
      <p:sp>
        <p:nvSpPr>
          <p:cNvPr id="29" name="TextBox 28"/>
          <p:cNvSpPr txBox="1"/>
          <p:nvPr/>
        </p:nvSpPr>
        <p:spPr>
          <a:xfrm>
            <a:off x="257175" y="6113145"/>
            <a:ext cx="3734231" cy="186689"/>
          </a:xfrm>
          <a:prstGeom prst="rect">
            <a:avLst/>
          </a:prstGeom>
          <a:noFill/>
        </p:spPr>
        <p:txBody>
          <a:bodyPr wrap="none" lIns="0" rIns="0" tIns="0" bIns="0">
            <a:spAutoFit/>
          </a:bodyPr>
          <a:lstStyle/>
          <a:p>
            <a:r>
              <a:rPr sz="1100" b="0">
                <a:solidFill>
                  <a:srgbClr val="252423"/>
                </a:solidFill>
                <a:latin typeface="Segoe UI"/>
              </a:rPr>
              <a:t>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Product Form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Gaseous Helium-3</a:t>
            </a:r>
          </a:p>
        </p:txBody>
      </p:sp>
      <p:graphicFrame>
        <p:nvGraphicFramePr>
          <p:cNvPr id="10" name="Chart 9"/>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Liquid Helium-3</a:t>
            </a:r>
          </a:p>
        </p:txBody>
      </p:sp>
      <p:graphicFrame>
        <p:nvGraphicFramePr>
          <p:cNvPr id="13" name="Chart 12"/>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4059" y="3583939"/>
            <a:ext cx="402511" cy="585471"/>
          </a:xfrm>
          <a:prstGeom prst="rect">
            <a:avLst/>
          </a:prstGeom>
        </p:spPr>
      </p:pic>
      <p:pic>
        <p:nvPicPr>
          <p:cNvPr id="16" name="Picture 15" descr="lock.png"/>
          <p:cNvPicPr>
            <a:picLocks noChangeAspect="1"/>
          </p:cNvPicPr>
          <p:nvPr/>
        </p:nvPicPr>
        <p:blipFill>
          <a:blip r:embed="rId6"/>
          <a:stretch>
            <a:fillRect/>
          </a:stretch>
        </p:blipFill>
        <p:spPr>
          <a:xfrm>
            <a:off x="9053384" y="3583939"/>
            <a:ext cx="402511" cy="585471"/>
          </a:xfrm>
          <a:prstGeom prst="rect">
            <a:avLst/>
          </a:prstGeom>
        </p:spPr>
      </p:pic>
      <p:sp>
        <p:nvSpPr>
          <p:cNvPr id="17" name="lockshield_10"/>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Product Form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Product Form,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Product Form (US$ Mn)</a:t>
            </a:r>
          </a:p>
        </p:txBody>
      </p:sp>
      <p:graphicFrame>
        <p:nvGraphicFramePr>
          <p:cNvPr id="10" name="Table 9"/>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1467424"/>
                <a:gridCol w="588660"/>
                <a:gridCol w="588660"/>
                <a:gridCol w="588660"/>
                <a:gridCol w="612773"/>
                <a:gridCol w="612773"/>
                <a:gridCol w="612773"/>
                <a:gridCol w="612773"/>
                <a:gridCol w="612773"/>
                <a:gridCol w="612773"/>
                <a:gridCol w="612773"/>
                <a:gridCol w="612773"/>
                <a:gridCol w="612773"/>
                <a:gridCol w="612773"/>
                <a:gridCol w="612773"/>
                <a:gridCol w="612773"/>
                <a:gridCol w="612773"/>
                <a:gridCol w="687747"/>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Product Form</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643021" y="1589913"/>
            <a:ext cx="366712" cy="533400"/>
          </a:xfrm>
          <a:prstGeom prst="rect">
            <a:avLst/>
          </a:prstGeom>
        </p:spPr>
      </p:pic>
      <p:sp>
        <p:nvSpPr>
          <p:cNvPr id="18" name="TextBox 17"/>
          <p:cNvSpPr txBox="1"/>
          <p:nvPr/>
        </p:nvSpPr>
        <p:spPr>
          <a:xfrm>
            <a:off x="276225" y="2990850"/>
            <a:ext cx="3348516" cy="194310"/>
          </a:xfrm>
          <a:prstGeom prst="rect">
            <a:avLst/>
          </a:prstGeom>
          <a:noFill/>
        </p:spPr>
        <p:txBody>
          <a:bodyPr wrap="none" lIns="0" rIns="0" tIns="0" bIns="0">
            <a:spAutoFit/>
          </a:bodyPr>
          <a:lstStyle/>
          <a:p>
            <a:r>
              <a:rPr sz="1150" b="0">
                <a:solidFill>
                  <a:srgbClr val="252423"/>
                </a:solidFill>
                <a:latin typeface="Segoe UI"/>
              </a:rPr>
              <a:t>Gaseous Helium-3 segment is projected to register</a:t>
            </a:r>
          </a:p>
        </p:txBody>
      </p:sp>
      <p:pic>
        <p:nvPicPr>
          <p:cNvPr id="19" name="Picture 18" descr="lock.png"/>
          <p:cNvPicPr>
            <a:picLocks noChangeAspect="1"/>
          </p:cNvPicPr>
          <p:nvPr/>
        </p:nvPicPr>
        <p:blipFill>
          <a:blip r:embed="rId4"/>
          <a:stretch>
            <a:fillRect/>
          </a:stretch>
        </p:blipFill>
        <p:spPr>
          <a:xfrm>
            <a:off x="3573895" y="2980626"/>
            <a:ext cx="134549" cy="195707"/>
          </a:xfrm>
          <a:prstGeom prst="rect">
            <a:avLst/>
          </a:prstGeom>
        </p:spPr>
      </p:pic>
      <p:sp>
        <p:nvSpPr>
          <p:cNvPr id="20" name="TextBox 19"/>
          <p:cNvSpPr txBox="1"/>
          <p:nvPr/>
        </p:nvSpPr>
        <p:spPr>
          <a:xfrm>
            <a:off x="3749005" y="2990850"/>
            <a:ext cx="7723210" cy="194310"/>
          </a:xfrm>
          <a:prstGeom prst="rect">
            <a:avLst/>
          </a:prstGeom>
          <a:noFill/>
        </p:spPr>
        <p:txBody>
          <a:bodyPr wrap="none" lIns="0" rIns="0" tIns="0" bIns="0">
            <a:spAutoFit/>
          </a:bodyPr>
          <a:lstStyle/>
          <a:p>
            <a:r>
              <a:rPr sz="1150" b="0">
                <a:solidFill>
                  <a:srgbClr val="252423"/>
                </a:solidFill>
                <a:latin typeface="Segoe UI"/>
              </a:rPr>
              <a:t>X higher value than liquid Helium-3 segment in 2036. Among Helium-3 by product form, gaseous Helium-3 segment is</a:t>
            </a:r>
          </a:p>
        </p:txBody>
      </p:sp>
      <p:sp>
        <p:nvSpPr>
          <p:cNvPr id="21" name="TextBox 20"/>
          <p:cNvSpPr txBox="1"/>
          <p:nvPr/>
        </p:nvSpPr>
        <p:spPr>
          <a:xfrm>
            <a:off x="276225" y="3166110"/>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22" name="Picture 21" descr="lock.png"/>
          <p:cNvPicPr>
            <a:picLocks noChangeAspect="1"/>
          </p:cNvPicPr>
          <p:nvPr/>
        </p:nvPicPr>
        <p:blipFill>
          <a:blip r:embed="rId4"/>
          <a:stretch>
            <a:fillRect/>
          </a:stretch>
        </p:blipFill>
        <p:spPr>
          <a:xfrm>
            <a:off x="2922384" y="3155886"/>
            <a:ext cx="134549" cy="195707"/>
          </a:xfrm>
          <a:prstGeom prst="rect">
            <a:avLst/>
          </a:prstGeom>
        </p:spPr>
      </p:pic>
      <p:sp>
        <p:nvSpPr>
          <p:cNvPr id="23" name="TextBox 22"/>
          <p:cNvSpPr txBox="1"/>
          <p:nvPr/>
        </p:nvSpPr>
        <p:spPr>
          <a:xfrm>
            <a:off x="3097494"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7602927" cy="194310"/>
          </a:xfrm>
          <a:prstGeom prst="rect">
            <a:avLst/>
          </a:prstGeom>
          <a:noFill/>
        </p:spPr>
        <p:txBody>
          <a:bodyPr wrap="none" lIns="0" rIns="0" tIns="0" bIns="0">
            <a:spAutoFit/>
          </a:bodyPr>
          <a:lstStyle/>
          <a:p>
            <a:r>
              <a:rPr sz="1150" b="0">
                <a:solidFill>
                  <a:srgbClr val="252423"/>
                </a:solidFill>
                <a:latin typeface="Segoe UI"/>
              </a:rPr>
              <a:t>In terms of value share by product form, the gaseous Helium-3 segment is expected to dominate the market, gaining</a:t>
            </a:r>
          </a:p>
        </p:txBody>
      </p:sp>
      <p:pic>
        <p:nvPicPr>
          <p:cNvPr id="25" name="Picture 24" descr="lock.png"/>
          <p:cNvPicPr>
            <a:picLocks noChangeAspect="1"/>
          </p:cNvPicPr>
          <p:nvPr/>
        </p:nvPicPr>
        <p:blipFill>
          <a:blip r:embed="rId4"/>
          <a:stretch>
            <a:fillRect/>
          </a:stretch>
        </p:blipFill>
        <p:spPr>
          <a:xfrm>
            <a:off x="7828306" y="3383724"/>
            <a:ext cx="134549" cy="195707"/>
          </a:xfrm>
          <a:prstGeom prst="rect">
            <a:avLst/>
          </a:prstGeom>
        </p:spPr>
      </p:pic>
      <p:sp>
        <p:nvSpPr>
          <p:cNvPr id="26" name="TextBox 25"/>
          <p:cNvSpPr txBox="1"/>
          <p:nvPr/>
        </p:nvSpPr>
        <p:spPr>
          <a:xfrm>
            <a:off x="8003415"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9531772" y="3383724"/>
            <a:ext cx="134549" cy="195707"/>
          </a:xfrm>
          <a:prstGeom prst="rect">
            <a:avLst/>
          </a:prstGeom>
        </p:spPr>
      </p:pic>
      <p:sp>
        <p:nvSpPr>
          <p:cNvPr id="28" name="TextBox 27"/>
          <p:cNvSpPr txBox="1"/>
          <p:nvPr/>
        </p:nvSpPr>
        <p:spPr>
          <a:xfrm>
            <a:off x="9706881" y="3393947"/>
            <a:ext cx="1682148" cy="194310"/>
          </a:xfrm>
          <a:prstGeom prst="rect">
            <a:avLst/>
          </a:prstGeom>
          <a:noFill/>
        </p:spPr>
        <p:txBody>
          <a:bodyPr wrap="none" lIns="0" rIns="0" tIns="0" bIns="0">
            <a:spAutoFit/>
          </a:bodyPr>
          <a:lstStyle/>
          <a:p>
            <a:r>
              <a:rPr sz="1150" b="0">
                <a:solidFill>
                  <a:srgbClr val="252423"/>
                </a:solidFill>
                <a:latin typeface="Segoe UI"/>
              </a:rPr>
              <a:t>share by 2036. The liquid</a:t>
            </a:r>
          </a:p>
        </p:txBody>
      </p:sp>
      <p:sp>
        <p:nvSpPr>
          <p:cNvPr id="29" name="TextBox 28"/>
          <p:cNvSpPr txBox="1"/>
          <p:nvPr/>
        </p:nvSpPr>
        <p:spPr>
          <a:xfrm>
            <a:off x="276225" y="3569207"/>
            <a:ext cx="2509094" cy="194310"/>
          </a:xfrm>
          <a:prstGeom prst="rect">
            <a:avLst/>
          </a:prstGeom>
          <a:noFill/>
        </p:spPr>
        <p:txBody>
          <a:bodyPr wrap="none" lIns="0" rIns="0" tIns="0" bIns="0">
            <a:spAutoFit/>
          </a:bodyPr>
          <a:lstStyle/>
          <a:p>
            <a:r>
              <a:rPr sz="1150" b="0">
                <a:solidFill>
                  <a:srgbClr val="252423"/>
                </a:solidFill>
                <a:latin typeface="Segoe UI"/>
              </a:rPr>
              <a:t>Helium-3 segment is expected to lose</a:t>
            </a:r>
          </a:p>
        </p:txBody>
      </p:sp>
      <p:pic>
        <p:nvPicPr>
          <p:cNvPr id="30" name="Picture 29" descr="lock.png"/>
          <p:cNvPicPr>
            <a:picLocks noChangeAspect="1"/>
          </p:cNvPicPr>
          <p:nvPr/>
        </p:nvPicPr>
        <p:blipFill>
          <a:blip r:embed="rId4"/>
          <a:stretch>
            <a:fillRect/>
          </a:stretch>
        </p:blipFill>
        <p:spPr>
          <a:xfrm>
            <a:off x="2734473" y="3558984"/>
            <a:ext cx="134549" cy="195707"/>
          </a:xfrm>
          <a:prstGeom prst="rect">
            <a:avLst/>
          </a:prstGeom>
        </p:spPr>
      </p:pic>
      <p:sp>
        <p:nvSpPr>
          <p:cNvPr id="31" name="TextBox 30"/>
          <p:cNvSpPr txBox="1"/>
          <p:nvPr/>
        </p:nvSpPr>
        <p:spPr>
          <a:xfrm>
            <a:off x="2909583"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5708968" y="3558984"/>
            <a:ext cx="134549" cy="195707"/>
          </a:xfrm>
          <a:prstGeom prst="rect">
            <a:avLst/>
          </a:prstGeom>
        </p:spPr>
      </p:pic>
      <p:sp>
        <p:nvSpPr>
          <p:cNvPr id="33" name="TextBox 32"/>
          <p:cNvSpPr txBox="1"/>
          <p:nvPr/>
        </p:nvSpPr>
        <p:spPr>
          <a:xfrm>
            <a:off x="5884078"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Product Form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Product Form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231311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3083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23214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Liquid Helium-3</a:t>
            </a:r>
          </a:p>
        </p:txBody>
      </p:sp>
      <p:sp>
        <p:nvSpPr>
          <p:cNvPr id="16" name="BPS Value 1"/>
          <p:cNvSpPr txBox="1"/>
          <p:nvPr/>
        </p:nvSpPr>
        <p:spPr>
          <a:xfrm>
            <a:off x="6896100" y="229406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459930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59453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5183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Gaseous Helium-3</a:t>
            </a:r>
          </a:p>
        </p:txBody>
      </p:sp>
      <p:sp>
        <p:nvSpPr>
          <p:cNvPr id="20" name="BPS Value 2"/>
          <p:cNvSpPr txBox="1"/>
          <p:nvPr/>
        </p:nvSpPr>
        <p:spPr>
          <a:xfrm>
            <a:off x="6896100" y="4580252"/>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Product Form</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4057650" cy="194310"/>
          </a:xfrm>
          <a:prstGeom prst="rect">
            <a:avLst/>
          </a:prstGeom>
          <a:noFill/>
        </p:spPr>
        <p:txBody>
          <a:bodyPr wrap="none" lIns="0" rIns="0" tIns="0" bIns="0">
            <a:spAutoFit/>
          </a:bodyPr>
          <a:lstStyle/>
          <a:p>
            <a:r>
              <a:rPr sz="1150" b="0">
                <a:solidFill>
                  <a:srgbClr val="252423"/>
                </a:solidFill>
                <a:latin typeface="Segoe UI"/>
              </a:rPr>
              <a:t>Among Helium-3 by product form, gaseous Helium-3 segment</a:t>
            </a:r>
          </a:p>
        </p:txBody>
      </p:sp>
      <p:sp>
        <p:nvSpPr>
          <p:cNvPr id="28" name="TextBox 27"/>
          <p:cNvSpPr txBox="1"/>
          <p:nvPr/>
        </p:nvSpPr>
        <p:spPr>
          <a:xfrm>
            <a:off x="7829550" y="1575435"/>
            <a:ext cx="2834213" cy="194310"/>
          </a:xfrm>
          <a:prstGeom prst="rect">
            <a:avLst/>
          </a:prstGeom>
          <a:noFill/>
        </p:spPr>
        <p:txBody>
          <a:bodyPr wrap="none" lIns="0" rIns="0" tIns="0" bIns="0">
            <a:spAutoFit/>
          </a:bodyPr>
          <a:lstStyle/>
          <a:p>
            <a:r>
              <a:rPr sz="1150" b="0">
                <a:solidFill>
                  <a:srgbClr val="252423"/>
                </a:solidFill>
                <a:latin typeface="Segoe UI"/>
              </a:rPr>
              <a:t>is expected to witness the highest CAGR of</a:t>
            </a:r>
          </a:p>
        </p:txBody>
      </p:sp>
      <p:pic>
        <p:nvPicPr>
          <p:cNvPr id="29" name="Picture 28" descr="lock.png"/>
          <p:cNvPicPr>
            <a:picLocks noChangeAspect="1"/>
          </p:cNvPicPr>
          <p:nvPr/>
        </p:nvPicPr>
        <p:blipFill>
          <a:blip r:embed="rId5"/>
          <a:stretch>
            <a:fillRect/>
          </a:stretch>
        </p:blipFill>
        <p:spPr>
          <a:xfrm>
            <a:off x="10612916" y="1565211"/>
            <a:ext cx="134549" cy="195707"/>
          </a:xfrm>
          <a:prstGeom prst="rect">
            <a:avLst/>
          </a:prstGeom>
        </p:spPr>
      </p:pic>
      <p:sp>
        <p:nvSpPr>
          <p:cNvPr id="30" name="TextBox 29"/>
          <p:cNvSpPr txBox="1"/>
          <p:nvPr/>
        </p:nvSpPr>
        <p:spPr>
          <a:xfrm>
            <a:off x="10788026" y="1575435"/>
            <a:ext cx="607614" cy="194310"/>
          </a:xfrm>
          <a:prstGeom prst="rect">
            <a:avLst/>
          </a:prstGeom>
          <a:noFill/>
        </p:spPr>
        <p:txBody>
          <a:bodyPr wrap="none" lIns="0" rIns="0" tIns="0" bIns="0">
            <a:spAutoFit/>
          </a:bodyPr>
          <a:lstStyle/>
          <a:p>
            <a:r>
              <a:rPr sz="1150" b="0">
                <a:solidFill>
                  <a:srgbClr val="252423"/>
                </a:solidFill>
                <a:latin typeface="Segoe UI"/>
              </a:rPr>
              <a:t>over the</a:t>
            </a:r>
          </a:p>
        </p:txBody>
      </p:sp>
      <p:sp>
        <p:nvSpPr>
          <p:cNvPr id="31" name="TextBox 30"/>
          <p:cNvSpPr txBox="1"/>
          <p:nvPr/>
        </p:nvSpPr>
        <p:spPr>
          <a:xfrm>
            <a:off x="7829550" y="1750695"/>
            <a:ext cx="3954882" cy="194310"/>
          </a:xfrm>
          <a:prstGeom prst="rect">
            <a:avLst/>
          </a:prstGeom>
          <a:noFill/>
        </p:spPr>
        <p:txBody>
          <a:bodyPr wrap="none" lIns="0" rIns="0" tIns="0" bIns="0">
            <a:spAutoFit/>
          </a:bodyPr>
          <a:lstStyle/>
          <a:p>
            <a:r>
              <a:rPr sz="1150" b="0">
                <a:solidFill>
                  <a:srgbClr val="252423"/>
                </a:solidFill>
                <a:latin typeface="Segoe UI"/>
              </a:rPr>
              <a:t>forecast period. In terms of value share by product form, the</a:t>
            </a:r>
          </a:p>
        </p:txBody>
      </p:sp>
      <p:sp>
        <p:nvSpPr>
          <p:cNvPr id="32" name="TextBox 31"/>
          <p:cNvSpPr txBox="1"/>
          <p:nvPr/>
        </p:nvSpPr>
        <p:spPr>
          <a:xfrm>
            <a:off x="7829550" y="1925955"/>
            <a:ext cx="3683752" cy="194310"/>
          </a:xfrm>
          <a:prstGeom prst="rect">
            <a:avLst/>
          </a:prstGeom>
          <a:noFill/>
        </p:spPr>
        <p:txBody>
          <a:bodyPr wrap="none" lIns="0" rIns="0" tIns="0" bIns="0">
            <a:spAutoFit/>
          </a:bodyPr>
          <a:lstStyle/>
          <a:p>
            <a:r>
              <a:rPr sz="1150" b="0">
                <a:solidFill>
                  <a:srgbClr val="252423"/>
                </a:solidFill>
                <a:latin typeface="Segoe UI"/>
              </a:rPr>
              <a:t>gaseous Helium-3 segment is expected to dominate the</a:t>
            </a:r>
          </a:p>
        </p:txBody>
      </p:sp>
      <p:sp>
        <p:nvSpPr>
          <p:cNvPr id="33" name="TextBox 32"/>
          <p:cNvSpPr txBox="1"/>
          <p:nvPr/>
        </p:nvSpPr>
        <p:spPr>
          <a:xfrm>
            <a:off x="7829550" y="2101215"/>
            <a:ext cx="1080534" cy="194310"/>
          </a:xfrm>
          <a:prstGeom prst="rect">
            <a:avLst/>
          </a:prstGeom>
          <a:noFill/>
        </p:spPr>
        <p:txBody>
          <a:bodyPr wrap="none" lIns="0" rIns="0" tIns="0" bIns="0">
            <a:spAutoFit/>
          </a:bodyPr>
          <a:lstStyle/>
          <a:p>
            <a:r>
              <a:rPr sz="1150" b="0">
                <a:solidFill>
                  <a:srgbClr val="252423"/>
                </a:solidFill>
                <a:latin typeface="Segoe UI"/>
              </a:rPr>
              <a:t>market, gaining</a:t>
            </a:r>
          </a:p>
        </p:txBody>
      </p:sp>
      <p:pic>
        <p:nvPicPr>
          <p:cNvPr id="34" name="Picture 33" descr="lock.png"/>
          <p:cNvPicPr>
            <a:picLocks noChangeAspect="1"/>
          </p:cNvPicPr>
          <p:nvPr/>
        </p:nvPicPr>
        <p:blipFill>
          <a:blip r:embed="rId5"/>
          <a:stretch>
            <a:fillRect/>
          </a:stretch>
        </p:blipFill>
        <p:spPr>
          <a:xfrm>
            <a:off x="8859238" y="2090991"/>
            <a:ext cx="134549" cy="195707"/>
          </a:xfrm>
          <a:prstGeom prst="rect">
            <a:avLst/>
          </a:prstGeom>
        </p:spPr>
      </p:pic>
      <p:sp>
        <p:nvSpPr>
          <p:cNvPr id="35" name="TextBox 34"/>
          <p:cNvSpPr txBox="1"/>
          <p:nvPr/>
        </p:nvSpPr>
        <p:spPr>
          <a:xfrm>
            <a:off x="9034347" y="2101215"/>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36" name="Picture 35" descr="lock.png"/>
          <p:cNvPicPr>
            <a:picLocks noChangeAspect="1"/>
          </p:cNvPicPr>
          <p:nvPr/>
        </p:nvPicPr>
        <p:blipFill>
          <a:blip r:embed="rId5"/>
          <a:stretch>
            <a:fillRect/>
          </a:stretch>
        </p:blipFill>
        <p:spPr>
          <a:xfrm>
            <a:off x="10562704" y="2090991"/>
            <a:ext cx="134549" cy="195707"/>
          </a:xfrm>
          <a:prstGeom prst="rect">
            <a:avLst/>
          </a:prstGeom>
        </p:spPr>
      </p:pic>
      <p:sp>
        <p:nvSpPr>
          <p:cNvPr id="37" name="TextBox 36"/>
          <p:cNvSpPr txBox="1"/>
          <p:nvPr/>
        </p:nvSpPr>
        <p:spPr>
          <a:xfrm>
            <a:off x="10737813" y="2101215"/>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38" name="TextBox 37"/>
          <p:cNvSpPr txBox="1"/>
          <p:nvPr/>
        </p:nvSpPr>
        <p:spPr>
          <a:xfrm>
            <a:off x="7829550" y="2276475"/>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39" name="TextBox 38"/>
          <p:cNvSpPr txBox="1"/>
          <p:nvPr/>
        </p:nvSpPr>
        <p:spPr>
          <a:xfrm>
            <a:off x="7829550" y="2504313"/>
            <a:ext cx="3185717" cy="194310"/>
          </a:xfrm>
          <a:prstGeom prst="rect">
            <a:avLst/>
          </a:prstGeom>
          <a:noFill/>
        </p:spPr>
        <p:txBody>
          <a:bodyPr wrap="none" lIns="0" rIns="0" tIns="0" bIns="0">
            <a:spAutoFit/>
          </a:bodyPr>
          <a:lstStyle/>
          <a:p>
            <a:r>
              <a:rPr sz="1150" b="0">
                <a:solidFill>
                  <a:srgbClr val="252423"/>
                </a:solidFill>
                <a:latin typeface="Segoe UI"/>
              </a:rPr>
              <a:t>The liquid Helium-3 segment is expected to lose</a:t>
            </a:r>
          </a:p>
        </p:txBody>
      </p:sp>
      <p:pic>
        <p:nvPicPr>
          <p:cNvPr id="40" name="Picture 39" descr="lock.png"/>
          <p:cNvPicPr>
            <a:picLocks noChangeAspect="1"/>
          </p:cNvPicPr>
          <p:nvPr/>
        </p:nvPicPr>
        <p:blipFill>
          <a:blip r:embed="rId5"/>
          <a:stretch>
            <a:fillRect/>
          </a:stretch>
        </p:blipFill>
        <p:spPr>
          <a:xfrm>
            <a:off x="10964421" y="2494089"/>
            <a:ext cx="134549" cy="195707"/>
          </a:xfrm>
          <a:prstGeom prst="rect">
            <a:avLst/>
          </a:prstGeom>
        </p:spPr>
      </p:pic>
      <p:sp>
        <p:nvSpPr>
          <p:cNvPr id="41" name="TextBox 40"/>
          <p:cNvSpPr txBox="1"/>
          <p:nvPr/>
        </p:nvSpPr>
        <p:spPr>
          <a:xfrm>
            <a:off x="11139530" y="2504313"/>
            <a:ext cx="642130" cy="194310"/>
          </a:xfrm>
          <a:prstGeom prst="rect">
            <a:avLst/>
          </a:prstGeom>
          <a:noFill/>
        </p:spPr>
        <p:txBody>
          <a:bodyPr wrap="none" lIns="0" rIns="0" tIns="0" bIns="0">
            <a:spAutoFit/>
          </a:bodyPr>
          <a:lstStyle/>
          <a:p>
            <a:r>
              <a:rPr sz="1150" b="0">
                <a:solidFill>
                  <a:srgbClr val="252423"/>
                </a:solidFill>
                <a:latin typeface="Segoe UI"/>
              </a:rPr>
              <a:t>BPS over</a:t>
            </a:r>
          </a:p>
        </p:txBody>
      </p:sp>
      <p:sp>
        <p:nvSpPr>
          <p:cNvPr id="42" name="TextBox 41"/>
          <p:cNvSpPr txBox="1"/>
          <p:nvPr/>
        </p:nvSpPr>
        <p:spPr>
          <a:xfrm>
            <a:off x="7829550" y="2679573"/>
            <a:ext cx="2244365" cy="194310"/>
          </a:xfrm>
          <a:prstGeom prst="rect">
            <a:avLst/>
          </a:prstGeom>
          <a:noFill/>
        </p:spPr>
        <p:txBody>
          <a:bodyPr wrap="none" lIns="0" rIns="0" tIns="0" bIns="0">
            <a:spAutoFit/>
          </a:bodyPr>
          <a:lstStyle/>
          <a:p>
            <a:r>
              <a:rPr sz="1150" b="0">
                <a:solidFill>
                  <a:srgbClr val="252423"/>
                </a:solidFill>
                <a:latin typeface="Segoe UI"/>
              </a:rPr>
              <a:t>the forecast period to account for</a:t>
            </a:r>
          </a:p>
        </p:txBody>
      </p:sp>
      <p:pic>
        <p:nvPicPr>
          <p:cNvPr id="43" name="Picture 42" descr="lock.png"/>
          <p:cNvPicPr>
            <a:picLocks noChangeAspect="1"/>
          </p:cNvPicPr>
          <p:nvPr/>
        </p:nvPicPr>
        <p:blipFill>
          <a:blip r:embed="rId5"/>
          <a:stretch>
            <a:fillRect/>
          </a:stretch>
        </p:blipFill>
        <p:spPr>
          <a:xfrm>
            <a:off x="10023069" y="2669349"/>
            <a:ext cx="134549" cy="195707"/>
          </a:xfrm>
          <a:prstGeom prst="rect">
            <a:avLst/>
          </a:prstGeom>
        </p:spPr>
      </p:pic>
      <p:sp>
        <p:nvSpPr>
          <p:cNvPr id="44" name="TextBox 43"/>
          <p:cNvSpPr txBox="1"/>
          <p:nvPr/>
        </p:nvSpPr>
        <p:spPr>
          <a:xfrm>
            <a:off x="10198179"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Supply 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Supply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Supply Source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Supply Source,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Supply Source segment categorizes the market by supply source.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Tritium-Decay-Derived Helium-3</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Terrestrial Natural / Geological…</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Supply Source split shows how demand is distributed across supply source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9_402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15_341_605E5C.png"/>
          <p:cNvPicPr>
            <a:picLocks noChangeAspect="1"/>
          </p:cNvPicPr>
          <p:nvPr/>
        </p:nvPicPr>
        <p:blipFill>
          <a:blip r:embed="rId5"/>
          <a:stretch>
            <a:fillRect/>
          </a:stretch>
        </p:blipFill>
        <p:spPr>
          <a:xfrm>
            <a:off x="3634127" y="2779432"/>
            <a:ext cx="1409020" cy="361950"/>
          </a:xfrm>
          <a:prstGeom prst="rect">
            <a:avLst/>
          </a:prstGeom>
        </p:spPr>
      </p:pic>
      <p:pic>
        <p:nvPicPr>
          <p:cNvPr id="49" name="Picture 48" descr="5_0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1_498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2_403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8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157526" cy="179984"/>
          </a:xfrm>
          <a:prstGeom prst="rect">
            <a:avLst/>
          </a:prstGeom>
          <a:noFill/>
        </p:spPr>
        <p:txBody>
          <a:bodyPr wrap="none" lIns="0" rIns="0" tIns="0" bIns="0">
            <a:spAutoFit/>
          </a:bodyPr>
          <a:lstStyle/>
          <a:p>
            <a:r>
              <a:rPr sz="1055" b="0">
                <a:solidFill>
                  <a:srgbClr val="252423"/>
                </a:solidFill>
                <a:latin typeface="Segoe UI"/>
              </a:rPr>
              <a:t>Among Helium-3 by supply source,</a:t>
            </a:r>
          </a:p>
        </p:txBody>
      </p:sp>
      <p:sp>
        <p:nvSpPr>
          <p:cNvPr id="56" name="TextBox 55"/>
          <p:cNvSpPr txBox="1"/>
          <p:nvPr/>
        </p:nvSpPr>
        <p:spPr>
          <a:xfrm>
            <a:off x="485775" y="4390371"/>
            <a:ext cx="2625101" cy="179984"/>
          </a:xfrm>
          <a:prstGeom prst="rect">
            <a:avLst/>
          </a:prstGeom>
          <a:noFill/>
        </p:spPr>
        <p:txBody>
          <a:bodyPr wrap="none" lIns="0" rIns="0" tIns="0" bIns="0">
            <a:spAutoFit/>
          </a:bodyPr>
          <a:lstStyle/>
          <a:p>
            <a:r>
              <a:rPr sz="1055" b="0">
                <a:solidFill>
                  <a:srgbClr val="252423"/>
                </a:solidFill>
                <a:latin typeface="Segoe UI"/>
              </a:rPr>
              <a:t>tritium-decay-derived Helium-3 segment is</a:t>
            </a:r>
          </a:p>
        </p:txBody>
      </p:sp>
      <p:sp>
        <p:nvSpPr>
          <p:cNvPr id="57" name="TextBox 56"/>
          <p:cNvSpPr txBox="1"/>
          <p:nvPr/>
        </p:nvSpPr>
        <p:spPr>
          <a:xfrm>
            <a:off x="485775" y="4551305"/>
            <a:ext cx="2482783" cy="179984"/>
          </a:xfrm>
          <a:prstGeom prst="rect">
            <a:avLst/>
          </a:prstGeom>
          <a:noFill/>
        </p:spPr>
        <p:txBody>
          <a:bodyPr wrap="none" lIns="0" rIns="0" tIns="0" bIns="0">
            <a:spAutoFit/>
          </a:bodyPr>
          <a:lstStyle/>
          <a:p>
            <a:r>
              <a:rPr sz="1055" b="0">
                <a:solidFill>
                  <a:srgbClr val="252423"/>
                </a:solidFill>
                <a:latin typeface="Segoe UI"/>
              </a:rPr>
              <a:t>expected to witness the highest CAGR of</a:t>
            </a:r>
          </a:p>
        </p:txBody>
      </p:sp>
      <p:pic>
        <p:nvPicPr>
          <p:cNvPr id="58" name="Picture 57" descr="lock.png"/>
          <p:cNvPicPr>
            <a:picLocks noChangeAspect="1"/>
          </p:cNvPicPr>
          <p:nvPr/>
        </p:nvPicPr>
        <p:blipFill>
          <a:blip r:embed="rId10"/>
          <a:stretch>
            <a:fillRect/>
          </a:stretch>
        </p:blipFill>
        <p:spPr>
          <a:xfrm>
            <a:off x="2915640" y="4541917"/>
            <a:ext cx="123551" cy="179710"/>
          </a:xfrm>
          <a:prstGeom prst="rect">
            <a:avLst/>
          </a:prstGeom>
        </p:spPr>
      </p:pic>
      <p:sp>
        <p:nvSpPr>
          <p:cNvPr id="59" name="TextBox 58"/>
          <p:cNvSpPr txBox="1"/>
          <p:nvPr/>
        </p:nvSpPr>
        <p:spPr>
          <a:xfrm>
            <a:off x="485775" y="4712240"/>
            <a:ext cx="2901818" cy="179984"/>
          </a:xfrm>
          <a:prstGeom prst="rect">
            <a:avLst/>
          </a:prstGeom>
          <a:noFill/>
        </p:spPr>
        <p:txBody>
          <a:bodyPr wrap="none" lIns="0" rIns="0" tIns="0" bIns="0">
            <a:spAutoFit/>
          </a:bodyPr>
          <a:lstStyle/>
          <a:p>
            <a:r>
              <a:rPr sz="1055" b="0">
                <a:solidFill>
                  <a:srgbClr val="252423"/>
                </a:solidFill>
                <a:latin typeface="Segoe UI"/>
              </a:rPr>
              <a:t>over the forecast period. In terms of value share</a:t>
            </a:r>
          </a:p>
        </p:txBody>
      </p:sp>
      <p:sp>
        <p:nvSpPr>
          <p:cNvPr id="60" name="TextBox 59"/>
          <p:cNvSpPr txBox="1"/>
          <p:nvPr/>
        </p:nvSpPr>
        <p:spPr>
          <a:xfrm>
            <a:off x="485775" y="4873174"/>
            <a:ext cx="2653886" cy="179984"/>
          </a:xfrm>
          <a:prstGeom prst="rect">
            <a:avLst/>
          </a:prstGeom>
          <a:noFill/>
        </p:spPr>
        <p:txBody>
          <a:bodyPr wrap="none" lIns="0" rIns="0" tIns="0" bIns="0">
            <a:spAutoFit/>
          </a:bodyPr>
          <a:lstStyle/>
          <a:p>
            <a:r>
              <a:rPr sz="1055" b="0">
                <a:solidFill>
                  <a:srgbClr val="252423"/>
                </a:solidFill>
                <a:latin typeface="Segoe UI"/>
              </a:rPr>
              <a:t>by supply source, the tritium-decay-derived</a:t>
            </a:r>
          </a:p>
        </p:txBody>
      </p:sp>
      <p:sp>
        <p:nvSpPr>
          <p:cNvPr id="61" name="TextBox 60"/>
          <p:cNvSpPr txBox="1"/>
          <p:nvPr/>
        </p:nvSpPr>
        <p:spPr>
          <a:xfrm>
            <a:off x="485775" y="5034109"/>
            <a:ext cx="2866309" cy="179984"/>
          </a:xfrm>
          <a:prstGeom prst="rect">
            <a:avLst/>
          </a:prstGeom>
          <a:noFill/>
        </p:spPr>
        <p:txBody>
          <a:bodyPr wrap="none" lIns="0" rIns="0" tIns="0" bIns="0">
            <a:spAutoFit/>
          </a:bodyPr>
          <a:lstStyle/>
          <a:p>
            <a:r>
              <a:rPr sz="1055" b="0">
                <a:solidFill>
                  <a:srgbClr val="252423"/>
                </a:solidFill>
                <a:latin typeface="Segoe UI"/>
              </a:rPr>
              <a:t>Helium-3 segment is expected to dominate the</a:t>
            </a:r>
          </a:p>
        </p:txBody>
      </p:sp>
      <p:sp>
        <p:nvSpPr>
          <p:cNvPr id="62" name="TextBox 61"/>
          <p:cNvSpPr txBox="1"/>
          <p:nvPr/>
        </p:nvSpPr>
        <p:spPr>
          <a:xfrm>
            <a:off x="485775" y="5195043"/>
            <a:ext cx="998441" cy="179984"/>
          </a:xfrm>
          <a:prstGeom prst="rect">
            <a:avLst/>
          </a:prstGeom>
          <a:noFill/>
        </p:spPr>
        <p:txBody>
          <a:bodyPr wrap="none" lIns="0" rIns="0" tIns="0" bIns="0">
            <a:spAutoFit/>
          </a:bodyPr>
          <a:lstStyle/>
          <a:p>
            <a:r>
              <a:rPr sz="1055" b="0">
                <a:solidFill>
                  <a:srgbClr val="252423"/>
                </a:solidFill>
                <a:latin typeface="Segoe UI"/>
              </a:rPr>
              <a:t>market, gaining</a:t>
            </a:r>
          </a:p>
        </p:txBody>
      </p:sp>
      <p:pic>
        <p:nvPicPr>
          <p:cNvPr id="63" name="Picture 62" descr="lock.png"/>
          <p:cNvPicPr>
            <a:picLocks noChangeAspect="1"/>
          </p:cNvPicPr>
          <p:nvPr/>
        </p:nvPicPr>
        <p:blipFill>
          <a:blip r:embed="rId10"/>
          <a:stretch>
            <a:fillRect/>
          </a:stretch>
        </p:blipFill>
        <p:spPr>
          <a:xfrm>
            <a:off x="1431297" y="5185655"/>
            <a:ext cx="123551" cy="179710"/>
          </a:xfrm>
          <a:prstGeom prst="rect">
            <a:avLst/>
          </a:prstGeom>
        </p:spPr>
      </p:pic>
      <p:sp>
        <p:nvSpPr>
          <p:cNvPr id="64" name="TextBox 63"/>
          <p:cNvSpPr txBox="1"/>
          <p:nvPr/>
        </p:nvSpPr>
        <p:spPr>
          <a:xfrm>
            <a:off x="1592093"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65" name="Picture 64" descr="lock.png"/>
          <p:cNvPicPr>
            <a:picLocks noChangeAspect="1"/>
          </p:cNvPicPr>
          <p:nvPr/>
        </p:nvPicPr>
        <p:blipFill>
          <a:blip r:embed="rId10"/>
          <a:stretch>
            <a:fillRect/>
          </a:stretch>
        </p:blipFill>
        <p:spPr>
          <a:xfrm>
            <a:off x="2995523" y="5185655"/>
            <a:ext cx="123551" cy="179710"/>
          </a:xfrm>
          <a:prstGeom prst="rect">
            <a:avLst/>
          </a:prstGeom>
        </p:spPr>
      </p:pic>
      <p:sp>
        <p:nvSpPr>
          <p:cNvPr id="66" name="TextBox 65"/>
          <p:cNvSpPr txBox="1"/>
          <p:nvPr/>
        </p:nvSpPr>
        <p:spPr>
          <a:xfrm>
            <a:off x="485775"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67" name="TextBox 66"/>
          <p:cNvSpPr txBox="1"/>
          <p:nvPr/>
        </p:nvSpPr>
        <p:spPr>
          <a:xfrm>
            <a:off x="485775" y="5565192"/>
            <a:ext cx="2649543" cy="179984"/>
          </a:xfrm>
          <a:prstGeom prst="rect">
            <a:avLst/>
          </a:prstGeom>
          <a:noFill/>
        </p:spPr>
        <p:txBody>
          <a:bodyPr wrap="none" lIns="0" rIns="0" tIns="0" bIns="0">
            <a:spAutoFit/>
          </a:bodyPr>
          <a:lstStyle/>
          <a:p>
            <a:r>
              <a:rPr sz="1055" b="0">
                <a:solidFill>
                  <a:srgbClr val="252423"/>
                </a:solidFill>
                <a:latin typeface="Segoe UI"/>
              </a:rPr>
              <a:t>Tritium-decay-derived Helium-3 segment is</a:t>
            </a:r>
          </a:p>
        </p:txBody>
      </p:sp>
      <p:sp>
        <p:nvSpPr>
          <p:cNvPr id="68" name="TextBox 67"/>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69" name="Picture 68" descr="lock.png"/>
          <p:cNvPicPr>
            <a:picLocks noChangeAspect="1"/>
          </p:cNvPicPr>
          <p:nvPr/>
        </p:nvPicPr>
        <p:blipFill>
          <a:blip r:embed="rId10"/>
          <a:stretch>
            <a:fillRect/>
          </a:stretch>
        </p:blipFill>
        <p:spPr>
          <a:xfrm>
            <a:off x="1717791" y="5716739"/>
            <a:ext cx="123551" cy="179710"/>
          </a:xfrm>
          <a:prstGeom prst="rect">
            <a:avLst/>
          </a:prstGeom>
        </p:spPr>
      </p:pic>
      <p:sp>
        <p:nvSpPr>
          <p:cNvPr id="70" name="TextBox 69"/>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71" name="TextBox 70"/>
          <p:cNvSpPr txBox="1"/>
          <p:nvPr/>
        </p:nvSpPr>
        <p:spPr>
          <a:xfrm>
            <a:off x="485775" y="5887061"/>
            <a:ext cx="2914650" cy="179984"/>
          </a:xfrm>
          <a:prstGeom prst="rect">
            <a:avLst/>
          </a:prstGeom>
          <a:noFill/>
        </p:spPr>
        <p:txBody>
          <a:bodyPr wrap="none" lIns="0" rIns="0" tIns="0" bIns="0">
            <a:spAutoFit/>
          </a:bodyPr>
          <a:lstStyle/>
          <a:p>
            <a:r>
              <a:rPr sz="1055" b="0">
                <a:solidFill>
                  <a:srgbClr val="252423"/>
                </a:solidFill>
                <a:latin typeface="Segoe UI"/>
              </a:rPr>
              <a:t>terrestrial natural / geological Helium-3 segment</a:t>
            </a:r>
          </a:p>
        </p:txBody>
      </p:sp>
      <p:sp>
        <p:nvSpPr>
          <p:cNvPr id="72" name="TextBox 71"/>
          <p:cNvSpPr txBox="1"/>
          <p:nvPr/>
        </p:nvSpPr>
        <p:spPr>
          <a:xfrm>
            <a:off x="485775" y="6047995"/>
            <a:ext cx="539567" cy="179984"/>
          </a:xfrm>
          <a:prstGeom prst="rect">
            <a:avLst/>
          </a:prstGeom>
          <a:noFill/>
        </p:spPr>
        <p:txBody>
          <a:bodyPr wrap="none" lIns="0" rIns="0" tIns="0" bIns="0">
            <a:spAutoFit/>
          </a:bodyPr>
          <a:lstStyle/>
          <a:p>
            <a:r>
              <a:rPr sz="1055" b="0">
                <a:solidFill>
                  <a:srgbClr val="252423"/>
                </a:solidFill>
                <a:latin typeface="Segoe UI"/>
              </a:rPr>
              <a:t>in 2036.</a:t>
            </a:r>
          </a:p>
        </p:txBody>
      </p:sp>
      <p:sp>
        <p:nvSpPr>
          <p:cNvPr id="73" name="TextBox 72"/>
          <p:cNvSpPr txBox="1"/>
          <p:nvPr/>
        </p:nvSpPr>
        <p:spPr>
          <a:xfrm>
            <a:off x="3838575" y="4229437"/>
            <a:ext cx="2236438" cy="186689"/>
          </a:xfrm>
          <a:prstGeom prst="rect">
            <a:avLst/>
          </a:prstGeom>
          <a:noFill/>
        </p:spPr>
        <p:txBody>
          <a:bodyPr wrap="none" lIns="0" rIns="0" tIns="0" bIns="0">
            <a:spAutoFit/>
          </a:bodyPr>
          <a:lstStyle/>
          <a:p>
            <a:r>
              <a:rPr sz="1100" b="0">
                <a:solidFill>
                  <a:srgbClr val="252423"/>
                </a:solidFill>
                <a:latin typeface="Segoe UI"/>
              </a:rPr>
              <a:t>● Tritium-Decay-Derived Helium-3:</a:t>
            </a:r>
          </a:p>
        </p:txBody>
      </p:sp>
      <p:pic>
        <p:nvPicPr>
          <p:cNvPr id="74" name="Picture 73" descr="lock.png"/>
          <p:cNvPicPr>
            <a:picLocks noChangeAspect="1"/>
          </p:cNvPicPr>
          <p:nvPr/>
        </p:nvPicPr>
        <p:blipFill>
          <a:blip r:embed="rId10"/>
          <a:stretch>
            <a:fillRect/>
          </a:stretch>
        </p:blipFill>
        <p:spPr>
          <a:xfrm>
            <a:off x="6023064" y="4219658"/>
            <a:ext cx="128699" cy="187198"/>
          </a:xfrm>
          <a:prstGeom prst="rect">
            <a:avLst/>
          </a:prstGeom>
        </p:spPr>
      </p:pic>
      <p:sp>
        <p:nvSpPr>
          <p:cNvPr id="75" name="TextBox 74"/>
          <p:cNvSpPr txBox="1"/>
          <p:nvPr/>
        </p:nvSpPr>
        <p:spPr>
          <a:xfrm>
            <a:off x="6190560"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10"/>
          <a:stretch>
            <a:fillRect/>
          </a:stretch>
        </p:blipFill>
        <p:spPr>
          <a:xfrm>
            <a:off x="7110507" y="4219658"/>
            <a:ext cx="128699" cy="187198"/>
          </a:xfrm>
          <a:prstGeom prst="rect">
            <a:avLst/>
          </a:prstGeom>
        </p:spPr>
      </p:pic>
      <p:sp>
        <p:nvSpPr>
          <p:cNvPr id="77" name="TextBox 76"/>
          <p:cNvSpPr txBox="1"/>
          <p:nvPr/>
        </p:nvSpPr>
        <p:spPr>
          <a:xfrm>
            <a:off x="7278003"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78" name="TextBox 77"/>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79" name="TextBox 78"/>
          <p:cNvSpPr txBox="1"/>
          <p:nvPr/>
        </p:nvSpPr>
        <p:spPr>
          <a:xfrm>
            <a:off x="3838575" y="4615009"/>
            <a:ext cx="2725878" cy="186689"/>
          </a:xfrm>
          <a:prstGeom prst="rect">
            <a:avLst/>
          </a:prstGeom>
          <a:noFill/>
        </p:spPr>
        <p:txBody>
          <a:bodyPr wrap="none" lIns="0" rIns="0" tIns="0" bIns="0">
            <a:spAutoFit/>
          </a:bodyPr>
          <a:lstStyle/>
          <a:p>
            <a:r>
              <a:rPr sz="1100" b="0">
                <a:solidFill>
                  <a:srgbClr val="252423"/>
                </a:solidFill>
                <a:latin typeface="Segoe UI"/>
              </a:rPr>
              <a:t>● Terrestrial Natural / Geological Helium-3:</a:t>
            </a:r>
          </a:p>
        </p:txBody>
      </p:sp>
      <p:pic>
        <p:nvPicPr>
          <p:cNvPr id="80" name="Picture 79" descr="lock.png"/>
          <p:cNvPicPr>
            <a:picLocks noChangeAspect="1"/>
          </p:cNvPicPr>
          <p:nvPr/>
        </p:nvPicPr>
        <p:blipFill>
          <a:blip r:embed="rId10"/>
          <a:stretch>
            <a:fillRect/>
          </a:stretch>
        </p:blipFill>
        <p:spPr>
          <a:xfrm>
            <a:off x="6512505" y="4605230"/>
            <a:ext cx="128699" cy="187198"/>
          </a:xfrm>
          <a:prstGeom prst="rect">
            <a:avLst/>
          </a:prstGeom>
        </p:spPr>
      </p:pic>
      <p:sp>
        <p:nvSpPr>
          <p:cNvPr id="81" name="TextBox 80"/>
          <p:cNvSpPr txBox="1"/>
          <p:nvPr/>
        </p:nvSpPr>
        <p:spPr>
          <a:xfrm>
            <a:off x="6680000"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3825107" y="4772870"/>
            <a:ext cx="128699" cy="187198"/>
          </a:xfrm>
          <a:prstGeom prst="rect">
            <a:avLst/>
          </a:prstGeom>
        </p:spPr>
      </p:pic>
      <p:sp>
        <p:nvSpPr>
          <p:cNvPr id="83" name="TextBox 82"/>
          <p:cNvSpPr txBox="1"/>
          <p:nvPr/>
        </p:nvSpPr>
        <p:spPr>
          <a:xfrm>
            <a:off x="3992603" y="4782649"/>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84" name="TextBox 83"/>
          <p:cNvSpPr txBox="1"/>
          <p:nvPr/>
        </p:nvSpPr>
        <p:spPr>
          <a:xfrm>
            <a:off x="8524875" y="5842641"/>
            <a:ext cx="3007714" cy="194310"/>
          </a:xfrm>
          <a:prstGeom prst="rect">
            <a:avLst/>
          </a:prstGeom>
          <a:noFill/>
        </p:spPr>
        <p:txBody>
          <a:bodyPr wrap="none" lIns="0" rIns="0" tIns="0" bIns="0">
            <a:spAutoFit/>
          </a:bodyPr>
          <a:lstStyle/>
          <a:p>
            <a:r>
              <a:rPr sz="1150" b="1">
                <a:solidFill>
                  <a:srgbClr val="0E3A5F"/>
                </a:solidFill>
                <a:latin typeface="Segoe UI"/>
              </a:rPr>
              <a:t>The Supply Source segment is projected to</a:t>
            </a:r>
          </a:p>
        </p:txBody>
      </p:sp>
      <p:sp>
        <p:nvSpPr>
          <p:cNvPr id="85" name="TextBox 84"/>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86" name="Picture 85" descr="lock.png"/>
          <p:cNvPicPr>
            <a:picLocks noChangeAspect="1"/>
          </p:cNvPicPr>
          <p:nvPr/>
        </p:nvPicPr>
        <p:blipFill>
          <a:blip r:embed="rId10"/>
          <a:stretch>
            <a:fillRect/>
          </a:stretch>
        </p:blipFill>
        <p:spPr>
          <a:xfrm>
            <a:off x="9817830" y="6007677"/>
            <a:ext cx="134549" cy="195707"/>
          </a:xfrm>
          <a:prstGeom prst="rect">
            <a:avLst/>
          </a:prstGeom>
        </p:spPr>
      </p:pic>
      <p:sp>
        <p:nvSpPr>
          <p:cNvPr id="87" name="TextBox 86"/>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Supply Source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Supply Source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Supply Source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Supply Source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495417" cy="186689"/>
          </a:xfrm>
          <a:prstGeom prst="rect">
            <a:avLst/>
          </a:prstGeom>
          <a:noFill/>
        </p:spPr>
        <p:txBody>
          <a:bodyPr wrap="none" lIns="0" rIns="0" tIns="0" bIns="0">
            <a:spAutoFit/>
          </a:bodyPr>
          <a:lstStyle/>
          <a:p>
            <a:r>
              <a:rPr sz="1100" b="0">
                <a:solidFill>
                  <a:srgbClr val="252423"/>
                </a:solidFill>
                <a:latin typeface="Segoe UI"/>
              </a:rPr>
              <a:t>Tritium-decay-derived Helium-3 followed by terrestrial natural / geological Helium-3 are expected to be the two most attractive supply source segments in the global Helium-3 market in</a:t>
            </a:r>
          </a:p>
        </p:txBody>
      </p:sp>
      <p:sp>
        <p:nvSpPr>
          <p:cNvPr id="18" name="TextBox 17"/>
          <p:cNvSpPr txBox="1"/>
          <p:nvPr/>
        </p:nvSpPr>
        <p:spPr>
          <a:xfrm>
            <a:off x="257175" y="5945505"/>
            <a:ext cx="8772887" cy="186689"/>
          </a:xfrm>
          <a:prstGeom prst="rect">
            <a:avLst/>
          </a:prstGeom>
          <a:noFill/>
        </p:spPr>
        <p:txBody>
          <a:bodyPr wrap="none" lIns="0" rIns="0" tIns="0" bIns="0">
            <a:spAutoFit/>
          </a:bodyPr>
          <a:lstStyle/>
          <a:p>
            <a:r>
              <a:rPr sz="1100" b="0">
                <a:solidFill>
                  <a:srgbClr val="252423"/>
                </a:solidFill>
                <a:latin typeface="Segoe UI"/>
              </a:rPr>
              <a:t>terms of value over the forecast period. Tritium-Decay-Derived Helium-3 and terrestrial natural / geological Helium-3 exhibit a CAGR index of</a:t>
            </a:r>
          </a:p>
        </p:txBody>
      </p:sp>
      <p:pic>
        <p:nvPicPr>
          <p:cNvPr id="19" name="Picture 18" descr="lock.png"/>
          <p:cNvPicPr>
            <a:picLocks noChangeAspect="1"/>
          </p:cNvPicPr>
          <p:nvPr/>
        </p:nvPicPr>
        <p:blipFill>
          <a:blip r:embed="rId6"/>
          <a:stretch>
            <a:fillRect/>
          </a:stretch>
        </p:blipFill>
        <p:spPr>
          <a:xfrm>
            <a:off x="8978113" y="5935726"/>
            <a:ext cx="128699" cy="187198"/>
          </a:xfrm>
          <a:prstGeom prst="rect">
            <a:avLst/>
          </a:prstGeom>
        </p:spPr>
      </p:pic>
      <p:sp>
        <p:nvSpPr>
          <p:cNvPr id="20" name="TextBox 19"/>
          <p:cNvSpPr txBox="1"/>
          <p:nvPr/>
        </p:nvSpPr>
        <p:spPr>
          <a:xfrm>
            <a:off x="9145609"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9402603" y="5935726"/>
            <a:ext cx="128699" cy="187198"/>
          </a:xfrm>
          <a:prstGeom prst="rect">
            <a:avLst/>
          </a:prstGeom>
        </p:spPr>
      </p:pic>
      <p:sp>
        <p:nvSpPr>
          <p:cNvPr id="22" name="TextBox 21"/>
          <p:cNvSpPr txBox="1"/>
          <p:nvPr/>
        </p:nvSpPr>
        <p:spPr>
          <a:xfrm>
            <a:off x="9570099" y="594550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1308839" y="5935726"/>
            <a:ext cx="128699" cy="187198"/>
          </a:xfrm>
          <a:prstGeom prst="rect">
            <a:avLst/>
          </a:prstGeom>
        </p:spPr>
      </p:pic>
      <p:sp>
        <p:nvSpPr>
          <p:cNvPr id="24" name="TextBox 23"/>
          <p:cNvSpPr txBox="1"/>
          <p:nvPr/>
        </p:nvSpPr>
        <p:spPr>
          <a:xfrm>
            <a:off x="257175"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514168" y="6103366"/>
            <a:ext cx="128699" cy="187198"/>
          </a:xfrm>
          <a:prstGeom prst="rect">
            <a:avLst/>
          </a:prstGeom>
        </p:spPr>
      </p:pic>
      <p:sp>
        <p:nvSpPr>
          <p:cNvPr id="26" name="TextBox 25"/>
          <p:cNvSpPr txBox="1"/>
          <p:nvPr/>
        </p:nvSpPr>
        <p:spPr>
          <a:xfrm>
            <a:off x="681664"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441598" y="6103366"/>
            <a:ext cx="128699" cy="187198"/>
          </a:xfrm>
          <a:prstGeom prst="rect">
            <a:avLst/>
          </a:prstGeom>
        </p:spPr>
      </p:pic>
      <p:sp>
        <p:nvSpPr>
          <p:cNvPr id="28" name="TextBox 27"/>
          <p:cNvSpPr txBox="1"/>
          <p:nvPr/>
        </p:nvSpPr>
        <p:spPr>
          <a:xfrm>
            <a:off x="3609094"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29"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Supply Source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Tritium-Decay-Derived Helium-3</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Terrestrial Natural / Geological Helium-3</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Supply Source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Supply Source,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Supply Source (US$ Mn)</a:t>
            </a:r>
          </a:p>
        </p:txBody>
      </p:sp>
      <p:graphicFrame>
        <p:nvGraphicFramePr>
          <p:cNvPr id="10" name="Table 9"/>
          <p:cNvGraphicFramePr>
            <a:graphicFrameLocks noGrp="1"/>
          </p:cNvGraphicFramePr>
          <p:nvPr/>
        </p:nvGraphicFramePr>
        <p:xfrm>
          <a:off x="152400" y="1238250"/>
          <a:ext cx="11887193" cy="990600"/>
        </p:xfrm>
        <a:graphic>
          <a:graphicData uri="http://schemas.openxmlformats.org/drawingml/2006/table">
            <a:tbl>
              <a:tblPr>
                <a:tableStyleId>{5C22544A-7EE6-4342-B048-85BDC9FD1C3A}</a:tableStyleId>
              </a:tblPr>
              <a:tblGrid>
                <a:gridCol w="2887515"/>
                <a:gridCol w="506906"/>
                <a:gridCol w="506906"/>
                <a:gridCol w="506906"/>
                <a:gridCol w="529249"/>
                <a:gridCol w="529249"/>
                <a:gridCol w="529249"/>
                <a:gridCol w="529249"/>
                <a:gridCol w="529249"/>
                <a:gridCol w="529249"/>
                <a:gridCol w="529249"/>
                <a:gridCol w="529249"/>
                <a:gridCol w="529249"/>
                <a:gridCol w="529249"/>
                <a:gridCol w="529249"/>
                <a:gridCol w="529249"/>
                <a:gridCol w="529249"/>
                <a:gridCol w="598723"/>
              </a:tblGrid>
              <a:tr h="246126">
                <a:tc>
                  <a:txBody>
                    <a:bodyPr wrap="none"/>
                    <a:lstStyle/>
                    <a:p>
                      <a:pPr algn="l"/>
                      <a:r>
                        <a:rPr sz="1100" b="1">
                          <a:solidFill>
                            <a:srgbClr val="FFFFFF"/>
                          </a:solidFill>
                          <a:latin typeface="Segoe UI"/>
                        </a:rPr>
                        <a:t>Supply Source</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2021A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2022A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2023A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2024A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2025A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2026E</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2027F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2028F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2029F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2030F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2031F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2032F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2033F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2034F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2035F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2036F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F-CAGR</a:t>
                      </a:r>
                      <a:endParaRPr sz="1100"/>
                    </a:p>
                  </a:txBody>
                  <a:tcPr marL="28575" marR="19050" marT="19050" marB="19050" anchor="ctr">
                    <a:solidFill>
                      <a:srgbClr val="007BA5"/>
                    </a:solidFill>
                  </a:tcPr>
                </a:tc>
              </a:tr>
              <a:tr h="248158">
                <a:tc>
                  <a:txBody>
                    <a:bodyPr wrap="none"/>
                    <a:lstStyle/>
                    <a:p>
                      <a:pPr algn="l"/>
                      <a:r>
                        <a:rPr sz="1100" b="1">
                          <a:solidFill>
                            <a:srgbClr val="252423"/>
                          </a:solidFill>
                          <a:latin typeface="Segoe UI"/>
                        </a:rPr>
                        <a:t>Tritium-Decay-Derived Helium-3</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8158">
                <a:tc>
                  <a:txBody>
                    <a:bodyPr wrap="none"/>
                    <a:lstStyle/>
                    <a:p>
                      <a:pPr algn="l"/>
                      <a:r>
                        <a:rPr sz="1100" b="1">
                          <a:solidFill>
                            <a:srgbClr val="252423"/>
                          </a:solidFill>
                          <a:latin typeface="Segoe UI"/>
                        </a:rPr>
                        <a:t>Terrestrial Natural / Geological Helium-3</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Supply Source</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53063" y="1589913"/>
            <a:ext cx="366712" cy="533400"/>
          </a:xfrm>
          <a:prstGeom prst="rect">
            <a:avLst/>
          </a:prstGeom>
        </p:spPr>
      </p:pic>
      <p:sp>
        <p:nvSpPr>
          <p:cNvPr id="18" name="TextBox 17"/>
          <p:cNvSpPr txBox="1"/>
          <p:nvPr/>
        </p:nvSpPr>
        <p:spPr>
          <a:xfrm>
            <a:off x="276225" y="2990850"/>
            <a:ext cx="4234876" cy="194310"/>
          </a:xfrm>
          <a:prstGeom prst="rect">
            <a:avLst/>
          </a:prstGeom>
          <a:noFill/>
        </p:spPr>
        <p:txBody>
          <a:bodyPr wrap="none" lIns="0" rIns="0" tIns="0" bIns="0">
            <a:spAutoFit/>
          </a:bodyPr>
          <a:lstStyle/>
          <a:p>
            <a:r>
              <a:rPr sz="1150" b="0">
                <a:solidFill>
                  <a:srgbClr val="252423"/>
                </a:solidFill>
                <a:latin typeface="Segoe UI"/>
              </a:rPr>
              <a:t>Tritium-decay-derived Helium-3 segment is projected to register</a:t>
            </a:r>
          </a:p>
        </p:txBody>
      </p:sp>
      <p:pic>
        <p:nvPicPr>
          <p:cNvPr id="19" name="Picture 18" descr="lock.png"/>
          <p:cNvPicPr>
            <a:picLocks noChangeAspect="1"/>
          </p:cNvPicPr>
          <p:nvPr/>
        </p:nvPicPr>
        <p:blipFill>
          <a:blip r:embed="rId4"/>
          <a:stretch>
            <a:fillRect/>
          </a:stretch>
        </p:blipFill>
        <p:spPr>
          <a:xfrm>
            <a:off x="4460255" y="2980626"/>
            <a:ext cx="134549" cy="195707"/>
          </a:xfrm>
          <a:prstGeom prst="rect">
            <a:avLst/>
          </a:prstGeom>
        </p:spPr>
      </p:pic>
      <p:sp>
        <p:nvSpPr>
          <p:cNvPr id="20" name="TextBox 19"/>
          <p:cNvSpPr txBox="1"/>
          <p:nvPr/>
        </p:nvSpPr>
        <p:spPr>
          <a:xfrm>
            <a:off x="4635364" y="2990850"/>
            <a:ext cx="6861445" cy="194310"/>
          </a:xfrm>
          <a:prstGeom prst="rect">
            <a:avLst/>
          </a:prstGeom>
          <a:noFill/>
        </p:spPr>
        <p:txBody>
          <a:bodyPr wrap="none" lIns="0" rIns="0" tIns="0" bIns="0">
            <a:spAutoFit/>
          </a:bodyPr>
          <a:lstStyle/>
          <a:p>
            <a:r>
              <a:rPr sz="1150" b="0">
                <a:solidFill>
                  <a:srgbClr val="252423"/>
                </a:solidFill>
                <a:latin typeface="Segoe UI"/>
              </a:rPr>
              <a:t>X higher value than terrestrial natural / geological Helium-3 segment in 2036. Among Helium-3 by supply</a:t>
            </a:r>
          </a:p>
        </p:txBody>
      </p:sp>
      <p:sp>
        <p:nvSpPr>
          <p:cNvPr id="21" name="TextBox 20"/>
          <p:cNvSpPr txBox="1"/>
          <p:nvPr/>
        </p:nvSpPr>
        <p:spPr>
          <a:xfrm>
            <a:off x="276225" y="3166110"/>
            <a:ext cx="6009329" cy="194310"/>
          </a:xfrm>
          <a:prstGeom prst="rect">
            <a:avLst/>
          </a:prstGeom>
          <a:noFill/>
        </p:spPr>
        <p:txBody>
          <a:bodyPr wrap="none" lIns="0" rIns="0" tIns="0" bIns="0">
            <a:spAutoFit/>
          </a:bodyPr>
          <a:lstStyle/>
          <a:p>
            <a:r>
              <a:rPr sz="1150" b="0">
                <a:solidFill>
                  <a:srgbClr val="252423"/>
                </a:solidFill>
                <a:latin typeface="Segoe UI"/>
              </a:rPr>
              <a:t>source, tritium-decay-derived Helium-3 segment is expected to witness the highest CAGR of</a:t>
            </a:r>
          </a:p>
        </p:txBody>
      </p:sp>
      <p:pic>
        <p:nvPicPr>
          <p:cNvPr id="22" name="Picture 21" descr="lock.png"/>
          <p:cNvPicPr>
            <a:picLocks noChangeAspect="1"/>
          </p:cNvPicPr>
          <p:nvPr/>
        </p:nvPicPr>
        <p:blipFill>
          <a:blip r:embed="rId4"/>
          <a:stretch>
            <a:fillRect/>
          </a:stretch>
        </p:blipFill>
        <p:spPr>
          <a:xfrm>
            <a:off x="6234708" y="3155886"/>
            <a:ext cx="134549" cy="195707"/>
          </a:xfrm>
          <a:prstGeom prst="rect">
            <a:avLst/>
          </a:prstGeom>
        </p:spPr>
      </p:pic>
      <p:sp>
        <p:nvSpPr>
          <p:cNvPr id="23" name="TextBox 22"/>
          <p:cNvSpPr txBox="1"/>
          <p:nvPr/>
        </p:nvSpPr>
        <p:spPr>
          <a:xfrm>
            <a:off x="6409817"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8508029" cy="194310"/>
          </a:xfrm>
          <a:prstGeom prst="rect">
            <a:avLst/>
          </a:prstGeom>
          <a:noFill/>
        </p:spPr>
        <p:txBody>
          <a:bodyPr wrap="none" lIns="0" rIns="0" tIns="0" bIns="0">
            <a:spAutoFit/>
          </a:bodyPr>
          <a:lstStyle/>
          <a:p>
            <a:r>
              <a:rPr sz="1150" b="0">
                <a:solidFill>
                  <a:srgbClr val="252423"/>
                </a:solidFill>
                <a:latin typeface="Segoe UI"/>
              </a:rPr>
              <a:t>In terms of value share by supply source, the tritium-decay-derived Helium-3 segment is expected to dominate the market, gaining</a:t>
            </a:r>
          </a:p>
        </p:txBody>
      </p:sp>
      <p:pic>
        <p:nvPicPr>
          <p:cNvPr id="25" name="Picture 24" descr="lock.png"/>
          <p:cNvPicPr>
            <a:picLocks noChangeAspect="1"/>
          </p:cNvPicPr>
          <p:nvPr/>
        </p:nvPicPr>
        <p:blipFill>
          <a:blip r:embed="rId4"/>
          <a:stretch>
            <a:fillRect/>
          </a:stretch>
        </p:blipFill>
        <p:spPr>
          <a:xfrm>
            <a:off x="8733408" y="3383724"/>
            <a:ext cx="134549" cy="195707"/>
          </a:xfrm>
          <a:prstGeom prst="rect">
            <a:avLst/>
          </a:prstGeom>
        </p:spPr>
      </p:pic>
      <p:sp>
        <p:nvSpPr>
          <p:cNvPr id="26" name="TextBox 25"/>
          <p:cNvSpPr txBox="1"/>
          <p:nvPr/>
        </p:nvSpPr>
        <p:spPr>
          <a:xfrm>
            <a:off x="8908517"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436874" y="3383724"/>
            <a:ext cx="134549" cy="195707"/>
          </a:xfrm>
          <a:prstGeom prst="rect">
            <a:avLst/>
          </a:prstGeom>
        </p:spPr>
      </p:pic>
      <p:sp>
        <p:nvSpPr>
          <p:cNvPr id="28" name="TextBox 27"/>
          <p:cNvSpPr txBox="1"/>
          <p:nvPr/>
        </p:nvSpPr>
        <p:spPr>
          <a:xfrm>
            <a:off x="10611983" y="33939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29" name="TextBox 28"/>
          <p:cNvSpPr txBox="1"/>
          <p:nvPr/>
        </p:nvSpPr>
        <p:spPr>
          <a:xfrm>
            <a:off x="276225" y="3569207"/>
            <a:ext cx="4731173" cy="194310"/>
          </a:xfrm>
          <a:prstGeom prst="rect">
            <a:avLst/>
          </a:prstGeom>
          <a:noFill/>
        </p:spPr>
        <p:txBody>
          <a:bodyPr wrap="none" lIns="0" rIns="0" tIns="0" bIns="0">
            <a:spAutoFit/>
          </a:bodyPr>
          <a:lstStyle/>
          <a:p>
            <a:r>
              <a:rPr sz="1150" b="0">
                <a:solidFill>
                  <a:srgbClr val="252423"/>
                </a:solidFill>
                <a:latin typeface="Segoe UI"/>
              </a:rPr>
              <a:t>The terrestrial natural / geological Helium-3 segment is expected to lose</a:t>
            </a:r>
          </a:p>
        </p:txBody>
      </p:sp>
      <p:pic>
        <p:nvPicPr>
          <p:cNvPr id="30" name="Picture 29" descr="lock.png"/>
          <p:cNvPicPr>
            <a:picLocks noChangeAspect="1"/>
          </p:cNvPicPr>
          <p:nvPr/>
        </p:nvPicPr>
        <p:blipFill>
          <a:blip r:embed="rId4"/>
          <a:stretch>
            <a:fillRect/>
          </a:stretch>
        </p:blipFill>
        <p:spPr>
          <a:xfrm>
            <a:off x="4956552" y="3558984"/>
            <a:ext cx="134549" cy="195707"/>
          </a:xfrm>
          <a:prstGeom prst="rect">
            <a:avLst/>
          </a:prstGeom>
        </p:spPr>
      </p:pic>
      <p:sp>
        <p:nvSpPr>
          <p:cNvPr id="31" name="TextBox 30"/>
          <p:cNvSpPr txBox="1"/>
          <p:nvPr/>
        </p:nvSpPr>
        <p:spPr>
          <a:xfrm>
            <a:off x="5131662"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7931047" y="3558984"/>
            <a:ext cx="134549" cy="195707"/>
          </a:xfrm>
          <a:prstGeom prst="rect">
            <a:avLst/>
          </a:prstGeom>
        </p:spPr>
      </p:pic>
      <p:sp>
        <p:nvSpPr>
          <p:cNvPr id="33" name="TextBox 32"/>
          <p:cNvSpPr txBox="1"/>
          <p:nvPr/>
        </p:nvSpPr>
        <p:spPr>
          <a:xfrm>
            <a:off x="8106157"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Supply Source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Supply Source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198091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97614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9994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Terrestrial Natural / Geological Helium-3</a:t>
            </a:r>
          </a:p>
        </p:txBody>
      </p:sp>
      <p:sp>
        <p:nvSpPr>
          <p:cNvPr id="16" name="BPS Value 1"/>
          <p:cNvSpPr txBox="1"/>
          <p:nvPr/>
        </p:nvSpPr>
        <p:spPr>
          <a:xfrm>
            <a:off x="6896100" y="196186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426710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26233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1861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Tritium-Decay-Derived Helium-3</a:t>
            </a:r>
          </a:p>
        </p:txBody>
      </p:sp>
      <p:sp>
        <p:nvSpPr>
          <p:cNvPr id="20" name="BPS Value 2"/>
          <p:cNvSpPr txBox="1"/>
          <p:nvPr/>
        </p:nvSpPr>
        <p:spPr>
          <a:xfrm>
            <a:off x="6896100" y="4248051"/>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Supply Source</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785597" cy="194310"/>
          </a:xfrm>
          <a:prstGeom prst="rect">
            <a:avLst/>
          </a:prstGeom>
          <a:noFill/>
        </p:spPr>
        <p:txBody>
          <a:bodyPr wrap="none" lIns="0" rIns="0" tIns="0" bIns="0">
            <a:spAutoFit/>
          </a:bodyPr>
          <a:lstStyle/>
          <a:p>
            <a:r>
              <a:rPr sz="1150" b="0">
                <a:solidFill>
                  <a:srgbClr val="252423"/>
                </a:solidFill>
                <a:latin typeface="Segoe UI"/>
              </a:rPr>
              <a:t>Among Helium-3 by supply source, tritium-decay-derived</a:t>
            </a:r>
          </a:p>
        </p:txBody>
      </p:sp>
      <p:sp>
        <p:nvSpPr>
          <p:cNvPr id="28" name="TextBox 27"/>
          <p:cNvSpPr txBox="1"/>
          <p:nvPr/>
        </p:nvSpPr>
        <p:spPr>
          <a:xfrm>
            <a:off x="7829550" y="1575435"/>
            <a:ext cx="4057650" cy="194310"/>
          </a:xfrm>
          <a:prstGeom prst="rect">
            <a:avLst/>
          </a:prstGeom>
          <a:noFill/>
        </p:spPr>
        <p:txBody>
          <a:bodyPr wrap="none" lIns="0" rIns="0" tIns="0" bIns="0">
            <a:spAutoFit/>
          </a:bodyPr>
          <a:lstStyle/>
          <a:p>
            <a:r>
              <a:rPr sz="1150" b="0">
                <a:solidFill>
                  <a:srgbClr val="252423"/>
                </a:solidFill>
                <a:latin typeface="Segoe UI"/>
              </a:rPr>
              <a:t>Helium-3 segment is expected to witness the highest CAGR of</a:t>
            </a:r>
          </a:p>
        </p:txBody>
      </p:sp>
      <p:pic>
        <p:nvPicPr>
          <p:cNvPr id="29" name="Picture 28" descr="lock.png"/>
          <p:cNvPicPr>
            <a:picLocks noChangeAspect="1"/>
          </p:cNvPicPr>
          <p:nvPr/>
        </p:nvPicPr>
        <p:blipFill>
          <a:blip r:embed="rId5"/>
          <a:stretch>
            <a:fillRect/>
          </a:stretch>
        </p:blipFill>
        <p:spPr>
          <a:xfrm>
            <a:off x="7815470" y="1740471"/>
            <a:ext cx="134549" cy="195707"/>
          </a:xfrm>
          <a:prstGeom prst="rect">
            <a:avLst/>
          </a:prstGeom>
        </p:spPr>
      </p:pic>
      <p:sp>
        <p:nvSpPr>
          <p:cNvPr id="30" name="TextBox 29"/>
          <p:cNvSpPr txBox="1"/>
          <p:nvPr/>
        </p:nvSpPr>
        <p:spPr>
          <a:xfrm>
            <a:off x="7990579" y="1750695"/>
            <a:ext cx="3812277" cy="194310"/>
          </a:xfrm>
          <a:prstGeom prst="rect">
            <a:avLst/>
          </a:prstGeom>
          <a:noFill/>
        </p:spPr>
        <p:txBody>
          <a:bodyPr wrap="none" lIns="0" rIns="0" tIns="0" bIns="0">
            <a:spAutoFit/>
          </a:bodyPr>
          <a:lstStyle/>
          <a:p>
            <a:r>
              <a:rPr sz="1150" b="0">
                <a:solidFill>
                  <a:srgbClr val="252423"/>
                </a:solidFill>
                <a:latin typeface="Segoe UI"/>
              </a:rPr>
              <a:t>over the forecast period. In terms of value share by supply</a:t>
            </a:r>
          </a:p>
        </p:txBody>
      </p:sp>
      <p:sp>
        <p:nvSpPr>
          <p:cNvPr id="31" name="TextBox 30"/>
          <p:cNvSpPr txBox="1"/>
          <p:nvPr/>
        </p:nvSpPr>
        <p:spPr>
          <a:xfrm>
            <a:off x="7829550" y="1925955"/>
            <a:ext cx="3597329" cy="194310"/>
          </a:xfrm>
          <a:prstGeom prst="rect">
            <a:avLst/>
          </a:prstGeom>
          <a:noFill/>
        </p:spPr>
        <p:txBody>
          <a:bodyPr wrap="none" lIns="0" rIns="0" tIns="0" bIns="0">
            <a:spAutoFit/>
          </a:bodyPr>
          <a:lstStyle/>
          <a:p>
            <a:r>
              <a:rPr sz="1150" b="0">
                <a:solidFill>
                  <a:srgbClr val="252423"/>
                </a:solidFill>
                <a:latin typeface="Segoe UI"/>
              </a:rPr>
              <a:t>source, the tritium-decay-derived Helium-3 segment is</a:t>
            </a:r>
          </a:p>
        </p:txBody>
      </p:sp>
      <p:sp>
        <p:nvSpPr>
          <p:cNvPr id="32" name="TextBox 31"/>
          <p:cNvSpPr txBox="1"/>
          <p:nvPr/>
        </p:nvSpPr>
        <p:spPr>
          <a:xfrm>
            <a:off x="7829550" y="2101215"/>
            <a:ext cx="2786014" cy="194310"/>
          </a:xfrm>
          <a:prstGeom prst="rect">
            <a:avLst/>
          </a:prstGeom>
          <a:noFill/>
        </p:spPr>
        <p:txBody>
          <a:bodyPr wrap="none" lIns="0" rIns="0" tIns="0" bIns="0">
            <a:spAutoFit/>
          </a:bodyPr>
          <a:lstStyle/>
          <a:p>
            <a:r>
              <a:rPr sz="1150" b="0">
                <a:solidFill>
                  <a:srgbClr val="252423"/>
                </a:solidFill>
                <a:latin typeface="Segoe UI"/>
              </a:rPr>
              <a:t>expected to dominate the market, gaining</a:t>
            </a:r>
          </a:p>
        </p:txBody>
      </p:sp>
      <p:pic>
        <p:nvPicPr>
          <p:cNvPr id="33" name="Picture 32" descr="lock.png"/>
          <p:cNvPicPr>
            <a:picLocks noChangeAspect="1"/>
          </p:cNvPicPr>
          <p:nvPr/>
        </p:nvPicPr>
        <p:blipFill>
          <a:blip r:embed="rId5"/>
          <a:stretch>
            <a:fillRect/>
          </a:stretch>
        </p:blipFill>
        <p:spPr>
          <a:xfrm>
            <a:off x="10564717" y="2090991"/>
            <a:ext cx="134549" cy="195707"/>
          </a:xfrm>
          <a:prstGeom prst="rect">
            <a:avLst/>
          </a:prstGeom>
        </p:spPr>
      </p:pic>
      <p:sp>
        <p:nvSpPr>
          <p:cNvPr id="34" name="TextBox 33"/>
          <p:cNvSpPr txBox="1"/>
          <p:nvPr/>
        </p:nvSpPr>
        <p:spPr>
          <a:xfrm>
            <a:off x="10739827" y="210121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35" name="TextBox 34"/>
          <p:cNvSpPr txBox="1"/>
          <p:nvPr/>
        </p:nvSpPr>
        <p:spPr>
          <a:xfrm>
            <a:off x="7829550" y="227647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36" name="Picture 35" descr="lock.png"/>
          <p:cNvPicPr>
            <a:picLocks noChangeAspect="1"/>
          </p:cNvPicPr>
          <p:nvPr/>
        </p:nvPicPr>
        <p:blipFill>
          <a:blip r:embed="rId5"/>
          <a:stretch>
            <a:fillRect/>
          </a:stretch>
        </p:blipFill>
        <p:spPr>
          <a:xfrm>
            <a:off x="8791392" y="2266251"/>
            <a:ext cx="134549" cy="195707"/>
          </a:xfrm>
          <a:prstGeom prst="rect">
            <a:avLst/>
          </a:prstGeom>
        </p:spPr>
      </p:pic>
      <p:sp>
        <p:nvSpPr>
          <p:cNvPr id="37" name="TextBox 36"/>
          <p:cNvSpPr txBox="1"/>
          <p:nvPr/>
        </p:nvSpPr>
        <p:spPr>
          <a:xfrm>
            <a:off x="8966501" y="227647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38" name="TextBox 37"/>
          <p:cNvSpPr txBox="1"/>
          <p:nvPr/>
        </p:nvSpPr>
        <p:spPr>
          <a:xfrm>
            <a:off x="7829550" y="2504313"/>
            <a:ext cx="3631270" cy="194310"/>
          </a:xfrm>
          <a:prstGeom prst="rect">
            <a:avLst/>
          </a:prstGeom>
          <a:noFill/>
        </p:spPr>
        <p:txBody>
          <a:bodyPr wrap="none" lIns="0" rIns="0" tIns="0" bIns="0">
            <a:spAutoFit/>
          </a:bodyPr>
          <a:lstStyle/>
          <a:p>
            <a:r>
              <a:rPr sz="1150" b="0">
                <a:solidFill>
                  <a:srgbClr val="252423"/>
                </a:solidFill>
                <a:latin typeface="Segoe UI"/>
              </a:rPr>
              <a:t>The terrestrial natural / geological Helium-3 segment is</a:t>
            </a:r>
          </a:p>
        </p:txBody>
      </p:sp>
      <p:sp>
        <p:nvSpPr>
          <p:cNvPr id="39" name="TextBox 38"/>
          <p:cNvSpPr txBox="1"/>
          <p:nvPr/>
        </p:nvSpPr>
        <p:spPr>
          <a:xfrm>
            <a:off x="7829550" y="2679573"/>
            <a:ext cx="1136167" cy="194310"/>
          </a:xfrm>
          <a:prstGeom prst="rect">
            <a:avLst/>
          </a:prstGeom>
          <a:noFill/>
        </p:spPr>
        <p:txBody>
          <a:bodyPr wrap="none" lIns="0" rIns="0" tIns="0" bIns="0">
            <a:spAutoFit/>
          </a:bodyPr>
          <a:lstStyle/>
          <a:p>
            <a:r>
              <a:rPr sz="1150" b="0">
                <a:solidFill>
                  <a:srgbClr val="252423"/>
                </a:solidFill>
                <a:latin typeface="Segoe UI"/>
              </a:rPr>
              <a:t>expected to lose</a:t>
            </a:r>
          </a:p>
        </p:txBody>
      </p:sp>
      <p:pic>
        <p:nvPicPr>
          <p:cNvPr id="40" name="Picture 39" descr="lock.png"/>
          <p:cNvPicPr>
            <a:picLocks noChangeAspect="1"/>
          </p:cNvPicPr>
          <p:nvPr/>
        </p:nvPicPr>
        <p:blipFill>
          <a:blip r:embed="rId5"/>
          <a:stretch>
            <a:fillRect/>
          </a:stretch>
        </p:blipFill>
        <p:spPr>
          <a:xfrm>
            <a:off x="8914871" y="2669349"/>
            <a:ext cx="134549" cy="195707"/>
          </a:xfrm>
          <a:prstGeom prst="rect">
            <a:avLst/>
          </a:prstGeom>
        </p:spPr>
      </p:pic>
      <p:sp>
        <p:nvSpPr>
          <p:cNvPr id="41" name="TextBox 40"/>
          <p:cNvSpPr txBox="1"/>
          <p:nvPr/>
        </p:nvSpPr>
        <p:spPr>
          <a:xfrm>
            <a:off x="9089981" y="2679573"/>
            <a:ext cx="2628304" cy="194310"/>
          </a:xfrm>
          <a:prstGeom prst="rect">
            <a:avLst/>
          </a:prstGeom>
          <a:noFill/>
        </p:spPr>
        <p:txBody>
          <a:bodyPr wrap="none" lIns="0" rIns="0" tIns="0" bIns="0">
            <a:spAutoFit/>
          </a:bodyPr>
          <a:lstStyle/>
          <a:p>
            <a:r>
              <a:rPr sz="1150" b="0">
                <a:solidFill>
                  <a:srgbClr val="252423"/>
                </a:solidFill>
                <a:latin typeface="Segoe UI"/>
              </a:rPr>
              <a:t>BPS over the forecast period to account</a:t>
            </a:r>
          </a:p>
        </p:txBody>
      </p:sp>
      <p:sp>
        <p:nvSpPr>
          <p:cNvPr id="42" name="TextBox 41"/>
          <p:cNvSpPr txBox="1"/>
          <p:nvPr/>
        </p:nvSpPr>
        <p:spPr>
          <a:xfrm>
            <a:off x="7829550" y="2854832"/>
            <a:ext cx="258191" cy="194310"/>
          </a:xfrm>
          <a:prstGeom prst="rect">
            <a:avLst/>
          </a:prstGeom>
          <a:noFill/>
        </p:spPr>
        <p:txBody>
          <a:bodyPr wrap="none" lIns="0" rIns="0" tIns="0" bIns="0">
            <a:spAutoFit/>
          </a:bodyPr>
          <a:lstStyle/>
          <a:p>
            <a:r>
              <a:rPr sz="1150" b="0">
                <a:solidFill>
                  <a:srgbClr val="252423"/>
                </a:solidFill>
                <a:latin typeface="Segoe UI"/>
              </a:rPr>
              <a:t>for</a:t>
            </a:r>
          </a:p>
        </p:txBody>
      </p:sp>
      <p:pic>
        <p:nvPicPr>
          <p:cNvPr id="43" name="Picture 42" descr="lock.png"/>
          <p:cNvPicPr>
            <a:picLocks noChangeAspect="1"/>
          </p:cNvPicPr>
          <p:nvPr/>
        </p:nvPicPr>
        <p:blipFill>
          <a:blip r:embed="rId5"/>
          <a:stretch>
            <a:fillRect/>
          </a:stretch>
        </p:blipFill>
        <p:spPr>
          <a:xfrm>
            <a:off x="8036895" y="2844609"/>
            <a:ext cx="134549" cy="195707"/>
          </a:xfrm>
          <a:prstGeom prst="rect">
            <a:avLst/>
          </a:prstGeom>
        </p:spPr>
      </p:pic>
      <p:sp>
        <p:nvSpPr>
          <p:cNvPr id="44" name="TextBox 43"/>
          <p:cNvSpPr txBox="1"/>
          <p:nvPr/>
        </p:nvSpPr>
        <p:spPr>
          <a:xfrm>
            <a:off x="821200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Application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Application segment categorizes the market by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and Biomedical Imaging</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Cryogenic Refrigeration and Ultra…</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Neutron Detection and Radiation M…</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Nuclear Fusion Research</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Application split shows how demand is distributed across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5_881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8_408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3_6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2_487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4_647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6_4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_311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2_785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7_8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1_221_605E5C.png"/>
          <p:cNvPicPr>
            <a:picLocks noChangeAspect="1"/>
          </p:cNvPicPr>
          <p:nvPr/>
        </p:nvPicPr>
        <p:blipFill>
          <a:blip r:embed="rId13"/>
          <a:stretch>
            <a:fillRect/>
          </a:stretch>
        </p:blipFill>
        <p:spPr>
          <a:xfrm>
            <a:off x="10062992" y="2286582"/>
            <a:ext cx="1195728" cy="361950"/>
          </a:xfrm>
          <a:prstGeom prst="rect">
            <a:avLst/>
          </a:prstGeom>
        </p:spPr>
      </p:pic>
      <p:pic>
        <p:nvPicPr>
          <p:cNvPr id="71" name="Picture 70" descr="1_905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4_6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502236" cy="179984"/>
          </a:xfrm>
          <a:prstGeom prst="rect">
            <a:avLst/>
          </a:prstGeom>
          <a:noFill/>
        </p:spPr>
        <p:txBody>
          <a:bodyPr wrap="none" lIns="0" rIns="0" tIns="0" bIns="0">
            <a:spAutoFit/>
          </a:bodyPr>
          <a:lstStyle/>
          <a:p>
            <a:r>
              <a:rPr sz="1055" b="0">
                <a:solidFill>
                  <a:srgbClr val="252423"/>
                </a:solidFill>
                <a:latin typeface="Segoe UI"/>
              </a:rPr>
              <a:t>Among Helium-3 by application, neutron</a:t>
            </a:r>
          </a:p>
        </p:txBody>
      </p:sp>
      <p:sp>
        <p:nvSpPr>
          <p:cNvPr id="78" name="TextBox 77"/>
          <p:cNvSpPr txBox="1"/>
          <p:nvPr/>
        </p:nvSpPr>
        <p:spPr>
          <a:xfrm>
            <a:off x="485775" y="4390371"/>
            <a:ext cx="2833845" cy="179984"/>
          </a:xfrm>
          <a:prstGeom prst="rect">
            <a:avLst/>
          </a:prstGeom>
          <a:noFill/>
        </p:spPr>
        <p:txBody>
          <a:bodyPr wrap="none" lIns="0" rIns="0" tIns="0" bIns="0">
            <a:spAutoFit/>
          </a:bodyPr>
          <a:lstStyle/>
          <a:p>
            <a:r>
              <a:rPr sz="1055" b="0">
                <a:solidFill>
                  <a:srgbClr val="252423"/>
                </a:solidFill>
                <a:latin typeface="Segoe UI"/>
              </a:rPr>
              <a:t>detection and radiation monitoring segment is</a:t>
            </a:r>
          </a:p>
        </p:txBody>
      </p:sp>
      <p:sp>
        <p:nvSpPr>
          <p:cNvPr id="79" name="TextBox 78"/>
          <p:cNvSpPr txBox="1"/>
          <p:nvPr/>
        </p:nvSpPr>
        <p:spPr>
          <a:xfrm>
            <a:off x="485775" y="4551305"/>
            <a:ext cx="2482783" cy="179984"/>
          </a:xfrm>
          <a:prstGeom prst="rect">
            <a:avLst/>
          </a:prstGeom>
          <a:noFill/>
        </p:spPr>
        <p:txBody>
          <a:bodyPr wrap="none" lIns="0" rIns="0" tIns="0" bIns="0">
            <a:spAutoFit/>
          </a:bodyPr>
          <a:lstStyle/>
          <a:p>
            <a:r>
              <a:rPr sz="1055" b="0">
                <a:solidFill>
                  <a:srgbClr val="252423"/>
                </a:solidFill>
                <a:latin typeface="Segoe UI"/>
              </a:rPr>
              <a:t>expected to witness the highest CAGR of</a:t>
            </a:r>
          </a:p>
        </p:txBody>
      </p:sp>
      <p:pic>
        <p:nvPicPr>
          <p:cNvPr id="80" name="Picture 79" descr="lock.png"/>
          <p:cNvPicPr>
            <a:picLocks noChangeAspect="1"/>
          </p:cNvPicPr>
          <p:nvPr/>
        </p:nvPicPr>
        <p:blipFill>
          <a:blip r:embed="rId16"/>
          <a:stretch>
            <a:fillRect/>
          </a:stretch>
        </p:blipFill>
        <p:spPr>
          <a:xfrm>
            <a:off x="2915640" y="4541917"/>
            <a:ext cx="123551" cy="179710"/>
          </a:xfrm>
          <a:prstGeom prst="rect">
            <a:avLst/>
          </a:prstGeom>
        </p:spPr>
      </p:pic>
      <p:sp>
        <p:nvSpPr>
          <p:cNvPr id="81" name="TextBox 80"/>
          <p:cNvSpPr txBox="1"/>
          <p:nvPr/>
        </p:nvSpPr>
        <p:spPr>
          <a:xfrm>
            <a:off x="485775" y="4712240"/>
            <a:ext cx="2901818" cy="179984"/>
          </a:xfrm>
          <a:prstGeom prst="rect">
            <a:avLst/>
          </a:prstGeom>
          <a:noFill/>
        </p:spPr>
        <p:txBody>
          <a:bodyPr wrap="none" lIns="0" rIns="0" tIns="0" bIns="0">
            <a:spAutoFit/>
          </a:bodyPr>
          <a:lstStyle/>
          <a:p>
            <a:r>
              <a:rPr sz="1055" b="0">
                <a:solidFill>
                  <a:srgbClr val="252423"/>
                </a:solidFill>
                <a:latin typeface="Segoe UI"/>
              </a:rPr>
              <a:t>over the forecast period. In terms of value share</a:t>
            </a:r>
          </a:p>
        </p:txBody>
      </p:sp>
      <p:sp>
        <p:nvSpPr>
          <p:cNvPr id="82" name="TextBox 81"/>
          <p:cNvSpPr txBox="1"/>
          <p:nvPr/>
        </p:nvSpPr>
        <p:spPr>
          <a:xfrm>
            <a:off x="485775" y="4873174"/>
            <a:ext cx="2612016" cy="179984"/>
          </a:xfrm>
          <a:prstGeom prst="rect">
            <a:avLst/>
          </a:prstGeom>
          <a:noFill/>
        </p:spPr>
        <p:txBody>
          <a:bodyPr wrap="none" lIns="0" rIns="0" tIns="0" bIns="0">
            <a:spAutoFit/>
          </a:bodyPr>
          <a:lstStyle/>
          <a:p>
            <a:r>
              <a:rPr sz="1055" b="0">
                <a:solidFill>
                  <a:srgbClr val="252423"/>
                </a:solidFill>
                <a:latin typeface="Segoe UI"/>
              </a:rPr>
              <a:t>by application, the medical and biomedical</a:t>
            </a:r>
          </a:p>
        </p:txBody>
      </p:sp>
      <p:sp>
        <p:nvSpPr>
          <p:cNvPr id="83" name="TextBox 82"/>
          <p:cNvSpPr txBox="1"/>
          <p:nvPr/>
        </p:nvSpPr>
        <p:spPr>
          <a:xfrm>
            <a:off x="485775" y="5034109"/>
            <a:ext cx="2801348" cy="179984"/>
          </a:xfrm>
          <a:prstGeom prst="rect">
            <a:avLst/>
          </a:prstGeom>
          <a:noFill/>
        </p:spPr>
        <p:txBody>
          <a:bodyPr wrap="none" lIns="0" rIns="0" tIns="0" bIns="0">
            <a:spAutoFit/>
          </a:bodyPr>
          <a:lstStyle/>
          <a:p>
            <a:r>
              <a:rPr sz="1055" b="0">
                <a:solidFill>
                  <a:srgbClr val="252423"/>
                </a:solidFill>
                <a:latin typeface="Segoe UI"/>
              </a:rPr>
              <a:t>imaging segment is expected to dominate the</a:t>
            </a:r>
          </a:p>
        </p:txBody>
      </p:sp>
      <p:sp>
        <p:nvSpPr>
          <p:cNvPr id="84" name="TextBox 83"/>
          <p:cNvSpPr txBox="1"/>
          <p:nvPr/>
        </p:nvSpPr>
        <p:spPr>
          <a:xfrm>
            <a:off x="485775" y="5195043"/>
            <a:ext cx="910430" cy="179984"/>
          </a:xfrm>
          <a:prstGeom prst="rect">
            <a:avLst/>
          </a:prstGeom>
          <a:noFill/>
        </p:spPr>
        <p:txBody>
          <a:bodyPr wrap="none" lIns="0" rIns="0" tIns="0" bIns="0">
            <a:spAutoFit/>
          </a:bodyPr>
          <a:lstStyle/>
          <a:p>
            <a:r>
              <a:rPr sz="1055" b="0">
                <a:solidFill>
                  <a:srgbClr val="252423"/>
                </a:solidFill>
                <a:latin typeface="Segoe UI"/>
              </a:rPr>
              <a:t>market, losing</a:t>
            </a:r>
          </a:p>
        </p:txBody>
      </p:sp>
      <p:pic>
        <p:nvPicPr>
          <p:cNvPr id="85" name="Picture 84" descr="lock.png"/>
          <p:cNvPicPr>
            <a:picLocks noChangeAspect="1"/>
          </p:cNvPicPr>
          <p:nvPr/>
        </p:nvPicPr>
        <p:blipFill>
          <a:blip r:embed="rId16"/>
          <a:stretch>
            <a:fillRect/>
          </a:stretch>
        </p:blipFill>
        <p:spPr>
          <a:xfrm>
            <a:off x="1343286" y="5185655"/>
            <a:ext cx="123551" cy="179710"/>
          </a:xfrm>
          <a:prstGeom prst="rect">
            <a:avLst/>
          </a:prstGeom>
        </p:spPr>
      </p:pic>
      <p:sp>
        <p:nvSpPr>
          <p:cNvPr id="86" name="TextBox 85"/>
          <p:cNvSpPr txBox="1"/>
          <p:nvPr/>
        </p:nvSpPr>
        <p:spPr>
          <a:xfrm>
            <a:off x="1504082"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87" name="Picture 86" descr="lock.png"/>
          <p:cNvPicPr>
            <a:picLocks noChangeAspect="1"/>
          </p:cNvPicPr>
          <p:nvPr/>
        </p:nvPicPr>
        <p:blipFill>
          <a:blip r:embed="rId16"/>
          <a:stretch>
            <a:fillRect/>
          </a:stretch>
        </p:blipFill>
        <p:spPr>
          <a:xfrm>
            <a:off x="2907512" y="5185655"/>
            <a:ext cx="123551" cy="179710"/>
          </a:xfrm>
          <a:prstGeom prst="rect">
            <a:avLst/>
          </a:prstGeom>
        </p:spPr>
      </p:pic>
      <p:sp>
        <p:nvSpPr>
          <p:cNvPr id="88" name="TextBox 87"/>
          <p:cNvSpPr txBox="1"/>
          <p:nvPr/>
        </p:nvSpPr>
        <p:spPr>
          <a:xfrm>
            <a:off x="485775"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89" name="TextBox 88"/>
          <p:cNvSpPr txBox="1"/>
          <p:nvPr/>
        </p:nvSpPr>
        <p:spPr>
          <a:xfrm>
            <a:off x="485775" y="5565192"/>
            <a:ext cx="2684049" cy="179984"/>
          </a:xfrm>
          <a:prstGeom prst="rect">
            <a:avLst/>
          </a:prstGeom>
          <a:noFill/>
        </p:spPr>
        <p:txBody>
          <a:bodyPr wrap="none" lIns="0" rIns="0" tIns="0" bIns="0">
            <a:spAutoFit/>
          </a:bodyPr>
          <a:lstStyle/>
          <a:p>
            <a:r>
              <a:rPr sz="1055" b="0">
                <a:solidFill>
                  <a:srgbClr val="252423"/>
                </a:solidFill>
                <a:latin typeface="Segoe UI"/>
              </a:rPr>
              <a:t>Medical and biomedical imaging segment is</a:t>
            </a:r>
          </a:p>
        </p:txBody>
      </p:sp>
      <p:sp>
        <p:nvSpPr>
          <p:cNvPr id="90" name="TextBox 89"/>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91" name="Picture 90" descr="lock.png"/>
          <p:cNvPicPr>
            <a:picLocks noChangeAspect="1"/>
          </p:cNvPicPr>
          <p:nvPr/>
        </p:nvPicPr>
        <p:blipFill>
          <a:blip r:embed="rId16"/>
          <a:stretch>
            <a:fillRect/>
          </a:stretch>
        </p:blipFill>
        <p:spPr>
          <a:xfrm>
            <a:off x="1717791" y="5716739"/>
            <a:ext cx="123551" cy="179710"/>
          </a:xfrm>
          <a:prstGeom prst="rect">
            <a:avLst/>
          </a:prstGeom>
        </p:spPr>
      </p:pic>
      <p:sp>
        <p:nvSpPr>
          <p:cNvPr id="92" name="TextBox 91"/>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93" name="TextBox 92"/>
          <p:cNvSpPr txBox="1"/>
          <p:nvPr/>
        </p:nvSpPr>
        <p:spPr>
          <a:xfrm>
            <a:off x="485775" y="5887061"/>
            <a:ext cx="1679830" cy="179984"/>
          </a:xfrm>
          <a:prstGeom prst="rect">
            <a:avLst/>
          </a:prstGeom>
          <a:noFill/>
        </p:spPr>
        <p:txBody>
          <a:bodyPr wrap="none" lIns="0" rIns="0" tIns="0" bIns="0">
            <a:spAutoFit/>
          </a:bodyPr>
          <a:lstStyle/>
          <a:p>
            <a:r>
              <a:rPr sz="1055" b="0">
                <a:solidFill>
                  <a:srgbClr val="252423"/>
                </a:solidFill>
                <a:latin typeface="Segoe UI"/>
              </a:rPr>
              <a:t>cryogenic refrigeration and</a:t>
            </a:r>
          </a:p>
        </p:txBody>
      </p:sp>
      <p:sp>
        <p:nvSpPr>
          <p:cNvPr id="94" name="TextBox 93"/>
          <p:cNvSpPr txBox="1"/>
          <p:nvPr/>
        </p:nvSpPr>
        <p:spPr>
          <a:xfrm>
            <a:off x="485775" y="6047995"/>
            <a:ext cx="2914650" cy="179984"/>
          </a:xfrm>
          <a:prstGeom prst="rect">
            <a:avLst/>
          </a:prstGeom>
          <a:noFill/>
        </p:spPr>
        <p:txBody>
          <a:bodyPr wrap="none" lIns="0" rIns="0" tIns="0" bIns="0">
            <a:spAutoFit/>
          </a:bodyPr>
          <a:lstStyle/>
          <a:p>
            <a:r>
              <a:rPr sz="1055" b="0">
                <a:solidFill>
                  <a:srgbClr val="252423"/>
                </a:solidFill>
                <a:latin typeface="Segoe UI"/>
              </a:rPr>
              <a:t>ultra-low-temperature cooling segment in 2036.</a:t>
            </a:r>
          </a:p>
        </p:txBody>
      </p:sp>
      <p:sp>
        <p:nvSpPr>
          <p:cNvPr id="95" name="TextBox 94"/>
          <p:cNvSpPr txBox="1"/>
          <p:nvPr/>
        </p:nvSpPr>
        <p:spPr>
          <a:xfrm>
            <a:off x="3838575" y="4229437"/>
            <a:ext cx="2242641" cy="186689"/>
          </a:xfrm>
          <a:prstGeom prst="rect">
            <a:avLst/>
          </a:prstGeom>
          <a:noFill/>
        </p:spPr>
        <p:txBody>
          <a:bodyPr wrap="none" lIns="0" rIns="0" tIns="0" bIns="0">
            <a:spAutoFit/>
          </a:bodyPr>
          <a:lstStyle/>
          <a:p>
            <a:r>
              <a:rPr sz="1100" b="0">
                <a:solidFill>
                  <a:srgbClr val="252423"/>
                </a:solidFill>
                <a:latin typeface="Segoe UI"/>
              </a:rPr>
              <a:t>● Medical and Biomedical Imaging:</a:t>
            </a:r>
          </a:p>
        </p:txBody>
      </p:sp>
      <p:pic>
        <p:nvPicPr>
          <p:cNvPr id="96" name="Picture 95" descr="lock.png"/>
          <p:cNvPicPr>
            <a:picLocks noChangeAspect="1"/>
          </p:cNvPicPr>
          <p:nvPr/>
        </p:nvPicPr>
        <p:blipFill>
          <a:blip r:embed="rId16"/>
          <a:stretch>
            <a:fillRect/>
          </a:stretch>
        </p:blipFill>
        <p:spPr>
          <a:xfrm>
            <a:off x="6029268" y="4219658"/>
            <a:ext cx="128699" cy="187198"/>
          </a:xfrm>
          <a:prstGeom prst="rect">
            <a:avLst/>
          </a:prstGeom>
        </p:spPr>
      </p:pic>
      <p:sp>
        <p:nvSpPr>
          <p:cNvPr id="97" name="TextBox 96"/>
          <p:cNvSpPr txBox="1"/>
          <p:nvPr/>
        </p:nvSpPr>
        <p:spPr>
          <a:xfrm>
            <a:off x="6196763"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8" name="Picture 97" descr="lock.png"/>
          <p:cNvPicPr>
            <a:picLocks noChangeAspect="1"/>
          </p:cNvPicPr>
          <p:nvPr/>
        </p:nvPicPr>
        <p:blipFill>
          <a:blip r:embed="rId16"/>
          <a:stretch>
            <a:fillRect/>
          </a:stretch>
        </p:blipFill>
        <p:spPr>
          <a:xfrm>
            <a:off x="7116710" y="4219658"/>
            <a:ext cx="128699" cy="187198"/>
          </a:xfrm>
          <a:prstGeom prst="rect">
            <a:avLst/>
          </a:prstGeom>
        </p:spPr>
      </p:pic>
      <p:sp>
        <p:nvSpPr>
          <p:cNvPr id="99" name="TextBox 98"/>
          <p:cNvSpPr txBox="1"/>
          <p:nvPr/>
        </p:nvSpPr>
        <p:spPr>
          <a:xfrm>
            <a:off x="7284206"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0" name="TextBox 99"/>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101" name="TextBox 100"/>
          <p:cNvSpPr txBox="1"/>
          <p:nvPr/>
        </p:nvSpPr>
        <p:spPr>
          <a:xfrm>
            <a:off x="3838575" y="4615009"/>
            <a:ext cx="3646825" cy="186689"/>
          </a:xfrm>
          <a:prstGeom prst="rect">
            <a:avLst/>
          </a:prstGeom>
          <a:noFill/>
        </p:spPr>
        <p:txBody>
          <a:bodyPr wrap="none" lIns="0" rIns="0" tIns="0" bIns="0">
            <a:spAutoFit/>
          </a:bodyPr>
          <a:lstStyle/>
          <a:p>
            <a:r>
              <a:rPr sz="1100" b="1">
                <a:solidFill>
                  <a:srgbClr val="1668A8"/>
                </a:solidFill>
                <a:latin typeface="Segoe UI"/>
              </a:rPr>
              <a:t>● Cryogenic Refrigeration and Ultra-Low-Temperature</a:t>
            </a:r>
          </a:p>
        </p:txBody>
      </p:sp>
      <p:sp>
        <p:nvSpPr>
          <p:cNvPr id="102" name="TextBox 101"/>
          <p:cNvSpPr txBox="1"/>
          <p:nvPr/>
        </p:nvSpPr>
        <p:spPr>
          <a:xfrm>
            <a:off x="3838575" y="4782649"/>
            <a:ext cx="622994" cy="186689"/>
          </a:xfrm>
          <a:prstGeom prst="rect">
            <a:avLst/>
          </a:prstGeom>
          <a:noFill/>
        </p:spPr>
        <p:txBody>
          <a:bodyPr wrap="none" lIns="0" rIns="0" tIns="0" bIns="0">
            <a:spAutoFit/>
          </a:bodyPr>
          <a:lstStyle/>
          <a:p>
            <a:r>
              <a:rPr sz="1100" b="1">
                <a:solidFill>
                  <a:srgbClr val="1668A8"/>
                </a:solidFill>
                <a:latin typeface="Segoe UI"/>
              </a:rPr>
              <a:t>Cooling:</a:t>
            </a:r>
          </a:p>
        </p:txBody>
      </p:sp>
      <p:pic>
        <p:nvPicPr>
          <p:cNvPr id="103" name="Picture 102" descr="lock.png"/>
          <p:cNvPicPr>
            <a:picLocks noChangeAspect="1"/>
          </p:cNvPicPr>
          <p:nvPr/>
        </p:nvPicPr>
        <p:blipFill>
          <a:blip r:embed="rId16"/>
          <a:stretch>
            <a:fillRect/>
          </a:stretch>
        </p:blipFill>
        <p:spPr>
          <a:xfrm>
            <a:off x="4409621" y="4772870"/>
            <a:ext cx="128699" cy="187198"/>
          </a:xfrm>
          <a:prstGeom prst="rect">
            <a:avLst/>
          </a:prstGeom>
        </p:spPr>
      </p:pic>
      <p:sp>
        <p:nvSpPr>
          <p:cNvPr id="104" name="TextBox 103"/>
          <p:cNvSpPr txBox="1"/>
          <p:nvPr/>
        </p:nvSpPr>
        <p:spPr>
          <a:xfrm>
            <a:off x="4577116" y="4782649"/>
            <a:ext cx="1041480" cy="186689"/>
          </a:xfrm>
          <a:prstGeom prst="rect">
            <a:avLst/>
          </a:prstGeom>
          <a:noFill/>
        </p:spPr>
        <p:txBody>
          <a:bodyPr wrap="none" lIns="0" rIns="0" tIns="0" bIns="0">
            <a:spAutoFit/>
          </a:bodyPr>
          <a:lstStyle/>
          <a:p>
            <a:r>
              <a:rPr sz="1100" b="1">
                <a:solidFill>
                  <a:srgbClr val="1668A8"/>
                </a:solidFill>
                <a:latin typeface="Segoe UI"/>
              </a:rPr>
              <a:t>of 2026 value ·</a:t>
            </a:r>
          </a:p>
        </p:txBody>
      </p:sp>
      <p:pic>
        <p:nvPicPr>
          <p:cNvPr id="105" name="Picture 104" descr="lock.png"/>
          <p:cNvPicPr>
            <a:picLocks noChangeAspect="1"/>
          </p:cNvPicPr>
          <p:nvPr/>
        </p:nvPicPr>
        <p:blipFill>
          <a:blip r:embed="rId16"/>
          <a:stretch>
            <a:fillRect/>
          </a:stretch>
        </p:blipFill>
        <p:spPr>
          <a:xfrm>
            <a:off x="5566649" y="4772870"/>
            <a:ext cx="128699" cy="187198"/>
          </a:xfrm>
          <a:prstGeom prst="rect">
            <a:avLst/>
          </a:prstGeom>
        </p:spPr>
      </p:pic>
      <p:sp>
        <p:nvSpPr>
          <p:cNvPr id="106" name="TextBox 105"/>
          <p:cNvSpPr txBox="1"/>
          <p:nvPr/>
        </p:nvSpPr>
        <p:spPr>
          <a:xfrm>
            <a:off x="5734144" y="4782649"/>
            <a:ext cx="1437503" cy="186689"/>
          </a:xfrm>
          <a:prstGeom prst="rect">
            <a:avLst/>
          </a:prstGeom>
          <a:noFill/>
        </p:spPr>
        <p:txBody>
          <a:bodyPr wrap="none" lIns="0" rIns="0" tIns="0" bIns="0">
            <a:spAutoFit/>
          </a:bodyPr>
          <a:lstStyle/>
          <a:p>
            <a:r>
              <a:rPr sz="1100" b="1">
                <a:solidFill>
                  <a:srgbClr val="1668A8"/>
                </a:solidFill>
                <a:latin typeface="Segoe UI"/>
              </a:rPr>
              <a:t>CAGR serves a niche.</a:t>
            </a:r>
          </a:p>
        </p:txBody>
      </p:sp>
      <p:sp>
        <p:nvSpPr>
          <p:cNvPr id="107" name="TextBox 106"/>
          <p:cNvSpPr txBox="1"/>
          <p:nvPr/>
        </p:nvSpPr>
        <p:spPr>
          <a:xfrm>
            <a:off x="3838575" y="5000581"/>
            <a:ext cx="3004924" cy="186689"/>
          </a:xfrm>
          <a:prstGeom prst="rect">
            <a:avLst/>
          </a:prstGeom>
          <a:noFill/>
        </p:spPr>
        <p:txBody>
          <a:bodyPr wrap="none" lIns="0" rIns="0" tIns="0" bIns="0">
            <a:spAutoFit/>
          </a:bodyPr>
          <a:lstStyle/>
          <a:p>
            <a:r>
              <a:rPr sz="1100" b="0">
                <a:solidFill>
                  <a:srgbClr val="252423"/>
                </a:solidFill>
                <a:latin typeface="Segoe UI"/>
              </a:rPr>
              <a:t>● Neutron Detection and Radiation Monitoring:</a:t>
            </a:r>
          </a:p>
        </p:txBody>
      </p:sp>
      <p:pic>
        <p:nvPicPr>
          <p:cNvPr id="108" name="Picture 107" descr="lock.png"/>
          <p:cNvPicPr>
            <a:picLocks noChangeAspect="1"/>
          </p:cNvPicPr>
          <p:nvPr/>
        </p:nvPicPr>
        <p:blipFill>
          <a:blip r:embed="rId16"/>
          <a:stretch>
            <a:fillRect/>
          </a:stretch>
        </p:blipFill>
        <p:spPr>
          <a:xfrm>
            <a:off x="6791551" y="4990801"/>
            <a:ext cx="128699" cy="187198"/>
          </a:xfrm>
          <a:prstGeom prst="rect">
            <a:avLst/>
          </a:prstGeom>
        </p:spPr>
      </p:pic>
      <p:sp>
        <p:nvSpPr>
          <p:cNvPr id="109" name="TextBox 108"/>
          <p:cNvSpPr txBox="1"/>
          <p:nvPr/>
        </p:nvSpPr>
        <p:spPr>
          <a:xfrm>
            <a:off x="6959047"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0" name="Picture 109" descr="lock.png"/>
          <p:cNvPicPr>
            <a:picLocks noChangeAspect="1"/>
          </p:cNvPicPr>
          <p:nvPr/>
        </p:nvPicPr>
        <p:blipFill>
          <a:blip r:embed="rId16"/>
          <a:stretch>
            <a:fillRect/>
          </a:stretch>
        </p:blipFill>
        <p:spPr>
          <a:xfrm>
            <a:off x="3825107" y="5158441"/>
            <a:ext cx="128699" cy="187198"/>
          </a:xfrm>
          <a:prstGeom prst="rect">
            <a:avLst/>
          </a:prstGeom>
        </p:spPr>
      </p:pic>
      <p:sp>
        <p:nvSpPr>
          <p:cNvPr id="111" name="TextBox 110"/>
          <p:cNvSpPr txBox="1"/>
          <p:nvPr/>
        </p:nvSpPr>
        <p:spPr>
          <a:xfrm>
            <a:off x="3992603" y="5168221"/>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12" name="TextBox 111"/>
          <p:cNvSpPr txBox="1"/>
          <p:nvPr/>
        </p:nvSpPr>
        <p:spPr>
          <a:xfrm>
            <a:off x="3838575" y="5386153"/>
            <a:ext cx="1734229" cy="186689"/>
          </a:xfrm>
          <a:prstGeom prst="rect">
            <a:avLst/>
          </a:prstGeom>
          <a:noFill/>
        </p:spPr>
        <p:txBody>
          <a:bodyPr wrap="none" lIns="0" rIns="0" tIns="0" bIns="0">
            <a:spAutoFit/>
          </a:bodyPr>
          <a:lstStyle/>
          <a:p>
            <a:r>
              <a:rPr sz="1100" b="0">
                <a:solidFill>
                  <a:srgbClr val="252423"/>
                </a:solidFill>
                <a:latin typeface="Segoe UI"/>
              </a:rPr>
              <a:t>● Nuclear Fusion Research:</a:t>
            </a:r>
          </a:p>
        </p:txBody>
      </p:sp>
      <p:pic>
        <p:nvPicPr>
          <p:cNvPr id="113" name="Picture 112" descr="lock.png"/>
          <p:cNvPicPr>
            <a:picLocks noChangeAspect="1"/>
          </p:cNvPicPr>
          <p:nvPr/>
        </p:nvPicPr>
        <p:blipFill>
          <a:blip r:embed="rId16"/>
          <a:stretch>
            <a:fillRect/>
          </a:stretch>
        </p:blipFill>
        <p:spPr>
          <a:xfrm>
            <a:off x="5520856" y="5376373"/>
            <a:ext cx="128699" cy="187198"/>
          </a:xfrm>
          <a:prstGeom prst="rect">
            <a:avLst/>
          </a:prstGeom>
        </p:spPr>
      </p:pic>
      <p:sp>
        <p:nvSpPr>
          <p:cNvPr id="114" name="TextBox 113"/>
          <p:cNvSpPr txBox="1"/>
          <p:nvPr/>
        </p:nvSpPr>
        <p:spPr>
          <a:xfrm>
            <a:off x="5688351"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5" name="Picture 114" descr="lock.png"/>
          <p:cNvPicPr>
            <a:picLocks noChangeAspect="1"/>
          </p:cNvPicPr>
          <p:nvPr/>
        </p:nvPicPr>
        <p:blipFill>
          <a:blip r:embed="rId16"/>
          <a:stretch>
            <a:fillRect/>
          </a:stretch>
        </p:blipFill>
        <p:spPr>
          <a:xfrm>
            <a:off x="6608298" y="5376373"/>
            <a:ext cx="128699" cy="187198"/>
          </a:xfrm>
          <a:prstGeom prst="rect">
            <a:avLst/>
          </a:prstGeom>
        </p:spPr>
      </p:pic>
      <p:sp>
        <p:nvSpPr>
          <p:cNvPr id="116" name="TextBox 115"/>
          <p:cNvSpPr txBox="1"/>
          <p:nvPr/>
        </p:nvSpPr>
        <p:spPr>
          <a:xfrm>
            <a:off x="6775794" y="5386153"/>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7" name="TextBox 116"/>
          <p:cNvSpPr txBox="1"/>
          <p:nvPr/>
        </p:nvSpPr>
        <p:spPr>
          <a:xfrm>
            <a:off x="3838575" y="5553793"/>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8" name="TextBox 117"/>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Application segment is projected to grow</a:t>
            </a:r>
          </a:p>
        </p:txBody>
      </p:sp>
      <p:sp>
        <p:nvSpPr>
          <p:cNvPr id="119" name="TextBox 118"/>
          <p:cNvSpPr txBox="1"/>
          <p:nvPr/>
        </p:nvSpPr>
        <p:spPr>
          <a:xfrm>
            <a:off x="8524875" y="6017901"/>
            <a:ext cx="949304" cy="194310"/>
          </a:xfrm>
          <a:prstGeom prst="rect">
            <a:avLst/>
          </a:prstGeom>
          <a:noFill/>
        </p:spPr>
        <p:txBody>
          <a:bodyPr wrap="none" lIns="0" rIns="0" tIns="0" bIns="0">
            <a:spAutoFit/>
          </a:bodyPr>
          <a:lstStyle/>
          <a:p>
            <a:r>
              <a:rPr sz="1150" b="1">
                <a:solidFill>
                  <a:srgbClr val="0E3A5F"/>
                </a:solidFill>
                <a:latin typeface="Segoe UI"/>
              </a:rPr>
              <a:t>at a CAGR of</a:t>
            </a:r>
          </a:p>
        </p:txBody>
      </p:sp>
      <p:pic>
        <p:nvPicPr>
          <p:cNvPr id="120" name="Picture 119" descr="lock.png"/>
          <p:cNvPicPr>
            <a:picLocks noChangeAspect="1"/>
          </p:cNvPicPr>
          <p:nvPr/>
        </p:nvPicPr>
        <p:blipFill>
          <a:blip r:embed="rId16"/>
          <a:stretch>
            <a:fillRect/>
          </a:stretch>
        </p:blipFill>
        <p:spPr>
          <a:xfrm>
            <a:off x="9423333" y="6007677"/>
            <a:ext cx="134549" cy="195707"/>
          </a:xfrm>
          <a:prstGeom prst="rect">
            <a:avLst/>
          </a:prstGeom>
        </p:spPr>
      </p:pic>
      <p:sp>
        <p:nvSpPr>
          <p:cNvPr id="121" name="TextBox 120"/>
          <p:cNvSpPr txBox="1"/>
          <p:nvPr/>
        </p:nvSpPr>
        <p:spPr>
          <a:xfrm>
            <a:off x="9598442"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Application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Application mix within each region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Application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Application · Bubble size represents 2036 value</a:t>
            </a:r>
          </a:p>
        </p:txBody>
      </p:sp>
      <p:graphicFrame>
        <p:nvGraphicFramePr>
          <p:cNvPr id="13" name="Chart 12"/>
          <p:cNvGraphicFramePr>
            <a:graphicFrameLocks noGrp="1"/>
          </p:cNvGraphicFramePr>
          <p:nvPr/>
        </p:nvGraphicFramePr>
        <p:xfrm>
          <a:off x="6734175" y="1266825"/>
          <a:ext cx="5210175" cy="393382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279915" cy="186689"/>
          </a:xfrm>
          <a:prstGeom prst="rect">
            <a:avLst/>
          </a:prstGeom>
          <a:noFill/>
        </p:spPr>
        <p:txBody>
          <a:bodyPr wrap="none" lIns="0" rIns="0" tIns="0" bIns="0">
            <a:spAutoFit/>
          </a:bodyPr>
          <a:lstStyle/>
          <a:p>
            <a:r>
              <a:rPr sz="1100" b="0">
                <a:solidFill>
                  <a:srgbClr val="252423"/>
                </a:solidFill>
                <a:latin typeface="Segoe UI"/>
              </a:rPr>
              <a:t>Medical and biomedical imaging followed by cryogenic refrigeration and ultra-low-temperature cooling are expected to be the two most attractive application segments in the global</a:t>
            </a:r>
          </a:p>
        </p:txBody>
      </p:sp>
      <p:sp>
        <p:nvSpPr>
          <p:cNvPr id="18" name="TextBox 17"/>
          <p:cNvSpPr txBox="1"/>
          <p:nvPr/>
        </p:nvSpPr>
        <p:spPr>
          <a:xfrm>
            <a:off x="257175" y="5837872"/>
            <a:ext cx="11225277" cy="186689"/>
          </a:xfrm>
          <a:prstGeom prst="rect">
            <a:avLst/>
          </a:prstGeom>
          <a:noFill/>
        </p:spPr>
        <p:txBody>
          <a:bodyPr wrap="none" lIns="0" rIns="0" tIns="0" bIns="0">
            <a:spAutoFit/>
          </a:bodyPr>
          <a:lstStyle/>
          <a:p>
            <a:r>
              <a:rPr sz="1100" b="0">
                <a:solidFill>
                  <a:srgbClr val="252423"/>
                </a:solidFill>
                <a:latin typeface="Segoe UI"/>
              </a:rPr>
              <a:t>Helium-3 market in terms of value over the forecast period. Medical and biomedical imaging and cryogenic refrigeration and Ultra-Low-Temperature cooling exhibit a CAGR index of</a:t>
            </a:r>
          </a:p>
        </p:txBody>
      </p:sp>
      <p:pic>
        <p:nvPicPr>
          <p:cNvPr id="19" name="Picture 18" descr="lock.png"/>
          <p:cNvPicPr>
            <a:picLocks noChangeAspect="1"/>
          </p:cNvPicPr>
          <p:nvPr/>
        </p:nvPicPr>
        <p:blipFill>
          <a:blip r:embed="rId6"/>
          <a:stretch>
            <a:fillRect/>
          </a:stretch>
        </p:blipFill>
        <p:spPr>
          <a:xfrm>
            <a:off x="11430503" y="5828093"/>
            <a:ext cx="128699" cy="187198"/>
          </a:xfrm>
          <a:prstGeom prst="rect">
            <a:avLst/>
          </a:prstGeom>
        </p:spPr>
      </p:pic>
      <p:sp>
        <p:nvSpPr>
          <p:cNvPr id="20" name="TextBox 19"/>
          <p:cNvSpPr txBox="1"/>
          <p:nvPr/>
        </p:nvSpPr>
        <p:spPr>
          <a:xfrm>
            <a:off x="257175"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14168" y="5995733"/>
            <a:ext cx="128699" cy="187198"/>
          </a:xfrm>
          <a:prstGeom prst="rect">
            <a:avLst/>
          </a:prstGeom>
        </p:spPr>
      </p:pic>
      <p:sp>
        <p:nvSpPr>
          <p:cNvPr id="22" name="TextBox 21"/>
          <p:cNvSpPr txBox="1"/>
          <p:nvPr/>
        </p:nvSpPr>
        <p:spPr>
          <a:xfrm>
            <a:off x="681664"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20404" y="5995733"/>
            <a:ext cx="128699" cy="187198"/>
          </a:xfrm>
          <a:prstGeom prst="rect">
            <a:avLst/>
          </a:prstGeom>
        </p:spPr>
      </p:pic>
      <p:sp>
        <p:nvSpPr>
          <p:cNvPr id="24" name="TextBox 23"/>
          <p:cNvSpPr txBox="1"/>
          <p:nvPr/>
        </p:nvSpPr>
        <p:spPr>
          <a:xfrm>
            <a:off x="2587900"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844894" y="5995733"/>
            <a:ext cx="128699" cy="187198"/>
          </a:xfrm>
          <a:prstGeom prst="rect">
            <a:avLst/>
          </a:prstGeom>
        </p:spPr>
      </p:pic>
      <p:sp>
        <p:nvSpPr>
          <p:cNvPr id="26" name="TextBox 25"/>
          <p:cNvSpPr txBox="1"/>
          <p:nvPr/>
        </p:nvSpPr>
        <p:spPr>
          <a:xfrm>
            <a:off x="3012390"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772324" y="5995733"/>
            <a:ext cx="128699" cy="187198"/>
          </a:xfrm>
          <a:prstGeom prst="rect">
            <a:avLst/>
          </a:prstGeom>
        </p:spPr>
      </p:pic>
      <p:sp>
        <p:nvSpPr>
          <p:cNvPr id="28" name="TextBox 27"/>
          <p:cNvSpPr txBox="1"/>
          <p:nvPr/>
        </p:nvSpPr>
        <p:spPr>
          <a:xfrm>
            <a:off x="5939820" y="6005512"/>
            <a:ext cx="5364425" cy="186689"/>
          </a:xfrm>
          <a:prstGeom prst="rect">
            <a:avLst/>
          </a:prstGeom>
          <a:noFill/>
        </p:spPr>
        <p:txBody>
          <a:bodyPr wrap="none" lIns="0" rIns="0" tIns="0" bIns="0">
            <a:spAutoFit/>
          </a:bodyPr>
          <a:lstStyle/>
          <a:p>
            <a:r>
              <a:rPr sz="1100" b="0">
                <a:solidFill>
                  <a:srgbClr val="252423"/>
                </a:solidFill>
                <a:latin typeface="Segoe UI"/>
              </a:rPr>
              <a:t>. The nuclear fusion research segment is expected to be less attractive as compared to</a:t>
            </a:r>
          </a:p>
        </p:txBody>
      </p:sp>
      <p:sp>
        <p:nvSpPr>
          <p:cNvPr id="29" name="TextBox 28"/>
          <p:cNvSpPr txBox="1"/>
          <p:nvPr/>
        </p:nvSpPr>
        <p:spPr>
          <a:xfrm>
            <a:off x="257175" y="6173152"/>
            <a:ext cx="10667150" cy="186689"/>
          </a:xfrm>
          <a:prstGeom prst="rect">
            <a:avLst/>
          </a:prstGeom>
          <a:noFill/>
        </p:spPr>
        <p:txBody>
          <a:bodyPr wrap="none" lIns="0" rIns="0" tIns="0" bIns="0">
            <a:spAutoFit/>
          </a:bodyPr>
          <a:lstStyle/>
          <a:p>
            <a:r>
              <a:rPr sz="1100" b="0">
                <a:solidFill>
                  <a:srgbClr val="252423"/>
                </a:solidFill>
                <a:latin typeface="Segoe UI"/>
              </a:rPr>
              <a:t>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266825"/>
            <a:ext cx="5210175" cy="3933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Application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Neutron Detection and Radiation Monitoring</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Cryogenic Refrigeration and Ultra-Low-Temperature Cooling</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Medical and Biomedical Imaging</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Nuclear Fusion Research</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Application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Application, 2021–2036, highlighting the sub-segments driving growth</a:t>
            </a:r>
          </a:p>
        </p:txBody>
      </p:sp>
      <p:sp>
        <p:nvSpPr>
          <p:cNvPr id="8" name="Rectangle 7"/>
          <p:cNvSpPr/>
          <p:nvPr/>
        </p:nvSpPr>
        <p:spPr>
          <a:xfrm>
            <a:off x="142875" y="981075"/>
            <a:ext cx="119062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Application (US$ Mn)</a:t>
            </a:r>
          </a:p>
        </p:txBody>
      </p:sp>
      <p:graphicFrame>
        <p:nvGraphicFramePr>
          <p:cNvPr id="10" name="Table 9"/>
          <p:cNvGraphicFramePr>
            <a:graphicFrameLocks noGrp="1"/>
          </p:cNvGraphicFramePr>
          <p:nvPr/>
        </p:nvGraphicFramePr>
        <p:xfrm>
          <a:off x="152400" y="1238250"/>
          <a:ext cx="11906944" cy="1866898"/>
        </p:xfrm>
        <a:graphic>
          <a:graphicData uri="http://schemas.openxmlformats.org/drawingml/2006/table">
            <a:tbl>
              <a:tblPr>
                <a:tableStyleId>{5C22544A-7EE6-4342-B048-85BDC9FD1C3A}</a:tableStyleId>
              </a:tblPr>
              <a:tblGrid>
                <a:gridCol w="3753757"/>
                <a:gridCol w="464794"/>
                <a:gridCol w="464794"/>
                <a:gridCol w="464794"/>
                <a:gridCol w="485883"/>
                <a:gridCol w="485883"/>
                <a:gridCol w="485883"/>
                <a:gridCol w="485883"/>
                <a:gridCol w="485883"/>
                <a:gridCol w="485883"/>
                <a:gridCol w="485883"/>
                <a:gridCol w="485883"/>
                <a:gridCol w="485883"/>
                <a:gridCol w="485883"/>
                <a:gridCol w="485883"/>
                <a:gridCol w="485883"/>
                <a:gridCol w="485883"/>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247040">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26">
                <a:tc>
                  <a:txBody>
                    <a:bodyPr wrap="none"/>
                    <a:lstStyle/>
                    <a:p>
                      <a:pPr algn="l"/>
                      <a:r>
                        <a:rPr sz="1100" b="1">
                          <a:solidFill>
                            <a:srgbClr val="252423"/>
                          </a:solidFill>
                          <a:latin typeface="Segoe UI"/>
                        </a:rPr>
                        <a:t>Cryogenic Refrigeration and Ultra-Low-</a:t>
                      </a:r>
                      <a:endParaRPr sz="1100"/>
                    </a:p>
                    <a:p>
                      <a:pPr algn="l"/>
                      <a:r>
                        <a:rPr sz="1100" b="1">
                          <a:solidFill>
                            <a:srgbClr val="252423"/>
                          </a:solidFill>
                          <a:latin typeface="Segoe UI"/>
                        </a:rPr>
                        <a:t>Temperature 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040">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Total</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r>
            </a:tbl>
          </a:graphicData>
        </a:graphic>
      </p:graphicFrame>
      <p:sp>
        <p:nvSpPr>
          <p:cNvPr id="11" name="TextBox 10"/>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448050"/>
            <a:ext cx="11906250" cy="3181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5337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Application</a:t>
            </a:r>
          </a:p>
        </p:txBody>
      </p:sp>
      <p:sp>
        <p:nvSpPr>
          <p:cNvPr id="14" name="Rectangle 13"/>
          <p:cNvSpPr/>
          <p:nvPr/>
        </p:nvSpPr>
        <p:spPr>
          <a:xfrm>
            <a:off x="276225" y="37719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57625"/>
            <a:ext cx="1163955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596156" y="2124454"/>
            <a:ext cx="366712" cy="533400"/>
          </a:xfrm>
          <a:prstGeom prst="rect">
            <a:avLst/>
          </a:prstGeom>
        </p:spPr>
      </p:pic>
      <p:sp>
        <p:nvSpPr>
          <p:cNvPr id="18" name="TextBox 17"/>
          <p:cNvSpPr txBox="1"/>
          <p:nvPr/>
        </p:nvSpPr>
        <p:spPr>
          <a:xfrm>
            <a:off x="276225" y="3867150"/>
            <a:ext cx="4272454" cy="194310"/>
          </a:xfrm>
          <a:prstGeom prst="rect">
            <a:avLst/>
          </a:prstGeom>
          <a:noFill/>
        </p:spPr>
        <p:txBody>
          <a:bodyPr wrap="none" lIns="0" rIns="0" tIns="0" bIns="0">
            <a:spAutoFit/>
          </a:bodyPr>
          <a:lstStyle/>
          <a:p>
            <a:r>
              <a:rPr sz="1150" b="0">
                <a:solidFill>
                  <a:srgbClr val="252423"/>
                </a:solidFill>
                <a:latin typeface="Segoe UI"/>
              </a:rPr>
              <a:t>Medical and biomedical imaging segment is projected to register</a:t>
            </a:r>
          </a:p>
        </p:txBody>
      </p:sp>
      <p:pic>
        <p:nvPicPr>
          <p:cNvPr id="19" name="Picture 18" descr="lock.png"/>
          <p:cNvPicPr>
            <a:picLocks noChangeAspect="1"/>
          </p:cNvPicPr>
          <p:nvPr/>
        </p:nvPicPr>
        <p:blipFill>
          <a:blip r:embed="rId4"/>
          <a:stretch>
            <a:fillRect/>
          </a:stretch>
        </p:blipFill>
        <p:spPr>
          <a:xfrm>
            <a:off x="4497833" y="3856926"/>
            <a:ext cx="134549" cy="195707"/>
          </a:xfrm>
          <a:prstGeom prst="rect">
            <a:avLst/>
          </a:prstGeom>
        </p:spPr>
      </p:pic>
      <p:sp>
        <p:nvSpPr>
          <p:cNvPr id="20" name="TextBox 19"/>
          <p:cNvSpPr txBox="1"/>
          <p:nvPr/>
        </p:nvSpPr>
        <p:spPr>
          <a:xfrm>
            <a:off x="4672942" y="3867150"/>
            <a:ext cx="6762515" cy="194310"/>
          </a:xfrm>
          <a:prstGeom prst="rect">
            <a:avLst/>
          </a:prstGeom>
          <a:noFill/>
        </p:spPr>
        <p:txBody>
          <a:bodyPr wrap="none" lIns="0" rIns="0" tIns="0" bIns="0">
            <a:spAutoFit/>
          </a:bodyPr>
          <a:lstStyle/>
          <a:p>
            <a:r>
              <a:rPr sz="1150" b="0">
                <a:solidFill>
                  <a:srgbClr val="252423"/>
                </a:solidFill>
                <a:latin typeface="Segoe UI"/>
              </a:rPr>
              <a:t>X higher value than cryogenic refrigeration and ultra-low-temperature cooling segment in 2036. Among</a:t>
            </a:r>
          </a:p>
        </p:txBody>
      </p:sp>
      <p:sp>
        <p:nvSpPr>
          <p:cNvPr id="21" name="TextBox 20"/>
          <p:cNvSpPr txBox="1"/>
          <p:nvPr/>
        </p:nvSpPr>
        <p:spPr>
          <a:xfrm>
            <a:off x="276225" y="4042410"/>
            <a:ext cx="7907672" cy="194310"/>
          </a:xfrm>
          <a:prstGeom prst="rect">
            <a:avLst/>
          </a:prstGeom>
          <a:noFill/>
        </p:spPr>
        <p:txBody>
          <a:bodyPr wrap="none" lIns="0" rIns="0" tIns="0" bIns="0">
            <a:spAutoFit/>
          </a:bodyPr>
          <a:lstStyle/>
          <a:p>
            <a:r>
              <a:rPr sz="1150" b="0">
                <a:solidFill>
                  <a:srgbClr val="252423"/>
                </a:solidFill>
                <a:latin typeface="Segoe UI"/>
              </a:rPr>
              <a:t>Helium-3 by application, neutron detection and radiation monitoring segment is expected to witness the highest CAGR of</a:t>
            </a:r>
          </a:p>
        </p:txBody>
      </p:sp>
      <p:pic>
        <p:nvPicPr>
          <p:cNvPr id="22" name="Picture 21" descr="lock.png"/>
          <p:cNvPicPr>
            <a:picLocks noChangeAspect="1"/>
          </p:cNvPicPr>
          <p:nvPr/>
        </p:nvPicPr>
        <p:blipFill>
          <a:blip r:embed="rId4"/>
          <a:stretch>
            <a:fillRect/>
          </a:stretch>
        </p:blipFill>
        <p:spPr>
          <a:xfrm>
            <a:off x="8133051" y="4032186"/>
            <a:ext cx="134549" cy="195707"/>
          </a:xfrm>
          <a:prstGeom prst="rect">
            <a:avLst/>
          </a:prstGeom>
        </p:spPr>
      </p:pic>
      <p:sp>
        <p:nvSpPr>
          <p:cNvPr id="23" name="TextBox 22"/>
          <p:cNvSpPr txBox="1"/>
          <p:nvPr/>
        </p:nvSpPr>
        <p:spPr>
          <a:xfrm>
            <a:off x="8308160" y="40424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270247"/>
            <a:ext cx="8295844" cy="194310"/>
          </a:xfrm>
          <a:prstGeom prst="rect">
            <a:avLst/>
          </a:prstGeom>
          <a:noFill/>
        </p:spPr>
        <p:txBody>
          <a:bodyPr wrap="none" lIns="0" rIns="0" tIns="0" bIns="0">
            <a:spAutoFit/>
          </a:bodyPr>
          <a:lstStyle/>
          <a:p>
            <a:r>
              <a:rPr sz="1150" b="0">
                <a:solidFill>
                  <a:srgbClr val="252423"/>
                </a:solidFill>
                <a:latin typeface="Segoe UI"/>
              </a:rPr>
              <a:t>In terms of value share by application, the medical and biomedical imaging segment is expected to dominate the market, losing</a:t>
            </a:r>
          </a:p>
        </p:txBody>
      </p:sp>
      <p:pic>
        <p:nvPicPr>
          <p:cNvPr id="25" name="Picture 24" descr="lock.png"/>
          <p:cNvPicPr>
            <a:picLocks noChangeAspect="1"/>
          </p:cNvPicPr>
          <p:nvPr/>
        </p:nvPicPr>
        <p:blipFill>
          <a:blip r:embed="rId4"/>
          <a:stretch>
            <a:fillRect/>
          </a:stretch>
        </p:blipFill>
        <p:spPr>
          <a:xfrm>
            <a:off x="8521223" y="4260024"/>
            <a:ext cx="134549" cy="195707"/>
          </a:xfrm>
          <a:prstGeom prst="rect">
            <a:avLst/>
          </a:prstGeom>
        </p:spPr>
      </p:pic>
      <p:sp>
        <p:nvSpPr>
          <p:cNvPr id="26" name="TextBox 25"/>
          <p:cNvSpPr txBox="1"/>
          <p:nvPr/>
        </p:nvSpPr>
        <p:spPr>
          <a:xfrm>
            <a:off x="8696333" y="42702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224689" y="4260024"/>
            <a:ext cx="134549" cy="195707"/>
          </a:xfrm>
          <a:prstGeom prst="rect">
            <a:avLst/>
          </a:prstGeom>
        </p:spPr>
      </p:pic>
      <p:sp>
        <p:nvSpPr>
          <p:cNvPr id="28" name="TextBox 27"/>
          <p:cNvSpPr txBox="1"/>
          <p:nvPr/>
        </p:nvSpPr>
        <p:spPr>
          <a:xfrm>
            <a:off x="10399799" y="42702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Application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Application ·  2021 / 2026 / 2036 (US$ Mn)  ·  right axis = BPS share shift</a:t>
            </a:r>
          </a:p>
        </p:txBody>
      </p:sp>
      <p:graphicFrame>
        <p:nvGraphicFramePr>
          <p:cNvPr id="10" name="Chart 9"/>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3932301"/>
            <a:ext cx="38100" cy="38100"/>
          </a:xfrm>
          <a:prstGeom prst="rect">
            <a:avLst/>
          </a:prstGeom>
          <a:noFill/>
        </p:spPr>
        <p:txBody>
          <a:bodyPr wrap="none">
            <a:spAutoFit/>
          </a:bodyPr>
          <a:lstStyle/>
          <a:p/>
        </p:txBody>
      </p:sp>
      <p:sp>
        <p:nvSpPr>
          <p:cNvPr id="13" name="FMI Legend Chip"/>
          <p:cNvSpPr/>
          <p:nvPr/>
        </p:nvSpPr>
        <p:spPr>
          <a:xfrm>
            <a:off x="4928997" y="1760970"/>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5620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6800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Nuclear Fusion Research</a:t>
            </a:r>
          </a:p>
        </p:txBody>
      </p:sp>
      <p:sp>
        <p:nvSpPr>
          <p:cNvPr id="16" name="BPS Value 1"/>
          <p:cNvSpPr txBox="1"/>
          <p:nvPr/>
        </p:nvSpPr>
        <p:spPr>
          <a:xfrm>
            <a:off x="6896100" y="1741920"/>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238701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38225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30605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Neutron Detection and Radiation Monitoring</a:t>
            </a:r>
          </a:p>
        </p:txBody>
      </p:sp>
      <p:sp>
        <p:nvSpPr>
          <p:cNvPr id="20" name="BPS Value 2"/>
          <p:cNvSpPr txBox="1"/>
          <p:nvPr/>
        </p:nvSpPr>
        <p:spPr>
          <a:xfrm>
            <a:off x="6896100" y="236796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MI Legend Chip"/>
          <p:cNvSpPr/>
          <p:nvPr/>
        </p:nvSpPr>
        <p:spPr>
          <a:xfrm>
            <a:off x="4928997" y="337895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337418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29798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Cryogenic Refrigeration and Ultra-Low-Temperature Cooling</a:t>
            </a:r>
          </a:p>
        </p:txBody>
      </p:sp>
      <p:sp>
        <p:nvSpPr>
          <p:cNvPr id="24" name="BPS Value 3"/>
          <p:cNvSpPr txBox="1"/>
          <p:nvPr/>
        </p:nvSpPr>
        <p:spPr>
          <a:xfrm>
            <a:off x="6896100" y="335990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MI Legend Chip"/>
          <p:cNvSpPr/>
          <p:nvPr/>
        </p:nvSpPr>
        <p:spPr>
          <a:xfrm>
            <a:off x="4928997" y="512139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5090922" y="511663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04043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and Biomedical Imaging</a:t>
            </a:r>
          </a:p>
        </p:txBody>
      </p:sp>
      <p:sp>
        <p:nvSpPr>
          <p:cNvPr id="28" name="BPS Value 4"/>
          <p:cNvSpPr txBox="1"/>
          <p:nvPr/>
        </p:nvSpPr>
        <p:spPr>
          <a:xfrm>
            <a:off x="6896100" y="510234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Application</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751325"/>
            <a:ext cx="275034" cy="400050"/>
          </a:xfrm>
          <a:prstGeom prst="rect">
            <a:avLst/>
          </a:prstGeom>
        </p:spPr>
      </p:pic>
      <p:sp>
        <p:nvSpPr>
          <p:cNvPr id="35" name="TextBox 34"/>
          <p:cNvSpPr txBox="1"/>
          <p:nvPr/>
        </p:nvSpPr>
        <p:spPr>
          <a:xfrm>
            <a:off x="7829550" y="1400175"/>
            <a:ext cx="3650952" cy="194310"/>
          </a:xfrm>
          <a:prstGeom prst="rect">
            <a:avLst/>
          </a:prstGeom>
          <a:noFill/>
        </p:spPr>
        <p:txBody>
          <a:bodyPr wrap="none" lIns="0" rIns="0" tIns="0" bIns="0">
            <a:spAutoFit/>
          </a:bodyPr>
          <a:lstStyle/>
          <a:p>
            <a:r>
              <a:rPr sz="1150" b="0">
                <a:solidFill>
                  <a:srgbClr val="252423"/>
                </a:solidFill>
                <a:latin typeface="Segoe UI"/>
              </a:rPr>
              <a:t>Among Helium-3 by application, neutron detection and</a:t>
            </a:r>
          </a:p>
        </p:txBody>
      </p:sp>
      <p:sp>
        <p:nvSpPr>
          <p:cNvPr id="36" name="TextBox 35"/>
          <p:cNvSpPr txBox="1"/>
          <p:nvPr/>
        </p:nvSpPr>
        <p:spPr>
          <a:xfrm>
            <a:off x="7829550" y="1575435"/>
            <a:ext cx="3709425" cy="194310"/>
          </a:xfrm>
          <a:prstGeom prst="rect">
            <a:avLst/>
          </a:prstGeom>
          <a:noFill/>
        </p:spPr>
        <p:txBody>
          <a:bodyPr wrap="none" lIns="0" rIns="0" tIns="0" bIns="0">
            <a:spAutoFit/>
          </a:bodyPr>
          <a:lstStyle/>
          <a:p>
            <a:r>
              <a:rPr sz="1150" b="0">
                <a:solidFill>
                  <a:srgbClr val="252423"/>
                </a:solidFill>
                <a:latin typeface="Segoe UI"/>
              </a:rPr>
              <a:t>radiation monitoring segment is expected to witness the</a:t>
            </a:r>
          </a:p>
        </p:txBody>
      </p:sp>
      <p:sp>
        <p:nvSpPr>
          <p:cNvPr id="37" name="TextBox 36"/>
          <p:cNvSpPr txBox="1"/>
          <p:nvPr/>
        </p:nvSpPr>
        <p:spPr>
          <a:xfrm>
            <a:off x="7829550" y="1750695"/>
            <a:ext cx="1134135" cy="194310"/>
          </a:xfrm>
          <a:prstGeom prst="rect">
            <a:avLst/>
          </a:prstGeom>
          <a:noFill/>
        </p:spPr>
        <p:txBody>
          <a:bodyPr wrap="none" lIns="0" rIns="0" tIns="0" bIns="0">
            <a:spAutoFit/>
          </a:bodyPr>
          <a:lstStyle/>
          <a:p>
            <a:r>
              <a:rPr sz="1150" b="0">
                <a:solidFill>
                  <a:srgbClr val="252423"/>
                </a:solidFill>
                <a:latin typeface="Segoe UI"/>
              </a:rPr>
              <a:t>highest CAGR of</a:t>
            </a:r>
          </a:p>
        </p:txBody>
      </p:sp>
      <p:pic>
        <p:nvPicPr>
          <p:cNvPr id="38" name="Picture 37" descr="lock.png"/>
          <p:cNvPicPr>
            <a:picLocks noChangeAspect="1"/>
          </p:cNvPicPr>
          <p:nvPr/>
        </p:nvPicPr>
        <p:blipFill>
          <a:blip r:embed="rId5"/>
          <a:stretch>
            <a:fillRect/>
          </a:stretch>
        </p:blipFill>
        <p:spPr>
          <a:xfrm>
            <a:off x="8912839" y="1740471"/>
            <a:ext cx="134549" cy="195707"/>
          </a:xfrm>
          <a:prstGeom prst="rect">
            <a:avLst/>
          </a:prstGeom>
        </p:spPr>
      </p:pic>
      <p:sp>
        <p:nvSpPr>
          <p:cNvPr id="39" name="TextBox 38"/>
          <p:cNvSpPr txBox="1"/>
          <p:nvPr/>
        </p:nvSpPr>
        <p:spPr>
          <a:xfrm>
            <a:off x="9087948"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0" name="TextBox 39"/>
          <p:cNvSpPr txBox="1"/>
          <p:nvPr/>
        </p:nvSpPr>
        <p:spPr>
          <a:xfrm>
            <a:off x="7829550" y="1978533"/>
            <a:ext cx="3591820" cy="194310"/>
          </a:xfrm>
          <a:prstGeom prst="rect">
            <a:avLst/>
          </a:prstGeom>
          <a:noFill/>
        </p:spPr>
        <p:txBody>
          <a:bodyPr wrap="none" lIns="0" rIns="0" tIns="0" bIns="0">
            <a:spAutoFit/>
          </a:bodyPr>
          <a:lstStyle/>
          <a:p>
            <a:r>
              <a:rPr sz="1150" b="0">
                <a:solidFill>
                  <a:srgbClr val="252423"/>
                </a:solidFill>
                <a:latin typeface="Segoe UI"/>
              </a:rPr>
              <a:t>In terms of value share by application, the medical and</a:t>
            </a:r>
          </a:p>
        </p:txBody>
      </p:sp>
      <p:sp>
        <p:nvSpPr>
          <p:cNvPr id="41" name="TextBox 40"/>
          <p:cNvSpPr txBox="1"/>
          <p:nvPr/>
        </p:nvSpPr>
        <p:spPr>
          <a:xfrm>
            <a:off x="7829550" y="2153793"/>
            <a:ext cx="3791863" cy="194310"/>
          </a:xfrm>
          <a:prstGeom prst="rect">
            <a:avLst/>
          </a:prstGeom>
          <a:noFill/>
        </p:spPr>
        <p:txBody>
          <a:bodyPr wrap="none" lIns="0" rIns="0" tIns="0" bIns="0">
            <a:spAutoFit/>
          </a:bodyPr>
          <a:lstStyle/>
          <a:p>
            <a:r>
              <a:rPr sz="1150" b="0">
                <a:solidFill>
                  <a:srgbClr val="252423"/>
                </a:solidFill>
                <a:latin typeface="Segoe UI"/>
              </a:rPr>
              <a:t>biomedical imaging segment is expected to dominate the</a:t>
            </a:r>
          </a:p>
        </p:txBody>
      </p:sp>
      <p:sp>
        <p:nvSpPr>
          <p:cNvPr id="42" name="TextBox 41"/>
          <p:cNvSpPr txBox="1"/>
          <p:nvPr/>
        </p:nvSpPr>
        <p:spPr>
          <a:xfrm>
            <a:off x="7829550" y="2329053"/>
            <a:ext cx="984689" cy="194310"/>
          </a:xfrm>
          <a:prstGeom prst="rect">
            <a:avLst/>
          </a:prstGeom>
          <a:noFill/>
        </p:spPr>
        <p:txBody>
          <a:bodyPr wrap="none" lIns="0" rIns="0" tIns="0" bIns="0">
            <a:spAutoFit/>
          </a:bodyPr>
          <a:lstStyle/>
          <a:p>
            <a:r>
              <a:rPr sz="1150" b="0">
                <a:solidFill>
                  <a:srgbClr val="252423"/>
                </a:solidFill>
                <a:latin typeface="Segoe UI"/>
              </a:rPr>
              <a:t>market, losing</a:t>
            </a:r>
          </a:p>
        </p:txBody>
      </p:sp>
      <p:pic>
        <p:nvPicPr>
          <p:cNvPr id="43" name="Picture 42" descr="lock.png"/>
          <p:cNvPicPr>
            <a:picLocks noChangeAspect="1"/>
          </p:cNvPicPr>
          <p:nvPr/>
        </p:nvPicPr>
        <p:blipFill>
          <a:blip r:embed="rId5"/>
          <a:stretch>
            <a:fillRect/>
          </a:stretch>
        </p:blipFill>
        <p:spPr>
          <a:xfrm>
            <a:off x="8763393" y="2318829"/>
            <a:ext cx="134549" cy="195707"/>
          </a:xfrm>
          <a:prstGeom prst="rect">
            <a:avLst/>
          </a:prstGeom>
        </p:spPr>
      </p:pic>
      <p:sp>
        <p:nvSpPr>
          <p:cNvPr id="44" name="TextBox 43"/>
          <p:cNvSpPr txBox="1"/>
          <p:nvPr/>
        </p:nvSpPr>
        <p:spPr>
          <a:xfrm>
            <a:off x="8938502"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5" name="Picture 44" descr="lock.png"/>
          <p:cNvPicPr>
            <a:picLocks noChangeAspect="1"/>
          </p:cNvPicPr>
          <p:nvPr/>
        </p:nvPicPr>
        <p:blipFill>
          <a:blip r:embed="rId5"/>
          <a:stretch>
            <a:fillRect/>
          </a:stretch>
        </p:blipFill>
        <p:spPr>
          <a:xfrm>
            <a:off x="10466859" y="2318829"/>
            <a:ext cx="134549" cy="195707"/>
          </a:xfrm>
          <a:prstGeom prst="rect">
            <a:avLst/>
          </a:prstGeom>
        </p:spPr>
      </p:pic>
      <p:sp>
        <p:nvSpPr>
          <p:cNvPr id="46" name="TextBox 45"/>
          <p:cNvSpPr txBox="1"/>
          <p:nvPr/>
        </p:nvSpPr>
        <p:spPr>
          <a:xfrm>
            <a:off x="10641968" y="232905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7" name="lockshield_10"/>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End User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 User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End User,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 User segment categorizes the market by end user.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Academic Institutions and Univers…</a:t>
            </a:r>
          </a:p>
        </p:txBody>
      </p:sp>
      <p:sp>
        <p:nvSpPr>
          <p:cNvPr id="20" name="Rectangle 19"/>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Government and Defense Agencies</a:t>
            </a:r>
          </a:p>
        </p:txBody>
      </p:sp>
      <p:sp>
        <p:nvSpPr>
          <p:cNvPr id="27" name="Rectangle 26"/>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End Users</a:t>
            </a:r>
          </a:p>
        </p:txBody>
      </p:sp>
      <p:sp>
        <p:nvSpPr>
          <p:cNvPr id="34" name="Rectangle 33"/>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Healthcare and Medical Research I…</a:t>
            </a:r>
          </a:p>
        </p:txBody>
      </p:sp>
      <p:sp>
        <p:nvSpPr>
          <p:cNvPr id="41" name="Rectangle 40"/>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Commercial and Industrial Enterpr…</a:t>
            </a:r>
          </a:p>
        </p:txBody>
      </p:sp>
      <p:sp>
        <p:nvSpPr>
          <p:cNvPr id="48" name="Rectangle 47"/>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49" name="Rectangle 48"/>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0" name="Rectangle 49"/>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1" name="Oval 50"/>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2" name="Rounded Rectangle 51"/>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Independent Research Institutions</a:t>
            </a:r>
          </a:p>
        </p:txBody>
      </p:sp>
      <p:sp>
        <p:nvSpPr>
          <p:cNvPr id="55" name="Rectangle 54"/>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6" name="Rectangle 55"/>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7" name="Rectangle 56"/>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8" name="Oval 57"/>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59" name="Rounded Rectangle 5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1" name="Rectangle 6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63" name="Rounded Rectangle 6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5" name="Rectangle 6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C58A21"/>
                </a:solidFill>
                <a:latin typeface="Segoe UI"/>
              </a:rPr>
              <a:t/>
            </a:r>
            <a:r>
              <a:rPr sz="1100" b="1">
                <a:solidFill>
                  <a:srgbClr val="C58A21"/>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B5532F"/>
                </a:solidFill>
                <a:latin typeface="Segoe UI"/>
              </a:rPr>
              <a:t/>
            </a:r>
            <a:r>
              <a:rPr sz="1100" b="1">
                <a:solidFill>
                  <a:srgbClr val="B5532F"/>
                </a:solidFill>
                <a:latin typeface="Segoe UI"/>
              </a:rPr>
              <a:t/>
            </a:r>
            <a:r>
              <a:rPr sz="1100" b="0">
                <a:solidFill>
                  <a:srgbClr val="252423"/>
                </a:solidFill>
                <a:latin typeface="Segoe UI"/>
              </a:rPr>
              <a:t/>
            </a:r>
          </a:p>
        </p:txBody>
      </p:sp>
      <p:sp>
        <p:nvSpPr>
          <p:cNvPr id="67" name="Rounded Rectangle 6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9" name="Rectangle 6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 User split shows how demand is distributed across end user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1" name="Rectangle 7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73" name="TextBox 7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4" name="TextBox 7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5" name="Picture 74" descr="3_682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5_776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6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568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4_479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5_7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2_496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4_210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5_4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1_345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064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4_4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427_0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595_9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3_4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381_9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620_2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5_0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872730" cy="179984"/>
          </a:xfrm>
          <a:prstGeom prst="rect">
            <a:avLst/>
          </a:prstGeom>
          <a:noFill/>
        </p:spPr>
        <p:txBody>
          <a:bodyPr wrap="none" lIns="0" rIns="0" tIns="0" bIns="0">
            <a:spAutoFit/>
          </a:bodyPr>
          <a:lstStyle/>
          <a:p>
            <a:r>
              <a:rPr sz="1055" b="0">
                <a:solidFill>
                  <a:srgbClr val="252423"/>
                </a:solidFill>
                <a:latin typeface="Segoe UI"/>
              </a:rPr>
              <a:t>Among Helium-3 by end user, government and</a:t>
            </a:r>
          </a:p>
        </p:txBody>
      </p:sp>
      <p:sp>
        <p:nvSpPr>
          <p:cNvPr id="100" name="TextBox 99"/>
          <p:cNvSpPr txBox="1"/>
          <p:nvPr/>
        </p:nvSpPr>
        <p:spPr>
          <a:xfrm>
            <a:off x="485775" y="4390371"/>
            <a:ext cx="2914650" cy="179984"/>
          </a:xfrm>
          <a:prstGeom prst="rect">
            <a:avLst/>
          </a:prstGeom>
          <a:noFill/>
        </p:spPr>
        <p:txBody>
          <a:bodyPr wrap="none" lIns="0" rIns="0" tIns="0" bIns="0">
            <a:spAutoFit/>
          </a:bodyPr>
          <a:lstStyle/>
          <a:p>
            <a:r>
              <a:rPr sz="1055" b="0">
                <a:solidFill>
                  <a:srgbClr val="252423"/>
                </a:solidFill>
                <a:latin typeface="Segoe UI"/>
              </a:rPr>
              <a:t>defense agencies segment is expected to witness</a:t>
            </a:r>
          </a:p>
        </p:txBody>
      </p:sp>
      <p:sp>
        <p:nvSpPr>
          <p:cNvPr id="101" name="TextBox 100"/>
          <p:cNvSpPr txBox="1"/>
          <p:nvPr/>
        </p:nvSpPr>
        <p:spPr>
          <a:xfrm>
            <a:off x="485775" y="4551305"/>
            <a:ext cx="1276070" cy="179984"/>
          </a:xfrm>
          <a:prstGeom prst="rect">
            <a:avLst/>
          </a:prstGeom>
          <a:noFill/>
        </p:spPr>
        <p:txBody>
          <a:bodyPr wrap="none" lIns="0" rIns="0" tIns="0" bIns="0">
            <a:spAutoFit/>
          </a:bodyPr>
          <a:lstStyle/>
          <a:p>
            <a:r>
              <a:rPr sz="1055" b="0">
                <a:solidFill>
                  <a:srgbClr val="252423"/>
                </a:solidFill>
                <a:latin typeface="Segoe UI"/>
              </a:rPr>
              <a:t>the highest CAGR of</a:t>
            </a:r>
          </a:p>
        </p:txBody>
      </p:sp>
      <p:pic>
        <p:nvPicPr>
          <p:cNvPr id="102" name="Picture 101" descr="lock.png"/>
          <p:cNvPicPr>
            <a:picLocks noChangeAspect="1"/>
          </p:cNvPicPr>
          <p:nvPr/>
        </p:nvPicPr>
        <p:blipFill>
          <a:blip r:embed="rId22"/>
          <a:stretch>
            <a:fillRect/>
          </a:stretch>
        </p:blipFill>
        <p:spPr>
          <a:xfrm>
            <a:off x="1708926" y="4541917"/>
            <a:ext cx="123551" cy="179710"/>
          </a:xfrm>
          <a:prstGeom prst="rect">
            <a:avLst/>
          </a:prstGeom>
        </p:spPr>
      </p:pic>
      <p:sp>
        <p:nvSpPr>
          <p:cNvPr id="103" name="TextBox 102"/>
          <p:cNvSpPr txBox="1"/>
          <p:nvPr/>
        </p:nvSpPr>
        <p:spPr>
          <a:xfrm>
            <a:off x="1869722" y="4551305"/>
            <a:ext cx="1070997" cy="179984"/>
          </a:xfrm>
          <a:prstGeom prst="rect">
            <a:avLst/>
          </a:prstGeom>
          <a:noFill/>
        </p:spPr>
        <p:txBody>
          <a:bodyPr wrap="none" lIns="0" rIns="0" tIns="0" bIns="0">
            <a:spAutoFit/>
          </a:bodyPr>
          <a:lstStyle/>
          <a:p>
            <a:r>
              <a:rPr sz="1055" b="0">
                <a:solidFill>
                  <a:srgbClr val="252423"/>
                </a:solidFill>
                <a:latin typeface="Segoe UI"/>
              </a:rPr>
              <a:t>over the forecast</a:t>
            </a:r>
          </a:p>
        </p:txBody>
      </p:sp>
      <p:sp>
        <p:nvSpPr>
          <p:cNvPr id="104" name="TextBox 103"/>
          <p:cNvSpPr txBox="1"/>
          <p:nvPr/>
        </p:nvSpPr>
        <p:spPr>
          <a:xfrm>
            <a:off x="485775" y="4712240"/>
            <a:ext cx="2856384" cy="179984"/>
          </a:xfrm>
          <a:prstGeom prst="rect">
            <a:avLst/>
          </a:prstGeom>
          <a:noFill/>
        </p:spPr>
        <p:txBody>
          <a:bodyPr wrap="none" lIns="0" rIns="0" tIns="0" bIns="0">
            <a:spAutoFit/>
          </a:bodyPr>
          <a:lstStyle/>
          <a:p>
            <a:r>
              <a:rPr sz="1055" b="0">
                <a:solidFill>
                  <a:srgbClr val="252423"/>
                </a:solidFill>
                <a:latin typeface="Segoe UI"/>
              </a:rPr>
              <a:t>period. In terms of value share by end user, the</a:t>
            </a:r>
          </a:p>
        </p:txBody>
      </p:sp>
      <p:sp>
        <p:nvSpPr>
          <p:cNvPr id="105" name="TextBox 104"/>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academic institutions and universities segment is</a:t>
            </a:r>
          </a:p>
        </p:txBody>
      </p:sp>
      <p:sp>
        <p:nvSpPr>
          <p:cNvPr id="106" name="TextBox 105"/>
          <p:cNvSpPr txBox="1"/>
          <p:nvPr/>
        </p:nvSpPr>
        <p:spPr>
          <a:xfrm>
            <a:off x="485775" y="5034109"/>
            <a:ext cx="2476505" cy="179984"/>
          </a:xfrm>
          <a:prstGeom prst="rect">
            <a:avLst/>
          </a:prstGeom>
          <a:noFill/>
        </p:spPr>
        <p:txBody>
          <a:bodyPr wrap="none" lIns="0" rIns="0" tIns="0" bIns="0">
            <a:spAutoFit/>
          </a:bodyPr>
          <a:lstStyle/>
          <a:p>
            <a:r>
              <a:rPr sz="1055" b="0">
                <a:solidFill>
                  <a:srgbClr val="252423"/>
                </a:solidFill>
                <a:latin typeface="Segoe UI"/>
              </a:rPr>
              <a:t>expected to dominate the market, losing</a:t>
            </a:r>
          </a:p>
        </p:txBody>
      </p:sp>
      <p:pic>
        <p:nvPicPr>
          <p:cNvPr id="107" name="Picture 106" descr="lock.png"/>
          <p:cNvPicPr>
            <a:picLocks noChangeAspect="1"/>
          </p:cNvPicPr>
          <p:nvPr/>
        </p:nvPicPr>
        <p:blipFill>
          <a:blip r:embed="rId22"/>
          <a:stretch>
            <a:fillRect/>
          </a:stretch>
        </p:blipFill>
        <p:spPr>
          <a:xfrm>
            <a:off x="2909361" y="5024721"/>
            <a:ext cx="123551" cy="179710"/>
          </a:xfrm>
          <a:prstGeom prst="rect">
            <a:avLst/>
          </a:prstGeom>
        </p:spPr>
      </p:pic>
      <p:sp>
        <p:nvSpPr>
          <p:cNvPr id="108" name="TextBox 107"/>
          <p:cNvSpPr txBox="1"/>
          <p:nvPr/>
        </p:nvSpPr>
        <p:spPr>
          <a:xfrm>
            <a:off x="485775"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109" name="Picture 108" descr="lock.png"/>
          <p:cNvPicPr>
            <a:picLocks noChangeAspect="1"/>
          </p:cNvPicPr>
          <p:nvPr/>
        </p:nvPicPr>
        <p:blipFill>
          <a:blip r:embed="rId22"/>
          <a:stretch>
            <a:fillRect/>
          </a:stretch>
        </p:blipFill>
        <p:spPr>
          <a:xfrm>
            <a:off x="1889205" y="5185655"/>
            <a:ext cx="123551" cy="179710"/>
          </a:xfrm>
          <a:prstGeom prst="rect">
            <a:avLst/>
          </a:prstGeom>
        </p:spPr>
      </p:pic>
      <p:sp>
        <p:nvSpPr>
          <p:cNvPr id="110" name="TextBox 109"/>
          <p:cNvSpPr txBox="1"/>
          <p:nvPr/>
        </p:nvSpPr>
        <p:spPr>
          <a:xfrm>
            <a:off x="2050001" y="5195043"/>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111" name="TextBox 110"/>
          <p:cNvSpPr txBox="1"/>
          <p:nvPr/>
        </p:nvSpPr>
        <p:spPr>
          <a:xfrm>
            <a:off x="485775" y="5404258"/>
            <a:ext cx="2914650" cy="179984"/>
          </a:xfrm>
          <a:prstGeom prst="rect">
            <a:avLst/>
          </a:prstGeom>
          <a:noFill/>
        </p:spPr>
        <p:txBody>
          <a:bodyPr wrap="none" lIns="0" rIns="0" tIns="0" bIns="0">
            <a:spAutoFit/>
          </a:bodyPr>
          <a:lstStyle/>
          <a:p>
            <a:r>
              <a:rPr sz="1055" b="0">
                <a:solidFill>
                  <a:srgbClr val="252423"/>
                </a:solidFill>
                <a:latin typeface="Segoe UI"/>
              </a:rPr>
              <a:t>Academic institutions and universities segment is</a:t>
            </a:r>
          </a:p>
        </p:txBody>
      </p:sp>
      <p:sp>
        <p:nvSpPr>
          <p:cNvPr id="112" name="TextBox 111"/>
          <p:cNvSpPr txBox="1"/>
          <p:nvPr/>
        </p:nvSpPr>
        <p:spPr>
          <a:xfrm>
            <a:off x="485775" y="5565192"/>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113" name="Picture 112" descr="lock.png"/>
          <p:cNvPicPr>
            <a:picLocks noChangeAspect="1"/>
          </p:cNvPicPr>
          <p:nvPr/>
        </p:nvPicPr>
        <p:blipFill>
          <a:blip r:embed="rId22"/>
          <a:stretch>
            <a:fillRect/>
          </a:stretch>
        </p:blipFill>
        <p:spPr>
          <a:xfrm>
            <a:off x="1717791" y="5555804"/>
            <a:ext cx="123551" cy="179710"/>
          </a:xfrm>
          <a:prstGeom prst="rect">
            <a:avLst/>
          </a:prstGeom>
        </p:spPr>
      </p:pic>
      <p:sp>
        <p:nvSpPr>
          <p:cNvPr id="114" name="TextBox 113"/>
          <p:cNvSpPr txBox="1"/>
          <p:nvPr/>
        </p:nvSpPr>
        <p:spPr>
          <a:xfrm>
            <a:off x="1878587" y="5565192"/>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115" name="TextBox 114"/>
          <p:cNvSpPr txBox="1"/>
          <p:nvPr/>
        </p:nvSpPr>
        <p:spPr>
          <a:xfrm>
            <a:off x="485775" y="5726126"/>
            <a:ext cx="2806358" cy="179984"/>
          </a:xfrm>
          <a:prstGeom prst="rect">
            <a:avLst/>
          </a:prstGeom>
          <a:noFill/>
        </p:spPr>
        <p:txBody>
          <a:bodyPr wrap="none" lIns="0" rIns="0" tIns="0" bIns="0">
            <a:spAutoFit/>
          </a:bodyPr>
          <a:lstStyle/>
          <a:p>
            <a:r>
              <a:rPr sz="1055" b="0">
                <a:solidFill>
                  <a:srgbClr val="252423"/>
                </a:solidFill>
                <a:latin typeface="Segoe UI"/>
              </a:rPr>
              <a:t>government and defense agencies segment in</a:t>
            </a:r>
          </a:p>
        </p:txBody>
      </p:sp>
      <p:sp>
        <p:nvSpPr>
          <p:cNvPr id="116" name="TextBox 115"/>
          <p:cNvSpPr txBox="1"/>
          <p:nvPr/>
        </p:nvSpPr>
        <p:spPr>
          <a:xfrm>
            <a:off x="485775" y="5887061"/>
            <a:ext cx="394454" cy="179984"/>
          </a:xfrm>
          <a:prstGeom prst="rect">
            <a:avLst/>
          </a:prstGeom>
          <a:noFill/>
        </p:spPr>
        <p:txBody>
          <a:bodyPr wrap="none" lIns="0" rIns="0" tIns="0" bIns="0">
            <a:spAutoFit/>
          </a:bodyPr>
          <a:lstStyle/>
          <a:p>
            <a:r>
              <a:rPr sz="1055" b="0">
                <a:solidFill>
                  <a:srgbClr val="252423"/>
                </a:solidFill>
                <a:latin typeface="Segoe UI"/>
              </a:rPr>
              <a:t>2036.</a:t>
            </a:r>
          </a:p>
        </p:txBody>
      </p:sp>
      <p:sp>
        <p:nvSpPr>
          <p:cNvPr id="117" name="TextBox 116"/>
          <p:cNvSpPr txBox="1"/>
          <p:nvPr/>
        </p:nvSpPr>
        <p:spPr>
          <a:xfrm>
            <a:off x="3838575" y="4229437"/>
            <a:ext cx="2466121" cy="179984"/>
          </a:xfrm>
          <a:prstGeom prst="rect">
            <a:avLst/>
          </a:prstGeom>
          <a:noFill/>
        </p:spPr>
        <p:txBody>
          <a:bodyPr wrap="none" lIns="0" rIns="0" tIns="0" bIns="0">
            <a:spAutoFit/>
          </a:bodyPr>
          <a:lstStyle/>
          <a:p>
            <a:r>
              <a:rPr sz="1055" b="0">
                <a:solidFill>
                  <a:srgbClr val="252423"/>
                </a:solidFill>
                <a:latin typeface="Segoe UI"/>
              </a:rPr>
              <a:t>● Academic Institutions and Universities:</a:t>
            </a:r>
          </a:p>
        </p:txBody>
      </p:sp>
      <p:pic>
        <p:nvPicPr>
          <p:cNvPr id="118" name="Picture 117" descr="lock.png"/>
          <p:cNvPicPr>
            <a:picLocks noChangeAspect="1"/>
          </p:cNvPicPr>
          <p:nvPr/>
        </p:nvPicPr>
        <p:blipFill>
          <a:blip r:embed="rId22"/>
          <a:stretch>
            <a:fillRect/>
          </a:stretch>
        </p:blipFill>
        <p:spPr>
          <a:xfrm>
            <a:off x="6251778" y="4220049"/>
            <a:ext cx="123551" cy="179710"/>
          </a:xfrm>
          <a:prstGeom prst="rect">
            <a:avLst/>
          </a:prstGeom>
        </p:spPr>
      </p:pic>
      <p:sp>
        <p:nvSpPr>
          <p:cNvPr id="119" name="TextBox 118"/>
          <p:cNvSpPr txBox="1"/>
          <p:nvPr/>
        </p:nvSpPr>
        <p:spPr>
          <a:xfrm>
            <a:off x="6412574" y="4229437"/>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20" name="Picture 119" descr="lock.png"/>
          <p:cNvPicPr>
            <a:picLocks noChangeAspect="1"/>
          </p:cNvPicPr>
          <p:nvPr/>
        </p:nvPicPr>
        <p:blipFill>
          <a:blip r:embed="rId22"/>
          <a:stretch>
            <a:fillRect/>
          </a:stretch>
        </p:blipFill>
        <p:spPr>
          <a:xfrm>
            <a:off x="7295723" y="4220049"/>
            <a:ext cx="123551" cy="179710"/>
          </a:xfrm>
          <a:prstGeom prst="rect">
            <a:avLst/>
          </a:prstGeom>
        </p:spPr>
      </p:pic>
      <p:sp>
        <p:nvSpPr>
          <p:cNvPr id="121" name="TextBox 120"/>
          <p:cNvSpPr txBox="1"/>
          <p:nvPr/>
        </p:nvSpPr>
        <p:spPr>
          <a:xfrm>
            <a:off x="3838575" y="4390371"/>
            <a:ext cx="1568953" cy="179984"/>
          </a:xfrm>
          <a:prstGeom prst="rect">
            <a:avLst/>
          </a:prstGeom>
          <a:noFill/>
        </p:spPr>
        <p:txBody>
          <a:bodyPr wrap="none" lIns="0" rIns="0" tIns="0" bIns="0">
            <a:spAutoFit/>
          </a:bodyPr>
          <a:lstStyle/>
          <a:p>
            <a:r>
              <a:rPr sz="1055" b="0">
                <a:solidFill>
                  <a:srgbClr val="252423"/>
                </a:solidFill>
                <a:latin typeface="Segoe UI"/>
              </a:rPr>
              <a:t>CAGR leads the segment.</a:t>
            </a:r>
          </a:p>
        </p:txBody>
      </p:sp>
      <p:sp>
        <p:nvSpPr>
          <p:cNvPr id="122" name="TextBox 121"/>
          <p:cNvSpPr txBox="1"/>
          <p:nvPr/>
        </p:nvSpPr>
        <p:spPr>
          <a:xfrm>
            <a:off x="3838575" y="4599586"/>
            <a:ext cx="2303700" cy="179984"/>
          </a:xfrm>
          <a:prstGeom prst="rect">
            <a:avLst/>
          </a:prstGeom>
          <a:noFill/>
        </p:spPr>
        <p:txBody>
          <a:bodyPr wrap="none" lIns="0" rIns="0" tIns="0" bIns="0">
            <a:spAutoFit/>
          </a:bodyPr>
          <a:lstStyle/>
          <a:p>
            <a:r>
              <a:rPr sz="1055" b="0">
                <a:solidFill>
                  <a:srgbClr val="252423"/>
                </a:solidFill>
                <a:latin typeface="Segoe UI"/>
              </a:rPr>
              <a:t>● Government and Defense Agencies:</a:t>
            </a:r>
          </a:p>
        </p:txBody>
      </p:sp>
      <p:pic>
        <p:nvPicPr>
          <p:cNvPr id="123" name="Picture 122" descr="lock.png"/>
          <p:cNvPicPr>
            <a:picLocks noChangeAspect="1"/>
          </p:cNvPicPr>
          <p:nvPr/>
        </p:nvPicPr>
        <p:blipFill>
          <a:blip r:embed="rId22"/>
          <a:stretch>
            <a:fillRect/>
          </a:stretch>
        </p:blipFill>
        <p:spPr>
          <a:xfrm>
            <a:off x="6089356" y="4590198"/>
            <a:ext cx="123551" cy="179710"/>
          </a:xfrm>
          <a:prstGeom prst="rect">
            <a:avLst/>
          </a:prstGeom>
        </p:spPr>
      </p:pic>
      <p:sp>
        <p:nvSpPr>
          <p:cNvPr id="124" name="TextBox 123"/>
          <p:cNvSpPr txBox="1"/>
          <p:nvPr/>
        </p:nvSpPr>
        <p:spPr>
          <a:xfrm>
            <a:off x="6250152" y="4599586"/>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25" name="Picture 124" descr="lock.png"/>
          <p:cNvPicPr>
            <a:picLocks noChangeAspect="1"/>
          </p:cNvPicPr>
          <p:nvPr/>
        </p:nvPicPr>
        <p:blipFill>
          <a:blip r:embed="rId22"/>
          <a:stretch>
            <a:fillRect/>
          </a:stretch>
        </p:blipFill>
        <p:spPr>
          <a:xfrm>
            <a:off x="7133301" y="4590198"/>
            <a:ext cx="123551" cy="179710"/>
          </a:xfrm>
          <a:prstGeom prst="rect">
            <a:avLst/>
          </a:prstGeom>
        </p:spPr>
      </p:pic>
      <p:sp>
        <p:nvSpPr>
          <p:cNvPr id="126" name="TextBox 125"/>
          <p:cNvSpPr txBox="1"/>
          <p:nvPr/>
        </p:nvSpPr>
        <p:spPr>
          <a:xfrm>
            <a:off x="7294097" y="4599586"/>
            <a:ext cx="417737" cy="179984"/>
          </a:xfrm>
          <a:prstGeom prst="rect">
            <a:avLst/>
          </a:prstGeom>
          <a:noFill/>
        </p:spPr>
        <p:txBody>
          <a:bodyPr wrap="none" lIns="0" rIns="0" tIns="0" bIns="0">
            <a:spAutoFit/>
          </a:bodyPr>
          <a:lstStyle/>
          <a:p>
            <a:r>
              <a:rPr sz="1055" b="0">
                <a:solidFill>
                  <a:srgbClr val="252423"/>
                </a:solidFill>
                <a:latin typeface="Segoe UI"/>
              </a:rPr>
              <a:t>CAGR</a:t>
            </a:r>
          </a:p>
        </p:txBody>
      </p:sp>
      <p:sp>
        <p:nvSpPr>
          <p:cNvPr id="127" name="TextBox 126"/>
          <p:cNvSpPr txBox="1"/>
          <p:nvPr/>
        </p:nvSpPr>
        <p:spPr>
          <a:xfrm>
            <a:off x="3838575" y="4760520"/>
            <a:ext cx="885279" cy="179984"/>
          </a:xfrm>
          <a:prstGeom prst="rect">
            <a:avLst/>
          </a:prstGeom>
          <a:noFill/>
        </p:spPr>
        <p:txBody>
          <a:bodyPr wrap="none" lIns="0" rIns="0" tIns="0" bIns="0">
            <a:spAutoFit/>
          </a:bodyPr>
          <a:lstStyle/>
          <a:p>
            <a:r>
              <a:rPr sz="1055" b="0">
                <a:solidFill>
                  <a:srgbClr val="252423"/>
                </a:solidFill>
                <a:latin typeface="Segoe UI"/>
              </a:rPr>
              <a:t>grows fastest.</a:t>
            </a:r>
          </a:p>
        </p:txBody>
      </p:sp>
      <p:sp>
        <p:nvSpPr>
          <p:cNvPr id="128" name="TextBox 127"/>
          <p:cNvSpPr txBox="1"/>
          <p:nvPr/>
        </p:nvSpPr>
        <p:spPr>
          <a:xfrm>
            <a:off x="3838575" y="4969735"/>
            <a:ext cx="1181330" cy="179984"/>
          </a:xfrm>
          <a:prstGeom prst="rect">
            <a:avLst/>
          </a:prstGeom>
          <a:noFill/>
        </p:spPr>
        <p:txBody>
          <a:bodyPr wrap="none" lIns="0" rIns="0" tIns="0" bIns="0">
            <a:spAutoFit/>
          </a:bodyPr>
          <a:lstStyle/>
          <a:p>
            <a:r>
              <a:rPr sz="1055" b="0">
                <a:solidFill>
                  <a:srgbClr val="252423"/>
                </a:solidFill>
                <a:latin typeface="Segoe UI"/>
              </a:rPr>
              <a:t>● Other End Users:</a:t>
            </a:r>
          </a:p>
        </p:txBody>
      </p:sp>
      <p:pic>
        <p:nvPicPr>
          <p:cNvPr id="129" name="Picture 128" descr="lock.png"/>
          <p:cNvPicPr>
            <a:picLocks noChangeAspect="1"/>
          </p:cNvPicPr>
          <p:nvPr/>
        </p:nvPicPr>
        <p:blipFill>
          <a:blip r:embed="rId22"/>
          <a:stretch>
            <a:fillRect/>
          </a:stretch>
        </p:blipFill>
        <p:spPr>
          <a:xfrm>
            <a:off x="4966987" y="4960347"/>
            <a:ext cx="123551" cy="179710"/>
          </a:xfrm>
          <a:prstGeom prst="rect">
            <a:avLst/>
          </a:prstGeom>
        </p:spPr>
      </p:pic>
      <p:sp>
        <p:nvSpPr>
          <p:cNvPr id="130" name="TextBox 129"/>
          <p:cNvSpPr txBox="1"/>
          <p:nvPr/>
        </p:nvSpPr>
        <p:spPr>
          <a:xfrm>
            <a:off x="5127783" y="4969735"/>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31" name="Picture 130" descr="lock.png"/>
          <p:cNvPicPr>
            <a:picLocks noChangeAspect="1"/>
          </p:cNvPicPr>
          <p:nvPr/>
        </p:nvPicPr>
        <p:blipFill>
          <a:blip r:embed="rId22"/>
          <a:stretch>
            <a:fillRect/>
          </a:stretch>
        </p:blipFill>
        <p:spPr>
          <a:xfrm>
            <a:off x="6010931" y="4960347"/>
            <a:ext cx="123551" cy="179710"/>
          </a:xfrm>
          <a:prstGeom prst="rect">
            <a:avLst/>
          </a:prstGeom>
        </p:spPr>
      </p:pic>
      <p:sp>
        <p:nvSpPr>
          <p:cNvPr id="132" name="TextBox 131"/>
          <p:cNvSpPr txBox="1"/>
          <p:nvPr/>
        </p:nvSpPr>
        <p:spPr>
          <a:xfrm>
            <a:off x="6171727" y="4969735"/>
            <a:ext cx="1306827" cy="179984"/>
          </a:xfrm>
          <a:prstGeom prst="rect">
            <a:avLst/>
          </a:prstGeom>
          <a:noFill/>
        </p:spPr>
        <p:txBody>
          <a:bodyPr wrap="none" lIns="0" rIns="0" tIns="0" bIns="0">
            <a:spAutoFit/>
          </a:bodyPr>
          <a:lstStyle/>
          <a:p>
            <a:r>
              <a:rPr sz="1055" b="0">
                <a:solidFill>
                  <a:srgbClr val="252423"/>
                </a:solidFill>
                <a:latin typeface="Segoe UI"/>
              </a:rPr>
              <a:t>CAGR serves a niche.</a:t>
            </a:r>
          </a:p>
        </p:txBody>
      </p:sp>
      <p:sp>
        <p:nvSpPr>
          <p:cNvPr id="133" name="TextBox 132"/>
          <p:cNvSpPr txBox="1"/>
          <p:nvPr/>
        </p:nvSpPr>
        <p:spPr>
          <a:xfrm>
            <a:off x="3838575" y="5178949"/>
            <a:ext cx="3074267" cy="179984"/>
          </a:xfrm>
          <a:prstGeom prst="rect">
            <a:avLst/>
          </a:prstGeom>
          <a:noFill/>
        </p:spPr>
        <p:txBody>
          <a:bodyPr wrap="none" lIns="0" rIns="0" tIns="0" bIns="0">
            <a:spAutoFit/>
          </a:bodyPr>
          <a:lstStyle/>
          <a:p>
            <a:r>
              <a:rPr sz="1055" b="1">
                <a:solidFill>
                  <a:srgbClr val="8E44AD"/>
                </a:solidFill>
                <a:latin typeface="Segoe UI"/>
              </a:rPr>
              <a:t>● Healthcare and Medical Research Institutions:</a:t>
            </a:r>
          </a:p>
        </p:txBody>
      </p:sp>
      <p:pic>
        <p:nvPicPr>
          <p:cNvPr id="134" name="Picture 133" descr="lock.png"/>
          <p:cNvPicPr>
            <a:picLocks noChangeAspect="1"/>
          </p:cNvPicPr>
          <p:nvPr/>
        </p:nvPicPr>
        <p:blipFill>
          <a:blip r:embed="rId22"/>
          <a:stretch>
            <a:fillRect/>
          </a:stretch>
        </p:blipFill>
        <p:spPr>
          <a:xfrm>
            <a:off x="6859923" y="5169562"/>
            <a:ext cx="123551" cy="179710"/>
          </a:xfrm>
          <a:prstGeom prst="rect">
            <a:avLst/>
          </a:prstGeom>
        </p:spPr>
      </p:pic>
      <p:sp>
        <p:nvSpPr>
          <p:cNvPr id="135" name="TextBox 134"/>
          <p:cNvSpPr txBox="1"/>
          <p:nvPr/>
        </p:nvSpPr>
        <p:spPr>
          <a:xfrm>
            <a:off x="7020719" y="5178949"/>
            <a:ext cx="555512" cy="179984"/>
          </a:xfrm>
          <a:prstGeom prst="rect">
            <a:avLst/>
          </a:prstGeom>
          <a:noFill/>
        </p:spPr>
        <p:txBody>
          <a:bodyPr wrap="none" lIns="0" rIns="0" tIns="0" bIns="0">
            <a:spAutoFit/>
          </a:bodyPr>
          <a:lstStyle/>
          <a:p>
            <a:r>
              <a:rPr sz="1055" b="1">
                <a:solidFill>
                  <a:srgbClr val="8E44AD"/>
                </a:solidFill>
                <a:latin typeface="Segoe UI"/>
              </a:rPr>
              <a:t>of 2026</a:t>
            </a:r>
          </a:p>
        </p:txBody>
      </p:sp>
      <p:sp>
        <p:nvSpPr>
          <p:cNvPr id="136" name="TextBox 135"/>
          <p:cNvSpPr txBox="1"/>
          <p:nvPr/>
        </p:nvSpPr>
        <p:spPr>
          <a:xfrm>
            <a:off x="3838575" y="5339884"/>
            <a:ext cx="486623" cy="179984"/>
          </a:xfrm>
          <a:prstGeom prst="rect">
            <a:avLst/>
          </a:prstGeom>
          <a:noFill/>
        </p:spPr>
        <p:txBody>
          <a:bodyPr wrap="none" lIns="0" rIns="0" tIns="0" bIns="0">
            <a:spAutoFit/>
          </a:bodyPr>
          <a:lstStyle/>
          <a:p>
            <a:r>
              <a:rPr sz="1055" b="1">
                <a:solidFill>
                  <a:srgbClr val="8E44AD"/>
                </a:solidFill>
                <a:latin typeface="Segoe UI"/>
              </a:rPr>
              <a:t>value ·</a:t>
            </a:r>
          </a:p>
        </p:txBody>
      </p:sp>
      <p:pic>
        <p:nvPicPr>
          <p:cNvPr id="137" name="Picture 136" descr="lock.png"/>
          <p:cNvPicPr>
            <a:picLocks noChangeAspect="1"/>
          </p:cNvPicPr>
          <p:nvPr/>
        </p:nvPicPr>
        <p:blipFill>
          <a:blip r:embed="rId22"/>
          <a:stretch>
            <a:fillRect/>
          </a:stretch>
        </p:blipFill>
        <p:spPr>
          <a:xfrm>
            <a:off x="4272279" y="5330496"/>
            <a:ext cx="123551" cy="179710"/>
          </a:xfrm>
          <a:prstGeom prst="rect">
            <a:avLst/>
          </a:prstGeom>
        </p:spPr>
      </p:pic>
      <p:sp>
        <p:nvSpPr>
          <p:cNvPr id="138" name="TextBox 137"/>
          <p:cNvSpPr txBox="1"/>
          <p:nvPr/>
        </p:nvSpPr>
        <p:spPr>
          <a:xfrm>
            <a:off x="4433075" y="5339884"/>
            <a:ext cx="1383051" cy="179984"/>
          </a:xfrm>
          <a:prstGeom prst="rect">
            <a:avLst/>
          </a:prstGeom>
          <a:noFill/>
        </p:spPr>
        <p:txBody>
          <a:bodyPr wrap="none" lIns="0" rIns="0" tIns="0" bIns="0">
            <a:spAutoFit/>
          </a:bodyPr>
          <a:lstStyle/>
          <a:p>
            <a:r>
              <a:rPr sz="1055" b="1">
                <a:solidFill>
                  <a:srgbClr val="8E44AD"/>
                </a:solidFill>
                <a:latin typeface="Segoe UI"/>
              </a:rPr>
              <a:t>CAGR serves a niche.</a:t>
            </a:r>
          </a:p>
        </p:txBody>
      </p:sp>
      <p:sp>
        <p:nvSpPr>
          <p:cNvPr id="139" name="TextBox 138"/>
          <p:cNvSpPr txBox="1"/>
          <p:nvPr/>
        </p:nvSpPr>
        <p:spPr>
          <a:xfrm>
            <a:off x="3838575" y="5549099"/>
            <a:ext cx="2458214" cy="179984"/>
          </a:xfrm>
          <a:prstGeom prst="rect">
            <a:avLst/>
          </a:prstGeom>
          <a:noFill/>
        </p:spPr>
        <p:txBody>
          <a:bodyPr wrap="none" lIns="0" rIns="0" tIns="0" bIns="0">
            <a:spAutoFit/>
          </a:bodyPr>
          <a:lstStyle/>
          <a:p>
            <a:r>
              <a:rPr sz="1055" b="0">
                <a:solidFill>
                  <a:srgbClr val="252423"/>
                </a:solidFill>
                <a:latin typeface="Segoe UI"/>
              </a:rPr>
              <a:t>● Commercial and Industrial Enterprises:</a:t>
            </a:r>
          </a:p>
        </p:txBody>
      </p:sp>
      <p:pic>
        <p:nvPicPr>
          <p:cNvPr id="140" name="Picture 139" descr="lock.png"/>
          <p:cNvPicPr>
            <a:picLocks noChangeAspect="1"/>
          </p:cNvPicPr>
          <p:nvPr/>
        </p:nvPicPr>
        <p:blipFill>
          <a:blip r:embed="rId22"/>
          <a:stretch>
            <a:fillRect/>
          </a:stretch>
        </p:blipFill>
        <p:spPr>
          <a:xfrm>
            <a:off x="6243871" y="5539711"/>
            <a:ext cx="123551" cy="179710"/>
          </a:xfrm>
          <a:prstGeom prst="rect">
            <a:avLst/>
          </a:prstGeom>
        </p:spPr>
      </p:pic>
      <p:sp>
        <p:nvSpPr>
          <p:cNvPr id="141" name="TextBox 140"/>
          <p:cNvSpPr txBox="1"/>
          <p:nvPr/>
        </p:nvSpPr>
        <p:spPr>
          <a:xfrm>
            <a:off x="6404667" y="5549099"/>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42" name="Picture 141" descr="lock.png"/>
          <p:cNvPicPr>
            <a:picLocks noChangeAspect="1"/>
          </p:cNvPicPr>
          <p:nvPr/>
        </p:nvPicPr>
        <p:blipFill>
          <a:blip r:embed="rId22"/>
          <a:stretch>
            <a:fillRect/>
          </a:stretch>
        </p:blipFill>
        <p:spPr>
          <a:xfrm>
            <a:off x="7287815" y="5539711"/>
            <a:ext cx="123551" cy="179710"/>
          </a:xfrm>
          <a:prstGeom prst="rect">
            <a:avLst/>
          </a:prstGeom>
        </p:spPr>
      </p:pic>
      <p:sp>
        <p:nvSpPr>
          <p:cNvPr id="143" name="TextBox 142"/>
          <p:cNvSpPr txBox="1"/>
          <p:nvPr/>
        </p:nvSpPr>
        <p:spPr>
          <a:xfrm>
            <a:off x="3838575" y="5710033"/>
            <a:ext cx="1306827" cy="179984"/>
          </a:xfrm>
          <a:prstGeom prst="rect">
            <a:avLst/>
          </a:prstGeom>
          <a:noFill/>
        </p:spPr>
        <p:txBody>
          <a:bodyPr wrap="none" lIns="0" rIns="0" tIns="0" bIns="0">
            <a:spAutoFit/>
          </a:bodyPr>
          <a:lstStyle/>
          <a:p>
            <a:r>
              <a:rPr sz="1055" b="0">
                <a:solidFill>
                  <a:srgbClr val="252423"/>
                </a:solidFill>
                <a:latin typeface="Segoe UI"/>
              </a:rPr>
              <a:t>CAGR serves a niche.</a:t>
            </a:r>
          </a:p>
        </p:txBody>
      </p:sp>
      <p:sp>
        <p:nvSpPr>
          <p:cNvPr id="144" name="TextBox 143"/>
          <p:cNvSpPr txBox="1"/>
          <p:nvPr/>
        </p:nvSpPr>
        <p:spPr>
          <a:xfrm>
            <a:off x="3838575" y="5919248"/>
            <a:ext cx="2240765" cy="179984"/>
          </a:xfrm>
          <a:prstGeom prst="rect">
            <a:avLst/>
          </a:prstGeom>
          <a:noFill/>
        </p:spPr>
        <p:txBody>
          <a:bodyPr wrap="none" lIns="0" rIns="0" tIns="0" bIns="0">
            <a:spAutoFit/>
          </a:bodyPr>
          <a:lstStyle/>
          <a:p>
            <a:r>
              <a:rPr sz="1055" b="0">
                <a:solidFill>
                  <a:srgbClr val="252423"/>
                </a:solidFill>
                <a:latin typeface="Segoe UI"/>
              </a:rPr>
              <a:t>● Independent Research Institutions:</a:t>
            </a:r>
          </a:p>
        </p:txBody>
      </p:sp>
      <p:pic>
        <p:nvPicPr>
          <p:cNvPr id="145" name="Picture 144" descr="lock.png"/>
          <p:cNvPicPr>
            <a:picLocks noChangeAspect="1"/>
          </p:cNvPicPr>
          <p:nvPr/>
        </p:nvPicPr>
        <p:blipFill>
          <a:blip r:embed="rId22"/>
          <a:stretch>
            <a:fillRect/>
          </a:stretch>
        </p:blipFill>
        <p:spPr>
          <a:xfrm>
            <a:off x="6026422" y="5909860"/>
            <a:ext cx="123551" cy="179710"/>
          </a:xfrm>
          <a:prstGeom prst="rect">
            <a:avLst/>
          </a:prstGeom>
        </p:spPr>
      </p:pic>
      <p:sp>
        <p:nvSpPr>
          <p:cNvPr id="146" name="TextBox 145"/>
          <p:cNvSpPr txBox="1"/>
          <p:nvPr/>
        </p:nvSpPr>
        <p:spPr>
          <a:xfrm>
            <a:off x="6187218" y="5919248"/>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47" name="Picture 146" descr="lock.png"/>
          <p:cNvPicPr>
            <a:picLocks noChangeAspect="1"/>
          </p:cNvPicPr>
          <p:nvPr/>
        </p:nvPicPr>
        <p:blipFill>
          <a:blip r:embed="rId22"/>
          <a:stretch>
            <a:fillRect/>
          </a:stretch>
        </p:blipFill>
        <p:spPr>
          <a:xfrm>
            <a:off x="7070366" y="5909860"/>
            <a:ext cx="123551" cy="179710"/>
          </a:xfrm>
          <a:prstGeom prst="rect">
            <a:avLst/>
          </a:prstGeom>
        </p:spPr>
      </p:pic>
      <p:sp>
        <p:nvSpPr>
          <p:cNvPr id="148" name="TextBox 147"/>
          <p:cNvSpPr txBox="1"/>
          <p:nvPr/>
        </p:nvSpPr>
        <p:spPr>
          <a:xfrm>
            <a:off x="7231162" y="5919248"/>
            <a:ext cx="417737" cy="179984"/>
          </a:xfrm>
          <a:prstGeom prst="rect">
            <a:avLst/>
          </a:prstGeom>
          <a:noFill/>
        </p:spPr>
        <p:txBody>
          <a:bodyPr wrap="none" lIns="0" rIns="0" tIns="0" bIns="0">
            <a:spAutoFit/>
          </a:bodyPr>
          <a:lstStyle/>
          <a:p>
            <a:r>
              <a:rPr sz="1055" b="0">
                <a:solidFill>
                  <a:srgbClr val="252423"/>
                </a:solidFill>
                <a:latin typeface="Segoe UI"/>
              </a:rPr>
              <a:t>CAGR</a:t>
            </a:r>
          </a:p>
        </p:txBody>
      </p:sp>
      <p:sp>
        <p:nvSpPr>
          <p:cNvPr id="149" name="TextBox 148"/>
          <p:cNvSpPr txBox="1"/>
          <p:nvPr/>
        </p:nvSpPr>
        <p:spPr>
          <a:xfrm>
            <a:off x="3838575" y="6080182"/>
            <a:ext cx="928618" cy="179984"/>
          </a:xfrm>
          <a:prstGeom prst="rect">
            <a:avLst/>
          </a:prstGeom>
          <a:noFill/>
        </p:spPr>
        <p:txBody>
          <a:bodyPr wrap="none" lIns="0" rIns="0" tIns="0" bIns="0">
            <a:spAutoFit/>
          </a:bodyPr>
          <a:lstStyle/>
          <a:p>
            <a:r>
              <a:rPr sz="1055" b="0">
                <a:solidFill>
                  <a:srgbClr val="252423"/>
                </a:solidFill>
                <a:latin typeface="Segoe UI"/>
              </a:rPr>
              <a:t>serves a niche.</a:t>
            </a:r>
          </a:p>
        </p:txBody>
      </p:sp>
      <p:sp>
        <p:nvSpPr>
          <p:cNvPr id="150" name="TextBox 149"/>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End User segment is projected to grow at</a:t>
            </a:r>
          </a:p>
        </p:txBody>
      </p:sp>
      <p:sp>
        <p:nvSpPr>
          <p:cNvPr id="151" name="TextBox 150"/>
          <p:cNvSpPr txBox="1"/>
          <p:nvPr/>
        </p:nvSpPr>
        <p:spPr>
          <a:xfrm>
            <a:off x="8524875" y="6017901"/>
            <a:ext cx="773587" cy="194310"/>
          </a:xfrm>
          <a:prstGeom prst="rect">
            <a:avLst/>
          </a:prstGeom>
          <a:noFill/>
        </p:spPr>
        <p:txBody>
          <a:bodyPr wrap="none" lIns="0" rIns="0" tIns="0" bIns="0">
            <a:spAutoFit/>
          </a:bodyPr>
          <a:lstStyle/>
          <a:p>
            <a:r>
              <a:rPr sz="1150" b="1">
                <a:solidFill>
                  <a:srgbClr val="0E3A5F"/>
                </a:solidFill>
                <a:latin typeface="Segoe UI"/>
              </a:rPr>
              <a:t>a CAGR of</a:t>
            </a:r>
          </a:p>
        </p:txBody>
      </p:sp>
      <p:pic>
        <p:nvPicPr>
          <p:cNvPr id="152" name="Picture 151" descr="lock.png"/>
          <p:cNvPicPr>
            <a:picLocks noChangeAspect="1"/>
          </p:cNvPicPr>
          <p:nvPr/>
        </p:nvPicPr>
        <p:blipFill>
          <a:blip r:embed="rId22"/>
          <a:stretch>
            <a:fillRect/>
          </a:stretch>
        </p:blipFill>
        <p:spPr>
          <a:xfrm>
            <a:off x="9247616" y="6007677"/>
            <a:ext cx="134549" cy="195707"/>
          </a:xfrm>
          <a:prstGeom prst="rect">
            <a:avLst/>
          </a:prstGeom>
        </p:spPr>
      </p:pic>
      <p:sp>
        <p:nvSpPr>
          <p:cNvPr id="153" name="TextBox 152"/>
          <p:cNvSpPr txBox="1"/>
          <p:nvPr/>
        </p:nvSpPr>
        <p:spPr>
          <a:xfrm>
            <a:off x="9422726"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Structure &amp; Attractiveness, By End User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End User mix within each region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End User mix within each region (share of 2036 value) · row label = region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End User · Bubble size represents 2036 value</a:t>
            </a:r>
          </a:p>
        </p:txBody>
      </p:sp>
      <p:graphicFrame>
        <p:nvGraphicFramePr>
          <p:cNvPr id="13" name="Chart 12"/>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93614" cy="186689"/>
          </a:xfrm>
          <a:prstGeom prst="rect">
            <a:avLst/>
          </a:prstGeom>
          <a:noFill/>
        </p:spPr>
        <p:txBody>
          <a:bodyPr wrap="none" lIns="0" rIns="0" tIns="0" bIns="0">
            <a:spAutoFit/>
          </a:bodyPr>
          <a:lstStyle/>
          <a:p>
            <a:r>
              <a:rPr sz="1100" b="0">
                <a:solidFill>
                  <a:srgbClr val="252423"/>
                </a:solidFill>
                <a:latin typeface="Segoe UI"/>
              </a:rPr>
              <a:t>Academic institutions and universities followed by government and defense agencies are expected to be the two most attractive end user segments in the global Helium-3 market in terms</a:t>
            </a:r>
          </a:p>
        </p:txBody>
      </p:sp>
      <p:sp>
        <p:nvSpPr>
          <p:cNvPr id="18" name="TextBox 17"/>
          <p:cNvSpPr txBox="1"/>
          <p:nvPr/>
        </p:nvSpPr>
        <p:spPr>
          <a:xfrm>
            <a:off x="257175" y="5861685"/>
            <a:ext cx="8382146" cy="186689"/>
          </a:xfrm>
          <a:prstGeom prst="rect">
            <a:avLst/>
          </a:prstGeom>
          <a:noFill/>
        </p:spPr>
        <p:txBody>
          <a:bodyPr wrap="none" lIns="0" rIns="0" tIns="0" bIns="0">
            <a:spAutoFit/>
          </a:bodyPr>
          <a:lstStyle/>
          <a:p>
            <a:r>
              <a:rPr sz="1100" b="0">
                <a:solidFill>
                  <a:srgbClr val="252423"/>
                </a:solidFill>
                <a:latin typeface="Segoe UI"/>
              </a:rPr>
              <a:t>of value over the forecast period. Academic institutions and universities and government and defense agencies exhibit a CAGR index of</a:t>
            </a:r>
          </a:p>
        </p:txBody>
      </p:sp>
      <p:pic>
        <p:nvPicPr>
          <p:cNvPr id="19" name="Picture 18" descr="lock.png"/>
          <p:cNvPicPr>
            <a:picLocks noChangeAspect="1"/>
          </p:cNvPicPr>
          <p:nvPr/>
        </p:nvPicPr>
        <p:blipFill>
          <a:blip r:embed="rId6"/>
          <a:stretch>
            <a:fillRect/>
          </a:stretch>
        </p:blipFill>
        <p:spPr>
          <a:xfrm>
            <a:off x="8587373" y="5851905"/>
            <a:ext cx="128699" cy="187198"/>
          </a:xfrm>
          <a:prstGeom prst="rect">
            <a:avLst/>
          </a:prstGeom>
        </p:spPr>
      </p:pic>
      <p:sp>
        <p:nvSpPr>
          <p:cNvPr id="20" name="TextBox 19"/>
          <p:cNvSpPr txBox="1"/>
          <p:nvPr/>
        </p:nvSpPr>
        <p:spPr>
          <a:xfrm>
            <a:off x="8754869"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9011863" y="5851905"/>
            <a:ext cx="128699" cy="187198"/>
          </a:xfrm>
          <a:prstGeom prst="rect">
            <a:avLst/>
          </a:prstGeom>
        </p:spPr>
      </p:pic>
      <p:sp>
        <p:nvSpPr>
          <p:cNvPr id="22" name="TextBox 21"/>
          <p:cNvSpPr txBox="1"/>
          <p:nvPr/>
        </p:nvSpPr>
        <p:spPr>
          <a:xfrm>
            <a:off x="9179359"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10918099" y="5851905"/>
            <a:ext cx="128699" cy="187198"/>
          </a:xfrm>
          <a:prstGeom prst="rect">
            <a:avLst/>
          </a:prstGeom>
        </p:spPr>
      </p:pic>
      <p:sp>
        <p:nvSpPr>
          <p:cNvPr id="24" name="TextBox 23"/>
          <p:cNvSpPr txBox="1"/>
          <p:nvPr/>
        </p:nvSpPr>
        <p:spPr>
          <a:xfrm>
            <a:off x="11085594"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43707" y="6019545"/>
            <a:ext cx="128699" cy="187198"/>
          </a:xfrm>
          <a:prstGeom prst="rect">
            <a:avLst/>
          </a:prstGeom>
        </p:spPr>
      </p:pic>
      <p:sp>
        <p:nvSpPr>
          <p:cNvPr id="26" name="TextBox 25"/>
          <p:cNvSpPr txBox="1"/>
          <p:nvPr/>
        </p:nvSpPr>
        <p:spPr>
          <a:xfrm>
            <a:off x="411203"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171137" y="6019545"/>
            <a:ext cx="128699" cy="187198"/>
          </a:xfrm>
          <a:prstGeom prst="rect">
            <a:avLst/>
          </a:prstGeom>
        </p:spPr>
      </p:pic>
      <p:sp>
        <p:nvSpPr>
          <p:cNvPr id="28" name="TextBox 27"/>
          <p:cNvSpPr txBox="1"/>
          <p:nvPr/>
        </p:nvSpPr>
        <p:spPr>
          <a:xfrm>
            <a:off x="3338633" y="6029325"/>
            <a:ext cx="8324835" cy="186689"/>
          </a:xfrm>
          <a:prstGeom prst="rect">
            <a:avLst/>
          </a:prstGeom>
          <a:noFill/>
        </p:spPr>
        <p:txBody>
          <a:bodyPr wrap="none" lIns="0" rIns="0" tIns="0" bIns="0">
            <a:spAutoFit/>
          </a:bodyPr>
          <a:lstStyle/>
          <a:p>
            <a:r>
              <a:rPr sz="1100" b="0">
                <a:solidFill>
                  <a:srgbClr val="252423"/>
                </a:solidFill>
                <a:latin typeface="Segoe UI"/>
              </a:rPr>
              <a:t>. The commercial and industrial enterprises segment is expected to be less attractive as compared to other segments over the forecast</a:t>
            </a:r>
          </a:p>
        </p:txBody>
      </p:sp>
      <p:sp>
        <p:nvSpPr>
          <p:cNvPr id="29" name="TextBox 28"/>
          <p:cNvSpPr txBox="1"/>
          <p:nvPr/>
        </p:nvSpPr>
        <p:spPr>
          <a:xfrm>
            <a:off x="257175" y="6196965"/>
            <a:ext cx="8592157" cy="186689"/>
          </a:xfrm>
          <a:prstGeom prst="rect">
            <a:avLst/>
          </a:prstGeom>
          <a:noFill/>
        </p:spPr>
        <p:txBody>
          <a:bodyPr wrap="none" lIns="0" rIns="0" tIns="0" bIns="0">
            <a:spAutoFit/>
          </a:bodyPr>
          <a:lstStyle/>
          <a:p>
            <a:r>
              <a:rPr sz="1100" b="0">
                <a:solidFill>
                  <a:srgbClr val="252423"/>
                </a:solidFill>
                <a:latin typeface="Segoe UI"/>
              </a:rPr>
              <a:t>period, owing to its 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End User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End User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Government and Defense Agencies</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Academic Institutions and Universities</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Independent Research Institutions</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Healthcare and Medical Research Institutions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Absolute $ Opportunity Analysis, By End User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End User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Commercial and Industrial Enterprises</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Incremental $ Opportunity (US$ Mn), 2026-2036, By Other End Users</a:t>
            </a:r>
          </a:p>
        </p:txBody>
      </p:sp>
      <p:graphicFrame>
        <p:nvGraphicFramePr>
          <p:cNvPr id="13" name="Chart 12"/>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4" name="Rectangle 13"/>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Summary of Global Absolute $ Opportunity Analysis, By End User</a:t>
            </a:r>
          </a:p>
        </p:txBody>
      </p:sp>
      <p:sp>
        <p:nvSpPr>
          <p:cNvPr id="16" name="Rectangle 15"/>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8" name="TextBox 1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094826" y="5123309"/>
            <a:ext cx="263506" cy="383281"/>
          </a:xfrm>
          <a:prstGeom prst="rect">
            <a:avLst/>
          </a:prstGeom>
        </p:spPr>
      </p:pic>
      <p:sp>
        <p:nvSpPr>
          <p:cNvPr id="21" name="TextBox 20"/>
          <p:cNvSpPr txBox="1"/>
          <p:nvPr/>
        </p:nvSpPr>
        <p:spPr>
          <a:xfrm>
            <a:off x="6305550" y="1400175"/>
            <a:ext cx="5438911" cy="194310"/>
          </a:xfrm>
          <a:prstGeom prst="rect">
            <a:avLst/>
          </a:prstGeom>
          <a:noFill/>
        </p:spPr>
        <p:txBody>
          <a:bodyPr wrap="none" lIns="0" rIns="0" tIns="0" bIns="0">
            <a:spAutoFit/>
          </a:bodyPr>
          <a:lstStyle/>
          <a:p>
            <a:r>
              <a:rPr sz="1150" b="0">
                <a:solidFill>
                  <a:srgbClr val="252423"/>
                </a:solidFill>
                <a:latin typeface="Segoe UI"/>
              </a:rPr>
              <a:t>By 2036, academic institutions and universities segment is anticipated to witness an</a:t>
            </a:r>
          </a:p>
        </p:txBody>
      </p:sp>
      <p:sp>
        <p:nvSpPr>
          <p:cNvPr id="22" name="TextBox 21"/>
          <p:cNvSpPr txBox="1"/>
          <p:nvPr/>
        </p:nvSpPr>
        <p:spPr>
          <a:xfrm>
            <a:off x="6305550" y="1575435"/>
            <a:ext cx="773003" cy="194310"/>
          </a:xfrm>
          <a:prstGeom prst="rect">
            <a:avLst/>
          </a:prstGeom>
          <a:noFill/>
        </p:spPr>
        <p:txBody>
          <a:bodyPr wrap="none" lIns="0" rIns="0" tIns="0" bIns="0">
            <a:spAutoFit/>
          </a:bodyPr>
          <a:lstStyle/>
          <a:p>
            <a:r>
              <a:rPr sz="1150" b="0">
                <a:solidFill>
                  <a:srgbClr val="252423"/>
                </a:solidFill>
                <a:latin typeface="Segoe UI"/>
              </a:rPr>
              <a:t>increase of</a:t>
            </a:r>
          </a:p>
        </p:txBody>
      </p:sp>
      <p:pic>
        <p:nvPicPr>
          <p:cNvPr id="23" name="Picture 22" descr="lock.png"/>
          <p:cNvPicPr>
            <a:picLocks noChangeAspect="1"/>
          </p:cNvPicPr>
          <p:nvPr/>
        </p:nvPicPr>
        <p:blipFill>
          <a:blip r:embed="rId6"/>
          <a:stretch>
            <a:fillRect/>
          </a:stretch>
        </p:blipFill>
        <p:spPr>
          <a:xfrm>
            <a:off x="7027707" y="1565211"/>
            <a:ext cx="134549" cy="195707"/>
          </a:xfrm>
          <a:prstGeom prst="rect">
            <a:avLst/>
          </a:prstGeom>
        </p:spPr>
      </p:pic>
      <p:sp>
        <p:nvSpPr>
          <p:cNvPr id="24" name="TextBox 23"/>
          <p:cNvSpPr txBox="1"/>
          <p:nvPr/>
        </p:nvSpPr>
        <p:spPr>
          <a:xfrm>
            <a:off x="7202817" y="1575435"/>
            <a:ext cx="4664326" cy="194310"/>
          </a:xfrm>
          <a:prstGeom prst="rect">
            <a:avLst/>
          </a:prstGeom>
          <a:noFill/>
        </p:spPr>
        <p:txBody>
          <a:bodyPr wrap="none" lIns="0" rIns="0" tIns="0" bIns="0">
            <a:spAutoFit/>
          </a:bodyPr>
          <a:lstStyle/>
          <a:p>
            <a:r>
              <a:rPr sz="1150" b="0">
                <a:solidFill>
                  <a:srgbClr val="252423"/>
                </a:solidFill>
                <a:latin typeface="Segoe UI"/>
              </a:rPr>
              <a:t>X in terms of value as compared to 2026. The academic institutions and</a:t>
            </a:r>
          </a:p>
        </p:txBody>
      </p:sp>
      <p:sp>
        <p:nvSpPr>
          <p:cNvPr id="25" name="TextBox 24"/>
          <p:cNvSpPr txBox="1"/>
          <p:nvPr/>
        </p:nvSpPr>
        <p:spPr>
          <a:xfrm>
            <a:off x="6305550" y="1750695"/>
            <a:ext cx="5033542" cy="194310"/>
          </a:xfrm>
          <a:prstGeom prst="rect">
            <a:avLst/>
          </a:prstGeom>
          <a:noFill/>
        </p:spPr>
        <p:txBody>
          <a:bodyPr wrap="none" lIns="0" rIns="0" tIns="0" bIns="0">
            <a:spAutoFit/>
          </a:bodyPr>
          <a:lstStyle/>
          <a:p>
            <a:r>
              <a:rPr sz="1150" b="0">
                <a:solidFill>
                  <a:srgbClr val="252423"/>
                </a:solidFill>
                <a:latin typeface="Segoe UI"/>
              </a:rPr>
              <a:t>universities segment is expected to create an incremental opportunity of US$</a:t>
            </a:r>
          </a:p>
        </p:txBody>
      </p:sp>
      <p:pic>
        <p:nvPicPr>
          <p:cNvPr id="26" name="Picture 25" descr="lock.png"/>
          <p:cNvPicPr>
            <a:picLocks noChangeAspect="1"/>
          </p:cNvPicPr>
          <p:nvPr/>
        </p:nvPicPr>
        <p:blipFill>
          <a:blip r:embed="rId6"/>
          <a:stretch>
            <a:fillRect/>
          </a:stretch>
        </p:blipFill>
        <p:spPr>
          <a:xfrm>
            <a:off x="11288246" y="1740471"/>
            <a:ext cx="134549" cy="195707"/>
          </a:xfrm>
          <a:prstGeom prst="rect">
            <a:avLst/>
          </a:prstGeom>
        </p:spPr>
      </p:pic>
      <p:sp>
        <p:nvSpPr>
          <p:cNvPr id="27" name="TextBox 26"/>
          <p:cNvSpPr txBox="1"/>
          <p:nvPr/>
        </p:nvSpPr>
        <p:spPr>
          <a:xfrm>
            <a:off x="11463356" y="1750695"/>
            <a:ext cx="290140" cy="194310"/>
          </a:xfrm>
          <a:prstGeom prst="rect">
            <a:avLst/>
          </a:prstGeom>
          <a:noFill/>
        </p:spPr>
        <p:txBody>
          <a:bodyPr wrap="none" lIns="0" rIns="0" tIns="0" bIns="0">
            <a:spAutoFit/>
          </a:bodyPr>
          <a:lstStyle/>
          <a:p>
            <a:r>
              <a:rPr sz="1150" b="0">
                <a:solidFill>
                  <a:srgbClr val="252423"/>
                </a:solidFill>
                <a:latin typeface="Segoe UI"/>
              </a:rPr>
              <a:t>Mn</a:t>
            </a:r>
          </a:p>
        </p:txBody>
      </p:sp>
      <p:sp>
        <p:nvSpPr>
          <p:cNvPr id="28" name="TextBox 27"/>
          <p:cNvSpPr txBox="1"/>
          <p:nvPr/>
        </p:nvSpPr>
        <p:spPr>
          <a:xfrm>
            <a:off x="6305550" y="1925955"/>
            <a:ext cx="3365355" cy="194310"/>
          </a:xfrm>
          <a:prstGeom prst="rect">
            <a:avLst/>
          </a:prstGeom>
          <a:noFill/>
        </p:spPr>
        <p:txBody>
          <a:bodyPr wrap="none" lIns="0" rIns="0" tIns="0" bIns="0">
            <a:spAutoFit/>
          </a:bodyPr>
          <a:lstStyle/>
          <a:p>
            <a:r>
              <a:rPr sz="1150" b="0">
                <a:solidFill>
                  <a:srgbClr val="252423"/>
                </a:solidFill>
                <a:latin typeface="Segoe UI"/>
              </a:rPr>
              <a:t>for the overall Helium-3 market from 2026 to 2036.</a:t>
            </a:r>
          </a:p>
        </p:txBody>
      </p:sp>
      <p:sp>
        <p:nvSpPr>
          <p:cNvPr id="29" name="TextBox 28"/>
          <p:cNvSpPr txBox="1"/>
          <p:nvPr/>
        </p:nvSpPr>
        <p:spPr>
          <a:xfrm>
            <a:off x="6305550" y="2153793"/>
            <a:ext cx="5534399" cy="194310"/>
          </a:xfrm>
          <a:prstGeom prst="rect">
            <a:avLst/>
          </a:prstGeom>
          <a:noFill/>
        </p:spPr>
        <p:txBody>
          <a:bodyPr wrap="none" lIns="0" rIns="0" tIns="0" bIns="0">
            <a:spAutoFit/>
          </a:bodyPr>
          <a:lstStyle/>
          <a:p>
            <a:r>
              <a:rPr sz="1150" b="0">
                <a:solidFill>
                  <a:srgbClr val="252423"/>
                </a:solidFill>
                <a:latin typeface="Segoe UI"/>
              </a:rPr>
              <a:t>The government and defense agencies segment is expected to create an incremental</a:t>
            </a:r>
          </a:p>
        </p:txBody>
      </p:sp>
      <p:sp>
        <p:nvSpPr>
          <p:cNvPr id="30" name="TextBox 29"/>
          <p:cNvSpPr txBox="1"/>
          <p:nvPr/>
        </p:nvSpPr>
        <p:spPr>
          <a:xfrm>
            <a:off x="6305550" y="2329053"/>
            <a:ext cx="1308523" cy="194310"/>
          </a:xfrm>
          <a:prstGeom prst="rect">
            <a:avLst/>
          </a:prstGeom>
          <a:noFill/>
        </p:spPr>
        <p:txBody>
          <a:bodyPr wrap="none" lIns="0" rIns="0" tIns="0" bIns="0">
            <a:spAutoFit/>
          </a:bodyPr>
          <a:lstStyle/>
          <a:p>
            <a:r>
              <a:rPr sz="1150" b="0">
                <a:solidFill>
                  <a:srgbClr val="252423"/>
                </a:solidFill>
                <a:latin typeface="Segoe UI"/>
              </a:rPr>
              <a:t>opportunity of US$</a:t>
            </a:r>
          </a:p>
        </p:txBody>
      </p:sp>
      <p:pic>
        <p:nvPicPr>
          <p:cNvPr id="31" name="Picture 30" descr="lock.png"/>
          <p:cNvPicPr>
            <a:picLocks noChangeAspect="1"/>
          </p:cNvPicPr>
          <p:nvPr/>
        </p:nvPicPr>
        <p:blipFill>
          <a:blip r:embed="rId6"/>
          <a:stretch>
            <a:fillRect/>
          </a:stretch>
        </p:blipFill>
        <p:spPr>
          <a:xfrm>
            <a:off x="7563227" y="2318829"/>
            <a:ext cx="134549" cy="195707"/>
          </a:xfrm>
          <a:prstGeom prst="rect">
            <a:avLst/>
          </a:prstGeom>
        </p:spPr>
      </p:pic>
      <p:sp>
        <p:nvSpPr>
          <p:cNvPr id="32" name="TextBox 31"/>
          <p:cNvSpPr txBox="1"/>
          <p:nvPr/>
        </p:nvSpPr>
        <p:spPr>
          <a:xfrm>
            <a:off x="7738336" y="2329053"/>
            <a:ext cx="3894787" cy="194310"/>
          </a:xfrm>
          <a:prstGeom prst="rect">
            <a:avLst/>
          </a:prstGeom>
          <a:noFill/>
        </p:spPr>
        <p:txBody>
          <a:bodyPr wrap="none" lIns="0" rIns="0" tIns="0" bIns="0">
            <a:spAutoFit/>
          </a:bodyPr>
          <a:lstStyle/>
          <a:p>
            <a:r>
              <a:rPr sz="1150" b="0">
                <a:solidFill>
                  <a:srgbClr val="252423"/>
                </a:solidFill>
                <a:latin typeface="Segoe UI"/>
              </a:rPr>
              <a:t>Mn for the overall Helium-3 market from 2026 to 2036. The</a:t>
            </a:r>
          </a:p>
        </p:txBody>
      </p:sp>
      <p:sp>
        <p:nvSpPr>
          <p:cNvPr id="33" name="TextBox 32"/>
          <p:cNvSpPr txBox="1"/>
          <p:nvPr/>
        </p:nvSpPr>
        <p:spPr>
          <a:xfrm>
            <a:off x="6305550" y="2504313"/>
            <a:ext cx="5319095" cy="194310"/>
          </a:xfrm>
          <a:prstGeom prst="rect">
            <a:avLst/>
          </a:prstGeom>
          <a:noFill/>
        </p:spPr>
        <p:txBody>
          <a:bodyPr wrap="none" lIns="0" rIns="0" tIns="0" bIns="0">
            <a:spAutoFit/>
          </a:bodyPr>
          <a:lstStyle/>
          <a:p>
            <a:r>
              <a:rPr sz="1150" b="0">
                <a:solidFill>
                  <a:srgbClr val="252423"/>
                </a:solidFill>
                <a:latin typeface="Segoe UI"/>
              </a:rPr>
              <a:t>other end users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669349"/>
            <a:ext cx="134549" cy="195707"/>
          </a:xfrm>
          <a:prstGeom prst="rect">
            <a:avLst/>
          </a:prstGeom>
        </p:spPr>
      </p:pic>
      <p:sp>
        <p:nvSpPr>
          <p:cNvPr id="35" name="TextBox 34"/>
          <p:cNvSpPr txBox="1"/>
          <p:nvPr/>
        </p:nvSpPr>
        <p:spPr>
          <a:xfrm>
            <a:off x="6466579" y="2679573"/>
            <a:ext cx="3619231" cy="194310"/>
          </a:xfrm>
          <a:prstGeom prst="rect">
            <a:avLst/>
          </a:prstGeom>
          <a:noFill/>
        </p:spPr>
        <p:txBody>
          <a:bodyPr wrap="none" lIns="0" rIns="0" tIns="0" bIns="0">
            <a:spAutoFit/>
          </a:bodyPr>
          <a:lstStyle/>
          <a:p>
            <a:r>
              <a:rPr sz="1150" b="0">
                <a:solidFill>
                  <a:srgbClr val="252423"/>
                </a:solidFill>
                <a:latin typeface="Segoe UI"/>
              </a:rPr>
              <a:t>Mn for the overall Helium-3 market from 2026 to 2036.</a:t>
            </a:r>
          </a:p>
        </p:txBody>
      </p:sp>
      <p:sp>
        <p:nvSpPr>
          <p:cNvPr id="36"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3"/>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Analysis, By End User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End User, 2021–2036, highlighting the sub-segments driving growth</a:t>
            </a:r>
          </a:p>
        </p:txBody>
      </p:sp>
      <p:sp>
        <p:nvSpPr>
          <p:cNvPr id="8" name="Rectangle 7"/>
          <p:cNvSpPr/>
          <p:nvPr/>
        </p:nvSpPr>
        <p:spPr>
          <a:xfrm>
            <a:off x="142875" y="981075"/>
            <a:ext cx="11906250" cy="2438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End User (US$ Mn)</a:t>
            </a:r>
          </a:p>
        </p:txBody>
      </p:sp>
      <p:graphicFrame>
        <p:nvGraphicFramePr>
          <p:cNvPr id="10" name="Table 9"/>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3139399"/>
                <a:gridCol w="492313"/>
                <a:gridCol w="492313"/>
                <a:gridCol w="492313"/>
                <a:gridCol w="514434"/>
                <a:gridCol w="514434"/>
                <a:gridCol w="514434"/>
                <a:gridCol w="514434"/>
                <a:gridCol w="514434"/>
                <a:gridCol w="514434"/>
                <a:gridCol w="514434"/>
                <a:gridCol w="514434"/>
                <a:gridCol w="514434"/>
                <a:gridCol w="514434"/>
                <a:gridCol w="514434"/>
                <a:gridCol w="514434"/>
                <a:gridCol w="514434"/>
                <a:gridCol w="583216"/>
              </a:tblGrid>
              <a:tr h="246126">
                <a:tc>
                  <a:txBody>
                    <a:bodyPr wrap="none"/>
                    <a:lstStyle/>
                    <a:p>
                      <a:pPr algn="l"/>
                      <a:r>
                        <a:rPr sz="1100" b="1">
                          <a:solidFill>
                            <a:srgbClr val="FFFFFF"/>
                          </a:solidFill>
                          <a:latin typeface="Segoe UI"/>
                        </a:rPr>
                        <a:t>End User</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F-CAGR</a:t>
                      </a:r>
                      <a:endParaRPr sz="1100"/>
                    </a:p>
                  </a:txBody>
                  <a:tcPr marL="19050" marR="19050" marT="19050" marB="19050" anchor="ctr">
                    <a:solidFill>
                      <a:srgbClr val="007BA5"/>
                    </a:solidFill>
                  </a:tcPr>
                </a:tc>
              </a:tr>
              <a:tr h="246507">
                <a:tc>
                  <a:txBody>
                    <a:bodyPr wrap="none"/>
                    <a:lstStyle/>
                    <a:p>
                      <a:pPr algn="l"/>
                      <a:r>
                        <a:rPr sz="1100" b="1">
                          <a:solidFill>
                            <a:srgbClr val="252423"/>
                          </a:solidFill>
                          <a:latin typeface="Segoe UI"/>
                        </a:rPr>
                        <a:t>Government and Defense Agencies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507">
                <a:tc>
                  <a:txBody>
                    <a:bodyPr wrap="none"/>
                    <a:lstStyle/>
                    <a:p>
                      <a:pPr algn="l"/>
                      <a:r>
                        <a:rPr sz="1100" b="1">
                          <a:solidFill>
                            <a:srgbClr val="252423"/>
                          </a:solidFill>
                          <a:latin typeface="Segoe UI"/>
                        </a:rPr>
                        <a:t>Academic Institutions and Universities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507">
                <a:tc>
                  <a:txBody>
                    <a:bodyPr wrap="none"/>
                    <a:lstStyle/>
                    <a:p>
                      <a:pPr algn="l"/>
                      <a:r>
                        <a:rPr sz="1100" b="1">
                          <a:solidFill>
                            <a:srgbClr val="252423"/>
                          </a:solidFill>
                          <a:latin typeface="Segoe UI"/>
                        </a:rPr>
                        <a:t>Independent Research Institutions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507">
                <a:tc>
                  <a:txBody>
                    <a:bodyPr wrap="none"/>
                    <a:lstStyle/>
                    <a:p>
                      <a:pPr algn="l"/>
                      <a:r>
                        <a:rPr sz="1100" b="1">
                          <a:solidFill>
                            <a:srgbClr val="252423"/>
                          </a:solidFill>
                          <a:latin typeface="Segoe UI"/>
                        </a:rPr>
                        <a:t>Healthcare and Medical Research Institutions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507">
                <a:tc>
                  <a:txBody>
                    <a:bodyPr wrap="none"/>
                    <a:lstStyle/>
                    <a:p>
                      <a:pPr algn="l"/>
                      <a:r>
                        <a:rPr sz="1100" b="1">
                          <a:solidFill>
                            <a:srgbClr val="252423"/>
                          </a:solidFill>
                          <a:latin typeface="Segoe UI"/>
                        </a:rPr>
                        <a:t>Commercial and Industrial Enterprises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507">
                <a:tc>
                  <a:txBody>
                    <a:bodyPr wrap="none"/>
                    <a:lstStyle/>
                    <a:p>
                      <a:pPr algn="l"/>
                      <a:r>
                        <a:rPr sz="1100" b="1">
                          <a:solidFill>
                            <a:srgbClr val="252423"/>
                          </a:solidFill>
                          <a:latin typeface="Segoe UI"/>
                        </a:rPr>
                        <a:t>Other End Users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507">
                <a:tc>
                  <a:txBody>
                    <a:bodyPr wrap="none"/>
                    <a:lstStyle/>
                    <a:p>
                      <a:pPr algn="l"/>
                      <a:r>
                        <a:rPr sz="1100" b="1">
                          <a:solidFill>
                            <a:srgbClr val="252423"/>
                          </a:solidFill>
                          <a:latin typeface="Segoe UI"/>
                        </a:rPr>
                        <a:t>Total</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r>
            </a:tbl>
          </a:graphicData>
        </a:graphic>
      </p:graphicFrame>
      <p:sp>
        <p:nvSpPr>
          <p:cNvPr id="11" name="TextBox 10"/>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552825"/>
            <a:ext cx="11906250" cy="30765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Analysis, By End User</a:t>
            </a:r>
          </a:p>
        </p:txBody>
      </p:sp>
      <p:sp>
        <p:nvSpPr>
          <p:cNvPr id="14" name="Rectangle 13"/>
          <p:cNvSpPr/>
          <p:nvPr/>
        </p:nvSpPr>
        <p:spPr>
          <a:xfrm>
            <a:off x="276225" y="38766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79007" y="2080450"/>
            <a:ext cx="366712" cy="533400"/>
          </a:xfrm>
          <a:prstGeom prst="rect">
            <a:avLst/>
          </a:prstGeom>
        </p:spPr>
      </p:pic>
      <p:sp>
        <p:nvSpPr>
          <p:cNvPr id="18" name="TextBox 17"/>
          <p:cNvSpPr txBox="1"/>
          <p:nvPr/>
        </p:nvSpPr>
        <p:spPr>
          <a:xfrm>
            <a:off x="276225" y="3971925"/>
            <a:ext cx="4590516" cy="194310"/>
          </a:xfrm>
          <a:prstGeom prst="rect">
            <a:avLst/>
          </a:prstGeom>
          <a:noFill/>
        </p:spPr>
        <p:txBody>
          <a:bodyPr wrap="none" lIns="0" rIns="0" tIns="0" bIns="0">
            <a:spAutoFit/>
          </a:bodyPr>
          <a:lstStyle/>
          <a:p>
            <a:r>
              <a:rPr sz="1150" b="0">
                <a:solidFill>
                  <a:srgbClr val="252423"/>
                </a:solidFill>
                <a:latin typeface="Segoe UI"/>
              </a:rPr>
              <a:t>Academic institutions and universities segment is projected to register</a:t>
            </a:r>
          </a:p>
        </p:txBody>
      </p:sp>
      <p:pic>
        <p:nvPicPr>
          <p:cNvPr id="19" name="Picture 18" descr="lock.png"/>
          <p:cNvPicPr>
            <a:picLocks noChangeAspect="1"/>
          </p:cNvPicPr>
          <p:nvPr/>
        </p:nvPicPr>
        <p:blipFill>
          <a:blip r:embed="rId4"/>
          <a:stretch>
            <a:fillRect/>
          </a:stretch>
        </p:blipFill>
        <p:spPr>
          <a:xfrm>
            <a:off x="4815895" y="3961701"/>
            <a:ext cx="134549" cy="195707"/>
          </a:xfrm>
          <a:prstGeom prst="rect">
            <a:avLst/>
          </a:prstGeom>
        </p:spPr>
      </p:pic>
      <p:sp>
        <p:nvSpPr>
          <p:cNvPr id="20" name="TextBox 19"/>
          <p:cNvSpPr txBox="1"/>
          <p:nvPr/>
        </p:nvSpPr>
        <p:spPr>
          <a:xfrm>
            <a:off x="4991005" y="3971925"/>
            <a:ext cx="6700419" cy="194310"/>
          </a:xfrm>
          <a:prstGeom prst="rect">
            <a:avLst/>
          </a:prstGeom>
          <a:noFill/>
        </p:spPr>
        <p:txBody>
          <a:bodyPr wrap="none" lIns="0" rIns="0" tIns="0" bIns="0">
            <a:spAutoFit/>
          </a:bodyPr>
          <a:lstStyle/>
          <a:p>
            <a:r>
              <a:rPr sz="1150" b="0">
                <a:solidFill>
                  <a:srgbClr val="252423"/>
                </a:solidFill>
                <a:latin typeface="Segoe UI"/>
              </a:rPr>
              <a:t>X higher value than government and defense agencies segment in 2036. Among Helium-3 by end user,</a:t>
            </a:r>
          </a:p>
        </p:txBody>
      </p:sp>
      <p:sp>
        <p:nvSpPr>
          <p:cNvPr id="21" name="TextBox 20"/>
          <p:cNvSpPr txBox="1"/>
          <p:nvPr/>
        </p:nvSpPr>
        <p:spPr>
          <a:xfrm>
            <a:off x="276225" y="4147185"/>
            <a:ext cx="5689301" cy="194310"/>
          </a:xfrm>
          <a:prstGeom prst="rect">
            <a:avLst/>
          </a:prstGeom>
          <a:noFill/>
        </p:spPr>
        <p:txBody>
          <a:bodyPr wrap="none" lIns="0" rIns="0" tIns="0" bIns="0">
            <a:spAutoFit/>
          </a:bodyPr>
          <a:lstStyle/>
          <a:p>
            <a:r>
              <a:rPr sz="1150" b="0">
                <a:solidFill>
                  <a:srgbClr val="252423"/>
                </a:solidFill>
                <a:latin typeface="Segoe UI"/>
              </a:rPr>
              <a:t>government and defense agencies segment is expected to witness the highest CAGR of</a:t>
            </a:r>
          </a:p>
        </p:txBody>
      </p:sp>
      <p:pic>
        <p:nvPicPr>
          <p:cNvPr id="22" name="Picture 21" descr="lock.png"/>
          <p:cNvPicPr>
            <a:picLocks noChangeAspect="1"/>
          </p:cNvPicPr>
          <p:nvPr/>
        </p:nvPicPr>
        <p:blipFill>
          <a:blip r:embed="rId4"/>
          <a:stretch>
            <a:fillRect/>
          </a:stretch>
        </p:blipFill>
        <p:spPr>
          <a:xfrm>
            <a:off x="5914680" y="4136961"/>
            <a:ext cx="134549" cy="195707"/>
          </a:xfrm>
          <a:prstGeom prst="rect">
            <a:avLst/>
          </a:prstGeom>
        </p:spPr>
      </p:pic>
      <p:sp>
        <p:nvSpPr>
          <p:cNvPr id="23" name="TextBox 22"/>
          <p:cNvSpPr txBox="1"/>
          <p:nvPr/>
        </p:nvSpPr>
        <p:spPr>
          <a:xfrm>
            <a:off x="6089789" y="414718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375022"/>
            <a:ext cx="8444292" cy="194310"/>
          </a:xfrm>
          <a:prstGeom prst="rect">
            <a:avLst/>
          </a:prstGeom>
          <a:noFill/>
        </p:spPr>
        <p:txBody>
          <a:bodyPr wrap="none" lIns="0" rIns="0" tIns="0" bIns="0">
            <a:spAutoFit/>
          </a:bodyPr>
          <a:lstStyle/>
          <a:p>
            <a:r>
              <a:rPr sz="1150" b="0">
                <a:solidFill>
                  <a:srgbClr val="252423"/>
                </a:solidFill>
                <a:latin typeface="Segoe UI"/>
              </a:rPr>
              <a:t>In terms of value share by end user, the academic institutions and universities segment is expected to dominate the market, losing</a:t>
            </a:r>
          </a:p>
        </p:txBody>
      </p:sp>
      <p:pic>
        <p:nvPicPr>
          <p:cNvPr id="25" name="Picture 24" descr="lock.png"/>
          <p:cNvPicPr>
            <a:picLocks noChangeAspect="1"/>
          </p:cNvPicPr>
          <p:nvPr/>
        </p:nvPicPr>
        <p:blipFill>
          <a:blip r:embed="rId4"/>
          <a:stretch>
            <a:fillRect/>
          </a:stretch>
        </p:blipFill>
        <p:spPr>
          <a:xfrm>
            <a:off x="8669671" y="4364799"/>
            <a:ext cx="134549" cy="195707"/>
          </a:xfrm>
          <a:prstGeom prst="rect">
            <a:avLst/>
          </a:prstGeom>
        </p:spPr>
      </p:pic>
      <p:sp>
        <p:nvSpPr>
          <p:cNvPr id="26" name="TextBox 25"/>
          <p:cNvSpPr txBox="1"/>
          <p:nvPr/>
        </p:nvSpPr>
        <p:spPr>
          <a:xfrm>
            <a:off x="8844780" y="437502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373137" y="4364799"/>
            <a:ext cx="134549" cy="195707"/>
          </a:xfrm>
          <a:prstGeom prst="rect">
            <a:avLst/>
          </a:prstGeom>
        </p:spPr>
      </p:pic>
      <p:sp>
        <p:nvSpPr>
          <p:cNvPr id="28" name="TextBox 27"/>
          <p:cNvSpPr txBox="1"/>
          <p:nvPr/>
        </p:nvSpPr>
        <p:spPr>
          <a:xfrm>
            <a:off x="10548246" y="437502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End User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 User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End User ·  2021 / 2026 / 2036 (US$ Mn)  ·  right axis = BPS share shift</a:t>
            </a:r>
          </a:p>
        </p:txBody>
      </p:sp>
      <p:graphicFrame>
        <p:nvGraphicFramePr>
          <p:cNvPr id="10" name="Chart 9"/>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3932301"/>
            <a:ext cx="38100" cy="38100"/>
          </a:xfrm>
          <a:prstGeom prst="rect">
            <a:avLst/>
          </a:prstGeom>
          <a:noFill/>
        </p:spPr>
        <p:txBody>
          <a:bodyPr wrap="none">
            <a:spAutoFit/>
          </a:bodyPr>
          <a:lstStyle/>
          <a:p/>
        </p:txBody>
      </p:sp>
      <p:sp>
        <p:nvSpPr>
          <p:cNvPr id="13" name="FMI Legend Chip"/>
          <p:cNvSpPr/>
          <p:nvPr/>
        </p:nvSpPr>
        <p:spPr>
          <a:xfrm>
            <a:off x="4928997" y="158620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58144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50524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Commercial and Industrial Enterprises</a:t>
            </a:r>
          </a:p>
        </p:txBody>
      </p:sp>
      <p:sp>
        <p:nvSpPr>
          <p:cNvPr id="16" name="BPS Value 1"/>
          <p:cNvSpPr txBox="1"/>
          <p:nvPr/>
        </p:nvSpPr>
        <p:spPr>
          <a:xfrm>
            <a:off x="6896100" y="1567155"/>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1748534"/>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174377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166757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Independent Research Institutions</a:t>
            </a:r>
          </a:p>
        </p:txBody>
      </p:sp>
      <p:sp>
        <p:nvSpPr>
          <p:cNvPr id="20" name="BPS Value 2"/>
          <p:cNvSpPr txBox="1"/>
          <p:nvPr/>
        </p:nvSpPr>
        <p:spPr>
          <a:xfrm>
            <a:off x="6896100" y="172948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MI Legend Chip"/>
          <p:cNvSpPr/>
          <p:nvPr/>
        </p:nvSpPr>
        <p:spPr>
          <a:xfrm>
            <a:off x="4928997" y="210678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210202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202582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Healthcare and Medical Research Institutions</a:t>
            </a:r>
          </a:p>
        </p:txBody>
      </p:sp>
      <p:sp>
        <p:nvSpPr>
          <p:cNvPr id="24" name="BPS Value 3"/>
          <p:cNvSpPr txBox="1"/>
          <p:nvPr/>
        </p:nvSpPr>
        <p:spPr>
          <a:xfrm>
            <a:off x="6896100" y="208773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928997" y="294416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293940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286320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End Users</a:t>
            </a:r>
          </a:p>
        </p:txBody>
      </p:sp>
      <p:sp>
        <p:nvSpPr>
          <p:cNvPr id="28" name="BPS Value 4"/>
          <p:cNvSpPr txBox="1"/>
          <p:nvPr/>
        </p:nvSpPr>
        <p:spPr>
          <a:xfrm>
            <a:off x="6896100" y="292511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928997" y="410393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5090922" y="409917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5233797" y="402297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Government and Defense Agencies</a:t>
            </a:r>
          </a:p>
        </p:txBody>
      </p:sp>
      <p:sp>
        <p:nvSpPr>
          <p:cNvPr id="32" name="BPS Value 5"/>
          <p:cNvSpPr txBox="1"/>
          <p:nvPr/>
        </p:nvSpPr>
        <p:spPr>
          <a:xfrm>
            <a:off x="6896100" y="4084886"/>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3" name="FMI Legend Chip"/>
          <p:cNvSpPr/>
          <p:nvPr/>
        </p:nvSpPr>
        <p:spPr>
          <a:xfrm>
            <a:off x="4928997" y="547271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rot="10800000">
            <a:off x="5090922" y="546795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5233797" y="53917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Academic Institutions and Universities</a:t>
            </a:r>
          </a:p>
        </p:txBody>
      </p:sp>
      <p:sp>
        <p:nvSpPr>
          <p:cNvPr id="36" name="BPS Value 6"/>
          <p:cNvSpPr txBox="1"/>
          <p:nvPr/>
        </p:nvSpPr>
        <p:spPr>
          <a:xfrm>
            <a:off x="6896100" y="5453664"/>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7" name="Rectangle 36"/>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End User</a:t>
            </a:r>
          </a:p>
        </p:txBody>
      </p:sp>
      <p:sp>
        <p:nvSpPr>
          <p:cNvPr id="39" name="Rectangle 38"/>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2" name="Picture 41" descr="lock.png"/>
          <p:cNvPicPr>
            <a:picLocks noChangeAspect="1"/>
          </p:cNvPicPr>
          <p:nvPr/>
        </p:nvPicPr>
        <p:blipFill>
          <a:blip r:embed="rId5"/>
          <a:stretch>
            <a:fillRect/>
          </a:stretch>
        </p:blipFill>
        <p:spPr>
          <a:xfrm>
            <a:off x="2557843" y="3751325"/>
            <a:ext cx="275034" cy="400050"/>
          </a:xfrm>
          <a:prstGeom prst="rect">
            <a:avLst/>
          </a:prstGeom>
        </p:spPr>
      </p:pic>
      <p:sp>
        <p:nvSpPr>
          <p:cNvPr id="43" name="TextBox 42"/>
          <p:cNvSpPr txBox="1"/>
          <p:nvPr/>
        </p:nvSpPr>
        <p:spPr>
          <a:xfrm>
            <a:off x="7829550" y="1400175"/>
            <a:ext cx="3667355" cy="194310"/>
          </a:xfrm>
          <a:prstGeom prst="rect">
            <a:avLst/>
          </a:prstGeom>
          <a:noFill/>
        </p:spPr>
        <p:txBody>
          <a:bodyPr wrap="none" lIns="0" rIns="0" tIns="0" bIns="0">
            <a:spAutoFit/>
          </a:bodyPr>
          <a:lstStyle/>
          <a:p>
            <a:r>
              <a:rPr sz="1150" b="0">
                <a:solidFill>
                  <a:srgbClr val="252423"/>
                </a:solidFill>
                <a:latin typeface="Segoe UI"/>
              </a:rPr>
              <a:t>Among Helium-3 by end user, government and defense</a:t>
            </a:r>
          </a:p>
        </p:txBody>
      </p:sp>
      <p:sp>
        <p:nvSpPr>
          <p:cNvPr id="44" name="TextBox 43"/>
          <p:cNvSpPr txBox="1"/>
          <p:nvPr/>
        </p:nvSpPr>
        <p:spPr>
          <a:xfrm>
            <a:off x="7829550" y="1575435"/>
            <a:ext cx="4034276" cy="194310"/>
          </a:xfrm>
          <a:prstGeom prst="rect">
            <a:avLst/>
          </a:prstGeom>
          <a:noFill/>
        </p:spPr>
        <p:txBody>
          <a:bodyPr wrap="none" lIns="0" rIns="0" tIns="0" bIns="0">
            <a:spAutoFit/>
          </a:bodyPr>
          <a:lstStyle/>
          <a:p>
            <a:r>
              <a:rPr sz="1150" b="0">
                <a:solidFill>
                  <a:srgbClr val="252423"/>
                </a:solidFill>
                <a:latin typeface="Segoe UI"/>
              </a:rPr>
              <a:t>agencies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7" name="TextBox 46"/>
          <p:cNvSpPr txBox="1"/>
          <p:nvPr/>
        </p:nvSpPr>
        <p:spPr>
          <a:xfrm>
            <a:off x="7829550" y="1978533"/>
            <a:ext cx="4012396" cy="194310"/>
          </a:xfrm>
          <a:prstGeom prst="rect">
            <a:avLst/>
          </a:prstGeom>
          <a:noFill/>
        </p:spPr>
        <p:txBody>
          <a:bodyPr wrap="none" lIns="0" rIns="0" tIns="0" bIns="0">
            <a:spAutoFit/>
          </a:bodyPr>
          <a:lstStyle/>
          <a:p>
            <a:r>
              <a:rPr sz="1150" b="0">
                <a:solidFill>
                  <a:srgbClr val="252423"/>
                </a:solidFill>
                <a:latin typeface="Segoe UI"/>
              </a:rPr>
              <a:t>In terms of value share by end user, the academic institutions</a:t>
            </a:r>
          </a:p>
        </p:txBody>
      </p:sp>
      <p:sp>
        <p:nvSpPr>
          <p:cNvPr id="48" name="TextBox 47"/>
          <p:cNvSpPr txBox="1"/>
          <p:nvPr/>
        </p:nvSpPr>
        <p:spPr>
          <a:xfrm>
            <a:off x="7829550" y="2153793"/>
            <a:ext cx="4041135" cy="194310"/>
          </a:xfrm>
          <a:prstGeom prst="rect">
            <a:avLst/>
          </a:prstGeom>
          <a:noFill/>
        </p:spPr>
        <p:txBody>
          <a:bodyPr wrap="none" lIns="0" rIns="0" tIns="0" bIns="0">
            <a:spAutoFit/>
          </a:bodyPr>
          <a:lstStyle/>
          <a:p>
            <a:r>
              <a:rPr sz="1150" b="0">
                <a:solidFill>
                  <a:srgbClr val="252423"/>
                </a:solidFill>
                <a:latin typeface="Segoe UI"/>
              </a:rPr>
              <a:t>and universities segment is expected to dominate the market,</a:t>
            </a:r>
          </a:p>
        </p:txBody>
      </p:sp>
      <p:sp>
        <p:nvSpPr>
          <p:cNvPr id="49" name="TextBox 48"/>
          <p:cNvSpPr txBox="1"/>
          <p:nvPr/>
        </p:nvSpPr>
        <p:spPr>
          <a:xfrm>
            <a:off x="7829550" y="2329053"/>
            <a:ext cx="463289" cy="194310"/>
          </a:xfrm>
          <a:prstGeom prst="rect">
            <a:avLst/>
          </a:prstGeom>
          <a:noFill/>
        </p:spPr>
        <p:txBody>
          <a:bodyPr wrap="none" lIns="0" rIns="0" tIns="0" bIns="0">
            <a:spAutoFit/>
          </a:bodyPr>
          <a:lstStyle/>
          <a:p>
            <a:r>
              <a:rPr sz="1150" b="0">
                <a:solidFill>
                  <a:srgbClr val="252423"/>
                </a:solidFill>
                <a:latin typeface="Segoe UI"/>
              </a:rPr>
              <a:t>losing</a:t>
            </a:r>
          </a:p>
        </p:txBody>
      </p:sp>
      <p:pic>
        <p:nvPicPr>
          <p:cNvPr id="50" name="Picture 49" descr="lock.png"/>
          <p:cNvPicPr>
            <a:picLocks noChangeAspect="1"/>
          </p:cNvPicPr>
          <p:nvPr/>
        </p:nvPicPr>
        <p:blipFill>
          <a:blip r:embed="rId5"/>
          <a:stretch>
            <a:fillRect/>
          </a:stretch>
        </p:blipFill>
        <p:spPr>
          <a:xfrm>
            <a:off x="8241993" y="2318829"/>
            <a:ext cx="134549" cy="195707"/>
          </a:xfrm>
          <a:prstGeom prst="rect">
            <a:avLst/>
          </a:prstGeom>
        </p:spPr>
      </p:pic>
      <p:sp>
        <p:nvSpPr>
          <p:cNvPr id="51" name="TextBox 50"/>
          <p:cNvSpPr txBox="1"/>
          <p:nvPr/>
        </p:nvSpPr>
        <p:spPr>
          <a:xfrm>
            <a:off x="8417102"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52" name="Picture 51" descr="lock.png"/>
          <p:cNvPicPr>
            <a:picLocks noChangeAspect="1"/>
          </p:cNvPicPr>
          <p:nvPr/>
        </p:nvPicPr>
        <p:blipFill>
          <a:blip r:embed="rId5"/>
          <a:stretch>
            <a:fillRect/>
          </a:stretch>
        </p:blipFill>
        <p:spPr>
          <a:xfrm>
            <a:off x="9945459" y="2318829"/>
            <a:ext cx="134549" cy="195707"/>
          </a:xfrm>
          <a:prstGeom prst="rect">
            <a:avLst/>
          </a:prstGeom>
        </p:spPr>
      </p:pic>
      <p:sp>
        <p:nvSpPr>
          <p:cNvPr id="53" name="TextBox 52"/>
          <p:cNvSpPr txBox="1"/>
          <p:nvPr/>
        </p:nvSpPr>
        <p:spPr>
          <a:xfrm>
            <a:off x="10120568" y="232905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4" name="lockshield_10"/>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22059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2525395"/>
            <a:ext cx="7239000" cy="971550"/>
          </a:xfrm>
          <a:prstGeom prst="rect">
            <a:avLst/>
          </a:prstGeom>
          <a:noFill/>
        </p:spPr>
        <p:txBody>
          <a:bodyPr wrap="square" lIns="0" rIns="0" tIns="0">
            <a:spAutoFit/>
          </a:bodyPr>
          <a:lstStyle/>
          <a:p>
            <a:r>
              <a:rPr sz="3000" b="1" cap="all" spc="400">
                <a:solidFill>
                  <a:srgbClr val="FFFFFF"/>
                </a:solidFill>
                <a:latin typeface="Calibri"/>
              </a:rPr>
              <a:t>Western Europe Market Outlook</a:t>
            </a:r>
          </a:p>
        </p:txBody>
      </p:sp>
      <p:sp>
        <p:nvSpPr>
          <p:cNvPr id="7" name="TextBox 6"/>
          <p:cNvSpPr txBox="1"/>
          <p:nvPr/>
        </p:nvSpPr>
        <p:spPr>
          <a:xfrm>
            <a:off x="914400" y="36874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Western Europe Overview</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Western Europe Market Analysis By Country</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Western Europe Market Analysis By Segments</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Product Form</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Supply Source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By End User</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Western Europe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Summary, By Volume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Western Europe market volume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(LITRES)</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(LITRES)</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(Litres)</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Rectangle 21"/>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725471" cy="194310"/>
          </a:xfrm>
          <a:prstGeom prst="rect">
            <a:avLst/>
          </a:prstGeom>
          <a:noFill/>
        </p:spPr>
        <p:txBody>
          <a:bodyPr wrap="none" lIns="0" rIns="0" tIns="0" bIns="0">
            <a:spAutoFit/>
          </a:bodyPr>
          <a:lstStyle/>
          <a:p>
            <a:r>
              <a:rPr sz="1150" b="0">
                <a:solidFill>
                  <a:srgbClr val="252423"/>
                </a:solidFill>
                <a:latin typeface="Segoe UI"/>
              </a:rPr>
              <a:t>Western Europe Helium-3 market is projected to register</a:t>
            </a:r>
          </a:p>
        </p:txBody>
      </p:sp>
      <p:pic>
        <p:nvPicPr>
          <p:cNvPr id="33" name="Picture 32" descr="lock.png"/>
          <p:cNvPicPr>
            <a:picLocks noChangeAspect="1"/>
          </p:cNvPicPr>
          <p:nvPr/>
        </p:nvPicPr>
        <p:blipFill>
          <a:blip r:embed="rId6"/>
          <a:stretch>
            <a:fillRect/>
          </a:stretch>
        </p:blipFill>
        <p:spPr>
          <a:xfrm>
            <a:off x="8034545" y="2212023"/>
            <a:ext cx="134549" cy="195707"/>
          </a:xfrm>
          <a:prstGeom prst="rect">
            <a:avLst/>
          </a:prstGeom>
        </p:spPr>
      </p:pic>
      <p:sp>
        <p:nvSpPr>
          <p:cNvPr id="34" name="TextBox 33"/>
          <p:cNvSpPr txBox="1"/>
          <p:nvPr/>
        </p:nvSpPr>
        <p:spPr>
          <a:xfrm>
            <a:off x="8209654" y="2222247"/>
            <a:ext cx="3347090" cy="194310"/>
          </a:xfrm>
          <a:prstGeom prst="rect">
            <a:avLst/>
          </a:prstGeom>
          <a:noFill/>
        </p:spPr>
        <p:txBody>
          <a:bodyPr wrap="none" lIns="0" rIns="0" tIns="0" bIns="0">
            <a:spAutoFit/>
          </a:bodyPr>
          <a:lstStyle/>
          <a:p>
            <a:r>
              <a:rPr sz="1150" b="0">
                <a:solidFill>
                  <a:srgbClr val="252423"/>
                </a:solidFill>
                <a:latin typeface="Segoe UI"/>
              </a:rPr>
              <a:t>X increase in volume by the end of forecast period,</a:t>
            </a:r>
          </a:p>
        </p:txBody>
      </p:sp>
      <p:sp>
        <p:nvSpPr>
          <p:cNvPr id="35" name="TextBox 34"/>
          <p:cNvSpPr txBox="1"/>
          <p:nvPr/>
        </p:nvSpPr>
        <p:spPr>
          <a:xfrm>
            <a:off x="8048625" y="2397507"/>
            <a:ext cx="3707014" cy="194310"/>
          </a:xfrm>
          <a:prstGeom prst="rect">
            <a:avLst/>
          </a:prstGeom>
          <a:noFill/>
        </p:spPr>
        <p:txBody>
          <a:bodyPr wrap="none" lIns="0" rIns="0" tIns="0" bIns="0">
            <a:spAutoFit/>
          </a:bodyPr>
          <a:lstStyle/>
          <a:p>
            <a:r>
              <a:rPr sz="1150" b="0">
                <a:solidFill>
                  <a:srgbClr val="252423"/>
                </a:solidFill>
                <a:latin typeface="Segoe UI"/>
              </a:rPr>
              <a:t>2036. Western Europe Helium-3 market volume stood at</a:t>
            </a:r>
          </a:p>
        </p:txBody>
      </p:sp>
      <p:pic>
        <p:nvPicPr>
          <p:cNvPr id="36" name="Picture 35" descr="lock.png"/>
          <p:cNvPicPr>
            <a:picLocks noChangeAspect="1"/>
          </p:cNvPicPr>
          <p:nvPr/>
        </p:nvPicPr>
        <p:blipFill>
          <a:blip r:embed="rId6"/>
          <a:stretch>
            <a:fillRect/>
          </a:stretch>
        </p:blipFill>
        <p:spPr>
          <a:xfrm>
            <a:off x="8034545" y="2562543"/>
            <a:ext cx="134549" cy="195707"/>
          </a:xfrm>
          <a:prstGeom prst="rect">
            <a:avLst/>
          </a:prstGeom>
        </p:spPr>
      </p:pic>
      <p:sp>
        <p:nvSpPr>
          <p:cNvPr id="37" name="TextBox 36"/>
          <p:cNvSpPr txBox="1"/>
          <p:nvPr/>
        </p:nvSpPr>
        <p:spPr>
          <a:xfrm>
            <a:off x="8209654" y="2572767"/>
            <a:ext cx="2544974" cy="194310"/>
          </a:xfrm>
          <a:prstGeom prst="rect">
            <a:avLst/>
          </a:prstGeom>
          <a:noFill/>
        </p:spPr>
        <p:txBody>
          <a:bodyPr wrap="none" lIns="0" rIns="0" tIns="0" bIns="0">
            <a:spAutoFit/>
          </a:bodyPr>
          <a:lstStyle/>
          <a:p>
            <a:r>
              <a:rPr sz="1150" b="0">
                <a:solidFill>
                  <a:srgbClr val="252423"/>
                </a:solidFill>
                <a:latin typeface="Segoe UI"/>
              </a:rPr>
              <a:t>Litres in 2025 and is expected to reach</a:t>
            </a:r>
          </a:p>
        </p:txBody>
      </p:sp>
      <p:pic>
        <p:nvPicPr>
          <p:cNvPr id="38" name="Picture 37" descr="lock.png"/>
          <p:cNvPicPr>
            <a:picLocks noChangeAspect="1"/>
          </p:cNvPicPr>
          <p:nvPr/>
        </p:nvPicPr>
        <p:blipFill>
          <a:blip r:embed="rId6"/>
          <a:stretch>
            <a:fillRect/>
          </a:stretch>
        </p:blipFill>
        <p:spPr>
          <a:xfrm>
            <a:off x="10703783" y="2562543"/>
            <a:ext cx="134549" cy="195707"/>
          </a:xfrm>
          <a:prstGeom prst="rect">
            <a:avLst/>
          </a:prstGeom>
        </p:spPr>
      </p:pic>
      <p:sp>
        <p:nvSpPr>
          <p:cNvPr id="39" name="TextBox 38"/>
          <p:cNvSpPr txBox="1"/>
          <p:nvPr/>
        </p:nvSpPr>
        <p:spPr>
          <a:xfrm>
            <a:off x="10878892" y="2572767"/>
            <a:ext cx="615583" cy="194310"/>
          </a:xfrm>
          <a:prstGeom prst="rect">
            <a:avLst/>
          </a:prstGeom>
          <a:noFill/>
        </p:spPr>
        <p:txBody>
          <a:bodyPr wrap="none" lIns="0" rIns="0" tIns="0" bIns="0">
            <a:spAutoFit/>
          </a:bodyPr>
          <a:lstStyle/>
          <a:p>
            <a:r>
              <a:rPr sz="1150" b="0">
                <a:solidFill>
                  <a:srgbClr val="252423"/>
                </a:solidFill>
                <a:latin typeface="Segoe UI"/>
              </a:rPr>
              <a:t>Litres by</a:t>
            </a:r>
          </a:p>
        </p:txBody>
      </p:sp>
      <p:sp>
        <p:nvSpPr>
          <p:cNvPr id="40" name="TextBox 39"/>
          <p:cNvSpPr txBox="1"/>
          <p:nvPr/>
        </p:nvSpPr>
        <p:spPr>
          <a:xfrm>
            <a:off x="8048625" y="2748027"/>
            <a:ext cx="1569432" cy="194310"/>
          </a:xfrm>
          <a:prstGeom prst="rect">
            <a:avLst/>
          </a:prstGeom>
          <a:noFill/>
        </p:spPr>
        <p:txBody>
          <a:bodyPr wrap="none" lIns="0" rIns="0" tIns="0" bIns="0">
            <a:spAutoFit/>
          </a:bodyPr>
          <a:lstStyle/>
          <a:p>
            <a:r>
              <a:rPr sz="1150" b="0">
                <a:solidFill>
                  <a:srgbClr val="252423"/>
                </a:solidFill>
                <a:latin typeface="Segoe UI"/>
              </a:rPr>
              <a:t>2036 end, at a CAGR of</a:t>
            </a:r>
          </a:p>
        </p:txBody>
      </p:sp>
      <p:pic>
        <p:nvPicPr>
          <p:cNvPr id="41" name="Picture 40" descr="lock.png"/>
          <p:cNvPicPr>
            <a:picLocks noChangeAspect="1"/>
          </p:cNvPicPr>
          <p:nvPr/>
        </p:nvPicPr>
        <p:blipFill>
          <a:blip r:embed="rId6"/>
          <a:stretch>
            <a:fillRect/>
          </a:stretch>
        </p:blipFill>
        <p:spPr>
          <a:xfrm>
            <a:off x="9567211" y="2737803"/>
            <a:ext cx="134549" cy="195707"/>
          </a:xfrm>
          <a:prstGeom prst="rect">
            <a:avLst/>
          </a:prstGeom>
        </p:spPr>
      </p:pic>
      <p:sp>
        <p:nvSpPr>
          <p:cNvPr id="42" name="TextBox 41"/>
          <p:cNvSpPr txBox="1"/>
          <p:nvPr/>
        </p:nvSpPr>
        <p:spPr>
          <a:xfrm>
            <a:off x="9742321" y="274802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3" name="TextBox 42"/>
          <p:cNvSpPr txBox="1"/>
          <p:nvPr/>
        </p:nvSpPr>
        <p:spPr>
          <a:xfrm>
            <a:off x="8048625" y="2975864"/>
            <a:ext cx="3585086" cy="194310"/>
          </a:xfrm>
          <a:prstGeom prst="rect">
            <a:avLst/>
          </a:prstGeom>
          <a:noFill/>
        </p:spPr>
        <p:txBody>
          <a:bodyPr wrap="none" lIns="0" rIns="0" tIns="0" bIns="0">
            <a:spAutoFit/>
          </a:bodyPr>
          <a:lstStyle/>
          <a:p>
            <a:r>
              <a:rPr sz="1150" b="0">
                <a:solidFill>
                  <a:srgbClr val="252423"/>
                </a:solidFill>
                <a:latin typeface="Segoe UI"/>
              </a:rPr>
              <a:t>Value is projected to grow faster than volume over the</a:t>
            </a:r>
          </a:p>
        </p:txBody>
      </p:sp>
      <p:sp>
        <p:nvSpPr>
          <p:cNvPr id="44" name="TextBox 43"/>
          <p:cNvSpPr txBox="1"/>
          <p:nvPr/>
        </p:nvSpPr>
        <p:spPr>
          <a:xfrm>
            <a:off x="8048625" y="3151124"/>
            <a:ext cx="3612969" cy="194310"/>
          </a:xfrm>
          <a:prstGeom prst="rect">
            <a:avLst/>
          </a:prstGeom>
          <a:noFill/>
        </p:spPr>
        <p:txBody>
          <a:bodyPr wrap="none" lIns="0" rIns="0" tIns="0" bIns="0">
            <a:spAutoFit/>
          </a:bodyPr>
          <a:lstStyle/>
          <a:p>
            <a:r>
              <a:rPr sz="1150" b="0">
                <a:solidFill>
                  <a:srgbClr val="252423"/>
                </a:solidFill>
                <a:latin typeface="Segoe UI"/>
              </a:rPr>
              <a:t>forecast period, owing to an increase in average selling</a:t>
            </a:r>
          </a:p>
        </p:txBody>
      </p:sp>
      <p:sp>
        <p:nvSpPr>
          <p:cNvPr id="45" name="TextBox 44"/>
          <p:cNvSpPr txBox="1"/>
          <p:nvPr/>
        </p:nvSpPr>
        <p:spPr>
          <a:xfrm>
            <a:off x="8048625" y="3326384"/>
            <a:ext cx="423924" cy="194310"/>
          </a:xfrm>
          <a:prstGeom prst="rect">
            <a:avLst/>
          </a:prstGeom>
          <a:noFill/>
        </p:spPr>
        <p:txBody>
          <a:bodyPr wrap="none" lIns="0" rIns="0" tIns="0" bIns="0">
            <a:spAutoFit/>
          </a:bodyPr>
          <a:lstStyle/>
          <a:p>
            <a:r>
              <a:rPr sz="1150" b="0">
                <a:solidFill>
                  <a:srgbClr val="252423"/>
                </a:solidFill>
                <a:latin typeface="Segoe UI"/>
              </a:rPr>
              <a:t>price.</a:t>
            </a:r>
          </a:p>
        </p:txBody>
      </p:sp>
      <p:sp>
        <p:nvSpPr>
          <p:cNvPr id="46" name="TextBox 45"/>
          <p:cNvSpPr txBox="1"/>
          <p:nvPr/>
        </p:nvSpPr>
        <p:spPr>
          <a:xfrm>
            <a:off x="8048625" y="4456475"/>
            <a:ext cx="2421521" cy="194310"/>
          </a:xfrm>
          <a:prstGeom prst="rect">
            <a:avLst/>
          </a:prstGeom>
          <a:noFill/>
        </p:spPr>
        <p:txBody>
          <a:bodyPr wrap="none" lIns="0" rIns="0" tIns="0" bIns="0">
            <a:spAutoFit/>
          </a:bodyPr>
          <a:lstStyle/>
          <a:p>
            <a:r>
              <a:rPr sz="1150" b="0">
                <a:solidFill>
                  <a:srgbClr val="252423"/>
                </a:solidFill>
                <a:latin typeface="Segoe UI"/>
              </a:rPr>
              <a:t>▪ 'Germany' leads regional growth at</a:t>
            </a:r>
          </a:p>
        </p:txBody>
      </p:sp>
      <p:pic>
        <p:nvPicPr>
          <p:cNvPr id="47" name="Picture 46" descr="lock.png"/>
          <p:cNvPicPr>
            <a:picLocks noChangeAspect="1"/>
          </p:cNvPicPr>
          <p:nvPr/>
        </p:nvPicPr>
        <p:blipFill>
          <a:blip r:embed="rId6"/>
          <a:stretch>
            <a:fillRect/>
          </a:stretch>
        </p:blipFill>
        <p:spPr>
          <a:xfrm>
            <a:off x="10419300" y="4446251"/>
            <a:ext cx="134549" cy="195707"/>
          </a:xfrm>
          <a:prstGeom prst="rect">
            <a:avLst/>
          </a:prstGeom>
        </p:spPr>
      </p:pic>
      <p:sp>
        <p:nvSpPr>
          <p:cNvPr id="48" name="TextBox 47"/>
          <p:cNvSpPr txBox="1"/>
          <p:nvPr/>
        </p:nvSpPr>
        <p:spPr>
          <a:xfrm>
            <a:off x="10594410" y="44564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49" name="TextBox 48"/>
          <p:cNvSpPr txBox="1"/>
          <p:nvPr/>
        </p:nvSpPr>
        <p:spPr>
          <a:xfrm>
            <a:off x="8048625" y="4684312"/>
            <a:ext cx="3457581" cy="194310"/>
          </a:xfrm>
          <a:prstGeom prst="rect">
            <a:avLst/>
          </a:prstGeom>
          <a:noFill/>
        </p:spPr>
        <p:txBody>
          <a:bodyPr wrap="none" lIns="0" rIns="0" tIns="0" bIns="0">
            <a:spAutoFit/>
          </a:bodyPr>
          <a:lstStyle/>
          <a:p>
            <a:r>
              <a:rPr sz="1150" b="0">
                <a:solidFill>
                  <a:srgbClr val="252423"/>
                </a:solidFill>
                <a:latin typeface="Segoe UI"/>
              </a:rPr>
              <a:t>▪ Demand concentrates in 'Gaseous Helium-3' within</a:t>
            </a:r>
          </a:p>
        </p:txBody>
      </p:sp>
      <p:sp>
        <p:nvSpPr>
          <p:cNvPr id="50" name="TextBox 49"/>
          <p:cNvSpPr txBox="1"/>
          <p:nvPr/>
        </p:nvSpPr>
        <p:spPr>
          <a:xfrm>
            <a:off x="8048625" y="4859572"/>
            <a:ext cx="985553" cy="194310"/>
          </a:xfrm>
          <a:prstGeom prst="rect">
            <a:avLst/>
          </a:prstGeom>
          <a:noFill/>
        </p:spPr>
        <p:txBody>
          <a:bodyPr wrap="none" lIns="0" rIns="0" tIns="0" bIns="0">
            <a:spAutoFit/>
          </a:bodyPr>
          <a:lstStyle/>
          <a:p>
            <a:r>
              <a:rPr sz="1150" b="0">
                <a:solidFill>
                  <a:srgbClr val="252423"/>
                </a:solidFill>
                <a:latin typeface="Segoe UI"/>
              </a:rPr>
              <a:t>Product Form.</a:t>
            </a:r>
          </a:p>
        </p:txBody>
      </p:sp>
      <p:sp>
        <p:nvSpPr>
          <p:cNvPr id="51" name="TextBox 50"/>
          <p:cNvSpPr txBox="1"/>
          <p:nvPr/>
        </p:nvSpPr>
        <p:spPr>
          <a:xfrm>
            <a:off x="8048625" y="5087410"/>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52" name="TextBox 51"/>
          <p:cNvSpPr txBox="1"/>
          <p:nvPr/>
        </p:nvSpPr>
        <p:spPr>
          <a:xfrm>
            <a:off x="8048625" y="5315248"/>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53"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ectangle 7"/>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Product Form  ·  range across 2021–2036 (US$/Litres)</a:t>
            </a:r>
          </a:p>
        </p:txBody>
      </p:sp>
      <p:cxnSp>
        <p:nvCxnSpPr>
          <p:cNvPr id="10" name="Connector 9"/>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1"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2"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sp>
        <p:nvSpPr>
          <p:cNvPr id="23"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05E5C"/>
                </a:solidFill>
                <a:latin typeface="Segoe UI"/>
              </a:rPr>
              <a:t/>
            </a:r>
          </a:p>
        </p:txBody>
      </p:sp>
      <p:cxnSp>
        <p:nvCxnSpPr>
          <p:cNvPr id="24" name="Connector 23"/>
          <p:cNvCxnSpPr/>
          <p:nvPr/>
        </p:nvCxnSpPr>
        <p:spPr>
          <a:xfrm flipV="1">
            <a:off x="2409825" y="1670329"/>
            <a:ext cx="0" cy="108218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278380" y="27525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190750" y="1960711"/>
            <a:ext cx="438150" cy="540479"/>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2190750" y="2237468"/>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cxnSp>
        <p:nvCxnSpPr>
          <p:cNvPr id="30" name="Connector 29"/>
          <p:cNvCxnSpPr/>
          <p:nvPr/>
        </p:nvCxnSpPr>
        <p:spPr>
          <a:xfrm flipV="1">
            <a:off x="5915025" y="2112813"/>
            <a:ext cx="0" cy="100673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211281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695950" y="2382765"/>
            <a:ext cx="438150" cy="502733"/>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695950" y="264010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162425" y="1960413"/>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36" name="TextBox 35"/>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Gaseous Helium-3</a:t>
            </a:r>
          </a:p>
        </p:txBody>
      </p:sp>
      <p:sp>
        <p:nvSpPr>
          <p:cNvPr id="37" name="TextBox 36"/>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Liquid Helium-3</a:t>
            </a:r>
          </a:p>
        </p:txBody>
      </p:sp>
      <p:sp>
        <p:nvSpPr>
          <p:cNvPr id="38" name="Rectangle 37"/>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Western Europe  ·  2026–2036</a:t>
            </a:r>
          </a:p>
        </p:txBody>
      </p:sp>
      <p:cxnSp>
        <p:nvCxnSpPr>
          <p:cNvPr id="40" name="Connector 39"/>
          <p:cNvCxnSpPr/>
          <p:nvPr/>
        </p:nvCxnSpPr>
        <p:spPr>
          <a:xfrm>
            <a:off x="619125" y="430206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9125" y="467900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50559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43290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80985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4302062"/>
            <a:ext cx="0" cy="1507788"/>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90550" y="430206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679009"/>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505595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43290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80985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1" name="FMI Scale tick"/>
          <p:cNvSpPr txBox="1"/>
          <p:nvPr/>
        </p:nvSpPr>
        <p:spPr>
          <a:xfrm>
            <a:off x="92869" y="4235387"/>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+9.0%</a:t>
            </a:r>
          </a:p>
        </p:txBody>
      </p:sp>
      <p:sp>
        <p:nvSpPr>
          <p:cNvPr id="52" name="FMI Scale tick"/>
          <p:cNvSpPr txBox="1"/>
          <p:nvPr/>
        </p:nvSpPr>
        <p:spPr>
          <a:xfrm>
            <a:off x="92869" y="4612334"/>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+4.5%</a:t>
            </a:r>
          </a:p>
        </p:txBody>
      </p:sp>
      <p:sp>
        <p:nvSpPr>
          <p:cNvPr id="53" name="FMI Scale tick"/>
          <p:cNvSpPr txBox="1"/>
          <p:nvPr/>
        </p:nvSpPr>
        <p:spPr>
          <a:xfrm>
            <a:off x="219075" y="498928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Western Europe</a:t>
            </a:r>
          </a:p>
        </p:txBody>
      </p:sp>
      <p:sp>
        <p:nvSpPr>
          <p:cNvPr id="54" name="FMI Scale tick"/>
          <p:cNvSpPr txBox="1"/>
          <p:nvPr/>
        </p:nvSpPr>
        <p:spPr>
          <a:xfrm>
            <a:off x="130969" y="5366228"/>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-4.5%</a:t>
            </a:r>
          </a:p>
        </p:txBody>
      </p:sp>
      <p:sp>
        <p:nvSpPr>
          <p:cNvPr id="55" name="FMI Scale tick"/>
          <p:cNvSpPr txBox="1"/>
          <p:nvPr/>
        </p:nvSpPr>
        <p:spPr>
          <a:xfrm>
            <a:off x="130969" y="5743175"/>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-9.0%</a:t>
            </a:r>
          </a:p>
        </p:txBody>
      </p:sp>
      <p:cxnSp>
        <p:nvCxnSpPr>
          <p:cNvPr id="56" name="Connector 55"/>
          <p:cNvCxnSpPr/>
          <p:nvPr/>
        </p:nvCxnSpPr>
        <p:spPr>
          <a:xfrm>
            <a:off x="619125" y="505595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831056" y="4905697"/>
            <a:ext cx="457200" cy="15025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MI Data Label"/>
          <p:cNvSpPr txBox="1"/>
          <p:nvPr/>
        </p:nvSpPr>
        <p:spPr>
          <a:xfrm>
            <a:off x="619125" y="4762822"/>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9" name="Rectangle 58"/>
          <p:cNvSpPr/>
          <p:nvPr/>
        </p:nvSpPr>
        <p:spPr>
          <a:xfrm>
            <a:off x="1712119" y="5020705"/>
            <a:ext cx="457200" cy="35251"/>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1500188" y="4877830"/>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1" name="Rectangle 60"/>
          <p:cNvSpPr/>
          <p:nvPr/>
        </p:nvSpPr>
        <p:spPr>
          <a:xfrm>
            <a:off x="2593181" y="5055956"/>
            <a:ext cx="457200" cy="119722"/>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2381250" y="5185203"/>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3" name="Rectangle 62"/>
          <p:cNvSpPr/>
          <p:nvPr/>
        </p:nvSpPr>
        <p:spPr>
          <a:xfrm>
            <a:off x="3474244" y="5055956"/>
            <a:ext cx="457200" cy="246658"/>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3262312" y="5312139"/>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5" name="Rectangle 64"/>
          <p:cNvSpPr/>
          <p:nvPr/>
        </p:nvSpPr>
        <p:spPr>
          <a:xfrm>
            <a:off x="4355306" y="5055956"/>
            <a:ext cx="457200" cy="93114"/>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4143375" y="5158594"/>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7" name="FMI Data Label"/>
          <p:cNvSpPr txBox="1"/>
          <p:nvPr/>
        </p:nvSpPr>
        <p:spPr>
          <a:xfrm>
            <a:off x="5024438" y="4908073"/>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68" name="Rectangle 67"/>
          <p:cNvSpPr/>
          <p:nvPr/>
        </p:nvSpPr>
        <p:spPr>
          <a:xfrm>
            <a:off x="6117431" y="5055956"/>
            <a:ext cx="457200" cy="654229"/>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MI Data Label"/>
          <p:cNvSpPr txBox="1"/>
          <p:nvPr/>
        </p:nvSpPr>
        <p:spPr>
          <a:xfrm>
            <a:off x="5905500" y="5719710"/>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0" name="Rectangle 69"/>
          <p:cNvSpPr/>
          <p:nvPr/>
        </p:nvSpPr>
        <p:spPr>
          <a:xfrm>
            <a:off x="6998494" y="4996748"/>
            <a:ext cx="457200" cy="59207"/>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MI Data Label"/>
          <p:cNvSpPr txBox="1"/>
          <p:nvPr/>
        </p:nvSpPr>
        <p:spPr>
          <a:xfrm>
            <a:off x="6786562" y="4853873"/>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72" name="TextBox 71"/>
          <p:cNvSpPr txBox="1"/>
          <p:nvPr/>
        </p:nvSpPr>
        <p:spPr>
          <a:xfrm>
            <a:off x="619125"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Germany</a:t>
            </a:r>
          </a:p>
        </p:txBody>
      </p:sp>
      <p:sp>
        <p:nvSpPr>
          <p:cNvPr id="73" name="TextBox 72"/>
          <p:cNvSpPr txBox="1"/>
          <p:nvPr/>
        </p:nvSpPr>
        <p:spPr>
          <a:xfrm>
            <a:off x="1500188"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Italy</a:t>
            </a:r>
          </a:p>
        </p:txBody>
      </p:sp>
      <p:sp>
        <p:nvSpPr>
          <p:cNvPr id="74" name="TextBox 73"/>
          <p:cNvSpPr txBox="1"/>
          <p:nvPr/>
        </p:nvSpPr>
        <p:spPr>
          <a:xfrm>
            <a:off x="2381250"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France</a:t>
            </a:r>
          </a:p>
        </p:txBody>
      </p:sp>
      <p:sp>
        <p:nvSpPr>
          <p:cNvPr id="75" name="TextBox 74"/>
          <p:cNvSpPr txBox="1"/>
          <p:nvPr/>
        </p:nvSpPr>
        <p:spPr>
          <a:xfrm>
            <a:off x="3262312"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U.K.</a:t>
            </a:r>
          </a:p>
        </p:txBody>
      </p:sp>
      <p:sp>
        <p:nvSpPr>
          <p:cNvPr id="76" name="TextBox 75"/>
          <p:cNvSpPr txBox="1"/>
          <p:nvPr/>
        </p:nvSpPr>
        <p:spPr>
          <a:xfrm>
            <a:off x="4143375"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Spain</a:t>
            </a:r>
          </a:p>
        </p:txBody>
      </p:sp>
      <p:sp>
        <p:nvSpPr>
          <p:cNvPr id="77" name="TextBox 76"/>
          <p:cNvSpPr txBox="1"/>
          <p:nvPr/>
        </p:nvSpPr>
        <p:spPr>
          <a:xfrm>
            <a:off x="5024438"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BENELUX</a:t>
            </a:r>
          </a:p>
        </p:txBody>
      </p:sp>
      <p:sp>
        <p:nvSpPr>
          <p:cNvPr id="78" name="TextBox 77"/>
          <p:cNvSpPr txBox="1"/>
          <p:nvPr/>
        </p:nvSpPr>
        <p:spPr>
          <a:xfrm>
            <a:off x="5905500"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Nordic Countries</a:t>
            </a:r>
          </a:p>
        </p:txBody>
      </p:sp>
      <p:sp>
        <p:nvSpPr>
          <p:cNvPr id="79" name="TextBox 78"/>
          <p:cNvSpPr txBox="1"/>
          <p:nvPr/>
        </p:nvSpPr>
        <p:spPr>
          <a:xfrm>
            <a:off x="6786562"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Rest of Western Europe</a:t>
            </a:r>
          </a:p>
        </p:txBody>
      </p:sp>
      <p:sp>
        <p:nvSpPr>
          <p:cNvPr id="80" name="Rectangle 79"/>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82" name="Rectangle 81"/>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84" name="TextBox 8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85" name="Picture 84" descr="lock.png"/>
          <p:cNvPicPr>
            <a:picLocks noChangeAspect="1"/>
          </p:cNvPicPr>
          <p:nvPr/>
        </p:nvPicPr>
        <p:blipFill>
          <a:blip r:embed="rId4"/>
          <a:stretch>
            <a:fillRect/>
          </a:stretch>
        </p:blipFill>
        <p:spPr>
          <a:xfrm>
            <a:off x="2345475" y="1491005"/>
            <a:ext cx="128699" cy="187198"/>
          </a:xfrm>
          <a:prstGeom prst="rect">
            <a:avLst/>
          </a:prstGeom>
        </p:spPr>
      </p:pic>
      <p:pic>
        <p:nvPicPr>
          <p:cNvPr id="86" name="Picture 85" descr="lock.png"/>
          <p:cNvPicPr>
            <a:picLocks noChangeAspect="1"/>
          </p:cNvPicPr>
          <p:nvPr/>
        </p:nvPicPr>
        <p:blipFill>
          <a:blip r:embed="rId4"/>
          <a:stretch>
            <a:fillRect/>
          </a:stretch>
        </p:blipFill>
        <p:spPr>
          <a:xfrm>
            <a:off x="5850675" y="1933489"/>
            <a:ext cx="128699" cy="187198"/>
          </a:xfrm>
          <a:prstGeom prst="rect">
            <a:avLst/>
          </a:prstGeom>
        </p:spPr>
      </p:pic>
      <p:pic>
        <p:nvPicPr>
          <p:cNvPr id="87" name="Picture 86" descr="lock.png"/>
          <p:cNvPicPr>
            <a:picLocks noChangeAspect="1"/>
          </p:cNvPicPr>
          <p:nvPr/>
        </p:nvPicPr>
        <p:blipFill>
          <a:blip r:embed="rId4"/>
          <a:stretch>
            <a:fillRect/>
          </a:stretch>
        </p:blipFill>
        <p:spPr>
          <a:xfrm>
            <a:off x="995306" y="4735898"/>
            <a:ext cx="128699" cy="187198"/>
          </a:xfrm>
          <a:prstGeom prst="rect">
            <a:avLst/>
          </a:prstGeom>
        </p:spPr>
      </p:pic>
      <p:pic>
        <p:nvPicPr>
          <p:cNvPr id="88" name="Picture 87" descr="lock.png"/>
          <p:cNvPicPr>
            <a:picLocks noChangeAspect="1"/>
          </p:cNvPicPr>
          <p:nvPr/>
        </p:nvPicPr>
        <p:blipFill>
          <a:blip r:embed="rId4"/>
          <a:stretch>
            <a:fillRect/>
          </a:stretch>
        </p:blipFill>
        <p:spPr>
          <a:xfrm>
            <a:off x="1876369" y="4850906"/>
            <a:ext cx="128699" cy="187198"/>
          </a:xfrm>
          <a:prstGeom prst="rect">
            <a:avLst/>
          </a:prstGeom>
        </p:spPr>
      </p:pic>
      <p:pic>
        <p:nvPicPr>
          <p:cNvPr id="89" name="Picture 88" descr="lock.png"/>
          <p:cNvPicPr>
            <a:picLocks noChangeAspect="1"/>
          </p:cNvPicPr>
          <p:nvPr/>
        </p:nvPicPr>
        <p:blipFill>
          <a:blip r:embed="rId4"/>
          <a:stretch>
            <a:fillRect/>
          </a:stretch>
        </p:blipFill>
        <p:spPr>
          <a:xfrm>
            <a:off x="2757431" y="5158279"/>
            <a:ext cx="128699" cy="187198"/>
          </a:xfrm>
          <a:prstGeom prst="rect">
            <a:avLst/>
          </a:prstGeom>
        </p:spPr>
      </p:pic>
      <p:pic>
        <p:nvPicPr>
          <p:cNvPr id="90" name="Picture 89" descr="lock.png"/>
          <p:cNvPicPr>
            <a:picLocks noChangeAspect="1"/>
          </p:cNvPicPr>
          <p:nvPr/>
        </p:nvPicPr>
        <p:blipFill>
          <a:blip r:embed="rId4"/>
          <a:stretch>
            <a:fillRect/>
          </a:stretch>
        </p:blipFill>
        <p:spPr>
          <a:xfrm>
            <a:off x="3638493" y="5285215"/>
            <a:ext cx="128699" cy="187198"/>
          </a:xfrm>
          <a:prstGeom prst="rect">
            <a:avLst/>
          </a:prstGeom>
        </p:spPr>
      </p:pic>
      <p:pic>
        <p:nvPicPr>
          <p:cNvPr id="91" name="Picture 90" descr="lock.png"/>
          <p:cNvPicPr>
            <a:picLocks noChangeAspect="1"/>
          </p:cNvPicPr>
          <p:nvPr/>
        </p:nvPicPr>
        <p:blipFill>
          <a:blip r:embed="rId4"/>
          <a:stretch>
            <a:fillRect/>
          </a:stretch>
        </p:blipFill>
        <p:spPr>
          <a:xfrm>
            <a:off x="4519556" y="5131670"/>
            <a:ext cx="128699" cy="187198"/>
          </a:xfrm>
          <a:prstGeom prst="rect">
            <a:avLst/>
          </a:prstGeom>
        </p:spPr>
      </p:pic>
      <p:pic>
        <p:nvPicPr>
          <p:cNvPr id="92" name="Picture 91" descr="lock.png"/>
          <p:cNvPicPr>
            <a:picLocks noChangeAspect="1"/>
          </p:cNvPicPr>
          <p:nvPr/>
        </p:nvPicPr>
        <p:blipFill>
          <a:blip r:embed="rId4"/>
          <a:stretch>
            <a:fillRect/>
          </a:stretch>
        </p:blipFill>
        <p:spPr>
          <a:xfrm>
            <a:off x="5400619" y="4881148"/>
            <a:ext cx="128699" cy="187198"/>
          </a:xfrm>
          <a:prstGeom prst="rect">
            <a:avLst/>
          </a:prstGeom>
        </p:spPr>
      </p:pic>
      <p:pic>
        <p:nvPicPr>
          <p:cNvPr id="93" name="Picture 92" descr="lock.png"/>
          <p:cNvPicPr>
            <a:picLocks noChangeAspect="1"/>
          </p:cNvPicPr>
          <p:nvPr/>
        </p:nvPicPr>
        <p:blipFill>
          <a:blip r:embed="rId4"/>
          <a:stretch>
            <a:fillRect/>
          </a:stretch>
        </p:blipFill>
        <p:spPr>
          <a:xfrm>
            <a:off x="6281681" y="5692785"/>
            <a:ext cx="128699" cy="187198"/>
          </a:xfrm>
          <a:prstGeom prst="rect">
            <a:avLst/>
          </a:prstGeom>
        </p:spPr>
      </p:pic>
      <p:pic>
        <p:nvPicPr>
          <p:cNvPr id="94" name="Picture 93" descr="lock.png"/>
          <p:cNvPicPr>
            <a:picLocks noChangeAspect="1"/>
          </p:cNvPicPr>
          <p:nvPr/>
        </p:nvPicPr>
        <p:blipFill>
          <a:blip r:embed="rId4"/>
          <a:stretch>
            <a:fillRect/>
          </a:stretch>
        </p:blipFill>
        <p:spPr>
          <a:xfrm>
            <a:off x="7162743" y="4826949"/>
            <a:ext cx="128699" cy="187198"/>
          </a:xfrm>
          <a:prstGeom prst="rect">
            <a:avLst/>
          </a:prstGeom>
        </p:spPr>
      </p:pic>
      <p:sp>
        <p:nvSpPr>
          <p:cNvPr id="95" name="TextBox 94"/>
          <p:cNvSpPr txBox="1"/>
          <p:nvPr/>
        </p:nvSpPr>
        <p:spPr>
          <a:xfrm>
            <a:off x="8048625" y="1471995"/>
            <a:ext cx="3729696" cy="194310"/>
          </a:xfrm>
          <a:prstGeom prst="rect">
            <a:avLst/>
          </a:prstGeom>
          <a:noFill/>
        </p:spPr>
        <p:txBody>
          <a:bodyPr wrap="none" lIns="0" rIns="0" tIns="0" bIns="0">
            <a:spAutoFit/>
          </a:bodyPr>
          <a:lstStyle/>
          <a:p>
            <a:r>
              <a:rPr sz="1150" b="0">
                <a:solidFill>
                  <a:srgbClr val="252423"/>
                </a:solidFill>
                <a:latin typeface="Segoe UI"/>
              </a:rPr>
              <a:t>Gaseous Helium-3 segment is expected to command the</a:t>
            </a:r>
          </a:p>
        </p:txBody>
      </p:sp>
      <p:sp>
        <p:nvSpPr>
          <p:cNvPr id="96" name="TextBox 95"/>
          <p:cNvSpPr txBox="1"/>
          <p:nvPr/>
        </p:nvSpPr>
        <p:spPr>
          <a:xfrm>
            <a:off x="8048625" y="1647255"/>
            <a:ext cx="1923450" cy="194310"/>
          </a:xfrm>
          <a:prstGeom prst="rect">
            <a:avLst/>
          </a:prstGeom>
          <a:noFill/>
        </p:spPr>
        <p:txBody>
          <a:bodyPr wrap="none" lIns="0" rIns="0" tIns="0" bIns="0">
            <a:spAutoFit/>
          </a:bodyPr>
          <a:lstStyle/>
          <a:p>
            <a:r>
              <a:rPr sz="1150" b="0">
                <a:solidFill>
                  <a:srgbClr val="252423"/>
                </a:solidFill>
                <a:latin typeface="Segoe UI"/>
              </a:rPr>
              <a:t>highest average price of US$</a:t>
            </a:r>
          </a:p>
        </p:txBody>
      </p:sp>
      <p:pic>
        <p:nvPicPr>
          <p:cNvPr id="97" name="Picture 96" descr="lock.png"/>
          <p:cNvPicPr>
            <a:picLocks noChangeAspect="1"/>
          </p:cNvPicPr>
          <p:nvPr/>
        </p:nvPicPr>
        <p:blipFill>
          <a:blip r:embed="rId4"/>
          <a:stretch>
            <a:fillRect/>
          </a:stretch>
        </p:blipFill>
        <p:spPr>
          <a:xfrm>
            <a:off x="9921229" y="1637031"/>
            <a:ext cx="134549" cy="195707"/>
          </a:xfrm>
          <a:prstGeom prst="rect">
            <a:avLst/>
          </a:prstGeom>
        </p:spPr>
      </p:pic>
      <p:sp>
        <p:nvSpPr>
          <p:cNvPr id="98" name="TextBox 97"/>
          <p:cNvSpPr txBox="1"/>
          <p:nvPr/>
        </p:nvSpPr>
        <p:spPr>
          <a:xfrm>
            <a:off x="10096339" y="1647255"/>
            <a:ext cx="1722877" cy="194310"/>
          </a:xfrm>
          <a:prstGeom prst="rect">
            <a:avLst/>
          </a:prstGeom>
          <a:noFill/>
        </p:spPr>
        <p:txBody>
          <a:bodyPr wrap="none" lIns="0" rIns="0" tIns="0" bIns="0">
            <a:spAutoFit/>
          </a:bodyPr>
          <a:lstStyle/>
          <a:p>
            <a:r>
              <a:rPr sz="1150" b="0">
                <a:solidFill>
                  <a:srgbClr val="252423"/>
                </a:solidFill>
                <a:latin typeface="Segoe UI"/>
              </a:rPr>
              <a:t>per Litre in 2036. Average</a:t>
            </a:r>
          </a:p>
        </p:txBody>
      </p:sp>
      <p:sp>
        <p:nvSpPr>
          <p:cNvPr id="99" name="TextBox 98"/>
          <p:cNvSpPr txBox="1"/>
          <p:nvPr/>
        </p:nvSpPr>
        <p:spPr>
          <a:xfrm>
            <a:off x="8048625" y="1822515"/>
            <a:ext cx="2926969" cy="194310"/>
          </a:xfrm>
          <a:prstGeom prst="rect">
            <a:avLst/>
          </a:prstGeom>
          <a:noFill/>
        </p:spPr>
        <p:txBody>
          <a:bodyPr wrap="none" lIns="0" rIns="0" tIns="0" bIns="0">
            <a:spAutoFit/>
          </a:bodyPr>
          <a:lstStyle/>
          <a:p>
            <a:r>
              <a:rPr sz="1150" b="0">
                <a:solidFill>
                  <a:srgbClr val="252423"/>
                </a:solidFill>
                <a:latin typeface="Segoe UI"/>
              </a:rPr>
              <a:t>selling price of Helium-3 is estimated at US$</a:t>
            </a:r>
          </a:p>
        </p:txBody>
      </p:sp>
      <p:pic>
        <p:nvPicPr>
          <p:cNvPr id="100" name="Picture 99" descr="lock.png"/>
          <p:cNvPicPr>
            <a:picLocks noChangeAspect="1"/>
          </p:cNvPicPr>
          <p:nvPr/>
        </p:nvPicPr>
        <p:blipFill>
          <a:blip r:embed="rId4"/>
          <a:stretch>
            <a:fillRect/>
          </a:stretch>
        </p:blipFill>
        <p:spPr>
          <a:xfrm>
            <a:off x="10924748" y="1812291"/>
            <a:ext cx="134549" cy="195707"/>
          </a:xfrm>
          <a:prstGeom prst="rect">
            <a:avLst/>
          </a:prstGeom>
        </p:spPr>
      </p:pic>
      <p:sp>
        <p:nvSpPr>
          <p:cNvPr id="101" name="TextBox 100"/>
          <p:cNvSpPr txBox="1"/>
          <p:nvPr/>
        </p:nvSpPr>
        <p:spPr>
          <a:xfrm>
            <a:off x="11099857" y="1822515"/>
            <a:ext cx="610164" cy="194310"/>
          </a:xfrm>
          <a:prstGeom prst="rect">
            <a:avLst/>
          </a:prstGeom>
          <a:noFill/>
        </p:spPr>
        <p:txBody>
          <a:bodyPr wrap="none" lIns="0" rIns="0" tIns="0" bIns="0">
            <a:spAutoFit/>
          </a:bodyPr>
          <a:lstStyle/>
          <a:p>
            <a:r>
              <a:rPr sz="1150" b="0">
                <a:solidFill>
                  <a:srgbClr val="252423"/>
                </a:solidFill>
                <a:latin typeface="Segoe UI"/>
              </a:rPr>
              <a:t>per Litre</a:t>
            </a:r>
          </a:p>
        </p:txBody>
      </p:sp>
      <p:sp>
        <p:nvSpPr>
          <p:cNvPr id="102" name="TextBox 101"/>
          <p:cNvSpPr txBox="1"/>
          <p:nvPr/>
        </p:nvSpPr>
        <p:spPr>
          <a:xfrm>
            <a:off x="8048625" y="1997775"/>
            <a:ext cx="2835915" cy="194310"/>
          </a:xfrm>
          <a:prstGeom prst="rect">
            <a:avLst/>
          </a:prstGeom>
          <a:noFill/>
        </p:spPr>
        <p:txBody>
          <a:bodyPr wrap="none" lIns="0" rIns="0" tIns="0" bIns="0">
            <a:spAutoFit/>
          </a:bodyPr>
          <a:lstStyle/>
          <a:p>
            <a:r>
              <a:rPr sz="1150" b="0">
                <a:solidFill>
                  <a:srgbClr val="252423"/>
                </a:solidFill>
                <a:latin typeface="Segoe UI"/>
              </a:rPr>
              <a:t>in 2025 and is projected to increase to US$</a:t>
            </a:r>
          </a:p>
        </p:txBody>
      </p:sp>
      <p:pic>
        <p:nvPicPr>
          <p:cNvPr id="103" name="Picture 102" descr="lock.png"/>
          <p:cNvPicPr>
            <a:picLocks noChangeAspect="1"/>
          </p:cNvPicPr>
          <p:nvPr/>
        </p:nvPicPr>
        <p:blipFill>
          <a:blip r:embed="rId4"/>
          <a:stretch>
            <a:fillRect/>
          </a:stretch>
        </p:blipFill>
        <p:spPr>
          <a:xfrm>
            <a:off x="10833694" y="1987551"/>
            <a:ext cx="134549" cy="195707"/>
          </a:xfrm>
          <a:prstGeom prst="rect">
            <a:avLst/>
          </a:prstGeom>
        </p:spPr>
      </p:pic>
      <p:sp>
        <p:nvSpPr>
          <p:cNvPr id="104" name="TextBox 103"/>
          <p:cNvSpPr txBox="1"/>
          <p:nvPr/>
        </p:nvSpPr>
        <p:spPr>
          <a:xfrm>
            <a:off x="11008803" y="1997775"/>
            <a:ext cx="806704" cy="194310"/>
          </a:xfrm>
          <a:prstGeom prst="rect">
            <a:avLst/>
          </a:prstGeom>
          <a:noFill/>
        </p:spPr>
        <p:txBody>
          <a:bodyPr wrap="none" lIns="0" rIns="0" tIns="0" bIns="0">
            <a:spAutoFit/>
          </a:bodyPr>
          <a:lstStyle/>
          <a:p>
            <a:r>
              <a:rPr sz="1150" b="0">
                <a:solidFill>
                  <a:srgbClr val="252423"/>
                </a:solidFill>
                <a:latin typeface="Segoe UI"/>
              </a:rPr>
              <a:t>per Litre by</a:t>
            </a:r>
          </a:p>
        </p:txBody>
      </p:sp>
      <p:sp>
        <p:nvSpPr>
          <p:cNvPr id="105" name="TextBox 104"/>
          <p:cNvSpPr txBox="1"/>
          <p:nvPr/>
        </p:nvSpPr>
        <p:spPr>
          <a:xfrm>
            <a:off x="8048625" y="2173035"/>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106" name="TextBox 105"/>
          <p:cNvSpPr txBox="1"/>
          <p:nvPr/>
        </p:nvSpPr>
        <p:spPr>
          <a:xfrm>
            <a:off x="8048625" y="2400873"/>
            <a:ext cx="3430037" cy="194310"/>
          </a:xfrm>
          <a:prstGeom prst="rect">
            <a:avLst/>
          </a:prstGeom>
          <a:noFill/>
        </p:spPr>
        <p:txBody>
          <a:bodyPr wrap="none" lIns="0" rIns="0" tIns="0" bIns="0">
            <a:spAutoFit/>
          </a:bodyPr>
          <a:lstStyle/>
          <a:p>
            <a:r>
              <a:rPr sz="1150" b="0">
                <a:solidFill>
                  <a:srgbClr val="252423"/>
                </a:solidFill>
                <a:latin typeface="Segoe UI"/>
              </a:rPr>
              <a:t>Germany is the highest-priced country, while Nordic</a:t>
            </a:r>
          </a:p>
        </p:txBody>
      </p:sp>
      <p:sp>
        <p:nvSpPr>
          <p:cNvPr id="107" name="TextBox 106"/>
          <p:cNvSpPr txBox="1"/>
          <p:nvPr/>
        </p:nvSpPr>
        <p:spPr>
          <a:xfrm>
            <a:off x="8048625" y="2576133"/>
            <a:ext cx="3848100" cy="194310"/>
          </a:xfrm>
          <a:prstGeom prst="rect">
            <a:avLst/>
          </a:prstGeom>
          <a:noFill/>
        </p:spPr>
        <p:txBody>
          <a:bodyPr wrap="none" lIns="0" rIns="0" tIns="0" bIns="0">
            <a:spAutoFit/>
          </a:bodyPr>
          <a:lstStyle/>
          <a:p>
            <a:r>
              <a:rPr sz="1150" b="0">
                <a:solidFill>
                  <a:srgbClr val="252423"/>
                </a:solidFill>
                <a:latin typeface="Segoe UI"/>
              </a:rPr>
              <a:t>Countries is the most price-competitive market. Against the</a:t>
            </a:r>
          </a:p>
        </p:txBody>
      </p:sp>
      <p:sp>
        <p:nvSpPr>
          <p:cNvPr id="108" name="TextBox 107"/>
          <p:cNvSpPr txBox="1"/>
          <p:nvPr/>
        </p:nvSpPr>
        <p:spPr>
          <a:xfrm>
            <a:off x="8048625" y="2751393"/>
            <a:ext cx="1632683" cy="194310"/>
          </a:xfrm>
          <a:prstGeom prst="rect">
            <a:avLst/>
          </a:prstGeom>
          <a:noFill/>
        </p:spPr>
        <p:txBody>
          <a:bodyPr wrap="none" lIns="0" rIns="0" tIns="0" bIns="0">
            <a:spAutoFit/>
          </a:bodyPr>
          <a:lstStyle/>
          <a:p>
            <a:r>
              <a:rPr sz="1150" b="0">
                <a:solidFill>
                  <a:srgbClr val="252423"/>
                </a:solidFill>
                <a:latin typeface="Segoe UI"/>
              </a:rPr>
              <a:t>Western Europe price of</a:t>
            </a:r>
          </a:p>
        </p:txBody>
      </p:sp>
      <p:pic>
        <p:nvPicPr>
          <p:cNvPr id="109" name="Picture 108" descr="lock.png"/>
          <p:cNvPicPr>
            <a:picLocks noChangeAspect="1"/>
          </p:cNvPicPr>
          <p:nvPr/>
        </p:nvPicPr>
        <p:blipFill>
          <a:blip r:embed="rId4"/>
          <a:stretch>
            <a:fillRect/>
          </a:stretch>
        </p:blipFill>
        <p:spPr>
          <a:xfrm>
            <a:off x="9630462" y="2741169"/>
            <a:ext cx="134549" cy="195707"/>
          </a:xfrm>
          <a:prstGeom prst="rect">
            <a:avLst/>
          </a:prstGeom>
        </p:spPr>
      </p:pic>
      <p:sp>
        <p:nvSpPr>
          <p:cNvPr id="110" name="TextBox 109"/>
          <p:cNvSpPr txBox="1"/>
          <p:nvPr/>
        </p:nvSpPr>
        <p:spPr>
          <a:xfrm>
            <a:off x="9805571" y="2751393"/>
            <a:ext cx="1805623" cy="194310"/>
          </a:xfrm>
          <a:prstGeom prst="rect">
            <a:avLst/>
          </a:prstGeom>
          <a:noFill/>
        </p:spPr>
        <p:txBody>
          <a:bodyPr wrap="none" lIns="0" rIns="0" tIns="0" bIns="0">
            <a:spAutoFit/>
          </a:bodyPr>
          <a:lstStyle/>
          <a:p>
            <a:r>
              <a:rPr sz="1150" b="0">
                <a:solidFill>
                  <a:srgbClr val="252423"/>
                </a:solidFill>
                <a:latin typeface="Segoe UI"/>
              </a:rPr>
              <a:t>US$/Litres, 4 of 8 countries</a:t>
            </a:r>
          </a:p>
        </p:txBody>
      </p:sp>
      <p:sp>
        <p:nvSpPr>
          <p:cNvPr id="111" name="TextBox 110"/>
          <p:cNvSpPr txBox="1"/>
          <p:nvPr/>
        </p:nvSpPr>
        <p:spPr>
          <a:xfrm>
            <a:off x="8048625" y="2926653"/>
            <a:ext cx="1686618" cy="194310"/>
          </a:xfrm>
          <a:prstGeom prst="rect">
            <a:avLst/>
          </a:prstGeom>
          <a:noFill/>
        </p:spPr>
        <p:txBody>
          <a:bodyPr wrap="none" lIns="0" rIns="0" tIns="0" bIns="0">
            <a:spAutoFit/>
          </a:bodyPr>
          <a:lstStyle/>
          <a:p>
            <a:r>
              <a:rPr sz="1150" b="0">
                <a:solidFill>
                  <a:srgbClr val="252423"/>
                </a:solidFill>
                <a:latin typeface="Segoe UI"/>
              </a:rPr>
              <a:t>price above and 4 below.</a:t>
            </a:r>
          </a:p>
        </p:txBody>
      </p:sp>
      <p:sp>
        <p:nvSpPr>
          <p:cNvPr id="112" name="TextBox 111"/>
          <p:cNvSpPr txBox="1"/>
          <p:nvPr/>
        </p:nvSpPr>
        <p:spPr>
          <a:xfrm>
            <a:off x="8048625" y="3154490"/>
            <a:ext cx="1930060" cy="194310"/>
          </a:xfrm>
          <a:prstGeom prst="rect">
            <a:avLst/>
          </a:prstGeom>
          <a:noFill/>
        </p:spPr>
        <p:txBody>
          <a:bodyPr wrap="none" lIns="0" rIns="0" tIns="0" bIns="0">
            <a:spAutoFit/>
          </a:bodyPr>
          <a:lstStyle/>
          <a:p>
            <a:r>
              <a:rPr sz="1150" b="0">
                <a:solidFill>
                  <a:srgbClr val="252423"/>
                </a:solidFill>
                <a:latin typeface="Segoe UI"/>
              </a:rPr>
              <a:t>'Germany' is the dearest at +</a:t>
            </a:r>
          </a:p>
        </p:txBody>
      </p:sp>
      <p:pic>
        <p:nvPicPr>
          <p:cNvPr id="113" name="Picture 112" descr="lock.png"/>
          <p:cNvPicPr>
            <a:picLocks noChangeAspect="1"/>
          </p:cNvPicPr>
          <p:nvPr/>
        </p:nvPicPr>
        <p:blipFill>
          <a:blip r:embed="rId4"/>
          <a:stretch>
            <a:fillRect/>
          </a:stretch>
        </p:blipFill>
        <p:spPr>
          <a:xfrm>
            <a:off x="9927839" y="3144267"/>
            <a:ext cx="134549" cy="195707"/>
          </a:xfrm>
          <a:prstGeom prst="rect">
            <a:avLst/>
          </a:prstGeom>
        </p:spPr>
      </p:pic>
      <p:sp>
        <p:nvSpPr>
          <p:cNvPr id="114" name="TextBox 113"/>
          <p:cNvSpPr txBox="1"/>
          <p:nvPr/>
        </p:nvSpPr>
        <p:spPr>
          <a:xfrm>
            <a:off x="10102948" y="3154490"/>
            <a:ext cx="1580811" cy="194310"/>
          </a:xfrm>
          <a:prstGeom prst="rect">
            <a:avLst/>
          </a:prstGeom>
          <a:noFill/>
        </p:spPr>
        <p:txBody>
          <a:bodyPr wrap="none" lIns="0" rIns="0" tIns="0" bIns="0">
            <a:spAutoFit/>
          </a:bodyPr>
          <a:lstStyle/>
          <a:p>
            <a:r>
              <a:rPr sz="1150" b="0">
                <a:solidFill>
                  <a:srgbClr val="252423"/>
                </a:solidFill>
                <a:latin typeface="Segoe UI"/>
              </a:rPr>
              <a:t>versus Western Europe,</a:t>
            </a:r>
          </a:p>
        </p:txBody>
      </p:sp>
      <p:sp>
        <p:nvSpPr>
          <p:cNvPr id="115" name="TextBox 114"/>
          <p:cNvSpPr txBox="1"/>
          <p:nvPr/>
        </p:nvSpPr>
        <p:spPr>
          <a:xfrm>
            <a:off x="8048625" y="3329750"/>
            <a:ext cx="2359911" cy="194310"/>
          </a:xfrm>
          <a:prstGeom prst="rect">
            <a:avLst/>
          </a:prstGeom>
          <a:noFill/>
        </p:spPr>
        <p:txBody>
          <a:bodyPr wrap="none" lIns="0" rIns="0" tIns="0" bIns="0">
            <a:spAutoFit/>
          </a:bodyPr>
          <a:lstStyle/>
          <a:p>
            <a:r>
              <a:rPr sz="1150" b="0">
                <a:solidFill>
                  <a:srgbClr val="252423"/>
                </a:solidFill>
                <a:latin typeface="Segoe UI"/>
              </a:rPr>
              <a:t>'Nordic Countries' the cheapest at -</a:t>
            </a:r>
          </a:p>
        </p:txBody>
      </p:sp>
      <p:pic>
        <p:nvPicPr>
          <p:cNvPr id="116" name="Picture 115" descr="lock.png"/>
          <p:cNvPicPr>
            <a:picLocks noChangeAspect="1"/>
          </p:cNvPicPr>
          <p:nvPr/>
        </p:nvPicPr>
        <p:blipFill>
          <a:blip r:embed="rId4"/>
          <a:stretch>
            <a:fillRect/>
          </a:stretch>
        </p:blipFill>
        <p:spPr>
          <a:xfrm>
            <a:off x="10357690" y="3319527"/>
            <a:ext cx="134549" cy="195707"/>
          </a:xfrm>
          <a:prstGeom prst="rect">
            <a:avLst/>
          </a:prstGeom>
        </p:spPr>
      </p:pic>
      <p:sp>
        <p:nvSpPr>
          <p:cNvPr id="117" name="TextBox 116"/>
          <p:cNvSpPr txBox="1"/>
          <p:nvPr/>
        </p:nvSpPr>
        <p:spPr>
          <a:xfrm>
            <a:off x="10532799" y="3329750"/>
            <a:ext cx="794736" cy="194310"/>
          </a:xfrm>
          <a:prstGeom prst="rect">
            <a:avLst/>
          </a:prstGeom>
          <a:noFill/>
        </p:spPr>
        <p:txBody>
          <a:bodyPr wrap="none" lIns="0" rIns="0" tIns="0" bIns="0">
            <a:spAutoFit/>
          </a:bodyPr>
          <a:lstStyle/>
          <a:p>
            <a:r>
              <a:rPr sz="1150" b="0">
                <a:solidFill>
                  <a:srgbClr val="252423"/>
                </a:solidFill>
                <a:latin typeface="Segoe UI"/>
              </a:rPr>
              <a:t>pointing to</a:t>
            </a:r>
          </a:p>
        </p:txBody>
      </p:sp>
      <p:sp>
        <p:nvSpPr>
          <p:cNvPr id="118" name="TextBox 117"/>
          <p:cNvSpPr txBox="1"/>
          <p:nvPr/>
        </p:nvSpPr>
        <p:spPr>
          <a:xfrm>
            <a:off x="8048625" y="3505010"/>
            <a:ext cx="3716681" cy="194310"/>
          </a:xfrm>
          <a:prstGeom prst="rect">
            <a:avLst/>
          </a:prstGeom>
          <a:noFill/>
        </p:spPr>
        <p:txBody>
          <a:bodyPr wrap="none" lIns="0" rIns="0" tIns="0" bIns="0">
            <a:spAutoFit/>
          </a:bodyPr>
          <a:lstStyle/>
          <a:p>
            <a:r>
              <a:rPr sz="1150" b="0">
                <a:solidFill>
                  <a:srgbClr val="252423"/>
                </a:solidFill>
                <a:latin typeface="Segoe UI"/>
              </a:rPr>
              <a:t>premiumisation headroom in the lower-priced countries.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Western Europe market value growth, incremental opportunity and the geographies driving it, 2021–2036</a:t>
            </a:r>
          </a:p>
        </p:txBody>
      </p:sp>
      <p:sp>
        <p:nvSpPr>
          <p:cNvPr id="8" name="Rounded Rectangle 7"/>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 </a:t>
            </a:r>
          </a:p>
        </p:txBody>
      </p:sp>
      <p:sp>
        <p:nvSpPr>
          <p:cNvPr id="9" name="Rounded Rectangle 8"/>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 </a:t>
            </a:r>
          </a:p>
        </p:txBody>
      </p:sp>
      <p:sp>
        <p:nvSpPr>
          <p:cNvPr id="10" name="Rounded Rectangle 9"/>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 </a:t>
            </a:r>
          </a:p>
        </p:txBody>
      </p:sp>
      <p:sp>
        <p:nvSpPr>
          <p:cNvPr id="11" name="Rounded Rectangle 10"/>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 </a:t>
            </a:r>
          </a:p>
        </p:txBody>
      </p:sp>
      <p:sp>
        <p:nvSpPr>
          <p:cNvPr id="12" name="Rectangle 11"/>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4" name="Chart 13"/>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5" name="Rectangle 14"/>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7" name="Chart 16"/>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8" name="Rectangle 17"/>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0" name="Rectangle 19"/>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2037462"/>
            <a:ext cx="3867150" cy="26559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22" name="Rectangle 21"/>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4" name="Rectangle 23"/>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48837" cy="186689"/>
          </a:xfrm>
          <a:prstGeom prst="rect">
            <a:avLst/>
          </a:prstGeom>
          <a:noFill/>
        </p:spPr>
        <p:txBody>
          <a:bodyPr wrap="none" lIns="0" rIns="0" tIns="0" bIns="0">
            <a:spAutoFit/>
          </a:bodyPr>
          <a:lstStyle/>
          <a:p>
            <a:r>
              <a:rPr sz="1100" b="0">
                <a:solidFill>
                  <a:srgbClr val="252423"/>
                </a:solidFill>
                <a:latin typeface="Segoe UI"/>
              </a:rPr>
              <a:t>Helium-3 market value in Western Europe is expected to</a:t>
            </a:r>
          </a:p>
        </p:txBody>
      </p:sp>
      <p:sp>
        <p:nvSpPr>
          <p:cNvPr id="33" name="TextBox 32"/>
          <p:cNvSpPr txBox="1"/>
          <p:nvPr/>
        </p:nvSpPr>
        <p:spPr>
          <a:xfrm>
            <a:off x="8048625" y="2214627"/>
            <a:ext cx="579035" cy="186689"/>
          </a:xfrm>
          <a:prstGeom prst="rect">
            <a:avLst/>
          </a:prstGeom>
          <a:noFill/>
        </p:spPr>
        <p:txBody>
          <a:bodyPr wrap="none" lIns="0" rIns="0" tIns="0" bIns="0">
            <a:spAutoFit/>
          </a:bodyPr>
          <a:lstStyle/>
          <a:p>
            <a:r>
              <a:rPr sz="1100" b="0">
                <a:solidFill>
                  <a:srgbClr val="252423"/>
                </a:solidFill>
                <a:latin typeface="Segoe UI"/>
              </a:rPr>
              <a:t>increase</a:t>
            </a:r>
          </a:p>
        </p:txBody>
      </p:sp>
      <p:pic>
        <p:nvPicPr>
          <p:cNvPr id="34" name="Picture 33" descr="lock.png"/>
          <p:cNvPicPr>
            <a:picLocks noChangeAspect="1"/>
          </p:cNvPicPr>
          <p:nvPr/>
        </p:nvPicPr>
        <p:blipFill>
          <a:blip r:embed="rId6"/>
          <a:stretch>
            <a:fillRect/>
          </a:stretch>
        </p:blipFill>
        <p:spPr>
          <a:xfrm>
            <a:off x="8575712" y="2204848"/>
            <a:ext cx="128699" cy="187198"/>
          </a:xfrm>
          <a:prstGeom prst="rect">
            <a:avLst/>
          </a:prstGeom>
        </p:spPr>
      </p:pic>
      <p:sp>
        <p:nvSpPr>
          <p:cNvPr id="35" name="TextBox 34"/>
          <p:cNvSpPr txBox="1"/>
          <p:nvPr/>
        </p:nvSpPr>
        <p:spPr>
          <a:xfrm>
            <a:off x="8743208" y="2214627"/>
            <a:ext cx="3077012" cy="186689"/>
          </a:xfrm>
          <a:prstGeom prst="rect">
            <a:avLst/>
          </a:prstGeom>
          <a:noFill/>
        </p:spPr>
        <p:txBody>
          <a:bodyPr wrap="none" lIns="0" rIns="0" tIns="0" bIns="0">
            <a:spAutoFit/>
          </a:bodyPr>
          <a:lstStyle/>
          <a:p>
            <a:r>
              <a:rPr sz="1100" b="0">
                <a:solidFill>
                  <a:srgbClr val="252423"/>
                </a:solidFill>
                <a:latin typeface="Segoe UI"/>
              </a:rPr>
              <a:t>X between 2025 and 2036. In 2025, the Helium-3</a:t>
            </a:r>
          </a:p>
        </p:txBody>
      </p:sp>
      <p:sp>
        <p:nvSpPr>
          <p:cNvPr id="36" name="TextBox 35"/>
          <p:cNvSpPr txBox="1"/>
          <p:nvPr/>
        </p:nvSpPr>
        <p:spPr>
          <a:xfrm>
            <a:off x="8048625" y="2382267"/>
            <a:ext cx="2835364" cy="186689"/>
          </a:xfrm>
          <a:prstGeom prst="rect">
            <a:avLst/>
          </a:prstGeom>
          <a:noFill/>
        </p:spPr>
        <p:txBody>
          <a:bodyPr wrap="none" lIns="0" rIns="0" tIns="0" bIns="0">
            <a:spAutoFit/>
          </a:bodyPr>
          <a:lstStyle/>
          <a:p>
            <a:r>
              <a:rPr sz="1100" b="0">
                <a:solidFill>
                  <a:srgbClr val="252423"/>
                </a:solidFill>
                <a:latin typeface="Segoe UI"/>
              </a:rPr>
              <a:t>market in Western Europe was valued at US$</a:t>
            </a:r>
          </a:p>
        </p:txBody>
      </p:sp>
      <p:pic>
        <p:nvPicPr>
          <p:cNvPr id="37" name="Picture 36" descr="lock.png"/>
          <p:cNvPicPr>
            <a:picLocks noChangeAspect="1"/>
          </p:cNvPicPr>
          <p:nvPr/>
        </p:nvPicPr>
        <p:blipFill>
          <a:blip r:embed="rId6"/>
          <a:stretch>
            <a:fillRect/>
          </a:stretch>
        </p:blipFill>
        <p:spPr>
          <a:xfrm>
            <a:off x="10832041" y="2372488"/>
            <a:ext cx="128699" cy="187198"/>
          </a:xfrm>
          <a:prstGeom prst="rect">
            <a:avLst/>
          </a:prstGeom>
        </p:spPr>
      </p:pic>
      <p:sp>
        <p:nvSpPr>
          <p:cNvPr id="38" name="TextBox 37"/>
          <p:cNvSpPr txBox="1"/>
          <p:nvPr/>
        </p:nvSpPr>
        <p:spPr>
          <a:xfrm>
            <a:off x="10999536" y="2382267"/>
            <a:ext cx="683021" cy="186689"/>
          </a:xfrm>
          <a:prstGeom prst="rect">
            <a:avLst/>
          </a:prstGeom>
          <a:noFill/>
        </p:spPr>
        <p:txBody>
          <a:bodyPr wrap="none" lIns="0" rIns="0" tIns="0" bIns="0">
            <a:spAutoFit/>
          </a:bodyPr>
          <a:lstStyle/>
          <a:p>
            <a:r>
              <a:rPr sz="1100" b="0">
                <a:solidFill>
                  <a:srgbClr val="252423"/>
                </a:solidFill>
                <a:latin typeface="Segoe UI"/>
              </a:rPr>
              <a:t>Mn and is</a:t>
            </a:r>
          </a:p>
        </p:txBody>
      </p:sp>
      <p:sp>
        <p:nvSpPr>
          <p:cNvPr id="39" name="TextBox 38"/>
          <p:cNvSpPr txBox="1"/>
          <p:nvPr/>
        </p:nvSpPr>
        <p:spPr>
          <a:xfrm>
            <a:off x="8048625" y="2549907"/>
            <a:ext cx="1874257" cy="186689"/>
          </a:xfrm>
          <a:prstGeom prst="rect">
            <a:avLst/>
          </a:prstGeom>
          <a:noFill/>
        </p:spPr>
        <p:txBody>
          <a:bodyPr wrap="none" lIns="0" rIns="0" tIns="0" bIns="0">
            <a:spAutoFit/>
          </a:bodyPr>
          <a:lstStyle/>
          <a:p>
            <a:r>
              <a:rPr sz="1100" b="0">
                <a:solidFill>
                  <a:srgbClr val="252423"/>
                </a:solidFill>
                <a:latin typeface="Segoe UI"/>
              </a:rPr>
              <a:t>estimated to account for US$</a:t>
            </a:r>
          </a:p>
        </p:txBody>
      </p:sp>
      <p:pic>
        <p:nvPicPr>
          <p:cNvPr id="40" name="Picture 39" descr="lock.png"/>
          <p:cNvPicPr>
            <a:picLocks noChangeAspect="1"/>
          </p:cNvPicPr>
          <p:nvPr/>
        </p:nvPicPr>
        <p:blipFill>
          <a:blip r:embed="rId6"/>
          <a:stretch>
            <a:fillRect/>
          </a:stretch>
        </p:blipFill>
        <p:spPr>
          <a:xfrm>
            <a:off x="9870934" y="2540128"/>
            <a:ext cx="128699" cy="187198"/>
          </a:xfrm>
          <a:prstGeom prst="rect">
            <a:avLst/>
          </a:prstGeom>
        </p:spPr>
      </p:pic>
      <p:sp>
        <p:nvSpPr>
          <p:cNvPr id="41" name="TextBox 40"/>
          <p:cNvSpPr txBox="1"/>
          <p:nvPr/>
        </p:nvSpPr>
        <p:spPr>
          <a:xfrm>
            <a:off x="10038430" y="2549907"/>
            <a:ext cx="1512997" cy="186689"/>
          </a:xfrm>
          <a:prstGeom prst="rect">
            <a:avLst/>
          </a:prstGeom>
          <a:noFill/>
        </p:spPr>
        <p:txBody>
          <a:bodyPr wrap="none" lIns="0" rIns="0" tIns="0" bIns="0">
            <a:spAutoFit/>
          </a:bodyPr>
          <a:lstStyle/>
          <a:p>
            <a:r>
              <a:rPr sz="1100" b="0">
                <a:solidFill>
                  <a:srgbClr val="252423"/>
                </a:solidFill>
                <a:latin typeface="Segoe UI"/>
              </a:rPr>
              <a:t>Mn by the end of 2026,</a:t>
            </a:r>
          </a:p>
        </p:txBody>
      </p:sp>
      <p:sp>
        <p:nvSpPr>
          <p:cNvPr id="42" name="TextBox 41"/>
          <p:cNvSpPr txBox="1"/>
          <p:nvPr/>
        </p:nvSpPr>
        <p:spPr>
          <a:xfrm>
            <a:off x="8048625" y="2717547"/>
            <a:ext cx="2072539" cy="186689"/>
          </a:xfrm>
          <a:prstGeom prst="rect">
            <a:avLst/>
          </a:prstGeom>
          <a:noFill/>
        </p:spPr>
        <p:txBody>
          <a:bodyPr wrap="none" lIns="0" rIns="0" tIns="0" bIns="0">
            <a:spAutoFit/>
          </a:bodyPr>
          <a:lstStyle/>
          <a:p>
            <a:r>
              <a:rPr sz="1100" b="0">
                <a:solidFill>
                  <a:srgbClr val="252423"/>
                </a:solidFill>
                <a:latin typeface="Segoe UI"/>
              </a:rPr>
              <a:t>reflecting a Y-o-Y growth rate of</a:t>
            </a:r>
          </a:p>
        </p:txBody>
      </p:sp>
      <p:pic>
        <p:nvPicPr>
          <p:cNvPr id="43" name="Picture 42" descr="lock.png"/>
          <p:cNvPicPr>
            <a:picLocks noChangeAspect="1"/>
          </p:cNvPicPr>
          <p:nvPr/>
        </p:nvPicPr>
        <p:blipFill>
          <a:blip r:embed="rId6"/>
          <a:stretch>
            <a:fillRect/>
          </a:stretch>
        </p:blipFill>
        <p:spPr>
          <a:xfrm>
            <a:off x="10069216" y="2707768"/>
            <a:ext cx="128699" cy="187198"/>
          </a:xfrm>
          <a:prstGeom prst="rect">
            <a:avLst/>
          </a:prstGeom>
        </p:spPr>
      </p:pic>
      <p:sp>
        <p:nvSpPr>
          <p:cNvPr id="44" name="TextBox 43"/>
          <p:cNvSpPr txBox="1"/>
          <p:nvPr/>
        </p:nvSpPr>
        <p:spPr>
          <a:xfrm>
            <a:off x="10236712" y="271754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5" name="TextBox 44"/>
          <p:cNvSpPr txBox="1"/>
          <p:nvPr/>
        </p:nvSpPr>
        <p:spPr>
          <a:xfrm>
            <a:off x="8048625" y="2935479"/>
            <a:ext cx="3848100" cy="186689"/>
          </a:xfrm>
          <a:prstGeom prst="rect">
            <a:avLst/>
          </a:prstGeom>
          <a:noFill/>
        </p:spPr>
        <p:txBody>
          <a:bodyPr wrap="none" lIns="0" rIns="0" tIns="0" bIns="0">
            <a:spAutoFit/>
          </a:bodyPr>
          <a:lstStyle/>
          <a:p>
            <a:r>
              <a:rPr sz="1100" b="0">
                <a:solidFill>
                  <a:srgbClr val="252423"/>
                </a:solidFill>
                <a:latin typeface="Segoe UI"/>
              </a:rPr>
              <a:t>The market in Western Europe is expected to account for US$</a:t>
            </a:r>
          </a:p>
        </p:txBody>
      </p:sp>
      <p:pic>
        <p:nvPicPr>
          <p:cNvPr id="46" name="Picture 45" descr="lock.png"/>
          <p:cNvPicPr>
            <a:picLocks noChangeAspect="1"/>
          </p:cNvPicPr>
          <p:nvPr/>
        </p:nvPicPr>
        <p:blipFill>
          <a:blip r:embed="rId6"/>
          <a:stretch>
            <a:fillRect/>
          </a:stretch>
        </p:blipFill>
        <p:spPr>
          <a:xfrm>
            <a:off x="8035157" y="3093340"/>
            <a:ext cx="128699" cy="187198"/>
          </a:xfrm>
          <a:prstGeom prst="rect">
            <a:avLst/>
          </a:prstGeom>
        </p:spPr>
      </p:pic>
      <p:sp>
        <p:nvSpPr>
          <p:cNvPr id="47" name="TextBox 46"/>
          <p:cNvSpPr txBox="1"/>
          <p:nvPr/>
        </p:nvSpPr>
        <p:spPr>
          <a:xfrm>
            <a:off x="8202653" y="3103119"/>
            <a:ext cx="1632204" cy="186689"/>
          </a:xfrm>
          <a:prstGeom prst="rect">
            <a:avLst/>
          </a:prstGeom>
          <a:noFill/>
        </p:spPr>
        <p:txBody>
          <a:bodyPr wrap="none" lIns="0" rIns="0" tIns="0" bIns="0">
            <a:spAutoFit/>
          </a:bodyPr>
          <a:lstStyle/>
          <a:p>
            <a:r>
              <a:rPr sz="1100" b="0">
                <a:solidFill>
                  <a:srgbClr val="252423"/>
                </a:solidFill>
                <a:latin typeface="Segoe UI"/>
              </a:rPr>
              <a:t>Mn by 2036 at a CAGR of</a:t>
            </a:r>
          </a:p>
        </p:txBody>
      </p:sp>
      <p:pic>
        <p:nvPicPr>
          <p:cNvPr id="48" name="Picture 47" descr="lock.png"/>
          <p:cNvPicPr>
            <a:picLocks noChangeAspect="1"/>
          </p:cNvPicPr>
          <p:nvPr/>
        </p:nvPicPr>
        <p:blipFill>
          <a:blip r:embed="rId6"/>
          <a:stretch>
            <a:fillRect/>
          </a:stretch>
        </p:blipFill>
        <p:spPr>
          <a:xfrm>
            <a:off x="9782909" y="3093340"/>
            <a:ext cx="128699" cy="187198"/>
          </a:xfrm>
          <a:prstGeom prst="rect">
            <a:avLst/>
          </a:prstGeom>
        </p:spPr>
      </p:pic>
      <p:sp>
        <p:nvSpPr>
          <p:cNvPr id="49" name="TextBox 48"/>
          <p:cNvSpPr txBox="1"/>
          <p:nvPr/>
        </p:nvSpPr>
        <p:spPr>
          <a:xfrm>
            <a:off x="9950405" y="3103119"/>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50" name="TextBox 49"/>
          <p:cNvSpPr txBox="1"/>
          <p:nvPr/>
        </p:nvSpPr>
        <p:spPr>
          <a:xfrm>
            <a:off x="8048625" y="3270759"/>
            <a:ext cx="3325376" cy="186689"/>
          </a:xfrm>
          <a:prstGeom prst="rect">
            <a:avLst/>
          </a:prstGeom>
          <a:noFill/>
        </p:spPr>
        <p:txBody>
          <a:bodyPr wrap="none" lIns="0" rIns="0" tIns="0" bIns="0">
            <a:spAutoFit/>
          </a:bodyPr>
          <a:lstStyle/>
          <a:p>
            <a:r>
              <a:rPr sz="1100" b="0">
                <a:solidFill>
                  <a:srgbClr val="252423"/>
                </a:solidFill>
                <a:latin typeface="Segoe UI"/>
              </a:rPr>
              <a:t>Western Europe is expected to create an incremental</a:t>
            </a:r>
          </a:p>
        </p:txBody>
      </p:sp>
      <p:sp>
        <p:nvSpPr>
          <p:cNvPr id="51" name="TextBox 50"/>
          <p:cNvSpPr txBox="1"/>
          <p:nvPr/>
        </p:nvSpPr>
        <p:spPr>
          <a:xfrm>
            <a:off x="8048625" y="3438399"/>
            <a:ext cx="1254944" cy="186689"/>
          </a:xfrm>
          <a:prstGeom prst="rect">
            <a:avLst/>
          </a:prstGeom>
          <a:noFill/>
        </p:spPr>
        <p:txBody>
          <a:bodyPr wrap="none" lIns="0" rIns="0" tIns="0" bIns="0">
            <a:spAutoFit/>
          </a:bodyPr>
          <a:lstStyle/>
          <a:p>
            <a:r>
              <a:rPr sz="1100" b="0">
                <a:solidFill>
                  <a:srgbClr val="252423"/>
                </a:solidFill>
                <a:latin typeface="Segoe UI"/>
              </a:rPr>
              <a:t>opportunity of US$</a:t>
            </a:r>
          </a:p>
        </p:txBody>
      </p:sp>
      <p:pic>
        <p:nvPicPr>
          <p:cNvPr id="52" name="Picture 51" descr="lock.png"/>
          <p:cNvPicPr>
            <a:picLocks noChangeAspect="1"/>
          </p:cNvPicPr>
          <p:nvPr/>
        </p:nvPicPr>
        <p:blipFill>
          <a:blip r:embed="rId6"/>
          <a:stretch>
            <a:fillRect/>
          </a:stretch>
        </p:blipFill>
        <p:spPr>
          <a:xfrm>
            <a:off x="9251620" y="3428620"/>
            <a:ext cx="128699" cy="187198"/>
          </a:xfrm>
          <a:prstGeom prst="rect">
            <a:avLst/>
          </a:prstGeom>
        </p:spPr>
      </p:pic>
      <p:sp>
        <p:nvSpPr>
          <p:cNvPr id="53" name="TextBox 52"/>
          <p:cNvSpPr txBox="1"/>
          <p:nvPr/>
        </p:nvSpPr>
        <p:spPr>
          <a:xfrm>
            <a:off x="9419116" y="3438399"/>
            <a:ext cx="2255955" cy="186689"/>
          </a:xfrm>
          <a:prstGeom prst="rect">
            <a:avLst/>
          </a:prstGeom>
          <a:noFill/>
        </p:spPr>
        <p:txBody>
          <a:bodyPr wrap="none" lIns="0" rIns="0" tIns="0" bIns="0">
            <a:spAutoFit/>
          </a:bodyPr>
          <a:lstStyle/>
          <a:p>
            <a:r>
              <a:rPr sz="1100" b="0">
                <a:solidFill>
                  <a:srgbClr val="252423"/>
                </a:solidFill>
                <a:latin typeface="Segoe UI"/>
              </a:rPr>
              <a:t>Mn for the overall Helium-3 market</a:t>
            </a:r>
          </a:p>
        </p:txBody>
      </p:sp>
      <p:sp>
        <p:nvSpPr>
          <p:cNvPr id="54" name="TextBox 53"/>
          <p:cNvSpPr txBox="1"/>
          <p:nvPr/>
        </p:nvSpPr>
        <p:spPr>
          <a:xfrm>
            <a:off x="8048625" y="3606039"/>
            <a:ext cx="1247232" cy="186689"/>
          </a:xfrm>
          <a:prstGeom prst="rect">
            <a:avLst/>
          </a:prstGeom>
          <a:noFill/>
        </p:spPr>
        <p:txBody>
          <a:bodyPr wrap="none" lIns="0" rIns="0" tIns="0" bIns="0">
            <a:spAutoFit/>
          </a:bodyPr>
          <a:lstStyle/>
          <a:p>
            <a:r>
              <a:rPr sz="1100" b="0">
                <a:solidFill>
                  <a:srgbClr val="252423"/>
                </a:solidFill>
                <a:latin typeface="Segoe UI"/>
              </a:rPr>
              <a:t>from 2025 to 2036.</a:t>
            </a:r>
          </a:p>
        </p:txBody>
      </p:sp>
      <p:sp>
        <p:nvSpPr>
          <p:cNvPr id="55" name="TextBox 54"/>
          <p:cNvSpPr txBox="1"/>
          <p:nvPr/>
        </p:nvSpPr>
        <p:spPr>
          <a:xfrm>
            <a:off x="8048625" y="3823971"/>
            <a:ext cx="3072839" cy="186689"/>
          </a:xfrm>
          <a:prstGeom prst="rect">
            <a:avLst/>
          </a:prstGeom>
          <a:noFill/>
        </p:spPr>
        <p:txBody>
          <a:bodyPr wrap="none" lIns="0" rIns="0" tIns="0" bIns="0">
            <a:spAutoFit/>
          </a:bodyPr>
          <a:lstStyle/>
          <a:p>
            <a:r>
              <a:rPr sz="1100" b="0">
                <a:solidFill>
                  <a:srgbClr val="252423"/>
                </a:solidFill>
                <a:latin typeface="Segoe UI"/>
              </a:rPr>
              <a:t>Absolute $ value for 2026 is estimated to be US$</a:t>
            </a:r>
          </a:p>
        </p:txBody>
      </p:sp>
      <p:pic>
        <p:nvPicPr>
          <p:cNvPr id="56" name="Picture 55" descr="lock.png"/>
          <p:cNvPicPr>
            <a:picLocks noChangeAspect="1"/>
          </p:cNvPicPr>
          <p:nvPr/>
        </p:nvPicPr>
        <p:blipFill>
          <a:blip r:embed="rId6"/>
          <a:stretch>
            <a:fillRect/>
          </a:stretch>
        </p:blipFill>
        <p:spPr>
          <a:xfrm>
            <a:off x="11069515" y="3814192"/>
            <a:ext cx="128699" cy="187198"/>
          </a:xfrm>
          <a:prstGeom prst="rect">
            <a:avLst/>
          </a:prstGeom>
        </p:spPr>
      </p:pic>
      <p:sp>
        <p:nvSpPr>
          <p:cNvPr id="57" name="TextBox 56"/>
          <p:cNvSpPr txBox="1"/>
          <p:nvPr/>
        </p:nvSpPr>
        <p:spPr>
          <a:xfrm>
            <a:off x="11237011" y="3823971"/>
            <a:ext cx="311125" cy="186689"/>
          </a:xfrm>
          <a:prstGeom prst="rect">
            <a:avLst/>
          </a:prstGeom>
          <a:noFill/>
        </p:spPr>
        <p:txBody>
          <a:bodyPr wrap="none" lIns="0" rIns="0" tIns="0" bIns="0">
            <a:spAutoFit/>
          </a:bodyPr>
          <a:lstStyle/>
          <a:p>
            <a:r>
              <a:rPr sz="1100" b="0">
                <a:solidFill>
                  <a:srgbClr val="252423"/>
                </a:solidFill>
                <a:latin typeface="Segoe UI"/>
              </a:rPr>
              <a:t>Mn.</a:t>
            </a:r>
          </a:p>
        </p:txBody>
      </p:sp>
      <p:sp>
        <p:nvSpPr>
          <p:cNvPr id="58" name="TextBox 57"/>
          <p:cNvSpPr txBox="1"/>
          <p:nvPr/>
        </p:nvSpPr>
        <p:spPr>
          <a:xfrm>
            <a:off x="8048625" y="5243467"/>
            <a:ext cx="2421521" cy="194310"/>
          </a:xfrm>
          <a:prstGeom prst="rect">
            <a:avLst/>
          </a:prstGeom>
          <a:noFill/>
        </p:spPr>
        <p:txBody>
          <a:bodyPr wrap="none" lIns="0" rIns="0" tIns="0" bIns="0">
            <a:spAutoFit/>
          </a:bodyPr>
          <a:lstStyle/>
          <a:p>
            <a:r>
              <a:rPr sz="1150" b="0">
                <a:solidFill>
                  <a:srgbClr val="252423"/>
                </a:solidFill>
                <a:latin typeface="Segoe UI"/>
              </a:rPr>
              <a:t>▪ 'Germany' leads regional growth at</a:t>
            </a:r>
          </a:p>
        </p:txBody>
      </p:sp>
      <p:pic>
        <p:nvPicPr>
          <p:cNvPr id="59" name="Picture 58" descr="lock.png"/>
          <p:cNvPicPr>
            <a:picLocks noChangeAspect="1"/>
          </p:cNvPicPr>
          <p:nvPr/>
        </p:nvPicPr>
        <p:blipFill>
          <a:blip r:embed="rId6"/>
          <a:stretch>
            <a:fillRect/>
          </a:stretch>
        </p:blipFill>
        <p:spPr>
          <a:xfrm>
            <a:off x="10419300" y="5233243"/>
            <a:ext cx="134549" cy="195707"/>
          </a:xfrm>
          <a:prstGeom prst="rect">
            <a:avLst/>
          </a:prstGeom>
        </p:spPr>
      </p:pic>
      <p:sp>
        <p:nvSpPr>
          <p:cNvPr id="60" name="TextBox 59"/>
          <p:cNvSpPr txBox="1"/>
          <p:nvPr/>
        </p:nvSpPr>
        <p:spPr>
          <a:xfrm>
            <a:off x="10594410" y="5243467"/>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1" name="TextBox 60"/>
          <p:cNvSpPr txBox="1"/>
          <p:nvPr/>
        </p:nvSpPr>
        <p:spPr>
          <a:xfrm>
            <a:off x="8048625" y="5471305"/>
            <a:ext cx="3457581" cy="194310"/>
          </a:xfrm>
          <a:prstGeom prst="rect">
            <a:avLst/>
          </a:prstGeom>
          <a:noFill/>
        </p:spPr>
        <p:txBody>
          <a:bodyPr wrap="none" lIns="0" rIns="0" tIns="0" bIns="0">
            <a:spAutoFit/>
          </a:bodyPr>
          <a:lstStyle/>
          <a:p>
            <a:r>
              <a:rPr sz="1150" b="0">
                <a:solidFill>
                  <a:srgbClr val="252423"/>
                </a:solidFill>
                <a:latin typeface="Segoe UI"/>
              </a:rPr>
              <a:t>▪ Demand concentrates in 'Gaseous Helium-3' within</a:t>
            </a:r>
          </a:p>
        </p:txBody>
      </p:sp>
      <p:sp>
        <p:nvSpPr>
          <p:cNvPr id="62" name="TextBox 61"/>
          <p:cNvSpPr txBox="1"/>
          <p:nvPr/>
        </p:nvSpPr>
        <p:spPr>
          <a:xfrm>
            <a:off x="8048625" y="5646565"/>
            <a:ext cx="985553" cy="194310"/>
          </a:xfrm>
          <a:prstGeom prst="rect">
            <a:avLst/>
          </a:prstGeom>
          <a:noFill/>
        </p:spPr>
        <p:txBody>
          <a:bodyPr wrap="none" lIns="0" rIns="0" tIns="0" bIns="0">
            <a:spAutoFit/>
          </a:bodyPr>
          <a:lstStyle/>
          <a:p>
            <a:r>
              <a:rPr sz="1150" b="0">
                <a:solidFill>
                  <a:srgbClr val="252423"/>
                </a:solidFill>
                <a:latin typeface="Segoe UI"/>
              </a:rPr>
              <a:t>Product Form.</a:t>
            </a:r>
          </a:p>
        </p:txBody>
      </p:sp>
      <p:sp>
        <p:nvSpPr>
          <p:cNvPr id="63" name="TextBox 62"/>
          <p:cNvSpPr txBox="1"/>
          <p:nvPr/>
        </p:nvSpPr>
        <p:spPr>
          <a:xfrm>
            <a:off x="8048625" y="5874402"/>
            <a:ext cx="3547637" cy="194310"/>
          </a:xfrm>
          <a:prstGeom prst="rect">
            <a:avLst/>
          </a:prstGeom>
          <a:noFill/>
        </p:spPr>
        <p:txBody>
          <a:bodyPr wrap="none" lIns="0" rIns="0" tIns="0" bIns="0">
            <a:spAutoFit/>
          </a:bodyPr>
          <a:lstStyle/>
          <a:p>
            <a:r>
              <a:rPr sz="1150" b="0">
                <a:solidFill>
                  <a:srgbClr val="252423"/>
                </a:solidFill>
                <a:latin typeface="Segoe UI"/>
              </a:rPr>
              <a:t>▪ Product innovation and premiumisation lifting value.</a:t>
            </a:r>
          </a:p>
        </p:txBody>
      </p:sp>
      <p:sp>
        <p:nvSpPr>
          <p:cNvPr id="64" name="TextBox 63"/>
          <p:cNvSpPr txBox="1"/>
          <p:nvPr/>
        </p:nvSpPr>
        <p:spPr>
          <a:xfrm>
            <a:off x="8048625" y="6102240"/>
            <a:ext cx="2985758" cy="194310"/>
          </a:xfrm>
          <a:prstGeom prst="rect">
            <a:avLst/>
          </a:prstGeom>
          <a:noFill/>
        </p:spPr>
        <p:txBody>
          <a:bodyPr wrap="none" lIns="0" rIns="0" tIns="0" bIns="0">
            <a:spAutoFit/>
          </a:bodyPr>
          <a:lstStyle/>
          <a:p>
            <a:r>
              <a:rPr sz="1150" b="0">
                <a:solidFill>
                  <a:srgbClr val="252423"/>
                </a:solidFill>
                <a:latin typeface="Segoe UI"/>
              </a:rPr>
              <a:t>▪ Expanding end-use applications and access.</a:t>
            </a:r>
          </a:p>
        </p:txBody>
      </p:sp>
      <p:sp>
        <p:nvSpPr>
          <p:cNvPr id="65" name="lockshield_14"/>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7"/>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Western Europe market and the incremental $ opportunity it creates, 2021–2036</a:t>
            </a:r>
          </a:p>
        </p:txBody>
      </p:sp>
      <p:sp>
        <p:nvSpPr>
          <p:cNvPr id="8" name="Rectangle 7"/>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2021–2025 (Historical)</a:t>
            </a:r>
          </a:p>
        </p:txBody>
      </p:sp>
      <p:graphicFrame>
        <p:nvGraphicFramePr>
          <p:cNvPr id="10" name="Chart 9"/>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1" name="Rectangle 10"/>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2026–2036 (Forecast)</a:t>
            </a:r>
          </a:p>
        </p:txBody>
      </p:sp>
      <p:graphicFrame>
        <p:nvGraphicFramePr>
          <p:cNvPr id="13" name="Chart 12"/>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4" name="Rounded Rectangle 13"/>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 </a:t>
            </a:r>
          </a:p>
        </p:txBody>
      </p:sp>
      <p:sp>
        <p:nvSpPr>
          <p:cNvPr id="15" name="Rounded Rectangle 14"/>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 </a:t>
            </a:r>
          </a:p>
        </p:txBody>
      </p:sp>
      <p:sp>
        <p:nvSpPr>
          <p:cNvPr id="16" name="Rounded Rectangle 15"/>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 </a:t>
            </a:r>
          </a:p>
        </p:txBody>
      </p:sp>
      <p:sp>
        <p:nvSpPr>
          <p:cNvPr id="17" name="Rounded Rectangle 16"/>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 </a:t>
            </a:r>
          </a:p>
        </p:txBody>
      </p:sp>
      <p:sp>
        <p:nvSpPr>
          <p:cNvPr id="18" name="Rectangle 17"/>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Volume &amp; Value Analysis</a:t>
            </a:r>
          </a:p>
        </p:txBody>
      </p:sp>
      <p:sp>
        <p:nvSpPr>
          <p:cNvPr id="20" name="Rectangle 19"/>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2535356" y="2029222"/>
            <a:ext cx="202455" cy="294480"/>
          </a:xfrm>
          <a:prstGeom prst="rect">
            <a:avLst/>
          </a:prstGeom>
        </p:spPr>
      </p:pic>
      <p:pic>
        <p:nvPicPr>
          <p:cNvPr id="24" name="Picture 23" descr="lock.png"/>
          <p:cNvPicPr>
            <a:picLocks noChangeAspect="1"/>
          </p:cNvPicPr>
          <p:nvPr/>
        </p:nvPicPr>
        <p:blipFill>
          <a:blip r:embed="rId6"/>
          <a:stretch>
            <a:fillRect/>
          </a:stretch>
        </p:blipFill>
        <p:spPr>
          <a:xfrm>
            <a:off x="8532694" y="1990329"/>
            <a:ext cx="255933" cy="372266"/>
          </a:xfrm>
          <a:prstGeom prst="rect">
            <a:avLst/>
          </a:prstGeom>
        </p:spPr>
      </p:pic>
      <p:pic>
        <p:nvPicPr>
          <p:cNvPr id="25" name="Picture 24" descr="lock.png"/>
          <p:cNvPicPr>
            <a:picLocks noChangeAspect="1"/>
          </p:cNvPicPr>
          <p:nvPr/>
        </p:nvPicPr>
        <p:blipFill>
          <a:blip r:embed="rId6"/>
          <a:stretch>
            <a:fillRect/>
          </a:stretch>
        </p:blipFill>
        <p:spPr>
          <a:xfrm>
            <a:off x="1321594" y="3950970"/>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950970"/>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950970"/>
            <a:ext cx="157162" cy="228600"/>
          </a:xfrm>
          <a:prstGeom prst="rect">
            <a:avLst/>
          </a:prstGeom>
        </p:spPr>
      </p:pic>
      <p:sp>
        <p:nvSpPr>
          <p:cNvPr id="29" name="TextBox 28"/>
          <p:cNvSpPr txBox="1"/>
          <p:nvPr/>
        </p:nvSpPr>
        <p:spPr>
          <a:xfrm>
            <a:off x="276225" y="4876800"/>
            <a:ext cx="4272311" cy="194310"/>
          </a:xfrm>
          <a:prstGeom prst="rect">
            <a:avLst/>
          </a:prstGeom>
          <a:noFill/>
        </p:spPr>
        <p:txBody>
          <a:bodyPr wrap="none" lIns="0" rIns="0" tIns="0" bIns="0">
            <a:spAutoFit/>
          </a:bodyPr>
          <a:lstStyle/>
          <a:p>
            <a:r>
              <a:rPr sz="1150" b="0">
                <a:solidFill>
                  <a:srgbClr val="252423"/>
                </a:solidFill>
                <a:latin typeface="Segoe UI"/>
              </a:rPr>
              <a:t>Helium-3 market value in Western Europe is expected to increase</a:t>
            </a:r>
          </a:p>
        </p:txBody>
      </p:sp>
      <p:pic>
        <p:nvPicPr>
          <p:cNvPr id="30" name="Picture 29" descr="lock.png"/>
          <p:cNvPicPr>
            <a:picLocks noChangeAspect="1"/>
          </p:cNvPicPr>
          <p:nvPr/>
        </p:nvPicPr>
        <p:blipFill>
          <a:blip r:embed="rId6"/>
          <a:stretch>
            <a:fillRect/>
          </a:stretch>
        </p:blipFill>
        <p:spPr>
          <a:xfrm>
            <a:off x="4497690" y="4866576"/>
            <a:ext cx="134549" cy="195707"/>
          </a:xfrm>
          <a:prstGeom prst="rect">
            <a:avLst/>
          </a:prstGeom>
        </p:spPr>
      </p:pic>
      <p:sp>
        <p:nvSpPr>
          <p:cNvPr id="31" name="TextBox 30"/>
          <p:cNvSpPr txBox="1"/>
          <p:nvPr/>
        </p:nvSpPr>
        <p:spPr>
          <a:xfrm>
            <a:off x="4672799" y="4876800"/>
            <a:ext cx="6137930" cy="194310"/>
          </a:xfrm>
          <a:prstGeom prst="rect">
            <a:avLst/>
          </a:prstGeom>
          <a:noFill/>
        </p:spPr>
        <p:txBody>
          <a:bodyPr wrap="none" lIns="0" rIns="0" tIns="0" bIns="0">
            <a:spAutoFit/>
          </a:bodyPr>
          <a:lstStyle/>
          <a:p>
            <a:r>
              <a:rPr sz="1150" b="0">
                <a:solidFill>
                  <a:srgbClr val="252423"/>
                </a:solidFill>
                <a:latin typeface="Segoe UI"/>
              </a:rPr>
              <a:t>X between 2025 and 2036. In 2025, the Helium-3 market in Western Europe was valued at US$</a:t>
            </a:r>
          </a:p>
        </p:txBody>
      </p:sp>
      <p:pic>
        <p:nvPicPr>
          <p:cNvPr id="32" name="Picture 31" descr="lock.png"/>
          <p:cNvPicPr>
            <a:picLocks noChangeAspect="1"/>
          </p:cNvPicPr>
          <p:nvPr/>
        </p:nvPicPr>
        <p:blipFill>
          <a:blip r:embed="rId6"/>
          <a:stretch>
            <a:fillRect/>
          </a:stretch>
        </p:blipFill>
        <p:spPr>
          <a:xfrm>
            <a:off x="10759884" y="4866576"/>
            <a:ext cx="134549" cy="195707"/>
          </a:xfrm>
          <a:prstGeom prst="rect">
            <a:avLst/>
          </a:prstGeom>
        </p:spPr>
      </p:pic>
      <p:sp>
        <p:nvSpPr>
          <p:cNvPr id="33" name="TextBox 32"/>
          <p:cNvSpPr txBox="1"/>
          <p:nvPr/>
        </p:nvSpPr>
        <p:spPr>
          <a:xfrm>
            <a:off x="10934993" y="4876800"/>
            <a:ext cx="710604" cy="194310"/>
          </a:xfrm>
          <a:prstGeom prst="rect">
            <a:avLst/>
          </a:prstGeom>
          <a:noFill/>
        </p:spPr>
        <p:txBody>
          <a:bodyPr wrap="none" lIns="0" rIns="0" tIns="0" bIns="0">
            <a:spAutoFit/>
          </a:bodyPr>
          <a:lstStyle/>
          <a:p>
            <a:r>
              <a:rPr sz="1150" b="0">
                <a:solidFill>
                  <a:srgbClr val="252423"/>
                </a:solidFill>
                <a:latin typeface="Segoe UI"/>
              </a:rPr>
              <a:t>Mn and is</a:t>
            </a:r>
          </a:p>
        </p:txBody>
      </p:sp>
      <p:sp>
        <p:nvSpPr>
          <p:cNvPr id="34" name="TextBox 33"/>
          <p:cNvSpPr txBox="1"/>
          <p:nvPr/>
        </p:nvSpPr>
        <p:spPr>
          <a:xfrm>
            <a:off x="276225" y="5052060"/>
            <a:ext cx="1955987" cy="194310"/>
          </a:xfrm>
          <a:prstGeom prst="rect">
            <a:avLst/>
          </a:prstGeom>
          <a:noFill/>
        </p:spPr>
        <p:txBody>
          <a:bodyPr wrap="none" lIns="0" rIns="0" tIns="0" bIns="0">
            <a:spAutoFit/>
          </a:bodyPr>
          <a:lstStyle/>
          <a:p>
            <a:r>
              <a:rPr sz="1150" b="0">
                <a:solidFill>
                  <a:srgbClr val="252423"/>
                </a:solidFill>
                <a:latin typeface="Segoe UI"/>
              </a:rPr>
              <a:t>estimated to account for US$</a:t>
            </a:r>
          </a:p>
        </p:txBody>
      </p:sp>
      <p:pic>
        <p:nvPicPr>
          <p:cNvPr id="35" name="Picture 34" descr="lock.png"/>
          <p:cNvPicPr>
            <a:picLocks noChangeAspect="1"/>
          </p:cNvPicPr>
          <p:nvPr/>
        </p:nvPicPr>
        <p:blipFill>
          <a:blip r:embed="rId6"/>
          <a:stretch>
            <a:fillRect/>
          </a:stretch>
        </p:blipFill>
        <p:spPr>
          <a:xfrm>
            <a:off x="2181366" y="5041836"/>
            <a:ext cx="134549" cy="195707"/>
          </a:xfrm>
          <a:prstGeom prst="rect">
            <a:avLst/>
          </a:prstGeom>
        </p:spPr>
      </p:pic>
      <p:sp>
        <p:nvSpPr>
          <p:cNvPr id="36" name="TextBox 35"/>
          <p:cNvSpPr txBox="1"/>
          <p:nvPr/>
        </p:nvSpPr>
        <p:spPr>
          <a:xfrm>
            <a:off x="2356475" y="5052060"/>
            <a:ext cx="3705324" cy="194310"/>
          </a:xfrm>
          <a:prstGeom prst="rect">
            <a:avLst/>
          </a:prstGeom>
          <a:noFill/>
        </p:spPr>
        <p:txBody>
          <a:bodyPr wrap="none" lIns="0" rIns="0" tIns="0" bIns="0">
            <a:spAutoFit/>
          </a:bodyPr>
          <a:lstStyle/>
          <a:p>
            <a:r>
              <a:rPr sz="1150" b="0">
                <a:solidFill>
                  <a:srgbClr val="252423"/>
                </a:solidFill>
                <a:latin typeface="Segoe UI"/>
              </a:rPr>
              <a:t>Mn by the end of 2026, reflecting a Y-o-Y growth rate of</a:t>
            </a:r>
          </a:p>
        </p:txBody>
      </p:sp>
      <p:pic>
        <p:nvPicPr>
          <p:cNvPr id="37" name="Picture 36" descr="lock.png"/>
          <p:cNvPicPr>
            <a:picLocks noChangeAspect="1"/>
          </p:cNvPicPr>
          <p:nvPr/>
        </p:nvPicPr>
        <p:blipFill>
          <a:blip r:embed="rId6"/>
          <a:stretch>
            <a:fillRect/>
          </a:stretch>
        </p:blipFill>
        <p:spPr>
          <a:xfrm>
            <a:off x="6010954" y="5041836"/>
            <a:ext cx="134549" cy="195707"/>
          </a:xfrm>
          <a:prstGeom prst="rect">
            <a:avLst/>
          </a:prstGeom>
        </p:spPr>
      </p:pic>
      <p:sp>
        <p:nvSpPr>
          <p:cNvPr id="38" name="TextBox 37"/>
          <p:cNvSpPr txBox="1"/>
          <p:nvPr/>
        </p:nvSpPr>
        <p:spPr>
          <a:xfrm>
            <a:off x="6186063" y="5052060"/>
            <a:ext cx="4107221" cy="194310"/>
          </a:xfrm>
          <a:prstGeom prst="rect">
            <a:avLst/>
          </a:prstGeom>
          <a:noFill/>
        </p:spPr>
        <p:txBody>
          <a:bodyPr wrap="none" lIns="0" rIns="0" tIns="0" bIns="0">
            <a:spAutoFit/>
          </a:bodyPr>
          <a:lstStyle/>
          <a:p>
            <a:r>
              <a:rPr sz="1150" b="0">
                <a:solidFill>
                  <a:srgbClr val="252423"/>
                </a:solidFill>
                <a:latin typeface="Segoe UI"/>
              </a:rPr>
              <a:t>. The market in Western Europe is expected to account for US$</a:t>
            </a:r>
          </a:p>
        </p:txBody>
      </p:sp>
      <p:pic>
        <p:nvPicPr>
          <p:cNvPr id="39" name="Picture 38" descr="lock.png"/>
          <p:cNvPicPr>
            <a:picLocks noChangeAspect="1"/>
          </p:cNvPicPr>
          <p:nvPr/>
        </p:nvPicPr>
        <p:blipFill>
          <a:blip r:embed="rId6"/>
          <a:stretch>
            <a:fillRect/>
          </a:stretch>
        </p:blipFill>
        <p:spPr>
          <a:xfrm>
            <a:off x="10242438" y="5041836"/>
            <a:ext cx="134549" cy="195707"/>
          </a:xfrm>
          <a:prstGeom prst="rect">
            <a:avLst/>
          </a:prstGeom>
        </p:spPr>
      </p:pic>
      <p:sp>
        <p:nvSpPr>
          <p:cNvPr id="40" name="TextBox 39"/>
          <p:cNvSpPr txBox="1"/>
          <p:nvPr/>
        </p:nvSpPr>
        <p:spPr>
          <a:xfrm>
            <a:off x="10417548" y="5052060"/>
            <a:ext cx="1119944" cy="194310"/>
          </a:xfrm>
          <a:prstGeom prst="rect">
            <a:avLst/>
          </a:prstGeom>
          <a:noFill/>
        </p:spPr>
        <p:txBody>
          <a:bodyPr wrap="none" lIns="0" rIns="0" tIns="0" bIns="0">
            <a:spAutoFit/>
          </a:bodyPr>
          <a:lstStyle/>
          <a:p>
            <a:r>
              <a:rPr sz="1150" b="0">
                <a:solidFill>
                  <a:srgbClr val="252423"/>
                </a:solidFill>
                <a:latin typeface="Segoe UI"/>
              </a:rPr>
              <a:t>Mn by 2036 at a</a:t>
            </a:r>
          </a:p>
        </p:txBody>
      </p:sp>
      <p:sp>
        <p:nvSpPr>
          <p:cNvPr id="41" name="TextBox 40"/>
          <p:cNvSpPr txBox="1"/>
          <p:nvPr/>
        </p:nvSpPr>
        <p:spPr>
          <a:xfrm>
            <a:off x="276225" y="5227320"/>
            <a:ext cx="619252" cy="194310"/>
          </a:xfrm>
          <a:prstGeom prst="rect">
            <a:avLst/>
          </a:prstGeom>
          <a:noFill/>
        </p:spPr>
        <p:txBody>
          <a:bodyPr wrap="none" lIns="0" rIns="0" tIns="0" bIns="0">
            <a:spAutoFit/>
          </a:bodyPr>
          <a:lstStyle/>
          <a:p>
            <a:r>
              <a:rPr sz="1150" b="0">
                <a:solidFill>
                  <a:srgbClr val="252423"/>
                </a:solidFill>
                <a:latin typeface="Segoe UI"/>
              </a:rPr>
              <a:t>CAGR of</a:t>
            </a:r>
          </a:p>
        </p:txBody>
      </p:sp>
      <p:pic>
        <p:nvPicPr>
          <p:cNvPr id="42" name="Picture 41" descr="lock.png"/>
          <p:cNvPicPr>
            <a:picLocks noChangeAspect="1"/>
          </p:cNvPicPr>
          <p:nvPr/>
        </p:nvPicPr>
        <p:blipFill>
          <a:blip r:embed="rId6"/>
          <a:stretch>
            <a:fillRect/>
          </a:stretch>
        </p:blipFill>
        <p:spPr>
          <a:xfrm>
            <a:off x="844631" y="5217096"/>
            <a:ext cx="134549" cy="195707"/>
          </a:xfrm>
          <a:prstGeom prst="rect">
            <a:avLst/>
          </a:prstGeom>
        </p:spPr>
      </p:pic>
      <p:sp>
        <p:nvSpPr>
          <p:cNvPr id="43" name="TextBox 42"/>
          <p:cNvSpPr txBox="1"/>
          <p:nvPr/>
        </p:nvSpPr>
        <p:spPr>
          <a:xfrm>
            <a:off x="1019740" y="522732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4" name="TextBox 43"/>
          <p:cNvSpPr txBox="1"/>
          <p:nvPr/>
        </p:nvSpPr>
        <p:spPr>
          <a:xfrm>
            <a:off x="276225" y="5455157"/>
            <a:ext cx="4745325" cy="194310"/>
          </a:xfrm>
          <a:prstGeom prst="rect">
            <a:avLst/>
          </a:prstGeom>
          <a:noFill/>
        </p:spPr>
        <p:txBody>
          <a:bodyPr wrap="none" lIns="0" rIns="0" tIns="0" bIns="0">
            <a:spAutoFit/>
          </a:bodyPr>
          <a:lstStyle/>
          <a:p>
            <a:r>
              <a:rPr sz="1150" b="0">
                <a:solidFill>
                  <a:srgbClr val="252423"/>
                </a:solidFill>
                <a:latin typeface="Segoe UI"/>
              </a:rPr>
              <a:t>Western Europe is expected to create an incremental opportunity of US$</a:t>
            </a:r>
          </a:p>
        </p:txBody>
      </p:sp>
      <p:pic>
        <p:nvPicPr>
          <p:cNvPr id="45" name="Picture 44" descr="lock.png"/>
          <p:cNvPicPr>
            <a:picLocks noChangeAspect="1"/>
          </p:cNvPicPr>
          <p:nvPr/>
        </p:nvPicPr>
        <p:blipFill>
          <a:blip r:embed="rId6"/>
          <a:stretch>
            <a:fillRect/>
          </a:stretch>
        </p:blipFill>
        <p:spPr>
          <a:xfrm>
            <a:off x="4970704" y="5444934"/>
            <a:ext cx="134549" cy="195707"/>
          </a:xfrm>
          <a:prstGeom prst="rect">
            <a:avLst/>
          </a:prstGeom>
        </p:spPr>
      </p:pic>
      <p:sp>
        <p:nvSpPr>
          <p:cNvPr id="46" name="TextBox 45"/>
          <p:cNvSpPr txBox="1"/>
          <p:nvPr/>
        </p:nvSpPr>
        <p:spPr>
          <a:xfrm>
            <a:off x="5145813" y="5455157"/>
            <a:ext cx="6495353" cy="194310"/>
          </a:xfrm>
          <a:prstGeom prst="rect">
            <a:avLst/>
          </a:prstGeom>
          <a:noFill/>
        </p:spPr>
        <p:txBody>
          <a:bodyPr wrap="none" lIns="0" rIns="0" tIns="0" bIns="0">
            <a:spAutoFit/>
          </a:bodyPr>
          <a:lstStyle/>
          <a:p>
            <a:r>
              <a:rPr sz="1150" b="0">
                <a:solidFill>
                  <a:srgbClr val="252423"/>
                </a:solidFill>
                <a:latin typeface="Segoe UI"/>
              </a:rPr>
              <a:t>Mn for the overall Helium-3 market from 2025 to 2036. Absolute $ value for 2026 is estimated to be</a:t>
            </a:r>
          </a:p>
        </p:txBody>
      </p:sp>
      <p:sp>
        <p:nvSpPr>
          <p:cNvPr id="47" name="TextBox 46"/>
          <p:cNvSpPr txBox="1"/>
          <p:nvPr/>
        </p:nvSpPr>
        <p:spPr>
          <a:xfrm>
            <a:off x="276225" y="5630417"/>
            <a:ext cx="332928" cy="194310"/>
          </a:xfrm>
          <a:prstGeom prst="rect">
            <a:avLst/>
          </a:prstGeom>
          <a:noFill/>
        </p:spPr>
        <p:txBody>
          <a:bodyPr wrap="none" lIns="0" rIns="0" tIns="0" bIns="0">
            <a:spAutoFit/>
          </a:bodyPr>
          <a:lstStyle/>
          <a:p>
            <a:r>
              <a:rPr sz="1150" b="0">
                <a:solidFill>
                  <a:srgbClr val="252423"/>
                </a:solidFill>
                <a:latin typeface="Segoe UI"/>
              </a:rPr>
              <a:t>US$</a:t>
            </a:r>
          </a:p>
        </p:txBody>
      </p:sp>
      <p:pic>
        <p:nvPicPr>
          <p:cNvPr id="48" name="Picture 47" descr="lock.png"/>
          <p:cNvPicPr>
            <a:picLocks noChangeAspect="1"/>
          </p:cNvPicPr>
          <p:nvPr/>
        </p:nvPicPr>
        <p:blipFill>
          <a:blip r:embed="rId6"/>
          <a:stretch>
            <a:fillRect/>
          </a:stretch>
        </p:blipFill>
        <p:spPr>
          <a:xfrm>
            <a:off x="558307" y="5620194"/>
            <a:ext cx="134549" cy="195707"/>
          </a:xfrm>
          <a:prstGeom prst="rect">
            <a:avLst/>
          </a:prstGeom>
        </p:spPr>
      </p:pic>
      <p:sp>
        <p:nvSpPr>
          <p:cNvPr id="49" name="TextBox 48"/>
          <p:cNvSpPr txBox="1"/>
          <p:nvPr/>
        </p:nvSpPr>
        <p:spPr>
          <a:xfrm>
            <a:off x="733416" y="5630417"/>
            <a:ext cx="4011010" cy="194310"/>
          </a:xfrm>
          <a:prstGeom prst="rect">
            <a:avLst/>
          </a:prstGeom>
          <a:noFill/>
        </p:spPr>
        <p:txBody>
          <a:bodyPr wrap="none" lIns="0" rIns="0" tIns="0" bIns="0">
            <a:spAutoFit/>
          </a:bodyPr>
          <a:lstStyle/>
          <a:p>
            <a:r>
              <a:rPr sz="1150" b="0">
                <a:solidFill>
                  <a:srgbClr val="252423"/>
                </a:solidFill>
                <a:latin typeface="Segoe UI"/>
              </a:rPr>
              <a:t>Mn. Western Europe Helium-3 market is projected to register</a:t>
            </a:r>
          </a:p>
        </p:txBody>
      </p:sp>
      <p:pic>
        <p:nvPicPr>
          <p:cNvPr id="50" name="Picture 49" descr="lock.png"/>
          <p:cNvPicPr>
            <a:picLocks noChangeAspect="1"/>
          </p:cNvPicPr>
          <p:nvPr/>
        </p:nvPicPr>
        <p:blipFill>
          <a:blip r:embed="rId6"/>
          <a:stretch>
            <a:fillRect/>
          </a:stretch>
        </p:blipFill>
        <p:spPr>
          <a:xfrm>
            <a:off x="4693580" y="5620194"/>
            <a:ext cx="134549" cy="195707"/>
          </a:xfrm>
          <a:prstGeom prst="rect">
            <a:avLst/>
          </a:prstGeom>
        </p:spPr>
      </p:pic>
      <p:sp>
        <p:nvSpPr>
          <p:cNvPr id="51" name="TextBox 50"/>
          <p:cNvSpPr txBox="1"/>
          <p:nvPr/>
        </p:nvSpPr>
        <p:spPr>
          <a:xfrm>
            <a:off x="4868690" y="5630417"/>
            <a:ext cx="3733609" cy="194310"/>
          </a:xfrm>
          <a:prstGeom prst="rect">
            <a:avLst/>
          </a:prstGeom>
          <a:noFill/>
        </p:spPr>
        <p:txBody>
          <a:bodyPr wrap="none" lIns="0" rIns="0" tIns="0" bIns="0">
            <a:spAutoFit/>
          </a:bodyPr>
          <a:lstStyle/>
          <a:p>
            <a:r>
              <a:rPr sz="1150" b="0">
                <a:solidFill>
                  <a:srgbClr val="252423"/>
                </a:solidFill>
                <a:latin typeface="Segoe UI"/>
              </a:rPr>
              <a:t>X increase in volume by the end of forecast period, 2036.</a:t>
            </a:r>
          </a:p>
        </p:txBody>
      </p:sp>
      <p:sp>
        <p:nvSpPr>
          <p:cNvPr id="52" name="TextBox 51"/>
          <p:cNvSpPr txBox="1"/>
          <p:nvPr/>
        </p:nvSpPr>
        <p:spPr>
          <a:xfrm>
            <a:off x="276225" y="5858255"/>
            <a:ext cx="3320495" cy="194310"/>
          </a:xfrm>
          <a:prstGeom prst="rect">
            <a:avLst/>
          </a:prstGeom>
          <a:noFill/>
        </p:spPr>
        <p:txBody>
          <a:bodyPr wrap="none" lIns="0" rIns="0" tIns="0" bIns="0">
            <a:spAutoFit/>
          </a:bodyPr>
          <a:lstStyle/>
          <a:p>
            <a:r>
              <a:rPr sz="1150" b="0">
                <a:solidFill>
                  <a:srgbClr val="252423"/>
                </a:solidFill>
                <a:latin typeface="Segoe UI"/>
              </a:rPr>
              <a:t>Western Europe Helium-3 market volume stood at</a:t>
            </a:r>
          </a:p>
        </p:txBody>
      </p:sp>
      <p:pic>
        <p:nvPicPr>
          <p:cNvPr id="53" name="Picture 52" descr="lock.png"/>
          <p:cNvPicPr>
            <a:picLocks noChangeAspect="1"/>
          </p:cNvPicPr>
          <p:nvPr/>
        </p:nvPicPr>
        <p:blipFill>
          <a:blip r:embed="rId6"/>
          <a:stretch>
            <a:fillRect/>
          </a:stretch>
        </p:blipFill>
        <p:spPr>
          <a:xfrm>
            <a:off x="3545874" y="5848032"/>
            <a:ext cx="134549" cy="195707"/>
          </a:xfrm>
          <a:prstGeom prst="rect">
            <a:avLst/>
          </a:prstGeom>
        </p:spPr>
      </p:pic>
      <p:sp>
        <p:nvSpPr>
          <p:cNvPr id="54" name="TextBox 53"/>
          <p:cNvSpPr txBox="1"/>
          <p:nvPr/>
        </p:nvSpPr>
        <p:spPr>
          <a:xfrm>
            <a:off x="3720983" y="5858255"/>
            <a:ext cx="2544974" cy="194310"/>
          </a:xfrm>
          <a:prstGeom prst="rect">
            <a:avLst/>
          </a:prstGeom>
          <a:noFill/>
        </p:spPr>
        <p:txBody>
          <a:bodyPr wrap="none" lIns="0" rIns="0" tIns="0" bIns="0">
            <a:spAutoFit/>
          </a:bodyPr>
          <a:lstStyle/>
          <a:p>
            <a:r>
              <a:rPr sz="1150" b="0">
                <a:solidFill>
                  <a:srgbClr val="252423"/>
                </a:solidFill>
                <a:latin typeface="Segoe UI"/>
              </a:rPr>
              <a:t>Litres in 2025 and is expected to reach</a:t>
            </a:r>
          </a:p>
        </p:txBody>
      </p:sp>
      <p:pic>
        <p:nvPicPr>
          <p:cNvPr id="55" name="Picture 54" descr="lock.png"/>
          <p:cNvPicPr>
            <a:picLocks noChangeAspect="1"/>
          </p:cNvPicPr>
          <p:nvPr/>
        </p:nvPicPr>
        <p:blipFill>
          <a:blip r:embed="rId6"/>
          <a:stretch>
            <a:fillRect/>
          </a:stretch>
        </p:blipFill>
        <p:spPr>
          <a:xfrm>
            <a:off x="6215111" y="5848032"/>
            <a:ext cx="134549" cy="195707"/>
          </a:xfrm>
          <a:prstGeom prst="rect">
            <a:avLst/>
          </a:prstGeom>
        </p:spPr>
      </p:pic>
      <p:sp>
        <p:nvSpPr>
          <p:cNvPr id="56" name="TextBox 55"/>
          <p:cNvSpPr txBox="1"/>
          <p:nvPr/>
        </p:nvSpPr>
        <p:spPr>
          <a:xfrm>
            <a:off x="6390221" y="5858255"/>
            <a:ext cx="2148752" cy="194310"/>
          </a:xfrm>
          <a:prstGeom prst="rect">
            <a:avLst/>
          </a:prstGeom>
          <a:noFill/>
        </p:spPr>
        <p:txBody>
          <a:bodyPr wrap="none" lIns="0" rIns="0" tIns="0" bIns="0">
            <a:spAutoFit/>
          </a:bodyPr>
          <a:lstStyle/>
          <a:p>
            <a:r>
              <a:rPr sz="1150" b="0">
                <a:solidFill>
                  <a:srgbClr val="252423"/>
                </a:solidFill>
                <a:latin typeface="Segoe UI"/>
              </a:rPr>
              <a:t>Litres by 2036 end, at a CAGR of</a:t>
            </a:r>
          </a:p>
        </p:txBody>
      </p:sp>
      <p:pic>
        <p:nvPicPr>
          <p:cNvPr id="57" name="Picture 56" descr="lock.png"/>
          <p:cNvPicPr>
            <a:picLocks noChangeAspect="1"/>
          </p:cNvPicPr>
          <p:nvPr/>
        </p:nvPicPr>
        <p:blipFill>
          <a:blip r:embed="rId6"/>
          <a:stretch>
            <a:fillRect/>
          </a:stretch>
        </p:blipFill>
        <p:spPr>
          <a:xfrm>
            <a:off x="8488127" y="5848032"/>
            <a:ext cx="134549" cy="195707"/>
          </a:xfrm>
          <a:prstGeom prst="rect">
            <a:avLst/>
          </a:prstGeom>
        </p:spPr>
      </p:pic>
      <p:sp>
        <p:nvSpPr>
          <p:cNvPr id="58" name="TextBox 57"/>
          <p:cNvSpPr txBox="1"/>
          <p:nvPr/>
        </p:nvSpPr>
        <p:spPr>
          <a:xfrm>
            <a:off x="8663236" y="5858255"/>
            <a:ext cx="2569608" cy="194310"/>
          </a:xfrm>
          <a:prstGeom prst="rect">
            <a:avLst/>
          </a:prstGeom>
          <a:noFill/>
        </p:spPr>
        <p:txBody>
          <a:bodyPr wrap="none" lIns="0" rIns="0" tIns="0" bIns="0">
            <a:spAutoFit/>
          </a:bodyPr>
          <a:lstStyle/>
          <a:p>
            <a:r>
              <a:rPr sz="1150" b="0">
                <a:solidFill>
                  <a:srgbClr val="252423"/>
                </a:solidFill>
                <a:latin typeface="Segoe UI"/>
              </a:rPr>
              <a:t>. Value is projected to grow faster than</a:t>
            </a:r>
          </a:p>
        </p:txBody>
      </p:sp>
      <p:sp>
        <p:nvSpPr>
          <p:cNvPr id="59" name="TextBox 58"/>
          <p:cNvSpPr txBox="1"/>
          <p:nvPr/>
        </p:nvSpPr>
        <p:spPr>
          <a:xfrm>
            <a:off x="276225" y="6033515"/>
            <a:ext cx="5087705" cy="194310"/>
          </a:xfrm>
          <a:prstGeom prst="rect">
            <a:avLst/>
          </a:prstGeom>
          <a:noFill/>
        </p:spPr>
        <p:txBody>
          <a:bodyPr wrap="none" lIns="0" rIns="0" tIns="0" bIns="0">
            <a:spAutoFit/>
          </a:bodyPr>
          <a:lstStyle/>
          <a:p>
            <a:r>
              <a:rPr sz="1150" b="0">
                <a:solidFill>
                  <a:srgbClr val="252423"/>
                </a:solidFill>
                <a:latin typeface="Segoe UI"/>
              </a:rPr>
              <a:t>volume over the forecast period, owing to an increase in average selling price.</a:t>
            </a:r>
          </a:p>
        </p:txBody>
      </p:sp>
      <p:sp>
        <p:nvSpPr>
          <p:cNvPr id="60" name="lockshield_10"/>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13"/>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Summary Country Indices (Value)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68"/>
        </p:xfrm>
        <a:graphic>
          <a:graphicData uri="http://schemas.openxmlformats.org/drawingml/2006/table">
            <a:tbl>
              <a:tblPr>
                <a:tableStyleId>{5C22544A-7EE6-4342-B048-85BDC9FD1C3A}</a:tableStyleId>
              </a:tblPr>
              <a:tblGrid>
                <a:gridCol w="812699"/>
                <a:gridCol w="1036778"/>
                <a:gridCol w="710280"/>
                <a:gridCol w="1355018"/>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942971">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2155277"/>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a:p>
            <a:pPr algn="ctr"/>
            <a:r>
              <a:rPr sz="1100" b="0">
                <a:solidFill>
                  <a:srgbClr val="FFFFFF"/>
                </a:solidFill>
                <a:latin typeface="Segoe UI"/>
              </a:rPr>
              <a:t> </a:t>
            </a:r>
          </a:p>
        </p:txBody>
      </p:sp>
      <p:sp>
        <p:nvSpPr>
          <p:cNvPr id="17" name="Rectangle 16"/>
          <p:cNvSpPr/>
          <p:nvPr/>
        </p:nvSpPr>
        <p:spPr>
          <a:xfrm>
            <a:off x="4210050" y="3448288"/>
            <a:ext cx="2042345" cy="135513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Italy</a:t>
            </a:r>
          </a:p>
          <a:p>
            <a:pPr algn="ctr"/>
            <a:r>
              <a:rPr sz="1100" b="0">
                <a:solidFill>
                  <a:srgbClr val="252423"/>
                </a:solidFill>
                <a:latin typeface="Segoe UI"/>
              </a:rPr>
              <a:t> </a:t>
            </a:r>
          </a:p>
        </p:txBody>
      </p:sp>
      <p:sp>
        <p:nvSpPr>
          <p:cNvPr id="18" name="Rectangle 17"/>
          <p:cNvSpPr/>
          <p:nvPr/>
        </p:nvSpPr>
        <p:spPr>
          <a:xfrm>
            <a:off x="4210050" y="4803423"/>
            <a:ext cx="2042345" cy="1075186"/>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 </a:t>
            </a:r>
          </a:p>
        </p:txBody>
      </p:sp>
      <p:sp>
        <p:nvSpPr>
          <p:cNvPr id="19" name="Rectangle 18"/>
          <p:cNvSpPr/>
          <p:nvPr/>
        </p:nvSpPr>
        <p:spPr>
          <a:xfrm>
            <a:off x="6252395" y="3448288"/>
            <a:ext cx="885037" cy="1436382"/>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 </a:t>
            </a:r>
          </a:p>
        </p:txBody>
      </p:sp>
      <p:sp>
        <p:nvSpPr>
          <p:cNvPr id="20" name="Rectangle 19"/>
          <p:cNvSpPr/>
          <p:nvPr/>
        </p:nvSpPr>
        <p:spPr>
          <a:xfrm>
            <a:off x="7137431" y="3448288"/>
            <a:ext cx="815944" cy="1436382"/>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Spain</a:t>
            </a:r>
          </a:p>
          <a:p>
            <a:pPr algn="ctr"/>
            <a:r>
              <a:rPr sz="1100" b="0">
                <a:solidFill>
                  <a:srgbClr val="252423"/>
                </a:solidFill>
                <a:latin typeface="Segoe UI"/>
              </a:rPr>
              <a:t> </a:t>
            </a:r>
          </a:p>
        </p:txBody>
      </p:sp>
      <p:sp>
        <p:nvSpPr>
          <p:cNvPr id="21" name="Rectangle 20"/>
          <p:cNvSpPr/>
          <p:nvPr/>
        </p:nvSpPr>
        <p:spPr>
          <a:xfrm>
            <a:off x="6252395" y="4884670"/>
            <a:ext cx="910117" cy="993939"/>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BENELUX</a:t>
            </a:r>
          </a:p>
          <a:p>
            <a:pPr algn="ctr"/>
            <a:r>
              <a:rPr sz="1100" b="0">
                <a:solidFill>
                  <a:srgbClr val="252423"/>
                </a:solidFill>
                <a:latin typeface="Segoe UI"/>
              </a:rPr>
              <a:t> </a:t>
            </a:r>
          </a:p>
        </p:txBody>
      </p:sp>
      <p:sp>
        <p:nvSpPr>
          <p:cNvPr id="22" name="Rectangle 21"/>
          <p:cNvSpPr/>
          <p:nvPr/>
        </p:nvSpPr>
        <p:spPr>
          <a:xfrm>
            <a:off x="7162512" y="4884670"/>
            <a:ext cx="790863" cy="993939"/>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Nordic Countries</a:t>
            </a:r>
          </a:p>
          <a:p>
            <a:pPr algn="ctr"/>
            <a:r>
              <a:rPr sz="1100" b="0">
                <a:solidFill>
                  <a:srgbClr val="252423"/>
                </a:solidFill>
                <a:latin typeface="Segoe UI"/>
              </a:rPr>
              <a:t> </a:t>
            </a:r>
          </a:p>
        </p:txBody>
      </p:sp>
      <p:sp>
        <p:nvSpPr>
          <p:cNvPr id="23" name="Rectangle 22"/>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5" name="Chart 24"/>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6" name="Rectangle 25"/>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7" name="Table 26"/>
          <p:cNvGraphicFramePr>
            <a:graphicFrameLocks noGrp="1"/>
          </p:cNvGraphicFramePr>
          <p:nvPr/>
        </p:nvGraphicFramePr>
        <p:xfrm>
          <a:off x="8096250" y="3547710"/>
          <a:ext cx="3914775" cy="2159450"/>
        </p:xfrm>
        <a:graphic>
          <a:graphicData uri="http://schemas.openxmlformats.org/drawingml/2006/table">
            <a:tbl>
              <a:tblPr>
                <a:tableStyleId>{5C22544A-7EE6-4342-B048-85BDC9FD1C3A}</a:tableStyleId>
              </a:tblPr>
              <a:tblGrid>
                <a:gridCol w="764594"/>
                <a:gridCol w="1207131"/>
                <a:gridCol w="668237"/>
                <a:gridCol w="1274813"/>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956662">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8" name="TextBox 27"/>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9" name="Rectangle 28"/>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1" name="Picture 30" descr="lock.png"/>
          <p:cNvPicPr>
            <a:picLocks noChangeAspect="1"/>
          </p:cNvPicPr>
          <p:nvPr/>
        </p:nvPicPr>
        <p:blipFill>
          <a:blip r:embed="rId6"/>
          <a:stretch>
            <a:fillRect/>
          </a:stretch>
        </p:blipFill>
        <p:spPr>
          <a:xfrm>
            <a:off x="3188017" y="2125483"/>
            <a:ext cx="183356" cy="266700"/>
          </a:xfrm>
          <a:prstGeom prst="rect">
            <a:avLst/>
          </a:prstGeom>
        </p:spPr>
      </p:pic>
      <p:pic>
        <p:nvPicPr>
          <p:cNvPr id="32" name="Picture 31" descr="lock.png"/>
          <p:cNvPicPr>
            <a:picLocks noChangeAspect="1"/>
          </p:cNvPicPr>
          <p:nvPr/>
        </p:nvPicPr>
        <p:blipFill>
          <a:blip r:embed="rId6"/>
          <a:stretch>
            <a:fillRect/>
          </a:stretch>
        </p:blipFill>
        <p:spPr>
          <a:xfrm>
            <a:off x="2340898" y="4504720"/>
            <a:ext cx="344218" cy="500680"/>
          </a:xfrm>
          <a:prstGeom prst="rect">
            <a:avLst/>
          </a:prstGeom>
        </p:spPr>
      </p:pic>
      <p:pic>
        <p:nvPicPr>
          <p:cNvPr id="33" name="Picture 32" descr="lock.png"/>
          <p:cNvPicPr>
            <a:picLocks noChangeAspect="1"/>
          </p:cNvPicPr>
          <p:nvPr/>
        </p:nvPicPr>
        <p:blipFill>
          <a:blip r:embed="rId6"/>
          <a:stretch>
            <a:fillRect/>
          </a:stretch>
        </p:blipFill>
        <p:spPr>
          <a:xfrm>
            <a:off x="6024086" y="2370649"/>
            <a:ext cx="115252" cy="167639"/>
          </a:xfrm>
          <a:prstGeom prst="rect">
            <a:avLst/>
          </a:prstGeom>
        </p:spPr>
      </p:pic>
      <p:pic>
        <p:nvPicPr>
          <p:cNvPr id="34" name="Picture 33" descr="lock.png"/>
          <p:cNvPicPr>
            <a:picLocks noChangeAspect="1"/>
          </p:cNvPicPr>
          <p:nvPr/>
        </p:nvPicPr>
        <p:blipFill>
          <a:blip r:embed="rId6"/>
          <a:stretch>
            <a:fillRect/>
          </a:stretch>
        </p:blipFill>
        <p:spPr>
          <a:xfrm>
            <a:off x="5173596" y="4125855"/>
            <a:ext cx="115252" cy="167639"/>
          </a:xfrm>
          <a:prstGeom prst="rect">
            <a:avLst/>
          </a:prstGeom>
        </p:spPr>
      </p:pic>
      <p:pic>
        <p:nvPicPr>
          <p:cNvPr id="35" name="Picture 34" descr="lock.png"/>
          <p:cNvPicPr>
            <a:picLocks noChangeAspect="1"/>
          </p:cNvPicPr>
          <p:nvPr/>
        </p:nvPicPr>
        <p:blipFill>
          <a:blip r:embed="rId6"/>
          <a:stretch>
            <a:fillRect/>
          </a:stretch>
        </p:blipFill>
        <p:spPr>
          <a:xfrm>
            <a:off x="5173596" y="5341016"/>
            <a:ext cx="115252" cy="167639"/>
          </a:xfrm>
          <a:prstGeom prst="rect">
            <a:avLst/>
          </a:prstGeom>
        </p:spPr>
      </p:pic>
      <p:pic>
        <p:nvPicPr>
          <p:cNvPr id="36" name="Picture 35" descr="lock.png"/>
          <p:cNvPicPr>
            <a:picLocks noChangeAspect="1"/>
          </p:cNvPicPr>
          <p:nvPr/>
        </p:nvPicPr>
        <p:blipFill>
          <a:blip r:embed="rId6"/>
          <a:stretch>
            <a:fillRect/>
          </a:stretch>
        </p:blipFill>
        <p:spPr>
          <a:xfrm>
            <a:off x="6637287" y="4166479"/>
            <a:ext cx="115252" cy="167639"/>
          </a:xfrm>
          <a:prstGeom prst="rect">
            <a:avLst/>
          </a:prstGeom>
        </p:spPr>
      </p:pic>
      <p:pic>
        <p:nvPicPr>
          <p:cNvPr id="37" name="Picture 36" descr="lock.png"/>
          <p:cNvPicPr>
            <a:picLocks noChangeAspect="1"/>
          </p:cNvPicPr>
          <p:nvPr/>
        </p:nvPicPr>
        <p:blipFill>
          <a:blip r:embed="rId6"/>
          <a:stretch>
            <a:fillRect/>
          </a:stretch>
        </p:blipFill>
        <p:spPr>
          <a:xfrm>
            <a:off x="7487777" y="4166479"/>
            <a:ext cx="115252" cy="167639"/>
          </a:xfrm>
          <a:prstGeom prst="rect">
            <a:avLst/>
          </a:prstGeom>
        </p:spPr>
      </p:pic>
      <p:pic>
        <p:nvPicPr>
          <p:cNvPr id="38" name="Picture 37" descr="lock.png"/>
          <p:cNvPicPr>
            <a:picLocks noChangeAspect="1"/>
          </p:cNvPicPr>
          <p:nvPr/>
        </p:nvPicPr>
        <p:blipFill>
          <a:blip r:embed="rId6"/>
          <a:stretch>
            <a:fillRect/>
          </a:stretch>
        </p:blipFill>
        <p:spPr>
          <a:xfrm>
            <a:off x="6649827" y="5381639"/>
            <a:ext cx="115252" cy="167639"/>
          </a:xfrm>
          <a:prstGeom prst="rect">
            <a:avLst/>
          </a:prstGeom>
        </p:spPr>
      </p:pic>
      <p:pic>
        <p:nvPicPr>
          <p:cNvPr id="39" name="Picture 38" descr="lock.png"/>
          <p:cNvPicPr>
            <a:picLocks noChangeAspect="1"/>
          </p:cNvPicPr>
          <p:nvPr/>
        </p:nvPicPr>
        <p:blipFill>
          <a:blip r:embed="rId6"/>
          <a:stretch>
            <a:fillRect/>
          </a:stretch>
        </p:blipFill>
        <p:spPr>
          <a:xfrm>
            <a:off x="7500317" y="5381639"/>
            <a:ext cx="115252" cy="167639"/>
          </a:xfrm>
          <a:prstGeom prst="rect">
            <a:avLst/>
          </a:prstGeom>
        </p:spPr>
      </p:pic>
      <p:pic>
        <p:nvPicPr>
          <p:cNvPr id="40" name="Picture 39" descr="lock.png"/>
          <p:cNvPicPr>
            <a:picLocks noChangeAspect="1"/>
          </p:cNvPicPr>
          <p:nvPr/>
        </p:nvPicPr>
        <p:blipFill>
          <a:blip r:embed="rId6"/>
          <a:stretch>
            <a:fillRect/>
          </a:stretch>
        </p:blipFill>
        <p:spPr>
          <a:xfrm>
            <a:off x="11131867" y="2120920"/>
            <a:ext cx="183356" cy="266700"/>
          </a:xfrm>
          <a:prstGeom prst="rect">
            <a:avLst/>
          </a:prstGeom>
        </p:spPr>
      </p:pic>
      <p:pic>
        <p:nvPicPr>
          <p:cNvPr id="41" name="Picture 40" descr="lock.png"/>
          <p:cNvPicPr>
            <a:picLocks noChangeAspect="1"/>
          </p:cNvPicPr>
          <p:nvPr/>
        </p:nvPicPr>
        <p:blipFill>
          <a:blip r:embed="rId6"/>
          <a:stretch>
            <a:fillRect/>
          </a:stretch>
        </p:blipFill>
        <p:spPr>
          <a:xfrm>
            <a:off x="10258065" y="4496399"/>
            <a:ext cx="349385" cy="508197"/>
          </a:xfrm>
          <a:prstGeom prst="rect">
            <a:avLst/>
          </a:prstGeom>
        </p:spPr>
      </p:pic>
      <p:sp>
        <p:nvSpPr>
          <p:cNvPr id="42" name="TextBox 41"/>
          <p:cNvSpPr txBox="1"/>
          <p:nvPr/>
        </p:nvSpPr>
        <p:spPr>
          <a:xfrm>
            <a:off x="257175" y="6167279"/>
            <a:ext cx="3015511" cy="179984"/>
          </a:xfrm>
          <a:prstGeom prst="rect">
            <a:avLst/>
          </a:prstGeom>
          <a:noFill/>
        </p:spPr>
        <p:txBody>
          <a:bodyPr wrap="none" lIns="0" rIns="0" tIns="0" bIns="0">
            <a:spAutoFit/>
          </a:bodyPr>
          <a:lstStyle/>
          <a:p>
            <a:r>
              <a:rPr sz="1055" b="0">
                <a:solidFill>
                  <a:srgbClr val="252423"/>
                </a:solidFill>
                <a:latin typeface="Segoe UI"/>
              </a:rPr>
              <a:t>Germany Helium-3 market is projected to register</a:t>
            </a:r>
          </a:p>
        </p:txBody>
      </p:sp>
      <p:pic>
        <p:nvPicPr>
          <p:cNvPr id="43" name="Picture 42" descr="lock.png"/>
          <p:cNvPicPr>
            <a:picLocks noChangeAspect="1"/>
          </p:cNvPicPr>
          <p:nvPr/>
        </p:nvPicPr>
        <p:blipFill>
          <a:blip r:embed="rId6"/>
          <a:stretch>
            <a:fillRect/>
          </a:stretch>
        </p:blipFill>
        <p:spPr>
          <a:xfrm>
            <a:off x="3219767" y="6157891"/>
            <a:ext cx="123551" cy="179710"/>
          </a:xfrm>
          <a:prstGeom prst="rect">
            <a:avLst/>
          </a:prstGeom>
        </p:spPr>
      </p:pic>
      <p:sp>
        <p:nvSpPr>
          <p:cNvPr id="44" name="TextBox 43"/>
          <p:cNvSpPr txBox="1"/>
          <p:nvPr/>
        </p:nvSpPr>
        <p:spPr>
          <a:xfrm>
            <a:off x="3380563" y="6167279"/>
            <a:ext cx="4445771" cy="179984"/>
          </a:xfrm>
          <a:prstGeom prst="rect">
            <a:avLst/>
          </a:prstGeom>
          <a:noFill/>
        </p:spPr>
        <p:txBody>
          <a:bodyPr wrap="none" lIns="0" rIns="0" tIns="0" bIns="0">
            <a:spAutoFit/>
          </a:bodyPr>
          <a:lstStyle/>
          <a:p>
            <a:r>
              <a:rPr sz="1055" b="0">
                <a:solidFill>
                  <a:srgbClr val="252423"/>
                </a:solidFill>
                <a:latin typeface="Segoe UI"/>
              </a:rPr>
              <a:t>X higher value than Italy in 2036. Germany posts the highest CAGR Index (</a:t>
            </a:r>
          </a:p>
        </p:txBody>
      </p:sp>
      <p:pic>
        <p:nvPicPr>
          <p:cNvPr id="45" name="Picture 44" descr="lock.png"/>
          <p:cNvPicPr>
            <a:picLocks noChangeAspect="1"/>
          </p:cNvPicPr>
          <p:nvPr/>
        </p:nvPicPr>
        <p:blipFill>
          <a:blip r:embed="rId6"/>
          <a:stretch>
            <a:fillRect/>
          </a:stretch>
        </p:blipFill>
        <p:spPr>
          <a:xfrm>
            <a:off x="7773417" y="6157891"/>
            <a:ext cx="123551" cy="179710"/>
          </a:xfrm>
          <a:prstGeom prst="rect">
            <a:avLst/>
          </a:prstGeom>
        </p:spPr>
      </p:pic>
      <p:sp>
        <p:nvSpPr>
          <p:cNvPr id="46" name="TextBox 45"/>
          <p:cNvSpPr txBox="1"/>
          <p:nvPr/>
        </p:nvSpPr>
        <p:spPr>
          <a:xfrm>
            <a:off x="7934213" y="6167279"/>
            <a:ext cx="821907" cy="179984"/>
          </a:xfrm>
          <a:prstGeom prst="rect">
            <a:avLst/>
          </a:prstGeom>
          <a:noFill/>
        </p:spPr>
        <p:txBody>
          <a:bodyPr wrap="none" lIns="0" rIns="0" tIns="0" bIns="0">
            <a:spAutoFit/>
          </a:bodyPr>
          <a:lstStyle/>
          <a:p>
            <a:r>
              <a:rPr sz="1055" b="0">
                <a:solidFill>
                  <a:srgbClr val="252423"/>
                </a:solidFill>
                <a:latin typeface="Segoe UI"/>
              </a:rPr>
              <a:t>), growing at</a:t>
            </a:r>
          </a:p>
        </p:txBody>
      </p:sp>
      <p:pic>
        <p:nvPicPr>
          <p:cNvPr id="47" name="Picture 46" descr="lock.png"/>
          <p:cNvPicPr>
            <a:picLocks noChangeAspect="1"/>
          </p:cNvPicPr>
          <p:nvPr/>
        </p:nvPicPr>
        <p:blipFill>
          <a:blip r:embed="rId6"/>
          <a:stretch>
            <a:fillRect/>
          </a:stretch>
        </p:blipFill>
        <p:spPr>
          <a:xfrm>
            <a:off x="8703201" y="6157891"/>
            <a:ext cx="123551" cy="179710"/>
          </a:xfrm>
          <a:prstGeom prst="rect">
            <a:avLst/>
          </a:prstGeom>
        </p:spPr>
      </p:pic>
      <p:sp>
        <p:nvSpPr>
          <p:cNvPr id="48" name="TextBox 47"/>
          <p:cNvSpPr txBox="1"/>
          <p:nvPr/>
        </p:nvSpPr>
        <p:spPr>
          <a:xfrm>
            <a:off x="8863997" y="6167279"/>
            <a:ext cx="1713211" cy="179984"/>
          </a:xfrm>
          <a:prstGeom prst="rect">
            <a:avLst/>
          </a:prstGeom>
          <a:noFill/>
        </p:spPr>
        <p:txBody>
          <a:bodyPr wrap="none" lIns="0" rIns="0" tIns="0" bIns="0">
            <a:spAutoFit/>
          </a:bodyPr>
          <a:lstStyle/>
          <a:p>
            <a:r>
              <a:rPr sz="1055" b="0">
                <a:solidFill>
                  <a:srgbClr val="252423"/>
                </a:solidFill>
                <a:latin typeface="Segoe UI"/>
              </a:rPr>
              <a:t>against the Western Europe</a:t>
            </a:r>
          </a:p>
        </p:txBody>
      </p:sp>
      <p:sp>
        <p:nvSpPr>
          <p:cNvPr id="49" name="TextBox 48"/>
          <p:cNvSpPr txBox="1"/>
          <p:nvPr/>
        </p:nvSpPr>
        <p:spPr>
          <a:xfrm>
            <a:off x="257175" y="6328214"/>
            <a:ext cx="3999839" cy="179984"/>
          </a:xfrm>
          <a:prstGeom prst="rect">
            <a:avLst/>
          </a:prstGeom>
          <a:noFill/>
        </p:spPr>
        <p:txBody>
          <a:bodyPr wrap="none" lIns="0" rIns="0" tIns="0" bIns="0">
            <a:spAutoFit/>
          </a:bodyPr>
          <a:lstStyle/>
          <a:p>
            <a:r>
              <a:rPr sz="1055" b="0">
                <a:solidFill>
                  <a:srgbClr val="252423"/>
                </a:solidFill>
                <a:latin typeface="Segoe UI"/>
              </a:rPr>
              <a:t>benchmark, while Germany offers the largest absolute opportunity</a:t>
            </a:r>
          </a:p>
        </p:txBody>
      </p:sp>
      <p:pic>
        <p:nvPicPr>
          <p:cNvPr id="50" name="Picture 49" descr="lock.png"/>
          <p:cNvPicPr>
            <a:picLocks noChangeAspect="1"/>
          </p:cNvPicPr>
          <p:nvPr/>
        </p:nvPicPr>
        <p:blipFill>
          <a:blip r:embed="rId6"/>
          <a:stretch>
            <a:fillRect/>
          </a:stretch>
        </p:blipFill>
        <p:spPr>
          <a:xfrm>
            <a:off x="4204096" y="6318826"/>
            <a:ext cx="123551" cy="179710"/>
          </a:xfrm>
          <a:prstGeom prst="rect">
            <a:avLst/>
          </a:prstGeom>
        </p:spPr>
      </p:pic>
      <p:sp>
        <p:nvSpPr>
          <p:cNvPr id="51" name="TextBox 50"/>
          <p:cNvSpPr txBox="1"/>
          <p:nvPr/>
        </p:nvSpPr>
        <p:spPr>
          <a:xfrm>
            <a:off x="4364892" y="6328214"/>
            <a:ext cx="3417622" cy="179984"/>
          </a:xfrm>
          <a:prstGeom prst="rect">
            <a:avLst/>
          </a:prstGeom>
          <a:noFill/>
        </p:spPr>
        <p:txBody>
          <a:bodyPr wrap="none" lIns="0" rIns="0" tIns="0" bIns="0">
            <a:spAutoFit/>
          </a:bodyPr>
          <a:lstStyle/>
          <a:p>
            <a:r>
              <a:rPr sz="1055" b="0">
                <a:solidFill>
                  <a:srgbClr val="252423"/>
                </a:solidFill>
                <a:latin typeface="Segoe UI"/>
              </a:rPr>
              <a:t>US$ Mn of incremental market between 2026 and 2036 (</a:t>
            </a:r>
          </a:p>
        </p:txBody>
      </p:sp>
      <p:pic>
        <p:nvPicPr>
          <p:cNvPr id="52" name="Picture 51" descr="lock.png"/>
          <p:cNvPicPr>
            <a:picLocks noChangeAspect="1"/>
          </p:cNvPicPr>
          <p:nvPr/>
        </p:nvPicPr>
        <p:blipFill>
          <a:blip r:embed="rId6"/>
          <a:stretch>
            <a:fillRect/>
          </a:stretch>
        </p:blipFill>
        <p:spPr>
          <a:xfrm>
            <a:off x="7729595" y="6318826"/>
            <a:ext cx="123551" cy="179710"/>
          </a:xfrm>
          <a:prstGeom prst="rect">
            <a:avLst/>
          </a:prstGeom>
        </p:spPr>
      </p:pic>
      <p:sp>
        <p:nvSpPr>
          <p:cNvPr id="53" name="TextBox 52"/>
          <p:cNvSpPr txBox="1"/>
          <p:nvPr/>
        </p:nvSpPr>
        <p:spPr>
          <a:xfrm>
            <a:off x="7890391" y="6328214"/>
            <a:ext cx="2107885" cy="179984"/>
          </a:xfrm>
          <a:prstGeom prst="rect">
            <a:avLst/>
          </a:prstGeom>
          <a:noFill/>
        </p:spPr>
        <p:txBody>
          <a:bodyPr wrap="none" lIns="0" rIns="0" tIns="0" bIns="0">
            <a:spAutoFit/>
          </a:bodyPr>
          <a:lstStyle/>
          <a:p>
            <a:r>
              <a:rPr sz="1055" b="0">
                <a:solidFill>
                  <a:srgbClr val="252423"/>
                </a:solidFill>
                <a:latin typeface="Segoe UI"/>
              </a:rPr>
              <a:t>of the Western Europe increment).</a:t>
            </a:r>
          </a:p>
        </p:txBody>
      </p:sp>
      <p:sp>
        <p:nvSpPr>
          <p:cNvPr id="54" name="lockshield_10"/>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25"/>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Summary Country Indices (Value)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98107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057275"/>
          <a:ext cx="11887201" cy="1485896"/>
        </p:xfrm>
        <a:graphic>
          <a:graphicData uri="http://schemas.openxmlformats.org/drawingml/2006/table">
            <a:tbl>
              <a:tblPr>
                <a:tableStyleId>{5C22544A-7EE6-4342-B048-85BDC9FD1C3A}</a:tableStyleId>
              </a:tblPr>
              <a:tblGrid>
                <a:gridCol w="3075265"/>
                <a:gridCol w="2937312"/>
                <a:gridCol w="2937312"/>
                <a:gridCol w="2937312"/>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Nordic Countries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BENELUX</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U.K.</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Italy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0" name="TextBox 9"/>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1" name="Rectangle 10"/>
          <p:cNvSpPr/>
          <p:nvPr/>
        </p:nvSpPr>
        <p:spPr>
          <a:xfrm>
            <a:off x="142875" y="290512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3075265"/>
                <a:gridCol w="2937312"/>
                <a:gridCol w="2937312"/>
                <a:gridCol w="2937312"/>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 Opp (US$ Mn)</a:t>
                      </a:r>
                      <a:endParaRPr sz="1100"/>
                    </a:p>
                  </a:txBody>
                  <a:tcPr marL="47625" marR="38100" marT="19050" marB="19050" anchor="ctr">
                    <a:solidFill>
                      <a:srgbClr val="007BA5"/>
                    </a:solidFill>
                  </a:tcPr>
                </a:tc>
              </a:tr>
              <a:tr h="247954">
                <a:tc>
                  <a:txBody>
                    <a:bodyPr wrap="none"/>
                    <a:lstStyle/>
                    <a:p>
                      <a:pPr algn="l"/>
                      <a:r>
                        <a:rPr sz="1100" b="1">
                          <a:solidFill>
                            <a:srgbClr val="252423"/>
                          </a:solidFill>
                          <a:latin typeface="Segoe UI"/>
                        </a:rPr>
                        <a:t>Italy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Spain</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52423"/>
                          </a:solidFill>
                          <a:latin typeface="Segoe UI"/>
                        </a:rPr>
                        <a:t>BENELUX</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7954">
                <a:tc>
                  <a:txBody>
                    <a:bodyPr wrap="none"/>
                    <a:lstStyle/>
                    <a:p>
                      <a:pPr algn="l"/>
                      <a:r>
                        <a:rPr sz="1100" b="1">
                          <a:solidFill>
                            <a:srgbClr val="252423"/>
                          </a:solidFill>
                          <a:latin typeface="Segoe UI"/>
                        </a:rPr>
                        <a:t>Nordic Countries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4"/>
          <a:stretch>
            <a:fillRect/>
          </a:stretch>
        </p:blipFill>
        <p:spPr>
          <a:xfrm>
            <a:off x="7446942"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7446942" y="3580638"/>
            <a:ext cx="366712" cy="5334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Overview (1/4)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market size, competitive landscape and the drivers, restraints and trends shaping demand</a:t>
            </a:r>
          </a:p>
        </p:txBody>
      </p:sp>
      <p:sp>
        <p:nvSpPr>
          <p:cNvPr id="8" name="Rectangle 7"/>
          <p:cNvSpPr/>
          <p:nvPr/>
        </p:nvSpPr>
        <p:spPr>
          <a:xfrm>
            <a:off x="142875" y="981075"/>
            <a:ext cx="1190625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Market Overview</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2" name="Rectangle 11"/>
          <p:cNvSpPr/>
          <p:nvPr/>
        </p:nvSpPr>
        <p:spPr>
          <a:xfrm>
            <a:off x="142875" y="2857500"/>
            <a:ext cx="11906250" cy="1628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Competitive Landscape</a:t>
            </a:r>
          </a:p>
        </p:txBody>
      </p:sp>
      <p:sp>
        <p:nvSpPr>
          <p:cNvPr id="14" name="Rectangle 13"/>
          <p:cNvSpPr/>
          <p:nvPr/>
        </p:nvSpPr>
        <p:spPr>
          <a:xfrm>
            <a:off x="276225" y="31813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Rectangle 15"/>
          <p:cNvSpPr/>
          <p:nvPr/>
        </p:nvSpPr>
        <p:spPr>
          <a:xfrm>
            <a:off x="142875" y="4619625"/>
            <a:ext cx="3943350"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07BA5"/>
                </a:solidFill>
                <a:latin typeface="Segoe UI"/>
              </a:rPr>
              <a:t>Drivers</a:t>
            </a:r>
          </a:p>
        </p:txBody>
      </p:sp>
      <p:sp>
        <p:nvSpPr>
          <p:cNvPr id="18" name="Rectangle 17"/>
          <p:cNvSpPr/>
          <p:nvPr/>
        </p:nvSpPr>
        <p:spPr>
          <a:xfrm>
            <a:off x="276225" y="4943475"/>
            <a:ext cx="3676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4238625" y="4619625"/>
            <a:ext cx="3819525"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07BA5"/>
                </a:solidFill>
                <a:latin typeface="Segoe UI"/>
              </a:rPr>
              <a:t>Restraints</a:t>
            </a:r>
          </a:p>
        </p:txBody>
      </p:sp>
      <p:sp>
        <p:nvSpPr>
          <p:cNvPr id="22" name="Rectangle 21"/>
          <p:cNvSpPr/>
          <p:nvPr/>
        </p:nvSpPr>
        <p:spPr>
          <a:xfrm>
            <a:off x="4371975" y="49434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8210550" y="4619625"/>
            <a:ext cx="3819525" cy="1990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07BA5"/>
                </a:solidFill>
                <a:latin typeface="Segoe UI"/>
              </a:rPr>
              <a:t>Trends</a:t>
            </a:r>
          </a:p>
        </p:txBody>
      </p:sp>
      <p:sp>
        <p:nvSpPr>
          <p:cNvPr id="26" name="Rectangle 25"/>
          <p:cNvSpPr/>
          <p:nvPr/>
        </p:nvSpPr>
        <p:spPr>
          <a:xfrm>
            <a:off x="8343900" y="49434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Mix shifting toward 'Gaseous Helium-3' and higher-growth tiers.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Germany outpacing the Western Europe average.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broadening across 2 product form categories.</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3070684" cy="194310"/>
          </a:xfrm>
          <a:prstGeom prst="rect">
            <a:avLst/>
          </a:prstGeom>
          <a:noFill/>
        </p:spPr>
        <p:txBody>
          <a:bodyPr wrap="none" lIns="0" rIns="0" tIns="0" bIns="0">
            <a:spAutoFit/>
          </a:bodyPr>
          <a:lstStyle/>
          <a:p>
            <a:r>
              <a:rPr sz="1150" b="0">
                <a:solidFill>
                  <a:srgbClr val="252423"/>
                </a:solidFill>
                <a:latin typeface="Segoe UI"/>
              </a:rPr>
              <a:t>Global Helium-3 market is expected to witness</a:t>
            </a:r>
          </a:p>
        </p:txBody>
      </p:sp>
      <p:pic>
        <p:nvPicPr>
          <p:cNvPr id="30" name="Picture 29" descr="lock.png"/>
          <p:cNvPicPr>
            <a:picLocks noChangeAspect="1"/>
          </p:cNvPicPr>
          <p:nvPr/>
        </p:nvPicPr>
        <p:blipFill>
          <a:blip r:embed="rId4"/>
          <a:stretch>
            <a:fillRect/>
          </a:stretch>
        </p:blipFill>
        <p:spPr>
          <a:xfrm>
            <a:off x="3296063" y="1389951"/>
            <a:ext cx="134549" cy="195707"/>
          </a:xfrm>
          <a:prstGeom prst="rect">
            <a:avLst/>
          </a:prstGeom>
        </p:spPr>
      </p:pic>
      <p:sp>
        <p:nvSpPr>
          <p:cNvPr id="31" name="TextBox 30"/>
          <p:cNvSpPr txBox="1"/>
          <p:nvPr/>
        </p:nvSpPr>
        <p:spPr>
          <a:xfrm>
            <a:off x="3471172" y="1400175"/>
            <a:ext cx="5124169" cy="194310"/>
          </a:xfrm>
          <a:prstGeom prst="rect">
            <a:avLst/>
          </a:prstGeom>
          <a:noFill/>
        </p:spPr>
        <p:txBody>
          <a:bodyPr wrap="none" lIns="0" rIns="0" tIns="0" bIns="0">
            <a:spAutoFit/>
          </a:bodyPr>
          <a:lstStyle/>
          <a:p>
            <a:r>
              <a:rPr sz="1150" b="0">
                <a:solidFill>
                  <a:srgbClr val="252423"/>
                </a:solidFill>
                <a:latin typeface="Segoe UI"/>
              </a:rPr>
              <a:t>X increase in revenue by 2036 end. Global Helium-3 market accounted for US$</a:t>
            </a:r>
          </a:p>
        </p:txBody>
      </p:sp>
      <p:pic>
        <p:nvPicPr>
          <p:cNvPr id="32" name="Picture 31" descr="lock.png"/>
          <p:cNvPicPr>
            <a:picLocks noChangeAspect="1"/>
          </p:cNvPicPr>
          <p:nvPr/>
        </p:nvPicPr>
        <p:blipFill>
          <a:blip r:embed="rId4"/>
          <a:stretch>
            <a:fillRect/>
          </a:stretch>
        </p:blipFill>
        <p:spPr>
          <a:xfrm>
            <a:off x="8544495" y="1389951"/>
            <a:ext cx="134549" cy="195707"/>
          </a:xfrm>
          <a:prstGeom prst="rect">
            <a:avLst/>
          </a:prstGeom>
        </p:spPr>
      </p:pic>
      <p:sp>
        <p:nvSpPr>
          <p:cNvPr id="33" name="TextBox 32"/>
          <p:cNvSpPr txBox="1"/>
          <p:nvPr/>
        </p:nvSpPr>
        <p:spPr>
          <a:xfrm>
            <a:off x="8719604" y="1400175"/>
            <a:ext cx="2927228" cy="194310"/>
          </a:xfrm>
          <a:prstGeom prst="rect">
            <a:avLst/>
          </a:prstGeom>
          <a:noFill/>
        </p:spPr>
        <p:txBody>
          <a:bodyPr wrap="none" lIns="0" rIns="0" tIns="0" bIns="0">
            <a:spAutoFit/>
          </a:bodyPr>
          <a:lstStyle/>
          <a:p>
            <a:r>
              <a:rPr sz="1150" b="0">
                <a:solidFill>
                  <a:srgbClr val="252423"/>
                </a:solidFill>
                <a:latin typeface="Segoe UI"/>
              </a:rPr>
              <a:t>Mn in 2025, which is expected to increase to</a:t>
            </a:r>
          </a:p>
        </p:txBody>
      </p:sp>
      <p:sp>
        <p:nvSpPr>
          <p:cNvPr id="34" name="TextBox 33"/>
          <p:cNvSpPr txBox="1"/>
          <p:nvPr/>
        </p:nvSpPr>
        <p:spPr>
          <a:xfrm>
            <a:off x="276225" y="1575435"/>
            <a:ext cx="332928" cy="194310"/>
          </a:xfrm>
          <a:prstGeom prst="rect">
            <a:avLst/>
          </a:prstGeom>
          <a:noFill/>
        </p:spPr>
        <p:txBody>
          <a:bodyPr wrap="none" lIns="0" rIns="0" tIns="0" bIns="0">
            <a:spAutoFit/>
          </a:bodyPr>
          <a:lstStyle/>
          <a:p>
            <a:r>
              <a:rPr sz="1150" b="0">
                <a:solidFill>
                  <a:srgbClr val="252423"/>
                </a:solidFill>
                <a:latin typeface="Segoe UI"/>
              </a:rPr>
              <a:t>US$</a:t>
            </a:r>
          </a:p>
        </p:txBody>
      </p:sp>
      <p:pic>
        <p:nvPicPr>
          <p:cNvPr id="35" name="Picture 34" descr="lock.png"/>
          <p:cNvPicPr>
            <a:picLocks noChangeAspect="1"/>
          </p:cNvPicPr>
          <p:nvPr/>
        </p:nvPicPr>
        <p:blipFill>
          <a:blip r:embed="rId4"/>
          <a:stretch>
            <a:fillRect/>
          </a:stretch>
        </p:blipFill>
        <p:spPr>
          <a:xfrm>
            <a:off x="558307" y="1565211"/>
            <a:ext cx="134549" cy="195707"/>
          </a:xfrm>
          <a:prstGeom prst="rect">
            <a:avLst/>
          </a:prstGeom>
        </p:spPr>
      </p:pic>
      <p:sp>
        <p:nvSpPr>
          <p:cNvPr id="36" name="TextBox 35"/>
          <p:cNvSpPr txBox="1"/>
          <p:nvPr/>
        </p:nvSpPr>
        <p:spPr>
          <a:xfrm>
            <a:off x="733416" y="1575435"/>
            <a:ext cx="1664422" cy="194310"/>
          </a:xfrm>
          <a:prstGeom prst="rect">
            <a:avLst/>
          </a:prstGeom>
          <a:noFill/>
        </p:spPr>
        <p:txBody>
          <a:bodyPr wrap="none" lIns="0" rIns="0" tIns="0" bIns="0">
            <a:spAutoFit/>
          </a:bodyPr>
          <a:lstStyle/>
          <a:p>
            <a:r>
              <a:rPr sz="1150" b="0">
                <a:solidFill>
                  <a:srgbClr val="252423"/>
                </a:solidFill>
                <a:latin typeface="Segoe UI"/>
              </a:rPr>
              <a:t>Mn in 2036 at a CAGR of</a:t>
            </a:r>
          </a:p>
        </p:txBody>
      </p:sp>
      <p:pic>
        <p:nvPicPr>
          <p:cNvPr id="37" name="Picture 36" descr="lock.png"/>
          <p:cNvPicPr>
            <a:picLocks noChangeAspect="1"/>
          </p:cNvPicPr>
          <p:nvPr/>
        </p:nvPicPr>
        <p:blipFill>
          <a:blip r:embed="rId4"/>
          <a:stretch>
            <a:fillRect/>
          </a:stretch>
        </p:blipFill>
        <p:spPr>
          <a:xfrm>
            <a:off x="2346993" y="1565211"/>
            <a:ext cx="134549" cy="195707"/>
          </a:xfrm>
          <a:prstGeom prst="rect">
            <a:avLst/>
          </a:prstGeom>
        </p:spPr>
      </p:pic>
      <p:sp>
        <p:nvSpPr>
          <p:cNvPr id="38" name="TextBox 37"/>
          <p:cNvSpPr txBox="1"/>
          <p:nvPr/>
        </p:nvSpPr>
        <p:spPr>
          <a:xfrm>
            <a:off x="2522102" y="157543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9" name="TextBox 38"/>
          <p:cNvSpPr txBox="1"/>
          <p:nvPr/>
        </p:nvSpPr>
        <p:spPr>
          <a:xfrm>
            <a:off x="276225" y="1803273"/>
            <a:ext cx="11509684" cy="194310"/>
          </a:xfrm>
          <a:prstGeom prst="rect">
            <a:avLst/>
          </a:prstGeom>
          <a:noFill/>
        </p:spPr>
        <p:txBody>
          <a:bodyPr wrap="none" lIns="0" rIns="0" tIns="0" bIns="0">
            <a:spAutoFit/>
          </a:bodyPr>
          <a:lstStyle/>
          <a:p>
            <a:r>
              <a:rPr sz="1150" b="0">
                <a:solidFill>
                  <a:srgbClr val="252423"/>
                </a:solidFill>
                <a:latin typeface="Segoe UI"/>
              </a:rPr>
              <a:t>The global Helium-3 market has been analysed on the basis of product form, supply source, application and end user across the globe. Germany is expected to remain the largest</a:t>
            </a:r>
          </a:p>
        </p:txBody>
      </p:sp>
      <p:sp>
        <p:nvSpPr>
          <p:cNvPr id="40" name="TextBox 39"/>
          <p:cNvSpPr txBox="1"/>
          <p:nvPr/>
        </p:nvSpPr>
        <p:spPr>
          <a:xfrm>
            <a:off x="276225" y="1978533"/>
            <a:ext cx="6184694" cy="194310"/>
          </a:xfrm>
          <a:prstGeom prst="rect">
            <a:avLst/>
          </a:prstGeom>
          <a:noFill/>
        </p:spPr>
        <p:txBody>
          <a:bodyPr wrap="none" lIns="0" rIns="0" tIns="0" bIns="0">
            <a:spAutoFit/>
          </a:bodyPr>
          <a:lstStyle/>
          <a:p>
            <a:r>
              <a:rPr sz="1150" b="0">
                <a:solidFill>
                  <a:srgbClr val="252423"/>
                </a:solidFill>
                <a:latin typeface="Segoe UI"/>
              </a:rPr>
              <a:t>market for Helium-3, while demand in Germany is projected to increase at the highest CAGR of</a:t>
            </a:r>
          </a:p>
        </p:txBody>
      </p:sp>
      <p:pic>
        <p:nvPicPr>
          <p:cNvPr id="41" name="Picture 40" descr="lock.png"/>
          <p:cNvPicPr>
            <a:picLocks noChangeAspect="1"/>
          </p:cNvPicPr>
          <p:nvPr/>
        </p:nvPicPr>
        <p:blipFill>
          <a:blip r:embed="rId4"/>
          <a:stretch>
            <a:fillRect/>
          </a:stretch>
        </p:blipFill>
        <p:spPr>
          <a:xfrm>
            <a:off x="6410072" y="1968309"/>
            <a:ext cx="134549" cy="195707"/>
          </a:xfrm>
          <a:prstGeom prst="rect">
            <a:avLst/>
          </a:prstGeom>
        </p:spPr>
      </p:pic>
      <p:sp>
        <p:nvSpPr>
          <p:cNvPr id="42" name="TextBox 41"/>
          <p:cNvSpPr txBox="1"/>
          <p:nvPr/>
        </p:nvSpPr>
        <p:spPr>
          <a:xfrm>
            <a:off x="6585182" y="1978533"/>
            <a:ext cx="2106860" cy="194310"/>
          </a:xfrm>
          <a:prstGeom prst="rect">
            <a:avLst/>
          </a:prstGeom>
          <a:noFill/>
        </p:spPr>
        <p:txBody>
          <a:bodyPr wrap="none" lIns="0" rIns="0" tIns="0" bIns="0">
            <a:spAutoFit/>
          </a:bodyPr>
          <a:lstStyle/>
          <a:p>
            <a:r>
              <a:rPr sz="1150" b="0">
                <a:solidFill>
                  <a:srgbClr val="252423"/>
                </a:solidFill>
                <a:latin typeface="Segoe UI"/>
              </a:rPr>
              <a:t>throughout the forecast period.</a:t>
            </a:r>
          </a:p>
        </p:txBody>
      </p:sp>
      <p:sp>
        <p:nvSpPr>
          <p:cNvPr id="43" name="TextBox 42"/>
          <p:cNvSpPr txBox="1"/>
          <p:nvPr/>
        </p:nvSpPr>
        <p:spPr>
          <a:xfrm>
            <a:off x="276225" y="3276600"/>
            <a:ext cx="5870255" cy="194310"/>
          </a:xfrm>
          <a:prstGeom prst="rect">
            <a:avLst/>
          </a:prstGeom>
          <a:noFill/>
        </p:spPr>
        <p:txBody>
          <a:bodyPr wrap="none" lIns="0" rIns="0" tIns="0" bIns="0">
            <a:spAutoFit/>
          </a:bodyPr>
          <a:lstStyle/>
          <a:p>
            <a:r>
              <a:rPr sz="1150" b="0">
                <a:solidFill>
                  <a:srgbClr val="252423"/>
                </a:solidFill>
                <a:latin typeface="Segoe UI"/>
              </a:rPr>
              <a:t>▪ The market is consolidated: the leading product form category 'Gaseous Helium-3' holds</a:t>
            </a:r>
          </a:p>
        </p:txBody>
      </p:sp>
      <p:pic>
        <p:nvPicPr>
          <p:cNvPr id="44" name="Picture 43" descr="lock.png"/>
          <p:cNvPicPr>
            <a:picLocks noChangeAspect="1"/>
          </p:cNvPicPr>
          <p:nvPr/>
        </p:nvPicPr>
        <p:blipFill>
          <a:blip r:embed="rId4"/>
          <a:stretch>
            <a:fillRect/>
          </a:stretch>
        </p:blipFill>
        <p:spPr>
          <a:xfrm>
            <a:off x="6095633" y="3266376"/>
            <a:ext cx="134549" cy="195707"/>
          </a:xfrm>
          <a:prstGeom prst="rect">
            <a:avLst/>
          </a:prstGeom>
        </p:spPr>
      </p:pic>
      <p:sp>
        <p:nvSpPr>
          <p:cNvPr id="45" name="TextBox 44"/>
          <p:cNvSpPr txBox="1"/>
          <p:nvPr/>
        </p:nvSpPr>
        <p:spPr>
          <a:xfrm>
            <a:off x="6270743" y="3276600"/>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46" name="TextBox 45"/>
          <p:cNvSpPr txBox="1"/>
          <p:nvPr/>
        </p:nvSpPr>
        <p:spPr>
          <a:xfrm>
            <a:off x="276225" y="3504437"/>
            <a:ext cx="5476257" cy="194310"/>
          </a:xfrm>
          <a:prstGeom prst="rect">
            <a:avLst/>
          </a:prstGeom>
          <a:noFill/>
        </p:spPr>
        <p:txBody>
          <a:bodyPr wrap="none" lIns="0" rIns="0" tIns="0" bIns="0">
            <a:spAutoFit/>
          </a:bodyPr>
          <a:lstStyle/>
          <a:p>
            <a:r>
              <a:rPr sz="1150" b="0">
                <a:solidFill>
                  <a:srgbClr val="252423"/>
                </a:solidFill>
                <a:latin typeface="Segoe UI"/>
              </a:rPr>
              <a:t>▪ Demand spans 8 countries and 4 segmentation lenses (2 product form categories).</a:t>
            </a:r>
          </a:p>
        </p:txBody>
      </p:sp>
      <p:sp>
        <p:nvSpPr>
          <p:cNvPr id="47" name="TextBox 46"/>
          <p:cNvSpPr txBox="1"/>
          <p:nvPr/>
        </p:nvSpPr>
        <p:spPr>
          <a:xfrm>
            <a:off x="276225" y="3732275"/>
            <a:ext cx="2792971" cy="194310"/>
          </a:xfrm>
          <a:prstGeom prst="rect">
            <a:avLst/>
          </a:prstGeom>
          <a:noFill/>
        </p:spPr>
        <p:txBody>
          <a:bodyPr wrap="none" lIns="0" rIns="0" tIns="0" bIns="0">
            <a:spAutoFit/>
          </a:bodyPr>
          <a:lstStyle/>
          <a:p>
            <a:r>
              <a:rPr sz="1150" b="0">
                <a:solidFill>
                  <a:srgbClr val="252423"/>
                </a:solidFill>
                <a:latin typeface="Segoe UI"/>
              </a:rPr>
              <a:t>▪ Germany is the largest country market at</a:t>
            </a:r>
          </a:p>
        </p:txBody>
      </p:sp>
      <p:pic>
        <p:nvPicPr>
          <p:cNvPr id="48" name="Picture 47" descr="lock.png"/>
          <p:cNvPicPr>
            <a:picLocks noChangeAspect="1"/>
          </p:cNvPicPr>
          <p:nvPr/>
        </p:nvPicPr>
        <p:blipFill>
          <a:blip r:embed="rId4"/>
          <a:stretch>
            <a:fillRect/>
          </a:stretch>
        </p:blipFill>
        <p:spPr>
          <a:xfrm>
            <a:off x="3018350" y="3722052"/>
            <a:ext cx="134549" cy="195707"/>
          </a:xfrm>
          <a:prstGeom prst="rect">
            <a:avLst/>
          </a:prstGeom>
        </p:spPr>
      </p:pic>
      <p:sp>
        <p:nvSpPr>
          <p:cNvPr id="49" name="TextBox 48"/>
          <p:cNvSpPr txBox="1"/>
          <p:nvPr/>
        </p:nvSpPr>
        <p:spPr>
          <a:xfrm>
            <a:off x="3193459" y="3732275"/>
            <a:ext cx="972672" cy="194310"/>
          </a:xfrm>
          <a:prstGeom prst="rect">
            <a:avLst/>
          </a:prstGeom>
          <a:noFill/>
        </p:spPr>
        <p:txBody>
          <a:bodyPr wrap="none" lIns="0" rIns="0" tIns="0" bIns="0">
            <a:spAutoFit/>
          </a:bodyPr>
          <a:lstStyle/>
          <a:p>
            <a:r>
              <a:rPr sz="1150" b="0">
                <a:solidFill>
                  <a:srgbClr val="252423"/>
                </a:solidFill>
                <a:latin typeface="Segoe UI"/>
              </a:rPr>
              <a:t>of 2036 value.</a:t>
            </a:r>
          </a:p>
        </p:txBody>
      </p:sp>
      <p:sp>
        <p:nvSpPr>
          <p:cNvPr id="50" name="TextBox 49"/>
          <p:cNvSpPr txBox="1"/>
          <p:nvPr/>
        </p:nvSpPr>
        <p:spPr>
          <a:xfrm>
            <a:off x="276225" y="5038725"/>
            <a:ext cx="2988557" cy="194310"/>
          </a:xfrm>
          <a:prstGeom prst="rect">
            <a:avLst/>
          </a:prstGeom>
          <a:noFill/>
        </p:spPr>
        <p:txBody>
          <a:bodyPr wrap="none" lIns="0" rIns="0" tIns="0" bIns="0">
            <a:spAutoFit/>
          </a:bodyPr>
          <a:lstStyle/>
          <a:p>
            <a:r>
              <a:rPr sz="1150" b="0">
                <a:solidFill>
                  <a:srgbClr val="252423"/>
                </a:solidFill>
                <a:latin typeface="Segoe UI"/>
              </a:rPr>
              <a:t>▪ Accelerating uptake of 'Gaseous Helium-3' (</a:t>
            </a:r>
          </a:p>
        </p:txBody>
      </p:sp>
      <p:pic>
        <p:nvPicPr>
          <p:cNvPr id="51" name="Picture 50" descr="lock.png"/>
          <p:cNvPicPr>
            <a:picLocks noChangeAspect="1"/>
          </p:cNvPicPr>
          <p:nvPr/>
        </p:nvPicPr>
        <p:blipFill>
          <a:blip r:embed="rId4"/>
          <a:stretch>
            <a:fillRect/>
          </a:stretch>
        </p:blipFill>
        <p:spPr>
          <a:xfrm>
            <a:off x="3213936" y="5028501"/>
            <a:ext cx="134549" cy="195707"/>
          </a:xfrm>
          <a:prstGeom prst="rect">
            <a:avLst/>
          </a:prstGeom>
        </p:spPr>
      </p:pic>
      <p:sp>
        <p:nvSpPr>
          <p:cNvPr id="52" name="TextBox 51"/>
          <p:cNvSpPr txBox="1"/>
          <p:nvPr/>
        </p:nvSpPr>
        <p:spPr>
          <a:xfrm>
            <a:off x="276225" y="5213985"/>
            <a:ext cx="524017"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53" name="TextBox 52"/>
          <p:cNvSpPr txBox="1"/>
          <p:nvPr/>
        </p:nvSpPr>
        <p:spPr>
          <a:xfrm>
            <a:off x="276225" y="5441822"/>
            <a:ext cx="2450408" cy="194310"/>
          </a:xfrm>
          <a:prstGeom prst="rect">
            <a:avLst/>
          </a:prstGeom>
          <a:noFill/>
        </p:spPr>
        <p:txBody>
          <a:bodyPr wrap="none" lIns="0" rIns="0" tIns="0" bIns="0">
            <a:spAutoFit/>
          </a:bodyPr>
          <a:lstStyle/>
          <a:p>
            <a:r>
              <a:rPr sz="1150" b="0">
                <a:solidFill>
                  <a:srgbClr val="252423"/>
                </a:solidFill>
                <a:latin typeface="Segoe UI"/>
              </a:rPr>
              <a:t>▪ Fast-growing demand in Germany (</a:t>
            </a:r>
          </a:p>
        </p:txBody>
      </p:sp>
      <p:pic>
        <p:nvPicPr>
          <p:cNvPr id="54" name="Picture 53" descr="lock.png"/>
          <p:cNvPicPr>
            <a:picLocks noChangeAspect="1"/>
          </p:cNvPicPr>
          <p:nvPr/>
        </p:nvPicPr>
        <p:blipFill>
          <a:blip r:embed="rId4"/>
          <a:stretch>
            <a:fillRect/>
          </a:stretch>
        </p:blipFill>
        <p:spPr>
          <a:xfrm>
            <a:off x="2675787" y="5431599"/>
            <a:ext cx="134549" cy="195707"/>
          </a:xfrm>
          <a:prstGeom prst="rect">
            <a:avLst/>
          </a:prstGeom>
        </p:spPr>
      </p:pic>
      <p:sp>
        <p:nvSpPr>
          <p:cNvPr id="55" name="TextBox 54"/>
          <p:cNvSpPr txBox="1"/>
          <p:nvPr/>
        </p:nvSpPr>
        <p:spPr>
          <a:xfrm>
            <a:off x="2850896" y="5441822"/>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6" name="TextBox 55"/>
          <p:cNvSpPr txBox="1"/>
          <p:nvPr/>
        </p:nvSpPr>
        <p:spPr>
          <a:xfrm>
            <a:off x="276225" y="5669660"/>
            <a:ext cx="3262722" cy="194310"/>
          </a:xfrm>
          <a:prstGeom prst="rect">
            <a:avLst/>
          </a:prstGeom>
          <a:noFill/>
        </p:spPr>
        <p:txBody>
          <a:bodyPr wrap="none" lIns="0" rIns="0" tIns="0" bIns="0">
            <a:spAutoFit/>
          </a:bodyPr>
          <a:lstStyle/>
          <a:p>
            <a:r>
              <a:rPr sz="1150" b="0">
                <a:solidFill>
                  <a:srgbClr val="252423"/>
                </a:solidFill>
                <a:latin typeface="Segoe UI"/>
              </a:rPr>
              <a:t>▪ Momentum in Neutron Detection and Radiation</a:t>
            </a:r>
          </a:p>
        </p:txBody>
      </p:sp>
      <p:sp>
        <p:nvSpPr>
          <p:cNvPr id="57" name="TextBox 56"/>
          <p:cNvSpPr txBox="1"/>
          <p:nvPr/>
        </p:nvSpPr>
        <p:spPr>
          <a:xfrm>
            <a:off x="276225" y="5844920"/>
            <a:ext cx="2068965" cy="194310"/>
          </a:xfrm>
          <a:prstGeom prst="rect">
            <a:avLst/>
          </a:prstGeom>
          <a:noFill/>
        </p:spPr>
        <p:txBody>
          <a:bodyPr wrap="none" lIns="0" rIns="0" tIns="0" bIns="0">
            <a:spAutoFit/>
          </a:bodyPr>
          <a:lstStyle/>
          <a:p>
            <a:r>
              <a:rPr sz="1150" b="0">
                <a:solidFill>
                  <a:srgbClr val="252423"/>
                </a:solidFill>
                <a:latin typeface="Segoe UI"/>
              </a:rPr>
              <a:t>Monitoring within application (</a:t>
            </a:r>
          </a:p>
        </p:txBody>
      </p:sp>
      <p:pic>
        <p:nvPicPr>
          <p:cNvPr id="58" name="Picture 57" descr="lock.png"/>
          <p:cNvPicPr>
            <a:picLocks noChangeAspect="1"/>
          </p:cNvPicPr>
          <p:nvPr/>
        </p:nvPicPr>
        <p:blipFill>
          <a:blip r:embed="rId4"/>
          <a:stretch>
            <a:fillRect/>
          </a:stretch>
        </p:blipFill>
        <p:spPr>
          <a:xfrm>
            <a:off x="2294344" y="5834697"/>
            <a:ext cx="134549" cy="195707"/>
          </a:xfrm>
          <a:prstGeom prst="rect">
            <a:avLst/>
          </a:prstGeom>
        </p:spPr>
      </p:pic>
      <p:sp>
        <p:nvSpPr>
          <p:cNvPr id="59" name="TextBox 58"/>
          <p:cNvSpPr txBox="1"/>
          <p:nvPr/>
        </p:nvSpPr>
        <p:spPr>
          <a:xfrm>
            <a:off x="2469454" y="584492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0" name="TextBox 59"/>
          <p:cNvSpPr txBox="1"/>
          <p:nvPr/>
        </p:nvSpPr>
        <p:spPr>
          <a:xfrm>
            <a:off x="4371975" y="5038725"/>
            <a:ext cx="2774122" cy="194310"/>
          </a:xfrm>
          <a:prstGeom prst="rect">
            <a:avLst/>
          </a:prstGeom>
          <a:noFill/>
        </p:spPr>
        <p:txBody>
          <a:bodyPr wrap="none" lIns="0" rIns="0" tIns="0" bIns="0">
            <a:spAutoFit/>
          </a:bodyPr>
          <a:lstStyle/>
          <a:p>
            <a:r>
              <a:rPr sz="1150" b="0">
                <a:solidFill>
                  <a:srgbClr val="252423"/>
                </a:solidFill>
                <a:latin typeface="Segoe UI"/>
              </a:rPr>
              <a:t>▪ Slower momentum in 'Liquid Helium-3' (</a:t>
            </a:r>
          </a:p>
        </p:txBody>
      </p:sp>
      <p:pic>
        <p:nvPicPr>
          <p:cNvPr id="61" name="Picture 60" descr="lock.png"/>
          <p:cNvPicPr>
            <a:picLocks noChangeAspect="1"/>
          </p:cNvPicPr>
          <p:nvPr/>
        </p:nvPicPr>
        <p:blipFill>
          <a:blip r:embed="rId4"/>
          <a:stretch>
            <a:fillRect/>
          </a:stretch>
        </p:blipFill>
        <p:spPr>
          <a:xfrm>
            <a:off x="7095251" y="5028501"/>
            <a:ext cx="134549" cy="195707"/>
          </a:xfrm>
          <a:prstGeom prst="rect">
            <a:avLst/>
          </a:prstGeom>
        </p:spPr>
      </p:pic>
      <p:sp>
        <p:nvSpPr>
          <p:cNvPr id="62" name="TextBox 61"/>
          <p:cNvSpPr txBox="1"/>
          <p:nvPr/>
        </p:nvSpPr>
        <p:spPr>
          <a:xfrm>
            <a:off x="7270360" y="503872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63" name="TextBox 62"/>
          <p:cNvSpPr txBox="1"/>
          <p:nvPr/>
        </p:nvSpPr>
        <p:spPr>
          <a:xfrm>
            <a:off x="4371975" y="5266563"/>
            <a:ext cx="3533775" cy="194310"/>
          </a:xfrm>
          <a:prstGeom prst="rect">
            <a:avLst/>
          </a:prstGeom>
          <a:noFill/>
        </p:spPr>
        <p:txBody>
          <a:bodyPr wrap="none" lIns="0" rIns="0" tIns="0" bIns="0">
            <a:spAutoFit/>
          </a:bodyPr>
          <a:lstStyle/>
          <a:p>
            <a:r>
              <a:rPr sz="1150" b="0">
                <a:solidFill>
                  <a:srgbClr val="252423"/>
                </a:solidFill>
                <a:latin typeface="Segoe UI"/>
              </a:rPr>
              <a:t>▪ Maturing demand in established categories caps the</a:t>
            </a:r>
          </a:p>
        </p:txBody>
      </p:sp>
      <p:sp>
        <p:nvSpPr>
          <p:cNvPr id="64" name="TextBox 63"/>
          <p:cNvSpPr txBox="1"/>
          <p:nvPr/>
        </p:nvSpPr>
        <p:spPr>
          <a:xfrm>
            <a:off x="4371975" y="5441822"/>
            <a:ext cx="605345" cy="194310"/>
          </a:xfrm>
          <a:prstGeom prst="rect">
            <a:avLst/>
          </a:prstGeom>
          <a:noFill/>
        </p:spPr>
        <p:txBody>
          <a:bodyPr wrap="none" lIns="0" rIns="0" tIns="0" bIns="0">
            <a:spAutoFit/>
          </a:bodyPr>
          <a:lstStyle/>
          <a:p>
            <a:r>
              <a:rPr sz="1150" b="0">
                <a:solidFill>
                  <a:srgbClr val="252423"/>
                </a:solidFill>
                <a:latin typeface="Segoe UI"/>
              </a:rPr>
              <a:t>blended</a:t>
            </a:r>
          </a:p>
        </p:txBody>
      </p:sp>
      <p:pic>
        <p:nvPicPr>
          <p:cNvPr id="65" name="Picture 64" descr="lock.png"/>
          <p:cNvPicPr>
            <a:picLocks noChangeAspect="1"/>
          </p:cNvPicPr>
          <p:nvPr/>
        </p:nvPicPr>
        <p:blipFill>
          <a:blip r:embed="rId4"/>
          <a:stretch>
            <a:fillRect/>
          </a:stretch>
        </p:blipFill>
        <p:spPr>
          <a:xfrm>
            <a:off x="4926474" y="5431599"/>
            <a:ext cx="134549" cy="195707"/>
          </a:xfrm>
          <a:prstGeom prst="rect">
            <a:avLst/>
          </a:prstGeom>
        </p:spPr>
      </p:pic>
      <p:sp>
        <p:nvSpPr>
          <p:cNvPr id="66" name="TextBox 65"/>
          <p:cNvSpPr txBox="1"/>
          <p:nvPr/>
        </p:nvSpPr>
        <p:spPr>
          <a:xfrm>
            <a:off x="5101584" y="5441822"/>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7" name="TextBox 66"/>
          <p:cNvSpPr txBox="1"/>
          <p:nvPr/>
        </p:nvSpPr>
        <p:spPr>
          <a:xfrm>
            <a:off x="4371975" y="5669660"/>
            <a:ext cx="3303968" cy="194310"/>
          </a:xfrm>
          <a:prstGeom prst="rect">
            <a:avLst/>
          </a:prstGeom>
          <a:noFill/>
        </p:spPr>
        <p:txBody>
          <a:bodyPr wrap="none" lIns="0" rIns="0" tIns="0" bIns="0">
            <a:spAutoFit/>
          </a:bodyPr>
          <a:lstStyle/>
          <a:p>
            <a:r>
              <a:rPr sz="1150" b="0">
                <a:solidFill>
                  <a:srgbClr val="252423"/>
                </a:solidFill>
                <a:latin typeface="Segoe UI"/>
              </a:rPr>
              <a:t>▪ Value concentration in 'Gaseous Helium-3' raises</a:t>
            </a:r>
          </a:p>
        </p:txBody>
      </p:sp>
      <p:sp>
        <p:nvSpPr>
          <p:cNvPr id="68" name="TextBox 67"/>
          <p:cNvSpPr txBox="1"/>
          <p:nvPr/>
        </p:nvSpPr>
        <p:spPr>
          <a:xfrm>
            <a:off x="4371975" y="5844920"/>
            <a:ext cx="1689012" cy="194310"/>
          </a:xfrm>
          <a:prstGeom prst="rect">
            <a:avLst/>
          </a:prstGeom>
          <a:noFill/>
        </p:spPr>
        <p:txBody>
          <a:bodyPr wrap="none" lIns="0" rIns="0" tIns="0" bIns="0">
            <a:spAutoFit/>
          </a:bodyPr>
          <a:lstStyle/>
          <a:p>
            <a:r>
              <a:rPr sz="1150" b="0">
                <a:solidFill>
                  <a:srgbClr val="252423"/>
                </a:solidFill>
                <a:latin typeface="Segoe UI"/>
              </a:rPr>
              <a:t>barriers for new entrants.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'Gaseous Helium-3' and Germany.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product form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Germany and Germany.</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product form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5"/>
          <a:stretch>
            <a:fillRect/>
          </a:stretch>
        </p:blipFill>
        <p:spPr>
          <a:xfrm>
            <a:off x="4135025" y="5284520"/>
            <a:ext cx="382860" cy="556888"/>
          </a:xfrm>
          <a:prstGeom prst="rect">
            <a:avLst/>
          </a:prstGeom>
        </p:spPr>
      </p:pic>
      <p:sp>
        <p:nvSpPr>
          <p:cNvPr id="30" name="TextBox 29"/>
          <p:cNvSpPr txBox="1"/>
          <p:nvPr/>
        </p:nvSpPr>
        <p:spPr>
          <a:xfrm>
            <a:off x="6305550" y="1400175"/>
            <a:ext cx="732680" cy="186689"/>
          </a:xfrm>
          <a:prstGeom prst="rect">
            <a:avLst/>
          </a:prstGeom>
          <a:noFill/>
        </p:spPr>
        <p:txBody>
          <a:bodyPr wrap="none" lIns="0" rIns="0" tIns="0" bIns="0">
            <a:spAutoFit/>
          </a:bodyPr>
          <a:lstStyle/>
          <a:p>
            <a:r>
              <a:rPr sz="1100" b="0">
                <a:solidFill>
                  <a:srgbClr val="252423"/>
                </a:solidFill>
                <a:latin typeface="Segoe UI"/>
              </a:rPr>
              <a:t>▪ 2026 size</a:t>
            </a:r>
          </a:p>
        </p:txBody>
      </p:sp>
      <p:pic>
        <p:nvPicPr>
          <p:cNvPr id="31" name="Picture 30" descr="lock.png"/>
          <p:cNvPicPr>
            <a:picLocks noChangeAspect="1"/>
          </p:cNvPicPr>
          <p:nvPr/>
        </p:nvPicPr>
        <p:blipFill>
          <a:blip r:embed="rId5"/>
          <a:stretch>
            <a:fillRect/>
          </a:stretch>
        </p:blipFill>
        <p:spPr>
          <a:xfrm>
            <a:off x="6986282" y="1390396"/>
            <a:ext cx="128699" cy="187198"/>
          </a:xfrm>
          <a:prstGeom prst="rect">
            <a:avLst/>
          </a:prstGeom>
        </p:spPr>
      </p:pic>
      <p:sp>
        <p:nvSpPr>
          <p:cNvPr id="32" name="TextBox 31"/>
          <p:cNvSpPr txBox="1"/>
          <p:nvPr/>
        </p:nvSpPr>
        <p:spPr>
          <a:xfrm>
            <a:off x="7153778" y="1400175"/>
            <a:ext cx="934318" cy="186689"/>
          </a:xfrm>
          <a:prstGeom prst="rect">
            <a:avLst/>
          </a:prstGeom>
          <a:noFill/>
        </p:spPr>
        <p:txBody>
          <a:bodyPr wrap="none" lIns="0" rIns="0" tIns="0" bIns="0">
            <a:spAutoFit/>
          </a:bodyPr>
          <a:lstStyle/>
          <a:p>
            <a:r>
              <a:rPr sz="1100" b="0">
                <a:solidFill>
                  <a:srgbClr val="252423"/>
                </a:solidFill>
                <a:latin typeface="Segoe UI"/>
              </a:rPr>
              <a:t>US$ Mn; 2036</a:t>
            </a:r>
          </a:p>
        </p:txBody>
      </p:sp>
      <p:pic>
        <p:nvPicPr>
          <p:cNvPr id="33" name="Picture 32" descr="lock.png"/>
          <p:cNvPicPr>
            <a:picLocks noChangeAspect="1"/>
          </p:cNvPicPr>
          <p:nvPr/>
        </p:nvPicPr>
        <p:blipFill>
          <a:blip r:embed="rId5"/>
          <a:stretch>
            <a:fillRect/>
          </a:stretch>
        </p:blipFill>
        <p:spPr>
          <a:xfrm>
            <a:off x="8036148" y="1390396"/>
            <a:ext cx="128699" cy="187198"/>
          </a:xfrm>
          <a:prstGeom prst="rect">
            <a:avLst/>
          </a:prstGeom>
        </p:spPr>
      </p:pic>
      <p:sp>
        <p:nvSpPr>
          <p:cNvPr id="34" name="TextBox 33"/>
          <p:cNvSpPr txBox="1"/>
          <p:nvPr/>
        </p:nvSpPr>
        <p:spPr>
          <a:xfrm>
            <a:off x="8203643" y="1400175"/>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5" name="TextBox 34"/>
          <p:cNvSpPr txBox="1"/>
          <p:nvPr/>
        </p:nvSpPr>
        <p:spPr>
          <a:xfrm>
            <a:off x="6305550" y="1618107"/>
            <a:ext cx="1072048" cy="186689"/>
          </a:xfrm>
          <a:prstGeom prst="rect">
            <a:avLst/>
          </a:prstGeom>
          <a:noFill/>
        </p:spPr>
        <p:txBody>
          <a:bodyPr wrap="none" lIns="0" rIns="0" tIns="0" bIns="0">
            <a:spAutoFit/>
          </a:bodyPr>
          <a:lstStyle/>
          <a:p>
            <a:r>
              <a:rPr sz="1100" b="0">
                <a:solidFill>
                  <a:srgbClr val="252423"/>
                </a:solidFill>
                <a:latin typeface="Segoe UI"/>
              </a:rPr>
              <a:t>▪ Forecast CAGR</a:t>
            </a:r>
          </a:p>
        </p:txBody>
      </p:sp>
      <p:pic>
        <p:nvPicPr>
          <p:cNvPr id="36" name="Picture 35" descr="lock.png"/>
          <p:cNvPicPr>
            <a:picLocks noChangeAspect="1"/>
          </p:cNvPicPr>
          <p:nvPr/>
        </p:nvPicPr>
        <p:blipFill>
          <a:blip r:embed="rId5"/>
          <a:stretch>
            <a:fillRect/>
          </a:stretch>
        </p:blipFill>
        <p:spPr>
          <a:xfrm>
            <a:off x="7325650" y="1608328"/>
            <a:ext cx="128699" cy="187198"/>
          </a:xfrm>
          <a:prstGeom prst="rect">
            <a:avLst/>
          </a:prstGeom>
        </p:spPr>
      </p:pic>
      <p:sp>
        <p:nvSpPr>
          <p:cNvPr id="37" name="TextBox 36"/>
          <p:cNvSpPr txBox="1"/>
          <p:nvPr/>
        </p:nvSpPr>
        <p:spPr>
          <a:xfrm>
            <a:off x="7493145" y="1618107"/>
            <a:ext cx="863376" cy="186689"/>
          </a:xfrm>
          <a:prstGeom prst="rect">
            <a:avLst/>
          </a:prstGeom>
          <a:noFill/>
        </p:spPr>
        <p:txBody>
          <a:bodyPr wrap="none" lIns="0" rIns="0" tIns="0" bIns="0">
            <a:spAutoFit/>
          </a:bodyPr>
          <a:lstStyle/>
          <a:p>
            <a:r>
              <a:rPr sz="1100" b="0">
                <a:solidFill>
                  <a:srgbClr val="252423"/>
                </a:solidFill>
                <a:latin typeface="Segoe UI"/>
              </a:rPr>
              <a:t>(2026–2036).</a:t>
            </a:r>
          </a:p>
        </p:txBody>
      </p:sp>
      <p:sp>
        <p:nvSpPr>
          <p:cNvPr id="38" name="TextBox 37"/>
          <p:cNvSpPr txBox="1"/>
          <p:nvPr/>
        </p:nvSpPr>
        <p:spPr>
          <a:xfrm>
            <a:off x="6305550" y="1836039"/>
            <a:ext cx="2262632" cy="186689"/>
          </a:xfrm>
          <a:prstGeom prst="rect">
            <a:avLst/>
          </a:prstGeom>
          <a:noFill/>
        </p:spPr>
        <p:txBody>
          <a:bodyPr wrap="none" lIns="0" rIns="0" tIns="0" bIns="0">
            <a:spAutoFit/>
          </a:bodyPr>
          <a:lstStyle/>
          <a:p>
            <a:r>
              <a:rPr sz="1100" b="0">
                <a:solidFill>
                  <a:srgbClr val="252423"/>
                </a:solidFill>
                <a:latin typeface="Segoe UI"/>
              </a:rPr>
              <a:t>▪ Lead category 'Gaseous Helium-3'</a:t>
            </a:r>
          </a:p>
        </p:txBody>
      </p:sp>
      <p:pic>
        <p:nvPicPr>
          <p:cNvPr id="39" name="Picture 38" descr="lock.png"/>
          <p:cNvPicPr>
            <a:picLocks noChangeAspect="1"/>
          </p:cNvPicPr>
          <p:nvPr/>
        </p:nvPicPr>
        <p:blipFill>
          <a:blip r:embed="rId5"/>
          <a:stretch>
            <a:fillRect/>
          </a:stretch>
        </p:blipFill>
        <p:spPr>
          <a:xfrm>
            <a:off x="8516233" y="1826260"/>
            <a:ext cx="128699" cy="187198"/>
          </a:xfrm>
          <a:prstGeom prst="rect">
            <a:avLst/>
          </a:prstGeom>
        </p:spPr>
      </p:pic>
      <p:sp>
        <p:nvSpPr>
          <p:cNvPr id="40" name="TextBox 39"/>
          <p:cNvSpPr txBox="1"/>
          <p:nvPr/>
        </p:nvSpPr>
        <p:spPr>
          <a:xfrm>
            <a:off x="8683729" y="1836039"/>
            <a:ext cx="571387" cy="186689"/>
          </a:xfrm>
          <a:prstGeom prst="rect">
            <a:avLst/>
          </a:prstGeom>
          <a:noFill/>
        </p:spPr>
        <p:txBody>
          <a:bodyPr wrap="none" lIns="0" rIns="0" tIns="0" bIns="0">
            <a:spAutoFit/>
          </a:bodyPr>
          <a:lstStyle/>
          <a:p>
            <a:r>
              <a:rPr sz="1100" b="0">
                <a:solidFill>
                  <a:srgbClr val="252423"/>
                </a:solidFill>
                <a:latin typeface="Segoe UI"/>
              </a:rPr>
              <a:t>of 2036.</a:t>
            </a:r>
          </a:p>
        </p:txBody>
      </p:sp>
      <p:sp>
        <p:nvSpPr>
          <p:cNvPr id="41" name="TextBox 40"/>
          <p:cNvSpPr txBox="1"/>
          <p:nvPr/>
        </p:nvSpPr>
        <p:spPr>
          <a:xfrm>
            <a:off x="6305550" y="2053970"/>
            <a:ext cx="1557050" cy="186689"/>
          </a:xfrm>
          <a:prstGeom prst="rect">
            <a:avLst/>
          </a:prstGeom>
          <a:noFill/>
        </p:spPr>
        <p:txBody>
          <a:bodyPr wrap="none" lIns="0" rIns="0" tIns="0" bIns="0">
            <a:spAutoFit/>
          </a:bodyPr>
          <a:lstStyle/>
          <a:p>
            <a:r>
              <a:rPr sz="1100" b="0">
                <a:solidFill>
                  <a:srgbClr val="252423"/>
                </a:solidFill>
                <a:latin typeface="Segoe UI"/>
              </a:rPr>
              <a:t>▪ Lead country Germany</a:t>
            </a:r>
          </a:p>
        </p:txBody>
      </p:sp>
      <p:pic>
        <p:nvPicPr>
          <p:cNvPr id="42" name="Picture 41" descr="lock.png"/>
          <p:cNvPicPr>
            <a:picLocks noChangeAspect="1"/>
          </p:cNvPicPr>
          <p:nvPr/>
        </p:nvPicPr>
        <p:blipFill>
          <a:blip r:embed="rId5"/>
          <a:stretch>
            <a:fillRect/>
          </a:stretch>
        </p:blipFill>
        <p:spPr>
          <a:xfrm>
            <a:off x="7810652" y="2044192"/>
            <a:ext cx="128699" cy="187198"/>
          </a:xfrm>
          <a:prstGeom prst="rect">
            <a:avLst/>
          </a:prstGeom>
        </p:spPr>
      </p:pic>
      <p:sp>
        <p:nvSpPr>
          <p:cNvPr id="43" name="TextBox 42"/>
          <p:cNvSpPr txBox="1"/>
          <p:nvPr/>
        </p:nvSpPr>
        <p:spPr>
          <a:xfrm>
            <a:off x="7978148" y="2053970"/>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44" name="TextBox 43"/>
          <p:cNvSpPr txBox="1"/>
          <p:nvPr/>
        </p:nvSpPr>
        <p:spPr>
          <a:xfrm>
            <a:off x="6305550" y="2271903"/>
            <a:ext cx="1660955" cy="186689"/>
          </a:xfrm>
          <a:prstGeom prst="rect">
            <a:avLst/>
          </a:prstGeom>
          <a:noFill/>
        </p:spPr>
        <p:txBody>
          <a:bodyPr wrap="none" lIns="0" rIns="0" tIns="0" bIns="0">
            <a:spAutoFit/>
          </a:bodyPr>
          <a:lstStyle/>
          <a:p>
            <a:r>
              <a:rPr sz="1100" b="0">
                <a:solidFill>
                  <a:srgbClr val="252423"/>
                </a:solidFill>
                <a:latin typeface="Segoe UI"/>
              </a:rPr>
              <a:t>▪ Incremental opportunity</a:t>
            </a:r>
          </a:p>
        </p:txBody>
      </p:sp>
      <p:pic>
        <p:nvPicPr>
          <p:cNvPr id="45" name="Picture 44" descr="lock.png"/>
          <p:cNvPicPr>
            <a:picLocks noChangeAspect="1"/>
          </p:cNvPicPr>
          <p:nvPr/>
        </p:nvPicPr>
        <p:blipFill>
          <a:blip r:embed="rId5"/>
          <a:stretch>
            <a:fillRect/>
          </a:stretch>
        </p:blipFill>
        <p:spPr>
          <a:xfrm>
            <a:off x="7914557" y="2262124"/>
            <a:ext cx="128699" cy="187198"/>
          </a:xfrm>
          <a:prstGeom prst="rect">
            <a:avLst/>
          </a:prstGeom>
        </p:spPr>
      </p:pic>
      <p:sp>
        <p:nvSpPr>
          <p:cNvPr id="46" name="TextBox 45"/>
          <p:cNvSpPr txBox="1"/>
          <p:nvPr/>
        </p:nvSpPr>
        <p:spPr>
          <a:xfrm>
            <a:off x="8082053" y="2271903"/>
            <a:ext cx="594890"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7" name="TextBox 46"/>
          <p:cNvSpPr txBox="1"/>
          <p:nvPr/>
        </p:nvSpPr>
        <p:spPr>
          <a:xfrm>
            <a:off x="276225" y="3314700"/>
            <a:ext cx="4949526" cy="194310"/>
          </a:xfrm>
          <a:prstGeom prst="rect">
            <a:avLst/>
          </a:prstGeom>
          <a:noFill/>
        </p:spPr>
        <p:txBody>
          <a:bodyPr wrap="none" lIns="0" rIns="0" tIns="0" bIns="0">
            <a:spAutoFit/>
          </a:bodyPr>
          <a:lstStyle/>
          <a:p>
            <a:r>
              <a:rPr sz="1150" b="0">
                <a:solidFill>
                  <a:srgbClr val="252423"/>
                </a:solidFill>
                <a:latin typeface="Segoe UI"/>
              </a:rPr>
              <a:t>▪ Investment is flowing toward the fastest-growing tier 'Gaseous Helium-3' (</a:t>
            </a:r>
          </a:p>
        </p:txBody>
      </p:sp>
      <p:pic>
        <p:nvPicPr>
          <p:cNvPr id="48" name="Picture 47" descr="lock.png"/>
          <p:cNvPicPr>
            <a:picLocks noChangeAspect="1"/>
          </p:cNvPicPr>
          <p:nvPr/>
        </p:nvPicPr>
        <p:blipFill>
          <a:blip r:embed="rId5"/>
          <a:stretch>
            <a:fillRect/>
          </a:stretch>
        </p:blipFill>
        <p:spPr>
          <a:xfrm>
            <a:off x="5174905" y="3304476"/>
            <a:ext cx="134549" cy="195707"/>
          </a:xfrm>
          <a:prstGeom prst="rect">
            <a:avLst/>
          </a:prstGeom>
        </p:spPr>
      </p:pic>
      <p:sp>
        <p:nvSpPr>
          <p:cNvPr id="49" name="TextBox 48"/>
          <p:cNvSpPr txBox="1"/>
          <p:nvPr/>
        </p:nvSpPr>
        <p:spPr>
          <a:xfrm>
            <a:off x="5350014" y="331470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0" name="TextBox 49"/>
          <p:cNvSpPr txBox="1"/>
          <p:nvPr/>
        </p:nvSpPr>
        <p:spPr>
          <a:xfrm>
            <a:off x="276225" y="3542537"/>
            <a:ext cx="832974" cy="194310"/>
          </a:xfrm>
          <a:prstGeom prst="rect">
            <a:avLst/>
          </a:prstGeom>
          <a:noFill/>
        </p:spPr>
        <p:txBody>
          <a:bodyPr wrap="none" lIns="0" rIns="0" tIns="0" bIns="0">
            <a:spAutoFit/>
          </a:bodyPr>
          <a:lstStyle/>
          <a:p>
            <a:r>
              <a:rPr sz="1150" b="0">
                <a:solidFill>
                  <a:srgbClr val="252423"/>
                </a:solidFill>
                <a:latin typeface="Segoe UI"/>
              </a:rPr>
              <a:t>▪ Germany (</a:t>
            </a:r>
          </a:p>
        </p:txBody>
      </p:sp>
      <p:pic>
        <p:nvPicPr>
          <p:cNvPr id="51" name="Picture 50" descr="lock.png"/>
          <p:cNvPicPr>
            <a:picLocks noChangeAspect="1"/>
          </p:cNvPicPr>
          <p:nvPr/>
        </p:nvPicPr>
        <p:blipFill>
          <a:blip r:embed="rId5"/>
          <a:stretch>
            <a:fillRect/>
          </a:stretch>
        </p:blipFill>
        <p:spPr>
          <a:xfrm>
            <a:off x="1058353" y="3532314"/>
            <a:ext cx="134549" cy="195707"/>
          </a:xfrm>
          <a:prstGeom prst="rect">
            <a:avLst/>
          </a:prstGeom>
        </p:spPr>
      </p:pic>
      <p:sp>
        <p:nvSpPr>
          <p:cNvPr id="52" name="TextBox 51"/>
          <p:cNvSpPr txBox="1"/>
          <p:nvPr/>
        </p:nvSpPr>
        <p:spPr>
          <a:xfrm>
            <a:off x="1233462" y="3542537"/>
            <a:ext cx="2529588" cy="194310"/>
          </a:xfrm>
          <a:prstGeom prst="rect">
            <a:avLst/>
          </a:prstGeom>
          <a:noFill/>
        </p:spPr>
        <p:txBody>
          <a:bodyPr wrap="none" lIns="0" rIns="0" tIns="0" bIns="0">
            <a:spAutoFit/>
          </a:bodyPr>
          <a:lstStyle/>
          <a:p>
            <a:r>
              <a:rPr sz="1150" b="0">
                <a:solidFill>
                  <a:srgbClr val="252423"/>
                </a:solidFill>
                <a:latin typeface="Segoe UI"/>
              </a:rPr>
              <a:t>) is a priority country for new capacity.</a:t>
            </a:r>
          </a:p>
        </p:txBody>
      </p:sp>
      <p:sp>
        <p:nvSpPr>
          <p:cNvPr id="53" name="TextBox 52"/>
          <p:cNvSpPr txBox="1"/>
          <p:nvPr/>
        </p:nvSpPr>
        <p:spPr>
          <a:xfrm>
            <a:off x="276225" y="3770375"/>
            <a:ext cx="3352033" cy="194310"/>
          </a:xfrm>
          <a:prstGeom prst="rect">
            <a:avLst/>
          </a:prstGeom>
          <a:noFill/>
        </p:spPr>
        <p:txBody>
          <a:bodyPr wrap="none" lIns="0" rIns="0" tIns="0" bIns="0">
            <a:spAutoFit/>
          </a:bodyPr>
          <a:lstStyle/>
          <a:p>
            <a:r>
              <a:rPr sz="1150" b="0">
                <a:solidFill>
                  <a:srgbClr val="252423"/>
                </a:solidFill>
                <a:latin typeface="Segoe UI"/>
              </a:rPr>
              <a:t>▪ Scale players anchor around 'Gaseous Helium-3' (</a:t>
            </a:r>
          </a:p>
        </p:txBody>
      </p:sp>
      <p:pic>
        <p:nvPicPr>
          <p:cNvPr id="54" name="Picture 53" descr="lock.png"/>
          <p:cNvPicPr>
            <a:picLocks noChangeAspect="1"/>
          </p:cNvPicPr>
          <p:nvPr/>
        </p:nvPicPr>
        <p:blipFill>
          <a:blip r:embed="rId5"/>
          <a:stretch>
            <a:fillRect/>
          </a:stretch>
        </p:blipFill>
        <p:spPr>
          <a:xfrm>
            <a:off x="3577412" y="3760152"/>
            <a:ext cx="134549" cy="195707"/>
          </a:xfrm>
          <a:prstGeom prst="rect">
            <a:avLst/>
          </a:prstGeom>
        </p:spPr>
      </p:pic>
      <p:sp>
        <p:nvSpPr>
          <p:cNvPr id="55" name="TextBox 54"/>
          <p:cNvSpPr txBox="1"/>
          <p:nvPr/>
        </p:nvSpPr>
        <p:spPr>
          <a:xfrm>
            <a:off x="3752521" y="3770375"/>
            <a:ext cx="498344" cy="194310"/>
          </a:xfrm>
          <a:prstGeom prst="rect">
            <a:avLst/>
          </a:prstGeom>
          <a:noFill/>
        </p:spPr>
        <p:txBody>
          <a:bodyPr wrap="none" lIns="0" rIns="0" tIns="0" bIns="0">
            <a:spAutoFit/>
          </a:bodyPr>
          <a:lstStyle/>
          <a:p>
            <a:r>
              <a:rPr sz="1150" b="0">
                <a:solidFill>
                  <a:srgbClr val="252423"/>
                </a:solidFill>
                <a:latin typeface="Segoe UI"/>
              </a:rPr>
              <a:t>share).</a:t>
            </a:r>
          </a:p>
        </p:txBody>
      </p:sp>
      <p:sp>
        <p:nvSpPr>
          <p:cNvPr id="56" name="TextBox 55"/>
          <p:cNvSpPr txBox="1"/>
          <p:nvPr/>
        </p:nvSpPr>
        <p:spPr>
          <a:xfrm>
            <a:off x="6305550" y="3314700"/>
            <a:ext cx="5186407" cy="186689"/>
          </a:xfrm>
          <a:prstGeom prst="rect">
            <a:avLst/>
          </a:prstGeom>
          <a:noFill/>
        </p:spPr>
        <p:txBody>
          <a:bodyPr wrap="none" lIns="0" rIns="0" tIns="0" bIns="0">
            <a:spAutoFit/>
          </a:bodyPr>
          <a:lstStyle/>
          <a:p>
            <a:r>
              <a:rPr sz="1100" b="0">
                <a:solidFill>
                  <a:srgbClr val="252423"/>
                </a:solidFill>
                <a:latin typeface="Segoe UI"/>
              </a:rPr>
              <a:t>▪ R&amp;D aligns with the migration to 'Gaseous Helium-3' and adjacent premium tiers.</a:t>
            </a:r>
          </a:p>
        </p:txBody>
      </p:sp>
      <p:sp>
        <p:nvSpPr>
          <p:cNvPr id="57" name="TextBox 56"/>
          <p:cNvSpPr txBox="1"/>
          <p:nvPr/>
        </p:nvSpPr>
        <p:spPr>
          <a:xfrm>
            <a:off x="6305550" y="3532632"/>
            <a:ext cx="4811943" cy="186689"/>
          </a:xfrm>
          <a:prstGeom prst="rect">
            <a:avLst/>
          </a:prstGeom>
          <a:noFill/>
        </p:spPr>
        <p:txBody>
          <a:bodyPr wrap="none" lIns="0" rIns="0" tIns="0" bIns="0">
            <a:spAutoFit/>
          </a:bodyPr>
          <a:lstStyle/>
          <a:p>
            <a:r>
              <a:rPr sz="1100" b="0">
                <a:solidFill>
                  <a:srgbClr val="252423"/>
                </a:solidFill>
                <a:latin typeface="Segoe UI"/>
              </a:rPr>
              <a:t>▪ Development spend targets product form categories gaining share to 2036.</a:t>
            </a:r>
          </a:p>
        </p:txBody>
      </p:sp>
      <p:sp>
        <p:nvSpPr>
          <p:cNvPr id="58" name="TextBox 57"/>
          <p:cNvSpPr txBox="1"/>
          <p:nvPr/>
        </p:nvSpPr>
        <p:spPr>
          <a:xfrm>
            <a:off x="6305550" y="3750564"/>
            <a:ext cx="1714089" cy="186689"/>
          </a:xfrm>
          <a:prstGeom prst="rect">
            <a:avLst/>
          </a:prstGeom>
          <a:noFill/>
        </p:spPr>
        <p:txBody>
          <a:bodyPr wrap="none" lIns="0" rIns="0" tIns="0" bIns="0">
            <a:spAutoFit/>
          </a:bodyPr>
          <a:lstStyle/>
          <a:p>
            <a:r>
              <a:rPr sz="1100" b="0">
                <a:solidFill>
                  <a:srgbClr val="252423"/>
                </a:solidFill>
                <a:latin typeface="Segoe UI"/>
              </a:rPr>
              <a:t>▪ Innovation underpins the</a:t>
            </a:r>
          </a:p>
        </p:txBody>
      </p:sp>
      <p:pic>
        <p:nvPicPr>
          <p:cNvPr id="59" name="Picture 58" descr="lock.png"/>
          <p:cNvPicPr>
            <a:picLocks noChangeAspect="1"/>
          </p:cNvPicPr>
          <p:nvPr/>
        </p:nvPicPr>
        <p:blipFill>
          <a:blip r:embed="rId5"/>
          <a:stretch>
            <a:fillRect/>
          </a:stretch>
        </p:blipFill>
        <p:spPr>
          <a:xfrm>
            <a:off x="7967691" y="3740785"/>
            <a:ext cx="128699" cy="187198"/>
          </a:xfrm>
          <a:prstGeom prst="rect">
            <a:avLst/>
          </a:prstGeom>
        </p:spPr>
      </p:pic>
      <p:sp>
        <p:nvSpPr>
          <p:cNvPr id="60" name="TextBox 59"/>
          <p:cNvSpPr txBox="1"/>
          <p:nvPr/>
        </p:nvSpPr>
        <p:spPr>
          <a:xfrm>
            <a:off x="8135186" y="3750564"/>
            <a:ext cx="990193" cy="186689"/>
          </a:xfrm>
          <a:prstGeom prst="rect">
            <a:avLst/>
          </a:prstGeom>
          <a:noFill/>
        </p:spPr>
        <p:txBody>
          <a:bodyPr wrap="none" lIns="0" rIns="0" tIns="0" bIns="0">
            <a:spAutoFit/>
          </a:bodyPr>
          <a:lstStyle/>
          <a:p>
            <a:r>
              <a:rPr sz="1100" b="0">
                <a:solidFill>
                  <a:srgbClr val="252423"/>
                </a:solidFill>
                <a:latin typeface="Segoe UI"/>
              </a:rPr>
              <a:t>forecast CAGR.</a:t>
            </a:r>
          </a:p>
        </p:txBody>
      </p:sp>
      <p:sp>
        <p:nvSpPr>
          <p:cNvPr id="61" name="lockshield_26"/>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'Gaseous Helium-3' tier and Neutron Detection and Radiation Monitoring within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9" name="TextBox 28"/>
          <p:cNvSpPr txBox="1"/>
          <p:nvPr/>
        </p:nvSpPr>
        <p:spPr>
          <a:xfrm>
            <a:off x="276225" y="1400175"/>
            <a:ext cx="5343333" cy="194310"/>
          </a:xfrm>
          <a:prstGeom prst="rect">
            <a:avLst/>
          </a:prstGeom>
          <a:noFill/>
        </p:spPr>
        <p:txBody>
          <a:bodyPr wrap="none" lIns="0" rIns="0" tIns="0" bIns="0">
            <a:spAutoFit/>
          </a:bodyPr>
          <a:lstStyle/>
          <a:p>
            <a:r>
              <a:rPr sz="1150" b="0">
                <a:solidFill>
                  <a:srgbClr val="252423"/>
                </a:solidFill>
                <a:latin typeface="Segoe UI"/>
              </a:rPr>
              <a:t>▪ Balance scale in 'Gaseous Helium-3' with targeted growth in 'Gaseous Helium-3',</a:t>
            </a:r>
          </a:p>
        </p:txBody>
      </p:sp>
      <p:sp>
        <p:nvSpPr>
          <p:cNvPr id="30" name="TextBox 29"/>
          <p:cNvSpPr txBox="1"/>
          <p:nvPr/>
        </p:nvSpPr>
        <p:spPr>
          <a:xfrm>
            <a:off x="276225" y="1575435"/>
            <a:ext cx="893185" cy="194310"/>
          </a:xfrm>
          <a:prstGeom prst="rect">
            <a:avLst/>
          </a:prstGeom>
          <a:noFill/>
        </p:spPr>
        <p:txBody>
          <a:bodyPr wrap="none" lIns="0" rIns="0" tIns="0" bIns="0">
            <a:spAutoFit/>
          </a:bodyPr>
          <a:lstStyle/>
          <a:p>
            <a:r>
              <a:rPr sz="1150" b="0">
                <a:solidFill>
                  <a:srgbClr val="252423"/>
                </a:solidFill>
                <a:latin typeface="Segoe UI"/>
              </a:rPr>
              <a:t>pursuing the</a:t>
            </a:r>
          </a:p>
        </p:txBody>
      </p:sp>
      <p:pic>
        <p:nvPicPr>
          <p:cNvPr id="31" name="Picture 30" descr="lock.png"/>
          <p:cNvPicPr>
            <a:picLocks noChangeAspect="1"/>
          </p:cNvPicPr>
          <p:nvPr/>
        </p:nvPicPr>
        <p:blipFill>
          <a:blip r:embed="rId4"/>
          <a:stretch>
            <a:fillRect/>
          </a:stretch>
        </p:blipFill>
        <p:spPr>
          <a:xfrm>
            <a:off x="1118563" y="1565211"/>
            <a:ext cx="134549" cy="195707"/>
          </a:xfrm>
          <a:prstGeom prst="rect">
            <a:avLst/>
          </a:prstGeom>
        </p:spPr>
      </p:pic>
      <p:sp>
        <p:nvSpPr>
          <p:cNvPr id="32" name="TextBox 31"/>
          <p:cNvSpPr txBox="1"/>
          <p:nvPr/>
        </p:nvSpPr>
        <p:spPr>
          <a:xfrm>
            <a:off x="1293673" y="1575435"/>
            <a:ext cx="1660812" cy="194310"/>
          </a:xfrm>
          <a:prstGeom prst="rect">
            <a:avLst/>
          </a:prstGeom>
          <a:noFill/>
        </p:spPr>
        <p:txBody>
          <a:bodyPr wrap="none" lIns="0" rIns="0" tIns="0" bIns="0">
            <a:spAutoFit/>
          </a:bodyPr>
          <a:lstStyle/>
          <a:p>
            <a:r>
              <a:rPr sz="1150" b="0">
                <a:solidFill>
                  <a:srgbClr val="252423"/>
                </a:solidFill>
                <a:latin typeface="Segoe UI"/>
              </a:rPr>
              <a:t>CAGR trajectory to 2036.</a:t>
            </a:r>
          </a:p>
        </p:txBody>
      </p:sp>
      <p:sp>
        <p:nvSpPr>
          <p:cNvPr id="33" name="TextBox 32"/>
          <p:cNvSpPr txBox="1"/>
          <p:nvPr/>
        </p:nvSpPr>
        <p:spPr>
          <a:xfrm>
            <a:off x="276225" y="3276600"/>
            <a:ext cx="2102073" cy="194310"/>
          </a:xfrm>
          <a:prstGeom prst="rect">
            <a:avLst/>
          </a:prstGeom>
          <a:noFill/>
        </p:spPr>
        <p:txBody>
          <a:bodyPr wrap="none" lIns="0" rIns="0" tIns="0" bIns="0">
            <a:spAutoFit/>
          </a:bodyPr>
          <a:lstStyle/>
          <a:p>
            <a:r>
              <a:rPr sz="1150" b="0">
                <a:solidFill>
                  <a:srgbClr val="252423"/>
                </a:solidFill>
                <a:latin typeface="Segoe UI"/>
              </a:rPr>
              <a:t>▪ Prioritise 'Gaseous Helium-3' (</a:t>
            </a:r>
          </a:p>
        </p:txBody>
      </p:sp>
      <p:pic>
        <p:nvPicPr>
          <p:cNvPr id="34" name="Picture 33" descr="lock.png"/>
          <p:cNvPicPr>
            <a:picLocks noChangeAspect="1"/>
          </p:cNvPicPr>
          <p:nvPr/>
        </p:nvPicPr>
        <p:blipFill>
          <a:blip r:embed="rId4"/>
          <a:stretch>
            <a:fillRect/>
          </a:stretch>
        </p:blipFill>
        <p:spPr>
          <a:xfrm>
            <a:off x="2327452" y="3266376"/>
            <a:ext cx="134549" cy="195707"/>
          </a:xfrm>
          <a:prstGeom prst="rect">
            <a:avLst/>
          </a:prstGeom>
        </p:spPr>
      </p:pic>
      <p:sp>
        <p:nvSpPr>
          <p:cNvPr id="35" name="TextBox 34"/>
          <p:cNvSpPr txBox="1"/>
          <p:nvPr/>
        </p:nvSpPr>
        <p:spPr>
          <a:xfrm>
            <a:off x="2502561" y="3276600"/>
            <a:ext cx="1984851" cy="194310"/>
          </a:xfrm>
          <a:prstGeom prst="rect">
            <a:avLst/>
          </a:prstGeom>
          <a:noFill/>
        </p:spPr>
        <p:txBody>
          <a:bodyPr wrap="none" lIns="0" rIns="0" tIns="0" bIns="0">
            <a:spAutoFit/>
          </a:bodyPr>
          <a:lstStyle/>
          <a:p>
            <a:r>
              <a:rPr sz="1150" b="0">
                <a:solidFill>
                  <a:srgbClr val="252423"/>
                </a:solidFill>
                <a:latin typeface="Segoe UI"/>
              </a:rPr>
              <a:t>); 'Gaseous Helium-3' anchors</a:t>
            </a:r>
          </a:p>
        </p:txBody>
      </p:sp>
      <p:pic>
        <p:nvPicPr>
          <p:cNvPr id="36" name="Picture 35" descr="lock.png"/>
          <p:cNvPicPr>
            <a:picLocks noChangeAspect="1"/>
          </p:cNvPicPr>
          <p:nvPr/>
        </p:nvPicPr>
        <p:blipFill>
          <a:blip r:embed="rId4"/>
          <a:stretch>
            <a:fillRect/>
          </a:stretch>
        </p:blipFill>
        <p:spPr>
          <a:xfrm>
            <a:off x="4436567" y="3266376"/>
            <a:ext cx="134549" cy="195707"/>
          </a:xfrm>
          <a:prstGeom prst="rect">
            <a:avLst/>
          </a:prstGeom>
        </p:spPr>
      </p:pic>
      <p:sp>
        <p:nvSpPr>
          <p:cNvPr id="37" name="TextBox 36"/>
          <p:cNvSpPr txBox="1"/>
          <p:nvPr/>
        </p:nvSpPr>
        <p:spPr>
          <a:xfrm>
            <a:off x="4611676" y="3276600"/>
            <a:ext cx="617816" cy="194310"/>
          </a:xfrm>
          <a:prstGeom prst="rect">
            <a:avLst/>
          </a:prstGeom>
          <a:noFill/>
        </p:spPr>
        <p:txBody>
          <a:bodyPr wrap="none" lIns="0" rIns="0" tIns="0" bIns="0">
            <a:spAutoFit/>
          </a:bodyPr>
          <a:lstStyle/>
          <a:p>
            <a:r>
              <a:rPr sz="1150" b="0">
                <a:solidFill>
                  <a:srgbClr val="252423"/>
                </a:solidFill>
                <a:latin typeface="Segoe UI"/>
              </a:rPr>
              <a:t>of value.</a:t>
            </a:r>
          </a:p>
        </p:txBody>
      </p:sp>
      <p:sp>
        <p:nvSpPr>
          <p:cNvPr id="38" name="TextBox 37"/>
          <p:cNvSpPr txBox="1"/>
          <p:nvPr/>
        </p:nvSpPr>
        <p:spPr>
          <a:xfrm>
            <a:off x="6305550" y="3276600"/>
            <a:ext cx="1491910" cy="194310"/>
          </a:xfrm>
          <a:prstGeom prst="rect">
            <a:avLst/>
          </a:prstGeom>
          <a:noFill/>
        </p:spPr>
        <p:txBody>
          <a:bodyPr wrap="none" lIns="0" rIns="0" tIns="0" bIns="0">
            <a:spAutoFit/>
          </a:bodyPr>
          <a:lstStyle/>
          <a:p>
            <a:r>
              <a:rPr sz="1150" b="0">
                <a:solidFill>
                  <a:srgbClr val="252423"/>
                </a:solidFill>
                <a:latin typeface="Segoe UI"/>
              </a:rPr>
              <a:t>▪ Lead with Germany (</a:t>
            </a:r>
          </a:p>
        </p:txBody>
      </p:sp>
      <p:pic>
        <p:nvPicPr>
          <p:cNvPr id="39" name="Picture 38" descr="lock.png"/>
          <p:cNvPicPr>
            <a:picLocks noChangeAspect="1"/>
          </p:cNvPicPr>
          <p:nvPr/>
        </p:nvPicPr>
        <p:blipFill>
          <a:blip r:embed="rId4"/>
          <a:stretch>
            <a:fillRect/>
          </a:stretch>
        </p:blipFill>
        <p:spPr>
          <a:xfrm>
            <a:off x="7746614" y="3266376"/>
            <a:ext cx="134549" cy="195707"/>
          </a:xfrm>
          <a:prstGeom prst="rect">
            <a:avLst/>
          </a:prstGeom>
        </p:spPr>
      </p:pic>
      <p:sp>
        <p:nvSpPr>
          <p:cNvPr id="40" name="TextBox 39"/>
          <p:cNvSpPr txBox="1"/>
          <p:nvPr/>
        </p:nvSpPr>
        <p:spPr>
          <a:xfrm>
            <a:off x="7921723" y="3276600"/>
            <a:ext cx="2011041" cy="194310"/>
          </a:xfrm>
          <a:prstGeom prst="rect">
            <a:avLst/>
          </a:prstGeom>
          <a:noFill/>
        </p:spPr>
        <p:txBody>
          <a:bodyPr wrap="none" lIns="0" rIns="0" tIns="0" bIns="0">
            <a:spAutoFit/>
          </a:bodyPr>
          <a:lstStyle/>
          <a:p>
            <a:r>
              <a:rPr sz="1150" b="0">
                <a:solidFill>
                  <a:srgbClr val="252423"/>
                </a:solidFill>
                <a:latin typeface="Segoe UI"/>
              </a:rPr>
              <a:t>); capture upside in Germany (</a:t>
            </a:r>
          </a:p>
        </p:txBody>
      </p:sp>
      <p:pic>
        <p:nvPicPr>
          <p:cNvPr id="41" name="Picture 40" descr="lock.png"/>
          <p:cNvPicPr>
            <a:picLocks noChangeAspect="1"/>
          </p:cNvPicPr>
          <p:nvPr/>
        </p:nvPicPr>
        <p:blipFill>
          <a:blip r:embed="rId4"/>
          <a:stretch>
            <a:fillRect/>
          </a:stretch>
        </p:blipFill>
        <p:spPr>
          <a:xfrm>
            <a:off x="9881919" y="3266376"/>
            <a:ext cx="134549" cy="195707"/>
          </a:xfrm>
          <a:prstGeom prst="rect">
            <a:avLst/>
          </a:prstGeom>
        </p:spPr>
      </p:pic>
      <p:sp>
        <p:nvSpPr>
          <p:cNvPr id="42" name="TextBox 41"/>
          <p:cNvSpPr txBox="1"/>
          <p:nvPr/>
        </p:nvSpPr>
        <p:spPr>
          <a:xfrm>
            <a:off x="10057028" y="3276600"/>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3" name="TextBox 42"/>
          <p:cNvSpPr txBox="1"/>
          <p:nvPr/>
        </p:nvSpPr>
        <p:spPr>
          <a:xfrm>
            <a:off x="276225" y="4972050"/>
            <a:ext cx="1113097" cy="194310"/>
          </a:xfrm>
          <a:prstGeom prst="rect">
            <a:avLst/>
          </a:prstGeom>
          <a:noFill/>
        </p:spPr>
        <p:txBody>
          <a:bodyPr wrap="none" lIns="0" rIns="0" tIns="0" bIns="0">
            <a:spAutoFit/>
          </a:bodyPr>
          <a:lstStyle/>
          <a:p>
            <a:r>
              <a:rPr sz="1150" b="0">
                <a:solidFill>
                  <a:srgbClr val="252423"/>
                </a:solidFill>
                <a:latin typeface="Segoe UI"/>
              </a:rPr>
              <a:t>▪ Helium-3 adds</a:t>
            </a:r>
          </a:p>
        </p:txBody>
      </p:sp>
      <p:pic>
        <p:nvPicPr>
          <p:cNvPr id="44" name="Picture 43" descr="lock.png"/>
          <p:cNvPicPr>
            <a:picLocks noChangeAspect="1"/>
          </p:cNvPicPr>
          <p:nvPr/>
        </p:nvPicPr>
        <p:blipFill>
          <a:blip r:embed="rId4"/>
          <a:stretch>
            <a:fillRect/>
          </a:stretch>
        </p:blipFill>
        <p:spPr>
          <a:xfrm>
            <a:off x="1338476" y="4961826"/>
            <a:ext cx="134549" cy="195707"/>
          </a:xfrm>
          <a:prstGeom prst="rect">
            <a:avLst/>
          </a:prstGeom>
        </p:spPr>
      </p:pic>
      <p:sp>
        <p:nvSpPr>
          <p:cNvPr id="45" name="TextBox 44"/>
          <p:cNvSpPr txBox="1"/>
          <p:nvPr/>
        </p:nvSpPr>
        <p:spPr>
          <a:xfrm>
            <a:off x="1513586" y="4972050"/>
            <a:ext cx="1973936" cy="194310"/>
          </a:xfrm>
          <a:prstGeom prst="rect">
            <a:avLst/>
          </a:prstGeom>
          <a:noFill/>
        </p:spPr>
        <p:txBody>
          <a:bodyPr wrap="none" lIns="0" rIns="0" tIns="0" bIns="0">
            <a:spAutoFit/>
          </a:bodyPr>
          <a:lstStyle/>
          <a:p>
            <a:r>
              <a:rPr sz="1150" b="0">
                <a:solidFill>
                  <a:srgbClr val="252423"/>
                </a:solidFill>
                <a:latin typeface="Segoe UI"/>
              </a:rPr>
              <a:t>US$ Mn of demand to 2036 a</a:t>
            </a:r>
          </a:p>
        </p:txBody>
      </p:sp>
      <p:pic>
        <p:nvPicPr>
          <p:cNvPr id="46" name="Picture 45" descr="lock.png"/>
          <p:cNvPicPr>
            <a:picLocks noChangeAspect="1"/>
          </p:cNvPicPr>
          <p:nvPr/>
        </p:nvPicPr>
        <p:blipFill>
          <a:blip r:embed="rId4"/>
          <a:stretch>
            <a:fillRect/>
          </a:stretch>
        </p:blipFill>
        <p:spPr>
          <a:xfrm>
            <a:off x="3436676" y="4961826"/>
            <a:ext cx="134549" cy="195707"/>
          </a:xfrm>
          <a:prstGeom prst="rect">
            <a:avLst/>
          </a:prstGeom>
        </p:spPr>
      </p:pic>
      <p:sp>
        <p:nvSpPr>
          <p:cNvPr id="47" name="TextBox 46"/>
          <p:cNvSpPr txBox="1"/>
          <p:nvPr/>
        </p:nvSpPr>
        <p:spPr>
          <a:xfrm>
            <a:off x="3611785" y="4972050"/>
            <a:ext cx="899696" cy="194310"/>
          </a:xfrm>
          <a:prstGeom prst="rect">
            <a:avLst/>
          </a:prstGeom>
          <a:noFill/>
        </p:spPr>
        <p:txBody>
          <a:bodyPr wrap="none" lIns="0" rIns="0" tIns="0" bIns="0">
            <a:spAutoFit/>
          </a:bodyPr>
          <a:lstStyle/>
          <a:p>
            <a:r>
              <a:rPr sz="1150" b="0">
                <a:solidFill>
                  <a:srgbClr val="252423"/>
                </a:solidFill>
                <a:latin typeface="Segoe UI"/>
              </a:rPr>
              <a:t>× expansion.</a:t>
            </a:r>
          </a:p>
        </p:txBody>
      </p:sp>
      <p:sp>
        <p:nvSpPr>
          <p:cNvPr id="48" name="TextBox 47"/>
          <p:cNvSpPr txBox="1"/>
          <p:nvPr/>
        </p:nvSpPr>
        <p:spPr>
          <a:xfrm>
            <a:off x="276225" y="5199888"/>
            <a:ext cx="6866036" cy="194310"/>
          </a:xfrm>
          <a:prstGeom prst="rect">
            <a:avLst/>
          </a:prstGeom>
          <a:noFill/>
        </p:spPr>
        <p:txBody>
          <a:bodyPr wrap="none" lIns="0" rIns="0" tIns="0" bIns="0">
            <a:spAutoFit/>
          </a:bodyPr>
          <a:lstStyle/>
          <a:p>
            <a:r>
              <a:rPr sz="1150" b="0">
                <a:solidFill>
                  <a:srgbClr val="252423"/>
                </a:solidFill>
                <a:latin typeface="Segoe UI"/>
              </a:rPr>
              <a:t>▪ Concentrate resources on the leading segment/country while seeding the fastest-growing pockets early.</a:t>
            </a:r>
          </a:p>
        </p:txBody>
      </p:sp>
      <p:sp>
        <p:nvSpPr>
          <p:cNvPr id="49" name="TextBox 48"/>
          <p:cNvSpPr txBox="1"/>
          <p:nvPr/>
        </p:nvSpPr>
        <p:spPr>
          <a:xfrm>
            <a:off x="276225" y="5427725"/>
            <a:ext cx="4807376" cy="194310"/>
          </a:xfrm>
          <a:prstGeom prst="rect">
            <a:avLst/>
          </a:prstGeom>
          <a:noFill/>
        </p:spPr>
        <p:txBody>
          <a:bodyPr wrap="none" lIns="0" rIns="0" tIns="0" bIns="0">
            <a:spAutoFit/>
          </a:bodyPr>
          <a:lstStyle/>
          <a:p>
            <a:r>
              <a:rPr sz="1150" b="0">
                <a:solidFill>
                  <a:srgbClr val="252423"/>
                </a:solidFill>
                <a:latin typeface="Segoe UI"/>
              </a:rPr>
              <a:t>▪ Defend share in 'Gaseous Helium-3' as the value anchor of the portfolio.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Scenario Outlook (4/4)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Scenario outlook comparing optimistic, likely and conservative outcomes for 2036 and the CAGR behind each</a:t>
            </a:r>
          </a:p>
        </p:txBody>
      </p:sp>
      <p:sp>
        <p:nvSpPr>
          <p:cNvPr id="8" name="Rounded Rectangle 7"/>
          <p:cNvSpPr/>
          <p:nvPr/>
        </p:nvSpPr>
        <p:spPr>
          <a:xfrm>
            <a:off x="142875" y="981075"/>
            <a:ext cx="3943350"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9" name="Rounded Rectangle 8"/>
          <p:cNvSpPr/>
          <p:nvPr/>
        </p:nvSpPr>
        <p:spPr>
          <a:xfrm>
            <a:off x="4238625"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0" name="Rounded Rectangle 9"/>
          <p:cNvSpPr/>
          <p:nvPr/>
        </p:nvSpPr>
        <p:spPr>
          <a:xfrm>
            <a:off x="8210550"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1" name="Rectangle 10"/>
          <p:cNvSpPr/>
          <p:nvPr/>
        </p:nvSpPr>
        <p:spPr>
          <a:xfrm>
            <a:off x="142875"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Helium-3 Market Value (US$ Mn) Scenario Forecast, 2025 &amp; 2036</a:t>
            </a:r>
          </a:p>
        </p:txBody>
      </p:sp>
      <p:cxnSp>
        <p:nvCxnSpPr>
          <p:cNvPr id="13" name="Connector 12"/>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06342" y="3536317"/>
            <a:ext cx="635826" cy="768983"/>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3936" y="3104671"/>
            <a:ext cx="635826" cy="120062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5725" y="2917907"/>
            <a:ext cx="635826" cy="138739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456468" y="297132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70768" y="286654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0" name="Connector 19"/>
          <p:cNvCxnSpPr/>
          <p:nvPr/>
        </p:nvCxnSpPr>
        <p:spPr>
          <a:xfrm>
            <a:off x="1456468" y="271414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60937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cxnSp>
        <p:nvCxnSpPr>
          <p:cNvPr id="22" name="Connector 21"/>
          <p:cNvCxnSpPr/>
          <p:nvPr/>
        </p:nvCxnSpPr>
        <p:spPr>
          <a:xfrm>
            <a:off x="1456468" y="245697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35219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
            </a:r>
          </a:p>
        </p:txBody>
      </p:sp>
      <p:sp>
        <p:nvSpPr>
          <p:cNvPr id="24" name="TextBox 23"/>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2025</a:t>
            </a:r>
          </a:p>
        </p:txBody>
      </p:sp>
      <p:sp>
        <p:nvSpPr>
          <p:cNvPr id="25" name="TextBox 24"/>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2036</a:t>
            </a:r>
          </a:p>
        </p:txBody>
      </p:sp>
      <p:sp>
        <p:nvSpPr>
          <p:cNvPr id="26" name="Oval 25"/>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Conservative Scenario</a:t>
            </a:r>
          </a:p>
        </p:txBody>
      </p:sp>
      <p:sp>
        <p:nvSpPr>
          <p:cNvPr id="28" name="Oval 27"/>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Likely Scenario</a:t>
            </a:r>
          </a:p>
        </p:txBody>
      </p:sp>
      <p:sp>
        <p:nvSpPr>
          <p:cNvPr id="30" name="Oval 29"/>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Optimistic Scenario</a:t>
            </a:r>
          </a:p>
        </p:txBody>
      </p:sp>
      <p:sp>
        <p:nvSpPr>
          <p:cNvPr id="32" name="Rectangle 31"/>
          <p:cNvSpPr/>
          <p:nvPr/>
        </p:nvSpPr>
        <p:spPr>
          <a:xfrm>
            <a:off x="6172200"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7450" y="18669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Helium-3 Market Attractiveness Analysis By Region, 2026–2036</a:t>
            </a:r>
          </a:p>
        </p:txBody>
      </p:sp>
      <p:graphicFrame>
        <p:nvGraphicFramePr>
          <p:cNvPr id="34" name="Chart 33"/>
          <p:cNvGraphicFramePr>
            <a:graphicFrameLocks noGrp="1"/>
          </p:cNvGraphicFramePr>
          <p:nvPr/>
        </p:nvGraphicFramePr>
        <p:xfrm>
          <a:off x="6267450" y="2095500"/>
          <a:ext cx="5686425" cy="2667000"/>
        </p:xfrm>
        <a:graphic>
          <a:graphicData uri="http://schemas.openxmlformats.org/drawingml/2006/chart">
            <c:chart xmlns:c="http://schemas.openxmlformats.org/drawingml/2006/chart" r:id="rId3"/>
          </a:graphicData>
        </a:graphic>
      </p:graphicFrame>
      <p:sp>
        <p:nvSpPr>
          <p:cNvPr id="35" name="Rectangle 34"/>
          <p:cNvSpPr/>
          <p:nvPr/>
        </p:nvSpPr>
        <p:spPr>
          <a:xfrm>
            <a:off x="142875" y="4953000"/>
            <a:ext cx="11906250"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07BA5"/>
                </a:solidFill>
                <a:latin typeface="Segoe UI"/>
              </a:rPr>
              <a:t>Scenario Assumptions &amp; Outlook</a:t>
            </a:r>
          </a:p>
        </p:txBody>
      </p:sp>
      <p:sp>
        <p:nvSpPr>
          <p:cNvPr id="37" name="Rectangle 36"/>
          <p:cNvSpPr/>
          <p:nvPr/>
        </p:nvSpPr>
        <p:spPr>
          <a:xfrm>
            <a:off x="276225" y="52768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39" name="TextBox 3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564099" y="1028326"/>
            <a:ext cx="1177101" cy="166573"/>
          </a:xfrm>
          <a:prstGeom prst="rect">
            <a:avLst/>
          </a:prstGeom>
          <a:noFill/>
        </p:spPr>
        <p:txBody>
          <a:bodyPr wrap="none" lIns="0" rIns="0" tIns="0" bIns="0">
            <a:spAutoFit/>
          </a:bodyPr>
          <a:lstStyle/>
          <a:p>
            <a:r>
              <a:rPr sz="968" b="1">
                <a:solidFill>
                  <a:srgbClr val="605E5C"/>
                </a:solidFill>
                <a:latin typeface="Segoe UI"/>
              </a:rPr>
              <a:t>OPTIMISTIC (2036)</a:t>
            </a:r>
          </a:p>
        </p:txBody>
      </p:sp>
      <p:sp>
        <p:nvSpPr>
          <p:cNvPr id="44" name="TextBox 43"/>
          <p:cNvSpPr txBox="1"/>
          <p:nvPr/>
        </p:nvSpPr>
        <p:spPr>
          <a:xfrm>
            <a:off x="1890239"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5" name="Picture 44" descr="lock.png"/>
          <p:cNvPicPr>
            <a:picLocks noChangeAspect="1"/>
          </p:cNvPicPr>
          <p:nvPr/>
        </p:nvPicPr>
        <p:blipFill>
          <a:blip r:embed="rId5"/>
          <a:stretch>
            <a:fillRect/>
          </a:stretch>
        </p:blipFill>
        <p:spPr>
          <a:xfrm>
            <a:off x="2224657" y="1473019"/>
            <a:ext cx="113255" cy="164734"/>
          </a:xfrm>
          <a:prstGeom prst="rect">
            <a:avLst/>
          </a:prstGeom>
        </p:spPr>
      </p:pic>
      <p:sp>
        <p:nvSpPr>
          <p:cNvPr id="46" name="TextBox 45"/>
          <p:cNvSpPr txBox="1"/>
          <p:nvPr/>
        </p:nvSpPr>
        <p:spPr>
          <a:xfrm>
            <a:off x="5752154" y="1028326"/>
            <a:ext cx="868665" cy="166573"/>
          </a:xfrm>
          <a:prstGeom prst="rect">
            <a:avLst/>
          </a:prstGeom>
          <a:noFill/>
        </p:spPr>
        <p:txBody>
          <a:bodyPr wrap="none" lIns="0" rIns="0" tIns="0" bIns="0">
            <a:spAutoFit/>
          </a:bodyPr>
          <a:lstStyle/>
          <a:p>
            <a:r>
              <a:rPr sz="968" b="1">
                <a:solidFill>
                  <a:srgbClr val="605E5C"/>
                </a:solidFill>
                <a:latin typeface="Segoe UI"/>
              </a:rPr>
              <a:t>LIKELY (2036)</a:t>
            </a:r>
          </a:p>
        </p:txBody>
      </p:sp>
      <p:sp>
        <p:nvSpPr>
          <p:cNvPr id="47" name="TextBox 46"/>
          <p:cNvSpPr txBox="1"/>
          <p:nvPr/>
        </p:nvSpPr>
        <p:spPr>
          <a:xfrm>
            <a:off x="5924076"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48" name="Picture 47" descr="lock.png"/>
          <p:cNvPicPr>
            <a:picLocks noChangeAspect="1"/>
          </p:cNvPicPr>
          <p:nvPr/>
        </p:nvPicPr>
        <p:blipFill>
          <a:blip r:embed="rId5"/>
          <a:stretch>
            <a:fillRect/>
          </a:stretch>
        </p:blipFill>
        <p:spPr>
          <a:xfrm>
            <a:off x="6258494" y="1473019"/>
            <a:ext cx="113255" cy="164734"/>
          </a:xfrm>
          <a:prstGeom prst="rect">
            <a:avLst/>
          </a:prstGeom>
        </p:spPr>
      </p:pic>
      <p:sp>
        <p:nvSpPr>
          <p:cNvPr id="49" name="TextBox 48"/>
          <p:cNvSpPr txBox="1"/>
          <p:nvPr/>
        </p:nvSpPr>
        <p:spPr>
          <a:xfrm>
            <a:off x="9461940" y="1028326"/>
            <a:ext cx="1392944" cy="166573"/>
          </a:xfrm>
          <a:prstGeom prst="rect">
            <a:avLst/>
          </a:prstGeom>
          <a:noFill/>
        </p:spPr>
        <p:txBody>
          <a:bodyPr wrap="none" lIns="0" rIns="0" tIns="0" bIns="0">
            <a:spAutoFit/>
          </a:bodyPr>
          <a:lstStyle/>
          <a:p>
            <a:r>
              <a:rPr sz="968" b="1">
                <a:solidFill>
                  <a:srgbClr val="605E5C"/>
                </a:solidFill>
                <a:latin typeface="Segoe UI"/>
              </a:rPr>
              <a:t>CONSERVATIVE (2036)</a:t>
            </a:r>
          </a:p>
        </p:txBody>
      </p:sp>
      <p:sp>
        <p:nvSpPr>
          <p:cNvPr id="50" name="TextBox 49"/>
          <p:cNvSpPr txBox="1"/>
          <p:nvPr/>
        </p:nvSpPr>
        <p:spPr>
          <a:xfrm>
            <a:off x="9896001" y="1481625"/>
            <a:ext cx="389276" cy="166573"/>
          </a:xfrm>
          <a:prstGeom prst="rect">
            <a:avLst/>
          </a:prstGeom>
          <a:noFill/>
        </p:spPr>
        <p:txBody>
          <a:bodyPr wrap="none" lIns="0" rIns="0" tIns="0" bIns="0">
            <a:spAutoFit/>
          </a:bodyPr>
          <a:lstStyle/>
          <a:p>
            <a:r>
              <a:rPr sz="968" b="0">
                <a:solidFill>
                  <a:srgbClr val="605E5C"/>
                </a:solidFill>
                <a:latin typeface="Segoe UI"/>
              </a:rPr>
              <a:t>CAGR</a:t>
            </a:r>
          </a:p>
        </p:txBody>
      </p:sp>
      <p:pic>
        <p:nvPicPr>
          <p:cNvPr id="51" name="Picture 50" descr="lock.png"/>
          <p:cNvPicPr>
            <a:picLocks noChangeAspect="1"/>
          </p:cNvPicPr>
          <p:nvPr/>
        </p:nvPicPr>
        <p:blipFill>
          <a:blip r:embed="rId5"/>
          <a:stretch>
            <a:fillRect/>
          </a:stretch>
        </p:blipFill>
        <p:spPr>
          <a:xfrm>
            <a:off x="10230419" y="1473019"/>
            <a:ext cx="113255" cy="164734"/>
          </a:xfrm>
          <a:prstGeom prst="rect">
            <a:avLst/>
          </a:prstGeom>
        </p:spPr>
      </p:pic>
      <p:sp>
        <p:nvSpPr>
          <p:cNvPr id="52" name="TextBox 51"/>
          <p:cNvSpPr txBox="1"/>
          <p:nvPr/>
        </p:nvSpPr>
        <p:spPr>
          <a:xfrm>
            <a:off x="2011674" y="2900912"/>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3" name="Picture 52" descr="lock.png"/>
          <p:cNvPicPr>
            <a:picLocks noChangeAspect="1"/>
          </p:cNvPicPr>
          <p:nvPr/>
        </p:nvPicPr>
        <p:blipFill>
          <a:blip r:embed="rId5"/>
          <a:stretch>
            <a:fillRect/>
          </a:stretch>
        </p:blipFill>
        <p:spPr>
          <a:xfrm>
            <a:off x="2379717" y="2892697"/>
            <a:ext cx="108107" cy="157246"/>
          </a:xfrm>
          <a:prstGeom prst="rect">
            <a:avLst/>
          </a:prstGeom>
        </p:spPr>
      </p:pic>
      <p:sp>
        <p:nvSpPr>
          <p:cNvPr id="54" name="TextBox 53"/>
          <p:cNvSpPr txBox="1"/>
          <p:nvPr/>
        </p:nvSpPr>
        <p:spPr>
          <a:xfrm>
            <a:off x="2011674" y="2643737"/>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5" name="Picture 54" descr="lock.png"/>
          <p:cNvPicPr>
            <a:picLocks noChangeAspect="1"/>
          </p:cNvPicPr>
          <p:nvPr/>
        </p:nvPicPr>
        <p:blipFill>
          <a:blip r:embed="rId5"/>
          <a:stretch>
            <a:fillRect/>
          </a:stretch>
        </p:blipFill>
        <p:spPr>
          <a:xfrm>
            <a:off x="2379717" y="2635522"/>
            <a:ext cx="108107" cy="157246"/>
          </a:xfrm>
          <a:prstGeom prst="rect">
            <a:avLst/>
          </a:prstGeom>
        </p:spPr>
      </p:pic>
      <p:sp>
        <p:nvSpPr>
          <p:cNvPr id="56" name="TextBox 55"/>
          <p:cNvSpPr txBox="1"/>
          <p:nvPr/>
        </p:nvSpPr>
        <p:spPr>
          <a:xfrm>
            <a:off x="2011674" y="2386562"/>
            <a:ext cx="423871" cy="159867"/>
          </a:xfrm>
          <a:prstGeom prst="rect">
            <a:avLst/>
          </a:prstGeom>
          <a:noFill/>
        </p:spPr>
        <p:txBody>
          <a:bodyPr wrap="none" lIns="0" rIns="0" tIns="0" bIns="0">
            <a:spAutoFit/>
          </a:bodyPr>
          <a:lstStyle/>
          <a:p>
            <a:r>
              <a:rPr sz="923" b="1">
                <a:solidFill>
                  <a:srgbClr val="FFFFFF"/>
                </a:solidFill>
                <a:latin typeface="Segoe UI"/>
              </a:rPr>
              <a:t>CAGR:</a:t>
            </a:r>
          </a:p>
        </p:txBody>
      </p:sp>
      <p:pic>
        <p:nvPicPr>
          <p:cNvPr id="57" name="Picture 56" descr="lock.png"/>
          <p:cNvPicPr>
            <a:picLocks noChangeAspect="1"/>
          </p:cNvPicPr>
          <p:nvPr/>
        </p:nvPicPr>
        <p:blipFill>
          <a:blip r:embed="rId5"/>
          <a:stretch>
            <a:fillRect/>
          </a:stretch>
        </p:blipFill>
        <p:spPr>
          <a:xfrm>
            <a:off x="2379717" y="2378347"/>
            <a:ext cx="108107" cy="157246"/>
          </a:xfrm>
          <a:prstGeom prst="rect">
            <a:avLst/>
          </a:prstGeom>
        </p:spPr>
      </p:pic>
      <p:sp>
        <p:nvSpPr>
          <p:cNvPr id="58" name="TextBox 57"/>
          <p:cNvSpPr txBox="1"/>
          <p:nvPr/>
        </p:nvSpPr>
        <p:spPr>
          <a:xfrm>
            <a:off x="276225" y="5372100"/>
            <a:ext cx="856084" cy="194310"/>
          </a:xfrm>
          <a:prstGeom prst="rect">
            <a:avLst/>
          </a:prstGeom>
          <a:noFill/>
        </p:spPr>
        <p:txBody>
          <a:bodyPr wrap="none" lIns="0" rIns="0" tIns="0" bIns="0">
            <a:spAutoFit/>
          </a:bodyPr>
          <a:lstStyle/>
          <a:p>
            <a:r>
              <a:rPr sz="1150" b="0">
                <a:solidFill>
                  <a:srgbClr val="252423"/>
                </a:solidFill>
                <a:latin typeface="Segoe UI"/>
              </a:rPr>
              <a:t>▪ Optimistic:</a:t>
            </a:r>
          </a:p>
        </p:txBody>
      </p:sp>
      <p:pic>
        <p:nvPicPr>
          <p:cNvPr id="59" name="Picture 58" descr="lock.png"/>
          <p:cNvPicPr>
            <a:picLocks noChangeAspect="1"/>
          </p:cNvPicPr>
          <p:nvPr/>
        </p:nvPicPr>
        <p:blipFill>
          <a:blip r:embed="rId5"/>
          <a:stretch>
            <a:fillRect/>
          </a:stretch>
        </p:blipFill>
        <p:spPr>
          <a:xfrm>
            <a:off x="1081463" y="5361876"/>
            <a:ext cx="134549" cy="195707"/>
          </a:xfrm>
          <a:prstGeom prst="rect">
            <a:avLst/>
          </a:prstGeom>
        </p:spPr>
      </p:pic>
      <p:sp>
        <p:nvSpPr>
          <p:cNvPr id="60" name="TextBox 59"/>
          <p:cNvSpPr txBox="1"/>
          <p:nvPr/>
        </p:nvSpPr>
        <p:spPr>
          <a:xfrm>
            <a:off x="1256572" y="5372100"/>
            <a:ext cx="1302221" cy="194310"/>
          </a:xfrm>
          <a:prstGeom prst="rect">
            <a:avLst/>
          </a:prstGeom>
          <a:noFill/>
        </p:spPr>
        <p:txBody>
          <a:bodyPr wrap="none" lIns="0" rIns="0" tIns="0" bIns="0">
            <a:spAutoFit/>
          </a:bodyPr>
          <a:lstStyle/>
          <a:p>
            <a:r>
              <a:rPr sz="1150" b="0">
                <a:solidFill>
                  <a:srgbClr val="252423"/>
                </a:solidFill>
                <a:latin typeface="Segoe UI"/>
              </a:rPr>
              <a:t>US$ Mn by 2036 at</a:t>
            </a:r>
          </a:p>
        </p:txBody>
      </p:sp>
      <p:pic>
        <p:nvPicPr>
          <p:cNvPr id="61" name="Picture 60" descr="lock.png"/>
          <p:cNvPicPr>
            <a:picLocks noChangeAspect="1"/>
          </p:cNvPicPr>
          <p:nvPr/>
        </p:nvPicPr>
        <p:blipFill>
          <a:blip r:embed="rId5"/>
          <a:stretch>
            <a:fillRect/>
          </a:stretch>
        </p:blipFill>
        <p:spPr>
          <a:xfrm>
            <a:off x="2507947" y="5361876"/>
            <a:ext cx="134549" cy="195707"/>
          </a:xfrm>
          <a:prstGeom prst="rect">
            <a:avLst/>
          </a:prstGeom>
        </p:spPr>
      </p:pic>
      <p:sp>
        <p:nvSpPr>
          <p:cNvPr id="62" name="TextBox 61"/>
          <p:cNvSpPr txBox="1"/>
          <p:nvPr/>
        </p:nvSpPr>
        <p:spPr>
          <a:xfrm>
            <a:off x="2683056" y="5372100"/>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3" name="TextBox 62"/>
          <p:cNvSpPr txBox="1"/>
          <p:nvPr/>
        </p:nvSpPr>
        <p:spPr>
          <a:xfrm>
            <a:off x="276225" y="5599938"/>
            <a:ext cx="1537734" cy="194310"/>
          </a:xfrm>
          <a:prstGeom prst="rect">
            <a:avLst/>
          </a:prstGeom>
          <a:noFill/>
        </p:spPr>
        <p:txBody>
          <a:bodyPr wrap="none" lIns="0" rIns="0" tIns="0" bIns="0">
            <a:spAutoFit/>
          </a:bodyPr>
          <a:lstStyle/>
          <a:p>
            <a:r>
              <a:rPr sz="1150" b="0">
                <a:solidFill>
                  <a:srgbClr val="252423"/>
                </a:solidFill>
                <a:latin typeface="Segoe UI"/>
              </a:rPr>
              <a:t>▪ Likely (base forecast):</a:t>
            </a:r>
          </a:p>
        </p:txBody>
      </p:sp>
      <p:pic>
        <p:nvPicPr>
          <p:cNvPr id="64" name="Picture 63" descr="lock.png"/>
          <p:cNvPicPr>
            <a:picLocks noChangeAspect="1"/>
          </p:cNvPicPr>
          <p:nvPr/>
        </p:nvPicPr>
        <p:blipFill>
          <a:blip r:embed="rId5"/>
          <a:stretch>
            <a:fillRect/>
          </a:stretch>
        </p:blipFill>
        <p:spPr>
          <a:xfrm>
            <a:off x="1763112" y="5589714"/>
            <a:ext cx="134549" cy="195707"/>
          </a:xfrm>
          <a:prstGeom prst="rect">
            <a:avLst/>
          </a:prstGeom>
        </p:spPr>
      </p:pic>
      <p:sp>
        <p:nvSpPr>
          <p:cNvPr id="65" name="TextBox 64"/>
          <p:cNvSpPr txBox="1"/>
          <p:nvPr/>
        </p:nvSpPr>
        <p:spPr>
          <a:xfrm>
            <a:off x="1938222" y="5599938"/>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66" name="Picture 65" descr="lock.png"/>
          <p:cNvPicPr>
            <a:picLocks noChangeAspect="1"/>
          </p:cNvPicPr>
          <p:nvPr/>
        </p:nvPicPr>
        <p:blipFill>
          <a:blip r:embed="rId5"/>
          <a:stretch>
            <a:fillRect/>
          </a:stretch>
        </p:blipFill>
        <p:spPr>
          <a:xfrm>
            <a:off x="2638201" y="5589714"/>
            <a:ext cx="134549" cy="195707"/>
          </a:xfrm>
          <a:prstGeom prst="rect">
            <a:avLst/>
          </a:prstGeom>
        </p:spPr>
      </p:pic>
      <p:sp>
        <p:nvSpPr>
          <p:cNvPr id="67" name="TextBox 66"/>
          <p:cNvSpPr txBox="1"/>
          <p:nvPr/>
        </p:nvSpPr>
        <p:spPr>
          <a:xfrm>
            <a:off x="2813310" y="5599938"/>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68" name="TextBox 67"/>
          <p:cNvSpPr txBox="1"/>
          <p:nvPr/>
        </p:nvSpPr>
        <p:spPr>
          <a:xfrm>
            <a:off x="276225" y="5827775"/>
            <a:ext cx="1022997" cy="194310"/>
          </a:xfrm>
          <a:prstGeom prst="rect">
            <a:avLst/>
          </a:prstGeom>
          <a:noFill/>
        </p:spPr>
        <p:txBody>
          <a:bodyPr wrap="none" lIns="0" rIns="0" tIns="0" bIns="0">
            <a:spAutoFit/>
          </a:bodyPr>
          <a:lstStyle/>
          <a:p>
            <a:r>
              <a:rPr sz="1150" b="0">
                <a:solidFill>
                  <a:srgbClr val="252423"/>
                </a:solidFill>
                <a:latin typeface="Segoe UI"/>
              </a:rPr>
              <a:t>▪ Conservative:</a:t>
            </a:r>
          </a:p>
        </p:txBody>
      </p:sp>
      <p:pic>
        <p:nvPicPr>
          <p:cNvPr id="69" name="Picture 68" descr="lock.png"/>
          <p:cNvPicPr>
            <a:picLocks noChangeAspect="1"/>
          </p:cNvPicPr>
          <p:nvPr/>
        </p:nvPicPr>
        <p:blipFill>
          <a:blip r:embed="rId5"/>
          <a:stretch>
            <a:fillRect/>
          </a:stretch>
        </p:blipFill>
        <p:spPr>
          <a:xfrm>
            <a:off x="1248376" y="5817552"/>
            <a:ext cx="134549" cy="195707"/>
          </a:xfrm>
          <a:prstGeom prst="rect">
            <a:avLst/>
          </a:prstGeom>
        </p:spPr>
      </p:pic>
      <p:sp>
        <p:nvSpPr>
          <p:cNvPr id="70" name="TextBox 69"/>
          <p:cNvSpPr txBox="1"/>
          <p:nvPr/>
        </p:nvSpPr>
        <p:spPr>
          <a:xfrm>
            <a:off x="1423486" y="5827775"/>
            <a:ext cx="750825" cy="194310"/>
          </a:xfrm>
          <a:prstGeom prst="rect">
            <a:avLst/>
          </a:prstGeom>
          <a:noFill/>
        </p:spPr>
        <p:txBody>
          <a:bodyPr wrap="none" lIns="0" rIns="0" tIns="0" bIns="0">
            <a:spAutoFit/>
          </a:bodyPr>
          <a:lstStyle/>
          <a:p>
            <a:r>
              <a:rPr sz="1150" b="0">
                <a:solidFill>
                  <a:srgbClr val="252423"/>
                </a:solidFill>
                <a:latin typeface="Segoe UI"/>
              </a:rPr>
              <a:t>US$ Mn at</a:t>
            </a:r>
          </a:p>
        </p:txBody>
      </p:sp>
      <p:pic>
        <p:nvPicPr>
          <p:cNvPr id="71" name="Picture 70" descr="lock.png"/>
          <p:cNvPicPr>
            <a:picLocks noChangeAspect="1"/>
          </p:cNvPicPr>
          <p:nvPr/>
        </p:nvPicPr>
        <p:blipFill>
          <a:blip r:embed="rId5"/>
          <a:stretch>
            <a:fillRect/>
          </a:stretch>
        </p:blipFill>
        <p:spPr>
          <a:xfrm>
            <a:off x="2123465" y="5817552"/>
            <a:ext cx="134549" cy="195707"/>
          </a:xfrm>
          <a:prstGeom prst="rect">
            <a:avLst/>
          </a:prstGeom>
        </p:spPr>
      </p:pic>
      <p:sp>
        <p:nvSpPr>
          <p:cNvPr id="72" name="TextBox 71"/>
          <p:cNvSpPr txBox="1"/>
          <p:nvPr/>
        </p:nvSpPr>
        <p:spPr>
          <a:xfrm>
            <a:off x="2298574" y="582777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73" name="TextBox 72"/>
          <p:cNvSpPr txBox="1"/>
          <p:nvPr/>
        </p:nvSpPr>
        <p:spPr>
          <a:xfrm>
            <a:off x="276225" y="6055613"/>
            <a:ext cx="3985849" cy="194310"/>
          </a:xfrm>
          <a:prstGeom prst="rect">
            <a:avLst/>
          </a:prstGeom>
          <a:noFill/>
        </p:spPr>
        <p:txBody>
          <a:bodyPr wrap="none" lIns="0" rIns="0" tIns="0" bIns="0">
            <a:spAutoFit/>
          </a:bodyPr>
          <a:lstStyle/>
          <a:p>
            <a:r>
              <a:rPr sz="1150" b="0">
                <a:solidFill>
                  <a:srgbClr val="252423"/>
                </a:solidFill>
                <a:latin typeface="Segoe U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4211228" y="6045390"/>
            <a:ext cx="134549" cy="195707"/>
          </a:xfrm>
          <a:prstGeom prst="rect">
            <a:avLst/>
          </a:prstGeom>
        </p:spPr>
      </p:pic>
      <p:sp>
        <p:nvSpPr>
          <p:cNvPr id="75" name="TextBox 74"/>
          <p:cNvSpPr txBox="1"/>
          <p:nvPr/>
        </p:nvSpPr>
        <p:spPr>
          <a:xfrm>
            <a:off x="4386338" y="6055613"/>
            <a:ext cx="2030443" cy="194310"/>
          </a:xfrm>
          <a:prstGeom prst="rect">
            <a:avLst/>
          </a:prstGeom>
          <a:noFill/>
        </p:spPr>
        <p:txBody>
          <a:bodyPr wrap="none" lIns="0" rIns="0" tIns="0" bIns="0">
            <a:spAutoFit/>
          </a:bodyPr>
          <a:lstStyle/>
          <a:p>
            <a:r>
              <a:rPr sz="1150" b="0">
                <a:solidFill>
                  <a:srgbClr val="252423"/>
                </a:solidFill>
                <a:latin typeface="Segoe UI"/>
              </a:rPr>
              <a:t>across the 2026–2036 horizon.</a:t>
            </a:r>
          </a:p>
        </p:txBody>
      </p:sp>
      <p:sp>
        <p:nvSpPr>
          <p:cNvPr id="76" name="lockshield_34"/>
          <p:cNvSpPr/>
          <p:nvPr/>
        </p:nvSpPr>
        <p:spPr>
          <a:xfrm>
            <a:off x="6267450" y="2095500"/>
            <a:ext cx="5686425" cy="2667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Western Europe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Western Europe Helium-3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 Country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8 countries,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Western Europe market down geographically. Each country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Germany</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Italy</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France</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U.K.</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Country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Country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lock.png"/>
          <p:cNvPicPr>
            <a:picLocks noChangeAspect="1"/>
          </p:cNvPicPr>
          <p:nvPr/>
        </p:nvPicPr>
        <p:blipFill>
          <a:blip r:embed="rId4"/>
          <a:stretch>
            <a:fillRect/>
          </a:stretch>
        </p:blipFill>
        <p:spPr>
          <a:xfrm>
            <a:off x="2986444" y="2339922"/>
            <a:ext cx="175498" cy="255270"/>
          </a:xfrm>
          <a:prstGeom prst="rect">
            <a:avLst/>
          </a:prstGeom>
        </p:spPr>
      </p:pic>
      <p:pic>
        <p:nvPicPr>
          <p:cNvPr id="62" name="Picture 61" descr="lock.png"/>
          <p:cNvPicPr>
            <a:picLocks noChangeAspect="1"/>
          </p:cNvPicPr>
          <p:nvPr/>
        </p:nvPicPr>
        <p:blipFill>
          <a:blip r:embed="rId4"/>
          <a:stretch>
            <a:fillRect/>
          </a:stretch>
        </p:blipFill>
        <p:spPr>
          <a:xfrm>
            <a:off x="2986444" y="2832772"/>
            <a:ext cx="175498" cy="255270"/>
          </a:xfrm>
          <a:prstGeom prst="rect">
            <a:avLst/>
          </a:prstGeom>
        </p:spPr>
      </p:pic>
      <p:pic>
        <p:nvPicPr>
          <p:cNvPr id="63" name="Picture 62" descr="lock.png"/>
          <p:cNvPicPr>
            <a:picLocks noChangeAspect="1"/>
          </p:cNvPicPr>
          <p:nvPr/>
        </p:nvPicPr>
        <p:blipFill>
          <a:blip r:embed="rId4"/>
          <a:stretch>
            <a:fillRect/>
          </a:stretch>
        </p:blipFill>
        <p:spPr>
          <a:xfrm>
            <a:off x="2986444" y="3325622"/>
            <a:ext cx="175498" cy="255270"/>
          </a:xfrm>
          <a:prstGeom prst="rect">
            <a:avLst/>
          </a:prstGeom>
        </p:spPr>
      </p:pic>
      <p:pic>
        <p:nvPicPr>
          <p:cNvPr id="64" name="Picture 63" descr="lock.png"/>
          <p:cNvPicPr>
            <a:picLocks noChangeAspect="1"/>
          </p:cNvPicPr>
          <p:nvPr/>
        </p:nvPicPr>
        <p:blipFill>
          <a:blip r:embed="rId4"/>
          <a:stretch>
            <a:fillRect/>
          </a:stretch>
        </p:blipFill>
        <p:spPr>
          <a:xfrm>
            <a:off x="5515333" y="2339922"/>
            <a:ext cx="175498" cy="255270"/>
          </a:xfrm>
          <a:prstGeom prst="rect">
            <a:avLst/>
          </a:prstGeom>
        </p:spPr>
      </p:pic>
      <p:pic>
        <p:nvPicPr>
          <p:cNvPr id="65" name="Picture 64" descr="lock.png"/>
          <p:cNvPicPr>
            <a:picLocks noChangeAspect="1"/>
          </p:cNvPicPr>
          <p:nvPr/>
        </p:nvPicPr>
        <p:blipFill>
          <a:blip r:embed="rId4"/>
          <a:stretch>
            <a:fillRect/>
          </a:stretch>
        </p:blipFill>
        <p:spPr>
          <a:xfrm>
            <a:off x="5515333" y="2832772"/>
            <a:ext cx="175498" cy="255270"/>
          </a:xfrm>
          <a:prstGeom prst="rect">
            <a:avLst/>
          </a:prstGeom>
        </p:spPr>
      </p:pic>
      <p:pic>
        <p:nvPicPr>
          <p:cNvPr id="66" name="Picture 65" descr="lock.png"/>
          <p:cNvPicPr>
            <a:picLocks noChangeAspect="1"/>
          </p:cNvPicPr>
          <p:nvPr/>
        </p:nvPicPr>
        <p:blipFill>
          <a:blip r:embed="rId4"/>
          <a:stretch>
            <a:fillRect/>
          </a:stretch>
        </p:blipFill>
        <p:spPr>
          <a:xfrm>
            <a:off x="5515333" y="3325622"/>
            <a:ext cx="175498" cy="255270"/>
          </a:xfrm>
          <a:prstGeom prst="rect">
            <a:avLst/>
          </a:prstGeom>
        </p:spPr>
      </p:pic>
      <p:pic>
        <p:nvPicPr>
          <p:cNvPr id="67" name="Picture 66" descr="lock.png"/>
          <p:cNvPicPr>
            <a:picLocks noChangeAspect="1"/>
          </p:cNvPicPr>
          <p:nvPr/>
        </p:nvPicPr>
        <p:blipFill>
          <a:blip r:embed="rId4"/>
          <a:stretch>
            <a:fillRect/>
          </a:stretch>
        </p:blipFill>
        <p:spPr>
          <a:xfrm>
            <a:off x="8044220" y="2339922"/>
            <a:ext cx="175498" cy="255270"/>
          </a:xfrm>
          <a:prstGeom prst="rect">
            <a:avLst/>
          </a:prstGeom>
        </p:spPr>
      </p:pic>
      <p:pic>
        <p:nvPicPr>
          <p:cNvPr id="68" name="Picture 67" descr="lock.png"/>
          <p:cNvPicPr>
            <a:picLocks noChangeAspect="1"/>
          </p:cNvPicPr>
          <p:nvPr/>
        </p:nvPicPr>
        <p:blipFill>
          <a:blip r:embed="rId4"/>
          <a:stretch>
            <a:fillRect/>
          </a:stretch>
        </p:blipFill>
        <p:spPr>
          <a:xfrm>
            <a:off x="8044220" y="2832772"/>
            <a:ext cx="175498" cy="255270"/>
          </a:xfrm>
          <a:prstGeom prst="rect">
            <a:avLst/>
          </a:prstGeom>
        </p:spPr>
      </p:pic>
      <p:pic>
        <p:nvPicPr>
          <p:cNvPr id="69" name="Picture 68" descr="lock.png"/>
          <p:cNvPicPr>
            <a:picLocks noChangeAspect="1"/>
          </p:cNvPicPr>
          <p:nvPr/>
        </p:nvPicPr>
        <p:blipFill>
          <a:blip r:embed="rId4"/>
          <a:stretch>
            <a:fillRect/>
          </a:stretch>
        </p:blipFill>
        <p:spPr>
          <a:xfrm>
            <a:off x="8044220" y="3325622"/>
            <a:ext cx="175498" cy="255270"/>
          </a:xfrm>
          <a:prstGeom prst="rect">
            <a:avLst/>
          </a:prstGeom>
        </p:spPr>
      </p:pic>
      <p:pic>
        <p:nvPicPr>
          <p:cNvPr id="70" name="Picture 69" descr="lock.png"/>
          <p:cNvPicPr>
            <a:picLocks noChangeAspect="1"/>
          </p:cNvPicPr>
          <p:nvPr/>
        </p:nvPicPr>
        <p:blipFill>
          <a:blip r:embed="rId4"/>
          <a:stretch>
            <a:fillRect/>
          </a:stretch>
        </p:blipFill>
        <p:spPr>
          <a:xfrm>
            <a:off x="10573106" y="2339922"/>
            <a:ext cx="175498" cy="255270"/>
          </a:xfrm>
          <a:prstGeom prst="rect">
            <a:avLst/>
          </a:prstGeom>
        </p:spPr>
      </p:pic>
      <p:pic>
        <p:nvPicPr>
          <p:cNvPr id="71" name="Picture 70" descr="lock.png"/>
          <p:cNvPicPr>
            <a:picLocks noChangeAspect="1"/>
          </p:cNvPicPr>
          <p:nvPr/>
        </p:nvPicPr>
        <p:blipFill>
          <a:blip r:embed="rId4"/>
          <a:stretch>
            <a:fillRect/>
          </a:stretch>
        </p:blipFill>
        <p:spPr>
          <a:xfrm>
            <a:off x="10573106" y="2832772"/>
            <a:ext cx="175498" cy="255270"/>
          </a:xfrm>
          <a:prstGeom prst="rect">
            <a:avLst/>
          </a:prstGeom>
        </p:spPr>
      </p:pic>
      <p:pic>
        <p:nvPicPr>
          <p:cNvPr id="72" name="Picture 71" descr="lock.png"/>
          <p:cNvPicPr>
            <a:picLocks noChangeAspect="1"/>
          </p:cNvPicPr>
          <p:nvPr/>
        </p:nvPicPr>
        <p:blipFill>
          <a:blip r:embed="rId4"/>
          <a:stretch>
            <a:fillRect/>
          </a:stretch>
        </p:blipFill>
        <p:spPr>
          <a:xfrm>
            <a:off x="10573106" y="3325622"/>
            <a:ext cx="175498" cy="255270"/>
          </a:xfrm>
          <a:prstGeom prst="rect">
            <a:avLst/>
          </a:prstGeom>
        </p:spPr>
      </p:pic>
      <p:sp>
        <p:nvSpPr>
          <p:cNvPr id="73" name="TextBox 72"/>
          <p:cNvSpPr txBox="1"/>
          <p:nvPr/>
        </p:nvSpPr>
        <p:spPr>
          <a:xfrm>
            <a:off x="485775" y="4229437"/>
            <a:ext cx="2633526" cy="186689"/>
          </a:xfrm>
          <a:prstGeom prst="rect">
            <a:avLst/>
          </a:prstGeom>
          <a:noFill/>
        </p:spPr>
        <p:txBody>
          <a:bodyPr wrap="none" lIns="0" rIns="0" tIns="0" bIns="0">
            <a:spAutoFit/>
          </a:bodyPr>
          <a:lstStyle/>
          <a:p>
            <a:r>
              <a:rPr sz="1100" b="0">
                <a:solidFill>
                  <a:srgbClr val="252423"/>
                </a:solidFill>
                <a:latin typeface="Segoe UI"/>
              </a:rPr>
              <a:t>Germany Helium-3 market is projected to</a:t>
            </a:r>
          </a:p>
        </p:txBody>
      </p:sp>
      <p:sp>
        <p:nvSpPr>
          <p:cNvPr id="74" name="TextBox 73"/>
          <p:cNvSpPr txBox="1"/>
          <p:nvPr/>
        </p:nvSpPr>
        <p:spPr>
          <a:xfrm>
            <a:off x="485775" y="4397077"/>
            <a:ext cx="542456" cy="186689"/>
          </a:xfrm>
          <a:prstGeom prst="rect">
            <a:avLst/>
          </a:prstGeom>
          <a:noFill/>
        </p:spPr>
        <p:txBody>
          <a:bodyPr wrap="none" lIns="0" rIns="0" tIns="0" bIns="0">
            <a:spAutoFit/>
          </a:bodyPr>
          <a:lstStyle/>
          <a:p>
            <a:r>
              <a:rPr sz="1100" b="0">
                <a:solidFill>
                  <a:srgbClr val="252423"/>
                </a:solidFill>
                <a:latin typeface="Segoe UI"/>
              </a:rPr>
              <a:t>register</a:t>
            </a:r>
          </a:p>
        </p:txBody>
      </p:sp>
      <p:pic>
        <p:nvPicPr>
          <p:cNvPr id="75" name="Picture 74" descr="lock.png"/>
          <p:cNvPicPr>
            <a:picLocks noChangeAspect="1"/>
          </p:cNvPicPr>
          <p:nvPr/>
        </p:nvPicPr>
        <p:blipFill>
          <a:blip r:embed="rId4"/>
          <a:stretch>
            <a:fillRect/>
          </a:stretch>
        </p:blipFill>
        <p:spPr>
          <a:xfrm>
            <a:off x="976283" y="4387298"/>
            <a:ext cx="128699" cy="187198"/>
          </a:xfrm>
          <a:prstGeom prst="rect">
            <a:avLst/>
          </a:prstGeom>
        </p:spPr>
      </p:pic>
      <p:sp>
        <p:nvSpPr>
          <p:cNvPr id="76" name="TextBox 75"/>
          <p:cNvSpPr txBox="1"/>
          <p:nvPr/>
        </p:nvSpPr>
        <p:spPr>
          <a:xfrm>
            <a:off x="1143778" y="4397077"/>
            <a:ext cx="2086804" cy="186689"/>
          </a:xfrm>
          <a:prstGeom prst="rect">
            <a:avLst/>
          </a:prstGeom>
          <a:noFill/>
        </p:spPr>
        <p:txBody>
          <a:bodyPr wrap="none" lIns="0" rIns="0" tIns="0" bIns="0">
            <a:spAutoFit/>
          </a:bodyPr>
          <a:lstStyle/>
          <a:p>
            <a:r>
              <a:rPr sz="1100" b="0">
                <a:solidFill>
                  <a:srgbClr val="252423"/>
                </a:solidFill>
                <a:latin typeface="Segoe UI"/>
              </a:rPr>
              <a:t>X higher value than Italy in 2036.</a:t>
            </a:r>
          </a:p>
        </p:txBody>
      </p:sp>
      <p:sp>
        <p:nvSpPr>
          <p:cNvPr id="77" name="TextBox 76"/>
          <p:cNvSpPr txBox="1"/>
          <p:nvPr/>
        </p:nvSpPr>
        <p:spPr>
          <a:xfrm>
            <a:off x="485775" y="4564717"/>
            <a:ext cx="2589141" cy="186689"/>
          </a:xfrm>
          <a:prstGeom prst="rect">
            <a:avLst/>
          </a:prstGeom>
          <a:noFill/>
        </p:spPr>
        <p:txBody>
          <a:bodyPr wrap="none" lIns="0" rIns="0" tIns="0" bIns="0">
            <a:spAutoFit/>
          </a:bodyPr>
          <a:lstStyle/>
          <a:p>
            <a:r>
              <a:rPr sz="1100" b="0">
                <a:solidFill>
                  <a:srgbClr val="252423"/>
                </a:solidFill>
                <a:latin typeface="Segoe UI"/>
              </a:rPr>
              <a:t>Among Helium-3 by country, Germany is</a:t>
            </a:r>
          </a:p>
        </p:txBody>
      </p:sp>
      <p:sp>
        <p:nvSpPr>
          <p:cNvPr id="78" name="TextBox 77"/>
          <p:cNvSpPr txBox="1"/>
          <p:nvPr/>
        </p:nvSpPr>
        <p:spPr>
          <a:xfrm>
            <a:off x="485775" y="4732357"/>
            <a:ext cx="2583057" cy="186689"/>
          </a:xfrm>
          <a:prstGeom prst="rect">
            <a:avLst/>
          </a:prstGeom>
          <a:noFill/>
        </p:spPr>
        <p:txBody>
          <a:bodyPr wrap="none" lIns="0" rIns="0" tIns="0" bIns="0">
            <a:spAutoFit/>
          </a:bodyPr>
          <a:lstStyle/>
          <a:p>
            <a:r>
              <a:rPr sz="1100" b="0">
                <a:solidFill>
                  <a:srgbClr val="252423"/>
                </a:solidFill>
                <a:latin typeface="Segoe UI"/>
              </a:rPr>
              <a:t>expected to witness the highest CAGR of</a:t>
            </a:r>
          </a:p>
        </p:txBody>
      </p:sp>
      <p:pic>
        <p:nvPicPr>
          <p:cNvPr id="79" name="Picture 78" descr="lock.png"/>
          <p:cNvPicPr>
            <a:picLocks noChangeAspect="1"/>
          </p:cNvPicPr>
          <p:nvPr/>
        </p:nvPicPr>
        <p:blipFill>
          <a:blip r:embed="rId4"/>
          <a:stretch>
            <a:fillRect/>
          </a:stretch>
        </p:blipFill>
        <p:spPr>
          <a:xfrm>
            <a:off x="3016884" y="4722578"/>
            <a:ext cx="128699" cy="187198"/>
          </a:xfrm>
          <a:prstGeom prst="rect">
            <a:avLst/>
          </a:prstGeom>
        </p:spPr>
      </p:pic>
      <p:sp>
        <p:nvSpPr>
          <p:cNvPr id="80" name="TextBox 79"/>
          <p:cNvSpPr txBox="1"/>
          <p:nvPr/>
        </p:nvSpPr>
        <p:spPr>
          <a:xfrm>
            <a:off x="485775" y="4899997"/>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81" name="TextBox 80"/>
          <p:cNvSpPr txBox="1"/>
          <p:nvPr/>
        </p:nvSpPr>
        <p:spPr>
          <a:xfrm>
            <a:off x="485775" y="5117929"/>
            <a:ext cx="2914650" cy="186689"/>
          </a:xfrm>
          <a:prstGeom prst="rect">
            <a:avLst/>
          </a:prstGeom>
          <a:noFill/>
        </p:spPr>
        <p:txBody>
          <a:bodyPr wrap="none" lIns="0" rIns="0" tIns="0" bIns="0">
            <a:spAutoFit/>
          </a:bodyPr>
          <a:lstStyle/>
          <a:p>
            <a:r>
              <a:rPr sz="1100" b="0">
                <a:solidFill>
                  <a:srgbClr val="252423"/>
                </a:solidFill>
                <a:latin typeface="Segoe UI"/>
              </a:rPr>
              <a:t>In terms of value share by country, Germany is</a:t>
            </a:r>
          </a:p>
        </p:txBody>
      </p:sp>
      <p:sp>
        <p:nvSpPr>
          <p:cNvPr id="82" name="TextBox 81"/>
          <p:cNvSpPr txBox="1"/>
          <p:nvPr/>
        </p:nvSpPr>
        <p:spPr>
          <a:xfrm>
            <a:off x="485775" y="5285569"/>
            <a:ext cx="2668196" cy="186689"/>
          </a:xfrm>
          <a:prstGeom prst="rect">
            <a:avLst/>
          </a:prstGeom>
          <a:noFill/>
        </p:spPr>
        <p:txBody>
          <a:bodyPr wrap="none" lIns="0" rIns="0" tIns="0" bIns="0">
            <a:spAutoFit/>
          </a:bodyPr>
          <a:lstStyle/>
          <a:p>
            <a:r>
              <a:rPr sz="1100" b="0">
                <a:solidFill>
                  <a:srgbClr val="252423"/>
                </a:solidFill>
                <a:latin typeface="Segoe UI"/>
              </a:rPr>
              <a:t>expected to dominate the market, gaining</a:t>
            </a:r>
          </a:p>
        </p:txBody>
      </p:sp>
      <p:pic>
        <p:nvPicPr>
          <p:cNvPr id="83" name="Picture 82" descr="lock.png"/>
          <p:cNvPicPr>
            <a:picLocks noChangeAspect="1"/>
          </p:cNvPicPr>
          <p:nvPr/>
        </p:nvPicPr>
        <p:blipFill>
          <a:blip r:embed="rId4"/>
          <a:stretch>
            <a:fillRect/>
          </a:stretch>
        </p:blipFill>
        <p:spPr>
          <a:xfrm>
            <a:off x="3102022" y="5275790"/>
            <a:ext cx="128699" cy="187198"/>
          </a:xfrm>
          <a:prstGeom prst="rect">
            <a:avLst/>
          </a:prstGeom>
        </p:spPr>
      </p:pic>
      <p:sp>
        <p:nvSpPr>
          <p:cNvPr id="84" name="TextBox 83"/>
          <p:cNvSpPr txBox="1"/>
          <p:nvPr/>
        </p:nvSpPr>
        <p:spPr>
          <a:xfrm>
            <a:off x="485775" y="5453209"/>
            <a:ext cx="1513854" cy="186689"/>
          </a:xfrm>
          <a:prstGeom prst="rect">
            <a:avLst/>
          </a:prstGeom>
          <a:noFill/>
        </p:spPr>
        <p:txBody>
          <a:bodyPr wrap="none" lIns="0" rIns="0" tIns="0" bIns="0">
            <a:spAutoFit/>
          </a:bodyPr>
          <a:lstStyle/>
          <a:p>
            <a:r>
              <a:rPr sz="1100" b="0">
                <a:solidFill>
                  <a:srgbClr val="252423"/>
                </a:solidFill>
                <a:latin typeface="Segoe UI"/>
              </a:rPr>
              <a:t>BPS and accounting for</a:t>
            </a:r>
          </a:p>
        </p:txBody>
      </p:sp>
      <p:pic>
        <p:nvPicPr>
          <p:cNvPr id="85" name="Picture 84" descr="lock.png"/>
          <p:cNvPicPr>
            <a:picLocks noChangeAspect="1"/>
          </p:cNvPicPr>
          <p:nvPr/>
        </p:nvPicPr>
        <p:blipFill>
          <a:blip r:embed="rId4"/>
          <a:stretch>
            <a:fillRect/>
          </a:stretch>
        </p:blipFill>
        <p:spPr>
          <a:xfrm>
            <a:off x="1947681" y="5443430"/>
            <a:ext cx="128699" cy="187198"/>
          </a:xfrm>
          <a:prstGeom prst="rect">
            <a:avLst/>
          </a:prstGeom>
        </p:spPr>
      </p:pic>
      <p:sp>
        <p:nvSpPr>
          <p:cNvPr id="86" name="TextBox 85"/>
          <p:cNvSpPr txBox="1"/>
          <p:nvPr/>
        </p:nvSpPr>
        <p:spPr>
          <a:xfrm>
            <a:off x="2115177" y="5453209"/>
            <a:ext cx="965120" cy="186689"/>
          </a:xfrm>
          <a:prstGeom prst="rect">
            <a:avLst/>
          </a:prstGeom>
          <a:noFill/>
        </p:spPr>
        <p:txBody>
          <a:bodyPr wrap="none" lIns="0" rIns="0" tIns="0" bIns="0">
            <a:spAutoFit/>
          </a:bodyPr>
          <a:lstStyle/>
          <a:p>
            <a:r>
              <a:rPr sz="1100" b="0">
                <a:solidFill>
                  <a:srgbClr val="252423"/>
                </a:solidFill>
                <a:latin typeface="Segoe UI"/>
              </a:rPr>
              <a:t>share by 2036.</a:t>
            </a:r>
          </a:p>
        </p:txBody>
      </p:sp>
      <p:sp>
        <p:nvSpPr>
          <p:cNvPr id="87" name="TextBox 86"/>
          <p:cNvSpPr txBox="1"/>
          <p:nvPr/>
        </p:nvSpPr>
        <p:spPr>
          <a:xfrm>
            <a:off x="485775" y="5620849"/>
            <a:ext cx="1516822" cy="186689"/>
          </a:xfrm>
          <a:prstGeom prst="rect">
            <a:avLst/>
          </a:prstGeom>
          <a:noFill/>
        </p:spPr>
        <p:txBody>
          <a:bodyPr wrap="none" lIns="0" rIns="0" tIns="0" bIns="0">
            <a:spAutoFit/>
          </a:bodyPr>
          <a:lstStyle/>
          <a:p>
            <a:r>
              <a:rPr sz="1100" b="0">
                <a:solidFill>
                  <a:srgbClr val="252423"/>
                </a:solidFill>
                <a:latin typeface="Segoe UI"/>
              </a:rPr>
              <a:t>Italy is expected to lose</a:t>
            </a:r>
          </a:p>
        </p:txBody>
      </p:sp>
      <p:pic>
        <p:nvPicPr>
          <p:cNvPr id="88" name="Picture 87" descr="lock.png"/>
          <p:cNvPicPr>
            <a:picLocks noChangeAspect="1"/>
          </p:cNvPicPr>
          <p:nvPr/>
        </p:nvPicPr>
        <p:blipFill>
          <a:blip r:embed="rId4"/>
          <a:stretch>
            <a:fillRect/>
          </a:stretch>
        </p:blipFill>
        <p:spPr>
          <a:xfrm>
            <a:off x="1950648" y="5611070"/>
            <a:ext cx="128699" cy="187198"/>
          </a:xfrm>
          <a:prstGeom prst="rect">
            <a:avLst/>
          </a:prstGeom>
        </p:spPr>
      </p:pic>
      <p:sp>
        <p:nvSpPr>
          <p:cNvPr id="89" name="TextBox 88"/>
          <p:cNvSpPr txBox="1"/>
          <p:nvPr/>
        </p:nvSpPr>
        <p:spPr>
          <a:xfrm>
            <a:off x="2118144" y="5620849"/>
            <a:ext cx="855451" cy="186689"/>
          </a:xfrm>
          <a:prstGeom prst="rect">
            <a:avLst/>
          </a:prstGeom>
          <a:noFill/>
        </p:spPr>
        <p:txBody>
          <a:bodyPr wrap="none" lIns="0" rIns="0" tIns="0" bIns="0">
            <a:spAutoFit/>
          </a:bodyPr>
          <a:lstStyle/>
          <a:p>
            <a:r>
              <a:rPr sz="1100" b="0">
                <a:solidFill>
                  <a:srgbClr val="252423"/>
                </a:solidFill>
                <a:latin typeface="Segoe UI"/>
              </a:rPr>
              <a:t>BPS over the</a:t>
            </a:r>
          </a:p>
        </p:txBody>
      </p:sp>
      <p:sp>
        <p:nvSpPr>
          <p:cNvPr id="90" name="TextBox 89"/>
          <p:cNvSpPr txBox="1"/>
          <p:nvPr/>
        </p:nvSpPr>
        <p:spPr>
          <a:xfrm>
            <a:off x="485775" y="5788489"/>
            <a:ext cx="1912171" cy="186689"/>
          </a:xfrm>
          <a:prstGeom prst="rect">
            <a:avLst/>
          </a:prstGeom>
          <a:noFill/>
        </p:spPr>
        <p:txBody>
          <a:bodyPr wrap="none" lIns="0" rIns="0" tIns="0" bIns="0">
            <a:spAutoFit/>
          </a:bodyPr>
          <a:lstStyle/>
          <a:p>
            <a:r>
              <a:rPr sz="1100" b="0">
                <a:solidFill>
                  <a:srgbClr val="252423"/>
                </a:solidFill>
                <a:latin typeface="Segoe UI"/>
              </a:rPr>
              <a:t>forecast period to account for</a:t>
            </a:r>
          </a:p>
        </p:txBody>
      </p:sp>
      <p:pic>
        <p:nvPicPr>
          <p:cNvPr id="91" name="Picture 90" descr="lock.png"/>
          <p:cNvPicPr>
            <a:picLocks noChangeAspect="1"/>
          </p:cNvPicPr>
          <p:nvPr/>
        </p:nvPicPr>
        <p:blipFill>
          <a:blip r:embed="rId4"/>
          <a:stretch>
            <a:fillRect/>
          </a:stretch>
        </p:blipFill>
        <p:spPr>
          <a:xfrm>
            <a:off x="2345997" y="5778710"/>
            <a:ext cx="128699" cy="187198"/>
          </a:xfrm>
          <a:prstGeom prst="rect">
            <a:avLst/>
          </a:prstGeom>
        </p:spPr>
      </p:pic>
      <p:sp>
        <p:nvSpPr>
          <p:cNvPr id="92" name="TextBox 91"/>
          <p:cNvSpPr txBox="1"/>
          <p:nvPr/>
        </p:nvSpPr>
        <p:spPr>
          <a:xfrm>
            <a:off x="2513493" y="5788489"/>
            <a:ext cx="595406" cy="186689"/>
          </a:xfrm>
          <a:prstGeom prst="rect">
            <a:avLst/>
          </a:prstGeom>
          <a:noFill/>
        </p:spPr>
        <p:txBody>
          <a:bodyPr wrap="none" lIns="0" rIns="0" tIns="0" bIns="0">
            <a:spAutoFit/>
          </a:bodyPr>
          <a:lstStyle/>
          <a:p>
            <a:r>
              <a:rPr sz="1100" b="0">
                <a:solidFill>
                  <a:srgbClr val="252423"/>
                </a:solidFill>
                <a:latin typeface="Segoe UI"/>
              </a:rPr>
              <a:t>share by</a:t>
            </a:r>
          </a:p>
        </p:txBody>
      </p:sp>
      <p:sp>
        <p:nvSpPr>
          <p:cNvPr id="93" name="TextBox 92"/>
          <p:cNvSpPr txBox="1"/>
          <p:nvPr/>
        </p:nvSpPr>
        <p:spPr>
          <a:xfrm>
            <a:off x="485775" y="5956129"/>
            <a:ext cx="407714" cy="186689"/>
          </a:xfrm>
          <a:prstGeom prst="rect">
            <a:avLst/>
          </a:prstGeom>
          <a:noFill/>
        </p:spPr>
        <p:txBody>
          <a:bodyPr wrap="none" lIns="0" rIns="0" tIns="0" bIns="0">
            <a:spAutoFit/>
          </a:bodyPr>
          <a:lstStyle/>
          <a:p>
            <a:r>
              <a:rPr sz="1100" b="0">
                <a:solidFill>
                  <a:srgbClr val="252423"/>
                </a:solidFill>
                <a:latin typeface="Segoe UI"/>
              </a:rPr>
              <a:t>2036.</a:t>
            </a:r>
          </a:p>
        </p:txBody>
      </p:sp>
      <p:sp>
        <p:nvSpPr>
          <p:cNvPr id="94" name="TextBox 93"/>
          <p:cNvSpPr txBox="1"/>
          <p:nvPr/>
        </p:nvSpPr>
        <p:spPr>
          <a:xfrm>
            <a:off x="3838575" y="4229437"/>
            <a:ext cx="784791" cy="186689"/>
          </a:xfrm>
          <a:prstGeom prst="rect">
            <a:avLst/>
          </a:prstGeom>
          <a:noFill/>
        </p:spPr>
        <p:txBody>
          <a:bodyPr wrap="none" lIns="0" rIns="0" tIns="0" bIns="0">
            <a:spAutoFit/>
          </a:bodyPr>
          <a:lstStyle/>
          <a:p>
            <a:r>
              <a:rPr sz="1100" b="0">
                <a:solidFill>
                  <a:srgbClr val="252423"/>
                </a:solidFill>
                <a:latin typeface="Segoe UI"/>
              </a:rPr>
              <a:t>● Germany:</a:t>
            </a:r>
          </a:p>
        </p:txBody>
      </p:sp>
      <p:pic>
        <p:nvPicPr>
          <p:cNvPr id="95" name="Picture 94" descr="lock.png"/>
          <p:cNvPicPr>
            <a:picLocks noChangeAspect="1"/>
          </p:cNvPicPr>
          <p:nvPr/>
        </p:nvPicPr>
        <p:blipFill>
          <a:blip r:embed="rId4"/>
          <a:stretch>
            <a:fillRect/>
          </a:stretch>
        </p:blipFill>
        <p:spPr>
          <a:xfrm>
            <a:off x="4571417" y="4219658"/>
            <a:ext cx="128699" cy="187198"/>
          </a:xfrm>
          <a:prstGeom prst="rect">
            <a:avLst/>
          </a:prstGeom>
        </p:spPr>
      </p:pic>
      <p:sp>
        <p:nvSpPr>
          <p:cNvPr id="96" name="TextBox 95"/>
          <p:cNvSpPr txBox="1"/>
          <p:nvPr/>
        </p:nvSpPr>
        <p:spPr>
          <a:xfrm>
            <a:off x="4738913"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7" name="Picture 96" descr="lock.png"/>
          <p:cNvPicPr>
            <a:picLocks noChangeAspect="1"/>
          </p:cNvPicPr>
          <p:nvPr/>
        </p:nvPicPr>
        <p:blipFill>
          <a:blip r:embed="rId4"/>
          <a:stretch>
            <a:fillRect/>
          </a:stretch>
        </p:blipFill>
        <p:spPr>
          <a:xfrm>
            <a:off x="5658860" y="4219658"/>
            <a:ext cx="128699" cy="187198"/>
          </a:xfrm>
          <a:prstGeom prst="rect">
            <a:avLst/>
          </a:prstGeom>
        </p:spPr>
      </p:pic>
      <p:sp>
        <p:nvSpPr>
          <p:cNvPr id="98" name="TextBox 97"/>
          <p:cNvSpPr txBox="1"/>
          <p:nvPr/>
        </p:nvSpPr>
        <p:spPr>
          <a:xfrm>
            <a:off x="5826356" y="4229437"/>
            <a:ext cx="1526606" cy="186689"/>
          </a:xfrm>
          <a:prstGeom prst="rect">
            <a:avLst/>
          </a:prstGeom>
          <a:noFill/>
        </p:spPr>
        <p:txBody>
          <a:bodyPr wrap="none" lIns="0" rIns="0" tIns="0" bIns="0">
            <a:spAutoFit/>
          </a:bodyPr>
          <a:lstStyle/>
          <a:p>
            <a:r>
              <a:rPr sz="1100" b="0">
                <a:solidFill>
                  <a:srgbClr val="252423"/>
                </a:solidFill>
                <a:latin typeface="Segoe UI"/>
              </a:rPr>
              <a:t>CAGR leads the market.</a:t>
            </a:r>
          </a:p>
        </p:txBody>
      </p:sp>
      <p:sp>
        <p:nvSpPr>
          <p:cNvPr id="99" name="TextBox 98"/>
          <p:cNvSpPr txBox="1"/>
          <p:nvPr/>
        </p:nvSpPr>
        <p:spPr>
          <a:xfrm>
            <a:off x="3838575" y="4447369"/>
            <a:ext cx="486295" cy="186689"/>
          </a:xfrm>
          <a:prstGeom prst="rect">
            <a:avLst/>
          </a:prstGeom>
          <a:noFill/>
        </p:spPr>
        <p:txBody>
          <a:bodyPr wrap="none" lIns="0" rIns="0" tIns="0" bIns="0">
            <a:spAutoFit/>
          </a:bodyPr>
          <a:lstStyle/>
          <a:p>
            <a:r>
              <a:rPr sz="1100" b="0">
                <a:solidFill>
                  <a:srgbClr val="252423"/>
                </a:solidFill>
                <a:latin typeface="Segoe UI"/>
              </a:rPr>
              <a:t>● Italy:</a:t>
            </a:r>
          </a:p>
        </p:txBody>
      </p:sp>
      <p:pic>
        <p:nvPicPr>
          <p:cNvPr id="100" name="Picture 99" descr="lock.png"/>
          <p:cNvPicPr>
            <a:picLocks noChangeAspect="1"/>
          </p:cNvPicPr>
          <p:nvPr/>
        </p:nvPicPr>
        <p:blipFill>
          <a:blip r:embed="rId4"/>
          <a:stretch>
            <a:fillRect/>
          </a:stretch>
        </p:blipFill>
        <p:spPr>
          <a:xfrm>
            <a:off x="4272922" y="4437590"/>
            <a:ext cx="128699" cy="187198"/>
          </a:xfrm>
          <a:prstGeom prst="rect">
            <a:avLst/>
          </a:prstGeom>
        </p:spPr>
      </p:pic>
      <p:sp>
        <p:nvSpPr>
          <p:cNvPr id="101" name="TextBox 100"/>
          <p:cNvSpPr txBox="1"/>
          <p:nvPr/>
        </p:nvSpPr>
        <p:spPr>
          <a:xfrm>
            <a:off x="4440418" y="444736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2" name="Picture 101" descr="lock.png"/>
          <p:cNvPicPr>
            <a:picLocks noChangeAspect="1"/>
          </p:cNvPicPr>
          <p:nvPr/>
        </p:nvPicPr>
        <p:blipFill>
          <a:blip r:embed="rId4"/>
          <a:stretch>
            <a:fillRect/>
          </a:stretch>
        </p:blipFill>
        <p:spPr>
          <a:xfrm>
            <a:off x="5360364" y="4437590"/>
            <a:ext cx="128699" cy="187198"/>
          </a:xfrm>
          <a:prstGeom prst="rect">
            <a:avLst/>
          </a:prstGeom>
        </p:spPr>
      </p:pic>
      <p:sp>
        <p:nvSpPr>
          <p:cNvPr id="103" name="TextBox 102"/>
          <p:cNvSpPr txBox="1"/>
          <p:nvPr/>
        </p:nvSpPr>
        <p:spPr>
          <a:xfrm>
            <a:off x="5527860" y="444736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04" name="TextBox 103"/>
          <p:cNvSpPr txBox="1"/>
          <p:nvPr/>
        </p:nvSpPr>
        <p:spPr>
          <a:xfrm>
            <a:off x="3838575" y="4665301"/>
            <a:ext cx="633908" cy="186689"/>
          </a:xfrm>
          <a:prstGeom prst="rect">
            <a:avLst/>
          </a:prstGeom>
          <a:noFill/>
        </p:spPr>
        <p:txBody>
          <a:bodyPr wrap="none" lIns="0" rIns="0" tIns="0" bIns="0">
            <a:spAutoFit/>
          </a:bodyPr>
          <a:lstStyle/>
          <a:p>
            <a:r>
              <a:rPr sz="1100" b="0">
                <a:solidFill>
                  <a:srgbClr val="252423"/>
                </a:solidFill>
                <a:latin typeface="Segoe UI"/>
              </a:rPr>
              <a:t>● France:</a:t>
            </a:r>
          </a:p>
        </p:txBody>
      </p:sp>
      <p:pic>
        <p:nvPicPr>
          <p:cNvPr id="105" name="Picture 104" descr="lock.png"/>
          <p:cNvPicPr>
            <a:picLocks noChangeAspect="1"/>
          </p:cNvPicPr>
          <p:nvPr/>
        </p:nvPicPr>
        <p:blipFill>
          <a:blip r:embed="rId4"/>
          <a:stretch>
            <a:fillRect/>
          </a:stretch>
        </p:blipFill>
        <p:spPr>
          <a:xfrm>
            <a:off x="4420535" y="4655522"/>
            <a:ext cx="128699" cy="187198"/>
          </a:xfrm>
          <a:prstGeom prst="rect">
            <a:avLst/>
          </a:prstGeom>
        </p:spPr>
      </p:pic>
      <p:sp>
        <p:nvSpPr>
          <p:cNvPr id="106" name="TextBox 105"/>
          <p:cNvSpPr txBox="1"/>
          <p:nvPr/>
        </p:nvSpPr>
        <p:spPr>
          <a:xfrm>
            <a:off x="4588031" y="466530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07" name="Picture 106" descr="lock.png"/>
          <p:cNvPicPr>
            <a:picLocks noChangeAspect="1"/>
          </p:cNvPicPr>
          <p:nvPr/>
        </p:nvPicPr>
        <p:blipFill>
          <a:blip r:embed="rId4"/>
          <a:stretch>
            <a:fillRect/>
          </a:stretch>
        </p:blipFill>
        <p:spPr>
          <a:xfrm>
            <a:off x="5507977" y="4655522"/>
            <a:ext cx="128699" cy="187198"/>
          </a:xfrm>
          <a:prstGeom prst="rect">
            <a:avLst/>
          </a:prstGeom>
        </p:spPr>
      </p:pic>
      <p:sp>
        <p:nvSpPr>
          <p:cNvPr id="108" name="TextBox 107"/>
          <p:cNvSpPr txBox="1"/>
          <p:nvPr/>
        </p:nvSpPr>
        <p:spPr>
          <a:xfrm>
            <a:off x="5675473" y="4665301"/>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09" name="TextBox 108"/>
          <p:cNvSpPr txBox="1"/>
          <p:nvPr/>
        </p:nvSpPr>
        <p:spPr>
          <a:xfrm>
            <a:off x="3838575" y="4883233"/>
            <a:ext cx="466650" cy="186689"/>
          </a:xfrm>
          <a:prstGeom prst="rect">
            <a:avLst/>
          </a:prstGeom>
          <a:noFill/>
        </p:spPr>
        <p:txBody>
          <a:bodyPr wrap="none" lIns="0" rIns="0" tIns="0" bIns="0">
            <a:spAutoFit/>
          </a:bodyPr>
          <a:lstStyle/>
          <a:p>
            <a:r>
              <a:rPr sz="1100" b="0">
                <a:solidFill>
                  <a:srgbClr val="252423"/>
                </a:solidFill>
                <a:latin typeface="Segoe UI"/>
              </a:rPr>
              <a:t>● U.K.:</a:t>
            </a:r>
          </a:p>
        </p:txBody>
      </p:sp>
      <p:pic>
        <p:nvPicPr>
          <p:cNvPr id="110" name="Picture 109" descr="lock.png"/>
          <p:cNvPicPr>
            <a:picLocks noChangeAspect="1"/>
          </p:cNvPicPr>
          <p:nvPr/>
        </p:nvPicPr>
        <p:blipFill>
          <a:blip r:embed="rId4"/>
          <a:stretch>
            <a:fillRect/>
          </a:stretch>
        </p:blipFill>
        <p:spPr>
          <a:xfrm>
            <a:off x="4253277" y="4873454"/>
            <a:ext cx="128699" cy="187198"/>
          </a:xfrm>
          <a:prstGeom prst="rect">
            <a:avLst/>
          </a:prstGeom>
        </p:spPr>
      </p:pic>
      <p:sp>
        <p:nvSpPr>
          <p:cNvPr id="111" name="TextBox 110"/>
          <p:cNvSpPr txBox="1"/>
          <p:nvPr/>
        </p:nvSpPr>
        <p:spPr>
          <a:xfrm>
            <a:off x="4420773" y="488323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2" name="Picture 111" descr="lock.png"/>
          <p:cNvPicPr>
            <a:picLocks noChangeAspect="1"/>
          </p:cNvPicPr>
          <p:nvPr/>
        </p:nvPicPr>
        <p:blipFill>
          <a:blip r:embed="rId4"/>
          <a:stretch>
            <a:fillRect/>
          </a:stretch>
        </p:blipFill>
        <p:spPr>
          <a:xfrm>
            <a:off x="5340719" y="4873454"/>
            <a:ext cx="128699" cy="187198"/>
          </a:xfrm>
          <a:prstGeom prst="rect">
            <a:avLst/>
          </a:prstGeom>
        </p:spPr>
      </p:pic>
      <p:sp>
        <p:nvSpPr>
          <p:cNvPr id="113" name="TextBox 112"/>
          <p:cNvSpPr txBox="1"/>
          <p:nvPr/>
        </p:nvSpPr>
        <p:spPr>
          <a:xfrm>
            <a:off x="5508215" y="4883233"/>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114" name="TextBox 113"/>
          <p:cNvSpPr txBox="1"/>
          <p:nvPr/>
        </p:nvSpPr>
        <p:spPr>
          <a:xfrm>
            <a:off x="8524875" y="5842641"/>
            <a:ext cx="3021027" cy="194310"/>
          </a:xfrm>
          <a:prstGeom prst="rect">
            <a:avLst/>
          </a:prstGeom>
          <a:noFill/>
        </p:spPr>
        <p:txBody>
          <a:bodyPr wrap="none" lIns="0" rIns="0" tIns="0" bIns="0">
            <a:spAutoFit/>
          </a:bodyPr>
          <a:lstStyle/>
          <a:p>
            <a:r>
              <a:rPr sz="1150" b="1">
                <a:solidFill>
                  <a:srgbClr val="0E3A5F"/>
                </a:solidFill>
                <a:latin typeface="Segoe UI"/>
              </a:rPr>
              <a:t>The Western Europe market is projected to</a:t>
            </a:r>
          </a:p>
        </p:txBody>
      </p:sp>
      <p:sp>
        <p:nvSpPr>
          <p:cNvPr id="115" name="TextBox 114"/>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116" name="Picture 115" descr="lock.png"/>
          <p:cNvPicPr>
            <a:picLocks noChangeAspect="1"/>
          </p:cNvPicPr>
          <p:nvPr/>
        </p:nvPicPr>
        <p:blipFill>
          <a:blip r:embed="rId4"/>
          <a:stretch>
            <a:fillRect/>
          </a:stretch>
        </p:blipFill>
        <p:spPr>
          <a:xfrm>
            <a:off x="9817830" y="6007677"/>
            <a:ext cx="134549" cy="195707"/>
          </a:xfrm>
          <a:prstGeom prst="rect">
            <a:avLst/>
          </a:prstGeom>
        </p:spPr>
      </p:pic>
      <p:sp>
        <p:nvSpPr>
          <p:cNvPr id="117" name="TextBox 116"/>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 Country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8 countries,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Western Europe market down geographically. Each country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Spain</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t>
            </a:r>
          </a:p>
        </p:txBody>
      </p:sp>
      <p:sp>
        <p:nvSpPr>
          <p:cNvPr id="23" name="Oval 22"/>
          <p:cNvSpPr/>
          <p:nvPr/>
        </p:nvSpPr>
        <p:spPr>
          <a:xfrm>
            <a:off x="2912269"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4395788" y="1773916"/>
            <a:ext cx="2414588"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BENELUX</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t>
            </a:r>
          </a:p>
        </p:txBody>
      </p:sp>
      <p:sp>
        <p:nvSpPr>
          <p:cNvPr id="30" name="Oval 29"/>
          <p:cNvSpPr/>
          <p:nvPr/>
        </p:nvSpPr>
        <p:spPr>
          <a:xfrm>
            <a:off x="5441156"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6924675" y="1773916"/>
            <a:ext cx="2414588"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Nordic Countries</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 </a:t>
            </a:r>
          </a:p>
        </p:txBody>
      </p:sp>
      <p:sp>
        <p:nvSpPr>
          <p:cNvPr id="37" name="Oval 36"/>
          <p:cNvSpPr/>
          <p:nvPr/>
        </p:nvSpPr>
        <p:spPr>
          <a:xfrm>
            <a:off x="7970044"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9453562"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Rest of Western Europe</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t>
            </a:r>
          </a:p>
        </p:txBody>
      </p:sp>
      <p:sp>
        <p:nvSpPr>
          <p:cNvPr id="44" name="Oval 43"/>
          <p:cNvSpPr/>
          <p:nvPr/>
        </p:nvSpPr>
        <p:spPr>
          <a:xfrm>
            <a:off x="10498931"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45" name="Rounded Rectangle 44"/>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Country Insights</a:t>
            </a:r>
          </a:p>
        </p:txBody>
      </p:sp>
      <p:sp>
        <p:nvSpPr>
          <p:cNvPr id="47" name="Rectangle 46"/>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r>
            <a:r>
              <a:rPr sz="1100" b="1">
                <a:solidFill>
                  <a:srgbClr val="C58A21"/>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B5532F"/>
                </a:solidFill>
                <a:latin typeface="Segoe UI"/>
              </a:rPr>
              <a:t/>
            </a:r>
            <a:r>
              <a:rPr sz="1100" b="1">
                <a:solidFill>
                  <a:srgbClr val="B5532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2C6E7F"/>
                </a:solidFill>
                <a:latin typeface="Segoe UI"/>
              </a:rPr>
              <a:t/>
            </a:r>
            <a:r>
              <a:rPr sz="1100" b="1">
                <a:solidFill>
                  <a:srgbClr val="2C6E7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p:txBody>
      </p:sp>
      <p:sp>
        <p:nvSpPr>
          <p:cNvPr id="49" name="TextBox 4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0" name="TextBox 4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1" name="Picture 50" descr="lock.png"/>
          <p:cNvPicPr>
            <a:picLocks noChangeAspect="1"/>
          </p:cNvPicPr>
          <p:nvPr/>
        </p:nvPicPr>
        <p:blipFill>
          <a:blip r:embed="rId4"/>
          <a:stretch>
            <a:fillRect/>
          </a:stretch>
        </p:blipFill>
        <p:spPr>
          <a:xfrm>
            <a:off x="2986444" y="2339922"/>
            <a:ext cx="175498" cy="255270"/>
          </a:xfrm>
          <a:prstGeom prst="rect">
            <a:avLst/>
          </a:prstGeom>
        </p:spPr>
      </p:pic>
      <p:pic>
        <p:nvPicPr>
          <p:cNvPr id="52" name="Picture 51" descr="lock.png"/>
          <p:cNvPicPr>
            <a:picLocks noChangeAspect="1"/>
          </p:cNvPicPr>
          <p:nvPr/>
        </p:nvPicPr>
        <p:blipFill>
          <a:blip r:embed="rId4"/>
          <a:stretch>
            <a:fillRect/>
          </a:stretch>
        </p:blipFill>
        <p:spPr>
          <a:xfrm>
            <a:off x="2986444" y="2832772"/>
            <a:ext cx="175498" cy="255270"/>
          </a:xfrm>
          <a:prstGeom prst="rect">
            <a:avLst/>
          </a:prstGeom>
        </p:spPr>
      </p:pic>
      <p:pic>
        <p:nvPicPr>
          <p:cNvPr id="53" name="Picture 52" descr="lock.png"/>
          <p:cNvPicPr>
            <a:picLocks noChangeAspect="1"/>
          </p:cNvPicPr>
          <p:nvPr/>
        </p:nvPicPr>
        <p:blipFill>
          <a:blip r:embed="rId4"/>
          <a:stretch>
            <a:fillRect/>
          </a:stretch>
        </p:blipFill>
        <p:spPr>
          <a:xfrm>
            <a:off x="2986444" y="3325622"/>
            <a:ext cx="175498" cy="255270"/>
          </a:xfrm>
          <a:prstGeom prst="rect">
            <a:avLst/>
          </a:prstGeom>
        </p:spPr>
      </p:pic>
      <p:pic>
        <p:nvPicPr>
          <p:cNvPr id="54" name="Picture 53" descr="lock.png"/>
          <p:cNvPicPr>
            <a:picLocks noChangeAspect="1"/>
          </p:cNvPicPr>
          <p:nvPr/>
        </p:nvPicPr>
        <p:blipFill>
          <a:blip r:embed="rId4"/>
          <a:stretch>
            <a:fillRect/>
          </a:stretch>
        </p:blipFill>
        <p:spPr>
          <a:xfrm>
            <a:off x="5515333" y="2339922"/>
            <a:ext cx="175498" cy="255270"/>
          </a:xfrm>
          <a:prstGeom prst="rect">
            <a:avLst/>
          </a:prstGeom>
        </p:spPr>
      </p:pic>
      <p:pic>
        <p:nvPicPr>
          <p:cNvPr id="55" name="Picture 54" descr="lock.png"/>
          <p:cNvPicPr>
            <a:picLocks noChangeAspect="1"/>
          </p:cNvPicPr>
          <p:nvPr/>
        </p:nvPicPr>
        <p:blipFill>
          <a:blip r:embed="rId4"/>
          <a:stretch>
            <a:fillRect/>
          </a:stretch>
        </p:blipFill>
        <p:spPr>
          <a:xfrm>
            <a:off x="5515333" y="2832772"/>
            <a:ext cx="175498" cy="255270"/>
          </a:xfrm>
          <a:prstGeom prst="rect">
            <a:avLst/>
          </a:prstGeom>
        </p:spPr>
      </p:pic>
      <p:pic>
        <p:nvPicPr>
          <p:cNvPr id="56" name="Picture 55" descr="lock.png"/>
          <p:cNvPicPr>
            <a:picLocks noChangeAspect="1"/>
          </p:cNvPicPr>
          <p:nvPr/>
        </p:nvPicPr>
        <p:blipFill>
          <a:blip r:embed="rId4"/>
          <a:stretch>
            <a:fillRect/>
          </a:stretch>
        </p:blipFill>
        <p:spPr>
          <a:xfrm>
            <a:off x="5515333" y="3325622"/>
            <a:ext cx="175498" cy="255270"/>
          </a:xfrm>
          <a:prstGeom prst="rect">
            <a:avLst/>
          </a:prstGeom>
        </p:spPr>
      </p:pic>
      <p:pic>
        <p:nvPicPr>
          <p:cNvPr id="57" name="Picture 56" descr="lock.png"/>
          <p:cNvPicPr>
            <a:picLocks noChangeAspect="1"/>
          </p:cNvPicPr>
          <p:nvPr/>
        </p:nvPicPr>
        <p:blipFill>
          <a:blip r:embed="rId4"/>
          <a:stretch>
            <a:fillRect/>
          </a:stretch>
        </p:blipFill>
        <p:spPr>
          <a:xfrm>
            <a:off x="8044220" y="2339922"/>
            <a:ext cx="175498" cy="255270"/>
          </a:xfrm>
          <a:prstGeom prst="rect">
            <a:avLst/>
          </a:prstGeom>
        </p:spPr>
      </p:pic>
      <p:pic>
        <p:nvPicPr>
          <p:cNvPr id="58" name="Picture 57" descr="lock.png"/>
          <p:cNvPicPr>
            <a:picLocks noChangeAspect="1"/>
          </p:cNvPicPr>
          <p:nvPr/>
        </p:nvPicPr>
        <p:blipFill>
          <a:blip r:embed="rId4"/>
          <a:stretch>
            <a:fillRect/>
          </a:stretch>
        </p:blipFill>
        <p:spPr>
          <a:xfrm>
            <a:off x="8044220" y="2832772"/>
            <a:ext cx="175498" cy="255270"/>
          </a:xfrm>
          <a:prstGeom prst="rect">
            <a:avLst/>
          </a:prstGeom>
        </p:spPr>
      </p:pic>
      <p:pic>
        <p:nvPicPr>
          <p:cNvPr id="59" name="Picture 58" descr="lock.png"/>
          <p:cNvPicPr>
            <a:picLocks noChangeAspect="1"/>
          </p:cNvPicPr>
          <p:nvPr/>
        </p:nvPicPr>
        <p:blipFill>
          <a:blip r:embed="rId4"/>
          <a:stretch>
            <a:fillRect/>
          </a:stretch>
        </p:blipFill>
        <p:spPr>
          <a:xfrm>
            <a:off x="8044220" y="3325622"/>
            <a:ext cx="175498" cy="255270"/>
          </a:xfrm>
          <a:prstGeom prst="rect">
            <a:avLst/>
          </a:prstGeom>
        </p:spPr>
      </p:pic>
      <p:pic>
        <p:nvPicPr>
          <p:cNvPr id="60" name="Picture 59" descr="lock.png"/>
          <p:cNvPicPr>
            <a:picLocks noChangeAspect="1"/>
          </p:cNvPicPr>
          <p:nvPr/>
        </p:nvPicPr>
        <p:blipFill>
          <a:blip r:embed="rId4"/>
          <a:stretch>
            <a:fillRect/>
          </a:stretch>
        </p:blipFill>
        <p:spPr>
          <a:xfrm>
            <a:off x="10573106" y="2339922"/>
            <a:ext cx="175498" cy="255270"/>
          </a:xfrm>
          <a:prstGeom prst="rect">
            <a:avLst/>
          </a:prstGeom>
        </p:spPr>
      </p:pic>
      <p:pic>
        <p:nvPicPr>
          <p:cNvPr id="61" name="Picture 60" descr="lock.png"/>
          <p:cNvPicPr>
            <a:picLocks noChangeAspect="1"/>
          </p:cNvPicPr>
          <p:nvPr/>
        </p:nvPicPr>
        <p:blipFill>
          <a:blip r:embed="rId4"/>
          <a:stretch>
            <a:fillRect/>
          </a:stretch>
        </p:blipFill>
        <p:spPr>
          <a:xfrm>
            <a:off x="10573106" y="2832772"/>
            <a:ext cx="175498" cy="255270"/>
          </a:xfrm>
          <a:prstGeom prst="rect">
            <a:avLst/>
          </a:prstGeom>
        </p:spPr>
      </p:pic>
      <p:pic>
        <p:nvPicPr>
          <p:cNvPr id="62" name="Picture 61" descr="lock.png"/>
          <p:cNvPicPr>
            <a:picLocks noChangeAspect="1"/>
          </p:cNvPicPr>
          <p:nvPr/>
        </p:nvPicPr>
        <p:blipFill>
          <a:blip r:embed="rId4"/>
          <a:stretch>
            <a:fillRect/>
          </a:stretch>
        </p:blipFill>
        <p:spPr>
          <a:xfrm>
            <a:off x="10573106" y="3325622"/>
            <a:ext cx="175498" cy="255270"/>
          </a:xfrm>
          <a:prstGeom prst="rect">
            <a:avLst/>
          </a:prstGeom>
        </p:spPr>
      </p:pic>
      <p:sp>
        <p:nvSpPr>
          <p:cNvPr id="63" name="TextBox 62"/>
          <p:cNvSpPr txBox="1"/>
          <p:nvPr/>
        </p:nvSpPr>
        <p:spPr>
          <a:xfrm>
            <a:off x="485775" y="4229437"/>
            <a:ext cx="569485" cy="186689"/>
          </a:xfrm>
          <a:prstGeom prst="rect">
            <a:avLst/>
          </a:prstGeom>
          <a:noFill/>
        </p:spPr>
        <p:txBody>
          <a:bodyPr wrap="none" lIns="0" rIns="0" tIns="0" bIns="0">
            <a:spAutoFit/>
          </a:bodyPr>
          <a:lstStyle/>
          <a:p>
            <a:r>
              <a:rPr sz="1100" b="0">
                <a:solidFill>
                  <a:srgbClr val="252423"/>
                </a:solidFill>
                <a:latin typeface="Segoe UI"/>
              </a:rPr>
              <a:t>● Spain:</a:t>
            </a:r>
          </a:p>
        </p:txBody>
      </p:sp>
      <p:pic>
        <p:nvPicPr>
          <p:cNvPr id="64" name="Picture 63" descr="lock.png"/>
          <p:cNvPicPr>
            <a:picLocks noChangeAspect="1"/>
          </p:cNvPicPr>
          <p:nvPr/>
        </p:nvPicPr>
        <p:blipFill>
          <a:blip r:embed="rId4"/>
          <a:stretch>
            <a:fillRect/>
          </a:stretch>
        </p:blipFill>
        <p:spPr>
          <a:xfrm>
            <a:off x="1003312" y="4219658"/>
            <a:ext cx="128699" cy="187198"/>
          </a:xfrm>
          <a:prstGeom prst="rect">
            <a:avLst/>
          </a:prstGeom>
        </p:spPr>
      </p:pic>
      <p:sp>
        <p:nvSpPr>
          <p:cNvPr id="65" name="TextBox 64"/>
          <p:cNvSpPr txBox="1"/>
          <p:nvPr/>
        </p:nvSpPr>
        <p:spPr>
          <a:xfrm>
            <a:off x="1170808"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66" name="Picture 65" descr="lock.png"/>
          <p:cNvPicPr>
            <a:picLocks noChangeAspect="1"/>
          </p:cNvPicPr>
          <p:nvPr/>
        </p:nvPicPr>
        <p:blipFill>
          <a:blip r:embed="rId4"/>
          <a:stretch>
            <a:fillRect/>
          </a:stretch>
        </p:blipFill>
        <p:spPr>
          <a:xfrm>
            <a:off x="2090754" y="4219658"/>
            <a:ext cx="128699" cy="187198"/>
          </a:xfrm>
          <a:prstGeom prst="rect">
            <a:avLst/>
          </a:prstGeom>
        </p:spPr>
      </p:pic>
      <p:sp>
        <p:nvSpPr>
          <p:cNvPr id="67" name="TextBox 66"/>
          <p:cNvSpPr txBox="1"/>
          <p:nvPr/>
        </p:nvSpPr>
        <p:spPr>
          <a:xfrm>
            <a:off x="2258250" y="4229437"/>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68" name="TextBox 67"/>
          <p:cNvSpPr txBox="1"/>
          <p:nvPr/>
        </p:nvSpPr>
        <p:spPr>
          <a:xfrm>
            <a:off x="485775" y="4447369"/>
            <a:ext cx="799226" cy="186689"/>
          </a:xfrm>
          <a:prstGeom prst="rect">
            <a:avLst/>
          </a:prstGeom>
          <a:noFill/>
        </p:spPr>
        <p:txBody>
          <a:bodyPr wrap="none" lIns="0" rIns="0" tIns="0" bIns="0">
            <a:spAutoFit/>
          </a:bodyPr>
          <a:lstStyle/>
          <a:p>
            <a:r>
              <a:rPr sz="1100" b="0">
                <a:solidFill>
                  <a:srgbClr val="252423"/>
                </a:solidFill>
                <a:latin typeface="Segoe UI"/>
              </a:rPr>
              <a:t>● BENELUX:</a:t>
            </a:r>
          </a:p>
        </p:txBody>
      </p:sp>
      <p:pic>
        <p:nvPicPr>
          <p:cNvPr id="69" name="Picture 68" descr="lock.png"/>
          <p:cNvPicPr>
            <a:picLocks noChangeAspect="1"/>
          </p:cNvPicPr>
          <p:nvPr/>
        </p:nvPicPr>
        <p:blipFill>
          <a:blip r:embed="rId4"/>
          <a:stretch>
            <a:fillRect/>
          </a:stretch>
        </p:blipFill>
        <p:spPr>
          <a:xfrm>
            <a:off x="1233053" y="4437590"/>
            <a:ext cx="128699" cy="187198"/>
          </a:xfrm>
          <a:prstGeom prst="rect">
            <a:avLst/>
          </a:prstGeom>
        </p:spPr>
      </p:pic>
      <p:sp>
        <p:nvSpPr>
          <p:cNvPr id="70" name="TextBox 69"/>
          <p:cNvSpPr txBox="1"/>
          <p:nvPr/>
        </p:nvSpPr>
        <p:spPr>
          <a:xfrm>
            <a:off x="1400549" y="444736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1" name="Picture 70" descr="lock.png"/>
          <p:cNvPicPr>
            <a:picLocks noChangeAspect="1"/>
          </p:cNvPicPr>
          <p:nvPr/>
        </p:nvPicPr>
        <p:blipFill>
          <a:blip r:embed="rId4"/>
          <a:stretch>
            <a:fillRect/>
          </a:stretch>
        </p:blipFill>
        <p:spPr>
          <a:xfrm>
            <a:off x="2320495" y="4437590"/>
            <a:ext cx="128699" cy="187198"/>
          </a:xfrm>
          <a:prstGeom prst="rect">
            <a:avLst/>
          </a:prstGeom>
        </p:spPr>
      </p:pic>
      <p:sp>
        <p:nvSpPr>
          <p:cNvPr id="72" name="TextBox 71"/>
          <p:cNvSpPr txBox="1"/>
          <p:nvPr/>
        </p:nvSpPr>
        <p:spPr>
          <a:xfrm>
            <a:off x="2487991" y="4447369"/>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73" name="TextBox 72"/>
          <p:cNvSpPr txBox="1"/>
          <p:nvPr/>
        </p:nvSpPr>
        <p:spPr>
          <a:xfrm>
            <a:off x="485775" y="4665301"/>
            <a:ext cx="1271805" cy="186689"/>
          </a:xfrm>
          <a:prstGeom prst="rect">
            <a:avLst/>
          </a:prstGeom>
          <a:noFill/>
        </p:spPr>
        <p:txBody>
          <a:bodyPr wrap="none" lIns="0" rIns="0" tIns="0" bIns="0">
            <a:spAutoFit/>
          </a:bodyPr>
          <a:lstStyle/>
          <a:p>
            <a:r>
              <a:rPr sz="1100" b="0">
                <a:solidFill>
                  <a:srgbClr val="252423"/>
                </a:solidFill>
                <a:latin typeface="Segoe UI"/>
              </a:rPr>
              <a:t>● Nordic Countries:</a:t>
            </a:r>
          </a:p>
        </p:txBody>
      </p:sp>
      <p:pic>
        <p:nvPicPr>
          <p:cNvPr id="74" name="Picture 73" descr="lock.png"/>
          <p:cNvPicPr>
            <a:picLocks noChangeAspect="1"/>
          </p:cNvPicPr>
          <p:nvPr/>
        </p:nvPicPr>
        <p:blipFill>
          <a:blip r:embed="rId4"/>
          <a:stretch>
            <a:fillRect/>
          </a:stretch>
        </p:blipFill>
        <p:spPr>
          <a:xfrm>
            <a:off x="1705632" y="4655522"/>
            <a:ext cx="128699" cy="187198"/>
          </a:xfrm>
          <a:prstGeom prst="rect">
            <a:avLst/>
          </a:prstGeom>
        </p:spPr>
      </p:pic>
      <p:sp>
        <p:nvSpPr>
          <p:cNvPr id="75" name="TextBox 74"/>
          <p:cNvSpPr txBox="1"/>
          <p:nvPr/>
        </p:nvSpPr>
        <p:spPr>
          <a:xfrm>
            <a:off x="1873128" y="466530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4"/>
          <a:stretch>
            <a:fillRect/>
          </a:stretch>
        </p:blipFill>
        <p:spPr>
          <a:xfrm>
            <a:off x="2793074" y="4655522"/>
            <a:ext cx="128699" cy="187198"/>
          </a:xfrm>
          <a:prstGeom prst="rect">
            <a:avLst/>
          </a:prstGeom>
        </p:spPr>
      </p:pic>
      <p:sp>
        <p:nvSpPr>
          <p:cNvPr id="77" name="TextBox 76"/>
          <p:cNvSpPr txBox="1"/>
          <p:nvPr/>
        </p:nvSpPr>
        <p:spPr>
          <a:xfrm>
            <a:off x="2960570" y="4665301"/>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
        <p:nvSpPr>
          <p:cNvPr id="78" name="TextBox 77"/>
          <p:cNvSpPr txBox="1"/>
          <p:nvPr/>
        </p:nvSpPr>
        <p:spPr>
          <a:xfrm>
            <a:off x="485775" y="4883233"/>
            <a:ext cx="1678729" cy="186689"/>
          </a:xfrm>
          <a:prstGeom prst="rect">
            <a:avLst/>
          </a:prstGeom>
          <a:noFill/>
        </p:spPr>
        <p:txBody>
          <a:bodyPr wrap="none" lIns="0" rIns="0" tIns="0" bIns="0">
            <a:spAutoFit/>
          </a:bodyPr>
          <a:lstStyle/>
          <a:p>
            <a:r>
              <a:rPr sz="1100" b="0">
                <a:solidFill>
                  <a:srgbClr val="252423"/>
                </a:solidFill>
                <a:latin typeface="Segoe UI"/>
              </a:rPr>
              <a:t>● Rest of Western Europe:</a:t>
            </a:r>
          </a:p>
        </p:txBody>
      </p:sp>
      <p:pic>
        <p:nvPicPr>
          <p:cNvPr id="79" name="Picture 78" descr="lock.png"/>
          <p:cNvPicPr>
            <a:picLocks noChangeAspect="1"/>
          </p:cNvPicPr>
          <p:nvPr/>
        </p:nvPicPr>
        <p:blipFill>
          <a:blip r:embed="rId4"/>
          <a:stretch>
            <a:fillRect/>
          </a:stretch>
        </p:blipFill>
        <p:spPr>
          <a:xfrm>
            <a:off x="2112556" y="4873454"/>
            <a:ext cx="128699" cy="187198"/>
          </a:xfrm>
          <a:prstGeom prst="rect">
            <a:avLst/>
          </a:prstGeom>
        </p:spPr>
      </p:pic>
      <p:sp>
        <p:nvSpPr>
          <p:cNvPr id="80" name="TextBox 79"/>
          <p:cNvSpPr txBox="1"/>
          <p:nvPr/>
        </p:nvSpPr>
        <p:spPr>
          <a:xfrm>
            <a:off x="2280052" y="488323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1" name="Picture 80" descr="lock.png"/>
          <p:cNvPicPr>
            <a:picLocks noChangeAspect="1"/>
          </p:cNvPicPr>
          <p:nvPr/>
        </p:nvPicPr>
        <p:blipFill>
          <a:blip r:embed="rId4"/>
          <a:stretch>
            <a:fillRect/>
          </a:stretch>
        </p:blipFill>
        <p:spPr>
          <a:xfrm>
            <a:off x="3199998" y="4873454"/>
            <a:ext cx="128699" cy="187198"/>
          </a:xfrm>
          <a:prstGeom prst="rect">
            <a:avLst/>
          </a:prstGeom>
        </p:spPr>
      </p:pic>
      <p:sp>
        <p:nvSpPr>
          <p:cNvPr id="82" name="TextBox 81"/>
          <p:cNvSpPr txBox="1"/>
          <p:nvPr/>
        </p:nvSpPr>
        <p:spPr>
          <a:xfrm>
            <a:off x="3367494" y="4883233"/>
            <a:ext cx="1518420" cy="186689"/>
          </a:xfrm>
          <a:prstGeom prst="rect">
            <a:avLst/>
          </a:prstGeom>
          <a:noFill/>
        </p:spPr>
        <p:txBody>
          <a:bodyPr wrap="none" lIns="0" rIns="0" tIns="0" bIns="0">
            <a:spAutoFit/>
          </a:bodyPr>
          <a:lstStyle/>
          <a:p>
            <a:r>
              <a:rPr sz="1100" b="0">
                <a:solidFill>
                  <a:srgbClr val="252423"/>
                </a:solidFill>
                <a:latin typeface="Segoe UI"/>
              </a:rPr>
              <a:t>CAGR a smaller market.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Analysis, By Country Volume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MI Lock Anchor"/>
          <p:cNvSpPr txBox="1"/>
          <p:nvPr/>
        </p:nvSpPr>
        <p:spPr>
          <a:xfrm>
            <a:off x="2489835" y="3352800"/>
            <a:ext cx="38100" cy="38100"/>
          </a:xfrm>
          <a:prstGeom prst="rect">
            <a:avLst/>
          </a:prstGeom>
          <a:noFill/>
        </p:spPr>
        <p:txBody>
          <a:bodyPr wrap="none">
            <a:spAutoFit/>
          </a:bodyPr>
          <a:lstStyle/>
          <a:p/>
        </p:txBody>
      </p:sp>
      <p:sp>
        <p:nvSpPr>
          <p:cNvPr id="13" name="FMI Legend Chip"/>
          <p:cNvSpPr/>
          <p:nvPr/>
        </p:nvSpPr>
        <p:spPr>
          <a:xfrm>
            <a:off x="4551045" y="1500518"/>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a:off x="4712970" y="14957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1955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Western Europe</a:t>
            </a:r>
          </a:p>
        </p:txBody>
      </p:sp>
      <p:sp>
        <p:nvSpPr>
          <p:cNvPr id="16" name="BPS Value 1"/>
          <p:cNvSpPr txBox="1"/>
          <p:nvPr/>
        </p:nvSpPr>
        <p:spPr>
          <a:xfrm>
            <a:off x="6305550" y="148146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17" name="FMI Legend Chip"/>
          <p:cNvSpPr/>
          <p:nvPr/>
        </p:nvSpPr>
        <p:spPr>
          <a:xfrm>
            <a:off x="4551045" y="1628491"/>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4712970" y="162372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54752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Nordic Countries</a:t>
            </a:r>
          </a:p>
        </p:txBody>
      </p:sp>
      <p:sp>
        <p:nvSpPr>
          <p:cNvPr id="20" name="BPS Value 2"/>
          <p:cNvSpPr txBox="1"/>
          <p:nvPr/>
        </p:nvSpPr>
        <p:spPr>
          <a:xfrm>
            <a:off x="6305550" y="1609441"/>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MI Legend Chip"/>
          <p:cNvSpPr/>
          <p:nvPr/>
        </p:nvSpPr>
        <p:spPr>
          <a:xfrm>
            <a:off x="4551045" y="1812253"/>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180749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173129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BENELUX</a:t>
            </a:r>
          </a:p>
        </p:txBody>
      </p:sp>
      <p:sp>
        <p:nvSpPr>
          <p:cNvPr id="24" name="BPS Value 3"/>
          <p:cNvSpPr txBox="1"/>
          <p:nvPr/>
        </p:nvSpPr>
        <p:spPr>
          <a:xfrm>
            <a:off x="6305550" y="179320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551045" y="2031471"/>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02670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195050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Spain</a:t>
            </a:r>
          </a:p>
        </p:txBody>
      </p:sp>
      <p:sp>
        <p:nvSpPr>
          <p:cNvPr id="28" name="BPS Value 4"/>
          <p:cNvSpPr txBox="1"/>
          <p:nvPr/>
        </p:nvSpPr>
        <p:spPr>
          <a:xfrm>
            <a:off x="6305550" y="2012421"/>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551045" y="2294311"/>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0800000">
            <a:off x="4712970" y="22895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21334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U.K.</a:t>
            </a:r>
          </a:p>
        </p:txBody>
      </p:sp>
      <p:sp>
        <p:nvSpPr>
          <p:cNvPr id="32" name="BPS Value 5"/>
          <p:cNvSpPr txBox="1"/>
          <p:nvPr/>
        </p:nvSpPr>
        <p:spPr>
          <a:xfrm>
            <a:off x="6305550" y="2275261"/>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3" name="FMI Legend Chip"/>
          <p:cNvSpPr/>
          <p:nvPr/>
        </p:nvSpPr>
        <p:spPr>
          <a:xfrm>
            <a:off x="4551045" y="266675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4712970" y="266198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258578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France</a:t>
            </a:r>
          </a:p>
        </p:txBody>
      </p:sp>
      <p:sp>
        <p:nvSpPr>
          <p:cNvPr id="36" name="BPS Value 6"/>
          <p:cNvSpPr txBox="1"/>
          <p:nvPr/>
        </p:nvSpPr>
        <p:spPr>
          <a:xfrm>
            <a:off x="6305550" y="2647702"/>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7" name="FMI Legend Chip"/>
          <p:cNvSpPr/>
          <p:nvPr/>
        </p:nvSpPr>
        <p:spPr>
          <a:xfrm>
            <a:off x="4551045" y="318783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rot="10800000">
            <a:off x="4712970" y="318307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310687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Italy</a:t>
            </a:r>
          </a:p>
        </p:txBody>
      </p:sp>
      <p:sp>
        <p:nvSpPr>
          <p:cNvPr id="40" name="BPS Value 7"/>
          <p:cNvSpPr txBox="1"/>
          <p:nvPr/>
        </p:nvSpPr>
        <p:spPr>
          <a:xfrm>
            <a:off x="6305550" y="316878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41" name="FMI Legend Chip"/>
          <p:cNvSpPr/>
          <p:nvPr/>
        </p:nvSpPr>
        <p:spPr>
          <a:xfrm>
            <a:off x="4551045" y="430176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4712970" y="429700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PS Name 8"/>
          <p:cNvSpPr txBox="1"/>
          <p:nvPr/>
        </p:nvSpPr>
        <p:spPr>
          <a:xfrm>
            <a:off x="4855845" y="422080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Germany</a:t>
            </a:r>
          </a:p>
        </p:txBody>
      </p:sp>
      <p:sp>
        <p:nvSpPr>
          <p:cNvPr id="44" name="BPS Value 8"/>
          <p:cNvSpPr txBox="1"/>
          <p:nvPr/>
        </p:nvSpPr>
        <p:spPr>
          <a:xfrm>
            <a:off x="6305550" y="4282715"/>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45" name="Rectangle 44"/>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7" name="Rectangle 46"/>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9" name="Rounded Rectangle 48"/>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(LITRES)</a:t>
            </a:r>
          </a:p>
          <a:p>
            <a:pPr algn="ctr">
              <a:lnSpc>
                <a:spcPct val="95000"/>
              </a:lnSpc>
            </a:pPr>
            <a:r>
              <a:rPr sz="2000" b="1">
                <a:solidFill>
                  <a:srgbClr val="00A4DC"/>
                </a:solidFill>
                <a:latin typeface="Segoe UI"/>
              </a:rPr>
              <a:t> </a:t>
            </a:r>
          </a:p>
        </p:txBody>
      </p:sp>
      <p:sp>
        <p:nvSpPr>
          <p:cNvPr id="50" name="Rounded Rectangle 49"/>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(LITRES)</a:t>
            </a:r>
          </a:p>
          <a:p>
            <a:pPr algn="ctr">
              <a:lnSpc>
                <a:spcPct val="95000"/>
              </a:lnSpc>
            </a:pPr>
            <a:r>
              <a:rPr sz="2000" b="1">
                <a:solidFill>
                  <a:srgbClr val="00A4DC"/>
                </a:solidFill>
                <a:latin typeface="Segoe UI"/>
              </a:rPr>
              <a:t> </a:t>
            </a:r>
          </a:p>
        </p:txBody>
      </p:sp>
      <p:sp>
        <p:nvSpPr>
          <p:cNvPr id="51" name="Rounded Rectangle 50"/>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t>
            </a:r>
          </a:p>
        </p:txBody>
      </p:sp>
      <p:sp>
        <p:nvSpPr>
          <p:cNvPr id="52" name="TextBox 5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3" name="Picture 52" descr="lock.png"/>
          <p:cNvPicPr>
            <a:picLocks noChangeAspect="1"/>
          </p:cNvPicPr>
          <p:nvPr/>
        </p:nvPicPr>
        <p:blipFill>
          <a:blip r:embed="rId5"/>
          <a:stretch>
            <a:fillRect/>
          </a:stretch>
        </p:blipFill>
        <p:spPr>
          <a:xfrm>
            <a:off x="2368867" y="3171825"/>
            <a:ext cx="275034" cy="400050"/>
          </a:xfrm>
          <a:prstGeom prst="rect">
            <a:avLst/>
          </a:prstGeom>
        </p:spPr>
      </p:pic>
      <p:pic>
        <p:nvPicPr>
          <p:cNvPr id="54" name="Picture 53" descr="lock.png"/>
          <p:cNvPicPr>
            <a:picLocks noChangeAspect="1"/>
          </p:cNvPicPr>
          <p:nvPr/>
        </p:nvPicPr>
        <p:blipFill>
          <a:blip r:embed="rId5"/>
          <a:stretch>
            <a:fillRect/>
          </a:stretch>
        </p:blipFill>
        <p:spPr>
          <a:xfrm>
            <a:off x="2009775" y="6070282"/>
            <a:ext cx="209550" cy="304800"/>
          </a:xfrm>
          <a:prstGeom prst="rect">
            <a:avLst/>
          </a:prstGeom>
        </p:spPr>
      </p:pic>
      <p:pic>
        <p:nvPicPr>
          <p:cNvPr id="55" name="Picture 54" descr="lock.png"/>
          <p:cNvPicPr>
            <a:picLocks noChangeAspect="1"/>
          </p:cNvPicPr>
          <p:nvPr/>
        </p:nvPicPr>
        <p:blipFill>
          <a:blip r:embed="rId5"/>
          <a:stretch>
            <a:fillRect/>
          </a:stretch>
        </p:blipFill>
        <p:spPr>
          <a:xfrm>
            <a:off x="6043612" y="6070282"/>
            <a:ext cx="209550" cy="304800"/>
          </a:xfrm>
          <a:prstGeom prst="rect">
            <a:avLst/>
          </a:prstGeom>
        </p:spPr>
      </p:pic>
      <p:pic>
        <p:nvPicPr>
          <p:cNvPr id="56" name="Picture 55" descr="lock.png"/>
          <p:cNvPicPr>
            <a:picLocks noChangeAspect="1"/>
          </p:cNvPicPr>
          <p:nvPr/>
        </p:nvPicPr>
        <p:blipFill>
          <a:blip r:embed="rId5"/>
          <a:stretch>
            <a:fillRect/>
          </a:stretch>
        </p:blipFill>
        <p:spPr>
          <a:xfrm>
            <a:off x="10015537" y="6070282"/>
            <a:ext cx="209550" cy="304800"/>
          </a:xfrm>
          <a:prstGeom prst="rect">
            <a:avLst/>
          </a:prstGeom>
        </p:spPr>
      </p:pic>
      <p:sp>
        <p:nvSpPr>
          <p:cNvPr id="57" name="TextBox 56"/>
          <p:cNvSpPr txBox="1"/>
          <p:nvPr/>
        </p:nvSpPr>
        <p:spPr>
          <a:xfrm>
            <a:off x="7239000" y="1400175"/>
            <a:ext cx="3277154" cy="194310"/>
          </a:xfrm>
          <a:prstGeom prst="rect">
            <a:avLst/>
          </a:prstGeom>
          <a:noFill/>
        </p:spPr>
        <p:txBody>
          <a:bodyPr wrap="none" lIns="0" rIns="0" tIns="0" bIns="0">
            <a:spAutoFit/>
          </a:bodyPr>
          <a:lstStyle/>
          <a:p>
            <a:r>
              <a:rPr sz="1150" b="0">
                <a:solidFill>
                  <a:srgbClr val="252423"/>
                </a:solidFill>
                <a:latin typeface="Segoe UI"/>
              </a:rPr>
              <a:t>Germany Helium-3 market is projected to register</a:t>
            </a:r>
          </a:p>
        </p:txBody>
      </p:sp>
      <p:pic>
        <p:nvPicPr>
          <p:cNvPr id="58" name="Picture 57" descr="lock.png"/>
          <p:cNvPicPr>
            <a:picLocks noChangeAspect="1"/>
          </p:cNvPicPr>
          <p:nvPr/>
        </p:nvPicPr>
        <p:blipFill>
          <a:blip r:embed="rId5"/>
          <a:stretch>
            <a:fillRect/>
          </a:stretch>
        </p:blipFill>
        <p:spPr>
          <a:xfrm>
            <a:off x="10465308" y="1389951"/>
            <a:ext cx="134549" cy="195707"/>
          </a:xfrm>
          <a:prstGeom prst="rect">
            <a:avLst/>
          </a:prstGeom>
        </p:spPr>
      </p:pic>
      <p:sp>
        <p:nvSpPr>
          <p:cNvPr id="59" name="TextBox 58"/>
          <p:cNvSpPr txBox="1"/>
          <p:nvPr/>
        </p:nvSpPr>
        <p:spPr>
          <a:xfrm>
            <a:off x="10640417" y="1400175"/>
            <a:ext cx="1132196" cy="194310"/>
          </a:xfrm>
          <a:prstGeom prst="rect">
            <a:avLst/>
          </a:prstGeom>
          <a:noFill/>
        </p:spPr>
        <p:txBody>
          <a:bodyPr wrap="none" lIns="0" rIns="0" tIns="0" bIns="0">
            <a:spAutoFit/>
          </a:bodyPr>
          <a:lstStyle/>
          <a:p>
            <a:r>
              <a:rPr sz="1150" b="0">
                <a:solidFill>
                  <a:srgbClr val="252423"/>
                </a:solidFill>
                <a:latin typeface="Segoe UI"/>
              </a:rPr>
              <a:t>X higher volume</a:t>
            </a:r>
          </a:p>
        </p:txBody>
      </p:sp>
      <p:sp>
        <p:nvSpPr>
          <p:cNvPr id="60" name="TextBox 59"/>
          <p:cNvSpPr txBox="1"/>
          <p:nvPr/>
        </p:nvSpPr>
        <p:spPr>
          <a:xfrm>
            <a:off x="7239000" y="1575435"/>
            <a:ext cx="4648200" cy="194310"/>
          </a:xfrm>
          <a:prstGeom prst="rect">
            <a:avLst/>
          </a:prstGeom>
          <a:noFill/>
        </p:spPr>
        <p:txBody>
          <a:bodyPr wrap="none" lIns="0" rIns="0" tIns="0" bIns="0">
            <a:spAutoFit/>
          </a:bodyPr>
          <a:lstStyle/>
          <a:p>
            <a:r>
              <a:rPr sz="1150" b="0">
                <a:solidFill>
                  <a:srgbClr val="252423"/>
                </a:solidFill>
                <a:latin typeface="Segoe UI"/>
              </a:rPr>
              <a:t>than Italy in 2036. Among Helium-3 by country, Germany is expected to</a:t>
            </a:r>
          </a:p>
        </p:txBody>
      </p:sp>
      <p:sp>
        <p:nvSpPr>
          <p:cNvPr id="61" name="TextBox 60"/>
          <p:cNvSpPr txBox="1"/>
          <p:nvPr/>
        </p:nvSpPr>
        <p:spPr>
          <a:xfrm>
            <a:off x="7239000" y="1750695"/>
            <a:ext cx="1896333" cy="194310"/>
          </a:xfrm>
          <a:prstGeom prst="rect">
            <a:avLst/>
          </a:prstGeom>
          <a:noFill/>
        </p:spPr>
        <p:txBody>
          <a:bodyPr wrap="none" lIns="0" rIns="0" tIns="0" bIns="0">
            <a:spAutoFit/>
          </a:bodyPr>
          <a:lstStyle/>
          <a:p>
            <a:r>
              <a:rPr sz="1150" b="0">
                <a:solidFill>
                  <a:srgbClr val="252423"/>
                </a:solidFill>
                <a:latin typeface="Segoe UI"/>
              </a:rPr>
              <a:t>witness the highest CAGR of</a:t>
            </a:r>
          </a:p>
        </p:txBody>
      </p:sp>
      <p:pic>
        <p:nvPicPr>
          <p:cNvPr id="62" name="Picture 61" descr="lock.png"/>
          <p:cNvPicPr>
            <a:picLocks noChangeAspect="1"/>
          </p:cNvPicPr>
          <p:nvPr/>
        </p:nvPicPr>
        <p:blipFill>
          <a:blip r:embed="rId5"/>
          <a:stretch>
            <a:fillRect/>
          </a:stretch>
        </p:blipFill>
        <p:spPr>
          <a:xfrm>
            <a:off x="9084487" y="1740471"/>
            <a:ext cx="134549" cy="195707"/>
          </a:xfrm>
          <a:prstGeom prst="rect">
            <a:avLst/>
          </a:prstGeom>
        </p:spPr>
      </p:pic>
      <p:sp>
        <p:nvSpPr>
          <p:cNvPr id="63" name="TextBox 62"/>
          <p:cNvSpPr txBox="1"/>
          <p:nvPr/>
        </p:nvSpPr>
        <p:spPr>
          <a:xfrm>
            <a:off x="9259597"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64" name="TextBox 63"/>
          <p:cNvSpPr txBox="1"/>
          <p:nvPr/>
        </p:nvSpPr>
        <p:spPr>
          <a:xfrm>
            <a:off x="7239000" y="1978533"/>
            <a:ext cx="4648066" cy="194310"/>
          </a:xfrm>
          <a:prstGeom prst="rect">
            <a:avLst/>
          </a:prstGeom>
          <a:noFill/>
        </p:spPr>
        <p:txBody>
          <a:bodyPr wrap="none" lIns="0" rIns="0" tIns="0" bIns="0">
            <a:spAutoFit/>
          </a:bodyPr>
          <a:lstStyle/>
          <a:p>
            <a:r>
              <a:rPr sz="1150" b="0">
                <a:solidFill>
                  <a:srgbClr val="252423"/>
                </a:solidFill>
                <a:latin typeface="Segoe UI"/>
              </a:rPr>
              <a:t>In terms of volume share by country, Germany is expected to dominate</a:t>
            </a:r>
          </a:p>
        </p:txBody>
      </p:sp>
      <p:sp>
        <p:nvSpPr>
          <p:cNvPr id="65" name="TextBox 64"/>
          <p:cNvSpPr txBox="1"/>
          <p:nvPr/>
        </p:nvSpPr>
        <p:spPr>
          <a:xfrm>
            <a:off x="7239000" y="2153793"/>
            <a:ext cx="1329275" cy="194310"/>
          </a:xfrm>
          <a:prstGeom prst="rect">
            <a:avLst/>
          </a:prstGeom>
          <a:noFill/>
        </p:spPr>
        <p:txBody>
          <a:bodyPr wrap="none" lIns="0" rIns="0" tIns="0" bIns="0">
            <a:spAutoFit/>
          </a:bodyPr>
          <a:lstStyle/>
          <a:p>
            <a:r>
              <a:rPr sz="1150" b="0">
                <a:solidFill>
                  <a:srgbClr val="252423"/>
                </a:solidFill>
                <a:latin typeface="Segoe UI"/>
              </a:rPr>
              <a:t>the market, gaining</a:t>
            </a:r>
          </a:p>
        </p:txBody>
      </p:sp>
      <p:pic>
        <p:nvPicPr>
          <p:cNvPr id="66" name="Picture 65" descr="lock.png"/>
          <p:cNvPicPr>
            <a:picLocks noChangeAspect="1"/>
          </p:cNvPicPr>
          <p:nvPr/>
        </p:nvPicPr>
        <p:blipFill>
          <a:blip r:embed="rId5"/>
          <a:stretch>
            <a:fillRect/>
          </a:stretch>
        </p:blipFill>
        <p:spPr>
          <a:xfrm>
            <a:off x="8517429" y="2143569"/>
            <a:ext cx="134549" cy="195707"/>
          </a:xfrm>
          <a:prstGeom prst="rect">
            <a:avLst/>
          </a:prstGeom>
        </p:spPr>
      </p:pic>
      <p:sp>
        <p:nvSpPr>
          <p:cNvPr id="67" name="TextBox 66"/>
          <p:cNvSpPr txBox="1"/>
          <p:nvPr/>
        </p:nvSpPr>
        <p:spPr>
          <a:xfrm>
            <a:off x="8692539" y="215379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8" name="Picture 67" descr="lock.png"/>
          <p:cNvPicPr>
            <a:picLocks noChangeAspect="1"/>
          </p:cNvPicPr>
          <p:nvPr/>
        </p:nvPicPr>
        <p:blipFill>
          <a:blip r:embed="rId5"/>
          <a:stretch>
            <a:fillRect/>
          </a:stretch>
        </p:blipFill>
        <p:spPr>
          <a:xfrm>
            <a:off x="10220895" y="2143569"/>
            <a:ext cx="134549" cy="195707"/>
          </a:xfrm>
          <a:prstGeom prst="rect">
            <a:avLst/>
          </a:prstGeom>
        </p:spPr>
      </p:pic>
      <p:sp>
        <p:nvSpPr>
          <p:cNvPr id="69" name="TextBox 68"/>
          <p:cNvSpPr txBox="1"/>
          <p:nvPr/>
        </p:nvSpPr>
        <p:spPr>
          <a:xfrm>
            <a:off x="10396005" y="215379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0" name="TextBox 69"/>
          <p:cNvSpPr txBox="1"/>
          <p:nvPr/>
        </p:nvSpPr>
        <p:spPr>
          <a:xfrm>
            <a:off x="7239000" y="2329053"/>
            <a:ext cx="1582304" cy="194310"/>
          </a:xfrm>
          <a:prstGeom prst="rect">
            <a:avLst/>
          </a:prstGeom>
          <a:noFill/>
        </p:spPr>
        <p:txBody>
          <a:bodyPr wrap="none" lIns="0" rIns="0" tIns="0" bIns="0">
            <a:spAutoFit/>
          </a:bodyPr>
          <a:lstStyle/>
          <a:p>
            <a:r>
              <a:rPr sz="1150" b="0">
                <a:solidFill>
                  <a:srgbClr val="252423"/>
                </a:solidFill>
                <a:latin typeface="Segoe UI"/>
              </a:rPr>
              <a:t>Italy is expected to lose</a:t>
            </a:r>
          </a:p>
        </p:txBody>
      </p:sp>
      <p:pic>
        <p:nvPicPr>
          <p:cNvPr id="71" name="Picture 70" descr="lock.png"/>
          <p:cNvPicPr>
            <a:picLocks noChangeAspect="1"/>
          </p:cNvPicPr>
          <p:nvPr/>
        </p:nvPicPr>
        <p:blipFill>
          <a:blip r:embed="rId5"/>
          <a:stretch>
            <a:fillRect/>
          </a:stretch>
        </p:blipFill>
        <p:spPr>
          <a:xfrm>
            <a:off x="8770458" y="2318829"/>
            <a:ext cx="134549" cy="195707"/>
          </a:xfrm>
          <a:prstGeom prst="rect">
            <a:avLst/>
          </a:prstGeom>
        </p:spPr>
      </p:pic>
      <p:sp>
        <p:nvSpPr>
          <p:cNvPr id="72" name="TextBox 71"/>
          <p:cNvSpPr txBox="1"/>
          <p:nvPr/>
        </p:nvSpPr>
        <p:spPr>
          <a:xfrm>
            <a:off x="8945568" y="2329053"/>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73" name="Picture 72" descr="lock.png"/>
          <p:cNvPicPr>
            <a:picLocks noChangeAspect="1"/>
          </p:cNvPicPr>
          <p:nvPr/>
        </p:nvPicPr>
        <p:blipFill>
          <a:blip r:embed="rId5"/>
          <a:stretch>
            <a:fillRect/>
          </a:stretch>
        </p:blipFill>
        <p:spPr>
          <a:xfrm>
            <a:off x="7224920" y="2494089"/>
            <a:ext cx="134549" cy="195707"/>
          </a:xfrm>
          <a:prstGeom prst="rect">
            <a:avLst/>
          </a:prstGeom>
        </p:spPr>
      </p:pic>
      <p:sp>
        <p:nvSpPr>
          <p:cNvPr id="74" name="TextBox 73"/>
          <p:cNvSpPr txBox="1"/>
          <p:nvPr/>
        </p:nvSpPr>
        <p:spPr>
          <a:xfrm>
            <a:off x="7400029" y="250431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5"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ectangle 7"/>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0" name="Chart 9"/>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1" name="TextBox 10"/>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2" name="FMI Lock Anchor"/>
          <p:cNvSpPr txBox="1"/>
          <p:nvPr/>
        </p:nvSpPr>
        <p:spPr>
          <a:xfrm>
            <a:off x="2489835" y="3352800"/>
            <a:ext cx="38100" cy="38100"/>
          </a:xfrm>
          <a:prstGeom prst="rect">
            <a:avLst/>
          </a:prstGeom>
          <a:noFill/>
        </p:spPr>
        <p:txBody>
          <a:bodyPr wrap="none">
            <a:spAutoFit/>
          </a:bodyPr>
          <a:lstStyle/>
          <a:p/>
        </p:txBody>
      </p:sp>
      <p:sp>
        <p:nvSpPr>
          <p:cNvPr id="13" name="FMI Legend Chip"/>
          <p:cNvSpPr/>
          <p:nvPr/>
        </p:nvSpPr>
        <p:spPr>
          <a:xfrm>
            <a:off x="4551045" y="1500638"/>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4712970" y="14958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4855845" y="141967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Western Europe</a:t>
            </a:r>
          </a:p>
        </p:txBody>
      </p:sp>
      <p:sp>
        <p:nvSpPr>
          <p:cNvPr id="16" name="BPS Value 1"/>
          <p:cNvSpPr txBox="1"/>
          <p:nvPr/>
        </p:nvSpPr>
        <p:spPr>
          <a:xfrm>
            <a:off x="6305550" y="148158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551045" y="1624463"/>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4712970" y="161970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4855845" y="154350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Nordic Countries</a:t>
            </a:r>
          </a:p>
        </p:txBody>
      </p:sp>
      <p:sp>
        <p:nvSpPr>
          <p:cNvPr id="20" name="BPS Value 2"/>
          <p:cNvSpPr txBox="1"/>
          <p:nvPr/>
        </p:nvSpPr>
        <p:spPr>
          <a:xfrm>
            <a:off x="6305550" y="1605413"/>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MI Legend Chip"/>
          <p:cNvSpPr/>
          <p:nvPr/>
        </p:nvSpPr>
        <p:spPr>
          <a:xfrm>
            <a:off x="4551045" y="179818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4712970" y="179342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4855845" y="171722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BENELUX</a:t>
            </a:r>
          </a:p>
        </p:txBody>
      </p:sp>
      <p:sp>
        <p:nvSpPr>
          <p:cNvPr id="24" name="BPS Value 3"/>
          <p:cNvSpPr txBox="1"/>
          <p:nvPr/>
        </p:nvSpPr>
        <p:spPr>
          <a:xfrm>
            <a:off x="6305550" y="177913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551045" y="201534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4712970" y="201057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4855845" y="193437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Spain</a:t>
            </a:r>
          </a:p>
        </p:txBody>
      </p:sp>
      <p:sp>
        <p:nvSpPr>
          <p:cNvPr id="28" name="BPS Value 4"/>
          <p:cNvSpPr txBox="1"/>
          <p:nvPr/>
        </p:nvSpPr>
        <p:spPr>
          <a:xfrm>
            <a:off x="6305550" y="199629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551045" y="227083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0800000">
            <a:off x="4712970" y="226607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4855845" y="2189873"/>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U.K.</a:t>
            </a:r>
          </a:p>
        </p:txBody>
      </p:sp>
      <p:sp>
        <p:nvSpPr>
          <p:cNvPr id="32" name="BPS Value 5"/>
          <p:cNvSpPr txBox="1"/>
          <p:nvPr/>
        </p:nvSpPr>
        <p:spPr>
          <a:xfrm>
            <a:off x="6305550" y="225178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3" name="FMI Legend Chip"/>
          <p:cNvSpPr/>
          <p:nvPr/>
        </p:nvSpPr>
        <p:spPr>
          <a:xfrm>
            <a:off x="4551045" y="263340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4712970" y="262863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4855845" y="255243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France</a:t>
            </a:r>
          </a:p>
        </p:txBody>
      </p:sp>
      <p:sp>
        <p:nvSpPr>
          <p:cNvPr id="36" name="BPS Value 6"/>
          <p:cNvSpPr txBox="1"/>
          <p:nvPr/>
        </p:nvSpPr>
        <p:spPr>
          <a:xfrm>
            <a:off x="6305550" y="2614351"/>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7" name="FMI Legend Chip"/>
          <p:cNvSpPr/>
          <p:nvPr/>
        </p:nvSpPr>
        <p:spPr>
          <a:xfrm>
            <a:off x="4551045" y="315244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sosceles Triangle 37"/>
          <p:cNvSpPr/>
          <p:nvPr/>
        </p:nvSpPr>
        <p:spPr>
          <a:xfrm rot="10800000">
            <a:off x="4712970" y="314768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PS Name 7"/>
          <p:cNvSpPr txBox="1"/>
          <p:nvPr/>
        </p:nvSpPr>
        <p:spPr>
          <a:xfrm>
            <a:off x="4855845" y="307148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Italy</a:t>
            </a:r>
          </a:p>
        </p:txBody>
      </p:sp>
      <p:sp>
        <p:nvSpPr>
          <p:cNvPr id="40" name="BPS Value 7"/>
          <p:cNvSpPr txBox="1"/>
          <p:nvPr/>
        </p:nvSpPr>
        <p:spPr>
          <a:xfrm>
            <a:off x="6305550" y="313339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41" name="FMI Legend Chip"/>
          <p:cNvSpPr/>
          <p:nvPr/>
        </p:nvSpPr>
        <p:spPr>
          <a:xfrm>
            <a:off x="4551045" y="428553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4712970" y="428077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PS Name 8"/>
          <p:cNvSpPr txBox="1"/>
          <p:nvPr/>
        </p:nvSpPr>
        <p:spPr>
          <a:xfrm>
            <a:off x="4855845" y="420457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Germany</a:t>
            </a:r>
          </a:p>
        </p:txBody>
      </p:sp>
      <p:sp>
        <p:nvSpPr>
          <p:cNvPr id="44" name="BPS Value 8"/>
          <p:cNvSpPr txBox="1"/>
          <p:nvPr/>
        </p:nvSpPr>
        <p:spPr>
          <a:xfrm>
            <a:off x="6305550" y="4266489"/>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45" name="Rectangle 44"/>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7" name="Rectangle 46"/>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9" name="Rounded Rectangle 48"/>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 </a:t>
            </a:r>
          </a:p>
        </p:txBody>
      </p:sp>
      <p:sp>
        <p:nvSpPr>
          <p:cNvPr id="50" name="Rounded Rectangle 49"/>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 </a:t>
            </a:r>
          </a:p>
        </p:txBody>
      </p:sp>
      <p:sp>
        <p:nvSpPr>
          <p:cNvPr id="51" name="Rounded Rectangle 50"/>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 </a:t>
            </a:r>
          </a:p>
        </p:txBody>
      </p:sp>
      <p:sp>
        <p:nvSpPr>
          <p:cNvPr id="52" name="TextBox 5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3" name="Picture 52" descr="lock.png"/>
          <p:cNvPicPr>
            <a:picLocks noChangeAspect="1"/>
          </p:cNvPicPr>
          <p:nvPr/>
        </p:nvPicPr>
        <p:blipFill>
          <a:blip r:embed="rId5"/>
          <a:stretch>
            <a:fillRect/>
          </a:stretch>
        </p:blipFill>
        <p:spPr>
          <a:xfrm>
            <a:off x="2368867" y="3171825"/>
            <a:ext cx="275034" cy="400050"/>
          </a:xfrm>
          <a:prstGeom prst="rect">
            <a:avLst/>
          </a:prstGeom>
        </p:spPr>
      </p:pic>
      <p:pic>
        <p:nvPicPr>
          <p:cNvPr id="54" name="Picture 53" descr="lock.png"/>
          <p:cNvPicPr>
            <a:picLocks noChangeAspect="1"/>
          </p:cNvPicPr>
          <p:nvPr/>
        </p:nvPicPr>
        <p:blipFill>
          <a:blip r:embed="rId5"/>
          <a:stretch>
            <a:fillRect/>
          </a:stretch>
        </p:blipFill>
        <p:spPr>
          <a:xfrm>
            <a:off x="2009775" y="6070282"/>
            <a:ext cx="209550" cy="304800"/>
          </a:xfrm>
          <a:prstGeom prst="rect">
            <a:avLst/>
          </a:prstGeom>
        </p:spPr>
      </p:pic>
      <p:pic>
        <p:nvPicPr>
          <p:cNvPr id="55" name="Picture 54" descr="lock.png"/>
          <p:cNvPicPr>
            <a:picLocks noChangeAspect="1"/>
          </p:cNvPicPr>
          <p:nvPr/>
        </p:nvPicPr>
        <p:blipFill>
          <a:blip r:embed="rId5"/>
          <a:stretch>
            <a:fillRect/>
          </a:stretch>
        </p:blipFill>
        <p:spPr>
          <a:xfrm>
            <a:off x="6043612" y="6070282"/>
            <a:ext cx="209550" cy="304800"/>
          </a:xfrm>
          <a:prstGeom prst="rect">
            <a:avLst/>
          </a:prstGeom>
        </p:spPr>
      </p:pic>
      <p:pic>
        <p:nvPicPr>
          <p:cNvPr id="56" name="Picture 55" descr="lock.png"/>
          <p:cNvPicPr>
            <a:picLocks noChangeAspect="1"/>
          </p:cNvPicPr>
          <p:nvPr/>
        </p:nvPicPr>
        <p:blipFill>
          <a:blip r:embed="rId5"/>
          <a:stretch>
            <a:fillRect/>
          </a:stretch>
        </p:blipFill>
        <p:spPr>
          <a:xfrm>
            <a:off x="10015537" y="6070282"/>
            <a:ext cx="209550" cy="304800"/>
          </a:xfrm>
          <a:prstGeom prst="rect">
            <a:avLst/>
          </a:prstGeom>
        </p:spPr>
      </p:pic>
      <p:sp>
        <p:nvSpPr>
          <p:cNvPr id="57" name="TextBox 56"/>
          <p:cNvSpPr txBox="1"/>
          <p:nvPr/>
        </p:nvSpPr>
        <p:spPr>
          <a:xfrm>
            <a:off x="7239000" y="1400175"/>
            <a:ext cx="3277154" cy="194310"/>
          </a:xfrm>
          <a:prstGeom prst="rect">
            <a:avLst/>
          </a:prstGeom>
          <a:noFill/>
        </p:spPr>
        <p:txBody>
          <a:bodyPr wrap="none" lIns="0" rIns="0" tIns="0" bIns="0">
            <a:spAutoFit/>
          </a:bodyPr>
          <a:lstStyle/>
          <a:p>
            <a:r>
              <a:rPr sz="1150" b="0">
                <a:solidFill>
                  <a:srgbClr val="252423"/>
                </a:solidFill>
                <a:latin typeface="Segoe UI"/>
              </a:rPr>
              <a:t>Germany Helium-3 market is projected to register</a:t>
            </a:r>
          </a:p>
        </p:txBody>
      </p:sp>
      <p:pic>
        <p:nvPicPr>
          <p:cNvPr id="58" name="Picture 57" descr="lock.png"/>
          <p:cNvPicPr>
            <a:picLocks noChangeAspect="1"/>
          </p:cNvPicPr>
          <p:nvPr/>
        </p:nvPicPr>
        <p:blipFill>
          <a:blip r:embed="rId5"/>
          <a:stretch>
            <a:fillRect/>
          </a:stretch>
        </p:blipFill>
        <p:spPr>
          <a:xfrm>
            <a:off x="10465308" y="1389951"/>
            <a:ext cx="134549" cy="195707"/>
          </a:xfrm>
          <a:prstGeom prst="rect">
            <a:avLst/>
          </a:prstGeom>
        </p:spPr>
      </p:pic>
      <p:sp>
        <p:nvSpPr>
          <p:cNvPr id="59" name="TextBox 58"/>
          <p:cNvSpPr txBox="1"/>
          <p:nvPr/>
        </p:nvSpPr>
        <p:spPr>
          <a:xfrm>
            <a:off x="10640417" y="1400175"/>
            <a:ext cx="995247" cy="194310"/>
          </a:xfrm>
          <a:prstGeom prst="rect">
            <a:avLst/>
          </a:prstGeom>
          <a:noFill/>
        </p:spPr>
        <p:txBody>
          <a:bodyPr wrap="none" lIns="0" rIns="0" tIns="0" bIns="0">
            <a:spAutoFit/>
          </a:bodyPr>
          <a:lstStyle/>
          <a:p>
            <a:r>
              <a:rPr sz="1150" b="0">
                <a:solidFill>
                  <a:srgbClr val="252423"/>
                </a:solidFill>
                <a:latin typeface="Segoe UI"/>
              </a:rPr>
              <a:t>X higher value</a:t>
            </a:r>
          </a:p>
        </p:txBody>
      </p:sp>
      <p:sp>
        <p:nvSpPr>
          <p:cNvPr id="60" name="TextBox 59"/>
          <p:cNvSpPr txBox="1"/>
          <p:nvPr/>
        </p:nvSpPr>
        <p:spPr>
          <a:xfrm>
            <a:off x="7239000" y="1575435"/>
            <a:ext cx="4648200" cy="194310"/>
          </a:xfrm>
          <a:prstGeom prst="rect">
            <a:avLst/>
          </a:prstGeom>
          <a:noFill/>
        </p:spPr>
        <p:txBody>
          <a:bodyPr wrap="none" lIns="0" rIns="0" tIns="0" bIns="0">
            <a:spAutoFit/>
          </a:bodyPr>
          <a:lstStyle/>
          <a:p>
            <a:r>
              <a:rPr sz="1150" b="0">
                <a:solidFill>
                  <a:srgbClr val="252423"/>
                </a:solidFill>
                <a:latin typeface="Segoe UI"/>
              </a:rPr>
              <a:t>than Italy in 2036. Among Helium-3 by country, Germany is expected to</a:t>
            </a:r>
          </a:p>
        </p:txBody>
      </p:sp>
      <p:sp>
        <p:nvSpPr>
          <p:cNvPr id="61" name="TextBox 60"/>
          <p:cNvSpPr txBox="1"/>
          <p:nvPr/>
        </p:nvSpPr>
        <p:spPr>
          <a:xfrm>
            <a:off x="7239000" y="1750695"/>
            <a:ext cx="1896333" cy="194310"/>
          </a:xfrm>
          <a:prstGeom prst="rect">
            <a:avLst/>
          </a:prstGeom>
          <a:noFill/>
        </p:spPr>
        <p:txBody>
          <a:bodyPr wrap="none" lIns="0" rIns="0" tIns="0" bIns="0">
            <a:spAutoFit/>
          </a:bodyPr>
          <a:lstStyle/>
          <a:p>
            <a:r>
              <a:rPr sz="1150" b="0">
                <a:solidFill>
                  <a:srgbClr val="252423"/>
                </a:solidFill>
                <a:latin typeface="Segoe UI"/>
              </a:rPr>
              <a:t>witness the highest CAGR of</a:t>
            </a:r>
          </a:p>
        </p:txBody>
      </p:sp>
      <p:pic>
        <p:nvPicPr>
          <p:cNvPr id="62" name="Picture 61" descr="lock.png"/>
          <p:cNvPicPr>
            <a:picLocks noChangeAspect="1"/>
          </p:cNvPicPr>
          <p:nvPr/>
        </p:nvPicPr>
        <p:blipFill>
          <a:blip r:embed="rId5"/>
          <a:stretch>
            <a:fillRect/>
          </a:stretch>
        </p:blipFill>
        <p:spPr>
          <a:xfrm>
            <a:off x="9084487" y="1740471"/>
            <a:ext cx="134549" cy="195707"/>
          </a:xfrm>
          <a:prstGeom prst="rect">
            <a:avLst/>
          </a:prstGeom>
        </p:spPr>
      </p:pic>
      <p:sp>
        <p:nvSpPr>
          <p:cNvPr id="63" name="TextBox 62"/>
          <p:cNvSpPr txBox="1"/>
          <p:nvPr/>
        </p:nvSpPr>
        <p:spPr>
          <a:xfrm>
            <a:off x="9259597"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64" name="TextBox 63"/>
          <p:cNvSpPr txBox="1"/>
          <p:nvPr/>
        </p:nvSpPr>
        <p:spPr>
          <a:xfrm>
            <a:off x="7239000" y="1978533"/>
            <a:ext cx="4511118" cy="194310"/>
          </a:xfrm>
          <a:prstGeom prst="rect">
            <a:avLst/>
          </a:prstGeom>
          <a:noFill/>
        </p:spPr>
        <p:txBody>
          <a:bodyPr wrap="none" lIns="0" rIns="0" tIns="0" bIns="0">
            <a:spAutoFit/>
          </a:bodyPr>
          <a:lstStyle/>
          <a:p>
            <a:r>
              <a:rPr sz="1150" b="0">
                <a:solidFill>
                  <a:srgbClr val="252423"/>
                </a:solidFill>
                <a:latin typeface="Segoe UI"/>
              </a:rPr>
              <a:t>In terms of value share by country, Germany is expected to dominate</a:t>
            </a:r>
          </a:p>
        </p:txBody>
      </p:sp>
      <p:sp>
        <p:nvSpPr>
          <p:cNvPr id="65" name="TextBox 64"/>
          <p:cNvSpPr txBox="1"/>
          <p:nvPr/>
        </p:nvSpPr>
        <p:spPr>
          <a:xfrm>
            <a:off x="7239000" y="2153793"/>
            <a:ext cx="1329275" cy="194310"/>
          </a:xfrm>
          <a:prstGeom prst="rect">
            <a:avLst/>
          </a:prstGeom>
          <a:noFill/>
        </p:spPr>
        <p:txBody>
          <a:bodyPr wrap="none" lIns="0" rIns="0" tIns="0" bIns="0">
            <a:spAutoFit/>
          </a:bodyPr>
          <a:lstStyle/>
          <a:p>
            <a:r>
              <a:rPr sz="1150" b="0">
                <a:solidFill>
                  <a:srgbClr val="252423"/>
                </a:solidFill>
                <a:latin typeface="Segoe UI"/>
              </a:rPr>
              <a:t>the market, gaining</a:t>
            </a:r>
          </a:p>
        </p:txBody>
      </p:sp>
      <p:pic>
        <p:nvPicPr>
          <p:cNvPr id="66" name="Picture 65" descr="lock.png"/>
          <p:cNvPicPr>
            <a:picLocks noChangeAspect="1"/>
          </p:cNvPicPr>
          <p:nvPr/>
        </p:nvPicPr>
        <p:blipFill>
          <a:blip r:embed="rId5"/>
          <a:stretch>
            <a:fillRect/>
          </a:stretch>
        </p:blipFill>
        <p:spPr>
          <a:xfrm>
            <a:off x="8517429" y="2143569"/>
            <a:ext cx="134549" cy="195707"/>
          </a:xfrm>
          <a:prstGeom prst="rect">
            <a:avLst/>
          </a:prstGeom>
        </p:spPr>
      </p:pic>
      <p:sp>
        <p:nvSpPr>
          <p:cNvPr id="67" name="TextBox 66"/>
          <p:cNvSpPr txBox="1"/>
          <p:nvPr/>
        </p:nvSpPr>
        <p:spPr>
          <a:xfrm>
            <a:off x="8692539" y="215379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68" name="Picture 67" descr="lock.png"/>
          <p:cNvPicPr>
            <a:picLocks noChangeAspect="1"/>
          </p:cNvPicPr>
          <p:nvPr/>
        </p:nvPicPr>
        <p:blipFill>
          <a:blip r:embed="rId5"/>
          <a:stretch>
            <a:fillRect/>
          </a:stretch>
        </p:blipFill>
        <p:spPr>
          <a:xfrm>
            <a:off x="10220895" y="2143569"/>
            <a:ext cx="134549" cy="195707"/>
          </a:xfrm>
          <a:prstGeom prst="rect">
            <a:avLst/>
          </a:prstGeom>
        </p:spPr>
      </p:pic>
      <p:sp>
        <p:nvSpPr>
          <p:cNvPr id="69" name="TextBox 68"/>
          <p:cNvSpPr txBox="1"/>
          <p:nvPr/>
        </p:nvSpPr>
        <p:spPr>
          <a:xfrm>
            <a:off x="10396005" y="215379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0" name="TextBox 69"/>
          <p:cNvSpPr txBox="1"/>
          <p:nvPr/>
        </p:nvSpPr>
        <p:spPr>
          <a:xfrm>
            <a:off x="7239000" y="2329053"/>
            <a:ext cx="1582304" cy="194310"/>
          </a:xfrm>
          <a:prstGeom prst="rect">
            <a:avLst/>
          </a:prstGeom>
          <a:noFill/>
        </p:spPr>
        <p:txBody>
          <a:bodyPr wrap="none" lIns="0" rIns="0" tIns="0" bIns="0">
            <a:spAutoFit/>
          </a:bodyPr>
          <a:lstStyle/>
          <a:p>
            <a:r>
              <a:rPr sz="1150" b="0">
                <a:solidFill>
                  <a:srgbClr val="252423"/>
                </a:solidFill>
                <a:latin typeface="Segoe UI"/>
              </a:rPr>
              <a:t>Italy is expected to lose</a:t>
            </a:r>
          </a:p>
        </p:txBody>
      </p:sp>
      <p:pic>
        <p:nvPicPr>
          <p:cNvPr id="71" name="Picture 70" descr="lock.png"/>
          <p:cNvPicPr>
            <a:picLocks noChangeAspect="1"/>
          </p:cNvPicPr>
          <p:nvPr/>
        </p:nvPicPr>
        <p:blipFill>
          <a:blip r:embed="rId5"/>
          <a:stretch>
            <a:fillRect/>
          </a:stretch>
        </p:blipFill>
        <p:spPr>
          <a:xfrm>
            <a:off x="8770458" y="2318829"/>
            <a:ext cx="134549" cy="195707"/>
          </a:xfrm>
          <a:prstGeom prst="rect">
            <a:avLst/>
          </a:prstGeom>
        </p:spPr>
      </p:pic>
      <p:sp>
        <p:nvSpPr>
          <p:cNvPr id="72" name="TextBox 71"/>
          <p:cNvSpPr txBox="1"/>
          <p:nvPr/>
        </p:nvSpPr>
        <p:spPr>
          <a:xfrm>
            <a:off x="8945568" y="2329053"/>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73" name="Picture 72" descr="lock.png"/>
          <p:cNvPicPr>
            <a:picLocks noChangeAspect="1"/>
          </p:cNvPicPr>
          <p:nvPr/>
        </p:nvPicPr>
        <p:blipFill>
          <a:blip r:embed="rId5"/>
          <a:stretch>
            <a:fillRect/>
          </a:stretch>
        </p:blipFill>
        <p:spPr>
          <a:xfrm>
            <a:off x="7224920" y="2494089"/>
            <a:ext cx="134549" cy="195707"/>
          </a:xfrm>
          <a:prstGeom prst="rect">
            <a:avLst/>
          </a:prstGeom>
        </p:spPr>
      </p:pic>
      <p:sp>
        <p:nvSpPr>
          <p:cNvPr id="74" name="TextBox 73"/>
          <p:cNvSpPr txBox="1"/>
          <p:nvPr/>
        </p:nvSpPr>
        <p:spPr>
          <a:xfrm>
            <a:off x="7400029" y="250431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75" name="lockshield_10"/>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Share Analysis, By Country Volume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ectangle 7"/>
          <p:cNvSpPr/>
          <p:nvPr/>
        </p:nvSpPr>
        <p:spPr>
          <a:xfrm>
            <a:off x="142875" y="981075"/>
            <a:ext cx="11906250" cy="2933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Size, By Country (Litres)</a:t>
            </a:r>
          </a:p>
        </p:txBody>
      </p:sp>
      <p:graphicFrame>
        <p:nvGraphicFramePr>
          <p:cNvPr id="10" name="Table 9"/>
          <p:cNvGraphicFramePr>
            <a:graphicFrameLocks noGrp="1"/>
          </p:cNvGraphicFramePr>
          <p:nvPr/>
        </p:nvGraphicFramePr>
        <p:xfrm>
          <a:off x="152400" y="1238250"/>
          <a:ext cx="11887204" cy="2466975"/>
        </p:xfrm>
        <a:graphic>
          <a:graphicData uri="http://schemas.openxmlformats.org/drawingml/2006/table">
            <a:tbl>
              <a:tblPr>
                <a:tableStyleId>{5C22544A-7EE6-4342-B048-85BDC9FD1C3A}</a:tableStyleId>
              </a:tblPr>
              <a:tblGrid>
                <a:gridCol w="1687369"/>
                <a:gridCol w="541987"/>
                <a:gridCol w="541987"/>
                <a:gridCol w="541987"/>
                <a:gridCol w="541987"/>
                <a:gridCol w="541987"/>
                <a:gridCol w="625388"/>
                <a:gridCol w="625388"/>
                <a:gridCol w="625388"/>
                <a:gridCol w="625388"/>
                <a:gridCol w="625388"/>
                <a:gridCol w="625388"/>
                <a:gridCol w="625388"/>
                <a:gridCol w="625388"/>
                <a:gridCol w="625388"/>
                <a:gridCol w="625388"/>
                <a:gridCol w="625388"/>
                <a:gridCol w="610632"/>
              </a:tblGrid>
              <a:tr h="246126">
                <a:tc>
                  <a:txBody>
                    <a:bodyPr wrap="none"/>
                    <a:lstStyle/>
                    <a:p>
                      <a:pPr algn="l"/>
                      <a:r>
                        <a:rPr sz="1100" b="1">
                          <a:solidFill>
                            <a:srgbClr val="FFFFFF"/>
                          </a:solidFill>
                          <a:latin typeface="Segoe UI"/>
                        </a:rPr>
                        <a:t>Country</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6761">
                <a:tc>
                  <a:txBody>
                    <a:bodyPr wrap="none"/>
                    <a:lstStyle/>
                    <a:p>
                      <a:pPr algn="l"/>
                      <a:r>
                        <a:rPr sz="1100" b="1">
                          <a:solidFill>
                            <a:srgbClr val="252423"/>
                          </a:solidFill>
                          <a:latin typeface="Segoe UI"/>
                        </a:rPr>
                        <a:t>Germany</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761">
                <a:tc>
                  <a:txBody>
                    <a:bodyPr wrap="none"/>
                    <a:lstStyle/>
                    <a:p>
                      <a:pPr algn="l"/>
                      <a:r>
                        <a:rPr sz="1100" b="1">
                          <a:solidFill>
                            <a:srgbClr val="252423"/>
                          </a:solidFill>
                          <a:latin typeface="Segoe UI"/>
                        </a:rPr>
                        <a:t>Italy</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761">
                <a:tc>
                  <a:txBody>
                    <a:bodyPr wrap="none"/>
                    <a:lstStyle/>
                    <a:p>
                      <a:pPr algn="l"/>
                      <a:r>
                        <a:rPr sz="1100" b="1">
                          <a:solidFill>
                            <a:srgbClr val="252423"/>
                          </a:solidFill>
                          <a:latin typeface="Segoe UI"/>
                        </a:rPr>
                        <a:t>France</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761">
                <a:tc>
                  <a:txBody>
                    <a:bodyPr wrap="none"/>
                    <a:lstStyle/>
                    <a:p>
                      <a:pPr algn="l"/>
                      <a:r>
                        <a:rPr sz="1100" b="1">
                          <a:solidFill>
                            <a:srgbClr val="252423"/>
                          </a:solidFill>
                          <a:latin typeface="Segoe UI"/>
                        </a:rPr>
                        <a:t>U.K.</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761">
                <a:tc>
                  <a:txBody>
                    <a:bodyPr wrap="none"/>
                    <a:lstStyle/>
                    <a:p>
                      <a:pPr algn="l"/>
                      <a:r>
                        <a:rPr sz="1100" b="1">
                          <a:solidFill>
                            <a:srgbClr val="252423"/>
                          </a:solidFill>
                          <a:latin typeface="Segoe UI"/>
                        </a:rPr>
                        <a:t>Spain</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761">
                <a:tc>
                  <a:txBody>
                    <a:bodyPr wrap="none"/>
                    <a:lstStyle/>
                    <a:p>
                      <a:pPr algn="l"/>
                      <a:r>
                        <a:rPr sz="1100" b="1">
                          <a:solidFill>
                            <a:srgbClr val="252423"/>
                          </a:solidFill>
                          <a:latin typeface="Segoe UI"/>
                        </a:rPr>
                        <a:t>BENELUX</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761">
                <a:tc>
                  <a:txBody>
                    <a:bodyPr wrap="none"/>
                    <a:lstStyle/>
                    <a:p>
                      <a:pPr algn="l"/>
                      <a:r>
                        <a:rPr sz="1100" b="1">
                          <a:solidFill>
                            <a:srgbClr val="252423"/>
                          </a:solidFill>
                          <a:latin typeface="Segoe UI"/>
                        </a:rPr>
                        <a:t>Nordic Countries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761">
                <a:tc>
                  <a:txBody>
                    <a:bodyPr wrap="none"/>
                    <a:lstStyle/>
                    <a:p>
                      <a:pPr algn="l"/>
                      <a:r>
                        <a:rPr sz="1100" b="1">
                          <a:solidFill>
                            <a:srgbClr val="252423"/>
                          </a:solidFill>
                          <a:latin typeface="Segoe UI"/>
                        </a:rPr>
                        <a:t>Rest of Western Europe</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761">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048125"/>
            <a:ext cx="11906250" cy="25812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Volume Share Read-out, By Country</a:t>
            </a:r>
          </a:p>
        </p:txBody>
      </p:sp>
      <p:sp>
        <p:nvSpPr>
          <p:cNvPr id="14" name="Rectangle 13"/>
          <p:cNvSpPr/>
          <p:nvPr/>
        </p:nvSpPr>
        <p:spPr>
          <a:xfrm>
            <a:off x="276225" y="43719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752996" y="2328100"/>
            <a:ext cx="366712" cy="533400"/>
          </a:xfrm>
          <a:prstGeom prst="rect">
            <a:avLst/>
          </a:prstGeom>
        </p:spPr>
      </p:pic>
      <p:sp>
        <p:nvSpPr>
          <p:cNvPr id="18" name="TextBox 17"/>
          <p:cNvSpPr txBox="1"/>
          <p:nvPr/>
        </p:nvSpPr>
        <p:spPr>
          <a:xfrm>
            <a:off x="276225" y="4467225"/>
            <a:ext cx="3277154" cy="194310"/>
          </a:xfrm>
          <a:prstGeom prst="rect">
            <a:avLst/>
          </a:prstGeom>
          <a:noFill/>
        </p:spPr>
        <p:txBody>
          <a:bodyPr wrap="none" lIns="0" rIns="0" tIns="0" bIns="0">
            <a:spAutoFit/>
          </a:bodyPr>
          <a:lstStyle/>
          <a:p>
            <a:r>
              <a:rPr sz="1150" b="0">
                <a:solidFill>
                  <a:srgbClr val="252423"/>
                </a:solidFill>
                <a:latin typeface="Segoe UI"/>
              </a:rPr>
              <a:t>Germany Helium-3 market is projected to register</a:t>
            </a:r>
          </a:p>
        </p:txBody>
      </p:sp>
      <p:pic>
        <p:nvPicPr>
          <p:cNvPr id="19" name="Picture 18" descr="lock.png"/>
          <p:cNvPicPr>
            <a:picLocks noChangeAspect="1"/>
          </p:cNvPicPr>
          <p:nvPr/>
        </p:nvPicPr>
        <p:blipFill>
          <a:blip r:embed="rId4"/>
          <a:stretch>
            <a:fillRect/>
          </a:stretch>
        </p:blipFill>
        <p:spPr>
          <a:xfrm>
            <a:off x="3502533" y="4457001"/>
            <a:ext cx="134549" cy="195707"/>
          </a:xfrm>
          <a:prstGeom prst="rect">
            <a:avLst/>
          </a:prstGeom>
        </p:spPr>
      </p:pic>
      <p:sp>
        <p:nvSpPr>
          <p:cNvPr id="20" name="TextBox 19"/>
          <p:cNvSpPr txBox="1"/>
          <p:nvPr/>
        </p:nvSpPr>
        <p:spPr>
          <a:xfrm>
            <a:off x="3677642" y="4467225"/>
            <a:ext cx="7642987" cy="194310"/>
          </a:xfrm>
          <a:prstGeom prst="rect">
            <a:avLst/>
          </a:prstGeom>
          <a:noFill/>
        </p:spPr>
        <p:txBody>
          <a:bodyPr wrap="none" lIns="0" rIns="0" tIns="0" bIns="0">
            <a:spAutoFit/>
          </a:bodyPr>
          <a:lstStyle/>
          <a:p>
            <a:r>
              <a:rPr sz="1150" b="0">
                <a:solidFill>
                  <a:srgbClr val="252423"/>
                </a:solidFill>
                <a:latin typeface="Segoe UI"/>
              </a:rPr>
              <a:t>X higher volume than Italy in 2036. Among Helium-3 by country, Germany is expected to witness the highest CAGR of</a:t>
            </a:r>
          </a:p>
        </p:txBody>
      </p:sp>
      <p:pic>
        <p:nvPicPr>
          <p:cNvPr id="21" name="Picture 20" descr="lock.png"/>
          <p:cNvPicPr>
            <a:picLocks noChangeAspect="1"/>
          </p:cNvPicPr>
          <p:nvPr/>
        </p:nvPicPr>
        <p:blipFill>
          <a:blip r:embed="rId4"/>
          <a:stretch>
            <a:fillRect/>
          </a:stretch>
        </p:blipFill>
        <p:spPr>
          <a:xfrm>
            <a:off x="11269784" y="4457001"/>
            <a:ext cx="134549" cy="195707"/>
          </a:xfrm>
          <a:prstGeom prst="rect">
            <a:avLst/>
          </a:prstGeom>
        </p:spPr>
      </p:pic>
      <p:sp>
        <p:nvSpPr>
          <p:cNvPr id="22" name="TextBox 21"/>
          <p:cNvSpPr txBox="1"/>
          <p:nvPr/>
        </p:nvSpPr>
        <p:spPr>
          <a:xfrm>
            <a:off x="276225" y="464248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3" name="TextBox 22"/>
          <p:cNvSpPr txBox="1"/>
          <p:nvPr/>
        </p:nvSpPr>
        <p:spPr>
          <a:xfrm>
            <a:off x="276225" y="4870322"/>
            <a:ext cx="5941078" cy="194310"/>
          </a:xfrm>
          <a:prstGeom prst="rect">
            <a:avLst/>
          </a:prstGeom>
          <a:noFill/>
        </p:spPr>
        <p:txBody>
          <a:bodyPr wrap="none" lIns="0" rIns="0" tIns="0" bIns="0">
            <a:spAutoFit/>
          </a:bodyPr>
          <a:lstStyle/>
          <a:p>
            <a:r>
              <a:rPr sz="1150" b="0">
                <a:solidFill>
                  <a:srgbClr val="252423"/>
                </a:solidFill>
                <a:latin typeface="Segoe UI"/>
              </a:rPr>
              <a:t>In terms of volume share by country, Germany is expected to dominate the market, gaining</a:t>
            </a:r>
          </a:p>
        </p:txBody>
      </p:sp>
      <p:pic>
        <p:nvPicPr>
          <p:cNvPr id="24" name="Picture 23" descr="lock.png"/>
          <p:cNvPicPr>
            <a:picLocks noChangeAspect="1"/>
          </p:cNvPicPr>
          <p:nvPr/>
        </p:nvPicPr>
        <p:blipFill>
          <a:blip r:embed="rId4"/>
          <a:stretch>
            <a:fillRect/>
          </a:stretch>
        </p:blipFill>
        <p:spPr>
          <a:xfrm>
            <a:off x="6166457" y="4860099"/>
            <a:ext cx="134549" cy="195707"/>
          </a:xfrm>
          <a:prstGeom prst="rect">
            <a:avLst/>
          </a:prstGeom>
        </p:spPr>
      </p:pic>
      <p:sp>
        <p:nvSpPr>
          <p:cNvPr id="25" name="TextBox 24"/>
          <p:cNvSpPr txBox="1"/>
          <p:nvPr/>
        </p:nvSpPr>
        <p:spPr>
          <a:xfrm>
            <a:off x="6341566" y="487032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6" name="Picture 25" descr="lock.png"/>
          <p:cNvPicPr>
            <a:picLocks noChangeAspect="1"/>
          </p:cNvPicPr>
          <p:nvPr/>
        </p:nvPicPr>
        <p:blipFill>
          <a:blip r:embed="rId4"/>
          <a:stretch>
            <a:fillRect/>
          </a:stretch>
        </p:blipFill>
        <p:spPr>
          <a:xfrm>
            <a:off x="7869923" y="4860099"/>
            <a:ext cx="134549" cy="195707"/>
          </a:xfrm>
          <a:prstGeom prst="rect">
            <a:avLst/>
          </a:prstGeom>
        </p:spPr>
      </p:pic>
      <p:sp>
        <p:nvSpPr>
          <p:cNvPr id="27" name="TextBox 26"/>
          <p:cNvSpPr txBox="1"/>
          <p:nvPr/>
        </p:nvSpPr>
        <p:spPr>
          <a:xfrm>
            <a:off x="8045032" y="4870322"/>
            <a:ext cx="2551566" cy="194310"/>
          </a:xfrm>
          <a:prstGeom prst="rect">
            <a:avLst/>
          </a:prstGeom>
          <a:noFill/>
        </p:spPr>
        <p:txBody>
          <a:bodyPr wrap="none" lIns="0" rIns="0" tIns="0" bIns="0">
            <a:spAutoFit/>
          </a:bodyPr>
          <a:lstStyle/>
          <a:p>
            <a:r>
              <a:rPr sz="1150" b="0">
                <a:solidFill>
                  <a:srgbClr val="252423"/>
                </a:solidFill>
                <a:latin typeface="Segoe UI"/>
              </a:rPr>
              <a:t>share by 2036. Italy is expected to lose</a:t>
            </a:r>
          </a:p>
        </p:txBody>
      </p:sp>
      <p:pic>
        <p:nvPicPr>
          <p:cNvPr id="28" name="Picture 27" descr="lock.png"/>
          <p:cNvPicPr>
            <a:picLocks noChangeAspect="1"/>
          </p:cNvPicPr>
          <p:nvPr/>
        </p:nvPicPr>
        <p:blipFill>
          <a:blip r:embed="rId4"/>
          <a:stretch>
            <a:fillRect/>
          </a:stretch>
        </p:blipFill>
        <p:spPr>
          <a:xfrm>
            <a:off x="10545752" y="4860099"/>
            <a:ext cx="134549" cy="195707"/>
          </a:xfrm>
          <a:prstGeom prst="rect">
            <a:avLst/>
          </a:prstGeom>
        </p:spPr>
      </p:pic>
      <p:sp>
        <p:nvSpPr>
          <p:cNvPr id="29" name="TextBox 28"/>
          <p:cNvSpPr txBox="1"/>
          <p:nvPr/>
        </p:nvSpPr>
        <p:spPr>
          <a:xfrm>
            <a:off x="10720862" y="4870322"/>
            <a:ext cx="642130" cy="194310"/>
          </a:xfrm>
          <a:prstGeom prst="rect">
            <a:avLst/>
          </a:prstGeom>
          <a:noFill/>
        </p:spPr>
        <p:txBody>
          <a:bodyPr wrap="none" lIns="0" rIns="0" tIns="0" bIns="0">
            <a:spAutoFit/>
          </a:bodyPr>
          <a:lstStyle/>
          <a:p>
            <a:r>
              <a:rPr sz="1150" b="0">
                <a:solidFill>
                  <a:srgbClr val="252423"/>
                </a:solidFill>
                <a:latin typeface="Segoe UI"/>
              </a:rPr>
              <a:t>BPS over</a:t>
            </a:r>
          </a:p>
        </p:txBody>
      </p:sp>
      <p:sp>
        <p:nvSpPr>
          <p:cNvPr id="30" name="TextBox 29"/>
          <p:cNvSpPr txBox="1"/>
          <p:nvPr/>
        </p:nvSpPr>
        <p:spPr>
          <a:xfrm>
            <a:off x="276225" y="5045582"/>
            <a:ext cx="2244365" cy="194310"/>
          </a:xfrm>
          <a:prstGeom prst="rect">
            <a:avLst/>
          </a:prstGeom>
          <a:noFill/>
        </p:spPr>
        <p:txBody>
          <a:bodyPr wrap="none" lIns="0" rIns="0" tIns="0" bIns="0">
            <a:spAutoFit/>
          </a:bodyPr>
          <a:lstStyle/>
          <a:p>
            <a:r>
              <a:rPr sz="1150" b="0">
                <a:solidFill>
                  <a:srgbClr val="252423"/>
                </a:solidFill>
                <a:latin typeface="Segoe UI"/>
              </a:rPr>
              <a:t>the forecast period to account for</a:t>
            </a:r>
          </a:p>
        </p:txBody>
      </p:sp>
      <p:pic>
        <p:nvPicPr>
          <p:cNvPr id="31" name="Picture 30" descr="lock.png"/>
          <p:cNvPicPr>
            <a:picLocks noChangeAspect="1"/>
          </p:cNvPicPr>
          <p:nvPr/>
        </p:nvPicPr>
        <p:blipFill>
          <a:blip r:embed="rId4"/>
          <a:stretch>
            <a:fillRect/>
          </a:stretch>
        </p:blipFill>
        <p:spPr>
          <a:xfrm>
            <a:off x="2469744" y="5035359"/>
            <a:ext cx="134549" cy="195707"/>
          </a:xfrm>
          <a:prstGeom prst="rect">
            <a:avLst/>
          </a:prstGeom>
        </p:spPr>
      </p:pic>
      <p:sp>
        <p:nvSpPr>
          <p:cNvPr id="32" name="TextBox 31"/>
          <p:cNvSpPr txBox="1"/>
          <p:nvPr/>
        </p:nvSpPr>
        <p:spPr>
          <a:xfrm>
            <a:off x="2644854" y="504558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ectangle 7"/>
          <p:cNvSpPr/>
          <p:nvPr/>
        </p:nvSpPr>
        <p:spPr>
          <a:xfrm>
            <a:off x="142875" y="981075"/>
            <a:ext cx="11906250" cy="2933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Size, By Country (US$ Mn)</a:t>
            </a:r>
          </a:p>
        </p:txBody>
      </p:sp>
      <p:graphicFrame>
        <p:nvGraphicFramePr>
          <p:cNvPr id="10" name="Table 9"/>
          <p:cNvGraphicFramePr>
            <a:graphicFrameLocks noGrp="1"/>
          </p:cNvGraphicFramePr>
          <p:nvPr/>
        </p:nvGraphicFramePr>
        <p:xfrm>
          <a:off x="152400" y="1238250"/>
          <a:ext cx="11887204" cy="2466975"/>
        </p:xfrm>
        <a:graphic>
          <a:graphicData uri="http://schemas.openxmlformats.org/drawingml/2006/table">
            <a:tbl>
              <a:tblPr>
                <a:tableStyleId>{5C22544A-7EE6-4342-B048-85BDC9FD1C3A}</a:tableStyleId>
              </a:tblPr>
              <a:tblGrid>
                <a:gridCol w="1897586"/>
                <a:gridCol w="599340"/>
                <a:gridCol w="599340"/>
                <a:gridCol w="599340"/>
                <a:gridCol w="599340"/>
                <a:gridCol w="599340"/>
                <a:gridCol w="572063"/>
                <a:gridCol w="572063"/>
                <a:gridCol w="572063"/>
                <a:gridCol w="572063"/>
                <a:gridCol w="572063"/>
                <a:gridCol w="572063"/>
                <a:gridCol w="572063"/>
                <a:gridCol w="572063"/>
                <a:gridCol w="572063"/>
                <a:gridCol w="572063"/>
                <a:gridCol w="572063"/>
                <a:gridCol w="700225"/>
              </a:tblGrid>
              <a:tr h="246126">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6761">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52423"/>
                          </a:solidFill>
                          <a:latin typeface="Segoe UI"/>
                        </a:rPr>
                        <a:t>Italy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761">
                <a:tc>
                  <a:txBody>
                    <a:bodyPr wrap="none"/>
                    <a:lstStyle/>
                    <a:p>
                      <a:pPr algn="l"/>
                      <a:r>
                        <a:rPr sz="1100" b="1">
                          <a:solidFill>
                            <a:srgbClr val="252423"/>
                          </a:solidFill>
                          <a:latin typeface="Segoe UI"/>
                        </a:rPr>
                        <a:t>France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52423"/>
                          </a:solidFill>
                          <a:latin typeface="Segoe UI"/>
                        </a:rPr>
                        <a:t>U.K.</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761">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52423"/>
                          </a:solidFill>
                          <a:latin typeface="Segoe UI"/>
                        </a:rPr>
                        <a:t>BENELUX</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761">
                <a:tc>
                  <a:txBody>
                    <a:bodyPr wrap="none"/>
                    <a:lstStyle/>
                    <a:p>
                      <a:pPr algn="l"/>
                      <a:r>
                        <a:rPr sz="1100" b="1">
                          <a:solidFill>
                            <a:srgbClr val="252423"/>
                          </a:solidFill>
                          <a:latin typeface="Segoe UI"/>
                        </a:rPr>
                        <a:t>Nordic Countries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52423"/>
                          </a:solidFill>
                          <a:latin typeface="Segoe UI"/>
                        </a:rPr>
                        <a:t>Rest of Western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6761">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048125"/>
            <a:ext cx="11906250" cy="25812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133850"/>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Share Read-out, By Country</a:t>
            </a:r>
          </a:p>
        </p:txBody>
      </p:sp>
      <p:sp>
        <p:nvSpPr>
          <p:cNvPr id="14" name="Rectangle 13"/>
          <p:cNvSpPr/>
          <p:nvPr/>
        </p:nvSpPr>
        <p:spPr>
          <a:xfrm>
            <a:off x="276225" y="43719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457700"/>
            <a:ext cx="1163955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858105" y="2328100"/>
            <a:ext cx="366712" cy="533400"/>
          </a:xfrm>
          <a:prstGeom prst="rect">
            <a:avLst/>
          </a:prstGeom>
        </p:spPr>
      </p:pic>
      <p:sp>
        <p:nvSpPr>
          <p:cNvPr id="18" name="TextBox 17"/>
          <p:cNvSpPr txBox="1"/>
          <p:nvPr/>
        </p:nvSpPr>
        <p:spPr>
          <a:xfrm>
            <a:off x="276225" y="4467225"/>
            <a:ext cx="3277154" cy="194310"/>
          </a:xfrm>
          <a:prstGeom prst="rect">
            <a:avLst/>
          </a:prstGeom>
          <a:noFill/>
        </p:spPr>
        <p:txBody>
          <a:bodyPr wrap="none" lIns="0" rIns="0" tIns="0" bIns="0">
            <a:spAutoFit/>
          </a:bodyPr>
          <a:lstStyle/>
          <a:p>
            <a:r>
              <a:rPr sz="1150" b="0">
                <a:solidFill>
                  <a:srgbClr val="252423"/>
                </a:solidFill>
                <a:latin typeface="Segoe UI"/>
              </a:rPr>
              <a:t>Germany Helium-3 market is projected to register</a:t>
            </a:r>
          </a:p>
        </p:txBody>
      </p:sp>
      <p:pic>
        <p:nvPicPr>
          <p:cNvPr id="19" name="Picture 18" descr="lock.png"/>
          <p:cNvPicPr>
            <a:picLocks noChangeAspect="1"/>
          </p:cNvPicPr>
          <p:nvPr/>
        </p:nvPicPr>
        <p:blipFill>
          <a:blip r:embed="rId4"/>
          <a:stretch>
            <a:fillRect/>
          </a:stretch>
        </p:blipFill>
        <p:spPr>
          <a:xfrm>
            <a:off x="3502533" y="4457001"/>
            <a:ext cx="134549" cy="195707"/>
          </a:xfrm>
          <a:prstGeom prst="rect">
            <a:avLst/>
          </a:prstGeom>
        </p:spPr>
      </p:pic>
      <p:sp>
        <p:nvSpPr>
          <p:cNvPr id="20" name="TextBox 19"/>
          <p:cNvSpPr txBox="1"/>
          <p:nvPr/>
        </p:nvSpPr>
        <p:spPr>
          <a:xfrm>
            <a:off x="3677642" y="4467225"/>
            <a:ext cx="7506039" cy="194310"/>
          </a:xfrm>
          <a:prstGeom prst="rect">
            <a:avLst/>
          </a:prstGeom>
          <a:noFill/>
        </p:spPr>
        <p:txBody>
          <a:bodyPr wrap="none" lIns="0" rIns="0" tIns="0" bIns="0">
            <a:spAutoFit/>
          </a:bodyPr>
          <a:lstStyle/>
          <a:p>
            <a:r>
              <a:rPr sz="1150" b="0">
                <a:solidFill>
                  <a:srgbClr val="252423"/>
                </a:solidFill>
                <a:latin typeface="Segoe UI"/>
              </a:rPr>
              <a:t>X higher value than Italy in 2036. Among Helium-3 by country, Germany is expected to witness the highest CAGR of</a:t>
            </a:r>
          </a:p>
        </p:txBody>
      </p:sp>
      <p:pic>
        <p:nvPicPr>
          <p:cNvPr id="21" name="Picture 20" descr="lock.png"/>
          <p:cNvPicPr>
            <a:picLocks noChangeAspect="1"/>
          </p:cNvPicPr>
          <p:nvPr/>
        </p:nvPicPr>
        <p:blipFill>
          <a:blip r:embed="rId4"/>
          <a:stretch>
            <a:fillRect/>
          </a:stretch>
        </p:blipFill>
        <p:spPr>
          <a:xfrm>
            <a:off x="11132835" y="4457001"/>
            <a:ext cx="134549" cy="195707"/>
          </a:xfrm>
          <a:prstGeom prst="rect">
            <a:avLst/>
          </a:prstGeom>
        </p:spPr>
      </p:pic>
      <p:sp>
        <p:nvSpPr>
          <p:cNvPr id="22" name="TextBox 21"/>
          <p:cNvSpPr txBox="1"/>
          <p:nvPr/>
        </p:nvSpPr>
        <p:spPr>
          <a:xfrm>
            <a:off x="11307944" y="4467225"/>
            <a:ext cx="358873" cy="194310"/>
          </a:xfrm>
          <a:prstGeom prst="rect">
            <a:avLst/>
          </a:prstGeom>
          <a:noFill/>
        </p:spPr>
        <p:txBody>
          <a:bodyPr wrap="none" lIns="0" rIns="0" tIns="0" bIns="0">
            <a:spAutoFit/>
          </a:bodyPr>
          <a:lstStyle/>
          <a:p>
            <a:r>
              <a:rPr sz="1150" b="0">
                <a:solidFill>
                  <a:srgbClr val="252423"/>
                </a:solidFill>
                <a:latin typeface="Segoe UI"/>
              </a:rPr>
              <a:t>over</a:t>
            </a:r>
          </a:p>
        </p:txBody>
      </p:sp>
      <p:sp>
        <p:nvSpPr>
          <p:cNvPr id="23" name="TextBox 22"/>
          <p:cNvSpPr txBox="1"/>
          <p:nvPr/>
        </p:nvSpPr>
        <p:spPr>
          <a:xfrm>
            <a:off x="276225" y="4642485"/>
            <a:ext cx="1328718" cy="194310"/>
          </a:xfrm>
          <a:prstGeom prst="rect">
            <a:avLst/>
          </a:prstGeom>
          <a:noFill/>
        </p:spPr>
        <p:txBody>
          <a:bodyPr wrap="none" lIns="0" rIns="0" tIns="0" bIns="0">
            <a:spAutoFit/>
          </a:bodyPr>
          <a:lstStyle/>
          <a:p>
            <a:r>
              <a:rPr sz="1150" b="0">
                <a:solidFill>
                  <a:srgbClr val="252423"/>
                </a:solidFill>
                <a:latin typeface="Segoe UI"/>
              </a:rPr>
              <a:t>the forecast period.</a:t>
            </a:r>
          </a:p>
        </p:txBody>
      </p:sp>
      <p:sp>
        <p:nvSpPr>
          <p:cNvPr id="24" name="TextBox 23"/>
          <p:cNvSpPr txBox="1"/>
          <p:nvPr/>
        </p:nvSpPr>
        <p:spPr>
          <a:xfrm>
            <a:off x="276225" y="4870322"/>
            <a:ext cx="5804129" cy="194310"/>
          </a:xfrm>
          <a:prstGeom prst="rect">
            <a:avLst/>
          </a:prstGeom>
          <a:noFill/>
        </p:spPr>
        <p:txBody>
          <a:bodyPr wrap="none" lIns="0" rIns="0" tIns="0" bIns="0">
            <a:spAutoFit/>
          </a:bodyPr>
          <a:lstStyle/>
          <a:p>
            <a:r>
              <a:rPr sz="1150" b="0">
                <a:solidFill>
                  <a:srgbClr val="252423"/>
                </a:solidFill>
                <a:latin typeface="Segoe UI"/>
              </a:rPr>
              <a:t>In terms of value share by country, Germany is expected to dominate the market, gaining</a:t>
            </a:r>
          </a:p>
        </p:txBody>
      </p:sp>
      <p:pic>
        <p:nvPicPr>
          <p:cNvPr id="25" name="Picture 24" descr="lock.png"/>
          <p:cNvPicPr>
            <a:picLocks noChangeAspect="1"/>
          </p:cNvPicPr>
          <p:nvPr/>
        </p:nvPicPr>
        <p:blipFill>
          <a:blip r:embed="rId4"/>
          <a:stretch>
            <a:fillRect/>
          </a:stretch>
        </p:blipFill>
        <p:spPr>
          <a:xfrm>
            <a:off x="6029508" y="4860099"/>
            <a:ext cx="134549" cy="195707"/>
          </a:xfrm>
          <a:prstGeom prst="rect">
            <a:avLst/>
          </a:prstGeom>
        </p:spPr>
      </p:pic>
      <p:sp>
        <p:nvSpPr>
          <p:cNvPr id="26" name="TextBox 25"/>
          <p:cNvSpPr txBox="1"/>
          <p:nvPr/>
        </p:nvSpPr>
        <p:spPr>
          <a:xfrm>
            <a:off x="6204617" y="487032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7732974" y="4860099"/>
            <a:ext cx="134549" cy="195707"/>
          </a:xfrm>
          <a:prstGeom prst="rect">
            <a:avLst/>
          </a:prstGeom>
        </p:spPr>
      </p:pic>
      <p:sp>
        <p:nvSpPr>
          <p:cNvPr id="28" name="TextBox 27"/>
          <p:cNvSpPr txBox="1"/>
          <p:nvPr/>
        </p:nvSpPr>
        <p:spPr>
          <a:xfrm>
            <a:off x="7908083" y="4870322"/>
            <a:ext cx="2551566" cy="194310"/>
          </a:xfrm>
          <a:prstGeom prst="rect">
            <a:avLst/>
          </a:prstGeom>
          <a:noFill/>
        </p:spPr>
        <p:txBody>
          <a:bodyPr wrap="none" lIns="0" rIns="0" tIns="0" bIns="0">
            <a:spAutoFit/>
          </a:bodyPr>
          <a:lstStyle/>
          <a:p>
            <a:r>
              <a:rPr sz="1150" b="0">
                <a:solidFill>
                  <a:srgbClr val="252423"/>
                </a:solidFill>
                <a:latin typeface="Segoe UI"/>
              </a:rPr>
              <a:t>share by 2036. Italy is expected to lose</a:t>
            </a:r>
          </a:p>
        </p:txBody>
      </p:sp>
      <p:pic>
        <p:nvPicPr>
          <p:cNvPr id="29" name="Picture 28" descr="lock.png"/>
          <p:cNvPicPr>
            <a:picLocks noChangeAspect="1"/>
          </p:cNvPicPr>
          <p:nvPr/>
        </p:nvPicPr>
        <p:blipFill>
          <a:blip r:embed="rId4"/>
          <a:stretch>
            <a:fillRect/>
          </a:stretch>
        </p:blipFill>
        <p:spPr>
          <a:xfrm>
            <a:off x="10408804" y="4860099"/>
            <a:ext cx="134549" cy="195707"/>
          </a:xfrm>
          <a:prstGeom prst="rect">
            <a:avLst/>
          </a:prstGeom>
        </p:spPr>
      </p:pic>
      <p:sp>
        <p:nvSpPr>
          <p:cNvPr id="30" name="TextBox 29"/>
          <p:cNvSpPr txBox="1"/>
          <p:nvPr/>
        </p:nvSpPr>
        <p:spPr>
          <a:xfrm>
            <a:off x="10583913" y="4870322"/>
            <a:ext cx="890871" cy="194310"/>
          </a:xfrm>
          <a:prstGeom prst="rect">
            <a:avLst/>
          </a:prstGeom>
          <a:noFill/>
        </p:spPr>
        <p:txBody>
          <a:bodyPr wrap="none" lIns="0" rIns="0" tIns="0" bIns="0">
            <a:spAutoFit/>
          </a:bodyPr>
          <a:lstStyle/>
          <a:p>
            <a:r>
              <a:rPr sz="1150" b="0">
                <a:solidFill>
                  <a:srgbClr val="252423"/>
                </a:solidFill>
                <a:latin typeface="Segoe UI"/>
              </a:rPr>
              <a:t>BPS over the</a:t>
            </a:r>
          </a:p>
        </p:txBody>
      </p:sp>
      <p:sp>
        <p:nvSpPr>
          <p:cNvPr id="31" name="TextBox 30"/>
          <p:cNvSpPr txBox="1"/>
          <p:nvPr/>
        </p:nvSpPr>
        <p:spPr>
          <a:xfrm>
            <a:off x="276225" y="5045582"/>
            <a:ext cx="1995624" cy="194310"/>
          </a:xfrm>
          <a:prstGeom prst="rect">
            <a:avLst/>
          </a:prstGeom>
          <a:noFill/>
        </p:spPr>
        <p:txBody>
          <a:bodyPr wrap="none" lIns="0" rIns="0" tIns="0" bIns="0">
            <a:spAutoFit/>
          </a:bodyPr>
          <a:lstStyle/>
          <a:p>
            <a:r>
              <a:rPr sz="1150" b="0">
                <a:solidFill>
                  <a:srgbClr val="252423"/>
                </a:solidFill>
                <a:latin typeface="Segoe UI"/>
              </a:rPr>
              <a:t>forecast period to account for</a:t>
            </a:r>
          </a:p>
        </p:txBody>
      </p:sp>
      <p:pic>
        <p:nvPicPr>
          <p:cNvPr id="32" name="Picture 31" descr="lock.png"/>
          <p:cNvPicPr>
            <a:picLocks noChangeAspect="1"/>
          </p:cNvPicPr>
          <p:nvPr/>
        </p:nvPicPr>
        <p:blipFill>
          <a:blip r:embed="rId4"/>
          <a:stretch>
            <a:fillRect/>
          </a:stretch>
        </p:blipFill>
        <p:spPr>
          <a:xfrm>
            <a:off x="2221003" y="5035359"/>
            <a:ext cx="134549" cy="195707"/>
          </a:xfrm>
          <a:prstGeom prst="rect">
            <a:avLst/>
          </a:prstGeom>
        </p:spPr>
      </p:pic>
      <p:sp>
        <p:nvSpPr>
          <p:cNvPr id="33" name="TextBox 32"/>
          <p:cNvSpPr txBox="1"/>
          <p:nvPr/>
        </p:nvSpPr>
        <p:spPr>
          <a:xfrm>
            <a:off x="2396112" y="504558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ectangle 7"/>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Volume By Country (Litres)</a:t>
            </a:r>
          </a:p>
        </p:txBody>
      </p:sp>
      <p:graphicFrame>
        <p:nvGraphicFramePr>
          <p:cNvPr id="10" name="Chart 9"/>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1" name="Rectangle 10"/>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3"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Germany</a:t>
            </a:r>
          </a:p>
          <a:p>
            <a:pPr>
              <a:spcBef>
                <a:spcPts val="500"/>
              </a:spcBef>
            </a:pPr>
            <a:r>
              <a:rPr sz="900">
                <a:solidFill>
                  <a:srgbClr val="6ECFF2"/>
                </a:solidFill>
                <a:latin typeface="Segoe UI"/>
              </a:rPr>
              <a:t>■  </a:t>
            </a:r>
            <a:r>
              <a:rPr sz="750">
                <a:solidFill>
                  <a:srgbClr val="252423"/>
                </a:solidFill>
                <a:latin typeface="Segoe UI"/>
              </a:rPr>
              <a:t>   Italy</a:t>
            </a:r>
          </a:p>
          <a:p>
            <a:pPr>
              <a:spcBef>
                <a:spcPts val="500"/>
              </a:spcBef>
            </a:pPr>
            <a:r>
              <a:rPr sz="900">
                <a:solidFill>
                  <a:srgbClr val="D6CAC4"/>
                </a:solidFill>
                <a:latin typeface="Segoe UI"/>
              </a:rPr>
              <a:t>■  </a:t>
            </a:r>
            <a:r>
              <a:rPr sz="750">
                <a:solidFill>
                  <a:srgbClr val="252423"/>
                </a:solidFill>
                <a:latin typeface="Segoe UI"/>
              </a:rPr>
              <a:t>   France</a:t>
            </a:r>
          </a:p>
          <a:p>
            <a:pPr>
              <a:spcBef>
                <a:spcPts val="500"/>
              </a:spcBef>
            </a:pPr>
            <a:r>
              <a:rPr sz="900">
                <a:solidFill>
                  <a:srgbClr val="EBC46B"/>
                </a:solidFill>
                <a:latin typeface="Segoe UI"/>
              </a:rPr>
              <a:t>■  </a:t>
            </a:r>
            <a:r>
              <a:rPr sz="750">
                <a:solidFill>
                  <a:srgbClr val="252423"/>
                </a:solidFill>
                <a:latin typeface="Segoe UI"/>
              </a:rPr>
              <a:t>   U.K.</a:t>
            </a:r>
          </a:p>
          <a:p>
            <a:pPr>
              <a:spcBef>
                <a:spcPts val="500"/>
              </a:spcBef>
            </a:pPr>
            <a:r>
              <a:rPr sz="900">
                <a:solidFill>
                  <a:srgbClr val="EDA28B"/>
                </a:solidFill>
                <a:latin typeface="Segoe UI"/>
              </a:rPr>
              <a:t>■  </a:t>
            </a:r>
            <a:r>
              <a:rPr sz="750">
                <a:solidFill>
                  <a:srgbClr val="252423"/>
                </a:solidFill>
                <a:latin typeface="Segoe UI"/>
              </a:rPr>
              <a:t>   Spain</a:t>
            </a:r>
          </a:p>
          <a:p>
            <a:pPr>
              <a:spcBef>
                <a:spcPts val="500"/>
              </a:spcBef>
            </a:pPr>
            <a:r>
              <a:rPr sz="900">
                <a:solidFill>
                  <a:srgbClr val="C4E2F4"/>
                </a:solidFill>
                <a:latin typeface="Segoe UI"/>
              </a:rPr>
              <a:t>■  </a:t>
            </a:r>
            <a:r>
              <a:rPr sz="750">
                <a:solidFill>
                  <a:srgbClr val="252423"/>
                </a:solidFill>
                <a:latin typeface="Segoe UI"/>
              </a:rPr>
              <a:t>   BENELUX</a:t>
            </a:r>
          </a:p>
          <a:p>
            <a:pPr>
              <a:spcBef>
                <a:spcPts val="500"/>
              </a:spcBef>
            </a:pPr>
            <a:r>
              <a:rPr sz="900">
                <a:solidFill>
                  <a:srgbClr val="9AB3C7"/>
                </a:solidFill>
                <a:latin typeface="Segoe UI"/>
              </a:rPr>
              <a:t>■  </a:t>
            </a:r>
            <a:r>
              <a:rPr sz="750">
                <a:solidFill>
                  <a:srgbClr val="252423"/>
                </a:solidFill>
                <a:latin typeface="Segoe UI"/>
              </a:rPr>
              <a:t>   Nordic Countries</a:t>
            </a:r>
          </a:p>
          <a:p>
            <a:pPr>
              <a:spcBef>
                <a:spcPts val="500"/>
              </a:spcBef>
            </a:pPr>
            <a:r>
              <a:rPr sz="900">
                <a:solidFill>
                  <a:srgbClr val="7D72E5"/>
                </a:solidFill>
                <a:latin typeface="Segoe UI"/>
              </a:rPr>
              <a:t>■  </a:t>
            </a:r>
            <a:r>
              <a:rPr sz="750">
                <a:solidFill>
                  <a:srgbClr val="252423"/>
                </a:solidFill>
                <a:latin typeface="Segoe UI"/>
              </a:rPr>
              <a:t>   Rest of Western Europe</a:t>
            </a:r>
          </a:p>
        </p:txBody>
      </p:sp>
      <p:sp>
        <p:nvSpPr>
          <p:cNvPr id="14" name="Rectangle 13"/>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Country (US$ Mn)</a:t>
            </a:r>
          </a:p>
        </p:txBody>
      </p:sp>
      <p:graphicFrame>
        <p:nvGraphicFramePr>
          <p:cNvPr id="16" name="Chart 15"/>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7" name="Rectangle 16"/>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9"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Germany</a:t>
            </a:r>
          </a:p>
          <a:p>
            <a:pPr>
              <a:spcBef>
                <a:spcPts val="500"/>
              </a:spcBef>
            </a:pPr>
            <a:r>
              <a:rPr sz="900">
                <a:solidFill>
                  <a:srgbClr val="6ECFF2"/>
                </a:solidFill>
                <a:latin typeface="Segoe UI"/>
              </a:rPr>
              <a:t>■  </a:t>
            </a:r>
            <a:r>
              <a:rPr sz="750">
                <a:solidFill>
                  <a:srgbClr val="252423"/>
                </a:solidFill>
                <a:latin typeface="Segoe UI"/>
              </a:rPr>
              <a:t>   Italy</a:t>
            </a:r>
          </a:p>
          <a:p>
            <a:pPr>
              <a:spcBef>
                <a:spcPts val="500"/>
              </a:spcBef>
            </a:pPr>
            <a:r>
              <a:rPr sz="900">
                <a:solidFill>
                  <a:srgbClr val="D6CAC4"/>
                </a:solidFill>
                <a:latin typeface="Segoe UI"/>
              </a:rPr>
              <a:t>■  </a:t>
            </a:r>
            <a:r>
              <a:rPr sz="750">
                <a:solidFill>
                  <a:srgbClr val="252423"/>
                </a:solidFill>
                <a:latin typeface="Segoe UI"/>
              </a:rPr>
              <a:t>   France</a:t>
            </a:r>
          </a:p>
          <a:p>
            <a:pPr>
              <a:spcBef>
                <a:spcPts val="500"/>
              </a:spcBef>
            </a:pPr>
            <a:r>
              <a:rPr sz="900">
                <a:solidFill>
                  <a:srgbClr val="EBC46B"/>
                </a:solidFill>
                <a:latin typeface="Segoe UI"/>
              </a:rPr>
              <a:t>■  </a:t>
            </a:r>
            <a:r>
              <a:rPr sz="750">
                <a:solidFill>
                  <a:srgbClr val="252423"/>
                </a:solidFill>
                <a:latin typeface="Segoe UI"/>
              </a:rPr>
              <a:t>   U.K.</a:t>
            </a:r>
          </a:p>
          <a:p>
            <a:pPr>
              <a:spcBef>
                <a:spcPts val="500"/>
              </a:spcBef>
            </a:pPr>
            <a:r>
              <a:rPr sz="900">
                <a:solidFill>
                  <a:srgbClr val="EDA28B"/>
                </a:solidFill>
                <a:latin typeface="Segoe UI"/>
              </a:rPr>
              <a:t>■  </a:t>
            </a:r>
            <a:r>
              <a:rPr sz="750">
                <a:solidFill>
                  <a:srgbClr val="252423"/>
                </a:solidFill>
                <a:latin typeface="Segoe UI"/>
              </a:rPr>
              <a:t>   Spain</a:t>
            </a:r>
          </a:p>
          <a:p>
            <a:pPr>
              <a:spcBef>
                <a:spcPts val="500"/>
              </a:spcBef>
            </a:pPr>
            <a:r>
              <a:rPr sz="900">
                <a:solidFill>
                  <a:srgbClr val="C4E2F4"/>
                </a:solidFill>
                <a:latin typeface="Segoe UI"/>
              </a:rPr>
              <a:t>■  </a:t>
            </a:r>
            <a:r>
              <a:rPr sz="750">
                <a:solidFill>
                  <a:srgbClr val="252423"/>
                </a:solidFill>
                <a:latin typeface="Segoe UI"/>
              </a:rPr>
              <a:t>   BENELUX</a:t>
            </a:r>
          </a:p>
          <a:p>
            <a:pPr>
              <a:spcBef>
                <a:spcPts val="500"/>
              </a:spcBef>
            </a:pPr>
            <a:r>
              <a:rPr sz="900">
                <a:solidFill>
                  <a:srgbClr val="9AB3C7"/>
                </a:solidFill>
                <a:latin typeface="Segoe UI"/>
              </a:rPr>
              <a:t>■  </a:t>
            </a:r>
            <a:r>
              <a:rPr sz="750">
                <a:solidFill>
                  <a:srgbClr val="252423"/>
                </a:solidFill>
                <a:latin typeface="Segoe UI"/>
              </a:rPr>
              <a:t>   Nordic Countries</a:t>
            </a:r>
          </a:p>
          <a:p>
            <a:pPr>
              <a:spcBef>
                <a:spcPts val="500"/>
              </a:spcBef>
            </a:pPr>
            <a:r>
              <a:rPr sz="900">
                <a:solidFill>
                  <a:srgbClr val="7D72E5"/>
                </a:solidFill>
                <a:latin typeface="Segoe UI"/>
              </a:rPr>
              <a:t>■  </a:t>
            </a:r>
            <a:r>
              <a:rPr sz="750">
                <a:solidFill>
                  <a:srgbClr val="252423"/>
                </a:solidFill>
                <a:latin typeface="Segoe UI"/>
              </a:rPr>
              <a:t>   Rest of Western Europe</a:t>
            </a:r>
          </a:p>
        </p:txBody>
      </p:sp>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6"/>
          <a:stretch>
            <a:fillRect/>
          </a:stretch>
        </p:blipFill>
        <p:spPr>
          <a:xfrm>
            <a:off x="4933434" y="2176405"/>
            <a:ext cx="347145" cy="504938"/>
          </a:xfrm>
          <a:prstGeom prst="rect">
            <a:avLst/>
          </a:prstGeom>
        </p:spPr>
      </p:pic>
      <p:pic>
        <p:nvPicPr>
          <p:cNvPr id="22" name="Picture 21" descr="lock.png"/>
          <p:cNvPicPr>
            <a:picLocks noChangeAspect="1"/>
          </p:cNvPicPr>
          <p:nvPr/>
        </p:nvPicPr>
        <p:blipFill>
          <a:blip r:embed="rId6"/>
          <a:stretch>
            <a:fillRect/>
          </a:stretch>
        </p:blipFill>
        <p:spPr>
          <a:xfrm>
            <a:off x="4933434" y="5062480"/>
            <a:ext cx="347145" cy="504938"/>
          </a:xfrm>
          <a:prstGeom prst="rect">
            <a:avLst/>
          </a:prstGeom>
        </p:spPr>
      </p:pic>
      <p:sp>
        <p:nvSpPr>
          <p:cNvPr id="23" name="lockshield_10"/>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6"/>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Helium-3 Market Top 7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Western Europe market in 2036, highlighting the leading countries within each region by value</a:t>
            </a:r>
          </a:p>
        </p:txBody>
      </p:sp>
      <p:sp>
        <p:nvSpPr>
          <p:cNvPr id="8" name="Rectangle 7"/>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by country  ·  2036 (US$ Mn)  ·  tile size = market value</a:t>
            </a:r>
          </a:p>
        </p:txBody>
      </p:sp>
      <p:sp>
        <p:nvSpPr>
          <p:cNvPr id="10" name="Rectangle 9"/>
          <p:cNvSpPr/>
          <p:nvPr/>
        </p:nvSpPr>
        <p:spPr>
          <a:xfrm>
            <a:off x="238125" y="1266825"/>
            <a:ext cx="5506520"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a:p>
            <a:pPr algn="ctr"/>
            <a:r>
              <a:rPr sz="1100" b="0">
                <a:solidFill>
                  <a:srgbClr val="FFFFFF"/>
                </a:solidFill>
                <a:latin typeface="Segoe UI"/>
              </a:rPr>
              <a:t> </a:t>
            </a:r>
          </a:p>
        </p:txBody>
      </p:sp>
      <p:sp>
        <p:nvSpPr>
          <p:cNvPr id="11" name="Rectangle 10"/>
          <p:cNvSpPr/>
          <p:nvPr/>
        </p:nvSpPr>
        <p:spPr>
          <a:xfrm>
            <a:off x="5744645" y="1266825"/>
            <a:ext cx="3387734" cy="2958278"/>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Italy</a:t>
            </a:r>
          </a:p>
          <a:p>
            <a:pPr algn="ctr"/>
            <a:r>
              <a:rPr sz="1100" b="0">
                <a:solidFill>
                  <a:srgbClr val="252423"/>
                </a:solidFill>
                <a:latin typeface="Segoe UI"/>
              </a:rPr>
              <a:t> </a:t>
            </a:r>
          </a:p>
        </p:txBody>
      </p:sp>
      <p:sp>
        <p:nvSpPr>
          <p:cNvPr id="12" name="Rectangle 11"/>
          <p:cNvSpPr/>
          <p:nvPr/>
        </p:nvSpPr>
        <p:spPr>
          <a:xfrm>
            <a:off x="5744645" y="4225103"/>
            <a:ext cx="3387734" cy="2347147"/>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 </a:t>
            </a:r>
          </a:p>
        </p:txBody>
      </p:sp>
      <p:sp>
        <p:nvSpPr>
          <p:cNvPr id="13" name="Rectangle 12"/>
          <p:cNvSpPr/>
          <p:nvPr/>
        </p:nvSpPr>
        <p:spPr>
          <a:xfrm>
            <a:off x="9132378" y="1266825"/>
            <a:ext cx="2821497" cy="1631505"/>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 </a:t>
            </a:r>
          </a:p>
        </p:txBody>
      </p:sp>
      <p:sp>
        <p:nvSpPr>
          <p:cNvPr id="14" name="Rectangle 13"/>
          <p:cNvSpPr/>
          <p:nvPr/>
        </p:nvSpPr>
        <p:spPr>
          <a:xfrm>
            <a:off x="9132378" y="2898330"/>
            <a:ext cx="2821497" cy="1504137"/>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Spain</a:t>
            </a:r>
          </a:p>
          <a:p>
            <a:pPr algn="ctr"/>
            <a:r>
              <a:rPr sz="1100" b="0">
                <a:solidFill>
                  <a:srgbClr val="252423"/>
                </a:solidFill>
                <a:latin typeface="Segoe UI"/>
              </a:rPr>
              <a:t> </a:t>
            </a:r>
          </a:p>
        </p:txBody>
      </p:sp>
      <p:sp>
        <p:nvSpPr>
          <p:cNvPr id="15" name="Rectangle 14"/>
          <p:cNvSpPr/>
          <p:nvPr/>
        </p:nvSpPr>
        <p:spPr>
          <a:xfrm>
            <a:off x="9132378" y="4402467"/>
            <a:ext cx="1509654" cy="2169783"/>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BENELUX</a:t>
            </a:r>
          </a:p>
          <a:p>
            <a:pPr algn="ctr"/>
            <a:r>
              <a:rPr sz="1100" b="0">
                <a:solidFill>
                  <a:srgbClr val="252423"/>
                </a:solidFill>
                <a:latin typeface="Segoe UI"/>
              </a:rPr>
              <a:t> </a:t>
            </a:r>
          </a:p>
        </p:txBody>
      </p:sp>
      <p:sp>
        <p:nvSpPr>
          <p:cNvPr id="16" name="Rectangle 15"/>
          <p:cNvSpPr/>
          <p:nvPr/>
        </p:nvSpPr>
        <p:spPr>
          <a:xfrm>
            <a:off x="10642033" y="4402467"/>
            <a:ext cx="1311842" cy="2169783"/>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Nordic Countries</a:t>
            </a:r>
          </a:p>
          <a:p>
            <a:pPr algn="ctr"/>
            <a:r>
              <a:rPr sz="1100" b="0">
                <a:solidFill>
                  <a:srgbClr val="252423"/>
                </a:solidFill>
                <a:latin typeface="Segoe UI"/>
              </a:rPr>
              <a:t> </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4"/>
          <a:stretch>
            <a:fillRect/>
          </a:stretch>
        </p:blipFill>
        <p:spPr>
          <a:xfrm>
            <a:off x="2933759" y="3919537"/>
            <a:ext cx="115252" cy="167639"/>
          </a:xfrm>
          <a:prstGeom prst="rect">
            <a:avLst/>
          </a:prstGeom>
        </p:spPr>
      </p:pic>
      <p:pic>
        <p:nvPicPr>
          <p:cNvPr id="19" name="Picture 18" descr="lock.png"/>
          <p:cNvPicPr>
            <a:picLocks noChangeAspect="1"/>
          </p:cNvPicPr>
          <p:nvPr/>
        </p:nvPicPr>
        <p:blipFill>
          <a:blip r:embed="rId4"/>
          <a:stretch>
            <a:fillRect/>
          </a:stretch>
        </p:blipFill>
        <p:spPr>
          <a:xfrm>
            <a:off x="7380886" y="2745964"/>
            <a:ext cx="115252" cy="167639"/>
          </a:xfrm>
          <a:prstGeom prst="rect">
            <a:avLst/>
          </a:prstGeom>
        </p:spPr>
      </p:pic>
      <p:pic>
        <p:nvPicPr>
          <p:cNvPr id="20" name="Picture 19" descr="lock.png"/>
          <p:cNvPicPr>
            <a:picLocks noChangeAspect="1"/>
          </p:cNvPicPr>
          <p:nvPr/>
        </p:nvPicPr>
        <p:blipFill>
          <a:blip r:embed="rId4"/>
          <a:stretch>
            <a:fillRect/>
          </a:stretch>
        </p:blipFill>
        <p:spPr>
          <a:xfrm>
            <a:off x="7380886" y="5398676"/>
            <a:ext cx="115252" cy="167639"/>
          </a:xfrm>
          <a:prstGeom prst="rect">
            <a:avLst/>
          </a:prstGeom>
        </p:spPr>
      </p:pic>
      <p:pic>
        <p:nvPicPr>
          <p:cNvPr id="21" name="Picture 20" descr="lock.png"/>
          <p:cNvPicPr>
            <a:picLocks noChangeAspect="1"/>
          </p:cNvPicPr>
          <p:nvPr/>
        </p:nvPicPr>
        <p:blipFill>
          <a:blip r:embed="rId4"/>
          <a:stretch>
            <a:fillRect/>
          </a:stretch>
        </p:blipFill>
        <p:spPr>
          <a:xfrm>
            <a:off x="10485500" y="2082577"/>
            <a:ext cx="115252" cy="167639"/>
          </a:xfrm>
          <a:prstGeom prst="rect">
            <a:avLst/>
          </a:prstGeom>
        </p:spPr>
      </p:pic>
      <p:pic>
        <p:nvPicPr>
          <p:cNvPr id="22" name="Picture 21" descr="lock.png"/>
          <p:cNvPicPr>
            <a:picLocks noChangeAspect="1"/>
          </p:cNvPicPr>
          <p:nvPr/>
        </p:nvPicPr>
        <p:blipFill>
          <a:blip r:embed="rId4"/>
          <a:stretch>
            <a:fillRect/>
          </a:stretch>
        </p:blipFill>
        <p:spPr>
          <a:xfrm>
            <a:off x="10485500" y="3650398"/>
            <a:ext cx="115252" cy="167639"/>
          </a:xfrm>
          <a:prstGeom prst="rect">
            <a:avLst/>
          </a:prstGeom>
        </p:spPr>
      </p:pic>
      <p:pic>
        <p:nvPicPr>
          <p:cNvPr id="23" name="Picture 22" descr="lock.png"/>
          <p:cNvPicPr>
            <a:picLocks noChangeAspect="1"/>
          </p:cNvPicPr>
          <p:nvPr/>
        </p:nvPicPr>
        <p:blipFill>
          <a:blip r:embed="rId4"/>
          <a:stretch>
            <a:fillRect/>
          </a:stretch>
        </p:blipFill>
        <p:spPr>
          <a:xfrm>
            <a:off x="9829579" y="5487358"/>
            <a:ext cx="115252" cy="167639"/>
          </a:xfrm>
          <a:prstGeom prst="rect">
            <a:avLst/>
          </a:prstGeom>
        </p:spPr>
      </p:pic>
      <p:pic>
        <p:nvPicPr>
          <p:cNvPr id="24" name="Picture 23" descr="lock.png"/>
          <p:cNvPicPr>
            <a:picLocks noChangeAspect="1"/>
          </p:cNvPicPr>
          <p:nvPr/>
        </p:nvPicPr>
        <p:blipFill>
          <a:blip r:embed="rId4"/>
          <a:stretch>
            <a:fillRect/>
          </a:stretch>
        </p:blipFill>
        <p:spPr>
          <a:xfrm>
            <a:off x="11240327" y="5487358"/>
            <a:ext cx="115252" cy="167639"/>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Western Europe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Supply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Product 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Product Form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Product Form,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Product Form segment categorizes the market by product form.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Gaseous Helium-3</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Liquid Helium-3</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52423"/>
                </a:solidFill>
                <a:latin typeface="Segoe UI"/>
              </a:rPr>
              <a:t/>
            </a:r>
          </a:p>
          <a:p>
            <a:pPr algn="l">
              <a:lnSpc>
                <a:spcPct val="110000"/>
              </a:lnSpc>
              <a:spcBef>
                <a:spcPts val="0"/>
              </a:spcBef>
              <a:spcAft>
                <a:spcPts val="5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Product Form split shows how demand is distributed across product form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350_2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650_2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6_4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197_5_605E5C.png"/>
          <p:cNvPicPr>
            <a:picLocks noChangeAspect="1"/>
          </p:cNvPicPr>
          <p:nvPr/>
        </p:nvPicPr>
        <p:blipFill>
          <a:blip r:embed="rId7"/>
          <a:stretch>
            <a:fillRect/>
          </a:stretch>
        </p:blipFill>
        <p:spPr>
          <a:xfrm>
            <a:off x="8798548" y="2286582"/>
            <a:ext cx="1195728" cy="361950"/>
          </a:xfrm>
          <a:prstGeom prst="rect">
            <a:avLst/>
          </a:prstGeom>
        </p:spPr>
      </p:pic>
      <p:pic>
        <p:nvPicPr>
          <p:cNvPr id="51" name="Picture 50" descr="293_4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4_0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758569" cy="186689"/>
          </a:xfrm>
          <a:prstGeom prst="rect">
            <a:avLst/>
          </a:prstGeom>
          <a:noFill/>
        </p:spPr>
        <p:txBody>
          <a:bodyPr wrap="none" lIns="0" rIns="0" tIns="0" bIns="0">
            <a:spAutoFit/>
          </a:bodyPr>
          <a:lstStyle/>
          <a:p>
            <a:r>
              <a:rPr sz="1100" b="0">
                <a:solidFill>
                  <a:srgbClr val="252423"/>
                </a:solidFill>
                <a:latin typeface="Segoe UI"/>
              </a:rPr>
              <a:t>Among Helium-3 by product form, gaseous</a:t>
            </a:r>
          </a:p>
        </p:txBody>
      </p:sp>
      <p:sp>
        <p:nvSpPr>
          <p:cNvPr id="56" name="TextBox 55"/>
          <p:cNvSpPr txBox="1"/>
          <p:nvPr/>
        </p:nvSpPr>
        <p:spPr>
          <a:xfrm>
            <a:off x="485775" y="4397077"/>
            <a:ext cx="2846154" cy="186689"/>
          </a:xfrm>
          <a:prstGeom prst="rect">
            <a:avLst/>
          </a:prstGeom>
          <a:noFill/>
        </p:spPr>
        <p:txBody>
          <a:bodyPr wrap="none" lIns="0" rIns="0" tIns="0" bIns="0">
            <a:spAutoFit/>
          </a:bodyPr>
          <a:lstStyle/>
          <a:p>
            <a:r>
              <a:rPr sz="1100" b="0">
                <a:solidFill>
                  <a:srgbClr val="252423"/>
                </a:solidFill>
                <a:latin typeface="Segoe UI"/>
              </a:rPr>
              <a:t>Helium-3 segment is expected to witness the</a:t>
            </a:r>
          </a:p>
        </p:txBody>
      </p:sp>
      <p:sp>
        <p:nvSpPr>
          <p:cNvPr id="57" name="TextBox 56"/>
          <p:cNvSpPr txBox="1"/>
          <p:nvPr/>
        </p:nvSpPr>
        <p:spPr>
          <a:xfrm>
            <a:off x="485775" y="4564717"/>
            <a:ext cx="1088138" cy="186689"/>
          </a:xfrm>
          <a:prstGeom prst="rect">
            <a:avLst/>
          </a:prstGeom>
          <a:noFill/>
        </p:spPr>
        <p:txBody>
          <a:bodyPr wrap="none" lIns="0" rIns="0" tIns="0" bIns="0">
            <a:spAutoFit/>
          </a:bodyPr>
          <a:lstStyle/>
          <a:p>
            <a:r>
              <a:rPr sz="1100" b="0">
                <a:solidFill>
                  <a:srgbClr val="252423"/>
                </a:solidFill>
                <a:latin typeface="Segoe UI"/>
              </a:rPr>
              <a:t>highest CAGR of</a:t>
            </a:r>
          </a:p>
        </p:txBody>
      </p:sp>
      <p:pic>
        <p:nvPicPr>
          <p:cNvPr id="58" name="Picture 57" descr="lock.png"/>
          <p:cNvPicPr>
            <a:picLocks noChangeAspect="1"/>
          </p:cNvPicPr>
          <p:nvPr/>
        </p:nvPicPr>
        <p:blipFill>
          <a:blip r:embed="rId10"/>
          <a:stretch>
            <a:fillRect/>
          </a:stretch>
        </p:blipFill>
        <p:spPr>
          <a:xfrm>
            <a:off x="1521964" y="4554938"/>
            <a:ext cx="128699" cy="187198"/>
          </a:xfrm>
          <a:prstGeom prst="rect">
            <a:avLst/>
          </a:prstGeom>
        </p:spPr>
      </p:pic>
      <p:sp>
        <p:nvSpPr>
          <p:cNvPr id="59" name="TextBox 58"/>
          <p:cNvSpPr txBox="1"/>
          <p:nvPr/>
        </p:nvSpPr>
        <p:spPr>
          <a:xfrm>
            <a:off x="1689460" y="4564717"/>
            <a:ext cx="1582843" cy="186689"/>
          </a:xfrm>
          <a:prstGeom prst="rect">
            <a:avLst/>
          </a:prstGeom>
          <a:noFill/>
        </p:spPr>
        <p:txBody>
          <a:bodyPr wrap="none" lIns="0" rIns="0" tIns="0" bIns="0">
            <a:spAutoFit/>
          </a:bodyPr>
          <a:lstStyle/>
          <a:p>
            <a:r>
              <a:rPr sz="1100" b="0">
                <a:solidFill>
                  <a:srgbClr val="252423"/>
                </a:solidFill>
                <a:latin typeface="Segoe UI"/>
              </a:rPr>
              <a:t>over the forecast period.</a:t>
            </a:r>
          </a:p>
        </p:txBody>
      </p:sp>
      <p:sp>
        <p:nvSpPr>
          <p:cNvPr id="60" name="TextBox 59"/>
          <p:cNvSpPr txBox="1"/>
          <p:nvPr/>
        </p:nvSpPr>
        <p:spPr>
          <a:xfrm>
            <a:off x="485775" y="4732357"/>
            <a:ext cx="2787909" cy="186689"/>
          </a:xfrm>
          <a:prstGeom prst="rect">
            <a:avLst/>
          </a:prstGeom>
          <a:noFill/>
        </p:spPr>
        <p:txBody>
          <a:bodyPr wrap="none" lIns="0" rIns="0" tIns="0" bIns="0">
            <a:spAutoFit/>
          </a:bodyPr>
          <a:lstStyle/>
          <a:p>
            <a:r>
              <a:rPr sz="1100" b="0">
                <a:solidFill>
                  <a:srgbClr val="252423"/>
                </a:solidFill>
                <a:latin typeface="Segoe UI"/>
              </a:rPr>
              <a:t>In terms of value share by product form, the</a:t>
            </a:r>
          </a:p>
        </p:txBody>
      </p:sp>
      <p:sp>
        <p:nvSpPr>
          <p:cNvPr id="61" name="TextBox 60"/>
          <p:cNvSpPr txBox="1"/>
          <p:nvPr/>
        </p:nvSpPr>
        <p:spPr>
          <a:xfrm>
            <a:off x="485775" y="4899997"/>
            <a:ext cx="2661434" cy="186689"/>
          </a:xfrm>
          <a:prstGeom prst="rect">
            <a:avLst/>
          </a:prstGeom>
          <a:noFill/>
        </p:spPr>
        <p:txBody>
          <a:bodyPr wrap="none" lIns="0" rIns="0" tIns="0" bIns="0">
            <a:spAutoFit/>
          </a:bodyPr>
          <a:lstStyle/>
          <a:p>
            <a:r>
              <a:rPr sz="1100" b="0">
                <a:solidFill>
                  <a:srgbClr val="252423"/>
                </a:solidFill>
                <a:latin typeface="Segoe UI"/>
              </a:rPr>
              <a:t>gaseous Helium-3 segment is expected to</a:t>
            </a:r>
          </a:p>
        </p:txBody>
      </p:sp>
      <p:sp>
        <p:nvSpPr>
          <p:cNvPr id="62" name="TextBox 61"/>
          <p:cNvSpPr txBox="1"/>
          <p:nvPr/>
        </p:nvSpPr>
        <p:spPr>
          <a:xfrm>
            <a:off x="485775" y="5067637"/>
            <a:ext cx="1902335" cy="186689"/>
          </a:xfrm>
          <a:prstGeom prst="rect">
            <a:avLst/>
          </a:prstGeom>
          <a:noFill/>
        </p:spPr>
        <p:txBody>
          <a:bodyPr wrap="none" lIns="0" rIns="0" tIns="0" bIns="0">
            <a:spAutoFit/>
          </a:bodyPr>
          <a:lstStyle/>
          <a:p>
            <a:r>
              <a:rPr sz="1100" b="0">
                <a:solidFill>
                  <a:srgbClr val="252423"/>
                </a:solidFill>
                <a:latin typeface="Segoe UI"/>
              </a:rPr>
              <a:t>dominate the market, gaining</a:t>
            </a:r>
          </a:p>
        </p:txBody>
      </p:sp>
      <p:pic>
        <p:nvPicPr>
          <p:cNvPr id="63" name="Picture 62" descr="lock.png"/>
          <p:cNvPicPr>
            <a:picLocks noChangeAspect="1"/>
          </p:cNvPicPr>
          <p:nvPr/>
        </p:nvPicPr>
        <p:blipFill>
          <a:blip r:embed="rId10"/>
          <a:stretch>
            <a:fillRect/>
          </a:stretch>
        </p:blipFill>
        <p:spPr>
          <a:xfrm>
            <a:off x="2336162" y="5057858"/>
            <a:ext cx="128699" cy="187198"/>
          </a:xfrm>
          <a:prstGeom prst="rect">
            <a:avLst/>
          </a:prstGeom>
        </p:spPr>
      </p:pic>
      <p:sp>
        <p:nvSpPr>
          <p:cNvPr id="64" name="TextBox 63"/>
          <p:cNvSpPr txBox="1"/>
          <p:nvPr/>
        </p:nvSpPr>
        <p:spPr>
          <a:xfrm>
            <a:off x="2503658" y="5067637"/>
            <a:ext cx="579883" cy="186689"/>
          </a:xfrm>
          <a:prstGeom prst="rect">
            <a:avLst/>
          </a:prstGeom>
          <a:noFill/>
        </p:spPr>
        <p:txBody>
          <a:bodyPr wrap="none" lIns="0" rIns="0" tIns="0" bIns="0">
            <a:spAutoFit/>
          </a:bodyPr>
          <a:lstStyle/>
          <a:p>
            <a:r>
              <a:rPr sz="1100" b="0">
                <a:solidFill>
                  <a:srgbClr val="252423"/>
                </a:solidFill>
                <a:latin typeface="Segoe UI"/>
              </a:rPr>
              <a:t>BPS and</a:t>
            </a:r>
          </a:p>
        </p:txBody>
      </p:sp>
      <p:sp>
        <p:nvSpPr>
          <p:cNvPr id="65" name="TextBox 64"/>
          <p:cNvSpPr txBox="1"/>
          <p:nvPr/>
        </p:nvSpPr>
        <p:spPr>
          <a:xfrm>
            <a:off x="485775" y="5235277"/>
            <a:ext cx="971971" cy="186689"/>
          </a:xfrm>
          <a:prstGeom prst="rect">
            <a:avLst/>
          </a:prstGeom>
          <a:noFill/>
        </p:spPr>
        <p:txBody>
          <a:bodyPr wrap="none" lIns="0" rIns="0" tIns="0" bIns="0">
            <a:spAutoFit/>
          </a:bodyPr>
          <a:lstStyle/>
          <a:p>
            <a:r>
              <a:rPr sz="1100" b="0">
                <a:solidFill>
                  <a:srgbClr val="252423"/>
                </a:solidFill>
                <a:latin typeface="Segoe UI"/>
              </a:rPr>
              <a:t>accounting for</a:t>
            </a:r>
          </a:p>
        </p:txBody>
      </p:sp>
      <p:pic>
        <p:nvPicPr>
          <p:cNvPr id="66" name="Picture 65" descr="lock.png"/>
          <p:cNvPicPr>
            <a:picLocks noChangeAspect="1"/>
          </p:cNvPicPr>
          <p:nvPr/>
        </p:nvPicPr>
        <p:blipFill>
          <a:blip r:embed="rId10"/>
          <a:stretch>
            <a:fillRect/>
          </a:stretch>
        </p:blipFill>
        <p:spPr>
          <a:xfrm>
            <a:off x="1405798" y="5225498"/>
            <a:ext cx="128699" cy="187198"/>
          </a:xfrm>
          <a:prstGeom prst="rect">
            <a:avLst/>
          </a:prstGeom>
        </p:spPr>
      </p:pic>
      <p:sp>
        <p:nvSpPr>
          <p:cNvPr id="67" name="TextBox 66"/>
          <p:cNvSpPr txBox="1"/>
          <p:nvPr/>
        </p:nvSpPr>
        <p:spPr>
          <a:xfrm>
            <a:off x="1573294" y="5235277"/>
            <a:ext cx="965120" cy="186689"/>
          </a:xfrm>
          <a:prstGeom prst="rect">
            <a:avLst/>
          </a:prstGeom>
          <a:noFill/>
        </p:spPr>
        <p:txBody>
          <a:bodyPr wrap="none" lIns="0" rIns="0" tIns="0" bIns="0">
            <a:spAutoFit/>
          </a:bodyPr>
          <a:lstStyle/>
          <a:p>
            <a:r>
              <a:rPr sz="1100" b="0">
                <a:solidFill>
                  <a:srgbClr val="252423"/>
                </a:solidFill>
                <a:latin typeface="Segoe UI"/>
              </a:rPr>
              <a:t>share by 2036.</a:t>
            </a:r>
          </a:p>
        </p:txBody>
      </p:sp>
      <p:sp>
        <p:nvSpPr>
          <p:cNvPr id="68" name="TextBox 67"/>
          <p:cNvSpPr txBox="1"/>
          <p:nvPr/>
        </p:nvSpPr>
        <p:spPr>
          <a:xfrm>
            <a:off x="485775" y="5453209"/>
            <a:ext cx="2701786" cy="186689"/>
          </a:xfrm>
          <a:prstGeom prst="rect">
            <a:avLst/>
          </a:prstGeom>
          <a:noFill/>
        </p:spPr>
        <p:txBody>
          <a:bodyPr wrap="none" lIns="0" rIns="0" tIns="0" bIns="0">
            <a:spAutoFit/>
          </a:bodyPr>
          <a:lstStyle/>
          <a:p>
            <a:r>
              <a:rPr sz="1100" b="0">
                <a:solidFill>
                  <a:srgbClr val="252423"/>
                </a:solidFill>
                <a:latin typeface="Segoe UI"/>
              </a:rPr>
              <a:t>Gaseous Helium-3 segment is projected to</a:t>
            </a:r>
          </a:p>
        </p:txBody>
      </p:sp>
      <p:sp>
        <p:nvSpPr>
          <p:cNvPr id="69" name="TextBox 68"/>
          <p:cNvSpPr txBox="1"/>
          <p:nvPr/>
        </p:nvSpPr>
        <p:spPr>
          <a:xfrm>
            <a:off x="485775" y="5620849"/>
            <a:ext cx="542456" cy="186689"/>
          </a:xfrm>
          <a:prstGeom prst="rect">
            <a:avLst/>
          </a:prstGeom>
          <a:noFill/>
        </p:spPr>
        <p:txBody>
          <a:bodyPr wrap="none" lIns="0" rIns="0" tIns="0" bIns="0">
            <a:spAutoFit/>
          </a:bodyPr>
          <a:lstStyle/>
          <a:p>
            <a:r>
              <a:rPr sz="1100" b="0">
                <a:solidFill>
                  <a:srgbClr val="252423"/>
                </a:solidFill>
                <a:latin typeface="Segoe UI"/>
              </a:rPr>
              <a:t>register</a:t>
            </a:r>
          </a:p>
        </p:txBody>
      </p:sp>
      <p:pic>
        <p:nvPicPr>
          <p:cNvPr id="70" name="Picture 69" descr="lock.png"/>
          <p:cNvPicPr>
            <a:picLocks noChangeAspect="1"/>
          </p:cNvPicPr>
          <p:nvPr/>
        </p:nvPicPr>
        <p:blipFill>
          <a:blip r:embed="rId10"/>
          <a:stretch>
            <a:fillRect/>
          </a:stretch>
        </p:blipFill>
        <p:spPr>
          <a:xfrm>
            <a:off x="976283" y="5611070"/>
            <a:ext cx="128699" cy="187198"/>
          </a:xfrm>
          <a:prstGeom prst="rect">
            <a:avLst/>
          </a:prstGeom>
        </p:spPr>
      </p:pic>
      <p:sp>
        <p:nvSpPr>
          <p:cNvPr id="71" name="TextBox 70"/>
          <p:cNvSpPr txBox="1"/>
          <p:nvPr/>
        </p:nvSpPr>
        <p:spPr>
          <a:xfrm>
            <a:off x="1143778" y="5620849"/>
            <a:ext cx="1654062" cy="186689"/>
          </a:xfrm>
          <a:prstGeom prst="rect">
            <a:avLst/>
          </a:prstGeom>
          <a:noFill/>
        </p:spPr>
        <p:txBody>
          <a:bodyPr wrap="none" lIns="0" rIns="0" tIns="0" bIns="0">
            <a:spAutoFit/>
          </a:bodyPr>
          <a:lstStyle/>
          <a:p>
            <a:r>
              <a:rPr sz="1100" b="0">
                <a:solidFill>
                  <a:srgbClr val="252423"/>
                </a:solidFill>
                <a:latin typeface="Segoe UI"/>
              </a:rPr>
              <a:t>X higher value than liquid</a:t>
            </a:r>
          </a:p>
        </p:txBody>
      </p:sp>
      <p:sp>
        <p:nvSpPr>
          <p:cNvPr id="72" name="TextBox 71"/>
          <p:cNvSpPr txBox="1"/>
          <p:nvPr/>
        </p:nvSpPr>
        <p:spPr>
          <a:xfrm>
            <a:off x="485775" y="5788489"/>
            <a:ext cx="1740867" cy="186689"/>
          </a:xfrm>
          <a:prstGeom prst="rect">
            <a:avLst/>
          </a:prstGeom>
          <a:noFill/>
        </p:spPr>
        <p:txBody>
          <a:bodyPr wrap="none" lIns="0" rIns="0" tIns="0" bIns="0">
            <a:spAutoFit/>
          </a:bodyPr>
          <a:lstStyle/>
          <a:p>
            <a:r>
              <a:rPr sz="1100" b="0">
                <a:solidFill>
                  <a:srgbClr val="252423"/>
                </a:solidFill>
                <a:latin typeface="Segoe UI"/>
              </a:rPr>
              <a:t>Helium-3 segment in 2036.</a:t>
            </a:r>
          </a:p>
        </p:txBody>
      </p:sp>
      <p:sp>
        <p:nvSpPr>
          <p:cNvPr id="73" name="TextBox 72"/>
          <p:cNvSpPr txBox="1"/>
          <p:nvPr/>
        </p:nvSpPr>
        <p:spPr>
          <a:xfrm>
            <a:off x="3838575" y="4229437"/>
            <a:ext cx="1357510" cy="186689"/>
          </a:xfrm>
          <a:prstGeom prst="rect">
            <a:avLst/>
          </a:prstGeom>
          <a:noFill/>
        </p:spPr>
        <p:txBody>
          <a:bodyPr wrap="none" lIns="0" rIns="0" tIns="0" bIns="0">
            <a:spAutoFit/>
          </a:bodyPr>
          <a:lstStyle/>
          <a:p>
            <a:r>
              <a:rPr sz="1100" b="0">
                <a:solidFill>
                  <a:srgbClr val="252423"/>
                </a:solidFill>
                <a:latin typeface="Segoe UI"/>
              </a:rPr>
              <a:t>● Gaseous Helium-3:</a:t>
            </a:r>
          </a:p>
        </p:txBody>
      </p:sp>
      <p:pic>
        <p:nvPicPr>
          <p:cNvPr id="74" name="Picture 73" descr="lock.png"/>
          <p:cNvPicPr>
            <a:picLocks noChangeAspect="1"/>
          </p:cNvPicPr>
          <p:nvPr/>
        </p:nvPicPr>
        <p:blipFill>
          <a:blip r:embed="rId10"/>
          <a:stretch>
            <a:fillRect/>
          </a:stretch>
        </p:blipFill>
        <p:spPr>
          <a:xfrm>
            <a:off x="5144137" y="4219658"/>
            <a:ext cx="128699" cy="187198"/>
          </a:xfrm>
          <a:prstGeom prst="rect">
            <a:avLst/>
          </a:prstGeom>
        </p:spPr>
      </p:pic>
      <p:sp>
        <p:nvSpPr>
          <p:cNvPr id="75" name="TextBox 74"/>
          <p:cNvSpPr txBox="1"/>
          <p:nvPr/>
        </p:nvSpPr>
        <p:spPr>
          <a:xfrm>
            <a:off x="5311633"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10"/>
          <a:stretch>
            <a:fillRect/>
          </a:stretch>
        </p:blipFill>
        <p:spPr>
          <a:xfrm>
            <a:off x="6231579" y="4219658"/>
            <a:ext cx="128699" cy="187198"/>
          </a:xfrm>
          <a:prstGeom prst="rect">
            <a:avLst/>
          </a:prstGeom>
        </p:spPr>
      </p:pic>
      <p:sp>
        <p:nvSpPr>
          <p:cNvPr id="77" name="TextBox 76"/>
          <p:cNvSpPr txBox="1"/>
          <p:nvPr/>
        </p:nvSpPr>
        <p:spPr>
          <a:xfrm>
            <a:off x="6399075" y="4229437"/>
            <a:ext cx="1027876" cy="186689"/>
          </a:xfrm>
          <a:prstGeom prst="rect">
            <a:avLst/>
          </a:prstGeom>
          <a:noFill/>
        </p:spPr>
        <p:txBody>
          <a:bodyPr wrap="none" lIns="0" rIns="0" tIns="0" bIns="0">
            <a:spAutoFit/>
          </a:bodyPr>
          <a:lstStyle/>
          <a:p>
            <a:r>
              <a:rPr sz="1100" b="0">
                <a:solidFill>
                  <a:srgbClr val="252423"/>
                </a:solidFill>
                <a:latin typeface="Segoe UI"/>
              </a:rPr>
              <a:t>CAGR leads the</a:t>
            </a:r>
          </a:p>
        </p:txBody>
      </p:sp>
      <p:sp>
        <p:nvSpPr>
          <p:cNvPr id="78" name="TextBox 77"/>
          <p:cNvSpPr txBox="1"/>
          <p:nvPr/>
        </p:nvSpPr>
        <p:spPr>
          <a:xfrm>
            <a:off x="3838575" y="4397077"/>
            <a:ext cx="641275" cy="186689"/>
          </a:xfrm>
          <a:prstGeom prst="rect">
            <a:avLst/>
          </a:prstGeom>
          <a:noFill/>
        </p:spPr>
        <p:txBody>
          <a:bodyPr wrap="none" lIns="0" rIns="0" tIns="0" bIns="0">
            <a:spAutoFit/>
          </a:bodyPr>
          <a:lstStyle/>
          <a:p>
            <a:r>
              <a:rPr sz="1100" b="0">
                <a:solidFill>
                  <a:srgbClr val="252423"/>
                </a:solidFill>
                <a:latin typeface="Segoe UI"/>
              </a:rPr>
              <a:t>segment.</a:t>
            </a:r>
          </a:p>
        </p:txBody>
      </p:sp>
      <p:sp>
        <p:nvSpPr>
          <p:cNvPr id="79" name="TextBox 78"/>
          <p:cNvSpPr txBox="1"/>
          <p:nvPr/>
        </p:nvSpPr>
        <p:spPr>
          <a:xfrm>
            <a:off x="3838575" y="4615009"/>
            <a:ext cx="1215355" cy="186689"/>
          </a:xfrm>
          <a:prstGeom prst="rect">
            <a:avLst/>
          </a:prstGeom>
          <a:noFill/>
        </p:spPr>
        <p:txBody>
          <a:bodyPr wrap="none" lIns="0" rIns="0" tIns="0" bIns="0">
            <a:spAutoFit/>
          </a:bodyPr>
          <a:lstStyle/>
          <a:p>
            <a:r>
              <a:rPr sz="1100" b="0">
                <a:solidFill>
                  <a:srgbClr val="252423"/>
                </a:solidFill>
                <a:latin typeface="Segoe UI"/>
              </a:rPr>
              <a:t>● Liquid Helium-3:</a:t>
            </a:r>
          </a:p>
        </p:txBody>
      </p:sp>
      <p:pic>
        <p:nvPicPr>
          <p:cNvPr id="80" name="Picture 79" descr="lock.png"/>
          <p:cNvPicPr>
            <a:picLocks noChangeAspect="1"/>
          </p:cNvPicPr>
          <p:nvPr/>
        </p:nvPicPr>
        <p:blipFill>
          <a:blip r:embed="rId10"/>
          <a:stretch>
            <a:fillRect/>
          </a:stretch>
        </p:blipFill>
        <p:spPr>
          <a:xfrm>
            <a:off x="5001981" y="4605230"/>
            <a:ext cx="128699" cy="187198"/>
          </a:xfrm>
          <a:prstGeom prst="rect">
            <a:avLst/>
          </a:prstGeom>
        </p:spPr>
      </p:pic>
      <p:sp>
        <p:nvSpPr>
          <p:cNvPr id="81" name="TextBox 80"/>
          <p:cNvSpPr txBox="1"/>
          <p:nvPr/>
        </p:nvSpPr>
        <p:spPr>
          <a:xfrm>
            <a:off x="5169477"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6089424" y="4605230"/>
            <a:ext cx="128699" cy="187198"/>
          </a:xfrm>
          <a:prstGeom prst="rect">
            <a:avLst/>
          </a:prstGeom>
        </p:spPr>
      </p:pic>
      <p:sp>
        <p:nvSpPr>
          <p:cNvPr id="83" name="TextBox 82"/>
          <p:cNvSpPr txBox="1"/>
          <p:nvPr/>
        </p:nvSpPr>
        <p:spPr>
          <a:xfrm>
            <a:off x="6256920" y="4615009"/>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84" name="TextBox 83"/>
          <p:cNvSpPr txBox="1"/>
          <p:nvPr/>
        </p:nvSpPr>
        <p:spPr>
          <a:xfrm>
            <a:off x="8524875" y="5842641"/>
            <a:ext cx="2968928" cy="194310"/>
          </a:xfrm>
          <a:prstGeom prst="rect">
            <a:avLst/>
          </a:prstGeom>
          <a:noFill/>
        </p:spPr>
        <p:txBody>
          <a:bodyPr wrap="none" lIns="0" rIns="0" tIns="0" bIns="0">
            <a:spAutoFit/>
          </a:bodyPr>
          <a:lstStyle/>
          <a:p>
            <a:r>
              <a:rPr sz="1150" b="1">
                <a:solidFill>
                  <a:srgbClr val="0E3A5F"/>
                </a:solidFill>
                <a:latin typeface="Segoe UI"/>
              </a:rPr>
              <a:t>The Product Form segment is projected to</a:t>
            </a:r>
          </a:p>
        </p:txBody>
      </p:sp>
      <p:sp>
        <p:nvSpPr>
          <p:cNvPr id="85" name="TextBox 84"/>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86" name="Picture 85" descr="lock.png"/>
          <p:cNvPicPr>
            <a:picLocks noChangeAspect="1"/>
          </p:cNvPicPr>
          <p:nvPr/>
        </p:nvPicPr>
        <p:blipFill>
          <a:blip r:embed="rId10"/>
          <a:stretch>
            <a:fillRect/>
          </a:stretch>
        </p:blipFill>
        <p:spPr>
          <a:xfrm>
            <a:off x="9817830" y="6007677"/>
            <a:ext cx="134549" cy="195707"/>
          </a:xfrm>
          <a:prstGeom prst="rect">
            <a:avLst/>
          </a:prstGeom>
        </p:spPr>
      </p:pic>
      <p:sp>
        <p:nvSpPr>
          <p:cNvPr id="87" name="TextBox 86"/>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Structure &amp; Attractiveness, By Product Form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Product Form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Product Form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Product Form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77650" cy="186689"/>
          </a:xfrm>
          <a:prstGeom prst="rect">
            <a:avLst/>
          </a:prstGeom>
          <a:noFill/>
        </p:spPr>
        <p:txBody>
          <a:bodyPr wrap="none" lIns="0" rIns="0" tIns="0" bIns="0">
            <a:spAutoFit/>
          </a:bodyPr>
          <a:lstStyle/>
          <a:p>
            <a:r>
              <a:rPr sz="1100" b="0">
                <a:solidFill>
                  <a:srgbClr val="252423"/>
                </a:solidFill>
                <a:latin typeface="Segoe UI"/>
              </a:rPr>
              <a:t>Gaseous Helium-3 followed by liquid Helium-3 are expected to be the two most attractive product form segments in the Western Europe Helium-3 market in terms of value over the forecast</a:t>
            </a:r>
          </a:p>
        </p:txBody>
      </p:sp>
      <p:sp>
        <p:nvSpPr>
          <p:cNvPr id="18" name="TextBox 17"/>
          <p:cNvSpPr txBox="1"/>
          <p:nvPr/>
        </p:nvSpPr>
        <p:spPr>
          <a:xfrm>
            <a:off x="257175" y="5945505"/>
            <a:ext cx="4428387" cy="186689"/>
          </a:xfrm>
          <a:prstGeom prst="rect">
            <a:avLst/>
          </a:prstGeom>
          <a:noFill/>
        </p:spPr>
        <p:txBody>
          <a:bodyPr wrap="none" lIns="0" rIns="0" tIns="0" bIns="0">
            <a:spAutoFit/>
          </a:bodyPr>
          <a:lstStyle/>
          <a:p>
            <a:r>
              <a:rPr sz="1100" b="0">
                <a:solidFill>
                  <a:srgbClr val="252423"/>
                </a:solidFill>
                <a:latin typeface="Segoe UI"/>
              </a:rPr>
              <a:t>period. Gaseous Helium-3 and liquid Helium-3 exhibit a CAGR index of</a:t>
            </a:r>
          </a:p>
        </p:txBody>
      </p:sp>
      <p:pic>
        <p:nvPicPr>
          <p:cNvPr id="19" name="Picture 18" descr="lock.png"/>
          <p:cNvPicPr>
            <a:picLocks noChangeAspect="1"/>
          </p:cNvPicPr>
          <p:nvPr/>
        </p:nvPicPr>
        <p:blipFill>
          <a:blip r:embed="rId6"/>
          <a:stretch>
            <a:fillRect/>
          </a:stretch>
        </p:blipFill>
        <p:spPr>
          <a:xfrm>
            <a:off x="4633613" y="5935726"/>
            <a:ext cx="128699" cy="187198"/>
          </a:xfrm>
          <a:prstGeom prst="rect">
            <a:avLst/>
          </a:prstGeom>
        </p:spPr>
      </p:pic>
      <p:sp>
        <p:nvSpPr>
          <p:cNvPr id="20" name="TextBox 19"/>
          <p:cNvSpPr txBox="1"/>
          <p:nvPr/>
        </p:nvSpPr>
        <p:spPr>
          <a:xfrm>
            <a:off x="4801109"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5058103" y="5935726"/>
            <a:ext cx="128699" cy="187198"/>
          </a:xfrm>
          <a:prstGeom prst="rect">
            <a:avLst/>
          </a:prstGeom>
        </p:spPr>
      </p:pic>
      <p:sp>
        <p:nvSpPr>
          <p:cNvPr id="22" name="TextBox 21"/>
          <p:cNvSpPr txBox="1"/>
          <p:nvPr/>
        </p:nvSpPr>
        <p:spPr>
          <a:xfrm>
            <a:off x="5225599" y="594550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6964339" y="5935726"/>
            <a:ext cx="128699" cy="187198"/>
          </a:xfrm>
          <a:prstGeom prst="rect">
            <a:avLst/>
          </a:prstGeom>
        </p:spPr>
      </p:pic>
      <p:sp>
        <p:nvSpPr>
          <p:cNvPr id="24" name="TextBox 23"/>
          <p:cNvSpPr txBox="1"/>
          <p:nvPr/>
        </p:nvSpPr>
        <p:spPr>
          <a:xfrm>
            <a:off x="7131835"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7388829" y="5935726"/>
            <a:ext cx="128699" cy="187198"/>
          </a:xfrm>
          <a:prstGeom prst="rect">
            <a:avLst/>
          </a:prstGeom>
        </p:spPr>
      </p:pic>
      <p:sp>
        <p:nvSpPr>
          <p:cNvPr id="26" name="TextBox 25"/>
          <p:cNvSpPr txBox="1"/>
          <p:nvPr/>
        </p:nvSpPr>
        <p:spPr>
          <a:xfrm>
            <a:off x="7556324" y="594550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10316258" y="5935726"/>
            <a:ext cx="128699" cy="187198"/>
          </a:xfrm>
          <a:prstGeom prst="rect">
            <a:avLst/>
          </a:prstGeom>
        </p:spPr>
      </p:pic>
      <p:sp>
        <p:nvSpPr>
          <p:cNvPr id="28" name="TextBox 27"/>
          <p:cNvSpPr txBox="1"/>
          <p:nvPr/>
        </p:nvSpPr>
        <p:spPr>
          <a:xfrm>
            <a:off x="10483754" y="5945505"/>
            <a:ext cx="634454" cy="186689"/>
          </a:xfrm>
          <a:prstGeom prst="rect">
            <a:avLst/>
          </a:prstGeom>
          <a:noFill/>
        </p:spPr>
        <p:txBody>
          <a:bodyPr wrap="none" lIns="0" rIns="0" tIns="0" bIns="0">
            <a:spAutoFit/>
          </a:bodyPr>
          <a:lstStyle/>
          <a:p>
            <a:r>
              <a:rPr sz="1100" b="0">
                <a:solidFill>
                  <a:srgbClr val="252423"/>
                </a:solidFill>
                <a:latin typeface="Segoe UI"/>
              </a:rPr>
              <a:t>. Bubbles</a:t>
            </a:r>
          </a:p>
        </p:txBody>
      </p:sp>
      <p:sp>
        <p:nvSpPr>
          <p:cNvPr id="29" name="TextBox 28"/>
          <p:cNvSpPr txBox="1"/>
          <p:nvPr/>
        </p:nvSpPr>
        <p:spPr>
          <a:xfrm>
            <a:off x="257175" y="6113145"/>
            <a:ext cx="4227508" cy="186689"/>
          </a:xfrm>
          <a:prstGeom prst="rect">
            <a:avLst/>
          </a:prstGeom>
          <a:noFill/>
        </p:spPr>
        <p:txBody>
          <a:bodyPr wrap="none" lIns="0" rIns="0" tIns="0" bIns="0">
            <a:spAutoFit/>
          </a:bodyPr>
          <a:lstStyle/>
          <a:p>
            <a:r>
              <a:rPr sz="1100" b="0">
                <a:solidFill>
                  <a:srgbClr val="252423"/>
                </a:solidFill>
                <a:latin typeface="Segoe UI"/>
              </a:rPr>
              <a:t>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Absolute $ Opportunity Analysis, By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Product Form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Gaseous Helium-3</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Liquid Helium-3</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Analysis, By Product Form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Product Form,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Product Form (US$ Mn)</a:t>
            </a:r>
          </a:p>
        </p:txBody>
      </p:sp>
      <p:graphicFrame>
        <p:nvGraphicFramePr>
          <p:cNvPr id="10" name="Table 9"/>
          <p:cNvGraphicFramePr>
            <a:graphicFrameLocks noGrp="1"/>
          </p:cNvGraphicFramePr>
          <p:nvPr/>
        </p:nvGraphicFramePr>
        <p:xfrm>
          <a:off x="152400" y="1238250"/>
          <a:ext cx="11887199" cy="990600"/>
        </p:xfrm>
        <a:graphic>
          <a:graphicData uri="http://schemas.openxmlformats.org/drawingml/2006/table">
            <a:tbl>
              <a:tblPr>
                <a:tableStyleId>{5C22544A-7EE6-4342-B048-85BDC9FD1C3A}</a:tableStyleId>
              </a:tblPr>
              <a:tblGrid>
                <a:gridCol w="1546548"/>
                <a:gridCol w="620401"/>
                <a:gridCol w="620401"/>
                <a:gridCol w="620401"/>
                <a:gridCol w="620401"/>
                <a:gridCol w="620401"/>
                <a:gridCol w="592165"/>
                <a:gridCol w="592165"/>
                <a:gridCol w="592165"/>
                <a:gridCol w="592165"/>
                <a:gridCol w="592165"/>
                <a:gridCol w="592165"/>
                <a:gridCol w="592165"/>
                <a:gridCol w="592165"/>
                <a:gridCol w="592165"/>
                <a:gridCol w="592165"/>
                <a:gridCol w="592165"/>
                <a:gridCol w="724831"/>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Analysis, By Product Form</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682583" y="1589913"/>
            <a:ext cx="366712" cy="533400"/>
          </a:xfrm>
          <a:prstGeom prst="rect">
            <a:avLst/>
          </a:prstGeom>
        </p:spPr>
      </p:pic>
      <p:sp>
        <p:nvSpPr>
          <p:cNvPr id="18" name="TextBox 17"/>
          <p:cNvSpPr txBox="1"/>
          <p:nvPr/>
        </p:nvSpPr>
        <p:spPr>
          <a:xfrm>
            <a:off x="276225" y="2990850"/>
            <a:ext cx="3348516" cy="194310"/>
          </a:xfrm>
          <a:prstGeom prst="rect">
            <a:avLst/>
          </a:prstGeom>
          <a:noFill/>
        </p:spPr>
        <p:txBody>
          <a:bodyPr wrap="none" lIns="0" rIns="0" tIns="0" bIns="0">
            <a:spAutoFit/>
          </a:bodyPr>
          <a:lstStyle/>
          <a:p>
            <a:r>
              <a:rPr sz="1150" b="0">
                <a:solidFill>
                  <a:srgbClr val="252423"/>
                </a:solidFill>
                <a:latin typeface="Segoe UI"/>
              </a:rPr>
              <a:t>Gaseous Helium-3 segment is projected to register</a:t>
            </a:r>
          </a:p>
        </p:txBody>
      </p:sp>
      <p:pic>
        <p:nvPicPr>
          <p:cNvPr id="19" name="Picture 18" descr="lock.png"/>
          <p:cNvPicPr>
            <a:picLocks noChangeAspect="1"/>
          </p:cNvPicPr>
          <p:nvPr/>
        </p:nvPicPr>
        <p:blipFill>
          <a:blip r:embed="rId4"/>
          <a:stretch>
            <a:fillRect/>
          </a:stretch>
        </p:blipFill>
        <p:spPr>
          <a:xfrm>
            <a:off x="3573895" y="2980626"/>
            <a:ext cx="134549" cy="195707"/>
          </a:xfrm>
          <a:prstGeom prst="rect">
            <a:avLst/>
          </a:prstGeom>
        </p:spPr>
      </p:pic>
      <p:sp>
        <p:nvSpPr>
          <p:cNvPr id="20" name="TextBox 19"/>
          <p:cNvSpPr txBox="1"/>
          <p:nvPr/>
        </p:nvSpPr>
        <p:spPr>
          <a:xfrm>
            <a:off x="3749005" y="2990850"/>
            <a:ext cx="7723210" cy="194310"/>
          </a:xfrm>
          <a:prstGeom prst="rect">
            <a:avLst/>
          </a:prstGeom>
          <a:noFill/>
        </p:spPr>
        <p:txBody>
          <a:bodyPr wrap="none" lIns="0" rIns="0" tIns="0" bIns="0">
            <a:spAutoFit/>
          </a:bodyPr>
          <a:lstStyle/>
          <a:p>
            <a:r>
              <a:rPr sz="1150" b="0">
                <a:solidFill>
                  <a:srgbClr val="252423"/>
                </a:solidFill>
                <a:latin typeface="Segoe UI"/>
              </a:rPr>
              <a:t>X higher value than liquid Helium-3 segment in 2036. Among Helium-3 by product form, gaseous Helium-3 segment is</a:t>
            </a:r>
          </a:p>
        </p:txBody>
      </p:sp>
      <p:sp>
        <p:nvSpPr>
          <p:cNvPr id="21" name="TextBox 20"/>
          <p:cNvSpPr txBox="1"/>
          <p:nvPr/>
        </p:nvSpPr>
        <p:spPr>
          <a:xfrm>
            <a:off x="276225" y="3166110"/>
            <a:ext cx="2697005" cy="194310"/>
          </a:xfrm>
          <a:prstGeom prst="rect">
            <a:avLst/>
          </a:prstGeom>
          <a:noFill/>
        </p:spPr>
        <p:txBody>
          <a:bodyPr wrap="none" lIns="0" rIns="0" tIns="0" bIns="0">
            <a:spAutoFit/>
          </a:bodyPr>
          <a:lstStyle/>
          <a:p>
            <a:r>
              <a:rPr sz="1150" b="0">
                <a:solidFill>
                  <a:srgbClr val="252423"/>
                </a:solidFill>
                <a:latin typeface="Segoe UI"/>
              </a:rPr>
              <a:t>expected to witness the highest CAGR of</a:t>
            </a:r>
          </a:p>
        </p:txBody>
      </p:sp>
      <p:pic>
        <p:nvPicPr>
          <p:cNvPr id="22" name="Picture 21" descr="lock.png"/>
          <p:cNvPicPr>
            <a:picLocks noChangeAspect="1"/>
          </p:cNvPicPr>
          <p:nvPr/>
        </p:nvPicPr>
        <p:blipFill>
          <a:blip r:embed="rId4"/>
          <a:stretch>
            <a:fillRect/>
          </a:stretch>
        </p:blipFill>
        <p:spPr>
          <a:xfrm>
            <a:off x="2922384" y="3155886"/>
            <a:ext cx="134549" cy="195707"/>
          </a:xfrm>
          <a:prstGeom prst="rect">
            <a:avLst/>
          </a:prstGeom>
        </p:spPr>
      </p:pic>
      <p:sp>
        <p:nvSpPr>
          <p:cNvPr id="23" name="TextBox 22"/>
          <p:cNvSpPr txBox="1"/>
          <p:nvPr/>
        </p:nvSpPr>
        <p:spPr>
          <a:xfrm>
            <a:off x="3097494"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7602927" cy="194310"/>
          </a:xfrm>
          <a:prstGeom prst="rect">
            <a:avLst/>
          </a:prstGeom>
          <a:noFill/>
        </p:spPr>
        <p:txBody>
          <a:bodyPr wrap="none" lIns="0" rIns="0" tIns="0" bIns="0">
            <a:spAutoFit/>
          </a:bodyPr>
          <a:lstStyle/>
          <a:p>
            <a:r>
              <a:rPr sz="1150" b="0">
                <a:solidFill>
                  <a:srgbClr val="252423"/>
                </a:solidFill>
                <a:latin typeface="Segoe UI"/>
              </a:rPr>
              <a:t>In terms of value share by product form, the gaseous Helium-3 segment is expected to dominate the market, gaining</a:t>
            </a:r>
          </a:p>
        </p:txBody>
      </p:sp>
      <p:pic>
        <p:nvPicPr>
          <p:cNvPr id="25" name="Picture 24" descr="lock.png"/>
          <p:cNvPicPr>
            <a:picLocks noChangeAspect="1"/>
          </p:cNvPicPr>
          <p:nvPr/>
        </p:nvPicPr>
        <p:blipFill>
          <a:blip r:embed="rId4"/>
          <a:stretch>
            <a:fillRect/>
          </a:stretch>
        </p:blipFill>
        <p:spPr>
          <a:xfrm>
            <a:off x="7828306" y="3383724"/>
            <a:ext cx="134549" cy="195707"/>
          </a:xfrm>
          <a:prstGeom prst="rect">
            <a:avLst/>
          </a:prstGeom>
        </p:spPr>
      </p:pic>
      <p:sp>
        <p:nvSpPr>
          <p:cNvPr id="26" name="TextBox 25"/>
          <p:cNvSpPr txBox="1"/>
          <p:nvPr/>
        </p:nvSpPr>
        <p:spPr>
          <a:xfrm>
            <a:off x="8003415"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9531772" y="3383724"/>
            <a:ext cx="134549" cy="195707"/>
          </a:xfrm>
          <a:prstGeom prst="rect">
            <a:avLst/>
          </a:prstGeom>
        </p:spPr>
      </p:pic>
      <p:sp>
        <p:nvSpPr>
          <p:cNvPr id="28" name="TextBox 27"/>
          <p:cNvSpPr txBox="1"/>
          <p:nvPr/>
        </p:nvSpPr>
        <p:spPr>
          <a:xfrm>
            <a:off x="9706881" y="3393947"/>
            <a:ext cx="1682148" cy="194310"/>
          </a:xfrm>
          <a:prstGeom prst="rect">
            <a:avLst/>
          </a:prstGeom>
          <a:noFill/>
        </p:spPr>
        <p:txBody>
          <a:bodyPr wrap="none" lIns="0" rIns="0" tIns="0" bIns="0">
            <a:spAutoFit/>
          </a:bodyPr>
          <a:lstStyle/>
          <a:p>
            <a:r>
              <a:rPr sz="1150" b="0">
                <a:solidFill>
                  <a:srgbClr val="252423"/>
                </a:solidFill>
                <a:latin typeface="Segoe UI"/>
              </a:rPr>
              <a:t>share by 2036. The liquid</a:t>
            </a:r>
          </a:p>
        </p:txBody>
      </p:sp>
      <p:sp>
        <p:nvSpPr>
          <p:cNvPr id="29" name="TextBox 28"/>
          <p:cNvSpPr txBox="1"/>
          <p:nvPr/>
        </p:nvSpPr>
        <p:spPr>
          <a:xfrm>
            <a:off x="276225" y="3569207"/>
            <a:ext cx="2509094" cy="194310"/>
          </a:xfrm>
          <a:prstGeom prst="rect">
            <a:avLst/>
          </a:prstGeom>
          <a:noFill/>
        </p:spPr>
        <p:txBody>
          <a:bodyPr wrap="none" lIns="0" rIns="0" tIns="0" bIns="0">
            <a:spAutoFit/>
          </a:bodyPr>
          <a:lstStyle/>
          <a:p>
            <a:r>
              <a:rPr sz="1150" b="0">
                <a:solidFill>
                  <a:srgbClr val="252423"/>
                </a:solidFill>
                <a:latin typeface="Segoe UI"/>
              </a:rPr>
              <a:t>Helium-3 segment is expected to lose</a:t>
            </a:r>
          </a:p>
        </p:txBody>
      </p:sp>
      <p:pic>
        <p:nvPicPr>
          <p:cNvPr id="30" name="Picture 29" descr="lock.png"/>
          <p:cNvPicPr>
            <a:picLocks noChangeAspect="1"/>
          </p:cNvPicPr>
          <p:nvPr/>
        </p:nvPicPr>
        <p:blipFill>
          <a:blip r:embed="rId4"/>
          <a:stretch>
            <a:fillRect/>
          </a:stretch>
        </p:blipFill>
        <p:spPr>
          <a:xfrm>
            <a:off x="2734473" y="3558984"/>
            <a:ext cx="134549" cy="195707"/>
          </a:xfrm>
          <a:prstGeom prst="rect">
            <a:avLst/>
          </a:prstGeom>
        </p:spPr>
      </p:pic>
      <p:sp>
        <p:nvSpPr>
          <p:cNvPr id="31" name="TextBox 30"/>
          <p:cNvSpPr txBox="1"/>
          <p:nvPr/>
        </p:nvSpPr>
        <p:spPr>
          <a:xfrm>
            <a:off x="2909583"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5708968" y="3558984"/>
            <a:ext cx="134549" cy="195707"/>
          </a:xfrm>
          <a:prstGeom prst="rect">
            <a:avLst/>
          </a:prstGeom>
        </p:spPr>
      </p:pic>
      <p:sp>
        <p:nvSpPr>
          <p:cNvPr id="33" name="TextBox 32"/>
          <p:cNvSpPr txBox="1"/>
          <p:nvPr/>
        </p:nvSpPr>
        <p:spPr>
          <a:xfrm>
            <a:off x="5884078"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Product Form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Product Form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238212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37736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230116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Liquid Helium-3</a:t>
            </a:r>
          </a:p>
        </p:txBody>
      </p:sp>
      <p:sp>
        <p:nvSpPr>
          <p:cNvPr id="16" name="BPS Value 1"/>
          <p:cNvSpPr txBox="1"/>
          <p:nvPr/>
        </p:nvSpPr>
        <p:spPr>
          <a:xfrm>
            <a:off x="6896100" y="236307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466831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66355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58735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Gaseous Helium-3</a:t>
            </a:r>
          </a:p>
        </p:txBody>
      </p:sp>
      <p:sp>
        <p:nvSpPr>
          <p:cNvPr id="20" name="BPS Value 2"/>
          <p:cNvSpPr txBox="1"/>
          <p:nvPr/>
        </p:nvSpPr>
        <p:spPr>
          <a:xfrm>
            <a:off x="6896100" y="4649268"/>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Product Form</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4057650" cy="194310"/>
          </a:xfrm>
          <a:prstGeom prst="rect">
            <a:avLst/>
          </a:prstGeom>
          <a:noFill/>
        </p:spPr>
        <p:txBody>
          <a:bodyPr wrap="none" lIns="0" rIns="0" tIns="0" bIns="0">
            <a:spAutoFit/>
          </a:bodyPr>
          <a:lstStyle/>
          <a:p>
            <a:r>
              <a:rPr sz="1150" b="0">
                <a:solidFill>
                  <a:srgbClr val="252423"/>
                </a:solidFill>
                <a:latin typeface="Segoe UI"/>
              </a:rPr>
              <a:t>Among Helium-3 by product form, gaseous Helium-3 segment</a:t>
            </a:r>
          </a:p>
        </p:txBody>
      </p:sp>
      <p:sp>
        <p:nvSpPr>
          <p:cNvPr id="28" name="TextBox 27"/>
          <p:cNvSpPr txBox="1"/>
          <p:nvPr/>
        </p:nvSpPr>
        <p:spPr>
          <a:xfrm>
            <a:off x="7829550" y="1575435"/>
            <a:ext cx="2834213" cy="194310"/>
          </a:xfrm>
          <a:prstGeom prst="rect">
            <a:avLst/>
          </a:prstGeom>
          <a:noFill/>
        </p:spPr>
        <p:txBody>
          <a:bodyPr wrap="none" lIns="0" rIns="0" tIns="0" bIns="0">
            <a:spAutoFit/>
          </a:bodyPr>
          <a:lstStyle/>
          <a:p>
            <a:r>
              <a:rPr sz="1150" b="0">
                <a:solidFill>
                  <a:srgbClr val="252423"/>
                </a:solidFill>
                <a:latin typeface="Segoe UI"/>
              </a:rPr>
              <a:t>is expected to witness the highest CAGR of</a:t>
            </a:r>
          </a:p>
        </p:txBody>
      </p:sp>
      <p:pic>
        <p:nvPicPr>
          <p:cNvPr id="29" name="Picture 28" descr="lock.png"/>
          <p:cNvPicPr>
            <a:picLocks noChangeAspect="1"/>
          </p:cNvPicPr>
          <p:nvPr/>
        </p:nvPicPr>
        <p:blipFill>
          <a:blip r:embed="rId5"/>
          <a:stretch>
            <a:fillRect/>
          </a:stretch>
        </p:blipFill>
        <p:spPr>
          <a:xfrm>
            <a:off x="10612916" y="1565211"/>
            <a:ext cx="134549" cy="195707"/>
          </a:xfrm>
          <a:prstGeom prst="rect">
            <a:avLst/>
          </a:prstGeom>
        </p:spPr>
      </p:pic>
      <p:sp>
        <p:nvSpPr>
          <p:cNvPr id="30" name="TextBox 29"/>
          <p:cNvSpPr txBox="1"/>
          <p:nvPr/>
        </p:nvSpPr>
        <p:spPr>
          <a:xfrm>
            <a:off x="10788026" y="1575435"/>
            <a:ext cx="607614" cy="194310"/>
          </a:xfrm>
          <a:prstGeom prst="rect">
            <a:avLst/>
          </a:prstGeom>
          <a:noFill/>
        </p:spPr>
        <p:txBody>
          <a:bodyPr wrap="none" lIns="0" rIns="0" tIns="0" bIns="0">
            <a:spAutoFit/>
          </a:bodyPr>
          <a:lstStyle/>
          <a:p>
            <a:r>
              <a:rPr sz="1150" b="0">
                <a:solidFill>
                  <a:srgbClr val="252423"/>
                </a:solidFill>
                <a:latin typeface="Segoe UI"/>
              </a:rPr>
              <a:t>over the</a:t>
            </a:r>
          </a:p>
        </p:txBody>
      </p:sp>
      <p:sp>
        <p:nvSpPr>
          <p:cNvPr id="31" name="TextBox 30"/>
          <p:cNvSpPr txBox="1"/>
          <p:nvPr/>
        </p:nvSpPr>
        <p:spPr>
          <a:xfrm>
            <a:off x="7829550" y="1750695"/>
            <a:ext cx="3954882" cy="194310"/>
          </a:xfrm>
          <a:prstGeom prst="rect">
            <a:avLst/>
          </a:prstGeom>
          <a:noFill/>
        </p:spPr>
        <p:txBody>
          <a:bodyPr wrap="none" lIns="0" rIns="0" tIns="0" bIns="0">
            <a:spAutoFit/>
          </a:bodyPr>
          <a:lstStyle/>
          <a:p>
            <a:r>
              <a:rPr sz="1150" b="0">
                <a:solidFill>
                  <a:srgbClr val="252423"/>
                </a:solidFill>
                <a:latin typeface="Segoe UI"/>
              </a:rPr>
              <a:t>forecast period. In terms of value share by product form, the</a:t>
            </a:r>
          </a:p>
        </p:txBody>
      </p:sp>
      <p:sp>
        <p:nvSpPr>
          <p:cNvPr id="32" name="TextBox 31"/>
          <p:cNvSpPr txBox="1"/>
          <p:nvPr/>
        </p:nvSpPr>
        <p:spPr>
          <a:xfrm>
            <a:off x="7829550" y="1925955"/>
            <a:ext cx="3683752" cy="194310"/>
          </a:xfrm>
          <a:prstGeom prst="rect">
            <a:avLst/>
          </a:prstGeom>
          <a:noFill/>
        </p:spPr>
        <p:txBody>
          <a:bodyPr wrap="none" lIns="0" rIns="0" tIns="0" bIns="0">
            <a:spAutoFit/>
          </a:bodyPr>
          <a:lstStyle/>
          <a:p>
            <a:r>
              <a:rPr sz="1150" b="0">
                <a:solidFill>
                  <a:srgbClr val="252423"/>
                </a:solidFill>
                <a:latin typeface="Segoe UI"/>
              </a:rPr>
              <a:t>gaseous Helium-3 segment is expected to dominate the</a:t>
            </a:r>
          </a:p>
        </p:txBody>
      </p:sp>
      <p:sp>
        <p:nvSpPr>
          <p:cNvPr id="33" name="TextBox 32"/>
          <p:cNvSpPr txBox="1"/>
          <p:nvPr/>
        </p:nvSpPr>
        <p:spPr>
          <a:xfrm>
            <a:off x="7829550" y="2101215"/>
            <a:ext cx="1080534" cy="194310"/>
          </a:xfrm>
          <a:prstGeom prst="rect">
            <a:avLst/>
          </a:prstGeom>
          <a:noFill/>
        </p:spPr>
        <p:txBody>
          <a:bodyPr wrap="none" lIns="0" rIns="0" tIns="0" bIns="0">
            <a:spAutoFit/>
          </a:bodyPr>
          <a:lstStyle/>
          <a:p>
            <a:r>
              <a:rPr sz="1150" b="0">
                <a:solidFill>
                  <a:srgbClr val="252423"/>
                </a:solidFill>
                <a:latin typeface="Segoe UI"/>
              </a:rPr>
              <a:t>market, gaining</a:t>
            </a:r>
          </a:p>
        </p:txBody>
      </p:sp>
      <p:pic>
        <p:nvPicPr>
          <p:cNvPr id="34" name="Picture 33" descr="lock.png"/>
          <p:cNvPicPr>
            <a:picLocks noChangeAspect="1"/>
          </p:cNvPicPr>
          <p:nvPr/>
        </p:nvPicPr>
        <p:blipFill>
          <a:blip r:embed="rId5"/>
          <a:stretch>
            <a:fillRect/>
          </a:stretch>
        </p:blipFill>
        <p:spPr>
          <a:xfrm>
            <a:off x="8859238" y="2090991"/>
            <a:ext cx="134549" cy="195707"/>
          </a:xfrm>
          <a:prstGeom prst="rect">
            <a:avLst/>
          </a:prstGeom>
        </p:spPr>
      </p:pic>
      <p:sp>
        <p:nvSpPr>
          <p:cNvPr id="35" name="TextBox 34"/>
          <p:cNvSpPr txBox="1"/>
          <p:nvPr/>
        </p:nvSpPr>
        <p:spPr>
          <a:xfrm>
            <a:off x="9034347" y="2101215"/>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36" name="Picture 35" descr="lock.png"/>
          <p:cNvPicPr>
            <a:picLocks noChangeAspect="1"/>
          </p:cNvPicPr>
          <p:nvPr/>
        </p:nvPicPr>
        <p:blipFill>
          <a:blip r:embed="rId5"/>
          <a:stretch>
            <a:fillRect/>
          </a:stretch>
        </p:blipFill>
        <p:spPr>
          <a:xfrm>
            <a:off x="10562704" y="2090991"/>
            <a:ext cx="134549" cy="195707"/>
          </a:xfrm>
          <a:prstGeom prst="rect">
            <a:avLst/>
          </a:prstGeom>
        </p:spPr>
      </p:pic>
      <p:sp>
        <p:nvSpPr>
          <p:cNvPr id="37" name="TextBox 36"/>
          <p:cNvSpPr txBox="1"/>
          <p:nvPr/>
        </p:nvSpPr>
        <p:spPr>
          <a:xfrm>
            <a:off x="10737813" y="2101215"/>
            <a:ext cx="619006" cy="194310"/>
          </a:xfrm>
          <a:prstGeom prst="rect">
            <a:avLst/>
          </a:prstGeom>
          <a:noFill/>
        </p:spPr>
        <p:txBody>
          <a:bodyPr wrap="none" lIns="0" rIns="0" tIns="0" bIns="0">
            <a:spAutoFit/>
          </a:bodyPr>
          <a:lstStyle/>
          <a:p>
            <a:r>
              <a:rPr sz="1150" b="0">
                <a:solidFill>
                  <a:srgbClr val="252423"/>
                </a:solidFill>
                <a:latin typeface="Segoe UI"/>
              </a:rPr>
              <a:t>share by</a:t>
            </a:r>
          </a:p>
        </p:txBody>
      </p:sp>
      <p:sp>
        <p:nvSpPr>
          <p:cNvPr id="38" name="TextBox 37"/>
          <p:cNvSpPr txBox="1"/>
          <p:nvPr/>
        </p:nvSpPr>
        <p:spPr>
          <a:xfrm>
            <a:off x="7829550" y="2276475"/>
            <a:ext cx="422783" cy="194310"/>
          </a:xfrm>
          <a:prstGeom prst="rect">
            <a:avLst/>
          </a:prstGeom>
          <a:noFill/>
        </p:spPr>
        <p:txBody>
          <a:bodyPr wrap="none" lIns="0" rIns="0" tIns="0" bIns="0">
            <a:spAutoFit/>
          </a:bodyPr>
          <a:lstStyle/>
          <a:p>
            <a:r>
              <a:rPr sz="1150" b="0">
                <a:solidFill>
                  <a:srgbClr val="252423"/>
                </a:solidFill>
                <a:latin typeface="Segoe UI"/>
              </a:rPr>
              <a:t>2036.</a:t>
            </a:r>
          </a:p>
        </p:txBody>
      </p:sp>
      <p:sp>
        <p:nvSpPr>
          <p:cNvPr id="39" name="TextBox 38"/>
          <p:cNvSpPr txBox="1"/>
          <p:nvPr/>
        </p:nvSpPr>
        <p:spPr>
          <a:xfrm>
            <a:off x="7829550" y="2504313"/>
            <a:ext cx="3185717" cy="194310"/>
          </a:xfrm>
          <a:prstGeom prst="rect">
            <a:avLst/>
          </a:prstGeom>
          <a:noFill/>
        </p:spPr>
        <p:txBody>
          <a:bodyPr wrap="none" lIns="0" rIns="0" tIns="0" bIns="0">
            <a:spAutoFit/>
          </a:bodyPr>
          <a:lstStyle/>
          <a:p>
            <a:r>
              <a:rPr sz="1150" b="0">
                <a:solidFill>
                  <a:srgbClr val="252423"/>
                </a:solidFill>
                <a:latin typeface="Segoe UI"/>
              </a:rPr>
              <a:t>The liquid Helium-3 segment is expected to lose</a:t>
            </a:r>
          </a:p>
        </p:txBody>
      </p:sp>
      <p:pic>
        <p:nvPicPr>
          <p:cNvPr id="40" name="Picture 39" descr="lock.png"/>
          <p:cNvPicPr>
            <a:picLocks noChangeAspect="1"/>
          </p:cNvPicPr>
          <p:nvPr/>
        </p:nvPicPr>
        <p:blipFill>
          <a:blip r:embed="rId5"/>
          <a:stretch>
            <a:fillRect/>
          </a:stretch>
        </p:blipFill>
        <p:spPr>
          <a:xfrm>
            <a:off x="10964421" y="2494089"/>
            <a:ext cx="134549" cy="195707"/>
          </a:xfrm>
          <a:prstGeom prst="rect">
            <a:avLst/>
          </a:prstGeom>
        </p:spPr>
      </p:pic>
      <p:sp>
        <p:nvSpPr>
          <p:cNvPr id="41" name="TextBox 40"/>
          <p:cNvSpPr txBox="1"/>
          <p:nvPr/>
        </p:nvSpPr>
        <p:spPr>
          <a:xfrm>
            <a:off x="11139530" y="2504313"/>
            <a:ext cx="642130" cy="194310"/>
          </a:xfrm>
          <a:prstGeom prst="rect">
            <a:avLst/>
          </a:prstGeom>
          <a:noFill/>
        </p:spPr>
        <p:txBody>
          <a:bodyPr wrap="none" lIns="0" rIns="0" tIns="0" bIns="0">
            <a:spAutoFit/>
          </a:bodyPr>
          <a:lstStyle/>
          <a:p>
            <a:r>
              <a:rPr sz="1150" b="0">
                <a:solidFill>
                  <a:srgbClr val="252423"/>
                </a:solidFill>
                <a:latin typeface="Segoe UI"/>
              </a:rPr>
              <a:t>BPS over</a:t>
            </a:r>
          </a:p>
        </p:txBody>
      </p:sp>
      <p:sp>
        <p:nvSpPr>
          <p:cNvPr id="42" name="TextBox 41"/>
          <p:cNvSpPr txBox="1"/>
          <p:nvPr/>
        </p:nvSpPr>
        <p:spPr>
          <a:xfrm>
            <a:off x="7829550" y="2679573"/>
            <a:ext cx="2244365" cy="194310"/>
          </a:xfrm>
          <a:prstGeom prst="rect">
            <a:avLst/>
          </a:prstGeom>
          <a:noFill/>
        </p:spPr>
        <p:txBody>
          <a:bodyPr wrap="none" lIns="0" rIns="0" tIns="0" bIns="0">
            <a:spAutoFit/>
          </a:bodyPr>
          <a:lstStyle/>
          <a:p>
            <a:r>
              <a:rPr sz="1150" b="0">
                <a:solidFill>
                  <a:srgbClr val="252423"/>
                </a:solidFill>
                <a:latin typeface="Segoe UI"/>
              </a:rPr>
              <a:t>the forecast period to account for</a:t>
            </a:r>
          </a:p>
        </p:txBody>
      </p:sp>
      <p:pic>
        <p:nvPicPr>
          <p:cNvPr id="43" name="Picture 42" descr="lock.png"/>
          <p:cNvPicPr>
            <a:picLocks noChangeAspect="1"/>
          </p:cNvPicPr>
          <p:nvPr/>
        </p:nvPicPr>
        <p:blipFill>
          <a:blip r:embed="rId5"/>
          <a:stretch>
            <a:fillRect/>
          </a:stretch>
        </p:blipFill>
        <p:spPr>
          <a:xfrm>
            <a:off x="10023069" y="2669349"/>
            <a:ext cx="134549" cy="195707"/>
          </a:xfrm>
          <a:prstGeom prst="rect">
            <a:avLst/>
          </a:prstGeom>
        </p:spPr>
      </p:pic>
      <p:sp>
        <p:nvSpPr>
          <p:cNvPr id="44" name="TextBox 43"/>
          <p:cNvSpPr txBox="1"/>
          <p:nvPr/>
        </p:nvSpPr>
        <p:spPr>
          <a:xfrm>
            <a:off x="10198179" y="267957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Supply Source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Supply Source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Supply Source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Supply Source,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Supply Source segment categorizes the market by supply source.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Tritium-Decay-Derived Helium-3</a:t>
            </a:r>
          </a:p>
        </p:txBody>
      </p:sp>
      <p:sp>
        <p:nvSpPr>
          <p:cNvPr id="20" name="Rectangle 19"/>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Terrestrial Natural / Geological…</a:t>
            </a:r>
          </a:p>
        </p:txBody>
      </p:sp>
      <p:sp>
        <p:nvSpPr>
          <p:cNvPr id="27" name="Rectangle 26"/>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3" name="Rectangle 32"/>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35" name="Rounded Rectangle 3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7" name="Rectangle 36"/>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p:txBody>
      </p:sp>
      <p:sp>
        <p:nvSpPr>
          <p:cNvPr id="39" name="Rounded Rectangle 3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1" name="Rectangle 40"/>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Supply Source split shows how demand is distributed across supply source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3" name="Rectangle 4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45" name="TextBox 44"/>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7" name="Picture 46" descr="465_6_605E5C.png"/>
          <p:cNvPicPr>
            <a:picLocks noChangeAspect="1"/>
          </p:cNvPicPr>
          <p:nvPr/>
        </p:nvPicPr>
        <p:blipFill>
          <a:blip r:embed="rId4"/>
          <a:stretch>
            <a:fillRect/>
          </a:stretch>
        </p:blipFill>
        <p:spPr>
          <a:xfrm>
            <a:off x="3740773" y="2286582"/>
            <a:ext cx="1195728" cy="361950"/>
          </a:xfrm>
          <a:prstGeom prst="rect">
            <a:avLst/>
          </a:prstGeom>
        </p:spPr>
      </p:pic>
      <p:pic>
        <p:nvPicPr>
          <p:cNvPr id="48" name="Picture 47" descr="804_8_605E5C.png"/>
          <p:cNvPicPr>
            <a:picLocks noChangeAspect="1"/>
          </p:cNvPicPr>
          <p:nvPr/>
        </p:nvPicPr>
        <p:blipFill>
          <a:blip r:embed="rId5"/>
          <a:stretch>
            <a:fillRect/>
          </a:stretch>
        </p:blipFill>
        <p:spPr>
          <a:xfrm>
            <a:off x="3740773" y="2779432"/>
            <a:ext cx="1195728" cy="361950"/>
          </a:xfrm>
          <a:prstGeom prst="rect">
            <a:avLst/>
          </a:prstGeom>
        </p:spPr>
      </p:pic>
      <p:pic>
        <p:nvPicPr>
          <p:cNvPr id="49" name="Picture 48" descr="5_6__605E5C.png"/>
          <p:cNvPicPr>
            <a:picLocks noChangeAspect="1"/>
          </p:cNvPicPr>
          <p:nvPr/>
        </p:nvPicPr>
        <p:blipFill>
          <a:blip r:embed="rId6"/>
          <a:stretch>
            <a:fillRect/>
          </a:stretch>
        </p:blipFill>
        <p:spPr>
          <a:xfrm>
            <a:off x="3847419" y="3272281"/>
            <a:ext cx="982436" cy="361950"/>
          </a:xfrm>
          <a:prstGeom prst="rect">
            <a:avLst/>
          </a:prstGeom>
        </p:spPr>
      </p:pic>
      <p:pic>
        <p:nvPicPr>
          <p:cNvPr id="50" name="Picture 49" descr="82_1_605E5C.png"/>
          <p:cNvPicPr>
            <a:picLocks noChangeAspect="1"/>
          </p:cNvPicPr>
          <p:nvPr/>
        </p:nvPicPr>
        <p:blipFill>
          <a:blip r:embed="rId7"/>
          <a:stretch>
            <a:fillRect/>
          </a:stretch>
        </p:blipFill>
        <p:spPr>
          <a:xfrm>
            <a:off x="8905194" y="2286582"/>
            <a:ext cx="982436" cy="361950"/>
          </a:xfrm>
          <a:prstGeom prst="rect">
            <a:avLst/>
          </a:prstGeom>
        </p:spPr>
      </p:pic>
      <p:pic>
        <p:nvPicPr>
          <p:cNvPr id="51" name="Picture 50" descr="138_8_605E5C.png"/>
          <p:cNvPicPr>
            <a:picLocks noChangeAspect="1"/>
          </p:cNvPicPr>
          <p:nvPr/>
        </p:nvPicPr>
        <p:blipFill>
          <a:blip r:embed="rId8"/>
          <a:stretch>
            <a:fillRect/>
          </a:stretch>
        </p:blipFill>
        <p:spPr>
          <a:xfrm>
            <a:off x="8798548" y="2779432"/>
            <a:ext cx="1195728" cy="361950"/>
          </a:xfrm>
          <a:prstGeom prst="rect">
            <a:avLst/>
          </a:prstGeom>
        </p:spPr>
      </p:pic>
      <p:pic>
        <p:nvPicPr>
          <p:cNvPr id="52" name="Picture 51" descr="5_4__605E5C.png"/>
          <p:cNvPicPr>
            <a:picLocks noChangeAspect="1"/>
          </p:cNvPicPr>
          <p:nvPr/>
        </p:nvPicPr>
        <p:blipFill>
          <a:blip r:embed="rId9"/>
          <a:stretch>
            <a:fillRect/>
          </a:stretch>
        </p:blipFill>
        <p:spPr>
          <a:xfrm>
            <a:off x="8905194" y="3272281"/>
            <a:ext cx="982436" cy="361950"/>
          </a:xfrm>
          <a:prstGeom prst="rect">
            <a:avLst/>
          </a:prstGeom>
        </p:spPr>
      </p:pic>
      <p:pic>
        <p:nvPicPr>
          <p:cNvPr id="53" name="Picture 52" descr="lock.png"/>
          <p:cNvPicPr>
            <a:picLocks noChangeAspect="1"/>
          </p:cNvPicPr>
          <p:nvPr/>
        </p:nvPicPr>
        <p:blipFill>
          <a:blip r:embed="rId10"/>
          <a:stretch>
            <a:fillRect/>
          </a:stretch>
        </p:blipFill>
        <p:spPr>
          <a:xfrm>
            <a:off x="4230493" y="2805915"/>
            <a:ext cx="212425" cy="308982"/>
          </a:xfrm>
          <a:prstGeom prst="rect">
            <a:avLst/>
          </a:prstGeom>
        </p:spPr>
      </p:pic>
      <p:pic>
        <p:nvPicPr>
          <p:cNvPr id="54" name="Picture 53" descr="lock.png"/>
          <p:cNvPicPr>
            <a:picLocks noChangeAspect="1"/>
          </p:cNvPicPr>
          <p:nvPr/>
        </p:nvPicPr>
        <p:blipFill>
          <a:blip r:embed="rId10"/>
          <a:stretch>
            <a:fillRect/>
          </a:stretch>
        </p:blipFill>
        <p:spPr>
          <a:xfrm>
            <a:off x="9288268" y="2805915"/>
            <a:ext cx="212425" cy="308982"/>
          </a:xfrm>
          <a:prstGeom prst="rect">
            <a:avLst/>
          </a:prstGeom>
        </p:spPr>
      </p:pic>
      <p:sp>
        <p:nvSpPr>
          <p:cNvPr id="55" name="TextBox 54"/>
          <p:cNvSpPr txBox="1"/>
          <p:nvPr/>
        </p:nvSpPr>
        <p:spPr>
          <a:xfrm>
            <a:off x="485775" y="4229437"/>
            <a:ext cx="2157526" cy="179984"/>
          </a:xfrm>
          <a:prstGeom prst="rect">
            <a:avLst/>
          </a:prstGeom>
          <a:noFill/>
        </p:spPr>
        <p:txBody>
          <a:bodyPr wrap="none" lIns="0" rIns="0" tIns="0" bIns="0">
            <a:spAutoFit/>
          </a:bodyPr>
          <a:lstStyle/>
          <a:p>
            <a:r>
              <a:rPr sz="1055" b="0">
                <a:solidFill>
                  <a:srgbClr val="252423"/>
                </a:solidFill>
                <a:latin typeface="Segoe UI"/>
              </a:rPr>
              <a:t>Among Helium-3 by supply source,</a:t>
            </a:r>
          </a:p>
        </p:txBody>
      </p:sp>
      <p:sp>
        <p:nvSpPr>
          <p:cNvPr id="56" name="TextBox 55"/>
          <p:cNvSpPr txBox="1"/>
          <p:nvPr/>
        </p:nvSpPr>
        <p:spPr>
          <a:xfrm>
            <a:off x="485775" y="4390371"/>
            <a:ext cx="2625101" cy="179984"/>
          </a:xfrm>
          <a:prstGeom prst="rect">
            <a:avLst/>
          </a:prstGeom>
          <a:noFill/>
        </p:spPr>
        <p:txBody>
          <a:bodyPr wrap="none" lIns="0" rIns="0" tIns="0" bIns="0">
            <a:spAutoFit/>
          </a:bodyPr>
          <a:lstStyle/>
          <a:p>
            <a:r>
              <a:rPr sz="1055" b="0">
                <a:solidFill>
                  <a:srgbClr val="252423"/>
                </a:solidFill>
                <a:latin typeface="Segoe UI"/>
              </a:rPr>
              <a:t>tritium-decay-derived Helium-3 segment is</a:t>
            </a:r>
          </a:p>
        </p:txBody>
      </p:sp>
      <p:sp>
        <p:nvSpPr>
          <p:cNvPr id="57" name="TextBox 56"/>
          <p:cNvSpPr txBox="1"/>
          <p:nvPr/>
        </p:nvSpPr>
        <p:spPr>
          <a:xfrm>
            <a:off x="485775" y="4551305"/>
            <a:ext cx="2482783" cy="179984"/>
          </a:xfrm>
          <a:prstGeom prst="rect">
            <a:avLst/>
          </a:prstGeom>
          <a:noFill/>
        </p:spPr>
        <p:txBody>
          <a:bodyPr wrap="none" lIns="0" rIns="0" tIns="0" bIns="0">
            <a:spAutoFit/>
          </a:bodyPr>
          <a:lstStyle/>
          <a:p>
            <a:r>
              <a:rPr sz="1055" b="0">
                <a:solidFill>
                  <a:srgbClr val="252423"/>
                </a:solidFill>
                <a:latin typeface="Segoe UI"/>
              </a:rPr>
              <a:t>expected to witness the highest CAGR of</a:t>
            </a:r>
          </a:p>
        </p:txBody>
      </p:sp>
      <p:pic>
        <p:nvPicPr>
          <p:cNvPr id="58" name="Picture 57" descr="lock.png"/>
          <p:cNvPicPr>
            <a:picLocks noChangeAspect="1"/>
          </p:cNvPicPr>
          <p:nvPr/>
        </p:nvPicPr>
        <p:blipFill>
          <a:blip r:embed="rId10"/>
          <a:stretch>
            <a:fillRect/>
          </a:stretch>
        </p:blipFill>
        <p:spPr>
          <a:xfrm>
            <a:off x="2915640" y="4541917"/>
            <a:ext cx="123551" cy="179710"/>
          </a:xfrm>
          <a:prstGeom prst="rect">
            <a:avLst/>
          </a:prstGeom>
        </p:spPr>
      </p:pic>
      <p:sp>
        <p:nvSpPr>
          <p:cNvPr id="59" name="TextBox 58"/>
          <p:cNvSpPr txBox="1"/>
          <p:nvPr/>
        </p:nvSpPr>
        <p:spPr>
          <a:xfrm>
            <a:off x="485775" y="4712240"/>
            <a:ext cx="2901818" cy="179984"/>
          </a:xfrm>
          <a:prstGeom prst="rect">
            <a:avLst/>
          </a:prstGeom>
          <a:noFill/>
        </p:spPr>
        <p:txBody>
          <a:bodyPr wrap="none" lIns="0" rIns="0" tIns="0" bIns="0">
            <a:spAutoFit/>
          </a:bodyPr>
          <a:lstStyle/>
          <a:p>
            <a:r>
              <a:rPr sz="1055" b="0">
                <a:solidFill>
                  <a:srgbClr val="252423"/>
                </a:solidFill>
                <a:latin typeface="Segoe UI"/>
              </a:rPr>
              <a:t>over the forecast period. In terms of value share</a:t>
            </a:r>
          </a:p>
        </p:txBody>
      </p:sp>
      <p:sp>
        <p:nvSpPr>
          <p:cNvPr id="60" name="TextBox 59"/>
          <p:cNvSpPr txBox="1"/>
          <p:nvPr/>
        </p:nvSpPr>
        <p:spPr>
          <a:xfrm>
            <a:off x="485775" y="4873174"/>
            <a:ext cx="2653886" cy="179984"/>
          </a:xfrm>
          <a:prstGeom prst="rect">
            <a:avLst/>
          </a:prstGeom>
          <a:noFill/>
        </p:spPr>
        <p:txBody>
          <a:bodyPr wrap="none" lIns="0" rIns="0" tIns="0" bIns="0">
            <a:spAutoFit/>
          </a:bodyPr>
          <a:lstStyle/>
          <a:p>
            <a:r>
              <a:rPr sz="1055" b="0">
                <a:solidFill>
                  <a:srgbClr val="252423"/>
                </a:solidFill>
                <a:latin typeface="Segoe UI"/>
              </a:rPr>
              <a:t>by supply source, the tritium-decay-derived</a:t>
            </a:r>
          </a:p>
        </p:txBody>
      </p:sp>
      <p:sp>
        <p:nvSpPr>
          <p:cNvPr id="61" name="TextBox 60"/>
          <p:cNvSpPr txBox="1"/>
          <p:nvPr/>
        </p:nvSpPr>
        <p:spPr>
          <a:xfrm>
            <a:off x="485775" y="5034109"/>
            <a:ext cx="2866309" cy="179984"/>
          </a:xfrm>
          <a:prstGeom prst="rect">
            <a:avLst/>
          </a:prstGeom>
          <a:noFill/>
        </p:spPr>
        <p:txBody>
          <a:bodyPr wrap="none" lIns="0" rIns="0" tIns="0" bIns="0">
            <a:spAutoFit/>
          </a:bodyPr>
          <a:lstStyle/>
          <a:p>
            <a:r>
              <a:rPr sz="1055" b="0">
                <a:solidFill>
                  <a:srgbClr val="252423"/>
                </a:solidFill>
                <a:latin typeface="Segoe UI"/>
              </a:rPr>
              <a:t>Helium-3 segment is expected to dominate the</a:t>
            </a:r>
          </a:p>
        </p:txBody>
      </p:sp>
      <p:sp>
        <p:nvSpPr>
          <p:cNvPr id="62" name="TextBox 61"/>
          <p:cNvSpPr txBox="1"/>
          <p:nvPr/>
        </p:nvSpPr>
        <p:spPr>
          <a:xfrm>
            <a:off x="485775" y="5195043"/>
            <a:ext cx="998441" cy="179984"/>
          </a:xfrm>
          <a:prstGeom prst="rect">
            <a:avLst/>
          </a:prstGeom>
          <a:noFill/>
        </p:spPr>
        <p:txBody>
          <a:bodyPr wrap="none" lIns="0" rIns="0" tIns="0" bIns="0">
            <a:spAutoFit/>
          </a:bodyPr>
          <a:lstStyle/>
          <a:p>
            <a:r>
              <a:rPr sz="1055" b="0">
                <a:solidFill>
                  <a:srgbClr val="252423"/>
                </a:solidFill>
                <a:latin typeface="Segoe UI"/>
              </a:rPr>
              <a:t>market, gaining</a:t>
            </a:r>
          </a:p>
        </p:txBody>
      </p:sp>
      <p:pic>
        <p:nvPicPr>
          <p:cNvPr id="63" name="Picture 62" descr="lock.png"/>
          <p:cNvPicPr>
            <a:picLocks noChangeAspect="1"/>
          </p:cNvPicPr>
          <p:nvPr/>
        </p:nvPicPr>
        <p:blipFill>
          <a:blip r:embed="rId10"/>
          <a:stretch>
            <a:fillRect/>
          </a:stretch>
        </p:blipFill>
        <p:spPr>
          <a:xfrm>
            <a:off x="1431297" y="5185655"/>
            <a:ext cx="123551" cy="179710"/>
          </a:xfrm>
          <a:prstGeom prst="rect">
            <a:avLst/>
          </a:prstGeom>
        </p:spPr>
      </p:pic>
      <p:sp>
        <p:nvSpPr>
          <p:cNvPr id="64" name="TextBox 63"/>
          <p:cNvSpPr txBox="1"/>
          <p:nvPr/>
        </p:nvSpPr>
        <p:spPr>
          <a:xfrm>
            <a:off x="1592093"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65" name="Picture 64" descr="lock.png"/>
          <p:cNvPicPr>
            <a:picLocks noChangeAspect="1"/>
          </p:cNvPicPr>
          <p:nvPr/>
        </p:nvPicPr>
        <p:blipFill>
          <a:blip r:embed="rId10"/>
          <a:stretch>
            <a:fillRect/>
          </a:stretch>
        </p:blipFill>
        <p:spPr>
          <a:xfrm>
            <a:off x="2995523" y="5185655"/>
            <a:ext cx="123551" cy="179710"/>
          </a:xfrm>
          <a:prstGeom prst="rect">
            <a:avLst/>
          </a:prstGeom>
        </p:spPr>
      </p:pic>
      <p:sp>
        <p:nvSpPr>
          <p:cNvPr id="66" name="TextBox 65"/>
          <p:cNvSpPr txBox="1"/>
          <p:nvPr/>
        </p:nvSpPr>
        <p:spPr>
          <a:xfrm>
            <a:off x="485775"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67" name="TextBox 66"/>
          <p:cNvSpPr txBox="1"/>
          <p:nvPr/>
        </p:nvSpPr>
        <p:spPr>
          <a:xfrm>
            <a:off x="485775" y="5565192"/>
            <a:ext cx="2649543" cy="179984"/>
          </a:xfrm>
          <a:prstGeom prst="rect">
            <a:avLst/>
          </a:prstGeom>
          <a:noFill/>
        </p:spPr>
        <p:txBody>
          <a:bodyPr wrap="none" lIns="0" rIns="0" tIns="0" bIns="0">
            <a:spAutoFit/>
          </a:bodyPr>
          <a:lstStyle/>
          <a:p>
            <a:r>
              <a:rPr sz="1055" b="0">
                <a:solidFill>
                  <a:srgbClr val="252423"/>
                </a:solidFill>
                <a:latin typeface="Segoe UI"/>
              </a:rPr>
              <a:t>Tritium-decay-derived Helium-3 segment is</a:t>
            </a:r>
          </a:p>
        </p:txBody>
      </p:sp>
      <p:sp>
        <p:nvSpPr>
          <p:cNvPr id="68" name="TextBox 67"/>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69" name="Picture 68" descr="lock.png"/>
          <p:cNvPicPr>
            <a:picLocks noChangeAspect="1"/>
          </p:cNvPicPr>
          <p:nvPr/>
        </p:nvPicPr>
        <p:blipFill>
          <a:blip r:embed="rId10"/>
          <a:stretch>
            <a:fillRect/>
          </a:stretch>
        </p:blipFill>
        <p:spPr>
          <a:xfrm>
            <a:off x="1717791" y="5716739"/>
            <a:ext cx="123551" cy="179710"/>
          </a:xfrm>
          <a:prstGeom prst="rect">
            <a:avLst/>
          </a:prstGeom>
        </p:spPr>
      </p:pic>
      <p:sp>
        <p:nvSpPr>
          <p:cNvPr id="70" name="TextBox 69"/>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71" name="TextBox 70"/>
          <p:cNvSpPr txBox="1"/>
          <p:nvPr/>
        </p:nvSpPr>
        <p:spPr>
          <a:xfrm>
            <a:off x="485775" y="5887061"/>
            <a:ext cx="2914650" cy="179984"/>
          </a:xfrm>
          <a:prstGeom prst="rect">
            <a:avLst/>
          </a:prstGeom>
          <a:noFill/>
        </p:spPr>
        <p:txBody>
          <a:bodyPr wrap="none" lIns="0" rIns="0" tIns="0" bIns="0">
            <a:spAutoFit/>
          </a:bodyPr>
          <a:lstStyle/>
          <a:p>
            <a:r>
              <a:rPr sz="1055" b="0">
                <a:solidFill>
                  <a:srgbClr val="252423"/>
                </a:solidFill>
                <a:latin typeface="Segoe UI"/>
              </a:rPr>
              <a:t>terrestrial natural / geological Helium-3 segment</a:t>
            </a:r>
          </a:p>
        </p:txBody>
      </p:sp>
      <p:sp>
        <p:nvSpPr>
          <p:cNvPr id="72" name="TextBox 71"/>
          <p:cNvSpPr txBox="1"/>
          <p:nvPr/>
        </p:nvSpPr>
        <p:spPr>
          <a:xfrm>
            <a:off x="485775" y="6047995"/>
            <a:ext cx="539567" cy="179984"/>
          </a:xfrm>
          <a:prstGeom prst="rect">
            <a:avLst/>
          </a:prstGeom>
          <a:noFill/>
        </p:spPr>
        <p:txBody>
          <a:bodyPr wrap="none" lIns="0" rIns="0" tIns="0" bIns="0">
            <a:spAutoFit/>
          </a:bodyPr>
          <a:lstStyle/>
          <a:p>
            <a:r>
              <a:rPr sz="1055" b="0">
                <a:solidFill>
                  <a:srgbClr val="252423"/>
                </a:solidFill>
                <a:latin typeface="Segoe UI"/>
              </a:rPr>
              <a:t>in 2036.</a:t>
            </a:r>
          </a:p>
        </p:txBody>
      </p:sp>
      <p:sp>
        <p:nvSpPr>
          <p:cNvPr id="73" name="TextBox 72"/>
          <p:cNvSpPr txBox="1"/>
          <p:nvPr/>
        </p:nvSpPr>
        <p:spPr>
          <a:xfrm>
            <a:off x="3838575" y="4229437"/>
            <a:ext cx="2236438" cy="186689"/>
          </a:xfrm>
          <a:prstGeom prst="rect">
            <a:avLst/>
          </a:prstGeom>
          <a:noFill/>
        </p:spPr>
        <p:txBody>
          <a:bodyPr wrap="none" lIns="0" rIns="0" tIns="0" bIns="0">
            <a:spAutoFit/>
          </a:bodyPr>
          <a:lstStyle/>
          <a:p>
            <a:r>
              <a:rPr sz="1100" b="0">
                <a:solidFill>
                  <a:srgbClr val="252423"/>
                </a:solidFill>
                <a:latin typeface="Segoe UI"/>
              </a:rPr>
              <a:t>● Tritium-Decay-Derived Helium-3:</a:t>
            </a:r>
          </a:p>
        </p:txBody>
      </p:sp>
      <p:pic>
        <p:nvPicPr>
          <p:cNvPr id="74" name="Picture 73" descr="lock.png"/>
          <p:cNvPicPr>
            <a:picLocks noChangeAspect="1"/>
          </p:cNvPicPr>
          <p:nvPr/>
        </p:nvPicPr>
        <p:blipFill>
          <a:blip r:embed="rId10"/>
          <a:stretch>
            <a:fillRect/>
          </a:stretch>
        </p:blipFill>
        <p:spPr>
          <a:xfrm>
            <a:off x="6023064" y="4219658"/>
            <a:ext cx="128699" cy="187198"/>
          </a:xfrm>
          <a:prstGeom prst="rect">
            <a:avLst/>
          </a:prstGeom>
        </p:spPr>
      </p:pic>
      <p:sp>
        <p:nvSpPr>
          <p:cNvPr id="75" name="TextBox 74"/>
          <p:cNvSpPr txBox="1"/>
          <p:nvPr/>
        </p:nvSpPr>
        <p:spPr>
          <a:xfrm>
            <a:off x="6190560"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76" name="Picture 75" descr="lock.png"/>
          <p:cNvPicPr>
            <a:picLocks noChangeAspect="1"/>
          </p:cNvPicPr>
          <p:nvPr/>
        </p:nvPicPr>
        <p:blipFill>
          <a:blip r:embed="rId10"/>
          <a:stretch>
            <a:fillRect/>
          </a:stretch>
        </p:blipFill>
        <p:spPr>
          <a:xfrm>
            <a:off x="7110507" y="4219658"/>
            <a:ext cx="128699" cy="187198"/>
          </a:xfrm>
          <a:prstGeom prst="rect">
            <a:avLst/>
          </a:prstGeom>
        </p:spPr>
      </p:pic>
      <p:sp>
        <p:nvSpPr>
          <p:cNvPr id="77" name="TextBox 76"/>
          <p:cNvSpPr txBox="1"/>
          <p:nvPr/>
        </p:nvSpPr>
        <p:spPr>
          <a:xfrm>
            <a:off x="7278003"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78" name="TextBox 77"/>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79" name="TextBox 78"/>
          <p:cNvSpPr txBox="1"/>
          <p:nvPr/>
        </p:nvSpPr>
        <p:spPr>
          <a:xfrm>
            <a:off x="3838575" y="4615009"/>
            <a:ext cx="2725878" cy="186689"/>
          </a:xfrm>
          <a:prstGeom prst="rect">
            <a:avLst/>
          </a:prstGeom>
          <a:noFill/>
        </p:spPr>
        <p:txBody>
          <a:bodyPr wrap="none" lIns="0" rIns="0" tIns="0" bIns="0">
            <a:spAutoFit/>
          </a:bodyPr>
          <a:lstStyle/>
          <a:p>
            <a:r>
              <a:rPr sz="1100" b="0">
                <a:solidFill>
                  <a:srgbClr val="252423"/>
                </a:solidFill>
                <a:latin typeface="Segoe UI"/>
              </a:rPr>
              <a:t>● Terrestrial Natural / Geological Helium-3:</a:t>
            </a:r>
          </a:p>
        </p:txBody>
      </p:sp>
      <p:pic>
        <p:nvPicPr>
          <p:cNvPr id="80" name="Picture 79" descr="lock.png"/>
          <p:cNvPicPr>
            <a:picLocks noChangeAspect="1"/>
          </p:cNvPicPr>
          <p:nvPr/>
        </p:nvPicPr>
        <p:blipFill>
          <a:blip r:embed="rId10"/>
          <a:stretch>
            <a:fillRect/>
          </a:stretch>
        </p:blipFill>
        <p:spPr>
          <a:xfrm>
            <a:off x="6512505" y="4605230"/>
            <a:ext cx="128699" cy="187198"/>
          </a:xfrm>
          <a:prstGeom prst="rect">
            <a:avLst/>
          </a:prstGeom>
        </p:spPr>
      </p:pic>
      <p:sp>
        <p:nvSpPr>
          <p:cNvPr id="81" name="TextBox 80"/>
          <p:cNvSpPr txBox="1"/>
          <p:nvPr/>
        </p:nvSpPr>
        <p:spPr>
          <a:xfrm>
            <a:off x="6680000" y="4615009"/>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82" name="Picture 81" descr="lock.png"/>
          <p:cNvPicPr>
            <a:picLocks noChangeAspect="1"/>
          </p:cNvPicPr>
          <p:nvPr/>
        </p:nvPicPr>
        <p:blipFill>
          <a:blip r:embed="rId10"/>
          <a:stretch>
            <a:fillRect/>
          </a:stretch>
        </p:blipFill>
        <p:spPr>
          <a:xfrm>
            <a:off x="3825107" y="4772870"/>
            <a:ext cx="128699" cy="187198"/>
          </a:xfrm>
          <a:prstGeom prst="rect">
            <a:avLst/>
          </a:prstGeom>
        </p:spPr>
      </p:pic>
      <p:sp>
        <p:nvSpPr>
          <p:cNvPr id="83" name="TextBox 82"/>
          <p:cNvSpPr txBox="1"/>
          <p:nvPr/>
        </p:nvSpPr>
        <p:spPr>
          <a:xfrm>
            <a:off x="3992603" y="4782649"/>
            <a:ext cx="1358103" cy="186689"/>
          </a:xfrm>
          <a:prstGeom prst="rect">
            <a:avLst/>
          </a:prstGeom>
          <a:noFill/>
        </p:spPr>
        <p:txBody>
          <a:bodyPr wrap="none" lIns="0" rIns="0" tIns="0" bIns="0">
            <a:spAutoFit/>
          </a:bodyPr>
          <a:lstStyle/>
          <a:p>
            <a:r>
              <a:rPr sz="1100" b="0">
                <a:solidFill>
                  <a:srgbClr val="252423"/>
                </a:solidFill>
                <a:latin typeface="Segoe UI"/>
              </a:rPr>
              <a:t>CAGR serves a niche.</a:t>
            </a:r>
          </a:p>
        </p:txBody>
      </p:sp>
      <p:sp>
        <p:nvSpPr>
          <p:cNvPr id="84" name="TextBox 83"/>
          <p:cNvSpPr txBox="1"/>
          <p:nvPr/>
        </p:nvSpPr>
        <p:spPr>
          <a:xfrm>
            <a:off x="8524875" y="5842641"/>
            <a:ext cx="3007714" cy="194310"/>
          </a:xfrm>
          <a:prstGeom prst="rect">
            <a:avLst/>
          </a:prstGeom>
          <a:noFill/>
        </p:spPr>
        <p:txBody>
          <a:bodyPr wrap="none" lIns="0" rIns="0" tIns="0" bIns="0">
            <a:spAutoFit/>
          </a:bodyPr>
          <a:lstStyle/>
          <a:p>
            <a:r>
              <a:rPr sz="1150" b="1">
                <a:solidFill>
                  <a:srgbClr val="0E3A5F"/>
                </a:solidFill>
                <a:latin typeface="Segoe UI"/>
              </a:rPr>
              <a:t>The Supply Source segment is projected to</a:t>
            </a:r>
          </a:p>
        </p:txBody>
      </p:sp>
      <p:sp>
        <p:nvSpPr>
          <p:cNvPr id="85" name="TextBox 84"/>
          <p:cNvSpPr txBox="1"/>
          <p:nvPr/>
        </p:nvSpPr>
        <p:spPr>
          <a:xfrm>
            <a:off x="8524875" y="6017901"/>
            <a:ext cx="1343801" cy="194310"/>
          </a:xfrm>
          <a:prstGeom prst="rect">
            <a:avLst/>
          </a:prstGeom>
          <a:noFill/>
        </p:spPr>
        <p:txBody>
          <a:bodyPr wrap="none" lIns="0" rIns="0" tIns="0" bIns="0">
            <a:spAutoFit/>
          </a:bodyPr>
          <a:lstStyle/>
          <a:p>
            <a:r>
              <a:rPr sz="1150" b="1">
                <a:solidFill>
                  <a:srgbClr val="0E3A5F"/>
                </a:solidFill>
                <a:latin typeface="Segoe UI"/>
              </a:rPr>
              <a:t>grow at a CAGR of</a:t>
            </a:r>
          </a:p>
        </p:txBody>
      </p:sp>
      <p:pic>
        <p:nvPicPr>
          <p:cNvPr id="86" name="Picture 85" descr="lock.png"/>
          <p:cNvPicPr>
            <a:picLocks noChangeAspect="1"/>
          </p:cNvPicPr>
          <p:nvPr/>
        </p:nvPicPr>
        <p:blipFill>
          <a:blip r:embed="rId10"/>
          <a:stretch>
            <a:fillRect/>
          </a:stretch>
        </p:blipFill>
        <p:spPr>
          <a:xfrm>
            <a:off x="9817830" y="6007677"/>
            <a:ext cx="134549" cy="195707"/>
          </a:xfrm>
          <a:prstGeom prst="rect">
            <a:avLst/>
          </a:prstGeom>
        </p:spPr>
      </p:pic>
      <p:sp>
        <p:nvSpPr>
          <p:cNvPr id="87" name="TextBox 86"/>
          <p:cNvSpPr txBox="1"/>
          <p:nvPr/>
        </p:nvSpPr>
        <p:spPr>
          <a:xfrm>
            <a:off x="9992939"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Structure &amp; Attractiveness, By Supply Source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Supply Source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Supply Source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Supply Source · Bubble size represents 2036 value</a:t>
            </a:r>
          </a:p>
        </p:txBody>
      </p:sp>
      <p:graphicFrame>
        <p:nvGraphicFramePr>
          <p:cNvPr id="13" name="Chart 12"/>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475196" cy="186689"/>
          </a:xfrm>
          <a:prstGeom prst="rect">
            <a:avLst/>
          </a:prstGeom>
          <a:noFill/>
        </p:spPr>
        <p:txBody>
          <a:bodyPr wrap="none" lIns="0" rIns="0" tIns="0" bIns="0">
            <a:spAutoFit/>
          </a:bodyPr>
          <a:lstStyle/>
          <a:p>
            <a:r>
              <a:rPr sz="1100" b="0">
                <a:solidFill>
                  <a:srgbClr val="252423"/>
                </a:solidFill>
                <a:latin typeface="Segoe UI"/>
              </a:rPr>
              <a:t>Tritium-decay-derived Helium-3 followed by terrestrial natural / geological Helium-3 are expected to be the two most attractive supply source segments in the Western Europe Helium-3</a:t>
            </a:r>
          </a:p>
        </p:txBody>
      </p:sp>
      <p:sp>
        <p:nvSpPr>
          <p:cNvPr id="18" name="TextBox 17"/>
          <p:cNvSpPr txBox="1"/>
          <p:nvPr/>
        </p:nvSpPr>
        <p:spPr>
          <a:xfrm>
            <a:off x="257175" y="5945505"/>
            <a:ext cx="9392490" cy="186689"/>
          </a:xfrm>
          <a:prstGeom prst="rect">
            <a:avLst/>
          </a:prstGeom>
          <a:noFill/>
        </p:spPr>
        <p:txBody>
          <a:bodyPr wrap="none" lIns="0" rIns="0" tIns="0" bIns="0">
            <a:spAutoFit/>
          </a:bodyPr>
          <a:lstStyle/>
          <a:p>
            <a:r>
              <a:rPr sz="1100" b="0">
                <a:solidFill>
                  <a:srgbClr val="252423"/>
                </a:solidFill>
                <a:latin typeface="Segoe UI"/>
              </a:rPr>
              <a:t>market in terms of value over the forecast period. Tritium-Decay-Derived Helium-3 and terrestrial natural / geological Helium-3 exhibit a CAGR index of</a:t>
            </a:r>
          </a:p>
        </p:txBody>
      </p:sp>
      <p:pic>
        <p:nvPicPr>
          <p:cNvPr id="19" name="Picture 18" descr="lock.png"/>
          <p:cNvPicPr>
            <a:picLocks noChangeAspect="1"/>
          </p:cNvPicPr>
          <p:nvPr/>
        </p:nvPicPr>
        <p:blipFill>
          <a:blip r:embed="rId6"/>
          <a:stretch>
            <a:fillRect/>
          </a:stretch>
        </p:blipFill>
        <p:spPr>
          <a:xfrm>
            <a:off x="9597717" y="5935726"/>
            <a:ext cx="128699" cy="187198"/>
          </a:xfrm>
          <a:prstGeom prst="rect">
            <a:avLst/>
          </a:prstGeom>
        </p:spPr>
      </p:pic>
      <p:sp>
        <p:nvSpPr>
          <p:cNvPr id="20" name="TextBox 19"/>
          <p:cNvSpPr txBox="1"/>
          <p:nvPr/>
        </p:nvSpPr>
        <p:spPr>
          <a:xfrm>
            <a:off x="9765213" y="594550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10022207" y="5935726"/>
            <a:ext cx="128699" cy="187198"/>
          </a:xfrm>
          <a:prstGeom prst="rect">
            <a:avLst/>
          </a:prstGeom>
        </p:spPr>
      </p:pic>
      <p:sp>
        <p:nvSpPr>
          <p:cNvPr id="22" name="TextBox 21"/>
          <p:cNvSpPr txBox="1"/>
          <p:nvPr/>
        </p:nvSpPr>
        <p:spPr>
          <a:xfrm>
            <a:off x="10189702" y="5945505"/>
            <a:ext cx="1256210" cy="186689"/>
          </a:xfrm>
          <a:prstGeom prst="rect">
            <a:avLst/>
          </a:prstGeom>
          <a:noFill/>
        </p:spPr>
        <p:txBody>
          <a:bodyPr wrap="none" lIns="0" rIns="0" tIns="0" bIns="0">
            <a:spAutoFit/>
          </a:bodyPr>
          <a:lstStyle/>
          <a:p>
            <a:r>
              <a:rPr sz="1100" b="0">
                <a:solidFill>
                  <a:srgbClr val="252423"/>
                </a:solidFill>
                <a:latin typeface="Segoe UI"/>
              </a:rPr>
              <a:t>and a market share</a:t>
            </a:r>
          </a:p>
        </p:txBody>
      </p:sp>
      <p:sp>
        <p:nvSpPr>
          <p:cNvPr id="23" name="TextBox 22"/>
          <p:cNvSpPr txBox="1"/>
          <p:nvPr/>
        </p:nvSpPr>
        <p:spPr>
          <a:xfrm>
            <a:off x="257175" y="6113145"/>
            <a:ext cx="572478" cy="186689"/>
          </a:xfrm>
          <a:prstGeom prst="rect">
            <a:avLst/>
          </a:prstGeom>
          <a:noFill/>
        </p:spPr>
        <p:txBody>
          <a:bodyPr wrap="none" lIns="0" rIns="0" tIns="0" bIns="0">
            <a:spAutoFit/>
          </a:bodyPr>
          <a:lstStyle/>
          <a:p>
            <a:r>
              <a:rPr sz="1100" b="0">
                <a:solidFill>
                  <a:srgbClr val="252423"/>
                </a:solidFill>
                <a:latin typeface="Segoe UI"/>
              </a:rPr>
              <a:t>index of</a:t>
            </a:r>
          </a:p>
        </p:txBody>
      </p:sp>
      <p:pic>
        <p:nvPicPr>
          <p:cNvPr id="24" name="Picture 23" descr="lock.png"/>
          <p:cNvPicPr>
            <a:picLocks noChangeAspect="1"/>
          </p:cNvPicPr>
          <p:nvPr/>
        </p:nvPicPr>
        <p:blipFill>
          <a:blip r:embed="rId6"/>
          <a:stretch>
            <a:fillRect/>
          </a:stretch>
        </p:blipFill>
        <p:spPr>
          <a:xfrm>
            <a:off x="777705" y="6103366"/>
            <a:ext cx="128699" cy="187198"/>
          </a:xfrm>
          <a:prstGeom prst="rect">
            <a:avLst/>
          </a:prstGeom>
        </p:spPr>
      </p:pic>
      <p:sp>
        <p:nvSpPr>
          <p:cNvPr id="25" name="TextBox 24"/>
          <p:cNvSpPr txBox="1"/>
          <p:nvPr/>
        </p:nvSpPr>
        <p:spPr>
          <a:xfrm>
            <a:off x="945201" y="611314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6" name="Picture 25" descr="lock.png"/>
          <p:cNvPicPr>
            <a:picLocks noChangeAspect="1"/>
          </p:cNvPicPr>
          <p:nvPr/>
        </p:nvPicPr>
        <p:blipFill>
          <a:blip r:embed="rId6"/>
          <a:stretch>
            <a:fillRect/>
          </a:stretch>
        </p:blipFill>
        <p:spPr>
          <a:xfrm>
            <a:off x="1202195" y="6103366"/>
            <a:ext cx="128699" cy="187198"/>
          </a:xfrm>
          <a:prstGeom prst="rect">
            <a:avLst/>
          </a:prstGeom>
        </p:spPr>
      </p:pic>
      <p:sp>
        <p:nvSpPr>
          <p:cNvPr id="27" name="TextBox 26"/>
          <p:cNvSpPr txBox="1"/>
          <p:nvPr/>
        </p:nvSpPr>
        <p:spPr>
          <a:xfrm>
            <a:off x="1369690" y="611314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8" name="Picture 27" descr="lock.png"/>
          <p:cNvPicPr>
            <a:picLocks noChangeAspect="1"/>
          </p:cNvPicPr>
          <p:nvPr/>
        </p:nvPicPr>
        <p:blipFill>
          <a:blip r:embed="rId6"/>
          <a:stretch>
            <a:fillRect/>
          </a:stretch>
        </p:blipFill>
        <p:spPr>
          <a:xfrm>
            <a:off x="4129624" y="6103366"/>
            <a:ext cx="128699" cy="187198"/>
          </a:xfrm>
          <a:prstGeom prst="rect">
            <a:avLst/>
          </a:prstGeom>
        </p:spPr>
      </p:pic>
      <p:sp>
        <p:nvSpPr>
          <p:cNvPr id="29" name="TextBox 28"/>
          <p:cNvSpPr txBox="1"/>
          <p:nvPr/>
        </p:nvSpPr>
        <p:spPr>
          <a:xfrm>
            <a:off x="4297120" y="6113145"/>
            <a:ext cx="4823962" cy="186689"/>
          </a:xfrm>
          <a:prstGeom prst="rect">
            <a:avLst/>
          </a:prstGeom>
          <a:noFill/>
        </p:spPr>
        <p:txBody>
          <a:bodyPr wrap="none" lIns="0" rIns="0" tIns="0" bIns="0">
            <a:spAutoFit/>
          </a:bodyPr>
          <a:lstStyle/>
          <a:p>
            <a:r>
              <a:rPr sz="1100" b="0">
                <a:solidFill>
                  <a:srgbClr val="252423"/>
                </a:solidFill>
                <a:latin typeface="Segoe UI"/>
              </a:rPr>
              <a:t>.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Absolute $ Opportunity Analysis, By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Supply Source and the absolute $ opportunity each sub-segment adds, 2026–2036</a:t>
            </a:r>
          </a:p>
        </p:txBody>
      </p:sp>
      <p:sp>
        <p:nvSpPr>
          <p:cNvPr id="8" name="Rectangle 7"/>
          <p:cNvSpPr/>
          <p:nvPr/>
        </p:nvSpPr>
        <p:spPr>
          <a:xfrm>
            <a:off x="142875"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Tritium-Decay-Derived Helium-3</a:t>
            </a:r>
          </a:p>
        </p:txBody>
      </p:sp>
      <p:graphicFrame>
        <p:nvGraphicFramePr>
          <p:cNvPr id="10" name="Chart 9"/>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Terrestrial Natural / Geological Helium-3</a:t>
            </a:r>
          </a:p>
        </p:txBody>
      </p:sp>
      <p:graphicFrame>
        <p:nvGraphicFramePr>
          <p:cNvPr id="13" name="Chart 12"/>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5" name="Picture 14" descr="lock.png"/>
          <p:cNvPicPr>
            <a:picLocks noChangeAspect="1"/>
          </p:cNvPicPr>
          <p:nvPr/>
        </p:nvPicPr>
        <p:blipFill>
          <a:blip r:embed="rId6"/>
          <a:stretch>
            <a:fillRect/>
          </a:stretch>
        </p:blipFill>
        <p:spPr>
          <a:xfrm>
            <a:off x="3027556" y="3674659"/>
            <a:ext cx="395643" cy="575481"/>
          </a:xfrm>
          <a:prstGeom prst="rect">
            <a:avLst/>
          </a:prstGeom>
        </p:spPr>
      </p:pic>
      <p:pic>
        <p:nvPicPr>
          <p:cNvPr id="16" name="Picture 15" descr="lock.png"/>
          <p:cNvPicPr>
            <a:picLocks noChangeAspect="1"/>
          </p:cNvPicPr>
          <p:nvPr/>
        </p:nvPicPr>
        <p:blipFill>
          <a:blip r:embed="rId6"/>
          <a:stretch>
            <a:fillRect/>
          </a:stretch>
        </p:blipFill>
        <p:spPr>
          <a:xfrm>
            <a:off x="9056881" y="3674659"/>
            <a:ext cx="395643" cy="575481"/>
          </a:xfrm>
          <a:prstGeom prst="rect">
            <a:avLst/>
          </a:prstGeom>
        </p:spPr>
      </p:pic>
      <p:sp>
        <p:nvSpPr>
          <p:cNvPr id="17" name="lockshield_10"/>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3"/>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Analysis, By Supply Source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Supply Source, 2021–2036, highlighting the sub-segments driving growth</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Supply Source (US$ Mn)</a:t>
            </a:r>
          </a:p>
        </p:txBody>
      </p:sp>
      <p:graphicFrame>
        <p:nvGraphicFramePr>
          <p:cNvPr id="10" name="Table 9"/>
          <p:cNvGraphicFramePr>
            <a:graphicFrameLocks noGrp="1"/>
          </p:cNvGraphicFramePr>
          <p:nvPr/>
        </p:nvGraphicFramePr>
        <p:xfrm>
          <a:off x="152400" y="1238250"/>
          <a:ext cx="11887195" cy="990600"/>
        </p:xfrm>
        <a:graphic>
          <a:graphicData uri="http://schemas.openxmlformats.org/drawingml/2006/table">
            <a:tbl>
              <a:tblPr>
                <a:tableStyleId>{5C22544A-7EE6-4342-B048-85BDC9FD1C3A}</a:tableStyleId>
              </a:tblPr>
              <a:tblGrid>
                <a:gridCol w="2894278"/>
                <a:gridCol w="539542"/>
                <a:gridCol w="539542"/>
                <a:gridCol w="539542"/>
                <a:gridCol w="539542"/>
                <a:gridCol w="539542"/>
                <a:gridCol w="514986"/>
                <a:gridCol w="514986"/>
                <a:gridCol w="514986"/>
                <a:gridCol w="514986"/>
                <a:gridCol w="514986"/>
                <a:gridCol w="514986"/>
                <a:gridCol w="514986"/>
                <a:gridCol w="514986"/>
                <a:gridCol w="514986"/>
                <a:gridCol w="514986"/>
                <a:gridCol w="514986"/>
                <a:gridCol w="630361"/>
              </a:tblGrid>
              <a:tr h="246126">
                <a:tc>
                  <a:txBody>
                    <a:bodyPr wrap="none"/>
                    <a:lstStyle/>
                    <a:p>
                      <a:pPr algn="l"/>
                      <a:r>
                        <a:rPr sz="1100" b="1">
                          <a:solidFill>
                            <a:srgbClr val="FFFFFF"/>
                          </a:solidFill>
                          <a:latin typeface="Segoe UI"/>
                        </a:rPr>
                        <a:t>Supply Source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Tritium-Decay-Derived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Terrestrial Natural / Geological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4057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Analysis, By Supply Source</a:t>
            </a:r>
          </a:p>
        </p:txBody>
      </p:sp>
      <p:sp>
        <p:nvSpPr>
          <p:cNvPr id="14" name="Rectangle 13"/>
          <p:cNvSpPr/>
          <p:nvPr/>
        </p:nvSpPr>
        <p:spPr>
          <a:xfrm>
            <a:off x="276225" y="28956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56446" y="1589913"/>
            <a:ext cx="366712" cy="533400"/>
          </a:xfrm>
          <a:prstGeom prst="rect">
            <a:avLst/>
          </a:prstGeom>
        </p:spPr>
      </p:pic>
      <p:sp>
        <p:nvSpPr>
          <p:cNvPr id="18" name="TextBox 17"/>
          <p:cNvSpPr txBox="1"/>
          <p:nvPr/>
        </p:nvSpPr>
        <p:spPr>
          <a:xfrm>
            <a:off x="276225" y="2990850"/>
            <a:ext cx="4234876" cy="194310"/>
          </a:xfrm>
          <a:prstGeom prst="rect">
            <a:avLst/>
          </a:prstGeom>
          <a:noFill/>
        </p:spPr>
        <p:txBody>
          <a:bodyPr wrap="none" lIns="0" rIns="0" tIns="0" bIns="0">
            <a:spAutoFit/>
          </a:bodyPr>
          <a:lstStyle/>
          <a:p>
            <a:r>
              <a:rPr sz="1150" b="0">
                <a:solidFill>
                  <a:srgbClr val="252423"/>
                </a:solidFill>
                <a:latin typeface="Segoe UI"/>
              </a:rPr>
              <a:t>Tritium-decay-derived Helium-3 segment is projected to register</a:t>
            </a:r>
          </a:p>
        </p:txBody>
      </p:sp>
      <p:pic>
        <p:nvPicPr>
          <p:cNvPr id="19" name="Picture 18" descr="lock.png"/>
          <p:cNvPicPr>
            <a:picLocks noChangeAspect="1"/>
          </p:cNvPicPr>
          <p:nvPr/>
        </p:nvPicPr>
        <p:blipFill>
          <a:blip r:embed="rId4"/>
          <a:stretch>
            <a:fillRect/>
          </a:stretch>
        </p:blipFill>
        <p:spPr>
          <a:xfrm>
            <a:off x="4460255" y="2980626"/>
            <a:ext cx="134549" cy="195707"/>
          </a:xfrm>
          <a:prstGeom prst="rect">
            <a:avLst/>
          </a:prstGeom>
        </p:spPr>
      </p:pic>
      <p:sp>
        <p:nvSpPr>
          <p:cNvPr id="20" name="TextBox 19"/>
          <p:cNvSpPr txBox="1"/>
          <p:nvPr/>
        </p:nvSpPr>
        <p:spPr>
          <a:xfrm>
            <a:off x="4635364" y="2990850"/>
            <a:ext cx="6861445" cy="194310"/>
          </a:xfrm>
          <a:prstGeom prst="rect">
            <a:avLst/>
          </a:prstGeom>
          <a:noFill/>
        </p:spPr>
        <p:txBody>
          <a:bodyPr wrap="none" lIns="0" rIns="0" tIns="0" bIns="0">
            <a:spAutoFit/>
          </a:bodyPr>
          <a:lstStyle/>
          <a:p>
            <a:r>
              <a:rPr sz="1150" b="0">
                <a:solidFill>
                  <a:srgbClr val="252423"/>
                </a:solidFill>
                <a:latin typeface="Segoe UI"/>
              </a:rPr>
              <a:t>X higher value than terrestrial natural / geological Helium-3 segment in 2036. Among Helium-3 by supply</a:t>
            </a:r>
          </a:p>
        </p:txBody>
      </p:sp>
      <p:sp>
        <p:nvSpPr>
          <p:cNvPr id="21" name="TextBox 20"/>
          <p:cNvSpPr txBox="1"/>
          <p:nvPr/>
        </p:nvSpPr>
        <p:spPr>
          <a:xfrm>
            <a:off x="276225" y="3166110"/>
            <a:ext cx="6009329" cy="194310"/>
          </a:xfrm>
          <a:prstGeom prst="rect">
            <a:avLst/>
          </a:prstGeom>
          <a:noFill/>
        </p:spPr>
        <p:txBody>
          <a:bodyPr wrap="none" lIns="0" rIns="0" tIns="0" bIns="0">
            <a:spAutoFit/>
          </a:bodyPr>
          <a:lstStyle/>
          <a:p>
            <a:r>
              <a:rPr sz="1150" b="0">
                <a:solidFill>
                  <a:srgbClr val="252423"/>
                </a:solidFill>
                <a:latin typeface="Segoe UI"/>
              </a:rPr>
              <a:t>source, tritium-decay-derived Helium-3 segment is expected to witness the highest CAGR of</a:t>
            </a:r>
          </a:p>
        </p:txBody>
      </p:sp>
      <p:pic>
        <p:nvPicPr>
          <p:cNvPr id="22" name="Picture 21" descr="lock.png"/>
          <p:cNvPicPr>
            <a:picLocks noChangeAspect="1"/>
          </p:cNvPicPr>
          <p:nvPr/>
        </p:nvPicPr>
        <p:blipFill>
          <a:blip r:embed="rId4"/>
          <a:stretch>
            <a:fillRect/>
          </a:stretch>
        </p:blipFill>
        <p:spPr>
          <a:xfrm>
            <a:off x="6234708" y="3155886"/>
            <a:ext cx="134549" cy="195707"/>
          </a:xfrm>
          <a:prstGeom prst="rect">
            <a:avLst/>
          </a:prstGeom>
        </p:spPr>
      </p:pic>
      <p:sp>
        <p:nvSpPr>
          <p:cNvPr id="23" name="TextBox 22"/>
          <p:cNvSpPr txBox="1"/>
          <p:nvPr/>
        </p:nvSpPr>
        <p:spPr>
          <a:xfrm>
            <a:off x="6409817" y="31661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3393947"/>
            <a:ext cx="8508029" cy="194310"/>
          </a:xfrm>
          <a:prstGeom prst="rect">
            <a:avLst/>
          </a:prstGeom>
          <a:noFill/>
        </p:spPr>
        <p:txBody>
          <a:bodyPr wrap="none" lIns="0" rIns="0" tIns="0" bIns="0">
            <a:spAutoFit/>
          </a:bodyPr>
          <a:lstStyle/>
          <a:p>
            <a:r>
              <a:rPr sz="1150" b="0">
                <a:solidFill>
                  <a:srgbClr val="252423"/>
                </a:solidFill>
                <a:latin typeface="Segoe UI"/>
              </a:rPr>
              <a:t>In terms of value share by supply source, the tritium-decay-derived Helium-3 segment is expected to dominate the market, gaining</a:t>
            </a:r>
          </a:p>
        </p:txBody>
      </p:sp>
      <p:pic>
        <p:nvPicPr>
          <p:cNvPr id="25" name="Picture 24" descr="lock.png"/>
          <p:cNvPicPr>
            <a:picLocks noChangeAspect="1"/>
          </p:cNvPicPr>
          <p:nvPr/>
        </p:nvPicPr>
        <p:blipFill>
          <a:blip r:embed="rId4"/>
          <a:stretch>
            <a:fillRect/>
          </a:stretch>
        </p:blipFill>
        <p:spPr>
          <a:xfrm>
            <a:off x="8733408" y="3383724"/>
            <a:ext cx="134549" cy="195707"/>
          </a:xfrm>
          <a:prstGeom prst="rect">
            <a:avLst/>
          </a:prstGeom>
        </p:spPr>
      </p:pic>
      <p:sp>
        <p:nvSpPr>
          <p:cNvPr id="26" name="TextBox 25"/>
          <p:cNvSpPr txBox="1"/>
          <p:nvPr/>
        </p:nvSpPr>
        <p:spPr>
          <a:xfrm>
            <a:off x="8908517" y="33939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436874" y="3383724"/>
            <a:ext cx="134549" cy="195707"/>
          </a:xfrm>
          <a:prstGeom prst="rect">
            <a:avLst/>
          </a:prstGeom>
        </p:spPr>
      </p:pic>
      <p:sp>
        <p:nvSpPr>
          <p:cNvPr id="28" name="TextBox 27"/>
          <p:cNvSpPr txBox="1"/>
          <p:nvPr/>
        </p:nvSpPr>
        <p:spPr>
          <a:xfrm>
            <a:off x="10611983" y="33939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29" name="TextBox 28"/>
          <p:cNvSpPr txBox="1"/>
          <p:nvPr/>
        </p:nvSpPr>
        <p:spPr>
          <a:xfrm>
            <a:off x="276225" y="3569207"/>
            <a:ext cx="4731173" cy="194310"/>
          </a:xfrm>
          <a:prstGeom prst="rect">
            <a:avLst/>
          </a:prstGeom>
          <a:noFill/>
        </p:spPr>
        <p:txBody>
          <a:bodyPr wrap="none" lIns="0" rIns="0" tIns="0" bIns="0">
            <a:spAutoFit/>
          </a:bodyPr>
          <a:lstStyle/>
          <a:p>
            <a:r>
              <a:rPr sz="1150" b="0">
                <a:solidFill>
                  <a:srgbClr val="252423"/>
                </a:solidFill>
                <a:latin typeface="Segoe UI"/>
              </a:rPr>
              <a:t>The terrestrial natural / geological Helium-3 segment is expected to lose</a:t>
            </a:r>
          </a:p>
        </p:txBody>
      </p:sp>
      <p:pic>
        <p:nvPicPr>
          <p:cNvPr id="30" name="Picture 29" descr="lock.png"/>
          <p:cNvPicPr>
            <a:picLocks noChangeAspect="1"/>
          </p:cNvPicPr>
          <p:nvPr/>
        </p:nvPicPr>
        <p:blipFill>
          <a:blip r:embed="rId4"/>
          <a:stretch>
            <a:fillRect/>
          </a:stretch>
        </p:blipFill>
        <p:spPr>
          <a:xfrm>
            <a:off x="4956552" y="3558984"/>
            <a:ext cx="134549" cy="195707"/>
          </a:xfrm>
          <a:prstGeom prst="rect">
            <a:avLst/>
          </a:prstGeom>
        </p:spPr>
      </p:pic>
      <p:sp>
        <p:nvSpPr>
          <p:cNvPr id="31" name="TextBox 30"/>
          <p:cNvSpPr txBox="1"/>
          <p:nvPr/>
        </p:nvSpPr>
        <p:spPr>
          <a:xfrm>
            <a:off x="5131662" y="3569207"/>
            <a:ext cx="2850231" cy="194310"/>
          </a:xfrm>
          <a:prstGeom prst="rect">
            <a:avLst/>
          </a:prstGeom>
          <a:noFill/>
        </p:spPr>
        <p:txBody>
          <a:bodyPr wrap="none" lIns="0" rIns="0" tIns="0" bIns="0">
            <a:spAutoFit/>
          </a:bodyPr>
          <a:lstStyle/>
          <a:p>
            <a:r>
              <a:rPr sz="1150" b="0">
                <a:solidFill>
                  <a:srgbClr val="252423"/>
                </a:solidFill>
                <a:latin typeface="Segoe UI"/>
              </a:rPr>
              <a:t>BPS over the forecast period to account for</a:t>
            </a:r>
          </a:p>
        </p:txBody>
      </p:sp>
      <p:pic>
        <p:nvPicPr>
          <p:cNvPr id="32" name="Picture 31" descr="lock.png"/>
          <p:cNvPicPr>
            <a:picLocks noChangeAspect="1"/>
          </p:cNvPicPr>
          <p:nvPr/>
        </p:nvPicPr>
        <p:blipFill>
          <a:blip r:embed="rId4"/>
          <a:stretch>
            <a:fillRect/>
          </a:stretch>
        </p:blipFill>
        <p:spPr>
          <a:xfrm>
            <a:off x="7931047" y="3558984"/>
            <a:ext cx="134549" cy="195707"/>
          </a:xfrm>
          <a:prstGeom prst="rect">
            <a:avLst/>
          </a:prstGeom>
        </p:spPr>
      </p:pic>
      <p:sp>
        <p:nvSpPr>
          <p:cNvPr id="33" name="TextBox 32"/>
          <p:cNvSpPr txBox="1"/>
          <p:nvPr/>
        </p:nvSpPr>
        <p:spPr>
          <a:xfrm>
            <a:off x="8106157" y="356920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Supply Source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Supply Source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200750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200273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9265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Terrestrial Natural / Geological Helium-3</a:t>
            </a:r>
          </a:p>
        </p:txBody>
      </p:sp>
      <p:sp>
        <p:nvSpPr>
          <p:cNvPr id="16" name="BPS Value 1"/>
          <p:cNvSpPr txBox="1"/>
          <p:nvPr/>
        </p:nvSpPr>
        <p:spPr>
          <a:xfrm>
            <a:off x="6896100" y="1988452"/>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429369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428893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421273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Tritium-Decay-Derived Helium-3</a:t>
            </a:r>
          </a:p>
        </p:txBody>
      </p:sp>
      <p:sp>
        <p:nvSpPr>
          <p:cNvPr id="20" name="BPS Value 2"/>
          <p:cNvSpPr txBox="1"/>
          <p:nvPr/>
        </p:nvSpPr>
        <p:spPr>
          <a:xfrm>
            <a:off x="6896100" y="4274642"/>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Rectangle 20"/>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Supply Source</a:t>
            </a:r>
          </a:p>
        </p:txBody>
      </p:sp>
      <p:sp>
        <p:nvSpPr>
          <p:cNvPr id="23" name="Rectangle 22"/>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6" name="Picture 25" descr="lock.png"/>
          <p:cNvPicPr>
            <a:picLocks noChangeAspect="1"/>
          </p:cNvPicPr>
          <p:nvPr/>
        </p:nvPicPr>
        <p:blipFill>
          <a:blip r:embed="rId5"/>
          <a:stretch>
            <a:fillRect/>
          </a:stretch>
        </p:blipFill>
        <p:spPr>
          <a:xfrm>
            <a:off x="2557843" y="3833622"/>
            <a:ext cx="275034" cy="400050"/>
          </a:xfrm>
          <a:prstGeom prst="rect">
            <a:avLst/>
          </a:prstGeom>
        </p:spPr>
      </p:pic>
      <p:sp>
        <p:nvSpPr>
          <p:cNvPr id="27" name="TextBox 26"/>
          <p:cNvSpPr txBox="1"/>
          <p:nvPr/>
        </p:nvSpPr>
        <p:spPr>
          <a:xfrm>
            <a:off x="7829550" y="1400175"/>
            <a:ext cx="3785597" cy="194310"/>
          </a:xfrm>
          <a:prstGeom prst="rect">
            <a:avLst/>
          </a:prstGeom>
          <a:noFill/>
        </p:spPr>
        <p:txBody>
          <a:bodyPr wrap="none" lIns="0" rIns="0" tIns="0" bIns="0">
            <a:spAutoFit/>
          </a:bodyPr>
          <a:lstStyle/>
          <a:p>
            <a:r>
              <a:rPr sz="1150" b="0">
                <a:solidFill>
                  <a:srgbClr val="252423"/>
                </a:solidFill>
                <a:latin typeface="Segoe UI"/>
              </a:rPr>
              <a:t>Among Helium-3 by supply source, tritium-decay-derived</a:t>
            </a:r>
          </a:p>
        </p:txBody>
      </p:sp>
      <p:sp>
        <p:nvSpPr>
          <p:cNvPr id="28" name="TextBox 27"/>
          <p:cNvSpPr txBox="1"/>
          <p:nvPr/>
        </p:nvSpPr>
        <p:spPr>
          <a:xfrm>
            <a:off x="7829550" y="1575435"/>
            <a:ext cx="4057650" cy="194310"/>
          </a:xfrm>
          <a:prstGeom prst="rect">
            <a:avLst/>
          </a:prstGeom>
          <a:noFill/>
        </p:spPr>
        <p:txBody>
          <a:bodyPr wrap="none" lIns="0" rIns="0" tIns="0" bIns="0">
            <a:spAutoFit/>
          </a:bodyPr>
          <a:lstStyle/>
          <a:p>
            <a:r>
              <a:rPr sz="1150" b="0">
                <a:solidFill>
                  <a:srgbClr val="252423"/>
                </a:solidFill>
                <a:latin typeface="Segoe UI"/>
              </a:rPr>
              <a:t>Helium-3 segment is expected to witness the highest CAGR of</a:t>
            </a:r>
          </a:p>
        </p:txBody>
      </p:sp>
      <p:pic>
        <p:nvPicPr>
          <p:cNvPr id="29" name="Picture 28" descr="lock.png"/>
          <p:cNvPicPr>
            <a:picLocks noChangeAspect="1"/>
          </p:cNvPicPr>
          <p:nvPr/>
        </p:nvPicPr>
        <p:blipFill>
          <a:blip r:embed="rId5"/>
          <a:stretch>
            <a:fillRect/>
          </a:stretch>
        </p:blipFill>
        <p:spPr>
          <a:xfrm>
            <a:off x="7815470" y="1740471"/>
            <a:ext cx="134549" cy="195707"/>
          </a:xfrm>
          <a:prstGeom prst="rect">
            <a:avLst/>
          </a:prstGeom>
        </p:spPr>
      </p:pic>
      <p:sp>
        <p:nvSpPr>
          <p:cNvPr id="30" name="TextBox 29"/>
          <p:cNvSpPr txBox="1"/>
          <p:nvPr/>
        </p:nvSpPr>
        <p:spPr>
          <a:xfrm>
            <a:off x="7990579" y="1750695"/>
            <a:ext cx="3812277" cy="194310"/>
          </a:xfrm>
          <a:prstGeom prst="rect">
            <a:avLst/>
          </a:prstGeom>
          <a:noFill/>
        </p:spPr>
        <p:txBody>
          <a:bodyPr wrap="none" lIns="0" rIns="0" tIns="0" bIns="0">
            <a:spAutoFit/>
          </a:bodyPr>
          <a:lstStyle/>
          <a:p>
            <a:r>
              <a:rPr sz="1150" b="0">
                <a:solidFill>
                  <a:srgbClr val="252423"/>
                </a:solidFill>
                <a:latin typeface="Segoe UI"/>
              </a:rPr>
              <a:t>over the forecast period. In terms of value share by supply</a:t>
            </a:r>
          </a:p>
        </p:txBody>
      </p:sp>
      <p:sp>
        <p:nvSpPr>
          <p:cNvPr id="31" name="TextBox 30"/>
          <p:cNvSpPr txBox="1"/>
          <p:nvPr/>
        </p:nvSpPr>
        <p:spPr>
          <a:xfrm>
            <a:off x="7829550" y="1925955"/>
            <a:ext cx="3597329" cy="194310"/>
          </a:xfrm>
          <a:prstGeom prst="rect">
            <a:avLst/>
          </a:prstGeom>
          <a:noFill/>
        </p:spPr>
        <p:txBody>
          <a:bodyPr wrap="none" lIns="0" rIns="0" tIns="0" bIns="0">
            <a:spAutoFit/>
          </a:bodyPr>
          <a:lstStyle/>
          <a:p>
            <a:r>
              <a:rPr sz="1150" b="0">
                <a:solidFill>
                  <a:srgbClr val="252423"/>
                </a:solidFill>
                <a:latin typeface="Segoe UI"/>
              </a:rPr>
              <a:t>source, the tritium-decay-derived Helium-3 segment is</a:t>
            </a:r>
          </a:p>
        </p:txBody>
      </p:sp>
      <p:sp>
        <p:nvSpPr>
          <p:cNvPr id="32" name="TextBox 31"/>
          <p:cNvSpPr txBox="1"/>
          <p:nvPr/>
        </p:nvSpPr>
        <p:spPr>
          <a:xfrm>
            <a:off x="7829550" y="2101215"/>
            <a:ext cx="2786014" cy="194310"/>
          </a:xfrm>
          <a:prstGeom prst="rect">
            <a:avLst/>
          </a:prstGeom>
          <a:noFill/>
        </p:spPr>
        <p:txBody>
          <a:bodyPr wrap="none" lIns="0" rIns="0" tIns="0" bIns="0">
            <a:spAutoFit/>
          </a:bodyPr>
          <a:lstStyle/>
          <a:p>
            <a:r>
              <a:rPr sz="1150" b="0">
                <a:solidFill>
                  <a:srgbClr val="252423"/>
                </a:solidFill>
                <a:latin typeface="Segoe UI"/>
              </a:rPr>
              <a:t>expected to dominate the market, gaining</a:t>
            </a:r>
          </a:p>
        </p:txBody>
      </p:sp>
      <p:pic>
        <p:nvPicPr>
          <p:cNvPr id="33" name="Picture 32" descr="lock.png"/>
          <p:cNvPicPr>
            <a:picLocks noChangeAspect="1"/>
          </p:cNvPicPr>
          <p:nvPr/>
        </p:nvPicPr>
        <p:blipFill>
          <a:blip r:embed="rId5"/>
          <a:stretch>
            <a:fillRect/>
          </a:stretch>
        </p:blipFill>
        <p:spPr>
          <a:xfrm>
            <a:off x="10564717" y="2090991"/>
            <a:ext cx="134549" cy="195707"/>
          </a:xfrm>
          <a:prstGeom prst="rect">
            <a:avLst/>
          </a:prstGeom>
        </p:spPr>
      </p:pic>
      <p:sp>
        <p:nvSpPr>
          <p:cNvPr id="34" name="TextBox 33"/>
          <p:cNvSpPr txBox="1"/>
          <p:nvPr/>
        </p:nvSpPr>
        <p:spPr>
          <a:xfrm>
            <a:off x="10739827" y="2101215"/>
            <a:ext cx="602778" cy="194310"/>
          </a:xfrm>
          <a:prstGeom prst="rect">
            <a:avLst/>
          </a:prstGeom>
          <a:noFill/>
        </p:spPr>
        <p:txBody>
          <a:bodyPr wrap="none" lIns="0" rIns="0" tIns="0" bIns="0">
            <a:spAutoFit/>
          </a:bodyPr>
          <a:lstStyle/>
          <a:p>
            <a:r>
              <a:rPr sz="1150" b="0">
                <a:solidFill>
                  <a:srgbClr val="252423"/>
                </a:solidFill>
                <a:latin typeface="Segoe UI"/>
              </a:rPr>
              <a:t>BPS and</a:t>
            </a:r>
          </a:p>
        </p:txBody>
      </p:sp>
      <p:sp>
        <p:nvSpPr>
          <p:cNvPr id="35" name="TextBox 34"/>
          <p:cNvSpPr txBox="1"/>
          <p:nvPr/>
        </p:nvSpPr>
        <p:spPr>
          <a:xfrm>
            <a:off x="7829550" y="2276475"/>
            <a:ext cx="1012688" cy="194310"/>
          </a:xfrm>
          <a:prstGeom prst="rect">
            <a:avLst/>
          </a:prstGeom>
          <a:noFill/>
        </p:spPr>
        <p:txBody>
          <a:bodyPr wrap="none" lIns="0" rIns="0" tIns="0" bIns="0">
            <a:spAutoFit/>
          </a:bodyPr>
          <a:lstStyle/>
          <a:p>
            <a:r>
              <a:rPr sz="1150" b="0">
                <a:solidFill>
                  <a:srgbClr val="252423"/>
                </a:solidFill>
                <a:latin typeface="Segoe UI"/>
              </a:rPr>
              <a:t>accounting for</a:t>
            </a:r>
          </a:p>
        </p:txBody>
      </p:sp>
      <p:pic>
        <p:nvPicPr>
          <p:cNvPr id="36" name="Picture 35" descr="lock.png"/>
          <p:cNvPicPr>
            <a:picLocks noChangeAspect="1"/>
          </p:cNvPicPr>
          <p:nvPr/>
        </p:nvPicPr>
        <p:blipFill>
          <a:blip r:embed="rId5"/>
          <a:stretch>
            <a:fillRect/>
          </a:stretch>
        </p:blipFill>
        <p:spPr>
          <a:xfrm>
            <a:off x="8791392" y="2266251"/>
            <a:ext cx="134549" cy="195707"/>
          </a:xfrm>
          <a:prstGeom prst="rect">
            <a:avLst/>
          </a:prstGeom>
        </p:spPr>
      </p:pic>
      <p:sp>
        <p:nvSpPr>
          <p:cNvPr id="37" name="TextBox 36"/>
          <p:cNvSpPr txBox="1"/>
          <p:nvPr/>
        </p:nvSpPr>
        <p:spPr>
          <a:xfrm>
            <a:off x="8966501" y="2276475"/>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38" name="TextBox 37"/>
          <p:cNvSpPr txBox="1"/>
          <p:nvPr/>
        </p:nvSpPr>
        <p:spPr>
          <a:xfrm>
            <a:off x="7829550" y="2504313"/>
            <a:ext cx="3631270" cy="194310"/>
          </a:xfrm>
          <a:prstGeom prst="rect">
            <a:avLst/>
          </a:prstGeom>
          <a:noFill/>
        </p:spPr>
        <p:txBody>
          <a:bodyPr wrap="none" lIns="0" rIns="0" tIns="0" bIns="0">
            <a:spAutoFit/>
          </a:bodyPr>
          <a:lstStyle/>
          <a:p>
            <a:r>
              <a:rPr sz="1150" b="0">
                <a:solidFill>
                  <a:srgbClr val="252423"/>
                </a:solidFill>
                <a:latin typeface="Segoe UI"/>
              </a:rPr>
              <a:t>The terrestrial natural / geological Helium-3 segment is</a:t>
            </a:r>
          </a:p>
        </p:txBody>
      </p:sp>
      <p:sp>
        <p:nvSpPr>
          <p:cNvPr id="39" name="TextBox 38"/>
          <p:cNvSpPr txBox="1"/>
          <p:nvPr/>
        </p:nvSpPr>
        <p:spPr>
          <a:xfrm>
            <a:off x="7829550" y="2679573"/>
            <a:ext cx="1136167" cy="194310"/>
          </a:xfrm>
          <a:prstGeom prst="rect">
            <a:avLst/>
          </a:prstGeom>
          <a:noFill/>
        </p:spPr>
        <p:txBody>
          <a:bodyPr wrap="none" lIns="0" rIns="0" tIns="0" bIns="0">
            <a:spAutoFit/>
          </a:bodyPr>
          <a:lstStyle/>
          <a:p>
            <a:r>
              <a:rPr sz="1150" b="0">
                <a:solidFill>
                  <a:srgbClr val="252423"/>
                </a:solidFill>
                <a:latin typeface="Segoe UI"/>
              </a:rPr>
              <a:t>expected to lose</a:t>
            </a:r>
          </a:p>
        </p:txBody>
      </p:sp>
      <p:pic>
        <p:nvPicPr>
          <p:cNvPr id="40" name="Picture 39" descr="lock.png"/>
          <p:cNvPicPr>
            <a:picLocks noChangeAspect="1"/>
          </p:cNvPicPr>
          <p:nvPr/>
        </p:nvPicPr>
        <p:blipFill>
          <a:blip r:embed="rId5"/>
          <a:stretch>
            <a:fillRect/>
          </a:stretch>
        </p:blipFill>
        <p:spPr>
          <a:xfrm>
            <a:off x="8914871" y="2669349"/>
            <a:ext cx="134549" cy="195707"/>
          </a:xfrm>
          <a:prstGeom prst="rect">
            <a:avLst/>
          </a:prstGeom>
        </p:spPr>
      </p:pic>
      <p:sp>
        <p:nvSpPr>
          <p:cNvPr id="41" name="TextBox 40"/>
          <p:cNvSpPr txBox="1"/>
          <p:nvPr/>
        </p:nvSpPr>
        <p:spPr>
          <a:xfrm>
            <a:off x="9089981" y="2679573"/>
            <a:ext cx="2628304" cy="194310"/>
          </a:xfrm>
          <a:prstGeom prst="rect">
            <a:avLst/>
          </a:prstGeom>
          <a:noFill/>
        </p:spPr>
        <p:txBody>
          <a:bodyPr wrap="none" lIns="0" rIns="0" tIns="0" bIns="0">
            <a:spAutoFit/>
          </a:bodyPr>
          <a:lstStyle/>
          <a:p>
            <a:r>
              <a:rPr sz="1150" b="0">
                <a:solidFill>
                  <a:srgbClr val="252423"/>
                </a:solidFill>
                <a:latin typeface="Segoe UI"/>
              </a:rPr>
              <a:t>BPS over the forecast period to account</a:t>
            </a:r>
          </a:p>
        </p:txBody>
      </p:sp>
      <p:sp>
        <p:nvSpPr>
          <p:cNvPr id="42" name="TextBox 41"/>
          <p:cNvSpPr txBox="1"/>
          <p:nvPr/>
        </p:nvSpPr>
        <p:spPr>
          <a:xfrm>
            <a:off x="7829550" y="2854832"/>
            <a:ext cx="258191" cy="194310"/>
          </a:xfrm>
          <a:prstGeom prst="rect">
            <a:avLst/>
          </a:prstGeom>
          <a:noFill/>
        </p:spPr>
        <p:txBody>
          <a:bodyPr wrap="none" lIns="0" rIns="0" tIns="0" bIns="0">
            <a:spAutoFit/>
          </a:bodyPr>
          <a:lstStyle/>
          <a:p>
            <a:r>
              <a:rPr sz="1150" b="0">
                <a:solidFill>
                  <a:srgbClr val="252423"/>
                </a:solidFill>
                <a:latin typeface="Segoe UI"/>
              </a:rPr>
              <a:t>for</a:t>
            </a:r>
          </a:p>
        </p:txBody>
      </p:sp>
      <p:pic>
        <p:nvPicPr>
          <p:cNvPr id="43" name="Picture 42" descr="lock.png"/>
          <p:cNvPicPr>
            <a:picLocks noChangeAspect="1"/>
          </p:cNvPicPr>
          <p:nvPr/>
        </p:nvPicPr>
        <p:blipFill>
          <a:blip r:embed="rId5"/>
          <a:stretch>
            <a:fillRect/>
          </a:stretch>
        </p:blipFill>
        <p:spPr>
          <a:xfrm>
            <a:off x="8036895" y="2844609"/>
            <a:ext cx="134549" cy="195707"/>
          </a:xfrm>
          <a:prstGeom prst="rect">
            <a:avLst/>
          </a:prstGeom>
        </p:spPr>
      </p:pic>
      <p:sp>
        <p:nvSpPr>
          <p:cNvPr id="44" name="TextBox 43"/>
          <p:cNvSpPr txBox="1"/>
          <p:nvPr/>
        </p:nvSpPr>
        <p:spPr>
          <a:xfrm>
            <a:off x="8212005" y="285483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5"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Application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Application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Application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4 sub-segments of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Application segment categorizes the market by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and Biomedical Imaging</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Cryogenic Refrigeration and Ultra…</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Nuclear Fusion Research</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Neutron Detection and Radiation M…</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7" name="Rectangle 46"/>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49" name="Rounded Rectangle 4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1" name="Rectangle 50"/>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p:txBody>
      </p:sp>
      <p:sp>
        <p:nvSpPr>
          <p:cNvPr id="53" name="Rounded Rectangle 5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5" name="Rectangle 54"/>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Application split shows how demand is distributed across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7" name="Rectangle 5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59" name="TextBox 5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293_6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446_6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4_3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121_7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241_2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7_1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72_0_605E5C.png"/>
          <p:cNvPicPr>
            <a:picLocks noChangeAspect="1"/>
          </p:cNvPicPr>
          <p:nvPr/>
        </p:nvPicPr>
        <p:blipFill>
          <a:blip r:embed="rId10"/>
          <a:stretch>
            <a:fillRect/>
          </a:stretch>
        </p:blipFill>
        <p:spPr>
          <a:xfrm>
            <a:off x="7640751" y="2286582"/>
            <a:ext cx="982436" cy="361950"/>
          </a:xfrm>
          <a:prstGeom prst="rect">
            <a:avLst/>
          </a:prstGeom>
        </p:spPr>
      </p:pic>
      <p:pic>
        <p:nvPicPr>
          <p:cNvPr id="68" name="Picture 67" descr="119_9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5_2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60_5_605E5C.png"/>
          <p:cNvPicPr>
            <a:picLocks noChangeAspect="1"/>
          </p:cNvPicPr>
          <p:nvPr/>
        </p:nvPicPr>
        <p:blipFill>
          <a:blip r:embed="rId13"/>
          <a:stretch>
            <a:fillRect/>
          </a:stretch>
        </p:blipFill>
        <p:spPr>
          <a:xfrm>
            <a:off x="10169638" y="2286582"/>
            <a:ext cx="982436" cy="361950"/>
          </a:xfrm>
          <a:prstGeom prst="rect">
            <a:avLst/>
          </a:prstGeom>
        </p:spPr>
      </p:pic>
      <p:pic>
        <p:nvPicPr>
          <p:cNvPr id="71" name="Picture 70" descr="135_8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8_4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502236" cy="179984"/>
          </a:xfrm>
          <a:prstGeom prst="rect">
            <a:avLst/>
          </a:prstGeom>
          <a:noFill/>
        </p:spPr>
        <p:txBody>
          <a:bodyPr wrap="none" lIns="0" rIns="0" tIns="0" bIns="0">
            <a:spAutoFit/>
          </a:bodyPr>
          <a:lstStyle/>
          <a:p>
            <a:r>
              <a:rPr sz="1055" b="0">
                <a:solidFill>
                  <a:srgbClr val="252423"/>
                </a:solidFill>
                <a:latin typeface="Segoe UI"/>
              </a:rPr>
              <a:t>Among Helium-3 by application, neutron</a:t>
            </a:r>
          </a:p>
        </p:txBody>
      </p:sp>
      <p:sp>
        <p:nvSpPr>
          <p:cNvPr id="78" name="TextBox 77"/>
          <p:cNvSpPr txBox="1"/>
          <p:nvPr/>
        </p:nvSpPr>
        <p:spPr>
          <a:xfrm>
            <a:off x="485775" y="4390371"/>
            <a:ext cx="2833845" cy="179984"/>
          </a:xfrm>
          <a:prstGeom prst="rect">
            <a:avLst/>
          </a:prstGeom>
          <a:noFill/>
        </p:spPr>
        <p:txBody>
          <a:bodyPr wrap="none" lIns="0" rIns="0" tIns="0" bIns="0">
            <a:spAutoFit/>
          </a:bodyPr>
          <a:lstStyle/>
          <a:p>
            <a:r>
              <a:rPr sz="1055" b="0">
                <a:solidFill>
                  <a:srgbClr val="252423"/>
                </a:solidFill>
                <a:latin typeface="Segoe UI"/>
              </a:rPr>
              <a:t>detection and radiation monitoring segment is</a:t>
            </a:r>
          </a:p>
        </p:txBody>
      </p:sp>
      <p:sp>
        <p:nvSpPr>
          <p:cNvPr id="79" name="TextBox 78"/>
          <p:cNvSpPr txBox="1"/>
          <p:nvPr/>
        </p:nvSpPr>
        <p:spPr>
          <a:xfrm>
            <a:off x="485775" y="4551305"/>
            <a:ext cx="2482783" cy="179984"/>
          </a:xfrm>
          <a:prstGeom prst="rect">
            <a:avLst/>
          </a:prstGeom>
          <a:noFill/>
        </p:spPr>
        <p:txBody>
          <a:bodyPr wrap="none" lIns="0" rIns="0" tIns="0" bIns="0">
            <a:spAutoFit/>
          </a:bodyPr>
          <a:lstStyle/>
          <a:p>
            <a:r>
              <a:rPr sz="1055" b="0">
                <a:solidFill>
                  <a:srgbClr val="252423"/>
                </a:solidFill>
                <a:latin typeface="Segoe UI"/>
              </a:rPr>
              <a:t>expected to witness the highest CAGR of</a:t>
            </a:r>
          </a:p>
        </p:txBody>
      </p:sp>
      <p:pic>
        <p:nvPicPr>
          <p:cNvPr id="80" name="Picture 79" descr="lock.png"/>
          <p:cNvPicPr>
            <a:picLocks noChangeAspect="1"/>
          </p:cNvPicPr>
          <p:nvPr/>
        </p:nvPicPr>
        <p:blipFill>
          <a:blip r:embed="rId16"/>
          <a:stretch>
            <a:fillRect/>
          </a:stretch>
        </p:blipFill>
        <p:spPr>
          <a:xfrm>
            <a:off x="2915640" y="4541917"/>
            <a:ext cx="123551" cy="179710"/>
          </a:xfrm>
          <a:prstGeom prst="rect">
            <a:avLst/>
          </a:prstGeom>
        </p:spPr>
      </p:pic>
      <p:sp>
        <p:nvSpPr>
          <p:cNvPr id="81" name="TextBox 80"/>
          <p:cNvSpPr txBox="1"/>
          <p:nvPr/>
        </p:nvSpPr>
        <p:spPr>
          <a:xfrm>
            <a:off x="485775" y="4712240"/>
            <a:ext cx="2901818" cy="179984"/>
          </a:xfrm>
          <a:prstGeom prst="rect">
            <a:avLst/>
          </a:prstGeom>
          <a:noFill/>
        </p:spPr>
        <p:txBody>
          <a:bodyPr wrap="none" lIns="0" rIns="0" tIns="0" bIns="0">
            <a:spAutoFit/>
          </a:bodyPr>
          <a:lstStyle/>
          <a:p>
            <a:r>
              <a:rPr sz="1055" b="0">
                <a:solidFill>
                  <a:srgbClr val="252423"/>
                </a:solidFill>
                <a:latin typeface="Segoe UI"/>
              </a:rPr>
              <a:t>over the forecast period. In terms of value share</a:t>
            </a:r>
          </a:p>
        </p:txBody>
      </p:sp>
      <p:sp>
        <p:nvSpPr>
          <p:cNvPr id="82" name="TextBox 81"/>
          <p:cNvSpPr txBox="1"/>
          <p:nvPr/>
        </p:nvSpPr>
        <p:spPr>
          <a:xfrm>
            <a:off x="485775" y="4873174"/>
            <a:ext cx="2612016" cy="179984"/>
          </a:xfrm>
          <a:prstGeom prst="rect">
            <a:avLst/>
          </a:prstGeom>
          <a:noFill/>
        </p:spPr>
        <p:txBody>
          <a:bodyPr wrap="none" lIns="0" rIns="0" tIns="0" bIns="0">
            <a:spAutoFit/>
          </a:bodyPr>
          <a:lstStyle/>
          <a:p>
            <a:r>
              <a:rPr sz="1055" b="0">
                <a:solidFill>
                  <a:srgbClr val="252423"/>
                </a:solidFill>
                <a:latin typeface="Segoe UI"/>
              </a:rPr>
              <a:t>by application, the medical and biomedical</a:t>
            </a:r>
          </a:p>
        </p:txBody>
      </p:sp>
      <p:sp>
        <p:nvSpPr>
          <p:cNvPr id="83" name="TextBox 82"/>
          <p:cNvSpPr txBox="1"/>
          <p:nvPr/>
        </p:nvSpPr>
        <p:spPr>
          <a:xfrm>
            <a:off x="485775" y="5034109"/>
            <a:ext cx="2801348" cy="179984"/>
          </a:xfrm>
          <a:prstGeom prst="rect">
            <a:avLst/>
          </a:prstGeom>
          <a:noFill/>
        </p:spPr>
        <p:txBody>
          <a:bodyPr wrap="none" lIns="0" rIns="0" tIns="0" bIns="0">
            <a:spAutoFit/>
          </a:bodyPr>
          <a:lstStyle/>
          <a:p>
            <a:r>
              <a:rPr sz="1055" b="0">
                <a:solidFill>
                  <a:srgbClr val="252423"/>
                </a:solidFill>
                <a:latin typeface="Segoe UI"/>
              </a:rPr>
              <a:t>imaging segment is expected to dominate the</a:t>
            </a:r>
          </a:p>
        </p:txBody>
      </p:sp>
      <p:sp>
        <p:nvSpPr>
          <p:cNvPr id="84" name="TextBox 83"/>
          <p:cNvSpPr txBox="1"/>
          <p:nvPr/>
        </p:nvSpPr>
        <p:spPr>
          <a:xfrm>
            <a:off x="485775" y="5195043"/>
            <a:ext cx="910430" cy="179984"/>
          </a:xfrm>
          <a:prstGeom prst="rect">
            <a:avLst/>
          </a:prstGeom>
          <a:noFill/>
        </p:spPr>
        <p:txBody>
          <a:bodyPr wrap="none" lIns="0" rIns="0" tIns="0" bIns="0">
            <a:spAutoFit/>
          </a:bodyPr>
          <a:lstStyle/>
          <a:p>
            <a:r>
              <a:rPr sz="1055" b="0">
                <a:solidFill>
                  <a:srgbClr val="252423"/>
                </a:solidFill>
                <a:latin typeface="Segoe UI"/>
              </a:rPr>
              <a:t>market, losing</a:t>
            </a:r>
          </a:p>
        </p:txBody>
      </p:sp>
      <p:pic>
        <p:nvPicPr>
          <p:cNvPr id="85" name="Picture 84" descr="lock.png"/>
          <p:cNvPicPr>
            <a:picLocks noChangeAspect="1"/>
          </p:cNvPicPr>
          <p:nvPr/>
        </p:nvPicPr>
        <p:blipFill>
          <a:blip r:embed="rId16"/>
          <a:stretch>
            <a:fillRect/>
          </a:stretch>
        </p:blipFill>
        <p:spPr>
          <a:xfrm>
            <a:off x="1343286" y="5185655"/>
            <a:ext cx="123551" cy="179710"/>
          </a:xfrm>
          <a:prstGeom prst="rect">
            <a:avLst/>
          </a:prstGeom>
        </p:spPr>
      </p:pic>
      <p:sp>
        <p:nvSpPr>
          <p:cNvPr id="86" name="TextBox 85"/>
          <p:cNvSpPr txBox="1"/>
          <p:nvPr/>
        </p:nvSpPr>
        <p:spPr>
          <a:xfrm>
            <a:off x="1504082"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87" name="Picture 86" descr="lock.png"/>
          <p:cNvPicPr>
            <a:picLocks noChangeAspect="1"/>
          </p:cNvPicPr>
          <p:nvPr/>
        </p:nvPicPr>
        <p:blipFill>
          <a:blip r:embed="rId16"/>
          <a:stretch>
            <a:fillRect/>
          </a:stretch>
        </p:blipFill>
        <p:spPr>
          <a:xfrm>
            <a:off x="2907512" y="5185655"/>
            <a:ext cx="123551" cy="179710"/>
          </a:xfrm>
          <a:prstGeom prst="rect">
            <a:avLst/>
          </a:prstGeom>
        </p:spPr>
      </p:pic>
      <p:sp>
        <p:nvSpPr>
          <p:cNvPr id="88" name="TextBox 87"/>
          <p:cNvSpPr txBox="1"/>
          <p:nvPr/>
        </p:nvSpPr>
        <p:spPr>
          <a:xfrm>
            <a:off x="485775" y="5355977"/>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89" name="TextBox 88"/>
          <p:cNvSpPr txBox="1"/>
          <p:nvPr/>
        </p:nvSpPr>
        <p:spPr>
          <a:xfrm>
            <a:off x="485775" y="5565192"/>
            <a:ext cx="2684049" cy="179984"/>
          </a:xfrm>
          <a:prstGeom prst="rect">
            <a:avLst/>
          </a:prstGeom>
          <a:noFill/>
        </p:spPr>
        <p:txBody>
          <a:bodyPr wrap="none" lIns="0" rIns="0" tIns="0" bIns="0">
            <a:spAutoFit/>
          </a:bodyPr>
          <a:lstStyle/>
          <a:p>
            <a:r>
              <a:rPr sz="1055" b="0">
                <a:solidFill>
                  <a:srgbClr val="252423"/>
                </a:solidFill>
                <a:latin typeface="Segoe UI"/>
              </a:rPr>
              <a:t>Medical and biomedical imaging segment is</a:t>
            </a:r>
          </a:p>
        </p:txBody>
      </p:sp>
      <p:sp>
        <p:nvSpPr>
          <p:cNvPr id="90" name="TextBox 89"/>
          <p:cNvSpPr txBox="1"/>
          <p:nvPr/>
        </p:nvSpPr>
        <p:spPr>
          <a:xfrm>
            <a:off x="485775" y="5726126"/>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91" name="Picture 90" descr="lock.png"/>
          <p:cNvPicPr>
            <a:picLocks noChangeAspect="1"/>
          </p:cNvPicPr>
          <p:nvPr/>
        </p:nvPicPr>
        <p:blipFill>
          <a:blip r:embed="rId16"/>
          <a:stretch>
            <a:fillRect/>
          </a:stretch>
        </p:blipFill>
        <p:spPr>
          <a:xfrm>
            <a:off x="1717791" y="5716739"/>
            <a:ext cx="123551" cy="179710"/>
          </a:xfrm>
          <a:prstGeom prst="rect">
            <a:avLst/>
          </a:prstGeom>
        </p:spPr>
      </p:pic>
      <p:sp>
        <p:nvSpPr>
          <p:cNvPr id="92" name="TextBox 91"/>
          <p:cNvSpPr txBox="1"/>
          <p:nvPr/>
        </p:nvSpPr>
        <p:spPr>
          <a:xfrm>
            <a:off x="1878587" y="5726126"/>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93" name="TextBox 92"/>
          <p:cNvSpPr txBox="1"/>
          <p:nvPr/>
        </p:nvSpPr>
        <p:spPr>
          <a:xfrm>
            <a:off x="485775" y="5887061"/>
            <a:ext cx="1679830" cy="179984"/>
          </a:xfrm>
          <a:prstGeom prst="rect">
            <a:avLst/>
          </a:prstGeom>
          <a:noFill/>
        </p:spPr>
        <p:txBody>
          <a:bodyPr wrap="none" lIns="0" rIns="0" tIns="0" bIns="0">
            <a:spAutoFit/>
          </a:bodyPr>
          <a:lstStyle/>
          <a:p>
            <a:r>
              <a:rPr sz="1055" b="0">
                <a:solidFill>
                  <a:srgbClr val="252423"/>
                </a:solidFill>
                <a:latin typeface="Segoe UI"/>
              </a:rPr>
              <a:t>cryogenic refrigeration and</a:t>
            </a:r>
          </a:p>
        </p:txBody>
      </p:sp>
      <p:sp>
        <p:nvSpPr>
          <p:cNvPr id="94" name="TextBox 93"/>
          <p:cNvSpPr txBox="1"/>
          <p:nvPr/>
        </p:nvSpPr>
        <p:spPr>
          <a:xfrm>
            <a:off x="485775" y="6047995"/>
            <a:ext cx="2914650" cy="179984"/>
          </a:xfrm>
          <a:prstGeom prst="rect">
            <a:avLst/>
          </a:prstGeom>
          <a:noFill/>
        </p:spPr>
        <p:txBody>
          <a:bodyPr wrap="none" lIns="0" rIns="0" tIns="0" bIns="0">
            <a:spAutoFit/>
          </a:bodyPr>
          <a:lstStyle/>
          <a:p>
            <a:r>
              <a:rPr sz="1055" b="0">
                <a:solidFill>
                  <a:srgbClr val="252423"/>
                </a:solidFill>
                <a:latin typeface="Segoe UI"/>
              </a:rPr>
              <a:t>ultra-low-temperature cooling segment in 2036.</a:t>
            </a:r>
          </a:p>
        </p:txBody>
      </p:sp>
      <p:sp>
        <p:nvSpPr>
          <p:cNvPr id="95" name="TextBox 94"/>
          <p:cNvSpPr txBox="1"/>
          <p:nvPr/>
        </p:nvSpPr>
        <p:spPr>
          <a:xfrm>
            <a:off x="3838575" y="4229437"/>
            <a:ext cx="2242641" cy="186689"/>
          </a:xfrm>
          <a:prstGeom prst="rect">
            <a:avLst/>
          </a:prstGeom>
          <a:noFill/>
        </p:spPr>
        <p:txBody>
          <a:bodyPr wrap="none" lIns="0" rIns="0" tIns="0" bIns="0">
            <a:spAutoFit/>
          </a:bodyPr>
          <a:lstStyle/>
          <a:p>
            <a:r>
              <a:rPr sz="1100" b="0">
                <a:solidFill>
                  <a:srgbClr val="252423"/>
                </a:solidFill>
                <a:latin typeface="Segoe UI"/>
              </a:rPr>
              <a:t>● Medical and Biomedical Imaging:</a:t>
            </a:r>
          </a:p>
        </p:txBody>
      </p:sp>
      <p:pic>
        <p:nvPicPr>
          <p:cNvPr id="96" name="Picture 95" descr="lock.png"/>
          <p:cNvPicPr>
            <a:picLocks noChangeAspect="1"/>
          </p:cNvPicPr>
          <p:nvPr/>
        </p:nvPicPr>
        <p:blipFill>
          <a:blip r:embed="rId16"/>
          <a:stretch>
            <a:fillRect/>
          </a:stretch>
        </p:blipFill>
        <p:spPr>
          <a:xfrm>
            <a:off x="6029268" y="4219658"/>
            <a:ext cx="128699" cy="187198"/>
          </a:xfrm>
          <a:prstGeom prst="rect">
            <a:avLst/>
          </a:prstGeom>
        </p:spPr>
      </p:pic>
      <p:sp>
        <p:nvSpPr>
          <p:cNvPr id="97" name="TextBox 96"/>
          <p:cNvSpPr txBox="1"/>
          <p:nvPr/>
        </p:nvSpPr>
        <p:spPr>
          <a:xfrm>
            <a:off x="6196763" y="4229437"/>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98" name="Picture 97" descr="lock.png"/>
          <p:cNvPicPr>
            <a:picLocks noChangeAspect="1"/>
          </p:cNvPicPr>
          <p:nvPr/>
        </p:nvPicPr>
        <p:blipFill>
          <a:blip r:embed="rId16"/>
          <a:stretch>
            <a:fillRect/>
          </a:stretch>
        </p:blipFill>
        <p:spPr>
          <a:xfrm>
            <a:off x="7116710" y="4219658"/>
            <a:ext cx="128699" cy="187198"/>
          </a:xfrm>
          <a:prstGeom prst="rect">
            <a:avLst/>
          </a:prstGeom>
        </p:spPr>
      </p:pic>
      <p:sp>
        <p:nvSpPr>
          <p:cNvPr id="99" name="TextBox 98"/>
          <p:cNvSpPr txBox="1"/>
          <p:nvPr/>
        </p:nvSpPr>
        <p:spPr>
          <a:xfrm>
            <a:off x="7284206" y="4229437"/>
            <a:ext cx="431968"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100" name="TextBox 99"/>
          <p:cNvSpPr txBox="1"/>
          <p:nvPr/>
        </p:nvSpPr>
        <p:spPr>
          <a:xfrm>
            <a:off x="3838575" y="4397077"/>
            <a:ext cx="1237183" cy="186689"/>
          </a:xfrm>
          <a:prstGeom prst="rect">
            <a:avLst/>
          </a:prstGeom>
          <a:noFill/>
        </p:spPr>
        <p:txBody>
          <a:bodyPr wrap="none" lIns="0" rIns="0" tIns="0" bIns="0">
            <a:spAutoFit/>
          </a:bodyPr>
          <a:lstStyle/>
          <a:p>
            <a:r>
              <a:rPr sz="1100" b="0">
                <a:solidFill>
                  <a:srgbClr val="252423"/>
                </a:solidFill>
                <a:latin typeface="Segoe UI"/>
              </a:rPr>
              <a:t>leads the segment.</a:t>
            </a:r>
          </a:p>
        </p:txBody>
      </p:sp>
      <p:sp>
        <p:nvSpPr>
          <p:cNvPr id="101" name="TextBox 100"/>
          <p:cNvSpPr txBox="1"/>
          <p:nvPr/>
        </p:nvSpPr>
        <p:spPr>
          <a:xfrm>
            <a:off x="3838575" y="4615009"/>
            <a:ext cx="3646825" cy="186689"/>
          </a:xfrm>
          <a:prstGeom prst="rect">
            <a:avLst/>
          </a:prstGeom>
          <a:noFill/>
        </p:spPr>
        <p:txBody>
          <a:bodyPr wrap="none" lIns="0" rIns="0" tIns="0" bIns="0">
            <a:spAutoFit/>
          </a:bodyPr>
          <a:lstStyle/>
          <a:p>
            <a:r>
              <a:rPr sz="1100" b="1">
                <a:solidFill>
                  <a:srgbClr val="1668A8"/>
                </a:solidFill>
                <a:latin typeface="Segoe UI"/>
              </a:rPr>
              <a:t>● Cryogenic Refrigeration and Ultra-Low-Temperature</a:t>
            </a:r>
          </a:p>
        </p:txBody>
      </p:sp>
      <p:sp>
        <p:nvSpPr>
          <p:cNvPr id="102" name="TextBox 101"/>
          <p:cNvSpPr txBox="1"/>
          <p:nvPr/>
        </p:nvSpPr>
        <p:spPr>
          <a:xfrm>
            <a:off x="3838575" y="4782649"/>
            <a:ext cx="622994" cy="186689"/>
          </a:xfrm>
          <a:prstGeom prst="rect">
            <a:avLst/>
          </a:prstGeom>
          <a:noFill/>
        </p:spPr>
        <p:txBody>
          <a:bodyPr wrap="none" lIns="0" rIns="0" tIns="0" bIns="0">
            <a:spAutoFit/>
          </a:bodyPr>
          <a:lstStyle/>
          <a:p>
            <a:r>
              <a:rPr sz="1100" b="1">
                <a:solidFill>
                  <a:srgbClr val="1668A8"/>
                </a:solidFill>
                <a:latin typeface="Segoe UI"/>
              </a:rPr>
              <a:t>Cooling:</a:t>
            </a:r>
          </a:p>
        </p:txBody>
      </p:sp>
      <p:pic>
        <p:nvPicPr>
          <p:cNvPr id="103" name="Picture 102" descr="lock.png"/>
          <p:cNvPicPr>
            <a:picLocks noChangeAspect="1"/>
          </p:cNvPicPr>
          <p:nvPr/>
        </p:nvPicPr>
        <p:blipFill>
          <a:blip r:embed="rId16"/>
          <a:stretch>
            <a:fillRect/>
          </a:stretch>
        </p:blipFill>
        <p:spPr>
          <a:xfrm>
            <a:off x="4409621" y="4772870"/>
            <a:ext cx="128699" cy="187198"/>
          </a:xfrm>
          <a:prstGeom prst="rect">
            <a:avLst/>
          </a:prstGeom>
        </p:spPr>
      </p:pic>
      <p:sp>
        <p:nvSpPr>
          <p:cNvPr id="104" name="TextBox 103"/>
          <p:cNvSpPr txBox="1"/>
          <p:nvPr/>
        </p:nvSpPr>
        <p:spPr>
          <a:xfrm>
            <a:off x="4577116" y="4782649"/>
            <a:ext cx="1041480" cy="186689"/>
          </a:xfrm>
          <a:prstGeom prst="rect">
            <a:avLst/>
          </a:prstGeom>
          <a:noFill/>
        </p:spPr>
        <p:txBody>
          <a:bodyPr wrap="none" lIns="0" rIns="0" tIns="0" bIns="0">
            <a:spAutoFit/>
          </a:bodyPr>
          <a:lstStyle/>
          <a:p>
            <a:r>
              <a:rPr sz="1100" b="1">
                <a:solidFill>
                  <a:srgbClr val="1668A8"/>
                </a:solidFill>
                <a:latin typeface="Segoe UI"/>
              </a:rPr>
              <a:t>of 2026 value ·</a:t>
            </a:r>
          </a:p>
        </p:txBody>
      </p:sp>
      <p:pic>
        <p:nvPicPr>
          <p:cNvPr id="105" name="Picture 104" descr="lock.png"/>
          <p:cNvPicPr>
            <a:picLocks noChangeAspect="1"/>
          </p:cNvPicPr>
          <p:nvPr/>
        </p:nvPicPr>
        <p:blipFill>
          <a:blip r:embed="rId16"/>
          <a:stretch>
            <a:fillRect/>
          </a:stretch>
        </p:blipFill>
        <p:spPr>
          <a:xfrm>
            <a:off x="5566649" y="4772870"/>
            <a:ext cx="128699" cy="187198"/>
          </a:xfrm>
          <a:prstGeom prst="rect">
            <a:avLst/>
          </a:prstGeom>
        </p:spPr>
      </p:pic>
      <p:sp>
        <p:nvSpPr>
          <p:cNvPr id="106" name="TextBox 105"/>
          <p:cNvSpPr txBox="1"/>
          <p:nvPr/>
        </p:nvSpPr>
        <p:spPr>
          <a:xfrm>
            <a:off x="5734144" y="4782649"/>
            <a:ext cx="1437503" cy="186689"/>
          </a:xfrm>
          <a:prstGeom prst="rect">
            <a:avLst/>
          </a:prstGeom>
          <a:noFill/>
        </p:spPr>
        <p:txBody>
          <a:bodyPr wrap="none" lIns="0" rIns="0" tIns="0" bIns="0">
            <a:spAutoFit/>
          </a:bodyPr>
          <a:lstStyle/>
          <a:p>
            <a:r>
              <a:rPr sz="1100" b="1">
                <a:solidFill>
                  <a:srgbClr val="1668A8"/>
                </a:solidFill>
                <a:latin typeface="Segoe UI"/>
              </a:rPr>
              <a:t>CAGR serves a niche.</a:t>
            </a:r>
          </a:p>
        </p:txBody>
      </p:sp>
      <p:sp>
        <p:nvSpPr>
          <p:cNvPr id="107" name="TextBox 106"/>
          <p:cNvSpPr txBox="1"/>
          <p:nvPr/>
        </p:nvSpPr>
        <p:spPr>
          <a:xfrm>
            <a:off x="3838575" y="5000581"/>
            <a:ext cx="1734229" cy="186689"/>
          </a:xfrm>
          <a:prstGeom prst="rect">
            <a:avLst/>
          </a:prstGeom>
          <a:noFill/>
        </p:spPr>
        <p:txBody>
          <a:bodyPr wrap="none" lIns="0" rIns="0" tIns="0" bIns="0">
            <a:spAutoFit/>
          </a:bodyPr>
          <a:lstStyle/>
          <a:p>
            <a:r>
              <a:rPr sz="1100" b="0">
                <a:solidFill>
                  <a:srgbClr val="252423"/>
                </a:solidFill>
                <a:latin typeface="Segoe UI"/>
              </a:rPr>
              <a:t>● Nuclear Fusion Research:</a:t>
            </a:r>
          </a:p>
        </p:txBody>
      </p:sp>
      <p:pic>
        <p:nvPicPr>
          <p:cNvPr id="108" name="Picture 107" descr="lock.png"/>
          <p:cNvPicPr>
            <a:picLocks noChangeAspect="1"/>
          </p:cNvPicPr>
          <p:nvPr/>
        </p:nvPicPr>
        <p:blipFill>
          <a:blip r:embed="rId16"/>
          <a:stretch>
            <a:fillRect/>
          </a:stretch>
        </p:blipFill>
        <p:spPr>
          <a:xfrm>
            <a:off x="5520856" y="4990801"/>
            <a:ext cx="128699" cy="187198"/>
          </a:xfrm>
          <a:prstGeom prst="rect">
            <a:avLst/>
          </a:prstGeom>
        </p:spPr>
      </p:pic>
      <p:sp>
        <p:nvSpPr>
          <p:cNvPr id="109" name="TextBox 108"/>
          <p:cNvSpPr txBox="1"/>
          <p:nvPr/>
        </p:nvSpPr>
        <p:spPr>
          <a:xfrm>
            <a:off x="5688351" y="5000581"/>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0" name="Picture 109" descr="lock.png"/>
          <p:cNvPicPr>
            <a:picLocks noChangeAspect="1"/>
          </p:cNvPicPr>
          <p:nvPr/>
        </p:nvPicPr>
        <p:blipFill>
          <a:blip r:embed="rId16"/>
          <a:stretch>
            <a:fillRect/>
          </a:stretch>
        </p:blipFill>
        <p:spPr>
          <a:xfrm>
            <a:off x="6608298" y="4990801"/>
            <a:ext cx="128699" cy="187198"/>
          </a:xfrm>
          <a:prstGeom prst="rect">
            <a:avLst/>
          </a:prstGeom>
        </p:spPr>
      </p:pic>
      <p:sp>
        <p:nvSpPr>
          <p:cNvPr id="111" name="TextBox 110"/>
          <p:cNvSpPr txBox="1"/>
          <p:nvPr/>
        </p:nvSpPr>
        <p:spPr>
          <a:xfrm>
            <a:off x="6775794" y="5000581"/>
            <a:ext cx="959740" cy="186689"/>
          </a:xfrm>
          <a:prstGeom prst="rect">
            <a:avLst/>
          </a:prstGeom>
          <a:noFill/>
        </p:spPr>
        <p:txBody>
          <a:bodyPr wrap="none" lIns="0" rIns="0" tIns="0" bIns="0">
            <a:spAutoFit/>
          </a:bodyPr>
          <a:lstStyle/>
          <a:p>
            <a:r>
              <a:rPr sz="1100" b="0">
                <a:solidFill>
                  <a:srgbClr val="252423"/>
                </a:solidFill>
                <a:latin typeface="Segoe UI"/>
              </a:rPr>
              <a:t>CAGR serves a</a:t>
            </a:r>
          </a:p>
        </p:txBody>
      </p:sp>
      <p:sp>
        <p:nvSpPr>
          <p:cNvPr id="112" name="TextBox 111"/>
          <p:cNvSpPr txBox="1"/>
          <p:nvPr/>
        </p:nvSpPr>
        <p:spPr>
          <a:xfrm>
            <a:off x="3838575" y="5168221"/>
            <a:ext cx="436364" cy="186689"/>
          </a:xfrm>
          <a:prstGeom prst="rect">
            <a:avLst/>
          </a:prstGeom>
          <a:noFill/>
        </p:spPr>
        <p:txBody>
          <a:bodyPr wrap="none" lIns="0" rIns="0" tIns="0" bIns="0">
            <a:spAutoFit/>
          </a:bodyPr>
          <a:lstStyle/>
          <a:p>
            <a:r>
              <a:rPr sz="1100" b="0">
                <a:solidFill>
                  <a:srgbClr val="252423"/>
                </a:solidFill>
                <a:latin typeface="Segoe UI"/>
              </a:rPr>
              <a:t>niche.</a:t>
            </a:r>
          </a:p>
        </p:txBody>
      </p:sp>
      <p:sp>
        <p:nvSpPr>
          <p:cNvPr id="113" name="TextBox 112"/>
          <p:cNvSpPr txBox="1"/>
          <p:nvPr/>
        </p:nvSpPr>
        <p:spPr>
          <a:xfrm>
            <a:off x="3838575" y="5386153"/>
            <a:ext cx="3004924" cy="186689"/>
          </a:xfrm>
          <a:prstGeom prst="rect">
            <a:avLst/>
          </a:prstGeom>
          <a:noFill/>
        </p:spPr>
        <p:txBody>
          <a:bodyPr wrap="none" lIns="0" rIns="0" tIns="0" bIns="0">
            <a:spAutoFit/>
          </a:bodyPr>
          <a:lstStyle/>
          <a:p>
            <a:r>
              <a:rPr sz="1100" b="0">
                <a:solidFill>
                  <a:srgbClr val="252423"/>
                </a:solidFill>
                <a:latin typeface="Segoe UI"/>
              </a:rPr>
              <a:t>● Neutron Detection and Radiation Monitoring:</a:t>
            </a:r>
          </a:p>
        </p:txBody>
      </p:sp>
      <p:pic>
        <p:nvPicPr>
          <p:cNvPr id="114" name="Picture 113" descr="lock.png"/>
          <p:cNvPicPr>
            <a:picLocks noChangeAspect="1"/>
          </p:cNvPicPr>
          <p:nvPr/>
        </p:nvPicPr>
        <p:blipFill>
          <a:blip r:embed="rId16"/>
          <a:stretch>
            <a:fillRect/>
          </a:stretch>
        </p:blipFill>
        <p:spPr>
          <a:xfrm>
            <a:off x="6791551" y="5376373"/>
            <a:ext cx="128699" cy="187198"/>
          </a:xfrm>
          <a:prstGeom prst="rect">
            <a:avLst/>
          </a:prstGeom>
        </p:spPr>
      </p:pic>
      <p:sp>
        <p:nvSpPr>
          <p:cNvPr id="115" name="TextBox 114"/>
          <p:cNvSpPr txBox="1"/>
          <p:nvPr/>
        </p:nvSpPr>
        <p:spPr>
          <a:xfrm>
            <a:off x="6959047" y="5386153"/>
            <a:ext cx="971894" cy="186689"/>
          </a:xfrm>
          <a:prstGeom prst="rect">
            <a:avLst/>
          </a:prstGeom>
          <a:noFill/>
        </p:spPr>
        <p:txBody>
          <a:bodyPr wrap="none" lIns="0" rIns="0" tIns="0" bIns="0">
            <a:spAutoFit/>
          </a:bodyPr>
          <a:lstStyle/>
          <a:p>
            <a:r>
              <a:rPr sz="1100" b="0">
                <a:solidFill>
                  <a:srgbClr val="252423"/>
                </a:solidFill>
                <a:latin typeface="Segoe UI"/>
              </a:rPr>
              <a:t>of 2026 value ·</a:t>
            </a:r>
          </a:p>
        </p:txBody>
      </p:sp>
      <p:pic>
        <p:nvPicPr>
          <p:cNvPr id="116" name="Picture 115" descr="lock.png"/>
          <p:cNvPicPr>
            <a:picLocks noChangeAspect="1"/>
          </p:cNvPicPr>
          <p:nvPr/>
        </p:nvPicPr>
        <p:blipFill>
          <a:blip r:embed="rId16"/>
          <a:stretch>
            <a:fillRect/>
          </a:stretch>
        </p:blipFill>
        <p:spPr>
          <a:xfrm>
            <a:off x="3825107" y="5544013"/>
            <a:ext cx="128699" cy="187198"/>
          </a:xfrm>
          <a:prstGeom prst="rect">
            <a:avLst/>
          </a:prstGeom>
        </p:spPr>
      </p:pic>
      <p:sp>
        <p:nvSpPr>
          <p:cNvPr id="117" name="TextBox 116"/>
          <p:cNvSpPr txBox="1"/>
          <p:nvPr/>
        </p:nvSpPr>
        <p:spPr>
          <a:xfrm>
            <a:off x="3992603" y="5553793"/>
            <a:ext cx="1312959" cy="186689"/>
          </a:xfrm>
          <a:prstGeom prst="rect">
            <a:avLst/>
          </a:prstGeom>
          <a:noFill/>
        </p:spPr>
        <p:txBody>
          <a:bodyPr wrap="none" lIns="0" rIns="0" tIns="0" bIns="0">
            <a:spAutoFit/>
          </a:bodyPr>
          <a:lstStyle/>
          <a:p>
            <a:r>
              <a:rPr sz="1100" b="0">
                <a:solidFill>
                  <a:srgbClr val="252423"/>
                </a:solidFill>
                <a:latin typeface="Segoe UI"/>
              </a:rPr>
              <a:t>CAGR grows fastest.</a:t>
            </a:r>
          </a:p>
        </p:txBody>
      </p:sp>
      <p:sp>
        <p:nvSpPr>
          <p:cNvPr id="118" name="TextBox 117"/>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Application segment is projected to grow</a:t>
            </a:r>
          </a:p>
        </p:txBody>
      </p:sp>
      <p:sp>
        <p:nvSpPr>
          <p:cNvPr id="119" name="TextBox 118"/>
          <p:cNvSpPr txBox="1"/>
          <p:nvPr/>
        </p:nvSpPr>
        <p:spPr>
          <a:xfrm>
            <a:off x="8524875" y="6017901"/>
            <a:ext cx="949304" cy="194310"/>
          </a:xfrm>
          <a:prstGeom prst="rect">
            <a:avLst/>
          </a:prstGeom>
          <a:noFill/>
        </p:spPr>
        <p:txBody>
          <a:bodyPr wrap="none" lIns="0" rIns="0" tIns="0" bIns="0">
            <a:spAutoFit/>
          </a:bodyPr>
          <a:lstStyle/>
          <a:p>
            <a:r>
              <a:rPr sz="1150" b="1">
                <a:solidFill>
                  <a:srgbClr val="0E3A5F"/>
                </a:solidFill>
                <a:latin typeface="Segoe UI"/>
              </a:rPr>
              <a:t>at a CAGR of</a:t>
            </a:r>
          </a:p>
        </p:txBody>
      </p:sp>
      <p:pic>
        <p:nvPicPr>
          <p:cNvPr id="120" name="Picture 119" descr="lock.png"/>
          <p:cNvPicPr>
            <a:picLocks noChangeAspect="1"/>
          </p:cNvPicPr>
          <p:nvPr/>
        </p:nvPicPr>
        <p:blipFill>
          <a:blip r:embed="rId16"/>
          <a:stretch>
            <a:fillRect/>
          </a:stretch>
        </p:blipFill>
        <p:spPr>
          <a:xfrm>
            <a:off x="9423333" y="6007677"/>
            <a:ext cx="134549" cy="195707"/>
          </a:xfrm>
          <a:prstGeom prst="rect">
            <a:avLst/>
          </a:prstGeom>
        </p:spPr>
      </p:pic>
      <p:sp>
        <p:nvSpPr>
          <p:cNvPr id="121" name="TextBox 120"/>
          <p:cNvSpPr txBox="1"/>
          <p:nvPr/>
        </p:nvSpPr>
        <p:spPr>
          <a:xfrm>
            <a:off x="9598442"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Structure &amp; Attractiveness, By Application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Application mix within each country and the attractiveness of each sub-segment on growth and size</a:t>
            </a:r>
          </a:p>
        </p:txBody>
      </p:sp>
      <p:sp>
        <p:nvSpPr>
          <p:cNvPr id="8" name="Rectangle 7"/>
          <p:cNvSpPr/>
          <p:nvPr/>
        </p:nvSpPr>
        <p:spPr>
          <a:xfrm>
            <a:off x="142875" y="981075"/>
            <a:ext cx="6343650"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Application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276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Application · Bubble size represents 2036 value</a:t>
            </a:r>
          </a:p>
        </p:txBody>
      </p:sp>
      <p:graphicFrame>
        <p:nvGraphicFramePr>
          <p:cNvPr id="13" name="Chart 12"/>
          <p:cNvGraphicFramePr>
            <a:graphicFrameLocks noGrp="1"/>
          </p:cNvGraphicFramePr>
          <p:nvPr/>
        </p:nvGraphicFramePr>
        <p:xfrm>
          <a:off x="6734175" y="1266825"/>
          <a:ext cx="5210175" cy="3933825"/>
        </p:xfrm>
        <a:graphic>
          <a:graphicData uri="http://schemas.openxmlformats.org/drawingml/2006/chart">
            <c:chart xmlns:c="http://schemas.openxmlformats.org/drawingml/2006/chart" r:id="rId4"/>
          </a:graphicData>
        </a:graphic>
      </p:graphicFrame>
      <p:sp>
        <p:nvSpPr>
          <p:cNvPr id="14" name="Rectangle 13"/>
          <p:cNvSpPr/>
          <p:nvPr/>
        </p:nvSpPr>
        <p:spPr>
          <a:xfrm>
            <a:off x="142875" y="5391150"/>
            <a:ext cx="11906250" cy="1228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5876" y="3002024"/>
            <a:ext cx="318605" cy="463425"/>
          </a:xfrm>
          <a:prstGeom prst="rect">
            <a:avLst/>
          </a:prstGeom>
        </p:spPr>
      </p:pic>
      <p:sp>
        <p:nvSpPr>
          <p:cNvPr id="17" name="TextBox 16"/>
          <p:cNvSpPr txBox="1"/>
          <p:nvPr/>
        </p:nvSpPr>
        <p:spPr>
          <a:xfrm>
            <a:off x="257175" y="5670232"/>
            <a:ext cx="11405657" cy="186689"/>
          </a:xfrm>
          <a:prstGeom prst="rect">
            <a:avLst/>
          </a:prstGeom>
          <a:noFill/>
        </p:spPr>
        <p:txBody>
          <a:bodyPr wrap="none" lIns="0" rIns="0" tIns="0" bIns="0">
            <a:spAutoFit/>
          </a:bodyPr>
          <a:lstStyle/>
          <a:p>
            <a:r>
              <a:rPr sz="1100" b="0">
                <a:solidFill>
                  <a:srgbClr val="252423"/>
                </a:solidFill>
                <a:latin typeface="Segoe UI"/>
              </a:rPr>
              <a:t>Medical and biomedical imaging followed by cryogenic refrigeration and ultra-low-temperature cooling are expected to be the two most attractive application segments in the Western</a:t>
            </a:r>
          </a:p>
        </p:txBody>
      </p:sp>
      <p:sp>
        <p:nvSpPr>
          <p:cNvPr id="18" name="TextBox 17"/>
          <p:cNvSpPr txBox="1"/>
          <p:nvPr/>
        </p:nvSpPr>
        <p:spPr>
          <a:xfrm>
            <a:off x="257175" y="5837872"/>
            <a:ext cx="11677650" cy="186689"/>
          </a:xfrm>
          <a:prstGeom prst="rect">
            <a:avLst/>
          </a:prstGeom>
          <a:noFill/>
        </p:spPr>
        <p:txBody>
          <a:bodyPr wrap="none" lIns="0" rIns="0" tIns="0" bIns="0">
            <a:spAutoFit/>
          </a:bodyPr>
          <a:lstStyle/>
          <a:p>
            <a:r>
              <a:rPr sz="1100" b="0">
                <a:solidFill>
                  <a:srgbClr val="252423"/>
                </a:solidFill>
                <a:latin typeface="Segoe UI"/>
              </a:rPr>
              <a:t>Europe Helium-3 market in terms of value over the forecast period. Medical and biomedical imaging and cryogenic refrigeration and Ultra-Low-Temperature cooling exhibit a CAGR index of</a:t>
            </a:r>
          </a:p>
        </p:txBody>
      </p:sp>
      <p:pic>
        <p:nvPicPr>
          <p:cNvPr id="19" name="Picture 18" descr="lock.png"/>
          <p:cNvPicPr>
            <a:picLocks noChangeAspect="1"/>
          </p:cNvPicPr>
          <p:nvPr/>
        </p:nvPicPr>
        <p:blipFill>
          <a:blip r:embed="rId6"/>
          <a:stretch>
            <a:fillRect/>
          </a:stretch>
        </p:blipFill>
        <p:spPr>
          <a:xfrm>
            <a:off x="243707" y="5995733"/>
            <a:ext cx="128699" cy="187198"/>
          </a:xfrm>
          <a:prstGeom prst="rect">
            <a:avLst/>
          </a:prstGeom>
        </p:spPr>
      </p:pic>
      <p:sp>
        <p:nvSpPr>
          <p:cNvPr id="20" name="TextBox 19"/>
          <p:cNvSpPr txBox="1"/>
          <p:nvPr/>
        </p:nvSpPr>
        <p:spPr>
          <a:xfrm>
            <a:off x="411203"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668197" y="5995733"/>
            <a:ext cx="128699" cy="187198"/>
          </a:xfrm>
          <a:prstGeom prst="rect">
            <a:avLst/>
          </a:prstGeom>
        </p:spPr>
      </p:pic>
      <p:sp>
        <p:nvSpPr>
          <p:cNvPr id="22" name="TextBox 21"/>
          <p:cNvSpPr txBox="1"/>
          <p:nvPr/>
        </p:nvSpPr>
        <p:spPr>
          <a:xfrm>
            <a:off x="835693" y="6005512"/>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574433" y="5995733"/>
            <a:ext cx="128699" cy="187198"/>
          </a:xfrm>
          <a:prstGeom prst="rect">
            <a:avLst/>
          </a:prstGeom>
        </p:spPr>
      </p:pic>
      <p:sp>
        <p:nvSpPr>
          <p:cNvPr id="24" name="TextBox 23"/>
          <p:cNvSpPr txBox="1"/>
          <p:nvPr/>
        </p:nvSpPr>
        <p:spPr>
          <a:xfrm>
            <a:off x="2741929" y="6005512"/>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2998922" y="5995733"/>
            <a:ext cx="128699" cy="187198"/>
          </a:xfrm>
          <a:prstGeom prst="rect">
            <a:avLst/>
          </a:prstGeom>
        </p:spPr>
      </p:pic>
      <p:sp>
        <p:nvSpPr>
          <p:cNvPr id="26" name="TextBox 25"/>
          <p:cNvSpPr txBox="1"/>
          <p:nvPr/>
        </p:nvSpPr>
        <p:spPr>
          <a:xfrm>
            <a:off x="3166418" y="6005512"/>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5926352" y="5995733"/>
            <a:ext cx="128699" cy="187198"/>
          </a:xfrm>
          <a:prstGeom prst="rect">
            <a:avLst/>
          </a:prstGeom>
        </p:spPr>
      </p:pic>
      <p:sp>
        <p:nvSpPr>
          <p:cNvPr id="28" name="TextBox 27"/>
          <p:cNvSpPr txBox="1"/>
          <p:nvPr/>
        </p:nvSpPr>
        <p:spPr>
          <a:xfrm>
            <a:off x="6093848" y="6005512"/>
            <a:ext cx="5196911" cy="186689"/>
          </a:xfrm>
          <a:prstGeom prst="rect">
            <a:avLst/>
          </a:prstGeom>
          <a:noFill/>
        </p:spPr>
        <p:txBody>
          <a:bodyPr wrap="none" lIns="0" rIns="0" tIns="0" bIns="0">
            <a:spAutoFit/>
          </a:bodyPr>
          <a:lstStyle/>
          <a:p>
            <a:r>
              <a:rPr sz="1100" b="0">
                <a:solidFill>
                  <a:srgbClr val="252423"/>
                </a:solidFill>
                <a:latin typeface="Segoe UI"/>
              </a:rPr>
              <a:t>. The nuclear fusion research segment is expected to be less attractive as compared</a:t>
            </a:r>
          </a:p>
        </p:txBody>
      </p:sp>
      <p:sp>
        <p:nvSpPr>
          <p:cNvPr id="29" name="TextBox 28"/>
          <p:cNvSpPr txBox="1"/>
          <p:nvPr/>
        </p:nvSpPr>
        <p:spPr>
          <a:xfrm>
            <a:off x="257175" y="6173152"/>
            <a:ext cx="10834664" cy="186689"/>
          </a:xfrm>
          <a:prstGeom prst="rect">
            <a:avLst/>
          </a:prstGeom>
          <a:noFill/>
        </p:spPr>
        <p:txBody>
          <a:bodyPr wrap="none" lIns="0" rIns="0" tIns="0" bIns="0">
            <a:spAutoFit/>
          </a:bodyPr>
          <a:lstStyle/>
          <a:p>
            <a:r>
              <a:rPr sz="1100" b="0">
                <a:solidFill>
                  <a:srgbClr val="252423"/>
                </a:solidFill>
                <a:latin typeface="Segoe UI"/>
              </a:rPr>
              <a:t>to other segments over the forecast period, owing to its lower CAGR and incremental opportunity. Bubbles right of the CAGR-Index line grow faster than the segment average.</a:t>
            </a:r>
          </a:p>
        </p:txBody>
      </p:sp>
      <p:sp>
        <p:nvSpPr>
          <p:cNvPr id="30" name="lockshield_10"/>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266825"/>
            <a:ext cx="5210175" cy="3933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Absolute $ Opportunity Analysis, By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Application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Neutron Detection and Radiation Monitoring</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Cryogenic Refrigeration and Ultra-Low-Temperature Cooling</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Medical and Biomedical Imaging</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Nuclear Fusion Research</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Analysis, By Application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Application, 2021–2036, highlighting the sub-segments driving growth</a:t>
            </a:r>
          </a:p>
        </p:txBody>
      </p:sp>
      <p:sp>
        <p:nvSpPr>
          <p:cNvPr id="8" name="Rectangle 7"/>
          <p:cNvSpPr/>
          <p:nvPr/>
        </p:nvSpPr>
        <p:spPr>
          <a:xfrm>
            <a:off x="142875" y="981075"/>
            <a:ext cx="119062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Application (US$ Mn)</a:t>
            </a:r>
          </a:p>
        </p:txBody>
      </p:sp>
      <p:graphicFrame>
        <p:nvGraphicFramePr>
          <p:cNvPr id="10" name="Table 9"/>
          <p:cNvGraphicFramePr>
            <a:graphicFrameLocks noGrp="1"/>
          </p:cNvGraphicFramePr>
          <p:nvPr/>
        </p:nvGraphicFramePr>
        <p:xfrm>
          <a:off x="152400" y="1238250"/>
          <a:ext cx="11887195" cy="1866898"/>
        </p:xfrm>
        <a:graphic>
          <a:graphicData uri="http://schemas.openxmlformats.org/drawingml/2006/table">
            <a:tbl>
              <a:tblPr>
                <a:tableStyleId>{5C22544A-7EE6-4342-B048-85BDC9FD1C3A}</a:tableStyleId>
              </a:tblPr>
              <a:tblGrid>
                <a:gridCol w="3930458"/>
                <a:gridCol w="486513"/>
                <a:gridCol w="486513"/>
                <a:gridCol w="486513"/>
                <a:gridCol w="486513"/>
                <a:gridCol w="486513"/>
                <a:gridCol w="461986"/>
                <a:gridCol w="461986"/>
                <a:gridCol w="461986"/>
                <a:gridCol w="461986"/>
                <a:gridCol w="461986"/>
                <a:gridCol w="461986"/>
                <a:gridCol w="461986"/>
                <a:gridCol w="461986"/>
                <a:gridCol w="461986"/>
                <a:gridCol w="461986"/>
                <a:gridCol w="461986"/>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247040">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26">
                <a:tc>
                  <a:txBody>
                    <a:bodyPr wrap="none"/>
                    <a:lstStyle/>
                    <a:p>
                      <a:pPr algn="l"/>
                      <a:r>
                        <a:rPr sz="1100" b="1">
                          <a:solidFill>
                            <a:srgbClr val="252423"/>
                          </a:solidFill>
                          <a:latin typeface="Segoe UI"/>
                        </a:rPr>
                        <a:t>Cryogenic Refrigeration and Ultra-Low-Temperature</a:t>
                      </a:r>
                      <a:endParaRPr sz="1100"/>
                    </a:p>
                    <a:p>
                      <a:pPr algn="l"/>
                      <a:r>
                        <a:rPr sz="1100" b="1">
                          <a:solidFill>
                            <a:srgbClr val="252423"/>
                          </a:solidFill>
                          <a:latin typeface="Segoe UI"/>
                        </a:rPr>
                        <a:t>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040">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Total</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r>
            </a:tbl>
          </a:graphicData>
        </a:graphic>
      </p:graphicFrame>
      <p:sp>
        <p:nvSpPr>
          <p:cNvPr id="11" name="TextBox 10"/>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448050"/>
            <a:ext cx="11906250" cy="3181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53377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Analysis, By Application</a:t>
            </a:r>
          </a:p>
        </p:txBody>
      </p:sp>
      <p:sp>
        <p:nvSpPr>
          <p:cNvPr id="14" name="Rectangle 13"/>
          <p:cNvSpPr/>
          <p:nvPr/>
        </p:nvSpPr>
        <p:spPr>
          <a:xfrm>
            <a:off x="276225" y="37719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57625"/>
            <a:ext cx="1163955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874536" y="2124454"/>
            <a:ext cx="366712" cy="533400"/>
          </a:xfrm>
          <a:prstGeom prst="rect">
            <a:avLst/>
          </a:prstGeom>
        </p:spPr>
      </p:pic>
      <p:sp>
        <p:nvSpPr>
          <p:cNvPr id="18" name="TextBox 17"/>
          <p:cNvSpPr txBox="1"/>
          <p:nvPr/>
        </p:nvSpPr>
        <p:spPr>
          <a:xfrm>
            <a:off x="276225" y="3867150"/>
            <a:ext cx="4272454" cy="194310"/>
          </a:xfrm>
          <a:prstGeom prst="rect">
            <a:avLst/>
          </a:prstGeom>
          <a:noFill/>
        </p:spPr>
        <p:txBody>
          <a:bodyPr wrap="none" lIns="0" rIns="0" tIns="0" bIns="0">
            <a:spAutoFit/>
          </a:bodyPr>
          <a:lstStyle/>
          <a:p>
            <a:r>
              <a:rPr sz="1150" b="0">
                <a:solidFill>
                  <a:srgbClr val="252423"/>
                </a:solidFill>
                <a:latin typeface="Segoe UI"/>
              </a:rPr>
              <a:t>Medical and biomedical imaging segment is projected to register</a:t>
            </a:r>
          </a:p>
        </p:txBody>
      </p:sp>
      <p:pic>
        <p:nvPicPr>
          <p:cNvPr id="19" name="Picture 18" descr="lock.png"/>
          <p:cNvPicPr>
            <a:picLocks noChangeAspect="1"/>
          </p:cNvPicPr>
          <p:nvPr/>
        </p:nvPicPr>
        <p:blipFill>
          <a:blip r:embed="rId4"/>
          <a:stretch>
            <a:fillRect/>
          </a:stretch>
        </p:blipFill>
        <p:spPr>
          <a:xfrm>
            <a:off x="4497833" y="3856926"/>
            <a:ext cx="134549" cy="195707"/>
          </a:xfrm>
          <a:prstGeom prst="rect">
            <a:avLst/>
          </a:prstGeom>
        </p:spPr>
      </p:pic>
      <p:sp>
        <p:nvSpPr>
          <p:cNvPr id="20" name="TextBox 19"/>
          <p:cNvSpPr txBox="1"/>
          <p:nvPr/>
        </p:nvSpPr>
        <p:spPr>
          <a:xfrm>
            <a:off x="4672942" y="3867150"/>
            <a:ext cx="6762515" cy="194310"/>
          </a:xfrm>
          <a:prstGeom prst="rect">
            <a:avLst/>
          </a:prstGeom>
          <a:noFill/>
        </p:spPr>
        <p:txBody>
          <a:bodyPr wrap="none" lIns="0" rIns="0" tIns="0" bIns="0">
            <a:spAutoFit/>
          </a:bodyPr>
          <a:lstStyle/>
          <a:p>
            <a:r>
              <a:rPr sz="1150" b="0">
                <a:solidFill>
                  <a:srgbClr val="252423"/>
                </a:solidFill>
                <a:latin typeface="Segoe UI"/>
              </a:rPr>
              <a:t>X higher value than cryogenic refrigeration and ultra-low-temperature cooling segment in 2036. Among</a:t>
            </a:r>
          </a:p>
        </p:txBody>
      </p:sp>
      <p:sp>
        <p:nvSpPr>
          <p:cNvPr id="21" name="TextBox 20"/>
          <p:cNvSpPr txBox="1"/>
          <p:nvPr/>
        </p:nvSpPr>
        <p:spPr>
          <a:xfrm>
            <a:off x="276225" y="4042410"/>
            <a:ext cx="7907672" cy="194310"/>
          </a:xfrm>
          <a:prstGeom prst="rect">
            <a:avLst/>
          </a:prstGeom>
          <a:noFill/>
        </p:spPr>
        <p:txBody>
          <a:bodyPr wrap="none" lIns="0" rIns="0" tIns="0" bIns="0">
            <a:spAutoFit/>
          </a:bodyPr>
          <a:lstStyle/>
          <a:p>
            <a:r>
              <a:rPr sz="1150" b="0">
                <a:solidFill>
                  <a:srgbClr val="252423"/>
                </a:solidFill>
                <a:latin typeface="Segoe UI"/>
              </a:rPr>
              <a:t>Helium-3 by application, neutron detection and radiation monitoring segment is expected to witness the highest CAGR of</a:t>
            </a:r>
          </a:p>
        </p:txBody>
      </p:sp>
      <p:pic>
        <p:nvPicPr>
          <p:cNvPr id="22" name="Picture 21" descr="lock.png"/>
          <p:cNvPicPr>
            <a:picLocks noChangeAspect="1"/>
          </p:cNvPicPr>
          <p:nvPr/>
        </p:nvPicPr>
        <p:blipFill>
          <a:blip r:embed="rId4"/>
          <a:stretch>
            <a:fillRect/>
          </a:stretch>
        </p:blipFill>
        <p:spPr>
          <a:xfrm>
            <a:off x="8133051" y="4032186"/>
            <a:ext cx="134549" cy="195707"/>
          </a:xfrm>
          <a:prstGeom prst="rect">
            <a:avLst/>
          </a:prstGeom>
        </p:spPr>
      </p:pic>
      <p:sp>
        <p:nvSpPr>
          <p:cNvPr id="23" name="TextBox 22"/>
          <p:cNvSpPr txBox="1"/>
          <p:nvPr/>
        </p:nvSpPr>
        <p:spPr>
          <a:xfrm>
            <a:off x="8308160" y="4042410"/>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270247"/>
            <a:ext cx="8295844" cy="194310"/>
          </a:xfrm>
          <a:prstGeom prst="rect">
            <a:avLst/>
          </a:prstGeom>
          <a:noFill/>
        </p:spPr>
        <p:txBody>
          <a:bodyPr wrap="none" lIns="0" rIns="0" tIns="0" bIns="0">
            <a:spAutoFit/>
          </a:bodyPr>
          <a:lstStyle/>
          <a:p>
            <a:r>
              <a:rPr sz="1150" b="0">
                <a:solidFill>
                  <a:srgbClr val="252423"/>
                </a:solidFill>
                <a:latin typeface="Segoe UI"/>
              </a:rPr>
              <a:t>In terms of value share by application, the medical and biomedical imaging segment is expected to dominate the market, losing</a:t>
            </a:r>
          </a:p>
        </p:txBody>
      </p:sp>
      <p:pic>
        <p:nvPicPr>
          <p:cNvPr id="25" name="Picture 24" descr="lock.png"/>
          <p:cNvPicPr>
            <a:picLocks noChangeAspect="1"/>
          </p:cNvPicPr>
          <p:nvPr/>
        </p:nvPicPr>
        <p:blipFill>
          <a:blip r:embed="rId4"/>
          <a:stretch>
            <a:fillRect/>
          </a:stretch>
        </p:blipFill>
        <p:spPr>
          <a:xfrm>
            <a:off x="8521223" y="4260024"/>
            <a:ext cx="134549" cy="195707"/>
          </a:xfrm>
          <a:prstGeom prst="rect">
            <a:avLst/>
          </a:prstGeom>
        </p:spPr>
      </p:pic>
      <p:sp>
        <p:nvSpPr>
          <p:cNvPr id="26" name="TextBox 25"/>
          <p:cNvSpPr txBox="1"/>
          <p:nvPr/>
        </p:nvSpPr>
        <p:spPr>
          <a:xfrm>
            <a:off x="8696333" y="4270247"/>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224689" y="4260024"/>
            <a:ext cx="134549" cy="195707"/>
          </a:xfrm>
          <a:prstGeom prst="rect">
            <a:avLst/>
          </a:prstGeom>
        </p:spPr>
      </p:pic>
      <p:sp>
        <p:nvSpPr>
          <p:cNvPr id="28" name="TextBox 27"/>
          <p:cNvSpPr txBox="1"/>
          <p:nvPr/>
        </p:nvSpPr>
        <p:spPr>
          <a:xfrm>
            <a:off x="10399799" y="4270247"/>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Application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Application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196185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95709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88089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Nuclear Fusion Research</a:t>
            </a:r>
          </a:p>
        </p:txBody>
      </p:sp>
      <p:sp>
        <p:nvSpPr>
          <p:cNvPr id="16" name="BPS Value 1"/>
          <p:cNvSpPr txBox="1"/>
          <p:nvPr/>
        </p:nvSpPr>
        <p:spPr>
          <a:xfrm>
            <a:off x="6896100" y="194280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258157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5090922" y="25768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25006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Neutron Detection and Radiation Monitoring</a:t>
            </a:r>
          </a:p>
        </p:txBody>
      </p:sp>
      <p:sp>
        <p:nvSpPr>
          <p:cNvPr id="20" name="BPS Value 2"/>
          <p:cNvSpPr txBox="1"/>
          <p:nvPr/>
        </p:nvSpPr>
        <p:spPr>
          <a:xfrm>
            <a:off x="6896100" y="256252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1" name="FMI Legend Chip"/>
          <p:cNvSpPr/>
          <p:nvPr/>
        </p:nvSpPr>
        <p:spPr>
          <a:xfrm>
            <a:off x="4928997" y="349508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090922" y="349032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341412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Cryogenic Refrigeration and Ultra-Low-Temperature Cooling</a:t>
            </a:r>
          </a:p>
        </p:txBody>
      </p:sp>
      <p:sp>
        <p:nvSpPr>
          <p:cNvPr id="24" name="BPS Value 3"/>
          <p:cNvSpPr txBox="1"/>
          <p:nvPr/>
        </p:nvSpPr>
        <p:spPr>
          <a:xfrm>
            <a:off x="6896100" y="3476033"/>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5" name="FMI Legend Chip"/>
          <p:cNvSpPr/>
          <p:nvPr/>
        </p:nvSpPr>
        <p:spPr>
          <a:xfrm>
            <a:off x="4928997" y="516155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rot="10800000">
            <a:off x="5090922" y="515679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508059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and Biomedical Imaging</a:t>
            </a:r>
          </a:p>
        </p:txBody>
      </p:sp>
      <p:sp>
        <p:nvSpPr>
          <p:cNvPr id="28" name="BPS Value 4"/>
          <p:cNvSpPr txBox="1"/>
          <p:nvPr/>
        </p:nvSpPr>
        <p:spPr>
          <a:xfrm>
            <a:off x="6896100" y="5142508"/>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9" name="Rectangle 28"/>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Application</a:t>
            </a:r>
          </a:p>
        </p:txBody>
      </p:sp>
      <p:sp>
        <p:nvSpPr>
          <p:cNvPr id="31" name="Rectangle 30"/>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650952" cy="194310"/>
          </a:xfrm>
          <a:prstGeom prst="rect">
            <a:avLst/>
          </a:prstGeom>
          <a:noFill/>
        </p:spPr>
        <p:txBody>
          <a:bodyPr wrap="none" lIns="0" rIns="0" tIns="0" bIns="0">
            <a:spAutoFit/>
          </a:bodyPr>
          <a:lstStyle/>
          <a:p>
            <a:r>
              <a:rPr sz="1150" b="0">
                <a:solidFill>
                  <a:srgbClr val="252423"/>
                </a:solidFill>
                <a:latin typeface="Segoe UI"/>
              </a:rPr>
              <a:t>Among Helium-3 by application, neutron detection and</a:t>
            </a:r>
          </a:p>
        </p:txBody>
      </p:sp>
      <p:sp>
        <p:nvSpPr>
          <p:cNvPr id="36" name="TextBox 35"/>
          <p:cNvSpPr txBox="1"/>
          <p:nvPr/>
        </p:nvSpPr>
        <p:spPr>
          <a:xfrm>
            <a:off x="7829550" y="1575435"/>
            <a:ext cx="3709425" cy="194310"/>
          </a:xfrm>
          <a:prstGeom prst="rect">
            <a:avLst/>
          </a:prstGeom>
          <a:noFill/>
        </p:spPr>
        <p:txBody>
          <a:bodyPr wrap="none" lIns="0" rIns="0" tIns="0" bIns="0">
            <a:spAutoFit/>
          </a:bodyPr>
          <a:lstStyle/>
          <a:p>
            <a:r>
              <a:rPr sz="1150" b="0">
                <a:solidFill>
                  <a:srgbClr val="252423"/>
                </a:solidFill>
                <a:latin typeface="Segoe UI"/>
              </a:rPr>
              <a:t>radiation monitoring segment is expected to witness the</a:t>
            </a:r>
          </a:p>
        </p:txBody>
      </p:sp>
      <p:sp>
        <p:nvSpPr>
          <p:cNvPr id="37" name="TextBox 36"/>
          <p:cNvSpPr txBox="1"/>
          <p:nvPr/>
        </p:nvSpPr>
        <p:spPr>
          <a:xfrm>
            <a:off x="7829550" y="1750695"/>
            <a:ext cx="1134135" cy="194310"/>
          </a:xfrm>
          <a:prstGeom prst="rect">
            <a:avLst/>
          </a:prstGeom>
          <a:noFill/>
        </p:spPr>
        <p:txBody>
          <a:bodyPr wrap="none" lIns="0" rIns="0" tIns="0" bIns="0">
            <a:spAutoFit/>
          </a:bodyPr>
          <a:lstStyle/>
          <a:p>
            <a:r>
              <a:rPr sz="1150" b="0">
                <a:solidFill>
                  <a:srgbClr val="252423"/>
                </a:solidFill>
                <a:latin typeface="Segoe UI"/>
              </a:rPr>
              <a:t>highest CAGR of</a:t>
            </a:r>
          </a:p>
        </p:txBody>
      </p:sp>
      <p:pic>
        <p:nvPicPr>
          <p:cNvPr id="38" name="Picture 37" descr="lock.png"/>
          <p:cNvPicPr>
            <a:picLocks noChangeAspect="1"/>
          </p:cNvPicPr>
          <p:nvPr/>
        </p:nvPicPr>
        <p:blipFill>
          <a:blip r:embed="rId5"/>
          <a:stretch>
            <a:fillRect/>
          </a:stretch>
        </p:blipFill>
        <p:spPr>
          <a:xfrm>
            <a:off x="8912839" y="1740471"/>
            <a:ext cx="134549" cy="195707"/>
          </a:xfrm>
          <a:prstGeom prst="rect">
            <a:avLst/>
          </a:prstGeom>
        </p:spPr>
      </p:pic>
      <p:sp>
        <p:nvSpPr>
          <p:cNvPr id="39" name="TextBox 38"/>
          <p:cNvSpPr txBox="1"/>
          <p:nvPr/>
        </p:nvSpPr>
        <p:spPr>
          <a:xfrm>
            <a:off x="9087948"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0" name="TextBox 39"/>
          <p:cNvSpPr txBox="1"/>
          <p:nvPr/>
        </p:nvSpPr>
        <p:spPr>
          <a:xfrm>
            <a:off x="7829550" y="1978533"/>
            <a:ext cx="3591820" cy="194310"/>
          </a:xfrm>
          <a:prstGeom prst="rect">
            <a:avLst/>
          </a:prstGeom>
          <a:noFill/>
        </p:spPr>
        <p:txBody>
          <a:bodyPr wrap="none" lIns="0" rIns="0" tIns="0" bIns="0">
            <a:spAutoFit/>
          </a:bodyPr>
          <a:lstStyle/>
          <a:p>
            <a:r>
              <a:rPr sz="1150" b="0">
                <a:solidFill>
                  <a:srgbClr val="252423"/>
                </a:solidFill>
                <a:latin typeface="Segoe UI"/>
              </a:rPr>
              <a:t>In terms of value share by application, the medical and</a:t>
            </a:r>
          </a:p>
        </p:txBody>
      </p:sp>
      <p:sp>
        <p:nvSpPr>
          <p:cNvPr id="41" name="TextBox 40"/>
          <p:cNvSpPr txBox="1"/>
          <p:nvPr/>
        </p:nvSpPr>
        <p:spPr>
          <a:xfrm>
            <a:off x="7829550" y="2153793"/>
            <a:ext cx="3791863" cy="194310"/>
          </a:xfrm>
          <a:prstGeom prst="rect">
            <a:avLst/>
          </a:prstGeom>
          <a:noFill/>
        </p:spPr>
        <p:txBody>
          <a:bodyPr wrap="none" lIns="0" rIns="0" tIns="0" bIns="0">
            <a:spAutoFit/>
          </a:bodyPr>
          <a:lstStyle/>
          <a:p>
            <a:r>
              <a:rPr sz="1150" b="0">
                <a:solidFill>
                  <a:srgbClr val="252423"/>
                </a:solidFill>
                <a:latin typeface="Segoe UI"/>
              </a:rPr>
              <a:t>biomedical imaging segment is expected to dominate the</a:t>
            </a:r>
          </a:p>
        </p:txBody>
      </p:sp>
      <p:sp>
        <p:nvSpPr>
          <p:cNvPr id="42" name="TextBox 41"/>
          <p:cNvSpPr txBox="1"/>
          <p:nvPr/>
        </p:nvSpPr>
        <p:spPr>
          <a:xfrm>
            <a:off x="7829550" y="2329053"/>
            <a:ext cx="984689" cy="194310"/>
          </a:xfrm>
          <a:prstGeom prst="rect">
            <a:avLst/>
          </a:prstGeom>
          <a:noFill/>
        </p:spPr>
        <p:txBody>
          <a:bodyPr wrap="none" lIns="0" rIns="0" tIns="0" bIns="0">
            <a:spAutoFit/>
          </a:bodyPr>
          <a:lstStyle/>
          <a:p>
            <a:r>
              <a:rPr sz="1150" b="0">
                <a:solidFill>
                  <a:srgbClr val="252423"/>
                </a:solidFill>
                <a:latin typeface="Segoe UI"/>
              </a:rPr>
              <a:t>market, losing</a:t>
            </a:r>
          </a:p>
        </p:txBody>
      </p:sp>
      <p:pic>
        <p:nvPicPr>
          <p:cNvPr id="43" name="Picture 42" descr="lock.png"/>
          <p:cNvPicPr>
            <a:picLocks noChangeAspect="1"/>
          </p:cNvPicPr>
          <p:nvPr/>
        </p:nvPicPr>
        <p:blipFill>
          <a:blip r:embed="rId5"/>
          <a:stretch>
            <a:fillRect/>
          </a:stretch>
        </p:blipFill>
        <p:spPr>
          <a:xfrm>
            <a:off x="8763393" y="2318829"/>
            <a:ext cx="134549" cy="195707"/>
          </a:xfrm>
          <a:prstGeom prst="rect">
            <a:avLst/>
          </a:prstGeom>
        </p:spPr>
      </p:pic>
      <p:sp>
        <p:nvSpPr>
          <p:cNvPr id="44" name="TextBox 43"/>
          <p:cNvSpPr txBox="1"/>
          <p:nvPr/>
        </p:nvSpPr>
        <p:spPr>
          <a:xfrm>
            <a:off x="8938502"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45" name="Picture 44" descr="lock.png"/>
          <p:cNvPicPr>
            <a:picLocks noChangeAspect="1"/>
          </p:cNvPicPr>
          <p:nvPr/>
        </p:nvPicPr>
        <p:blipFill>
          <a:blip r:embed="rId5"/>
          <a:stretch>
            <a:fillRect/>
          </a:stretch>
        </p:blipFill>
        <p:spPr>
          <a:xfrm>
            <a:off x="10466859" y="2318829"/>
            <a:ext cx="134549" cy="195707"/>
          </a:xfrm>
          <a:prstGeom prst="rect">
            <a:avLst/>
          </a:prstGeom>
        </p:spPr>
      </p:pic>
      <p:sp>
        <p:nvSpPr>
          <p:cNvPr id="46" name="TextBox 45"/>
          <p:cNvSpPr txBox="1"/>
          <p:nvPr/>
        </p:nvSpPr>
        <p:spPr>
          <a:xfrm>
            <a:off x="10641968" y="232905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47"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End User</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User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 User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End User,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 User segment categorizes the market by end user.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Academic Institutions and Univers…</a:t>
            </a:r>
          </a:p>
        </p:txBody>
      </p:sp>
      <p:sp>
        <p:nvSpPr>
          <p:cNvPr id="20" name="Rectangle 19"/>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1" name="Rectangle 20"/>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2" name="Rectangle 21"/>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
            </a:r>
          </a:p>
        </p:txBody>
      </p:sp>
      <p:sp>
        <p:nvSpPr>
          <p:cNvPr id="23" name="Oval 22"/>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4" name="Rounded Rectangle 23"/>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Government and Defense Agencies</a:t>
            </a:r>
          </a:p>
        </p:txBody>
      </p:sp>
      <p:sp>
        <p:nvSpPr>
          <p:cNvPr id="27" name="Rectangle 26"/>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8" name="Rectangle 27"/>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29" name="Rectangle 28"/>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
            </a:r>
          </a:p>
        </p:txBody>
      </p:sp>
      <p:sp>
        <p:nvSpPr>
          <p:cNvPr id="30" name="Oval 29"/>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1" name="Rounded Rectangle 30"/>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End Users</a:t>
            </a:r>
          </a:p>
        </p:txBody>
      </p:sp>
      <p:sp>
        <p:nvSpPr>
          <p:cNvPr id="34" name="Rectangle 33"/>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5" name="Rectangle 34"/>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6" name="Rectangle 35"/>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
            </a:r>
          </a:p>
        </p:txBody>
      </p:sp>
      <p:sp>
        <p:nvSpPr>
          <p:cNvPr id="37" name="Oval 36"/>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8" name="Rounded Rectangle 37"/>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Healthcare and Medical Research I…</a:t>
            </a:r>
          </a:p>
        </p:txBody>
      </p:sp>
      <p:sp>
        <p:nvSpPr>
          <p:cNvPr id="41" name="Rectangle 40"/>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2" name="Rectangle 41"/>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3" name="Rectangle 42"/>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
            </a:r>
          </a:p>
        </p:txBody>
      </p:sp>
      <p:sp>
        <p:nvSpPr>
          <p:cNvPr id="44" name="Oval 43"/>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5" name="Rounded Rectangle 44"/>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Commercial and Industrial Enterpr…</a:t>
            </a:r>
          </a:p>
        </p:txBody>
      </p:sp>
      <p:sp>
        <p:nvSpPr>
          <p:cNvPr id="48" name="Rectangle 47"/>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49" name="Rectangle 48"/>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0" name="Rectangle 49"/>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
            </a:r>
          </a:p>
        </p:txBody>
      </p:sp>
      <p:sp>
        <p:nvSpPr>
          <p:cNvPr id="51" name="Oval 50"/>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2" name="Rounded Rectangle 51"/>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Independent Research Institutions</a:t>
            </a:r>
          </a:p>
        </p:txBody>
      </p:sp>
      <p:sp>
        <p:nvSpPr>
          <p:cNvPr id="55" name="Rectangle 54"/>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6" name="Rectangle 55"/>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7" name="Rectangle 56"/>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
            </a:r>
          </a:p>
        </p:txBody>
      </p:sp>
      <p:sp>
        <p:nvSpPr>
          <p:cNvPr id="58" name="Oval 57"/>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59" name="Rounded Rectangle 5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1" name="Rectangle 6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52423"/>
                </a:solidFill>
                <a:latin typeface="Segoe UI"/>
              </a:rPr>
              <a:t/>
            </a:r>
          </a:p>
          <a:p>
            <a:pPr algn="l">
              <a:lnSpc>
                <a:spcPct val="105000"/>
              </a:lnSpc>
              <a:spcBef>
                <a:spcPts val="0"/>
              </a:spcBef>
              <a:spcAft>
                <a:spcPts val="300"/>
              </a:spcAft>
            </a:pPr>
            <a:r>
              <a:rPr sz="1100" b="0">
                <a:solidFill>
                  <a:srgbClr val="252423"/>
                </a:solidFill>
                <a:latin typeface="Segoe UI"/>
              </a:rPr>
              <a:t/>
            </a:r>
          </a:p>
        </p:txBody>
      </p:sp>
      <p:sp>
        <p:nvSpPr>
          <p:cNvPr id="63" name="Rounded Rectangle 6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5" name="Rectangle 6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E3A5F"/>
                </a:solidFill>
                <a:latin typeface="Segoe UI"/>
              </a:rPr>
              <a:t/>
            </a:r>
            <a:r>
              <a:rPr sz="1100" b="1">
                <a:solidFill>
                  <a:srgbClr val="0E3A5F"/>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1668A8"/>
                </a:solidFill>
                <a:latin typeface="Segoe UI"/>
              </a:rPr>
              <a:t/>
            </a:r>
            <a:r>
              <a:rPr sz="1100" b="1">
                <a:solidFill>
                  <a:srgbClr val="1668A8"/>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5B7C99"/>
                </a:solidFill>
                <a:latin typeface="Segoe UI"/>
              </a:rPr>
              <a:t/>
            </a:r>
            <a:r>
              <a:rPr sz="1100" b="1">
                <a:solidFill>
                  <a:srgbClr val="5B7C99"/>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8E44AD"/>
                </a:solidFill>
                <a:latin typeface="Segoe UI"/>
              </a:rPr>
              <a:t/>
            </a:r>
            <a:r>
              <a:rPr sz="1100" b="1">
                <a:solidFill>
                  <a:srgbClr val="8E44AD"/>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C58A21"/>
                </a:solidFill>
                <a:latin typeface="Segoe UI"/>
              </a:rPr>
              <a:t/>
            </a:r>
            <a:r>
              <a:rPr sz="1100" b="1">
                <a:solidFill>
                  <a:srgbClr val="C58A21"/>
                </a:solidFill>
                <a:latin typeface="Segoe UI"/>
              </a:rPr>
              <a:t/>
            </a:r>
            <a:r>
              <a:rPr sz="1100" b="0">
                <a:solidFill>
                  <a:srgbClr val="252423"/>
                </a:solidFill>
                <a:latin typeface="Segoe UI"/>
              </a:rPr>
              <a:t/>
            </a:r>
          </a:p>
          <a:p>
            <a:pPr algn="l">
              <a:lnSpc>
                <a:spcPct val="105000"/>
              </a:lnSpc>
              <a:spcBef>
                <a:spcPts val="0"/>
              </a:spcBef>
              <a:spcAft>
                <a:spcPts val="300"/>
              </a:spcAft>
            </a:pPr>
            <a:r>
              <a:rPr sz="1100" b="0">
                <a:solidFill>
                  <a:srgbClr val="B5532F"/>
                </a:solidFill>
                <a:latin typeface="Segoe UI"/>
              </a:rPr>
              <a:t/>
            </a:r>
            <a:r>
              <a:rPr sz="1100" b="1">
                <a:solidFill>
                  <a:srgbClr val="B5532F"/>
                </a:solidFill>
                <a:latin typeface="Segoe UI"/>
              </a:rPr>
              <a:t/>
            </a:r>
            <a:r>
              <a:rPr sz="1100" b="0">
                <a:solidFill>
                  <a:srgbClr val="252423"/>
                </a:solidFill>
                <a:latin typeface="Segoe UI"/>
              </a:rPr>
              <a:t/>
            </a:r>
          </a:p>
        </p:txBody>
      </p:sp>
      <p:sp>
        <p:nvSpPr>
          <p:cNvPr id="67" name="Rounded Rectangle 6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9" name="Rectangle 6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 User split shows how demand is distributed across end user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1" name="Rectangle 7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
            </a:r>
          </a:p>
        </p:txBody>
      </p:sp>
      <p:sp>
        <p:nvSpPr>
          <p:cNvPr id="73" name="TextBox 7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4" name="TextBox 7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5" name="Picture 74" descr="186_1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311_1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5_3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140_3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259_0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6_3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10_8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195_6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5_9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68_1_605E5C.png"/>
          <p:cNvPicPr>
            <a:picLocks noChangeAspect="1"/>
          </p:cNvPicPr>
          <p:nvPr/>
        </p:nvPicPr>
        <p:blipFill>
          <a:blip r:embed="rId13"/>
          <a:stretch>
            <a:fillRect/>
          </a:stretch>
        </p:blipFill>
        <p:spPr>
          <a:xfrm>
            <a:off x="7219269" y="2286582"/>
            <a:ext cx="982436" cy="361950"/>
          </a:xfrm>
          <a:prstGeom prst="rect">
            <a:avLst/>
          </a:prstGeom>
        </p:spPr>
      </p:pic>
      <p:pic>
        <p:nvPicPr>
          <p:cNvPr id="85" name="Picture 84" descr="111_2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5_0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23_5_605E5C.png"/>
          <p:cNvPicPr>
            <a:picLocks noChangeAspect="1"/>
          </p:cNvPicPr>
          <p:nvPr/>
        </p:nvPicPr>
        <p:blipFill>
          <a:blip r:embed="rId16"/>
          <a:stretch>
            <a:fillRect/>
          </a:stretch>
        </p:blipFill>
        <p:spPr>
          <a:xfrm>
            <a:off x="8905194" y="2286582"/>
            <a:ext cx="982436" cy="361950"/>
          </a:xfrm>
          <a:prstGeom prst="rect">
            <a:avLst/>
          </a:prstGeom>
        </p:spPr>
      </p:pic>
      <p:pic>
        <p:nvPicPr>
          <p:cNvPr id="88" name="Picture 87" descr="34_8_605E5C.png"/>
          <p:cNvPicPr>
            <a:picLocks noChangeAspect="1"/>
          </p:cNvPicPr>
          <p:nvPr/>
        </p:nvPicPr>
        <p:blipFill>
          <a:blip r:embed="rId17"/>
          <a:stretch>
            <a:fillRect/>
          </a:stretch>
        </p:blipFill>
        <p:spPr>
          <a:xfrm>
            <a:off x="8905194" y="2779432"/>
            <a:ext cx="982436" cy="361950"/>
          </a:xfrm>
          <a:prstGeom prst="rect">
            <a:avLst/>
          </a:prstGeom>
        </p:spPr>
      </p:pic>
      <p:pic>
        <p:nvPicPr>
          <p:cNvPr id="89" name="Picture 88" descr="4_0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18_9_605E5C.png"/>
          <p:cNvPicPr>
            <a:picLocks noChangeAspect="1"/>
          </p:cNvPicPr>
          <p:nvPr/>
        </p:nvPicPr>
        <p:blipFill>
          <a:blip r:embed="rId19"/>
          <a:stretch>
            <a:fillRect/>
          </a:stretch>
        </p:blipFill>
        <p:spPr>
          <a:xfrm>
            <a:off x="10591119" y="2286582"/>
            <a:ext cx="982436" cy="361950"/>
          </a:xfrm>
          <a:prstGeom prst="rect">
            <a:avLst/>
          </a:prstGeom>
        </p:spPr>
      </p:pic>
      <p:pic>
        <p:nvPicPr>
          <p:cNvPr id="91" name="Picture 90" descr="31_8_605E5C.png"/>
          <p:cNvPicPr>
            <a:picLocks noChangeAspect="1"/>
          </p:cNvPicPr>
          <p:nvPr/>
        </p:nvPicPr>
        <p:blipFill>
          <a:blip r:embed="rId20"/>
          <a:stretch>
            <a:fillRect/>
          </a:stretch>
        </p:blipFill>
        <p:spPr>
          <a:xfrm>
            <a:off x="10591119" y="2779432"/>
            <a:ext cx="982436" cy="361950"/>
          </a:xfrm>
          <a:prstGeom prst="rect">
            <a:avLst/>
          </a:prstGeom>
        </p:spPr>
      </p:pic>
      <p:pic>
        <p:nvPicPr>
          <p:cNvPr id="92" name="Picture 91" descr="5_4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872730" cy="179984"/>
          </a:xfrm>
          <a:prstGeom prst="rect">
            <a:avLst/>
          </a:prstGeom>
          <a:noFill/>
        </p:spPr>
        <p:txBody>
          <a:bodyPr wrap="none" lIns="0" rIns="0" tIns="0" bIns="0">
            <a:spAutoFit/>
          </a:bodyPr>
          <a:lstStyle/>
          <a:p>
            <a:r>
              <a:rPr sz="1055" b="0">
                <a:solidFill>
                  <a:srgbClr val="252423"/>
                </a:solidFill>
                <a:latin typeface="Segoe UI"/>
              </a:rPr>
              <a:t>Among Helium-3 by end user, government and</a:t>
            </a:r>
          </a:p>
        </p:txBody>
      </p:sp>
      <p:sp>
        <p:nvSpPr>
          <p:cNvPr id="100" name="TextBox 99"/>
          <p:cNvSpPr txBox="1"/>
          <p:nvPr/>
        </p:nvSpPr>
        <p:spPr>
          <a:xfrm>
            <a:off x="485775" y="4390371"/>
            <a:ext cx="2914650" cy="179984"/>
          </a:xfrm>
          <a:prstGeom prst="rect">
            <a:avLst/>
          </a:prstGeom>
          <a:noFill/>
        </p:spPr>
        <p:txBody>
          <a:bodyPr wrap="none" lIns="0" rIns="0" tIns="0" bIns="0">
            <a:spAutoFit/>
          </a:bodyPr>
          <a:lstStyle/>
          <a:p>
            <a:r>
              <a:rPr sz="1055" b="0">
                <a:solidFill>
                  <a:srgbClr val="252423"/>
                </a:solidFill>
                <a:latin typeface="Segoe UI"/>
              </a:rPr>
              <a:t>defense agencies segment is expected to witness</a:t>
            </a:r>
          </a:p>
        </p:txBody>
      </p:sp>
      <p:sp>
        <p:nvSpPr>
          <p:cNvPr id="101" name="TextBox 100"/>
          <p:cNvSpPr txBox="1"/>
          <p:nvPr/>
        </p:nvSpPr>
        <p:spPr>
          <a:xfrm>
            <a:off x="485775" y="4551305"/>
            <a:ext cx="1276070" cy="179984"/>
          </a:xfrm>
          <a:prstGeom prst="rect">
            <a:avLst/>
          </a:prstGeom>
          <a:noFill/>
        </p:spPr>
        <p:txBody>
          <a:bodyPr wrap="none" lIns="0" rIns="0" tIns="0" bIns="0">
            <a:spAutoFit/>
          </a:bodyPr>
          <a:lstStyle/>
          <a:p>
            <a:r>
              <a:rPr sz="1055" b="0">
                <a:solidFill>
                  <a:srgbClr val="252423"/>
                </a:solidFill>
                <a:latin typeface="Segoe UI"/>
              </a:rPr>
              <a:t>the highest CAGR of</a:t>
            </a:r>
          </a:p>
        </p:txBody>
      </p:sp>
      <p:pic>
        <p:nvPicPr>
          <p:cNvPr id="102" name="Picture 101" descr="lock.png"/>
          <p:cNvPicPr>
            <a:picLocks noChangeAspect="1"/>
          </p:cNvPicPr>
          <p:nvPr/>
        </p:nvPicPr>
        <p:blipFill>
          <a:blip r:embed="rId22"/>
          <a:stretch>
            <a:fillRect/>
          </a:stretch>
        </p:blipFill>
        <p:spPr>
          <a:xfrm>
            <a:off x="1708926" y="4541917"/>
            <a:ext cx="123551" cy="179710"/>
          </a:xfrm>
          <a:prstGeom prst="rect">
            <a:avLst/>
          </a:prstGeom>
        </p:spPr>
      </p:pic>
      <p:sp>
        <p:nvSpPr>
          <p:cNvPr id="103" name="TextBox 102"/>
          <p:cNvSpPr txBox="1"/>
          <p:nvPr/>
        </p:nvSpPr>
        <p:spPr>
          <a:xfrm>
            <a:off x="1869722" y="4551305"/>
            <a:ext cx="1070997" cy="179984"/>
          </a:xfrm>
          <a:prstGeom prst="rect">
            <a:avLst/>
          </a:prstGeom>
          <a:noFill/>
        </p:spPr>
        <p:txBody>
          <a:bodyPr wrap="none" lIns="0" rIns="0" tIns="0" bIns="0">
            <a:spAutoFit/>
          </a:bodyPr>
          <a:lstStyle/>
          <a:p>
            <a:r>
              <a:rPr sz="1055" b="0">
                <a:solidFill>
                  <a:srgbClr val="252423"/>
                </a:solidFill>
                <a:latin typeface="Segoe UI"/>
              </a:rPr>
              <a:t>over the forecast</a:t>
            </a:r>
          </a:p>
        </p:txBody>
      </p:sp>
      <p:sp>
        <p:nvSpPr>
          <p:cNvPr id="104" name="TextBox 103"/>
          <p:cNvSpPr txBox="1"/>
          <p:nvPr/>
        </p:nvSpPr>
        <p:spPr>
          <a:xfrm>
            <a:off x="485775" y="4712240"/>
            <a:ext cx="2856384" cy="179984"/>
          </a:xfrm>
          <a:prstGeom prst="rect">
            <a:avLst/>
          </a:prstGeom>
          <a:noFill/>
        </p:spPr>
        <p:txBody>
          <a:bodyPr wrap="none" lIns="0" rIns="0" tIns="0" bIns="0">
            <a:spAutoFit/>
          </a:bodyPr>
          <a:lstStyle/>
          <a:p>
            <a:r>
              <a:rPr sz="1055" b="0">
                <a:solidFill>
                  <a:srgbClr val="252423"/>
                </a:solidFill>
                <a:latin typeface="Segoe UI"/>
              </a:rPr>
              <a:t>period. In terms of value share by end user, the</a:t>
            </a:r>
          </a:p>
        </p:txBody>
      </p:sp>
      <p:sp>
        <p:nvSpPr>
          <p:cNvPr id="105" name="TextBox 104"/>
          <p:cNvSpPr txBox="1"/>
          <p:nvPr/>
        </p:nvSpPr>
        <p:spPr>
          <a:xfrm>
            <a:off x="485775" y="4873174"/>
            <a:ext cx="2914650" cy="179984"/>
          </a:xfrm>
          <a:prstGeom prst="rect">
            <a:avLst/>
          </a:prstGeom>
          <a:noFill/>
        </p:spPr>
        <p:txBody>
          <a:bodyPr wrap="none" lIns="0" rIns="0" tIns="0" bIns="0">
            <a:spAutoFit/>
          </a:bodyPr>
          <a:lstStyle/>
          <a:p>
            <a:r>
              <a:rPr sz="1055" b="0">
                <a:solidFill>
                  <a:srgbClr val="252423"/>
                </a:solidFill>
                <a:latin typeface="Segoe UI"/>
              </a:rPr>
              <a:t>academic institutions and universities segment is</a:t>
            </a:r>
          </a:p>
        </p:txBody>
      </p:sp>
      <p:sp>
        <p:nvSpPr>
          <p:cNvPr id="106" name="TextBox 105"/>
          <p:cNvSpPr txBox="1"/>
          <p:nvPr/>
        </p:nvSpPr>
        <p:spPr>
          <a:xfrm>
            <a:off x="485775" y="5034109"/>
            <a:ext cx="2476505" cy="179984"/>
          </a:xfrm>
          <a:prstGeom prst="rect">
            <a:avLst/>
          </a:prstGeom>
          <a:noFill/>
        </p:spPr>
        <p:txBody>
          <a:bodyPr wrap="none" lIns="0" rIns="0" tIns="0" bIns="0">
            <a:spAutoFit/>
          </a:bodyPr>
          <a:lstStyle/>
          <a:p>
            <a:r>
              <a:rPr sz="1055" b="0">
                <a:solidFill>
                  <a:srgbClr val="252423"/>
                </a:solidFill>
                <a:latin typeface="Segoe UI"/>
              </a:rPr>
              <a:t>expected to dominate the market, losing</a:t>
            </a:r>
          </a:p>
        </p:txBody>
      </p:sp>
      <p:pic>
        <p:nvPicPr>
          <p:cNvPr id="107" name="Picture 106" descr="lock.png"/>
          <p:cNvPicPr>
            <a:picLocks noChangeAspect="1"/>
          </p:cNvPicPr>
          <p:nvPr/>
        </p:nvPicPr>
        <p:blipFill>
          <a:blip r:embed="rId22"/>
          <a:stretch>
            <a:fillRect/>
          </a:stretch>
        </p:blipFill>
        <p:spPr>
          <a:xfrm>
            <a:off x="2909361" y="5024721"/>
            <a:ext cx="123551" cy="179710"/>
          </a:xfrm>
          <a:prstGeom prst="rect">
            <a:avLst/>
          </a:prstGeom>
        </p:spPr>
      </p:pic>
      <p:sp>
        <p:nvSpPr>
          <p:cNvPr id="108" name="TextBox 107"/>
          <p:cNvSpPr txBox="1"/>
          <p:nvPr/>
        </p:nvSpPr>
        <p:spPr>
          <a:xfrm>
            <a:off x="485775" y="5195043"/>
            <a:ext cx="1456348" cy="179984"/>
          </a:xfrm>
          <a:prstGeom prst="rect">
            <a:avLst/>
          </a:prstGeom>
          <a:noFill/>
        </p:spPr>
        <p:txBody>
          <a:bodyPr wrap="none" lIns="0" rIns="0" tIns="0" bIns="0">
            <a:spAutoFit/>
          </a:bodyPr>
          <a:lstStyle/>
          <a:p>
            <a:r>
              <a:rPr sz="1055" b="0">
                <a:solidFill>
                  <a:srgbClr val="252423"/>
                </a:solidFill>
                <a:latin typeface="Segoe UI"/>
              </a:rPr>
              <a:t>BPS and accounting for</a:t>
            </a:r>
          </a:p>
        </p:txBody>
      </p:sp>
      <p:pic>
        <p:nvPicPr>
          <p:cNvPr id="109" name="Picture 108" descr="lock.png"/>
          <p:cNvPicPr>
            <a:picLocks noChangeAspect="1"/>
          </p:cNvPicPr>
          <p:nvPr/>
        </p:nvPicPr>
        <p:blipFill>
          <a:blip r:embed="rId22"/>
          <a:stretch>
            <a:fillRect/>
          </a:stretch>
        </p:blipFill>
        <p:spPr>
          <a:xfrm>
            <a:off x="1889205" y="5185655"/>
            <a:ext cx="123551" cy="179710"/>
          </a:xfrm>
          <a:prstGeom prst="rect">
            <a:avLst/>
          </a:prstGeom>
        </p:spPr>
      </p:pic>
      <p:sp>
        <p:nvSpPr>
          <p:cNvPr id="110" name="TextBox 109"/>
          <p:cNvSpPr txBox="1"/>
          <p:nvPr/>
        </p:nvSpPr>
        <p:spPr>
          <a:xfrm>
            <a:off x="2050001" y="5195043"/>
            <a:ext cx="929563" cy="179984"/>
          </a:xfrm>
          <a:prstGeom prst="rect">
            <a:avLst/>
          </a:prstGeom>
          <a:noFill/>
        </p:spPr>
        <p:txBody>
          <a:bodyPr wrap="none" lIns="0" rIns="0" tIns="0" bIns="0">
            <a:spAutoFit/>
          </a:bodyPr>
          <a:lstStyle/>
          <a:p>
            <a:r>
              <a:rPr sz="1055" b="0">
                <a:solidFill>
                  <a:srgbClr val="252423"/>
                </a:solidFill>
                <a:latin typeface="Segoe UI"/>
              </a:rPr>
              <a:t>share by 2036.</a:t>
            </a:r>
          </a:p>
        </p:txBody>
      </p:sp>
      <p:sp>
        <p:nvSpPr>
          <p:cNvPr id="111" name="TextBox 110"/>
          <p:cNvSpPr txBox="1"/>
          <p:nvPr/>
        </p:nvSpPr>
        <p:spPr>
          <a:xfrm>
            <a:off x="485775" y="5404258"/>
            <a:ext cx="2914650" cy="179984"/>
          </a:xfrm>
          <a:prstGeom prst="rect">
            <a:avLst/>
          </a:prstGeom>
          <a:noFill/>
        </p:spPr>
        <p:txBody>
          <a:bodyPr wrap="none" lIns="0" rIns="0" tIns="0" bIns="0">
            <a:spAutoFit/>
          </a:bodyPr>
          <a:lstStyle/>
          <a:p>
            <a:r>
              <a:rPr sz="1055" b="0">
                <a:solidFill>
                  <a:srgbClr val="252423"/>
                </a:solidFill>
                <a:latin typeface="Segoe UI"/>
              </a:rPr>
              <a:t>Academic institutions and universities segment is</a:t>
            </a:r>
          </a:p>
        </p:txBody>
      </p:sp>
      <p:sp>
        <p:nvSpPr>
          <p:cNvPr id="112" name="TextBox 111"/>
          <p:cNvSpPr txBox="1"/>
          <p:nvPr/>
        </p:nvSpPr>
        <p:spPr>
          <a:xfrm>
            <a:off x="485775" y="5565192"/>
            <a:ext cx="1284935" cy="179984"/>
          </a:xfrm>
          <a:prstGeom prst="rect">
            <a:avLst/>
          </a:prstGeom>
          <a:noFill/>
        </p:spPr>
        <p:txBody>
          <a:bodyPr wrap="none" lIns="0" rIns="0" tIns="0" bIns="0">
            <a:spAutoFit/>
          </a:bodyPr>
          <a:lstStyle/>
          <a:p>
            <a:r>
              <a:rPr sz="1055" b="0">
                <a:solidFill>
                  <a:srgbClr val="252423"/>
                </a:solidFill>
                <a:latin typeface="Segoe UI"/>
              </a:rPr>
              <a:t>projected to register</a:t>
            </a:r>
          </a:p>
        </p:txBody>
      </p:sp>
      <p:pic>
        <p:nvPicPr>
          <p:cNvPr id="113" name="Picture 112" descr="lock.png"/>
          <p:cNvPicPr>
            <a:picLocks noChangeAspect="1"/>
          </p:cNvPicPr>
          <p:nvPr/>
        </p:nvPicPr>
        <p:blipFill>
          <a:blip r:embed="rId22"/>
          <a:stretch>
            <a:fillRect/>
          </a:stretch>
        </p:blipFill>
        <p:spPr>
          <a:xfrm>
            <a:off x="1717791" y="5555804"/>
            <a:ext cx="123551" cy="179710"/>
          </a:xfrm>
          <a:prstGeom prst="rect">
            <a:avLst/>
          </a:prstGeom>
        </p:spPr>
      </p:pic>
      <p:sp>
        <p:nvSpPr>
          <p:cNvPr id="114" name="TextBox 113"/>
          <p:cNvSpPr txBox="1"/>
          <p:nvPr/>
        </p:nvSpPr>
        <p:spPr>
          <a:xfrm>
            <a:off x="1878587" y="5565192"/>
            <a:ext cx="1222663" cy="179984"/>
          </a:xfrm>
          <a:prstGeom prst="rect">
            <a:avLst/>
          </a:prstGeom>
          <a:noFill/>
        </p:spPr>
        <p:txBody>
          <a:bodyPr wrap="none" lIns="0" rIns="0" tIns="0" bIns="0">
            <a:spAutoFit/>
          </a:bodyPr>
          <a:lstStyle/>
          <a:p>
            <a:r>
              <a:rPr sz="1055" b="0">
                <a:solidFill>
                  <a:srgbClr val="252423"/>
                </a:solidFill>
                <a:latin typeface="Segoe UI"/>
              </a:rPr>
              <a:t>X higher value than</a:t>
            </a:r>
          </a:p>
        </p:txBody>
      </p:sp>
      <p:sp>
        <p:nvSpPr>
          <p:cNvPr id="115" name="TextBox 114"/>
          <p:cNvSpPr txBox="1"/>
          <p:nvPr/>
        </p:nvSpPr>
        <p:spPr>
          <a:xfrm>
            <a:off x="485775" y="5726126"/>
            <a:ext cx="2806358" cy="179984"/>
          </a:xfrm>
          <a:prstGeom prst="rect">
            <a:avLst/>
          </a:prstGeom>
          <a:noFill/>
        </p:spPr>
        <p:txBody>
          <a:bodyPr wrap="none" lIns="0" rIns="0" tIns="0" bIns="0">
            <a:spAutoFit/>
          </a:bodyPr>
          <a:lstStyle/>
          <a:p>
            <a:r>
              <a:rPr sz="1055" b="0">
                <a:solidFill>
                  <a:srgbClr val="252423"/>
                </a:solidFill>
                <a:latin typeface="Segoe UI"/>
              </a:rPr>
              <a:t>government and defense agencies segment in</a:t>
            </a:r>
          </a:p>
        </p:txBody>
      </p:sp>
      <p:sp>
        <p:nvSpPr>
          <p:cNvPr id="116" name="TextBox 115"/>
          <p:cNvSpPr txBox="1"/>
          <p:nvPr/>
        </p:nvSpPr>
        <p:spPr>
          <a:xfrm>
            <a:off x="485775" y="5887061"/>
            <a:ext cx="394454" cy="179984"/>
          </a:xfrm>
          <a:prstGeom prst="rect">
            <a:avLst/>
          </a:prstGeom>
          <a:noFill/>
        </p:spPr>
        <p:txBody>
          <a:bodyPr wrap="none" lIns="0" rIns="0" tIns="0" bIns="0">
            <a:spAutoFit/>
          </a:bodyPr>
          <a:lstStyle/>
          <a:p>
            <a:r>
              <a:rPr sz="1055" b="0">
                <a:solidFill>
                  <a:srgbClr val="252423"/>
                </a:solidFill>
                <a:latin typeface="Segoe UI"/>
              </a:rPr>
              <a:t>2036.</a:t>
            </a:r>
          </a:p>
        </p:txBody>
      </p:sp>
      <p:sp>
        <p:nvSpPr>
          <p:cNvPr id="117" name="TextBox 116"/>
          <p:cNvSpPr txBox="1"/>
          <p:nvPr/>
        </p:nvSpPr>
        <p:spPr>
          <a:xfrm>
            <a:off x="3838575" y="4229437"/>
            <a:ext cx="2466121" cy="179984"/>
          </a:xfrm>
          <a:prstGeom prst="rect">
            <a:avLst/>
          </a:prstGeom>
          <a:noFill/>
        </p:spPr>
        <p:txBody>
          <a:bodyPr wrap="none" lIns="0" rIns="0" tIns="0" bIns="0">
            <a:spAutoFit/>
          </a:bodyPr>
          <a:lstStyle/>
          <a:p>
            <a:r>
              <a:rPr sz="1055" b="0">
                <a:solidFill>
                  <a:srgbClr val="252423"/>
                </a:solidFill>
                <a:latin typeface="Segoe UI"/>
              </a:rPr>
              <a:t>● Academic Institutions and Universities:</a:t>
            </a:r>
          </a:p>
        </p:txBody>
      </p:sp>
      <p:pic>
        <p:nvPicPr>
          <p:cNvPr id="118" name="Picture 117" descr="lock.png"/>
          <p:cNvPicPr>
            <a:picLocks noChangeAspect="1"/>
          </p:cNvPicPr>
          <p:nvPr/>
        </p:nvPicPr>
        <p:blipFill>
          <a:blip r:embed="rId22"/>
          <a:stretch>
            <a:fillRect/>
          </a:stretch>
        </p:blipFill>
        <p:spPr>
          <a:xfrm>
            <a:off x="6251778" y="4220049"/>
            <a:ext cx="123551" cy="179710"/>
          </a:xfrm>
          <a:prstGeom prst="rect">
            <a:avLst/>
          </a:prstGeom>
        </p:spPr>
      </p:pic>
      <p:sp>
        <p:nvSpPr>
          <p:cNvPr id="119" name="TextBox 118"/>
          <p:cNvSpPr txBox="1"/>
          <p:nvPr/>
        </p:nvSpPr>
        <p:spPr>
          <a:xfrm>
            <a:off x="6412574" y="4229437"/>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20" name="Picture 119" descr="lock.png"/>
          <p:cNvPicPr>
            <a:picLocks noChangeAspect="1"/>
          </p:cNvPicPr>
          <p:nvPr/>
        </p:nvPicPr>
        <p:blipFill>
          <a:blip r:embed="rId22"/>
          <a:stretch>
            <a:fillRect/>
          </a:stretch>
        </p:blipFill>
        <p:spPr>
          <a:xfrm>
            <a:off x="7295723" y="4220049"/>
            <a:ext cx="123551" cy="179710"/>
          </a:xfrm>
          <a:prstGeom prst="rect">
            <a:avLst/>
          </a:prstGeom>
        </p:spPr>
      </p:pic>
      <p:sp>
        <p:nvSpPr>
          <p:cNvPr id="121" name="TextBox 120"/>
          <p:cNvSpPr txBox="1"/>
          <p:nvPr/>
        </p:nvSpPr>
        <p:spPr>
          <a:xfrm>
            <a:off x="3838575" y="4390371"/>
            <a:ext cx="1568953" cy="179984"/>
          </a:xfrm>
          <a:prstGeom prst="rect">
            <a:avLst/>
          </a:prstGeom>
          <a:noFill/>
        </p:spPr>
        <p:txBody>
          <a:bodyPr wrap="none" lIns="0" rIns="0" tIns="0" bIns="0">
            <a:spAutoFit/>
          </a:bodyPr>
          <a:lstStyle/>
          <a:p>
            <a:r>
              <a:rPr sz="1055" b="0">
                <a:solidFill>
                  <a:srgbClr val="252423"/>
                </a:solidFill>
                <a:latin typeface="Segoe UI"/>
              </a:rPr>
              <a:t>CAGR leads the segment.</a:t>
            </a:r>
          </a:p>
        </p:txBody>
      </p:sp>
      <p:sp>
        <p:nvSpPr>
          <p:cNvPr id="122" name="TextBox 121"/>
          <p:cNvSpPr txBox="1"/>
          <p:nvPr/>
        </p:nvSpPr>
        <p:spPr>
          <a:xfrm>
            <a:off x="3838575" y="4599586"/>
            <a:ext cx="2303700" cy="179984"/>
          </a:xfrm>
          <a:prstGeom prst="rect">
            <a:avLst/>
          </a:prstGeom>
          <a:noFill/>
        </p:spPr>
        <p:txBody>
          <a:bodyPr wrap="none" lIns="0" rIns="0" tIns="0" bIns="0">
            <a:spAutoFit/>
          </a:bodyPr>
          <a:lstStyle/>
          <a:p>
            <a:r>
              <a:rPr sz="1055" b="0">
                <a:solidFill>
                  <a:srgbClr val="252423"/>
                </a:solidFill>
                <a:latin typeface="Segoe UI"/>
              </a:rPr>
              <a:t>● Government and Defense Agencies:</a:t>
            </a:r>
          </a:p>
        </p:txBody>
      </p:sp>
      <p:pic>
        <p:nvPicPr>
          <p:cNvPr id="123" name="Picture 122" descr="lock.png"/>
          <p:cNvPicPr>
            <a:picLocks noChangeAspect="1"/>
          </p:cNvPicPr>
          <p:nvPr/>
        </p:nvPicPr>
        <p:blipFill>
          <a:blip r:embed="rId22"/>
          <a:stretch>
            <a:fillRect/>
          </a:stretch>
        </p:blipFill>
        <p:spPr>
          <a:xfrm>
            <a:off x="6089356" y="4590198"/>
            <a:ext cx="123551" cy="179710"/>
          </a:xfrm>
          <a:prstGeom prst="rect">
            <a:avLst/>
          </a:prstGeom>
        </p:spPr>
      </p:pic>
      <p:sp>
        <p:nvSpPr>
          <p:cNvPr id="124" name="TextBox 123"/>
          <p:cNvSpPr txBox="1"/>
          <p:nvPr/>
        </p:nvSpPr>
        <p:spPr>
          <a:xfrm>
            <a:off x="6250152" y="4599586"/>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25" name="Picture 124" descr="lock.png"/>
          <p:cNvPicPr>
            <a:picLocks noChangeAspect="1"/>
          </p:cNvPicPr>
          <p:nvPr/>
        </p:nvPicPr>
        <p:blipFill>
          <a:blip r:embed="rId22"/>
          <a:stretch>
            <a:fillRect/>
          </a:stretch>
        </p:blipFill>
        <p:spPr>
          <a:xfrm>
            <a:off x="7133301" y="4590198"/>
            <a:ext cx="123551" cy="179710"/>
          </a:xfrm>
          <a:prstGeom prst="rect">
            <a:avLst/>
          </a:prstGeom>
        </p:spPr>
      </p:pic>
      <p:sp>
        <p:nvSpPr>
          <p:cNvPr id="126" name="TextBox 125"/>
          <p:cNvSpPr txBox="1"/>
          <p:nvPr/>
        </p:nvSpPr>
        <p:spPr>
          <a:xfrm>
            <a:off x="7294097" y="4599586"/>
            <a:ext cx="417737" cy="179984"/>
          </a:xfrm>
          <a:prstGeom prst="rect">
            <a:avLst/>
          </a:prstGeom>
          <a:noFill/>
        </p:spPr>
        <p:txBody>
          <a:bodyPr wrap="none" lIns="0" rIns="0" tIns="0" bIns="0">
            <a:spAutoFit/>
          </a:bodyPr>
          <a:lstStyle/>
          <a:p>
            <a:r>
              <a:rPr sz="1055" b="0">
                <a:solidFill>
                  <a:srgbClr val="252423"/>
                </a:solidFill>
                <a:latin typeface="Segoe UI"/>
              </a:rPr>
              <a:t>CAGR</a:t>
            </a:r>
          </a:p>
        </p:txBody>
      </p:sp>
      <p:sp>
        <p:nvSpPr>
          <p:cNvPr id="127" name="TextBox 126"/>
          <p:cNvSpPr txBox="1"/>
          <p:nvPr/>
        </p:nvSpPr>
        <p:spPr>
          <a:xfrm>
            <a:off x="3838575" y="4760520"/>
            <a:ext cx="885279" cy="179984"/>
          </a:xfrm>
          <a:prstGeom prst="rect">
            <a:avLst/>
          </a:prstGeom>
          <a:noFill/>
        </p:spPr>
        <p:txBody>
          <a:bodyPr wrap="none" lIns="0" rIns="0" tIns="0" bIns="0">
            <a:spAutoFit/>
          </a:bodyPr>
          <a:lstStyle/>
          <a:p>
            <a:r>
              <a:rPr sz="1055" b="0">
                <a:solidFill>
                  <a:srgbClr val="252423"/>
                </a:solidFill>
                <a:latin typeface="Segoe UI"/>
              </a:rPr>
              <a:t>grows fastest.</a:t>
            </a:r>
          </a:p>
        </p:txBody>
      </p:sp>
      <p:sp>
        <p:nvSpPr>
          <p:cNvPr id="128" name="TextBox 127"/>
          <p:cNvSpPr txBox="1"/>
          <p:nvPr/>
        </p:nvSpPr>
        <p:spPr>
          <a:xfrm>
            <a:off x="3838575" y="4969735"/>
            <a:ext cx="1181330" cy="179984"/>
          </a:xfrm>
          <a:prstGeom prst="rect">
            <a:avLst/>
          </a:prstGeom>
          <a:noFill/>
        </p:spPr>
        <p:txBody>
          <a:bodyPr wrap="none" lIns="0" rIns="0" tIns="0" bIns="0">
            <a:spAutoFit/>
          </a:bodyPr>
          <a:lstStyle/>
          <a:p>
            <a:r>
              <a:rPr sz="1055" b="0">
                <a:solidFill>
                  <a:srgbClr val="252423"/>
                </a:solidFill>
                <a:latin typeface="Segoe UI"/>
              </a:rPr>
              <a:t>● Other End Users:</a:t>
            </a:r>
          </a:p>
        </p:txBody>
      </p:sp>
      <p:pic>
        <p:nvPicPr>
          <p:cNvPr id="129" name="Picture 128" descr="lock.png"/>
          <p:cNvPicPr>
            <a:picLocks noChangeAspect="1"/>
          </p:cNvPicPr>
          <p:nvPr/>
        </p:nvPicPr>
        <p:blipFill>
          <a:blip r:embed="rId22"/>
          <a:stretch>
            <a:fillRect/>
          </a:stretch>
        </p:blipFill>
        <p:spPr>
          <a:xfrm>
            <a:off x="4966987" y="4960347"/>
            <a:ext cx="123551" cy="179710"/>
          </a:xfrm>
          <a:prstGeom prst="rect">
            <a:avLst/>
          </a:prstGeom>
        </p:spPr>
      </p:pic>
      <p:sp>
        <p:nvSpPr>
          <p:cNvPr id="130" name="TextBox 129"/>
          <p:cNvSpPr txBox="1"/>
          <p:nvPr/>
        </p:nvSpPr>
        <p:spPr>
          <a:xfrm>
            <a:off x="5127783" y="4969735"/>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31" name="Picture 130" descr="lock.png"/>
          <p:cNvPicPr>
            <a:picLocks noChangeAspect="1"/>
          </p:cNvPicPr>
          <p:nvPr/>
        </p:nvPicPr>
        <p:blipFill>
          <a:blip r:embed="rId22"/>
          <a:stretch>
            <a:fillRect/>
          </a:stretch>
        </p:blipFill>
        <p:spPr>
          <a:xfrm>
            <a:off x="6010931" y="4960347"/>
            <a:ext cx="123551" cy="179710"/>
          </a:xfrm>
          <a:prstGeom prst="rect">
            <a:avLst/>
          </a:prstGeom>
        </p:spPr>
      </p:pic>
      <p:sp>
        <p:nvSpPr>
          <p:cNvPr id="132" name="TextBox 131"/>
          <p:cNvSpPr txBox="1"/>
          <p:nvPr/>
        </p:nvSpPr>
        <p:spPr>
          <a:xfrm>
            <a:off x="6171727" y="4969735"/>
            <a:ext cx="1306827" cy="179984"/>
          </a:xfrm>
          <a:prstGeom prst="rect">
            <a:avLst/>
          </a:prstGeom>
          <a:noFill/>
        </p:spPr>
        <p:txBody>
          <a:bodyPr wrap="none" lIns="0" rIns="0" tIns="0" bIns="0">
            <a:spAutoFit/>
          </a:bodyPr>
          <a:lstStyle/>
          <a:p>
            <a:r>
              <a:rPr sz="1055" b="0">
                <a:solidFill>
                  <a:srgbClr val="252423"/>
                </a:solidFill>
                <a:latin typeface="Segoe UI"/>
              </a:rPr>
              <a:t>CAGR serves a niche.</a:t>
            </a:r>
          </a:p>
        </p:txBody>
      </p:sp>
      <p:sp>
        <p:nvSpPr>
          <p:cNvPr id="133" name="TextBox 132"/>
          <p:cNvSpPr txBox="1"/>
          <p:nvPr/>
        </p:nvSpPr>
        <p:spPr>
          <a:xfrm>
            <a:off x="3838575" y="5178949"/>
            <a:ext cx="3074267" cy="179984"/>
          </a:xfrm>
          <a:prstGeom prst="rect">
            <a:avLst/>
          </a:prstGeom>
          <a:noFill/>
        </p:spPr>
        <p:txBody>
          <a:bodyPr wrap="none" lIns="0" rIns="0" tIns="0" bIns="0">
            <a:spAutoFit/>
          </a:bodyPr>
          <a:lstStyle/>
          <a:p>
            <a:r>
              <a:rPr sz="1055" b="1">
                <a:solidFill>
                  <a:srgbClr val="8E44AD"/>
                </a:solidFill>
                <a:latin typeface="Segoe UI"/>
              </a:rPr>
              <a:t>● Healthcare and Medical Research Institutions:</a:t>
            </a:r>
          </a:p>
        </p:txBody>
      </p:sp>
      <p:pic>
        <p:nvPicPr>
          <p:cNvPr id="134" name="Picture 133" descr="lock.png"/>
          <p:cNvPicPr>
            <a:picLocks noChangeAspect="1"/>
          </p:cNvPicPr>
          <p:nvPr/>
        </p:nvPicPr>
        <p:blipFill>
          <a:blip r:embed="rId22"/>
          <a:stretch>
            <a:fillRect/>
          </a:stretch>
        </p:blipFill>
        <p:spPr>
          <a:xfrm>
            <a:off x="6859923" y="5169562"/>
            <a:ext cx="123551" cy="179710"/>
          </a:xfrm>
          <a:prstGeom prst="rect">
            <a:avLst/>
          </a:prstGeom>
        </p:spPr>
      </p:pic>
      <p:sp>
        <p:nvSpPr>
          <p:cNvPr id="135" name="TextBox 134"/>
          <p:cNvSpPr txBox="1"/>
          <p:nvPr/>
        </p:nvSpPr>
        <p:spPr>
          <a:xfrm>
            <a:off x="7020719" y="5178949"/>
            <a:ext cx="555512" cy="179984"/>
          </a:xfrm>
          <a:prstGeom prst="rect">
            <a:avLst/>
          </a:prstGeom>
          <a:noFill/>
        </p:spPr>
        <p:txBody>
          <a:bodyPr wrap="none" lIns="0" rIns="0" tIns="0" bIns="0">
            <a:spAutoFit/>
          </a:bodyPr>
          <a:lstStyle/>
          <a:p>
            <a:r>
              <a:rPr sz="1055" b="1">
                <a:solidFill>
                  <a:srgbClr val="8E44AD"/>
                </a:solidFill>
                <a:latin typeface="Segoe UI"/>
              </a:rPr>
              <a:t>of 2026</a:t>
            </a:r>
          </a:p>
        </p:txBody>
      </p:sp>
      <p:sp>
        <p:nvSpPr>
          <p:cNvPr id="136" name="TextBox 135"/>
          <p:cNvSpPr txBox="1"/>
          <p:nvPr/>
        </p:nvSpPr>
        <p:spPr>
          <a:xfrm>
            <a:off x="3838575" y="5339884"/>
            <a:ext cx="486623" cy="179984"/>
          </a:xfrm>
          <a:prstGeom prst="rect">
            <a:avLst/>
          </a:prstGeom>
          <a:noFill/>
        </p:spPr>
        <p:txBody>
          <a:bodyPr wrap="none" lIns="0" rIns="0" tIns="0" bIns="0">
            <a:spAutoFit/>
          </a:bodyPr>
          <a:lstStyle/>
          <a:p>
            <a:r>
              <a:rPr sz="1055" b="1">
                <a:solidFill>
                  <a:srgbClr val="8E44AD"/>
                </a:solidFill>
                <a:latin typeface="Segoe UI"/>
              </a:rPr>
              <a:t>value ·</a:t>
            </a:r>
          </a:p>
        </p:txBody>
      </p:sp>
      <p:pic>
        <p:nvPicPr>
          <p:cNvPr id="137" name="Picture 136" descr="lock.png"/>
          <p:cNvPicPr>
            <a:picLocks noChangeAspect="1"/>
          </p:cNvPicPr>
          <p:nvPr/>
        </p:nvPicPr>
        <p:blipFill>
          <a:blip r:embed="rId22"/>
          <a:stretch>
            <a:fillRect/>
          </a:stretch>
        </p:blipFill>
        <p:spPr>
          <a:xfrm>
            <a:off x="4272279" y="5330496"/>
            <a:ext cx="123551" cy="179710"/>
          </a:xfrm>
          <a:prstGeom prst="rect">
            <a:avLst/>
          </a:prstGeom>
        </p:spPr>
      </p:pic>
      <p:sp>
        <p:nvSpPr>
          <p:cNvPr id="138" name="TextBox 137"/>
          <p:cNvSpPr txBox="1"/>
          <p:nvPr/>
        </p:nvSpPr>
        <p:spPr>
          <a:xfrm>
            <a:off x="4433075" y="5339884"/>
            <a:ext cx="1383051" cy="179984"/>
          </a:xfrm>
          <a:prstGeom prst="rect">
            <a:avLst/>
          </a:prstGeom>
          <a:noFill/>
        </p:spPr>
        <p:txBody>
          <a:bodyPr wrap="none" lIns="0" rIns="0" tIns="0" bIns="0">
            <a:spAutoFit/>
          </a:bodyPr>
          <a:lstStyle/>
          <a:p>
            <a:r>
              <a:rPr sz="1055" b="1">
                <a:solidFill>
                  <a:srgbClr val="8E44AD"/>
                </a:solidFill>
                <a:latin typeface="Segoe UI"/>
              </a:rPr>
              <a:t>CAGR serves a niche.</a:t>
            </a:r>
          </a:p>
        </p:txBody>
      </p:sp>
      <p:sp>
        <p:nvSpPr>
          <p:cNvPr id="139" name="TextBox 138"/>
          <p:cNvSpPr txBox="1"/>
          <p:nvPr/>
        </p:nvSpPr>
        <p:spPr>
          <a:xfrm>
            <a:off x="3838575" y="5549099"/>
            <a:ext cx="2458214" cy="179984"/>
          </a:xfrm>
          <a:prstGeom prst="rect">
            <a:avLst/>
          </a:prstGeom>
          <a:noFill/>
        </p:spPr>
        <p:txBody>
          <a:bodyPr wrap="none" lIns="0" rIns="0" tIns="0" bIns="0">
            <a:spAutoFit/>
          </a:bodyPr>
          <a:lstStyle/>
          <a:p>
            <a:r>
              <a:rPr sz="1055" b="0">
                <a:solidFill>
                  <a:srgbClr val="252423"/>
                </a:solidFill>
                <a:latin typeface="Segoe UI"/>
              </a:rPr>
              <a:t>● Commercial and Industrial Enterprises:</a:t>
            </a:r>
          </a:p>
        </p:txBody>
      </p:sp>
      <p:pic>
        <p:nvPicPr>
          <p:cNvPr id="140" name="Picture 139" descr="lock.png"/>
          <p:cNvPicPr>
            <a:picLocks noChangeAspect="1"/>
          </p:cNvPicPr>
          <p:nvPr/>
        </p:nvPicPr>
        <p:blipFill>
          <a:blip r:embed="rId22"/>
          <a:stretch>
            <a:fillRect/>
          </a:stretch>
        </p:blipFill>
        <p:spPr>
          <a:xfrm>
            <a:off x="6243871" y="5539711"/>
            <a:ext cx="123551" cy="179710"/>
          </a:xfrm>
          <a:prstGeom prst="rect">
            <a:avLst/>
          </a:prstGeom>
        </p:spPr>
      </p:pic>
      <p:sp>
        <p:nvSpPr>
          <p:cNvPr id="141" name="TextBox 140"/>
          <p:cNvSpPr txBox="1"/>
          <p:nvPr/>
        </p:nvSpPr>
        <p:spPr>
          <a:xfrm>
            <a:off x="6404667" y="5549099"/>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42" name="Picture 141" descr="lock.png"/>
          <p:cNvPicPr>
            <a:picLocks noChangeAspect="1"/>
          </p:cNvPicPr>
          <p:nvPr/>
        </p:nvPicPr>
        <p:blipFill>
          <a:blip r:embed="rId22"/>
          <a:stretch>
            <a:fillRect/>
          </a:stretch>
        </p:blipFill>
        <p:spPr>
          <a:xfrm>
            <a:off x="7287815" y="5539711"/>
            <a:ext cx="123551" cy="179710"/>
          </a:xfrm>
          <a:prstGeom prst="rect">
            <a:avLst/>
          </a:prstGeom>
        </p:spPr>
      </p:pic>
      <p:sp>
        <p:nvSpPr>
          <p:cNvPr id="143" name="TextBox 142"/>
          <p:cNvSpPr txBox="1"/>
          <p:nvPr/>
        </p:nvSpPr>
        <p:spPr>
          <a:xfrm>
            <a:off x="3838575" y="5710033"/>
            <a:ext cx="1306827" cy="179984"/>
          </a:xfrm>
          <a:prstGeom prst="rect">
            <a:avLst/>
          </a:prstGeom>
          <a:noFill/>
        </p:spPr>
        <p:txBody>
          <a:bodyPr wrap="none" lIns="0" rIns="0" tIns="0" bIns="0">
            <a:spAutoFit/>
          </a:bodyPr>
          <a:lstStyle/>
          <a:p>
            <a:r>
              <a:rPr sz="1055" b="0">
                <a:solidFill>
                  <a:srgbClr val="252423"/>
                </a:solidFill>
                <a:latin typeface="Segoe UI"/>
              </a:rPr>
              <a:t>CAGR serves a niche.</a:t>
            </a:r>
          </a:p>
        </p:txBody>
      </p:sp>
      <p:sp>
        <p:nvSpPr>
          <p:cNvPr id="144" name="TextBox 143"/>
          <p:cNvSpPr txBox="1"/>
          <p:nvPr/>
        </p:nvSpPr>
        <p:spPr>
          <a:xfrm>
            <a:off x="3838575" y="5919248"/>
            <a:ext cx="2240765" cy="179984"/>
          </a:xfrm>
          <a:prstGeom prst="rect">
            <a:avLst/>
          </a:prstGeom>
          <a:noFill/>
        </p:spPr>
        <p:txBody>
          <a:bodyPr wrap="none" lIns="0" rIns="0" tIns="0" bIns="0">
            <a:spAutoFit/>
          </a:bodyPr>
          <a:lstStyle/>
          <a:p>
            <a:r>
              <a:rPr sz="1055" b="0">
                <a:solidFill>
                  <a:srgbClr val="252423"/>
                </a:solidFill>
                <a:latin typeface="Segoe UI"/>
              </a:rPr>
              <a:t>● Independent Research Institutions:</a:t>
            </a:r>
          </a:p>
        </p:txBody>
      </p:sp>
      <p:pic>
        <p:nvPicPr>
          <p:cNvPr id="145" name="Picture 144" descr="lock.png"/>
          <p:cNvPicPr>
            <a:picLocks noChangeAspect="1"/>
          </p:cNvPicPr>
          <p:nvPr/>
        </p:nvPicPr>
        <p:blipFill>
          <a:blip r:embed="rId22"/>
          <a:stretch>
            <a:fillRect/>
          </a:stretch>
        </p:blipFill>
        <p:spPr>
          <a:xfrm>
            <a:off x="6026422" y="5909860"/>
            <a:ext cx="123551" cy="179710"/>
          </a:xfrm>
          <a:prstGeom prst="rect">
            <a:avLst/>
          </a:prstGeom>
        </p:spPr>
      </p:pic>
      <p:sp>
        <p:nvSpPr>
          <p:cNvPr id="146" name="TextBox 145"/>
          <p:cNvSpPr txBox="1"/>
          <p:nvPr/>
        </p:nvSpPr>
        <p:spPr>
          <a:xfrm>
            <a:off x="6187218" y="5919248"/>
            <a:ext cx="936067" cy="179984"/>
          </a:xfrm>
          <a:prstGeom prst="rect">
            <a:avLst/>
          </a:prstGeom>
          <a:noFill/>
        </p:spPr>
        <p:txBody>
          <a:bodyPr wrap="none" lIns="0" rIns="0" tIns="0" bIns="0">
            <a:spAutoFit/>
          </a:bodyPr>
          <a:lstStyle/>
          <a:p>
            <a:r>
              <a:rPr sz="1055" b="0">
                <a:solidFill>
                  <a:srgbClr val="252423"/>
                </a:solidFill>
                <a:latin typeface="Segoe UI"/>
              </a:rPr>
              <a:t>of 2026 value ·</a:t>
            </a:r>
          </a:p>
        </p:txBody>
      </p:sp>
      <p:pic>
        <p:nvPicPr>
          <p:cNvPr id="147" name="Picture 146" descr="lock.png"/>
          <p:cNvPicPr>
            <a:picLocks noChangeAspect="1"/>
          </p:cNvPicPr>
          <p:nvPr/>
        </p:nvPicPr>
        <p:blipFill>
          <a:blip r:embed="rId22"/>
          <a:stretch>
            <a:fillRect/>
          </a:stretch>
        </p:blipFill>
        <p:spPr>
          <a:xfrm>
            <a:off x="7070366" y="5909860"/>
            <a:ext cx="123551" cy="179710"/>
          </a:xfrm>
          <a:prstGeom prst="rect">
            <a:avLst/>
          </a:prstGeom>
        </p:spPr>
      </p:pic>
      <p:sp>
        <p:nvSpPr>
          <p:cNvPr id="148" name="TextBox 147"/>
          <p:cNvSpPr txBox="1"/>
          <p:nvPr/>
        </p:nvSpPr>
        <p:spPr>
          <a:xfrm>
            <a:off x="7231162" y="5919248"/>
            <a:ext cx="417737" cy="179984"/>
          </a:xfrm>
          <a:prstGeom prst="rect">
            <a:avLst/>
          </a:prstGeom>
          <a:noFill/>
        </p:spPr>
        <p:txBody>
          <a:bodyPr wrap="none" lIns="0" rIns="0" tIns="0" bIns="0">
            <a:spAutoFit/>
          </a:bodyPr>
          <a:lstStyle/>
          <a:p>
            <a:r>
              <a:rPr sz="1055" b="0">
                <a:solidFill>
                  <a:srgbClr val="252423"/>
                </a:solidFill>
                <a:latin typeface="Segoe UI"/>
              </a:rPr>
              <a:t>CAGR</a:t>
            </a:r>
          </a:p>
        </p:txBody>
      </p:sp>
      <p:sp>
        <p:nvSpPr>
          <p:cNvPr id="149" name="TextBox 148"/>
          <p:cNvSpPr txBox="1"/>
          <p:nvPr/>
        </p:nvSpPr>
        <p:spPr>
          <a:xfrm>
            <a:off x="3838575" y="6080182"/>
            <a:ext cx="928618" cy="179984"/>
          </a:xfrm>
          <a:prstGeom prst="rect">
            <a:avLst/>
          </a:prstGeom>
          <a:noFill/>
        </p:spPr>
        <p:txBody>
          <a:bodyPr wrap="none" lIns="0" rIns="0" tIns="0" bIns="0">
            <a:spAutoFit/>
          </a:bodyPr>
          <a:lstStyle/>
          <a:p>
            <a:r>
              <a:rPr sz="1055" b="0">
                <a:solidFill>
                  <a:srgbClr val="252423"/>
                </a:solidFill>
                <a:latin typeface="Segoe UI"/>
              </a:rPr>
              <a:t>serves a niche.</a:t>
            </a:r>
          </a:p>
        </p:txBody>
      </p:sp>
      <p:sp>
        <p:nvSpPr>
          <p:cNvPr id="150" name="TextBox 149"/>
          <p:cNvSpPr txBox="1"/>
          <p:nvPr/>
        </p:nvSpPr>
        <p:spPr>
          <a:xfrm>
            <a:off x="8524875" y="5842641"/>
            <a:ext cx="3162300" cy="194310"/>
          </a:xfrm>
          <a:prstGeom prst="rect">
            <a:avLst/>
          </a:prstGeom>
          <a:noFill/>
        </p:spPr>
        <p:txBody>
          <a:bodyPr wrap="none" lIns="0" rIns="0" tIns="0" bIns="0">
            <a:spAutoFit/>
          </a:bodyPr>
          <a:lstStyle/>
          <a:p>
            <a:r>
              <a:rPr sz="1150" b="1">
                <a:solidFill>
                  <a:srgbClr val="0E3A5F"/>
                </a:solidFill>
                <a:latin typeface="Segoe UI"/>
              </a:rPr>
              <a:t>The End User segment is projected to grow at</a:t>
            </a:r>
          </a:p>
        </p:txBody>
      </p:sp>
      <p:sp>
        <p:nvSpPr>
          <p:cNvPr id="151" name="TextBox 150"/>
          <p:cNvSpPr txBox="1"/>
          <p:nvPr/>
        </p:nvSpPr>
        <p:spPr>
          <a:xfrm>
            <a:off x="8524875" y="6017901"/>
            <a:ext cx="773587" cy="194310"/>
          </a:xfrm>
          <a:prstGeom prst="rect">
            <a:avLst/>
          </a:prstGeom>
          <a:noFill/>
        </p:spPr>
        <p:txBody>
          <a:bodyPr wrap="none" lIns="0" rIns="0" tIns="0" bIns="0">
            <a:spAutoFit/>
          </a:bodyPr>
          <a:lstStyle/>
          <a:p>
            <a:r>
              <a:rPr sz="1150" b="1">
                <a:solidFill>
                  <a:srgbClr val="0E3A5F"/>
                </a:solidFill>
                <a:latin typeface="Segoe UI"/>
              </a:rPr>
              <a:t>a CAGR of</a:t>
            </a:r>
          </a:p>
        </p:txBody>
      </p:sp>
      <p:pic>
        <p:nvPicPr>
          <p:cNvPr id="152" name="Picture 151" descr="lock.png"/>
          <p:cNvPicPr>
            <a:picLocks noChangeAspect="1"/>
          </p:cNvPicPr>
          <p:nvPr/>
        </p:nvPicPr>
        <p:blipFill>
          <a:blip r:embed="rId22"/>
          <a:stretch>
            <a:fillRect/>
          </a:stretch>
        </p:blipFill>
        <p:spPr>
          <a:xfrm>
            <a:off x="9247616" y="6007677"/>
            <a:ext cx="134549" cy="195707"/>
          </a:xfrm>
          <a:prstGeom prst="rect">
            <a:avLst/>
          </a:prstGeom>
        </p:spPr>
      </p:pic>
      <p:sp>
        <p:nvSpPr>
          <p:cNvPr id="153" name="TextBox 152"/>
          <p:cNvSpPr txBox="1"/>
          <p:nvPr/>
        </p:nvSpPr>
        <p:spPr>
          <a:xfrm>
            <a:off x="9422726" y="6017901"/>
            <a:ext cx="1392914" cy="194310"/>
          </a:xfrm>
          <a:prstGeom prst="rect">
            <a:avLst/>
          </a:prstGeom>
          <a:noFill/>
        </p:spPr>
        <p:txBody>
          <a:bodyPr wrap="none" lIns="0" rIns="0" tIns="0" bIns="0">
            <a:spAutoFit/>
          </a:bodyPr>
          <a:lstStyle/>
          <a:p>
            <a:r>
              <a:rPr sz="1150" b="1">
                <a:solidFill>
                  <a:srgbClr val="0E3A5F"/>
                </a:solidFill>
                <a:latin typeface="Segoe UI"/>
              </a:rPr>
              <a:t>from 2026 to 2036.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Structure &amp; Attractiveness, By End User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End User mix within each country and the attractiveness of each sub-segment on growth and size</a:t>
            </a:r>
          </a:p>
        </p:txBody>
      </p:sp>
      <p:sp>
        <p:nvSpPr>
          <p:cNvPr id="8" name="Rectangle 7"/>
          <p:cNvSpPr/>
          <p:nvPr/>
        </p:nvSpPr>
        <p:spPr>
          <a:xfrm>
            <a:off x="142875" y="981075"/>
            <a:ext cx="6343650"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End User mix within each country (share of 2036 value) · row label = country size (US$ Mn), largest first</a:t>
            </a:r>
          </a:p>
        </p:txBody>
      </p:sp>
      <p:graphicFrame>
        <p:nvGraphicFramePr>
          <p:cNvPr id="10" name="Chart 9"/>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1" name="Rectangle 10"/>
          <p:cNvSpPr/>
          <p:nvPr/>
        </p:nvSpPr>
        <p:spPr>
          <a:xfrm>
            <a:off x="6638925" y="981075"/>
            <a:ext cx="5400675" cy="4324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Attractiveness, By End User · Bubble size represents 2036 value</a:t>
            </a:r>
          </a:p>
        </p:txBody>
      </p:sp>
      <p:graphicFrame>
        <p:nvGraphicFramePr>
          <p:cNvPr id="13" name="Chart 12"/>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4" name="Rectangle 13"/>
          <p:cNvSpPr/>
          <p:nvPr/>
        </p:nvSpPr>
        <p:spPr>
          <a:xfrm>
            <a:off x="142875" y="5438775"/>
            <a:ext cx="11906250" cy="1181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54954" cy="186689"/>
          </a:xfrm>
          <a:prstGeom prst="rect">
            <a:avLst/>
          </a:prstGeom>
          <a:noFill/>
        </p:spPr>
        <p:txBody>
          <a:bodyPr wrap="none" lIns="0" rIns="0" tIns="0" bIns="0">
            <a:spAutoFit/>
          </a:bodyPr>
          <a:lstStyle/>
          <a:p>
            <a:r>
              <a:rPr sz="1100" b="0">
                <a:solidFill>
                  <a:srgbClr val="252423"/>
                </a:solidFill>
                <a:latin typeface="Segoe UI"/>
              </a:rPr>
              <a:t>Academic institutions and universities followed by government and defense agencies are expected to be the two most attractive end user segments in the Western Europe Helium-3 market</a:t>
            </a:r>
          </a:p>
        </p:txBody>
      </p:sp>
      <p:sp>
        <p:nvSpPr>
          <p:cNvPr id="18" name="TextBox 17"/>
          <p:cNvSpPr txBox="1"/>
          <p:nvPr/>
        </p:nvSpPr>
        <p:spPr>
          <a:xfrm>
            <a:off x="257175" y="5861685"/>
            <a:ext cx="8920188" cy="186689"/>
          </a:xfrm>
          <a:prstGeom prst="rect">
            <a:avLst/>
          </a:prstGeom>
          <a:noFill/>
        </p:spPr>
        <p:txBody>
          <a:bodyPr wrap="none" lIns="0" rIns="0" tIns="0" bIns="0">
            <a:spAutoFit/>
          </a:bodyPr>
          <a:lstStyle/>
          <a:p>
            <a:r>
              <a:rPr sz="1100" b="0">
                <a:solidFill>
                  <a:srgbClr val="252423"/>
                </a:solidFill>
                <a:latin typeface="Segoe UI"/>
              </a:rPr>
              <a:t>in terms of value over the forecast period. Academic institutions and universities and government and defense agencies exhibit a CAGR index of</a:t>
            </a:r>
          </a:p>
        </p:txBody>
      </p:sp>
      <p:pic>
        <p:nvPicPr>
          <p:cNvPr id="19" name="Picture 18" descr="lock.png"/>
          <p:cNvPicPr>
            <a:picLocks noChangeAspect="1"/>
          </p:cNvPicPr>
          <p:nvPr/>
        </p:nvPicPr>
        <p:blipFill>
          <a:blip r:embed="rId6"/>
          <a:stretch>
            <a:fillRect/>
          </a:stretch>
        </p:blipFill>
        <p:spPr>
          <a:xfrm>
            <a:off x="9125415" y="5851905"/>
            <a:ext cx="128699" cy="187198"/>
          </a:xfrm>
          <a:prstGeom prst="rect">
            <a:avLst/>
          </a:prstGeom>
        </p:spPr>
      </p:pic>
      <p:sp>
        <p:nvSpPr>
          <p:cNvPr id="20" name="TextBox 19"/>
          <p:cNvSpPr txBox="1"/>
          <p:nvPr/>
        </p:nvSpPr>
        <p:spPr>
          <a:xfrm>
            <a:off x="9292911" y="586168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1" name="Picture 20" descr="lock.png"/>
          <p:cNvPicPr>
            <a:picLocks noChangeAspect="1"/>
          </p:cNvPicPr>
          <p:nvPr/>
        </p:nvPicPr>
        <p:blipFill>
          <a:blip r:embed="rId6"/>
          <a:stretch>
            <a:fillRect/>
          </a:stretch>
        </p:blipFill>
        <p:spPr>
          <a:xfrm>
            <a:off x="9549905" y="5851905"/>
            <a:ext cx="128699" cy="187198"/>
          </a:xfrm>
          <a:prstGeom prst="rect">
            <a:avLst/>
          </a:prstGeom>
        </p:spPr>
      </p:pic>
      <p:sp>
        <p:nvSpPr>
          <p:cNvPr id="22" name="TextBox 21"/>
          <p:cNvSpPr txBox="1"/>
          <p:nvPr/>
        </p:nvSpPr>
        <p:spPr>
          <a:xfrm>
            <a:off x="9717401" y="5861685"/>
            <a:ext cx="1790688" cy="186689"/>
          </a:xfrm>
          <a:prstGeom prst="rect">
            <a:avLst/>
          </a:prstGeom>
          <a:noFill/>
        </p:spPr>
        <p:txBody>
          <a:bodyPr wrap="none" lIns="0" rIns="0" tIns="0" bIns="0">
            <a:spAutoFit/>
          </a:bodyPr>
          <a:lstStyle/>
          <a:p>
            <a:r>
              <a:rPr sz="1100" b="0">
                <a:solidFill>
                  <a:srgbClr val="252423"/>
                </a:solidFill>
                <a:latin typeface="Segoe UI"/>
              </a:rPr>
              <a:t>and a market share index of</a:t>
            </a:r>
          </a:p>
        </p:txBody>
      </p:sp>
      <p:pic>
        <p:nvPicPr>
          <p:cNvPr id="23" name="Picture 22" descr="lock.png"/>
          <p:cNvPicPr>
            <a:picLocks noChangeAspect="1"/>
          </p:cNvPicPr>
          <p:nvPr/>
        </p:nvPicPr>
        <p:blipFill>
          <a:blip r:embed="rId6"/>
          <a:stretch>
            <a:fillRect/>
          </a:stretch>
        </p:blipFill>
        <p:spPr>
          <a:xfrm>
            <a:off x="243707" y="6019545"/>
            <a:ext cx="128699" cy="187198"/>
          </a:xfrm>
          <a:prstGeom prst="rect">
            <a:avLst/>
          </a:prstGeom>
        </p:spPr>
      </p:pic>
      <p:sp>
        <p:nvSpPr>
          <p:cNvPr id="24" name="TextBox 23"/>
          <p:cNvSpPr txBox="1"/>
          <p:nvPr/>
        </p:nvSpPr>
        <p:spPr>
          <a:xfrm>
            <a:off x="411203" y="6029325"/>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25" name="Picture 24" descr="lock.png"/>
          <p:cNvPicPr>
            <a:picLocks noChangeAspect="1"/>
          </p:cNvPicPr>
          <p:nvPr/>
        </p:nvPicPr>
        <p:blipFill>
          <a:blip r:embed="rId6"/>
          <a:stretch>
            <a:fillRect/>
          </a:stretch>
        </p:blipFill>
        <p:spPr>
          <a:xfrm>
            <a:off x="668197" y="6019545"/>
            <a:ext cx="128699" cy="187198"/>
          </a:xfrm>
          <a:prstGeom prst="rect">
            <a:avLst/>
          </a:prstGeom>
        </p:spPr>
      </p:pic>
      <p:sp>
        <p:nvSpPr>
          <p:cNvPr id="26" name="TextBox 25"/>
          <p:cNvSpPr txBox="1"/>
          <p:nvPr/>
        </p:nvSpPr>
        <p:spPr>
          <a:xfrm>
            <a:off x="835693" y="6029325"/>
            <a:ext cx="2811882" cy="186689"/>
          </a:xfrm>
          <a:prstGeom prst="rect">
            <a:avLst/>
          </a:prstGeom>
          <a:noFill/>
        </p:spPr>
        <p:txBody>
          <a:bodyPr wrap="none" lIns="0" rIns="0" tIns="0" bIns="0">
            <a:spAutoFit/>
          </a:bodyPr>
          <a:lstStyle/>
          <a:p>
            <a:r>
              <a:rPr sz="1100" b="0">
                <a:solidFill>
                  <a:srgbClr val="252423"/>
                </a:solidFill>
                <a:latin typeface="Segoe UI"/>
              </a:rPr>
              <a:t>respectively, against the segment average of</a:t>
            </a:r>
          </a:p>
        </p:txBody>
      </p:sp>
      <p:pic>
        <p:nvPicPr>
          <p:cNvPr id="27" name="Picture 26" descr="lock.png"/>
          <p:cNvPicPr>
            <a:picLocks noChangeAspect="1"/>
          </p:cNvPicPr>
          <p:nvPr/>
        </p:nvPicPr>
        <p:blipFill>
          <a:blip r:embed="rId6"/>
          <a:stretch>
            <a:fillRect/>
          </a:stretch>
        </p:blipFill>
        <p:spPr>
          <a:xfrm>
            <a:off x="3595627" y="6019545"/>
            <a:ext cx="128699" cy="187198"/>
          </a:xfrm>
          <a:prstGeom prst="rect">
            <a:avLst/>
          </a:prstGeom>
        </p:spPr>
      </p:pic>
      <p:sp>
        <p:nvSpPr>
          <p:cNvPr id="28" name="TextBox 27"/>
          <p:cNvSpPr txBox="1"/>
          <p:nvPr/>
        </p:nvSpPr>
        <p:spPr>
          <a:xfrm>
            <a:off x="3763122" y="6029325"/>
            <a:ext cx="7796897" cy="186689"/>
          </a:xfrm>
          <a:prstGeom prst="rect">
            <a:avLst/>
          </a:prstGeom>
          <a:noFill/>
        </p:spPr>
        <p:txBody>
          <a:bodyPr wrap="none" lIns="0" rIns="0" tIns="0" bIns="0">
            <a:spAutoFit/>
          </a:bodyPr>
          <a:lstStyle/>
          <a:p>
            <a:r>
              <a:rPr sz="1100" b="0">
                <a:solidFill>
                  <a:srgbClr val="252423"/>
                </a:solidFill>
                <a:latin typeface="Segoe UI"/>
              </a:rPr>
              <a:t>. The commercial and industrial enterprises segment is expected to be less attractive as compared to other segments over the</a:t>
            </a:r>
          </a:p>
        </p:txBody>
      </p:sp>
      <p:sp>
        <p:nvSpPr>
          <p:cNvPr id="29" name="TextBox 28"/>
          <p:cNvSpPr txBox="1"/>
          <p:nvPr/>
        </p:nvSpPr>
        <p:spPr>
          <a:xfrm>
            <a:off x="257175" y="6196965"/>
            <a:ext cx="9120095" cy="186689"/>
          </a:xfrm>
          <a:prstGeom prst="rect">
            <a:avLst/>
          </a:prstGeom>
          <a:noFill/>
        </p:spPr>
        <p:txBody>
          <a:bodyPr wrap="none" lIns="0" rIns="0" tIns="0" bIns="0">
            <a:spAutoFit/>
          </a:bodyPr>
          <a:lstStyle/>
          <a:p>
            <a:r>
              <a:rPr sz="1100" b="0">
                <a:solidFill>
                  <a:srgbClr val="252423"/>
                </a:solidFill>
                <a:latin typeface="Segoe UI"/>
              </a:rPr>
              <a:t>forecast period, owing to its lower CAGR and incremental opportunity. Bubbles right of the CAGR-Index line grow faster than the segment average.</a:t>
            </a:r>
          </a:p>
        </p:txBody>
      </p:sp>
      <p:sp>
        <p:nvSpPr>
          <p:cNvPr id="30" name="lockshield_10"/>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3"/>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Absolute $ Opportunity Analysis, By End User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End User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Government and Defense Agencies</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Academic Institutions and Universities</a:t>
            </a:r>
          </a:p>
        </p:txBody>
      </p:sp>
      <p:graphicFrame>
        <p:nvGraphicFramePr>
          <p:cNvPr id="13" name="Chart 12"/>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Independent Research Institutions</a:t>
            </a:r>
          </a:p>
        </p:txBody>
      </p:sp>
      <p:graphicFrame>
        <p:nvGraphicFramePr>
          <p:cNvPr id="16" name="Chart 15"/>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7" name="Rectangle 16"/>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Healthcare and Medical Research Institutions</a:t>
            </a:r>
          </a:p>
        </p:txBody>
      </p:sp>
      <p:graphicFrame>
        <p:nvGraphicFramePr>
          <p:cNvPr id="19" name="Chart 18"/>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0" name="TextBox 1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3"/>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6"/>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9"/>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Absolute $ Opportunity Analysis, By End User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build-up by End User and the absolute $ opportunity each sub-segment adds, 2026–2036</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Commercial and Industrial Enterprises</a:t>
            </a:r>
          </a:p>
        </p:txBody>
      </p:sp>
      <p:graphicFrame>
        <p:nvGraphicFramePr>
          <p:cNvPr id="10" name="Chart 9"/>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1" name="Rectangle 10"/>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Incremental $ Opportunity (US$ Mn), 2026-2036, By Other End Users</a:t>
            </a:r>
          </a:p>
        </p:txBody>
      </p:sp>
      <p:graphicFrame>
        <p:nvGraphicFramePr>
          <p:cNvPr id="13" name="Chart 12"/>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4" name="Rectangle 13"/>
          <p:cNvSpPr/>
          <p:nvPr/>
        </p:nvSpPr>
        <p:spPr>
          <a:xfrm>
            <a:off x="6172200" y="981075"/>
            <a:ext cx="5876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07BA5"/>
                </a:solidFill>
                <a:latin typeface="Segoe UI"/>
              </a:rPr>
              <a:t>Summary of Western Europe Absolute $ Opportunity Analysis, By End User</a:t>
            </a:r>
          </a:p>
        </p:txBody>
      </p:sp>
      <p:sp>
        <p:nvSpPr>
          <p:cNvPr id="16" name="Rectangle 15"/>
          <p:cNvSpPr/>
          <p:nvPr/>
        </p:nvSpPr>
        <p:spPr>
          <a:xfrm>
            <a:off x="6305550" y="150299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8" name="TextBox 1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598245"/>
            <a:ext cx="5438911" cy="194310"/>
          </a:xfrm>
          <a:prstGeom prst="rect">
            <a:avLst/>
          </a:prstGeom>
          <a:noFill/>
        </p:spPr>
        <p:txBody>
          <a:bodyPr wrap="none" lIns="0" rIns="0" tIns="0" bIns="0">
            <a:spAutoFit/>
          </a:bodyPr>
          <a:lstStyle/>
          <a:p>
            <a:r>
              <a:rPr sz="1150" b="0">
                <a:solidFill>
                  <a:srgbClr val="252423"/>
                </a:solidFill>
                <a:latin typeface="Segoe UI"/>
              </a:rPr>
              <a:t>By 2036, academic institutions and universities segment is anticipated to witness an</a:t>
            </a:r>
          </a:p>
        </p:txBody>
      </p:sp>
      <p:sp>
        <p:nvSpPr>
          <p:cNvPr id="22" name="TextBox 21"/>
          <p:cNvSpPr txBox="1"/>
          <p:nvPr/>
        </p:nvSpPr>
        <p:spPr>
          <a:xfrm>
            <a:off x="6305550" y="1773505"/>
            <a:ext cx="773003" cy="194310"/>
          </a:xfrm>
          <a:prstGeom prst="rect">
            <a:avLst/>
          </a:prstGeom>
          <a:noFill/>
        </p:spPr>
        <p:txBody>
          <a:bodyPr wrap="none" lIns="0" rIns="0" tIns="0" bIns="0">
            <a:spAutoFit/>
          </a:bodyPr>
          <a:lstStyle/>
          <a:p>
            <a:r>
              <a:rPr sz="1150" b="0">
                <a:solidFill>
                  <a:srgbClr val="252423"/>
                </a:solidFill>
                <a:latin typeface="Segoe UI"/>
              </a:rPr>
              <a:t>increase of</a:t>
            </a:r>
          </a:p>
        </p:txBody>
      </p:sp>
      <p:pic>
        <p:nvPicPr>
          <p:cNvPr id="23" name="Picture 22" descr="lock.png"/>
          <p:cNvPicPr>
            <a:picLocks noChangeAspect="1"/>
          </p:cNvPicPr>
          <p:nvPr/>
        </p:nvPicPr>
        <p:blipFill>
          <a:blip r:embed="rId6"/>
          <a:stretch>
            <a:fillRect/>
          </a:stretch>
        </p:blipFill>
        <p:spPr>
          <a:xfrm>
            <a:off x="7027707" y="1763281"/>
            <a:ext cx="134549" cy="195707"/>
          </a:xfrm>
          <a:prstGeom prst="rect">
            <a:avLst/>
          </a:prstGeom>
        </p:spPr>
      </p:pic>
      <p:sp>
        <p:nvSpPr>
          <p:cNvPr id="24" name="TextBox 23"/>
          <p:cNvSpPr txBox="1"/>
          <p:nvPr/>
        </p:nvSpPr>
        <p:spPr>
          <a:xfrm>
            <a:off x="7202817" y="1773505"/>
            <a:ext cx="4664326" cy="194310"/>
          </a:xfrm>
          <a:prstGeom prst="rect">
            <a:avLst/>
          </a:prstGeom>
          <a:noFill/>
        </p:spPr>
        <p:txBody>
          <a:bodyPr wrap="none" lIns="0" rIns="0" tIns="0" bIns="0">
            <a:spAutoFit/>
          </a:bodyPr>
          <a:lstStyle/>
          <a:p>
            <a:r>
              <a:rPr sz="1150" b="0">
                <a:solidFill>
                  <a:srgbClr val="252423"/>
                </a:solidFill>
                <a:latin typeface="Segoe UI"/>
              </a:rPr>
              <a:t>X in terms of value as compared to 2026. The academic institutions and</a:t>
            </a:r>
          </a:p>
        </p:txBody>
      </p:sp>
      <p:sp>
        <p:nvSpPr>
          <p:cNvPr id="25" name="TextBox 24"/>
          <p:cNvSpPr txBox="1"/>
          <p:nvPr/>
        </p:nvSpPr>
        <p:spPr>
          <a:xfrm>
            <a:off x="6305550" y="1948765"/>
            <a:ext cx="5033542" cy="194310"/>
          </a:xfrm>
          <a:prstGeom prst="rect">
            <a:avLst/>
          </a:prstGeom>
          <a:noFill/>
        </p:spPr>
        <p:txBody>
          <a:bodyPr wrap="none" lIns="0" rIns="0" tIns="0" bIns="0">
            <a:spAutoFit/>
          </a:bodyPr>
          <a:lstStyle/>
          <a:p>
            <a:r>
              <a:rPr sz="1150" b="0">
                <a:solidFill>
                  <a:srgbClr val="252423"/>
                </a:solidFill>
                <a:latin typeface="Segoe UI"/>
              </a:rPr>
              <a:t>universities segment is expected to create an incremental opportunity of US$</a:t>
            </a:r>
          </a:p>
        </p:txBody>
      </p:sp>
      <p:pic>
        <p:nvPicPr>
          <p:cNvPr id="26" name="Picture 25" descr="lock.png"/>
          <p:cNvPicPr>
            <a:picLocks noChangeAspect="1"/>
          </p:cNvPicPr>
          <p:nvPr/>
        </p:nvPicPr>
        <p:blipFill>
          <a:blip r:embed="rId6"/>
          <a:stretch>
            <a:fillRect/>
          </a:stretch>
        </p:blipFill>
        <p:spPr>
          <a:xfrm>
            <a:off x="11288246" y="1938541"/>
            <a:ext cx="134549" cy="195707"/>
          </a:xfrm>
          <a:prstGeom prst="rect">
            <a:avLst/>
          </a:prstGeom>
        </p:spPr>
      </p:pic>
      <p:sp>
        <p:nvSpPr>
          <p:cNvPr id="27" name="TextBox 26"/>
          <p:cNvSpPr txBox="1"/>
          <p:nvPr/>
        </p:nvSpPr>
        <p:spPr>
          <a:xfrm>
            <a:off x="11463356" y="1948765"/>
            <a:ext cx="290140" cy="194310"/>
          </a:xfrm>
          <a:prstGeom prst="rect">
            <a:avLst/>
          </a:prstGeom>
          <a:noFill/>
        </p:spPr>
        <p:txBody>
          <a:bodyPr wrap="none" lIns="0" rIns="0" tIns="0" bIns="0">
            <a:spAutoFit/>
          </a:bodyPr>
          <a:lstStyle/>
          <a:p>
            <a:r>
              <a:rPr sz="1150" b="0">
                <a:solidFill>
                  <a:srgbClr val="252423"/>
                </a:solidFill>
                <a:latin typeface="Segoe UI"/>
              </a:rPr>
              <a:t>Mn</a:t>
            </a:r>
          </a:p>
        </p:txBody>
      </p:sp>
      <p:sp>
        <p:nvSpPr>
          <p:cNvPr id="28" name="TextBox 27"/>
          <p:cNvSpPr txBox="1"/>
          <p:nvPr/>
        </p:nvSpPr>
        <p:spPr>
          <a:xfrm>
            <a:off x="6305550" y="2124025"/>
            <a:ext cx="3365355" cy="194310"/>
          </a:xfrm>
          <a:prstGeom prst="rect">
            <a:avLst/>
          </a:prstGeom>
          <a:noFill/>
        </p:spPr>
        <p:txBody>
          <a:bodyPr wrap="none" lIns="0" rIns="0" tIns="0" bIns="0">
            <a:spAutoFit/>
          </a:bodyPr>
          <a:lstStyle/>
          <a:p>
            <a:r>
              <a:rPr sz="1150" b="0">
                <a:solidFill>
                  <a:srgbClr val="252423"/>
                </a:solidFill>
                <a:latin typeface="Segoe UI"/>
              </a:rPr>
              <a:t>for the overall Helium-3 market from 2026 to 2036.</a:t>
            </a:r>
          </a:p>
        </p:txBody>
      </p:sp>
      <p:sp>
        <p:nvSpPr>
          <p:cNvPr id="29" name="TextBox 28"/>
          <p:cNvSpPr txBox="1"/>
          <p:nvPr/>
        </p:nvSpPr>
        <p:spPr>
          <a:xfrm>
            <a:off x="6305550" y="2351863"/>
            <a:ext cx="5534399" cy="194310"/>
          </a:xfrm>
          <a:prstGeom prst="rect">
            <a:avLst/>
          </a:prstGeom>
          <a:noFill/>
        </p:spPr>
        <p:txBody>
          <a:bodyPr wrap="none" lIns="0" rIns="0" tIns="0" bIns="0">
            <a:spAutoFit/>
          </a:bodyPr>
          <a:lstStyle/>
          <a:p>
            <a:r>
              <a:rPr sz="1150" b="0">
                <a:solidFill>
                  <a:srgbClr val="252423"/>
                </a:solidFill>
                <a:latin typeface="Segoe UI"/>
              </a:rPr>
              <a:t>The government and defense agencies segment is expected to create an incremental</a:t>
            </a:r>
          </a:p>
        </p:txBody>
      </p:sp>
      <p:sp>
        <p:nvSpPr>
          <p:cNvPr id="30" name="TextBox 29"/>
          <p:cNvSpPr txBox="1"/>
          <p:nvPr/>
        </p:nvSpPr>
        <p:spPr>
          <a:xfrm>
            <a:off x="6305550" y="2527123"/>
            <a:ext cx="1308523" cy="194310"/>
          </a:xfrm>
          <a:prstGeom prst="rect">
            <a:avLst/>
          </a:prstGeom>
          <a:noFill/>
        </p:spPr>
        <p:txBody>
          <a:bodyPr wrap="none" lIns="0" rIns="0" tIns="0" bIns="0">
            <a:spAutoFit/>
          </a:bodyPr>
          <a:lstStyle/>
          <a:p>
            <a:r>
              <a:rPr sz="1150" b="0">
                <a:solidFill>
                  <a:srgbClr val="252423"/>
                </a:solidFill>
                <a:latin typeface="Segoe UI"/>
              </a:rPr>
              <a:t>opportunity of US$</a:t>
            </a:r>
          </a:p>
        </p:txBody>
      </p:sp>
      <p:pic>
        <p:nvPicPr>
          <p:cNvPr id="31" name="Picture 30" descr="lock.png"/>
          <p:cNvPicPr>
            <a:picLocks noChangeAspect="1"/>
          </p:cNvPicPr>
          <p:nvPr/>
        </p:nvPicPr>
        <p:blipFill>
          <a:blip r:embed="rId6"/>
          <a:stretch>
            <a:fillRect/>
          </a:stretch>
        </p:blipFill>
        <p:spPr>
          <a:xfrm>
            <a:off x="7563227" y="2516899"/>
            <a:ext cx="134549" cy="195707"/>
          </a:xfrm>
          <a:prstGeom prst="rect">
            <a:avLst/>
          </a:prstGeom>
        </p:spPr>
      </p:pic>
      <p:sp>
        <p:nvSpPr>
          <p:cNvPr id="32" name="TextBox 31"/>
          <p:cNvSpPr txBox="1"/>
          <p:nvPr/>
        </p:nvSpPr>
        <p:spPr>
          <a:xfrm>
            <a:off x="7738336" y="2527123"/>
            <a:ext cx="3894787" cy="194310"/>
          </a:xfrm>
          <a:prstGeom prst="rect">
            <a:avLst/>
          </a:prstGeom>
          <a:noFill/>
        </p:spPr>
        <p:txBody>
          <a:bodyPr wrap="none" lIns="0" rIns="0" tIns="0" bIns="0">
            <a:spAutoFit/>
          </a:bodyPr>
          <a:lstStyle/>
          <a:p>
            <a:r>
              <a:rPr sz="1150" b="0">
                <a:solidFill>
                  <a:srgbClr val="252423"/>
                </a:solidFill>
                <a:latin typeface="Segoe UI"/>
              </a:rPr>
              <a:t>Mn for the overall Helium-3 market from 2026 to 2036. The</a:t>
            </a:r>
          </a:p>
        </p:txBody>
      </p:sp>
      <p:sp>
        <p:nvSpPr>
          <p:cNvPr id="33" name="TextBox 32"/>
          <p:cNvSpPr txBox="1"/>
          <p:nvPr/>
        </p:nvSpPr>
        <p:spPr>
          <a:xfrm>
            <a:off x="6305550" y="2702383"/>
            <a:ext cx="5319095" cy="194310"/>
          </a:xfrm>
          <a:prstGeom prst="rect">
            <a:avLst/>
          </a:prstGeom>
          <a:noFill/>
        </p:spPr>
        <p:txBody>
          <a:bodyPr wrap="none" lIns="0" rIns="0" tIns="0" bIns="0">
            <a:spAutoFit/>
          </a:bodyPr>
          <a:lstStyle/>
          <a:p>
            <a:r>
              <a:rPr sz="1150" b="0">
                <a:solidFill>
                  <a:srgbClr val="252423"/>
                </a:solidFill>
                <a:latin typeface="Segoe UI"/>
              </a:rPr>
              <a:t>other end users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867419"/>
            <a:ext cx="134549" cy="195707"/>
          </a:xfrm>
          <a:prstGeom prst="rect">
            <a:avLst/>
          </a:prstGeom>
        </p:spPr>
      </p:pic>
      <p:sp>
        <p:nvSpPr>
          <p:cNvPr id="35" name="TextBox 34"/>
          <p:cNvSpPr txBox="1"/>
          <p:nvPr/>
        </p:nvSpPr>
        <p:spPr>
          <a:xfrm>
            <a:off x="6466579" y="2877643"/>
            <a:ext cx="3619231" cy="194310"/>
          </a:xfrm>
          <a:prstGeom prst="rect">
            <a:avLst/>
          </a:prstGeom>
          <a:noFill/>
        </p:spPr>
        <p:txBody>
          <a:bodyPr wrap="none" lIns="0" rIns="0" tIns="0" bIns="0">
            <a:spAutoFit/>
          </a:bodyPr>
          <a:lstStyle/>
          <a:p>
            <a:r>
              <a:rPr sz="1150" b="0">
                <a:solidFill>
                  <a:srgbClr val="252423"/>
                </a:solidFill>
                <a:latin typeface="Segoe UI"/>
              </a:rPr>
              <a:t>Mn for the overall Helium-3 market from 2026 to 2036.</a:t>
            </a:r>
          </a:p>
        </p:txBody>
      </p:sp>
      <p:sp>
        <p:nvSpPr>
          <p:cNvPr id="36" name="lockshield_10"/>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3"/>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Analysis, By End User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by End User, 2021–2036, highlighting the sub-segments driving growth</a:t>
            </a:r>
          </a:p>
        </p:txBody>
      </p:sp>
      <p:sp>
        <p:nvSpPr>
          <p:cNvPr id="8" name="Rectangle 7"/>
          <p:cNvSpPr/>
          <p:nvPr/>
        </p:nvSpPr>
        <p:spPr>
          <a:xfrm>
            <a:off x="142875" y="981075"/>
            <a:ext cx="11906250" cy="2438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End User (US$ Mn)</a:t>
            </a:r>
          </a:p>
        </p:txBody>
      </p:sp>
      <p:graphicFrame>
        <p:nvGraphicFramePr>
          <p:cNvPr id="10" name="Table 9"/>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3179402"/>
                <a:gridCol w="522818"/>
                <a:gridCol w="522818"/>
                <a:gridCol w="522818"/>
                <a:gridCol w="522818"/>
                <a:gridCol w="522818"/>
                <a:gridCol w="498151"/>
                <a:gridCol w="498151"/>
                <a:gridCol w="498151"/>
                <a:gridCol w="498151"/>
                <a:gridCol w="498151"/>
                <a:gridCol w="498151"/>
                <a:gridCol w="498151"/>
                <a:gridCol w="498151"/>
                <a:gridCol w="498151"/>
                <a:gridCol w="498151"/>
                <a:gridCol w="498151"/>
                <a:gridCol w="614047"/>
              </a:tblGrid>
              <a:tr h="246126">
                <a:tc>
                  <a:txBody>
                    <a:bodyPr wrap="none"/>
                    <a:lstStyle/>
                    <a:p>
                      <a:pPr algn="l"/>
                      <a:r>
                        <a:rPr sz="1100" b="1">
                          <a:solidFill>
                            <a:srgbClr val="FFFFFF"/>
                          </a:solidFill>
                          <a:latin typeface="Segoe UI"/>
                        </a:rPr>
                        <a:t>End User</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6507">
                <a:tc>
                  <a:txBody>
                    <a:bodyPr wrap="none"/>
                    <a:lstStyle/>
                    <a:p>
                      <a:pPr algn="l"/>
                      <a:r>
                        <a:rPr sz="1100" b="1">
                          <a:solidFill>
                            <a:srgbClr val="252423"/>
                          </a:solidFill>
                          <a:latin typeface="Segoe UI"/>
                        </a:rPr>
                        <a:t>Government and Defense Agencies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Academic Institutions and Universities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Independent Research Institutions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Healthcare and Medical Research Institutions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Commercial and Industrial Enterprises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Other End Users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1" name="TextBox 10"/>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552825"/>
            <a:ext cx="11906250" cy="30765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Analysis, By End User</a:t>
            </a:r>
          </a:p>
        </p:txBody>
      </p:sp>
      <p:sp>
        <p:nvSpPr>
          <p:cNvPr id="14" name="Rectangle 13"/>
          <p:cNvSpPr/>
          <p:nvPr/>
        </p:nvSpPr>
        <p:spPr>
          <a:xfrm>
            <a:off x="276225" y="38766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99010" y="2080450"/>
            <a:ext cx="366712" cy="533399"/>
          </a:xfrm>
          <a:prstGeom prst="rect">
            <a:avLst/>
          </a:prstGeom>
        </p:spPr>
      </p:pic>
      <p:sp>
        <p:nvSpPr>
          <p:cNvPr id="18" name="TextBox 17"/>
          <p:cNvSpPr txBox="1"/>
          <p:nvPr/>
        </p:nvSpPr>
        <p:spPr>
          <a:xfrm>
            <a:off x="276225" y="3971925"/>
            <a:ext cx="4590516" cy="194310"/>
          </a:xfrm>
          <a:prstGeom prst="rect">
            <a:avLst/>
          </a:prstGeom>
          <a:noFill/>
        </p:spPr>
        <p:txBody>
          <a:bodyPr wrap="none" lIns="0" rIns="0" tIns="0" bIns="0">
            <a:spAutoFit/>
          </a:bodyPr>
          <a:lstStyle/>
          <a:p>
            <a:r>
              <a:rPr sz="1150" b="0">
                <a:solidFill>
                  <a:srgbClr val="252423"/>
                </a:solidFill>
                <a:latin typeface="Segoe UI"/>
              </a:rPr>
              <a:t>Academic institutions and universities segment is projected to register</a:t>
            </a:r>
          </a:p>
        </p:txBody>
      </p:sp>
      <p:pic>
        <p:nvPicPr>
          <p:cNvPr id="19" name="Picture 18" descr="lock.png"/>
          <p:cNvPicPr>
            <a:picLocks noChangeAspect="1"/>
          </p:cNvPicPr>
          <p:nvPr/>
        </p:nvPicPr>
        <p:blipFill>
          <a:blip r:embed="rId4"/>
          <a:stretch>
            <a:fillRect/>
          </a:stretch>
        </p:blipFill>
        <p:spPr>
          <a:xfrm>
            <a:off x="4815895" y="3961701"/>
            <a:ext cx="134549" cy="195707"/>
          </a:xfrm>
          <a:prstGeom prst="rect">
            <a:avLst/>
          </a:prstGeom>
        </p:spPr>
      </p:pic>
      <p:sp>
        <p:nvSpPr>
          <p:cNvPr id="20" name="TextBox 19"/>
          <p:cNvSpPr txBox="1"/>
          <p:nvPr/>
        </p:nvSpPr>
        <p:spPr>
          <a:xfrm>
            <a:off x="4991005" y="3971925"/>
            <a:ext cx="6700419" cy="194310"/>
          </a:xfrm>
          <a:prstGeom prst="rect">
            <a:avLst/>
          </a:prstGeom>
          <a:noFill/>
        </p:spPr>
        <p:txBody>
          <a:bodyPr wrap="none" lIns="0" rIns="0" tIns="0" bIns="0">
            <a:spAutoFit/>
          </a:bodyPr>
          <a:lstStyle/>
          <a:p>
            <a:r>
              <a:rPr sz="1150" b="0">
                <a:solidFill>
                  <a:srgbClr val="252423"/>
                </a:solidFill>
                <a:latin typeface="Segoe UI"/>
              </a:rPr>
              <a:t>X higher value than government and defense agencies segment in 2036. Among Helium-3 by end user,</a:t>
            </a:r>
          </a:p>
        </p:txBody>
      </p:sp>
      <p:sp>
        <p:nvSpPr>
          <p:cNvPr id="21" name="TextBox 20"/>
          <p:cNvSpPr txBox="1"/>
          <p:nvPr/>
        </p:nvSpPr>
        <p:spPr>
          <a:xfrm>
            <a:off x="276225" y="4147185"/>
            <a:ext cx="5689301" cy="194310"/>
          </a:xfrm>
          <a:prstGeom prst="rect">
            <a:avLst/>
          </a:prstGeom>
          <a:noFill/>
        </p:spPr>
        <p:txBody>
          <a:bodyPr wrap="none" lIns="0" rIns="0" tIns="0" bIns="0">
            <a:spAutoFit/>
          </a:bodyPr>
          <a:lstStyle/>
          <a:p>
            <a:r>
              <a:rPr sz="1150" b="0">
                <a:solidFill>
                  <a:srgbClr val="252423"/>
                </a:solidFill>
                <a:latin typeface="Segoe UI"/>
              </a:rPr>
              <a:t>government and defense agencies segment is expected to witness the highest CAGR of</a:t>
            </a:r>
          </a:p>
        </p:txBody>
      </p:sp>
      <p:pic>
        <p:nvPicPr>
          <p:cNvPr id="22" name="Picture 21" descr="lock.png"/>
          <p:cNvPicPr>
            <a:picLocks noChangeAspect="1"/>
          </p:cNvPicPr>
          <p:nvPr/>
        </p:nvPicPr>
        <p:blipFill>
          <a:blip r:embed="rId4"/>
          <a:stretch>
            <a:fillRect/>
          </a:stretch>
        </p:blipFill>
        <p:spPr>
          <a:xfrm>
            <a:off x="5914680" y="4136961"/>
            <a:ext cx="134549" cy="195707"/>
          </a:xfrm>
          <a:prstGeom prst="rect">
            <a:avLst/>
          </a:prstGeom>
        </p:spPr>
      </p:pic>
      <p:sp>
        <p:nvSpPr>
          <p:cNvPr id="23" name="TextBox 22"/>
          <p:cNvSpPr txBox="1"/>
          <p:nvPr/>
        </p:nvSpPr>
        <p:spPr>
          <a:xfrm>
            <a:off x="6089789" y="414718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24" name="TextBox 23"/>
          <p:cNvSpPr txBox="1"/>
          <p:nvPr/>
        </p:nvSpPr>
        <p:spPr>
          <a:xfrm>
            <a:off x="276225" y="4375022"/>
            <a:ext cx="8444292" cy="194310"/>
          </a:xfrm>
          <a:prstGeom prst="rect">
            <a:avLst/>
          </a:prstGeom>
          <a:noFill/>
        </p:spPr>
        <p:txBody>
          <a:bodyPr wrap="none" lIns="0" rIns="0" tIns="0" bIns="0">
            <a:spAutoFit/>
          </a:bodyPr>
          <a:lstStyle/>
          <a:p>
            <a:r>
              <a:rPr sz="1150" b="0">
                <a:solidFill>
                  <a:srgbClr val="252423"/>
                </a:solidFill>
                <a:latin typeface="Segoe UI"/>
              </a:rPr>
              <a:t>In terms of value share by end user, the academic institutions and universities segment is expected to dominate the market, losing</a:t>
            </a:r>
          </a:p>
        </p:txBody>
      </p:sp>
      <p:pic>
        <p:nvPicPr>
          <p:cNvPr id="25" name="Picture 24" descr="lock.png"/>
          <p:cNvPicPr>
            <a:picLocks noChangeAspect="1"/>
          </p:cNvPicPr>
          <p:nvPr/>
        </p:nvPicPr>
        <p:blipFill>
          <a:blip r:embed="rId4"/>
          <a:stretch>
            <a:fillRect/>
          </a:stretch>
        </p:blipFill>
        <p:spPr>
          <a:xfrm>
            <a:off x="8669671" y="4364799"/>
            <a:ext cx="134549" cy="195707"/>
          </a:xfrm>
          <a:prstGeom prst="rect">
            <a:avLst/>
          </a:prstGeom>
        </p:spPr>
      </p:pic>
      <p:sp>
        <p:nvSpPr>
          <p:cNvPr id="26" name="TextBox 25"/>
          <p:cNvSpPr txBox="1"/>
          <p:nvPr/>
        </p:nvSpPr>
        <p:spPr>
          <a:xfrm>
            <a:off x="8844780" y="4375022"/>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27" name="Picture 26" descr="lock.png"/>
          <p:cNvPicPr>
            <a:picLocks noChangeAspect="1"/>
          </p:cNvPicPr>
          <p:nvPr/>
        </p:nvPicPr>
        <p:blipFill>
          <a:blip r:embed="rId4"/>
          <a:stretch>
            <a:fillRect/>
          </a:stretch>
        </p:blipFill>
        <p:spPr>
          <a:xfrm>
            <a:off x="10373137" y="4364799"/>
            <a:ext cx="134549" cy="195707"/>
          </a:xfrm>
          <a:prstGeom prst="rect">
            <a:avLst/>
          </a:prstGeom>
        </p:spPr>
      </p:pic>
      <p:sp>
        <p:nvSpPr>
          <p:cNvPr id="28" name="TextBox 27"/>
          <p:cNvSpPr txBox="1"/>
          <p:nvPr/>
        </p:nvSpPr>
        <p:spPr>
          <a:xfrm>
            <a:off x="10548246" y="4375022"/>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End User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 User in 2021, 2026 and 2036, highlighting share shifts in basis points</a:t>
            </a:r>
          </a:p>
        </p:txBody>
      </p:sp>
      <p:sp>
        <p:nvSpPr>
          <p:cNvPr id="8" name="Rectangle 7"/>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End User ·  2021 / 2026 / 2036 (US$ Mn)  ·  right axis = BPS share shift</a:t>
            </a:r>
          </a:p>
        </p:txBody>
      </p:sp>
      <p:graphicFrame>
        <p:nvGraphicFramePr>
          <p:cNvPr id="10" name="Chart 9"/>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1" name="TextBox 10"/>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2" name="FMI Lock Anchor"/>
          <p:cNvSpPr txBox="1"/>
          <p:nvPr/>
        </p:nvSpPr>
        <p:spPr>
          <a:xfrm>
            <a:off x="2678811" y="4014597"/>
            <a:ext cx="38100" cy="38100"/>
          </a:xfrm>
          <a:prstGeom prst="rect">
            <a:avLst/>
          </a:prstGeom>
          <a:noFill/>
        </p:spPr>
        <p:txBody>
          <a:bodyPr wrap="none">
            <a:spAutoFit/>
          </a:bodyPr>
          <a:lstStyle/>
          <a:p/>
        </p:txBody>
      </p:sp>
      <p:sp>
        <p:nvSpPr>
          <p:cNvPr id="13" name="FMI Legend Chip"/>
          <p:cNvSpPr/>
          <p:nvPr/>
        </p:nvSpPr>
        <p:spPr>
          <a:xfrm>
            <a:off x="4928997" y="1748310"/>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0800000">
            <a:off x="5090922" y="174354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PS Name 1"/>
          <p:cNvSpPr txBox="1"/>
          <p:nvPr/>
        </p:nvSpPr>
        <p:spPr>
          <a:xfrm>
            <a:off x="5233797" y="166734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Independent Research Institutions</a:t>
            </a:r>
          </a:p>
        </p:txBody>
      </p:sp>
      <p:sp>
        <p:nvSpPr>
          <p:cNvPr id="16" name="BPS Value 1"/>
          <p:cNvSpPr txBox="1"/>
          <p:nvPr/>
        </p:nvSpPr>
        <p:spPr>
          <a:xfrm>
            <a:off x="6896100" y="1729260"/>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17" name="FMI Legend Chip"/>
          <p:cNvSpPr/>
          <p:nvPr/>
        </p:nvSpPr>
        <p:spPr>
          <a:xfrm>
            <a:off x="4928997" y="1909736"/>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rot="10800000">
            <a:off x="5090922" y="190497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PS Name 2"/>
          <p:cNvSpPr txBox="1"/>
          <p:nvPr/>
        </p:nvSpPr>
        <p:spPr>
          <a:xfrm>
            <a:off x="5233797" y="182877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Commercial and Industrial Enterprises</a:t>
            </a:r>
          </a:p>
        </p:txBody>
      </p:sp>
      <p:sp>
        <p:nvSpPr>
          <p:cNvPr id="20" name="BPS Value 2"/>
          <p:cNvSpPr txBox="1"/>
          <p:nvPr/>
        </p:nvSpPr>
        <p:spPr>
          <a:xfrm>
            <a:off x="6896100" y="1890686"/>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1" name="FMI Legend Chip"/>
          <p:cNvSpPr/>
          <p:nvPr/>
        </p:nvSpPr>
        <p:spPr>
          <a:xfrm>
            <a:off x="4928997" y="226359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rot="10800000">
            <a:off x="5090922" y="225883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PS Name 3"/>
          <p:cNvSpPr txBox="1"/>
          <p:nvPr/>
        </p:nvSpPr>
        <p:spPr>
          <a:xfrm>
            <a:off x="5233797" y="218263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Healthcare and Medical Research Institutions</a:t>
            </a:r>
          </a:p>
        </p:txBody>
      </p:sp>
      <p:sp>
        <p:nvSpPr>
          <p:cNvPr id="24" name="BPS Value 3"/>
          <p:cNvSpPr txBox="1"/>
          <p:nvPr/>
        </p:nvSpPr>
        <p:spPr>
          <a:xfrm>
            <a:off x="6896100" y="224454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25" name="FMI Legend Chip"/>
          <p:cNvSpPr/>
          <p:nvPr/>
        </p:nvSpPr>
        <p:spPr>
          <a:xfrm>
            <a:off x="4928997" y="300706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Isosceles Triangle 25"/>
          <p:cNvSpPr/>
          <p:nvPr/>
        </p:nvSpPr>
        <p:spPr>
          <a:xfrm>
            <a:off x="5090922" y="300230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PS Name 4"/>
          <p:cNvSpPr txBox="1"/>
          <p:nvPr/>
        </p:nvSpPr>
        <p:spPr>
          <a:xfrm>
            <a:off x="5233797" y="29261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End Users</a:t>
            </a:r>
          </a:p>
        </p:txBody>
      </p:sp>
      <p:sp>
        <p:nvSpPr>
          <p:cNvPr id="28" name="BPS Value 4"/>
          <p:cNvSpPr txBox="1"/>
          <p:nvPr/>
        </p:nvSpPr>
        <p:spPr>
          <a:xfrm>
            <a:off x="6896100" y="2988014"/>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29" name="FMI Legend Chip"/>
          <p:cNvSpPr/>
          <p:nvPr/>
        </p:nvSpPr>
        <p:spPr>
          <a:xfrm>
            <a:off x="4928997" y="410863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a:off x="5090922" y="410386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PS Name 5"/>
          <p:cNvSpPr txBox="1"/>
          <p:nvPr/>
        </p:nvSpPr>
        <p:spPr>
          <a:xfrm>
            <a:off x="5233797" y="402766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Government and Defense Agencies</a:t>
            </a:r>
          </a:p>
        </p:txBody>
      </p:sp>
      <p:sp>
        <p:nvSpPr>
          <p:cNvPr id="32" name="BPS Value 5"/>
          <p:cNvSpPr txBox="1"/>
          <p:nvPr/>
        </p:nvSpPr>
        <p:spPr>
          <a:xfrm>
            <a:off x="6896100" y="4089580"/>
            <a:ext cx="514350" cy="123825"/>
          </a:xfrm>
          <a:prstGeom prst="rect">
            <a:avLst/>
          </a:prstGeom>
          <a:noFill/>
        </p:spPr>
        <p:txBody>
          <a:bodyPr wrap="none" lIns="0" rIns="0" tIns="0" bIns="0" anchor="ctr">
            <a:spAutoFit/>
          </a:bodyPr>
          <a:lstStyle/>
          <a:p>
            <a:pPr algn="r"/>
            <a:r>
              <a:rPr sz="900" b="1">
                <a:solidFill>
                  <a:srgbClr val="1E8E3E"/>
                </a:solidFill>
                <a:latin typeface="Segoe UI"/>
              </a:rPr>
              <a:t>XX</a:t>
            </a:r>
          </a:p>
        </p:txBody>
      </p:sp>
      <p:sp>
        <p:nvSpPr>
          <p:cNvPr id="33" name="FMI Legend Chip"/>
          <p:cNvSpPr/>
          <p:nvPr/>
        </p:nvSpPr>
        <p:spPr>
          <a:xfrm>
            <a:off x="4928997" y="548992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rot="10800000">
            <a:off x="5090922" y="548516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PS Name 6"/>
          <p:cNvSpPr txBox="1"/>
          <p:nvPr/>
        </p:nvSpPr>
        <p:spPr>
          <a:xfrm>
            <a:off x="5233797" y="540896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Academic Institutions and Universities</a:t>
            </a:r>
          </a:p>
        </p:txBody>
      </p:sp>
      <p:sp>
        <p:nvSpPr>
          <p:cNvPr id="36" name="BPS Value 6"/>
          <p:cNvSpPr txBox="1"/>
          <p:nvPr/>
        </p:nvSpPr>
        <p:spPr>
          <a:xfrm>
            <a:off x="6896100" y="5470879"/>
            <a:ext cx="514350" cy="123825"/>
          </a:xfrm>
          <a:prstGeom prst="rect">
            <a:avLst/>
          </a:prstGeom>
          <a:noFill/>
        </p:spPr>
        <p:txBody>
          <a:bodyPr wrap="none" lIns="0" rIns="0" tIns="0" bIns="0" anchor="ctr">
            <a:spAutoFit/>
          </a:bodyPr>
          <a:lstStyle/>
          <a:p>
            <a:pPr algn="r"/>
            <a:r>
              <a:rPr sz="900" b="1">
                <a:solidFill>
                  <a:srgbClr val="D64545"/>
                </a:solidFill>
                <a:latin typeface="Segoe UI"/>
              </a:rPr>
              <a:t>XX</a:t>
            </a:r>
          </a:p>
        </p:txBody>
      </p:sp>
      <p:sp>
        <p:nvSpPr>
          <p:cNvPr id="37" name="Rectangle 36"/>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End User</a:t>
            </a:r>
          </a:p>
        </p:txBody>
      </p:sp>
      <p:sp>
        <p:nvSpPr>
          <p:cNvPr id="39" name="Rectangle 38"/>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3667355" cy="194310"/>
          </a:xfrm>
          <a:prstGeom prst="rect">
            <a:avLst/>
          </a:prstGeom>
          <a:noFill/>
        </p:spPr>
        <p:txBody>
          <a:bodyPr wrap="none" lIns="0" rIns="0" tIns="0" bIns="0">
            <a:spAutoFit/>
          </a:bodyPr>
          <a:lstStyle/>
          <a:p>
            <a:r>
              <a:rPr sz="1150" b="0">
                <a:solidFill>
                  <a:srgbClr val="252423"/>
                </a:solidFill>
                <a:latin typeface="Segoe UI"/>
              </a:rPr>
              <a:t>Among Helium-3 by end user, government and defense</a:t>
            </a:r>
          </a:p>
        </p:txBody>
      </p:sp>
      <p:sp>
        <p:nvSpPr>
          <p:cNvPr id="44" name="TextBox 43"/>
          <p:cNvSpPr txBox="1"/>
          <p:nvPr/>
        </p:nvSpPr>
        <p:spPr>
          <a:xfrm>
            <a:off x="7829550" y="1575435"/>
            <a:ext cx="4034276" cy="194310"/>
          </a:xfrm>
          <a:prstGeom prst="rect">
            <a:avLst/>
          </a:prstGeom>
          <a:noFill/>
        </p:spPr>
        <p:txBody>
          <a:bodyPr wrap="none" lIns="0" rIns="0" tIns="0" bIns="0">
            <a:spAutoFit/>
          </a:bodyPr>
          <a:lstStyle/>
          <a:p>
            <a:r>
              <a:rPr sz="1150" b="0">
                <a:solidFill>
                  <a:srgbClr val="252423"/>
                </a:solidFill>
                <a:latin typeface="Segoe UI"/>
              </a:rPr>
              <a:t>agencies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1651327" cy="194310"/>
          </a:xfrm>
          <a:prstGeom prst="rect">
            <a:avLst/>
          </a:prstGeom>
          <a:noFill/>
        </p:spPr>
        <p:txBody>
          <a:bodyPr wrap="none" lIns="0" rIns="0" tIns="0" bIns="0">
            <a:spAutoFit/>
          </a:bodyPr>
          <a:lstStyle/>
          <a:p>
            <a:r>
              <a:rPr sz="1150" b="0">
                <a:solidFill>
                  <a:srgbClr val="252423"/>
                </a:solidFill>
                <a:latin typeface="Segoe UI"/>
              </a:rPr>
              <a:t>over the forecast period.</a:t>
            </a:r>
          </a:p>
        </p:txBody>
      </p:sp>
      <p:sp>
        <p:nvSpPr>
          <p:cNvPr id="47" name="TextBox 46"/>
          <p:cNvSpPr txBox="1"/>
          <p:nvPr/>
        </p:nvSpPr>
        <p:spPr>
          <a:xfrm>
            <a:off x="7829550" y="1978533"/>
            <a:ext cx="4012396" cy="194310"/>
          </a:xfrm>
          <a:prstGeom prst="rect">
            <a:avLst/>
          </a:prstGeom>
          <a:noFill/>
        </p:spPr>
        <p:txBody>
          <a:bodyPr wrap="none" lIns="0" rIns="0" tIns="0" bIns="0">
            <a:spAutoFit/>
          </a:bodyPr>
          <a:lstStyle/>
          <a:p>
            <a:r>
              <a:rPr sz="1150" b="0">
                <a:solidFill>
                  <a:srgbClr val="252423"/>
                </a:solidFill>
                <a:latin typeface="Segoe UI"/>
              </a:rPr>
              <a:t>In terms of value share by end user, the academic institutions</a:t>
            </a:r>
          </a:p>
        </p:txBody>
      </p:sp>
      <p:sp>
        <p:nvSpPr>
          <p:cNvPr id="48" name="TextBox 47"/>
          <p:cNvSpPr txBox="1"/>
          <p:nvPr/>
        </p:nvSpPr>
        <p:spPr>
          <a:xfrm>
            <a:off x="7829550" y="2153793"/>
            <a:ext cx="4041135" cy="194310"/>
          </a:xfrm>
          <a:prstGeom prst="rect">
            <a:avLst/>
          </a:prstGeom>
          <a:noFill/>
        </p:spPr>
        <p:txBody>
          <a:bodyPr wrap="none" lIns="0" rIns="0" tIns="0" bIns="0">
            <a:spAutoFit/>
          </a:bodyPr>
          <a:lstStyle/>
          <a:p>
            <a:r>
              <a:rPr sz="1150" b="0">
                <a:solidFill>
                  <a:srgbClr val="252423"/>
                </a:solidFill>
                <a:latin typeface="Segoe UI"/>
              </a:rPr>
              <a:t>and universities segment is expected to dominate the market,</a:t>
            </a:r>
          </a:p>
        </p:txBody>
      </p:sp>
      <p:sp>
        <p:nvSpPr>
          <p:cNvPr id="49" name="TextBox 48"/>
          <p:cNvSpPr txBox="1"/>
          <p:nvPr/>
        </p:nvSpPr>
        <p:spPr>
          <a:xfrm>
            <a:off x="7829550" y="2329053"/>
            <a:ext cx="463289" cy="194310"/>
          </a:xfrm>
          <a:prstGeom prst="rect">
            <a:avLst/>
          </a:prstGeom>
          <a:noFill/>
        </p:spPr>
        <p:txBody>
          <a:bodyPr wrap="none" lIns="0" rIns="0" tIns="0" bIns="0">
            <a:spAutoFit/>
          </a:bodyPr>
          <a:lstStyle/>
          <a:p>
            <a:r>
              <a:rPr sz="1150" b="0">
                <a:solidFill>
                  <a:srgbClr val="252423"/>
                </a:solidFill>
                <a:latin typeface="Segoe UI"/>
              </a:rPr>
              <a:t>losing</a:t>
            </a:r>
          </a:p>
        </p:txBody>
      </p:sp>
      <p:pic>
        <p:nvPicPr>
          <p:cNvPr id="50" name="Picture 49" descr="lock.png"/>
          <p:cNvPicPr>
            <a:picLocks noChangeAspect="1"/>
          </p:cNvPicPr>
          <p:nvPr/>
        </p:nvPicPr>
        <p:blipFill>
          <a:blip r:embed="rId5"/>
          <a:stretch>
            <a:fillRect/>
          </a:stretch>
        </p:blipFill>
        <p:spPr>
          <a:xfrm>
            <a:off x="8241993" y="2318829"/>
            <a:ext cx="134549" cy="195707"/>
          </a:xfrm>
          <a:prstGeom prst="rect">
            <a:avLst/>
          </a:prstGeom>
        </p:spPr>
      </p:pic>
      <p:sp>
        <p:nvSpPr>
          <p:cNvPr id="51" name="TextBox 50"/>
          <p:cNvSpPr txBox="1"/>
          <p:nvPr/>
        </p:nvSpPr>
        <p:spPr>
          <a:xfrm>
            <a:off x="8417102" y="2329053"/>
            <a:ext cx="1579202" cy="194310"/>
          </a:xfrm>
          <a:prstGeom prst="rect">
            <a:avLst/>
          </a:prstGeom>
          <a:noFill/>
        </p:spPr>
        <p:txBody>
          <a:bodyPr wrap="none" lIns="0" rIns="0" tIns="0" bIns="0">
            <a:spAutoFit/>
          </a:bodyPr>
          <a:lstStyle/>
          <a:p>
            <a:r>
              <a:rPr sz="1150" b="0">
                <a:solidFill>
                  <a:srgbClr val="252423"/>
                </a:solidFill>
                <a:latin typeface="Segoe UI"/>
              </a:rPr>
              <a:t>BPS and accounting for</a:t>
            </a:r>
          </a:p>
        </p:txBody>
      </p:sp>
      <p:pic>
        <p:nvPicPr>
          <p:cNvPr id="52" name="Picture 51" descr="lock.png"/>
          <p:cNvPicPr>
            <a:picLocks noChangeAspect="1"/>
          </p:cNvPicPr>
          <p:nvPr/>
        </p:nvPicPr>
        <p:blipFill>
          <a:blip r:embed="rId5"/>
          <a:stretch>
            <a:fillRect/>
          </a:stretch>
        </p:blipFill>
        <p:spPr>
          <a:xfrm>
            <a:off x="9945459" y="2318829"/>
            <a:ext cx="134549" cy="195707"/>
          </a:xfrm>
          <a:prstGeom prst="rect">
            <a:avLst/>
          </a:prstGeom>
        </p:spPr>
      </p:pic>
      <p:sp>
        <p:nvSpPr>
          <p:cNvPr id="53" name="TextBox 52"/>
          <p:cNvSpPr txBox="1"/>
          <p:nvPr/>
        </p:nvSpPr>
        <p:spPr>
          <a:xfrm>
            <a:off x="10120568" y="2329053"/>
            <a:ext cx="1005526" cy="194310"/>
          </a:xfrm>
          <a:prstGeom prst="rect">
            <a:avLst/>
          </a:prstGeom>
          <a:noFill/>
        </p:spPr>
        <p:txBody>
          <a:bodyPr wrap="none" lIns="0" rIns="0" tIns="0" bIns="0">
            <a:spAutoFit/>
          </a:bodyPr>
          <a:lstStyle/>
          <a:p>
            <a:r>
              <a:rPr sz="1150" b="0">
                <a:solidFill>
                  <a:srgbClr val="252423"/>
                </a:solidFill>
                <a:latin typeface="Segoe UI"/>
              </a:rPr>
              <a:t>share by 2036.</a:t>
            </a:r>
          </a:p>
        </p:txBody>
      </p:sp>
      <p:sp>
        <p:nvSpPr>
          <p:cNvPr id="54" name="lockshield_10"/>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41744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2722245"/>
            <a:ext cx="7239000" cy="9715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884295"/>
            <a:ext cx="7124700" cy="19850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Overview (Volume &amp; Value)</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Segment Overview (Volume &amp; Value)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Product Form</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Supply Source</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Application</a:t>
            </a:r>
          </a:p>
          <a:p>
            <a:pPr marL="685800" indent="-323850">
              <a:lnSpc>
                <a:spcPct val="100000"/>
              </a:lnSpc>
              <a:spcAft>
                <a:spcPts val="560"/>
              </a:spcAft>
            </a:pPr>
            <a:r>
              <a:rPr sz="1400" b="0">
                <a:solidFill>
                  <a:srgbClr val="F2B739"/>
                </a:solidFill>
                <a:latin typeface="Calibri"/>
              </a:rPr>
              <a:t>›	</a:t>
            </a:r>
            <a:r>
              <a:rPr sz="1400" b="0">
                <a:solidFill>
                  <a:srgbClr val="F2B739"/>
                </a:solidFill>
                <a:latin typeface="Calibri"/>
              </a:rPr>
              <a:t>End User</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Volume Overview (Litres)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Germany market in volume: size, growth, YoY momentum and gap to the Global benchmark</a:t>
            </a:r>
          </a:p>
        </p:txBody>
      </p:sp>
      <p:sp>
        <p:nvSpPr>
          <p:cNvPr id="8" name="Rounded Rectangle 7"/>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(LITRES)</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estimate year</a:t>
            </a:r>
          </a:p>
        </p:txBody>
      </p:sp>
      <p:sp>
        <p:nvSpPr>
          <p:cNvPr id="9" name="Rounded Rectangle 8"/>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(LITRES)</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forecast horizon</a:t>
            </a:r>
          </a:p>
        </p:txBody>
      </p:sp>
      <p:sp>
        <p:nvSpPr>
          <p:cNvPr id="10" name="Rounded Rectangle 9"/>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 </a:t>
            </a:r>
          </a:p>
        </p:txBody>
      </p:sp>
      <p:sp>
        <p:nvSpPr>
          <p:cNvPr id="11" name="Rounded Rectangle 10"/>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 </a:t>
            </a:r>
          </a:p>
        </p:txBody>
      </p:sp>
      <p:sp>
        <p:nvSpPr>
          <p:cNvPr id="12" name="Rectangle 11"/>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(Litres), 2021–2036</a:t>
            </a:r>
          </a:p>
        </p:txBody>
      </p:sp>
      <p:graphicFrame>
        <p:nvGraphicFramePr>
          <p:cNvPr id="14" name="Chart 13"/>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5" name="Rectangle 14"/>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7" name="Chart 16"/>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8" name="TextBox 17"/>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 </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19" name="TextBox 18"/>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
            </a:r>
          </a:p>
        </p:txBody>
      </p:sp>
      <p:sp>
        <p:nvSpPr>
          <p:cNvPr id="20" name="Rectangle 19"/>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(Litres)</a:t>
            </a:r>
          </a:p>
        </p:txBody>
      </p:sp>
      <p:graphicFrame>
        <p:nvGraphicFramePr>
          <p:cNvPr id="22" name="Chart 21"/>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3" name="Rectangle 22"/>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Market Share, 2026</a:t>
            </a:r>
          </a:p>
        </p:txBody>
      </p:sp>
      <p:graphicFrame>
        <p:nvGraphicFramePr>
          <p:cNvPr id="25" name="Chart 24"/>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6" name="Rectangle 25"/>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7" name="Rectangle 26"/>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487001" cy="186689"/>
          </a:xfrm>
          <a:prstGeom prst="rect">
            <a:avLst/>
          </a:prstGeom>
          <a:noFill/>
        </p:spPr>
        <p:txBody>
          <a:bodyPr wrap="none" lIns="0" rIns="0" tIns="0" bIns="0">
            <a:spAutoFit/>
          </a:bodyPr>
          <a:lstStyle/>
          <a:p>
            <a:r>
              <a:rPr sz="1100" b="0">
                <a:solidFill>
                  <a:srgbClr val="252423"/>
                </a:solidFill>
                <a:latin typeface="Segoe UI"/>
              </a:rPr>
              <a:t>Germany's helium-3 market expands at</a:t>
            </a:r>
          </a:p>
        </p:txBody>
      </p:sp>
      <p:pic>
        <p:nvPicPr>
          <p:cNvPr id="39" name="Picture 38" descr="lock.png"/>
          <p:cNvPicPr>
            <a:picLocks noChangeAspect="1"/>
          </p:cNvPicPr>
          <p:nvPr/>
        </p:nvPicPr>
        <p:blipFill>
          <a:blip r:embed="rId8"/>
          <a:stretch>
            <a:fillRect/>
          </a:stretch>
        </p:blipFill>
        <p:spPr>
          <a:xfrm>
            <a:off x="10506537" y="2866771"/>
            <a:ext cx="128699" cy="187198"/>
          </a:xfrm>
          <a:prstGeom prst="rect">
            <a:avLst/>
          </a:prstGeom>
        </p:spPr>
      </p:pic>
      <p:sp>
        <p:nvSpPr>
          <p:cNvPr id="40" name="TextBox 39"/>
          <p:cNvSpPr txBox="1"/>
          <p:nvPr/>
        </p:nvSpPr>
        <p:spPr>
          <a:xfrm>
            <a:off x="10674033" y="2876550"/>
            <a:ext cx="967819" cy="186689"/>
          </a:xfrm>
          <a:prstGeom prst="rect">
            <a:avLst/>
          </a:prstGeom>
          <a:noFill/>
        </p:spPr>
        <p:txBody>
          <a:bodyPr wrap="none" lIns="0" rIns="0" tIns="0" bIns="0">
            <a:spAutoFit/>
          </a:bodyPr>
          <a:lstStyle/>
          <a:p>
            <a:r>
              <a:rPr sz="1100" b="0">
                <a:solidFill>
                  <a:srgbClr val="252423"/>
                </a:solidFill>
                <a:latin typeface="Segoe UI"/>
              </a:rPr>
              <a:t>CAGR through</a:t>
            </a:r>
          </a:p>
        </p:txBody>
      </p:sp>
      <p:sp>
        <p:nvSpPr>
          <p:cNvPr id="41" name="TextBox 40"/>
          <p:cNvSpPr txBox="1"/>
          <p:nvPr/>
        </p:nvSpPr>
        <p:spPr>
          <a:xfrm>
            <a:off x="8071485" y="3044190"/>
            <a:ext cx="3218188" cy="186689"/>
          </a:xfrm>
          <a:prstGeom prst="rect">
            <a:avLst/>
          </a:prstGeom>
          <a:noFill/>
        </p:spPr>
        <p:txBody>
          <a:bodyPr wrap="none" lIns="0" rIns="0" tIns="0" bIns="0">
            <a:spAutoFit/>
          </a:bodyPr>
          <a:lstStyle/>
          <a:p>
            <a:r>
              <a:rPr sz="1100" b="0">
                <a:solidFill>
                  <a:srgbClr val="252423"/>
                </a:solidFill>
                <a:latin typeface="Segoe UI"/>
              </a:rPr>
              <a:t>2036, outpacing the Western Europe benchmark of</a:t>
            </a:r>
          </a:p>
        </p:txBody>
      </p:sp>
      <p:pic>
        <p:nvPicPr>
          <p:cNvPr id="42" name="Picture 41" descr="lock.png"/>
          <p:cNvPicPr>
            <a:picLocks noChangeAspect="1"/>
          </p:cNvPicPr>
          <p:nvPr/>
        </p:nvPicPr>
        <p:blipFill>
          <a:blip r:embed="rId8"/>
          <a:stretch>
            <a:fillRect/>
          </a:stretch>
        </p:blipFill>
        <p:spPr>
          <a:xfrm>
            <a:off x="11237724" y="3034411"/>
            <a:ext cx="128699" cy="187198"/>
          </a:xfrm>
          <a:prstGeom prst="rect">
            <a:avLst/>
          </a:prstGeom>
        </p:spPr>
      </p:pic>
      <p:sp>
        <p:nvSpPr>
          <p:cNvPr id="43" name="TextBox 42"/>
          <p:cNvSpPr txBox="1"/>
          <p:nvPr/>
        </p:nvSpPr>
        <p:spPr>
          <a:xfrm>
            <a:off x="11405220" y="3044190"/>
            <a:ext cx="225995" cy="186689"/>
          </a:xfrm>
          <a:prstGeom prst="rect">
            <a:avLst/>
          </a:prstGeom>
          <a:noFill/>
        </p:spPr>
        <p:txBody>
          <a:bodyPr wrap="none" lIns="0" rIns="0" tIns="0" bIns="0">
            <a:spAutoFit/>
          </a:bodyPr>
          <a:lstStyle/>
          <a:p>
            <a:r>
              <a:rPr sz="1100" b="0">
                <a:solidFill>
                  <a:srgbClr val="252423"/>
                </a:solidFill>
                <a:latin typeface="Segoe U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46" name="TextBox 45"/>
          <p:cNvSpPr txBox="1"/>
          <p:nvPr/>
        </p:nvSpPr>
        <p:spPr>
          <a:xfrm>
            <a:off x="257175" y="5966460"/>
            <a:ext cx="1006619" cy="186689"/>
          </a:xfrm>
          <a:prstGeom prst="rect">
            <a:avLst/>
          </a:prstGeom>
          <a:noFill/>
        </p:spPr>
        <p:txBody>
          <a:bodyPr wrap="none" lIns="0" rIns="0" tIns="0" bIns="0">
            <a:spAutoFit/>
          </a:bodyPr>
          <a:lstStyle/>
          <a:p>
            <a:r>
              <a:rPr sz="1100" b="0">
                <a:solidFill>
                  <a:srgbClr val="252423"/>
                </a:solidFill>
                <a:latin typeface="Segoe UI"/>
              </a:rPr>
              <a:t>Germany holds</a:t>
            </a:r>
          </a:p>
        </p:txBody>
      </p:sp>
      <p:pic>
        <p:nvPicPr>
          <p:cNvPr id="47" name="Picture 46" descr="lock.png"/>
          <p:cNvPicPr>
            <a:picLocks noChangeAspect="1"/>
          </p:cNvPicPr>
          <p:nvPr/>
        </p:nvPicPr>
        <p:blipFill>
          <a:blip r:embed="rId8"/>
          <a:stretch>
            <a:fillRect/>
          </a:stretch>
        </p:blipFill>
        <p:spPr>
          <a:xfrm>
            <a:off x="1211846" y="5956680"/>
            <a:ext cx="128699" cy="187198"/>
          </a:xfrm>
          <a:prstGeom prst="rect">
            <a:avLst/>
          </a:prstGeom>
        </p:spPr>
      </p:pic>
      <p:sp>
        <p:nvSpPr>
          <p:cNvPr id="48" name="TextBox 47"/>
          <p:cNvSpPr txBox="1"/>
          <p:nvPr/>
        </p:nvSpPr>
        <p:spPr>
          <a:xfrm>
            <a:off x="1379341" y="5966460"/>
            <a:ext cx="1133977" cy="186689"/>
          </a:xfrm>
          <a:prstGeom prst="rect">
            <a:avLst/>
          </a:prstGeom>
          <a:noFill/>
        </p:spPr>
        <p:txBody>
          <a:bodyPr wrap="none" lIns="0" rIns="0" tIns="0" bIns="0">
            <a:spAutoFit/>
          </a:bodyPr>
          <a:lstStyle/>
          <a:p>
            <a:r>
              <a:rPr sz="1100" b="0">
                <a:solidFill>
                  <a:srgbClr val="252423"/>
                </a:solidFill>
                <a:latin typeface="Segoe UI"/>
              </a:rPr>
              <a:t>of the global and</a:t>
            </a:r>
          </a:p>
        </p:txBody>
      </p:sp>
      <p:pic>
        <p:nvPicPr>
          <p:cNvPr id="49" name="Picture 48" descr="lock.png"/>
          <p:cNvPicPr>
            <a:picLocks noChangeAspect="1"/>
          </p:cNvPicPr>
          <p:nvPr/>
        </p:nvPicPr>
        <p:blipFill>
          <a:blip r:embed="rId8"/>
          <a:stretch>
            <a:fillRect/>
          </a:stretch>
        </p:blipFill>
        <p:spPr>
          <a:xfrm>
            <a:off x="2461370" y="5956680"/>
            <a:ext cx="128699" cy="187198"/>
          </a:xfrm>
          <a:prstGeom prst="rect">
            <a:avLst/>
          </a:prstGeom>
        </p:spPr>
      </p:pic>
      <p:sp>
        <p:nvSpPr>
          <p:cNvPr id="50" name="TextBox 49"/>
          <p:cNvSpPr txBox="1"/>
          <p:nvPr/>
        </p:nvSpPr>
        <p:spPr>
          <a:xfrm>
            <a:off x="2628866" y="5966460"/>
            <a:ext cx="3040548" cy="186689"/>
          </a:xfrm>
          <a:prstGeom prst="rect">
            <a:avLst/>
          </a:prstGeom>
          <a:noFill/>
        </p:spPr>
        <p:txBody>
          <a:bodyPr wrap="none" lIns="0" rIns="0" tIns="0" bIns="0">
            <a:spAutoFit/>
          </a:bodyPr>
          <a:lstStyle/>
          <a:p>
            <a:r>
              <a:rPr sz="1100" b="0">
                <a:solidFill>
                  <a:srgbClr val="252423"/>
                </a:solidFill>
                <a:latin typeface="Segoe UI"/>
              </a:rPr>
              <a:t>of the Western Europe helium-3 market in 2026;</a:t>
            </a:r>
          </a:p>
        </p:txBody>
      </p:sp>
      <p:sp>
        <p:nvSpPr>
          <p:cNvPr id="51" name="TextBox 50"/>
          <p:cNvSpPr txBox="1"/>
          <p:nvPr/>
        </p:nvSpPr>
        <p:spPr>
          <a:xfrm>
            <a:off x="257175" y="6134100"/>
            <a:ext cx="1920889" cy="186689"/>
          </a:xfrm>
          <a:prstGeom prst="rect">
            <a:avLst/>
          </a:prstGeom>
          <a:noFill/>
        </p:spPr>
        <p:txBody>
          <a:bodyPr wrap="none" lIns="0" rIns="0" tIns="0" bIns="0">
            <a:spAutoFit/>
          </a:bodyPr>
          <a:lstStyle/>
          <a:p>
            <a:r>
              <a:rPr sz="1100" b="0">
                <a:solidFill>
                  <a:srgbClr val="252423"/>
                </a:solidFill>
                <a:latin typeface="Segoe UI"/>
              </a:rPr>
              <a:t>by 2036 those shares move to</a:t>
            </a:r>
          </a:p>
        </p:txBody>
      </p:sp>
      <p:pic>
        <p:nvPicPr>
          <p:cNvPr id="52" name="Picture 51" descr="lock.png"/>
          <p:cNvPicPr>
            <a:picLocks noChangeAspect="1"/>
          </p:cNvPicPr>
          <p:nvPr/>
        </p:nvPicPr>
        <p:blipFill>
          <a:blip r:embed="rId8"/>
          <a:stretch>
            <a:fillRect/>
          </a:stretch>
        </p:blipFill>
        <p:spPr>
          <a:xfrm>
            <a:off x="2126116" y="6124320"/>
            <a:ext cx="128699" cy="187198"/>
          </a:xfrm>
          <a:prstGeom prst="rect">
            <a:avLst/>
          </a:prstGeom>
        </p:spPr>
      </p:pic>
      <p:sp>
        <p:nvSpPr>
          <p:cNvPr id="53" name="TextBox 52"/>
          <p:cNvSpPr txBox="1"/>
          <p:nvPr/>
        </p:nvSpPr>
        <p:spPr>
          <a:xfrm>
            <a:off x="2293612" y="6134100"/>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54" name="Picture 53" descr="lock.png"/>
          <p:cNvPicPr>
            <a:picLocks noChangeAspect="1"/>
          </p:cNvPicPr>
          <p:nvPr/>
        </p:nvPicPr>
        <p:blipFill>
          <a:blip r:embed="rId8"/>
          <a:stretch>
            <a:fillRect/>
          </a:stretch>
        </p:blipFill>
        <p:spPr>
          <a:xfrm>
            <a:off x="2550606" y="6124320"/>
            <a:ext cx="128699" cy="187198"/>
          </a:xfrm>
          <a:prstGeom prst="rect">
            <a:avLst/>
          </a:prstGeom>
        </p:spPr>
      </p:pic>
      <p:sp>
        <p:nvSpPr>
          <p:cNvPr id="55" name="TextBox 54"/>
          <p:cNvSpPr txBox="1"/>
          <p:nvPr/>
        </p:nvSpPr>
        <p:spPr>
          <a:xfrm>
            <a:off x="2718101" y="6134100"/>
            <a:ext cx="829909" cy="186689"/>
          </a:xfrm>
          <a:prstGeom prst="rect">
            <a:avLst/>
          </a:prstGeom>
          <a:noFill/>
        </p:spPr>
        <p:txBody>
          <a:bodyPr wrap="none" lIns="0" rIns="0" tIns="0" bIns="0">
            <a:spAutoFit/>
          </a:bodyPr>
          <a:lstStyle/>
          <a:p>
            <a:r>
              <a:rPr sz="1100" b="0">
                <a:solidFill>
                  <a:srgbClr val="252423"/>
                </a:solidFill>
                <a:latin typeface="Segoe UI"/>
              </a:rPr>
              <a:t>respectively.</a:t>
            </a:r>
          </a:p>
        </p:txBody>
      </p:sp>
      <p:sp>
        <p:nvSpPr>
          <p:cNvPr id="56" name="TextBox 55"/>
          <p:cNvSpPr txBox="1"/>
          <p:nvPr/>
        </p:nvSpPr>
        <p:spPr>
          <a:xfrm>
            <a:off x="6286500" y="5966460"/>
            <a:ext cx="1729650" cy="186689"/>
          </a:xfrm>
          <a:prstGeom prst="rect">
            <a:avLst/>
          </a:prstGeom>
          <a:noFill/>
        </p:spPr>
        <p:txBody>
          <a:bodyPr wrap="none" lIns="0" rIns="0" tIns="0" bIns="0">
            <a:spAutoFit/>
          </a:bodyPr>
          <a:lstStyle/>
          <a:p>
            <a:r>
              <a:rPr sz="1100" b="0">
                <a:solidFill>
                  <a:srgbClr val="252423"/>
                </a:solidFill>
                <a:latin typeface="Segoe UI"/>
              </a:rPr>
              <a:t>The forecast build-up adds</a:t>
            </a:r>
          </a:p>
        </p:txBody>
      </p:sp>
      <p:pic>
        <p:nvPicPr>
          <p:cNvPr id="57" name="Picture 56" descr="lock.png"/>
          <p:cNvPicPr>
            <a:picLocks noChangeAspect="1"/>
          </p:cNvPicPr>
          <p:nvPr/>
        </p:nvPicPr>
        <p:blipFill>
          <a:blip r:embed="rId8"/>
          <a:stretch>
            <a:fillRect/>
          </a:stretch>
        </p:blipFill>
        <p:spPr>
          <a:xfrm>
            <a:off x="7964202" y="5956680"/>
            <a:ext cx="128699" cy="187198"/>
          </a:xfrm>
          <a:prstGeom prst="rect">
            <a:avLst/>
          </a:prstGeom>
        </p:spPr>
      </p:pic>
      <p:sp>
        <p:nvSpPr>
          <p:cNvPr id="58" name="TextBox 57"/>
          <p:cNvSpPr txBox="1"/>
          <p:nvPr/>
        </p:nvSpPr>
        <p:spPr>
          <a:xfrm>
            <a:off x="8131698" y="5966460"/>
            <a:ext cx="3632705" cy="186689"/>
          </a:xfrm>
          <a:prstGeom prst="rect">
            <a:avLst/>
          </a:prstGeom>
          <a:noFill/>
        </p:spPr>
        <p:txBody>
          <a:bodyPr wrap="none" lIns="0" rIns="0" tIns="0" bIns="0">
            <a:spAutoFit/>
          </a:bodyPr>
          <a:lstStyle/>
          <a:p>
            <a:r>
              <a:rPr sz="1100" b="0">
                <a:solidFill>
                  <a:srgbClr val="252423"/>
                </a:solidFill>
                <a:latin typeface="Segoe UI"/>
              </a:rPr>
              <a:t>Litres between 2026 and 2036 the Germany market grows</a:t>
            </a:r>
          </a:p>
        </p:txBody>
      </p:sp>
      <p:sp>
        <p:nvSpPr>
          <p:cNvPr id="59" name="TextBox 58"/>
          <p:cNvSpPr txBox="1"/>
          <p:nvPr/>
        </p:nvSpPr>
        <p:spPr>
          <a:xfrm>
            <a:off x="6286500" y="6134100"/>
            <a:ext cx="205514" cy="186689"/>
          </a:xfrm>
          <a:prstGeom prst="rect">
            <a:avLst/>
          </a:prstGeom>
          <a:noFill/>
        </p:spPr>
        <p:txBody>
          <a:bodyPr wrap="none" lIns="0" rIns="0" tIns="0" bIns="0">
            <a:spAutoFit/>
          </a:bodyPr>
          <a:lstStyle/>
          <a:p>
            <a:r>
              <a:rPr sz="1100" b="0">
                <a:solidFill>
                  <a:srgbClr val="252423"/>
                </a:solidFill>
                <a:latin typeface="Segoe UI"/>
              </a:rPr>
              <a:t>to</a:t>
            </a:r>
          </a:p>
        </p:txBody>
      </p:sp>
      <p:pic>
        <p:nvPicPr>
          <p:cNvPr id="60" name="Picture 59" descr="lock.png"/>
          <p:cNvPicPr>
            <a:picLocks noChangeAspect="1"/>
          </p:cNvPicPr>
          <p:nvPr/>
        </p:nvPicPr>
        <p:blipFill>
          <a:blip r:embed="rId8"/>
          <a:stretch>
            <a:fillRect/>
          </a:stretch>
        </p:blipFill>
        <p:spPr>
          <a:xfrm>
            <a:off x="6440066" y="6124320"/>
            <a:ext cx="128699" cy="187198"/>
          </a:xfrm>
          <a:prstGeom prst="rect">
            <a:avLst/>
          </a:prstGeom>
        </p:spPr>
      </p:pic>
      <p:sp>
        <p:nvSpPr>
          <p:cNvPr id="61" name="TextBox 60"/>
          <p:cNvSpPr txBox="1"/>
          <p:nvPr/>
        </p:nvSpPr>
        <p:spPr>
          <a:xfrm>
            <a:off x="6607562" y="6134100"/>
            <a:ext cx="2019436" cy="186689"/>
          </a:xfrm>
          <a:prstGeom prst="rect">
            <a:avLst/>
          </a:prstGeom>
          <a:noFill/>
        </p:spPr>
        <p:txBody>
          <a:bodyPr wrap="none" lIns="0" rIns="0" tIns="0" bIns="0">
            <a:spAutoFit/>
          </a:bodyPr>
          <a:lstStyle/>
          <a:p>
            <a:r>
              <a:rPr sz="1100" b="0">
                <a:solidFill>
                  <a:srgbClr val="252423"/>
                </a:solidFill>
                <a:latin typeface="Segoe UI"/>
              </a:rPr>
              <a:t>× its 2026 size over the decade.</a:t>
            </a:r>
          </a:p>
        </p:txBody>
      </p:sp>
      <p:sp>
        <p:nvSpPr>
          <p:cNvPr id="62" name="lockshield_14"/>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7"/>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22"/>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5"/>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Germany market in value: size, growth, YoY momentum and gap to the Global benchmark</a:t>
            </a:r>
          </a:p>
        </p:txBody>
      </p:sp>
      <p:sp>
        <p:nvSpPr>
          <p:cNvPr id="8" name="Rounded Rectangle 7"/>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estimate year</a:t>
            </a:r>
          </a:p>
        </p:txBody>
      </p:sp>
      <p:sp>
        <p:nvSpPr>
          <p:cNvPr id="9" name="Rounded Rectangle 8"/>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forecast horizon</a:t>
            </a:r>
          </a:p>
        </p:txBody>
      </p:sp>
      <p:sp>
        <p:nvSpPr>
          <p:cNvPr id="10" name="Rounded Rectangle 9"/>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 </a:t>
            </a:r>
          </a:p>
        </p:txBody>
      </p:sp>
      <p:sp>
        <p:nvSpPr>
          <p:cNvPr id="11" name="Rounded Rectangle 10"/>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 </a:t>
            </a:r>
          </a:p>
        </p:txBody>
      </p:sp>
      <p:sp>
        <p:nvSpPr>
          <p:cNvPr id="12" name="Rectangle 11"/>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(US$ Mn), 2021–2036</a:t>
            </a:r>
          </a:p>
        </p:txBody>
      </p:sp>
      <p:graphicFrame>
        <p:nvGraphicFramePr>
          <p:cNvPr id="14" name="Chart 13"/>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5" name="Rectangle 14"/>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7" name="Chart 16"/>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8" name="TextBox 17"/>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 </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19" name="TextBox 18"/>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
            </a:r>
          </a:p>
        </p:txBody>
      </p:sp>
      <p:sp>
        <p:nvSpPr>
          <p:cNvPr id="20" name="Rectangle 19"/>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2" name="Chart 21"/>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3" name="Rectangle 22"/>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Market Share, 2026</a:t>
            </a:r>
          </a:p>
        </p:txBody>
      </p:sp>
      <p:graphicFrame>
        <p:nvGraphicFramePr>
          <p:cNvPr id="25" name="Chart 24"/>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6" name="Rectangle 25"/>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7" name="Rectangle 26"/>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487001" cy="186689"/>
          </a:xfrm>
          <a:prstGeom prst="rect">
            <a:avLst/>
          </a:prstGeom>
          <a:noFill/>
        </p:spPr>
        <p:txBody>
          <a:bodyPr wrap="none" lIns="0" rIns="0" tIns="0" bIns="0">
            <a:spAutoFit/>
          </a:bodyPr>
          <a:lstStyle/>
          <a:p>
            <a:r>
              <a:rPr sz="1100" b="0">
                <a:solidFill>
                  <a:srgbClr val="252423"/>
                </a:solidFill>
                <a:latin typeface="Segoe UI"/>
              </a:rPr>
              <a:t>Germany's helium-3 market expands at</a:t>
            </a:r>
          </a:p>
        </p:txBody>
      </p:sp>
      <p:pic>
        <p:nvPicPr>
          <p:cNvPr id="39" name="Picture 38" descr="lock.png"/>
          <p:cNvPicPr>
            <a:picLocks noChangeAspect="1"/>
          </p:cNvPicPr>
          <p:nvPr/>
        </p:nvPicPr>
        <p:blipFill>
          <a:blip r:embed="rId8"/>
          <a:stretch>
            <a:fillRect/>
          </a:stretch>
        </p:blipFill>
        <p:spPr>
          <a:xfrm>
            <a:off x="10506537" y="2866771"/>
            <a:ext cx="128699" cy="187198"/>
          </a:xfrm>
          <a:prstGeom prst="rect">
            <a:avLst/>
          </a:prstGeom>
        </p:spPr>
      </p:pic>
      <p:sp>
        <p:nvSpPr>
          <p:cNvPr id="40" name="TextBox 39"/>
          <p:cNvSpPr txBox="1"/>
          <p:nvPr/>
        </p:nvSpPr>
        <p:spPr>
          <a:xfrm>
            <a:off x="10674033" y="2876550"/>
            <a:ext cx="967819" cy="186689"/>
          </a:xfrm>
          <a:prstGeom prst="rect">
            <a:avLst/>
          </a:prstGeom>
          <a:noFill/>
        </p:spPr>
        <p:txBody>
          <a:bodyPr wrap="none" lIns="0" rIns="0" tIns="0" bIns="0">
            <a:spAutoFit/>
          </a:bodyPr>
          <a:lstStyle/>
          <a:p>
            <a:r>
              <a:rPr sz="1100" b="0">
                <a:solidFill>
                  <a:srgbClr val="252423"/>
                </a:solidFill>
                <a:latin typeface="Segoe UI"/>
              </a:rPr>
              <a:t>CAGR through</a:t>
            </a:r>
          </a:p>
        </p:txBody>
      </p:sp>
      <p:sp>
        <p:nvSpPr>
          <p:cNvPr id="41" name="TextBox 40"/>
          <p:cNvSpPr txBox="1"/>
          <p:nvPr/>
        </p:nvSpPr>
        <p:spPr>
          <a:xfrm>
            <a:off x="8071485" y="3044190"/>
            <a:ext cx="3218188" cy="186689"/>
          </a:xfrm>
          <a:prstGeom prst="rect">
            <a:avLst/>
          </a:prstGeom>
          <a:noFill/>
        </p:spPr>
        <p:txBody>
          <a:bodyPr wrap="none" lIns="0" rIns="0" tIns="0" bIns="0">
            <a:spAutoFit/>
          </a:bodyPr>
          <a:lstStyle/>
          <a:p>
            <a:r>
              <a:rPr sz="1100" b="0">
                <a:solidFill>
                  <a:srgbClr val="252423"/>
                </a:solidFill>
                <a:latin typeface="Segoe UI"/>
              </a:rPr>
              <a:t>2036, outpacing the Western Europe benchmark of</a:t>
            </a:r>
          </a:p>
        </p:txBody>
      </p:sp>
      <p:pic>
        <p:nvPicPr>
          <p:cNvPr id="42" name="Picture 41" descr="lock.png"/>
          <p:cNvPicPr>
            <a:picLocks noChangeAspect="1"/>
          </p:cNvPicPr>
          <p:nvPr/>
        </p:nvPicPr>
        <p:blipFill>
          <a:blip r:embed="rId8"/>
          <a:stretch>
            <a:fillRect/>
          </a:stretch>
        </p:blipFill>
        <p:spPr>
          <a:xfrm>
            <a:off x="11237724" y="3034411"/>
            <a:ext cx="128699" cy="187198"/>
          </a:xfrm>
          <a:prstGeom prst="rect">
            <a:avLst/>
          </a:prstGeom>
        </p:spPr>
      </p:pic>
      <p:sp>
        <p:nvSpPr>
          <p:cNvPr id="43" name="TextBox 42"/>
          <p:cNvSpPr txBox="1"/>
          <p:nvPr/>
        </p:nvSpPr>
        <p:spPr>
          <a:xfrm>
            <a:off x="11405220" y="3044190"/>
            <a:ext cx="225995" cy="186689"/>
          </a:xfrm>
          <a:prstGeom prst="rect">
            <a:avLst/>
          </a:prstGeom>
          <a:noFill/>
        </p:spPr>
        <p:txBody>
          <a:bodyPr wrap="none" lIns="0" rIns="0" tIns="0" bIns="0">
            <a:spAutoFit/>
          </a:bodyPr>
          <a:lstStyle/>
          <a:p>
            <a:r>
              <a:rPr sz="1100" b="0">
                <a:solidFill>
                  <a:srgbClr val="252423"/>
                </a:solidFill>
                <a:latin typeface="Segoe U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46" name="TextBox 45"/>
          <p:cNvSpPr txBox="1"/>
          <p:nvPr/>
        </p:nvSpPr>
        <p:spPr>
          <a:xfrm>
            <a:off x="257175" y="5966460"/>
            <a:ext cx="1006619" cy="186689"/>
          </a:xfrm>
          <a:prstGeom prst="rect">
            <a:avLst/>
          </a:prstGeom>
          <a:noFill/>
        </p:spPr>
        <p:txBody>
          <a:bodyPr wrap="none" lIns="0" rIns="0" tIns="0" bIns="0">
            <a:spAutoFit/>
          </a:bodyPr>
          <a:lstStyle/>
          <a:p>
            <a:r>
              <a:rPr sz="1100" b="0">
                <a:solidFill>
                  <a:srgbClr val="252423"/>
                </a:solidFill>
                <a:latin typeface="Segoe UI"/>
              </a:rPr>
              <a:t>Germany holds</a:t>
            </a:r>
          </a:p>
        </p:txBody>
      </p:sp>
      <p:pic>
        <p:nvPicPr>
          <p:cNvPr id="47" name="Picture 46" descr="lock.png"/>
          <p:cNvPicPr>
            <a:picLocks noChangeAspect="1"/>
          </p:cNvPicPr>
          <p:nvPr/>
        </p:nvPicPr>
        <p:blipFill>
          <a:blip r:embed="rId8"/>
          <a:stretch>
            <a:fillRect/>
          </a:stretch>
        </p:blipFill>
        <p:spPr>
          <a:xfrm>
            <a:off x="1211846" y="5956680"/>
            <a:ext cx="128699" cy="187198"/>
          </a:xfrm>
          <a:prstGeom prst="rect">
            <a:avLst/>
          </a:prstGeom>
        </p:spPr>
      </p:pic>
      <p:sp>
        <p:nvSpPr>
          <p:cNvPr id="48" name="TextBox 47"/>
          <p:cNvSpPr txBox="1"/>
          <p:nvPr/>
        </p:nvSpPr>
        <p:spPr>
          <a:xfrm>
            <a:off x="1379341" y="5966460"/>
            <a:ext cx="1133977" cy="186689"/>
          </a:xfrm>
          <a:prstGeom prst="rect">
            <a:avLst/>
          </a:prstGeom>
          <a:noFill/>
        </p:spPr>
        <p:txBody>
          <a:bodyPr wrap="none" lIns="0" rIns="0" tIns="0" bIns="0">
            <a:spAutoFit/>
          </a:bodyPr>
          <a:lstStyle/>
          <a:p>
            <a:r>
              <a:rPr sz="1100" b="0">
                <a:solidFill>
                  <a:srgbClr val="252423"/>
                </a:solidFill>
                <a:latin typeface="Segoe UI"/>
              </a:rPr>
              <a:t>of the global and</a:t>
            </a:r>
          </a:p>
        </p:txBody>
      </p:sp>
      <p:pic>
        <p:nvPicPr>
          <p:cNvPr id="49" name="Picture 48" descr="lock.png"/>
          <p:cNvPicPr>
            <a:picLocks noChangeAspect="1"/>
          </p:cNvPicPr>
          <p:nvPr/>
        </p:nvPicPr>
        <p:blipFill>
          <a:blip r:embed="rId8"/>
          <a:stretch>
            <a:fillRect/>
          </a:stretch>
        </p:blipFill>
        <p:spPr>
          <a:xfrm>
            <a:off x="2461370" y="5956680"/>
            <a:ext cx="128699" cy="187198"/>
          </a:xfrm>
          <a:prstGeom prst="rect">
            <a:avLst/>
          </a:prstGeom>
        </p:spPr>
      </p:pic>
      <p:sp>
        <p:nvSpPr>
          <p:cNvPr id="50" name="TextBox 49"/>
          <p:cNvSpPr txBox="1"/>
          <p:nvPr/>
        </p:nvSpPr>
        <p:spPr>
          <a:xfrm>
            <a:off x="2628866" y="5966460"/>
            <a:ext cx="3040548" cy="186689"/>
          </a:xfrm>
          <a:prstGeom prst="rect">
            <a:avLst/>
          </a:prstGeom>
          <a:noFill/>
        </p:spPr>
        <p:txBody>
          <a:bodyPr wrap="none" lIns="0" rIns="0" tIns="0" bIns="0">
            <a:spAutoFit/>
          </a:bodyPr>
          <a:lstStyle/>
          <a:p>
            <a:r>
              <a:rPr sz="1100" b="0">
                <a:solidFill>
                  <a:srgbClr val="252423"/>
                </a:solidFill>
                <a:latin typeface="Segoe UI"/>
              </a:rPr>
              <a:t>of the Western Europe helium-3 market in 2026;</a:t>
            </a:r>
          </a:p>
        </p:txBody>
      </p:sp>
      <p:sp>
        <p:nvSpPr>
          <p:cNvPr id="51" name="TextBox 50"/>
          <p:cNvSpPr txBox="1"/>
          <p:nvPr/>
        </p:nvSpPr>
        <p:spPr>
          <a:xfrm>
            <a:off x="257175" y="6134100"/>
            <a:ext cx="1920889" cy="186689"/>
          </a:xfrm>
          <a:prstGeom prst="rect">
            <a:avLst/>
          </a:prstGeom>
          <a:noFill/>
        </p:spPr>
        <p:txBody>
          <a:bodyPr wrap="none" lIns="0" rIns="0" tIns="0" bIns="0">
            <a:spAutoFit/>
          </a:bodyPr>
          <a:lstStyle/>
          <a:p>
            <a:r>
              <a:rPr sz="1100" b="0">
                <a:solidFill>
                  <a:srgbClr val="252423"/>
                </a:solidFill>
                <a:latin typeface="Segoe UI"/>
              </a:rPr>
              <a:t>by 2036 those shares move to</a:t>
            </a:r>
          </a:p>
        </p:txBody>
      </p:sp>
      <p:pic>
        <p:nvPicPr>
          <p:cNvPr id="52" name="Picture 51" descr="lock.png"/>
          <p:cNvPicPr>
            <a:picLocks noChangeAspect="1"/>
          </p:cNvPicPr>
          <p:nvPr/>
        </p:nvPicPr>
        <p:blipFill>
          <a:blip r:embed="rId8"/>
          <a:stretch>
            <a:fillRect/>
          </a:stretch>
        </p:blipFill>
        <p:spPr>
          <a:xfrm>
            <a:off x="2126116" y="6124320"/>
            <a:ext cx="128699" cy="187198"/>
          </a:xfrm>
          <a:prstGeom prst="rect">
            <a:avLst/>
          </a:prstGeom>
        </p:spPr>
      </p:pic>
      <p:sp>
        <p:nvSpPr>
          <p:cNvPr id="53" name="TextBox 52"/>
          <p:cNvSpPr txBox="1"/>
          <p:nvPr/>
        </p:nvSpPr>
        <p:spPr>
          <a:xfrm>
            <a:off x="2293612" y="6134100"/>
            <a:ext cx="308942" cy="186689"/>
          </a:xfrm>
          <a:prstGeom prst="rect">
            <a:avLst/>
          </a:prstGeom>
          <a:noFill/>
        </p:spPr>
        <p:txBody>
          <a:bodyPr wrap="none" lIns="0" rIns="0" tIns="0" bIns="0">
            <a:spAutoFit/>
          </a:bodyPr>
          <a:lstStyle/>
          <a:p>
            <a:r>
              <a:rPr sz="1100" b="0">
                <a:solidFill>
                  <a:srgbClr val="252423"/>
                </a:solidFill>
                <a:latin typeface="Segoe UI"/>
              </a:rPr>
              <a:t>and</a:t>
            </a:r>
          </a:p>
        </p:txBody>
      </p:sp>
      <p:pic>
        <p:nvPicPr>
          <p:cNvPr id="54" name="Picture 53" descr="lock.png"/>
          <p:cNvPicPr>
            <a:picLocks noChangeAspect="1"/>
          </p:cNvPicPr>
          <p:nvPr/>
        </p:nvPicPr>
        <p:blipFill>
          <a:blip r:embed="rId8"/>
          <a:stretch>
            <a:fillRect/>
          </a:stretch>
        </p:blipFill>
        <p:spPr>
          <a:xfrm>
            <a:off x="2550606" y="6124320"/>
            <a:ext cx="128699" cy="187198"/>
          </a:xfrm>
          <a:prstGeom prst="rect">
            <a:avLst/>
          </a:prstGeom>
        </p:spPr>
      </p:pic>
      <p:sp>
        <p:nvSpPr>
          <p:cNvPr id="55" name="TextBox 54"/>
          <p:cNvSpPr txBox="1"/>
          <p:nvPr/>
        </p:nvSpPr>
        <p:spPr>
          <a:xfrm>
            <a:off x="2718101" y="6134100"/>
            <a:ext cx="829909" cy="186689"/>
          </a:xfrm>
          <a:prstGeom prst="rect">
            <a:avLst/>
          </a:prstGeom>
          <a:noFill/>
        </p:spPr>
        <p:txBody>
          <a:bodyPr wrap="none" lIns="0" rIns="0" tIns="0" bIns="0">
            <a:spAutoFit/>
          </a:bodyPr>
          <a:lstStyle/>
          <a:p>
            <a:r>
              <a:rPr sz="1100" b="0">
                <a:solidFill>
                  <a:srgbClr val="252423"/>
                </a:solidFill>
                <a:latin typeface="Segoe UI"/>
              </a:rPr>
              <a:t>respectively.</a:t>
            </a:r>
          </a:p>
        </p:txBody>
      </p:sp>
      <p:sp>
        <p:nvSpPr>
          <p:cNvPr id="56" name="TextBox 55"/>
          <p:cNvSpPr txBox="1"/>
          <p:nvPr/>
        </p:nvSpPr>
        <p:spPr>
          <a:xfrm>
            <a:off x="6286500" y="5882640"/>
            <a:ext cx="3434648" cy="186689"/>
          </a:xfrm>
          <a:prstGeom prst="rect">
            <a:avLst/>
          </a:prstGeom>
          <a:noFill/>
        </p:spPr>
        <p:txBody>
          <a:bodyPr wrap="none" lIns="0" rIns="0" tIns="0" bIns="0">
            <a:spAutoFit/>
          </a:bodyPr>
          <a:lstStyle/>
          <a:p>
            <a:r>
              <a:rPr sz="1100" b="0">
                <a:solidFill>
                  <a:srgbClr val="252423"/>
                </a:solidFill>
                <a:latin typeface="Segoe UI"/>
              </a:rPr>
              <a:t>The market in Germany is expected to account for US$</a:t>
            </a:r>
          </a:p>
        </p:txBody>
      </p:sp>
      <p:pic>
        <p:nvPicPr>
          <p:cNvPr id="57" name="Picture 56" descr="lock.png"/>
          <p:cNvPicPr>
            <a:picLocks noChangeAspect="1"/>
          </p:cNvPicPr>
          <p:nvPr/>
        </p:nvPicPr>
        <p:blipFill>
          <a:blip r:embed="rId8"/>
          <a:stretch>
            <a:fillRect/>
          </a:stretch>
        </p:blipFill>
        <p:spPr>
          <a:xfrm>
            <a:off x="9669200" y="5872860"/>
            <a:ext cx="128699" cy="187198"/>
          </a:xfrm>
          <a:prstGeom prst="rect">
            <a:avLst/>
          </a:prstGeom>
        </p:spPr>
      </p:pic>
      <p:sp>
        <p:nvSpPr>
          <p:cNvPr id="58" name="TextBox 57"/>
          <p:cNvSpPr txBox="1"/>
          <p:nvPr/>
        </p:nvSpPr>
        <p:spPr>
          <a:xfrm>
            <a:off x="9836696" y="5882640"/>
            <a:ext cx="1632204" cy="186689"/>
          </a:xfrm>
          <a:prstGeom prst="rect">
            <a:avLst/>
          </a:prstGeom>
          <a:noFill/>
        </p:spPr>
        <p:txBody>
          <a:bodyPr wrap="none" lIns="0" rIns="0" tIns="0" bIns="0">
            <a:spAutoFit/>
          </a:bodyPr>
          <a:lstStyle/>
          <a:p>
            <a:r>
              <a:rPr sz="1100" b="0">
                <a:solidFill>
                  <a:srgbClr val="252423"/>
                </a:solidFill>
                <a:latin typeface="Segoe UI"/>
              </a:rPr>
              <a:t>Mn by 2036 at a CAGR of</a:t>
            </a:r>
          </a:p>
        </p:txBody>
      </p:sp>
      <p:pic>
        <p:nvPicPr>
          <p:cNvPr id="59" name="Picture 58" descr="lock.png"/>
          <p:cNvPicPr>
            <a:picLocks noChangeAspect="1"/>
          </p:cNvPicPr>
          <p:nvPr/>
        </p:nvPicPr>
        <p:blipFill>
          <a:blip r:embed="rId8"/>
          <a:stretch>
            <a:fillRect/>
          </a:stretch>
        </p:blipFill>
        <p:spPr>
          <a:xfrm>
            <a:off x="11416952" y="5872860"/>
            <a:ext cx="128699" cy="187198"/>
          </a:xfrm>
          <a:prstGeom prst="rect">
            <a:avLst/>
          </a:prstGeom>
        </p:spPr>
      </p:pic>
      <p:sp>
        <p:nvSpPr>
          <p:cNvPr id="60" name="TextBox 59"/>
          <p:cNvSpPr txBox="1"/>
          <p:nvPr/>
        </p:nvSpPr>
        <p:spPr>
          <a:xfrm>
            <a:off x="6286500" y="6050280"/>
            <a:ext cx="5648325" cy="186689"/>
          </a:xfrm>
          <a:prstGeom prst="rect">
            <a:avLst/>
          </a:prstGeom>
          <a:noFill/>
        </p:spPr>
        <p:txBody>
          <a:bodyPr wrap="none" lIns="0" rIns="0" tIns="0" bIns="0">
            <a:spAutoFit/>
          </a:bodyPr>
          <a:lstStyle/>
          <a:p>
            <a:r>
              <a:rPr sz="1100" b="0">
                <a:solidFill>
                  <a:srgbClr val="252423"/>
                </a:solidFill>
                <a:latin typeface="Segoe UI"/>
              </a:rPr>
              <a:t>over the forecast period. Germany is expected to create an incremental opportunity of US$</a:t>
            </a:r>
          </a:p>
        </p:txBody>
      </p:sp>
      <p:pic>
        <p:nvPicPr>
          <p:cNvPr id="61" name="Picture 60" descr="lock.png"/>
          <p:cNvPicPr>
            <a:picLocks noChangeAspect="1"/>
          </p:cNvPicPr>
          <p:nvPr/>
        </p:nvPicPr>
        <p:blipFill>
          <a:blip r:embed="rId8"/>
          <a:stretch>
            <a:fillRect/>
          </a:stretch>
        </p:blipFill>
        <p:spPr>
          <a:xfrm>
            <a:off x="6273032" y="6208141"/>
            <a:ext cx="128699" cy="187198"/>
          </a:xfrm>
          <a:prstGeom prst="rect">
            <a:avLst/>
          </a:prstGeom>
        </p:spPr>
      </p:pic>
      <p:sp>
        <p:nvSpPr>
          <p:cNvPr id="62" name="TextBox 61"/>
          <p:cNvSpPr txBox="1"/>
          <p:nvPr/>
        </p:nvSpPr>
        <p:spPr>
          <a:xfrm>
            <a:off x="6440528" y="6217920"/>
            <a:ext cx="3465186" cy="186689"/>
          </a:xfrm>
          <a:prstGeom prst="rect">
            <a:avLst/>
          </a:prstGeom>
          <a:noFill/>
        </p:spPr>
        <p:txBody>
          <a:bodyPr wrap="none" lIns="0" rIns="0" tIns="0" bIns="0">
            <a:spAutoFit/>
          </a:bodyPr>
          <a:lstStyle/>
          <a:p>
            <a:r>
              <a:rPr sz="1100" b="0">
                <a:solidFill>
                  <a:srgbClr val="252423"/>
                </a:solidFill>
                <a:latin typeface="Segoe UI"/>
              </a:rPr>
              <a:t>Mn for the overall Helium-3 market from 2025 to 2036.</a:t>
            </a:r>
          </a:p>
        </p:txBody>
      </p:sp>
      <p:sp>
        <p:nvSpPr>
          <p:cNvPr id="63" name="lockshield_14"/>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7"/>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2"/>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5"/>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Key Segments Overview, By Value (2026)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Germany's key segments by value, highlighting the leading sub-segment of every segmentation</a:t>
            </a:r>
          </a:p>
        </p:txBody>
      </p:sp>
      <p:sp>
        <p:nvSpPr>
          <p:cNvPr id="8" name="Rectangle 7"/>
          <p:cNvSpPr/>
          <p:nvPr/>
        </p:nvSpPr>
        <p:spPr>
          <a:xfrm>
            <a:off x="142875" y="981075"/>
            <a:ext cx="2857500" cy="3790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Product Form  (US$ Mn)</a:t>
            </a:r>
          </a:p>
        </p:txBody>
      </p:sp>
      <p:graphicFrame>
        <p:nvGraphicFramePr>
          <p:cNvPr id="10" name="Chart 9"/>
          <p:cNvGraphicFramePr>
            <a:graphicFrameLocks noGrp="1"/>
          </p:cNvGraphicFramePr>
          <p:nvPr/>
        </p:nvGraphicFramePr>
        <p:xfrm>
          <a:off x="238125" y="1266825"/>
          <a:ext cx="2667000" cy="3448050"/>
        </p:xfrm>
        <a:graphic>
          <a:graphicData uri="http://schemas.openxmlformats.org/drawingml/2006/chart">
            <c:chart xmlns:c="http://schemas.openxmlformats.org/drawingml/2006/chart" r:id="rId3"/>
          </a:graphicData>
        </a:graphic>
      </p:graphicFrame>
      <p:sp>
        <p:nvSpPr>
          <p:cNvPr id="11" name="Rectangle 10"/>
          <p:cNvSpPr/>
          <p:nvPr/>
        </p:nvSpPr>
        <p:spPr>
          <a:xfrm>
            <a:off x="3152775" y="981075"/>
            <a:ext cx="2857500" cy="3790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Supply Source  (US$ Mn)</a:t>
            </a:r>
          </a:p>
        </p:txBody>
      </p:sp>
      <p:graphicFrame>
        <p:nvGraphicFramePr>
          <p:cNvPr id="13" name="Chart 12"/>
          <p:cNvGraphicFramePr>
            <a:graphicFrameLocks noGrp="1"/>
          </p:cNvGraphicFramePr>
          <p:nvPr/>
        </p:nvGraphicFramePr>
        <p:xfrm>
          <a:off x="3248025" y="1266825"/>
          <a:ext cx="2667000" cy="3448050"/>
        </p:xfrm>
        <a:graphic>
          <a:graphicData uri="http://schemas.openxmlformats.org/drawingml/2006/chart">
            <c:chart xmlns:c="http://schemas.openxmlformats.org/drawingml/2006/chart" r:id="rId4"/>
          </a:graphicData>
        </a:graphic>
      </p:graphicFrame>
      <p:sp>
        <p:nvSpPr>
          <p:cNvPr id="14" name="Rectangle 13"/>
          <p:cNvSpPr/>
          <p:nvPr/>
        </p:nvSpPr>
        <p:spPr>
          <a:xfrm>
            <a:off x="6162675" y="981075"/>
            <a:ext cx="2857500" cy="3790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Application  (US$ Mn)</a:t>
            </a:r>
          </a:p>
        </p:txBody>
      </p:sp>
      <p:graphicFrame>
        <p:nvGraphicFramePr>
          <p:cNvPr id="16" name="Chart 15"/>
          <p:cNvGraphicFramePr>
            <a:graphicFrameLocks noGrp="1"/>
          </p:cNvGraphicFramePr>
          <p:nvPr/>
        </p:nvGraphicFramePr>
        <p:xfrm>
          <a:off x="6257925" y="1266825"/>
          <a:ext cx="2667000" cy="3448050"/>
        </p:xfrm>
        <a:graphic>
          <a:graphicData uri="http://schemas.openxmlformats.org/drawingml/2006/chart">
            <c:chart xmlns:c="http://schemas.openxmlformats.org/drawingml/2006/chart" r:id="rId5"/>
          </a:graphicData>
        </a:graphic>
      </p:graphicFrame>
      <p:sp>
        <p:nvSpPr>
          <p:cNvPr id="17" name="Rectangle 16"/>
          <p:cNvSpPr/>
          <p:nvPr/>
        </p:nvSpPr>
        <p:spPr>
          <a:xfrm>
            <a:off x="9172575" y="981075"/>
            <a:ext cx="2857500" cy="3790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By End User  (US$ Mn)</a:t>
            </a:r>
          </a:p>
        </p:txBody>
      </p:sp>
      <p:graphicFrame>
        <p:nvGraphicFramePr>
          <p:cNvPr id="19" name="Chart 18"/>
          <p:cNvGraphicFramePr>
            <a:graphicFrameLocks noGrp="1"/>
          </p:cNvGraphicFramePr>
          <p:nvPr/>
        </p:nvGraphicFramePr>
        <p:xfrm>
          <a:off x="9267825" y="1266825"/>
          <a:ext cx="2667000" cy="3448050"/>
        </p:xfrm>
        <a:graphic>
          <a:graphicData uri="http://schemas.openxmlformats.org/drawingml/2006/chart">
            <c:chart xmlns:c="http://schemas.openxmlformats.org/drawingml/2006/chart" r:id="rId6"/>
          </a:graphicData>
        </a:graphic>
      </p:graphicFrame>
      <p:sp>
        <p:nvSpPr>
          <p:cNvPr id="20" name="Rectangle 19"/>
          <p:cNvSpPr/>
          <p:nvPr/>
        </p:nvSpPr>
        <p:spPr>
          <a:xfrm>
            <a:off x="142875" y="4905375"/>
            <a:ext cx="11906250" cy="17145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91100"/>
            <a:ext cx="11639550" cy="209550"/>
          </a:xfrm>
          <a:prstGeom prst="rect">
            <a:avLst/>
          </a:prstGeom>
          <a:noFill/>
        </p:spPr>
        <p:txBody>
          <a:bodyPr wrap="square" lIns="0" rIns="19050" tIns="9525" bIns="9525">
            <a:spAutoFit/>
          </a:bodyPr>
          <a:lstStyle/>
          <a:p>
            <a:pPr algn="l"/>
            <a:r>
              <a:rPr sz="1300" b="1">
                <a:solidFill>
                  <a:srgbClr val="007BA5"/>
                </a:solidFill>
                <a:latin typeface="Segoe UI"/>
              </a:rPr>
              <a:t/>
            </a:r>
          </a:p>
        </p:txBody>
      </p:sp>
      <p:sp>
        <p:nvSpPr>
          <p:cNvPr id="22" name="Rectangle 21"/>
          <p:cNvSpPr/>
          <p:nvPr/>
        </p:nvSpPr>
        <p:spPr>
          <a:xfrm>
            <a:off x="276225" y="52292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314950"/>
            <a:ext cx="11639550"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24" name="TextBox 2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5" name="Picture 24" descr="lock.png"/>
          <p:cNvPicPr>
            <a:picLocks noChangeAspect="1"/>
          </p:cNvPicPr>
          <p:nvPr/>
        </p:nvPicPr>
        <p:blipFill>
          <a:blip r:embed="rId8"/>
          <a:stretch>
            <a:fillRect/>
          </a:stretch>
        </p:blipFill>
        <p:spPr>
          <a:xfrm>
            <a:off x="1811655" y="2771775"/>
            <a:ext cx="183356" cy="266700"/>
          </a:xfrm>
          <a:prstGeom prst="rect">
            <a:avLst/>
          </a:prstGeom>
        </p:spPr>
      </p:pic>
      <p:pic>
        <p:nvPicPr>
          <p:cNvPr id="26" name="Picture 25" descr="lock.png"/>
          <p:cNvPicPr>
            <a:picLocks noChangeAspect="1"/>
          </p:cNvPicPr>
          <p:nvPr/>
        </p:nvPicPr>
        <p:blipFill>
          <a:blip r:embed="rId8"/>
          <a:stretch>
            <a:fillRect/>
          </a:stretch>
        </p:blipFill>
        <p:spPr>
          <a:xfrm>
            <a:off x="4821555" y="2771775"/>
            <a:ext cx="183356" cy="266700"/>
          </a:xfrm>
          <a:prstGeom prst="rect">
            <a:avLst/>
          </a:prstGeom>
        </p:spPr>
      </p:pic>
      <p:pic>
        <p:nvPicPr>
          <p:cNvPr id="27" name="Picture 26" descr="lock.png"/>
          <p:cNvPicPr>
            <a:picLocks noChangeAspect="1"/>
          </p:cNvPicPr>
          <p:nvPr/>
        </p:nvPicPr>
        <p:blipFill>
          <a:blip r:embed="rId8"/>
          <a:stretch>
            <a:fillRect/>
          </a:stretch>
        </p:blipFill>
        <p:spPr>
          <a:xfrm>
            <a:off x="7831455" y="2771775"/>
            <a:ext cx="183356" cy="266700"/>
          </a:xfrm>
          <a:prstGeom prst="rect">
            <a:avLst/>
          </a:prstGeom>
        </p:spPr>
      </p:pic>
      <p:pic>
        <p:nvPicPr>
          <p:cNvPr id="28" name="Picture 27" descr="lock.png"/>
          <p:cNvPicPr>
            <a:picLocks noChangeAspect="1"/>
          </p:cNvPicPr>
          <p:nvPr/>
        </p:nvPicPr>
        <p:blipFill>
          <a:blip r:embed="rId8"/>
          <a:stretch>
            <a:fillRect/>
          </a:stretch>
        </p:blipFill>
        <p:spPr>
          <a:xfrm>
            <a:off x="10841355" y="2771775"/>
            <a:ext cx="183356" cy="266700"/>
          </a:xfrm>
          <a:prstGeom prst="rect">
            <a:avLst/>
          </a:prstGeom>
        </p:spPr>
      </p:pic>
      <p:sp>
        <p:nvSpPr>
          <p:cNvPr id="29" name="TextBox 28"/>
          <p:cNvSpPr txBox="1"/>
          <p:nvPr/>
        </p:nvSpPr>
        <p:spPr>
          <a:xfrm>
            <a:off x="276225" y="5000625"/>
            <a:ext cx="1640904" cy="161696"/>
          </a:xfrm>
          <a:prstGeom prst="rect">
            <a:avLst/>
          </a:prstGeom>
          <a:noFill/>
        </p:spPr>
        <p:txBody>
          <a:bodyPr wrap="none" lIns="0" rIns="0" tIns="0" bIns="0">
            <a:spAutoFit/>
          </a:bodyPr>
          <a:lstStyle/>
          <a:p>
            <a:r>
              <a:rPr sz="935" b="1">
                <a:solidFill>
                  <a:srgbClr val="007BA5"/>
                </a:solidFill>
                <a:latin typeface="Segoe UI"/>
              </a:rPr>
              <a:t>Key Takeaways · 2026 Total:</a:t>
            </a:r>
          </a:p>
        </p:txBody>
      </p:sp>
      <p:pic>
        <p:nvPicPr>
          <p:cNvPr id="30" name="Picture 29" descr="lock.png"/>
          <p:cNvPicPr>
            <a:picLocks noChangeAspect="1"/>
          </p:cNvPicPr>
          <p:nvPr/>
        </p:nvPicPr>
        <p:blipFill>
          <a:blip r:embed="rId8"/>
          <a:stretch>
            <a:fillRect/>
          </a:stretch>
        </p:blipFill>
        <p:spPr>
          <a:xfrm>
            <a:off x="1861565" y="4992303"/>
            <a:ext cx="109510" cy="159288"/>
          </a:xfrm>
          <a:prstGeom prst="rect">
            <a:avLst/>
          </a:prstGeom>
        </p:spPr>
      </p:pic>
      <p:sp>
        <p:nvSpPr>
          <p:cNvPr id="31" name="TextBox 30"/>
          <p:cNvSpPr txBox="1"/>
          <p:nvPr/>
        </p:nvSpPr>
        <p:spPr>
          <a:xfrm>
            <a:off x="2004088" y="5000625"/>
            <a:ext cx="515701" cy="161696"/>
          </a:xfrm>
          <a:prstGeom prst="rect">
            <a:avLst/>
          </a:prstGeom>
          <a:noFill/>
        </p:spPr>
        <p:txBody>
          <a:bodyPr wrap="none" lIns="0" rIns="0" tIns="0" bIns="0">
            <a:spAutoFit/>
          </a:bodyPr>
          <a:lstStyle/>
          <a:p>
            <a:r>
              <a:rPr sz="935" b="1">
                <a:solidFill>
                  <a:srgbClr val="007BA5"/>
                </a:solidFill>
                <a:latin typeface="Segoe UI"/>
              </a:rPr>
              <a:t>US$ Mn</a:t>
            </a:r>
          </a:p>
        </p:txBody>
      </p:sp>
      <p:sp>
        <p:nvSpPr>
          <p:cNvPr id="32" name="TextBox 31"/>
          <p:cNvSpPr txBox="1"/>
          <p:nvPr/>
        </p:nvSpPr>
        <p:spPr>
          <a:xfrm>
            <a:off x="276225" y="5324475"/>
            <a:ext cx="2965663" cy="186689"/>
          </a:xfrm>
          <a:prstGeom prst="rect">
            <a:avLst/>
          </a:prstGeom>
          <a:noFill/>
        </p:spPr>
        <p:txBody>
          <a:bodyPr wrap="none" lIns="0" rIns="0" tIns="0" bIns="0">
            <a:spAutoFit/>
          </a:bodyPr>
          <a:lstStyle/>
          <a:p>
            <a:r>
              <a:rPr sz="1100" b="0">
                <a:solidFill>
                  <a:srgbClr val="252423"/>
                </a:solidFill>
                <a:latin typeface="Segoe UI"/>
              </a:rPr>
              <a:t>▪ By Product Form, 'Gaseous Helium-3' leads at</a:t>
            </a:r>
          </a:p>
        </p:txBody>
      </p:sp>
      <p:pic>
        <p:nvPicPr>
          <p:cNvPr id="33" name="Picture 32" descr="lock.png"/>
          <p:cNvPicPr>
            <a:picLocks noChangeAspect="1"/>
          </p:cNvPicPr>
          <p:nvPr/>
        </p:nvPicPr>
        <p:blipFill>
          <a:blip r:embed="rId8"/>
          <a:stretch>
            <a:fillRect/>
          </a:stretch>
        </p:blipFill>
        <p:spPr>
          <a:xfrm>
            <a:off x="3189940" y="5314695"/>
            <a:ext cx="128699" cy="187198"/>
          </a:xfrm>
          <a:prstGeom prst="rect">
            <a:avLst/>
          </a:prstGeom>
        </p:spPr>
      </p:pic>
      <p:sp>
        <p:nvSpPr>
          <p:cNvPr id="34" name="TextBox 33"/>
          <p:cNvSpPr txBox="1"/>
          <p:nvPr/>
        </p:nvSpPr>
        <p:spPr>
          <a:xfrm>
            <a:off x="3357436" y="5324475"/>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35" name="Picture 34" descr="lock.png"/>
          <p:cNvPicPr>
            <a:picLocks noChangeAspect="1"/>
          </p:cNvPicPr>
          <p:nvPr/>
        </p:nvPicPr>
        <p:blipFill>
          <a:blip r:embed="rId8"/>
          <a:stretch>
            <a:fillRect/>
          </a:stretch>
        </p:blipFill>
        <p:spPr>
          <a:xfrm>
            <a:off x="3950583" y="5314695"/>
            <a:ext cx="128699" cy="187198"/>
          </a:xfrm>
          <a:prstGeom prst="rect">
            <a:avLst/>
          </a:prstGeom>
        </p:spPr>
      </p:pic>
      <p:sp>
        <p:nvSpPr>
          <p:cNvPr id="36" name="TextBox 35"/>
          <p:cNvSpPr txBox="1"/>
          <p:nvPr/>
        </p:nvSpPr>
        <p:spPr>
          <a:xfrm>
            <a:off x="4118079" y="5324475"/>
            <a:ext cx="2228384" cy="186689"/>
          </a:xfrm>
          <a:prstGeom prst="rect">
            <a:avLst/>
          </a:prstGeom>
          <a:noFill/>
        </p:spPr>
        <p:txBody>
          <a:bodyPr wrap="none" lIns="0" rIns="0" tIns="0" bIns="0">
            <a:spAutoFit/>
          </a:bodyPr>
          <a:lstStyle/>
          <a:p>
            <a:r>
              <a:rPr sz="1100" b="0">
                <a:solidFill>
                  <a:srgbClr val="252423"/>
                </a:solidFill>
                <a:latin typeface="Segoe UI"/>
              </a:rPr>
              <a:t>share), ahead of 'Liquid Helium-3' (</a:t>
            </a:r>
          </a:p>
        </p:txBody>
      </p:sp>
      <p:pic>
        <p:nvPicPr>
          <p:cNvPr id="37" name="Picture 36" descr="lock.png"/>
          <p:cNvPicPr>
            <a:picLocks noChangeAspect="1"/>
          </p:cNvPicPr>
          <p:nvPr/>
        </p:nvPicPr>
        <p:blipFill>
          <a:blip r:embed="rId8"/>
          <a:stretch>
            <a:fillRect/>
          </a:stretch>
        </p:blipFill>
        <p:spPr>
          <a:xfrm>
            <a:off x="6294515" y="5314695"/>
            <a:ext cx="128699" cy="187198"/>
          </a:xfrm>
          <a:prstGeom prst="rect">
            <a:avLst/>
          </a:prstGeom>
        </p:spPr>
      </p:pic>
      <p:sp>
        <p:nvSpPr>
          <p:cNvPr id="38" name="TextBox 37"/>
          <p:cNvSpPr txBox="1"/>
          <p:nvPr/>
        </p:nvSpPr>
        <p:spPr>
          <a:xfrm>
            <a:off x="6462011" y="5324475"/>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39" name="TextBox 38"/>
          <p:cNvSpPr txBox="1"/>
          <p:nvPr/>
        </p:nvSpPr>
        <p:spPr>
          <a:xfrm>
            <a:off x="276225" y="5542407"/>
            <a:ext cx="3883886" cy="186689"/>
          </a:xfrm>
          <a:prstGeom prst="rect">
            <a:avLst/>
          </a:prstGeom>
          <a:noFill/>
        </p:spPr>
        <p:txBody>
          <a:bodyPr wrap="none" lIns="0" rIns="0" tIns="0" bIns="0">
            <a:spAutoFit/>
          </a:bodyPr>
          <a:lstStyle/>
          <a:p>
            <a:r>
              <a:rPr sz="1100" b="0">
                <a:solidFill>
                  <a:srgbClr val="252423"/>
                </a:solidFill>
                <a:latin typeface="Segoe UI"/>
              </a:rPr>
              <a:t>▪ By Supply Source, 'Tritium-Decay-Derived Helium-3' leads at</a:t>
            </a:r>
          </a:p>
        </p:txBody>
      </p:sp>
      <p:pic>
        <p:nvPicPr>
          <p:cNvPr id="40" name="Picture 39" descr="lock.png"/>
          <p:cNvPicPr>
            <a:picLocks noChangeAspect="1"/>
          </p:cNvPicPr>
          <p:nvPr/>
        </p:nvPicPr>
        <p:blipFill>
          <a:blip r:embed="rId8"/>
          <a:stretch>
            <a:fillRect/>
          </a:stretch>
        </p:blipFill>
        <p:spPr>
          <a:xfrm>
            <a:off x="4108162" y="5532627"/>
            <a:ext cx="128699" cy="187198"/>
          </a:xfrm>
          <a:prstGeom prst="rect">
            <a:avLst/>
          </a:prstGeom>
        </p:spPr>
      </p:pic>
      <p:sp>
        <p:nvSpPr>
          <p:cNvPr id="41" name="TextBox 40"/>
          <p:cNvSpPr txBox="1"/>
          <p:nvPr/>
        </p:nvSpPr>
        <p:spPr>
          <a:xfrm>
            <a:off x="4275658" y="5542407"/>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42" name="Picture 41" descr="lock.png"/>
          <p:cNvPicPr>
            <a:picLocks noChangeAspect="1"/>
          </p:cNvPicPr>
          <p:nvPr/>
        </p:nvPicPr>
        <p:blipFill>
          <a:blip r:embed="rId8"/>
          <a:stretch>
            <a:fillRect/>
          </a:stretch>
        </p:blipFill>
        <p:spPr>
          <a:xfrm>
            <a:off x="4868805" y="5532627"/>
            <a:ext cx="128699" cy="187198"/>
          </a:xfrm>
          <a:prstGeom prst="rect">
            <a:avLst/>
          </a:prstGeom>
        </p:spPr>
      </p:pic>
      <p:sp>
        <p:nvSpPr>
          <p:cNvPr id="43" name="TextBox 42"/>
          <p:cNvSpPr txBox="1"/>
          <p:nvPr/>
        </p:nvSpPr>
        <p:spPr>
          <a:xfrm>
            <a:off x="5036301" y="5542407"/>
            <a:ext cx="3738908" cy="186689"/>
          </a:xfrm>
          <a:prstGeom prst="rect">
            <a:avLst/>
          </a:prstGeom>
          <a:noFill/>
        </p:spPr>
        <p:txBody>
          <a:bodyPr wrap="none" lIns="0" rIns="0" tIns="0" bIns="0">
            <a:spAutoFit/>
          </a:bodyPr>
          <a:lstStyle/>
          <a:p>
            <a:r>
              <a:rPr sz="1100" b="0">
                <a:solidFill>
                  <a:srgbClr val="252423"/>
                </a:solidFill>
                <a:latin typeface="Segoe UI"/>
              </a:rPr>
              <a:t>share), ahead of 'Terrestrial Natural / Geological Helium-3' (</a:t>
            </a:r>
          </a:p>
        </p:txBody>
      </p:sp>
      <p:pic>
        <p:nvPicPr>
          <p:cNvPr id="44" name="Picture 43" descr="lock.png"/>
          <p:cNvPicPr>
            <a:picLocks noChangeAspect="1"/>
          </p:cNvPicPr>
          <p:nvPr/>
        </p:nvPicPr>
        <p:blipFill>
          <a:blip r:embed="rId8"/>
          <a:stretch>
            <a:fillRect/>
          </a:stretch>
        </p:blipFill>
        <p:spPr>
          <a:xfrm>
            <a:off x="8723261" y="5532627"/>
            <a:ext cx="128699" cy="187198"/>
          </a:xfrm>
          <a:prstGeom prst="rect">
            <a:avLst/>
          </a:prstGeom>
        </p:spPr>
      </p:pic>
      <p:sp>
        <p:nvSpPr>
          <p:cNvPr id="45" name="TextBox 44"/>
          <p:cNvSpPr txBox="1"/>
          <p:nvPr/>
        </p:nvSpPr>
        <p:spPr>
          <a:xfrm>
            <a:off x="8890757" y="5542407"/>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46" name="TextBox 45"/>
          <p:cNvSpPr txBox="1"/>
          <p:nvPr/>
        </p:nvSpPr>
        <p:spPr>
          <a:xfrm>
            <a:off x="276225" y="5760339"/>
            <a:ext cx="3711401" cy="186689"/>
          </a:xfrm>
          <a:prstGeom prst="rect">
            <a:avLst/>
          </a:prstGeom>
          <a:noFill/>
        </p:spPr>
        <p:txBody>
          <a:bodyPr wrap="none" lIns="0" rIns="0" tIns="0" bIns="0">
            <a:spAutoFit/>
          </a:bodyPr>
          <a:lstStyle/>
          <a:p>
            <a:r>
              <a:rPr sz="1100" b="0">
                <a:solidFill>
                  <a:srgbClr val="252423"/>
                </a:solidFill>
                <a:latin typeface="Segoe UI"/>
              </a:rPr>
              <a:t>▪ By Application, 'Medical and Biomedical Imaging' leads at</a:t>
            </a:r>
          </a:p>
        </p:txBody>
      </p:sp>
      <p:pic>
        <p:nvPicPr>
          <p:cNvPr id="47" name="Picture 46" descr="lock.png"/>
          <p:cNvPicPr>
            <a:picLocks noChangeAspect="1"/>
          </p:cNvPicPr>
          <p:nvPr/>
        </p:nvPicPr>
        <p:blipFill>
          <a:blip r:embed="rId8"/>
          <a:stretch>
            <a:fillRect/>
          </a:stretch>
        </p:blipFill>
        <p:spPr>
          <a:xfrm>
            <a:off x="3935677" y="5750559"/>
            <a:ext cx="128699" cy="187198"/>
          </a:xfrm>
          <a:prstGeom prst="rect">
            <a:avLst/>
          </a:prstGeom>
        </p:spPr>
      </p:pic>
      <p:sp>
        <p:nvSpPr>
          <p:cNvPr id="48" name="TextBox 47"/>
          <p:cNvSpPr txBox="1"/>
          <p:nvPr/>
        </p:nvSpPr>
        <p:spPr>
          <a:xfrm>
            <a:off x="4103173" y="5760339"/>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49" name="Picture 48" descr="lock.png"/>
          <p:cNvPicPr>
            <a:picLocks noChangeAspect="1"/>
          </p:cNvPicPr>
          <p:nvPr/>
        </p:nvPicPr>
        <p:blipFill>
          <a:blip r:embed="rId8"/>
          <a:stretch>
            <a:fillRect/>
          </a:stretch>
        </p:blipFill>
        <p:spPr>
          <a:xfrm>
            <a:off x="4696320" y="5750559"/>
            <a:ext cx="128699" cy="187198"/>
          </a:xfrm>
          <a:prstGeom prst="rect">
            <a:avLst/>
          </a:prstGeom>
        </p:spPr>
      </p:pic>
      <p:sp>
        <p:nvSpPr>
          <p:cNvPr id="50" name="TextBox 49"/>
          <p:cNvSpPr txBox="1"/>
          <p:nvPr/>
        </p:nvSpPr>
        <p:spPr>
          <a:xfrm>
            <a:off x="4863816" y="5760339"/>
            <a:ext cx="4972218" cy="186689"/>
          </a:xfrm>
          <a:prstGeom prst="rect">
            <a:avLst/>
          </a:prstGeom>
          <a:noFill/>
        </p:spPr>
        <p:txBody>
          <a:bodyPr wrap="none" lIns="0" rIns="0" tIns="0" bIns="0">
            <a:spAutoFit/>
          </a:bodyPr>
          <a:lstStyle/>
          <a:p>
            <a:r>
              <a:rPr sz="1100" b="0">
                <a:solidFill>
                  <a:srgbClr val="252423"/>
                </a:solidFill>
                <a:latin typeface="Segoe UI"/>
              </a:rPr>
              <a:t>share), ahead of 'Cryogenic Refrigeration and Ultra-Low-Temperature Cooling' (</a:t>
            </a:r>
          </a:p>
        </p:txBody>
      </p:sp>
      <p:pic>
        <p:nvPicPr>
          <p:cNvPr id="51" name="Picture 50" descr="lock.png"/>
          <p:cNvPicPr>
            <a:picLocks noChangeAspect="1"/>
          </p:cNvPicPr>
          <p:nvPr/>
        </p:nvPicPr>
        <p:blipFill>
          <a:blip r:embed="rId8"/>
          <a:stretch>
            <a:fillRect/>
          </a:stretch>
        </p:blipFill>
        <p:spPr>
          <a:xfrm>
            <a:off x="9784086" y="5750559"/>
            <a:ext cx="128699" cy="187198"/>
          </a:xfrm>
          <a:prstGeom prst="rect">
            <a:avLst/>
          </a:prstGeom>
        </p:spPr>
      </p:pic>
      <p:sp>
        <p:nvSpPr>
          <p:cNvPr id="52" name="TextBox 51"/>
          <p:cNvSpPr txBox="1"/>
          <p:nvPr/>
        </p:nvSpPr>
        <p:spPr>
          <a:xfrm>
            <a:off x="9951582" y="5760339"/>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53" name="TextBox 52"/>
          <p:cNvSpPr txBox="1"/>
          <p:nvPr/>
        </p:nvSpPr>
        <p:spPr>
          <a:xfrm>
            <a:off x="276225" y="5978271"/>
            <a:ext cx="3881498" cy="186689"/>
          </a:xfrm>
          <a:prstGeom prst="rect">
            <a:avLst/>
          </a:prstGeom>
          <a:noFill/>
        </p:spPr>
        <p:txBody>
          <a:bodyPr wrap="none" lIns="0" rIns="0" tIns="0" bIns="0">
            <a:spAutoFit/>
          </a:bodyPr>
          <a:lstStyle/>
          <a:p>
            <a:r>
              <a:rPr sz="1100" b="0">
                <a:solidFill>
                  <a:srgbClr val="252423"/>
                </a:solidFill>
                <a:latin typeface="Segoe UI"/>
              </a:rPr>
              <a:t>▪ By End User, 'Academic Institutions and Universities' leads at</a:t>
            </a:r>
          </a:p>
        </p:txBody>
      </p:sp>
      <p:pic>
        <p:nvPicPr>
          <p:cNvPr id="54" name="Picture 53" descr="lock.png"/>
          <p:cNvPicPr>
            <a:picLocks noChangeAspect="1"/>
          </p:cNvPicPr>
          <p:nvPr/>
        </p:nvPicPr>
        <p:blipFill>
          <a:blip r:embed="rId8"/>
          <a:stretch>
            <a:fillRect/>
          </a:stretch>
        </p:blipFill>
        <p:spPr>
          <a:xfrm>
            <a:off x="4105775" y="5968491"/>
            <a:ext cx="128699" cy="187198"/>
          </a:xfrm>
          <a:prstGeom prst="rect">
            <a:avLst/>
          </a:prstGeom>
        </p:spPr>
      </p:pic>
      <p:sp>
        <p:nvSpPr>
          <p:cNvPr id="55" name="TextBox 54"/>
          <p:cNvSpPr txBox="1"/>
          <p:nvPr/>
        </p:nvSpPr>
        <p:spPr>
          <a:xfrm>
            <a:off x="4273271" y="5978271"/>
            <a:ext cx="645095" cy="186689"/>
          </a:xfrm>
          <a:prstGeom prst="rect">
            <a:avLst/>
          </a:prstGeom>
          <a:noFill/>
        </p:spPr>
        <p:txBody>
          <a:bodyPr wrap="none" lIns="0" rIns="0" tIns="0" bIns="0">
            <a:spAutoFit/>
          </a:bodyPr>
          <a:lstStyle/>
          <a:p>
            <a:r>
              <a:rPr sz="1100" b="0">
                <a:solidFill>
                  <a:srgbClr val="252423"/>
                </a:solidFill>
                <a:latin typeface="Segoe UI"/>
              </a:rPr>
              <a:t>US$ Mn (</a:t>
            </a:r>
          </a:p>
        </p:txBody>
      </p:sp>
      <p:pic>
        <p:nvPicPr>
          <p:cNvPr id="56" name="Picture 55" descr="lock.png"/>
          <p:cNvPicPr>
            <a:picLocks noChangeAspect="1"/>
          </p:cNvPicPr>
          <p:nvPr/>
        </p:nvPicPr>
        <p:blipFill>
          <a:blip r:embed="rId8"/>
          <a:stretch>
            <a:fillRect/>
          </a:stretch>
        </p:blipFill>
        <p:spPr>
          <a:xfrm>
            <a:off x="4866418" y="5968491"/>
            <a:ext cx="128699" cy="187198"/>
          </a:xfrm>
          <a:prstGeom prst="rect">
            <a:avLst/>
          </a:prstGeom>
        </p:spPr>
      </p:pic>
      <p:sp>
        <p:nvSpPr>
          <p:cNvPr id="57" name="TextBox 56"/>
          <p:cNvSpPr txBox="1"/>
          <p:nvPr/>
        </p:nvSpPr>
        <p:spPr>
          <a:xfrm>
            <a:off x="5033914" y="5978271"/>
            <a:ext cx="3409542" cy="186689"/>
          </a:xfrm>
          <a:prstGeom prst="rect">
            <a:avLst/>
          </a:prstGeom>
          <a:noFill/>
        </p:spPr>
        <p:txBody>
          <a:bodyPr wrap="none" lIns="0" rIns="0" tIns="0" bIns="0">
            <a:spAutoFit/>
          </a:bodyPr>
          <a:lstStyle/>
          <a:p>
            <a:r>
              <a:rPr sz="1100" b="0">
                <a:solidFill>
                  <a:srgbClr val="252423"/>
                </a:solidFill>
                <a:latin typeface="Segoe UI"/>
              </a:rPr>
              <a:t>share), ahead of 'Government and Defense Agencies' (</a:t>
            </a:r>
          </a:p>
        </p:txBody>
      </p:sp>
      <p:pic>
        <p:nvPicPr>
          <p:cNvPr id="58" name="Picture 57" descr="lock.png"/>
          <p:cNvPicPr>
            <a:picLocks noChangeAspect="1"/>
          </p:cNvPicPr>
          <p:nvPr/>
        </p:nvPicPr>
        <p:blipFill>
          <a:blip r:embed="rId8"/>
          <a:stretch>
            <a:fillRect/>
          </a:stretch>
        </p:blipFill>
        <p:spPr>
          <a:xfrm>
            <a:off x="8391507" y="5968491"/>
            <a:ext cx="128699" cy="187198"/>
          </a:xfrm>
          <a:prstGeom prst="rect">
            <a:avLst/>
          </a:prstGeom>
        </p:spPr>
      </p:pic>
      <p:sp>
        <p:nvSpPr>
          <p:cNvPr id="59" name="TextBox 58"/>
          <p:cNvSpPr txBox="1"/>
          <p:nvPr/>
        </p:nvSpPr>
        <p:spPr>
          <a:xfrm>
            <a:off x="8559003" y="5978271"/>
            <a:ext cx="637182" cy="186689"/>
          </a:xfrm>
          <a:prstGeom prst="rect">
            <a:avLst/>
          </a:prstGeom>
          <a:noFill/>
        </p:spPr>
        <p:txBody>
          <a:bodyPr wrap="none" lIns="0" rIns="0" tIns="0" bIns="0">
            <a:spAutoFit/>
          </a:bodyPr>
          <a:lstStyle/>
          <a:p>
            <a:r>
              <a:rPr sz="1100" b="0">
                <a:solidFill>
                  <a:srgbClr val="252423"/>
                </a:solidFill>
                <a:latin typeface="Segoe UI"/>
              </a:rPr>
              <a:t>US$ Mn).</a:t>
            </a:r>
          </a:p>
        </p:txBody>
      </p:sp>
      <p:sp>
        <p:nvSpPr>
          <p:cNvPr id="60" name="TextBox 59"/>
          <p:cNvSpPr txBox="1"/>
          <p:nvPr/>
        </p:nvSpPr>
        <p:spPr>
          <a:xfrm>
            <a:off x="276225" y="6196203"/>
            <a:ext cx="7218733" cy="186689"/>
          </a:xfrm>
          <a:prstGeom prst="rect">
            <a:avLst/>
          </a:prstGeom>
          <a:noFill/>
        </p:spPr>
        <p:txBody>
          <a:bodyPr wrap="none" lIns="0" rIns="0" tIns="0" bIns="0">
            <a:spAutoFit/>
          </a:bodyPr>
          <a:lstStyle/>
          <a:p>
            <a:r>
              <a:rPr sz="1100" b="0">
                <a:solidFill>
                  <a:srgbClr val="252423"/>
                </a:solidFill>
                <a:latin typeface="Segoe UI"/>
              </a:rPr>
              <a:t>▪ Use the Country slicer in the top band to switch country the selection stays synced across every page of the report.</a:t>
            </a:r>
          </a:p>
        </p:txBody>
      </p:sp>
      <p:sp>
        <p:nvSpPr>
          <p:cNvPr id="61" name="lockshield_10"/>
          <p:cNvSpPr/>
          <p:nvPr/>
        </p:nvSpPr>
        <p:spPr>
          <a:xfrm>
            <a:off x="2381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3"/>
          <p:cNvSpPr/>
          <p:nvPr/>
        </p:nvSpPr>
        <p:spPr>
          <a:xfrm>
            <a:off x="32480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6"/>
          <p:cNvSpPr/>
          <p:nvPr/>
        </p:nvSpPr>
        <p:spPr>
          <a:xfrm>
            <a:off x="62579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9"/>
          <p:cNvSpPr/>
          <p:nvPr/>
        </p:nvSpPr>
        <p:spPr>
          <a:xfrm>
            <a:off x="92678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0526E"/>
                </a:solidFill>
                <a:latin typeface="Calibri"/>
              </a:rPr>
              <a:t>Segment Overview (Volume &amp; Value)</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Supply Source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Application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 User</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Product Form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Segmental Analysis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Germany segmental analysis by Product Form: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Product Form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Product Form</a:t>
            </a:r>
          </a:p>
        </p:txBody>
      </p:sp>
      <p:graphicFrame>
        <p:nvGraphicFramePr>
          <p:cNvPr id="13" name="Table 12"/>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1369768"/>
                <a:gridCol w="1122027"/>
                <a:gridCol w="1122027"/>
                <a:gridCol w="1122027"/>
                <a:gridCol w="1122027"/>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1019937">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Product Form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Product Form</a:t>
            </a:r>
          </a:p>
        </p:txBody>
      </p:sp>
      <p:graphicFrame>
        <p:nvGraphicFramePr>
          <p:cNvPr id="20" name="Table 19"/>
          <p:cNvGraphicFramePr>
            <a:graphicFrameLocks noGrp="1"/>
          </p:cNvGraphicFramePr>
          <p:nvPr/>
        </p:nvGraphicFramePr>
        <p:xfrm>
          <a:off x="6181725" y="4124325"/>
          <a:ext cx="5857876" cy="2286000"/>
        </p:xfrm>
        <a:graphic>
          <a:graphicData uri="http://schemas.openxmlformats.org/drawingml/2006/table">
            <a:tbl>
              <a:tblPr>
                <a:tableStyleId>{5C22544A-7EE6-4342-B048-85BDC9FD1C3A}</a:tableStyleId>
              </a:tblPr>
              <a:tblGrid>
                <a:gridCol w="1369768"/>
                <a:gridCol w="1122027"/>
                <a:gridCol w="1122027"/>
                <a:gridCol w="1122027"/>
                <a:gridCol w="1122027"/>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1019937">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608857"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9608857" y="5123688"/>
            <a:ext cx="366712" cy="53340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Tables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Germany market by Product Form, 2021–2036</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By Product Form (Litres)</a:t>
            </a:r>
          </a:p>
        </p:txBody>
      </p:sp>
      <p:graphicFrame>
        <p:nvGraphicFramePr>
          <p:cNvPr id="10" name="Table 9"/>
          <p:cNvGraphicFramePr>
            <a:graphicFrameLocks noGrp="1"/>
          </p:cNvGraphicFramePr>
          <p:nvPr/>
        </p:nvGraphicFramePr>
        <p:xfrm>
          <a:off x="152400" y="1238250"/>
          <a:ext cx="11887193" cy="990600"/>
        </p:xfrm>
        <a:graphic>
          <a:graphicData uri="http://schemas.openxmlformats.org/drawingml/2006/table">
            <a:tbl>
              <a:tblPr>
                <a:tableStyleId>{5C22544A-7EE6-4342-B048-85BDC9FD1C3A}</a:tableStyleId>
              </a:tblPr>
              <a:tblGrid>
                <a:gridCol w="1458549"/>
                <a:gridCol w="609066"/>
                <a:gridCol w="609066"/>
                <a:gridCol w="609066"/>
                <a:gridCol w="609066"/>
                <a:gridCol w="609066"/>
                <a:gridCol w="609066"/>
                <a:gridCol w="609066"/>
                <a:gridCol w="609066"/>
                <a:gridCol w="609066"/>
                <a:gridCol w="609066"/>
                <a:gridCol w="609066"/>
                <a:gridCol w="609066"/>
                <a:gridCol w="609066"/>
                <a:gridCol w="609066"/>
                <a:gridCol w="609066"/>
                <a:gridCol w="609066"/>
                <a:gridCol w="683588"/>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26289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By Product Form (US$ Mn)</a:t>
            </a:r>
          </a:p>
        </p:txBody>
      </p:sp>
      <p:graphicFrame>
        <p:nvGraphicFramePr>
          <p:cNvPr id="14" name="Table 13"/>
          <p:cNvGraphicFramePr>
            <a:graphicFrameLocks noGrp="1"/>
          </p:cNvGraphicFramePr>
          <p:nvPr/>
        </p:nvGraphicFramePr>
        <p:xfrm>
          <a:off x="152400" y="2828925"/>
          <a:ext cx="11887199" cy="990600"/>
        </p:xfrm>
        <a:graphic>
          <a:graphicData uri="http://schemas.openxmlformats.org/drawingml/2006/table">
            <a:tbl>
              <a:tblPr>
                <a:tableStyleId>{5C22544A-7EE6-4342-B048-85BDC9FD1C3A}</a:tableStyleId>
              </a:tblPr>
              <a:tblGrid>
                <a:gridCol w="1546548"/>
                <a:gridCol w="620401"/>
                <a:gridCol w="620401"/>
                <a:gridCol w="620401"/>
                <a:gridCol w="620401"/>
                <a:gridCol w="620401"/>
                <a:gridCol w="592165"/>
                <a:gridCol w="592165"/>
                <a:gridCol w="592165"/>
                <a:gridCol w="592165"/>
                <a:gridCol w="592165"/>
                <a:gridCol w="592165"/>
                <a:gridCol w="592165"/>
                <a:gridCol w="592165"/>
                <a:gridCol w="592165"/>
                <a:gridCol w="592165"/>
                <a:gridCol w="592165"/>
                <a:gridCol w="724831"/>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638581" y="1589913"/>
            <a:ext cx="366712" cy="533400"/>
          </a:xfrm>
          <a:prstGeom prst="rect">
            <a:avLst/>
          </a:prstGeom>
        </p:spPr>
      </p:pic>
      <p:pic>
        <p:nvPicPr>
          <p:cNvPr id="18" name="Picture 17" descr="lock.png"/>
          <p:cNvPicPr>
            <a:picLocks noChangeAspect="1"/>
          </p:cNvPicPr>
          <p:nvPr/>
        </p:nvPicPr>
        <p:blipFill>
          <a:blip r:embed="rId4"/>
          <a:stretch>
            <a:fillRect/>
          </a:stretch>
        </p:blipFill>
        <p:spPr>
          <a:xfrm>
            <a:off x="6682583" y="3180587"/>
            <a:ext cx="366712" cy="533400"/>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Supply Source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Segmental Analysis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Germany segmental analysis by Supply Source: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Supply Source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Supply Source</a:t>
            </a:r>
          </a:p>
        </p:txBody>
      </p:sp>
      <p:graphicFrame>
        <p:nvGraphicFramePr>
          <p:cNvPr id="13" name="Table 12"/>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890836"/>
                <a:gridCol w="720905"/>
                <a:gridCol w="720905"/>
                <a:gridCol w="946355"/>
                <a:gridCol w="578874"/>
              </a:tblGrid>
              <a:tr h="438912">
                <a:tc>
                  <a:txBody>
                    <a:bodyPr wrap="none"/>
                    <a:lstStyle/>
                    <a:p>
                      <a:pPr algn="l"/>
                      <a:r>
                        <a:rPr sz="1100" b="1">
                          <a:solidFill>
                            <a:srgbClr val="FFFFFF"/>
                          </a:solidFill>
                          <a:latin typeface="Segoe UI"/>
                        </a:rPr>
                        <a:t>Supply Source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Tritium-Decay-Derived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Terrestrial Natural / Geological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Supply Source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Supply Source</a:t>
            </a:r>
          </a:p>
        </p:txBody>
      </p:sp>
      <p:graphicFrame>
        <p:nvGraphicFramePr>
          <p:cNvPr id="20" name="Table 19"/>
          <p:cNvGraphicFramePr>
            <a:graphicFrameLocks noGrp="1"/>
          </p:cNvGraphicFramePr>
          <p:nvPr/>
        </p:nvGraphicFramePr>
        <p:xfrm>
          <a:off x="6181725" y="4124325"/>
          <a:ext cx="5857875" cy="2285998"/>
        </p:xfrm>
        <a:graphic>
          <a:graphicData uri="http://schemas.openxmlformats.org/drawingml/2006/table">
            <a:tbl>
              <a:tblPr>
                <a:tableStyleId>{5C22544A-7EE6-4342-B048-85BDC9FD1C3A}</a:tableStyleId>
              </a:tblPr>
              <a:tblGrid>
                <a:gridCol w="2890836"/>
                <a:gridCol w="720905"/>
                <a:gridCol w="720905"/>
                <a:gridCol w="946355"/>
                <a:gridCol w="578874"/>
              </a:tblGrid>
              <a:tr h="438912">
                <a:tc>
                  <a:txBody>
                    <a:bodyPr wrap="none"/>
                    <a:lstStyle/>
                    <a:p>
                      <a:pPr algn="l"/>
                      <a:r>
                        <a:rPr sz="1100" b="1">
                          <a:solidFill>
                            <a:srgbClr val="FFFFFF"/>
                          </a:solidFill>
                          <a:latin typeface="Segoe UI"/>
                        </a:rPr>
                        <a:t>Supply Source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923543">
                <a:tc>
                  <a:txBody>
                    <a:bodyPr wrap="none"/>
                    <a:lstStyle/>
                    <a:p>
                      <a:pPr algn="l"/>
                      <a:r>
                        <a:rPr sz="1100" b="1">
                          <a:solidFill>
                            <a:srgbClr val="252423"/>
                          </a:solidFill>
                          <a:latin typeface="Segoe UI"/>
                        </a:rPr>
                        <a:t>Tritium-Decay-Derived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23543">
                <a:tc>
                  <a:txBody>
                    <a:bodyPr wrap="none"/>
                    <a:lstStyle/>
                    <a:p>
                      <a:pPr algn="l"/>
                      <a:r>
                        <a:rPr sz="1100" b="1">
                          <a:solidFill>
                            <a:srgbClr val="252423"/>
                          </a:solidFill>
                          <a:latin typeface="Segoe UI"/>
                        </a:rPr>
                        <a:t>Terrestrial Natural / Geological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386473" y="2358410"/>
            <a:ext cx="333156" cy="484591"/>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386473" y="5244485"/>
            <a:ext cx="333156" cy="484591"/>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Tables Supply Source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Germany market by Supply Source, 2021–2036</a:t>
            </a:r>
          </a:p>
        </p:txBody>
      </p:sp>
      <p:sp>
        <p:nvSpPr>
          <p:cNvPr id="8" name="Rectangle 7"/>
          <p:cNvSpPr/>
          <p:nvPr/>
        </p:nvSpPr>
        <p:spPr>
          <a:xfrm>
            <a:off x="142875" y="981075"/>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By Supply Source (Litres)</a:t>
            </a:r>
          </a:p>
        </p:txBody>
      </p:sp>
      <p:graphicFrame>
        <p:nvGraphicFramePr>
          <p:cNvPr id="10" name="Table 9"/>
          <p:cNvGraphicFramePr>
            <a:graphicFrameLocks noGrp="1"/>
          </p:cNvGraphicFramePr>
          <p:nvPr/>
        </p:nvGraphicFramePr>
        <p:xfrm>
          <a:off x="152400" y="1238250"/>
          <a:ext cx="11887202" cy="990600"/>
        </p:xfrm>
        <a:graphic>
          <a:graphicData uri="http://schemas.openxmlformats.org/drawingml/2006/table">
            <a:tbl>
              <a:tblPr>
                <a:tableStyleId>{5C22544A-7EE6-4342-B048-85BDC9FD1C3A}</a:tableStyleId>
              </a:tblPr>
              <a:tblGrid>
                <a:gridCol w="2871324"/>
                <a:gridCol w="526282"/>
                <a:gridCol w="526282"/>
                <a:gridCol w="526282"/>
                <a:gridCol w="526282"/>
                <a:gridCol w="526282"/>
                <a:gridCol w="526282"/>
                <a:gridCol w="526282"/>
                <a:gridCol w="526282"/>
                <a:gridCol w="526282"/>
                <a:gridCol w="526282"/>
                <a:gridCol w="526282"/>
                <a:gridCol w="526282"/>
                <a:gridCol w="526282"/>
                <a:gridCol w="526282"/>
                <a:gridCol w="526282"/>
                <a:gridCol w="526282"/>
                <a:gridCol w="595366"/>
              </a:tblGrid>
              <a:tr h="246126">
                <a:tc>
                  <a:txBody>
                    <a:bodyPr wrap="none"/>
                    <a:lstStyle/>
                    <a:p>
                      <a:pPr algn="l"/>
                      <a:r>
                        <a:rPr sz="1100" b="1">
                          <a:solidFill>
                            <a:srgbClr val="FFFFFF"/>
                          </a:solidFill>
                          <a:latin typeface="Segoe UI"/>
                        </a:rPr>
                        <a:t>Supply Source</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2021A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2022A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2023A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2024A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2025A</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2026E</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2027F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2028F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2029F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2030F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2031F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2032F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2033F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2034F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2035F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2036F</a:t>
                      </a:r>
                      <a:endParaRPr sz="1100"/>
                    </a:p>
                  </a:txBody>
                  <a:tcPr marL="28575" marR="19050" marT="19050" marB="19050" anchor="ctr">
                    <a:solidFill>
                      <a:srgbClr val="007BA5"/>
                    </a:solidFill>
                  </a:tcPr>
                </a:tc>
                <a:tc>
                  <a:txBody>
                    <a:bodyPr wrap="none"/>
                    <a:lstStyle/>
                    <a:p>
                      <a:pPr algn="ctr"/>
                      <a:r>
                        <a:rPr sz="1100" b="1">
                          <a:solidFill>
                            <a:srgbClr val="FFFFFF"/>
                          </a:solidFill>
                          <a:latin typeface="Segoe UI"/>
                        </a:rPr>
                        <a:t>F-CAGR</a:t>
                      </a:r>
                      <a:endParaRPr sz="1100"/>
                    </a:p>
                  </a:txBody>
                  <a:tcPr marL="28575" marR="19050" marT="19050" marB="19050" anchor="ctr">
                    <a:solidFill>
                      <a:srgbClr val="007BA5"/>
                    </a:solidFill>
                  </a:tcPr>
                </a:tc>
              </a:tr>
              <a:tr h="248158">
                <a:tc>
                  <a:txBody>
                    <a:bodyPr wrap="none"/>
                    <a:lstStyle/>
                    <a:p>
                      <a:pPr algn="l"/>
                      <a:r>
                        <a:rPr sz="1100" b="1">
                          <a:solidFill>
                            <a:srgbClr val="252423"/>
                          </a:solidFill>
                          <a:latin typeface="Segoe UI"/>
                        </a:rPr>
                        <a:t>Tritium-Decay-Derived Helium-3</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8158">
                <a:tc>
                  <a:txBody>
                    <a:bodyPr wrap="none"/>
                    <a:lstStyle/>
                    <a:p>
                      <a:pPr algn="l"/>
                      <a:r>
                        <a:rPr sz="1100" b="1">
                          <a:solidFill>
                            <a:srgbClr val="252423"/>
                          </a:solidFill>
                          <a:latin typeface="Segoe UI"/>
                        </a:rPr>
                        <a:t>Terrestrial Natural / Geological Helium-3</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c>
                  <a:txBody>
                    <a:bodyPr wrap="none"/>
                    <a:lstStyle/>
                    <a:p>
                      <a:pPr algn="ctr"/>
                      <a:r>
                        <a:rPr sz="1100"/>
                        <a:t> </a:t>
                      </a:r>
                      <a:endParaRPr sz="1100"/>
                    </a:p>
                  </a:txBody>
                  <a:tcPr marL="28575" marR="1905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c>
                  <a:txBody>
                    <a:bodyPr wrap="none"/>
                    <a:lstStyle/>
                    <a:p>
                      <a:pPr algn="ctr"/>
                      <a:r>
                        <a:rPr sz="1100"/>
                        <a:t> </a:t>
                      </a:r>
                      <a:endParaRPr sz="1100"/>
                    </a:p>
                  </a:txBody>
                  <a:tcPr marL="28575" marR="19050" marT="19050" marB="19050" anchor="ctr">
                    <a:solidFill>
                      <a:srgbClr val="E0F2FA"/>
                    </a:solidFill>
                  </a:tcPr>
                </a:tc>
              </a:tr>
            </a:tbl>
          </a:graphicData>
        </a:graphic>
      </p:graphicFrame>
      <p:sp>
        <p:nvSpPr>
          <p:cNvPr id="11" name="TextBox 10"/>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2571750"/>
            <a:ext cx="11906250" cy="1457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26289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By Supply Source (US$ Mn)</a:t>
            </a:r>
          </a:p>
        </p:txBody>
      </p:sp>
      <p:graphicFrame>
        <p:nvGraphicFramePr>
          <p:cNvPr id="14" name="Table 13"/>
          <p:cNvGraphicFramePr>
            <a:graphicFrameLocks noGrp="1"/>
          </p:cNvGraphicFramePr>
          <p:nvPr/>
        </p:nvGraphicFramePr>
        <p:xfrm>
          <a:off x="152400" y="2828925"/>
          <a:ext cx="11887195" cy="990600"/>
        </p:xfrm>
        <a:graphic>
          <a:graphicData uri="http://schemas.openxmlformats.org/drawingml/2006/table">
            <a:tbl>
              <a:tblPr>
                <a:tableStyleId>{5C22544A-7EE6-4342-B048-85BDC9FD1C3A}</a:tableStyleId>
              </a:tblPr>
              <a:tblGrid>
                <a:gridCol w="2894278"/>
                <a:gridCol w="539542"/>
                <a:gridCol w="539542"/>
                <a:gridCol w="539542"/>
                <a:gridCol w="539542"/>
                <a:gridCol w="539542"/>
                <a:gridCol w="514986"/>
                <a:gridCol w="514986"/>
                <a:gridCol w="514986"/>
                <a:gridCol w="514986"/>
                <a:gridCol w="514986"/>
                <a:gridCol w="514986"/>
                <a:gridCol w="514986"/>
                <a:gridCol w="514986"/>
                <a:gridCol w="514986"/>
                <a:gridCol w="514986"/>
                <a:gridCol w="514986"/>
                <a:gridCol w="630361"/>
              </a:tblGrid>
              <a:tr h="246126">
                <a:tc>
                  <a:txBody>
                    <a:bodyPr wrap="none"/>
                    <a:lstStyle/>
                    <a:p>
                      <a:pPr algn="l"/>
                      <a:r>
                        <a:rPr sz="1100" b="1">
                          <a:solidFill>
                            <a:srgbClr val="FFFFFF"/>
                          </a:solidFill>
                          <a:latin typeface="Segoe UI"/>
                        </a:rPr>
                        <a:t>Supply Source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F-CAGR</a:t>
                      </a:r>
                      <a:endParaRPr sz="1100"/>
                    </a:p>
                  </a:txBody>
                  <a:tcPr marL="47625" marR="38100" marT="19050" marB="19050" anchor="ctr">
                    <a:solidFill>
                      <a:srgbClr val="007BA5"/>
                    </a:solidFill>
                  </a:tcPr>
                </a:tc>
              </a:tr>
              <a:tr h="248158">
                <a:tc>
                  <a:txBody>
                    <a:bodyPr wrap="none"/>
                    <a:lstStyle/>
                    <a:p>
                      <a:pPr algn="l"/>
                      <a:r>
                        <a:rPr sz="1100" b="1">
                          <a:solidFill>
                            <a:srgbClr val="252423"/>
                          </a:solidFill>
                          <a:latin typeface="Segoe UI"/>
                        </a:rPr>
                        <a:t>Tritium-Decay-Derived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52423"/>
                          </a:solidFill>
                          <a:latin typeface="Segoe UI"/>
                        </a:rPr>
                        <a:t>Terrestrial Natural / Geological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48158">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c>
                  <a:txBody>
                    <a:bodyPr wrap="none"/>
                    <a:lstStyle/>
                    <a:p>
                      <a:pPr algn="ctr"/>
                      <a:r>
                        <a:rPr sz="1100"/>
                        <a:t> </a:t>
                      </a:r>
                      <a:endParaRPr sz="1100"/>
                    </a:p>
                  </a:txBody>
                  <a:tcPr marL="47625" marR="38100" marT="19050" marB="19050" anchor="ctr">
                    <a:solidFill>
                      <a:srgbClr val="E0F2FA"/>
                    </a:solidFill>
                  </a:tcPr>
                </a:tc>
              </a:tr>
            </a:tbl>
          </a:graphicData>
        </a:graphic>
      </p:graphicFrame>
      <p:sp>
        <p:nvSpPr>
          <p:cNvPr id="15" name="TextBox 14"/>
          <p:cNvSpPr txBox="1"/>
          <p:nvPr/>
        </p:nvSpPr>
        <p:spPr>
          <a:xfrm>
            <a:off x="219075" y="38290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344972" y="1589913"/>
            <a:ext cx="366712" cy="533400"/>
          </a:xfrm>
          <a:prstGeom prst="rect">
            <a:avLst/>
          </a:prstGeom>
        </p:spPr>
      </p:pic>
      <p:pic>
        <p:nvPicPr>
          <p:cNvPr id="18" name="Picture 17" descr="lock.png"/>
          <p:cNvPicPr>
            <a:picLocks noChangeAspect="1"/>
          </p:cNvPicPr>
          <p:nvPr/>
        </p:nvPicPr>
        <p:blipFill>
          <a:blip r:embed="rId4"/>
          <a:stretch>
            <a:fillRect/>
          </a:stretch>
        </p:blipFill>
        <p:spPr>
          <a:xfrm>
            <a:off x="7356446" y="3180587"/>
            <a:ext cx="366712" cy="5334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Application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Segmental Analysis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Germany segmental analysis by Application: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Application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Application</a:t>
            </a:r>
          </a:p>
        </p:txBody>
      </p:sp>
      <p:graphicFrame>
        <p:nvGraphicFramePr>
          <p:cNvPr id="13" name="Table 12"/>
          <p:cNvGraphicFramePr>
            <a:graphicFrameLocks noGrp="1"/>
          </p:cNvGraphicFramePr>
          <p:nvPr/>
        </p:nvGraphicFramePr>
        <p:xfrm>
          <a:off x="6181725" y="1238250"/>
          <a:ext cx="5857874" cy="2286002"/>
        </p:xfrm>
        <a:graphic>
          <a:graphicData uri="http://schemas.openxmlformats.org/drawingml/2006/table">
            <a:tbl>
              <a:tblPr>
                <a:tableStyleId>{5C22544A-7EE6-4342-B048-85BDC9FD1C3A}</a:tableStyleId>
              </a:tblPr>
              <a:tblGrid>
                <a:gridCol w="3902203"/>
                <a:gridCol w="437459"/>
                <a:gridCol w="437459"/>
                <a:gridCol w="638427"/>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413576">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06362">
                <a:tc>
                  <a:txBody>
                    <a:bodyPr wrap="none"/>
                    <a:lstStyle/>
                    <a:p>
                      <a:pPr algn="l"/>
                      <a:r>
                        <a:rPr sz="1100" b="1">
                          <a:solidFill>
                            <a:srgbClr val="252423"/>
                          </a:solidFill>
                          <a:latin typeface="Segoe UI"/>
                        </a:rPr>
                        <a:t>Cryogenic Refrigeration and Ultra-Low-Temperature</a:t>
                      </a:r>
                      <a:endParaRPr sz="1100"/>
                    </a:p>
                    <a:p>
                      <a:pPr algn="l"/>
                      <a:r>
                        <a:rPr sz="1100" b="1">
                          <a:solidFill>
                            <a:srgbClr val="252423"/>
                          </a:solidFill>
                          <a:latin typeface="Segoe UI"/>
                        </a:rPr>
                        <a:t>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413576">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13576">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Application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Application</a:t>
            </a:r>
          </a:p>
        </p:txBody>
      </p:sp>
      <p:graphicFrame>
        <p:nvGraphicFramePr>
          <p:cNvPr id="20" name="Table 19"/>
          <p:cNvGraphicFramePr>
            <a:graphicFrameLocks noGrp="1"/>
          </p:cNvGraphicFramePr>
          <p:nvPr/>
        </p:nvGraphicFramePr>
        <p:xfrm>
          <a:off x="6181725" y="4124325"/>
          <a:ext cx="5857874" cy="2286002"/>
        </p:xfrm>
        <a:graphic>
          <a:graphicData uri="http://schemas.openxmlformats.org/drawingml/2006/table">
            <a:tbl>
              <a:tblPr>
                <a:tableStyleId>{5C22544A-7EE6-4342-B048-85BDC9FD1C3A}</a:tableStyleId>
              </a:tblPr>
              <a:tblGrid>
                <a:gridCol w="3902203"/>
                <a:gridCol w="437459"/>
                <a:gridCol w="437459"/>
                <a:gridCol w="638427"/>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413576">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06362">
                <a:tc>
                  <a:txBody>
                    <a:bodyPr wrap="none"/>
                    <a:lstStyle/>
                    <a:p>
                      <a:pPr algn="l"/>
                      <a:r>
                        <a:rPr sz="1100" b="1">
                          <a:solidFill>
                            <a:srgbClr val="252423"/>
                          </a:solidFill>
                          <a:latin typeface="Segoe UI"/>
                        </a:rPr>
                        <a:t>Cryogenic Refrigeration and Ultra-Low-Temperature</a:t>
                      </a:r>
                      <a:endParaRPr sz="1100"/>
                    </a:p>
                    <a:p>
                      <a:pPr algn="l"/>
                      <a:r>
                        <a:rPr sz="1100" b="1">
                          <a:solidFill>
                            <a:srgbClr val="252423"/>
                          </a:solidFill>
                          <a:latin typeface="Segoe UI"/>
                        </a:rPr>
                        <a:t>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413576">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13576">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893742" y="2360676"/>
            <a:ext cx="330041" cy="48006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893742" y="5246751"/>
            <a:ext cx="330041" cy="48006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Tables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Germany market by Application, 2021–2036</a:t>
            </a:r>
          </a:p>
        </p:txBody>
      </p:sp>
      <p:sp>
        <p:nvSpPr>
          <p:cNvPr id="8" name="Rectangle 7"/>
          <p:cNvSpPr/>
          <p:nvPr/>
        </p:nvSpPr>
        <p:spPr>
          <a:xfrm>
            <a:off x="142875" y="981075"/>
            <a:ext cx="119062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By Application (Litres)</a:t>
            </a:r>
          </a:p>
        </p:txBody>
      </p:sp>
      <p:graphicFrame>
        <p:nvGraphicFramePr>
          <p:cNvPr id="10" name="Table 9"/>
          <p:cNvGraphicFramePr>
            <a:graphicFrameLocks noGrp="1"/>
          </p:cNvGraphicFramePr>
          <p:nvPr/>
        </p:nvGraphicFramePr>
        <p:xfrm>
          <a:off x="152400" y="1238250"/>
          <a:ext cx="11910195" cy="1866898"/>
        </p:xfrm>
        <a:graphic>
          <a:graphicData uri="http://schemas.openxmlformats.org/drawingml/2006/table">
            <a:tbl>
              <a:tblPr>
                <a:tableStyleId>{5C22544A-7EE6-4342-B048-85BDC9FD1C3A}</a:tableStyleId>
              </a:tblPr>
              <a:tblGrid>
                <a:gridCol w="3753757"/>
                <a:gridCol w="482132"/>
                <a:gridCol w="482132"/>
                <a:gridCol w="482132"/>
                <a:gridCol w="482132"/>
                <a:gridCol w="482132"/>
                <a:gridCol w="482132"/>
                <a:gridCol w="482132"/>
                <a:gridCol w="482132"/>
                <a:gridCol w="482132"/>
                <a:gridCol w="482132"/>
                <a:gridCol w="482132"/>
                <a:gridCol w="482132"/>
                <a:gridCol w="482132"/>
                <a:gridCol w="482132"/>
                <a:gridCol w="482132"/>
                <a:gridCol w="482132"/>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247040">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26">
                <a:tc>
                  <a:txBody>
                    <a:bodyPr wrap="none"/>
                    <a:lstStyle/>
                    <a:p>
                      <a:pPr algn="l"/>
                      <a:r>
                        <a:rPr sz="1100" b="1">
                          <a:solidFill>
                            <a:srgbClr val="252423"/>
                          </a:solidFill>
                          <a:latin typeface="Segoe UI"/>
                        </a:rPr>
                        <a:t>Cryogenic Refrigeration and Ultra-Low-</a:t>
                      </a:r>
                      <a:endParaRPr sz="1100"/>
                    </a:p>
                    <a:p>
                      <a:pPr algn="l"/>
                      <a:r>
                        <a:rPr sz="1100" b="1">
                          <a:solidFill>
                            <a:srgbClr val="252423"/>
                          </a:solidFill>
                          <a:latin typeface="Segoe UI"/>
                        </a:rPr>
                        <a:t>Temperature 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040">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Total</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r>
            </a:tbl>
          </a:graphicData>
        </a:graphic>
      </p:graphicFrame>
      <p:sp>
        <p:nvSpPr>
          <p:cNvPr id="11" name="TextBox 10"/>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448050"/>
            <a:ext cx="119062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5052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By Application (US$ Mn)</a:t>
            </a:r>
          </a:p>
        </p:txBody>
      </p:sp>
      <p:graphicFrame>
        <p:nvGraphicFramePr>
          <p:cNvPr id="14" name="Table 13"/>
          <p:cNvGraphicFramePr>
            <a:graphicFrameLocks noGrp="1"/>
          </p:cNvGraphicFramePr>
          <p:nvPr/>
        </p:nvGraphicFramePr>
        <p:xfrm>
          <a:off x="152400" y="3705225"/>
          <a:ext cx="11887195" cy="1866898"/>
        </p:xfrm>
        <a:graphic>
          <a:graphicData uri="http://schemas.openxmlformats.org/drawingml/2006/table">
            <a:tbl>
              <a:tblPr>
                <a:tableStyleId>{5C22544A-7EE6-4342-B048-85BDC9FD1C3A}</a:tableStyleId>
              </a:tblPr>
              <a:tblGrid>
                <a:gridCol w="3930458"/>
                <a:gridCol w="486513"/>
                <a:gridCol w="486513"/>
                <a:gridCol w="486513"/>
                <a:gridCol w="486513"/>
                <a:gridCol w="486513"/>
                <a:gridCol w="461986"/>
                <a:gridCol w="461986"/>
                <a:gridCol w="461986"/>
                <a:gridCol w="461986"/>
                <a:gridCol w="461986"/>
                <a:gridCol w="461986"/>
                <a:gridCol w="461986"/>
                <a:gridCol w="461986"/>
                <a:gridCol w="461986"/>
                <a:gridCol w="461986"/>
                <a:gridCol w="461986"/>
                <a:gridCol w="442326"/>
              </a:tblGrid>
              <a:tr h="438912">
                <a:tc>
                  <a:txBody>
                    <a:bodyPr wrap="none"/>
                    <a:lstStyle/>
                    <a:p>
                      <a:pPr algn="l"/>
                      <a:r>
                        <a:rPr sz="1100" b="1">
                          <a:solidFill>
                            <a:srgbClr val="FFFFFF"/>
                          </a:solidFill>
                          <a:latin typeface="Segoe UI"/>
                        </a:rPr>
                        <a:t>Application</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4288"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4288"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4288" marT="19050" marB="19050" anchor="ctr">
                    <a:solidFill>
                      <a:srgbClr val="007BA5"/>
                    </a:solidFill>
                  </a:tcPr>
                </a:tc>
              </a:tr>
              <a:tr h="247040">
                <a:tc>
                  <a:txBody>
                    <a:bodyPr wrap="none"/>
                    <a:lstStyle/>
                    <a:p>
                      <a:pPr algn="l"/>
                      <a:r>
                        <a:rPr sz="1100" b="1">
                          <a:solidFill>
                            <a:srgbClr val="252423"/>
                          </a:solidFill>
                          <a:latin typeface="Segoe UI"/>
                        </a:rPr>
                        <a:t>Neutron Detection and Radiation Monitoring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26">
                <a:tc>
                  <a:txBody>
                    <a:bodyPr wrap="none"/>
                    <a:lstStyle/>
                    <a:p>
                      <a:pPr algn="l"/>
                      <a:r>
                        <a:rPr sz="1100" b="1">
                          <a:solidFill>
                            <a:srgbClr val="252423"/>
                          </a:solidFill>
                          <a:latin typeface="Segoe UI"/>
                        </a:rPr>
                        <a:t>Cryogenic Refrigeration and Ultra-Low-Temperature</a:t>
                      </a:r>
                      <a:endParaRPr sz="1100"/>
                    </a:p>
                    <a:p>
                      <a:pPr algn="l"/>
                      <a:r>
                        <a:rPr sz="1100" b="1">
                          <a:solidFill>
                            <a:srgbClr val="252423"/>
                          </a:solidFill>
                          <a:latin typeface="Segoe UI"/>
                        </a:rPr>
                        <a:t>Cooling</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Medical and Biomedical Imaging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040">
                <a:tc>
                  <a:txBody>
                    <a:bodyPr wrap="none"/>
                    <a:lstStyle/>
                    <a:p>
                      <a:pPr algn="l"/>
                      <a:r>
                        <a:rPr sz="1100" b="1">
                          <a:solidFill>
                            <a:srgbClr val="252423"/>
                          </a:solidFill>
                          <a:latin typeface="Segoe UI"/>
                        </a:rPr>
                        <a:t>Nuclear Fusion Research</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c>
                  <a:txBody>
                    <a:bodyPr wrap="none"/>
                    <a:lstStyle/>
                    <a:p>
                      <a:pPr algn="ctr"/>
                      <a:r>
                        <a:rPr sz="1100"/>
                        <a:t> </a:t>
                      </a:r>
                      <a:endParaRPr sz="1100"/>
                    </a:p>
                  </a:txBody>
                  <a:tcPr marL="19050" marR="14288" marT="19050" marB="19050" anchor="ctr">
                    <a:solidFill>
                      <a:srgbClr val="F2FAFD"/>
                    </a:solidFill>
                  </a:tcPr>
                </a:tc>
              </a:tr>
              <a:tr h="247040">
                <a:tc>
                  <a:txBody>
                    <a:bodyPr wrap="none"/>
                    <a:lstStyle/>
                    <a:p>
                      <a:pPr algn="l"/>
                      <a:r>
                        <a:rPr sz="1100" b="1">
                          <a:solidFill>
                            <a:srgbClr val="252423"/>
                          </a:solidFill>
                          <a:latin typeface="Segoe UI"/>
                        </a:rPr>
                        <a:t>Total</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c>
                  <a:txBody>
                    <a:bodyPr wrap="none"/>
                    <a:lstStyle/>
                    <a:p>
                      <a:pPr algn="ctr"/>
                      <a:r>
                        <a:rPr sz="1100"/>
                        <a:t> </a:t>
                      </a:r>
                      <a:endParaRPr sz="1100"/>
                    </a:p>
                  </a:txBody>
                  <a:tcPr marL="19050" marR="14288" marT="19050" marB="19050" anchor="ctr">
                    <a:solidFill>
                      <a:srgbClr val="E0F2FA"/>
                    </a:solidFill>
                  </a:tcPr>
                </a:tc>
              </a:tr>
            </a:tbl>
          </a:graphicData>
        </a:graphic>
      </p:graphicFrame>
      <p:sp>
        <p:nvSpPr>
          <p:cNvPr id="15" name="TextBox 14"/>
          <p:cNvSpPr txBox="1"/>
          <p:nvPr/>
        </p:nvSpPr>
        <p:spPr>
          <a:xfrm>
            <a:off x="219075" y="55816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563045" y="2124454"/>
            <a:ext cx="366712" cy="533400"/>
          </a:xfrm>
          <a:prstGeom prst="rect">
            <a:avLst/>
          </a:prstGeom>
        </p:spPr>
      </p:pic>
      <p:pic>
        <p:nvPicPr>
          <p:cNvPr id="18" name="Picture 17" descr="lock.png"/>
          <p:cNvPicPr>
            <a:picLocks noChangeAspect="1"/>
          </p:cNvPicPr>
          <p:nvPr/>
        </p:nvPicPr>
        <p:blipFill>
          <a:blip r:embed="rId4"/>
          <a:stretch>
            <a:fillRect/>
          </a:stretch>
        </p:blipFill>
        <p:spPr>
          <a:xfrm>
            <a:off x="7874536" y="4591430"/>
            <a:ext cx="366712" cy="533400"/>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End User</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Segmental Analysis End User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Germany segmental analysis by End User: growth contribution, share variance and absolute $ opportunity</a:t>
            </a:r>
          </a:p>
        </p:txBody>
      </p:sp>
      <p:sp>
        <p:nvSpPr>
          <p:cNvPr id="8" name="Rectangle 7"/>
          <p:cNvSpPr/>
          <p:nvPr/>
        </p:nvSpPr>
        <p:spPr>
          <a:xfrm>
            <a:off x="142875"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Growth Contribution 2026 → 2036, By End User (US$ Mn)</a:t>
            </a:r>
          </a:p>
        </p:txBody>
      </p:sp>
      <p:graphicFrame>
        <p:nvGraphicFramePr>
          <p:cNvPr id="10" name="Chart 9"/>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1" name="Rectangle 10"/>
          <p:cNvSpPr/>
          <p:nvPr/>
        </p:nvSpPr>
        <p:spPr>
          <a:xfrm>
            <a:off x="6172200" y="981075"/>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Value Shares &amp; Variance, By End User</a:t>
            </a:r>
          </a:p>
        </p:txBody>
      </p:sp>
      <p:graphicFrame>
        <p:nvGraphicFramePr>
          <p:cNvPr id="13" name="Table 12"/>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3180407"/>
                <a:gridCol w="637460"/>
                <a:gridCol w="637460"/>
                <a:gridCol w="854068"/>
                <a:gridCol w="548480"/>
              </a:tblGrid>
              <a:tr h="438912">
                <a:tc>
                  <a:txBody>
                    <a:bodyPr wrap="none"/>
                    <a:lstStyle/>
                    <a:p>
                      <a:pPr algn="l"/>
                      <a:r>
                        <a:rPr sz="1100" b="1">
                          <a:solidFill>
                            <a:srgbClr val="FFFFFF"/>
                          </a:solidFill>
                          <a:latin typeface="Segoe UI"/>
                        </a:rPr>
                        <a:t>End User</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307848">
                <a:tc>
                  <a:txBody>
                    <a:bodyPr wrap="none"/>
                    <a:lstStyle/>
                    <a:p>
                      <a:pPr algn="l"/>
                      <a:r>
                        <a:rPr sz="1100" b="1">
                          <a:solidFill>
                            <a:srgbClr val="252423"/>
                          </a:solidFill>
                          <a:latin typeface="Segoe UI"/>
                        </a:rPr>
                        <a:t>Government and Defense Agencies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Academic Institutions and Universities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7848">
                <a:tc>
                  <a:txBody>
                    <a:bodyPr wrap="none"/>
                    <a:lstStyle/>
                    <a:p>
                      <a:pPr algn="l"/>
                      <a:r>
                        <a:rPr sz="1100" b="1">
                          <a:solidFill>
                            <a:srgbClr val="252423"/>
                          </a:solidFill>
                          <a:latin typeface="Segoe UI"/>
                        </a:rPr>
                        <a:t>Independent Research Institutions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Healthcare and Medical Research Institutions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7848">
                <a:tc>
                  <a:txBody>
                    <a:bodyPr wrap="none"/>
                    <a:lstStyle/>
                    <a:p>
                      <a:pPr algn="l"/>
                      <a:r>
                        <a:rPr sz="1100" b="1">
                          <a:solidFill>
                            <a:srgbClr val="252423"/>
                          </a:solidFill>
                          <a:latin typeface="Segoe UI"/>
                        </a:rPr>
                        <a:t>Commercial and Industrial Enterprises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Other End Users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4" name="TextBox 13"/>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5" name="Rectangle 14"/>
          <p:cNvSpPr/>
          <p:nvPr/>
        </p:nvSpPr>
        <p:spPr>
          <a:xfrm>
            <a:off x="142875"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Absolute $ Opportunity, By End User (US$ Mn), between 2026–2036</a:t>
            </a:r>
          </a:p>
        </p:txBody>
      </p:sp>
      <p:graphicFrame>
        <p:nvGraphicFramePr>
          <p:cNvPr id="17" name="Chart 16"/>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8" name="Rectangle 17"/>
          <p:cNvSpPr/>
          <p:nvPr/>
        </p:nvSpPr>
        <p:spPr>
          <a:xfrm>
            <a:off x="6172200" y="3867150"/>
            <a:ext cx="5876925"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Volume Shares &amp; Variance, By End User</a:t>
            </a:r>
          </a:p>
        </p:txBody>
      </p:sp>
      <p:graphicFrame>
        <p:nvGraphicFramePr>
          <p:cNvPr id="20" name="Table 19"/>
          <p:cNvGraphicFramePr>
            <a:graphicFrameLocks noGrp="1"/>
          </p:cNvGraphicFramePr>
          <p:nvPr/>
        </p:nvGraphicFramePr>
        <p:xfrm>
          <a:off x="6181725" y="4124325"/>
          <a:ext cx="5857875" cy="2286000"/>
        </p:xfrm>
        <a:graphic>
          <a:graphicData uri="http://schemas.openxmlformats.org/drawingml/2006/table">
            <a:tbl>
              <a:tblPr>
                <a:tableStyleId>{5C22544A-7EE6-4342-B048-85BDC9FD1C3A}</a:tableStyleId>
              </a:tblPr>
              <a:tblGrid>
                <a:gridCol w="3180407"/>
                <a:gridCol w="637460"/>
                <a:gridCol w="637460"/>
                <a:gridCol w="854068"/>
                <a:gridCol w="548480"/>
              </a:tblGrid>
              <a:tr h="438912">
                <a:tc>
                  <a:txBody>
                    <a:bodyPr wrap="none"/>
                    <a:lstStyle/>
                    <a:p>
                      <a:pPr algn="l"/>
                      <a:r>
                        <a:rPr sz="1100" b="1">
                          <a:solidFill>
                            <a:srgbClr val="FFFFFF"/>
                          </a:solidFill>
                          <a:latin typeface="Segoe UI"/>
                        </a:rPr>
                        <a:t>End User</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2026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Share 2036</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Variance (BPS)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47625" marR="38100" marT="19050" marB="19050" anchor="ctr">
                    <a:solidFill>
                      <a:srgbClr val="007BA5"/>
                    </a:solidFill>
                  </a:tcPr>
                </a:tc>
              </a:tr>
              <a:tr h="307848">
                <a:tc>
                  <a:txBody>
                    <a:bodyPr wrap="none"/>
                    <a:lstStyle/>
                    <a:p>
                      <a:pPr algn="l"/>
                      <a:r>
                        <a:rPr sz="1100" b="1">
                          <a:solidFill>
                            <a:srgbClr val="252423"/>
                          </a:solidFill>
                          <a:latin typeface="Segoe UI"/>
                        </a:rPr>
                        <a:t>Government and Defense Agencies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Academic Institutions and Universities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7848">
                <a:tc>
                  <a:txBody>
                    <a:bodyPr wrap="none"/>
                    <a:lstStyle/>
                    <a:p>
                      <a:pPr algn="l"/>
                      <a:r>
                        <a:rPr sz="1100" b="1">
                          <a:solidFill>
                            <a:srgbClr val="252423"/>
                          </a:solidFill>
                          <a:latin typeface="Segoe UI"/>
                        </a:rPr>
                        <a:t>Independent Research Institutions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Healthcare and Medical Research Institutions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7848">
                <a:tc>
                  <a:txBody>
                    <a:bodyPr wrap="none"/>
                    <a:lstStyle/>
                    <a:p>
                      <a:pPr algn="l"/>
                      <a:r>
                        <a:rPr sz="1100" b="1">
                          <a:solidFill>
                            <a:srgbClr val="252423"/>
                          </a:solidFill>
                          <a:latin typeface="Segoe UI"/>
                        </a:rPr>
                        <a:t>Commercial and Industrial Enterprises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7848">
                <a:tc>
                  <a:txBody>
                    <a:bodyPr wrap="none"/>
                    <a:lstStyle/>
                    <a:p>
                      <a:pPr algn="l"/>
                      <a:r>
                        <a:rPr sz="1100" b="1">
                          <a:solidFill>
                            <a:srgbClr val="252423"/>
                          </a:solidFill>
                          <a:latin typeface="Segoe UI"/>
                        </a:rPr>
                        <a:t>Other End Users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1" name="TextBox 20"/>
          <p:cNvSpPr txBox="1"/>
          <p:nvPr/>
        </p:nvSpPr>
        <p:spPr>
          <a:xfrm>
            <a:off x="6248400" y="6419850"/>
            <a:ext cx="57245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532845" y="2360676"/>
            <a:ext cx="330041" cy="480060"/>
          </a:xfrm>
          <a:prstGeom prst="rect">
            <a:avLst/>
          </a:prstGeom>
        </p:spPr>
      </p:pic>
      <p:pic>
        <p:nvPicPr>
          <p:cNvPr id="25" name="Picture 24" descr="lock.png"/>
          <p:cNvPicPr>
            <a:picLocks noChangeAspect="1"/>
          </p:cNvPicPr>
          <p:nvPr/>
        </p:nvPicPr>
        <p:blipFill>
          <a:blip r:embed="rId6"/>
          <a:stretch>
            <a:fillRect/>
          </a:stretch>
        </p:blipFill>
        <p:spPr>
          <a:xfrm>
            <a:off x="3094826" y="5123309"/>
            <a:ext cx="263506" cy="383281"/>
          </a:xfrm>
          <a:prstGeom prst="rect">
            <a:avLst/>
          </a:prstGeom>
        </p:spPr>
      </p:pic>
      <p:pic>
        <p:nvPicPr>
          <p:cNvPr id="26" name="Picture 25" descr="lock.png"/>
          <p:cNvPicPr>
            <a:picLocks noChangeAspect="1"/>
          </p:cNvPicPr>
          <p:nvPr/>
        </p:nvPicPr>
        <p:blipFill>
          <a:blip r:embed="rId6"/>
          <a:stretch>
            <a:fillRect/>
          </a:stretch>
        </p:blipFill>
        <p:spPr>
          <a:xfrm>
            <a:off x="10532845" y="5246750"/>
            <a:ext cx="330041" cy="480060"/>
          </a:xfrm>
          <a:prstGeom prst="rect">
            <a:avLst/>
          </a:prstGeom>
        </p:spPr>
      </p:pic>
      <p:sp>
        <p:nvSpPr>
          <p:cNvPr id="27" name="lockshield_10"/>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7"/>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Helium-3 Market Tables End User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value of the Germany market by End User, 2021–2036</a:t>
            </a:r>
          </a:p>
        </p:txBody>
      </p:sp>
      <p:sp>
        <p:nvSpPr>
          <p:cNvPr id="8" name="Rectangle 7"/>
          <p:cNvSpPr/>
          <p:nvPr/>
        </p:nvSpPr>
        <p:spPr>
          <a:xfrm>
            <a:off x="142875" y="981075"/>
            <a:ext cx="11906250" cy="2628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By End User (Litres)</a:t>
            </a:r>
          </a:p>
        </p:txBody>
      </p:sp>
      <p:graphicFrame>
        <p:nvGraphicFramePr>
          <p:cNvPr id="10" name="Table 9"/>
          <p:cNvGraphicFramePr>
            <a:graphicFrameLocks noGrp="1"/>
          </p:cNvGraphicFramePr>
          <p:nvPr/>
        </p:nvGraphicFramePr>
        <p:xfrm>
          <a:off x="152400" y="1238250"/>
          <a:ext cx="11887202" cy="2162172"/>
        </p:xfrm>
        <a:graphic>
          <a:graphicData uri="http://schemas.openxmlformats.org/drawingml/2006/table">
            <a:tbl>
              <a:tblPr>
                <a:tableStyleId>{5C22544A-7EE6-4342-B048-85BDC9FD1C3A}</a:tableStyleId>
              </a:tblPr>
              <a:tblGrid>
                <a:gridCol w="3132782"/>
                <a:gridCol w="513350"/>
                <a:gridCol w="513350"/>
                <a:gridCol w="513350"/>
                <a:gridCol w="513350"/>
                <a:gridCol w="513350"/>
                <a:gridCol w="513350"/>
                <a:gridCol w="513350"/>
                <a:gridCol w="513350"/>
                <a:gridCol w="513350"/>
                <a:gridCol w="513350"/>
                <a:gridCol w="513350"/>
                <a:gridCol w="513350"/>
                <a:gridCol w="513350"/>
                <a:gridCol w="513350"/>
                <a:gridCol w="513350"/>
                <a:gridCol w="513350"/>
                <a:gridCol w="540820"/>
              </a:tblGrid>
              <a:tr h="438912">
                <a:tc>
                  <a:txBody>
                    <a:bodyPr wrap="none"/>
                    <a:lstStyle/>
                    <a:p>
                      <a:pPr algn="l"/>
                      <a:r>
                        <a:rPr sz="1100" b="1">
                          <a:solidFill>
                            <a:srgbClr val="FFFFFF"/>
                          </a:solidFill>
                          <a:latin typeface="Segoe UI"/>
                        </a:rPr>
                        <a:t>End User</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2021A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2022A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2023A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2024A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2025A</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2026E</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2027F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2028F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2029F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2030F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2031F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2032F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2033F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2034F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2035F</a:t>
                      </a:r>
                      <a:endParaRPr sz="1100"/>
                    </a:p>
                  </a:txBody>
                  <a:tcPr marL="19050" marR="19050" marT="19050" marB="19050" anchor="ctr">
                    <a:solidFill>
                      <a:srgbClr val="007BA5"/>
                    </a:solidFill>
                  </a:tcPr>
                </a:tc>
                <a:tc>
                  <a:txBody>
                    <a:bodyPr wrap="none"/>
                    <a:lstStyle/>
                    <a:p>
                      <a:pPr algn="ctr"/>
                      <a:r>
                        <a:rPr sz="1100" b="1">
                          <a:solidFill>
                            <a:srgbClr val="FFFFFF"/>
                          </a:solidFill>
                          <a:latin typeface="Segoe UI"/>
                        </a:rPr>
                        <a:t>2036F</a:t>
                      </a:r>
                      <a:endParaRPr sz="1100"/>
                    </a:p>
                  </a:txBody>
                  <a:tcPr marL="19050" marR="19050" marT="19050" marB="19050" anchor="ctr">
                    <a:solidFill>
                      <a:srgbClr val="007BA5"/>
                    </a:solidFill>
                  </a:tcPr>
                </a:tc>
                <a:tc>
                  <a:txBody>
                    <a:bodyPr wrap="square"/>
                    <a:lstStyle/>
                    <a:p>
                      <a:pPr algn="ctr"/>
                      <a:r>
                        <a:rPr sz="1100" b="1">
                          <a:solidFill>
                            <a:srgbClr val="FFFFFF"/>
                          </a:solidFill>
                          <a:latin typeface="Segoe UI"/>
                        </a:rPr>
                        <a:t>F-CAGR</a:t>
                      </a:r>
                      <a:endParaRPr sz="1100"/>
                    </a:p>
                  </a:txBody>
                  <a:tcPr marL="19050" marR="19050" marT="19050" marB="19050" anchor="ctr">
                    <a:solidFill>
                      <a:srgbClr val="007BA5"/>
                    </a:solidFill>
                  </a:tcPr>
                </a:tc>
              </a:tr>
              <a:tr h="246180">
                <a:tc>
                  <a:txBody>
                    <a:bodyPr wrap="none"/>
                    <a:lstStyle/>
                    <a:p>
                      <a:pPr algn="l"/>
                      <a:r>
                        <a:rPr sz="1100" b="1">
                          <a:solidFill>
                            <a:srgbClr val="252423"/>
                          </a:solidFill>
                          <a:latin typeface="Segoe UI"/>
                        </a:rPr>
                        <a:t>Government and Defense Agencies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180">
                <a:tc>
                  <a:txBody>
                    <a:bodyPr wrap="none"/>
                    <a:lstStyle/>
                    <a:p>
                      <a:pPr algn="l"/>
                      <a:r>
                        <a:rPr sz="1100" b="1">
                          <a:solidFill>
                            <a:srgbClr val="252423"/>
                          </a:solidFill>
                          <a:latin typeface="Segoe UI"/>
                        </a:rPr>
                        <a:t>Academic Institutions and Universities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180">
                <a:tc>
                  <a:txBody>
                    <a:bodyPr wrap="none"/>
                    <a:lstStyle/>
                    <a:p>
                      <a:pPr algn="l"/>
                      <a:r>
                        <a:rPr sz="1100" b="1">
                          <a:solidFill>
                            <a:srgbClr val="252423"/>
                          </a:solidFill>
                          <a:latin typeface="Segoe UI"/>
                        </a:rPr>
                        <a:t>Independent Research Institutions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180">
                <a:tc>
                  <a:txBody>
                    <a:bodyPr wrap="none"/>
                    <a:lstStyle/>
                    <a:p>
                      <a:pPr algn="l"/>
                      <a:r>
                        <a:rPr sz="1100" b="1">
                          <a:solidFill>
                            <a:srgbClr val="252423"/>
                          </a:solidFill>
                          <a:latin typeface="Segoe UI"/>
                        </a:rPr>
                        <a:t>Healthcare and Medical Research Institutions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180">
                <a:tc>
                  <a:txBody>
                    <a:bodyPr wrap="none"/>
                    <a:lstStyle/>
                    <a:p>
                      <a:pPr algn="l"/>
                      <a:r>
                        <a:rPr sz="1100" b="1">
                          <a:solidFill>
                            <a:srgbClr val="252423"/>
                          </a:solidFill>
                          <a:latin typeface="Segoe UI"/>
                        </a:rPr>
                        <a:t>Commercial and Industrial Enterprises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6180">
                <a:tc>
                  <a:txBody>
                    <a:bodyPr wrap="none"/>
                    <a:lstStyle/>
                    <a:p>
                      <a:pPr algn="l"/>
                      <a:r>
                        <a:rPr sz="1100" b="1">
                          <a:solidFill>
                            <a:srgbClr val="252423"/>
                          </a:solidFill>
                          <a:latin typeface="Segoe UI"/>
                        </a:rPr>
                        <a:t>Other End Users</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c>
                  <a:txBody>
                    <a:bodyPr wrap="none"/>
                    <a:lstStyle/>
                    <a:p>
                      <a:pPr algn="ctr"/>
                      <a:r>
                        <a:rPr sz="1100"/>
                        <a:t> </a:t>
                      </a:r>
                      <a:endParaRPr sz="1100"/>
                    </a:p>
                  </a:txBody>
                  <a:tcPr marL="19050" marR="19050" marT="19050" marB="19050" anchor="ctr">
                    <a:solidFill>
                      <a:srgbClr val="F2FAFD"/>
                    </a:solidFill>
                  </a:tcPr>
                </a:tc>
              </a:tr>
              <a:tr h="246180">
                <a:tc>
                  <a:txBody>
                    <a:bodyPr wrap="none"/>
                    <a:lstStyle/>
                    <a:p>
                      <a:pPr algn="l"/>
                      <a:r>
                        <a:rPr sz="1100" b="1">
                          <a:solidFill>
                            <a:srgbClr val="252423"/>
                          </a:solidFill>
                          <a:latin typeface="Segoe UI"/>
                        </a:rPr>
                        <a:t>Total</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c>
                  <a:txBody>
                    <a:bodyPr wrap="none"/>
                    <a:lstStyle/>
                    <a:p>
                      <a:pPr algn="ctr"/>
                      <a:r>
                        <a:rPr sz="1100"/>
                        <a:t> </a:t>
                      </a:r>
                      <a:endParaRPr sz="1100"/>
                    </a:p>
                  </a:txBody>
                  <a:tcPr marL="19050" marR="19050" marT="19050" marB="19050" anchor="ctr">
                    <a:solidFill>
                      <a:srgbClr val="E0F2FA"/>
                    </a:solidFill>
                  </a:tcPr>
                </a:tc>
              </a:tr>
            </a:tbl>
          </a:graphicData>
        </a:graphic>
      </p:graphicFrame>
      <p:sp>
        <p:nvSpPr>
          <p:cNvPr id="11" name="TextBox 10"/>
          <p:cNvSpPr txBox="1"/>
          <p:nvPr/>
        </p:nvSpPr>
        <p:spPr>
          <a:xfrm>
            <a:off x="219075" y="34099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3743325"/>
            <a:ext cx="11906250" cy="2438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8004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By End User (US$ Mn)</a:t>
            </a:r>
          </a:p>
        </p:txBody>
      </p:sp>
      <p:graphicFrame>
        <p:nvGraphicFramePr>
          <p:cNvPr id="14" name="Table 13"/>
          <p:cNvGraphicFramePr>
            <a:graphicFrameLocks noGrp="1"/>
          </p:cNvGraphicFramePr>
          <p:nvPr/>
        </p:nvGraphicFramePr>
        <p:xfrm>
          <a:off x="152400" y="4000500"/>
          <a:ext cx="11887200" cy="1971675"/>
        </p:xfrm>
        <a:graphic>
          <a:graphicData uri="http://schemas.openxmlformats.org/drawingml/2006/table">
            <a:tbl>
              <a:tblPr>
                <a:tableStyleId>{5C22544A-7EE6-4342-B048-85BDC9FD1C3A}</a:tableStyleId>
              </a:tblPr>
              <a:tblGrid>
                <a:gridCol w="3179402"/>
                <a:gridCol w="522818"/>
                <a:gridCol w="522818"/>
                <a:gridCol w="522818"/>
                <a:gridCol w="522818"/>
                <a:gridCol w="522818"/>
                <a:gridCol w="498151"/>
                <a:gridCol w="498151"/>
                <a:gridCol w="498151"/>
                <a:gridCol w="498151"/>
                <a:gridCol w="498151"/>
                <a:gridCol w="498151"/>
                <a:gridCol w="498151"/>
                <a:gridCol w="498151"/>
                <a:gridCol w="498151"/>
                <a:gridCol w="498151"/>
                <a:gridCol w="498151"/>
                <a:gridCol w="614047"/>
              </a:tblGrid>
              <a:tr h="246126">
                <a:tc>
                  <a:txBody>
                    <a:bodyPr wrap="none"/>
                    <a:lstStyle/>
                    <a:p>
                      <a:pPr algn="l"/>
                      <a:r>
                        <a:rPr sz="1100" b="1">
                          <a:solidFill>
                            <a:srgbClr val="FFFFFF"/>
                          </a:solidFill>
                          <a:latin typeface="Segoe UI"/>
                        </a:rPr>
                        <a:t>End User</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2021A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2022A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2023A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2024A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2025A</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2026E</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2027F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2028F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2029F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2030F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2031F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2032F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2033F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2034F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2035F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2036F</a:t>
                      </a:r>
                      <a:endParaRPr sz="1100"/>
                    </a:p>
                  </a:txBody>
                  <a:tcPr marL="38100" marR="28575" marT="19050" marB="19050" anchor="ctr">
                    <a:solidFill>
                      <a:srgbClr val="007BA5"/>
                    </a:solidFill>
                  </a:tcPr>
                </a:tc>
                <a:tc>
                  <a:txBody>
                    <a:bodyPr wrap="none"/>
                    <a:lstStyle/>
                    <a:p>
                      <a:pPr algn="ctr"/>
                      <a:r>
                        <a:rPr sz="1100" b="1">
                          <a:solidFill>
                            <a:srgbClr val="FFFFFF"/>
                          </a:solidFill>
                          <a:latin typeface="Segoe UI"/>
                        </a:rPr>
                        <a:t>F-CAGR</a:t>
                      </a:r>
                      <a:endParaRPr sz="1100"/>
                    </a:p>
                  </a:txBody>
                  <a:tcPr marL="38100" marR="28575" marT="19050" marB="19050" anchor="ctr">
                    <a:solidFill>
                      <a:srgbClr val="007BA5"/>
                    </a:solidFill>
                  </a:tcPr>
                </a:tc>
              </a:tr>
              <a:tr h="246507">
                <a:tc>
                  <a:txBody>
                    <a:bodyPr wrap="none"/>
                    <a:lstStyle/>
                    <a:p>
                      <a:pPr algn="l"/>
                      <a:r>
                        <a:rPr sz="1100" b="1">
                          <a:solidFill>
                            <a:srgbClr val="252423"/>
                          </a:solidFill>
                          <a:latin typeface="Segoe UI"/>
                        </a:rPr>
                        <a:t>Government and Defense Agencies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Academic Institutions and Universities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Independent Research Institutions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Healthcare and Medical Research Institutions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Commercial and Industrial Enterprises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507">
                <a:tc>
                  <a:txBody>
                    <a:bodyPr wrap="none"/>
                    <a:lstStyle/>
                    <a:p>
                      <a:pPr algn="l"/>
                      <a:r>
                        <a:rPr sz="1100" b="1">
                          <a:solidFill>
                            <a:srgbClr val="252423"/>
                          </a:solidFill>
                          <a:latin typeface="Segoe UI"/>
                        </a:rPr>
                        <a:t>Other End Users</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c>
                  <a:txBody>
                    <a:bodyPr wrap="none"/>
                    <a:lstStyle/>
                    <a:p>
                      <a:pPr algn="ctr"/>
                      <a:r>
                        <a:rPr sz="1100"/>
                        <a:t> </a:t>
                      </a:r>
                      <a:endParaRPr sz="1100"/>
                    </a:p>
                  </a:txBody>
                  <a:tcPr marL="38100" marR="28575" marT="19050" marB="19050" anchor="ctr">
                    <a:solidFill>
                      <a:srgbClr val="F2FAFD"/>
                    </a:solidFill>
                  </a:tcPr>
                </a:tc>
              </a:tr>
              <a:tr h="246507">
                <a:tc>
                  <a:txBody>
                    <a:bodyPr wrap="none"/>
                    <a:lstStyle/>
                    <a:p>
                      <a:pPr algn="l"/>
                      <a:r>
                        <a:rPr sz="1100" b="1">
                          <a:solidFill>
                            <a:srgbClr val="252423"/>
                          </a:solidFill>
                          <a:latin typeface="Segoe UI"/>
                        </a:rPr>
                        <a:t>Total</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c>
                  <a:txBody>
                    <a:bodyPr wrap="none"/>
                    <a:lstStyle/>
                    <a:p>
                      <a:pPr algn="ctr"/>
                      <a:r>
                        <a:rPr sz="1100"/>
                        <a:t> </a:t>
                      </a:r>
                      <a:endParaRPr sz="1100"/>
                    </a:p>
                  </a:txBody>
                  <a:tcPr marL="38100" marR="28575" marT="19050" marB="19050" anchor="ctr">
                    <a:solidFill>
                      <a:srgbClr val="E0F2FA"/>
                    </a:solidFill>
                  </a:tcPr>
                </a:tc>
              </a:tr>
            </a:tbl>
          </a:graphicData>
        </a:graphic>
      </p:graphicFrame>
      <p:sp>
        <p:nvSpPr>
          <p:cNvPr id="15" name="TextBox 14"/>
          <p:cNvSpPr txBox="1"/>
          <p:nvPr/>
        </p:nvSpPr>
        <p:spPr>
          <a:xfrm>
            <a:off x="219075" y="59817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7475702" y="2272092"/>
            <a:ext cx="366712" cy="533400"/>
          </a:xfrm>
          <a:prstGeom prst="rect">
            <a:avLst/>
          </a:prstGeom>
        </p:spPr>
      </p:pic>
      <p:pic>
        <p:nvPicPr>
          <p:cNvPr id="18" name="Picture 17" descr="lock.png"/>
          <p:cNvPicPr>
            <a:picLocks noChangeAspect="1"/>
          </p:cNvPicPr>
          <p:nvPr/>
        </p:nvPicPr>
        <p:blipFill>
          <a:blip r:embed="rId4"/>
          <a:stretch>
            <a:fillRect/>
          </a:stretch>
        </p:blipFill>
        <p:spPr>
          <a:xfrm>
            <a:off x="7499010" y="4842700"/>
            <a:ext cx="366712" cy="5334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Product Pricing &amp; Regional Price Index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range by sub-segment and indexed regional price movement, highlighting dispersion and structural shifts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Analysis of average USD pricing by product type and indexed regional price movement with base-year inflation adjustments.</a:t>
            </a:r>
          </a:p>
        </p:txBody>
      </p:sp>
      <p:sp>
        <p:nvSpPr>
          <p:cNvPr id="9" name="Rectangle 8"/>
          <p:cNvSpPr/>
          <p:nvPr/>
        </p:nvSpPr>
        <p:spPr>
          <a:xfrm>
            <a:off x="142875" y="1317574"/>
            <a:ext cx="7696200"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Pricing by Product Type</a:t>
            </a:r>
          </a:p>
        </p:txBody>
      </p:sp>
      <p:sp>
        <p:nvSpPr>
          <p:cNvPr id="11" name="TextBox 10"/>
          <p:cNvSpPr txBox="1"/>
          <p:nvPr/>
        </p:nvSpPr>
        <p:spPr>
          <a:xfrm>
            <a:off x="92869" y="3471051"/>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3691.2</a:t>
            </a:r>
          </a:p>
        </p:txBody>
      </p:sp>
      <p:sp>
        <p:nvSpPr>
          <p:cNvPr id="12" name="TextBox 11"/>
          <p:cNvSpPr txBox="1"/>
          <p:nvPr/>
        </p:nvSpPr>
        <p:spPr>
          <a:xfrm>
            <a:off x="92869" y="2561000"/>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4087.1</a:t>
            </a:r>
          </a:p>
        </p:txBody>
      </p:sp>
      <p:sp>
        <p:nvSpPr>
          <p:cNvPr id="13" name="TextBox 12"/>
          <p:cNvSpPr txBox="1"/>
          <p:nvPr/>
        </p:nvSpPr>
        <p:spPr>
          <a:xfrm>
            <a:off x="92869" y="1650949"/>
            <a:ext cx="507206" cy="133350"/>
          </a:xfrm>
          <a:prstGeom prst="rect">
            <a:avLst/>
          </a:prstGeom>
          <a:noFill/>
        </p:spPr>
        <p:txBody>
          <a:bodyPr wrap="square" lIns="28575" rIns="28575" tIns="9525" bIns="9525" anchor="ctr">
            <a:spAutoFit/>
          </a:bodyPr>
          <a:lstStyle/>
          <a:p>
            <a:pPr algn="r"/>
            <a:r>
              <a:rPr sz="1100" b="0">
                <a:solidFill>
                  <a:srgbClr val="605E5C"/>
                </a:solidFill>
                <a:latin typeface="Segoe UI"/>
              </a:rPr>
              <a:t>4483.0</a:t>
            </a:r>
          </a:p>
        </p:txBody>
      </p:sp>
      <p:cxnSp>
        <p:nvCxnSpPr>
          <p:cNvPr id="14" name="Connector 13"/>
          <p:cNvCxnSpPr/>
          <p:nvPr/>
        </p:nvCxnSpPr>
        <p:spPr>
          <a:xfrm>
            <a:off x="2409825" y="1927636"/>
            <a:ext cx="0" cy="604112"/>
          </a:xfrm>
          <a:prstGeom prst="line">
            <a:avLst/>
          </a:prstGeom>
          <a:ln w="17780">
            <a:solidFill>
              <a:srgbClr val="5B7C99"/>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190750" y="1927636"/>
            <a:ext cx="438150" cy="604112"/>
          </a:xfrm>
          <a:prstGeom prst="rect">
            <a:avLst/>
          </a:prstGeom>
          <a:solidFill>
            <a:srgbClr val="C9D9E8"/>
          </a:solidFill>
          <a:ln w="15875">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225" y="1775236"/>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17" name="TextBox 16"/>
          <p:cNvSpPr txBox="1"/>
          <p:nvPr/>
        </p:nvSpPr>
        <p:spPr>
          <a:xfrm>
            <a:off x="657225" y="3566301"/>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Gaseous Helium-3</a:t>
            </a:r>
          </a:p>
        </p:txBody>
      </p:sp>
      <p:cxnSp>
        <p:nvCxnSpPr>
          <p:cNvPr id="18" name="Connector 17"/>
          <p:cNvCxnSpPr/>
          <p:nvPr/>
        </p:nvCxnSpPr>
        <p:spPr>
          <a:xfrm>
            <a:off x="5915025" y="2813347"/>
            <a:ext cx="0" cy="514367"/>
          </a:xfrm>
          <a:prstGeom prst="line">
            <a:avLst/>
          </a:prstGeom>
          <a:ln w="17780">
            <a:solidFill>
              <a:srgbClr val="5B7C99"/>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695950" y="2813347"/>
            <a:ext cx="438150" cy="514367"/>
          </a:xfrm>
          <a:prstGeom prst="rect">
            <a:avLst/>
          </a:prstGeom>
          <a:solidFill>
            <a:srgbClr val="C9D9E8"/>
          </a:solidFill>
          <a:ln w="15875">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2425" y="2660947"/>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 </a:t>
            </a:r>
          </a:p>
        </p:txBody>
      </p:sp>
      <p:sp>
        <p:nvSpPr>
          <p:cNvPr id="21" name="TextBox 20"/>
          <p:cNvSpPr txBox="1"/>
          <p:nvPr/>
        </p:nvSpPr>
        <p:spPr>
          <a:xfrm>
            <a:off x="4162425" y="3566301"/>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Liquid Helium-3</a:t>
            </a:r>
          </a:p>
        </p:txBody>
      </p:sp>
      <p:sp>
        <p:nvSpPr>
          <p:cNvPr id="22" name="Rectangle 21"/>
          <p:cNvSpPr/>
          <p:nvPr/>
        </p:nvSpPr>
        <p:spPr>
          <a:xfrm>
            <a:off x="142875" y="3991741"/>
            <a:ext cx="7696200" cy="25646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Region vs Global Price Trend (2026–2036)</a:t>
            </a:r>
          </a:p>
        </p:txBody>
      </p:sp>
      <p:cxnSp>
        <p:nvCxnSpPr>
          <p:cNvPr id="24" name="Connector 23"/>
          <p:cNvCxnSpPr/>
          <p:nvPr/>
        </p:nvCxnSpPr>
        <p:spPr>
          <a:xfrm>
            <a:off x="619125" y="451848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9125" y="488389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9125" y="56147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9125" y="59801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9125" y="4518482"/>
            <a:ext cx="0" cy="1461632"/>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90550" y="451848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90550" y="488389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0550" y="524929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0550" y="561470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0550" y="5980114"/>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35" name="FMI Scale tick"/>
          <p:cNvSpPr txBox="1"/>
          <p:nvPr/>
        </p:nvSpPr>
        <p:spPr>
          <a:xfrm>
            <a:off x="219075" y="4451807"/>
            <a:ext cx="361950" cy="133350"/>
          </a:xfrm>
          <a:prstGeom prst="rect">
            <a:avLst/>
          </a:prstGeom>
          <a:noFill/>
        </p:spPr>
        <p:txBody>
          <a:bodyPr wrap="none" lIns="0" rIns="0" tIns="0" bIns="0" anchor="ctr">
            <a:spAutoFit/>
          </a:bodyPr>
          <a:lstStyle/>
          <a:p>
            <a:pPr algn="r"/>
            <a:r>
              <a:rPr sz="1100" b="0">
                <a:solidFill>
                  <a:srgbClr val="605E5C"/>
                </a:solidFill>
                <a:latin typeface="Segoe UI"/>
              </a:rPr>
              <a:t>+13%</a:t>
            </a:r>
          </a:p>
        </p:txBody>
      </p:sp>
      <p:sp>
        <p:nvSpPr>
          <p:cNvPr id="36" name="FMI Scale tick"/>
          <p:cNvSpPr txBox="1"/>
          <p:nvPr/>
        </p:nvSpPr>
        <p:spPr>
          <a:xfrm>
            <a:off x="219075" y="4817215"/>
            <a:ext cx="361950" cy="133350"/>
          </a:xfrm>
          <a:prstGeom prst="rect">
            <a:avLst/>
          </a:prstGeom>
          <a:noFill/>
        </p:spPr>
        <p:txBody>
          <a:bodyPr wrap="none" lIns="0" rIns="0" tIns="0" bIns="0" anchor="ctr">
            <a:spAutoFit/>
          </a:bodyPr>
          <a:lstStyle/>
          <a:p>
            <a:pPr algn="r"/>
            <a:r>
              <a:rPr sz="1100" b="0">
                <a:solidFill>
                  <a:srgbClr val="605E5C"/>
                </a:solidFill>
                <a:latin typeface="Segoe UI"/>
              </a:rPr>
              <a:t>+6%</a:t>
            </a:r>
          </a:p>
        </p:txBody>
      </p:sp>
      <p:sp>
        <p:nvSpPr>
          <p:cNvPr id="37"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05E5C"/>
                </a:solidFill>
                <a:latin typeface="Segoe UI"/>
              </a:rPr>
              <a:t>0%</a:t>
            </a:r>
          </a:p>
        </p:txBody>
      </p:sp>
      <p:sp>
        <p:nvSpPr>
          <p:cNvPr id="38" name="FMI Scale tick"/>
          <p:cNvSpPr txBox="1"/>
          <p:nvPr/>
        </p:nvSpPr>
        <p:spPr>
          <a:xfrm>
            <a:off x="219075" y="5548031"/>
            <a:ext cx="361950" cy="133350"/>
          </a:xfrm>
          <a:prstGeom prst="rect">
            <a:avLst/>
          </a:prstGeom>
          <a:noFill/>
        </p:spPr>
        <p:txBody>
          <a:bodyPr wrap="none" lIns="0" rIns="0" tIns="0" bIns="0" anchor="ctr">
            <a:spAutoFit/>
          </a:bodyPr>
          <a:lstStyle/>
          <a:p>
            <a:pPr algn="r"/>
            <a:r>
              <a:rPr sz="1100" b="0">
                <a:solidFill>
                  <a:srgbClr val="605E5C"/>
                </a:solidFill>
                <a:latin typeface="Segoe UI"/>
              </a:rPr>
              <a:t>-6%</a:t>
            </a:r>
          </a:p>
        </p:txBody>
      </p:sp>
      <p:sp>
        <p:nvSpPr>
          <p:cNvPr id="39" name="FMI Scale tick"/>
          <p:cNvSpPr txBox="1"/>
          <p:nvPr/>
        </p:nvSpPr>
        <p:spPr>
          <a:xfrm>
            <a:off x="219075" y="5913439"/>
            <a:ext cx="361950" cy="133350"/>
          </a:xfrm>
          <a:prstGeom prst="rect">
            <a:avLst/>
          </a:prstGeom>
          <a:noFill/>
        </p:spPr>
        <p:txBody>
          <a:bodyPr wrap="none" lIns="0" rIns="0" tIns="0" bIns="0" anchor="ctr">
            <a:spAutoFit/>
          </a:bodyPr>
          <a:lstStyle/>
          <a:p>
            <a:pPr algn="r"/>
            <a:r>
              <a:rPr sz="1100" b="0">
                <a:solidFill>
                  <a:srgbClr val="605E5C"/>
                </a:solidFill>
                <a:latin typeface="Segoe UI"/>
              </a:rPr>
              <a:t>-13%</a:t>
            </a:r>
          </a:p>
        </p:txBody>
      </p:sp>
      <p:cxnSp>
        <p:nvCxnSpPr>
          <p:cNvPr id="40" name="Connector 39"/>
          <p:cNvCxnSpPr/>
          <p:nvPr/>
        </p:nvCxnSpPr>
        <p:spPr>
          <a:xfrm>
            <a:off x="619125" y="5249298"/>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93989" y="4614107"/>
            <a:ext cx="457200" cy="635191"/>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MI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3" name="Rectangle 42"/>
          <p:cNvSpPr/>
          <p:nvPr/>
        </p:nvSpPr>
        <p:spPr>
          <a:xfrm>
            <a:off x="1900918" y="5105130"/>
            <a:ext cx="457200" cy="144167"/>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MI Data Label"/>
          <p:cNvSpPr txBox="1"/>
          <p:nvPr/>
        </p:nvSpPr>
        <p:spPr>
          <a:xfrm>
            <a:off x="1626054" y="4962255"/>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5" name="Rectangle 44"/>
          <p:cNvSpPr/>
          <p:nvPr/>
        </p:nvSpPr>
        <p:spPr>
          <a:xfrm>
            <a:off x="2907846" y="5249298"/>
            <a:ext cx="457200" cy="243560"/>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Data Label"/>
          <p:cNvSpPr txBox="1"/>
          <p:nvPr/>
        </p:nvSpPr>
        <p:spPr>
          <a:xfrm>
            <a:off x="2632982" y="5502383"/>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7" name="Rectangle 46"/>
          <p:cNvSpPr/>
          <p:nvPr/>
        </p:nvSpPr>
        <p:spPr>
          <a:xfrm>
            <a:off x="3914775" y="5249298"/>
            <a:ext cx="457200" cy="307007"/>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MI Data Label"/>
          <p:cNvSpPr txBox="1"/>
          <p:nvPr/>
        </p:nvSpPr>
        <p:spPr>
          <a:xfrm>
            <a:off x="3639911" y="5565830"/>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49" name="Rectangle 48"/>
          <p:cNvSpPr/>
          <p:nvPr/>
        </p:nvSpPr>
        <p:spPr>
          <a:xfrm>
            <a:off x="4921704" y="4710856"/>
            <a:ext cx="457200" cy="538442"/>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MI Data Label"/>
          <p:cNvSpPr txBox="1"/>
          <p:nvPr/>
        </p:nvSpPr>
        <p:spPr>
          <a:xfrm>
            <a:off x="4646839" y="4567981"/>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1" name="Rectangle 50"/>
          <p:cNvSpPr/>
          <p:nvPr/>
        </p:nvSpPr>
        <p:spPr>
          <a:xfrm>
            <a:off x="5928632" y="4816972"/>
            <a:ext cx="457200" cy="432326"/>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5653768" y="4674097"/>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3" name="FMI Data Label"/>
          <p:cNvSpPr txBox="1"/>
          <p:nvPr/>
        </p:nvSpPr>
        <p:spPr>
          <a:xfrm>
            <a:off x="6660696" y="509781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 </a:t>
            </a:r>
          </a:p>
        </p:txBody>
      </p:sp>
      <p:sp>
        <p:nvSpPr>
          <p:cNvPr id="54" name="TextBox 53"/>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North America</a:t>
            </a:r>
          </a:p>
        </p:txBody>
      </p:sp>
      <p:sp>
        <p:nvSpPr>
          <p:cNvPr id="55" name="TextBox 54"/>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Latin America</a:t>
            </a:r>
          </a:p>
        </p:txBody>
      </p:sp>
      <p:sp>
        <p:nvSpPr>
          <p:cNvPr id="56" name="TextBox 55"/>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 Asia</a:t>
            </a:r>
          </a:p>
        </p:txBody>
      </p:sp>
      <p:sp>
        <p:nvSpPr>
          <p:cNvPr id="57" name="TextBox 56"/>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South Asia &amp; Pacific</a:t>
            </a:r>
          </a:p>
        </p:txBody>
      </p:sp>
      <p:sp>
        <p:nvSpPr>
          <p:cNvPr id="58" name="TextBox 57"/>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Western Europe</a:t>
            </a:r>
          </a:p>
        </p:txBody>
      </p:sp>
      <p:sp>
        <p:nvSpPr>
          <p:cNvPr id="59" name="TextBox 58"/>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Eastern Europe</a:t>
            </a:r>
          </a:p>
        </p:txBody>
      </p:sp>
      <p:sp>
        <p:nvSpPr>
          <p:cNvPr id="60" name="TextBox 59"/>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Middle East &amp; Africa</a:t>
            </a:r>
          </a:p>
        </p:txBody>
      </p:sp>
      <p:sp>
        <p:nvSpPr>
          <p:cNvPr id="61" name="Rectangle 60"/>
          <p:cNvSpPr/>
          <p:nvPr/>
        </p:nvSpPr>
        <p:spPr>
          <a:xfrm>
            <a:off x="7915275" y="1317574"/>
            <a:ext cx="41338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63" name="Rectangle 62"/>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65" name="TextBox 6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6" name="Picture 65" descr="lock.png"/>
          <p:cNvPicPr>
            <a:picLocks noChangeAspect="1"/>
          </p:cNvPicPr>
          <p:nvPr/>
        </p:nvPicPr>
        <p:blipFill>
          <a:blip r:embed="rId4"/>
          <a:stretch>
            <a:fillRect/>
          </a:stretch>
        </p:blipFill>
        <p:spPr>
          <a:xfrm>
            <a:off x="2345475" y="1748312"/>
            <a:ext cx="128699" cy="187198"/>
          </a:xfrm>
          <a:prstGeom prst="rect">
            <a:avLst/>
          </a:prstGeom>
        </p:spPr>
      </p:pic>
      <p:pic>
        <p:nvPicPr>
          <p:cNvPr id="67" name="Picture 66" descr="lock.png"/>
          <p:cNvPicPr>
            <a:picLocks noChangeAspect="1"/>
          </p:cNvPicPr>
          <p:nvPr/>
        </p:nvPicPr>
        <p:blipFill>
          <a:blip r:embed="rId4"/>
          <a:stretch>
            <a:fillRect/>
          </a:stretch>
        </p:blipFill>
        <p:spPr>
          <a:xfrm>
            <a:off x="5850675" y="2634023"/>
            <a:ext cx="128699" cy="187198"/>
          </a:xfrm>
          <a:prstGeom prst="rect">
            <a:avLst/>
          </a:prstGeom>
        </p:spPr>
      </p:pic>
      <p:pic>
        <p:nvPicPr>
          <p:cNvPr id="68" name="Picture 67" descr="lock.png"/>
          <p:cNvPicPr>
            <a:picLocks noChangeAspect="1"/>
          </p:cNvPicPr>
          <p:nvPr/>
        </p:nvPicPr>
        <p:blipFill>
          <a:blip r:embed="rId4"/>
          <a:stretch>
            <a:fillRect/>
          </a:stretch>
        </p:blipFill>
        <p:spPr>
          <a:xfrm>
            <a:off x="1058240" y="4444308"/>
            <a:ext cx="128699" cy="187198"/>
          </a:xfrm>
          <a:prstGeom prst="rect">
            <a:avLst/>
          </a:prstGeom>
        </p:spPr>
      </p:pic>
      <p:pic>
        <p:nvPicPr>
          <p:cNvPr id="69" name="Picture 68" descr="lock.png"/>
          <p:cNvPicPr>
            <a:picLocks noChangeAspect="1"/>
          </p:cNvPicPr>
          <p:nvPr/>
        </p:nvPicPr>
        <p:blipFill>
          <a:blip r:embed="rId4"/>
          <a:stretch>
            <a:fillRect/>
          </a:stretch>
        </p:blipFill>
        <p:spPr>
          <a:xfrm>
            <a:off x="2065168" y="4935330"/>
            <a:ext cx="128699" cy="187198"/>
          </a:xfrm>
          <a:prstGeom prst="rect">
            <a:avLst/>
          </a:prstGeom>
        </p:spPr>
      </p:pic>
      <p:pic>
        <p:nvPicPr>
          <p:cNvPr id="70" name="Picture 69" descr="lock.png"/>
          <p:cNvPicPr>
            <a:picLocks noChangeAspect="1"/>
          </p:cNvPicPr>
          <p:nvPr/>
        </p:nvPicPr>
        <p:blipFill>
          <a:blip r:embed="rId4"/>
          <a:stretch>
            <a:fillRect/>
          </a:stretch>
        </p:blipFill>
        <p:spPr>
          <a:xfrm>
            <a:off x="3072097" y="5475459"/>
            <a:ext cx="128699" cy="187198"/>
          </a:xfrm>
          <a:prstGeom prst="rect">
            <a:avLst/>
          </a:prstGeom>
        </p:spPr>
      </p:pic>
      <p:pic>
        <p:nvPicPr>
          <p:cNvPr id="71" name="Picture 70" descr="lock.png"/>
          <p:cNvPicPr>
            <a:picLocks noChangeAspect="1"/>
          </p:cNvPicPr>
          <p:nvPr/>
        </p:nvPicPr>
        <p:blipFill>
          <a:blip r:embed="rId4"/>
          <a:stretch>
            <a:fillRect/>
          </a:stretch>
        </p:blipFill>
        <p:spPr>
          <a:xfrm>
            <a:off x="4079026" y="5538906"/>
            <a:ext cx="128699" cy="187198"/>
          </a:xfrm>
          <a:prstGeom prst="rect">
            <a:avLst/>
          </a:prstGeom>
        </p:spPr>
      </p:pic>
      <p:pic>
        <p:nvPicPr>
          <p:cNvPr id="72" name="Picture 71" descr="lock.png"/>
          <p:cNvPicPr>
            <a:picLocks noChangeAspect="1"/>
          </p:cNvPicPr>
          <p:nvPr/>
        </p:nvPicPr>
        <p:blipFill>
          <a:blip r:embed="rId4"/>
          <a:stretch>
            <a:fillRect/>
          </a:stretch>
        </p:blipFill>
        <p:spPr>
          <a:xfrm>
            <a:off x="5085954" y="4541057"/>
            <a:ext cx="128699" cy="187198"/>
          </a:xfrm>
          <a:prstGeom prst="rect">
            <a:avLst/>
          </a:prstGeom>
        </p:spPr>
      </p:pic>
      <p:pic>
        <p:nvPicPr>
          <p:cNvPr id="73" name="Picture 72" descr="lock.png"/>
          <p:cNvPicPr>
            <a:picLocks noChangeAspect="1"/>
          </p:cNvPicPr>
          <p:nvPr/>
        </p:nvPicPr>
        <p:blipFill>
          <a:blip r:embed="rId4"/>
          <a:stretch>
            <a:fillRect/>
          </a:stretch>
        </p:blipFill>
        <p:spPr>
          <a:xfrm>
            <a:off x="6092883" y="4647173"/>
            <a:ext cx="128699" cy="187198"/>
          </a:xfrm>
          <a:prstGeom prst="rect">
            <a:avLst/>
          </a:prstGeom>
        </p:spPr>
      </p:pic>
      <p:pic>
        <p:nvPicPr>
          <p:cNvPr id="74" name="Picture 73" descr="lock.png"/>
          <p:cNvPicPr>
            <a:picLocks noChangeAspect="1"/>
          </p:cNvPicPr>
          <p:nvPr/>
        </p:nvPicPr>
        <p:blipFill>
          <a:blip r:embed="rId4"/>
          <a:stretch>
            <a:fillRect/>
          </a:stretch>
        </p:blipFill>
        <p:spPr>
          <a:xfrm>
            <a:off x="7099811" y="5070888"/>
            <a:ext cx="128699" cy="187198"/>
          </a:xfrm>
          <a:prstGeom prst="rect">
            <a:avLst/>
          </a:prstGeom>
        </p:spPr>
      </p:pic>
      <p:sp>
        <p:nvSpPr>
          <p:cNvPr id="75" name="TextBox 74"/>
          <p:cNvSpPr txBox="1"/>
          <p:nvPr/>
        </p:nvSpPr>
        <p:spPr>
          <a:xfrm>
            <a:off x="8048625" y="1736673"/>
            <a:ext cx="3660321" cy="194310"/>
          </a:xfrm>
          <a:prstGeom prst="rect">
            <a:avLst/>
          </a:prstGeom>
          <a:noFill/>
        </p:spPr>
        <p:txBody>
          <a:bodyPr wrap="none" lIns="0" rIns="0" tIns="0" bIns="0">
            <a:spAutoFit/>
          </a:bodyPr>
          <a:lstStyle/>
          <a:p>
            <a:r>
              <a:rPr sz="1150" b="0">
                <a:solidFill>
                  <a:srgbClr val="252423"/>
                </a:solidFill>
                <a:latin typeface="Segoe UI"/>
              </a:rPr>
              <a:t>▪ The chart shows global average pricing of key product</a:t>
            </a:r>
          </a:p>
        </p:txBody>
      </p:sp>
      <p:sp>
        <p:nvSpPr>
          <p:cNvPr id="76" name="TextBox 75"/>
          <p:cNvSpPr txBox="1"/>
          <p:nvPr/>
        </p:nvSpPr>
        <p:spPr>
          <a:xfrm>
            <a:off x="8048625" y="1911934"/>
            <a:ext cx="3411459" cy="194310"/>
          </a:xfrm>
          <a:prstGeom prst="rect">
            <a:avLst/>
          </a:prstGeom>
          <a:noFill/>
        </p:spPr>
        <p:txBody>
          <a:bodyPr wrap="none" lIns="0" rIns="0" tIns="0" bIns="0">
            <a:spAutoFit/>
          </a:bodyPr>
          <a:lstStyle/>
          <a:p>
            <a:r>
              <a:rPr sz="1150" b="0">
                <a:solidFill>
                  <a:srgbClr val="252423"/>
                </a:solidFill>
                <a:latin typeface="Segoe UI"/>
              </a:rPr>
              <a:t>form types in USD, harmonised across regions. Each</a:t>
            </a:r>
          </a:p>
        </p:txBody>
      </p:sp>
      <p:sp>
        <p:nvSpPr>
          <p:cNvPr id="77" name="TextBox 76"/>
          <p:cNvSpPr txBox="1"/>
          <p:nvPr/>
        </p:nvSpPr>
        <p:spPr>
          <a:xfrm>
            <a:off x="8048625" y="2087194"/>
            <a:ext cx="3617373" cy="194310"/>
          </a:xfrm>
          <a:prstGeom prst="rect">
            <a:avLst/>
          </a:prstGeom>
          <a:noFill/>
        </p:spPr>
        <p:txBody>
          <a:bodyPr wrap="none" lIns="0" rIns="0" tIns="0" bIns="0">
            <a:spAutoFit/>
          </a:bodyPr>
          <a:lstStyle/>
          <a:p>
            <a:r>
              <a:rPr sz="1150" b="0">
                <a:solidFill>
                  <a:srgbClr val="252423"/>
                </a:solidFill>
                <a:latin typeface="Segoe UI"/>
              </a:rPr>
              <a:t>candlestick spans the minimum-to-maximum observed</a:t>
            </a:r>
          </a:p>
        </p:txBody>
      </p:sp>
      <p:sp>
        <p:nvSpPr>
          <p:cNvPr id="78" name="TextBox 77"/>
          <p:cNvSpPr txBox="1"/>
          <p:nvPr/>
        </p:nvSpPr>
        <p:spPr>
          <a:xfrm>
            <a:off x="8048625" y="2262454"/>
            <a:ext cx="3848100" cy="194310"/>
          </a:xfrm>
          <a:prstGeom prst="rect">
            <a:avLst/>
          </a:prstGeom>
          <a:noFill/>
        </p:spPr>
        <p:txBody>
          <a:bodyPr wrap="none" lIns="0" rIns="0" tIns="0" bIns="0">
            <a:spAutoFit/>
          </a:bodyPr>
          <a:lstStyle/>
          <a:p>
            <a:r>
              <a:rPr sz="1150" b="0">
                <a:solidFill>
                  <a:srgbClr val="252423"/>
                </a:solidFill>
                <a:latin typeface="Segoe UI"/>
              </a:rPr>
              <a:t>price within the base year, giving a clear read of price range</a:t>
            </a:r>
          </a:p>
        </p:txBody>
      </p:sp>
      <p:sp>
        <p:nvSpPr>
          <p:cNvPr id="79" name="TextBox 78"/>
          <p:cNvSpPr txBox="1"/>
          <p:nvPr/>
        </p:nvSpPr>
        <p:spPr>
          <a:xfrm>
            <a:off x="8048625" y="2437714"/>
            <a:ext cx="1542948" cy="194310"/>
          </a:xfrm>
          <a:prstGeom prst="rect">
            <a:avLst/>
          </a:prstGeom>
          <a:noFill/>
        </p:spPr>
        <p:txBody>
          <a:bodyPr wrap="none" lIns="0" rIns="0" tIns="0" bIns="0">
            <a:spAutoFit/>
          </a:bodyPr>
          <a:lstStyle/>
          <a:p>
            <a:r>
              <a:rPr sz="1150" b="0">
                <a:solidFill>
                  <a:srgbClr val="252423"/>
                </a:solidFill>
                <a:latin typeface="Segoe UI"/>
              </a:rPr>
              <a:t>and market dispersion.</a:t>
            </a:r>
          </a:p>
        </p:txBody>
      </p:sp>
      <p:sp>
        <p:nvSpPr>
          <p:cNvPr id="80" name="TextBox 79"/>
          <p:cNvSpPr txBox="1"/>
          <p:nvPr/>
        </p:nvSpPr>
        <p:spPr>
          <a:xfrm>
            <a:off x="8048625" y="2665551"/>
            <a:ext cx="3653529" cy="194310"/>
          </a:xfrm>
          <a:prstGeom prst="rect">
            <a:avLst/>
          </a:prstGeom>
          <a:noFill/>
        </p:spPr>
        <p:txBody>
          <a:bodyPr wrap="none" lIns="0" rIns="0" tIns="0" bIns="0">
            <a:spAutoFit/>
          </a:bodyPr>
          <a:lstStyle/>
          <a:p>
            <a:r>
              <a:rPr sz="1150" b="0">
                <a:solidFill>
                  <a:srgbClr val="252423"/>
                </a:solidFill>
                <a:latin typeface="Segoe UI"/>
              </a:rPr>
              <a:t>▪ Wider bodies mark a larger gap between opening and</a:t>
            </a:r>
          </a:p>
        </p:txBody>
      </p:sp>
      <p:sp>
        <p:nvSpPr>
          <p:cNvPr id="81" name="TextBox 80"/>
          <p:cNvSpPr txBox="1"/>
          <p:nvPr/>
        </p:nvSpPr>
        <p:spPr>
          <a:xfrm>
            <a:off x="8048625" y="2840811"/>
            <a:ext cx="3618469" cy="194310"/>
          </a:xfrm>
          <a:prstGeom prst="rect">
            <a:avLst/>
          </a:prstGeom>
          <a:noFill/>
        </p:spPr>
        <p:txBody>
          <a:bodyPr wrap="none" lIns="0" rIns="0" tIns="0" bIns="0">
            <a:spAutoFit/>
          </a:bodyPr>
          <a:lstStyle/>
          <a:p>
            <a:r>
              <a:rPr sz="1150" b="0">
                <a:solidFill>
                  <a:srgbClr val="252423"/>
                </a:solidFill>
                <a:latin typeface="Segoe UI"/>
              </a:rPr>
              <a:t>closing price levels 'Gaseous Helium-3' shows the most</a:t>
            </a:r>
          </a:p>
        </p:txBody>
      </p:sp>
      <p:sp>
        <p:nvSpPr>
          <p:cNvPr id="82" name="TextBox 81"/>
          <p:cNvSpPr txBox="1"/>
          <p:nvPr/>
        </p:nvSpPr>
        <p:spPr>
          <a:xfrm>
            <a:off x="8048625" y="3016071"/>
            <a:ext cx="952486" cy="194310"/>
          </a:xfrm>
          <a:prstGeom prst="rect">
            <a:avLst/>
          </a:prstGeom>
          <a:noFill/>
        </p:spPr>
        <p:txBody>
          <a:bodyPr wrap="none" lIns="0" rIns="0" tIns="0" bIns="0">
            <a:spAutoFit/>
          </a:bodyPr>
          <a:lstStyle/>
          <a:p>
            <a:r>
              <a:rPr sz="1150" b="0">
                <a:solidFill>
                  <a:srgbClr val="252423"/>
                </a:solidFill>
                <a:latin typeface="Segoe UI"/>
              </a:rPr>
              <a:t>movement (+</a:t>
            </a:r>
          </a:p>
        </p:txBody>
      </p:sp>
      <p:pic>
        <p:nvPicPr>
          <p:cNvPr id="83" name="Picture 82" descr="lock.png"/>
          <p:cNvPicPr>
            <a:picLocks noChangeAspect="1"/>
          </p:cNvPicPr>
          <p:nvPr/>
        </p:nvPicPr>
        <p:blipFill>
          <a:blip r:embed="rId4"/>
          <a:stretch>
            <a:fillRect/>
          </a:stretch>
        </p:blipFill>
        <p:spPr>
          <a:xfrm>
            <a:off x="8950265" y="3005848"/>
            <a:ext cx="134549" cy="195707"/>
          </a:xfrm>
          <a:prstGeom prst="rect">
            <a:avLst/>
          </a:prstGeom>
        </p:spPr>
      </p:pic>
      <p:sp>
        <p:nvSpPr>
          <p:cNvPr id="84" name="TextBox 83"/>
          <p:cNvSpPr txBox="1"/>
          <p:nvPr/>
        </p:nvSpPr>
        <p:spPr>
          <a:xfrm>
            <a:off x="9125374" y="3016071"/>
            <a:ext cx="2312590" cy="194310"/>
          </a:xfrm>
          <a:prstGeom prst="rect">
            <a:avLst/>
          </a:prstGeom>
          <a:noFill/>
        </p:spPr>
        <p:txBody>
          <a:bodyPr wrap="none" lIns="0" rIns="0" tIns="0" bIns="0">
            <a:spAutoFit/>
          </a:bodyPr>
          <a:lstStyle/>
          <a:p>
            <a:r>
              <a:rPr sz="1150" b="0">
                <a:solidFill>
                  <a:srgbClr val="252423"/>
                </a:solidFill>
                <a:latin typeface="Segoe UI"/>
              </a:rPr>
              <a:t>) and 'Liquid Helium-3' the least (+</a:t>
            </a:r>
          </a:p>
        </p:txBody>
      </p:sp>
      <p:pic>
        <p:nvPicPr>
          <p:cNvPr id="85" name="Picture 84" descr="lock.png"/>
          <p:cNvPicPr>
            <a:picLocks noChangeAspect="1"/>
          </p:cNvPicPr>
          <p:nvPr/>
        </p:nvPicPr>
        <p:blipFill>
          <a:blip r:embed="rId4"/>
          <a:stretch>
            <a:fillRect/>
          </a:stretch>
        </p:blipFill>
        <p:spPr>
          <a:xfrm>
            <a:off x="11387119" y="3005848"/>
            <a:ext cx="134549" cy="195707"/>
          </a:xfrm>
          <a:prstGeom prst="rect">
            <a:avLst/>
          </a:prstGeom>
        </p:spPr>
      </p:pic>
      <p:sp>
        <p:nvSpPr>
          <p:cNvPr id="86" name="TextBox 85"/>
          <p:cNvSpPr txBox="1"/>
          <p:nvPr/>
        </p:nvSpPr>
        <p:spPr>
          <a:xfrm>
            <a:off x="11562228" y="3016071"/>
            <a:ext cx="120414" cy="194310"/>
          </a:xfrm>
          <a:prstGeom prst="rect">
            <a:avLst/>
          </a:prstGeom>
          <a:noFill/>
        </p:spPr>
        <p:txBody>
          <a:bodyPr wrap="none" lIns="0" rIns="0" tIns="0" bIns="0">
            <a:spAutoFit/>
          </a:bodyPr>
          <a:lstStyle/>
          <a:p>
            <a:r>
              <a:rPr sz="1150" b="0">
                <a:solidFill>
                  <a:srgbClr val="252423"/>
                </a:solidFill>
                <a:latin typeface="Segoe UI"/>
              </a:rPr>
              <a:t>)</a:t>
            </a:r>
          </a:p>
        </p:txBody>
      </p:sp>
      <p:sp>
        <p:nvSpPr>
          <p:cNvPr id="87" name="TextBox 86"/>
          <p:cNvSpPr txBox="1"/>
          <p:nvPr/>
        </p:nvSpPr>
        <p:spPr>
          <a:xfrm>
            <a:off x="8048625" y="3191331"/>
            <a:ext cx="3569905" cy="194310"/>
          </a:xfrm>
          <a:prstGeom prst="rect">
            <a:avLst/>
          </a:prstGeom>
          <a:noFill/>
        </p:spPr>
        <p:txBody>
          <a:bodyPr wrap="none" lIns="0" rIns="0" tIns="0" bIns="0">
            <a:spAutoFit/>
          </a:bodyPr>
          <a:lstStyle/>
          <a:p>
            <a:r>
              <a:rPr sz="1150" b="0">
                <a:solidFill>
                  <a:srgbClr val="252423"/>
                </a:solidFill>
                <a:latin typeface="Segoe UI"/>
              </a:rPr>
              <a:t>variability stakeholders should monitor when planning</a:t>
            </a:r>
          </a:p>
        </p:txBody>
      </p:sp>
      <p:sp>
        <p:nvSpPr>
          <p:cNvPr id="88" name="TextBox 87"/>
          <p:cNvSpPr txBox="1"/>
          <p:nvPr/>
        </p:nvSpPr>
        <p:spPr>
          <a:xfrm>
            <a:off x="8048625" y="3366591"/>
            <a:ext cx="1602245" cy="194310"/>
          </a:xfrm>
          <a:prstGeom prst="rect">
            <a:avLst/>
          </a:prstGeom>
          <a:noFill/>
        </p:spPr>
        <p:txBody>
          <a:bodyPr wrap="none" lIns="0" rIns="0" tIns="0" bIns="0">
            <a:spAutoFit/>
          </a:bodyPr>
          <a:lstStyle/>
          <a:p>
            <a:r>
              <a:rPr sz="1150" b="0">
                <a:solidFill>
                  <a:srgbClr val="252423"/>
                </a:solidFill>
                <a:latin typeface="Segoe UI"/>
              </a:rPr>
              <a:t>procurement or pricing.</a:t>
            </a:r>
          </a:p>
        </p:txBody>
      </p:sp>
      <p:sp>
        <p:nvSpPr>
          <p:cNvPr id="89" name="TextBox 88"/>
          <p:cNvSpPr txBox="1"/>
          <p:nvPr/>
        </p:nvSpPr>
        <p:spPr>
          <a:xfrm>
            <a:off x="8048625" y="3594429"/>
            <a:ext cx="3760503" cy="194310"/>
          </a:xfrm>
          <a:prstGeom prst="rect">
            <a:avLst/>
          </a:prstGeom>
          <a:noFill/>
        </p:spPr>
        <p:txBody>
          <a:bodyPr wrap="none" lIns="0" rIns="0" tIns="0" bIns="0">
            <a:spAutoFit/>
          </a:bodyPr>
          <a:lstStyle/>
          <a:p>
            <a:r>
              <a:rPr sz="1150" b="0">
                <a:solidFill>
                  <a:srgbClr val="252423"/>
                </a:solidFill>
                <a:latin typeface="Segoe UI"/>
              </a:rPr>
              <a:t>▪ The lower chart indexes region-level price movement to</a:t>
            </a:r>
          </a:p>
        </p:txBody>
      </p:sp>
      <p:sp>
        <p:nvSpPr>
          <p:cNvPr id="90" name="TextBox 89"/>
          <p:cNvSpPr txBox="1"/>
          <p:nvPr/>
        </p:nvSpPr>
        <p:spPr>
          <a:xfrm>
            <a:off x="8048625" y="3769689"/>
            <a:ext cx="3681243" cy="194310"/>
          </a:xfrm>
          <a:prstGeom prst="rect">
            <a:avLst/>
          </a:prstGeom>
          <a:noFill/>
        </p:spPr>
        <p:txBody>
          <a:bodyPr wrap="none" lIns="0" rIns="0" tIns="0" bIns="0">
            <a:spAutoFit/>
          </a:bodyPr>
          <a:lstStyle/>
          <a:p>
            <a:r>
              <a:rPr sz="1150" b="0">
                <a:solidFill>
                  <a:srgbClr val="252423"/>
                </a:solidFill>
                <a:latin typeface="Segoe UI"/>
              </a:rPr>
              <a:t>the base year, applied consistently across the horizon to</a:t>
            </a:r>
          </a:p>
        </p:txBody>
      </p:sp>
      <p:sp>
        <p:nvSpPr>
          <p:cNvPr id="91" name="TextBox 90"/>
          <p:cNvSpPr txBox="1"/>
          <p:nvPr/>
        </p:nvSpPr>
        <p:spPr>
          <a:xfrm>
            <a:off x="8048625" y="3944949"/>
            <a:ext cx="3538201" cy="194310"/>
          </a:xfrm>
          <a:prstGeom prst="rect">
            <a:avLst/>
          </a:prstGeom>
          <a:noFill/>
        </p:spPr>
        <p:txBody>
          <a:bodyPr wrap="none" lIns="0" rIns="0" tIns="0" bIns="0">
            <a:spAutoFit/>
          </a:bodyPr>
          <a:lstStyle/>
          <a:p>
            <a:r>
              <a:rPr sz="1150" b="0">
                <a:solidFill>
                  <a:srgbClr val="252423"/>
                </a:solidFill>
                <a:latin typeface="Segoe UI"/>
              </a:rPr>
              <a:t>strip out year-on-year inflationary volatility and reveal</a:t>
            </a:r>
          </a:p>
        </p:txBody>
      </p:sp>
      <p:sp>
        <p:nvSpPr>
          <p:cNvPr id="92" name="TextBox 91"/>
          <p:cNvSpPr txBox="1"/>
          <p:nvPr/>
        </p:nvSpPr>
        <p:spPr>
          <a:xfrm>
            <a:off x="8048625" y="4120209"/>
            <a:ext cx="1446599" cy="194310"/>
          </a:xfrm>
          <a:prstGeom prst="rect">
            <a:avLst/>
          </a:prstGeom>
          <a:noFill/>
        </p:spPr>
        <p:txBody>
          <a:bodyPr wrap="none" lIns="0" rIns="0" tIns="0" bIns="0">
            <a:spAutoFit/>
          </a:bodyPr>
          <a:lstStyle/>
          <a:p>
            <a:r>
              <a:rPr sz="1150" b="0">
                <a:solidFill>
                  <a:srgbClr val="252423"/>
                </a:solidFill>
                <a:latin typeface="Segoe UI"/>
              </a:rPr>
              <a:t>structural price shifts.</a:t>
            </a:r>
          </a:p>
        </p:txBody>
      </p:sp>
      <p:sp>
        <p:nvSpPr>
          <p:cNvPr id="93" name="TextBox 92"/>
          <p:cNvSpPr txBox="1"/>
          <p:nvPr/>
        </p:nvSpPr>
        <p:spPr>
          <a:xfrm>
            <a:off x="8048625" y="4348047"/>
            <a:ext cx="2564059" cy="194310"/>
          </a:xfrm>
          <a:prstGeom prst="rect">
            <a:avLst/>
          </a:prstGeom>
          <a:noFill/>
        </p:spPr>
        <p:txBody>
          <a:bodyPr wrap="none" lIns="0" rIns="0" tIns="0" bIns="0">
            <a:spAutoFit/>
          </a:bodyPr>
          <a:lstStyle/>
          <a:p>
            <a:r>
              <a:rPr sz="1150" b="0">
                <a:solidFill>
                  <a:srgbClr val="252423"/>
                </a:solidFill>
                <a:latin typeface="Segoe UI"/>
              </a:rPr>
              <a:t>▪ Region price indices diverge by up to</a:t>
            </a:r>
          </a:p>
        </p:txBody>
      </p:sp>
      <p:pic>
        <p:nvPicPr>
          <p:cNvPr id="94" name="Picture 93" descr="lock.png"/>
          <p:cNvPicPr>
            <a:picLocks noChangeAspect="1"/>
          </p:cNvPicPr>
          <p:nvPr/>
        </p:nvPicPr>
        <p:blipFill>
          <a:blip r:embed="rId4"/>
          <a:stretch>
            <a:fillRect/>
          </a:stretch>
        </p:blipFill>
        <p:spPr>
          <a:xfrm>
            <a:off x="10561838" y="4337824"/>
            <a:ext cx="134549" cy="195707"/>
          </a:xfrm>
          <a:prstGeom prst="rect">
            <a:avLst/>
          </a:prstGeom>
        </p:spPr>
      </p:pic>
      <p:sp>
        <p:nvSpPr>
          <p:cNvPr id="95" name="TextBox 94"/>
          <p:cNvSpPr txBox="1"/>
          <p:nvPr/>
        </p:nvSpPr>
        <p:spPr>
          <a:xfrm>
            <a:off x="10736947" y="4348047"/>
            <a:ext cx="984154" cy="194310"/>
          </a:xfrm>
          <a:prstGeom prst="rect">
            <a:avLst/>
          </a:prstGeom>
          <a:noFill/>
        </p:spPr>
        <p:txBody>
          <a:bodyPr wrap="none" lIns="0" rIns="0" tIns="0" bIns="0">
            <a:spAutoFit/>
          </a:bodyPr>
          <a:lstStyle/>
          <a:p>
            <a:r>
              <a:rPr sz="1150" b="0">
                <a:solidFill>
                  <a:srgbClr val="252423"/>
                </a:solidFill>
                <a:latin typeface="Segoe UI"/>
              </a:rPr>
              <a:t>between 2026</a:t>
            </a:r>
          </a:p>
        </p:txBody>
      </p:sp>
      <p:sp>
        <p:nvSpPr>
          <p:cNvPr id="96" name="TextBox 95"/>
          <p:cNvSpPr txBox="1"/>
          <p:nvPr/>
        </p:nvSpPr>
        <p:spPr>
          <a:xfrm>
            <a:off x="8048625" y="4523307"/>
            <a:ext cx="3571277" cy="194310"/>
          </a:xfrm>
          <a:prstGeom prst="rect">
            <a:avLst/>
          </a:prstGeom>
          <a:noFill/>
        </p:spPr>
        <p:txBody>
          <a:bodyPr wrap="none" lIns="0" rIns="0" tIns="0" bIns="0">
            <a:spAutoFit/>
          </a:bodyPr>
          <a:lstStyle/>
          <a:p>
            <a:r>
              <a:rPr sz="1150" b="0">
                <a:solidFill>
                  <a:srgbClr val="252423"/>
                </a:solidFill>
                <a:latin typeface="Segoe UI"/>
              </a:rPr>
              <a:t>and 2036: higher-priced regions start higher and grow</a:t>
            </a:r>
          </a:p>
        </p:txBody>
      </p:sp>
      <p:sp>
        <p:nvSpPr>
          <p:cNvPr id="97" name="TextBox 96"/>
          <p:cNvSpPr txBox="1"/>
          <p:nvPr/>
        </p:nvSpPr>
        <p:spPr>
          <a:xfrm>
            <a:off x="8048625" y="4698567"/>
            <a:ext cx="3349519" cy="194310"/>
          </a:xfrm>
          <a:prstGeom prst="rect">
            <a:avLst/>
          </a:prstGeom>
          <a:noFill/>
        </p:spPr>
        <p:txBody>
          <a:bodyPr wrap="none" lIns="0" rIns="0" tIns="0" bIns="0">
            <a:spAutoFit/>
          </a:bodyPr>
          <a:lstStyle/>
          <a:p>
            <a:r>
              <a:rPr sz="1150" b="0">
                <a:solidFill>
                  <a:srgbClr val="252423"/>
                </a:solidFill>
                <a:latin typeface="Segoe UI"/>
              </a:rPr>
              <a:t>steadily, while lower-priced regions start lower and</a:t>
            </a:r>
          </a:p>
        </p:txBody>
      </p:sp>
      <p:sp>
        <p:nvSpPr>
          <p:cNvPr id="98" name="TextBox 97"/>
          <p:cNvSpPr txBox="1"/>
          <p:nvPr/>
        </p:nvSpPr>
        <p:spPr>
          <a:xfrm>
            <a:off x="8048625" y="4873827"/>
            <a:ext cx="2490450" cy="194310"/>
          </a:xfrm>
          <a:prstGeom prst="rect">
            <a:avLst/>
          </a:prstGeom>
          <a:noFill/>
        </p:spPr>
        <p:txBody>
          <a:bodyPr wrap="none" lIns="0" rIns="0" tIns="0" bIns="0">
            <a:spAutoFit/>
          </a:bodyPr>
          <a:lstStyle/>
          <a:p>
            <a:r>
              <a:rPr sz="1150" b="0">
                <a:solidFill>
                  <a:srgbClr val="252423"/>
                </a:solidFill>
                <a:latin typeface="Segoe UI"/>
              </a:rPr>
              <a:t>converge, reflecting catch-up growth.</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Pricing Assessment: By Product Form</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Average price (US$/Litres) by product form, 2021 to 2036, with 2026 price index and growth outlook</a:t>
            </a:r>
          </a:p>
        </p:txBody>
      </p:sp>
      <p:sp>
        <p:nvSpPr>
          <p:cNvPr id="8" name="Rectangle 7"/>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9" name="Rectangle 8"/>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0" name="TextBox 9"/>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Form, 2021 to 2036 (US$/Litres)</a:t>
            </a:r>
          </a:p>
        </p:txBody>
      </p:sp>
      <p:graphicFrame>
        <p:nvGraphicFramePr>
          <p:cNvPr id="11"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2" name="TextBox 11"/>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3" name="Rectangle 12"/>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4" name="TextBox 13"/>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5"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6" name="Table 15"/>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461772">
                <a:tc>
                  <a:txBody>
                    <a:bodyPr wrap="square"/>
                    <a:lstStyle/>
                    <a:p>
                      <a:pPr algn="l"/>
                      <a:r>
                        <a:rPr sz="850" b="1">
                          <a:solidFill>
                            <a:srgbClr val="FFFFFF"/>
                          </a:solidFill>
                          <a:latin typeface="Calibri"/>
                        </a:rPr>
                        <a:t>Product Form</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461772">
                <a:tc>
                  <a:txBody>
                    <a:bodyPr wrap="square"/>
                    <a:lstStyle/>
                    <a:p>
                      <a:pPr algn="l"/>
                      <a:r>
                        <a:rPr sz="850" b="1">
                          <a:solidFill>
                            <a:srgbClr val="1F1F1F"/>
                          </a:solidFill>
                          <a:latin typeface="Calibri"/>
                        </a:rPr>
                        <a:t>Gaseous Helium-3</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461772">
                <a:tc>
                  <a:txBody>
                    <a:bodyPr wrap="square"/>
                    <a:lstStyle/>
                    <a:p>
                      <a:pPr algn="l"/>
                      <a:r>
                        <a:rPr sz="850" b="1">
                          <a:solidFill>
                            <a:srgbClr val="1F1F1F"/>
                          </a:solidFill>
                          <a:latin typeface="Calibri"/>
                        </a:rPr>
                        <a:t>Liquid Helium-3</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461772">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7" name="Rectangle 16"/>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8" name="Oval 17"/>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9" name="TextBox 18"/>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0" name="TextBox 19"/>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1" name="Rectangle 20"/>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2" name="Oval 21"/>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3" name="TextBox 22"/>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4" name="TextBox 23"/>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5" name="Rectangle 24"/>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6" name="Oval 25"/>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7" name="TextBox 26"/>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8" name="TextBox 27"/>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9" name="TextBox 28"/>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(Litres). 2021 to 2025 historical, 2026 to 2036 forecast.</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1" name="Picture 30" descr="lock.png"/>
          <p:cNvPicPr>
            <a:picLocks noChangeAspect="1"/>
          </p:cNvPicPr>
          <p:nvPr/>
        </p:nvPicPr>
        <p:blipFill>
          <a:blip r:embed="rId6"/>
          <a:stretch>
            <a:fillRect/>
          </a:stretch>
        </p:blipFill>
        <p:spPr>
          <a:xfrm>
            <a:off x="10283571" y="4117466"/>
            <a:ext cx="330041" cy="480060"/>
          </a:xfrm>
          <a:prstGeom prst="rect">
            <a:avLst/>
          </a:prstGeom>
        </p:spPr>
      </p:pic>
      <p:sp>
        <p:nvSpPr>
          <p:cNvPr id="32" name="TextBox 31"/>
          <p:cNvSpPr txBox="1"/>
          <p:nvPr/>
        </p:nvSpPr>
        <p:spPr>
          <a:xfrm>
            <a:off x="411480" y="1110615"/>
            <a:ext cx="4549378" cy="217169"/>
          </a:xfrm>
          <a:prstGeom prst="rect">
            <a:avLst/>
          </a:prstGeom>
          <a:noFill/>
        </p:spPr>
        <p:txBody>
          <a:bodyPr wrap="none" lIns="0" rIns="0" tIns="0" bIns="0">
            <a:spAutoFit/>
          </a:bodyPr>
          <a:lstStyle/>
          <a:p>
            <a:r>
              <a:rPr sz="1300" b="1">
                <a:solidFill>
                  <a:srgbClr val="FFFFFF"/>
                </a:solidFill>
                <a:latin typeface="Calibri"/>
              </a:rPr>
              <a:t>Gaseous Helium-3 commands the highest 2026 price point at US$</a:t>
            </a:r>
          </a:p>
        </p:txBody>
      </p:sp>
      <p:pic>
        <p:nvPicPr>
          <p:cNvPr id="33" name="Picture 32" descr="lock.png"/>
          <p:cNvPicPr>
            <a:picLocks noChangeAspect="1"/>
          </p:cNvPicPr>
          <p:nvPr/>
        </p:nvPicPr>
        <p:blipFill>
          <a:blip r:embed="rId6"/>
          <a:stretch>
            <a:fillRect/>
          </a:stretch>
        </p:blipFill>
        <p:spPr>
          <a:xfrm>
            <a:off x="4913319" y="1099058"/>
            <a:ext cx="152098" cy="221234"/>
          </a:xfrm>
          <a:prstGeom prst="rect">
            <a:avLst/>
          </a:prstGeom>
        </p:spPr>
      </p:pic>
      <p:sp>
        <p:nvSpPr>
          <p:cNvPr id="34" name="TextBox 33"/>
          <p:cNvSpPr txBox="1"/>
          <p:nvPr/>
        </p:nvSpPr>
        <p:spPr>
          <a:xfrm>
            <a:off x="5111268" y="1110615"/>
            <a:ext cx="684361" cy="217169"/>
          </a:xfrm>
          <a:prstGeom prst="rect">
            <a:avLst/>
          </a:prstGeom>
          <a:noFill/>
        </p:spPr>
        <p:txBody>
          <a:bodyPr wrap="none" lIns="0" rIns="0" tIns="0" bIns="0">
            <a:spAutoFit/>
          </a:bodyPr>
          <a:lstStyle/>
          <a:p>
            <a:r>
              <a:rPr sz="1300" b="1">
                <a:solidFill>
                  <a:srgbClr val="FFFFFF"/>
                </a:solidFill>
                <a:latin typeface="Calibri"/>
              </a:rPr>
              <a:t>/Litres, a</a:t>
            </a:r>
          </a:p>
        </p:txBody>
      </p:sp>
      <p:pic>
        <p:nvPicPr>
          <p:cNvPr id="35" name="Picture 34" descr="lock.png"/>
          <p:cNvPicPr>
            <a:picLocks noChangeAspect="1"/>
          </p:cNvPicPr>
          <p:nvPr/>
        </p:nvPicPr>
        <p:blipFill>
          <a:blip r:embed="rId6"/>
          <a:stretch>
            <a:fillRect/>
          </a:stretch>
        </p:blipFill>
        <p:spPr>
          <a:xfrm>
            <a:off x="5748091" y="1099058"/>
            <a:ext cx="152098" cy="221234"/>
          </a:xfrm>
          <a:prstGeom prst="rect">
            <a:avLst/>
          </a:prstGeom>
        </p:spPr>
      </p:pic>
      <p:sp>
        <p:nvSpPr>
          <p:cNvPr id="36" name="TextBox 35"/>
          <p:cNvSpPr txBox="1"/>
          <p:nvPr/>
        </p:nvSpPr>
        <p:spPr>
          <a:xfrm>
            <a:off x="5946040" y="1110615"/>
            <a:ext cx="2213471" cy="217169"/>
          </a:xfrm>
          <a:prstGeom prst="rect">
            <a:avLst/>
          </a:prstGeom>
          <a:noFill/>
        </p:spPr>
        <p:txBody>
          <a:bodyPr wrap="none" lIns="0" rIns="0" tIns="0" bIns="0">
            <a:spAutoFit/>
          </a:bodyPr>
          <a:lstStyle/>
          <a:p>
            <a:r>
              <a:rPr sz="1300" b="1">
                <a:solidFill>
                  <a:srgbClr val="FFFFFF"/>
                </a:solidFill>
                <a:latin typeface="Calibri"/>
              </a:rPr>
              <a:t>premium over Liquid Helium-3.</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143250" cy="179069"/>
          </a:xfrm>
          <a:prstGeom prst="rect">
            <a:avLst/>
          </a:prstGeom>
          <a:noFill/>
        </p:spPr>
        <p:txBody>
          <a:bodyPr wrap="none" lIns="0" rIns="0" tIns="0" bIns="0">
            <a:spAutoFit/>
          </a:bodyPr>
          <a:lstStyle/>
          <a:p>
            <a:r>
              <a:rPr sz="1050" b="0">
                <a:solidFill>
                  <a:srgbClr val="1F1F1F"/>
                </a:solidFill>
                <a:latin typeface="Calibri"/>
              </a:rPr>
              <a:t>Gaseous Helium-3 sits at the top of the 2026 price ladder</a:t>
            </a:r>
          </a:p>
        </p:txBody>
      </p:sp>
      <p:sp>
        <p:nvSpPr>
          <p:cNvPr id="41" name="TextBox 40"/>
          <p:cNvSpPr txBox="1"/>
          <p:nvPr/>
        </p:nvSpPr>
        <p:spPr>
          <a:xfrm>
            <a:off x="806576" y="5690996"/>
            <a:ext cx="815354" cy="179069"/>
          </a:xfrm>
          <a:prstGeom prst="rect">
            <a:avLst/>
          </a:prstGeom>
          <a:noFill/>
        </p:spPr>
        <p:txBody>
          <a:bodyPr wrap="none" lIns="0" rIns="0" tIns="0" bIns="0">
            <a:spAutoFit/>
          </a:bodyPr>
          <a:lstStyle/>
          <a:p>
            <a:r>
              <a:rPr sz="1050" b="0">
                <a:solidFill>
                  <a:srgbClr val="1F1F1F"/>
                </a:solidFill>
                <a:latin typeface="Calibri"/>
              </a:rPr>
              <a:t>at an index of</a:t>
            </a:r>
          </a:p>
        </p:txBody>
      </p:sp>
      <p:pic>
        <p:nvPicPr>
          <p:cNvPr id="42" name="Picture 41" descr="lock.png"/>
          <p:cNvPicPr>
            <a:picLocks noChangeAspect="1"/>
          </p:cNvPicPr>
          <p:nvPr/>
        </p:nvPicPr>
        <p:blipFill>
          <a:blip r:embed="rId6"/>
          <a:stretch>
            <a:fillRect/>
          </a:stretch>
        </p:blipFill>
        <p:spPr>
          <a:xfrm>
            <a:off x="1568881" y="5681662"/>
            <a:ext cx="122849" cy="178689"/>
          </a:xfrm>
          <a:prstGeom prst="rect">
            <a:avLst/>
          </a:prstGeom>
        </p:spPr>
      </p:pic>
      <p:sp>
        <p:nvSpPr>
          <p:cNvPr id="43" name="TextBox 42"/>
          <p:cNvSpPr txBox="1"/>
          <p:nvPr/>
        </p:nvSpPr>
        <p:spPr>
          <a:xfrm>
            <a:off x="1728763" y="5690996"/>
            <a:ext cx="1830065" cy="179069"/>
          </a:xfrm>
          <a:prstGeom prst="rect">
            <a:avLst/>
          </a:prstGeom>
          <a:noFill/>
        </p:spPr>
        <p:txBody>
          <a:bodyPr wrap="none" lIns="0" rIns="0" tIns="0" bIns="0">
            <a:spAutoFit/>
          </a:bodyPr>
          <a:lstStyle/>
          <a:p>
            <a:r>
              <a:rPr sz="1050" b="0">
                <a:solidFill>
                  <a:srgbClr val="1F1F1F"/>
                </a:solidFill>
                <a:latin typeface="Calibri"/>
              </a:rPr>
              <a:t>, while Liquid Helium-3 trades at</a:t>
            </a:r>
          </a:p>
        </p:txBody>
      </p:sp>
      <p:pic>
        <p:nvPicPr>
          <p:cNvPr id="44" name="Picture 43" descr="lock.png"/>
          <p:cNvPicPr>
            <a:picLocks noChangeAspect="1"/>
          </p:cNvPicPr>
          <p:nvPr/>
        </p:nvPicPr>
        <p:blipFill>
          <a:blip r:embed="rId6"/>
          <a:stretch>
            <a:fillRect/>
          </a:stretch>
        </p:blipFill>
        <p:spPr>
          <a:xfrm>
            <a:off x="3505777" y="5681662"/>
            <a:ext cx="122849" cy="178689"/>
          </a:xfrm>
          <a:prstGeom prst="rect">
            <a:avLst/>
          </a:prstGeom>
        </p:spPr>
      </p:pic>
      <p:sp>
        <p:nvSpPr>
          <p:cNvPr id="45" name="TextBox 44"/>
          <p:cNvSpPr txBox="1"/>
          <p:nvPr/>
        </p:nvSpPr>
        <p:spPr>
          <a:xfrm>
            <a:off x="3665660" y="5690996"/>
            <a:ext cx="109537" cy="179069"/>
          </a:xfrm>
          <a:prstGeom prst="rect">
            <a:avLst/>
          </a:prstGeom>
          <a:noFill/>
        </p:spPr>
        <p:txBody>
          <a:bodyPr wrap="none" lIns="0" rIns="0" tIns="0" bIns="0">
            <a:spAutoFit/>
          </a:bodyPr>
          <a:lstStyle/>
          <a:p>
            <a:r>
              <a:rPr sz="1050" b="0">
                <a:solidFill>
                  <a:srgbClr val="1F1F1F"/>
                </a:solidFill>
                <a:latin typeface="Calibri"/>
              </a:rPr>
              <a:t>,</a:t>
            </a:r>
          </a:p>
        </p:txBody>
      </p:sp>
      <p:sp>
        <p:nvSpPr>
          <p:cNvPr id="46" name="TextBox 45"/>
          <p:cNvSpPr txBox="1"/>
          <p:nvPr/>
        </p:nvSpPr>
        <p:spPr>
          <a:xfrm>
            <a:off x="806576" y="5851016"/>
            <a:ext cx="2682775" cy="179069"/>
          </a:xfrm>
          <a:prstGeom prst="rect">
            <a:avLst/>
          </a:prstGeom>
          <a:noFill/>
        </p:spPr>
        <p:txBody>
          <a:bodyPr wrap="none" lIns="0" rIns="0" tIns="0" bIns="0">
            <a:spAutoFit/>
          </a:bodyPr>
          <a:lstStyle/>
          <a:p>
            <a:r>
              <a:rPr sz="1050" b="0">
                <a:solidFill>
                  <a:srgbClr val="1F1F1F"/>
                </a:solidFill>
                <a:latin typeface="Calibri"/>
              </a:rPr>
              <a:t>which keeps the full product form spread within</a:t>
            </a:r>
          </a:p>
        </p:txBody>
      </p:sp>
      <p:pic>
        <p:nvPicPr>
          <p:cNvPr id="47" name="Picture 46" descr="lock.png"/>
          <p:cNvPicPr>
            <a:picLocks noChangeAspect="1"/>
          </p:cNvPicPr>
          <p:nvPr/>
        </p:nvPicPr>
        <p:blipFill>
          <a:blip r:embed="rId6"/>
          <a:stretch>
            <a:fillRect/>
          </a:stretch>
        </p:blipFill>
        <p:spPr>
          <a:xfrm>
            <a:off x="3436302" y="5841682"/>
            <a:ext cx="122849" cy="178689"/>
          </a:xfrm>
          <a:prstGeom prst="rect">
            <a:avLst/>
          </a:prstGeom>
        </p:spPr>
      </p:pic>
      <p:sp>
        <p:nvSpPr>
          <p:cNvPr id="48" name="TextBox 47"/>
          <p:cNvSpPr txBox="1"/>
          <p:nvPr/>
        </p:nvSpPr>
        <p:spPr>
          <a:xfrm>
            <a:off x="3596184" y="585101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49" name="TextBox 48"/>
          <p:cNvSpPr txBox="1"/>
          <p:nvPr/>
        </p:nvSpPr>
        <p:spPr>
          <a:xfrm>
            <a:off x="4732401" y="5530976"/>
            <a:ext cx="2940880" cy="179069"/>
          </a:xfrm>
          <a:prstGeom prst="rect">
            <a:avLst/>
          </a:prstGeom>
          <a:noFill/>
        </p:spPr>
        <p:txBody>
          <a:bodyPr wrap="none" lIns="0" rIns="0" tIns="0" bIns="0">
            <a:spAutoFit/>
          </a:bodyPr>
          <a:lstStyle/>
          <a:p>
            <a:r>
              <a:rPr sz="1050" b="0">
                <a:solidFill>
                  <a:srgbClr val="1F1F1F"/>
                </a:solidFill>
                <a:latin typeface="Calibri"/>
              </a:rPr>
              <a:t>Gaseous Helium-3 posts the fastest price growth at a</a:t>
            </a:r>
          </a:p>
        </p:txBody>
      </p:sp>
      <p:pic>
        <p:nvPicPr>
          <p:cNvPr id="50" name="Picture 49" descr="lock.png"/>
          <p:cNvPicPr>
            <a:picLocks noChangeAspect="1"/>
          </p:cNvPicPr>
          <p:nvPr/>
        </p:nvPicPr>
        <p:blipFill>
          <a:blip r:embed="rId6"/>
          <a:stretch>
            <a:fillRect/>
          </a:stretch>
        </p:blipFill>
        <p:spPr>
          <a:xfrm>
            <a:off x="7620231" y="5521642"/>
            <a:ext cx="122849" cy="178689"/>
          </a:xfrm>
          <a:prstGeom prst="rect">
            <a:avLst/>
          </a:prstGeom>
        </p:spPr>
      </p:pic>
      <p:sp>
        <p:nvSpPr>
          <p:cNvPr id="51" name="TextBox 50"/>
          <p:cNvSpPr txBox="1"/>
          <p:nvPr/>
        </p:nvSpPr>
        <p:spPr>
          <a:xfrm>
            <a:off x="4732401"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2" name="Picture 51" descr="lock.png"/>
          <p:cNvPicPr>
            <a:picLocks noChangeAspect="1"/>
          </p:cNvPicPr>
          <p:nvPr/>
        </p:nvPicPr>
        <p:blipFill>
          <a:blip r:embed="rId6"/>
          <a:stretch>
            <a:fillRect/>
          </a:stretch>
        </p:blipFill>
        <p:spPr>
          <a:xfrm>
            <a:off x="7291267" y="5681662"/>
            <a:ext cx="122849" cy="178689"/>
          </a:xfrm>
          <a:prstGeom prst="rect">
            <a:avLst/>
          </a:prstGeom>
        </p:spPr>
      </p:pic>
      <p:sp>
        <p:nvSpPr>
          <p:cNvPr id="53" name="TextBox 52"/>
          <p:cNvSpPr txBox="1"/>
          <p:nvPr/>
        </p:nvSpPr>
        <p:spPr>
          <a:xfrm>
            <a:off x="7451149"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4" name="TextBox 53"/>
          <p:cNvSpPr txBox="1"/>
          <p:nvPr/>
        </p:nvSpPr>
        <p:spPr>
          <a:xfrm>
            <a:off x="4732401" y="5851016"/>
            <a:ext cx="963810" cy="179069"/>
          </a:xfrm>
          <a:prstGeom prst="rect">
            <a:avLst/>
          </a:prstGeom>
          <a:noFill/>
        </p:spPr>
        <p:txBody>
          <a:bodyPr wrap="none" lIns="0" rIns="0" tIns="0" bIns="0">
            <a:spAutoFit/>
          </a:bodyPr>
          <a:lstStyle/>
          <a:p>
            <a:r>
              <a:rPr sz="1050" b="0">
                <a:solidFill>
                  <a:srgbClr val="1F1F1F"/>
                </a:solidFill>
                <a:latin typeface="Calibri"/>
              </a:rPr>
              <a:t>Liquid Helium-3.</a:t>
            </a:r>
          </a:p>
        </p:txBody>
      </p:sp>
      <p:sp>
        <p:nvSpPr>
          <p:cNvPr id="55" name="TextBox 54"/>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6" name="Picture 55" descr="lock.png"/>
          <p:cNvPicPr>
            <a:picLocks noChangeAspect="1"/>
          </p:cNvPicPr>
          <p:nvPr/>
        </p:nvPicPr>
        <p:blipFill>
          <a:blip r:embed="rId6"/>
          <a:stretch>
            <a:fillRect/>
          </a:stretch>
        </p:blipFill>
        <p:spPr>
          <a:xfrm>
            <a:off x="10841019" y="5521642"/>
            <a:ext cx="122849" cy="178689"/>
          </a:xfrm>
          <a:prstGeom prst="rect">
            <a:avLst/>
          </a:prstGeom>
        </p:spPr>
      </p:pic>
      <p:sp>
        <p:nvSpPr>
          <p:cNvPr id="57" name="TextBox 56"/>
          <p:cNvSpPr txBox="1"/>
          <p:nvPr/>
        </p:nvSpPr>
        <p:spPr>
          <a:xfrm>
            <a:off x="11000901" y="5530976"/>
            <a:ext cx="555426" cy="179069"/>
          </a:xfrm>
          <a:prstGeom prst="rect">
            <a:avLst/>
          </a:prstGeom>
          <a:noFill/>
        </p:spPr>
        <p:txBody>
          <a:bodyPr wrap="none" lIns="0" rIns="0" tIns="0" bIns="0">
            <a:spAutoFit/>
          </a:bodyPr>
          <a:lstStyle/>
          <a:p>
            <a:r>
              <a:rPr sz="1050" b="0">
                <a:solidFill>
                  <a:srgbClr val="1F1F1F"/>
                </a:solidFill>
                <a:latin typeface="Calibri"/>
              </a:rPr>
              <a:t>/Litres in</a:t>
            </a:r>
          </a:p>
        </p:txBody>
      </p:sp>
      <p:sp>
        <p:nvSpPr>
          <p:cNvPr id="58" name="TextBox 57"/>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59" name="Picture 58" descr="lock.png"/>
          <p:cNvPicPr>
            <a:picLocks noChangeAspect="1"/>
          </p:cNvPicPr>
          <p:nvPr/>
        </p:nvPicPr>
        <p:blipFill>
          <a:blip r:embed="rId6"/>
          <a:stretch>
            <a:fillRect/>
          </a:stretch>
        </p:blipFill>
        <p:spPr>
          <a:xfrm>
            <a:off x="9342394" y="5681662"/>
            <a:ext cx="122849" cy="178689"/>
          </a:xfrm>
          <a:prstGeom prst="rect">
            <a:avLst/>
          </a:prstGeom>
        </p:spPr>
      </p:pic>
      <p:sp>
        <p:nvSpPr>
          <p:cNvPr id="60" name="TextBox 59"/>
          <p:cNvSpPr txBox="1"/>
          <p:nvPr/>
        </p:nvSpPr>
        <p:spPr>
          <a:xfrm>
            <a:off x="9502276" y="5690996"/>
            <a:ext cx="2283507" cy="179069"/>
          </a:xfrm>
          <a:prstGeom prst="rect">
            <a:avLst/>
          </a:prstGeom>
          <a:noFill/>
        </p:spPr>
        <p:txBody>
          <a:bodyPr wrap="none" lIns="0" rIns="0" tIns="0" bIns="0">
            <a:spAutoFit/>
          </a:bodyPr>
          <a:lstStyle/>
          <a:p>
            <a:r>
              <a:rPr sz="1050" b="0">
                <a:solidFill>
                  <a:srgbClr val="1F1F1F"/>
                </a:solidFill>
                <a:latin typeface="Calibri"/>
              </a:rPr>
              <a:t>/Litres in 2036, and the gap between the</a:t>
            </a:r>
          </a:p>
        </p:txBody>
      </p:sp>
      <p:sp>
        <p:nvSpPr>
          <p:cNvPr id="61" name="TextBox 60"/>
          <p:cNvSpPr txBox="1"/>
          <p:nvPr/>
        </p:nvSpPr>
        <p:spPr>
          <a:xfrm>
            <a:off x="8658225" y="5851016"/>
            <a:ext cx="2900771" cy="179069"/>
          </a:xfrm>
          <a:prstGeom prst="rect">
            <a:avLst/>
          </a:prstGeom>
          <a:noFill/>
        </p:spPr>
        <p:txBody>
          <a:bodyPr wrap="none" lIns="0" rIns="0" tIns="0" bIns="0">
            <a:spAutoFit/>
          </a:bodyPr>
          <a:lstStyle/>
          <a:p>
            <a:r>
              <a:rPr sz="1050" b="0">
                <a:solidFill>
                  <a:srgbClr val="1F1F1F"/>
                </a:solidFill>
                <a:latin typeface="Calibri"/>
              </a:rPr>
              <a:t>highest and lowest priced product form moves from</a:t>
            </a:r>
          </a:p>
        </p:txBody>
      </p:sp>
      <p:pic>
        <p:nvPicPr>
          <p:cNvPr id="62" name="Picture 61" descr="lock.png"/>
          <p:cNvPicPr>
            <a:picLocks noChangeAspect="1"/>
          </p:cNvPicPr>
          <p:nvPr/>
        </p:nvPicPr>
        <p:blipFill>
          <a:blip r:embed="rId6"/>
          <a:stretch>
            <a:fillRect/>
          </a:stretch>
        </p:blipFill>
        <p:spPr>
          <a:xfrm>
            <a:off x="11505946" y="5841682"/>
            <a:ext cx="122849" cy="178689"/>
          </a:xfrm>
          <a:prstGeom prst="rect">
            <a:avLst/>
          </a:prstGeom>
        </p:spPr>
      </p:pic>
      <p:sp>
        <p:nvSpPr>
          <p:cNvPr id="63" name="TextBox 62"/>
          <p:cNvSpPr txBox="1"/>
          <p:nvPr/>
        </p:nvSpPr>
        <p:spPr>
          <a:xfrm>
            <a:off x="8658225"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4" name="Picture 63" descr="lock.png"/>
          <p:cNvPicPr>
            <a:picLocks noChangeAspect="1"/>
          </p:cNvPicPr>
          <p:nvPr/>
        </p:nvPicPr>
        <p:blipFill>
          <a:blip r:embed="rId6"/>
          <a:stretch>
            <a:fillRect/>
          </a:stretch>
        </p:blipFill>
        <p:spPr>
          <a:xfrm>
            <a:off x="9228578" y="6001702"/>
            <a:ext cx="122849" cy="178689"/>
          </a:xfrm>
          <a:prstGeom prst="rect">
            <a:avLst/>
          </a:prstGeom>
        </p:spPr>
      </p:pic>
      <p:sp>
        <p:nvSpPr>
          <p:cNvPr id="65" name="TextBox 64"/>
          <p:cNvSpPr txBox="1"/>
          <p:nvPr/>
        </p:nvSpPr>
        <p:spPr>
          <a:xfrm>
            <a:off x="9388460"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6" name="Picture 65" descr="lock.png"/>
          <p:cNvPicPr>
            <a:picLocks noChangeAspect="1"/>
          </p:cNvPicPr>
          <p:nvPr/>
        </p:nvPicPr>
        <p:blipFill>
          <a:blip r:embed="rId6"/>
          <a:stretch>
            <a:fillRect/>
          </a:stretch>
        </p:blipFill>
        <p:spPr>
          <a:xfrm>
            <a:off x="3418190" y="3048804"/>
            <a:ext cx="454926" cy="661711"/>
          </a:xfrm>
          <a:prstGeom prst="rect">
            <a:avLst/>
          </a:prstGeom>
        </p:spPr>
      </p:pic>
      <p:pic>
        <p:nvPicPr>
          <p:cNvPr id="67" name="Picture 66" descr="lock.png"/>
          <p:cNvPicPr>
            <a:picLocks noChangeAspect="1"/>
          </p:cNvPicPr>
          <p:nvPr/>
        </p:nvPicPr>
        <p:blipFill>
          <a:blip r:embed="rId6"/>
          <a:stretch>
            <a:fillRect/>
          </a:stretch>
        </p:blipFill>
        <p:spPr>
          <a:xfrm>
            <a:off x="9403270" y="2219134"/>
            <a:ext cx="256698" cy="373379"/>
          </a:xfrm>
          <a:prstGeom prst="rect">
            <a:avLst/>
          </a:prstGeom>
        </p:spPr>
      </p:pic>
      <p:sp>
        <p:nvSpPr>
          <p:cNvPr id="68" name="lockshield_11"/>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15"/>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Pricing Assessment: Region Benchmarking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 average price and price range across product forms, 2026 (US$/Litres)</a:t>
            </a:r>
          </a:p>
        </p:txBody>
      </p:sp>
      <p:sp>
        <p:nvSpPr>
          <p:cNvPr id="8" name="Rectangle 7"/>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9" name="Rectangle 8"/>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0" name="TextBox 9"/>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Forms by Region (US$/Litres), Ranked by Average</a:t>
            </a:r>
          </a:p>
        </p:txBody>
      </p:sp>
      <p:graphicFrame>
        <p:nvGraphicFramePr>
          <p:cNvPr id="11"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2" name="TextBox 11"/>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3" name="Rectangle 12"/>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4" name="TextBox 13"/>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5" name="Table 14"/>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form price in each region; ranked by average price. Other geographies grouped as 'Other' are excluded from the ranking.</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224483" cy="217169"/>
          </a:xfrm>
          <a:prstGeom prst="rect">
            <a:avLst/>
          </a:prstGeom>
          <a:noFill/>
        </p:spPr>
        <p:txBody>
          <a:bodyPr wrap="none" lIns="0" rIns="0" tIns="0" bIns="0">
            <a:spAutoFit/>
          </a:bodyPr>
          <a:lstStyle/>
          <a:p>
            <a:r>
              <a:rPr sz="1300" b="1">
                <a:solidFill>
                  <a:srgbClr val="FFFFFF"/>
                </a:solidFill>
                <a:latin typeface="Calibri"/>
              </a:rPr>
              <a:t>/Litres in 2026, +</a:t>
            </a:r>
          </a:p>
        </p:txBody>
      </p:sp>
      <p:pic>
        <p:nvPicPr>
          <p:cNvPr id="34" name="Picture 33" descr="lock.png"/>
          <p:cNvPicPr>
            <a:picLocks noChangeAspect="1"/>
          </p:cNvPicPr>
          <p:nvPr/>
        </p:nvPicPr>
        <p:blipFill>
          <a:blip r:embed="rId5"/>
          <a:stretch>
            <a:fillRect/>
          </a:stretch>
        </p:blipFill>
        <p:spPr>
          <a:xfrm>
            <a:off x="5724228" y="1099058"/>
            <a:ext cx="152098" cy="221234"/>
          </a:xfrm>
          <a:prstGeom prst="rect">
            <a:avLst/>
          </a:prstGeom>
        </p:spPr>
      </p:pic>
      <p:sp>
        <p:nvSpPr>
          <p:cNvPr id="35" name="TextBox 34"/>
          <p:cNvSpPr txBox="1"/>
          <p:nvPr/>
        </p:nvSpPr>
        <p:spPr>
          <a:xfrm>
            <a:off x="5922178"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93406" cy="148589"/>
          </a:xfrm>
          <a:prstGeom prst="rect">
            <a:avLst/>
          </a:prstGeom>
          <a:noFill/>
        </p:spPr>
        <p:txBody>
          <a:bodyPr wrap="none" lIns="0" rIns="0" tIns="0" bIns="0">
            <a:spAutoFit/>
          </a:bodyPr>
          <a:lstStyle/>
          <a:p>
            <a:r>
              <a:rPr sz="850" b="0">
                <a:solidFill>
                  <a:srgbClr val="59636E"/>
                </a:solidFill>
                <a:latin typeface="Calibri"/>
              </a:rPr>
              <a:t>Bar spans the lowest to highest product form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47426" y="1823910"/>
            <a:ext cx="99449" cy="144653"/>
          </a:xfrm>
          <a:prstGeom prst="rect">
            <a:avLst/>
          </a:prstGeom>
        </p:spPr>
      </p:pic>
      <p:sp>
        <p:nvSpPr>
          <p:cNvPr id="38" name="TextBox 37"/>
          <p:cNvSpPr txBox="1"/>
          <p:nvPr/>
        </p:nvSpPr>
        <p:spPr>
          <a:xfrm>
            <a:off x="5476855"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2045456" cy="179069"/>
          </a:xfrm>
          <a:prstGeom prst="rect">
            <a:avLst/>
          </a:prstGeom>
          <a:noFill/>
        </p:spPr>
        <p:txBody>
          <a:bodyPr wrap="none" lIns="0" rIns="0" tIns="0" bIns="0">
            <a:spAutoFit/>
          </a:bodyPr>
          <a:lstStyle/>
          <a:p>
            <a:r>
              <a:rPr sz="1050" b="0">
                <a:solidFill>
                  <a:srgbClr val="1F1F1F"/>
                </a:solidFill>
                <a:latin typeface="Calibri"/>
              </a:rPr>
              <a:t>/Litres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415169" cy="179069"/>
          </a:xfrm>
          <a:prstGeom prst="rect">
            <a:avLst/>
          </a:prstGeom>
          <a:noFill/>
        </p:spPr>
        <p:txBody>
          <a:bodyPr wrap="none" lIns="0" rIns="0" tIns="0" bIns="0">
            <a:spAutoFit/>
          </a:bodyPr>
          <a:lstStyle/>
          <a:p>
            <a:r>
              <a:rPr sz="1050" b="0">
                <a:solidFill>
                  <a:srgbClr val="1F1F1F"/>
                </a:solidFill>
                <a:latin typeface="Calibri"/>
              </a:rPr>
              <a:t>/Litres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3011462" cy="179069"/>
          </a:xfrm>
          <a:prstGeom prst="rect">
            <a:avLst/>
          </a:prstGeom>
          <a:noFill/>
        </p:spPr>
        <p:txBody>
          <a:bodyPr wrap="none" lIns="0" rIns="0" tIns="0" bIns="0">
            <a:spAutoFit/>
          </a:bodyPr>
          <a:lstStyle/>
          <a:p>
            <a:r>
              <a:rPr sz="1050" b="0">
                <a:solidFill>
                  <a:srgbClr val="1F1F1F"/>
                </a:solidFill>
                <a:latin typeface="Calibri"/>
              </a:rPr>
              <a:t>South Asia &amp; Pacific shows the widest gap between its</a:t>
            </a:r>
          </a:p>
        </p:txBody>
      </p:sp>
      <p:sp>
        <p:nvSpPr>
          <p:cNvPr id="55" name="TextBox 54"/>
          <p:cNvSpPr txBox="1"/>
          <p:nvPr/>
        </p:nvSpPr>
        <p:spPr>
          <a:xfrm>
            <a:off x="8658225" y="5690996"/>
            <a:ext cx="2566615" cy="179069"/>
          </a:xfrm>
          <a:prstGeom prst="rect">
            <a:avLst/>
          </a:prstGeom>
          <a:noFill/>
        </p:spPr>
        <p:txBody>
          <a:bodyPr wrap="none" lIns="0" rIns="0" tIns="0" bIns="0">
            <a:spAutoFit/>
          </a:bodyPr>
          <a:lstStyle/>
          <a:p>
            <a:r>
              <a:rPr sz="1050" b="0">
                <a:solidFill>
                  <a:srgbClr val="1F1F1F"/>
                </a:solidFill>
                <a:latin typeface="Calibri"/>
              </a:rPr>
              <a:t>cheapest and most expensive product form at</a:t>
            </a:r>
          </a:p>
        </p:txBody>
      </p:sp>
      <p:pic>
        <p:nvPicPr>
          <p:cNvPr id="56" name="Picture 55" descr="lock.png"/>
          <p:cNvPicPr>
            <a:picLocks noChangeAspect="1"/>
          </p:cNvPicPr>
          <p:nvPr/>
        </p:nvPicPr>
        <p:blipFill>
          <a:blip r:embed="rId5"/>
          <a:stretch>
            <a:fillRect/>
          </a:stretch>
        </p:blipFill>
        <p:spPr>
          <a:xfrm>
            <a:off x="11171789" y="5681662"/>
            <a:ext cx="122849" cy="178689"/>
          </a:xfrm>
          <a:prstGeom prst="rect">
            <a:avLst/>
          </a:prstGeom>
        </p:spPr>
      </p:pic>
      <p:sp>
        <p:nvSpPr>
          <p:cNvPr id="57" name="TextBox 56"/>
          <p:cNvSpPr txBox="1"/>
          <p:nvPr/>
        </p:nvSpPr>
        <p:spPr>
          <a:xfrm>
            <a:off x="11331672" y="5690996"/>
            <a:ext cx="262160" cy="179069"/>
          </a:xfrm>
          <a:prstGeom prst="rect">
            <a:avLst/>
          </a:prstGeom>
          <a:noFill/>
        </p:spPr>
        <p:txBody>
          <a:bodyPr wrap="none" lIns="0" rIns="0" tIns="0" bIns="0">
            <a:spAutoFit/>
          </a:bodyPr>
          <a:lstStyle/>
          <a:p>
            <a:r>
              <a:rPr sz="1050" b="0">
                <a:solidFill>
                  <a:srgbClr val="1F1F1F"/>
                </a:solidFill>
                <a:latin typeface="Calibri"/>
              </a:rPr>
              <a:t>, so</a:t>
            </a:r>
          </a:p>
        </p:txBody>
      </p:sp>
      <p:sp>
        <p:nvSpPr>
          <p:cNvPr id="58" name="TextBox 57"/>
          <p:cNvSpPr txBox="1"/>
          <p:nvPr/>
        </p:nvSpPr>
        <p:spPr>
          <a:xfrm>
            <a:off x="8658225" y="5851016"/>
            <a:ext cx="2851807" cy="179069"/>
          </a:xfrm>
          <a:prstGeom prst="rect">
            <a:avLst/>
          </a:prstGeom>
          <a:noFill/>
        </p:spPr>
        <p:txBody>
          <a:bodyPr wrap="none" lIns="0" rIns="0" tIns="0" bIns="0">
            <a:spAutoFit/>
          </a:bodyPr>
          <a:lstStyle/>
          <a:p>
            <a:r>
              <a:rPr sz="1050" b="0">
                <a:solidFill>
                  <a:srgbClr val="1F1F1F"/>
                </a:solidFill>
                <a:latin typeface="Calibri"/>
              </a:rPr>
              <a:t>product mix shifts move its average price the 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1"/>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Price Positioning &amp; Key Findings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positioning of each region on a common axis with FMI's key findings on where premiums and discounts sit</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Average selling price and price range by region on a shared price scale (US$/Litres).</a:t>
            </a:r>
          </a:p>
        </p:txBody>
      </p:sp>
      <p:sp>
        <p:nvSpPr>
          <p:cNvPr id="9" name="Rectangle 8"/>
          <p:cNvSpPr/>
          <p:nvPr/>
        </p:nvSpPr>
        <p:spPr>
          <a:xfrm>
            <a:off x="142875" y="1317574"/>
            <a:ext cx="769620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&amp; Range by Region</a:t>
            </a:r>
          </a:p>
        </p:txBody>
      </p:sp>
      <p:cxnSp>
        <p:nvCxnSpPr>
          <p:cNvPr id="11" name="Connector 10"/>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2,096</a:t>
            </a:r>
          </a:p>
        </p:txBody>
      </p:sp>
      <p:cxnSp>
        <p:nvCxnSpPr>
          <p:cNvPr id="13" name="Connector 12"/>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2,958</a:t>
            </a:r>
          </a:p>
        </p:txBody>
      </p:sp>
      <p:cxnSp>
        <p:nvCxnSpPr>
          <p:cNvPr id="15" name="Connector 14"/>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3,819</a:t>
            </a:r>
          </a:p>
        </p:txBody>
      </p:sp>
      <p:cxnSp>
        <p:nvCxnSpPr>
          <p:cNvPr id="17" name="Connector 16"/>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4,680</a:t>
            </a:r>
          </a:p>
        </p:txBody>
      </p:sp>
      <p:cxnSp>
        <p:nvCxnSpPr>
          <p:cNvPr id="19" name="Connector 18"/>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5,541</a:t>
            </a:r>
          </a:p>
        </p:txBody>
      </p:sp>
      <p:cxnSp>
        <p:nvCxnSpPr>
          <p:cNvPr id="21" name="Connector 20"/>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05E5C"/>
                </a:solidFill>
                <a:latin typeface="Segoe UI"/>
              </a:rPr>
              <a:t>6,403</a:t>
            </a:r>
          </a:p>
        </p:txBody>
      </p:sp>
      <p:sp>
        <p:nvSpPr>
          <p:cNvPr id="23" name="TextBox 22"/>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North America</a:t>
            </a:r>
          </a:p>
        </p:txBody>
      </p:sp>
      <p:sp>
        <p:nvSpPr>
          <p:cNvPr id="24" name="Rectangle 23"/>
          <p:cNvSpPr/>
          <p:nvPr/>
        </p:nvSpPr>
        <p:spPr>
          <a:xfrm>
            <a:off x="6332020" y="2076093"/>
            <a:ext cx="59503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67626"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Latin America</a:t>
            </a:r>
          </a:p>
        </p:txBody>
      </p:sp>
      <p:sp>
        <p:nvSpPr>
          <p:cNvPr id="27" name="Rectangle 26"/>
          <p:cNvSpPr/>
          <p:nvPr/>
        </p:nvSpPr>
        <p:spPr>
          <a:xfrm>
            <a:off x="4079383" y="2696587"/>
            <a:ext cx="418273"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26608"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East Asia</a:t>
            </a:r>
          </a:p>
        </p:txBody>
      </p:sp>
      <p:sp>
        <p:nvSpPr>
          <p:cNvPr id="30" name="Rectangle 29"/>
          <p:cNvSpPr/>
          <p:nvPr/>
        </p:nvSpPr>
        <p:spPr>
          <a:xfrm>
            <a:off x="2486586" y="3317082"/>
            <a:ext cx="29811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573729"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South Asia &amp; Pacific</a:t>
            </a:r>
          </a:p>
        </p:txBody>
      </p:sp>
      <p:sp>
        <p:nvSpPr>
          <p:cNvPr id="33" name="Rectangle 32"/>
          <p:cNvSpPr/>
          <p:nvPr/>
        </p:nvSpPr>
        <p:spPr>
          <a:xfrm>
            <a:off x="2045494" y="3937576"/>
            <a:ext cx="28867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127918"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Western Europe</a:t>
            </a:r>
          </a:p>
        </p:txBody>
      </p:sp>
      <p:sp>
        <p:nvSpPr>
          <p:cNvPr id="36" name="Rectangle 35"/>
          <p:cNvSpPr/>
          <p:nvPr/>
        </p:nvSpPr>
        <p:spPr>
          <a:xfrm>
            <a:off x="5792385" y="4558070"/>
            <a:ext cx="55773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009338"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Eastern Europe</a:t>
            </a:r>
          </a:p>
        </p:txBody>
      </p:sp>
      <p:sp>
        <p:nvSpPr>
          <p:cNvPr id="39" name="Rectangle 38"/>
          <p:cNvSpPr/>
          <p:nvPr/>
        </p:nvSpPr>
        <p:spPr>
          <a:xfrm>
            <a:off x="4498660" y="5178565"/>
            <a:ext cx="472079"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72787"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07BA5"/>
                </a:solidFill>
                <a:latin typeface="Segoe UI"/>
              </a:rPr>
              <a:t>Middle East &amp; Africa</a:t>
            </a:r>
          </a:p>
        </p:txBody>
      </p:sp>
      <p:sp>
        <p:nvSpPr>
          <p:cNvPr id="42" name="Rectangle 41"/>
          <p:cNvSpPr/>
          <p:nvPr/>
        </p:nvSpPr>
        <p:spPr>
          <a:xfrm>
            <a:off x="3764041" y="5799059"/>
            <a:ext cx="40375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904006"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52423"/>
                </a:solidFill>
                <a:latin typeface="Segoe UI"/>
              </a:rPr>
              <a:t>Average Price</a:t>
            </a:r>
          </a:p>
        </p:txBody>
      </p:sp>
      <p:sp>
        <p:nvSpPr>
          <p:cNvPr id="46" name="Rectangle 45"/>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52423"/>
                </a:solidFill>
                <a:latin typeface="Segoe UI"/>
              </a:rPr>
              <a:t>Price Range</a:t>
            </a:r>
          </a:p>
        </p:txBody>
      </p:sp>
      <p:sp>
        <p:nvSpPr>
          <p:cNvPr id="48" name="Rectangle 47"/>
          <p:cNvSpPr/>
          <p:nvPr/>
        </p:nvSpPr>
        <p:spPr>
          <a:xfrm>
            <a:off x="7915275" y="1317574"/>
            <a:ext cx="4133850" cy="39245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Key Findings</a:t>
            </a:r>
          </a:p>
        </p:txBody>
      </p:sp>
      <p:sp>
        <p:nvSpPr>
          <p:cNvPr id="50" name="Rectangle 49"/>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52" name="Rectangle 51"/>
          <p:cNvSpPr/>
          <p:nvPr/>
        </p:nvSpPr>
        <p:spPr>
          <a:xfrm>
            <a:off x="7915275" y="5351641"/>
            <a:ext cx="4133850" cy="120474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Note: the above information is indicative in nature and does not constitute any form of analysis.</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4" name="TextBox 53"/>
          <p:cNvSpPr txBox="1"/>
          <p:nvPr/>
        </p:nvSpPr>
        <p:spPr>
          <a:xfrm>
            <a:off x="8048625" y="1736673"/>
            <a:ext cx="3729696" cy="194310"/>
          </a:xfrm>
          <a:prstGeom prst="rect">
            <a:avLst/>
          </a:prstGeom>
          <a:noFill/>
        </p:spPr>
        <p:txBody>
          <a:bodyPr wrap="none" lIns="0" rIns="0" tIns="0" bIns="0">
            <a:spAutoFit/>
          </a:bodyPr>
          <a:lstStyle/>
          <a:p>
            <a:r>
              <a:rPr sz="1150" b="0">
                <a:solidFill>
                  <a:srgbClr val="252423"/>
                </a:solidFill>
                <a:latin typeface="Segoe UI"/>
              </a:rPr>
              <a:t>Gaseous Helium-3 segment is expected to command the</a:t>
            </a:r>
          </a:p>
        </p:txBody>
      </p:sp>
      <p:sp>
        <p:nvSpPr>
          <p:cNvPr id="55" name="TextBox 54"/>
          <p:cNvSpPr txBox="1"/>
          <p:nvPr/>
        </p:nvSpPr>
        <p:spPr>
          <a:xfrm>
            <a:off x="8048625" y="1911934"/>
            <a:ext cx="1923450" cy="194310"/>
          </a:xfrm>
          <a:prstGeom prst="rect">
            <a:avLst/>
          </a:prstGeom>
          <a:noFill/>
        </p:spPr>
        <p:txBody>
          <a:bodyPr wrap="none" lIns="0" rIns="0" tIns="0" bIns="0">
            <a:spAutoFit/>
          </a:bodyPr>
          <a:lstStyle/>
          <a:p>
            <a:r>
              <a:rPr sz="1150" b="0">
                <a:solidFill>
                  <a:srgbClr val="252423"/>
                </a:solidFill>
                <a:latin typeface="Segoe UI"/>
              </a:rPr>
              <a:t>highest average price of US$</a:t>
            </a:r>
          </a:p>
        </p:txBody>
      </p:sp>
      <p:pic>
        <p:nvPicPr>
          <p:cNvPr id="56" name="Picture 55" descr="lock.png"/>
          <p:cNvPicPr>
            <a:picLocks noChangeAspect="1"/>
          </p:cNvPicPr>
          <p:nvPr/>
        </p:nvPicPr>
        <p:blipFill>
          <a:blip r:embed="rId4"/>
          <a:stretch>
            <a:fillRect/>
          </a:stretch>
        </p:blipFill>
        <p:spPr>
          <a:xfrm>
            <a:off x="9921229" y="1901710"/>
            <a:ext cx="134549" cy="195707"/>
          </a:xfrm>
          <a:prstGeom prst="rect">
            <a:avLst/>
          </a:prstGeom>
        </p:spPr>
      </p:pic>
      <p:sp>
        <p:nvSpPr>
          <p:cNvPr id="57" name="TextBox 56"/>
          <p:cNvSpPr txBox="1"/>
          <p:nvPr/>
        </p:nvSpPr>
        <p:spPr>
          <a:xfrm>
            <a:off x="10096339" y="1911934"/>
            <a:ext cx="1722877" cy="194310"/>
          </a:xfrm>
          <a:prstGeom prst="rect">
            <a:avLst/>
          </a:prstGeom>
          <a:noFill/>
        </p:spPr>
        <p:txBody>
          <a:bodyPr wrap="none" lIns="0" rIns="0" tIns="0" bIns="0">
            <a:spAutoFit/>
          </a:bodyPr>
          <a:lstStyle/>
          <a:p>
            <a:r>
              <a:rPr sz="1150" b="0">
                <a:solidFill>
                  <a:srgbClr val="252423"/>
                </a:solidFill>
                <a:latin typeface="Segoe UI"/>
              </a:rPr>
              <a:t>per Litre in 2036. Average</a:t>
            </a:r>
          </a:p>
        </p:txBody>
      </p:sp>
      <p:sp>
        <p:nvSpPr>
          <p:cNvPr id="58" name="TextBox 57"/>
          <p:cNvSpPr txBox="1"/>
          <p:nvPr/>
        </p:nvSpPr>
        <p:spPr>
          <a:xfrm>
            <a:off x="8048625" y="2087194"/>
            <a:ext cx="2926969" cy="194310"/>
          </a:xfrm>
          <a:prstGeom prst="rect">
            <a:avLst/>
          </a:prstGeom>
          <a:noFill/>
        </p:spPr>
        <p:txBody>
          <a:bodyPr wrap="none" lIns="0" rIns="0" tIns="0" bIns="0">
            <a:spAutoFit/>
          </a:bodyPr>
          <a:lstStyle/>
          <a:p>
            <a:r>
              <a:rPr sz="1150" b="0">
                <a:solidFill>
                  <a:srgbClr val="252423"/>
                </a:solidFill>
                <a:latin typeface="Segoe UI"/>
              </a:rPr>
              <a:t>selling price of Helium-3 is estimated at US$</a:t>
            </a:r>
          </a:p>
        </p:txBody>
      </p:sp>
      <p:pic>
        <p:nvPicPr>
          <p:cNvPr id="59" name="Picture 58" descr="lock.png"/>
          <p:cNvPicPr>
            <a:picLocks noChangeAspect="1"/>
          </p:cNvPicPr>
          <p:nvPr/>
        </p:nvPicPr>
        <p:blipFill>
          <a:blip r:embed="rId4"/>
          <a:stretch>
            <a:fillRect/>
          </a:stretch>
        </p:blipFill>
        <p:spPr>
          <a:xfrm>
            <a:off x="10924748" y="2076970"/>
            <a:ext cx="134549" cy="195707"/>
          </a:xfrm>
          <a:prstGeom prst="rect">
            <a:avLst/>
          </a:prstGeom>
        </p:spPr>
      </p:pic>
      <p:sp>
        <p:nvSpPr>
          <p:cNvPr id="60" name="TextBox 59"/>
          <p:cNvSpPr txBox="1"/>
          <p:nvPr/>
        </p:nvSpPr>
        <p:spPr>
          <a:xfrm>
            <a:off x="11099857" y="2087194"/>
            <a:ext cx="610164" cy="194310"/>
          </a:xfrm>
          <a:prstGeom prst="rect">
            <a:avLst/>
          </a:prstGeom>
          <a:noFill/>
        </p:spPr>
        <p:txBody>
          <a:bodyPr wrap="none" lIns="0" rIns="0" tIns="0" bIns="0">
            <a:spAutoFit/>
          </a:bodyPr>
          <a:lstStyle/>
          <a:p>
            <a:r>
              <a:rPr sz="1150" b="0">
                <a:solidFill>
                  <a:srgbClr val="252423"/>
                </a:solidFill>
                <a:latin typeface="Segoe UI"/>
              </a:rPr>
              <a:t>per Litre</a:t>
            </a:r>
          </a:p>
        </p:txBody>
      </p:sp>
      <p:sp>
        <p:nvSpPr>
          <p:cNvPr id="61" name="TextBox 60"/>
          <p:cNvSpPr txBox="1"/>
          <p:nvPr/>
        </p:nvSpPr>
        <p:spPr>
          <a:xfrm>
            <a:off x="8048625" y="2262454"/>
            <a:ext cx="3697052" cy="194310"/>
          </a:xfrm>
          <a:prstGeom prst="rect">
            <a:avLst/>
          </a:prstGeom>
          <a:noFill/>
        </p:spPr>
        <p:txBody>
          <a:bodyPr wrap="none" lIns="0" rIns="0" tIns="0" bIns="0">
            <a:spAutoFit/>
          </a:bodyPr>
          <a:lstStyle/>
          <a:p>
            <a:r>
              <a:rPr sz="1150" b="0">
                <a:solidFill>
                  <a:srgbClr val="252423"/>
                </a:solidFill>
                <a:latin typeface="Segoe UI"/>
              </a:rPr>
              <a:t>in 2025 and is projected to remain broadly stable at US$</a:t>
            </a:r>
          </a:p>
        </p:txBody>
      </p:sp>
      <p:pic>
        <p:nvPicPr>
          <p:cNvPr id="62" name="Picture 61" descr="lock.png"/>
          <p:cNvPicPr>
            <a:picLocks noChangeAspect="1"/>
          </p:cNvPicPr>
          <p:nvPr/>
        </p:nvPicPr>
        <p:blipFill>
          <a:blip r:embed="rId4"/>
          <a:stretch>
            <a:fillRect/>
          </a:stretch>
        </p:blipFill>
        <p:spPr>
          <a:xfrm>
            <a:off x="8034545" y="2427490"/>
            <a:ext cx="134549" cy="195707"/>
          </a:xfrm>
          <a:prstGeom prst="rect">
            <a:avLst/>
          </a:prstGeom>
        </p:spPr>
      </p:pic>
      <p:sp>
        <p:nvSpPr>
          <p:cNvPr id="63" name="TextBox 62"/>
          <p:cNvSpPr txBox="1"/>
          <p:nvPr/>
        </p:nvSpPr>
        <p:spPr>
          <a:xfrm>
            <a:off x="8209654" y="2437714"/>
            <a:ext cx="1193223" cy="194310"/>
          </a:xfrm>
          <a:prstGeom prst="rect">
            <a:avLst/>
          </a:prstGeom>
          <a:noFill/>
        </p:spPr>
        <p:txBody>
          <a:bodyPr wrap="none" lIns="0" rIns="0" tIns="0" bIns="0">
            <a:spAutoFit/>
          </a:bodyPr>
          <a:lstStyle/>
          <a:p>
            <a:r>
              <a:rPr sz="1150" b="0">
                <a:solidFill>
                  <a:srgbClr val="252423"/>
                </a:solidFill>
                <a:latin typeface="Segoe UI"/>
              </a:rPr>
              <a:t>per Litre by 2036.</a:t>
            </a:r>
          </a:p>
        </p:txBody>
      </p:sp>
      <p:sp>
        <p:nvSpPr>
          <p:cNvPr id="64" name="TextBox 63"/>
          <p:cNvSpPr txBox="1"/>
          <p:nvPr/>
        </p:nvSpPr>
        <p:spPr>
          <a:xfrm>
            <a:off x="8048625" y="2665551"/>
            <a:ext cx="3662322" cy="194310"/>
          </a:xfrm>
          <a:prstGeom prst="rect">
            <a:avLst/>
          </a:prstGeom>
          <a:noFill/>
        </p:spPr>
        <p:txBody>
          <a:bodyPr wrap="none" lIns="0" rIns="0" tIns="0" bIns="0">
            <a:spAutoFit/>
          </a:bodyPr>
          <a:lstStyle/>
          <a:p>
            <a:r>
              <a:rPr sz="1150" b="0">
                <a:solidFill>
                  <a:srgbClr val="252423"/>
                </a:solidFill>
                <a:latin typeface="Segoe UI"/>
              </a:rPr>
              <a:t>North America is the highest-priced region, while South</a:t>
            </a:r>
          </a:p>
        </p:txBody>
      </p:sp>
      <p:sp>
        <p:nvSpPr>
          <p:cNvPr id="65" name="TextBox 64"/>
          <p:cNvSpPr txBox="1"/>
          <p:nvPr/>
        </p:nvSpPr>
        <p:spPr>
          <a:xfrm>
            <a:off x="8048625" y="2840811"/>
            <a:ext cx="3664564" cy="194310"/>
          </a:xfrm>
          <a:prstGeom prst="rect">
            <a:avLst/>
          </a:prstGeom>
          <a:noFill/>
        </p:spPr>
        <p:txBody>
          <a:bodyPr wrap="none" lIns="0" rIns="0" tIns="0" bIns="0">
            <a:spAutoFit/>
          </a:bodyPr>
          <a:lstStyle/>
          <a:p>
            <a:r>
              <a:rPr sz="1150" b="0">
                <a:solidFill>
                  <a:srgbClr val="252423"/>
                </a:solidFill>
                <a:latin typeface="Segoe UI"/>
              </a:rPr>
              <a:t>Asia &amp; Pacific is the most price-competitive market. The</a:t>
            </a:r>
          </a:p>
        </p:txBody>
      </p:sp>
      <p:sp>
        <p:nvSpPr>
          <p:cNvPr id="66" name="TextBox 65"/>
          <p:cNvSpPr txBox="1"/>
          <p:nvPr/>
        </p:nvSpPr>
        <p:spPr>
          <a:xfrm>
            <a:off x="8048625" y="3016071"/>
            <a:ext cx="3782842" cy="194310"/>
          </a:xfrm>
          <a:prstGeom prst="rect">
            <a:avLst/>
          </a:prstGeom>
          <a:noFill/>
        </p:spPr>
        <p:txBody>
          <a:bodyPr wrap="none" lIns="0" rIns="0" tIns="0" bIns="0">
            <a:spAutoFit/>
          </a:bodyPr>
          <a:lstStyle/>
          <a:p>
            <a:r>
              <a:rPr sz="1150" b="0">
                <a:solidFill>
                  <a:srgbClr val="252423"/>
                </a:solidFill>
                <a:latin typeface="Segoe UI"/>
              </a:rPr>
              <a:t>orange dot is each region's average selling price; the blue</a:t>
            </a:r>
          </a:p>
        </p:txBody>
      </p:sp>
      <p:sp>
        <p:nvSpPr>
          <p:cNvPr id="67" name="TextBox 66"/>
          <p:cNvSpPr txBox="1"/>
          <p:nvPr/>
        </p:nvSpPr>
        <p:spPr>
          <a:xfrm>
            <a:off x="8048625" y="3191331"/>
            <a:ext cx="3848100" cy="194310"/>
          </a:xfrm>
          <a:prstGeom prst="rect">
            <a:avLst/>
          </a:prstGeom>
          <a:noFill/>
        </p:spPr>
        <p:txBody>
          <a:bodyPr wrap="none" lIns="0" rIns="0" tIns="0" bIns="0">
            <a:spAutoFit/>
          </a:bodyPr>
          <a:lstStyle/>
          <a:p>
            <a:r>
              <a:rPr sz="1150" b="0">
                <a:solidFill>
                  <a:srgbClr val="252423"/>
                </a:solidFill>
                <a:latin typeface="Segoe UI"/>
              </a:rPr>
              <a:t>band is its full low-to-high price range, all derived as Value</a:t>
            </a:r>
          </a:p>
        </p:txBody>
      </p:sp>
      <p:sp>
        <p:nvSpPr>
          <p:cNvPr id="68" name="TextBox 67"/>
          <p:cNvSpPr txBox="1"/>
          <p:nvPr/>
        </p:nvSpPr>
        <p:spPr>
          <a:xfrm>
            <a:off x="8048625" y="3366591"/>
            <a:ext cx="744122" cy="194310"/>
          </a:xfrm>
          <a:prstGeom prst="rect">
            <a:avLst/>
          </a:prstGeom>
          <a:noFill/>
        </p:spPr>
        <p:txBody>
          <a:bodyPr wrap="none" lIns="0" rIns="0" tIns="0" bIns="0">
            <a:spAutoFit/>
          </a:bodyPr>
          <a:lstStyle/>
          <a:p>
            <a:r>
              <a:rPr sz="1150" b="0">
                <a:solidFill>
                  <a:srgbClr val="252423"/>
                </a:solidFill>
                <a:latin typeface="Segoe UI"/>
              </a:rPr>
              <a:t>÷ Volume.</a:t>
            </a:r>
          </a:p>
        </p:txBody>
      </p:sp>
      <p:sp>
        <p:nvSpPr>
          <p:cNvPr id="69" name="TextBox 68"/>
          <p:cNvSpPr txBox="1"/>
          <p:nvPr/>
        </p:nvSpPr>
        <p:spPr>
          <a:xfrm>
            <a:off x="8048625" y="3594429"/>
            <a:ext cx="3143169" cy="194310"/>
          </a:xfrm>
          <a:prstGeom prst="rect">
            <a:avLst/>
          </a:prstGeom>
          <a:noFill/>
        </p:spPr>
        <p:txBody>
          <a:bodyPr wrap="none" lIns="0" rIns="0" tIns="0" bIns="0">
            <a:spAutoFit/>
          </a:bodyPr>
          <a:lstStyle/>
          <a:p>
            <a:r>
              <a:rPr sz="1150" b="0">
                <a:solidFill>
                  <a:srgbClr val="252423"/>
                </a:solidFill>
                <a:latin typeface="Segoe UI"/>
              </a:rPr>
              <a:t>Narrow bands point to commoditised, price-led</a:t>
            </a:r>
          </a:p>
        </p:txBody>
      </p:sp>
      <p:sp>
        <p:nvSpPr>
          <p:cNvPr id="70" name="TextBox 69"/>
          <p:cNvSpPr txBox="1"/>
          <p:nvPr/>
        </p:nvSpPr>
        <p:spPr>
          <a:xfrm>
            <a:off x="8048625" y="3769689"/>
            <a:ext cx="3749320" cy="194310"/>
          </a:xfrm>
          <a:prstGeom prst="rect">
            <a:avLst/>
          </a:prstGeom>
          <a:noFill/>
        </p:spPr>
        <p:txBody>
          <a:bodyPr wrap="none" lIns="0" rIns="0" tIns="0" bIns="0">
            <a:spAutoFit/>
          </a:bodyPr>
          <a:lstStyle/>
          <a:p>
            <a:r>
              <a:rPr sz="1150" b="0">
                <a:solidFill>
                  <a:srgbClr val="252423"/>
                </a:solidFill>
                <a:latin typeface="Segoe UI"/>
              </a:rPr>
              <a:t>competition; wider bands flag premiumisation headroom</a:t>
            </a:r>
          </a:p>
        </p:txBody>
      </p:sp>
      <p:sp>
        <p:nvSpPr>
          <p:cNvPr id="71" name="TextBox 70"/>
          <p:cNvSpPr txBox="1"/>
          <p:nvPr/>
        </p:nvSpPr>
        <p:spPr>
          <a:xfrm>
            <a:off x="8048625" y="3944949"/>
            <a:ext cx="1814243" cy="194310"/>
          </a:xfrm>
          <a:prstGeom prst="rect">
            <a:avLst/>
          </a:prstGeom>
          <a:noFill/>
        </p:spPr>
        <p:txBody>
          <a:bodyPr wrap="none" lIns="0" rIns="0" tIns="0" bIns="0">
            <a:spAutoFit/>
          </a:bodyPr>
          <a:lstStyle/>
          <a:p>
            <a:r>
              <a:rPr sz="1150" b="0">
                <a:solidFill>
                  <a:srgbClr val="252423"/>
                </a:solidFill>
                <a:latin typeface="Segoe UI"/>
              </a:rPr>
              <a:t>to trade buyers up the mix.</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Key Pricing Drivers Influencing Helium-3 Market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input costs, market conditions and competitive forces shaping pricing strategies and profitability</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Analysis of input costs, market conditions, and competitive forces shaping pricing strategies and profitability across the value chain</a:t>
            </a:r>
          </a:p>
        </p:txBody>
      </p:sp>
      <p:sp>
        <p:nvSpPr>
          <p:cNvPr id="9" name="Rectangle 8"/>
          <p:cNvSpPr/>
          <p:nvPr/>
        </p:nvSpPr>
        <p:spPr>
          <a:xfrm>
            <a:off x="142875" y="1354081"/>
            <a:ext cx="693420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6743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Impacting Factors</a:t>
            </a:r>
          </a:p>
        </p:txBody>
      </p:sp>
      <p:sp>
        <p:nvSpPr>
          <p:cNvPr id="11" name="Freeform 10"/>
          <p:cNvSpPr/>
          <p:nvPr/>
        </p:nvSpPr>
        <p:spPr>
          <a:xfrm>
            <a:off x="3248025"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895600"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533650"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171700"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819275"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3609975" y="2192281"/>
            <a:ext cx="0" cy="1886379"/>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09975" y="2552548"/>
            <a:ext cx="1108786" cy="1526112"/>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609975" y="3495737"/>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09975" y="4078660"/>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09975" y="4078660"/>
            <a:ext cx="1108786" cy="152611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09975" y="4078660"/>
            <a:ext cx="0" cy="1886379"/>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501189" y="4078660"/>
            <a:ext cx="1108786" cy="152611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815922" y="4078660"/>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815922" y="3495737"/>
            <a:ext cx="1794053" cy="582923"/>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501189" y="2552548"/>
            <a:ext cx="1108786" cy="1526112"/>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2447925"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576638"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52787"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42772"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22177"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9105"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76638"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911366"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89908"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10503"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77684"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38550" y="3634709"/>
            <a:ext cx="285750" cy="123825"/>
          </a:xfrm>
          <a:prstGeom prst="rect">
            <a:avLst/>
          </a:prstGeom>
          <a:noFill/>
        </p:spPr>
        <p:txBody>
          <a:bodyPr wrap="none" lIns="0" rIns="0" tIns="0" bIns="0" anchor="ctr">
            <a:spAutoFit/>
          </a:bodyPr>
          <a:lstStyle/>
          <a:p>
            <a:pPr algn="l"/>
            <a:r>
              <a:rPr sz="1100" b="0">
                <a:solidFill>
                  <a:srgbClr val="605E5C"/>
                </a:solidFill>
                <a:latin typeface="Segoe UI"/>
              </a:rPr>
              <a:t>2</a:t>
            </a:r>
          </a:p>
        </p:txBody>
      </p:sp>
      <p:sp>
        <p:nvSpPr>
          <p:cNvPr id="38" name="TextBox 37"/>
          <p:cNvSpPr txBox="1"/>
          <p:nvPr/>
        </p:nvSpPr>
        <p:spPr>
          <a:xfrm>
            <a:off x="3638550" y="3257434"/>
            <a:ext cx="285750" cy="123825"/>
          </a:xfrm>
          <a:prstGeom prst="rect">
            <a:avLst/>
          </a:prstGeom>
          <a:noFill/>
        </p:spPr>
        <p:txBody>
          <a:bodyPr wrap="none" lIns="0" rIns="0" tIns="0" bIns="0" anchor="ctr">
            <a:spAutoFit/>
          </a:bodyPr>
          <a:lstStyle/>
          <a:p>
            <a:pPr algn="l"/>
            <a:r>
              <a:rPr sz="1100" b="0">
                <a:solidFill>
                  <a:srgbClr val="605E5C"/>
                </a:solidFill>
                <a:latin typeface="Segoe UI"/>
              </a:rPr>
              <a:t>4</a:t>
            </a:r>
          </a:p>
        </p:txBody>
      </p:sp>
      <p:sp>
        <p:nvSpPr>
          <p:cNvPr id="39" name="TextBox 38"/>
          <p:cNvSpPr txBox="1"/>
          <p:nvPr/>
        </p:nvSpPr>
        <p:spPr>
          <a:xfrm>
            <a:off x="3638550" y="2880158"/>
            <a:ext cx="285750" cy="123825"/>
          </a:xfrm>
          <a:prstGeom prst="rect">
            <a:avLst/>
          </a:prstGeom>
          <a:noFill/>
        </p:spPr>
        <p:txBody>
          <a:bodyPr wrap="none" lIns="0" rIns="0" tIns="0" bIns="0" anchor="ctr">
            <a:spAutoFit/>
          </a:bodyPr>
          <a:lstStyle/>
          <a:p>
            <a:pPr algn="l"/>
            <a:r>
              <a:rPr sz="1100" b="0">
                <a:solidFill>
                  <a:srgbClr val="605E5C"/>
                </a:solidFill>
                <a:latin typeface="Segoe UI"/>
              </a:rPr>
              <a:t>6</a:t>
            </a:r>
          </a:p>
        </p:txBody>
      </p:sp>
      <p:sp>
        <p:nvSpPr>
          <p:cNvPr id="40" name="TextBox 39"/>
          <p:cNvSpPr txBox="1"/>
          <p:nvPr/>
        </p:nvSpPr>
        <p:spPr>
          <a:xfrm>
            <a:off x="3638550" y="2502882"/>
            <a:ext cx="285750" cy="123825"/>
          </a:xfrm>
          <a:prstGeom prst="rect">
            <a:avLst/>
          </a:prstGeom>
          <a:noFill/>
        </p:spPr>
        <p:txBody>
          <a:bodyPr wrap="none" lIns="0" rIns="0" tIns="0" bIns="0" anchor="ctr">
            <a:spAutoFit/>
          </a:bodyPr>
          <a:lstStyle/>
          <a:p>
            <a:pPr algn="l"/>
            <a:r>
              <a:rPr sz="1100" b="0">
                <a:solidFill>
                  <a:srgbClr val="605E5C"/>
                </a:solidFill>
                <a:latin typeface="Segoe UI"/>
              </a:rPr>
              <a:t>8</a:t>
            </a:r>
          </a:p>
        </p:txBody>
      </p:sp>
      <p:sp>
        <p:nvSpPr>
          <p:cNvPr id="41" name="TextBox 40"/>
          <p:cNvSpPr txBox="1"/>
          <p:nvPr/>
        </p:nvSpPr>
        <p:spPr>
          <a:xfrm>
            <a:off x="3638550" y="2125606"/>
            <a:ext cx="285750" cy="123825"/>
          </a:xfrm>
          <a:prstGeom prst="rect">
            <a:avLst/>
          </a:prstGeom>
          <a:noFill/>
        </p:spPr>
        <p:txBody>
          <a:bodyPr wrap="none" lIns="0" rIns="0" tIns="0" bIns="0" anchor="ctr">
            <a:spAutoFit/>
          </a:bodyPr>
          <a:lstStyle/>
          <a:p>
            <a:pPr algn="l"/>
            <a:r>
              <a:rPr sz="1100" b="0">
                <a:solidFill>
                  <a:srgbClr val="605E5C"/>
                </a:solidFill>
                <a:latin typeface="Segoe UI"/>
              </a:rPr>
              <a:t>10</a:t>
            </a:r>
          </a:p>
        </p:txBody>
      </p:sp>
      <p:sp>
        <p:nvSpPr>
          <p:cNvPr id="42" name="TextBox 41"/>
          <p:cNvSpPr txBox="1"/>
          <p:nvPr/>
        </p:nvSpPr>
        <p:spPr>
          <a:xfrm>
            <a:off x="2952750" y="1839856"/>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3" name="TextBox 42"/>
          <p:cNvSpPr txBox="1"/>
          <p:nvPr/>
        </p:nvSpPr>
        <p:spPr>
          <a:xfrm>
            <a:off x="4184706" y="224014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4" name="TextBox 43"/>
          <p:cNvSpPr txBox="1"/>
          <p:nvPr/>
        </p:nvSpPr>
        <p:spPr>
          <a:xfrm>
            <a:off x="4946097" y="3288108"/>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5" name="TextBox 44"/>
          <p:cNvSpPr txBox="1"/>
          <p:nvPr/>
        </p:nvSpPr>
        <p:spPr>
          <a:xfrm>
            <a:off x="4946097" y="458346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6" name="TextBox 45"/>
          <p:cNvSpPr txBox="1"/>
          <p:nvPr/>
        </p:nvSpPr>
        <p:spPr>
          <a:xfrm>
            <a:off x="4184706" y="5631427"/>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7" name="TextBox 46"/>
          <p:cNvSpPr txBox="1"/>
          <p:nvPr/>
        </p:nvSpPr>
        <p:spPr>
          <a:xfrm>
            <a:off x="2952750" y="6031714"/>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8" name="TextBox 47"/>
          <p:cNvSpPr txBox="1"/>
          <p:nvPr/>
        </p:nvSpPr>
        <p:spPr>
          <a:xfrm>
            <a:off x="1720794" y="5631427"/>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49" name="TextBox 48"/>
          <p:cNvSpPr txBox="1"/>
          <p:nvPr/>
        </p:nvSpPr>
        <p:spPr>
          <a:xfrm>
            <a:off x="959403" y="458346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0" name="TextBox 49"/>
          <p:cNvSpPr txBox="1"/>
          <p:nvPr/>
        </p:nvSpPr>
        <p:spPr>
          <a:xfrm>
            <a:off x="959403" y="3288108"/>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1" name="TextBox 50"/>
          <p:cNvSpPr txBox="1"/>
          <p:nvPr/>
        </p:nvSpPr>
        <p:spPr>
          <a:xfrm>
            <a:off x="1720794" y="2240143"/>
            <a:ext cx="1314450" cy="285750"/>
          </a:xfrm>
          <a:prstGeom prst="rect">
            <a:avLst/>
          </a:prstGeom>
          <a:noFill/>
        </p:spPr>
        <p:txBody>
          <a:bodyPr wrap="square" lIns="28575" rIns="28575" tIns="9525" bIns="9525" anchor="ctr">
            <a:spAutoFit/>
          </a:bodyPr>
          <a:lstStyle/>
          <a:p>
            <a:pPr algn="ctr"/>
            <a:r>
              <a:rPr sz="1100" b="0">
                <a:solidFill>
                  <a:srgbClr val="252423"/>
                </a:solidFill>
                <a:latin typeface="Segoe UI"/>
              </a:rPr>
              <a:t/>
            </a:r>
          </a:p>
        </p:txBody>
      </p:sp>
      <p:sp>
        <p:nvSpPr>
          <p:cNvPr id="52" name="Rectangle 51"/>
          <p:cNvSpPr/>
          <p:nvPr/>
        </p:nvSpPr>
        <p:spPr>
          <a:xfrm>
            <a:off x="7153275" y="1354081"/>
            <a:ext cx="4895850" cy="347944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86625" y="1439806"/>
            <a:ext cx="4629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54" name="Rectangle 53"/>
          <p:cNvSpPr/>
          <p:nvPr/>
        </p:nvSpPr>
        <p:spPr>
          <a:xfrm>
            <a:off x="7286625" y="1677931"/>
            <a:ext cx="4629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6625" y="1763656"/>
            <a:ext cx="462915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Pricing across the Helium-3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Demand strength, competitive intensity and supply-chain reliability together define the ceiling on pricing power across the Helium-3 Market.</a:t>
            </a:r>
          </a:p>
          <a:p>
            <a:pPr algn="l">
              <a:lnSpc>
                <a:spcPct val="100000"/>
              </a:lnSpc>
              <a:spcBef>
                <a:spcPts val="0"/>
              </a:spcBef>
              <a:spcAft>
                <a:spcPts val="300"/>
              </a:spcAft>
            </a:pPr>
            <a:r>
              <a:rPr sz="1100" b="0">
                <a:solidFill>
                  <a:srgbClr val="00A4DC"/>
                </a:solidFill>
                <a:latin typeface="Segoe UI"/>
              </a:rPr>
              <a:t>▪  </a:t>
            </a:r>
            <a:r>
              <a:rPr sz="1100" b="0">
                <a:solidFill>
                  <a:srgbClr val="252423"/>
                </a:solidFill>
                <a:latin typeface="Segoe UI"/>
              </a:rPr>
              <a:t>Regulatory, currency and brand factors add second-order effects while aftermarket and service costs exert the least pressure collectively creating a pricing balance that must be monitored to stay competitive and profitable.</a:t>
            </a:r>
          </a:p>
        </p:txBody>
      </p:sp>
      <p:sp>
        <p:nvSpPr>
          <p:cNvPr id="56" name="Rectangle 55"/>
          <p:cNvSpPr/>
          <p:nvPr/>
        </p:nvSpPr>
        <p:spPr>
          <a:xfrm>
            <a:off x="7153275" y="4943046"/>
            <a:ext cx="4895850" cy="168635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286625" y="5028771"/>
            <a:ext cx="4629150" cy="209550"/>
          </a:xfrm>
          <a:prstGeom prst="rect">
            <a:avLst/>
          </a:prstGeom>
          <a:noFill/>
        </p:spPr>
        <p:txBody>
          <a:bodyPr wrap="square" lIns="0" rIns="19050" tIns="9525" bIns="9525">
            <a:spAutoFit/>
          </a:bodyPr>
          <a:lstStyle/>
          <a:p>
            <a:pPr algn="l"/>
            <a:r>
              <a:rPr sz="1300" b="1">
                <a:solidFill>
                  <a:srgbClr val="007BA5"/>
                </a:solidFill>
                <a:latin typeface="Segoe UI"/>
              </a:rPr>
              <a:t>Highest-Impact Drivers</a:t>
            </a:r>
          </a:p>
        </p:txBody>
      </p:sp>
      <p:sp>
        <p:nvSpPr>
          <p:cNvPr id="58" name="Rectangle 57"/>
          <p:cNvSpPr/>
          <p:nvPr/>
        </p:nvSpPr>
        <p:spPr>
          <a:xfrm>
            <a:off x="7286625" y="5266896"/>
            <a:ext cx="4629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86625" y="5352621"/>
            <a:ext cx="462915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3213860" y="1898910"/>
            <a:ext cx="714399" cy="186689"/>
          </a:xfrm>
          <a:prstGeom prst="rect">
            <a:avLst/>
          </a:prstGeom>
          <a:noFill/>
        </p:spPr>
        <p:txBody>
          <a:bodyPr wrap="none" lIns="0" rIns="0" tIns="0" bIns="0">
            <a:spAutoFit/>
          </a:bodyPr>
          <a:lstStyle/>
          <a:p>
            <a:r>
              <a:rPr sz="1100" b="0">
                <a:solidFill>
                  <a:srgbClr val="252423"/>
                </a:solidFill>
                <a:latin typeface="Segoe UI"/>
              </a:rPr>
              <a:t>Input Cost</a:t>
            </a:r>
          </a:p>
        </p:txBody>
      </p:sp>
      <p:pic>
        <p:nvPicPr>
          <p:cNvPr id="62" name="Picture 61" descr="lock.png"/>
          <p:cNvPicPr>
            <a:picLocks noChangeAspect="1"/>
          </p:cNvPicPr>
          <p:nvPr/>
        </p:nvPicPr>
        <p:blipFill>
          <a:blip r:embed="rId4"/>
          <a:stretch>
            <a:fillRect/>
          </a:stretch>
        </p:blipFill>
        <p:spPr>
          <a:xfrm>
            <a:off x="3876312" y="1889132"/>
            <a:ext cx="128699" cy="187198"/>
          </a:xfrm>
          <a:prstGeom prst="rect">
            <a:avLst/>
          </a:prstGeom>
        </p:spPr>
      </p:pic>
      <p:sp>
        <p:nvSpPr>
          <p:cNvPr id="63" name="TextBox 62"/>
          <p:cNvSpPr txBox="1"/>
          <p:nvPr/>
        </p:nvSpPr>
        <p:spPr>
          <a:xfrm>
            <a:off x="4270459" y="2262317"/>
            <a:ext cx="1200121" cy="139750"/>
          </a:xfrm>
          <a:prstGeom prst="rect">
            <a:avLst/>
          </a:prstGeom>
          <a:noFill/>
        </p:spPr>
        <p:txBody>
          <a:bodyPr wrap="none" lIns="0" rIns="0" tIns="0" bIns="0">
            <a:spAutoFit/>
          </a:bodyPr>
          <a:lstStyle/>
          <a:p>
            <a:r>
              <a:rPr sz="791" b="0">
                <a:solidFill>
                  <a:srgbClr val="252423"/>
                </a:solidFill>
                <a:latin typeface="Segoe UI"/>
              </a:rPr>
              <a:t>Labor &amp; Production Costs</a:t>
            </a:r>
          </a:p>
        </p:txBody>
      </p:sp>
      <p:pic>
        <p:nvPicPr>
          <p:cNvPr id="64" name="Picture 63" descr="lock.png"/>
          <p:cNvPicPr>
            <a:picLocks noChangeAspect="1"/>
          </p:cNvPicPr>
          <p:nvPr/>
        </p:nvPicPr>
        <p:blipFill>
          <a:blip r:embed="rId4"/>
          <a:stretch>
            <a:fillRect/>
          </a:stretch>
        </p:blipFill>
        <p:spPr>
          <a:xfrm>
            <a:off x="4790363" y="2375977"/>
            <a:ext cx="92663" cy="134782"/>
          </a:xfrm>
          <a:prstGeom prst="rect">
            <a:avLst/>
          </a:prstGeom>
        </p:spPr>
      </p:pic>
      <p:sp>
        <p:nvSpPr>
          <p:cNvPr id="65" name="TextBox 64"/>
          <p:cNvSpPr txBox="1"/>
          <p:nvPr/>
        </p:nvSpPr>
        <p:spPr>
          <a:xfrm>
            <a:off x="5040873" y="3310282"/>
            <a:ext cx="1191098" cy="139750"/>
          </a:xfrm>
          <a:prstGeom prst="rect">
            <a:avLst/>
          </a:prstGeom>
          <a:noFill/>
        </p:spPr>
        <p:txBody>
          <a:bodyPr wrap="none" lIns="0" rIns="0" tIns="0" bIns="0">
            <a:spAutoFit/>
          </a:bodyPr>
          <a:lstStyle/>
          <a:p>
            <a:r>
              <a:rPr sz="791" b="0">
                <a:solidFill>
                  <a:srgbClr val="252423"/>
                </a:solidFill>
                <a:latin typeface="Segoe UI"/>
              </a:rPr>
              <a:t>Technology &amp; Innovation</a:t>
            </a:r>
          </a:p>
        </p:txBody>
      </p:sp>
      <p:pic>
        <p:nvPicPr>
          <p:cNvPr id="66" name="Picture 65" descr="lock.png"/>
          <p:cNvPicPr>
            <a:picLocks noChangeAspect="1"/>
          </p:cNvPicPr>
          <p:nvPr/>
        </p:nvPicPr>
        <p:blipFill>
          <a:blip r:embed="rId4"/>
          <a:stretch>
            <a:fillRect/>
          </a:stretch>
        </p:blipFill>
        <p:spPr>
          <a:xfrm>
            <a:off x="5551754" y="3423942"/>
            <a:ext cx="92663" cy="134782"/>
          </a:xfrm>
          <a:prstGeom prst="rect">
            <a:avLst/>
          </a:prstGeom>
        </p:spPr>
      </p:pic>
      <p:sp>
        <p:nvSpPr>
          <p:cNvPr id="67" name="TextBox 66"/>
          <p:cNvSpPr txBox="1"/>
          <p:nvPr/>
        </p:nvSpPr>
        <p:spPr>
          <a:xfrm>
            <a:off x="5054824" y="4605637"/>
            <a:ext cx="1173194" cy="139750"/>
          </a:xfrm>
          <a:prstGeom prst="rect">
            <a:avLst/>
          </a:prstGeom>
          <a:noFill/>
        </p:spPr>
        <p:txBody>
          <a:bodyPr wrap="none" lIns="0" rIns="0" tIns="0" bIns="0">
            <a:spAutoFit/>
          </a:bodyPr>
          <a:lstStyle/>
          <a:p>
            <a:r>
              <a:rPr sz="791" b="0">
                <a:solidFill>
                  <a:srgbClr val="252423"/>
                </a:solidFill>
                <a:latin typeface="Segoe UI"/>
              </a:rPr>
              <a:t>Supply Chain &amp; Logistics</a:t>
            </a:r>
          </a:p>
        </p:txBody>
      </p:sp>
      <p:pic>
        <p:nvPicPr>
          <p:cNvPr id="68" name="Picture 67" descr="lock.png"/>
          <p:cNvPicPr>
            <a:picLocks noChangeAspect="1"/>
          </p:cNvPicPr>
          <p:nvPr/>
        </p:nvPicPr>
        <p:blipFill>
          <a:blip r:embed="rId4"/>
          <a:stretch>
            <a:fillRect/>
          </a:stretch>
        </p:blipFill>
        <p:spPr>
          <a:xfrm>
            <a:off x="5551754" y="4719297"/>
            <a:ext cx="92663" cy="134782"/>
          </a:xfrm>
          <a:prstGeom prst="rect">
            <a:avLst/>
          </a:prstGeom>
        </p:spPr>
      </p:pic>
      <p:sp>
        <p:nvSpPr>
          <p:cNvPr id="69" name="TextBox 68"/>
          <p:cNvSpPr txBox="1"/>
          <p:nvPr/>
        </p:nvSpPr>
        <p:spPr>
          <a:xfrm>
            <a:off x="4428707" y="5653601"/>
            <a:ext cx="902647" cy="139750"/>
          </a:xfrm>
          <a:prstGeom prst="rect">
            <a:avLst/>
          </a:prstGeom>
          <a:noFill/>
        </p:spPr>
        <p:txBody>
          <a:bodyPr wrap="none" lIns="0" rIns="0" tIns="0" bIns="0">
            <a:spAutoFit/>
          </a:bodyPr>
          <a:lstStyle/>
          <a:p>
            <a:r>
              <a:rPr sz="791" b="0">
                <a:solidFill>
                  <a:srgbClr val="252423"/>
                </a:solidFill>
                <a:latin typeface="Segoe UI"/>
              </a:rPr>
              <a:t>Demand &amp; Market</a:t>
            </a:r>
          </a:p>
        </p:txBody>
      </p:sp>
      <p:sp>
        <p:nvSpPr>
          <p:cNvPr id="70" name="TextBox 69"/>
          <p:cNvSpPr txBox="1"/>
          <p:nvPr/>
        </p:nvSpPr>
        <p:spPr>
          <a:xfrm>
            <a:off x="4547004" y="5774302"/>
            <a:ext cx="555152" cy="139750"/>
          </a:xfrm>
          <a:prstGeom prst="rect">
            <a:avLst/>
          </a:prstGeom>
          <a:noFill/>
        </p:spPr>
        <p:txBody>
          <a:bodyPr wrap="none" lIns="0" rIns="0" tIns="0" bIns="0">
            <a:spAutoFit/>
          </a:bodyPr>
          <a:lstStyle/>
          <a:p>
            <a:r>
              <a:rPr sz="791" b="0">
                <a:solidFill>
                  <a:srgbClr val="252423"/>
                </a:solidFill>
                <a:latin typeface="Segoe UI"/>
              </a:rPr>
              <a:t>Conditions</a:t>
            </a:r>
          </a:p>
        </p:txBody>
      </p:sp>
      <p:pic>
        <p:nvPicPr>
          <p:cNvPr id="71" name="Picture 70" descr="lock.png"/>
          <p:cNvPicPr>
            <a:picLocks noChangeAspect="1"/>
          </p:cNvPicPr>
          <p:nvPr/>
        </p:nvPicPr>
        <p:blipFill>
          <a:blip r:embed="rId4"/>
          <a:stretch>
            <a:fillRect/>
          </a:stretch>
        </p:blipFill>
        <p:spPr>
          <a:xfrm>
            <a:off x="5043418" y="5767261"/>
            <a:ext cx="92663" cy="134782"/>
          </a:xfrm>
          <a:prstGeom prst="rect">
            <a:avLst/>
          </a:prstGeom>
        </p:spPr>
      </p:pic>
      <p:sp>
        <p:nvSpPr>
          <p:cNvPr id="72" name="TextBox 71"/>
          <p:cNvSpPr txBox="1"/>
          <p:nvPr/>
        </p:nvSpPr>
        <p:spPr>
          <a:xfrm>
            <a:off x="3038447" y="6114238"/>
            <a:ext cx="1108355" cy="139750"/>
          </a:xfrm>
          <a:prstGeom prst="rect">
            <a:avLst/>
          </a:prstGeom>
          <a:noFill/>
        </p:spPr>
        <p:txBody>
          <a:bodyPr wrap="none" lIns="0" rIns="0" tIns="0" bIns="0">
            <a:spAutoFit/>
          </a:bodyPr>
          <a:lstStyle/>
          <a:p>
            <a:r>
              <a:rPr sz="791" b="0">
                <a:solidFill>
                  <a:srgbClr val="252423"/>
                </a:solidFill>
                <a:latin typeface="Segoe UI"/>
              </a:rPr>
              <a:t>Competitive Landscape</a:t>
            </a:r>
          </a:p>
        </p:txBody>
      </p:sp>
      <p:pic>
        <p:nvPicPr>
          <p:cNvPr id="73" name="Picture 72" descr="lock.png"/>
          <p:cNvPicPr>
            <a:picLocks noChangeAspect="1"/>
          </p:cNvPicPr>
          <p:nvPr/>
        </p:nvPicPr>
        <p:blipFill>
          <a:blip r:embed="rId4"/>
          <a:stretch>
            <a:fillRect/>
          </a:stretch>
        </p:blipFill>
        <p:spPr>
          <a:xfrm>
            <a:off x="4088063" y="6107197"/>
            <a:ext cx="92663" cy="134782"/>
          </a:xfrm>
          <a:prstGeom prst="rect">
            <a:avLst/>
          </a:prstGeom>
        </p:spPr>
      </p:pic>
      <p:sp>
        <p:nvSpPr>
          <p:cNvPr id="74" name="TextBox 73"/>
          <p:cNvSpPr txBox="1"/>
          <p:nvPr/>
        </p:nvSpPr>
        <p:spPr>
          <a:xfrm>
            <a:off x="1807907" y="5653601"/>
            <a:ext cx="1198761" cy="139750"/>
          </a:xfrm>
          <a:prstGeom prst="rect">
            <a:avLst/>
          </a:prstGeom>
          <a:noFill/>
        </p:spPr>
        <p:txBody>
          <a:bodyPr wrap="none" lIns="0" rIns="0" tIns="0" bIns="0">
            <a:spAutoFit/>
          </a:bodyPr>
          <a:lstStyle/>
          <a:p>
            <a:r>
              <a:rPr sz="791" b="0">
                <a:solidFill>
                  <a:srgbClr val="252423"/>
                </a:solidFill>
                <a:latin typeface="Segoe UI"/>
              </a:rPr>
              <a:t>Regulatory &amp; Compliance</a:t>
            </a:r>
          </a:p>
        </p:txBody>
      </p:sp>
      <p:sp>
        <p:nvSpPr>
          <p:cNvPr id="75" name="TextBox 74"/>
          <p:cNvSpPr txBox="1"/>
          <p:nvPr/>
        </p:nvSpPr>
        <p:spPr>
          <a:xfrm>
            <a:off x="2202241" y="5774302"/>
            <a:ext cx="316855" cy="139750"/>
          </a:xfrm>
          <a:prstGeom prst="rect">
            <a:avLst/>
          </a:prstGeom>
          <a:noFill/>
        </p:spPr>
        <p:txBody>
          <a:bodyPr wrap="none" lIns="0" rIns="0" tIns="0" bIns="0">
            <a:spAutoFit/>
          </a:bodyPr>
          <a:lstStyle/>
          <a:p>
            <a:r>
              <a:rPr sz="791" b="0">
                <a:solidFill>
                  <a:srgbClr val="252423"/>
                </a:solidFill>
                <a:latin typeface="Segoe UI"/>
              </a:rPr>
              <a:t>Costs</a:t>
            </a:r>
          </a:p>
        </p:txBody>
      </p:sp>
      <p:pic>
        <p:nvPicPr>
          <p:cNvPr id="76" name="Picture 75" descr="lock.png"/>
          <p:cNvPicPr>
            <a:picLocks noChangeAspect="1"/>
          </p:cNvPicPr>
          <p:nvPr/>
        </p:nvPicPr>
        <p:blipFill>
          <a:blip r:embed="rId4"/>
          <a:stretch>
            <a:fillRect/>
          </a:stretch>
        </p:blipFill>
        <p:spPr>
          <a:xfrm>
            <a:off x="2460357" y="5767261"/>
            <a:ext cx="92663" cy="134782"/>
          </a:xfrm>
          <a:prstGeom prst="rect">
            <a:avLst/>
          </a:prstGeom>
        </p:spPr>
      </p:pic>
      <p:sp>
        <p:nvSpPr>
          <p:cNvPr id="77" name="TextBox 76"/>
          <p:cNvSpPr txBox="1"/>
          <p:nvPr/>
        </p:nvSpPr>
        <p:spPr>
          <a:xfrm>
            <a:off x="998861" y="4605637"/>
            <a:ext cx="1246416" cy="139750"/>
          </a:xfrm>
          <a:prstGeom prst="rect">
            <a:avLst/>
          </a:prstGeom>
          <a:noFill/>
        </p:spPr>
        <p:txBody>
          <a:bodyPr wrap="none" lIns="0" rIns="0" tIns="0" bIns="0">
            <a:spAutoFit/>
          </a:bodyPr>
          <a:lstStyle/>
          <a:p>
            <a:r>
              <a:rPr sz="791" b="0">
                <a:solidFill>
                  <a:srgbClr val="252423"/>
                </a:solidFill>
                <a:latin typeface="Segoe UI"/>
              </a:rPr>
              <a:t>Currency &amp; Trade Dynamics</a:t>
            </a:r>
          </a:p>
        </p:txBody>
      </p:sp>
      <p:pic>
        <p:nvPicPr>
          <p:cNvPr id="78" name="Picture 77" descr="lock.png"/>
          <p:cNvPicPr>
            <a:picLocks noChangeAspect="1"/>
          </p:cNvPicPr>
          <p:nvPr/>
        </p:nvPicPr>
        <p:blipFill>
          <a:blip r:embed="rId4"/>
          <a:stretch>
            <a:fillRect/>
          </a:stretch>
        </p:blipFill>
        <p:spPr>
          <a:xfrm>
            <a:off x="1565060" y="4719297"/>
            <a:ext cx="92663" cy="134782"/>
          </a:xfrm>
          <a:prstGeom prst="rect">
            <a:avLst/>
          </a:prstGeom>
        </p:spPr>
      </p:pic>
      <p:sp>
        <p:nvSpPr>
          <p:cNvPr id="79" name="TextBox 78"/>
          <p:cNvSpPr txBox="1"/>
          <p:nvPr/>
        </p:nvSpPr>
        <p:spPr>
          <a:xfrm>
            <a:off x="1042786" y="3310282"/>
            <a:ext cx="1202491" cy="139750"/>
          </a:xfrm>
          <a:prstGeom prst="rect">
            <a:avLst/>
          </a:prstGeom>
          <a:noFill/>
        </p:spPr>
        <p:txBody>
          <a:bodyPr wrap="none" lIns="0" rIns="0" tIns="0" bIns="0">
            <a:spAutoFit/>
          </a:bodyPr>
          <a:lstStyle/>
          <a:p>
            <a:r>
              <a:rPr sz="791" b="0">
                <a:solidFill>
                  <a:srgbClr val="252423"/>
                </a:solidFill>
                <a:latin typeface="Segoe UI"/>
              </a:rPr>
              <a:t>Brand &amp; Value Perception</a:t>
            </a:r>
          </a:p>
        </p:txBody>
      </p:sp>
      <p:pic>
        <p:nvPicPr>
          <p:cNvPr id="80" name="Picture 79" descr="lock.png"/>
          <p:cNvPicPr>
            <a:picLocks noChangeAspect="1"/>
          </p:cNvPicPr>
          <p:nvPr/>
        </p:nvPicPr>
        <p:blipFill>
          <a:blip r:embed="rId4"/>
          <a:stretch>
            <a:fillRect/>
          </a:stretch>
        </p:blipFill>
        <p:spPr>
          <a:xfrm>
            <a:off x="1565060" y="3423942"/>
            <a:ext cx="92663" cy="134782"/>
          </a:xfrm>
          <a:prstGeom prst="rect">
            <a:avLst/>
          </a:prstGeom>
        </p:spPr>
      </p:pic>
      <p:sp>
        <p:nvSpPr>
          <p:cNvPr id="81" name="TextBox 80"/>
          <p:cNvSpPr txBox="1"/>
          <p:nvPr/>
        </p:nvSpPr>
        <p:spPr>
          <a:xfrm>
            <a:off x="1755828" y="2262317"/>
            <a:ext cx="1250840" cy="139750"/>
          </a:xfrm>
          <a:prstGeom prst="rect">
            <a:avLst/>
          </a:prstGeom>
          <a:noFill/>
        </p:spPr>
        <p:txBody>
          <a:bodyPr wrap="none" lIns="0" rIns="0" tIns="0" bIns="0">
            <a:spAutoFit/>
          </a:bodyPr>
          <a:lstStyle/>
          <a:p>
            <a:r>
              <a:rPr sz="791" b="0">
                <a:solidFill>
                  <a:srgbClr val="252423"/>
                </a:solidFill>
                <a:latin typeface="Segoe UI"/>
              </a:rPr>
              <a:t>Aftermarket &amp; Service Costs</a:t>
            </a:r>
          </a:p>
        </p:txBody>
      </p:sp>
      <p:pic>
        <p:nvPicPr>
          <p:cNvPr id="82" name="Picture 81" descr="lock.png"/>
          <p:cNvPicPr>
            <a:picLocks noChangeAspect="1"/>
          </p:cNvPicPr>
          <p:nvPr/>
        </p:nvPicPr>
        <p:blipFill>
          <a:blip r:embed="rId4"/>
          <a:stretch>
            <a:fillRect/>
          </a:stretch>
        </p:blipFill>
        <p:spPr>
          <a:xfrm>
            <a:off x="2326451" y="2375977"/>
            <a:ext cx="92663" cy="134782"/>
          </a:xfrm>
          <a:prstGeom prst="rect">
            <a:avLst/>
          </a:prstGeom>
        </p:spPr>
      </p:pic>
      <p:sp>
        <p:nvSpPr>
          <p:cNvPr id="83" name="TextBox 82"/>
          <p:cNvSpPr txBox="1"/>
          <p:nvPr/>
        </p:nvSpPr>
        <p:spPr>
          <a:xfrm>
            <a:off x="7286625" y="5362146"/>
            <a:ext cx="801985" cy="186689"/>
          </a:xfrm>
          <a:prstGeom prst="rect">
            <a:avLst/>
          </a:prstGeom>
          <a:noFill/>
        </p:spPr>
        <p:txBody>
          <a:bodyPr wrap="none" lIns="0" rIns="0" tIns="0" bIns="0">
            <a:spAutoFit/>
          </a:bodyPr>
          <a:lstStyle/>
          <a:p>
            <a:r>
              <a:rPr sz="1100" b="0">
                <a:solidFill>
                  <a:srgbClr val="252423"/>
                </a:solidFill>
                <a:latin typeface="Segoe UI"/>
              </a:rPr>
              <a:t>▪ Input Cost</a:t>
            </a:r>
          </a:p>
        </p:txBody>
      </p:sp>
      <p:pic>
        <p:nvPicPr>
          <p:cNvPr id="84" name="Picture 83" descr="lock.png"/>
          <p:cNvPicPr>
            <a:picLocks noChangeAspect="1"/>
          </p:cNvPicPr>
          <p:nvPr/>
        </p:nvPicPr>
        <p:blipFill>
          <a:blip r:embed="rId4"/>
          <a:stretch>
            <a:fillRect/>
          </a:stretch>
        </p:blipFill>
        <p:spPr>
          <a:xfrm>
            <a:off x="8036661" y="5352366"/>
            <a:ext cx="128699" cy="187198"/>
          </a:xfrm>
          <a:prstGeom prst="rect">
            <a:avLst/>
          </a:prstGeom>
        </p:spPr>
      </p:pic>
      <p:sp>
        <p:nvSpPr>
          <p:cNvPr id="85" name="TextBox 84"/>
          <p:cNvSpPr txBox="1"/>
          <p:nvPr/>
        </p:nvSpPr>
        <p:spPr>
          <a:xfrm>
            <a:off x="8204157" y="5362146"/>
            <a:ext cx="1874232" cy="186689"/>
          </a:xfrm>
          <a:prstGeom prst="rect">
            <a:avLst/>
          </a:prstGeom>
          <a:noFill/>
        </p:spPr>
        <p:txBody>
          <a:bodyPr wrap="none" lIns="0" rIns="0" tIns="0" bIns="0">
            <a:spAutoFit/>
          </a:bodyPr>
          <a:lstStyle/>
          <a:p>
            <a:r>
              <a:rPr sz="1100" b="0">
                <a:solidFill>
                  <a:srgbClr val="252423"/>
                </a:solidFill>
                <a:latin typeface="Segoe UI"/>
              </a:rPr>
              <a:t>/ 10 · dominant cost pressure</a:t>
            </a:r>
          </a:p>
        </p:txBody>
      </p:sp>
      <p:sp>
        <p:nvSpPr>
          <p:cNvPr id="86" name="TextBox 85"/>
          <p:cNvSpPr txBox="1"/>
          <p:nvPr/>
        </p:nvSpPr>
        <p:spPr>
          <a:xfrm>
            <a:off x="7286625" y="5580078"/>
            <a:ext cx="2015040" cy="186689"/>
          </a:xfrm>
          <a:prstGeom prst="rect">
            <a:avLst/>
          </a:prstGeom>
          <a:noFill/>
        </p:spPr>
        <p:txBody>
          <a:bodyPr wrap="none" lIns="0" rIns="0" tIns="0" bIns="0">
            <a:spAutoFit/>
          </a:bodyPr>
          <a:lstStyle/>
          <a:p>
            <a:r>
              <a:rPr sz="1100" b="0">
                <a:solidFill>
                  <a:srgbClr val="252423"/>
                </a:solidFill>
                <a:latin typeface="Segoe UI"/>
              </a:rPr>
              <a:t>▪ Demand &amp; Market Conditions</a:t>
            </a:r>
          </a:p>
        </p:txBody>
      </p:sp>
      <p:pic>
        <p:nvPicPr>
          <p:cNvPr id="87" name="Picture 86" descr="lock.png"/>
          <p:cNvPicPr>
            <a:picLocks noChangeAspect="1"/>
          </p:cNvPicPr>
          <p:nvPr/>
        </p:nvPicPr>
        <p:blipFill>
          <a:blip r:embed="rId4"/>
          <a:stretch>
            <a:fillRect/>
          </a:stretch>
        </p:blipFill>
        <p:spPr>
          <a:xfrm>
            <a:off x="9249717" y="5570298"/>
            <a:ext cx="128699" cy="187198"/>
          </a:xfrm>
          <a:prstGeom prst="rect">
            <a:avLst/>
          </a:prstGeom>
        </p:spPr>
      </p:pic>
      <p:sp>
        <p:nvSpPr>
          <p:cNvPr id="88" name="TextBox 87"/>
          <p:cNvSpPr txBox="1"/>
          <p:nvPr/>
        </p:nvSpPr>
        <p:spPr>
          <a:xfrm>
            <a:off x="9417212" y="5580078"/>
            <a:ext cx="1634668" cy="186689"/>
          </a:xfrm>
          <a:prstGeom prst="rect">
            <a:avLst/>
          </a:prstGeom>
          <a:noFill/>
        </p:spPr>
        <p:txBody>
          <a:bodyPr wrap="none" lIns="0" rIns="0" tIns="0" bIns="0">
            <a:spAutoFit/>
          </a:bodyPr>
          <a:lstStyle/>
          <a:p>
            <a:r>
              <a:rPr sz="1100" b="0">
                <a:solidFill>
                  <a:srgbClr val="252423"/>
                </a:solidFill>
                <a:latin typeface="Segoe UI"/>
              </a:rPr>
              <a:t>/ 10 · major cost pressure</a:t>
            </a:r>
          </a:p>
        </p:txBody>
      </p:sp>
      <p:sp>
        <p:nvSpPr>
          <p:cNvPr id="89" name="TextBox 88"/>
          <p:cNvSpPr txBox="1"/>
          <p:nvPr/>
        </p:nvSpPr>
        <p:spPr>
          <a:xfrm>
            <a:off x="7286625" y="5798010"/>
            <a:ext cx="1597334" cy="186689"/>
          </a:xfrm>
          <a:prstGeom prst="rect">
            <a:avLst/>
          </a:prstGeom>
          <a:noFill/>
        </p:spPr>
        <p:txBody>
          <a:bodyPr wrap="none" lIns="0" rIns="0" tIns="0" bIns="0">
            <a:spAutoFit/>
          </a:bodyPr>
          <a:lstStyle/>
          <a:p>
            <a:r>
              <a:rPr sz="1100" b="0">
                <a:solidFill>
                  <a:srgbClr val="252423"/>
                </a:solidFill>
                <a:latin typeface="Segoe UI"/>
              </a:rPr>
              <a:t>▪ Competitive Landscape</a:t>
            </a:r>
          </a:p>
        </p:txBody>
      </p:sp>
      <p:pic>
        <p:nvPicPr>
          <p:cNvPr id="90" name="Picture 89" descr="lock.png"/>
          <p:cNvPicPr>
            <a:picLocks noChangeAspect="1"/>
          </p:cNvPicPr>
          <p:nvPr/>
        </p:nvPicPr>
        <p:blipFill>
          <a:blip r:embed="rId4"/>
          <a:stretch>
            <a:fillRect/>
          </a:stretch>
        </p:blipFill>
        <p:spPr>
          <a:xfrm>
            <a:off x="8832011" y="5788230"/>
            <a:ext cx="128699" cy="187198"/>
          </a:xfrm>
          <a:prstGeom prst="rect">
            <a:avLst/>
          </a:prstGeom>
        </p:spPr>
      </p:pic>
      <p:sp>
        <p:nvSpPr>
          <p:cNvPr id="91" name="TextBox 90"/>
          <p:cNvSpPr txBox="1"/>
          <p:nvPr/>
        </p:nvSpPr>
        <p:spPr>
          <a:xfrm>
            <a:off x="8999507" y="5798010"/>
            <a:ext cx="1433035" cy="186689"/>
          </a:xfrm>
          <a:prstGeom prst="rect">
            <a:avLst/>
          </a:prstGeom>
          <a:noFill/>
        </p:spPr>
        <p:txBody>
          <a:bodyPr wrap="none" lIns="0" rIns="0" tIns="0" bIns="0">
            <a:spAutoFit/>
          </a:bodyPr>
          <a:lstStyle/>
          <a:p>
            <a:r>
              <a:rPr sz="1100" b="0">
                <a:solidFill>
                  <a:srgbClr val="252423"/>
                </a:solidFill>
                <a:latin typeface="Segoe UI"/>
              </a:rPr>
              <a:t>/ 10 · key pricing lever</a:t>
            </a:r>
          </a:p>
        </p:txBody>
      </p:sp>
      <p:sp>
        <p:nvSpPr>
          <p:cNvPr id="92" name="TextBox 91"/>
          <p:cNvSpPr txBox="1"/>
          <p:nvPr/>
        </p:nvSpPr>
        <p:spPr>
          <a:xfrm>
            <a:off x="7286625" y="6015942"/>
            <a:ext cx="1687388" cy="186689"/>
          </a:xfrm>
          <a:prstGeom prst="rect">
            <a:avLst/>
          </a:prstGeom>
          <a:noFill/>
        </p:spPr>
        <p:txBody>
          <a:bodyPr wrap="none" lIns="0" rIns="0" tIns="0" bIns="0">
            <a:spAutoFit/>
          </a:bodyPr>
          <a:lstStyle/>
          <a:p>
            <a:r>
              <a:rPr sz="1100" b="0">
                <a:solidFill>
                  <a:srgbClr val="252423"/>
                </a:solidFill>
                <a:latin typeface="Segoe UI"/>
              </a:rPr>
              <a:t>▪ Supply Chain &amp; Logistics</a:t>
            </a:r>
          </a:p>
        </p:txBody>
      </p:sp>
      <p:pic>
        <p:nvPicPr>
          <p:cNvPr id="93" name="Picture 92" descr="lock.png"/>
          <p:cNvPicPr>
            <a:picLocks noChangeAspect="1"/>
          </p:cNvPicPr>
          <p:nvPr/>
        </p:nvPicPr>
        <p:blipFill>
          <a:blip r:embed="rId4"/>
          <a:stretch>
            <a:fillRect/>
          </a:stretch>
        </p:blipFill>
        <p:spPr>
          <a:xfrm>
            <a:off x="8922065" y="6006162"/>
            <a:ext cx="128699" cy="187198"/>
          </a:xfrm>
          <a:prstGeom prst="rect">
            <a:avLst/>
          </a:prstGeom>
        </p:spPr>
      </p:pic>
      <p:sp>
        <p:nvSpPr>
          <p:cNvPr id="94" name="TextBox 93"/>
          <p:cNvSpPr txBox="1"/>
          <p:nvPr/>
        </p:nvSpPr>
        <p:spPr>
          <a:xfrm>
            <a:off x="9089560" y="6015942"/>
            <a:ext cx="1433035" cy="186689"/>
          </a:xfrm>
          <a:prstGeom prst="rect">
            <a:avLst/>
          </a:prstGeom>
          <a:noFill/>
        </p:spPr>
        <p:txBody>
          <a:bodyPr wrap="none" lIns="0" rIns="0" tIns="0" bIns="0">
            <a:spAutoFit/>
          </a:bodyPr>
          <a:lstStyle/>
          <a:p>
            <a:r>
              <a:rPr sz="1100" b="0">
                <a:solidFill>
                  <a:srgbClr val="252423"/>
                </a:solidFill>
                <a:latin typeface="Segoe UI"/>
              </a:rPr>
              <a:t>/ 10 · key pricing lever</a:t>
            </a:r>
          </a:p>
        </p:txBody>
      </p:sp>
      <p:sp>
        <p:nvSpPr>
          <p:cNvPr id="95" name="TextBox 94"/>
          <p:cNvSpPr txBox="1"/>
          <p:nvPr/>
        </p:nvSpPr>
        <p:spPr>
          <a:xfrm>
            <a:off x="7286625" y="6233874"/>
            <a:ext cx="1751205" cy="186689"/>
          </a:xfrm>
          <a:prstGeom prst="rect">
            <a:avLst/>
          </a:prstGeom>
          <a:noFill/>
        </p:spPr>
        <p:txBody>
          <a:bodyPr wrap="none" lIns="0" rIns="0" tIns="0" bIns="0">
            <a:spAutoFit/>
          </a:bodyPr>
          <a:lstStyle/>
          <a:p>
            <a:r>
              <a:rPr sz="1100" b="0">
                <a:solidFill>
                  <a:srgbClr val="252423"/>
                </a:solidFill>
                <a:latin typeface="Segoe UI"/>
              </a:rPr>
              <a:t>▪ Labor &amp; Production Costs</a:t>
            </a:r>
          </a:p>
        </p:txBody>
      </p:sp>
      <p:pic>
        <p:nvPicPr>
          <p:cNvPr id="96" name="Picture 95" descr="lock.png"/>
          <p:cNvPicPr>
            <a:picLocks noChangeAspect="1"/>
          </p:cNvPicPr>
          <p:nvPr/>
        </p:nvPicPr>
        <p:blipFill>
          <a:blip r:embed="rId4"/>
          <a:stretch>
            <a:fillRect/>
          </a:stretch>
        </p:blipFill>
        <p:spPr>
          <a:xfrm>
            <a:off x="8985882" y="6224094"/>
            <a:ext cx="128699" cy="187198"/>
          </a:xfrm>
          <a:prstGeom prst="rect">
            <a:avLst/>
          </a:prstGeom>
        </p:spPr>
      </p:pic>
      <p:sp>
        <p:nvSpPr>
          <p:cNvPr id="97" name="TextBox 96"/>
          <p:cNvSpPr txBox="1"/>
          <p:nvPr/>
        </p:nvSpPr>
        <p:spPr>
          <a:xfrm>
            <a:off x="9153378" y="6233874"/>
            <a:ext cx="1497803" cy="186689"/>
          </a:xfrm>
          <a:prstGeom prst="rect">
            <a:avLst/>
          </a:prstGeom>
          <a:noFill/>
        </p:spPr>
        <p:txBody>
          <a:bodyPr wrap="none" lIns="0" rIns="0" tIns="0" bIns="0">
            <a:spAutoFit/>
          </a:bodyPr>
          <a:lstStyle/>
          <a:p>
            <a:r>
              <a:rPr sz="1100" b="0">
                <a:solidFill>
                  <a:srgbClr val="252423"/>
                </a:solidFill>
                <a:latin typeface="Segoe UI"/>
              </a:rPr>
              <a:t>/ 10 · supporting factor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Factors Impacting Pricing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Factors affecting the pricing decision of the product: category, price impact, direction of pressure and rationale</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cost, demand, efficiency and regulatory forces shaping and impacting achievable selling prices grouped by category, with each factor's direction, impact and score.</a:t>
            </a:r>
          </a:p>
        </p:txBody>
      </p:sp>
      <p:sp>
        <p:nvSpPr>
          <p:cNvPr id="9" name="Rectangle 8"/>
          <p:cNvSpPr/>
          <p:nvPr/>
        </p:nvSpPr>
        <p:spPr>
          <a:xfrm>
            <a:off x="142875" y="1314450"/>
            <a:ext cx="11906250" cy="3286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652357"/>
                <a:gridCol w="2643634"/>
                <a:gridCol w="1115643"/>
                <a:gridCol w="1198370"/>
                <a:gridCol w="1112810"/>
                <a:gridCol w="3164385"/>
              </a:tblGrid>
              <a:tr h="246126">
                <a:tc>
                  <a:txBody>
                    <a:bodyPr wrap="none"/>
                    <a:lstStyle/>
                    <a:p>
                      <a:pPr algn="l"/>
                      <a:r>
                        <a:rPr sz="1100" b="1">
                          <a:solidFill>
                            <a:srgbClr val="FFFFFF"/>
                          </a:solidFill>
                          <a:latin typeface="Segoe UI"/>
                        </a:rPr>
                        <a:t>Factor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Category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Price Impact</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Direction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Score (0–10)</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How It Shapes Price</a:t>
                      </a:r>
                      <a:endParaRPr sz="1100"/>
                    </a:p>
                  </a:txBody>
                  <a:tcPr marL="47625" marR="38100" marT="19050" marB="19050" anchor="ctr">
                    <a:solidFill>
                      <a:srgbClr val="007BA5"/>
                    </a:solidFill>
                  </a:tcPr>
                </a:tc>
              </a:tr>
              <a:tr h="273520">
                <a:tc>
                  <a:txBody>
                    <a:bodyPr wrap="none"/>
                    <a:lstStyle/>
                    <a:p>
                      <a:pPr algn="l"/>
                      <a:r>
                        <a:rPr sz="1100" b="1">
                          <a:solidFill>
                            <a:srgbClr val="252423"/>
                          </a:solidFill>
                          <a:latin typeface="Segoe UI"/>
                        </a:rPr>
                        <a:t>Input Cost</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Labor &amp; Production Costs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Labour and production expenses.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Supply Chain &amp; Logistics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Cost &amp; Input Pressures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Demand &amp; Market Conditions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and broader market conditions.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Competitive Landscape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Brand &amp; Value Perception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Demand &amp; Competitive Forces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Brand strength and value perception.</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Technology &amp; Innovation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Aftermarket &amp; Service Costs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Innovation &amp; Operating Efficiency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Aftermarket and service costs.</a:t>
                      </a:r>
                      <a:endParaRPr sz="1100"/>
                    </a:p>
                  </a:txBody>
                  <a:tcPr marL="47625" marR="38100" marT="19050" marB="19050" anchor="ctr">
                    <a:solidFill>
                      <a:srgbClr val="F2FAFD"/>
                    </a:solidFill>
                  </a:tcPr>
                </a:tc>
              </a:tr>
              <a:tr h="273520">
                <a:tc>
                  <a:txBody>
                    <a:bodyPr wrap="none"/>
                    <a:lstStyle/>
                    <a:p>
                      <a:pPr algn="l"/>
                      <a:r>
                        <a:rPr sz="1100" b="1">
                          <a:solidFill>
                            <a:srgbClr val="252423"/>
                          </a:solidFill>
                          <a:latin typeface="Segoe UI"/>
                        </a:rPr>
                        <a:t>Regulatory &amp; Compliance Costs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Regulatory, Currency &amp; Macro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52423"/>
                          </a:solidFill>
                          <a:latin typeface="Segoe UI"/>
                        </a:rPr>
                        <a:t>Currency &amp; Trade Dynamics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Regulatory, Currency &amp; Macro</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Currency and trade dynamics.</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752975"/>
            <a:ext cx="11906250" cy="17907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07BA5"/>
                </a:solidFill>
                <a:latin typeface="Segoe UI"/>
              </a:rPr>
              <a:t>What the Factors Imply</a:t>
            </a:r>
          </a:p>
        </p:txBody>
      </p:sp>
      <p:sp>
        <p:nvSpPr>
          <p:cNvPr id="14" name="Rectangle 13"/>
          <p:cNvSpPr/>
          <p:nvPr/>
        </p:nvSpPr>
        <p:spPr>
          <a:xfrm>
            <a:off x="276225" y="50768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8150788" y="2764346"/>
            <a:ext cx="330041" cy="480060"/>
          </a:xfrm>
          <a:prstGeom prst="rect">
            <a:avLst/>
          </a:prstGeom>
        </p:spPr>
      </p:pic>
      <p:sp>
        <p:nvSpPr>
          <p:cNvPr id="18" name="TextBox 17"/>
          <p:cNvSpPr txBox="1"/>
          <p:nvPr/>
        </p:nvSpPr>
        <p:spPr>
          <a:xfrm>
            <a:off x="276225" y="5172075"/>
            <a:ext cx="5902836" cy="194310"/>
          </a:xfrm>
          <a:prstGeom prst="rect">
            <a:avLst/>
          </a:prstGeom>
          <a:noFill/>
        </p:spPr>
        <p:txBody>
          <a:bodyPr wrap="none" lIns="0" rIns="0" tIns="0" bIns="0">
            <a:spAutoFit/>
          </a:bodyPr>
          <a:lstStyle/>
          <a:p>
            <a:r>
              <a:rPr sz="1150" b="0">
                <a:solidFill>
                  <a:srgbClr val="252423"/>
                </a:solidFill>
                <a:latin typeface="Segoe U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6128215" y="5161851"/>
            <a:ext cx="134549" cy="195707"/>
          </a:xfrm>
          <a:prstGeom prst="rect">
            <a:avLst/>
          </a:prstGeom>
        </p:spPr>
      </p:pic>
      <p:sp>
        <p:nvSpPr>
          <p:cNvPr id="20" name="TextBox 19"/>
          <p:cNvSpPr txBox="1"/>
          <p:nvPr/>
        </p:nvSpPr>
        <p:spPr>
          <a:xfrm>
            <a:off x="6303324" y="5172075"/>
            <a:ext cx="319521" cy="194310"/>
          </a:xfrm>
          <a:prstGeom prst="rect">
            <a:avLst/>
          </a:prstGeom>
          <a:noFill/>
        </p:spPr>
        <p:txBody>
          <a:bodyPr wrap="none" lIns="0" rIns="0" tIns="0" bIns="0">
            <a:spAutoFit/>
          </a:bodyPr>
          <a:lstStyle/>
          <a:p>
            <a:r>
              <a:rPr sz="1150" b="0">
                <a:solidFill>
                  <a:srgbClr val="252423"/>
                </a:solidFill>
                <a:latin typeface="Segoe UI"/>
              </a:rPr>
              <a:t>and</a:t>
            </a:r>
          </a:p>
        </p:txBody>
      </p:sp>
      <p:pic>
        <p:nvPicPr>
          <p:cNvPr id="21" name="Picture 20" descr="lock.png"/>
          <p:cNvPicPr>
            <a:picLocks noChangeAspect="1"/>
          </p:cNvPicPr>
          <p:nvPr/>
        </p:nvPicPr>
        <p:blipFill>
          <a:blip r:embed="rId4"/>
          <a:stretch>
            <a:fillRect/>
          </a:stretch>
        </p:blipFill>
        <p:spPr>
          <a:xfrm>
            <a:off x="6572000" y="5161851"/>
            <a:ext cx="134549" cy="195707"/>
          </a:xfrm>
          <a:prstGeom prst="rect">
            <a:avLst/>
          </a:prstGeom>
        </p:spPr>
      </p:pic>
      <p:sp>
        <p:nvSpPr>
          <p:cNvPr id="22" name="TextBox 21"/>
          <p:cNvSpPr txBox="1"/>
          <p:nvPr/>
        </p:nvSpPr>
        <p:spPr>
          <a:xfrm>
            <a:off x="6747109" y="5172075"/>
            <a:ext cx="406524" cy="194310"/>
          </a:xfrm>
          <a:prstGeom prst="rect">
            <a:avLst/>
          </a:prstGeom>
          <a:noFill/>
        </p:spPr>
        <p:txBody>
          <a:bodyPr wrap="none" lIns="0" rIns="0" tIns="0" bIns="0">
            <a:spAutoFit/>
          </a:bodyPr>
          <a:lstStyle/>
          <a:p>
            <a:r>
              <a:rPr sz="1150" b="0">
                <a:solidFill>
                  <a:srgbClr val="252423"/>
                </a:solidFill>
                <a:latin typeface="Segoe UI"/>
              </a:rPr>
              <a:t>/ 10).</a:t>
            </a:r>
          </a:p>
        </p:txBody>
      </p:sp>
      <p:sp>
        <p:nvSpPr>
          <p:cNvPr id="23" name="TextBox 22"/>
          <p:cNvSpPr txBox="1"/>
          <p:nvPr/>
        </p:nvSpPr>
        <p:spPr>
          <a:xfrm>
            <a:off x="276225" y="5399913"/>
            <a:ext cx="9012799" cy="194310"/>
          </a:xfrm>
          <a:prstGeom prst="rect">
            <a:avLst/>
          </a:prstGeom>
          <a:noFill/>
        </p:spPr>
        <p:txBody>
          <a:bodyPr wrap="none" lIns="0" rIns="0" tIns="0" bIns="0">
            <a:spAutoFit/>
          </a:bodyPr>
          <a:lstStyle/>
          <a:p>
            <a:r>
              <a:rPr sz="1150" b="0">
                <a:solidFill>
                  <a:srgbClr val="252423"/>
                </a:solidFill>
                <a:latin typeface="Segoe UI"/>
              </a:rPr>
              <a:t>▪ 8 of 10 factors exert upward pressure on price; the rest pull prices down chiefly Technology &amp; Innovation and the Competitive Landscape.</a:t>
            </a:r>
          </a:p>
        </p:txBody>
      </p:sp>
      <p:sp>
        <p:nvSpPr>
          <p:cNvPr id="24" name="TextBox 23"/>
          <p:cNvSpPr txBox="1"/>
          <p:nvPr/>
        </p:nvSpPr>
        <p:spPr>
          <a:xfrm>
            <a:off x="276225" y="5627750"/>
            <a:ext cx="8718051" cy="194310"/>
          </a:xfrm>
          <a:prstGeom prst="rect">
            <a:avLst/>
          </a:prstGeom>
          <a:noFill/>
        </p:spPr>
        <p:txBody>
          <a:bodyPr wrap="none" lIns="0" rIns="0" tIns="0" bIns="0">
            <a:spAutoFit/>
          </a:bodyPr>
          <a:lstStyle/>
          <a:p>
            <a:r>
              <a:rPr sz="1150" b="0">
                <a:solidFill>
                  <a:srgbClr val="252423"/>
                </a:solidFill>
                <a:latin typeface="Segoe UI"/>
              </a:rPr>
              <a:t>▪ Cost-side factors set the price floor; demand, brand and competitive forces determine how much of that cost can be passed through.</a:t>
            </a:r>
          </a:p>
        </p:txBody>
      </p:sp>
      <p:sp>
        <p:nvSpPr>
          <p:cNvPr id="25" name="TextBox 24"/>
          <p:cNvSpPr txBox="1"/>
          <p:nvPr/>
        </p:nvSpPr>
        <p:spPr>
          <a:xfrm>
            <a:off x="276225" y="5855588"/>
            <a:ext cx="7590046" cy="194310"/>
          </a:xfrm>
          <a:prstGeom prst="rect">
            <a:avLst/>
          </a:prstGeom>
          <a:noFill/>
        </p:spPr>
        <p:txBody>
          <a:bodyPr wrap="none" lIns="0" rIns="0" tIns="0" bIns="0">
            <a:spAutoFit/>
          </a:bodyPr>
          <a:lstStyle/>
          <a:p>
            <a:r>
              <a:rPr sz="1150" b="0">
                <a:solidFill>
                  <a:srgbClr val="252423"/>
                </a:solidFill>
                <a:latin typeface="Segoe UI"/>
              </a:rPr>
              <a:t>▪ Aftermarket &amp; Service Costs exerts the least pressure a second-order effect to monitor rather than actively manage.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Regional Price Assessment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price assessment across the value chain, from manufacturer to retail, and average price by geography, 2026–2036</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Regional price assessment across the value chain (US$/Litres) and price trajectory to 2036.</a:t>
            </a:r>
          </a:p>
        </p:txBody>
      </p:sp>
      <p:sp>
        <p:nvSpPr>
          <p:cNvPr id="9" name="Rectangle 8"/>
          <p:cNvSpPr/>
          <p:nvPr/>
        </p:nvSpPr>
        <p:spPr>
          <a:xfrm>
            <a:off x="142875" y="1317574"/>
            <a:ext cx="5905500" cy="273805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Regional Price by Value-Chain Level (US$/Litres)</a:t>
            </a:r>
          </a:p>
        </p:txBody>
      </p:sp>
      <p:graphicFrame>
        <p:nvGraphicFramePr>
          <p:cNvPr id="11" name="Table 10"/>
          <p:cNvGraphicFramePr>
            <a:graphicFrameLocks noGrp="1"/>
          </p:cNvGraphicFramePr>
          <p:nvPr/>
        </p:nvGraphicFramePr>
        <p:xfrm>
          <a:off x="152400" y="1574749"/>
          <a:ext cx="5886449" cy="2271331"/>
        </p:xfrm>
        <a:graphic>
          <a:graphicData uri="http://schemas.openxmlformats.org/drawingml/2006/table">
            <a:tbl>
              <a:tblPr>
                <a:tableStyleId>{5C22544A-7EE6-4342-B048-85BDC9FD1C3A}</a:tableStyleId>
              </a:tblPr>
              <a:tblGrid>
                <a:gridCol w="1648783"/>
                <a:gridCol w="1137506"/>
                <a:gridCol w="1016414"/>
                <a:gridCol w="701575"/>
                <a:gridCol w="1382171"/>
              </a:tblGrid>
              <a:tr h="246126">
                <a:tc>
                  <a:txBody>
                    <a:bodyPr wrap="none"/>
                    <a:lstStyle/>
                    <a:p>
                      <a:pPr algn="l"/>
                      <a:r>
                        <a:rPr sz="1100" b="1">
                          <a:solidFill>
                            <a:srgbClr val="FFFFFF"/>
                          </a:solidFill>
                          <a:latin typeface="Segoe UI"/>
                        </a:rPr>
                        <a:t>Geography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Manufacturer</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Distribution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Retail</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Total Margin (%)</a:t>
                      </a:r>
                      <a:endParaRPr sz="1100"/>
                    </a:p>
                  </a:txBody>
                  <a:tcPr marL="47625" marR="38100" marT="19050" marB="19050" anchor="ctr">
                    <a:solidFill>
                      <a:srgbClr val="007BA5"/>
                    </a:solidFill>
                  </a:tcPr>
                </a:tc>
              </a:tr>
              <a:tr h="289315">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6200775" y="1317574"/>
            <a:ext cx="5848350" cy="273805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by Geography (US$/Litres)</a:t>
            </a:r>
          </a:p>
        </p:txBody>
      </p:sp>
      <p:graphicFrame>
        <p:nvGraphicFramePr>
          <p:cNvPr id="15" name="Table 14"/>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157367"/>
                <a:gridCol w="917983"/>
                <a:gridCol w="917983"/>
                <a:gridCol w="917983"/>
                <a:gridCol w="917983"/>
              </a:tblGrid>
              <a:tr h="246126">
                <a:tc>
                  <a:txBody>
                    <a:bodyPr wrap="none"/>
                    <a:lstStyle/>
                    <a:p>
                      <a:pPr algn="l"/>
                      <a:r>
                        <a:rPr sz="1100" b="1">
                          <a:solidFill>
                            <a:srgbClr val="FFFFFF"/>
                          </a:solidFill>
                          <a:latin typeface="Segoe UI"/>
                        </a:rPr>
                        <a:t>Geography</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r>
              <a:tr h="289315">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289315">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142875" y="4201658"/>
            <a:ext cx="119062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07BA5"/>
                </a:solidFill>
                <a:latin typeface="Segoe UI"/>
              </a:rPr>
              <a:t>What This Section Covers</a:t>
            </a:r>
          </a:p>
        </p:txBody>
      </p:sp>
      <p:sp>
        <p:nvSpPr>
          <p:cNvPr id="19" name="Rectangle 18"/>
          <p:cNvSpPr/>
          <p:nvPr/>
        </p:nvSpPr>
        <p:spPr>
          <a:xfrm>
            <a:off x="276225" y="4525508"/>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Manufacturer-level pricing ex-works / producer price benchmarked for each geography.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Distribution &amp; channel pricing logistics and channel margin layered onto the producer price.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Retail / end-market pricing the average price paid by the end customer across geographies.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Value-chain margin build-up cumulative margin from manufacturer to retail, by geography (prices derived as Value ÷ Volume).</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3733326"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10016943" y="2566777"/>
            <a:ext cx="366712" cy="53340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Global Pricing Benchmarking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Benchmarking of price range by region and sub-segment against the weighted average price of each region</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Development-stage price assumptions and manufacturer benchmarking price range by product form type and region (US$/Litres).</a:t>
            </a:r>
          </a:p>
        </p:txBody>
      </p:sp>
      <p:sp>
        <p:nvSpPr>
          <p:cNvPr id="9" name="Rectangle 8"/>
          <p:cNvSpPr/>
          <p:nvPr/>
        </p:nvSpPr>
        <p:spPr>
          <a:xfrm>
            <a:off x="142875" y="1314450"/>
            <a:ext cx="11906250" cy="30003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Benchmarking by Region &amp; Product Form (US$/Litres)</a:t>
            </a:r>
          </a:p>
        </p:txBody>
      </p:sp>
      <p:graphicFrame>
        <p:nvGraphicFramePr>
          <p:cNvPr id="11" name="Table 10"/>
          <p:cNvGraphicFramePr>
            <a:graphicFrameLocks noGrp="1"/>
          </p:cNvGraphicFramePr>
          <p:nvPr/>
        </p:nvGraphicFramePr>
        <p:xfrm>
          <a:off x="152400" y="1571625"/>
          <a:ext cx="11887201" cy="2533649"/>
        </p:xfrm>
        <a:graphic>
          <a:graphicData uri="http://schemas.openxmlformats.org/drawingml/2006/table">
            <a:tbl>
              <a:tblPr>
                <a:tableStyleId>{5C22544A-7EE6-4342-B048-85BDC9FD1C3A}</a:tableStyleId>
              </a:tblPr>
              <a:tblGrid>
                <a:gridCol w="3228685"/>
                <a:gridCol w="2886172"/>
                <a:gridCol w="2886172"/>
                <a:gridCol w="2886172"/>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Gaseous Helium-3</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Liquid Helium-3</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Weighted Avg</a:t>
                      </a:r>
                      <a:endParaRPr sz="1100"/>
                    </a:p>
                  </a:txBody>
                  <a:tcPr marL="47625" marR="38100" marT="19050" marB="19050" anchor="ctr">
                    <a:solidFill>
                      <a:srgbClr val="007BA5"/>
                    </a:solidFill>
                  </a:tcPr>
                </a:tc>
              </a:tr>
              <a:tr h="326789">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26789">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26789">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1148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4457700"/>
            <a:ext cx="11906250" cy="2085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Benchmarking Insights</a:t>
            </a:r>
          </a:p>
        </p:txBody>
      </p:sp>
      <p:sp>
        <p:nvSpPr>
          <p:cNvPr id="15" name="Rectangle 14"/>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867275"/>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4"/>
          <a:stretch>
            <a:fillRect/>
          </a:stretch>
        </p:blipFill>
        <p:spPr>
          <a:xfrm>
            <a:off x="7523653" y="2694812"/>
            <a:ext cx="366712" cy="533400"/>
          </a:xfrm>
          <a:prstGeom prst="rect">
            <a:avLst/>
          </a:prstGeom>
        </p:spPr>
      </p:pic>
      <p:sp>
        <p:nvSpPr>
          <p:cNvPr id="19" name="TextBox 18"/>
          <p:cNvSpPr txBox="1"/>
          <p:nvPr/>
        </p:nvSpPr>
        <p:spPr>
          <a:xfrm>
            <a:off x="276225" y="4876800"/>
            <a:ext cx="5091944" cy="194310"/>
          </a:xfrm>
          <a:prstGeom prst="rect">
            <a:avLst/>
          </a:prstGeom>
          <a:noFill/>
        </p:spPr>
        <p:txBody>
          <a:bodyPr wrap="none" lIns="0" rIns="0" tIns="0" bIns="0">
            <a:spAutoFit/>
          </a:bodyPr>
          <a:lstStyle/>
          <a:p>
            <a:r>
              <a:rPr sz="1150" b="0">
                <a:solidFill>
                  <a:srgbClr val="252423"/>
                </a:solidFill>
                <a:latin typeface="Segoe U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5317323" y="4866576"/>
            <a:ext cx="134549" cy="195707"/>
          </a:xfrm>
          <a:prstGeom prst="rect">
            <a:avLst/>
          </a:prstGeom>
        </p:spPr>
      </p:pic>
      <p:sp>
        <p:nvSpPr>
          <p:cNvPr id="21" name="TextBox 20"/>
          <p:cNvSpPr txBox="1"/>
          <p:nvPr/>
        </p:nvSpPr>
        <p:spPr>
          <a:xfrm>
            <a:off x="5492432" y="4876800"/>
            <a:ext cx="4049385" cy="194310"/>
          </a:xfrm>
          <a:prstGeom prst="rect">
            <a:avLst/>
          </a:prstGeom>
          <a:noFill/>
        </p:spPr>
        <p:txBody>
          <a:bodyPr wrap="none" lIns="0" rIns="0" tIns="0" bIns="0">
            <a:spAutoFit/>
          </a:bodyPr>
          <a:lstStyle/>
          <a:p>
            <a:r>
              <a:rPr sz="1150" b="0">
                <a:solidFill>
                  <a:srgbClr val="252423"/>
                </a:solidFill>
                <a:latin typeface="Segoe UI"/>
              </a:rPr>
              <a:t>US$/Litres) and 'South Asia &amp; Pacific' the most competitive (~</a:t>
            </a:r>
          </a:p>
        </p:txBody>
      </p:sp>
      <p:pic>
        <p:nvPicPr>
          <p:cNvPr id="22" name="Picture 21" descr="lock.png"/>
          <p:cNvPicPr>
            <a:picLocks noChangeAspect="1"/>
          </p:cNvPicPr>
          <p:nvPr/>
        </p:nvPicPr>
        <p:blipFill>
          <a:blip r:embed="rId4"/>
          <a:stretch>
            <a:fillRect/>
          </a:stretch>
        </p:blipFill>
        <p:spPr>
          <a:xfrm>
            <a:off x="9490972" y="4866576"/>
            <a:ext cx="134549" cy="195707"/>
          </a:xfrm>
          <a:prstGeom prst="rect">
            <a:avLst/>
          </a:prstGeom>
        </p:spPr>
      </p:pic>
      <p:sp>
        <p:nvSpPr>
          <p:cNvPr id="23" name="TextBox 22"/>
          <p:cNvSpPr txBox="1"/>
          <p:nvPr/>
        </p:nvSpPr>
        <p:spPr>
          <a:xfrm>
            <a:off x="9666081" y="4876800"/>
            <a:ext cx="808700" cy="194310"/>
          </a:xfrm>
          <a:prstGeom prst="rect">
            <a:avLst/>
          </a:prstGeom>
          <a:noFill/>
        </p:spPr>
        <p:txBody>
          <a:bodyPr wrap="none" lIns="0" rIns="0" tIns="0" bIns="0">
            <a:spAutoFit/>
          </a:bodyPr>
          <a:lstStyle/>
          <a:p>
            <a:r>
              <a:rPr sz="1150" b="0">
                <a:solidFill>
                  <a:srgbClr val="252423"/>
                </a:solidFill>
                <a:latin typeface="Segoe UI"/>
              </a:rPr>
              <a:t>US$/Litres).</a:t>
            </a:r>
          </a:p>
        </p:txBody>
      </p:sp>
      <p:sp>
        <p:nvSpPr>
          <p:cNvPr id="24" name="TextBox 23"/>
          <p:cNvSpPr txBox="1"/>
          <p:nvPr/>
        </p:nvSpPr>
        <p:spPr>
          <a:xfrm>
            <a:off x="276225" y="5104638"/>
            <a:ext cx="6478006" cy="194310"/>
          </a:xfrm>
          <a:prstGeom prst="rect">
            <a:avLst/>
          </a:prstGeom>
          <a:noFill/>
        </p:spPr>
        <p:txBody>
          <a:bodyPr wrap="none" lIns="0" rIns="0" tIns="0" bIns="0">
            <a:spAutoFit/>
          </a:bodyPr>
          <a:lstStyle/>
          <a:p>
            <a:r>
              <a:rPr sz="1150" b="0">
                <a:solidFill>
                  <a:srgbClr val="252423"/>
                </a:solidFill>
                <a:latin typeface="Segoe UI"/>
              </a:rPr>
              <a:t>▪ Price ranges are benchmarked per product form type at 2026, derived as Value ÷ Volume with a ±</a:t>
            </a:r>
          </a:p>
        </p:txBody>
      </p:sp>
      <p:pic>
        <p:nvPicPr>
          <p:cNvPr id="25" name="Picture 24" descr="lock.png"/>
          <p:cNvPicPr>
            <a:picLocks noChangeAspect="1"/>
          </p:cNvPicPr>
          <p:nvPr/>
        </p:nvPicPr>
        <p:blipFill>
          <a:blip r:embed="rId4"/>
          <a:stretch>
            <a:fillRect/>
          </a:stretch>
        </p:blipFill>
        <p:spPr>
          <a:xfrm>
            <a:off x="6703385" y="5094414"/>
            <a:ext cx="134549" cy="195707"/>
          </a:xfrm>
          <a:prstGeom prst="rect">
            <a:avLst/>
          </a:prstGeom>
        </p:spPr>
      </p:pic>
      <p:sp>
        <p:nvSpPr>
          <p:cNvPr id="26" name="TextBox 25"/>
          <p:cNvSpPr txBox="1"/>
          <p:nvPr/>
        </p:nvSpPr>
        <p:spPr>
          <a:xfrm>
            <a:off x="6878494" y="5104638"/>
            <a:ext cx="1575258" cy="194310"/>
          </a:xfrm>
          <a:prstGeom prst="rect">
            <a:avLst/>
          </a:prstGeom>
          <a:noFill/>
        </p:spPr>
        <p:txBody>
          <a:bodyPr wrap="none" lIns="0" rIns="0" tIns="0" bIns="0">
            <a:spAutoFit/>
          </a:bodyPr>
          <a:lstStyle/>
          <a:p>
            <a:r>
              <a:rPr sz="1150" b="0">
                <a:solidFill>
                  <a:srgbClr val="252423"/>
                </a:solidFill>
                <a:latin typeface="Segoe UI"/>
              </a:rPr>
              <a:t>observed trading band.</a:t>
            </a:r>
          </a:p>
        </p:txBody>
      </p:sp>
      <p:sp>
        <p:nvSpPr>
          <p:cNvPr id="27" name="TextBox 26"/>
          <p:cNvSpPr txBox="1"/>
          <p:nvPr/>
        </p:nvSpPr>
        <p:spPr>
          <a:xfrm>
            <a:off x="276225" y="5332475"/>
            <a:ext cx="2362710" cy="194310"/>
          </a:xfrm>
          <a:prstGeom prst="rect">
            <a:avLst/>
          </a:prstGeom>
          <a:noFill/>
        </p:spPr>
        <p:txBody>
          <a:bodyPr wrap="none" lIns="0" rIns="0" tIns="0" bIns="0">
            <a:spAutoFit/>
          </a:bodyPr>
          <a:lstStyle/>
          <a:p>
            <a:r>
              <a:rPr sz="1150" b="0">
                <a:solidFill>
                  <a:srgbClr val="252423"/>
                </a:solidFill>
                <a:latin typeface="Segoe UI"/>
              </a:rPr>
              <a:t>▪ Cross-region price dispersion of ~</a:t>
            </a:r>
          </a:p>
        </p:txBody>
      </p:sp>
      <p:pic>
        <p:nvPicPr>
          <p:cNvPr id="28" name="Picture 27" descr="lock.png"/>
          <p:cNvPicPr>
            <a:picLocks noChangeAspect="1"/>
          </p:cNvPicPr>
          <p:nvPr/>
        </p:nvPicPr>
        <p:blipFill>
          <a:blip r:embed="rId4"/>
          <a:stretch>
            <a:fillRect/>
          </a:stretch>
        </p:blipFill>
        <p:spPr>
          <a:xfrm>
            <a:off x="2588089" y="5322252"/>
            <a:ext cx="134549" cy="195707"/>
          </a:xfrm>
          <a:prstGeom prst="rect">
            <a:avLst/>
          </a:prstGeom>
        </p:spPr>
      </p:pic>
      <p:sp>
        <p:nvSpPr>
          <p:cNvPr id="29" name="TextBox 28"/>
          <p:cNvSpPr txBox="1"/>
          <p:nvPr/>
        </p:nvSpPr>
        <p:spPr>
          <a:xfrm>
            <a:off x="2763198" y="5332475"/>
            <a:ext cx="3910489" cy="194310"/>
          </a:xfrm>
          <a:prstGeom prst="rect">
            <a:avLst/>
          </a:prstGeom>
          <a:noFill/>
        </p:spPr>
        <p:txBody>
          <a:bodyPr wrap="none" lIns="0" rIns="0" tIns="0" bIns="0">
            <a:spAutoFit/>
          </a:bodyPr>
          <a:lstStyle/>
          <a:p>
            <a:r>
              <a:rPr sz="1150" b="0">
                <a:solidFill>
                  <a:srgbClr val="252423"/>
                </a:solidFill>
                <a:latin typeface="Segoe UI"/>
              </a:rPr>
              <a:t>× reflects differences in mix, logistics and channel structure.</a:t>
            </a:r>
          </a:p>
        </p:txBody>
      </p:sp>
      <p:sp>
        <p:nvSpPr>
          <p:cNvPr id="30" name="TextBox 29"/>
          <p:cNvSpPr txBox="1"/>
          <p:nvPr/>
        </p:nvSpPr>
        <p:spPr>
          <a:xfrm>
            <a:off x="276225" y="5560313"/>
            <a:ext cx="6194900" cy="194310"/>
          </a:xfrm>
          <a:prstGeom prst="rect">
            <a:avLst/>
          </a:prstGeom>
          <a:noFill/>
        </p:spPr>
        <p:txBody>
          <a:bodyPr wrap="none" lIns="0" rIns="0" tIns="0" bIns="0">
            <a:spAutoFit/>
          </a:bodyPr>
          <a:lstStyle/>
          <a:p>
            <a:r>
              <a:rPr sz="1150" b="0">
                <a:solidFill>
                  <a:srgbClr val="252423"/>
                </a:solidFill>
                <a:latin typeface="Segoe UI"/>
              </a:rPr>
              <a:t>▪ Benchmarks support price-corridor setting and margin-defence decisions across geographies.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Price Forecast &amp; Dynamics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Price forecast by sub-segment, 2026–2036, with the factors and dynamics shaping the trajectory</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Forward price trajectory to 2036 by product form type and the structural factors shaping it (US$/Litres).</a:t>
            </a:r>
          </a:p>
        </p:txBody>
      </p:sp>
      <p:sp>
        <p:nvSpPr>
          <p:cNvPr id="9" name="Rectangle 8"/>
          <p:cNvSpPr/>
          <p:nvPr/>
        </p:nvSpPr>
        <p:spPr>
          <a:xfrm>
            <a:off x="142875" y="1317574"/>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Forecast to 2036 by Product Form (US$/Litres)</a:t>
            </a:r>
          </a:p>
        </p:txBody>
      </p:sp>
      <p:graphicFrame>
        <p:nvGraphicFramePr>
          <p:cNvPr id="11" name="Table 10"/>
          <p:cNvGraphicFramePr>
            <a:graphicFrameLocks noGrp="1"/>
          </p:cNvGraphicFramePr>
          <p:nvPr/>
        </p:nvGraphicFramePr>
        <p:xfrm>
          <a:off x="152400" y="1574749"/>
          <a:ext cx="11887201" cy="1504674"/>
        </p:xfrm>
        <a:graphic>
          <a:graphicData uri="http://schemas.openxmlformats.org/drawingml/2006/table">
            <a:tbl>
              <a:tblPr>
                <a:tableStyleId>{5C22544A-7EE6-4342-B048-85BDC9FD1C3A}</a:tableStyleId>
              </a:tblPr>
              <a:tblGrid>
                <a:gridCol w="3082741"/>
                <a:gridCol w="1467410"/>
                <a:gridCol w="1467410"/>
                <a:gridCol w="1467410"/>
                <a:gridCol w="1467410"/>
                <a:gridCol w="1467410"/>
                <a:gridCol w="1467410"/>
              </a:tblGrid>
              <a:tr h="246126">
                <a:tc>
                  <a:txBody>
                    <a:bodyPr wrap="none"/>
                    <a:lstStyle/>
                    <a:p>
                      <a:pPr algn="l"/>
                      <a:r>
                        <a:rPr sz="1100" b="1">
                          <a:solidFill>
                            <a:srgbClr val="FFFFFF"/>
                          </a:solidFill>
                          <a:latin typeface="Segoe UI"/>
                        </a:rPr>
                        <a:t>Product Form</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2036F</a:t>
                      </a:r>
                      <a:endParaRPr sz="1100"/>
                    </a:p>
                  </a:txBody>
                  <a:tcPr marL="47625" marR="38100" marT="19050" marB="19050" anchor="ctr">
                    <a:solidFill>
                      <a:srgbClr val="007BA5"/>
                    </a:solidFill>
                  </a:tcPr>
                </a:tc>
              </a:tr>
              <a:tr h="629274">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9274">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2" name="TextBox 11"/>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398495"/>
            <a:ext cx="5905500" cy="31813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Factors Impacting Pricing</a:t>
            </a:r>
          </a:p>
        </p:txBody>
      </p:sp>
      <p:graphicFrame>
        <p:nvGraphicFramePr>
          <p:cNvPr id="15" name="Table 14"/>
          <p:cNvGraphicFramePr>
            <a:graphicFrameLocks noGrp="1"/>
          </p:cNvGraphicFramePr>
          <p:nvPr/>
        </p:nvGraphicFramePr>
        <p:xfrm>
          <a:off x="152400" y="3655670"/>
          <a:ext cx="5886450" cy="2714626"/>
        </p:xfrm>
        <a:graphic>
          <a:graphicData uri="http://schemas.openxmlformats.org/drawingml/2006/table">
            <a:tbl>
              <a:tblPr>
                <a:tableStyleId>{5C22544A-7EE6-4342-B048-85BDC9FD1C3A}</a:tableStyleId>
              </a:tblPr>
              <a:tblGrid>
                <a:gridCol w="2887354"/>
                <a:gridCol w="1499548"/>
                <a:gridCol w="1499548"/>
              </a:tblGrid>
              <a:tr h="246126">
                <a:tc>
                  <a:txBody>
                    <a:bodyPr wrap="none"/>
                    <a:lstStyle/>
                    <a:p>
                      <a:pPr algn="l"/>
                      <a:r>
                        <a:rPr sz="1100" b="1">
                          <a:solidFill>
                            <a:srgbClr val="FFFFFF"/>
                          </a:solidFill>
                          <a:latin typeface="Segoe UI"/>
                        </a:rPr>
                        <a:t>Pricing Factor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Direction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Impact (H/M/L)</a:t>
                      </a:r>
                      <a:endParaRPr sz="1100"/>
                    </a:p>
                  </a:txBody>
                  <a:tcPr marL="47625" marR="38100" marT="19050" marB="19050" anchor="ctr">
                    <a:solidFill>
                      <a:srgbClr val="007BA5"/>
                    </a:solidFill>
                  </a:tcPr>
                </a:tc>
              </a:tr>
              <a:tr h="246850">
                <a:tc>
                  <a:txBody>
                    <a:bodyPr wrap="none"/>
                    <a:lstStyle/>
                    <a:p>
                      <a:pPr algn="l"/>
                      <a:r>
                        <a:rPr sz="1100" b="1">
                          <a:solidFill>
                            <a:srgbClr val="252423"/>
                          </a:solidFill>
                          <a:latin typeface="Segoe UI"/>
                        </a:rPr>
                        <a:t>Input Cost</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Labor &amp; Production Costs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Technology &amp; Innovation</a:t>
                      </a:r>
                      <a:endParaRPr sz="1100"/>
                    </a:p>
                  </a:txBody>
                  <a:tcPr marL="47625" marR="38100" marT="19050" marB="19050" anchor="ctr">
                    <a:solidFill>
                      <a:srgbClr val="FFFFFF"/>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Supply Chain &amp; Logistics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Demand &amp; Market Conditions</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Competitive Landscape</a:t>
                      </a:r>
                      <a:endParaRPr sz="1100"/>
                    </a:p>
                  </a:txBody>
                  <a:tcPr marL="47625" marR="38100" marT="19050" marB="19050" anchor="ctr">
                    <a:solidFill>
                      <a:srgbClr val="F2FAFD"/>
                    </a:solidFill>
                  </a:tcPr>
                </a:tc>
                <a:tc>
                  <a:txBody>
                    <a:bodyPr wrap="none"/>
                    <a:lstStyle/>
                    <a:p>
                      <a:pPr algn="l"/>
                      <a:r>
                        <a:rPr sz="1100" b="1">
                          <a:solidFill>
                            <a:srgbClr val="D64545"/>
                          </a:solidFill>
                          <a:latin typeface="Segoe UI"/>
                        </a:rPr>
                        <a:t>▼ Downward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Regulatory &amp; Compliance Costs</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Currency &amp; Trade Dynamics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r>
              <a:tr h="246850">
                <a:tc>
                  <a:txBody>
                    <a:bodyPr wrap="none"/>
                    <a:lstStyle/>
                    <a:p>
                      <a:pPr algn="l"/>
                      <a:r>
                        <a:rPr sz="1100" b="1">
                          <a:solidFill>
                            <a:srgbClr val="252423"/>
                          </a:solidFill>
                          <a:latin typeface="Segoe UI"/>
                        </a:rPr>
                        <a:t>Brand &amp; Value Perception</a:t>
                      </a:r>
                      <a:endParaRPr sz="1100"/>
                    </a:p>
                  </a:txBody>
                  <a:tcPr marL="47625" marR="38100" marT="19050" marB="19050" anchor="ctr">
                    <a:solidFill>
                      <a:srgbClr val="FFFFFF"/>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Medium</a:t>
                      </a:r>
                      <a:endParaRPr sz="1100"/>
                    </a:p>
                  </a:txBody>
                  <a:tcPr marL="47625" marR="38100" marT="19050" marB="19050" anchor="ctr">
                    <a:solidFill>
                      <a:srgbClr val="FFFFFF"/>
                    </a:solidFill>
                  </a:tcPr>
                </a:tc>
              </a:tr>
              <a:tr h="246850">
                <a:tc>
                  <a:txBody>
                    <a:bodyPr wrap="none"/>
                    <a:lstStyle/>
                    <a:p>
                      <a:pPr algn="l"/>
                      <a:r>
                        <a:rPr sz="1100" b="1">
                          <a:solidFill>
                            <a:srgbClr val="252423"/>
                          </a:solidFill>
                          <a:latin typeface="Segoe UI"/>
                        </a:rPr>
                        <a:t>Aftermarket &amp; Service Costs</a:t>
                      </a:r>
                      <a:endParaRPr sz="1100"/>
                    </a:p>
                  </a:txBody>
                  <a:tcPr marL="47625" marR="38100" marT="19050" marB="19050" anchor="ctr">
                    <a:solidFill>
                      <a:srgbClr val="F2FAFD"/>
                    </a:solidFill>
                  </a:tcPr>
                </a:tc>
                <a:tc>
                  <a:txBody>
                    <a:bodyPr wrap="none"/>
                    <a:lstStyle/>
                    <a:p>
                      <a:pPr algn="l"/>
                      <a:r>
                        <a:rPr sz="1100" b="1">
                          <a:solidFill>
                            <a:srgbClr val="1E8E3E"/>
                          </a:solidFill>
                          <a:latin typeface="Segoe UI"/>
                        </a:rPr>
                        <a:t>▲ Upward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Low</a:t>
                      </a:r>
                      <a:endParaRPr sz="1100"/>
                    </a:p>
                  </a:txBody>
                  <a:tcPr marL="47625" marR="38100" marT="19050" marB="19050" anchor="ctr">
                    <a:solidFill>
                      <a:srgbClr val="F2FAFD"/>
                    </a:solidFill>
                  </a:tcPr>
                </a:tc>
              </a:tr>
            </a:tbl>
          </a:graphicData>
        </a:graphic>
      </p:graphicFrame>
      <p:sp>
        <p:nvSpPr>
          <p:cNvPr id="16" name="TextBox 15"/>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6200775" y="3398495"/>
            <a:ext cx="5848350" cy="31578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07BA5"/>
                </a:solidFill>
                <a:latin typeface="Segoe UI"/>
              </a:rPr>
              <a:t>Pricing Dynamics &amp; Outlook</a:t>
            </a:r>
          </a:p>
        </p:txBody>
      </p:sp>
      <p:sp>
        <p:nvSpPr>
          <p:cNvPr id="19" name="Rectangle 18"/>
          <p:cNvSpPr/>
          <p:nvPr/>
        </p:nvSpPr>
        <p:spPr>
          <a:xfrm>
            <a:off x="6334125" y="3722345"/>
            <a:ext cx="5581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7450681" y="2183449"/>
            <a:ext cx="366712" cy="533400"/>
          </a:xfrm>
          <a:prstGeom prst="rect">
            <a:avLst/>
          </a:prstGeom>
        </p:spPr>
      </p:pic>
      <p:sp>
        <p:nvSpPr>
          <p:cNvPr id="23" name="TextBox 22"/>
          <p:cNvSpPr txBox="1"/>
          <p:nvPr/>
        </p:nvSpPr>
        <p:spPr>
          <a:xfrm>
            <a:off x="6334125" y="3817595"/>
            <a:ext cx="3665924" cy="194310"/>
          </a:xfrm>
          <a:prstGeom prst="rect">
            <a:avLst/>
          </a:prstGeom>
          <a:noFill/>
        </p:spPr>
        <p:txBody>
          <a:bodyPr wrap="none" lIns="0" rIns="0" tIns="0" bIns="0">
            <a:spAutoFit/>
          </a:bodyPr>
          <a:lstStyle/>
          <a:p>
            <a:r>
              <a:rPr sz="1150" b="0">
                <a:solidFill>
                  <a:srgbClr val="252423"/>
                </a:solidFill>
                <a:latin typeface="Segoe UI"/>
              </a:rPr>
              <a:t>▪ Average product form price is projected to rise from ~</a:t>
            </a:r>
          </a:p>
        </p:txBody>
      </p:sp>
      <p:pic>
        <p:nvPicPr>
          <p:cNvPr id="24" name="Picture 23" descr="lock.png"/>
          <p:cNvPicPr>
            <a:picLocks noChangeAspect="1"/>
          </p:cNvPicPr>
          <p:nvPr/>
        </p:nvPicPr>
        <p:blipFill>
          <a:blip r:embed="rId4"/>
          <a:stretch>
            <a:fillRect/>
          </a:stretch>
        </p:blipFill>
        <p:spPr>
          <a:xfrm>
            <a:off x="9949203" y="3807371"/>
            <a:ext cx="134549" cy="195707"/>
          </a:xfrm>
          <a:prstGeom prst="rect">
            <a:avLst/>
          </a:prstGeom>
        </p:spPr>
      </p:pic>
      <p:sp>
        <p:nvSpPr>
          <p:cNvPr id="25" name="TextBox 24"/>
          <p:cNvSpPr txBox="1"/>
          <p:nvPr/>
        </p:nvSpPr>
        <p:spPr>
          <a:xfrm>
            <a:off x="10124312" y="3817595"/>
            <a:ext cx="351166" cy="194310"/>
          </a:xfrm>
          <a:prstGeom prst="rect">
            <a:avLst/>
          </a:prstGeom>
          <a:noFill/>
        </p:spPr>
        <p:txBody>
          <a:bodyPr wrap="none" lIns="0" rIns="0" tIns="0" bIns="0">
            <a:spAutoFit/>
          </a:bodyPr>
          <a:lstStyle/>
          <a:p>
            <a:r>
              <a:rPr sz="1150" b="0">
                <a:solidFill>
                  <a:srgbClr val="252423"/>
                </a:solidFill>
                <a:latin typeface="Segoe UI"/>
              </a:rPr>
              <a:t>to ~</a:t>
            </a:r>
          </a:p>
        </p:txBody>
      </p:sp>
      <p:pic>
        <p:nvPicPr>
          <p:cNvPr id="26" name="Picture 25" descr="lock.png"/>
          <p:cNvPicPr>
            <a:picLocks noChangeAspect="1"/>
          </p:cNvPicPr>
          <p:nvPr/>
        </p:nvPicPr>
        <p:blipFill>
          <a:blip r:embed="rId4"/>
          <a:stretch>
            <a:fillRect/>
          </a:stretch>
        </p:blipFill>
        <p:spPr>
          <a:xfrm>
            <a:off x="10424633" y="3807371"/>
            <a:ext cx="134549" cy="195707"/>
          </a:xfrm>
          <a:prstGeom prst="rect">
            <a:avLst/>
          </a:prstGeom>
        </p:spPr>
      </p:pic>
      <p:sp>
        <p:nvSpPr>
          <p:cNvPr id="27" name="TextBox 26"/>
          <p:cNvSpPr txBox="1"/>
          <p:nvPr/>
        </p:nvSpPr>
        <p:spPr>
          <a:xfrm>
            <a:off x="10599742" y="3817595"/>
            <a:ext cx="929363" cy="194310"/>
          </a:xfrm>
          <a:prstGeom prst="rect">
            <a:avLst/>
          </a:prstGeom>
          <a:noFill/>
        </p:spPr>
        <p:txBody>
          <a:bodyPr wrap="none" lIns="0" rIns="0" tIns="0" bIns="0">
            <a:spAutoFit/>
          </a:bodyPr>
          <a:lstStyle/>
          <a:p>
            <a:r>
              <a:rPr sz="1150" b="0">
                <a:solidFill>
                  <a:srgbClr val="252423"/>
                </a:solidFill>
                <a:latin typeface="Segoe UI"/>
              </a:rPr>
              <a:t>US$/Litres by</a:t>
            </a:r>
          </a:p>
        </p:txBody>
      </p:sp>
      <p:sp>
        <p:nvSpPr>
          <p:cNvPr id="28" name="TextBox 27"/>
          <p:cNvSpPr txBox="1"/>
          <p:nvPr/>
        </p:nvSpPr>
        <p:spPr>
          <a:xfrm>
            <a:off x="6334125" y="3992855"/>
            <a:ext cx="645281" cy="194310"/>
          </a:xfrm>
          <a:prstGeom prst="rect">
            <a:avLst/>
          </a:prstGeom>
          <a:noFill/>
        </p:spPr>
        <p:txBody>
          <a:bodyPr wrap="none" lIns="0" rIns="0" tIns="0" bIns="0">
            <a:spAutoFit/>
          </a:bodyPr>
          <a:lstStyle/>
          <a:p>
            <a:r>
              <a:rPr sz="1150" b="0">
                <a:solidFill>
                  <a:srgbClr val="252423"/>
                </a:solidFill>
                <a:latin typeface="Segoe UI"/>
              </a:rPr>
              <a:t>2036 a +</a:t>
            </a:r>
          </a:p>
        </p:txBody>
      </p:sp>
      <p:pic>
        <p:nvPicPr>
          <p:cNvPr id="29" name="Picture 28" descr="lock.png"/>
          <p:cNvPicPr>
            <a:picLocks noChangeAspect="1"/>
          </p:cNvPicPr>
          <p:nvPr/>
        </p:nvPicPr>
        <p:blipFill>
          <a:blip r:embed="rId4"/>
          <a:stretch>
            <a:fillRect/>
          </a:stretch>
        </p:blipFill>
        <p:spPr>
          <a:xfrm>
            <a:off x="6928560" y="3982631"/>
            <a:ext cx="134549" cy="195707"/>
          </a:xfrm>
          <a:prstGeom prst="rect">
            <a:avLst/>
          </a:prstGeom>
        </p:spPr>
      </p:pic>
      <p:sp>
        <p:nvSpPr>
          <p:cNvPr id="30" name="TextBox 29"/>
          <p:cNvSpPr txBox="1"/>
          <p:nvPr/>
        </p:nvSpPr>
        <p:spPr>
          <a:xfrm>
            <a:off x="7103669" y="3992855"/>
            <a:ext cx="479803" cy="194310"/>
          </a:xfrm>
          <a:prstGeom prst="rect">
            <a:avLst/>
          </a:prstGeom>
          <a:noFill/>
        </p:spPr>
        <p:txBody>
          <a:bodyPr wrap="none" lIns="0" rIns="0" tIns="0" bIns="0">
            <a:spAutoFit/>
          </a:bodyPr>
          <a:lstStyle/>
          <a:p>
            <a:r>
              <a:rPr sz="1150" b="0">
                <a:solidFill>
                  <a:srgbClr val="252423"/>
                </a:solidFill>
                <a:latin typeface="Segoe UI"/>
              </a:rPr>
              <a:t>CAGR.</a:t>
            </a:r>
          </a:p>
        </p:txBody>
      </p:sp>
      <p:sp>
        <p:nvSpPr>
          <p:cNvPr id="31" name="TextBox 30"/>
          <p:cNvSpPr txBox="1"/>
          <p:nvPr/>
        </p:nvSpPr>
        <p:spPr>
          <a:xfrm>
            <a:off x="6334125" y="4220692"/>
            <a:ext cx="4681815" cy="194310"/>
          </a:xfrm>
          <a:prstGeom prst="rect">
            <a:avLst/>
          </a:prstGeom>
          <a:noFill/>
        </p:spPr>
        <p:txBody>
          <a:bodyPr wrap="none" lIns="0" rIns="0" tIns="0" bIns="0">
            <a:spAutoFit/>
          </a:bodyPr>
          <a:lstStyle/>
          <a:p>
            <a:r>
              <a:rPr sz="1150" b="0">
                <a:solidFill>
                  <a:srgbClr val="252423"/>
                </a:solidFill>
                <a:latin typeface="Segoe UI"/>
              </a:rPr>
              <a:t>▪ 'Gaseous Helium-3' shows the strongest forecast price appreciation (+</a:t>
            </a:r>
          </a:p>
        </p:txBody>
      </p:sp>
      <p:pic>
        <p:nvPicPr>
          <p:cNvPr id="32" name="Picture 31" descr="lock.png"/>
          <p:cNvPicPr>
            <a:picLocks noChangeAspect="1"/>
          </p:cNvPicPr>
          <p:nvPr/>
        </p:nvPicPr>
        <p:blipFill>
          <a:blip r:embed="rId4"/>
          <a:stretch>
            <a:fillRect/>
          </a:stretch>
        </p:blipFill>
        <p:spPr>
          <a:xfrm>
            <a:off x="10965094" y="4210469"/>
            <a:ext cx="134549" cy="195707"/>
          </a:xfrm>
          <a:prstGeom prst="rect">
            <a:avLst/>
          </a:prstGeom>
        </p:spPr>
      </p:pic>
      <p:sp>
        <p:nvSpPr>
          <p:cNvPr id="33" name="TextBox 32"/>
          <p:cNvSpPr txBox="1"/>
          <p:nvPr/>
        </p:nvSpPr>
        <p:spPr>
          <a:xfrm>
            <a:off x="11140204" y="4220692"/>
            <a:ext cx="691764" cy="194310"/>
          </a:xfrm>
          <a:prstGeom prst="rect">
            <a:avLst/>
          </a:prstGeom>
          <a:noFill/>
        </p:spPr>
        <p:txBody>
          <a:bodyPr wrap="none" lIns="0" rIns="0" tIns="0" bIns="0">
            <a:spAutoFit/>
          </a:bodyPr>
          <a:lstStyle/>
          <a:p>
            <a:r>
              <a:rPr sz="1150" b="0">
                <a:solidFill>
                  <a:srgbClr val="252423"/>
                </a:solidFill>
                <a:latin typeface="Segoe UI"/>
              </a:rPr>
              <a:t>) over the</a:t>
            </a:r>
          </a:p>
        </p:txBody>
      </p:sp>
      <p:sp>
        <p:nvSpPr>
          <p:cNvPr id="34" name="TextBox 33"/>
          <p:cNvSpPr txBox="1"/>
          <p:nvPr/>
        </p:nvSpPr>
        <p:spPr>
          <a:xfrm>
            <a:off x="6334125" y="4395952"/>
            <a:ext cx="596788" cy="194310"/>
          </a:xfrm>
          <a:prstGeom prst="rect">
            <a:avLst/>
          </a:prstGeom>
          <a:noFill/>
        </p:spPr>
        <p:txBody>
          <a:bodyPr wrap="none" lIns="0" rIns="0" tIns="0" bIns="0">
            <a:spAutoFit/>
          </a:bodyPr>
          <a:lstStyle/>
          <a:p>
            <a:r>
              <a:rPr sz="1150" b="0">
                <a:solidFill>
                  <a:srgbClr val="252423"/>
                </a:solidFill>
                <a:latin typeface="Segoe UI"/>
              </a:rPr>
              <a:t>horizon.</a:t>
            </a:r>
          </a:p>
        </p:txBody>
      </p:sp>
      <p:sp>
        <p:nvSpPr>
          <p:cNvPr id="35" name="TextBox 34"/>
          <p:cNvSpPr txBox="1"/>
          <p:nvPr/>
        </p:nvSpPr>
        <p:spPr>
          <a:xfrm>
            <a:off x="6334125" y="4623790"/>
            <a:ext cx="5399470" cy="194310"/>
          </a:xfrm>
          <a:prstGeom prst="rect">
            <a:avLst/>
          </a:prstGeom>
          <a:noFill/>
        </p:spPr>
        <p:txBody>
          <a:bodyPr wrap="none" lIns="0" rIns="0" tIns="0" bIns="0">
            <a:spAutoFit/>
          </a:bodyPr>
          <a:lstStyle/>
          <a:p>
            <a:r>
              <a:rPr sz="1150" b="0">
                <a:solidFill>
                  <a:srgbClr val="252423"/>
                </a:solidFill>
                <a:latin typeface="Segoe UI"/>
              </a:rPr>
              <a:t>▪ Upward pressure is led by input cost and demand &amp; market conditions; efficiency</a:t>
            </a:r>
          </a:p>
        </p:txBody>
      </p:sp>
      <p:sp>
        <p:nvSpPr>
          <p:cNvPr id="36" name="TextBox 35"/>
          <p:cNvSpPr txBox="1"/>
          <p:nvPr/>
        </p:nvSpPr>
        <p:spPr>
          <a:xfrm>
            <a:off x="6334125" y="4799050"/>
            <a:ext cx="3012140" cy="194310"/>
          </a:xfrm>
          <a:prstGeom prst="rect">
            <a:avLst/>
          </a:prstGeom>
          <a:noFill/>
        </p:spPr>
        <p:txBody>
          <a:bodyPr wrap="none" lIns="0" rIns="0" tIns="0" bIns="0">
            <a:spAutoFit/>
          </a:bodyPr>
          <a:lstStyle/>
          <a:p>
            <a:r>
              <a:rPr sz="1150" b="0">
                <a:solidFill>
                  <a:srgbClr val="252423"/>
                </a:solidFill>
                <a:latin typeface="Segoe UI"/>
              </a:rPr>
              <a:t>and competitive intensity work the other way.</a:t>
            </a:r>
          </a:p>
        </p:txBody>
      </p:sp>
      <p:sp>
        <p:nvSpPr>
          <p:cNvPr id="37" name="TextBox 36"/>
          <p:cNvSpPr txBox="1"/>
          <p:nvPr/>
        </p:nvSpPr>
        <p:spPr>
          <a:xfrm>
            <a:off x="6334125" y="5026888"/>
            <a:ext cx="5562600" cy="194310"/>
          </a:xfrm>
          <a:prstGeom prst="rect">
            <a:avLst/>
          </a:prstGeom>
          <a:noFill/>
        </p:spPr>
        <p:txBody>
          <a:bodyPr wrap="none" lIns="0" rIns="0" tIns="0" bIns="0">
            <a:spAutoFit/>
          </a:bodyPr>
          <a:lstStyle/>
          <a:p>
            <a:r>
              <a:rPr sz="1150" b="0">
                <a:solidFill>
                  <a:srgbClr val="252423"/>
                </a:solidFill>
                <a:latin typeface="Segoe UI"/>
              </a:rPr>
              <a:t>▪ Net outlook: modest, structural price appreciation mix and geography will determine</a:t>
            </a:r>
          </a:p>
        </p:txBody>
      </p:sp>
      <p:sp>
        <p:nvSpPr>
          <p:cNvPr id="38" name="TextBox 37"/>
          <p:cNvSpPr txBox="1"/>
          <p:nvPr/>
        </p:nvSpPr>
        <p:spPr>
          <a:xfrm>
            <a:off x="6334125" y="5202148"/>
            <a:ext cx="1088534" cy="194310"/>
          </a:xfrm>
          <a:prstGeom prst="rect">
            <a:avLst/>
          </a:prstGeom>
          <a:noFill/>
        </p:spPr>
        <p:txBody>
          <a:bodyPr wrap="none" lIns="0" rIns="0" tIns="0" bIns="0">
            <a:spAutoFit/>
          </a:bodyPr>
          <a:lstStyle/>
          <a:p>
            <a:r>
              <a:rPr sz="1150" b="0">
                <a:solidFill>
                  <a:srgbClr val="252423"/>
                </a:solidFill>
                <a:latin typeface="Segoe UI"/>
              </a:rPr>
              <a:t>realised pricing.</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Competitor Pricing Strategies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leading players position price: tier, price position versus peers and strategy focus</a:t>
            </a:r>
          </a:p>
        </p:txBody>
      </p:sp>
      <p:sp>
        <p:nvSpPr>
          <p:cNvPr id="8" name="Rectangle 7"/>
          <p:cNvSpPr/>
          <p:nvPr/>
        </p:nvSpPr>
        <p:spPr>
          <a:xfrm>
            <a:off x="142875" y="1007261"/>
            <a:ext cx="769620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Competitor pricing strategies how leading players position price and the levers they use to sustain it.</a:t>
            </a:r>
          </a:p>
        </p:txBody>
      </p:sp>
      <p:sp>
        <p:nvSpPr>
          <p:cNvPr id="9" name="Rectangle 8"/>
          <p:cNvSpPr/>
          <p:nvPr/>
        </p:nvSpPr>
        <p:spPr>
          <a:xfrm>
            <a:off x="142875" y="1317574"/>
            <a:ext cx="7696200" cy="392454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1269966"/>
                <a:gridCol w="621329"/>
                <a:gridCol w="1395742"/>
                <a:gridCol w="1296445"/>
                <a:gridCol w="3093668"/>
              </a:tblGrid>
              <a:tr h="246126">
                <a:tc>
                  <a:txBody>
                    <a:bodyPr wrap="none"/>
                    <a:lstStyle/>
                    <a:p>
                      <a:pPr algn="l"/>
                      <a:r>
                        <a:rPr sz="1100" b="1">
                          <a:solidFill>
                            <a:srgbClr val="FFFFFF"/>
                          </a:solidFill>
                          <a:latin typeface="Segoe UI"/>
                        </a:rPr>
                        <a:t>Company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Tier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Price Position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ASP vs Peers</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Strategy Focus</a:t>
                      </a:r>
                      <a:endParaRPr sz="1100"/>
                    </a:p>
                  </a:txBody>
                  <a:tcPr marL="47625" marR="38100" marT="19050" marB="19050" anchor="ctr">
                    <a:solidFill>
                      <a:srgbClr val="007BA5"/>
                    </a:solidFill>
                  </a:tcPr>
                </a:tc>
              </a:tr>
              <a:tr h="562270">
                <a:tc>
                  <a:txBody>
                    <a:bodyPr wrap="none"/>
                    <a:lstStyle/>
                    <a:p>
                      <a:pPr algn="l"/>
                      <a:r>
                        <a:rPr sz="1100" b="1">
                          <a:solidFill>
                            <a:srgbClr val="252423"/>
                          </a:solidFill>
                          <a:latin typeface="Segoe UI"/>
                        </a:rPr>
                        <a:t>Air Liquide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Linde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Value-based premium pricing</a:t>
                      </a:r>
                      <a:endParaRPr sz="1100"/>
                    </a:p>
                  </a:txBody>
                  <a:tcPr marL="47625" marR="38100" marT="19050" marB="19050" anchor="ctr">
                    <a:solidFill>
                      <a:srgbClr val="F2FAFD"/>
                    </a:solidFill>
                  </a:tcPr>
                </a:tc>
              </a:tr>
              <a:tr h="562270">
                <a:tc>
                  <a:txBody>
                    <a:bodyPr wrap="none"/>
                    <a:lstStyle/>
                    <a:p>
                      <a:pPr algn="l"/>
                      <a:r>
                        <a:rPr sz="1100" b="1">
                          <a:solidFill>
                            <a:srgbClr val="252423"/>
                          </a:solidFill>
                          <a:latin typeface="Segoe UI"/>
                        </a:rPr>
                        <a:t>Chemgas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Airgas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 pricing with mix upsell</a:t>
                      </a:r>
                      <a:endParaRPr sz="1100"/>
                    </a:p>
                  </a:txBody>
                  <a:tcPr marL="47625" marR="38100" marT="19050" marB="19050" anchor="ctr">
                    <a:solidFill>
                      <a:srgbClr val="F2FAFD"/>
                    </a:solidFill>
                  </a:tcPr>
                </a:tc>
              </a:tr>
              <a:tr h="562270">
                <a:tc>
                  <a:txBody>
                    <a:bodyPr wrap="none"/>
                    <a:lstStyle/>
                    <a:p>
                      <a:pPr algn="l"/>
                      <a:r>
                        <a:rPr sz="1100" b="1">
                          <a:solidFill>
                            <a:srgbClr val="252423"/>
                          </a:solidFill>
                          <a:latin typeface="Segoe UI"/>
                        </a:rPr>
                        <a:t>Merck KGaA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Tier 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52423"/>
                          </a:solidFill>
                          <a:latin typeface="Segoe UI"/>
                        </a:rPr>
                        <a:t>Eurisotop</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Tier 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Parity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Competitive / discount-led pricing</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5351641"/>
            <a:ext cx="7696200" cy="36507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Note: competitor figures are indicative derived from market modelling and expert validation, not company disclosures.</a:t>
            </a:r>
          </a:p>
        </p:txBody>
      </p:sp>
      <p:sp>
        <p:nvSpPr>
          <p:cNvPr id="13" name="Rectangle 12"/>
          <p:cNvSpPr/>
          <p:nvPr/>
        </p:nvSpPr>
        <p:spPr>
          <a:xfrm>
            <a:off x="7915275" y="1317574"/>
            <a:ext cx="41338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07BA5"/>
                </a:solidFill>
                <a:latin typeface="Segoe UI"/>
              </a:rPr>
              <a:t>Competitive Pricing Themes</a:t>
            </a:r>
          </a:p>
        </p:txBody>
      </p:sp>
      <p:sp>
        <p:nvSpPr>
          <p:cNvPr id="15" name="Rectangle 14"/>
          <p:cNvSpPr/>
          <p:nvPr/>
        </p:nvSpPr>
        <p:spPr>
          <a:xfrm>
            <a:off x="8048625" y="164142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Emerging players compete on value pricing, trading margin for access and volume in price-sensitive regions.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Across tiers, R&amp;D investment and selective M&amp;A are the primary levers to move up the price ladder over time.</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4"/>
          <a:stretch>
            <a:fillRect/>
          </a:stretch>
        </p:blipFill>
        <p:spPr>
          <a:xfrm>
            <a:off x="3919638" y="3086680"/>
            <a:ext cx="330041" cy="48006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Value Chain &amp; Stakeholder Mapping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Mapping of the value chain stages, the stakeholders at each stage and the value added along the chain</a:t>
            </a:r>
          </a:p>
        </p:txBody>
      </p:sp>
      <p:sp>
        <p:nvSpPr>
          <p:cNvPr id="8" name="TextBox 7"/>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05E5C"/>
                </a:solidFill>
                <a:latin typeface="Segoe UI"/>
              </a:rPr>
              <a:t>End-to-end value chain with the key stakeholders at each stage and their indicative contribution to value addition.</a:t>
            </a:r>
          </a:p>
        </p:txBody>
      </p:sp>
      <p:sp>
        <p:nvSpPr>
          <p:cNvPr id="9" name="Right Arrow 8"/>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Raw Material</a:t>
            </a:r>
          </a:p>
          <a:p>
            <a:pPr algn="ctr">
              <a:lnSpc>
                <a:spcPct val="100000"/>
              </a:lnSpc>
            </a:pPr>
            <a:r>
              <a:rPr sz="1100" b="1">
                <a:solidFill>
                  <a:srgbClr val="0E3A5F"/>
                </a:solidFill>
                <a:latin typeface="Segoe UI"/>
              </a:rPr>
              <a:t>Suppliers</a:t>
            </a:r>
          </a:p>
        </p:txBody>
      </p:sp>
      <p:sp>
        <p:nvSpPr>
          <p:cNvPr id="14" name="Oval 13"/>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23950" y="1719155"/>
            <a:ext cx="800100" cy="766655"/>
          </a:xfrm>
          <a:prstGeom prst="ellipse">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00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20" name="Rectangle 19"/>
          <p:cNvSpPr/>
          <p:nvPr/>
        </p:nvSpPr>
        <p:spPr>
          <a:xfrm>
            <a:off x="457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905646"/>
            <a:ext cx="2133600" cy="4563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Raw Material Suppliers</a:t>
            </a:r>
          </a:p>
        </p:txBody>
      </p:sp>
      <p:sp>
        <p:nvSpPr>
          <p:cNvPr id="23" name="TextBox 22"/>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24" name="TextBox 23"/>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Growers and primary producers supply core inputs; some forward-integrate into small-scale processing.</a:t>
            </a:r>
          </a:p>
        </p:txBody>
      </p:sp>
      <p:sp>
        <p:nvSpPr>
          <p:cNvPr id="25" name="TextBox 24"/>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Manufacturers</a:t>
            </a:r>
          </a:p>
        </p:txBody>
      </p:sp>
      <p:sp>
        <p:nvSpPr>
          <p:cNvPr id="26" name="Oval 25"/>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409950" y="1719155"/>
            <a:ext cx="800100" cy="766655"/>
          </a:xfrm>
          <a:prstGeom prst="ellipse">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286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33" name="Rectangle 32"/>
          <p:cNvSpPr/>
          <p:nvPr/>
        </p:nvSpPr>
        <p:spPr>
          <a:xfrm>
            <a:off x="2743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0" y="2905646"/>
            <a:ext cx="2133600" cy="4563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Manufacturers / Processors</a:t>
            </a:r>
          </a:p>
        </p:txBody>
      </p:sp>
      <p:sp>
        <p:nvSpPr>
          <p:cNvPr id="36" name="TextBox 35"/>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37" name="TextBox 36"/>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Convert inputs into finished and semi-finished product the single largest value-addition stage.</a:t>
            </a:r>
          </a:p>
        </p:txBody>
      </p:sp>
      <p:sp>
        <p:nvSpPr>
          <p:cNvPr id="38" name="TextBox 37"/>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Distributors</a:t>
            </a:r>
          </a:p>
        </p:txBody>
      </p:sp>
      <p:sp>
        <p:nvSpPr>
          <p:cNvPr id="39" name="Oval 38"/>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95950" y="1719155"/>
            <a:ext cx="800100" cy="766655"/>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972175" y="2148117"/>
            <a:ext cx="85725" cy="82142"/>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153150" y="2148117"/>
            <a:ext cx="85725" cy="82142"/>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572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46" name="Rectangle 45"/>
          <p:cNvSpPr/>
          <p:nvPr/>
        </p:nvSpPr>
        <p:spPr>
          <a:xfrm>
            <a:off x="5029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0" y="2905646"/>
            <a:ext cx="2133600" cy="4563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Distributors &amp; Wholesalers</a:t>
            </a:r>
          </a:p>
        </p:txBody>
      </p:sp>
      <p:sp>
        <p:nvSpPr>
          <p:cNvPr id="49" name="TextBox 48"/>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50" name="TextBox 49"/>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Move product to market, hold inventory and provide logistics, reach and credit to downstream channels.</a:t>
            </a:r>
          </a:p>
        </p:txBody>
      </p:sp>
      <p:sp>
        <p:nvSpPr>
          <p:cNvPr id="51" name="TextBox 50"/>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Retailers</a:t>
            </a:r>
          </a:p>
        </p:txBody>
      </p:sp>
      <p:sp>
        <p:nvSpPr>
          <p:cNvPr id="52" name="Oval 51"/>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981950" y="1719155"/>
            <a:ext cx="800100" cy="766655"/>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43900" y="2138990"/>
            <a:ext cx="76200" cy="10952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858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58" name="Rectangle 57"/>
          <p:cNvSpPr/>
          <p:nvPr/>
        </p:nvSpPr>
        <p:spPr>
          <a:xfrm>
            <a:off x="7315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15200" y="2905646"/>
            <a:ext cx="2133600" cy="4563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Retailers &amp; Channels</a:t>
            </a:r>
          </a:p>
        </p:txBody>
      </p:sp>
      <p:sp>
        <p:nvSpPr>
          <p:cNvPr id="61" name="TextBox 60"/>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62" name="TextBox 61"/>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Sell to end customers across offline and online channels, capturing point-of-sale margin and brand visibility.</a:t>
            </a:r>
          </a:p>
        </p:txBody>
      </p:sp>
      <p:sp>
        <p:nvSpPr>
          <p:cNvPr id="63" name="TextBox 62"/>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E3A5F"/>
                </a:solidFill>
                <a:latin typeface="Segoe UI"/>
              </a:rPr>
              <a:t>End Users</a:t>
            </a:r>
          </a:p>
        </p:txBody>
      </p:sp>
      <p:sp>
        <p:nvSpPr>
          <p:cNvPr id="64" name="Oval 63"/>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267950" y="1719155"/>
            <a:ext cx="800100" cy="766655"/>
          </a:xfrm>
          <a:prstGeom prst="ellipse">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144125" y="2595333"/>
            <a:ext cx="1047750" cy="219044"/>
          </a:xfrm>
          <a:prstGeom prst="roundRect">
            <a:avLst>
              <a:gd name="adj" fmla="val 50000"/>
            </a:avLst>
          </a:prstGeom>
          <a:solidFill>
            <a:srgbClr val="F0E8F6"/>
          </a:solidFill>
          <a:ln w="9525">
            <a:solidFill>
              <a:srgbClr val="7A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7A3FA0"/>
                </a:solidFill>
                <a:latin typeface="Segoe UI"/>
              </a:rPr>
              <a:t> </a:t>
            </a:r>
          </a:p>
        </p:txBody>
      </p:sp>
      <p:sp>
        <p:nvSpPr>
          <p:cNvPr id="69" name="Rectangle 68"/>
          <p:cNvSpPr/>
          <p:nvPr/>
        </p:nvSpPr>
        <p:spPr>
          <a:xfrm>
            <a:off x="9601200" y="2905646"/>
            <a:ext cx="2133600" cy="228171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601200" y="2905646"/>
            <a:ext cx="2133600" cy="4563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E3A5F"/>
                </a:solidFill>
                <a:latin typeface="Segoe UI"/>
              </a:rPr>
              <a:t>End Users</a:t>
            </a:r>
          </a:p>
        </p:txBody>
      </p:sp>
      <p:sp>
        <p:nvSpPr>
          <p:cNvPr id="72" name="TextBox 71"/>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05E5C"/>
                </a:solidFill>
                <a:latin typeface="Segoe UI"/>
              </a:rPr>
              <a:t>Base Year: 2026</a:t>
            </a:r>
          </a:p>
        </p:txBody>
      </p:sp>
      <p:sp>
        <p:nvSpPr>
          <p:cNvPr id="73" name="TextBox 72"/>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52423"/>
                </a:solidFill>
                <a:latin typeface="Segoe UI"/>
              </a:rPr>
              <a:t>Consumers and downstream industries; large end users sometimes backward-integrate to secure supply and cost.</a:t>
            </a:r>
          </a:p>
        </p:txBody>
      </p:sp>
      <p:sp>
        <p:nvSpPr>
          <p:cNvPr id="74" name="Rectangle 73"/>
          <p:cNvSpPr/>
          <p:nvPr/>
        </p:nvSpPr>
        <p:spPr>
          <a:xfrm>
            <a:off x="381000" y="5315134"/>
            <a:ext cx="11430000" cy="120474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07BA5"/>
                </a:solidFill>
                <a:latin typeface="Segoe UI"/>
              </a:rPr>
              <a:t>Value-Added Read-out</a:t>
            </a:r>
          </a:p>
        </p:txBody>
      </p:sp>
      <p:sp>
        <p:nvSpPr>
          <p:cNvPr id="76" name="Rectangle 75"/>
          <p:cNvSpPr/>
          <p:nvPr/>
        </p:nvSpPr>
        <p:spPr>
          <a:xfrm>
            <a:off x="514350" y="5625447"/>
            <a:ext cx="111633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a:p>
            <a:pPr algn="l">
              <a:lnSpc>
                <a:spcPct val="100000"/>
              </a:lnSpc>
              <a:spcBef>
                <a:spcPts val="0"/>
              </a:spcBef>
              <a:spcAft>
                <a:spcPts val="300"/>
              </a:spcAft>
            </a:pPr>
            <a:r>
              <a:rPr sz="1100" b="0">
                <a:solidFill>
                  <a:srgbClr val="00A4DC"/>
                </a:solidFill>
                <a:latin typeface="Segoe UI"/>
              </a:rPr>
              <a:t/>
            </a:r>
            <a:r>
              <a:rPr sz="1100" b="0">
                <a:solidFill>
                  <a:srgbClr val="252423"/>
                </a:solidFill>
                <a:latin typeface="Segoe UI"/>
              </a:rPr>
              <a:t/>
            </a:r>
          </a:p>
        </p:txBody>
      </p:sp>
      <p:sp>
        <p:nvSpPr>
          <p:cNvPr id="78" name="TextBox 7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6494190" cy="153161"/>
          </a:xfrm>
          <a:prstGeom prst="rect">
            <a:avLst/>
          </a:prstGeom>
          <a:noFill/>
        </p:spPr>
        <p:txBody>
          <a:bodyPr wrap="none" lIns="0" rIns="0" tIns="0" bIns="0">
            <a:spAutoFit/>
          </a:bodyPr>
          <a:lstStyle/>
          <a:p>
            <a:r>
              <a:rPr sz="879" b="0">
                <a:solidFill>
                  <a:srgbClr val="252423"/>
                </a:solidFill>
                <a:latin typeface="Segoe UI"/>
              </a:rPr>
              <a:t>▪ The Helium-3 Market value chain runs from raw-material suppliers through manufacturers, distributors and retailers to end users.</a:t>
            </a:r>
          </a:p>
        </p:txBody>
      </p:sp>
      <p:sp>
        <p:nvSpPr>
          <p:cNvPr id="85" name="TextBox 84"/>
          <p:cNvSpPr txBox="1"/>
          <p:nvPr/>
        </p:nvSpPr>
        <p:spPr>
          <a:xfrm>
            <a:off x="514350" y="5891458"/>
            <a:ext cx="3337659" cy="153161"/>
          </a:xfrm>
          <a:prstGeom prst="rect">
            <a:avLst/>
          </a:prstGeom>
          <a:noFill/>
        </p:spPr>
        <p:txBody>
          <a:bodyPr wrap="none" lIns="0" rIns="0" tIns="0" bIns="0">
            <a:spAutoFit/>
          </a:bodyPr>
          <a:lstStyle/>
          <a:p>
            <a:r>
              <a:rPr sz="879" b="0">
                <a:solidFill>
                  <a:srgbClr val="252423"/>
                </a:solidFill>
                <a:latin typeface="Segoe U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795210" y="5883635"/>
            <a:ext cx="102959" cy="149758"/>
          </a:xfrm>
          <a:prstGeom prst="rect">
            <a:avLst/>
          </a:prstGeom>
        </p:spPr>
      </p:pic>
      <p:sp>
        <p:nvSpPr>
          <p:cNvPr id="87" name="TextBox 86"/>
          <p:cNvSpPr txBox="1"/>
          <p:nvPr/>
        </p:nvSpPr>
        <p:spPr>
          <a:xfrm>
            <a:off x="3929207" y="5891458"/>
            <a:ext cx="2297569" cy="153161"/>
          </a:xfrm>
          <a:prstGeom prst="rect">
            <a:avLst/>
          </a:prstGeom>
          <a:noFill/>
        </p:spPr>
        <p:txBody>
          <a:bodyPr wrap="none" lIns="0" rIns="0" tIns="0" bIns="0">
            <a:spAutoFit/>
          </a:bodyPr>
          <a:lstStyle/>
          <a:p>
            <a:r>
              <a:rPr sz="879" b="0">
                <a:solidFill>
                  <a:srgbClr val="252423"/>
                </a:solidFill>
                <a:latin typeface="Segoe UI"/>
              </a:rPr>
              <a:t>), reflecting processing and scale advantages.</a:t>
            </a:r>
          </a:p>
        </p:txBody>
      </p:sp>
      <p:sp>
        <p:nvSpPr>
          <p:cNvPr id="88" name="TextBox 87"/>
          <p:cNvSpPr txBox="1"/>
          <p:nvPr/>
        </p:nvSpPr>
        <p:spPr>
          <a:xfrm>
            <a:off x="514350" y="6065804"/>
            <a:ext cx="6159640" cy="153161"/>
          </a:xfrm>
          <a:prstGeom prst="rect">
            <a:avLst/>
          </a:prstGeom>
          <a:noFill/>
        </p:spPr>
        <p:txBody>
          <a:bodyPr wrap="none" lIns="0" rIns="0" tIns="0" bIns="0">
            <a:spAutoFit/>
          </a:bodyPr>
          <a:lstStyle/>
          <a:p>
            <a:r>
              <a:rPr sz="879" b="0">
                <a:solidFill>
                  <a:srgbClr val="252423"/>
                </a:solidFill>
                <a:latin typeface="Segoe UI"/>
              </a:rPr>
              <a:t>▪ Forward and backward integration is common some suppliers process, and some large end users produce their own input.</a:t>
            </a:r>
          </a:p>
        </p:txBody>
      </p:sp>
      <p:sp>
        <p:nvSpPr>
          <p:cNvPr id="89" name="TextBox 88"/>
          <p:cNvSpPr txBox="1"/>
          <p:nvPr/>
        </p:nvSpPr>
        <p:spPr>
          <a:xfrm>
            <a:off x="514350" y="6240149"/>
            <a:ext cx="4041824" cy="153161"/>
          </a:xfrm>
          <a:prstGeom prst="rect">
            <a:avLst/>
          </a:prstGeom>
          <a:noFill/>
        </p:spPr>
        <p:txBody>
          <a:bodyPr wrap="none" lIns="0" rIns="0" tIns="0" bIns="0">
            <a:spAutoFit/>
          </a:bodyPr>
          <a:lstStyle/>
          <a:p>
            <a:r>
              <a:rPr sz="879" b="0">
                <a:solidFill>
                  <a:srgbClr val="252423"/>
                </a:solidFill>
                <a:latin typeface="Segoe UI"/>
              </a:rPr>
              <a:t>▪ Percentages show each stage's indicative share of value added along the chain.</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Industry-Wide Operating Margin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Operating margin by region and value chain node, highlighting where value concentrates along the chain</a:t>
            </a:r>
          </a:p>
        </p:txBody>
      </p:sp>
      <p:sp>
        <p:nvSpPr>
          <p:cNvPr id="8" name="Rectangle 7"/>
          <p:cNvSpPr/>
          <p:nvPr/>
        </p:nvSpPr>
        <p:spPr>
          <a:xfrm>
            <a:off x="142875" y="981075"/>
            <a:ext cx="11906250" cy="3667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Helium-3 Market Operating Margin by Region &amp; Node</a:t>
            </a:r>
          </a:p>
        </p:txBody>
      </p:sp>
      <p:graphicFrame>
        <p:nvGraphicFramePr>
          <p:cNvPr id="10" name="Table 9"/>
          <p:cNvGraphicFramePr>
            <a:graphicFrameLocks noGrp="1"/>
          </p:cNvGraphicFramePr>
          <p:nvPr/>
        </p:nvGraphicFramePr>
        <p:xfrm>
          <a:off x="152400" y="1238250"/>
          <a:ext cx="11887198" cy="3200406"/>
        </p:xfrm>
        <a:graphic>
          <a:graphicData uri="http://schemas.openxmlformats.org/drawingml/2006/table">
            <a:tbl>
              <a:tblPr>
                <a:tableStyleId>{5C22544A-7EE6-4342-B048-85BDC9FD1C3A}</a:tableStyleId>
              </a:tblPr>
              <a:tblGrid>
                <a:gridCol w="1227386"/>
                <a:gridCol w="2664953"/>
                <a:gridCol w="2664953"/>
                <a:gridCol w="2664953"/>
                <a:gridCol w="2664953"/>
              </a:tblGrid>
              <a:tr h="246126">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Node of Supply Chain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Operating Margin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Comparison to Parent Market</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Notes</a:t>
                      </a:r>
                      <a:endParaRPr sz="1100"/>
                    </a:p>
                  </a:txBody>
                  <a:tcPr marL="47625" marR="38100" marT="19050" marB="19050" anchor="ctr">
                    <a:solidFill>
                      <a:srgbClr val="007BA5"/>
                    </a:solidFill>
                  </a:tcPr>
                </a:tc>
              </a:tr>
              <a:tr h="246190">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r h="246190">
                <a:tc>
                  <a:txBody>
                    <a:bodyPr wrap="none"/>
                    <a:lstStyle/>
                    <a:p>
                      <a:pPr algn="l"/>
                      <a:r>
                        <a:rPr sz="1100" b="1">
                          <a:solidFill>
                            <a:srgbClr val="252423"/>
                          </a:solidFill>
                          <a:latin typeface="Segoe UI"/>
                        </a:rPr>
                        <a:t>Latin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r h="246190">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Manufacturers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Highest margins (value-add + scale)</a:t>
                      </a:r>
                      <a:endParaRPr sz="1100"/>
                    </a:p>
                  </a:txBody>
                  <a:tcPr marL="47625" marR="38100" marT="19050" marB="19050" anchor="ctr">
                    <a:solidFill>
                      <a:srgbClr val="F2FA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Retailers</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Channel-dependent PoS margin</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781550"/>
            <a:ext cx="11906250" cy="1847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07BA5"/>
                </a:solidFill>
                <a:latin typeface="Segoe UI"/>
              </a:rPr>
              <a:t>How to Read This</a:t>
            </a:r>
          </a:p>
        </p:txBody>
      </p:sp>
      <p:sp>
        <p:nvSpPr>
          <p:cNvPr id="14" name="Rectangle 13"/>
          <p:cNvSpPr/>
          <p:nvPr/>
        </p:nvSpPr>
        <p:spPr>
          <a:xfrm>
            <a:off x="276225" y="5105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Node of Supply Chain: each major stage, from raw-material suppliers through to retailers.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Operating Margin: the indicative margin earned at each node, by region.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Margins are broken down by both region and node to surface where value concentrates along the chain.</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6523001" y="2694815"/>
            <a:ext cx="366712" cy="533400"/>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Buyers Assessment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Assessment of buyers and end users by volume, average price and revenue, highlighting purchasing power</a:t>
            </a:r>
          </a:p>
        </p:txBody>
      </p:sp>
      <p:sp>
        <p:nvSpPr>
          <p:cNvPr id="8" name="Rectangle 7"/>
          <p:cNvSpPr/>
          <p:nvPr/>
        </p:nvSpPr>
        <p:spPr>
          <a:xfrm>
            <a:off x="142875" y="981075"/>
            <a:ext cx="11906250" cy="3371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Helium-3 Market Buyers / End-User Assessment</a:t>
            </a:r>
          </a:p>
        </p:txBody>
      </p:sp>
      <p:graphicFrame>
        <p:nvGraphicFramePr>
          <p:cNvPr id="10" name="Table 9"/>
          <p:cNvGraphicFramePr>
            <a:graphicFrameLocks noGrp="1"/>
          </p:cNvGraphicFramePr>
          <p:nvPr/>
        </p:nvGraphicFramePr>
        <p:xfrm>
          <a:off x="152400" y="1238250"/>
          <a:ext cx="11887200" cy="2905122"/>
        </p:xfrm>
        <a:graphic>
          <a:graphicData uri="http://schemas.openxmlformats.org/drawingml/2006/table">
            <a:tbl>
              <a:tblPr>
                <a:tableStyleId>{5C22544A-7EE6-4342-B048-85BDC9FD1C3A}</a:tableStyleId>
              </a:tblPr>
              <a:tblGrid>
                <a:gridCol w="2030058"/>
                <a:gridCol w="1451185"/>
                <a:gridCol w="1372738"/>
                <a:gridCol w="1016931"/>
                <a:gridCol w="1347380"/>
                <a:gridCol w="1071332"/>
                <a:gridCol w="1105678"/>
                <a:gridCol w="1012970"/>
                <a:gridCol w="1478928"/>
              </a:tblGrid>
              <a:tr h="438912">
                <a:tc>
                  <a:txBody>
                    <a:bodyPr wrap="none"/>
                    <a:lstStyle/>
                    <a:p>
                      <a:pPr algn="l"/>
                      <a:r>
                        <a:rPr sz="1100" b="1">
                          <a:solidFill>
                            <a:srgbClr val="FFFFFF"/>
                          </a:solidFill>
                          <a:latin typeface="Segoe UI"/>
                        </a:rPr>
                        <a:t>Company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Buyer Category</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Buyer / End-User Type</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Procurement Vol.</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Avg Price (US$/Litres)</a:t>
                      </a:r>
                      <a:endParaRPr sz="1100"/>
                    </a:p>
                  </a:txBody>
                  <a:tcPr marL="47625" marR="38100" marT="19050" marB="19050" anchor="ctr">
                    <a:solidFill>
                      <a:srgbClr val="007BA5"/>
                    </a:solidFill>
                  </a:tcPr>
                </a:tc>
                <a:tc>
                  <a:txBody>
                    <a:bodyPr wrap="square"/>
                    <a:lstStyle/>
                    <a:p>
                      <a:pPr algn="ctr"/>
                      <a:r>
                        <a:rPr sz="1100" b="1">
                          <a:solidFill>
                            <a:srgbClr val="FFFFFF"/>
                          </a:solidFill>
                          <a:latin typeface="Segoe UI"/>
                        </a:rPr>
                        <a:t>Revenue (US$ Mn)</a:t>
                      </a:r>
                      <a:endParaRPr sz="1100"/>
                    </a:p>
                  </a:txBody>
                  <a:tcPr marL="47625" marR="38100" marT="19050" marB="19050" anchor="ctr">
                    <a:solidFill>
                      <a:srgbClr val="007BA5"/>
                    </a:solidFill>
                  </a:tcPr>
                </a:tc>
                <a:tc>
                  <a:txBody>
                    <a:bodyPr wrap="square"/>
                    <a:lstStyle/>
                    <a:p>
                      <a:pPr algn="l"/>
                      <a:r>
                        <a:rPr sz="1100" b="1">
                          <a:solidFill>
                            <a:srgbClr val="FFFFFF"/>
                          </a:solidFill>
                          <a:latin typeface="Segoe UI"/>
                        </a:rPr>
                        <a:t>Key Selection Factor</a:t>
                      </a:r>
                      <a:endParaRPr sz="1100"/>
                    </a:p>
                  </a:txBody>
                  <a:tcPr marL="47625" marR="38100" marT="19050" marB="19050" anchor="ctr">
                    <a:solidFill>
                      <a:srgbClr val="007BA5"/>
                    </a:solidFill>
                  </a:tcPr>
                </a:tc>
              </a:tr>
              <a:tr h="246621">
                <a:tc>
                  <a:txBody>
                    <a:bodyPr wrap="none"/>
                    <a:lstStyle/>
                    <a:p>
                      <a:pPr algn="l"/>
                      <a:r>
                        <a:rPr sz="1100" b="1">
                          <a:solidFill>
                            <a:srgbClr val="252423"/>
                          </a:solidFill>
                          <a:latin typeface="Segoe UI"/>
                        </a:rPr>
                        <a:t>Air Liquide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U.S.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Linde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Canada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Quality &amp; compliance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Chemgas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Retailer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Airgas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Brazil</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Others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Contract / OEM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Capacity &amp; scale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Merck KGaA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Chile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Eurisotop</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Rest of 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Price &amp; reliability</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ISOFLEX USA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East Asia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Retailer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DWS Specialty Gas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Japan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East Asia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Others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Contract / OEM</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Lead time &amp; service</a:t>
                      </a:r>
                      <a:endParaRPr sz="1100"/>
                    </a:p>
                  </a:txBody>
                  <a:tcPr marL="47625" marR="38100" marT="19050" marB="19050" anchor="ctr">
                    <a:solidFill>
                      <a:srgbClr val="F2FAFD"/>
                    </a:solidFill>
                  </a:tcPr>
                </a:tc>
              </a:tr>
              <a:tr h="246621">
                <a:tc>
                  <a:txBody>
                    <a:bodyPr wrap="none"/>
                    <a:lstStyle/>
                    <a:p>
                      <a:pPr algn="l"/>
                      <a:r>
                        <a:rPr sz="1100" b="1">
                          <a:solidFill>
                            <a:srgbClr val="252423"/>
                          </a:solidFill>
                          <a:latin typeface="Segoe UI"/>
                        </a:rPr>
                        <a:t>Wuhan Baisida Gas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East Asia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Manufacturer</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52423"/>
                          </a:solidFill>
                          <a:latin typeface="Segoe UI"/>
                        </a:rPr>
                        <a:t>Shanghai Wechem Chemical</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India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South Asia &amp; Pacific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Distributor</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B2B / Institutional</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Brand &amp; support</a:t>
                      </a:r>
                      <a:endParaRPr sz="1100"/>
                    </a:p>
                  </a:txBody>
                  <a:tcPr marL="47625" marR="38100" marT="19050" marB="19050" anchor="ctr">
                    <a:solidFill>
                      <a:srgbClr val="F2FAFD"/>
                    </a:solidFill>
                  </a:tcPr>
                </a:tc>
              </a:tr>
            </a:tbl>
          </a:graphicData>
        </a:graphic>
      </p:graphicFrame>
      <p:sp>
        <p:nvSpPr>
          <p:cNvPr id="11" name="TextBox 10"/>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2" name="Rectangle 11"/>
          <p:cNvSpPr/>
          <p:nvPr/>
        </p:nvSpPr>
        <p:spPr>
          <a:xfrm>
            <a:off x="142875" y="4486275"/>
            <a:ext cx="11906250" cy="2143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07BA5"/>
                </a:solidFill>
                <a:latin typeface="Segoe UI"/>
              </a:rPr>
              <a:t>Notes</a:t>
            </a:r>
          </a:p>
        </p:txBody>
      </p:sp>
      <p:sp>
        <p:nvSpPr>
          <p:cNvPr id="14" name="Rectangle 13"/>
          <p:cNvSpPr/>
          <p:nvPr/>
        </p:nvSpPr>
        <p:spPr>
          <a:xfrm>
            <a:off x="276225" y="48101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6" name="TextBox 1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 name="Picture 16" descr="lock.png"/>
          <p:cNvPicPr>
            <a:picLocks noChangeAspect="1"/>
          </p:cNvPicPr>
          <p:nvPr/>
        </p:nvPicPr>
        <p:blipFill>
          <a:blip r:embed="rId4"/>
          <a:stretch>
            <a:fillRect/>
          </a:stretch>
        </p:blipFill>
        <p:spPr>
          <a:xfrm>
            <a:off x="8778992" y="2643567"/>
            <a:ext cx="366712" cy="533400"/>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Dynamics by Region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growth driver, restraint and opportunity shaping each region of the global market</a:t>
            </a:r>
          </a:p>
        </p:txBody>
      </p:sp>
      <p:sp>
        <p:nvSpPr>
          <p:cNvPr id="8" name="TextBox 7"/>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52423"/>
                </a:solidFill>
                <a:latin typeface="Segoe UI"/>
              </a:rPr>
              <a:t>Demand Dynamics by Region  ·  ranked by 2036 value</a:t>
            </a:r>
          </a:p>
        </p:txBody>
      </p:sp>
      <p:sp>
        <p:nvSpPr>
          <p:cNvPr id="9" name="Rectangle 8"/>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E3A5F"/>
                </a:solidFill>
                <a:latin typeface="Segoe UI"/>
              </a:rPr>
              <a:t>Region</a:t>
            </a:r>
          </a:p>
        </p:txBody>
      </p:sp>
      <p:sp>
        <p:nvSpPr>
          <p:cNvPr id="11" name="TextBox 10"/>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E3A5F"/>
                </a:solidFill>
                <a:latin typeface="Segoe UI"/>
              </a:rPr>
              <a:t>Growth Drivers</a:t>
            </a:r>
          </a:p>
        </p:txBody>
      </p:sp>
      <p:sp>
        <p:nvSpPr>
          <p:cNvPr id="12" name="TextBox 11"/>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E3A5F"/>
                </a:solidFill>
                <a:latin typeface="Segoe UI"/>
              </a:rPr>
              <a:t>Restraints</a:t>
            </a:r>
          </a:p>
        </p:txBody>
      </p:sp>
      <p:sp>
        <p:nvSpPr>
          <p:cNvPr id="13" name="TextBox 12"/>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E3A5F"/>
                </a:solidFill>
                <a:latin typeface="Segoe UI"/>
              </a:rPr>
              <a:t>Priority Opportunities</a:t>
            </a:r>
          </a:p>
        </p:txBody>
      </p:sp>
      <p:sp>
        <p:nvSpPr>
          <p:cNvPr id="14" name="Rectangle 13"/>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North America</a:t>
            </a:r>
          </a:p>
        </p:txBody>
      </p:sp>
      <p:sp>
        <p:nvSpPr>
          <p:cNvPr id="16" name="TextBox 15"/>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7" name="TextBox 16"/>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8" name="TextBox 17"/>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9" name="Rectangle 18"/>
          <p:cNvSpPr/>
          <p:nvPr/>
        </p:nvSpPr>
        <p:spPr>
          <a:xfrm>
            <a:off x="142875" y="2029468"/>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South Asia &amp; Pacific</a:t>
            </a:r>
          </a:p>
        </p:txBody>
      </p:sp>
      <p:sp>
        <p:nvSpPr>
          <p:cNvPr id="21" name="TextBox 20"/>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2" name="TextBox 21"/>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Competitive intensity at scale.</a:t>
            </a:r>
          </a:p>
        </p:txBody>
      </p:sp>
      <p:sp>
        <p:nvSpPr>
          <p:cNvPr id="23" name="TextBox 22"/>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4" name="Rectangle 23"/>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East Asia</a:t>
            </a:r>
          </a:p>
        </p:txBody>
      </p:sp>
      <p:sp>
        <p:nvSpPr>
          <p:cNvPr id="26" name="TextBox 25"/>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7" name="TextBox 26"/>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8" name="TextBox 27"/>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9" name="Rectangle 28"/>
          <p:cNvSpPr/>
          <p:nvPr/>
        </p:nvSpPr>
        <p:spPr>
          <a:xfrm>
            <a:off x="142875" y="3051675"/>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Latin America</a:t>
            </a:r>
          </a:p>
        </p:txBody>
      </p:sp>
      <p:sp>
        <p:nvSpPr>
          <p:cNvPr id="31" name="TextBox 30"/>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2" name="TextBox 31"/>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3" name="TextBox 32"/>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4" name="Rectangle 33"/>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Middle East &amp; Africa</a:t>
            </a:r>
          </a:p>
        </p:txBody>
      </p:sp>
      <p:sp>
        <p:nvSpPr>
          <p:cNvPr id="36" name="TextBox 35"/>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7" name="TextBox 36"/>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8" name="TextBox 37"/>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9" name="Rectangle 38"/>
          <p:cNvSpPr/>
          <p:nvPr/>
        </p:nvSpPr>
        <p:spPr>
          <a:xfrm>
            <a:off x="142875" y="4073882"/>
            <a:ext cx="11906250" cy="511104"/>
          </a:xfrm>
          <a:prstGeom prst="rect">
            <a:avLst/>
          </a:prstGeom>
          <a:solidFill>
            <a:srgbClr val="F2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Eastern Europe</a:t>
            </a:r>
          </a:p>
        </p:txBody>
      </p:sp>
      <p:sp>
        <p:nvSpPr>
          <p:cNvPr id="41" name="TextBox 40"/>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2" name="TextBox 41"/>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3" name="TextBox 42"/>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4" name="Rectangle 43"/>
          <p:cNvSpPr/>
          <p:nvPr/>
        </p:nvSpPr>
        <p:spPr>
          <a:xfrm>
            <a:off x="142875" y="4584986"/>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0025" y="4584986"/>
            <a:ext cx="1428750" cy="511104"/>
          </a:xfrm>
          <a:prstGeom prst="rect">
            <a:avLst/>
          </a:prstGeom>
          <a:noFill/>
        </p:spPr>
        <p:txBody>
          <a:bodyPr wrap="square" lIns="28575" rIns="28575" tIns="9525" bIns="9525" anchor="ctr">
            <a:spAutoFit/>
          </a:bodyPr>
          <a:lstStyle/>
          <a:p>
            <a:pPr algn="l"/>
            <a:r>
              <a:rPr sz="1100" b="1">
                <a:solidFill>
                  <a:srgbClr val="252423"/>
                </a:solidFill>
                <a:latin typeface="Segoe UI"/>
              </a:rPr>
              <a:t>Western Europe</a:t>
            </a:r>
          </a:p>
        </p:txBody>
      </p:sp>
      <p:sp>
        <p:nvSpPr>
          <p:cNvPr id="46" name="TextBox 45"/>
          <p:cNvSpPr txBox="1"/>
          <p:nvPr/>
        </p:nvSpPr>
        <p:spPr>
          <a:xfrm>
            <a:off x="1724025" y="4612366"/>
            <a:ext cx="36766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5534025" y="4612366"/>
            <a:ext cx="272415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8" name="TextBox 47"/>
          <p:cNvSpPr txBox="1"/>
          <p:nvPr/>
        </p:nvSpPr>
        <p:spPr>
          <a:xfrm>
            <a:off x="8391525" y="4612366"/>
            <a:ext cx="3581400" cy="45634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cxnSp>
        <p:nvCxnSpPr>
          <p:cNvPr id="49" name="Connector 48"/>
          <p:cNvCxnSpPr/>
          <p:nvPr/>
        </p:nvCxnSpPr>
        <p:spPr>
          <a:xfrm>
            <a:off x="142875" y="5096089"/>
            <a:ext cx="11906250" cy="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00025" y="5114343"/>
            <a:ext cx="3810000" cy="182537"/>
          </a:xfrm>
          <a:prstGeom prst="rect">
            <a:avLst/>
          </a:prstGeom>
          <a:noFill/>
        </p:spPr>
        <p:txBody>
          <a:bodyPr wrap="square" lIns="28575" rIns="28575" tIns="9525" bIns="9525" anchor="ctr">
            <a:spAutoFit/>
          </a:bodyPr>
          <a:lstStyle/>
          <a:p>
            <a:pPr algn="l"/>
            <a:r>
              <a:rPr sz="1100" b="0">
                <a:solidFill>
                  <a:srgbClr val="605E5C"/>
                </a:solidFill>
                <a:latin typeface="Segoe UI"/>
              </a:rPr>
              <a:t>Source: FMI Analysis, 2026</a:t>
            </a:r>
          </a:p>
        </p:txBody>
      </p:sp>
      <p:sp>
        <p:nvSpPr>
          <p:cNvPr id="51" name="Rounded Rectangle 50"/>
          <p:cNvSpPr/>
          <p:nvPr/>
        </p:nvSpPr>
        <p:spPr>
          <a:xfrm>
            <a:off x="142875" y="5369895"/>
            <a:ext cx="11906250" cy="994827"/>
          </a:xfrm>
          <a:prstGeom prst="roundRect">
            <a:avLst>
              <a:gd name="adj" fmla="val 479"/>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225" y="5406402"/>
            <a:ext cx="3810000" cy="219044"/>
          </a:xfrm>
          <a:prstGeom prst="rect">
            <a:avLst/>
          </a:prstGeom>
          <a:noFill/>
        </p:spPr>
        <p:txBody>
          <a:bodyPr wrap="square" lIns="28575" rIns="28575" tIns="9525" bIns="9525" anchor="ctr">
            <a:spAutoFit/>
          </a:bodyPr>
          <a:lstStyle/>
          <a:p>
            <a:pPr algn="l"/>
            <a:r>
              <a:rPr sz="1200" b="1">
                <a:solidFill>
                  <a:srgbClr val="0E3A5F"/>
                </a:solidFill>
                <a:latin typeface="Segoe UI"/>
              </a:rPr>
              <a:t>KEY TAKEAWAY</a:t>
            </a:r>
          </a:p>
        </p:txBody>
      </p:sp>
      <p:cxnSp>
        <p:nvCxnSpPr>
          <p:cNvPr id="53" name="Connector 52"/>
          <p:cNvCxnSpPr/>
          <p:nvPr/>
        </p:nvCxnSpPr>
        <p:spPr>
          <a:xfrm>
            <a:off x="276225" y="5643700"/>
            <a:ext cx="11639550" cy="0"/>
          </a:xfrm>
          <a:prstGeom prst="line">
            <a:avLst/>
          </a:prstGeom>
          <a:ln w="15875">
            <a:solidFill>
              <a:srgbClr val="0E3A5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76225" y="5698461"/>
            <a:ext cx="1152525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5" name="TextBox 5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6" name="TextBox 55"/>
          <p:cNvSpPr txBox="1"/>
          <p:nvPr/>
        </p:nvSpPr>
        <p:spPr>
          <a:xfrm>
            <a:off x="1752600" y="1606276"/>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57" name="Picture 56" descr="lock.png"/>
          <p:cNvPicPr>
            <a:picLocks noChangeAspect="1"/>
          </p:cNvPicPr>
          <p:nvPr/>
        </p:nvPicPr>
        <p:blipFill>
          <a:blip r:embed="rId4"/>
          <a:stretch>
            <a:fillRect/>
          </a:stretch>
        </p:blipFill>
        <p:spPr>
          <a:xfrm>
            <a:off x="2498241" y="1596497"/>
            <a:ext cx="128699" cy="187198"/>
          </a:xfrm>
          <a:prstGeom prst="rect">
            <a:avLst/>
          </a:prstGeom>
        </p:spPr>
      </p:pic>
      <p:sp>
        <p:nvSpPr>
          <p:cNvPr id="58" name="TextBox 57"/>
          <p:cNvSpPr txBox="1"/>
          <p:nvPr/>
        </p:nvSpPr>
        <p:spPr>
          <a:xfrm>
            <a:off x="2665737" y="1606276"/>
            <a:ext cx="1662801" cy="186689"/>
          </a:xfrm>
          <a:prstGeom prst="rect">
            <a:avLst/>
          </a:prstGeom>
          <a:noFill/>
        </p:spPr>
        <p:txBody>
          <a:bodyPr wrap="none" lIns="0" rIns="0" tIns="0" bIns="0">
            <a:spAutoFit/>
          </a:bodyPr>
          <a:lstStyle/>
          <a:p>
            <a:r>
              <a:rPr sz="1100" b="0">
                <a:solidFill>
                  <a:srgbClr val="252423"/>
                </a:solidFill>
                <a:latin typeface="Segoe UI"/>
              </a:rPr>
              <a:t>share), Installed demand (</a:t>
            </a:r>
          </a:p>
        </p:txBody>
      </p:sp>
      <p:pic>
        <p:nvPicPr>
          <p:cNvPr id="59" name="Picture 58" descr="lock.png"/>
          <p:cNvPicPr>
            <a:picLocks noChangeAspect="1"/>
          </p:cNvPicPr>
          <p:nvPr/>
        </p:nvPicPr>
        <p:blipFill>
          <a:blip r:embed="rId4"/>
          <a:stretch>
            <a:fillRect/>
          </a:stretch>
        </p:blipFill>
        <p:spPr>
          <a:xfrm>
            <a:off x="4276590" y="1596497"/>
            <a:ext cx="128699" cy="187198"/>
          </a:xfrm>
          <a:prstGeom prst="rect">
            <a:avLst/>
          </a:prstGeom>
        </p:spPr>
      </p:pic>
      <p:sp>
        <p:nvSpPr>
          <p:cNvPr id="60" name="TextBox 59"/>
          <p:cNvSpPr txBox="1"/>
          <p:nvPr/>
        </p:nvSpPr>
        <p:spPr>
          <a:xfrm>
            <a:off x="4444086" y="1606276"/>
            <a:ext cx="504547"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61" name="TextBox 60"/>
          <p:cNvSpPr txBox="1"/>
          <p:nvPr/>
        </p:nvSpPr>
        <p:spPr>
          <a:xfrm>
            <a:off x="1752600" y="1773915"/>
            <a:ext cx="3232482" cy="186689"/>
          </a:xfrm>
          <a:prstGeom prst="rect">
            <a:avLst/>
          </a:prstGeom>
          <a:noFill/>
        </p:spPr>
        <p:txBody>
          <a:bodyPr wrap="none" lIns="0" rIns="0" tIns="0" bIns="0">
            <a:spAutoFit/>
          </a:bodyPr>
          <a:lstStyle/>
          <a:p>
            <a:r>
              <a:rPr sz="1100" b="0">
                <a:solidFill>
                  <a:srgbClr val="252423"/>
                </a:solidFill>
                <a:latin typeface="Segoe UI"/>
              </a:rPr>
              <a:t>Gaseous Helium-3 demand, Accelerating vs history.</a:t>
            </a:r>
          </a:p>
        </p:txBody>
      </p:sp>
      <p:sp>
        <p:nvSpPr>
          <p:cNvPr id="62" name="TextBox 61"/>
          <p:cNvSpPr txBox="1"/>
          <p:nvPr/>
        </p:nvSpPr>
        <p:spPr>
          <a:xfrm>
            <a:off x="5562600" y="1606276"/>
            <a:ext cx="1381534" cy="186689"/>
          </a:xfrm>
          <a:prstGeom prst="rect">
            <a:avLst/>
          </a:prstGeom>
          <a:noFill/>
        </p:spPr>
        <p:txBody>
          <a:bodyPr wrap="none" lIns="0" rIns="0" tIns="0" bIns="0">
            <a:spAutoFit/>
          </a:bodyPr>
          <a:lstStyle/>
          <a:p>
            <a:r>
              <a:rPr sz="1100" b="0">
                <a:solidFill>
                  <a:srgbClr val="252423"/>
                </a:solidFill>
                <a:latin typeface="Segoe UI"/>
              </a:rPr>
              <a:t>Trails market pace by</a:t>
            </a:r>
          </a:p>
        </p:txBody>
      </p:sp>
      <p:pic>
        <p:nvPicPr>
          <p:cNvPr id="63" name="Picture 62" descr="lock.png"/>
          <p:cNvPicPr>
            <a:picLocks noChangeAspect="1"/>
          </p:cNvPicPr>
          <p:nvPr/>
        </p:nvPicPr>
        <p:blipFill>
          <a:blip r:embed="rId4"/>
          <a:stretch>
            <a:fillRect/>
          </a:stretch>
        </p:blipFill>
        <p:spPr>
          <a:xfrm>
            <a:off x="6892186" y="1596497"/>
            <a:ext cx="128699" cy="187198"/>
          </a:xfrm>
          <a:prstGeom prst="rect">
            <a:avLst/>
          </a:prstGeom>
        </p:spPr>
      </p:pic>
      <p:sp>
        <p:nvSpPr>
          <p:cNvPr id="64" name="TextBox 63"/>
          <p:cNvSpPr txBox="1"/>
          <p:nvPr/>
        </p:nvSpPr>
        <p:spPr>
          <a:xfrm>
            <a:off x="7059682" y="1606276"/>
            <a:ext cx="749324" cy="186689"/>
          </a:xfrm>
          <a:prstGeom prst="rect">
            <a:avLst/>
          </a:prstGeom>
          <a:noFill/>
        </p:spPr>
        <p:txBody>
          <a:bodyPr wrap="none" lIns="0" rIns="0" tIns="0" bIns="0">
            <a:spAutoFit/>
          </a:bodyPr>
          <a:lstStyle/>
          <a:p>
            <a:r>
              <a:rPr sz="1100" b="0">
                <a:solidFill>
                  <a:srgbClr val="252423"/>
                </a:solidFill>
                <a:latin typeface="Segoe UI"/>
              </a:rPr>
              <a:t>BPS, Rising</a:t>
            </a:r>
          </a:p>
        </p:txBody>
      </p:sp>
      <p:sp>
        <p:nvSpPr>
          <p:cNvPr id="65" name="TextBox 64"/>
          <p:cNvSpPr txBox="1"/>
          <p:nvPr/>
        </p:nvSpPr>
        <p:spPr>
          <a:xfrm>
            <a:off x="5562600" y="1773915"/>
            <a:ext cx="789949" cy="186689"/>
          </a:xfrm>
          <a:prstGeom prst="rect">
            <a:avLst/>
          </a:prstGeom>
          <a:noFill/>
        </p:spPr>
        <p:txBody>
          <a:bodyPr wrap="none" lIns="0" rIns="0" tIns="0" bIns="0">
            <a:spAutoFit/>
          </a:bodyPr>
          <a:lstStyle/>
          <a:p>
            <a:r>
              <a:rPr sz="1100" b="0">
                <a:solidFill>
                  <a:srgbClr val="252423"/>
                </a:solidFill>
                <a:latin typeface="Segoe UI"/>
              </a:rPr>
              <a:t>realisation (</a:t>
            </a:r>
          </a:p>
        </p:txBody>
      </p:sp>
      <p:pic>
        <p:nvPicPr>
          <p:cNvPr id="66" name="Picture 65" descr="lock.png"/>
          <p:cNvPicPr>
            <a:picLocks noChangeAspect="1"/>
          </p:cNvPicPr>
          <p:nvPr/>
        </p:nvPicPr>
        <p:blipFill>
          <a:blip r:embed="rId4"/>
          <a:stretch>
            <a:fillRect/>
          </a:stretch>
        </p:blipFill>
        <p:spPr>
          <a:xfrm>
            <a:off x="6300601" y="1764137"/>
            <a:ext cx="128699" cy="187198"/>
          </a:xfrm>
          <a:prstGeom prst="rect">
            <a:avLst/>
          </a:prstGeom>
        </p:spPr>
      </p:pic>
      <p:sp>
        <p:nvSpPr>
          <p:cNvPr id="67" name="TextBox 66"/>
          <p:cNvSpPr txBox="1"/>
          <p:nvPr/>
        </p:nvSpPr>
        <p:spPr>
          <a:xfrm>
            <a:off x="6468097" y="1773915"/>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68" name="TextBox 67"/>
          <p:cNvSpPr txBox="1"/>
          <p:nvPr/>
        </p:nvSpPr>
        <p:spPr>
          <a:xfrm>
            <a:off x="8420100" y="1690095"/>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69" name="Picture 68" descr="lock.png"/>
          <p:cNvPicPr>
            <a:picLocks noChangeAspect="1"/>
          </p:cNvPicPr>
          <p:nvPr/>
        </p:nvPicPr>
        <p:blipFill>
          <a:blip r:embed="rId4"/>
          <a:stretch>
            <a:fillRect/>
          </a:stretch>
        </p:blipFill>
        <p:spPr>
          <a:xfrm>
            <a:off x="10008609" y="1680317"/>
            <a:ext cx="128699" cy="187198"/>
          </a:xfrm>
          <a:prstGeom prst="rect">
            <a:avLst/>
          </a:prstGeom>
        </p:spPr>
      </p:pic>
      <p:sp>
        <p:nvSpPr>
          <p:cNvPr id="70" name="TextBox 69"/>
          <p:cNvSpPr txBox="1"/>
          <p:nvPr/>
        </p:nvSpPr>
        <p:spPr>
          <a:xfrm>
            <a:off x="10176105" y="1690095"/>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71" name="Picture 70" descr="lock.png"/>
          <p:cNvPicPr>
            <a:picLocks noChangeAspect="1"/>
          </p:cNvPicPr>
          <p:nvPr/>
        </p:nvPicPr>
        <p:blipFill>
          <a:blip r:embed="rId4"/>
          <a:stretch>
            <a:fillRect/>
          </a:stretch>
        </p:blipFill>
        <p:spPr>
          <a:xfrm>
            <a:off x="10272935" y="1680317"/>
            <a:ext cx="128699" cy="187198"/>
          </a:xfrm>
          <a:prstGeom prst="rect">
            <a:avLst/>
          </a:prstGeom>
        </p:spPr>
      </p:pic>
      <p:sp>
        <p:nvSpPr>
          <p:cNvPr id="72" name="TextBox 71"/>
          <p:cNvSpPr txBox="1"/>
          <p:nvPr/>
        </p:nvSpPr>
        <p:spPr>
          <a:xfrm>
            <a:off x="10440431" y="1690095"/>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73" name="TextBox 72"/>
          <p:cNvSpPr txBox="1"/>
          <p:nvPr/>
        </p:nvSpPr>
        <p:spPr>
          <a:xfrm>
            <a:off x="1752600" y="2117380"/>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74" name="Picture 73" descr="lock.png"/>
          <p:cNvPicPr>
            <a:picLocks noChangeAspect="1"/>
          </p:cNvPicPr>
          <p:nvPr/>
        </p:nvPicPr>
        <p:blipFill>
          <a:blip r:embed="rId4"/>
          <a:stretch>
            <a:fillRect/>
          </a:stretch>
        </p:blipFill>
        <p:spPr>
          <a:xfrm>
            <a:off x="2498241" y="2107601"/>
            <a:ext cx="128699" cy="187198"/>
          </a:xfrm>
          <a:prstGeom prst="rect">
            <a:avLst/>
          </a:prstGeom>
        </p:spPr>
      </p:pic>
      <p:sp>
        <p:nvSpPr>
          <p:cNvPr id="75" name="TextBox 74"/>
          <p:cNvSpPr txBox="1"/>
          <p:nvPr/>
        </p:nvSpPr>
        <p:spPr>
          <a:xfrm>
            <a:off x="2665737" y="2117380"/>
            <a:ext cx="1808146" cy="186689"/>
          </a:xfrm>
          <a:prstGeom prst="rect">
            <a:avLst/>
          </a:prstGeom>
          <a:noFill/>
        </p:spPr>
        <p:txBody>
          <a:bodyPr wrap="none" lIns="0" rIns="0" tIns="0" bIns="0">
            <a:spAutoFit/>
          </a:bodyPr>
          <a:lstStyle/>
          <a:p>
            <a:r>
              <a:rPr sz="1100" b="0">
                <a:solidFill>
                  <a:srgbClr val="252423"/>
                </a:solidFill>
                <a:latin typeface="Segoe UI"/>
              </a:rPr>
              <a:t>share), Above-market pace (</a:t>
            </a:r>
          </a:p>
        </p:txBody>
      </p:sp>
      <p:pic>
        <p:nvPicPr>
          <p:cNvPr id="76" name="Picture 75" descr="lock.png"/>
          <p:cNvPicPr>
            <a:picLocks noChangeAspect="1"/>
          </p:cNvPicPr>
          <p:nvPr/>
        </p:nvPicPr>
        <p:blipFill>
          <a:blip r:embed="rId4"/>
          <a:stretch>
            <a:fillRect/>
          </a:stretch>
        </p:blipFill>
        <p:spPr>
          <a:xfrm>
            <a:off x="4421935" y="2107601"/>
            <a:ext cx="128699" cy="187198"/>
          </a:xfrm>
          <a:prstGeom prst="rect">
            <a:avLst/>
          </a:prstGeom>
        </p:spPr>
      </p:pic>
      <p:sp>
        <p:nvSpPr>
          <p:cNvPr id="77" name="TextBox 76"/>
          <p:cNvSpPr txBox="1"/>
          <p:nvPr/>
        </p:nvSpPr>
        <p:spPr>
          <a:xfrm>
            <a:off x="4589431" y="2117380"/>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78" name="TextBox 77"/>
          <p:cNvSpPr txBox="1"/>
          <p:nvPr/>
        </p:nvSpPr>
        <p:spPr>
          <a:xfrm>
            <a:off x="1752600" y="2285020"/>
            <a:ext cx="3232482" cy="186689"/>
          </a:xfrm>
          <a:prstGeom prst="rect">
            <a:avLst/>
          </a:prstGeom>
          <a:noFill/>
        </p:spPr>
        <p:txBody>
          <a:bodyPr wrap="none" lIns="0" rIns="0" tIns="0" bIns="0">
            <a:spAutoFit/>
          </a:bodyPr>
          <a:lstStyle/>
          <a:p>
            <a:r>
              <a:rPr sz="1100" b="0">
                <a:solidFill>
                  <a:srgbClr val="252423"/>
                </a:solidFill>
                <a:latin typeface="Segoe UI"/>
              </a:rPr>
              <a:t>Gaseous Helium-3 demand, Accelerating vs history.</a:t>
            </a:r>
          </a:p>
        </p:txBody>
      </p:sp>
      <p:sp>
        <p:nvSpPr>
          <p:cNvPr id="79" name="TextBox 78"/>
          <p:cNvSpPr txBox="1"/>
          <p:nvPr/>
        </p:nvSpPr>
        <p:spPr>
          <a:xfrm>
            <a:off x="8420100" y="2201200"/>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80" name="Picture 79" descr="lock.png"/>
          <p:cNvPicPr>
            <a:picLocks noChangeAspect="1"/>
          </p:cNvPicPr>
          <p:nvPr/>
        </p:nvPicPr>
        <p:blipFill>
          <a:blip r:embed="rId4"/>
          <a:stretch>
            <a:fillRect/>
          </a:stretch>
        </p:blipFill>
        <p:spPr>
          <a:xfrm>
            <a:off x="10008609" y="2191421"/>
            <a:ext cx="128699" cy="187198"/>
          </a:xfrm>
          <a:prstGeom prst="rect">
            <a:avLst/>
          </a:prstGeom>
        </p:spPr>
      </p:pic>
      <p:sp>
        <p:nvSpPr>
          <p:cNvPr id="81" name="TextBox 80"/>
          <p:cNvSpPr txBox="1"/>
          <p:nvPr/>
        </p:nvSpPr>
        <p:spPr>
          <a:xfrm>
            <a:off x="10176105" y="2201200"/>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2" name="Picture 81" descr="lock.png"/>
          <p:cNvPicPr>
            <a:picLocks noChangeAspect="1"/>
          </p:cNvPicPr>
          <p:nvPr/>
        </p:nvPicPr>
        <p:blipFill>
          <a:blip r:embed="rId4"/>
          <a:stretch>
            <a:fillRect/>
          </a:stretch>
        </p:blipFill>
        <p:spPr>
          <a:xfrm>
            <a:off x="10272935" y="2191421"/>
            <a:ext cx="128699" cy="187198"/>
          </a:xfrm>
          <a:prstGeom prst="rect">
            <a:avLst/>
          </a:prstGeom>
        </p:spPr>
      </p:pic>
      <p:sp>
        <p:nvSpPr>
          <p:cNvPr id="83" name="TextBox 82"/>
          <p:cNvSpPr txBox="1"/>
          <p:nvPr/>
        </p:nvSpPr>
        <p:spPr>
          <a:xfrm>
            <a:off x="10440431" y="2201200"/>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84" name="TextBox 83"/>
          <p:cNvSpPr txBox="1"/>
          <p:nvPr/>
        </p:nvSpPr>
        <p:spPr>
          <a:xfrm>
            <a:off x="1752600" y="2628483"/>
            <a:ext cx="797589" cy="186689"/>
          </a:xfrm>
          <a:prstGeom prst="rect">
            <a:avLst/>
          </a:prstGeom>
          <a:noFill/>
        </p:spPr>
        <p:txBody>
          <a:bodyPr wrap="none" lIns="0" rIns="0" tIns="0" bIns="0">
            <a:spAutoFit/>
          </a:bodyPr>
          <a:lstStyle/>
          <a:p>
            <a:r>
              <a:rPr sz="1100" b="0">
                <a:solidFill>
                  <a:srgbClr val="252423"/>
                </a:solidFill>
                <a:latin typeface="Segoe UI"/>
              </a:rPr>
              <a:t>Scale base (</a:t>
            </a:r>
          </a:p>
        </p:txBody>
      </p:sp>
      <p:pic>
        <p:nvPicPr>
          <p:cNvPr id="85" name="Picture 84" descr="lock.png"/>
          <p:cNvPicPr>
            <a:picLocks noChangeAspect="1"/>
          </p:cNvPicPr>
          <p:nvPr/>
        </p:nvPicPr>
        <p:blipFill>
          <a:blip r:embed="rId4"/>
          <a:stretch>
            <a:fillRect/>
          </a:stretch>
        </p:blipFill>
        <p:spPr>
          <a:xfrm>
            <a:off x="2498241" y="2618704"/>
            <a:ext cx="128699" cy="187198"/>
          </a:xfrm>
          <a:prstGeom prst="rect">
            <a:avLst/>
          </a:prstGeom>
        </p:spPr>
      </p:pic>
      <p:sp>
        <p:nvSpPr>
          <p:cNvPr id="86" name="TextBox 85"/>
          <p:cNvSpPr txBox="1"/>
          <p:nvPr/>
        </p:nvSpPr>
        <p:spPr>
          <a:xfrm>
            <a:off x="2665737" y="2628483"/>
            <a:ext cx="1662801" cy="186689"/>
          </a:xfrm>
          <a:prstGeom prst="rect">
            <a:avLst/>
          </a:prstGeom>
          <a:noFill/>
        </p:spPr>
        <p:txBody>
          <a:bodyPr wrap="none" lIns="0" rIns="0" tIns="0" bIns="0">
            <a:spAutoFit/>
          </a:bodyPr>
          <a:lstStyle/>
          <a:p>
            <a:r>
              <a:rPr sz="1100" b="0">
                <a:solidFill>
                  <a:srgbClr val="252423"/>
                </a:solidFill>
                <a:latin typeface="Segoe UI"/>
              </a:rPr>
              <a:t>share), Installed demand (</a:t>
            </a:r>
          </a:p>
        </p:txBody>
      </p:sp>
      <p:pic>
        <p:nvPicPr>
          <p:cNvPr id="87" name="Picture 86" descr="lock.png"/>
          <p:cNvPicPr>
            <a:picLocks noChangeAspect="1"/>
          </p:cNvPicPr>
          <p:nvPr/>
        </p:nvPicPr>
        <p:blipFill>
          <a:blip r:embed="rId4"/>
          <a:stretch>
            <a:fillRect/>
          </a:stretch>
        </p:blipFill>
        <p:spPr>
          <a:xfrm>
            <a:off x="4276590" y="2618704"/>
            <a:ext cx="128699" cy="187198"/>
          </a:xfrm>
          <a:prstGeom prst="rect">
            <a:avLst/>
          </a:prstGeom>
        </p:spPr>
      </p:pic>
      <p:sp>
        <p:nvSpPr>
          <p:cNvPr id="88" name="TextBox 87"/>
          <p:cNvSpPr txBox="1"/>
          <p:nvPr/>
        </p:nvSpPr>
        <p:spPr>
          <a:xfrm>
            <a:off x="4444086" y="2628483"/>
            <a:ext cx="504547" cy="186689"/>
          </a:xfrm>
          <a:prstGeom prst="rect">
            <a:avLst/>
          </a:prstGeom>
          <a:noFill/>
        </p:spPr>
        <p:txBody>
          <a:bodyPr wrap="none" lIns="0" rIns="0" tIns="0" bIns="0">
            <a:spAutoFit/>
          </a:bodyPr>
          <a:lstStyle/>
          <a:p>
            <a:r>
              <a:rPr sz="1100" b="0">
                <a:solidFill>
                  <a:srgbClr val="252423"/>
                </a:solidFill>
                <a:latin typeface="Segoe UI"/>
              </a:rPr>
              <a:t>CAGR),</a:t>
            </a:r>
          </a:p>
        </p:txBody>
      </p:sp>
      <p:sp>
        <p:nvSpPr>
          <p:cNvPr id="89" name="TextBox 88"/>
          <p:cNvSpPr txBox="1"/>
          <p:nvPr/>
        </p:nvSpPr>
        <p:spPr>
          <a:xfrm>
            <a:off x="1752600" y="2796123"/>
            <a:ext cx="3232482" cy="186689"/>
          </a:xfrm>
          <a:prstGeom prst="rect">
            <a:avLst/>
          </a:prstGeom>
          <a:noFill/>
        </p:spPr>
        <p:txBody>
          <a:bodyPr wrap="none" lIns="0" rIns="0" tIns="0" bIns="0">
            <a:spAutoFit/>
          </a:bodyPr>
          <a:lstStyle/>
          <a:p>
            <a:r>
              <a:rPr sz="1100" b="0">
                <a:solidFill>
                  <a:srgbClr val="252423"/>
                </a:solidFill>
                <a:latin typeface="Segoe UI"/>
              </a:rPr>
              <a:t>Gaseous Helium-3 demand, Accelerating vs history.</a:t>
            </a:r>
          </a:p>
        </p:txBody>
      </p:sp>
      <p:sp>
        <p:nvSpPr>
          <p:cNvPr id="90" name="TextBox 89"/>
          <p:cNvSpPr txBox="1"/>
          <p:nvPr/>
        </p:nvSpPr>
        <p:spPr>
          <a:xfrm>
            <a:off x="5562600" y="2712303"/>
            <a:ext cx="1381534" cy="186689"/>
          </a:xfrm>
          <a:prstGeom prst="rect">
            <a:avLst/>
          </a:prstGeom>
          <a:noFill/>
        </p:spPr>
        <p:txBody>
          <a:bodyPr wrap="none" lIns="0" rIns="0" tIns="0" bIns="0">
            <a:spAutoFit/>
          </a:bodyPr>
          <a:lstStyle/>
          <a:p>
            <a:r>
              <a:rPr sz="1100" b="0">
                <a:solidFill>
                  <a:srgbClr val="252423"/>
                </a:solidFill>
                <a:latin typeface="Segoe UI"/>
              </a:rPr>
              <a:t>Trails market pace by</a:t>
            </a:r>
          </a:p>
        </p:txBody>
      </p:sp>
      <p:pic>
        <p:nvPicPr>
          <p:cNvPr id="91" name="Picture 90" descr="lock.png"/>
          <p:cNvPicPr>
            <a:picLocks noChangeAspect="1"/>
          </p:cNvPicPr>
          <p:nvPr/>
        </p:nvPicPr>
        <p:blipFill>
          <a:blip r:embed="rId4"/>
          <a:stretch>
            <a:fillRect/>
          </a:stretch>
        </p:blipFill>
        <p:spPr>
          <a:xfrm>
            <a:off x="6892186" y="2702524"/>
            <a:ext cx="128699" cy="187198"/>
          </a:xfrm>
          <a:prstGeom prst="rect">
            <a:avLst/>
          </a:prstGeom>
        </p:spPr>
      </p:pic>
      <p:sp>
        <p:nvSpPr>
          <p:cNvPr id="92" name="TextBox 91"/>
          <p:cNvSpPr txBox="1"/>
          <p:nvPr/>
        </p:nvSpPr>
        <p:spPr>
          <a:xfrm>
            <a:off x="7059682" y="2712303"/>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93" name="TextBox 92"/>
          <p:cNvSpPr txBox="1"/>
          <p:nvPr/>
        </p:nvSpPr>
        <p:spPr>
          <a:xfrm>
            <a:off x="8420100" y="2712303"/>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94" name="Picture 93" descr="lock.png"/>
          <p:cNvPicPr>
            <a:picLocks noChangeAspect="1"/>
          </p:cNvPicPr>
          <p:nvPr/>
        </p:nvPicPr>
        <p:blipFill>
          <a:blip r:embed="rId4"/>
          <a:stretch>
            <a:fillRect/>
          </a:stretch>
        </p:blipFill>
        <p:spPr>
          <a:xfrm>
            <a:off x="10008609" y="2702524"/>
            <a:ext cx="128699" cy="187198"/>
          </a:xfrm>
          <a:prstGeom prst="rect">
            <a:avLst/>
          </a:prstGeom>
        </p:spPr>
      </p:pic>
      <p:sp>
        <p:nvSpPr>
          <p:cNvPr id="95" name="TextBox 94"/>
          <p:cNvSpPr txBox="1"/>
          <p:nvPr/>
        </p:nvSpPr>
        <p:spPr>
          <a:xfrm>
            <a:off x="10176105" y="2712303"/>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96" name="Picture 95" descr="lock.png"/>
          <p:cNvPicPr>
            <a:picLocks noChangeAspect="1"/>
          </p:cNvPicPr>
          <p:nvPr/>
        </p:nvPicPr>
        <p:blipFill>
          <a:blip r:embed="rId4"/>
          <a:stretch>
            <a:fillRect/>
          </a:stretch>
        </p:blipFill>
        <p:spPr>
          <a:xfrm>
            <a:off x="10272935" y="2702524"/>
            <a:ext cx="128699" cy="187198"/>
          </a:xfrm>
          <a:prstGeom prst="rect">
            <a:avLst/>
          </a:prstGeom>
        </p:spPr>
      </p:pic>
      <p:sp>
        <p:nvSpPr>
          <p:cNvPr id="97" name="TextBox 96"/>
          <p:cNvSpPr txBox="1"/>
          <p:nvPr/>
        </p:nvSpPr>
        <p:spPr>
          <a:xfrm>
            <a:off x="10440431" y="2712303"/>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98" name="TextBox 97"/>
          <p:cNvSpPr txBox="1"/>
          <p:nvPr/>
        </p:nvSpPr>
        <p:spPr>
          <a:xfrm>
            <a:off x="1752600" y="3139587"/>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99" name="Picture 98" descr="lock.png"/>
          <p:cNvPicPr>
            <a:picLocks noChangeAspect="1"/>
          </p:cNvPicPr>
          <p:nvPr/>
        </p:nvPicPr>
        <p:blipFill>
          <a:blip r:embed="rId4"/>
          <a:stretch>
            <a:fillRect/>
          </a:stretch>
        </p:blipFill>
        <p:spPr>
          <a:xfrm>
            <a:off x="3066808" y="3129808"/>
            <a:ext cx="128699" cy="187198"/>
          </a:xfrm>
          <a:prstGeom prst="rect">
            <a:avLst/>
          </a:prstGeom>
        </p:spPr>
      </p:pic>
      <p:sp>
        <p:nvSpPr>
          <p:cNvPr id="100" name="TextBox 99"/>
          <p:cNvSpPr txBox="1"/>
          <p:nvPr/>
        </p:nvSpPr>
        <p:spPr>
          <a:xfrm>
            <a:off x="3234304" y="3139587"/>
            <a:ext cx="1892572" cy="186689"/>
          </a:xfrm>
          <a:prstGeom prst="rect">
            <a:avLst/>
          </a:prstGeom>
          <a:noFill/>
        </p:spPr>
        <p:txBody>
          <a:bodyPr wrap="none" lIns="0" rIns="0" tIns="0" bIns="0">
            <a:spAutoFit/>
          </a:bodyPr>
          <a:lstStyle/>
          <a:p>
            <a:r>
              <a:rPr sz="1100" b="0">
                <a:solidFill>
                  <a:srgbClr val="252423"/>
                </a:solidFill>
                <a:latin typeface="Segoe UI"/>
              </a:rPr>
              <a:t>), Gaseous Helium-3 demand,</a:t>
            </a:r>
          </a:p>
        </p:txBody>
      </p:sp>
      <p:sp>
        <p:nvSpPr>
          <p:cNvPr id="101" name="TextBox 100"/>
          <p:cNvSpPr txBox="1"/>
          <p:nvPr/>
        </p:nvSpPr>
        <p:spPr>
          <a:xfrm>
            <a:off x="1752600" y="3307227"/>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02" name="TextBox 101"/>
          <p:cNvSpPr txBox="1"/>
          <p:nvPr/>
        </p:nvSpPr>
        <p:spPr>
          <a:xfrm>
            <a:off x="5562600" y="3223407"/>
            <a:ext cx="1200045" cy="186689"/>
          </a:xfrm>
          <a:prstGeom prst="rect">
            <a:avLst/>
          </a:prstGeom>
          <a:noFill/>
        </p:spPr>
        <p:txBody>
          <a:bodyPr wrap="none" lIns="0" rIns="0" tIns="0" bIns="0">
            <a:spAutoFit/>
          </a:bodyPr>
          <a:lstStyle/>
          <a:p>
            <a:r>
              <a:rPr sz="1100" b="0">
                <a:solidFill>
                  <a:srgbClr val="252423"/>
                </a:solidFill>
                <a:latin typeface="Segoe UI"/>
              </a:rPr>
              <a:t>Rising realisation (</a:t>
            </a:r>
          </a:p>
        </p:txBody>
      </p:sp>
      <p:pic>
        <p:nvPicPr>
          <p:cNvPr id="103" name="Picture 102" descr="lock.png"/>
          <p:cNvPicPr>
            <a:picLocks noChangeAspect="1"/>
          </p:cNvPicPr>
          <p:nvPr/>
        </p:nvPicPr>
        <p:blipFill>
          <a:blip r:embed="rId4"/>
          <a:stretch>
            <a:fillRect/>
          </a:stretch>
        </p:blipFill>
        <p:spPr>
          <a:xfrm>
            <a:off x="6710697" y="3213628"/>
            <a:ext cx="128699" cy="187198"/>
          </a:xfrm>
          <a:prstGeom prst="rect">
            <a:avLst/>
          </a:prstGeom>
        </p:spPr>
      </p:pic>
      <p:sp>
        <p:nvSpPr>
          <p:cNvPr id="104" name="TextBox 103"/>
          <p:cNvSpPr txBox="1"/>
          <p:nvPr/>
        </p:nvSpPr>
        <p:spPr>
          <a:xfrm>
            <a:off x="6878193" y="3223407"/>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05" name="TextBox 104"/>
          <p:cNvSpPr txBox="1"/>
          <p:nvPr/>
        </p:nvSpPr>
        <p:spPr>
          <a:xfrm>
            <a:off x="8420100" y="3223407"/>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106" name="Picture 105" descr="lock.png"/>
          <p:cNvPicPr>
            <a:picLocks noChangeAspect="1"/>
          </p:cNvPicPr>
          <p:nvPr/>
        </p:nvPicPr>
        <p:blipFill>
          <a:blip r:embed="rId4"/>
          <a:stretch>
            <a:fillRect/>
          </a:stretch>
        </p:blipFill>
        <p:spPr>
          <a:xfrm>
            <a:off x="10008609" y="3213628"/>
            <a:ext cx="128699" cy="187198"/>
          </a:xfrm>
          <a:prstGeom prst="rect">
            <a:avLst/>
          </a:prstGeom>
        </p:spPr>
      </p:pic>
      <p:sp>
        <p:nvSpPr>
          <p:cNvPr id="107" name="TextBox 106"/>
          <p:cNvSpPr txBox="1"/>
          <p:nvPr/>
        </p:nvSpPr>
        <p:spPr>
          <a:xfrm>
            <a:off x="10176105" y="3223407"/>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08" name="Picture 107" descr="lock.png"/>
          <p:cNvPicPr>
            <a:picLocks noChangeAspect="1"/>
          </p:cNvPicPr>
          <p:nvPr/>
        </p:nvPicPr>
        <p:blipFill>
          <a:blip r:embed="rId4"/>
          <a:stretch>
            <a:fillRect/>
          </a:stretch>
        </p:blipFill>
        <p:spPr>
          <a:xfrm>
            <a:off x="10272935" y="3213628"/>
            <a:ext cx="128699" cy="187198"/>
          </a:xfrm>
          <a:prstGeom prst="rect">
            <a:avLst/>
          </a:prstGeom>
        </p:spPr>
      </p:pic>
      <p:sp>
        <p:nvSpPr>
          <p:cNvPr id="109" name="TextBox 108"/>
          <p:cNvSpPr txBox="1"/>
          <p:nvPr/>
        </p:nvSpPr>
        <p:spPr>
          <a:xfrm>
            <a:off x="10440431" y="3223407"/>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110" name="TextBox 109"/>
          <p:cNvSpPr txBox="1"/>
          <p:nvPr/>
        </p:nvSpPr>
        <p:spPr>
          <a:xfrm>
            <a:off x="1752600" y="3650690"/>
            <a:ext cx="1220812" cy="186689"/>
          </a:xfrm>
          <a:prstGeom prst="rect">
            <a:avLst/>
          </a:prstGeom>
          <a:noFill/>
        </p:spPr>
        <p:txBody>
          <a:bodyPr wrap="none" lIns="0" rIns="0" tIns="0" bIns="0">
            <a:spAutoFit/>
          </a:bodyPr>
          <a:lstStyle/>
          <a:p>
            <a:r>
              <a:rPr sz="1100" b="0">
                <a:solidFill>
                  <a:srgbClr val="252423"/>
                </a:solidFill>
                <a:latin typeface="Segoe UI"/>
              </a:rPr>
              <a:t>Installed demand (</a:t>
            </a:r>
          </a:p>
        </p:txBody>
      </p:sp>
      <p:pic>
        <p:nvPicPr>
          <p:cNvPr id="111" name="Picture 110" descr="lock.png"/>
          <p:cNvPicPr>
            <a:picLocks noChangeAspect="1"/>
          </p:cNvPicPr>
          <p:nvPr/>
        </p:nvPicPr>
        <p:blipFill>
          <a:blip r:embed="rId4"/>
          <a:stretch>
            <a:fillRect/>
          </a:stretch>
        </p:blipFill>
        <p:spPr>
          <a:xfrm>
            <a:off x="2921463" y="3640911"/>
            <a:ext cx="128699" cy="187198"/>
          </a:xfrm>
          <a:prstGeom prst="rect">
            <a:avLst/>
          </a:prstGeom>
        </p:spPr>
      </p:pic>
      <p:sp>
        <p:nvSpPr>
          <p:cNvPr id="112" name="TextBox 111"/>
          <p:cNvSpPr txBox="1"/>
          <p:nvPr/>
        </p:nvSpPr>
        <p:spPr>
          <a:xfrm>
            <a:off x="3088959" y="3650690"/>
            <a:ext cx="2248341" cy="186689"/>
          </a:xfrm>
          <a:prstGeom prst="rect">
            <a:avLst/>
          </a:prstGeom>
          <a:noFill/>
        </p:spPr>
        <p:txBody>
          <a:bodyPr wrap="none" lIns="0" rIns="0" tIns="0" bIns="0">
            <a:spAutoFit/>
          </a:bodyPr>
          <a:lstStyle/>
          <a:p>
            <a:r>
              <a:rPr sz="1100" b="0">
                <a:solidFill>
                  <a:srgbClr val="252423"/>
                </a:solidFill>
                <a:latin typeface="Segoe UI"/>
              </a:rPr>
              <a:t>CAGR), Gaseous Helium-3 demand,</a:t>
            </a:r>
          </a:p>
        </p:txBody>
      </p:sp>
      <p:sp>
        <p:nvSpPr>
          <p:cNvPr id="113" name="TextBox 112"/>
          <p:cNvSpPr txBox="1"/>
          <p:nvPr/>
        </p:nvSpPr>
        <p:spPr>
          <a:xfrm>
            <a:off x="1752600" y="3818330"/>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14" name="TextBox 113"/>
          <p:cNvSpPr txBox="1"/>
          <p:nvPr/>
        </p:nvSpPr>
        <p:spPr>
          <a:xfrm>
            <a:off x="5562600" y="3734510"/>
            <a:ext cx="1381534" cy="186689"/>
          </a:xfrm>
          <a:prstGeom prst="rect">
            <a:avLst/>
          </a:prstGeom>
          <a:noFill/>
        </p:spPr>
        <p:txBody>
          <a:bodyPr wrap="none" lIns="0" rIns="0" tIns="0" bIns="0">
            <a:spAutoFit/>
          </a:bodyPr>
          <a:lstStyle/>
          <a:p>
            <a:r>
              <a:rPr sz="1100" b="0">
                <a:solidFill>
                  <a:srgbClr val="252423"/>
                </a:solidFill>
                <a:latin typeface="Segoe UI"/>
              </a:rPr>
              <a:t>Trails market pace by</a:t>
            </a:r>
          </a:p>
        </p:txBody>
      </p:sp>
      <p:pic>
        <p:nvPicPr>
          <p:cNvPr id="115" name="Picture 114" descr="lock.png"/>
          <p:cNvPicPr>
            <a:picLocks noChangeAspect="1"/>
          </p:cNvPicPr>
          <p:nvPr/>
        </p:nvPicPr>
        <p:blipFill>
          <a:blip r:embed="rId4"/>
          <a:stretch>
            <a:fillRect/>
          </a:stretch>
        </p:blipFill>
        <p:spPr>
          <a:xfrm>
            <a:off x="6892186" y="3724731"/>
            <a:ext cx="128699" cy="187198"/>
          </a:xfrm>
          <a:prstGeom prst="rect">
            <a:avLst/>
          </a:prstGeom>
        </p:spPr>
      </p:pic>
      <p:sp>
        <p:nvSpPr>
          <p:cNvPr id="116" name="TextBox 115"/>
          <p:cNvSpPr txBox="1"/>
          <p:nvPr/>
        </p:nvSpPr>
        <p:spPr>
          <a:xfrm>
            <a:off x="7059682" y="3734510"/>
            <a:ext cx="339228"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117" name="TextBox 116"/>
          <p:cNvSpPr txBox="1"/>
          <p:nvPr/>
        </p:nvSpPr>
        <p:spPr>
          <a:xfrm>
            <a:off x="8420100" y="3734510"/>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118" name="Picture 117" descr="lock.png"/>
          <p:cNvPicPr>
            <a:picLocks noChangeAspect="1"/>
          </p:cNvPicPr>
          <p:nvPr/>
        </p:nvPicPr>
        <p:blipFill>
          <a:blip r:embed="rId4"/>
          <a:stretch>
            <a:fillRect/>
          </a:stretch>
        </p:blipFill>
        <p:spPr>
          <a:xfrm>
            <a:off x="10008609" y="3724731"/>
            <a:ext cx="128699" cy="187198"/>
          </a:xfrm>
          <a:prstGeom prst="rect">
            <a:avLst/>
          </a:prstGeom>
        </p:spPr>
      </p:pic>
      <p:sp>
        <p:nvSpPr>
          <p:cNvPr id="119" name="TextBox 118"/>
          <p:cNvSpPr txBox="1"/>
          <p:nvPr/>
        </p:nvSpPr>
        <p:spPr>
          <a:xfrm>
            <a:off x="10176105" y="3734510"/>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20" name="Picture 119" descr="lock.png"/>
          <p:cNvPicPr>
            <a:picLocks noChangeAspect="1"/>
          </p:cNvPicPr>
          <p:nvPr/>
        </p:nvPicPr>
        <p:blipFill>
          <a:blip r:embed="rId4"/>
          <a:stretch>
            <a:fillRect/>
          </a:stretch>
        </p:blipFill>
        <p:spPr>
          <a:xfrm>
            <a:off x="10272935" y="3724731"/>
            <a:ext cx="128699" cy="187198"/>
          </a:xfrm>
          <a:prstGeom prst="rect">
            <a:avLst/>
          </a:prstGeom>
        </p:spPr>
      </p:pic>
      <p:sp>
        <p:nvSpPr>
          <p:cNvPr id="121" name="TextBox 120"/>
          <p:cNvSpPr txBox="1"/>
          <p:nvPr/>
        </p:nvSpPr>
        <p:spPr>
          <a:xfrm>
            <a:off x="10440431" y="3734510"/>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122" name="TextBox 121"/>
          <p:cNvSpPr txBox="1"/>
          <p:nvPr/>
        </p:nvSpPr>
        <p:spPr>
          <a:xfrm>
            <a:off x="1752600" y="4161794"/>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123" name="Picture 122" descr="lock.png"/>
          <p:cNvPicPr>
            <a:picLocks noChangeAspect="1"/>
          </p:cNvPicPr>
          <p:nvPr/>
        </p:nvPicPr>
        <p:blipFill>
          <a:blip r:embed="rId4"/>
          <a:stretch>
            <a:fillRect/>
          </a:stretch>
        </p:blipFill>
        <p:spPr>
          <a:xfrm>
            <a:off x="3066808" y="4152015"/>
            <a:ext cx="128699" cy="187198"/>
          </a:xfrm>
          <a:prstGeom prst="rect">
            <a:avLst/>
          </a:prstGeom>
        </p:spPr>
      </p:pic>
      <p:sp>
        <p:nvSpPr>
          <p:cNvPr id="124" name="TextBox 123"/>
          <p:cNvSpPr txBox="1"/>
          <p:nvPr/>
        </p:nvSpPr>
        <p:spPr>
          <a:xfrm>
            <a:off x="3234304" y="4161794"/>
            <a:ext cx="1892572" cy="186689"/>
          </a:xfrm>
          <a:prstGeom prst="rect">
            <a:avLst/>
          </a:prstGeom>
          <a:noFill/>
        </p:spPr>
        <p:txBody>
          <a:bodyPr wrap="none" lIns="0" rIns="0" tIns="0" bIns="0">
            <a:spAutoFit/>
          </a:bodyPr>
          <a:lstStyle/>
          <a:p>
            <a:r>
              <a:rPr sz="1100" b="0">
                <a:solidFill>
                  <a:srgbClr val="252423"/>
                </a:solidFill>
                <a:latin typeface="Segoe UI"/>
              </a:rPr>
              <a:t>), Gaseous Helium-3 demand,</a:t>
            </a:r>
          </a:p>
        </p:txBody>
      </p:sp>
      <p:sp>
        <p:nvSpPr>
          <p:cNvPr id="125" name="TextBox 124"/>
          <p:cNvSpPr txBox="1"/>
          <p:nvPr/>
        </p:nvSpPr>
        <p:spPr>
          <a:xfrm>
            <a:off x="1752600" y="4329434"/>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26" name="TextBox 125"/>
          <p:cNvSpPr txBox="1"/>
          <p:nvPr/>
        </p:nvSpPr>
        <p:spPr>
          <a:xfrm>
            <a:off x="5562600" y="4245614"/>
            <a:ext cx="1200045" cy="186689"/>
          </a:xfrm>
          <a:prstGeom prst="rect">
            <a:avLst/>
          </a:prstGeom>
          <a:noFill/>
        </p:spPr>
        <p:txBody>
          <a:bodyPr wrap="none" lIns="0" rIns="0" tIns="0" bIns="0">
            <a:spAutoFit/>
          </a:bodyPr>
          <a:lstStyle/>
          <a:p>
            <a:r>
              <a:rPr sz="1100" b="0">
                <a:solidFill>
                  <a:srgbClr val="252423"/>
                </a:solidFill>
                <a:latin typeface="Segoe UI"/>
              </a:rPr>
              <a:t>Rising realisation (</a:t>
            </a:r>
          </a:p>
        </p:txBody>
      </p:sp>
      <p:pic>
        <p:nvPicPr>
          <p:cNvPr id="127" name="Picture 126" descr="lock.png"/>
          <p:cNvPicPr>
            <a:picLocks noChangeAspect="1"/>
          </p:cNvPicPr>
          <p:nvPr/>
        </p:nvPicPr>
        <p:blipFill>
          <a:blip r:embed="rId4"/>
          <a:stretch>
            <a:fillRect/>
          </a:stretch>
        </p:blipFill>
        <p:spPr>
          <a:xfrm>
            <a:off x="6710697" y="4235835"/>
            <a:ext cx="128699" cy="187198"/>
          </a:xfrm>
          <a:prstGeom prst="rect">
            <a:avLst/>
          </a:prstGeom>
        </p:spPr>
      </p:pic>
      <p:sp>
        <p:nvSpPr>
          <p:cNvPr id="128" name="TextBox 127"/>
          <p:cNvSpPr txBox="1"/>
          <p:nvPr/>
        </p:nvSpPr>
        <p:spPr>
          <a:xfrm>
            <a:off x="6878193" y="4245614"/>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29" name="TextBox 128"/>
          <p:cNvSpPr txBox="1"/>
          <p:nvPr/>
        </p:nvSpPr>
        <p:spPr>
          <a:xfrm>
            <a:off x="8420100" y="4245614"/>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130" name="Picture 129" descr="lock.png"/>
          <p:cNvPicPr>
            <a:picLocks noChangeAspect="1"/>
          </p:cNvPicPr>
          <p:nvPr/>
        </p:nvPicPr>
        <p:blipFill>
          <a:blip r:embed="rId4"/>
          <a:stretch>
            <a:fillRect/>
          </a:stretch>
        </p:blipFill>
        <p:spPr>
          <a:xfrm>
            <a:off x="10008609" y="4235835"/>
            <a:ext cx="128699" cy="187198"/>
          </a:xfrm>
          <a:prstGeom prst="rect">
            <a:avLst/>
          </a:prstGeom>
        </p:spPr>
      </p:pic>
      <p:sp>
        <p:nvSpPr>
          <p:cNvPr id="131" name="TextBox 130"/>
          <p:cNvSpPr txBox="1"/>
          <p:nvPr/>
        </p:nvSpPr>
        <p:spPr>
          <a:xfrm>
            <a:off x="10176105" y="4245614"/>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32" name="Picture 131" descr="lock.png"/>
          <p:cNvPicPr>
            <a:picLocks noChangeAspect="1"/>
          </p:cNvPicPr>
          <p:nvPr/>
        </p:nvPicPr>
        <p:blipFill>
          <a:blip r:embed="rId4"/>
          <a:stretch>
            <a:fillRect/>
          </a:stretch>
        </p:blipFill>
        <p:spPr>
          <a:xfrm>
            <a:off x="10272935" y="4235835"/>
            <a:ext cx="128699" cy="187198"/>
          </a:xfrm>
          <a:prstGeom prst="rect">
            <a:avLst/>
          </a:prstGeom>
        </p:spPr>
      </p:pic>
      <p:sp>
        <p:nvSpPr>
          <p:cNvPr id="133" name="TextBox 132"/>
          <p:cNvSpPr txBox="1"/>
          <p:nvPr/>
        </p:nvSpPr>
        <p:spPr>
          <a:xfrm>
            <a:off x="10440431" y="4245614"/>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134" name="TextBox 133"/>
          <p:cNvSpPr txBox="1"/>
          <p:nvPr/>
        </p:nvSpPr>
        <p:spPr>
          <a:xfrm>
            <a:off x="1752600" y="4672897"/>
            <a:ext cx="1366156" cy="186689"/>
          </a:xfrm>
          <a:prstGeom prst="rect">
            <a:avLst/>
          </a:prstGeom>
          <a:noFill/>
        </p:spPr>
        <p:txBody>
          <a:bodyPr wrap="none" lIns="0" rIns="0" tIns="0" bIns="0">
            <a:spAutoFit/>
          </a:bodyPr>
          <a:lstStyle/>
          <a:p>
            <a:r>
              <a:rPr sz="1100" b="0">
                <a:solidFill>
                  <a:srgbClr val="252423"/>
                </a:solidFill>
                <a:latin typeface="Segoe UI"/>
              </a:rPr>
              <a:t>Above-market pace (</a:t>
            </a:r>
          </a:p>
        </p:txBody>
      </p:sp>
      <p:pic>
        <p:nvPicPr>
          <p:cNvPr id="135" name="Picture 134" descr="lock.png"/>
          <p:cNvPicPr>
            <a:picLocks noChangeAspect="1"/>
          </p:cNvPicPr>
          <p:nvPr/>
        </p:nvPicPr>
        <p:blipFill>
          <a:blip r:embed="rId4"/>
          <a:stretch>
            <a:fillRect/>
          </a:stretch>
        </p:blipFill>
        <p:spPr>
          <a:xfrm>
            <a:off x="3066808" y="4663118"/>
            <a:ext cx="128699" cy="187198"/>
          </a:xfrm>
          <a:prstGeom prst="rect">
            <a:avLst/>
          </a:prstGeom>
        </p:spPr>
      </p:pic>
      <p:sp>
        <p:nvSpPr>
          <p:cNvPr id="136" name="TextBox 135"/>
          <p:cNvSpPr txBox="1"/>
          <p:nvPr/>
        </p:nvSpPr>
        <p:spPr>
          <a:xfrm>
            <a:off x="3234304" y="4672897"/>
            <a:ext cx="1892572" cy="186689"/>
          </a:xfrm>
          <a:prstGeom prst="rect">
            <a:avLst/>
          </a:prstGeom>
          <a:noFill/>
        </p:spPr>
        <p:txBody>
          <a:bodyPr wrap="none" lIns="0" rIns="0" tIns="0" bIns="0">
            <a:spAutoFit/>
          </a:bodyPr>
          <a:lstStyle/>
          <a:p>
            <a:r>
              <a:rPr sz="1100" b="0">
                <a:solidFill>
                  <a:srgbClr val="252423"/>
                </a:solidFill>
                <a:latin typeface="Segoe UI"/>
              </a:rPr>
              <a:t>), Gaseous Helium-3 demand,</a:t>
            </a:r>
          </a:p>
        </p:txBody>
      </p:sp>
      <p:sp>
        <p:nvSpPr>
          <p:cNvPr id="137" name="TextBox 136"/>
          <p:cNvSpPr txBox="1"/>
          <p:nvPr/>
        </p:nvSpPr>
        <p:spPr>
          <a:xfrm>
            <a:off x="1752600" y="4840537"/>
            <a:ext cx="1488688" cy="186689"/>
          </a:xfrm>
          <a:prstGeom prst="rect">
            <a:avLst/>
          </a:prstGeom>
          <a:noFill/>
        </p:spPr>
        <p:txBody>
          <a:bodyPr wrap="none" lIns="0" rIns="0" tIns="0" bIns="0">
            <a:spAutoFit/>
          </a:bodyPr>
          <a:lstStyle/>
          <a:p>
            <a:r>
              <a:rPr sz="1100" b="0">
                <a:solidFill>
                  <a:srgbClr val="252423"/>
                </a:solidFill>
                <a:latin typeface="Segoe UI"/>
              </a:rPr>
              <a:t>Accelerating vs history.</a:t>
            </a:r>
          </a:p>
        </p:txBody>
      </p:sp>
      <p:sp>
        <p:nvSpPr>
          <p:cNvPr id="138" name="TextBox 137"/>
          <p:cNvSpPr txBox="1"/>
          <p:nvPr/>
        </p:nvSpPr>
        <p:spPr>
          <a:xfrm>
            <a:off x="5562600" y="4756717"/>
            <a:ext cx="2185828" cy="186689"/>
          </a:xfrm>
          <a:prstGeom prst="rect">
            <a:avLst/>
          </a:prstGeom>
          <a:noFill/>
        </p:spPr>
        <p:txBody>
          <a:bodyPr wrap="none" lIns="0" rIns="0" tIns="0" bIns="0">
            <a:spAutoFit/>
          </a:bodyPr>
          <a:lstStyle/>
          <a:p>
            <a:r>
              <a:rPr sz="1100" b="0">
                <a:solidFill>
                  <a:srgbClr val="252423"/>
                </a:solidFill>
                <a:latin typeface="Segoe UI"/>
              </a:rPr>
              <a:t>Sub-scale base, Rising realisation (</a:t>
            </a:r>
          </a:p>
        </p:txBody>
      </p:sp>
      <p:pic>
        <p:nvPicPr>
          <p:cNvPr id="139" name="Picture 138" descr="lock.png"/>
          <p:cNvPicPr>
            <a:picLocks noChangeAspect="1"/>
          </p:cNvPicPr>
          <p:nvPr/>
        </p:nvPicPr>
        <p:blipFill>
          <a:blip r:embed="rId4"/>
          <a:stretch>
            <a:fillRect/>
          </a:stretch>
        </p:blipFill>
        <p:spPr>
          <a:xfrm>
            <a:off x="7696480" y="4746938"/>
            <a:ext cx="128699" cy="187198"/>
          </a:xfrm>
          <a:prstGeom prst="rect">
            <a:avLst/>
          </a:prstGeom>
        </p:spPr>
      </p:pic>
      <p:sp>
        <p:nvSpPr>
          <p:cNvPr id="140" name="TextBox 139"/>
          <p:cNvSpPr txBox="1"/>
          <p:nvPr/>
        </p:nvSpPr>
        <p:spPr>
          <a:xfrm>
            <a:off x="7863976" y="4756717"/>
            <a:ext cx="148778" cy="186689"/>
          </a:xfrm>
          <a:prstGeom prst="rect">
            <a:avLst/>
          </a:prstGeom>
          <a:noFill/>
        </p:spPr>
        <p:txBody>
          <a:bodyPr wrap="none" lIns="0" rIns="0" tIns="0" bIns="0">
            <a:spAutoFit/>
          </a:bodyPr>
          <a:lstStyle/>
          <a:p>
            <a:r>
              <a:rPr sz="1100" b="0">
                <a:solidFill>
                  <a:srgbClr val="252423"/>
                </a:solidFill>
                <a:latin typeface="Segoe UI"/>
              </a:rPr>
              <a:t>).</a:t>
            </a:r>
          </a:p>
        </p:txBody>
      </p:sp>
      <p:sp>
        <p:nvSpPr>
          <p:cNvPr id="141" name="TextBox 140"/>
          <p:cNvSpPr txBox="1"/>
          <p:nvPr/>
        </p:nvSpPr>
        <p:spPr>
          <a:xfrm>
            <a:off x="8420100" y="4756717"/>
            <a:ext cx="1640458" cy="186689"/>
          </a:xfrm>
          <a:prstGeom prst="rect">
            <a:avLst/>
          </a:prstGeom>
          <a:noFill/>
        </p:spPr>
        <p:txBody>
          <a:bodyPr wrap="none" lIns="0" rIns="0" tIns="0" bIns="0">
            <a:spAutoFit/>
          </a:bodyPr>
          <a:lstStyle/>
          <a:p>
            <a:r>
              <a:rPr sz="1100" b="0">
                <a:solidFill>
                  <a:srgbClr val="252423"/>
                </a:solidFill>
                <a:latin typeface="Segoe UI"/>
              </a:rPr>
              <a:t>Scale Gaseous Helium-3 (</a:t>
            </a:r>
          </a:p>
        </p:txBody>
      </p:sp>
      <p:pic>
        <p:nvPicPr>
          <p:cNvPr id="142" name="Picture 141" descr="lock.png"/>
          <p:cNvPicPr>
            <a:picLocks noChangeAspect="1"/>
          </p:cNvPicPr>
          <p:nvPr/>
        </p:nvPicPr>
        <p:blipFill>
          <a:blip r:embed="rId4"/>
          <a:stretch>
            <a:fillRect/>
          </a:stretch>
        </p:blipFill>
        <p:spPr>
          <a:xfrm>
            <a:off x="10008609" y="4746938"/>
            <a:ext cx="128699" cy="187198"/>
          </a:xfrm>
          <a:prstGeom prst="rect">
            <a:avLst/>
          </a:prstGeom>
        </p:spPr>
      </p:pic>
      <p:sp>
        <p:nvSpPr>
          <p:cNvPr id="143" name="TextBox 142"/>
          <p:cNvSpPr txBox="1"/>
          <p:nvPr/>
        </p:nvSpPr>
        <p:spPr>
          <a:xfrm>
            <a:off x="10176105" y="4756717"/>
            <a:ext cx="14877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44" name="Picture 143" descr="lock.png"/>
          <p:cNvPicPr>
            <a:picLocks noChangeAspect="1"/>
          </p:cNvPicPr>
          <p:nvPr/>
        </p:nvPicPr>
        <p:blipFill>
          <a:blip r:embed="rId4"/>
          <a:stretch>
            <a:fillRect/>
          </a:stretch>
        </p:blipFill>
        <p:spPr>
          <a:xfrm>
            <a:off x="10272935" y="4746938"/>
            <a:ext cx="128699" cy="187198"/>
          </a:xfrm>
          <a:prstGeom prst="rect">
            <a:avLst/>
          </a:prstGeom>
        </p:spPr>
      </p:pic>
      <p:sp>
        <p:nvSpPr>
          <p:cNvPr id="145" name="TextBox 144"/>
          <p:cNvSpPr txBox="1"/>
          <p:nvPr/>
        </p:nvSpPr>
        <p:spPr>
          <a:xfrm>
            <a:off x="10440431" y="4756717"/>
            <a:ext cx="1271532" cy="186689"/>
          </a:xfrm>
          <a:prstGeom prst="rect">
            <a:avLst/>
          </a:prstGeom>
          <a:noFill/>
        </p:spPr>
        <p:txBody>
          <a:bodyPr wrap="none" lIns="0" rIns="0" tIns="0" bIns="0">
            <a:spAutoFit/>
          </a:bodyPr>
          <a:lstStyle/>
          <a:p>
            <a:r>
              <a:rPr sz="1100" b="0">
                <a:solidFill>
                  <a:srgbClr val="252423"/>
                </a:solidFill>
                <a:latin typeface="Segoe UI"/>
              </a:rPr>
              <a:t>US$ Mn headroom.</a:t>
            </a:r>
          </a:p>
        </p:txBody>
      </p:sp>
      <p:sp>
        <p:nvSpPr>
          <p:cNvPr id="146" name="TextBox 145"/>
          <p:cNvSpPr txBox="1"/>
          <p:nvPr/>
        </p:nvSpPr>
        <p:spPr>
          <a:xfrm>
            <a:off x="304800" y="5743623"/>
            <a:ext cx="4843731" cy="186689"/>
          </a:xfrm>
          <a:prstGeom prst="rect">
            <a:avLst/>
          </a:prstGeom>
          <a:noFill/>
        </p:spPr>
        <p:txBody>
          <a:bodyPr wrap="none" lIns="0" rIns="0" tIns="0" bIns="0">
            <a:spAutoFit/>
          </a:bodyPr>
          <a:lstStyle/>
          <a:p>
            <a:r>
              <a:rPr sz="1100" b="0">
                <a:solidFill>
                  <a:srgbClr val="252423"/>
                </a:solidFill>
                <a:latin typeface="Segoe UI"/>
              </a:rPr>
              <a:t>▪ North America, South Asia &amp; Pacific, East Asia anchor scale with a combined</a:t>
            </a:r>
          </a:p>
        </p:txBody>
      </p:sp>
      <p:pic>
        <p:nvPicPr>
          <p:cNvPr id="147" name="Picture 146" descr="lock.png"/>
          <p:cNvPicPr>
            <a:picLocks noChangeAspect="1"/>
          </p:cNvPicPr>
          <p:nvPr/>
        </p:nvPicPr>
        <p:blipFill>
          <a:blip r:embed="rId4"/>
          <a:stretch>
            <a:fillRect/>
          </a:stretch>
        </p:blipFill>
        <p:spPr>
          <a:xfrm>
            <a:off x="5096582" y="5733844"/>
            <a:ext cx="128699" cy="187198"/>
          </a:xfrm>
          <a:prstGeom prst="rect">
            <a:avLst/>
          </a:prstGeom>
        </p:spPr>
      </p:pic>
      <p:sp>
        <p:nvSpPr>
          <p:cNvPr id="148" name="TextBox 147"/>
          <p:cNvSpPr txBox="1"/>
          <p:nvPr/>
        </p:nvSpPr>
        <p:spPr>
          <a:xfrm>
            <a:off x="5264078" y="5743623"/>
            <a:ext cx="5000138" cy="186689"/>
          </a:xfrm>
          <a:prstGeom prst="rect">
            <a:avLst/>
          </a:prstGeom>
          <a:noFill/>
        </p:spPr>
        <p:txBody>
          <a:bodyPr wrap="none" lIns="0" rIns="0" tIns="0" bIns="0">
            <a:spAutoFit/>
          </a:bodyPr>
          <a:lstStyle/>
          <a:p>
            <a:r>
              <a:rPr sz="1100" b="0">
                <a:solidFill>
                  <a:srgbClr val="252423"/>
                </a:solidFill>
                <a:latin typeface="Segoe UI"/>
              </a:rPr>
              <a:t>of Global value in 2036, while 'South Asia &amp; Pacific' offers the steepest upside at</a:t>
            </a:r>
          </a:p>
        </p:txBody>
      </p:sp>
      <p:pic>
        <p:nvPicPr>
          <p:cNvPr id="149" name="Picture 148" descr="lock.png"/>
          <p:cNvPicPr>
            <a:picLocks noChangeAspect="1"/>
          </p:cNvPicPr>
          <p:nvPr/>
        </p:nvPicPr>
        <p:blipFill>
          <a:blip r:embed="rId4"/>
          <a:stretch>
            <a:fillRect/>
          </a:stretch>
        </p:blipFill>
        <p:spPr>
          <a:xfrm>
            <a:off x="10212269" y="5733844"/>
            <a:ext cx="128699" cy="187198"/>
          </a:xfrm>
          <a:prstGeom prst="rect">
            <a:avLst/>
          </a:prstGeom>
        </p:spPr>
      </p:pic>
      <p:sp>
        <p:nvSpPr>
          <p:cNvPr id="150" name="TextBox 149"/>
          <p:cNvSpPr txBox="1"/>
          <p:nvPr/>
        </p:nvSpPr>
        <p:spPr>
          <a:xfrm>
            <a:off x="10379764" y="5743623"/>
            <a:ext cx="1024056" cy="186689"/>
          </a:xfrm>
          <a:prstGeom prst="rect">
            <a:avLst/>
          </a:prstGeom>
          <a:noFill/>
        </p:spPr>
        <p:txBody>
          <a:bodyPr wrap="none" lIns="0" rIns="0" tIns="0" bIns="0">
            <a:spAutoFit/>
          </a:bodyPr>
          <a:lstStyle/>
          <a:p>
            <a:r>
              <a:rPr sz="1100" b="0">
                <a:solidFill>
                  <a:srgbClr val="252423"/>
                </a:solidFill>
                <a:latin typeface="Segoe UI"/>
              </a:rPr>
              <a:t>CAGR against a</a:t>
            </a:r>
          </a:p>
        </p:txBody>
      </p:sp>
      <p:sp>
        <p:nvSpPr>
          <p:cNvPr id="151" name="TextBox 150"/>
          <p:cNvSpPr txBox="1"/>
          <p:nvPr/>
        </p:nvSpPr>
        <p:spPr>
          <a:xfrm>
            <a:off x="304800" y="5911263"/>
            <a:ext cx="999418" cy="186689"/>
          </a:xfrm>
          <a:prstGeom prst="rect">
            <a:avLst/>
          </a:prstGeom>
          <a:noFill/>
        </p:spPr>
        <p:txBody>
          <a:bodyPr wrap="none" lIns="0" rIns="0" tIns="0" bIns="0">
            <a:spAutoFit/>
          </a:bodyPr>
          <a:lstStyle/>
          <a:p>
            <a:r>
              <a:rPr sz="1100" b="0">
                <a:solidFill>
                  <a:srgbClr val="252423"/>
                </a:solidFill>
                <a:latin typeface="Segoe UI"/>
              </a:rPr>
              <a:t>market pace of</a:t>
            </a:r>
          </a:p>
        </p:txBody>
      </p:sp>
      <p:pic>
        <p:nvPicPr>
          <p:cNvPr id="152" name="Picture 151" descr="lock.png"/>
          <p:cNvPicPr>
            <a:picLocks noChangeAspect="1"/>
          </p:cNvPicPr>
          <p:nvPr/>
        </p:nvPicPr>
        <p:blipFill>
          <a:blip r:embed="rId4"/>
          <a:stretch>
            <a:fillRect/>
          </a:stretch>
        </p:blipFill>
        <p:spPr>
          <a:xfrm>
            <a:off x="1252270" y="5901484"/>
            <a:ext cx="128699" cy="187198"/>
          </a:xfrm>
          <a:prstGeom prst="rect">
            <a:avLst/>
          </a:prstGeom>
        </p:spPr>
      </p:pic>
      <p:sp>
        <p:nvSpPr>
          <p:cNvPr id="153" name="TextBox 152"/>
          <p:cNvSpPr txBox="1"/>
          <p:nvPr/>
        </p:nvSpPr>
        <p:spPr>
          <a:xfrm>
            <a:off x="1419766" y="5911263"/>
            <a:ext cx="9519588" cy="186689"/>
          </a:xfrm>
          <a:prstGeom prst="rect">
            <a:avLst/>
          </a:prstGeom>
          <a:noFill/>
        </p:spPr>
        <p:txBody>
          <a:bodyPr wrap="none" lIns="0" rIns="0" tIns="0" bIns="0">
            <a:spAutoFit/>
          </a:bodyPr>
          <a:lstStyle/>
          <a:p>
            <a:r>
              <a:rPr sz="1100" b="0">
                <a:solidFill>
                  <a:srgbClr val="252423"/>
                </a:solidFill>
                <a:latin typeface="Segoe UI"/>
              </a:rPr>
              <a:t>. 4 of 7 regions grow at or above that pace, so entry logic has to differ by region scale defence in the leaders, mix and premiumisation in the mid-tier, and</a:t>
            </a:r>
          </a:p>
        </p:txBody>
      </p:sp>
      <p:sp>
        <p:nvSpPr>
          <p:cNvPr id="154" name="TextBox 153"/>
          <p:cNvSpPr txBox="1"/>
          <p:nvPr/>
        </p:nvSpPr>
        <p:spPr>
          <a:xfrm>
            <a:off x="304800" y="6078903"/>
            <a:ext cx="2977349" cy="186689"/>
          </a:xfrm>
          <a:prstGeom prst="rect">
            <a:avLst/>
          </a:prstGeom>
          <a:noFill/>
        </p:spPr>
        <p:txBody>
          <a:bodyPr wrap="none" lIns="0" rIns="0" tIns="0" bIns="0">
            <a:spAutoFit/>
          </a:bodyPr>
          <a:lstStyle/>
          <a:p>
            <a:r>
              <a:rPr sz="1100" b="0">
                <a:solidFill>
                  <a:srgbClr val="252423"/>
                </a:solidFill>
                <a:latin typeface="Segoe UI"/>
              </a:rPr>
              <a:t>availability-led expansion in the fastest movers.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Global Driving Factors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economic and supply-side factors scored by their impact on the global market</a:t>
            </a:r>
          </a:p>
        </p:txBody>
      </p:sp>
      <p:sp>
        <p:nvSpPr>
          <p:cNvPr id="8" name="Oval 7"/>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2438400" y="2595333"/>
            <a:ext cx="2324100" cy="2108302"/>
          </a:xfrm>
          <a:custGeom>
            <a:avLst/>
            <a:gdLst/>
            <a:ahLst/>
            <a:cxnLst/>
            <a:rect l="l" t="t" r="r" b="b"/>
            <a:pathLst>
              <a:path w="244" h="231">
                <a:moveTo>
                  <a:pt x="244" y="0"/>
                </a:moveTo>
                <a:lnTo>
                  <a:pt x="182" y="14"/>
                </a:lnTo>
                <a:lnTo>
                  <a:pt x="107" y="33"/>
                </a:lnTo>
                <a:lnTo>
                  <a:pt x="65" y="101"/>
                </a:lnTo>
                <a:lnTo>
                  <a:pt x="0" y="198"/>
                </a:lnTo>
                <a:lnTo>
                  <a:pt x="170" y="201"/>
                </a:lnTo>
                <a:lnTo>
                  <a:pt x="203" y="226"/>
                </a:lnTo>
                <a:lnTo>
                  <a:pt x="244" y="231"/>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29" name="Oval 28"/>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1" name="Oval 30"/>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3" name="Oval 32"/>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5" name="Oval 34"/>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7" name="Oval 36"/>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39" name="Oval 38"/>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41" name="Oval 40"/>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52423"/>
                </a:solidFill>
                <a:latin typeface="Segoe UI"/>
              </a:rPr>
              <a:t/>
            </a:r>
          </a:p>
        </p:txBody>
      </p:sp>
      <p:sp>
        <p:nvSpPr>
          <p:cNvPr id="43" name="Rectangle 42"/>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05E5C"/>
                </a:solidFill>
                <a:latin typeface="Segoe UI"/>
              </a:rPr>
              <a:t>0%</a:t>
            </a:r>
          </a:p>
        </p:txBody>
      </p:sp>
      <p:sp>
        <p:nvSpPr>
          <p:cNvPr id="45"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05E5C"/>
                </a:solidFill>
                <a:latin typeface="Segoe UI"/>
              </a:rPr>
              <a:t>10%</a:t>
            </a:r>
          </a:p>
        </p:txBody>
      </p:sp>
      <p:sp>
        <p:nvSpPr>
          <p:cNvPr id="46"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05E5C"/>
                </a:solidFill>
                <a:latin typeface="Segoe UI"/>
              </a:rPr>
              <a:t>20%</a:t>
            </a:r>
          </a:p>
        </p:txBody>
      </p:sp>
      <p:sp>
        <p:nvSpPr>
          <p:cNvPr id="47"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05E5C"/>
                </a:solidFill>
                <a:latin typeface="Segoe UI"/>
              </a:rPr>
              <a:t>30%</a:t>
            </a:r>
          </a:p>
        </p:txBody>
      </p:sp>
      <p:sp>
        <p:nvSpPr>
          <p:cNvPr id="48"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05E5C"/>
                </a:solidFill>
                <a:latin typeface="Segoe UI"/>
              </a:rPr>
              <a:t>40%</a:t>
            </a:r>
          </a:p>
        </p:txBody>
      </p:sp>
      <p:sp>
        <p:nvSpPr>
          <p:cNvPr id="49"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05E5C"/>
                </a:solidFill>
                <a:latin typeface="Segoe UI"/>
              </a:rPr>
              <a:t>50%</a:t>
            </a:r>
          </a:p>
        </p:txBody>
      </p:sp>
      <p:sp>
        <p:nvSpPr>
          <p:cNvPr id="50"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05E5C"/>
                </a:solidFill>
                <a:latin typeface="Segoe UI"/>
              </a:rPr>
              <a:t>60%</a:t>
            </a:r>
          </a:p>
        </p:txBody>
      </p:sp>
      <p:sp>
        <p:nvSpPr>
          <p:cNvPr id="51"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05E5C"/>
                </a:solidFill>
                <a:latin typeface="Segoe UI"/>
              </a:rPr>
              <a:t>70%</a:t>
            </a:r>
          </a:p>
        </p:txBody>
      </p:sp>
      <p:sp>
        <p:nvSpPr>
          <p:cNvPr id="52"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05E5C"/>
                </a:solidFill>
                <a:latin typeface="Segoe UI"/>
              </a:rPr>
              <a:t>80%</a:t>
            </a:r>
          </a:p>
        </p:txBody>
      </p:sp>
      <p:sp>
        <p:nvSpPr>
          <p:cNvPr id="53"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05E5C"/>
                </a:solidFill>
                <a:latin typeface="Segoe UI"/>
              </a:rPr>
              <a:t>90%</a:t>
            </a:r>
          </a:p>
        </p:txBody>
      </p:sp>
      <p:sp>
        <p:nvSpPr>
          <p:cNvPr id="54"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05E5C"/>
                </a:solidFill>
                <a:latin typeface="Segoe UI"/>
              </a:rPr>
              <a:t>100%</a:t>
            </a:r>
          </a:p>
        </p:txBody>
      </p:sp>
      <p:cxnSp>
        <p:nvCxnSpPr>
          <p:cNvPr id="55" name="Connector 54"/>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E3A5F"/>
                </a:solidFill>
                <a:latin typeface="Segoe UI"/>
              </a:rPr>
              <a:t>Economic and Supply-side Factors</a:t>
            </a:r>
          </a:p>
        </p:txBody>
      </p:sp>
      <p:cxnSp>
        <p:nvCxnSpPr>
          <p:cNvPr id="57" name="Connector 56"/>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9" name="TextBox 58"/>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0" name="TextBox 59"/>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1" name="TextBox 60"/>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Portfolio breadth spans 2 product form lines and 4 application routes, giving producers focused reformulation and channel latitude.</a:t>
            </a:r>
          </a:p>
        </p:txBody>
      </p:sp>
      <p:sp>
        <p:nvSpPr>
          <p:cNvPr id="62" name="TextBox 61"/>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3" name="TextBox 62"/>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Note: the dynamics framing is indicative factors, impact ratings and narrative are generated from the loaded dataset's own values.</a:t>
            </a:r>
          </a:p>
        </p:txBody>
      </p:sp>
      <p:sp>
        <p:nvSpPr>
          <p:cNvPr id="64" name="TextBox 6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5" name="TextBox 64"/>
          <p:cNvSpPr txBox="1"/>
          <p:nvPr/>
        </p:nvSpPr>
        <p:spPr>
          <a:xfrm>
            <a:off x="3366358" y="1322601"/>
            <a:ext cx="1225859" cy="173278"/>
          </a:xfrm>
          <a:prstGeom prst="rect">
            <a:avLst/>
          </a:prstGeom>
          <a:noFill/>
        </p:spPr>
        <p:txBody>
          <a:bodyPr wrap="none" lIns="0" rIns="0" tIns="0" bIns="0">
            <a:spAutoFit/>
          </a:bodyPr>
          <a:lstStyle/>
          <a:p>
            <a:r>
              <a:rPr sz="1011" b="0">
                <a:solidFill>
                  <a:srgbClr val="252423"/>
                </a:solidFill>
                <a:latin typeface="Segoe U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01245" y="1561215"/>
            <a:ext cx="1176129" cy="173278"/>
          </a:xfrm>
          <a:prstGeom prst="rect">
            <a:avLst/>
          </a:prstGeom>
          <a:noFill/>
        </p:spPr>
        <p:txBody>
          <a:bodyPr wrap="none" lIns="0" rIns="0" tIns="0" bIns="0">
            <a:spAutoFit/>
          </a:bodyPr>
          <a:lstStyle/>
          <a:p>
            <a:r>
              <a:rPr sz="1011" b="0">
                <a:solidFill>
                  <a:srgbClr val="252423"/>
                </a:solidFill>
                <a:latin typeface="Segoe U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873936" y="2311939"/>
            <a:ext cx="828489" cy="173278"/>
          </a:xfrm>
          <a:prstGeom prst="rect">
            <a:avLst/>
          </a:prstGeom>
          <a:noFill/>
        </p:spPr>
        <p:txBody>
          <a:bodyPr wrap="none" lIns="0" rIns="0" tIns="0" bIns="0">
            <a:spAutoFit/>
          </a:bodyPr>
          <a:lstStyle/>
          <a:p>
            <a:r>
              <a:rPr sz="1011" b="0">
                <a:solidFill>
                  <a:srgbClr val="252423"/>
                </a:solidFill>
                <a:latin typeface="Segoe U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915921" y="3278069"/>
            <a:ext cx="1300943" cy="173278"/>
          </a:xfrm>
          <a:prstGeom prst="rect">
            <a:avLst/>
          </a:prstGeom>
          <a:noFill/>
        </p:spPr>
        <p:txBody>
          <a:bodyPr wrap="none" lIns="0" rIns="0" tIns="0" bIns="0">
            <a:spAutoFit/>
          </a:bodyPr>
          <a:lstStyle/>
          <a:p>
            <a:r>
              <a:rPr sz="1011" b="0">
                <a:solidFill>
                  <a:srgbClr val="252423"/>
                </a:solidFill>
                <a:latin typeface="Segoe U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052756" y="4350392"/>
            <a:ext cx="1164108" cy="173278"/>
          </a:xfrm>
          <a:prstGeom prst="rect">
            <a:avLst/>
          </a:prstGeom>
          <a:noFill/>
        </p:spPr>
        <p:txBody>
          <a:bodyPr wrap="none" lIns="0" rIns="0" tIns="0" bIns="0">
            <a:spAutoFit/>
          </a:bodyPr>
          <a:lstStyle/>
          <a:p>
            <a:r>
              <a:rPr sz="1011" b="0">
                <a:solidFill>
                  <a:srgbClr val="252423"/>
                </a:solidFill>
                <a:latin typeface="Segoe U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658824" y="5316521"/>
            <a:ext cx="1043601" cy="173278"/>
          </a:xfrm>
          <a:prstGeom prst="rect">
            <a:avLst/>
          </a:prstGeom>
          <a:noFill/>
        </p:spPr>
        <p:txBody>
          <a:bodyPr wrap="none" lIns="0" rIns="0" tIns="0" bIns="0">
            <a:spAutoFit/>
          </a:bodyPr>
          <a:lstStyle/>
          <a:p>
            <a:r>
              <a:rPr sz="1011" b="0">
                <a:solidFill>
                  <a:srgbClr val="252423"/>
                </a:solidFill>
                <a:latin typeface="Segoe U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780812" y="6067245"/>
            <a:ext cx="796562" cy="173278"/>
          </a:xfrm>
          <a:prstGeom prst="rect">
            <a:avLst/>
          </a:prstGeom>
          <a:noFill/>
        </p:spPr>
        <p:txBody>
          <a:bodyPr wrap="none" lIns="0" rIns="0" tIns="0" bIns="0">
            <a:spAutoFit/>
          </a:bodyPr>
          <a:lstStyle/>
          <a:p>
            <a:r>
              <a:rPr sz="1011" b="0">
                <a:solidFill>
                  <a:srgbClr val="252423"/>
                </a:solidFill>
                <a:latin typeface="Segoe U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549778" y="6305860"/>
            <a:ext cx="1042440" cy="173278"/>
          </a:xfrm>
          <a:prstGeom prst="rect">
            <a:avLst/>
          </a:prstGeom>
          <a:noFill/>
        </p:spPr>
        <p:txBody>
          <a:bodyPr wrap="none" lIns="0" rIns="0" tIns="0" bIns="0">
            <a:spAutoFit/>
          </a:bodyPr>
          <a:lstStyle/>
          <a:p>
            <a:r>
              <a:rPr sz="1011" b="0">
                <a:solidFill>
                  <a:srgbClr val="252423"/>
                </a:solidFill>
                <a:latin typeface="Segoe U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516798" cy="186689"/>
          </a:xfrm>
          <a:prstGeom prst="rect">
            <a:avLst/>
          </a:prstGeom>
          <a:noFill/>
        </p:spPr>
        <p:txBody>
          <a:bodyPr wrap="none" lIns="0" rIns="0" tIns="0" bIns="0">
            <a:spAutoFit/>
          </a:bodyPr>
          <a:lstStyle/>
          <a:p>
            <a:r>
              <a:rPr sz="1100" b="0">
                <a:solidFill>
                  <a:srgbClr val="252423"/>
                </a:solidFill>
                <a:latin typeface="Segoe UI"/>
              </a:rPr>
              <a:t>▪ Supply-side conditions are led by Geographic Spread (</a:t>
            </a:r>
          </a:p>
        </p:txBody>
      </p:sp>
      <p:pic>
        <p:nvPicPr>
          <p:cNvPr id="82" name="Picture 81" descr="lock.png"/>
          <p:cNvPicPr>
            <a:picLocks noChangeAspect="1"/>
          </p:cNvPicPr>
          <p:nvPr/>
        </p:nvPicPr>
        <p:blipFill>
          <a:blip r:embed="rId4"/>
          <a:stretch>
            <a:fillRect/>
          </a:stretch>
        </p:blipFill>
        <p:spPr>
          <a:xfrm>
            <a:off x="8465475" y="1486975"/>
            <a:ext cx="128699" cy="187198"/>
          </a:xfrm>
          <a:prstGeom prst="rect">
            <a:avLst/>
          </a:prstGeom>
        </p:spPr>
      </p:pic>
      <p:sp>
        <p:nvSpPr>
          <p:cNvPr id="83" name="TextBox 82"/>
          <p:cNvSpPr txBox="1"/>
          <p:nvPr/>
        </p:nvSpPr>
        <p:spPr>
          <a:xfrm>
            <a:off x="8632970" y="1496754"/>
            <a:ext cx="1803896" cy="186689"/>
          </a:xfrm>
          <a:prstGeom prst="rect">
            <a:avLst/>
          </a:prstGeom>
          <a:noFill/>
        </p:spPr>
        <p:txBody>
          <a:bodyPr wrap="none" lIns="0" rIns="0" tIns="0" bIns="0">
            <a:spAutoFit/>
          </a:bodyPr>
          <a:lstStyle/>
          <a:p>
            <a:r>
              <a:rPr sz="1100" b="0">
                <a:solidFill>
                  <a:srgbClr val="252423"/>
                </a:solidFill>
                <a:latin typeface="Segoe UI"/>
              </a:rPr>
              <a:t>/10), Supply Concentration (</a:t>
            </a:r>
          </a:p>
        </p:txBody>
      </p:sp>
      <p:pic>
        <p:nvPicPr>
          <p:cNvPr id="84" name="Picture 83" descr="lock.png"/>
          <p:cNvPicPr>
            <a:picLocks noChangeAspect="1"/>
          </p:cNvPicPr>
          <p:nvPr/>
        </p:nvPicPr>
        <p:blipFill>
          <a:blip r:embed="rId4"/>
          <a:stretch>
            <a:fillRect/>
          </a:stretch>
        </p:blipFill>
        <p:spPr>
          <a:xfrm>
            <a:off x="10384918" y="1486975"/>
            <a:ext cx="128699" cy="187198"/>
          </a:xfrm>
          <a:prstGeom prst="rect">
            <a:avLst/>
          </a:prstGeom>
        </p:spPr>
      </p:pic>
      <p:sp>
        <p:nvSpPr>
          <p:cNvPr id="85" name="TextBox 84"/>
          <p:cNvSpPr txBox="1"/>
          <p:nvPr/>
        </p:nvSpPr>
        <p:spPr>
          <a:xfrm>
            <a:off x="10552414" y="1496754"/>
            <a:ext cx="1209868" cy="186689"/>
          </a:xfrm>
          <a:prstGeom prst="rect">
            <a:avLst/>
          </a:prstGeom>
          <a:noFill/>
        </p:spPr>
        <p:txBody>
          <a:bodyPr wrap="none" lIns="0" rIns="0" tIns="0" bIns="0">
            <a:spAutoFit/>
          </a:bodyPr>
          <a:lstStyle/>
          <a:p>
            <a:r>
              <a:rPr sz="1100" b="0">
                <a:solidFill>
                  <a:srgbClr val="252423"/>
                </a:solidFill>
                <a:latin typeface="Segoe UI"/>
              </a:rPr>
              <a:t>/10), Capacity Add</a:t>
            </a:r>
          </a:p>
        </p:txBody>
      </p:sp>
      <p:sp>
        <p:nvSpPr>
          <p:cNvPr id="86" name="TextBox 85"/>
          <p:cNvSpPr txBox="1"/>
          <p:nvPr/>
        </p:nvSpPr>
        <p:spPr>
          <a:xfrm>
            <a:off x="5000625" y="1664394"/>
            <a:ext cx="118491"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7" name="Picture 86" descr="lock.png"/>
          <p:cNvPicPr>
            <a:picLocks noChangeAspect="1"/>
          </p:cNvPicPr>
          <p:nvPr/>
        </p:nvPicPr>
        <p:blipFill>
          <a:blip r:embed="rId4"/>
          <a:stretch>
            <a:fillRect/>
          </a:stretch>
        </p:blipFill>
        <p:spPr>
          <a:xfrm>
            <a:off x="5067168" y="1654615"/>
            <a:ext cx="128699" cy="187198"/>
          </a:xfrm>
          <a:prstGeom prst="rect">
            <a:avLst/>
          </a:prstGeom>
        </p:spPr>
      </p:pic>
      <p:sp>
        <p:nvSpPr>
          <p:cNvPr id="88" name="TextBox 87"/>
          <p:cNvSpPr txBox="1"/>
          <p:nvPr/>
        </p:nvSpPr>
        <p:spPr>
          <a:xfrm>
            <a:off x="5234664" y="1664394"/>
            <a:ext cx="3584299" cy="186689"/>
          </a:xfrm>
          <a:prstGeom prst="rect">
            <a:avLst/>
          </a:prstGeom>
          <a:noFill/>
        </p:spPr>
        <p:txBody>
          <a:bodyPr wrap="none" lIns="0" rIns="0" tIns="0" bIns="0">
            <a:spAutoFit/>
          </a:bodyPr>
          <a:lstStyle/>
          <a:p>
            <a:r>
              <a:rPr sz="1100" b="0">
                <a:solidFill>
                  <a:srgbClr val="252423"/>
                </a:solidFill>
                <a:latin typeface="Segoe UI"/>
              </a:rPr>
              <a:t>/10) on a 0-10 scale scored from the global dataset itself.</a:t>
            </a:r>
          </a:p>
        </p:txBody>
      </p:sp>
      <p:sp>
        <p:nvSpPr>
          <p:cNvPr id="89" name="TextBox 88"/>
          <p:cNvSpPr txBox="1"/>
          <p:nvPr/>
        </p:nvSpPr>
        <p:spPr>
          <a:xfrm>
            <a:off x="5000625" y="1953097"/>
            <a:ext cx="1345066" cy="186689"/>
          </a:xfrm>
          <a:prstGeom prst="rect">
            <a:avLst/>
          </a:prstGeom>
          <a:noFill/>
        </p:spPr>
        <p:txBody>
          <a:bodyPr wrap="none" lIns="0" rIns="0" tIns="0" bIns="0">
            <a:spAutoFit/>
          </a:bodyPr>
          <a:lstStyle/>
          <a:p>
            <a:r>
              <a:rPr sz="1100" b="0">
                <a:solidFill>
                  <a:srgbClr val="252423"/>
                </a:solidFill>
                <a:latin typeface="Segoe UI"/>
              </a:rPr>
              <a:t>▪ Volume expands at</a:t>
            </a:r>
          </a:p>
        </p:txBody>
      </p:sp>
      <p:pic>
        <p:nvPicPr>
          <p:cNvPr id="90" name="Picture 89" descr="lock.png"/>
          <p:cNvPicPr>
            <a:picLocks noChangeAspect="1"/>
          </p:cNvPicPr>
          <p:nvPr/>
        </p:nvPicPr>
        <p:blipFill>
          <a:blip r:embed="rId4"/>
          <a:stretch>
            <a:fillRect/>
          </a:stretch>
        </p:blipFill>
        <p:spPr>
          <a:xfrm>
            <a:off x="6293742" y="1943318"/>
            <a:ext cx="128699" cy="187198"/>
          </a:xfrm>
          <a:prstGeom prst="rect">
            <a:avLst/>
          </a:prstGeom>
        </p:spPr>
      </p:pic>
      <p:sp>
        <p:nvSpPr>
          <p:cNvPr id="91" name="TextBox 90"/>
          <p:cNvSpPr txBox="1"/>
          <p:nvPr/>
        </p:nvSpPr>
        <p:spPr>
          <a:xfrm>
            <a:off x="6461238" y="1953097"/>
            <a:ext cx="3221820" cy="186689"/>
          </a:xfrm>
          <a:prstGeom prst="rect">
            <a:avLst/>
          </a:prstGeom>
          <a:noFill/>
        </p:spPr>
        <p:txBody>
          <a:bodyPr wrap="none" lIns="0" rIns="0" tIns="0" bIns="0">
            <a:spAutoFit/>
          </a:bodyPr>
          <a:lstStyle/>
          <a:p>
            <a:r>
              <a:rPr sz="1100" b="0">
                <a:solidFill>
                  <a:srgbClr val="252423"/>
                </a:solidFill>
                <a:latin typeface="Segoe UI"/>
              </a:rPr>
              <a:t>CAGR (2026–2036) while average realisation moves</a:t>
            </a:r>
          </a:p>
        </p:txBody>
      </p:sp>
      <p:pic>
        <p:nvPicPr>
          <p:cNvPr id="92" name="Picture 91" descr="lock.png"/>
          <p:cNvPicPr>
            <a:picLocks noChangeAspect="1"/>
          </p:cNvPicPr>
          <p:nvPr/>
        </p:nvPicPr>
        <p:blipFill>
          <a:blip r:embed="rId4"/>
          <a:stretch>
            <a:fillRect/>
          </a:stretch>
        </p:blipFill>
        <p:spPr>
          <a:xfrm>
            <a:off x="9631110" y="1943318"/>
            <a:ext cx="128699" cy="187198"/>
          </a:xfrm>
          <a:prstGeom prst="rect">
            <a:avLst/>
          </a:prstGeom>
        </p:spPr>
      </p:pic>
      <p:sp>
        <p:nvSpPr>
          <p:cNvPr id="93" name="TextBox 92"/>
          <p:cNvSpPr txBox="1"/>
          <p:nvPr/>
        </p:nvSpPr>
        <p:spPr>
          <a:xfrm>
            <a:off x="9798606" y="1953097"/>
            <a:ext cx="2008726" cy="186689"/>
          </a:xfrm>
          <a:prstGeom prst="rect">
            <a:avLst/>
          </a:prstGeom>
          <a:noFill/>
        </p:spPr>
        <p:txBody>
          <a:bodyPr wrap="none" lIns="0" rIns="0" tIns="0" bIns="0">
            <a:spAutoFit/>
          </a:bodyPr>
          <a:lstStyle/>
          <a:p>
            <a:r>
              <a:rPr sz="1100" b="0">
                <a:solidFill>
                  <a:srgbClr val="252423"/>
                </a:solidFill>
                <a:latin typeface="Segoe UI"/>
              </a:rPr>
              <a:t>a year the balance of those two</a:t>
            </a:r>
          </a:p>
        </p:txBody>
      </p:sp>
      <p:sp>
        <p:nvSpPr>
          <p:cNvPr id="94" name="TextBox 93"/>
          <p:cNvSpPr txBox="1"/>
          <p:nvPr/>
        </p:nvSpPr>
        <p:spPr>
          <a:xfrm>
            <a:off x="5000625" y="2120737"/>
            <a:ext cx="2223060" cy="186689"/>
          </a:xfrm>
          <a:prstGeom prst="rect">
            <a:avLst/>
          </a:prstGeom>
          <a:noFill/>
        </p:spPr>
        <p:txBody>
          <a:bodyPr wrap="none" lIns="0" rIns="0" tIns="0" bIns="0">
            <a:spAutoFit/>
          </a:bodyPr>
          <a:lstStyle/>
          <a:p>
            <a:r>
              <a:rPr sz="1100" b="0">
                <a:solidFill>
                  <a:srgbClr val="252423"/>
                </a:solidFill>
                <a:latin typeface="Segoe UI"/>
              </a:rPr>
              <a:t>sets the cost-pass-through picture.</a:t>
            </a:r>
          </a:p>
        </p:txBody>
      </p:sp>
      <p:sp>
        <p:nvSpPr>
          <p:cNvPr id="95" name="TextBox 94"/>
          <p:cNvSpPr txBox="1"/>
          <p:nvPr/>
        </p:nvSpPr>
        <p:spPr>
          <a:xfrm>
            <a:off x="5000625" y="2401990"/>
            <a:ext cx="2974203" cy="186689"/>
          </a:xfrm>
          <a:prstGeom prst="rect">
            <a:avLst/>
          </a:prstGeom>
          <a:noFill/>
        </p:spPr>
        <p:txBody>
          <a:bodyPr wrap="none" lIns="0" rIns="0" tIns="0" bIns="0">
            <a:spAutoFit/>
          </a:bodyPr>
          <a:lstStyle/>
          <a:p>
            <a:r>
              <a:rPr sz="1100" b="0">
                <a:solidFill>
                  <a:srgbClr val="252423"/>
                </a:solidFill>
                <a:latin typeface="Segoe UI"/>
              </a:rPr>
              <a:t>▪ Supply is concentrated: 'North America' holds</a:t>
            </a:r>
          </a:p>
        </p:txBody>
      </p:sp>
      <p:pic>
        <p:nvPicPr>
          <p:cNvPr id="96" name="Picture 95" descr="lock.png"/>
          <p:cNvPicPr>
            <a:picLocks noChangeAspect="1"/>
          </p:cNvPicPr>
          <p:nvPr/>
        </p:nvPicPr>
        <p:blipFill>
          <a:blip r:embed="rId4"/>
          <a:stretch>
            <a:fillRect/>
          </a:stretch>
        </p:blipFill>
        <p:spPr>
          <a:xfrm>
            <a:off x="7922879" y="2392211"/>
            <a:ext cx="128699" cy="187198"/>
          </a:xfrm>
          <a:prstGeom prst="rect">
            <a:avLst/>
          </a:prstGeom>
        </p:spPr>
      </p:pic>
      <p:sp>
        <p:nvSpPr>
          <p:cNvPr id="97" name="TextBox 96"/>
          <p:cNvSpPr txBox="1"/>
          <p:nvPr/>
        </p:nvSpPr>
        <p:spPr>
          <a:xfrm>
            <a:off x="8090375" y="2401990"/>
            <a:ext cx="1966379" cy="186689"/>
          </a:xfrm>
          <a:prstGeom prst="rect">
            <a:avLst/>
          </a:prstGeom>
          <a:noFill/>
        </p:spPr>
        <p:txBody>
          <a:bodyPr wrap="none" lIns="0" rIns="0" tIns="0" bIns="0">
            <a:spAutoFit/>
          </a:bodyPr>
          <a:lstStyle/>
          <a:p>
            <a:r>
              <a:rPr sz="1100" b="0">
                <a:solidFill>
                  <a:srgbClr val="252423"/>
                </a:solidFill>
                <a:latin typeface="Segoe UI"/>
              </a:rPr>
              <a:t>of 2036 value across 7 regions.</a:t>
            </a:r>
          </a:p>
        </p:txBody>
      </p:sp>
      <p:sp>
        <p:nvSpPr>
          <p:cNvPr id="98" name="TextBox 97"/>
          <p:cNvSpPr txBox="1"/>
          <p:nvPr/>
        </p:nvSpPr>
        <p:spPr>
          <a:xfrm>
            <a:off x="5000625" y="3132138"/>
            <a:ext cx="3162718" cy="186689"/>
          </a:xfrm>
          <a:prstGeom prst="rect">
            <a:avLst/>
          </a:prstGeom>
          <a:noFill/>
        </p:spPr>
        <p:txBody>
          <a:bodyPr wrap="none" lIns="0" rIns="0" tIns="0" bIns="0">
            <a:spAutoFit/>
          </a:bodyPr>
          <a:lstStyle/>
          <a:p>
            <a:r>
              <a:rPr sz="1100" b="0">
                <a:solidFill>
                  <a:srgbClr val="252423"/>
                </a:solidFill>
                <a:latin typeface="Segoe UI"/>
              </a:rPr>
              <a:t>▪ Capacity added between 2026 and 2036 is worth</a:t>
            </a:r>
          </a:p>
        </p:txBody>
      </p:sp>
      <p:pic>
        <p:nvPicPr>
          <p:cNvPr id="99" name="Picture 98" descr="lock.png"/>
          <p:cNvPicPr>
            <a:picLocks noChangeAspect="1"/>
          </p:cNvPicPr>
          <p:nvPr/>
        </p:nvPicPr>
        <p:blipFill>
          <a:blip r:embed="rId4"/>
          <a:stretch>
            <a:fillRect/>
          </a:stretch>
        </p:blipFill>
        <p:spPr>
          <a:xfrm>
            <a:off x="8111394" y="3122359"/>
            <a:ext cx="128699" cy="187198"/>
          </a:xfrm>
          <a:prstGeom prst="rect">
            <a:avLst/>
          </a:prstGeom>
        </p:spPr>
      </p:pic>
      <p:sp>
        <p:nvSpPr>
          <p:cNvPr id="100" name="TextBox 99"/>
          <p:cNvSpPr txBox="1"/>
          <p:nvPr/>
        </p:nvSpPr>
        <p:spPr>
          <a:xfrm>
            <a:off x="8278890" y="3132138"/>
            <a:ext cx="704304" cy="186689"/>
          </a:xfrm>
          <a:prstGeom prst="rect">
            <a:avLst/>
          </a:prstGeom>
          <a:noFill/>
        </p:spPr>
        <p:txBody>
          <a:bodyPr wrap="none" lIns="0" rIns="0" tIns="0" bIns="0">
            <a:spAutoFit/>
          </a:bodyPr>
          <a:lstStyle/>
          <a:p>
            <a:r>
              <a:rPr sz="1100" b="0">
                <a:solidFill>
                  <a:srgbClr val="252423"/>
                </a:solidFill>
                <a:latin typeface="Segoe UI"/>
              </a:rPr>
              <a:t>US$ Mn, a</a:t>
            </a:r>
          </a:p>
        </p:txBody>
      </p:sp>
      <p:pic>
        <p:nvPicPr>
          <p:cNvPr id="101" name="Picture 100" descr="lock.png"/>
          <p:cNvPicPr>
            <a:picLocks noChangeAspect="1"/>
          </p:cNvPicPr>
          <p:nvPr/>
        </p:nvPicPr>
        <p:blipFill>
          <a:blip r:embed="rId4"/>
          <a:stretch>
            <a:fillRect/>
          </a:stretch>
        </p:blipFill>
        <p:spPr>
          <a:xfrm>
            <a:off x="8931246" y="3122359"/>
            <a:ext cx="128699" cy="187198"/>
          </a:xfrm>
          <a:prstGeom prst="rect">
            <a:avLst/>
          </a:prstGeom>
        </p:spPr>
      </p:pic>
      <p:sp>
        <p:nvSpPr>
          <p:cNvPr id="102" name="TextBox 101"/>
          <p:cNvSpPr txBox="1"/>
          <p:nvPr/>
        </p:nvSpPr>
        <p:spPr>
          <a:xfrm>
            <a:off x="9098742" y="3132138"/>
            <a:ext cx="1964273" cy="186689"/>
          </a:xfrm>
          <a:prstGeom prst="rect">
            <a:avLst/>
          </a:prstGeom>
          <a:noFill/>
        </p:spPr>
        <p:txBody>
          <a:bodyPr wrap="none" lIns="0" rIns="0" tIns="0" bIns="0">
            <a:spAutoFit/>
          </a:bodyPr>
          <a:lstStyle/>
          <a:p>
            <a:r>
              <a:rPr sz="1100" b="0">
                <a:solidFill>
                  <a:srgbClr val="252423"/>
                </a:solidFill>
                <a:latin typeface="Segoe UI"/>
              </a:rPr>
              <a:t>× expansion on the 2026 base.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Global Driving Factors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demand-side factors scored by their impact on the global market</a:t>
            </a:r>
          </a:p>
        </p:txBody>
      </p:sp>
      <p:sp>
        <p:nvSpPr>
          <p:cNvPr id="8" name="Oval 7"/>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7429500" y="2713982"/>
            <a:ext cx="1524000" cy="3230905"/>
          </a:xfrm>
          <a:custGeom>
            <a:avLst/>
            <a:gdLst/>
            <a:ahLst/>
            <a:cxnLst/>
            <a:rect l="l" t="t" r="r" b="b"/>
            <a:pathLst>
              <a:path w="160" h="354">
                <a:moveTo>
                  <a:pt x="0" y="4"/>
                </a:moveTo>
                <a:lnTo>
                  <a:pt x="62" y="0"/>
                </a:lnTo>
                <a:lnTo>
                  <a:pt x="73" y="71"/>
                </a:lnTo>
                <a:lnTo>
                  <a:pt x="103" y="105"/>
                </a:lnTo>
                <a:lnTo>
                  <a:pt x="160" y="166"/>
                </a:lnTo>
                <a:lnTo>
                  <a:pt x="101" y="209"/>
                </a:lnTo>
                <a:lnTo>
                  <a:pt x="108" y="354"/>
                </a:lnTo>
                <a:lnTo>
                  <a:pt x="0" y="307"/>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29" name="Oval 28"/>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1" name="Oval 30"/>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3" name="Oval 32"/>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5" name="Oval 34"/>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7" name="Oval 36"/>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39" name="Oval 38"/>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41" name="Oval 40"/>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52423"/>
                </a:solidFill>
                <a:latin typeface="Segoe UI"/>
              </a:rPr>
              <a:t/>
            </a:r>
          </a:p>
        </p:txBody>
      </p:sp>
      <p:sp>
        <p:nvSpPr>
          <p:cNvPr id="43" name="Rectangle 42"/>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05E5C"/>
                </a:solidFill>
                <a:latin typeface="Segoe UI"/>
              </a:rPr>
              <a:t>0%</a:t>
            </a:r>
          </a:p>
        </p:txBody>
      </p:sp>
      <p:sp>
        <p:nvSpPr>
          <p:cNvPr id="45"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05E5C"/>
                </a:solidFill>
                <a:latin typeface="Segoe UI"/>
              </a:rPr>
              <a:t>10%</a:t>
            </a:r>
          </a:p>
        </p:txBody>
      </p:sp>
      <p:sp>
        <p:nvSpPr>
          <p:cNvPr id="46"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05E5C"/>
                </a:solidFill>
                <a:latin typeface="Segoe UI"/>
              </a:rPr>
              <a:t>20%</a:t>
            </a:r>
          </a:p>
        </p:txBody>
      </p:sp>
      <p:sp>
        <p:nvSpPr>
          <p:cNvPr id="47"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05E5C"/>
                </a:solidFill>
                <a:latin typeface="Segoe UI"/>
              </a:rPr>
              <a:t>30%</a:t>
            </a:r>
          </a:p>
        </p:txBody>
      </p:sp>
      <p:sp>
        <p:nvSpPr>
          <p:cNvPr id="48"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05E5C"/>
                </a:solidFill>
                <a:latin typeface="Segoe UI"/>
              </a:rPr>
              <a:t>40%</a:t>
            </a:r>
          </a:p>
        </p:txBody>
      </p:sp>
      <p:sp>
        <p:nvSpPr>
          <p:cNvPr id="49"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05E5C"/>
                </a:solidFill>
                <a:latin typeface="Segoe UI"/>
              </a:rPr>
              <a:t>50%</a:t>
            </a:r>
          </a:p>
        </p:txBody>
      </p:sp>
      <p:sp>
        <p:nvSpPr>
          <p:cNvPr id="50"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05E5C"/>
                </a:solidFill>
                <a:latin typeface="Segoe UI"/>
              </a:rPr>
              <a:t>60%</a:t>
            </a:r>
          </a:p>
        </p:txBody>
      </p:sp>
      <p:sp>
        <p:nvSpPr>
          <p:cNvPr id="51"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05E5C"/>
                </a:solidFill>
                <a:latin typeface="Segoe UI"/>
              </a:rPr>
              <a:t>70%</a:t>
            </a:r>
          </a:p>
        </p:txBody>
      </p:sp>
      <p:sp>
        <p:nvSpPr>
          <p:cNvPr id="52"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05E5C"/>
                </a:solidFill>
                <a:latin typeface="Segoe UI"/>
              </a:rPr>
              <a:t>80%</a:t>
            </a:r>
          </a:p>
        </p:txBody>
      </p:sp>
      <p:sp>
        <p:nvSpPr>
          <p:cNvPr id="53"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05E5C"/>
                </a:solidFill>
                <a:latin typeface="Segoe UI"/>
              </a:rPr>
              <a:t>90%</a:t>
            </a:r>
          </a:p>
        </p:txBody>
      </p:sp>
      <p:sp>
        <p:nvSpPr>
          <p:cNvPr id="54"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05E5C"/>
                </a:solidFill>
                <a:latin typeface="Segoe UI"/>
              </a:rPr>
              <a:t>100%</a:t>
            </a:r>
          </a:p>
        </p:txBody>
      </p:sp>
      <p:cxnSp>
        <p:nvCxnSpPr>
          <p:cNvPr id="55" name="Connector 54"/>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E3A5F"/>
                </a:solidFill>
                <a:latin typeface="Segoe UI"/>
              </a:rPr>
              <a:t>Demand-side Factors</a:t>
            </a:r>
          </a:p>
        </p:txBody>
      </p:sp>
      <p:cxnSp>
        <p:nvCxnSpPr>
          <p:cNvPr id="57" name="Connector 56"/>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9" name="TextBox 58"/>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0" name="TextBox 59"/>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1" name="TextBox 60"/>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2" name="TextBox 61"/>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63" name="TextBox 62"/>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Note: the dynamics framing is indicative factors, impact ratings and narrative are generated from the loaded dataset's own values.</a:t>
            </a:r>
          </a:p>
        </p:txBody>
      </p:sp>
      <p:sp>
        <p:nvSpPr>
          <p:cNvPr id="64" name="TextBox 6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5" name="TextBox 64"/>
          <p:cNvSpPr txBox="1"/>
          <p:nvPr/>
        </p:nvSpPr>
        <p:spPr>
          <a:xfrm>
            <a:off x="7534275" y="1322601"/>
            <a:ext cx="1010983" cy="173278"/>
          </a:xfrm>
          <a:prstGeom prst="rect">
            <a:avLst/>
          </a:prstGeom>
          <a:noFill/>
        </p:spPr>
        <p:txBody>
          <a:bodyPr wrap="none" lIns="0" rIns="0" tIns="0" bIns="0">
            <a:spAutoFit/>
          </a:bodyPr>
          <a:lstStyle/>
          <a:p>
            <a:r>
              <a:rPr sz="1011" b="0">
                <a:solidFill>
                  <a:srgbClr val="252423"/>
                </a:solidFill>
                <a:latin typeface="Segoe UI"/>
              </a:rPr>
              <a:t>Demand Growth</a:t>
            </a:r>
          </a:p>
        </p:txBody>
      </p:sp>
      <p:pic>
        <p:nvPicPr>
          <p:cNvPr id="66" name="Picture 65" descr="lock.png"/>
          <p:cNvPicPr>
            <a:picLocks noChangeAspect="1"/>
          </p:cNvPicPr>
          <p:nvPr/>
        </p:nvPicPr>
        <p:blipFill>
          <a:blip r:embed="rId4"/>
          <a:stretch>
            <a:fillRect/>
          </a:stretch>
        </p:blipFill>
        <p:spPr>
          <a:xfrm>
            <a:off x="8491370" y="1313604"/>
            <a:ext cx="118403" cy="172222"/>
          </a:xfrm>
          <a:prstGeom prst="rect">
            <a:avLst/>
          </a:prstGeom>
        </p:spPr>
      </p:pic>
      <p:sp>
        <p:nvSpPr>
          <p:cNvPr id="67" name="TextBox 66"/>
          <p:cNvSpPr txBox="1"/>
          <p:nvPr/>
        </p:nvSpPr>
        <p:spPr>
          <a:xfrm>
            <a:off x="8549119" y="1561215"/>
            <a:ext cx="959524" cy="173278"/>
          </a:xfrm>
          <a:prstGeom prst="rect">
            <a:avLst/>
          </a:prstGeom>
          <a:noFill/>
        </p:spPr>
        <p:txBody>
          <a:bodyPr wrap="none" lIns="0" rIns="0" tIns="0" bIns="0">
            <a:spAutoFit/>
          </a:bodyPr>
          <a:lstStyle/>
          <a:p>
            <a:r>
              <a:rPr sz="1011" b="0">
                <a:solidFill>
                  <a:srgbClr val="252423"/>
                </a:solidFill>
                <a:latin typeface="Segoe UI"/>
              </a:rPr>
              <a:t>Premiumisation</a:t>
            </a:r>
          </a:p>
        </p:txBody>
      </p:sp>
      <p:pic>
        <p:nvPicPr>
          <p:cNvPr id="68" name="Picture 67" descr="lock.png"/>
          <p:cNvPicPr>
            <a:picLocks noChangeAspect="1"/>
          </p:cNvPicPr>
          <p:nvPr/>
        </p:nvPicPr>
        <p:blipFill>
          <a:blip r:embed="rId4"/>
          <a:stretch>
            <a:fillRect/>
          </a:stretch>
        </p:blipFill>
        <p:spPr>
          <a:xfrm>
            <a:off x="9454754" y="1552218"/>
            <a:ext cx="118403" cy="172222"/>
          </a:xfrm>
          <a:prstGeom prst="rect">
            <a:avLst/>
          </a:prstGeom>
        </p:spPr>
      </p:pic>
      <p:sp>
        <p:nvSpPr>
          <p:cNvPr id="69" name="TextBox 68"/>
          <p:cNvSpPr txBox="1"/>
          <p:nvPr/>
        </p:nvSpPr>
        <p:spPr>
          <a:xfrm>
            <a:off x="9424068" y="2311939"/>
            <a:ext cx="816691" cy="173278"/>
          </a:xfrm>
          <a:prstGeom prst="rect">
            <a:avLst/>
          </a:prstGeom>
          <a:noFill/>
        </p:spPr>
        <p:txBody>
          <a:bodyPr wrap="none" lIns="0" rIns="0" tIns="0" bIns="0">
            <a:spAutoFit/>
          </a:bodyPr>
          <a:lstStyle/>
          <a:p>
            <a:r>
              <a:rPr sz="1011" b="0">
                <a:solidFill>
                  <a:srgbClr val="252423"/>
                </a:solidFill>
                <a:latin typeface="Segoe UI"/>
              </a:rPr>
              <a:t>App. Breadth</a:t>
            </a:r>
          </a:p>
        </p:txBody>
      </p:sp>
      <p:pic>
        <p:nvPicPr>
          <p:cNvPr id="70" name="Picture 69" descr="lock.png"/>
          <p:cNvPicPr>
            <a:picLocks noChangeAspect="1"/>
          </p:cNvPicPr>
          <p:nvPr/>
        </p:nvPicPr>
        <p:blipFill>
          <a:blip r:embed="rId4"/>
          <a:stretch>
            <a:fillRect/>
          </a:stretch>
        </p:blipFill>
        <p:spPr>
          <a:xfrm>
            <a:off x="10186871" y="2302942"/>
            <a:ext cx="118403" cy="172222"/>
          </a:xfrm>
          <a:prstGeom prst="rect">
            <a:avLst/>
          </a:prstGeom>
        </p:spPr>
      </p:pic>
      <p:sp>
        <p:nvSpPr>
          <p:cNvPr id="71" name="TextBox 70"/>
          <p:cNvSpPr txBox="1"/>
          <p:nvPr/>
        </p:nvSpPr>
        <p:spPr>
          <a:xfrm>
            <a:off x="9909628" y="3278069"/>
            <a:ext cx="861624" cy="173278"/>
          </a:xfrm>
          <a:prstGeom prst="rect">
            <a:avLst/>
          </a:prstGeom>
          <a:noFill/>
        </p:spPr>
        <p:txBody>
          <a:bodyPr wrap="none" lIns="0" rIns="0" tIns="0" bIns="0">
            <a:spAutoFit/>
          </a:bodyPr>
          <a:lstStyle/>
          <a:p>
            <a:r>
              <a:rPr sz="1011" b="0">
                <a:solidFill>
                  <a:srgbClr val="252423"/>
                </a:solidFill>
                <a:latin typeface="Segoe UI"/>
              </a:rPr>
              <a:t>Emerging Pull</a:t>
            </a:r>
          </a:p>
        </p:txBody>
      </p:sp>
      <p:pic>
        <p:nvPicPr>
          <p:cNvPr id="72" name="Picture 71" descr="lock.png"/>
          <p:cNvPicPr>
            <a:picLocks noChangeAspect="1"/>
          </p:cNvPicPr>
          <p:nvPr/>
        </p:nvPicPr>
        <p:blipFill>
          <a:blip r:embed="rId4"/>
          <a:stretch>
            <a:fillRect/>
          </a:stretch>
        </p:blipFill>
        <p:spPr>
          <a:xfrm>
            <a:off x="10717365" y="3269072"/>
            <a:ext cx="118403" cy="172222"/>
          </a:xfrm>
          <a:prstGeom prst="rect">
            <a:avLst/>
          </a:prstGeom>
        </p:spPr>
      </p:pic>
      <p:sp>
        <p:nvSpPr>
          <p:cNvPr id="73" name="TextBox 72"/>
          <p:cNvSpPr txBox="1"/>
          <p:nvPr/>
        </p:nvSpPr>
        <p:spPr>
          <a:xfrm>
            <a:off x="9909628" y="4350392"/>
            <a:ext cx="1216976" cy="173278"/>
          </a:xfrm>
          <a:prstGeom prst="rect">
            <a:avLst/>
          </a:prstGeom>
          <a:noFill/>
        </p:spPr>
        <p:txBody>
          <a:bodyPr wrap="none" lIns="0" rIns="0" tIns="0" bIns="0">
            <a:spAutoFit/>
          </a:bodyPr>
          <a:lstStyle/>
          <a:p>
            <a:r>
              <a:rPr sz="1011" b="0">
                <a:solidFill>
                  <a:srgbClr val="252423"/>
                </a:solidFill>
                <a:latin typeface="Segoe UI"/>
              </a:rPr>
              <a:t>Volume Momentum</a:t>
            </a:r>
          </a:p>
        </p:txBody>
      </p:sp>
      <p:pic>
        <p:nvPicPr>
          <p:cNvPr id="74" name="Picture 73" descr="lock.png"/>
          <p:cNvPicPr>
            <a:picLocks noChangeAspect="1"/>
          </p:cNvPicPr>
          <p:nvPr/>
        </p:nvPicPr>
        <p:blipFill>
          <a:blip r:embed="rId4"/>
          <a:stretch>
            <a:fillRect/>
          </a:stretch>
        </p:blipFill>
        <p:spPr>
          <a:xfrm>
            <a:off x="11072716" y="4341395"/>
            <a:ext cx="118403" cy="172222"/>
          </a:xfrm>
          <a:prstGeom prst="rect">
            <a:avLst/>
          </a:prstGeom>
        </p:spPr>
      </p:pic>
      <p:sp>
        <p:nvSpPr>
          <p:cNvPr id="75" name="TextBox 74"/>
          <p:cNvSpPr txBox="1"/>
          <p:nvPr/>
        </p:nvSpPr>
        <p:spPr>
          <a:xfrm>
            <a:off x="9424068" y="5316521"/>
            <a:ext cx="1104709" cy="173278"/>
          </a:xfrm>
          <a:prstGeom prst="rect">
            <a:avLst/>
          </a:prstGeom>
          <a:noFill/>
        </p:spPr>
        <p:txBody>
          <a:bodyPr wrap="none" lIns="0" rIns="0" tIns="0" bIns="0">
            <a:spAutoFit/>
          </a:bodyPr>
          <a:lstStyle/>
          <a:p>
            <a:r>
              <a:rPr sz="1011" b="0">
                <a:solidFill>
                  <a:srgbClr val="252423"/>
                </a:solidFill>
                <a:latin typeface="Segoe UI"/>
              </a:rPr>
              <a:t>Category Maturity</a:t>
            </a:r>
          </a:p>
        </p:txBody>
      </p:sp>
      <p:pic>
        <p:nvPicPr>
          <p:cNvPr id="76" name="Picture 75" descr="lock.png"/>
          <p:cNvPicPr>
            <a:picLocks noChangeAspect="1"/>
          </p:cNvPicPr>
          <p:nvPr/>
        </p:nvPicPr>
        <p:blipFill>
          <a:blip r:embed="rId4"/>
          <a:stretch>
            <a:fillRect/>
          </a:stretch>
        </p:blipFill>
        <p:spPr>
          <a:xfrm>
            <a:off x="10474889" y="5307524"/>
            <a:ext cx="118403" cy="172222"/>
          </a:xfrm>
          <a:prstGeom prst="rect">
            <a:avLst/>
          </a:prstGeom>
        </p:spPr>
      </p:pic>
      <p:sp>
        <p:nvSpPr>
          <p:cNvPr id="77" name="TextBox 76"/>
          <p:cNvSpPr txBox="1"/>
          <p:nvPr/>
        </p:nvSpPr>
        <p:spPr>
          <a:xfrm>
            <a:off x="8549119" y="6067245"/>
            <a:ext cx="993188" cy="173278"/>
          </a:xfrm>
          <a:prstGeom prst="rect">
            <a:avLst/>
          </a:prstGeom>
          <a:noFill/>
        </p:spPr>
        <p:txBody>
          <a:bodyPr wrap="none" lIns="0" rIns="0" tIns="0" bIns="0">
            <a:spAutoFit/>
          </a:bodyPr>
          <a:lstStyle/>
          <a:p>
            <a:r>
              <a:rPr sz="1011" b="0">
                <a:solidFill>
                  <a:srgbClr val="252423"/>
                </a:solidFill>
                <a:latin typeface="Segoe UI"/>
              </a:rPr>
              <a:t>Adoption Depth</a:t>
            </a:r>
          </a:p>
        </p:txBody>
      </p:sp>
      <p:pic>
        <p:nvPicPr>
          <p:cNvPr id="78" name="Picture 77" descr="lock.png"/>
          <p:cNvPicPr>
            <a:picLocks noChangeAspect="1"/>
          </p:cNvPicPr>
          <p:nvPr/>
        </p:nvPicPr>
        <p:blipFill>
          <a:blip r:embed="rId4"/>
          <a:stretch>
            <a:fillRect/>
          </a:stretch>
        </p:blipFill>
        <p:spPr>
          <a:xfrm>
            <a:off x="9488419" y="6058248"/>
            <a:ext cx="118403" cy="172222"/>
          </a:xfrm>
          <a:prstGeom prst="rect">
            <a:avLst/>
          </a:prstGeom>
        </p:spPr>
      </p:pic>
      <p:sp>
        <p:nvSpPr>
          <p:cNvPr id="79" name="TextBox 78"/>
          <p:cNvSpPr txBox="1"/>
          <p:nvPr/>
        </p:nvSpPr>
        <p:spPr>
          <a:xfrm>
            <a:off x="7534275" y="6305860"/>
            <a:ext cx="1030787" cy="173278"/>
          </a:xfrm>
          <a:prstGeom prst="rect">
            <a:avLst/>
          </a:prstGeom>
          <a:noFill/>
        </p:spPr>
        <p:txBody>
          <a:bodyPr wrap="none" lIns="0" rIns="0" tIns="0" bIns="0">
            <a:spAutoFit/>
          </a:bodyPr>
          <a:lstStyle/>
          <a:p>
            <a:r>
              <a:rPr sz="1011" b="0">
                <a:solidFill>
                  <a:srgbClr val="252423"/>
                </a:solidFill>
                <a:latin typeface="Segoe UI"/>
              </a:rPr>
              <a:t>Consumer Reach</a:t>
            </a:r>
          </a:p>
        </p:txBody>
      </p:sp>
      <p:pic>
        <p:nvPicPr>
          <p:cNvPr id="80" name="Picture 79" descr="lock.png"/>
          <p:cNvPicPr>
            <a:picLocks noChangeAspect="1"/>
          </p:cNvPicPr>
          <p:nvPr/>
        </p:nvPicPr>
        <p:blipFill>
          <a:blip r:embed="rId4"/>
          <a:stretch>
            <a:fillRect/>
          </a:stretch>
        </p:blipFill>
        <p:spPr>
          <a:xfrm>
            <a:off x="8511173" y="6296863"/>
            <a:ext cx="118403" cy="172222"/>
          </a:xfrm>
          <a:prstGeom prst="rect">
            <a:avLst/>
          </a:prstGeom>
        </p:spPr>
      </p:pic>
      <p:sp>
        <p:nvSpPr>
          <p:cNvPr id="81" name="TextBox 80"/>
          <p:cNvSpPr txBox="1"/>
          <p:nvPr/>
        </p:nvSpPr>
        <p:spPr>
          <a:xfrm>
            <a:off x="209550" y="1496754"/>
            <a:ext cx="3436064" cy="186689"/>
          </a:xfrm>
          <a:prstGeom prst="rect">
            <a:avLst/>
          </a:prstGeom>
          <a:noFill/>
        </p:spPr>
        <p:txBody>
          <a:bodyPr wrap="none" lIns="0" rIns="0" tIns="0" bIns="0">
            <a:spAutoFit/>
          </a:bodyPr>
          <a:lstStyle/>
          <a:p>
            <a:r>
              <a:rPr sz="1100" b="0">
                <a:solidFill>
                  <a:srgbClr val="252423"/>
                </a:solidFill>
                <a:latin typeface="Segoe UI"/>
              </a:rPr>
              <a:t>▪ Demand-side conditions are led by Adoption Depth (</a:t>
            </a:r>
          </a:p>
        </p:txBody>
      </p:sp>
      <p:pic>
        <p:nvPicPr>
          <p:cNvPr id="82" name="Picture 81" descr="lock.png"/>
          <p:cNvPicPr>
            <a:picLocks noChangeAspect="1"/>
          </p:cNvPicPr>
          <p:nvPr/>
        </p:nvPicPr>
        <p:blipFill>
          <a:blip r:embed="rId4"/>
          <a:stretch>
            <a:fillRect/>
          </a:stretch>
        </p:blipFill>
        <p:spPr>
          <a:xfrm>
            <a:off x="3593665" y="1486975"/>
            <a:ext cx="128699" cy="187198"/>
          </a:xfrm>
          <a:prstGeom prst="rect">
            <a:avLst/>
          </a:prstGeom>
        </p:spPr>
      </p:pic>
      <p:sp>
        <p:nvSpPr>
          <p:cNvPr id="83" name="TextBox 82"/>
          <p:cNvSpPr txBox="1"/>
          <p:nvPr/>
        </p:nvSpPr>
        <p:spPr>
          <a:xfrm>
            <a:off x="3761161" y="1496754"/>
            <a:ext cx="1510248" cy="186689"/>
          </a:xfrm>
          <a:prstGeom prst="rect">
            <a:avLst/>
          </a:prstGeom>
          <a:noFill/>
        </p:spPr>
        <p:txBody>
          <a:bodyPr wrap="none" lIns="0" rIns="0" tIns="0" bIns="0">
            <a:spAutoFit/>
          </a:bodyPr>
          <a:lstStyle/>
          <a:p>
            <a:r>
              <a:rPr sz="1100" b="0">
                <a:solidFill>
                  <a:srgbClr val="252423"/>
                </a:solidFill>
                <a:latin typeface="Segoe UI"/>
              </a:rPr>
              <a:t>/10), Consumer Reach (</a:t>
            </a:r>
          </a:p>
        </p:txBody>
      </p:sp>
      <p:pic>
        <p:nvPicPr>
          <p:cNvPr id="84" name="Picture 83" descr="lock.png"/>
          <p:cNvPicPr>
            <a:picLocks noChangeAspect="1"/>
          </p:cNvPicPr>
          <p:nvPr/>
        </p:nvPicPr>
        <p:blipFill>
          <a:blip r:embed="rId4"/>
          <a:stretch>
            <a:fillRect/>
          </a:stretch>
        </p:blipFill>
        <p:spPr>
          <a:xfrm>
            <a:off x="5219461" y="1486975"/>
            <a:ext cx="128699" cy="187198"/>
          </a:xfrm>
          <a:prstGeom prst="rect">
            <a:avLst/>
          </a:prstGeom>
        </p:spPr>
      </p:pic>
      <p:sp>
        <p:nvSpPr>
          <p:cNvPr id="85" name="TextBox 84"/>
          <p:cNvSpPr txBox="1"/>
          <p:nvPr/>
        </p:nvSpPr>
        <p:spPr>
          <a:xfrm>
            <a:off x="5386957" y="1496754"/>
            <a:ext cx="1632136" cy="186689"/>
          </a:xfrm>
          <a:prstGeom prst="rect">
            <a:avLst/>
          </a:prstGeom>
          <a:noFill/>
        </p:spPr>
        <p:txBody>
          <a:bodyPr wrap="none" lIns="0" rIns="0" tIns="0" bIns="0">
            <a:spAutoFit/>
          </a:bodyPr>
          <a:lstStyle/>
          <a:p>
            <a:r>
              <a:rPr sz="1100" b="0">
                <a:solidFill>
                  <a:srgbClr val="252423"/>
                </a:solidFill>
                <a:latin typeface="Segoe UI"/>
              </a:rPr>
              <a:t>/10), Volume Momentum</a:t>
            </a:r>
          </a:p>
        </p:txBody>
      </p:sp>
      <p:sp>
        <p:nvSpPr>
          <p:cNvPr id="86" name="TextBox 85"/>
          <p:cNvSpPr txBox="1"/>
          <p:nvPr/>
        </p:nvSpPr>
        <p:spPr>
          <a:xfrm>
            <a:off x="209550" y="1664394"/>
            <a:ext cx="118491"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87" name="Picture 86" descr="lock.png"/>
          <p:cNvPicPr>
            <a:picLocks noChangeAspect="1"/>
          </p:cNvPicPr>
          <p:nvPr/>
        </p:nvPicPr>
        <p:blipFill>
          <a:blip r:embed="rId4"/>
          <a:stretch>
            <a:fillRect/>
          </a:stretch>
        </p:blipFill>
        <p:spPr>
          <a:xfrm>
            <a:off x="276093" y="1654615"/>
            <a:ext cx="128699" cy="187198"/>
          </a:xfrm>
          <a:prstGeom prst="rect">
            <a:avLst/>
          </a:prstGeom>
        </p:spPr>
      </p:pic>
      <p:sp>
        <p:nvSpPr>
          <p:cNvPr id="88" name="TextBox 87"/>
          <p:cNvSpPr txBox="1"/>
          <p:nvPr/>
        </p:nvSpPr>
        <p:spPr>
          <a:xfrm>
            <a:off x="443589" y="1664394"/>
            <a:ext cx="3584299" cy="186689"/>
          </a:xfrm>
          <a:prstGeom prst="rect">
            <a:avLst/>
          </a:prstGeom>
          <a:noFill/>
        </p:spPr>
        <p:txBody>
          <a:bodyPr wrap="none" lIns="0" rIns="0" tIns="0" bIns="0">
            <a:spAutoFit/>
          </a:bodyPr>
          <a:lstStyle/>
          <a:p>
            <a:r>
              <a:rPr sz="1100" b="0">
                <a:solidFill>
                  <a:srgbClr val="252423"/>
                </a:solidFill>
                <a:latin typeface="Segoe UI"/>
              </a:rPr>
              <a:t>/10) on a 0-10 scale scored from the global dataset itself.</a:t>
            </a:r>
          </a:p>
        </p:txBody>
      </p:sp>
      <p:sp>
        <p:nvSpPr>
          <p:cNvPr id="89" name="TextBox 88"/>
          <p:cNvSpPr txBox="1"/>
          <p:nvPr/>
        </p:nvSpPr>
        <p:spPr>
          <a:xfrm>
            <a:off x="209550" y="1945648"/>
            <a:ext cx="1075740" cy="186689"/>
          </a:xfrm>
          <a:prstGeom prst="rect">
            <a:avLst/>
          </a:prstGeom>
          <a:noFill/>
        </p:spPr>
        <p:txBody>
          <a:bodyPr wrap="none" lIns="0" rIns="0" tIns="0" bIns="0">
            <a:spAutoFit/>
          </a:bodyPr>
          <a:lstStyle/>
          <a:p>
            <a:r>
              <a:rPr sz="1100" b="0">
                <a:solidFill>
                  <a:srgbClr val="252423"/>
                </a:solidFill>
                <a:latin typeface="Segoe UI"/>
              </a:rPr>
              <a:t>▪ Value grows at</a:t>
            </a:r>
          </a:p>
        </p:txBody>
      </p:sp>
      <p:pic>
        <p:nvPicPr>
          <p:cNvPr id="90" name="Picture 89" descr="lock.png"/>
          <p:cNvPicPr>
            <a:picLocks noChangeAspect="1"/>
          </p:cNvPicPr>
          <p:nvPr/>
        </p:nvPicPr>
        <p:blipFill>
          <a:blip r:embed="rId4"/>
          <a:stretch>
            <a:fillRect/>
          </a:stretch>
        </p:blipFill>
        <p:spPr>
          <a:xfrm>
            <a:off x="1233342" y="1935869"/>
            <a:ext cx="128699" cy="187198"/>
          </a:xfrm>
          <a:prstGeom prst="rect">
            <a:avLst/>
          </a:prstGeom>
        </p:spPr>
      </p:pic>
      <p:sp>
        <p:nvSpPr>
          <p:cNvPr id="91" name="TextBox 90"/>
          <p:cNvSpPr txBox="1"/>
          <p:nvPr/>
        </p:nvSpPr>
        <p:spPr>
          <a:xfrm>
            <a:off x="1400837" y="1945648"/>
            <a:ext cx="1170867" cy="186689"/>
          </a:xfrm>
          <a:prstGeom prst="rect">
            <a:avLst/>
          </a:prstGeom>
          <a:noFill/>
        </p:spPr>
        <p:txBody>
          <a:bodyPr wrap="none" lIns="0" rIns="0" tIns="0" bIns="0">
            <a:spAutoFit/>
          </a:bodyPr>
          <a:lstStyle/>
          <a:p>
            <a:r>
              <a:rPr sz="1100" b="0">
                <a:solidFill>
                  <a:srgbClr val="252423"/>
                </a:solidFill>
                <a:latin typeface="Segoe UI"/>
              </a:rPr>
              <a:t>against volume at</a:t>
            </a:r>
          </a:p>
        </p:txBody>
      </p:sp>
      <p:pic>
        <p:nvPicPr>
          <p:cNvPr id="92" name="Picture 91" descr="lock.png"/>
          <p:cNvPicPr>
            <a:picLocks noChangeAspect="1"/>
          </p:cNvPicPr>
          <p:nvPr/>
        </p:nvPicPr>
        <p:blipFill>
          <a:blip r:embed="rId4"/>
          <a:stretch>
            <a:fillRect/>
          </a:stretch>
        </p:blipFill>
        <p:spPr>
          <a:xfrm>
            <a:off x="2519757" y="1935869"/>
            <a:ext cx="128699" cy="187198"/>
          </a:xfrm>
          <a:prstGeom prst="rect">
            <a:avLst/>
          </a:prstGeom>
        </p:spPr>
      </p:pic>
      <p:sp>
        <p:nvSpPr>
          <p:cNvPr id="93" name="TextBox 92"/>
          <p:cNvSpPr txBox="1"/>
          <p:nvPr/>
        </p:nvSpPr>
        <p:spPr>
          <a:xfrm>
            <a:off x="2687253" y="1945648"/>
            <a:ext cx="2405431" cy="186689"/>
          </a:xfrm>
          <a:prstGeom prst="rect">
            <a:avLst/>
          </a:prstGeom>
          <a:noFill/>
        </p:spPr>
        <p:txBody>
          <a:bodyPr wrap="none" lIns="0" rIns="0" tIns="0" bIns="0">
            <a:spAutoFit/>
          </a:bodyPr>
          <a:lstStyle/>
          <a:p>
            <a:r>
              <a:rPr sz="1100" b="0">
                <a:solidFill>
                  <a:srgbClr val="252423"/>
                </a:solidFill>
                <a:latin typeface="Segoe UI"/>
              </a:rPr>
              <a:t>a premiumising market through 2036.</a:t>
            </a:r>
          </a:p>
        </p:txBody>
      </p:sp>
      <p:sp>
        <p:nvSpPr>
          <p:cNvPr id="94" name="TextBox 93"/>
          <p:cNvSpPr txBox="1"/>
          <p:nvPr/>
        </p:nvSpPr>
        <p:spPr>
          <a:xfrm>
            <a:off x="209550" y="2310722"/>
            <a:ext cx="1794073" cy="186689"/>
          </a:xfrm>
          <a:prstGeom prst="rect">
            <a:avLst/>
          </a:prstGeom>
          <a:noFill/>
        </p:spPr>
        <p:txBody>
          <a:bodyPr wrap="none" lIns="0" rIns="0" tIns="0" bIns="0">
            <a:spAutoFit/>
          </a:bodyPr>
          <a:lstStyle/>
          <a:p>
            <a:r>
              <a:rPr sz="1100" b="0">
                <a:solidFill>
                  <a:srgbClr val="252423"/>
                </a:solidFill>
                <a:latin typeface="Segoe UI"/>
              </a:rPr>
              <a:t>▪ 'Gaseous Helium-3' carries</a:t>
            </a:r>
          </a:p>
        </p:txBody>
      </p:sp>
      <p:pic>
        <p:nvPicPr>
          <p:cNvPr id="95" name="Picture 94" descr="lock.png"/>
          <p:cNvPicPr>
            <a:picLocks noChangeAspect="1"/>
          </p:cNvPicPr>
          <p:nvPr/>
        </p:nvPicPr>
        <p:blipFill>
          <a:blip r:embed="rId4"/>
          <a:stretch>
            <a:fillRect/>
          </a:stretch>
        </p:blipFill>
        <p:spPr>
          <a:xfrm>
            <a:off x="1951675" y="2300943"/>
            <a:ext cx="128699" cy="187198"/>
          </a:xfrm>
          <a:prstGeom prst="rect">
            <a:avLst/>
          </a:prstGeom>
        </p:spPr>
      </p:pic>
      <p:sp>
        <p:nvSpPr>
          <p:cNvPr id="96" name="TextBox 95"/>
          <p:cNvSpPr txBox="1"/>
          <p:nvPr/>
        </p:nvSpPr>
        <p:spPr>
          <a:xfrm>
            <a:off x="2119170" y="2310722"/>
            <a:ext cx="4560971" cy="186689"/>
          </a:xfrm>
          <a:prstGeom prst="rect">
            <a:avLst/>
          </a:prstGeom>
          <a:noFill/>
        </p:spPr>
        <p:txBody>
          <a:bodyPr wrap="none" lIns="0" rIns="0" tIns="0" bIns="0">
            <a:spAutoFit/>
          </a:bodyPr>
          <a:lstStyle/>
          <a:p>
            <a:r>
              <a:rPr sz="1100" b="0">
                <a:solidFill>
                  <a:srgbClr val="252423"/>
                </a:solidFill>
                <a:latin typeface="Segoe UI"/>
              </a:rPr>
              <a:t>of product form demand while 'Gaseous Helium-3' compounds fastest at</a:t>
            </a:r>
          </a:p>
        </p:txBody>
      </p:sp>
      <p:pic>
        <p:nvPicPr>
          <p:cNvPr id="97" name="Picture 96" descr="lock.png"/>
          <p:cNvPicPr>
            <a:picLocks noChangeAspect="1"/>
          </p:cNvPicPr>
          <p:nvPr/>
        </p:nvPicPr>
        <p:blipFill>
          <a:blip r:embed="rId4"/>
          <a:stretch>
            <a:fillRect/>
          </a:stretch>
        </p:blipFill>
        <p:spPr>
          <a:xfrm>
            <a:off x="6628194" y="2300943"/>
            <a:ext cx="128699" cy="187198"/>
          </a:xfrm>
          <a:prstGeom prst="rect">
            <a:avLst/>
          </a:prstGeom>
        </p:spPr>
      </p:pic>
      <p:sp>
        <p:nvSpPr>
          <p:cNvPr id="98" name="TextBox 97"/>
          <p:cNvSpPr txBox="1"/>
          <p:nvPr/>
        </p:nvSpPr>
        <p:spPr>
          <a:xfrm>
            <a:off x="6795689" y="2310722"/>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99" name="TextBox 98"/>
          <p:cNvSpPr txBox="1"/>
          <p:nvPr/>
        </p:nvSpPr>
        <p:spPr>
          <a:xfrm>
            <a:off x="209550" y="2683244"/>
            <a:ext cx="2703662" cy="186689"/>
          </a:xfrm>
          <a:prstGeom prst="rect">
            <a:avLst/>
          </a:prstGeom>
          <a:noFill/>
        </p:spPr>
        <p:txBody>
          <a:bodyPr wrap="none" lIns="0" rIns="0" tIns="0" bIns="0">
            <a:spAutoFit/>
          </a:bodyPr>
          <a:lstStyle/>
          <a:p>
            <a:r>
              <a:rPr sz="1100" b="0">
                <a:solidFill>
                  <a:srgbClr val="252423"/>
                </a:solidFill>
                <a:latin typeface="Segoe UI"/>
              </a:rPr>
              <a:t>▪ Pull is strongest in 'South Asia &amp; Pacific' (</a:t>
            </a:r>
          </a:p>
        </p:txBody>
      </p:sp>
      <p:pic>
        <p:nvPicPr>
          <p:cNvPr id="100" name="Picture 99" descr="lock.png"/>
          <p:cNvPicPr>
            <a:picLocks noChangeAspect="1"/>
          </p:cNvPicPr>
          <p:nvPr/>
        </p:nvPicPr>
        <p:blipFill>
          <a:blip r:embed="rId4"/>
          <a:stretch>
            <a:fillRect/>
          </a:stretch>
        </p:blipFill>
        <p:spPr>
          <a:xfrm>
            <a:off x="2861264" y="2673465"/>
            <a:ext cx="128699" cy="187198"/>
          </a:xfrm>
          <a:prstGeom prst="rect">
            <a:avLst/>
          </a:prstGeom>
        </p:spPr>
      </p:pic>
      <p:sp>
        <p:nvSpPr>
          <p:cNvPr id="101" name="TextBox 100"/>
          <p:cNvSpPr txBox="1"/>
          <p:nvPr/>
        </p:nvSpPr>
        <p:spPr>
          <a:xfrm>
            <a:off x="3028759" y="2683244"/>
            <a:ext cx="595952" cy="186689"/>
          </a:xfrm>
          <a:prstGeom prst="rect">
            <a:avLst/>
          </a:prstGeom>
          <a:noFill/>
        </p:spPr>
        <p:txBody>
          <a:bodyPr wrap="none" lIns="0" rIns="0" tIns="0" bIns="0">
            <a:spAutoFit/>
          </a:bodyPr>
          <a:lstStyle/>
          <a:p>
            <a:r>
              <a:rPr sz="1100" b="0">
                <a:solidFill>
                  <a:srgbClr val="252423"/>
                </a:solidFill>
                <a:latin typeface="Segoe UI"/>
              </a:rPr>
              <a:t>CAGR, +</a:t>
            </a:r>
          </a:p>
        </p:txBody>
      </p:sp>
      <p:pic>
        <p:nvPicPr>
          <p:cNvPr id="102" name="Picture 101" descr="lock.png"/>
          <p:cNvPicPr>
            <a:picLocks noChangeAspect="1"/>
          </p:cNvPicPr>
          <p:nvPr/>
        </p:nvPicPr>
        <p:blipFill>
          <a:blip r:embed="rId4"/>
          <a:stretch>
            <a:fillRect/>
          </a:stretch>
        </p:blipFill>
        <p:spPr>
          <a:xfrm>
            <a:off x="3572763" y="2673465"/>
            <a:ext cx="128699" cy="187198"/>
          </a:xfrm>
          <a:prstGeom prst="rect">
            <a:avLst/>
          </a:prstGeom>
        </p:spPr>
      </p:pic>
      <p:sp>
        <p:nvSpPr>
          <p:cNvPr id="103" name="TextBox 102"/>
          <p:cNvSpPr txBox="1"/>
          <p:nvPr/>
        </p:nvSpPr>
        <p:spPr>
          <a:xfrm>
            <a:off x="3740259" y="2683244"/>
            <a:ext cx="3024254" cy="186689"/>
          </a:xfrm>
          <a:prstGeom prst="rect">
            <a:avLst/>
          </a:prstGeom>
          <a:noFill/>
        </p:spPr>
        <p:txBody>
          <a:bodyPr wrap="none" lIns="0" rIns="0" tIns="0" bIns="0">
            <a:spAutoFit/>
          </a:bodyPr>
          <a:lstStyle/>
          <a:p>
            <a:r>
              <a:rPr sz="1100" b="0">
                <a:solidFill>
                  <a:srgbClr val="252423"/>
                </a:solidFill>
                <a:latin typeface="Segoe UI"/>
              </a:rPr>
              <a:t>BPS versus the market), with 4 of 7 regions at or</a:t>
            </a:r>
          </a:p>
        </p:txBody>
      </p:sp>
      <p:sp>
        <p:nvSpPr>
          <p:cNvPr id="104" name="TextBox 103"/>
          <p:cNvSpPr txBox="1"/>
          <p:nvPr/>
        </p:nvSpPr>
        <p:spPr>
          <a:xfrm>
            <a:off x="209550" y="2850884"/>
            <a:ext cx="810946" cy="186689"/>
          </a:xfrm>
          <a:prstGeom prst="rect">
            <a:avLst/>
          </a:prstGeom>
          <a:noFill/>
        </p:spPr>
        <p:txBody>
          <a:bodyPr wrap="none" lIns="0" rIns="0" tIns="0" bIns="0">
            <a:spAutoFit/>
          </a:bodyPr>
          <a:lstStyle/>
          <a:p>
            <a:r>
              <a:rPr sz="1100" b="0">
                <a:solidFill>
                  <a:srgbClr val="252423"/>
                </a:solidFill>
                <a:latin typeface="Segoe UI"/>
              </a:rPr>
              <a:t>above pace.</a:t>
            </a:r>
          </a:p>
        </p:txBody>
      </p:sp>
      <p:sp>
        <p:nvSpPr>
          <p:cNvPr id="105" name="TextBox 104"/>
          <p:cNvSpPr txBox="1"/>
          <p:nvPr/>
        </p:nvSpPr>
        <p:spPr>
          <a:xfrm>
            <a:off x="209550" y="3139587"/>
            <a:ext cx="5354922" cy="186689"/>
          </a:xfrm>
          <a:prstGeom prst="rect">
            <a:avLst/>
          </a:prstGeom>
          <a:noFill/>
        </p:spPr>
        <p:txBody>
          <a:bodyPr wrap="none" lIns="0" rIns="0" tIns="0" bIns="0">
            <a:spAutoFit/>
          </a:bodyPr>
          <a:lstStyle/>
          <a:p>
            <a:r>
              <a:rPr sz="1100" b="0">
                <a:solidFill>
                  <a:srgbClr val="252423"/>
                </a:solidFill>
                <a:latin typeface="Segoe UI"/>
              </a:rPr>
              <a:t>▪ Reach runs through 4 application routes, led by 'Medical and Biomedical Imaging' at</a:t>
            </a:r>
          </a:p>
        </p:txBody>
      </p:sp>
      <p:pic>
        <p:nvPicPr>
          <p:cNvPr id="106" name="Picture 105" descr="lock.png"/>
          <p:cNvPicPr>
            <a:picLocks noChangeAspect="1"/>
          </p:cNvPicPr>
          <p:nvPr/>
        </p:nvPicPr>
        <p:blipFill>
          <a:blip r:embed="rId4"/>
          <a:stretch>
            <a:fillRect/>
          </a:stretch>
        </p:blipFill>
        <p:spPr>
          <a:xfrm>
            <a:off x="5512524" y="3129808"/>
            <a:ext cx="128699" cy="187198"/>
          </a:xfrm>
          <a:prstGeom prst="rect">
            <a:avLst/>
          </a:prstGeom>
        </p:spPr>
      </p:pic>
      <p:sp>
        <p:nvSpPr>
          <p:cNvPr id="107" name="TextBox 106"/>
          <p:cNvSpPr txBox="1"/>
          <p:nvPr/>
        </p:nvSpPr>
        <p:spPr>
          <a:xfrm>
            <a:off x="5680020" y="3139587"/>
            <a:ext cx="1192678" cy="186689"/>
          </a:xfrm>
          <a:prstGeom prst="rect">
            <a:avLst/>
          </a:prstGeom>
          <a:noFill/>
        </p:spPr>
        <p:txBody>
          <a:bodyPr wrap="none" lIns="0" rIns="0" tIns="0" bIns="0">
            <a:spAutoFit/>
          </a:bodyPr>
          <a:lstStyle/>
          <a:p>
            <a:r>
              <a:rPr sz="1100" b="0">
                <a:solidFill>
                  <a:srgbClr val="252423"/>
                </a:solidFill>
                <a:latin typeface="Segoe UI"/>
              </a:rPr>
              <a:t>and with 'Neutron</a:t>
            </a:r>
          </a:p>
        </p:txBody>
      </p:sp>
      <p:sp>
        <p:nvSpPr>
          <p:cNvPr id="108" name="TextBox 107"/>
          <p:cNvSpPr txBox="1"/>
          <p:nvPr/>
        </p:nvSpPr>
        <p:spPr>
          <a:xfrm>
            <a:off x="209550" y="3307227"/>
            <a:ext cx="3476122" cy="186689"/>
          </a:xfrm>
          <a:prstGeom prst="rect">
            <a:avLst/>
          </a:prstGeom>
          <a:noFill/>
        </p:spPr>
        <p:txBody>
          <a:bodyPr wrap="none" lIns="0" rIns="0" tIns="0" bIns="0">
            <a:spAutoFit/>
          </a:bodyPr>
          <a:lstStyle/>
          <a:p>
            <a:r>
              <a:rPr sz="1100" b="0">
                <a:solidFill>
                  <a:srgbClr val="252423"/>
                </a:solidFill>
                <a:latin typeface="Segoe UI"/>
              </a:rPr>
              <a:t>Detection and Radiation Monitoring' growing fastest at</a:t>
            </a:r>
          </a:p>
        </p:txBody>
      </p:sp>
      <p:pic>
        <p:nvPicPr>
          <p:cNvPr id="109" name="Picture 108" descr="lock.png"/>
          <p:cNvPicPr>
            <a:picLocks noChangeAspect="1"/>
          </p:cNvPicPr>
          <p:nvPr/>
        </p:nvPicPr>
        <p:blipFill>
          <a:blip r:embed="rId4"/>
          <a:stretch>
            <a:fillRect/>
          </a:stretch>
        </p:blipFill>
        <p:spPr>
          <a:xfrm>
            <a:off x="3633723" y="3297448"/>
            <a:ext cx="128699" cy="187198"/>
          </a:xfrm>
          <a:prstGeom prst="rect">
            <a:avLst/>
          </a:prstGeom>
        </p:spPr>
      </p:pic>
      <p:sp>
        <p:nvSpPr>
          <p:cNvPr id="110" name="TextBox 109"/>
          <p:cNvSpPr txBox="1"/>
          <p:nvPr/>
        </p:nvSpPr>
        <p:spPr>
          <a:xfrm>
            <a:off x="3801219" y="3307227"/>
            <a:ext cx="106486" cy="186689"/>
          </a:xfrm>
          <a:prstGeom prst="rect">
            <a:avLst/>
          </a:prstGeom>
          <a:noFill/>
        </p:spPr>
        <p:txBody>
          <a:bodyPr wrap="none" lIns="0" rIns="0" tIns="0" bIns="0">
            <a:spAutoFit/>
          </a:bodyPr>
          <a:lstStyle/>
          <a:p>
            <a:r>
              <a:rPr sz="1100" b="0">
                <a:solidFill>
                  <a:srgbClr val="252423"/>
                </a:solidFill>
                <a:latin typeface="Segoe UI"/>
              </a:rPr>
              <a: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Restraints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key restraints on the global market and the likelihood of their impact across 2021–2036</a:t>
            </a:r>
          </a:p>
        </p:txBody>
      </p:sp>
      <p:sp>
        <p:nvSpPr>
          <p:cNvPr id="8" name="Rounded Rectangle 7"/>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Segoe UI"/>
              </a:rPr>
              <a:t>Market Restraints</a:t>
            </a:r>
          </a:p>
        </p:txBody>
      </p:sp>
      <p:sp>
        <p:nvSpPr>
          <p:cNvPr id="10" name="Rectangle 9"/>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Liquid Helium-3 Lags the Category and Dilutes Blended Growth</a:t>
            </a:r>
          </a:p>
        </p:txBody>
      </p:sp>
      <p:sp>
        <p:nvSpPr>
          <p:cNvPr id="12" name="TextBox 11"/>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14" name="TextBox 13"/>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15" name="Rectangle 14"/>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17" name="TextBox 16"/>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18" name="Rectangle 17"/>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20" name="TextBox 19"/>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21" name="Rectangle 20"/>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23" name="TextBox 22"/>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24" name="Rectangle 23"/>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cxnSp>
        <p:nvCxnSpPr>
          <p:cNvPr id="26" name="Connector 25"/>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Uneven Region Performance Caps the Blended Rate</a:t>
            </a:r>
          </a:p>
        </p:txBody>
      </p:sp>
      <p:sp>
        <p:nvSpPr>
          <p:cNvPr id="29" name="TextBox 28"/>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0" name="TextBox 29"/>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31" name="TextBox 30"/>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32" name="Rectangle 31"/>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34" name="TextBox 33"/>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35" name="Rectangle 34"/>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37" name="TextBox 36"/>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38" name="Rectangle 37"/>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40" name="TextBox 39"/>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41" name="Rectangle 40"/>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cxnSp>
        <p:nvCxnSpPr>
          <p:cNvPr id="43" name="Connector 42"/>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Concentration Risk Limits Pricing and Sourcing Flexibility</a:t>
            </a:r>
          </a:p>
        </p:txBody>
      </p:sp>
      <p:sp>
        <p:nvSpPr>
          <p:cNvPr id="46" name="TextBox 45"/>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48" name="TextBox 47"/>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49" name="Rectangle 48"/>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1" name="TextBox 50"/>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52" name="Rectangle 51"/>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4" name="TextBox 53"/>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55" name="Rectangle 54"/>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7" name="TextBox 56"/>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58" name="Rectangle 57"/>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190500" y="1753513"/>
            <a:ext cx="1995680" cy="186689"/>
          </a:xfrm>
          <a:prstGeom prst="rect">
            <a:avLst/>
          </a:prstGeom>
          <a:noFill/>
        </p:spPr>
        <p:txBody>
          <a:bodyPr wrap="none" lIns="0" rIns="0" tIns="0" bIns="0">
            <a:spAutoFit/>
          </a:bodyPr>
          <a:lstStyle/>
          <a:p>
            <a:r>
              <a:rPr sz="1100" b="0">
                <a:solidFill>
                  <a:srgbClr val="252423"/>
                </a:solidFill>
                <a:latin typeface="Segoe UI"/>
              </a:rPr>
              <a:t>'Liquid Helium-3' grows at only</a:t>
            </a:r>
          </a:p>
        </p:txBody>
      </p:sp>
      <p:pic>
        <p:nvPicPr>
          <p:cNvPr id="62" name="Picture 61" descr="lock.png"/>
          <p:cNvPicPr>
            <a:picLocks noChangeAspect="1"/>
          </p:cNvPicPr>
          <p:nvPr/>
        </p:nvPicPr>
        <p:blipFill>
          <a:blip r:embed="rId4"/>
          <a:stretch>
            <a:fillRect/>
          </a:stretch>
        </p:blipFill>
        <p:spPr>
          <a:xfrm>
            <a:off x="2134232" y="1743734"/>
            <a:ext cx="128699" cy="187198"/>
          </a:xfrm>
          <a:prstGeom prst="rect">
            <a:avLst/>
          </a:prstGeom>
        </p:spPr>
      </p:pic>
      <p:sp>
        <p:nvSpPr>
          <p:cNvPr id="63" name="TextBox 62"/>
          <p:cNvSpPr txBox="1"/>
          <p:nvPr/>
        </p:nvSpPr>
        <p:spPr>
          <a:xfrm>
            <a:off x="2301728" y="1753513"/>
            <a:ext cx="1712350" cy="186689"/>
          </a:xfrm>
          <a:prstGeom prst="rect">
            <a:avLst/>
          </a:prstGeom>
          <a:noFill/>
        </p:spPr>
        <p:txBody>
          <a:bodyPr wrap="none" lIns="0" rIns="0" tIns="0" bIns="0">
            <a:spAutoFit/>
          </a:bodyPr>
          <a:lstStyle/>
          <a:p>
            <a:r>
              <a:rPr sz="1100" b="0">
                <a:solidFill>
                  <a:srgbClr val="252423"/>
                </a:solidFill>
                <a:latin typeface="Segoe UI"/>
              </a:rPr>
              <a:t>CAGR against the market's</a:t>
            </a:r>
          </a:p>
        </p:txBody>
      </p:sp>
      <p:pic>
        <p:nvPicPr>
          <p:cNvPr id="64" name="Picture 63" descr="lock.png"/>
          <p:cNvPicPr>
            <a:picLocks noChangeAspect="1"/>
          </p:cNvPicPr>
          <p:nvPr/>
        </p:nvPicPr>
        <p:blipFill>
          <a:blip r:embed="rId4"/>
          <a:stretch>
            <a:fillRect/>
          </a:stretch>
        </p:blipFill>
        <p:spPr>
          <a:xfrm>
            <a:off x="3962130" y="1743734"/>
            <a:ext cx="128699" cy="187198"/>
          </a:xfrm>
          <a:prstGeom prst="rect">
            <a:avLst/>
          </a:prstGeom>
        </p:spPr>
      </p:pic>
      <p:sp>
        <p:nvSpPr>
          <p:cNvPr id="65" name="TextBox 64"/>
          <p:cNvSpPr txBox="1"/>
          <p:nvPr/>
        </p:nvSpPr>
        <p:spPr>
          <a:xfrm>
            <a:off x="4129625" y="1753513"/>
            <a:ext cx="310033" cy="186689"/>
          </a:xfrm>
          <a:prstGeom prst="rect">
            <a:avLst/>
          </a:prstGeom>
          <a:noFill/>
        </p:spPr>
        <p:txBody>
          <a:bodyPr wrap="none" lIns="0" rIns="0" tIns="0" bIns="0">
            <a:spAutoFit/>
          </a:bodyPr>
          <a:lstStyle/>
          <a:p>
            <a:r>
              <a:rPr sz="1100" b="0">
                <a:solidFill>
                  <a:srgbClr val="252423"/>
                </a:solidFill>
                <a:latin typeface="Segoe UI"/>
              </a:rPr>
              <a:t>, a -</a:t>
            </a:r>
          </a:p>
        </p:txBody>
      </p:sp>
      <p:pic>
        <p:nvPicPr>
          <p:cNvPr id="66" name="Picture 65" descr="lock.png"/>
          <p:cNvPicPr>
            <a:picLocks noChangeAspect="1"/>
          </p:cNvPicPr>
          <p:nvPr/>
        </p:nvPicPr>
        <p:blipFill>
          <a:blip r:embed="rId4"/>
          <a:stretch>
            <a:fillRect/>
          </a:stretch>
        </p:blipFill>
        <p:spPr>
          <a:xfrm>
            <a:off x="4387711" y="1743734"/>
            <a:ext cx="128699" cy="187198"/>
          </a:xfrm>
          <a:prstGeom prst="rect">
            <a:avLst/>
          </a:prstGeom>
        </p:spPr>
      </p:pic>
      <p:sp>
        <p:nvSpPr>
          <p:cNvPr id="67" name="TextBox 66"/>
          <p:cNvSpPr txBox="1"/>
          <p:nvPr/>
        </p:nvSpPr>
        <p:spPr>
          <a:xfrm>
            <a:off x="4555207" y="1753513"/>
            <a:ext cx="2662274" cy="186689"/>
          </a:xfrm>
          <a:prstGeom prst="rect">
            <a:avLst/>
          </a:prstGeom>
          <a:noFill/>
        </p:spPr>
        <p:txBody>
          <a:bodyPr wrap="none" lIns="0" rIns="0" tIns="0" bIns="0">
            <a:spAutoFit/>
          </a:bodyPr>
          <a:lstStyle/>
          <a:p>
            <a:r>
              <a:rPr sz="1100" b="0">
                <a:solidFill>
                  <a:srgbClr val="252423"/>
                </a:solidFill>
                <a:latin typeface="Segoe UI"/>
              </a:rPr>
              <a:t>BPS gap, and 'Liquid Helium-3' surrenders</a:t>
            </a:r>
          </a:p>
        </p:txBody>
      </p:sp>
      <p:pic>
        <p:nvPicPr>
          <p:cNvPr id="68" name="Picture 67" descr="lock.png"/>
          <p:cNvPicPr>
            <a:picLocks noChangeAspect="1"/>
          </p:cNvPicPr>
          <p:nvPr/>
        </p:nvPicPr>
        <p:blipFill>
          <a:blip r:embed="rId4"/>
          <a:stretch>
            <a:fillRect/>
          </a:stretch>
        </p:blipFill>
        <p:spPr>
          <a:xfrm>
            <a:off x="7165532" y="1743734"/>
            <a:ext cx="128699" cy="187198"/>
          </a:xfrm>
          <a:prstGeom prst="rect">
            <a:avLst/>
          </a:prstGeom>
        </p:spPr>
      </p:pic>
      <p:sp>
        <p:nvSpPr>
          <p:cNvPr id="69" name="TextBox 68"/>
          <p:cNvSpPr txBox="1"/>
          <p:nvPr/>
        </p:nvSpPr>
        <p:spPr>
          <a:xfrm>
            <a:off x="7333028" y="1753513"/>
            <a:ext cx="1699018" cy="186689"/>
          </a:xfrm>
          <a:prstGeom prst="rect">
            <a:avLst/>
          </a:prstGeom>
          <a:noFill/>
        </p:spPr>
        <p:txBody>
          <a:bodyPr wrap="none" lIns="0" rIns="0" tIns="0" bIns="0">
            <a:spAutoFit/>
          </a:bodyPr>
          <a:lstStyle/>
          <a:p>
            <a:r>
              <a:rPr sz="1100" b="0">
                <a:solidFill>
                  <a:srgbClr val="252423"/>
                </a:solidFill>
                <a:latin typeface="Segoe UI"/>
              </a:rPr>
              <a:t>BPS of product form share</a:t>
            </a:r>
          </a:p>
        </p:txBody>
      </p:sp>
      <p:sp>
        <p:nvSpPr>
          <p:cNvPr id="70" name="TextBox 69"/>
          <p:cNvSpPr txBox="1"/>
          <p:nvPr/>
        </p:nvSpPr>
        <p:spPr>
          <a:xfrm>
            <a:off x="190500" y="1921153"/>
            <a:ext cx="9382125" cy="186689"/>
          </a:xfrm>
          <a:prstGeom prst="rect">
            <a:avLst/>
          </a:prstGeom>
          <a:noFill/>
        </p:spPr>
        <p:txBody>
          <a:bodyPr wrap="none" lIns="0" rIns="0" tIns="0" bIns="0">
            <a:spAutoFit/>
          </a:bodyPr>
          <a:lstStyle/>
          <a:p>
            <a:r>
              <a:rPr sz="1100" b="0">
                <a:solidFill>
                  <a:srgbClr val="252423"/>
                </a:solidFill>
                <a:latin typeface="Segoe UI"/>
              </a:rPr>
              <a:t>between 2026 and 2036. Because these lines still carry meaningful volume, the drag is absorbed by the whole category: blended growth sits below what</a:t>
            </a:r>
          </a:p>
        </p:txBody>
      </p:sp>
      <p:sp>
        <p:nvSpPr>
          <p:cNvPr id="71" name="TextBox 70"/>
          <p:cNvSpPr txBox="1"/>
          <p:nvPr/>
        </p:nvSpPr>
        <p:spPr>
          <a:xfrm>
            <a:off x="190500" y="2088793"/>
            <a:ext cx="9216318" cy="186689"/>
          </a:xfrm>
          <a:prstGeom prst="rect">
            <a:avLst/>
          </a:prstGeom>
          <a:noFill/>
        </p:spPr>
        <p:txBody>
          <a:bodyPr wrap="none" lIns="0" rIns="0" tIns="0" bIns="0">
            <a:spAutoFit/>
          </a:bodyPr>
          <a:lstStyle/>
          <a:p>
            <a:r>
              <a:rPr sz="1100" b="0">
                <a:solidFill>
                  <a:srgbClr val="252423"/>
                </a:solidFill>
                <a:latin typeface="Segoe UI"/>
              </a:rPr>
              <a:t>the leading lines achieve on their own. Rationalising or repositioning the lagging end of a 2-line portfolio is therefore a precondition for realising the</a:t>
            </a:r>
          </a:p>
        </p:txBody>
      </p:sp>
      <p:sp>
        <p:nvSpPr>
          <p:cNvPr id="72" name="TextBox 71"/>
          <p:cNvSpPr txBox="1"/>
          <p:nvPr/>
        </p:nvSpPr>
        <p:spPr>
          <a:xfrm>
            <a:off x="190500" y="2256433"/>
            <a:ext cx="1160209" cy="186689"/>
          </a:xfrm>
          <a:prstGeom prst="rect">
            <a:avLst/>
          </a:prstGeom>
          <a:noFill/>
        </p:spPr>
        <p:txBody>
          <a:bodyPr wrap="none" lIns="0" rIns="0" tIns="0" bIns="0">
            <a:spAutoFit/>
          </a:bodyPr>
          <a:lstStyle/>
          <a:p>
            <a:r>
              <a:rPr sz="1100" b="0">
                <a:solidFill>
                  <a:srgbClr val="252423"/>
                </a:solidFill>
                <a:latin typeface="Segoe UI"/>
              </a:rPr>
              <a:t>headline forecast.</a:t>
            </a:r>
          </a:p>
        </p:txBody>
      </p:sp>
      <p:sp>
        <p:nvSpPr>
          <p:cNvPr id="73" name="TextBox 72"/>
          <p:cNvSpPr txBox="1"/>
          <p:nvPr/>
        </p:nvSpPr>
        <p:spPr>
          <a:xfrm>
            <a:off x="190500" y="3498419"/>
            <a:ext cx="1868050" cy="186689"/>
          </a:xfrm>
          <a:prstGeom prst="rect">
            <a:avLst/>
          </a:prstGeom>
          <a:noFill/>
        </p:spPr>
        <p:txBody>
          <a:bodyPr wrap="none" lIns="0" rIns="0" tIns="0" bIns="0">
            <a:spAutoFit/>
          </a:bodyPr>
          <a:lstStyle/>
          <a:p>
            <a:r>
              <a:rPr sz="1100" b="0">
                <a:solidFill>
                  <a:srgbClr val="252423"/>
                </a:solidFill>
                <a:latin typeface="Segoe UI"/>
              </a:rPr>
              <a:t>'North America' grows at just</a:t>
            </a:r>
          </a:p>
        </p:txBody>
      </p:sp>
      <p:pic>
        <p:nvPicPr>
          <p:cNvPr id="74" name="Picture 73" descr="lock.png"/>
          <p:cNvPicPr>
            <a:picLocks noChangeAspect="1"/>
          </p:cNvPicPr>
          <p:nvPr/>
        </p:nvPicPr>
        <p:blipFill>
          <a:blip r:embed="rId4"/>
          <a:stretch>
            <a:fillRect/>
          </a:stretch>
        </p:blipFill>
        <p:spPr>
          <a:xfrm>
            <a:off x="2006601" y="3488640"/>
            <a:ext cx="128699" cy="187198"/>
          </a:xfrm>
          <a:prstGeom prst="rect">
            <a:avLst/>
          </a:prstGeom>
        </p:spPr>
      </p:pic>
      <p:sp>
        <p:nvSpPr>
          <p:cNvPr id="75" name="TextBox 74"/>
          <p:cNvSpPr txBox="1"/>
          <p:nvPr/>
        </p:nvSpPr>
        <p:spPr>
          <a:xfrm>
            <a:off x="2174097" y="3498419"/>
            <a:ext cx="526102" cy="186689"/>
          </a:xfrm>
          <a:prstGeom prst="rect">
            <a:avLst/>
          </a:prstGeom>
          <a:noFill/>
        </p:spPr>
        <p:txBody>
          <a:bodyPr wrap="none" lIns="0" rIns="0" tIns="0" bIns="0">
            <a:spAutoFit/>
          </a:bodyPr>
          <a:lstStyle/>
          <a:p>
            <a:r>
              <a:rPr sz="1100" b="0">
                <a:solidFill>
                  <a:srgbClr val="252423"/>
                </a:solidFill>
                <a:latin typeface="Segoe UI"/>
              </a:rPr>
              <a:t>CAGR -</a:t>
            </a:r>
          </a:p>
        </p:txBody>
      </p:sp>
      <p:pic>
        <p:nvPicPr>
          <p:cNvPr id="76" name="Picture 75" descr="lock.png"/>
          <p:cNvPicPr>
            <a:picLocks noChangeAspect="1"/>
          </p:cNvPicPr>
          <p:nvPr/>
        </p:nvPicPr>
        <p:blipFill>
          <a:blip r:embed="rId4"/>
          <a:stretch>
            <a:fillRect/>
          </a:stretch>
        </p:blipFill>
        <p:spPr>
          <a:xfrm>
            <a:off x="2648251" y="3488640"/>
            <a:ext cx="128699" cy="187198"/>
          </a:xfrm>
          <a:prstGeom prst="rect">
            <a:avLst/>
          </a:prstGeom>
        </p:spPr>
      </p:pic>
      <p:sp>
        <p:nvSpPr>
          <p:cNvPr id="77" name="TextBox 76"/>
          <p:cNvSpPr txBox="1"/>
          <p:nvPr/>
        </p:nvSpPr>
        <p:spPr>
          <a:xfrm>
            <a:off x="2815747" y="3498419"/>
            <a:ext cx="6533884" cy="186689"/>
          </a:xfrm>
          <a:prstGeom prst="rect">
            <a:avLst/>
          </a:prstGeom>
          <a:noFill/>
        </p:spPr>
        <p:txBody>
          <a:bodyPr wrap="none" lIns="0" rIns="0" tIns="0" bIns="0">
            <a:spAutoFit/>
          </a:bodyPr>
          <a:lstStyle/>
          <a:p>
            <a:r>
              <a:rPr sz="1100" b="0">
                <a:solidFill>
                  <a:srgbClr val="252423"/>
                </a:solidFill>
                <a:latin typeface="Segoe UI"/>
              </a:rPr>
              <a:t>BPS against the market and 3 of 7 regions sit below the market pace altogether. Demand is therefore not</a:t>
            </a:r>
          </a:p>
        </p:txBody>
      </p:sp>
      <p:sp>
        <p:nvSpPr>
          <p:cNvPr id="78" name="TextBox 77"/>
          <p:cNvSpPr txBox="1"/>
          <p:nvPr/>
        </p:nvSpPr>
        <p:spPr>
          <a:xfrm>
            <a:off x="190500" y="3666059"/>
            <a:ext cx="9225390" cy="186689"/>
          </a:xfrm>
          <a:prstGeom prst="rect">
            <a:avLst/>
          </a:prstGeom>
          <a:noFill/>
        </p:spPr>
        <p:txBody>
          <a:bodyPr wrap="none" lIns="0" rIns="0" tIns="0" bIns="0">
            <a:spAutoFit/>
          </a:bodyPr>
          <a:lstStyle/>
          <a:p>
            <a:r>
              <a:rPr sz="1100" b="0">
                <a:solidFill>
                  <a:srgbClr val="252423"/>
                </a:solidFill>
                <a:latin typeface="Segoe UI"/>
              </a:rPr>
              <a:t>uniformly available: suppliers carrying a broad geographic footprint fund presence in slow regions out of returns earned in the fast ones. With 'North</a:t>
            </a:r>
          </a:p>
        </p:txBody>
      </p:sp>
      <p:sp>
        <p:nvSpPr>
          <p:cNvPr id="79" name="TextBox 78"/>
          <p:cNvSpPr txBox="1"/>
          <p:nvPr/>
        </p:nvSpPr>
        <p:spPr>
          <a:xfrm>
            <a:off x="190500" y="3833699"/>
            <a:ext cx="767060" cy="186689"/>
          </a:xfrm>
          <a:prstGeom prst="rect">
            <a:avLst/>
          </a:prstGeom>
          <a:noFill/>
        </p:spPr>
        <p:txBody>
          <a:bodyPr wrap="none" lIns="0" rIns="0" tIns="0" bIns="0">
            <a:spAutoFit/>
          </a:bodyPr>
          <a:lstStyle/>
          <a:p>
            <a:r>
              <a:rPr sz="1100" b="0">
                <a:solidFill>
                  <a:srgbClr val="252423"/>
                </a:solidFill>
                <a:latin typeface="Segoe UI"/>
              </a:rPr>
              <a:t>America' at</a:t>
            </a:r>
          </a:p>
        </p:txBody>
      </p:sp>
      <p:pic>
        <p:nvPicPr>
          <p:cNvPr id="80" name="Picture 79" descr="lock.png"/>
          <p:cNvPicPr>
            <a:picLocks noChangeAspect="1"/>
          </p:cNvPicPr>
          <p:nvPr/>
        </p:nvPicPr>
        <p:blipFill>
          <a:blip r:embed="rId4"/>
          <a:stretch>
            <a:fillRect/>
          </a:stretch>
        </p:blipFill>
        <p:spPr>
          <a:xfrm>
            <a:off x="905611" y="3823920"/>
            <a:ext cx="128699" cy="187198"/>
          </a:xfrm>
          <a:prstGeom prst="rect">
            <a:avLst/>
          </a:prstGeom>
        </p:spPr>
      </p:pic>
      <p:sp>
        <p:nvSpPr>
          <p:cNvPr id="81" name="TextBox 80"/>
          <p:cNvSpPr txBox="1"/>
          <p:nvPr/>
        </p:nvSpPr>
        <p:spPr>
          <a:xfrm>
            <a:off x="1073107" y="3833699"/>
            <a:ext cx="6135696" cy="186689"/>
          </a:xfrm>
          <a:prstGeom prst="rect">
            <a:avLst/>
          </a:prstGeom>
          <a:noFill/>
        </p:spPr>
        <p:txBody>
          <a:bodyPr wrap="none" lIns="0" rIns="0" tIns="0" bIns="0">
            <a:spAutoFit/>
          </a:bodyPr>
          <a:lstStyle/>
          <a:p>
            <a:r>
              <a:rPr sz="1100" b="0">
                <a:solidFill>
                  <a:srgbClr val="252423"/>
                </a:solidFill>
                <a:latin typeface="Segoe UI"/>
              </a:rPr>
              <a:t>of value, a shortfall in a single leading region is difficult to offset elsewhere in the forecast window.</a:t>
            </a:r>
          </a:p>
        </p:txBody>
      </p:sp>
      <p:sp>
        <p:nvSpPr>
          <p:cNvPr id="82" name="TextBox 81"/>
          <p:cNvSpPr txBox="1"/>
          <p:nvPr/>
        </p:nvSpPr>
        <p:spPr>
          <a:xfrm>
            <a:off x="190500" y="5250774"/>
            <a:ext cx="3584529" cy="186689"/>
          </a:xfrm>
          <a:prstGeom prst="rect">
            <a:avLst/>
          </a:prstGeom>
          <a:noFill/>
        </p:spPr>
        <p:txBody>
          <a:bodyPr wrap="none" lIns="0" rIns="0" tIns="0" bIns="0">
            <a:spAutoFit/>
          </a:bodyPr>
          <a:lstStyle/>
          <a:p>
            <a:r>
              <a:rPr sz="1100" b="0">
                <a:solidFill>
                  <a:srgbClr val="252423"/>
                </a:solidFill>
                <a:latin typeface="Segoe UI"/>
              </a:rPr>
              <a:t>The market is concentrated: 'North America' accounts for</a:t>
            </a:r>
          </a:p>
        </p:txBody>
      </p:sp>
      <p:pic>
        <p:nvPicPr>
          <p:cNvPr id="83" name="Picture 82" descr="lock.png"/>
          <p:cNvPicPr>
            <a:picLocks noChangeAspect="1"/>
          </p:cNvPicPr>
          <p:nvPr/>
        </p:nvPicPr>
        <p:blipFill>
          <a:blip r:embed="rId4"/>
          <a:stretch>
            <a:fillRect/>
          </a:stretch>
        </p:blipFill>
        <p:spPr>
          <a:xfrm>
            <a:off x="3723081" y="5240995"/>
            <a:ext cx="128699" cy="187198"/>
          </a:xfrm>
          <a:prstGeom prst="rect">
            <a:avLst/>
          </a:prstGeom>
        </p:spPr>
      </p:pic>
      <p:sp>
        <p:nvSpPr>
          <p:cNvPr id="84" name="TextBox 83"/>
          <p:cNvSpPr txBox="1"/>
          <p:nvPr/>
        </p:nvSpPr>
        <p:spPr>
          <a:xfrm>
            <a:off x="3890577" y="5250774"/>
            <a:ext cx="3233800" cy="186689"/>
          </a:xfrm>
          <a:prstGeom prst="rect">
            <a:avLst/>
          </a:prstGeom>
          <a:noFill/>
        </p:spPr>
        <p:txBody>
          <a:bodyPr wrap="none" lIns="0" rIns="0" tIns="0" bIns="0">
            <a:spAutoFit/>
          </a:bodyPr>
          <a:lstStyle/>
          <a:p>
            <a:r>
              <a:rPr sz="1100" b="0">
                <a:solidFill>
                  <a:srgbClr val="252423"/>
                </a:solidFill>
                <a:latin typeface="Segoe UI"/>
              </a:rPr>
              <a:t>of 2036 value and the leading product form line for</a:t>
            </a:r>
          </a:p>
        </p:txBody>
      </p:sp>
      <p:pic>
        <p:nvPicPr>
          <p:cNvPr id="85" name="Picture 84" descr="lock.png"/>
          <p:cNvPicPr>
            <a:picLocks noChangeAspect="1"/>
          </p:cNvPicPr>
          <p:nvPr/>
        </p:nvPicPr>
        <p:blipFill>
          <a:blip r:embed="rId4"/>
          <a:stretch>
            <a:fillRect/>
          </a:stretch>
        </p:blipFill>
        <p:spPr>
          <a:xfrm>
            <a:off x="7072428" y="5240995"/>
            <a:ext cx="128699" cy="187198"/>
          </a:xfrm>
          <a:prstGeom prst="rect">
            <a:avLst/>
          </a:prstGeom>
        </p:spPr>
      </p:pic>
      <p:sp>
        <p:nvSpPr>
          <p:cNvPr id="86" name="TextBox 85"/>
          <p:cNvSpPr txBox="1"/>
          <p:nvPr/>
        </p:nvSpPr>
        <p:spPr>
          <a:xfrm>
            <a:off x="7239924" y="5250774"/>
            <a:ext cx="1527126" cy="186689"/>
          </a:xfrm>
          <a:prstGeom prst="rect">
            <a:avLst/>
          </a:prstGeom>
          <a:noFill/>
        </p:spPr>
        <p:txBody>
          <a:bodyPr wrap="none" lIns="0" rIns="0" tIns="0" bIns="0">
            <a:spAutoFit/>
          </a:bodyPr>
          <a:lstStyle/>
          <a:p>
            <a:r>
              <a:rPr sz="1100" b="0">
                <a:solidFill>
                  <a:srgbClr val="252423"/>
                </a:solidFill>
                <a:latin typeface="Segoe UI"/>
              </a:rPr>
              <a:t>of its segment. Average</a:t>
            </a:r>
          </a:p>
        </p:txBody>
      </p:sp>
      <p:sp>
        <p:nvSpPr>
          <p:cNvPr id="87" name="TextBox 86"/>
          <p:cNvSpPr txBox="1"/>
          <p:nvPr/>
        </p:nvSpPr>
        <p:spPr>
          <a:xfrm>
            <a:off x="190500" y="5418414"/>
            <a:ext cx="1149009" cy="186689"/>
          </a:xfrm>
          <a:prstGeom prst="rect">
            <a:avLst/>
          </a:prstGeom>
          <a:noFill/>
        </p:spPr>
        <p:txBody>
          <a:bodyPr wrap="none" lIns="0" rIns="0" tIns="0" bIns="0">
            <a:spAutoFit/>
          </a:bodyPr>
          <a:lstStyle/>
          <a:p>
            <a:r>
              <a:rPr sz="1100" b="0">
                <a:solidFill>
                  <a:srgbClr val="252423"/>
                </a:solidFill>
                <a:latin typeface="Segoe UI"/>
              </a:rPr>
              <a:t>realisation moves</a:t>
            </a:r>
          </a:p>
        </p:txBody>
      </p:sp>
      <p:pic>
        <p:nvPicPr>
          <p:cNvPr id="88" name="Picture 87" descr="lock.png"/>
          <p:cNvPicPr>
            <a:picLocks noChangeAspect="1"/>
          </p:cNvPicPr>
          <p:nvPr/>
        </p:nvPicPr>
        <p:blipFill>
          <a:blip r:embed="rId4"/>
          <a:stretch>
            <a:fillRect/>
          </a:stretch>
        </p:blipFill>
        <p:spPr>
          <a:xfrm>
            <a:off x="1287561" y="5408635"/>
            <a:ext cx="128699" cy="187198"/>
          </a:xfrm>
          <a:prstGeom prst="rect">
            <a:avLst/>
          </a:prstGeom>
        </p:spPr>
      </p:pic>
      <p:sp>
        <p:nvSpPr>
          <p:cNvPr id="89" name="TextBox 88"/>
          <p:cNvSpPr txBox="1"/>
          <p:nvPr/>
        </p:nvSpPr>
        <p:spPr>
          <a:xfrm>
            <a:off x="1455057" y="5418414"/>
            <a:ext cx="7573598" cy="186689"/>
          </a:xfrm>
          <a:prstGeom prst="rect">
            <a:avLst/>
          </a:prstGeom>
          <a:noFill/>
        </p:spPr>
        <p:txBody>
          <a:bodyPr wrap="none" lIns="0" rIns="0" tIns="0" bIns="0">
            <a:spAutoFit/>
          </a:bodyPr>
          <a:lstStyle/>
          <a:p>
            <a:r>
              <a:rPr sz="1100" b="0">
                <a:solidFill>
                  <a:srgbClr val="252423"/>
                </a:solidFill>
                <a:latin typeface="Segoe UI"/>
              </a:rPr>
              <a:t>a year, so cost movements cannot be passed on evenly across 7 regions. The practical constraint is the same in either case</a:t>
            </a:r>
          </a:p>
        </p:txBody>
      </p:sp>
      <p:sp>
        <p:nvSpPr>
          <p:cNvPr id="90" name="TextBox 89"/>
          <p:cNvSpPr txBox="1"/>
          <p:nvPr/>
        </p:nvSpPr>
        <p:spPr>
          <a:xfrm>
            <a:off x="190500" y="5586054"/>
            <a:ext cx="8941582" cy="186689"/>
          </a:xfrm>
          <a:prstGeom prst="rect">
            <a:avLst/>
          </a:prstGeom>
          <a:noFill/>
        </p:spPr>
        <p:txBody>
          <a:bodyPr wrap="none" lIns="0" rIns="0" tIns="0" bIns="0">
            <a:spAutoFit/>
          </a:bodyPr>
          <a:lstStyle/>
          <a:p>
            <a:r>
              <a:rPr sz="1100" b="0">
                <a:solidFill>
                  <a:srgbClr val="252423"/>
                </a:solidFill>
                <a:latin typeface="Segoe UI"/>
              </a:rPr>
              <a:t>commercial terms set for the market as a whole underserve part of it, and margin is lost in the mismatch rather than in the headline growth rate.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Opportunities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the key opportunities in the global market and the likelihood of their impact across 2021–2036</a:t>
            </a:r>
          </a:p>
        </p:txBody>
      </p:sp>
      <p:sp>
        <p:nvSpPr>
          <p:cNvPr id="8" name="Rounded Rectangle 7"/>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Segoe UI"/>
              </a:rPr>
              <a:t>Market Opportunities</a:t>
            </a:r>
          </a:p>
        </p:txBody>
      </p:sp>
      <p:sp>
        <p:nvSpPr>
          <p:cNvPr id="10" name="Rectangle 9"/>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U.S. Carries the Largest Absolute Opportunity</a:t>
            </a:r>
          </a:p>
        </p:txBody>
      </p:sp>
      <p:sp>
        <p:nvSpPr>
          <p:cNvPr id="12" name="TextBox 11"/>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14" name="TextBox 13"/>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15" name="Rectangle 14"/>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17" name="TextBox 16"/>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18" name="Rectangle 17"/>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20" name="TextBox 19"/>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21" name="Rectangle 20"/>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sp>
        <p:nvSpPr>
          <p:cNvPr id="23" name="TextBox 22"/>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24" name="Rectangle 23"/>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Segoe UI"/>
              </a:rPr>
              <a:t>Low</a:t>
            </a:r>
          </a:p>
        </p:txBody>
      </p:sp>
      <p:cxnSp>
        <p:nvCxnSpPr>
          <p:cNvPr id="26" name="Connector 25"/>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France Offers Under-penetrated, Above-pace Headroom</a:t>
            </a:r>
          </a:p>
        </p:txBody>
      </p:sp>
      <p:sp>
        <p:nvSpPr>
          <p:cNvPr id="29" name="TextBox 28"/>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0" name="TextBox 29"/>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31" name="TextBox 30"/>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32" name="Rectangle 31"/>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34" name="TextBox 33"/>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35" name="Rectangle 34"/>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37" name="TextBox 36"/>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38" name="Rectangle 37"/>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sp>
        <p:nvSpPr>
          <p:cNvPr id="40" name="TextBox 39"/>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41" name="Rectangle 40"/>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Segoe UI"/>
              </a:rPr>
              <a:t>Medium</a:t>
            </a:r>
          </a:p>
        </p:txBody>
      </p:sp>
      <p:cxnSp>
        <p:nvCxnSpPr>
          <p:cNvPr id="43" name="Connector 42"/>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E3A5F"/>
                </a:solidFill>
                <a:latin typeface="Segoe UI"/>
              </a:rPr>
              <a:t>Neutron Detection and Radiation Monitoring Opens the Fastest Route to Market</a:t>
            </a:r>
          </a:p>
        </p:txBody>
      </p:sp>
      <p:sp>
        <p:nvSpPr>
          <p:cNvPr id="46" name="TextBox 45"/>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TextBox 46"/>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05E5C"/>
                </a:solidFill>
                <a:latin typeface="Segoe UI"/>
              </a:rPr>
              <a:t>Likelihood of impact on timeline</a:t>
            </a:r>
          </a:p>
        </p:txBody>
      </p:sp>
      <p:sp>
        <p:nvSpPr>
          <p:cNvPr id="48" name="TextBox 47"/>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2021–22</a:t>
            </a:r>
          </a:p>
        </p:txBody>
      </p:sp>
      <p:sp>
        <p:nvSpPr>
          <p:cNvPr id="49" name="Rectangle 48"/>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1" name="TextBox 50"/>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2023–25</a:t>
            </a:r>
          </a:p>
        </p:txBody>
      </p:sp>
      <p:sp>
        <p:nvSpPr>
          <p:cNvPr id="52" name="Rectangle 51"/>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4" name="TextBox 53"/>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2026–28</a:t>
            </a:r>
          </a:p>
        </p:txBody>
      </p:sp>
      <p:sp>
        <p:nvSpPr>
          <p:cNvPr id="55" name="Rectangle 54"/>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57" name="TextBox 56"/>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05E5C"/>
                </a:solidFill>
                <a:latin typeface="Segoe UI"/>
              </a:rPr>
              <a:t>2029–36</a:t>
            </a:r>
          </a:p>
        </p:txBody>
      </p:sp>
      <p:sp>
        <p:nvSpPr>
          <p:cNvPr id="58" name="Rectangle 57"/>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Segoe UI"/>
              </a:rPr>
              <a:t>High</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190500" y="1746064"/>
            <a:ext cx="704850" cy="186689"/>
          </a:xfrm>
          <a:prstGeom prst="rect">
            <a:avLst/>
          </a:prstGeom>
          <a:noFill/>
        </p:spPr>
        <p:txBody>
          <a:bodyPr wrap="none" lIns="0" rIns="0" tIns="0" bIns="0">
            <a:spAutoFit/>
          </a:bodyPr>
          <a:lstStyle/>
          <a:p>
            <a:r>
              <a:rPr sz="1100" b="0">
                <a:solidFill>
                  <a:srgbClr val="252423"/>
                </a:solidFill>
                <a:latin typeface="Segoe UI"/>
              </a:rPr>
              <a:t>'U.S.' adds</a:t>
            </a:r>
          </a:p>
        </p:txBody>
      </p:sp>
      <p:pic>
        <p:nvPicPr>
          <p:cNvPr id="62" name="Picture 61" descr="lock.png"/>
          <p:cNvPicPr>
            <a:picLocks noChangeAspect="1"/>
          </p:cNvPicPr>
          <p:nvPr/>
        </p:nvPicPr>
        <p:blipFill>
          <a:blip r:embed="rId4"/>
          <a:stretch>
            <a:fillRect/>
          </a:stretch>
        </p:blipFill>
        <p:spPr>
          <a:xfrm>
            <a:off x="843401" y="1736285"/>
            <a:ext cx="128699" cy="187198"/>
          </a:xfrm>
          <a:prstGeom prst="rect">
            <a:avLst/>
          </a:prstGeom>
        </p:spPr>
      </p:pic>
      <p:sp>
        <p:nvSpPr>
          <p:cNvPr id="63" name="TextBox 62"/>
          <p:cNvSpPr txBox="1"/>
          <p:nvPr/>
        </p:nvSpPr>
        <p:spPr>
          <a:xfrm>
            <a:off x="1010897" y="1746064"/>
            <a:ext cx="8180002" cy="186689"/>
          </a:xfrm>
          <a:prstGeom prst="rect">
            <a:avLst/>
          </a:prstGeom>
          <a:noFill/>
        </p:spPr>
        <p:txBody>
          <a:bodyPr wrap="none" lIns="0" rIns="0" tIns="0" bIns="0">
            <a:spAutoFit/>
          </a:bodyPr>
          <a:lstStyle/>
          <a:p>
            <a:r>
              <a:rPr sz="1100" b="0">
                <a:solidFill>
                  <a:srgbClr val="252423"/>
                </a:solidFill>
                <a:latin typeface="Segoe UI"/>
              </a:rPr>
              <a:t>US$ Mn between 2026 and 2036 the single largest absolute increment of any geography in the dataset. Capturing it is a question of</a:t>
            </a:r>
          </a:p>
        </p:txBody>
      </p:sp>
      <p:sp>
        <p:nvSpPr>
          <p:cNvPr id="64" name="TextBox 63"/>
          <p:cNvSpPr txBox="1"/>
          <p:nvPr/>
        </p:nvSpPr>
        <p:spPr>
          <a:xfrm>
            <a:off x="190500" y="1913704"/>
            <a:ext cx="5018211" cy="186689"/>
          </a:xfrm>
          <a:prstGeom prst="rect">
            <a:avLst/>
          </a:prstGeom>
          <a:noFill/>
        </p:spPr>
        <p:txBody>
          <a:bodyPr wrap="none" lIns="0" rIns="0" tIns="0" bIns="0">
            <a:spAutoFit/>
          </a:bodyPr>
          <a:lstStyle/>
          <a:p>
            <a:r>
              <a:rPr sz="1100" b="0">
                <a:solidFill>
                  <a:srgbClr val="252423"/>
                </a:solidFill>
                <a:latin typeface="Segoe UI"/>
              </a:rPr>
              <a:t>scale execution 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5156762" y="1903925"/>
            <a:ext cx="128699" cy="187198"/>
          </a:xfrm>
          <a:prstGeom prst="rect">
            <a:avLst/>
          </a:prstGeom>
        </p:spPr>
      </p:pic>
      <p:sp>
        <p:nvSpPr>
          <p:cNvPr id="66" name="TextBox 65"/>
          <p:cNvSpPr txBox="1"/>
          <p:nvPr/>
        </p:nvSpPr>
        <p:spPr>
          <a:xfrm>
            <a:off x="5324258" y="1913704"/>
            <a:ext cx="3811363" cy="186689"/>
          </a:xfrm>
          <a:prstGeom prst="rect">
            <a:avLst/>
          </a:prstGeom>
          <a:noFill/>
        </p:spPr>
        <p:txBody>
          <a:bodyPr wrap="none" lIns="0" rIns="0" tIns="0" bIns="0">
            <a:spAutoFit/>
          </a:bodyPr>
          <a:lstStyle/>
          <a:p>
            <a:r>
              <a:rPr sz="1100" b="0">
                <a:solidFill>
                  <a:srgbClr val="252423"/>
                </a:solidFill>
                <a:latin typeface="Segoe UI"/>
              </a:rPr>
              <a:t>at the market level. Prioritising supply, channel coverage and</a:t>
            </a:r>
          </a:p>
        </p:txBody>
      </p:sp>
      <p:sp>
        <p:nvSpPr>
          <p:cNvPr id="67" name="TextBox 66"/>
          <p:cNvSpPr txBox="1"/>
          <p:nvPr/>
        </p:nvSpPr>
        <p:spPr>
          <a:xfrm>
            <a:off x="190500" y="2081344"/>
            <a:ext cx="3255466" cy="186689"/>
          </a:xfrm>
          <a:prstGeom prst="rect">
            <a:avLst/>
          </a:prstGeom>
          <a:noFill/>
        </p:spPr>
        <p:txBody>
          <a:bodyPr wrap="none" lIns="0" rIns="0" tIns="0" bIns="0">
            <a:spAutoFit/>
          </a:bodyPr>
          <a:lstStyle/>
          <a:p>
            <a:r>
              <a:rPr sz="1100" b="0">
                <a:solidFill>
                  <a:srgbClr val="252423"/>
                </a:solidFill>
                <a:latin typeface="Segoe UI"/>
              </a:rPr>
              <a:t>service levels there converts the largest share of the</a:t>
            </a:r>
          </a:p>
        </p:txBody>
      </p:sp>
      <p:pic>
        <p:nvPicPr>
          <p:cNvPr id="68" name="Picture 67" descr="lock.png"/>
          <p:cNvPicPr>
            <a:picLocks noChangeAspect="1"/>
          </p:cNvPicPr>
          <p:nvPr/>
        </p:nvPicPr>
        <p:blipFill>
          <a:blip r:embed="rId4"/>
          <a:stretch>
            <a:fillRect/>
          </a:stretch>
        </p:blipFill>
        <p:spPr>
          <a:xfrm>
            <a:off x="3394018" y="2071565"/>
            <a:ext cx="128699" cy="187198"/>
          </a:xfrm>
          <a:prstGeom prst="rect">
            <a:avLst/>
          </a:prstGeom>
        </p:spPr>
      </p:pic>
      <p:sp>
        <p:nvSpPr>
          <p:cNvPr id="69" name="TextBox 68"/>
          <p:cNvSpPr txBox="1"/>
          <p:nvPr/>
        </p:nvSpPr>
        <p:spPr>
          <a:xfrm>
            <a:off x="3561513" y="2081344"/>
            <a:ext cx="3556336" cy="186689"/>
          </a:xfrm>
          <a:prstGeom prst="rect">
            <a:avLst/>
          </a:prstGeom>
          <a:noFill/>
        </p:spPr>
        <p:txBody>
          <a:bodyPr wrap="none" lIns="0" rIns="0" tIns="0" bIns="0">
            <a:spAutoFit/>
          </a:bodyPr>
          <a:lstStyle/>
          <a:p>
            <a:r>
              <a:rPr sz="1100" b="0">
                <a:solidFill>
                  <a:srgbClr val="252423"/>
                </a:solidFill>
                <a:latin typeface="Segoe UI"/>
              </a:rPr>
              <a:t>US$ Mn the whole market adds over the forecast period.</a:t>
            </a:r>
          </a:p>
        </p:txBody>
      </p:sp>
      <p:sp>
        <p:nvSpPr>
          <p:cNvPr id="70" name="TextBox 69"/>
          <p:cNvSpPr txBox="1"/>
          <p:nvPr/>
        </p:nvSpPr>
        <p:spPr>
          <a:xfrm>
            <a:off x="190500" y="3498419"/>
            <a:ext cx="1471179" cy="186689"/>
          </a:xfrm>
          <a:prstGeom prst="rect">
            <a:avLst/>
          </a:prstGeom>
          <a:noFill/>
        </p:spPr>
        <p:txBody>
          <a:bodyPr wrap="none" lIns="0" rIns="0" tIns="0" bIns="0">
            <a:spAutoFit/>
          </a:bodyPr>
          <a:lstStyle/>
          <a:p>
            <a:r>
              <a:rPr sz="1100" b="0">
                <a:solidFill>
                  <a:srgbClr val="252423"/>
                </a:solidFill>
                <a:latin typeface="Segoe UI"/>
              </a:rPr>
              <a:t>'France' compounds at</a:t>
            </a:r>
          </a:p>
        </p:txBody>
      </p:sp>
      <p:pic>
        <p:nvPicPr>
          <p:cNvPr id="71" name="Picture 70" descr="lock.png"/>
          <p:cNvPicPr>
            <a:picLocks noChangeAspect="1"/>
          </p:cNvPicPr>
          <p:nvPr/>
        </p:nvPicPr>
        <p:blipFill>
          <a:blip r:embed="rId4"/>
          <a:stretch>
            <a:fillRect/>
          </a:stretch>
        </p:blipFill>
        <p:spPr>
          <a:xfrm>
            <a:off x="1609730" y="3488640"/>
            <a:ext cx="128699" cy="187198"/>
          </a:xfrm>
          <a:prstGeom prst="rect">
            <a:avLst/>
          </a:prstGeom>
        </p:spPr>
      </p:pic>
      <p:sp>
        <p:nvSpPr>
          <p:cNvPr id="72" name="TextBox 71"/>
          <p:cNvSpPr txBox="1"/>
          <p:nvPr/>
        </p:nvSpPr>
        <p:spPr>
          <a:xfrm>
            <a:off x="1777226" y="3498419"/>
            <a:ext cx="7686950" cy="186689"/>
          </a:xfrm>
          <a:prstGeom prst="rect">
            <a:avLst/>
          </a:prstGeom>
          <a:noFill/>
        </p:spPr>
        <p:txBody>
          <a:bodyPr wrap="none" lIns="0" rIns="0" tIns="0" bIns="0">
            <a:spAutoFit/>
          </a:bodyPr>
          <a:lstStyle/>
          <a:p>
            <a:r>
              <a:rPr sz="1100" b="0">
                <a:solidFill>
                  <a:srgbClr val="252423"/>
                </a:solidFill>
                <a:latin typeface="Segoe UI"/>
              </a:rPr>
              <a:t>CAGR from a below-median base one of 6 geographies in the dataset combining above-median growth with below-median</a:t>
            </a:r>
          </a:p>
        </p:txBody>
      </p:sp>
      <p:sp>
        <p:nvSpPr>
          <p:cNvPr id="73" name="TextBox 72"/>
          <p:cNvSpPr txBox="1"/>
          <p:nvPr/>
        </p:nvSpPr>
        <p:spPr>
          <a:xfrm>
            <a:off x="190500" y="3666059"/>
            <a:ext cx="5712311" cy="186689"/>
          </a:xfrm>
          <a:prstGeom prst="rect">
            <a:avLst/>
          </a:prstGeom>
          <a:noFill/>
        </p:spPr>
        <p:txBody>
          <a:bodyPr wrap="none" lIns="0" rIns="0" tIns="0" bIns="0">
            <a:spAutoFit/>
          </a:bodyPr>
          <a:lstStyle/>
          <a:p>
            <a:r>
              <a:rPr sz="1100" b="0">
                <a:solidFill>
                  <a:srgbClr val="252423"/>
                </a:solidFill>
                <a:latin typeface="Segoe UI"/>
              </a:rPr>
              <a:t>size. That 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5850862" y="3656280"/>
            <a:ext cx="128699" cy="187198"/>
          </a:xfrm>
          <a:prstGeom prst="rect">
            <a:avLst/>
          </a:prstGeom>
        </p:spPr>
      </p:pic>
      <p:sp>
        <p:nvSpPr>
          <p:cNvPr id="75" name="TextBox 74"/>
          <p:cNvSpPr txBox="1"/>
          <p:nvPr/>
        </p:nvSpPr>
        <p:spPr>
          <a:xfrm>
            <a:off x="6018358" y="3666059"/>
            <a:ext cx="2248874" cy="186689"/>
          </a:xfrm>
          <a:prstGeom prst="rect">
            <a:avLst/>
          </a:prstGeom>
          <a:noFill/>
        </p:spPr>
        <p:txBody>
          <a:bodyPr wrap="none" lIns="0" rIns="0" tIns="0" bIns="0">
            <a:spAutoFit/>
          </a:bodyPr>
          <a:lstStyle/>
          <a:p>
            <a:r>
              <a:rPr sz="1100" b="0">
                <a:solidFill>
                  <a:srgbClr val="252423"/>
                </a:solidFill>
                <a:latin typeface="Segoe UI"/>
              </a:rPr>
              <a:t>-share leaders, while growth runs +</a:t>
            </a:r>
          </a:p>
        </p:txBody>
      </p:sp>
      <p:pic>
        <p:nvPicPr>
          <p:cNvPr id="76" name="Picture 75" descr="lock.png"/>
          <p:cNvPicPr>
            <a:picLocks noChangeAspect="1"/>
          </p:cNvPicPr>
          <p:nvPr/>
        </p:nvPicPr>
        <p:blipFill>
          <a:blip r:embed="rId4"/>
          <a:stretch>
            <a:fillRect/>
          </a:stretch>
        </p:blipFill>
        <p:spPr>
          <a:xfrm>
            <a:off x="8215284" y="3656280"/>
            <a:ext cx="128699" cy="187198"/>
          </a:xfrm>
          <a:prstGeom prst="rect">
            <a:avLst/>
          </a:prstGeom>
        </p:spPr>
      </p:pic>
      <p:sp>
        <p:nvSpPr>
          <p:cNvPr id="77" name="TextBox 76"/>
          <p:cNvSpPr txBox="1"/>
          <p:nvPr/>
        </p:nvSpPr>
        <p:spPr>
          <a:xfrm>
            <a:off x="8382780" y="3666059"/>
            <a:ext cx="887895" cy="186689"/>
          </a:xfrm>
          <a:prstGeom prst="rect">
            <a:avLst/>
          </a:prstGeom>
          <a:noFill/>
        </p:spPr>
        <p:txBody>
          <a:bodyPr wrap="none" lIns="0" rIns="0" tIns="0" bIns="0">
            <a:spAutoFit/>
          </a:bodyPr>
          <a:lstStyle/>
          <a:p>
            <a:r>
              <a:rPr sz="1100" b="0">
                <a:solidFill>
                  <a:srgbClr val="252423"/>
                </a:solidFill>
                <a:latin typeface="Segoe UI"/>
              </a:rPr>
              <a:t>BPS ahead of</a:t>
            </a:r>
          </a:p>
        </p:txBody>
      </p:sp>
      <p:sp>
        <p:nvSpPr>
          <p:cNvPr id="78" name="TextBox 77"/>
          <p:cNvSpPr txBox="1"/>
          <p:nvPr/>
        </p:nvSpPr>
        <p:spPr>
          <a:xfrm>
            <a:off x="190500" y="3833699"/>
            <a:ext cx="5983820" cy="186689"/>
          </a:xfrm>
          <a:prstGeom prst="rect">
            <a:avLst/>
          </a:prstGeom>
          <a:noFill/>
        </p:spPr>
        <p:txBody>
          <a:bodyPr wrap="none" lIns="0" rIns="0" tIns="0" bIns="0">
            <a:spAutoFit/>
          </a:bodyPr>
          <a:lstStyle/>
          <a:p>
            <a:r>
              <a:rPr sz="1100" b="0">
                <a:solidFill>
                  <a:srgbClr val="252423"/>
                </a:solidFill>
                <a:latin typeface="Segoe UI"/>
              </a:rPr>
              <a:t>the market. Early distribution and reference accounts established here compound through 2036.</a:t>
            </a:r>
          </a:p>
        </p:txBody>
      </p:sp>
      <p:sp>
        <p:nvSpPr>
          <p:cNvPr id="79" name="TextBox 78"/>
          <p:cNvSpPr txBox="1"/>
          <p:nvPr/>
        </p:nvSpPr>
        <p:spPr>
          <a:xfrm>
            <a:off x="190500" y="5250774"/>
            <a:ext cx="3484567" cy="186689"/>
          </a:xfrm>
          <a:prstGeom prst="rect">
            <a:avLst/>
          </a:prstGeom>
          <a:noFill/>
        </p:spPr>
        <p:txBody>
          <a:bodyPr wrap="none" lIns="0" rIns="0" tIns="0" bIns="0">
            <a:spAutoFit/>
          </a:bodyPr>
          <a:lstStyle/>
          <a:p>
            <a:r>
              <a:rPr sz="1100" b="0">
                <a:solidFill>
                  <a:srgbClr val="252423"/>
                </a:solidFill>
                <a:latin typeface="Segoe UI"/>
              </a:rPr>
              <a:t>'Neutron Detection and Radiation Monitoring' grows at</a:t>
            </a:r>
          </a:p>
        </p:txBody>
      </p:sp>
      <p:pic>
        <p:nvPicPr>
          <p:cNvPr id="80" name="Picture 79" descr="lock.png"/>
          <p:cNvPicPr>
            <a:picLocks noChangeAspect="1"/>
          </p:cNvPicPr>
          <p:nvPr/>
        </p:nvPicPr>
        <p:blipFill>
          <a:blip r:embed="rId4"/>
          <a:stretch>
            <a:fillRect/>
          </a:stretch>
        </p:blipFill>
        <p:spPr>
          <a:xfrm>
            <a:off x="3623119" y="5240995"/>
            <a:ext cx="128699" cy="187198"/>
          </a:xfrm>
          <a:prstGeom prst="rect">
            <a:avLst/>
          </a:prstGeom>
        </p:spPr>
      </p:pic>
      <p:sp>
        <p:nvSpPr>
          <p:cNvPr id="81" name="TextBox 80"/>
          <p:cNvSpPr txBox="1"/>
          <p:nvPr/>
        </p:nvSpPr>
        <p:spPr>
          <a:xfrm>
            <a:off x="3790615" y="5250774"/>
            <a:ext cx="3198581" cy="186689"/>
          </a:xfrm>
          <a:prstGeom prst="rect">
            <a:avLst/>
          </a:prstGeom>
          <a:noFill/>
        </p:spPr>
        <p:txBody>
          <a:bodyPr wrap="none" lIns="0" rIns="0" tIns="0" bIns="0">
            <a:spAutoFit/>
          </a:bodyPr>
          <a:lstStyle/>
          <a:p>
            <a:r>
              <a:rPr sz="1100" b="0">
                <a:solidFill>
                  <a:srgbClr val="252423"/>
                </a:solidFill>
                <a:latin typeface="Segoe UI"/>
              </a:rPr>
              <a:t>CAGR, the fastest of 4 application routes, and adds</a:t>
            </a:r>
          </a:p>
        </p:txBody>
      </p:sp>
      <p:pic>
        <p:nvPicPr>
          <p:cNvPr id="82" name="Picture 81" descr="lock.png"/>
          <p:cNvPicPr>
            <a:picLocks noChangeAspect="1"/>
          </p:cNvPicPr>
          <p:nvPr/>
        </p:nvPicPr>
        <p:blipFill>
          <a:blip r:embed="rId4"/>
          <a:stretch>
            <a:fillRect/>
          </a:stretch>
        </p:blipFill>
        <p:spPr>
          <a:xfrm>
            <a:off x="6937248" y="5240995"/>
            <a:ext cx="128699" cy="187198"/>
          </a:xfrm>
          <a:prstGeom prst="rect">
            <a:avLst/>
          </a:prstGeom>
        </p:spPr>
      </p:pic>
      <p:sp>
        <p:nvSpPr>
          <p:cNvPr id="83" name="TextBox 82"/>
          <p:cNvSpPr txBox="1"/>
          <p:nvPr/>
        </p:nvSpPr>
        <p:spPr>
          <a:xfrm>
            <a:off x="7104743" y="5250774"/>
            <a:ext cx="2079160" cy="186689"/>
          </a:xfrm>
          <a:prstGeom prst="rect">
            <a:avLst/>
          </a:prstGeom>
          <a:noFill/>
        </p:spPr>
        <p:txBody>
          <a:bodyPr wrap="none" lIns="0" rIns="0" tIns="0" bIns="0">
            <a:spAutoFit/>
          </a:bodyPr>
          <a:lstStyle/>
          <a:p>
            <a:r>
              <a:rPr sz="1100" b="0">
                <a:solidFill>
                  <a:srgbClr val="252423"/>
                </a:solidFill>
                <a:latin typeface="Segoe UI"/>
              </a:rPr>
              <a:t>US$ Mn over the forecast period</a:t>
            </a:r>
          </a:p>
        </p:txBody>
      </p:sp>
      <p:sp>
        <p:nvSpPr>
          <p:cNvPr id="84" name="TextBox 83"/>
          <p:cNvSpPr txBox="1"/>
          <p:nvPr/>
        </p:nvSpPr>
        <p:spPr>
          <a:xfrm>
            <a:off x="190500" y="5418414"/>
            <a:ext cx="3197076" cy="186689"/>
          </a:xfrm>
          <a:prstGeom prst="rect">
            <a:avLst/>
          </a:prstGeom>
          <a:noFill/>
        </p:spPr>
        <p:txBody>
          <a:bodyPr wrap="none" lIns="0" rIns="0" tIns="0" bIns="0">
            <a:spAutoFit/>
          </a:bodyPr>
          <a:lstStyle/>
          <a:p>
            <a:r>
              <a:rPr sz="1100" b="0">
                <a:solidFill>
                  <a:srgbClr val="252423"/>
                </a:solidFill>
                <a:latin typeface="Segoe UI"/>
              </a:rPr>
              <a:t>while 'Medical and Biomedical Imaging' still carries</a:t>
            </a:r>
          </a:p>
        </p:txBody>
      </p:sp>
      <p:pic>
        <p:nvPicPr>
          <p:cNvPr id="85" name="Picture 84" descr="lock.png"/>
          <p:cNvPicPr>
            <a:picLocks noChangeAspect="1"/>
          </p:cNvPicPr>
          <p:nvPr/>
        </p:nvPicPr>
        <p:blipFill>
          <a:blip r:embed="rId4"/>
          <a:stretch>
            <a:fillRect/>
          </a:stretch>
        </p:blipFill>
        <p:spPr>
          <a:xfrm>
            <a:off x="3335627" y="5408635"/>
            <a:ext cx="128699" cy="187198"/>
          </a:xfrm>
          <a:prstGeom prst="rect">
            <a:avLst/>
          </a:prstGeom>
        </p:spPr>
      </p:pic>
      <p:sp>
        <p:nvSpPr>
          <p:cNvPr id="86" name="TextBox 85"/>
          <p:cNvSpPr txBox="1"/>
          <p:nvPr/>
        </p:nvSpPr>
        <p:spPr>
          <a:xfrm>
            <a:off x="3503123" y="5418414"/>
            <a:ext cx="5948916" cy="186689"/>
          </a:xfrm>
          <a:prstGeom prst="rect">
            <a:avLst/>
          </a:prstGeom>
          <a:noFill/>
        </p:spPr>
        <p:txBody>
          <a:bodyPr wrap="none" lIns="0" rIns="0" tIns="0" bIns="0">
            <a:spAutoFit/>
          </a:bodyPr>
          <a:lstStyle/>
          <a:p>
            <a:r>
              <a:rPr sz="1100" b="0">
                <a:solidFill>
                  <a:srgbClr val="252423"/>
                </a:solidFill>
                <a:latin typeface="Segoe UI"/>
              </a:rPr>
              <a:t>of demand today. Pairing the incumbent route for volume with the fastest route for growth and</a:t>
            </a:r>
          </a:p>
        </p:txBody>
      </p:sp>
      <p:sp>
        <p:nvSpPr>
          <p:cNvPr id="87" name="TextBox 86"/>
          <p:cNvSpPr txBox="1"/>
          <p:nvPr/>
        </p:nvSpPr>
        <p:spPr>
          <a:xfrm>
            <a:off x="190500" y="5586054"/>
            <a:ext cx="2219721" cy="186689"/>
          </a:xfrm>
          <a:prstGeom prst="rect">
            <a:avLst/>
          </a:prstGeom>
          <a:noFill/>
        </p:spPr>
        <p:txBody>
          <a:bodyPr wrap="none" lIns="0" rIns="0" tIns="0" bIns="0">
            <a:spAutoFit/>
          </a:bodyPr>
          <a:lstStyle/>
          <a:p>
            <a:r>
              <a:rPr sz="1100" b="0">
                <a:solidFill>
                  <a:srgbClr val="252423"/>
                </a:solidFill>
                <a:latin typeface="Segoe UI"/>
              </a:rPr>
              <a:t>leading with 'Gaseous Helium-3' at</a:t>
            </a:r>
          </a:p>
        </p:txBody>
      </p:sp>
      <p:pic>
        <p:nvPicPr>
          <p:cNvPr id="88" name="Picture 87" descr="lock.png"/>
          <p:cNvPicPr>
            <a:picLocks noChangeAspect="1"/>
          </p:cNvPicPr>
          <p:nvPr/>
        </p:nvPicPr>
        <p:blipFill>
          <a:blip r:embed="rId4"/>
          <a:stretch>
            <a:fillRect/>
          </a:stretch>
        </p:blipFill>
        <p:spPr>
          <a:xfrm>
            <a:off x="2358273" y="5576275"/>
            <a:ext cx="128699" cy="187198"/>
          </a:xfrm>
          <a:prstGeom prst="rect">
            <a:avLst/>
          </a:prstGeom>
        </p:spPr>
      </p:pic>
      <p:sp>
        <p:nvSpPr>
          <p:cNvPr id="89" name="TextBox 88"/>
          <p:cNvSpPr txBox="1"/>
          <p:nvPr/>
        </p:nvSpPr>
        <p:spPr>
          <a:xfrm>
            <a:off x="2525769" y="5586054"/>
            <a:ext cx="3396475" cy="186689"/>
          </a:xfrm>
          <a:prstGeom prst="rect">
            <a:avLst/>
          </a:prstGeom>
          <a:noFill/>
        </p:spPr>
        <p:txBody>
          <a:bodyPr wrap="none" lIns="0" rIns="0" tIns="0" bIns="0">
            <a:spAutoFit/>
          </a:bodyPr>
          <a:lstStyle/>
          <a:p>
            <a:r>
              <a:rPr sz="1100" b="0">
                <a:solidFill>
                  <a:srgbClr val="252423"/>
                </a:solidFill>
                <a:latin typeface="Segoe UI"/>
              </a:rPr>
              <a:t>is the highest-yield combination the dataset supports.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Helium-3 Market Recent Developments &amp; Milestones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Recent developments and milestones shaping the global market, by year</a:t>
            </a:r>
          </a:p>
        </p:txBody>
      </p:sp>
      <p:sp>
        <p:nvSpPr>
          <p:cNvPr id="8" name="Rectangle 7"/>
          <p:cNvSpPr/>
          <p:nvPr/>
        </p:nvSpPr>
        <p:spPr>
          <a:xfrm>
            <a:off x="142875" y="1025515"/>
            <a:ext cx="11906250" cy="292059"/>
          </a:xfrm>
          <a:prstGeom prst="rect">
            <a:avLst/>
          </a:prstGeom>
          <a:solidFill>
            <a:srgbClr val="1F5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Segoe UI"/>
              </a:rPr>
              <a:t>Year</a:t>
            </a:r>
          </a:p>
        </p:txBody>
      </p:sp>
      <p:sp>
        <p:nvSpPr>
          <p:cNvPr id="10" name="TextBox 9"/>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Segoe UI"/>
              </a:rPr>
              <a:t>Recent Development</a:t>
            </a:r>
          </a:p>
        </p:txBody>
      </p:sp>
      <p:sp>
        <p:nvSpPr>
          <p:cNvPr id="11" name="Rectangle 10"/>
          <p:cNvSpPr/>
          <p:nvPr/>
        </p:nvSpPr>
        <p:spPr>
          <a:xfrm>
            <a:off x="142875" y="1317574"/>
            <a:ext cx="11906250" cy="1296013"/>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1F5C8B"/>
                </a:solidFill>
                <a:latin typeface="Segoe UI"/>
              </a:rPr>
              <a:t>2025</a:t>
            </a:r>
          </a:p>
        </p:txBody>
      </p:sp>
      <p:cxnSp>
        <p:nvCxnSpPr>
          <p:cNvPr id="13" name="Connector 12"/>
          <p:cNvCxnSpPr/>
          <p:nvPr/>
        </p:nvCxnSpPr>
        <p:spPr>
          <a:xfrm>
            <a:off x="1571625" y="1317574"/>
            <a:ext cx="0" cy="1296013"/>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5" name="Rectangle 14"/>
          <p:cNvSpPr/>
          <p:nvPr/>
        </p:nvSpPr>
        <p:spPr>
          <a:xfrm>
            <a:off x="142875" y="2613586"/>
            <a:ext cx="11906250" cy="985700"/>
          </a:xfrm>
          <a:prstGeom prst="rect">
            <a:avLst/>
          </a:prstGeom>
          <a:solidFill>
            <a:srgbClr val="F2FAFD"/>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2026</a:t>
            </a:r>
          </a:p>
        </p:txBody>
      </p:sp>
      <p:cxnSp>
        <p:nvCxnSpPr>
          <p:cNvPr id="17" name="Connector 16"/>
          <p:cNvCxnSpPr/>
          <p:nvPr/>
        </p:nvCxnSpPr>
        <p:spPr>
          <a:xfrm>
            <a:off x="1571625" y="26135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9" name="Rectangle 18"/>
          <p:cNvSpPr/>
          <p:nvPr/>
        </p:nvSpPr>
        <p:spPr>
          <a:xfrm>
            <a:off x="142875" y="3599286"/>
            <a:ext cx="11906250" cy="985700"/>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2035</a:t>
            </a:r>
          </a:p>
        </p:txBody>
      </p:sp>
      <p:cxnSp>
        <p:nvCxnSpPr>
          <p:cNvPr id="21" name="Connector 20"/>
          <p:cNvCxnSpPr/>
          <p:nvPr/>
        </p:nvCxnSpPr>
        <p:spPr>
          <a:xfrm>
            <a:off x="1571625" y="35992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3" name="Rectangle 22"/>
          <p:cNvSpPr/>
          <p:nvPr/>
        </p:nvSpPr>
        <p:spPr>
          <a:xfrm>
            <a:off x="142875" y="4584986"/>
            <a:ext cx="11906250" cy="985700"/>
          </a:xfrm>
          <a:prstGeom prst="rect">
            <a:avLst/>
          </a:prstGeom>
          <a:solidFill>
            <a:srgbClr val="F2FAFD"/>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2031</a:t>
            </a:r>
          </a:p>
        </p:txBody>
      </p:sp>
      <p:cxnSp>
        <p:nvCxnSpPr>
          <p:cNvPr id="25" name="Connector 24"/>
          <p:cNvCxnSpPr/>
          <p:nvPr/>
        </p:nvCxnSpPr>
        <p:spPr>
          <a:xfrm>
            <a:off x="1571625" y="45849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7" name="Rectangle 26"/>
          <p:cNvSpPr/>
          <p:nvPr/>
        </p:nvSpPr>
        <p:spPr>
          <a:xfrm>
            <a:off x="142875" y="5570686"/>
            <a:ext cx="11906250" cy="985700"/>
          </a:xfrm>
          <a:prstGeom prst="rect">
            <a:avLst/>
          </a:prstGeom>
          <a:solidFill>
            <a:srgbClr val="FFFFFF"/>
          </a:solidFill>
          <a:ln w="12700">
            <a:solidFill>
              <a:srgbClr val="D6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1F5C8B"/>
                </a:solidFill>
                <a:latin typeface="Segoe UI"/>
              </a:rPr>
              <a:t>2036</a:t>
            </a:r>
          </a:p>
        </p:txBody>
      </p:sp>
      <p:cxnSp>
        <p:nvCxnSpPr>
          <p:cNvPr id="29" name="Connector 28"/>
          <p:cNvCxnSpPr/>
          <p:nvPr/>
        </p:nvCxnSpPr>
        <p:spPr>
          <a:xfrm>
            <a:off x="1571625" y="5570686"/>
            <a:ext cx="0" cy="985700"/>
          </a:xfrm>
          <a:prstGeom prst="line">
            <a:avLst/>
          </a:prstGeom>
          <a:ln w="12700">
            <a:solidFill>
              <a:srgbClr val="D6E4EE"/>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1" name="TextBox 3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32" name="TextBox 31"/>
          <p:cNvSpPr txBox="1"/>
          <p:nvPr/>
        </p:nvSpPr>
        <p:spPr>
          <a:xfrm>
            <a:off x="1743075" y="1797939"/>
            <a:ext cx="3823786" cy="186689"/>
          </a:xfrm>
          <a:prstGeom prst="rect">
            <a:avLst/>
          </a:prstGeom>
          <a:noFill/>
        </p:spPr>
        <p:txBody>
          <a:bodyPr wrap="none" lIns="0" rIns="0" tIns="0" bIns="0">
            <a:spAutoFit/>
          </a:bodyPr>
          <a:lstStyle/>
          <a:p>
            <a:r>
              <a:rPr sz="1100" b="0">
                <a:solidFill>
                  <a:srgbClr val="252423"/>
                </a:solidFill>
                <a:latin typeface="Segoe U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514912" y="1788160"/>
            <a:ext cx="128699" cy="187198"/>
          </a:xfrm>
          <a:prstGeom prst="rect">
            <a:avLst/>
          </a:prstGeom>
        </p:spPr>
      </p:pic>
      <p:sp>
        <p:nvSpPr>
          <p:cNvPr id="34" name="TextBox 33"/>
          <p:cNvSpPr txBox="1"/>
          <p:nvPr/>
        </p:nvSpPr>
        <p:spPr>
          <a:xfrm>
            <a:off x="5682408" y="1797939"/>
            <a:ext cx="1002224" cy="186689"/>
          </a:xfrm>
          <a:prstGeom prst="rect">
            <a:avLst/>
          </a:prstGeom>
          <a:noFill/>
        </p:spPr>
        <p:txBody>
          <a:bodyPr wrap="none" lIns="0" rIns="0" tIns="0" bIns="0">
            <a:spAutoFit/>
          </a:bodyPr>
          <a:lstStyle/>
          <a:p>
            <a:r>
              <a:rPr sz="1100" b="0">
                <a:solidFill>
                  <a:srgbClr val="252423"/>
                </a:solidFill>
                <a:latin typeface="Segoe UI"/>
              </a:rPr>
              <a:t>year on year to</a:t>
            </a:r>
          </a:p>
        </p:txBody>
      </p:sp>
      <p:pic>
        <p:nvPicPr>
          <p:cNvPr id="35" name="Picture 34" descr="lock.png"/>
          <p:cNvPicPr>
            <a:picLocks noChangeAspect="1"/>
          </p:cNvPicPr>
          <p:nvPr/>
        </p:nvPicPr>
        <p:blipFill>
          <a:blip r:embed="rId4"/>
          <a:stretch>
            <a:fillRect/>
          </a:stretch>
        </p:blipFill>
        <p:spPr>
          <a:xfrm>
            <a:off x="6632684" y="1788160"/>
            <a:ext cx="128699" cy="187198"/>
          </a:xfrm>
          <a:prstGeom prst="rect">
            <a:avLst/>
          </a:prstGeom>
        </p:spPr>
      </p:pic>
      <p:sp>
        <p:nvSpPr>
          <p:cNvPr id="36" name="TextBox 35"/>
          <p:cNvSpPr txBox="1"/>
          <p:nvPr/>
        </p:nvSpPr>
        <p:spPr>
          <a:xfrm>
            <a:off x="6800180" y="1797939"/>
            <a:ext cx="4839565" cy="186689"/>
          </a:xfrm>
          <a:prstGeom prst="rect">
            <a:avLst/>
          </a:prstGeom>
          <a:noFill/>
        </p:spPr>
        <p:txBody>
          <a:bodyPr wrap="none" lIns="0" rIns="0" tIns="0" bIns="0">
            <a:spAutoFit/>
          </a:bodyPr>
          <a:lstStyle/>
          <a:p>
            <a:r>
              <a:rPr sz="1100" b="0">
                <a:solidFill>
                  <a:srgbClr val="252423"/>
                </a:solidFill>
                <a:latin typeface="Segoe UI"/>
              </a:rPr>
              <a:t>US$ Mn, the steepest single-year move of the 2021–2025 period. Demand for</a:t>
            </a:r>
          </a:p>
        </p:txBody>
      </p:sp>
      <p:sp>
        <p:nvSpPr>
          <p:cNvPr id="37" name="TextBox 36"/>
          <p:cNvSpPr txBox="1"/>
          <p:nvPr/>
        </p:nvSpPr>
        <p:spPr>
          <a:xfrm>
            <a:off x="1743075" y="1965579"/>
            <a:ext cx="1269107" cy="186689"/>
          </a:xfrm>
          <a:prstGeom prst="rect">
            <a:avLst/>
          </a:prstGeom>
          <a:noFill/>
        </p:spPr>
        <p:txBody>
          <a:bodyPr wrap="none" lIns="0" rIns="0" tIns="0" bIns="0">
            <a:spAutoFit/>
          </a:bodyPr>
          <a:lstStyle/>
          <a:p>
            <a:r>
              <a:rPr sz="1100" b="0">
                <a:solidFill>
                  <a:srgbClr val="252423"/>
                </a:solidFill>
                <a:latin typeface="Segoe UI"/>
              </a:rPr>
              <a:t>'Gaseous Helium-3'</a:t>
            </a:r>
          </a:p>
        </p:txBody>
      </p:sp>
      <p:pic>
        <p:nvPicPr>
          <p:cNvPr id="38" name="Picture 37" descr="lock.png"/>
          <p:cNvPicPr>
            <a:picLocks noChangeAspect="1"/>
          </p:cNvPicPr>
          <p:nvPr/>
        </p:nvPicPr>
        <p:blipFill>
          <a:blip r:embed="rId4"/>
          <a:stretch>
            <a:fillRect/>
          </a:stretch>
        </p:blipFill>
        <p:spPr>
          <a:xfrm>
            <a:off x="2960233" y="1955800"/>
            <a:ext cx="128699" cy="187198"/>
          </a:xfrm>
          <a:prstGeom prst="rect">
            <a:avLst/>
          </a:prstGeom>
        </p:spPr>
      </p:pic>
      <p:sp>
        <p:nvSpPr>
          <p:cNvPr id="39" name="TextBox 38"/>
          <p:cNvSpPr txBox="1"/>
          <p:nvPr/>
        </p:nvSpPr>
        <p:spPr>
          <a:xfrm>
            <a:off x="3127729" y="1965579"/>
            <a:ext cx="7574216" cy="186689"/>
          </a:xfrm>
          <a:prstGeom prst="rect">
            <a:avLst/>
          </a:prstGeom>
          <a:noFill/>
        </p:spPr>
        <p:txBody>
          <a:bodyPr wrap="none" lIns="0" rIns="0" tIns="0" bIns="0">
            <a:spAutoFit/>
          </a:bodyPr>
          <a:lstStyle/>
          <a:p>
            <a:r>
              <a:rPr sz="1100" b="0">
                <a:solidFill>
                  <a:srgbClr val="252423"/>
                </a:solidFill>
                <a:latin typeface="Segoe UI"/>
              </a:rPr>
              <a:t>of product form value by 2036 set the pace, and the 4 application routes tracked here all carried volume through the year.</a:t>
            </a:r>
          </a:p>
        </p:txBody>
      </p:sp>
      <p:sp>
        <p:nvSpPr>
          <p:cNvPr id="40" name="TextBox 39"/>
          <p:cNvSpPr txBox="1"/>
          <p:nvPr/>
        </p:nvSpPr>
        <p:spPr>
          <a:xfrm>
            <a:off x="1743075" y="2945502"/>
            <a:ext cx="3585253" cy="179984"/>
          </a:xfrm>
          <a:prstGeom prst="rect">
            <a:avLst/>
          </a:prstGeom>
          <a:noFill/>
        </p:spPr>
        <p:txBody>
          <a:bodyPr wrap="none" lIns="0" rIns="0" tIns="0" bIns="0">
            <a:spAutoFit/>
          </a:bodyPr>
          <a:lstStyle/>
          <a:p>
            <a:r>
              <a:rPr sz="1055" b="0">
                <a:solidFill>
                  <a:srgbClr val="252423"/>
                </a:solidFill>
                <a:latin typeface="Segoe UI"/>
              </a:rPr>
              <a:t>Base year for the forecast: the global market is estimated at</a:t>
            </a:r>
          </a:p>
        </p:txBody>
      </p:sp>
      <p:pic>
        <p:nvPicPr>
          <p:cNvPr id="41" name="Picture 40" descr="lock.png"/>
          <p:cNvPicPr>
            <a:picLocks noChangeAspect="1"/>
          </p:cNvPicPr>
          <p:nvPr/>
        </p:nvPicPr>
        <p:blipFill>
          <a:blip r:embed="rId4"/>
          <a:stretch>
            <a:fillRect/>
          </a:stretch>
        </p:blipFill>
        <p:spPr>
          <a:xfrm>
            <a:off x="5275410" y="2936114"/>
            <a:ext cx="123551" cy="179710"/>
          </a:xfrm>
          <a:prstGeom prst="rect">
            <a:avLst/>
          </a:prstGeom>
        </p:spPr>
      </p:pic>
      <p:sp>
        <p:nvSpPr>
          <p:cNvPr id="42" name="TextBox 41"/>
          <p:cNvSpPr txBox="1"/>
          <p:nvPr/>
        </p:nvSpPr>
        <p:spPr>
          <a:xfrm>
            <a:off x="5436206" y="2945502"/>
            <a:ext cx="1988081" cy="179984"/>
          </a:xfrm>
          <a:prstGeom prst="rect">
            <a:avLst/>
          </a:prstGeom>
          <a:noFill/>
        </p:spPr>
        <p:txBody>
          <a:bodyPr wrap="none" lIns="0" rIns="0" tIns="0" bIns="0">
            <a:spAutoFit/>
          </a:bodyPr>
          <a:lstStyle/>
          <a:p>
            <a:r>
              <a:rPr sz="1055" b="0">
                <a:solidFill>
                  <a:srgbClr val="252423"/>
                </a:solidFill>
                <a:latin typeface="Segoe UI"/>
              </a:rPr>
              <a:t>US$ Mn, having compounded at</a:t>
            </a:r>
          </a:p>
        </p:txBody>
      </p:sp>
      <p:pic>
        <p:nvPicPr>
          <p:cNvPr id="43" name="Picture 42" descr="lock.png"/>
          <p:cNvPicPr>
            <a:picLocks noChangeAspect="1"/>
          </p:cNvPicPr>
          <p:nvPr/>
        </p:nvPicPr>
        <p:blipFill>
          <a:blip r:embed="rId4"/>
          <a:stretch>
            <a:fillRect/>
          </a:stretch>
        </p:blipFill>
        <p:spPr>
          <a:xfrm>
            <a:off x="7371369" y="2936114"/>
            <a:ext cx="123551" cy="179710"/>
          </a:xfrm>
          <a:prstGeom prst="rect">
            <a:avLst/>
          </a:prstGeom>
        </p:spPr>
      </p:pic>
      <p:sp>
        <p:nvSpPr>
          <p:cNvPr id="44" name="TextBox 43"/>
          <p:cNvSpPr txBox="1"/>
          <p:nvPr/>
        </p:nvSpPr>
        <p:spPr>
          <a:xfrm>
            <a:off x="7532165" y="2945502"/>
            <a:ext cx="2480295" cy="179984"/>
          </a:xfrm>
          <a:prstGeom prst="rect">
            <a:avLst/>
          </a:prstGeom>
          <a:noFill/>
        </p:spPr>
        <p:txBody>
          <a:bodyPr wrap="none" lIns="0" rIns="0" tIns="0" bIns="0">
            <a:spAutoFit/>
          </a:bodyPr>
          <a:lstStyle/>
          <a:p>
            <a:r>
              <a:rPr sz="1055" b="0">
                <a:solidFill>
                  <a:srgbClr val="252423"/>
                </a:solidFill>
                <a:latin typeface="Segoe UI"/>
              </a:rPr>
              <a:t>across 2021–2025. 'North America' holds</a:t>
            </a:r>
          </a:p>
        </p:txBody>
      </p:sp>
      <p:pic>
        <p:nvPicPr>
          <p:cNvPr id="45" name="Picture 44" descr="lock.png"/>
          <p:cNvPicPr>
            <a:picLocks noChangeAspect="1"/>
          </p:cNvPicPr>
          <p:nvPr/>
        </p:nvPicPr>
        <p:blipFill>
          <a:blip r:embed="rId4"/>
          <a:stretch>
            <a:fillRect/>
          </a:stretch>
        </p:blipFill>
        <p:spPr>
          <a:xfrm>
            <a:off x="9959542" y="2936114"/>
            <a:ext cx="123551" cy="179710"/>
          </a:xfrm>
          <a:prstGeom prst="rect">
            <a:avLst/>
          </a:prstGeom>
        </p:spPr>
      </p:pic>
      <p:sp>
        <p:nvSpPr>
          <p:cNvPr id="46" name="TextBox 45"/>
          <p:cNvSpPr txBox="1"/>
          <p:nvPr/>
        </p:nvSpPr>
        <p:spPr>
          <a:xfrm>
            <a:off x="10120338" y="2945502"/>
            <a:ext cx="1059411" cy="179984"/>
          </a:xfrm>
          <a:prstGeom prst="rect">
            <a:avLst/>
          </a:prstGeom>
          <a:noFill/>
        </p:spPr>
        <p:txBody>
          <a:bodyPr wrap="none" lIns="0" rIns="0" tIns="0" bIns="0">
            <a:spAutoFit/>
          </a:bodyPr>
          <a:lstStyle/>
          <a:p>
            <a:r>
              <a:rPr sz="1055" b="0">
                <a:solidFill>
                  <a:srgbClr val="252423"/>
                </a:solidFill>
                <a:latin typeface="Segoe UI"/>
              </a:rPr>
              <a:t>of value across 7</a:t>
            </a:r>
          </a:p>
        </p:txBody>
      </p:sp>
      <p:sp>
        <p:nvSpPr>
          <p:cNvPr id="47" name="TextBox 46"/>
          <p:cNvSpPr txBox="1"/>
          <p:nvPr/>
        </p:nvSpPr>
        <p:spPr>
          <a:xfrm>
            <a:off x="1743075" y="3106436"/>
            <a:ext cx="5512786" cy="179984"/>
          </a:xfrm>
          <a:prstGeom prst="rect">
            <a:avLst/>
          </a:prstGeom>
          <a:noFill/>
        </p:spPr>
        <p:txBody>
          <a:bodyPr wrap="none" lIns="0" rIns="0" tIns="0" bIns="0">
            <a:spAutoFit/>
          </a:bodyPr>
          <a:lstStyle/>
          <a:p>
            <a:r>
              <a:rPr sz="1055" b="0">
                <a:solidFill>
                  <a:srgbClr val="252423"/>
                </a:solidFill>
                <a:latin typeface="Segoe UI"/>
              </a:rPr>
              <a:t>regions, and the forecast is built from 4 segment breakdowns covering 2 product form lines.</a:t>
            </a:r>
          </a:p>
        </p:txBody>
      </p:sp>
      <p:sp>
        <p:nvSpPr>
          <p:cNvPr id="48" name="TextBox 47"/>
          <p:cNvSpPr txBox="1"/>
          <p:nvPr/>
        </p:nvSpPr>
        <p:spPr>
          <a:xfrm>
            <a:off x="1743075" y="3931201"/>
            <a:ext cx="1166838" cy="179984"/>
          </a:xfrm>
          <a:prstGeom prst="rect">
            <a:avLst/>
          </a:prstGeom>
          <a:noFill/>
        </p:spPr>
        <p:txBody>
          <a:bodyPr wrap="none" lIns="0" rIns="0" tIns="0" bIns="0">
            <a:spAutoFit/>
          </a:bodyPr>
          <a:lstStyle/>
          <a:p>
            <a:r>
              <a:rPr sz="1055" b="0">
                <a:solidFill>
                  <a:srgbClr val="252423"/>
                </a:solidFill>
                <a:latin typeface="Segoe UI"/>
              </a:rPr>
              <a:t>The market passes</a:t>
            </a:r>
          </a:p>
        </p:txBody>
      </p:sp>
      <p:pic>
        <p:nvPicPr>
          <p:cNvPr id="49" name="Picture 48" descr="lock.png"/>
          <p:cNvPicPr>
            <a:picLocks noChangeAspect="1"/>
          </p:cNvPicPr>
          <p:nvPr/>
        </p:nvPicPr>
        <p:blipFill>
          <a:blip r:embed="rId4"/>
          <a:stretch>
            <a:fillRect/>
          </a:stretch>
        </p:blipFill>
        <p:spPr>
          <a:xfrm>
            <a:off x="2856994" y="3921813"/>
            <a:ext cx="123551" cy="179710"/>
          </a:xfrm>
          <a:prstGeom prst="rect">
            <a:avLst/>
          </a:prstGeom>
        </p:spPr>
      </p:pic>
      <p:sp>
        <p:nvSpPr>
          <p:cNvPr id="50" name="TextBox 49"/>
          <p:cNvSpPr txBox="1"/>
          <p:nvPr/>
        </p:nvSpPr>
        <p:spPr>
          <a:xfrm>
            <a:off x="3017790" y="3931201"/>
            <a:ext cx="3196866" cy="179984"/>
          </a:xfrm>
          <a:prstGeom prst="rect">
            <a:avLst/>
          </a:prstGeom>
          <a:noFill/>
        </p:spPr>
        <p:txBody>
          <a:bodyPr wrap="none" lIns="0" rIns="0" tIns="0" bIns="0">
            <a:spAutoFit/>
          </a:bodyPr>
          <a:lstStyle/>
          <a:p>
            <a:r>
              <a:rPr sz="1055" b="0">
                <a:solidFill>
                  <a:srgbClr val="252423"/>
                </a:solidFill>
                <a:latin typeface="Segoe UI"/>
              </a:rPr>
              <a:t>US$ Mn one and a half times the 2026 base reaching</a:t>
            </a:r>
          </a:p>
        </p:txBody>
      </p:sp>
      <p:pic>
        <p:nvPicPr>
          <p:cNvPr id="51" name="Picture 50" descr="lock.png"/>
          <p:cNvPicPr>
            <a:picLocks noChangeAspect="1"/>
          </p:cNvPicPr>
          <p:nvPr/>
        </p:nvPicPr>
        <p:blipFill>
          <a:blip r:embed="rId4"/>
          <a:stretch>
            <a:fillRect/>
          </a:stretch>
        </p:blipFill>
        <p:spPr>
          <a:xfrm>
            <a:off x="6161738" y="3921813"/>
            <a:ext cx="123551" cy="179710"/>
          </a:xfrm>
          <a:prstGeom prst="rect">
            <a:avLst/>
          </a:prstGeom>
        </p:spPr>
      </p:pic>
      <p:sp>
        <p:nvSpPr>
          <p:cNvPr id="52" name="TextBox 51"/>
          <p:cNvSpPr txBox="1"/>
          <p:nvPr/>
        </p:nvSpPr>
        <p:spPr>
          <a:xfrm>
            <a:off x="6322534" y="3931201"/>
            <a:ext cx="3679907" cy="179984"/>
          </a:xfrm>
          <a:prstGeom prst="rect">
            <a:avLst/>
          </a:prstGeom>
          <a:noFill/>
        </p:spPr>
        <p:txBody>
          <a:bodyPr wrap="none" lIns="0" rIns="0" tIns="0" bIns="0">
            <a:spAutoFit/>
          </a:bodyPr>
          <a:lstStyle/>
          <a:p>
            <a:r>
              <a:rPr sz="1055" b="0">
                <a:solidFill>
                  <a:srgbClr val="252423"/>
                </a:solidFill>
                <a:latin typeface="Segoe UI"/>
              </a:rPr>
              <a:t>US$ Mn. Growth by this point is led by 'Gaseous Helium-3' at</a:t>
            </a:r>
          </a:p>
        </p:txBody>
      </p:sp>
      <p:pic>
        <p:nvPicPr>
          <p:cNvPr id="53" name="Picture 52" descr="lock.png"/>
          <p:cNvPicPr>
            <a:picLocks noChangeAspect="1"/>
          </p:cNvPicPr>
          <p:nvPr/>
        </p:nvPicPr>
        <p:blipFill>
          <a:blip r:embed="rId4"/>
          <a:stretch>
            <a:fillRect/>
          </a:stretch>
        </p:blipFill>
        <p:spPr>
          <a:xfrm>
            <a:off x="9949523" y="3921813"/>
            <a:ext cx="123551" cy="179710"/>
          </a:xfrm>
          <a:prstGeom prst="rect">
            <a:avLst/>
          </a:prstGeom>
        </p:spPr>
      </p:pic>
      <p:sp>
        <p:nvSpPr>
          <p:cNvPr id="54" name="TextBox 53"/>
          <p:cNvSpPr txBox="1"/>
          <p:nvPr/>
        </p:nvSpPr>
        <p:spPr>
          <a:xfrm>
            <a:off x="10110319" y="3931201"/>
            <a:ext cx="1273225" cy="179984"/>
          </a:xfrm>
          <a:prstGeom prst="rect">
            <a:avLst/>
          </a:prstGeom>
          <a:noFill/>
        </p:spPr>
        <p:txBody>
          <a:bodyPr wrap="none" lIns="0" rIns="0" tIns="0" bIns="0">
            <a:spAutoFit/>
          </a:bodyPr>
          <a:lstStyle/>
          <a:p>
            <a:r>
              <a:rPr sz="1055" b="0">
                <a:solidFill>
                  <a:srgbClr val="252423"/>
                </a:solidFill>
                <a:latin typeface="Segoe UI"/>
              </a:rPr>
              <a:t>CAGR and by 'South</a:t>
            </a:r>
          </a:p>
        </p:txBody>
      </p:sp>
      <p:sp>
        <p:nvSpPr>
          <p:cNvPr id="55" name="TextBox 54"/>
          <p:cNvSpPr txBox="1"/>
          <p:nvPr/>
        </p:nvSpPr>
        <p:spPr>
          <a:xfrm>
            <a:off x="1743075" y="4092135"/>
            <a:ext cx="1987725" cy="179984"/>
          </a:xfrm>
          <a:prstGeom prst="rect">
            <a:avLst/>
          </a:prstGeom>
          <a:noFill/>
        </p:spPr>
        <p:txBody>
          <a:bodyPr wrap="none" lIns="0" rIns="0" tIns="0" bIns="0">
            <a:spAutoFit/>
          </a:bodyPr>
          <a:lstStyle/>
          <a:p>
            <a:r>
              <a:rPr sz="1055" b="0">
                <a:solidFill>
                  <a:srgbClr val="252423"/>
                </a:solidFill>
                <a:latin typeface="Segoe UI"/>
              </a:rPr>
              <a:t>Asia &amp; Pacific' among regions at</a:t>
            </a:r>
          </a:p>
        </p:txBody>
      </p:sp>
      <p:pic>
        <p:nvPicPr>
          <p:cNvPr id="56" name="Picture 55" descr="lock.png"/>
          <p:cNvPicPr>
            <a:picLocks noChangeAspect="1"/>
          </p:cNvPicPr>
          <p:nvPr/>
        </p:nvPicPr>
        <p:blipFill>
          <a:blip r:embed="rId4"/>
          <a:stretch>
            <a:fillRect/>
          </a:stretch>
        </p:blipFill>
        <p:spPr>
          <a:xfrm>
            <a:off x="3677882" y="4082747"/>
            <a:ext cx="123551" cy="179710"/>
          </a:xfrm>
          <a:prstGeom prst="rect">
            <a:avLst/>
          </a:prstGeom>
        </p:spPr>
      </p:pic>
      <p:sp>
        <p:nvSpPr>
          <p:cNvPr id="57" name="TextBox 56"/>
          <p:cNvSpPr txBox="1"/>
          <p:nvPr/>
        </p:nvSpPr>
        <p:spPr>
          <a:xfrm>
            <a:off x="3838678" y="4092135"/>
            <a:ext cx="3427031" cy="179984"/>
          </a:xfrm>
          <a:prstGeom prst="rect">
            <a:avLst/>
          </a:prstGeom>
          <a:noFill/>
        </p:spPr>
        <p:txBody>
          <a:bodyPr wrap="none" lIns="0" rIns="0" tIns="0" bIns="0">
            <a:spAutoFit/>
          </a:bodyPr>
          <a:lstStyle/>
          <a:p>
            <a:r>
              <a:rPr sz="1055" b="0">
                <a:solidFill>
                  <a:srgbClr val="252423"/>
                </a:solidFill>
                <a:latin typeface="Segoe UI"/>
              </a:rPr>
              <a:t>, with 4 of 7 regions running at or above the market rate.</a:t>
            </a:r>
          </a:p>
        </p:txBody>
      </p:sp>
      <p:sp>
        <p:nvSpPr>
          <p:cNvPr id="58" name="TextBox 57"/>
          <p:cNvSpPr txBox="1"/>
          <p:nvPr/>
        </p:nvSpPr>
        <p:spPr>
          <a:xfrm>
            <a:off x="1743075" y="4916901"/>
            <a:ext cx="2359967" cy="179984"/>
          </a:xfrm>
          <a:prstGeom prst="rect">
            <a:avLst/>
          </a:prstGeom>
          <a:noFill/>
        </p:spPr>
        <p:txBody>
          <a:bodyPr wrap="none" lIns="0" rIns="0" tIns="0" bIns="0">
            <a:spAutoFit/>
          </a:bodyPr>
          <a:lstStyle/>
          <a:p>
            <a:r>
              <a:rPr sz="1055" b="0">
                <a:solidFill>
                  <a:srgbClr val="252423"/>
                </a:solidFill>
                <a:latin typeface="Segoe UI"/>
              </a:rPr>
              <a:t>Mid-horizon checkpoint: value reaches</a:t>
            </a:r>
          </a:p>
        </p:txBody>
      </p:sp>
      <p:pic>
        <p:nvPicPr>
          <p:cNvPr id="59" name="Picture 58" descr="lock.png"/>
          <p:cNvPicPr>
            <a:picLocks noChangeAspect="1"/>
          </p:cNvPicPr>
          <p:nvPr/>
        </p:nvPicPr>
        <p:blipFill>
          <a:blip r:embed="rId4"/>
          <a:stretch>
            <a:fillRect/>
          </a:stretch>
        </p:blipFill>
        <p:spPr>
          <a:xfrm>
            <a:off x="4050124" y="4907513"/>
            <a:ext cx="123551" cy="179710"/>
          </a:xfrm>
          <a:prstGeom prst="rect">
            <a:avLst/>
          </a:prstGeom>
        </p:spPr>
      </p:pic>
      <p:sp>
        <p:nvSpPr>
          <p:cNvPr id="60" name="TextBox 59"/>
          <p:cNvSpPr txBox="1"/>
          <p:nvPr/>
        </p:nvSpPr>
        <p:spPr>
          <a:xfrm>
            <a:off x="4210920" y="4916901"/>
            <a:ext cx="574143" cy="179984"/>
          </a:xfrm>
          <a:prstGeom prst="rect">
            <a:avLst/>
          </a:prstGeom>
          <a:noFill/>
        </p:spPr>
        <p:txBody>
          <a:bodyPr wrap="none" lIns="0" rIns="0" tIns="0" bIns="0">
            <a:spAutoFit/>
          </a:bodyPr>
          <a:lstStyle/>
          <a:p>
            <a:r>
              <a:rPr sz="1055" b="0">
                <a:solidFill>
                  <a:srgbClr val="252423"/>
                </a:solidFill>
                <a:latin typeface="Segoe UI"/>
              </a:rPr>
              <a:t>US$ Mn,</a:t>
            </a:r>
          </a:p>
        </p:txBody>
      </p:sp>
      <p:pic>
        <p:nvPicPr>
          <p:cNvPr id="61" name="Picture 60" descr="lock.png"/>
          <p:cNvPicPr>
            <a:picLocks noChangeAspect="1"/>
          </p:cNvPicPr>
          <p:nvPr/>
        </p:nvPicPr>
        <p:blipFill>
          <a:blip r:embed="rId4"/>
          <a:stretch>
            <a:fillRect/>
          </a:stretch>
        </p:blipFill>
        <p:spPr>
          <a:xfrm>
            <a:off x="4732144" y="4907513"/>
            <a:ext cx="123551" cy="179710"/>
          </a:xfrm>
          <a:prstGeom prst="rect">
            <a:avLst/>
          </a:prstGeom>
        </p:spPr>
      </p:pic>
      <p:sp>
        <p:nvSpPr>
          <p:cNvPr id="62" name="TextBox 61"/>
          <p:cNvSpPr txBox="1"/>
          <p:nvPr/>
        </p:nvSpPr>
        <p:spPr>
          <a:xfrm>
            <a:off x="4892940" y="4916901"/>
            <a:ext cx="2798401" cy="179984"/>
          </a:xfrm>
          <a:prstGeom prst="rect">
            <a:avLst/>
          </a:prstGeom>
          <a:noFill/>
        </p:spPr>
        <p:txBody>
          <a:bodyPr wrap="none" lIns="0" rIns="0" tIns="0" bIns="0">
            <a:spAutoFit/>
          </a:bodyPr>
          <a:lstStyle/>
          <a:p>
            <a:r>
              <a:rPr sz="1055" b="0">
                <a:solidFill>
                  <a:srgbClr val="252423"/>
                </a:solidFill>
                <a:latin typeface="Segoe UI"/>
              </a:rPr>
              <a:t>× the 2026 base. Average realisation stands at</a:t>
            </a:r>
          </a:p>
        </p:txBody>
      </p:sp>
      <p:pic>
        <p:nvPicPr>
          <p:cNvPr id="63" name="Picture 62" descr="lock.png"/>
          <p:cNvPicPr>
            <a:picLocks noChangeAspect="1"/>
          </p:cNvPicPr>
          <p:nvPr/>
        </p:nvPicPr>
        <p:blipFill>
          <a:blip r:embed="rId4"/>
          <a:stretch>
            <a:fillRect/>
          </a:stretch>
        </p:blipFill>
        <p:spPr>
          <a:xfrm>
            <a:off x="7638424" y="4907513"/>
            <a:ext cx="123551" cy="179710"/>
          </a:xfrm>
          <a:prstGeom prst="rect">
            <a:avLst/>
          </a:prstGeom>
        </p:spPr>
      </p:pic>
      <p:sp>
        <p:nvSpPr>
          <p:cNvPr id="64" name="TextBox 63"/>
          <p:cNvSpPr txBox="1"/>
          <p:nvPr/>
        </p:nvSpPr>
        <p:spPr>
          <a:xfrm>
            <a:off x="7799220" y="4916901"/>
            <a:ext cx="2024974" cy="179984"/>
          </a:xfrm>
          <a:prstGeom prst="rect">
            <a:avLst/>
          </a:prstGeom>
          <a:noFill/>
        </p:spPr>
        <p:txBody>
          <a:bodyPr wrap="none" lIns="0" rIns="0" tIns="0" bIns="0">
            <a:spAutoFit/>
          </a:bodyPr>
          <a:lstStyle/>
          <a:p>
            <a:r>
              <a:rPr sz="1055" b="0">
                <a:solidFill>
                  <a:srgbClr val="252423"/>
                </a:solidFill>
                <a:latin typeface="Segoe UI"/>
              </a:rPr>
              <a:t>US$/Litres, and mix has moved +</a:t>
            </a:r>
          </a:p>
        </p:txBody>
      </p:sp>
      <p:pic>
        <p:nvPicPr>
          <p:cNvPr id="65" name="Picture 64" descr="lock.png"/>
          <p:cNvPicPr>
            <a:picLocks noChangeAspect="1"/>
          </p:cNvPicPr>
          <p:nvPr/>
        </p:nvPicPr>
        <p:blipFill>
          <a:blip r:embed="rId4"/>
          <a:stretch>
            <a:fillRect/>
          </a:stretch>
        </p:blipFill>
        <p:spPr>
          <a:xfrm>
            <a:off x="9771275" y="4907513"/>
            <a:ext cx="123551" cy="179710"/>
          </a:xfrm>
          <a:prstGeom prst="rect">
            <a:avLst/>
          </a:prstGeom>
        </p:spPr>
      </p:pic>
      <p:sp>
        <p:nvSpPr>
          <p:cNvPr id="66" name="TextBox 65"/>
          <p:cNvSpPr txBox="1"/>
          <p:nvPr/>
        </p:nvSpPr>
        <p:spPr>
          <a:xfrm>
            <a:off x="9932071" y="4916901"/>
            <a:ext cx="1317738" cy="179984"/>
          </a:xfrm>
          <a:prstGeom prst="rect">
            <a:avLst/>
          </a:prstGeom>
          <a:noFill/>
        </p:spPr>
        <p:txBody>
          <a:bodyPr wrap="none" lIns="0" rIns="0" tIns="0" bIns="0">
            <a:spAutoFit/>
          </a:bodyPr>
          <a:lstStyle/>
          <a:p>
            <a:r>
              <a:rPr sz="1055" b="0">
                <a:solidFill>
                  <a:srgbClr val="252423"/>
                </a:solidFill>
                <a:latin typeface="Segoe UI"/>
              </a:rPr>
              <a:t>BPS toward 'Gaseous</a:t>
            </a:r>
          </a:p>
        </p:txBody>
      </p:sp>
      <p:sp>
        <p:nvSpPr>
          <p:cNvPr id="67" name="TextBox 66"/>
          <p:cNvSpPr txBox="1"/>
          <p:nvPr/>
        </p:nvSpPr>
        <p:spPr>
          <a:xfrm>
            <a:off x="1743075" y="5077835"/>
            <a:ext cx="2576119" cy="179984"/>
          </a:xfrm>
          <a:prstGeom prst="rect">
            <a:avLst/>
          </a:prstGeom>
          <a:noFill/>
        </p:spPr>
        <p:txBody>
          <a:bodyPr wrap="none" lIns="0" rIns="0" tIns="0" bIns="0">
            <a:spAutoFit/>
          </a:bodyPr>
          <a:lstStyle/>
          <a:p>
            <a:r>
              <a:rPr sz="1055" b="0">
                <a:solidFill>
                  <a:srgbClr val="252423"/>
                </a:solidFill>
                <a:latin typeface="Segoe UI"/>
              </a:rPr>
              <a:t>Helium-3' while 'Liquid Helium-3' gives up</a:t>
            </a:r>
          </a:p>
        </p:txBody>
      </p:sp>
      <p:pic>
        <p:nvPicPr>
          <p:cNvPr id="68" name="Picture 67" descr="lock.png"/>
          <p:cNvPicPr>
            <a:picLocks noChangeAspect="1"/>
          </p:cNvPicPr>
          <p:nvPr/>
        </p:nvPicPr>
        <p:blipFill>
          <a:blip r:embed="rId4"/>
          <a:stretch>
            <a:fillRect/>
          </a:stretch>
        </p:blipFill>
        <p:spPr>
          <a:xfrm>
            <a:off x="4266275" y="5068447"/>
            <a:ext cx="123551" cy="179710"/>
          </a:xfrm>
          <a:prstGeom prst="rect">
            <a:avLst/>
          </a:prstGeom>
        </p:spPr>
      </p:pic>
      <p:sp>
        <p:nvSpPr>
          <p:cNvPr id="69" name="TextBox 68"/>
          <p:cNvSpPr txBox="1"/>
          <p:nvPr/>
        </p:nvSpPr>
        <p:spPr>
          <a:xfrm>
            <a:off x="4427071" y="5077835"/>
            <a:ext cx="328707" cy="179984"/>
          </a:xfrm>
          <a:prstGeom prst="rect">
            <a:avLst/>
          </a:prstGeom>
          <a:noFill/>
        </p:spPr>
        <p:txBody>
          <a:bodyPr wrap="none" lIns="0" rIns="0" tIns="0" bIns="0">
            <a:spAutoFit/>
          </a:bodyPr>
          <a:lstStyle/>
          <a:p>
            <a:r>
              <a:rPr sz="1055" b="0">
                <a:solidFill>
                  <a:srgbClr val="252423"/>
                </a:solidFill>
                <a:latin typeface="Segoe UI"/>
              </a:rPr>
              <a:t>BPS.</a:t>
            </a:r>
          </a:p>
        </p:txBody>
      </p:sp>
      <p:sp>
        <p:nvSpPr>
          <p:cNvPr id="70" name="TextBox 69"/>
          <p:cNvSpPr txBox="1"/>
          <p:nvPr/>
        </p:nvSpPr>
        <p:spPr>
          <a:xfrm>
            <a:off x="1743075" y="5902601"/>
            <a:ext cx="2733662" cy="179984"/>
          </a:xfrm>
          <a:prstGeom prst="rect">
            <a:avLst/>
          </a:prstGeom>
          <a:noFill/>
        </p:spPr>
        <p:txBody>
          <a:bodyPr wrap="none" lIns="0" rIns="0" tIns="0" bIns="0">
            <a:spAutoFit/>
          </a:bodyPr>
          <a:lstStyle/>
          <a:p>
            <a:r>
              <a:rPr sz="1055" b="0">
                <a:solidFill>
                  <a:srgbClr val="252423"/>
                </a:solidFill>
                <a:latin typeface="Segoe UI"/>
              </a:rPr>
              <a:t>Forecast outcome: the global market reaches</a:t>
            </a:r>
          </a:p>
        </p:txBody>
      </p:sp>
      <p:pic>
        <p:nvPicPr>
          <p:cNvPr id="71" name="Picture 70" descr="lock.png"/>
          <p:cNvPicPr>
            <a:picLocks noChangeAspect="1"/>
          </p:cNvPicPr>
          <p:nvPr/>
        </p:nvPicPr>
        <p:blipFill>
          <a:blip r:embed="rId4"/>
          <a:stretch>
            <a:fillRect/>
          </a:stretch>
        </p:blipFill>
        <p:spPr>
          <a:xfrm>
            <a:off x="4423818" y="5893213"/>
            <a:ext cx="123551" cy="179710"/>
          </a:xfrm>
          <a:prstGeom prst="rect">
            <a:avLst/>
          </a:prstGeom>
        </p:spPr>
      </p:pic>
      <p:sp>
        <p:nvSpPr>
          <p:cNvPr id="72" name="TextBox 71"/>
          <p:cNvSpPr txBox="1"/>
          <p:nvPr/>
        </p:nvSpPr>
        <p:spPr>
          <a:xfrm>
            <a:off x="4584614" y="5902601"/>
            <a:ext cx="679180" cy="179984"/>
          </a:xfrm>
          <a:prstGeom prst="rect">
            <a:avLst/>
          </a:prstGeom>
          <a:noFill/>
        </p:spPr>
        <p:txBody>
          <a:bodyPr wrap="none" lIns="0" rIns="0" tIns="0" bIns="0">
            <a:spAutoFit/>
          </a:bodyPr>
          <a:lstStyle/>
          <a:p>
            <a:r>
              <a:rPr sz="1055" b="0">
                <a:solidFill>
                  <a:srgbClr val="252423"/>
                </a:solidFill>
                <a:latin typeface="Segoe UI"/>
              </a:rPr>
              <a:t>US$ Mn, a</a:t>
            </a:r>
          </a:p>
        </p:txBody>
      </p:sp>
      <p:pic>
        <p:nvPicPr>
          <p:cNvPr id="73" name="Picture 72" descr="lock.png"/>
          <p:cNvPicPr>
            <a:picLocks noChangeAspect="1"/>
          </p:cNvPicPr>
          <p:nvPr/>
        </p:nvPicPr>
        <p:blipFill>
          <a:blip r:embed="rId4"/>
          <a:stretch>
            <a:fillRect/>
          </a:stretch>
        </p:blipFill>
        <p:spPr>
          <a:xfrm>
            <a:off x="5210876" y="5893213"/>
            <a:ext cx="123551" cy="179710"/>
          </a:xfrm>
          <a:prstGeom prst="rect">
            <a:avLst/>
          </a:prstGeom>
        </p:spPr>
      </p:pic>
      <p:sp>
        <p:nvSpPr>
          <p:cNvPr id="74" name="TextBox 73"/>
          <p:cNvSpPr txBox="1"/>
          <p:nvPr/>
        </p:nvSpPr>
        <p:spPr>
          <a:xfrm>
            <a:off x="5371672" y="5902601"/>
            <a:ext cx="1580478" cy="179984"/>
          </a:xfrm>
          <a:prstGeom prst="rect">
            <a:avLst/>
          </a:prstGeom>
          <a:noFill/>
        </p:spPr>
        <p:txBody>
          <a:bodyPr wrap="none" lIns="0" rIns="0" tIns="0" bIns="0">
            <a:spAutoFit/>
          </a:bodyPr>
          <a:lstStyle/>
          <a:p>
            <a:r>
              <a:rPr sz="1055" b="0">
                <a:solidFill>
                  <a:srgbClr val="252423"/>
                </a:solidFill>
                <a:latin typeface="Segoe UI"/>
              </a:rPr>
              <a:t>× expansion on 2026 and</a:t>
            </a:r>
          </a:p>
        </p:txBody>
      </p:sp>
      <p:pic>
        <p:nvPicPr>
          <p:cNvPr id="75" name="Picture 74" descr="lock.png"/>
          <p:cNvPicPr>
            <a:picLocks noChangeAspect="1"/>
          </p:cNvPicPr>
          <p:nvPr/>
        </p:nvPicPr>
        <p:blipFill>
          <a:blip r:embed="rId4"/>
          <a:stretch>
            <a:fillRect/>
          </a:stretch>
        </p:blipFill>
        <p:spPr>
          <a:xfrm>
            <a:off x="6899232" y="5893213"/>
            <a:ext cx="123551" cy="179710"/>
          </a:xfrm>
          <a:prstGeom prst="rect">
            <a:avLst/>
          </a:prstGeom>
        </p:spPr>
      </p:pic>
      <p:sp>
        <p:nvSpPr>
          <p:cNvPr id="76" name="TextBox 75"/>
          <p:cNvSpPr txBox="1"/>
          <p:nvPr/>
        </p:nvSpPr>
        <p:spPr>
          <a:xfrm>
            <a:off x="7060028" y="5902601"/>
            <a:ext cx="1932710" cy="179984"/>
          </a:xfrm>
          <a:prstGeom prst="rect">
            <a:avLst/>
          </a:prstGeom>
          <a:noFill/>
        </p:spPr>
        <p:txBody>
          <a:bodyPr wrap="none" lIns="0" rIns="0" tIns="0" bIns="0">
            <a:spAutoFit/>
          </a:bodyPr>
          <a:lstStyle/>
          <a:p>
            <a:r>
              <a:rPr sz="1055" b="0">
                <a:solidFill>
                  <a:srgbClr val="252423"/>
                </a:solidFill>
                <a:latin typeface="Segoe UI"/>
              </a:rPr>
              <a:t>US$ Mn of incremental value at</a:t>
            </a:r>
          </a:p>
        </p:txBody>
      </p:sp>
      <p:pic>
        <p:nvPicPr>
          <p:cNvPr id="77" name="Picture 76" descr="lock.png"/>
          <p:cNvPicPr>
            <a:picLocks noChangeAspect="1"/>
          </p:cNvPicPr>
          <p:nvPr/>
        </p:nvPicPr>
        <p:blipFill>
          <a:blip r:embed="rId4"/>
          <a:stretch>
            <a:fillRect/>
          </a:stretch>
        </p:blipFill>
        <p:spPr>
          <a:xfrm>
            <a:off x="8939820" y="5893213"/>
            <a:ext cx="123551" cy="179710"/>
          </a:xfrm>
          <a:prstGeom prst="rect">
            <a:avLst/>
          </a:prstGeom>
        </p:spPr>
      </p:pic>
      <p:sp>
        <p:nvSpPr>
          <p:cNvPr id="78" name="TextBox 77"/>
          <p:cNvSpPr txBox="1"/>
          <p:nvPr/>
        </p:nvSpPr>
        <p:spPr>
          <a:xfrm>
            <a:off x="9100616" y="5902601"/>
            <a:ext cx="1828140" cy="179984"/>
          </a:xfrm>
          <a:prstGeom prst="rect">
            <a:avLst/>
          </a:prstGeom>
          <a:noFill/>
        </p:spPr>
        <p:txBody>
          <a:bodyPr wrap="none" lIns="0" rIns="0" tIns="0" bIns="0">
            <a:spAutoFit/>
          </a:bodyPr>
          <a:lstStyle/>
          <a:p>
            <a:r>
              <a:rPr sz="1055" b="0">
                <a:solidFill>
                  <a:srgbClr val="252423"/>
                </a:solidFill>
                <a:latin typeface="Segoe UI"/>
              </a:rPr>
              <a:t>CAGR. Volume compounds at</a:t>
            </a:r>
          </a:p>
        </p:txBody>
      </p:sp>
      <p:pic>
        <p:nvPicPr>
          <p:cNvPr id="79" name="Picture 78" descr="lock.png"/>
          <p:cNvPicPr>
            <a:picLocks noChangeAspect="1"/>
          </p:cNvPicPr>
          <p:nvPr/>
        </p:nvPicPr>
        <p:blipFill>
          <a:blip r:embed="rId4"/>
          <a:stretch>
            <a:fillRect/>
          </a:stretch>
        </p:blipFill>
        <p:spPr>
          <a:xfrm>
            <a:off x="10875838" y="5893213"/>
            <a:ext cx="123551" cy="179710"/>
          </a:xfrm>
          <a:prstGeom prst="rect">
            <a:avLst/>
          </a:prstGeom>
        </p:spPr>
      </p:pic>
      <p:sp>
        <p:nvSpPr>
          <p:cNvPr id="80" name="TextBox 79"/>
          <p:cNvSpPr txBox="1"/>
          <p:nvPr/>
        </p:nvSpPr>
        <p:spPr>
          <a:xfrm>
            <a:off x="1743075" y="6063535"/>
            <a:ext cx="2541424" cy="179984"/>
          </a:xfrm>
          <a:prstGeom prst="rect">
            <a:avLst/>
          </a:prstGeom>
          <a:noFill/>
        </p:spPr>
        <p:txBody>
          <a:bodyPr wrap="none" lIns="0" rIns="0" tIns="0" bIns="0">
            <a:spAutoFit/>
          </a:bodyPr>
          <a:lstStyle/>
          <a:p>
            <a:r>
              <a:rPr sz="1055" b="0">
                <a:solidFill>
                  <a:srgbClr val="252423"/>
                </a:solidFill>
                <a:latin typeface="Segoe UI"/>
              </a:rPr>
              <a:t>over the same window, leaving realisation</a:t>
            </a:r>
          </a:p>
        </p:txBody>
      </p:sp>
      <p:pic>
        <p:nvPicPr>
          <p:cNvPr id="81" name="Picture 80" descr="lock.png"/>
          <p:cNvPicPr>
            <a:picLocks noChangeAspect="1"/>
          </p:cNvPicPr>
          <p:nvPr/>
        </p:nvPicPr>
        <p:blipFill>
          <a:blip r:embed="rId4"/>
          <a:stretch>
            <a:fillRect/>
          </a:stretch>
        </p:blipFill>
        <p:spPr>
          <a:xfrm>
            <a:off x="4231581" y="6054147"/>
            <a:ext cx="123551" cy="179710"/>
          </a:xfrm>
          <a:prstGeom prst="rect">
            <a:avLst/>
          </a:prstGeom>
        </p:spPr>
      </p:pic>
      <p:sp>
        <p:nvSpPr>
          <p:cNvPr id="82" name="TextBox 81"/>
          <p:cNvSpPr txBox="1"/>
          <p:nvPr/>
        </p:nvSpPr>
        <p:spPr>
          <a:xfrm>
            <a:off x="4392377" y="6063535"/>
            <a:ext cx="4571493" cy="179984"/>
          </a:xfrm>
          <a:prstGeom prst="rect">
            <a:avLst/>
          </a:prstGeom>
          <a:noFill/>
        </p:spPr>
        <p:txBody>
          <a:bodyPr wrap="none" lIns="0" rIns="0" tIns="0" bIns="0">
            <a:spAutoFit/>
          </a:bodyPr>
          <a:lstStyle/>
          <a:p>
            <a:r>
              <a:rPr sz="1055" b="0">
                <a:solidFill>
                  <a:srgbClr val="252423"/>
                </a:solidFill>
                <a:latin typeface="Segoe UI"/>
              </a:rPr>
              <a:t>a year the gap between the two is the premiumisation the forecast assumes.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Porter's Five Forces Analysis Global Helium-3 Market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supplier power, buyer power, competition, substitutes and entry barriers shaping the market's profitability</a:t>
            </a:r>
          </a:p>
        </p:txBody>
      </p:sp>
      <p:sp>
        <p:nvSpPr>
          <p:cNvPr id="8" name="TextBox 7"/>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05E5C"/>
                </a:solidFill>
                <a:latin typeface="Segoe UI"/>
              </a:rPr>
              <a:t/>
            </a:r>
          </a:p>
        </p:txBody>
      </p:sp>
      <p:sp>
        <p:nvSpPr>
          <p:cNvPr id="9" name="Oval 8"/>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Segoe UI"/>
              </a:rPr>
              <a:t>$</a:t>
            </a:r>
          </a:p>
        </p:txBody>
      </p:sp>
      <p:sp>
        <p:nvSpPr>
          <p:cNvPr id="11" name="TextBox 10"/>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Bargaining Power of Suppliers</a:t>
            </a:r>
          </a:p>
        </p:txBody>
      </p:sp>
      <p:sp>
        <p:nvSpPr>
          <p:cNvPr id="12" name="TextBox 11"/>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3" name="TextBox 12"/>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14" name="TextBox 13"/>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Buyers can rebalance across 2 product form lines, which caps supplier leverage in commodity grades.</a:t>
            </a:r>
          </a:p>
        </p:txBody>
      </p:sp>
      <p:sp>
        <p:nvSpPr>
          <p:cNvPr id="15" name="Oval 14"/>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Bargaining Power of Buyers</a:t>
            </a:r>
          </a:p>
        </p:txBody>
      </p:sp>
      <p:sp>
        <p:nvSpPr>
          <p:cNvPr id="21" name="TextBox 20"/>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2" name="TextBox 21"/>
          <p:cNvSpPr txBox="1"/>
          <p:nvPr/>
        </p:nvSpPr>
        <p:spPr>
          <a:xfrm>
            <a:off x="2628900" y="4037375"/>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23" name="TextBox 22"/>
          <p:cNvSpPr txBox="1"/>
          <p:nvPr/>
        </p:nvSpPr>
        <p:spPr>
          <a:xfrm>
            <a:off x="2628900" y="4721889"/>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Switching is easiest where 2 comparable product form lines compete for the same demand.</a:t>
            </a:r>
          </a:p>
        </p:txBody>
      </p:sp>
      <p:sp>
        <p:nvSpPr>
          <p:cNvPr id="24" name="Oval 23"/>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Intensity of Competition</a:t>
            </a:r>
          </a:p>
        </p:txBody>
      </p:sp>
      <p:sp>
        <p:nvSpPr>
          <p:cNvPr id="32" name="TextBox 31"/>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3" name="TextBox 32"/>
          <p:cNvSpPr txBox="1"/>
          <p:nvPr/>
        </p:nvSpPr>
        <p:spPr>
          <a:xfrm>
            <a:off x="5010150" y="3480637"/>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4" name="TextBox 33"/>
          <p:cNvSpPr txBox="1"/>
          <p:nvPr/>
        </p:nvSpPr>
        <p:spPr>
          <a:xfrm>
            <a:off x="5010150" y="4165151"/>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5" name="Oval 34"/>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Threat of Substitutes</a:t>
            </a:r>
          </a:p>
        </p:txBody>
      </p:sp>
      <p:sp>
        <p:nvSpPr>
          <p:cNvPr id="40" name="TextBox 39"/>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1" name="TextBox 40"/>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2" name="TextBox 41"/>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3" name="Oval 42"/>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52423"/>
                </a:solidFill>
                <a:latin typeface="Segoe UI"/>
              </a:rPr>
              <a:t>Threat of New Entrants</a:t>
            </a:r>
          </a:p>
        </p:txBody>
      </p:sp>
      <p:sp>
        <p:nvSpPr>
          <p:cNvPr id="51" name="TextBox 50"/>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2" name="TextBox 51"/>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3" name="TextBox 52"/>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55" name="TextBox 54"/>
          <p:cNvSpPr txBox="1"/>
          <p:nvPr/>
        </p:nvSpPr>
        <p:spPr>
          <a:xfrm>
            <a:off x="171450" y="1069470"/>
            <a:ext cx="10679139" cy="186689"/>
          </a:xfrm>
          <a:prstGeom prst="rect">
            <a:avLst/>
          </a:prstGeom>
          <a:noFill/>
        </p:spPr>
        <p:txBody>
          <a:bodyPr wrap="none" lIns="0" rIns="0" tIns="0" bIns="0">
            <a:spAutoFit/>
          </a:bodyPr>
          <a:lstStyle/>
          <a:p>
            <a:r>
              <a:rPr sz="1100" b="0">
                <a:solidFill>
                  <a:srgbClr val="605E5C"/>
                </a:solidFill>
                <a:latin typeface="Segoe UI"/>
              </a:rPr>
              <a:t>Supplier power, buyer power, competitive intensity, substitution and entry barriers scored from the global dataset 2 product form lines, 4 application routes and 7 regions at</a:t>
            </a:r>
          </a:p>
        </p:txBody>
      </p:sp>
      <p:pic>
        <p:nvPicPr>
          <p:cNvPr id="56" name="Picture 55" descr="lock.png"/>
          <p:cNvPicPr>
            <a:picLocks noChangeAspect="1"/>
          </p:cNvPicPr>
          <p:nvPr/>
        </p:nvPicPr>
        <p:blipFill>
          <a:blip r:embed="rId4"/>
          <a:stretch>
            <a:fillRect/>
          </a:stretch>
        </p:blipFill>
        <p:spPr>
          <a:xfrm>
            <a:off x="10798640" y="1059691"/>
            <a:ext cx="128699" cy="187198"/>
          </a:xfrm>
          <a:prstGeom prst="rect">
            <a:avLst/>
          </a:prstGeom>
        </p:spPr>
      </p:pic>
      <p:sp>
        <p:nvSpPr>
          <p:cNvPr id="57" name="TextBox 56"/>
          <p:cNvSpPr txBox="1"/>
          <p:nvPr/>
        </p:nvSpPr>
        <p:spPr>
          <a:xfrm>
            <a:off x="10966136" y="1069470"/>
            <a:ext cx="462255" cy="186689"/>
          </a:xfrm>
          <a:prstGeom prst="rect">
            <a:avLst/>
          </a:prstGeom>
          <a:noFill/>
        </p:spPr>
        <p:txBody>
          <a:bodyPr wrap="none" lIns="0" rIns="0" tIns="0" bIns="0">
            <a:spAutoFit/>
          </a:bodyPr>
          <a:lstStyle/>
          <a:p>
            <a:r>
              <a:rPr sz="1100" b="0">
                <a:solidFill>
                  <a:srgbClr val="605E5C"/>
                </a:solidFill>
                <a:latin typeface="Segoe UI"/>
              </a:rPr>
              <a:t>CAGR.</a:t>
            </a:r>
          </a:p>
        </p:txBody>
      </p:sp>
      <p:sp>
        <p:nvSpPr>
          <p:cNvPr id="58" name="TextBox 57"/>
          <p:cNvSpPr txBox="1"/>
          <p:nvPr/>
        </p:nvSpPr>
        <p:spPr>
          <a:xfrm>
            <a:off x="276225" y="2848734"/>
            <a:ext cx="1906999" cy="186689"/>
          </a:xfrm>
          <a:prstGeom prst="rect">
            <a:avLst/>
          </a:prstGeom>
          <a:noFill/>
        </p:spPr>
        <p:txBody>
          <a:bodyPr wrap="none" lIns="0" rIns="0" tIns="0" bIns="0">
            <a:spAutoFit/>
          </a:bodyPr>
          <a:lstStyle/>
          <a:p>
            <a:r>
              <a:rPr sz="1100" b="0">
                <a:solidFill>
                  <a:srgbClr val="252423"/>
                </a:solidFill>
                <a:latin typeface="Segoe UI"/>
              </a:rPr>
              <a:t>▸ Assessed moderate to high.</a:t>
            </a:r>
          </a:p>
        </p:txBody>
      </p:sp>
      <p:sp>
        <p:nvSpPr>
          <p:cNvPr id="59" name="TextBox 58"/>
          <p:cNvSpPr txBox="1"/>
          <p:nvPr/>
        </p:nvSpPr>
        <p:spPr>
          <a:xfrm>
            <a:off x="276225" y="3016374"/>
            <a:ext cx="1582950" cy="186689"/>
          </a:xfrm>
          <a:prstGeom prst="rect">
            <a:avLst/>
          </a:prstGeom>
          <a:noFill/>
        </p:spPr>
        <p:txBody>
          <a:bodyPr wrap="none" lIns="0" rIns="0" tIns="0" bIns="0">
            <a:spAutoFit/>
          </a:bodyPr>
          <a:lstStyle/>
          <a:p>
            <a:r>
              <a:rPr sz="1100" b="0">
                <a:solidFill>
                  <a:srgbClr val="252423"/>
                </a:solidFill>
                <a:latin typeface="Segoe UI"/>
              </a:rPr>
              <a:t>'North America' supplies</a:t>
            </a:r>
          </a:p>
        </p:txBody>
      </p:sp>
      <p:pic>
        <p:nvPicPr>
          <p:cNvPr id="60" name="Picture 59" descr="lock.png"/>
          <p:cNvPicPr>
            <a:picLocks noChangeAspect="1"/>
          </p:cNvPicPr>
          <p:nvPr/>
        </p:nvPicPr>
        <p:blipFill>
          <a:blip r:embed="rId4"/>
          <a:stretch>
            <a:fillRect/>
          </a:stretch>
        </p:blipFill>
        <p:spPr>
          <a:xfrm>
            <a:off x="1807226" y="3006595"/>
            <a:ext cx="128699" cy="187198"/>
          </a:xfrm>
          <a:prstGeom prst="rect">
            <a:avLst/>
          </a:prstGeom>
        </p:spPr>
      </p:pic>
      <p:sp>
        <p:nvSpPr>
          <p:cNvPr id="61" name="TextBox 60"/>
          <p:cNvSpPr txBox="1"/>
          <p:nvPr/>
        </p:nvSpPr>
        <p:spPr>
          <a:xfrm>
            <a:off x="1974722" y="3016374"/>
            <a:ext cx="201673" cy="186689"/>
          </a:xfrm>
          <a:prstGeom prst="rect">
            <a:avLst/>
          </a:prstGeom>
          <a:noFill/>
        </p:spPr>
        <p:txBody>
          <a:bodyPr wrap="none" lIns="0" rIns="0" tIns="0" bIns="0">
            <a:spAutoFit/>
          </a:bodyPr>
          <a:lstStyle/>
          <a:p>
            <a:r>
              <a:rPr sz="1100" b="0">
                <a:solidFill>
                  <a:srgbClr val="252423"/>
                </a:solidFill>
                <a:latin typeface="Segoe UI"/>
              </a:rPr>
              <a:t>of</a:t>
            </a:r>
          </a:p>
        </p:txBody>
      </p:sp>
      <p:sp>
        <p:nvSpPr>
          <p:cNvPr id="62" name="TextBox 61"/>
          <p:cNvSpPr txBox="1"/>
          <p:nvPr/>
        </p:nvSpPr>
        <p:spPr>
          <a:xfrm>
            <a:off x="276225" y="3184014"/>
            <a:ext cx="1802706" cy="186689"/>
          </a:xfrm>
          <a:prstGeom prst="rect">
            <a:avLst/>
          </a:prstGeom>
          <a:noFill/>
        </p:spPr>
        <p:txBody>
          <a:bodyPr wrap="none" lIns="0" rIns="0" tIns="0" bIns="0">
            <a:spAutoFit/>
          </a:bodyPr>
          <a:lstStyle/>
          <a:p>
            <a:r>
              <a:rPr sz="1100" b="0">
                <a:solidFill>
                  <a:srgbClr val="252423"/>
                </a:solidFill>
                <a:latin typeface="Segoe UI"/>
              </a:rPr>
              <a:t>2036 value across 7 regions,</a:t>
            </a:r>
          </a:p>
        </p:txBody>
      </p:sp>
      <p:sp>
        <p:nvSpPr>
          <p:cNvPr id="63" name="TextBox 62"/>
          <p:cNvSpPr txBox="1"/>
          <p:nvPr/>
        </p:nvSpPr>
        <p:spPr>
          <a:xfrm>
            <a:off x="276225" y="3351654"/>
            <a:ext cx="2114550" cy="186689"/>
          </a:xfrm>
          <a:prstGeom prst="rect">
            <a:avLst/>
          </a:prstGeom>
          <a:noFill/>
        </p:spPr>
        <p:txBody>
          <a:bodyPr wrap="none" lIns="0" rIns="0" tIns="0" bIns="0">
            <a:spAutoFit/>
          </a:bodyPr>
          <a:lstStyle/>
          <a:p>
            <a:r>
              <a:rPr sz="1100" b="0">
                <a:solidFill>
                  <a:srgbClr val="252423"/>
                </a:solidFill>
                <a:latin typeface="Segoe UI"/>
              </a:rPr>
              <a:t>concentrating upstream leverage.</a:t>
            </a:r>
          </a:p>
        </p:txBody>
      </p:sp>
      <p:sp>
        <p:nvSpPr>
          <p:cNvPr id="64" name="TextBox 63"/>
          <p:cNvSpPr txBox="1"/>
          <p:nvPr/>
        </p:nvSpPr>
        <p:spPr>
          <a:xfrm>
            <a:off x="276225" y="3715785"/>
            <a:ext cx="1820983" cy="186689"/>
          </a:xfrm>
          <a:prstGeom prst="rect">
            <a:avLst/>
          </a:prstGeom>
          <a:noFill/>
        </p:spPr>
        <p:txBody>
          <a:bodyPr wrap="none" lIns="0" rIns="0" tIns="0" bIns="0">
            <a:spAutoFit/>
          </a:bodyPr>
          <a:lstStyle/>
          <a:p>
            <a:r>
              <a:rPr sz="1100" b="0">
                <a:solidFill>
                  <a:srgbClr val="252423"/>
                </a:solidFill>
                <a:latin typeface="Segoe UI"/>
              </a:rPr>
              <a:t>▸ Average realisation moves</a:t>
            </a:r>
          </a:p>
        </p:txBody>
      </p:sp>
      <p:pic>
        <p:nvPicPr>
          <p:cNvPr id="65" name="Picture 64" descr="lock.png"/>
          <p:cNvPicPr>
            <a:picLocks noChangeAspect="1"/>
          </p:cNvPicPr>
          <p:nvPr/>
        </p:nvPicPr>
        <p:blipFill>
          <a:blip r:embed="rId4"/>
          <a:stretch>
            <a:fillRect/>
          </a:stretch>
        </p:blipFill>
        <p:spPr>
          <a:xfrm>
            <a:off x="2045260" y="3706006"/>
            <a:ext cx="128699" cy="187198"/>
          </a:xfrm>
          <a:prstGeom prst="rect">
            <a:avLst/>
          </a:prstGeom>
        </p:spPr>
      </p:pic>
      <p:sp>
        <p:nvSpPr>
          <p:cNvPr id="66" name="TextBox 65"/>
          <p:cNvSpPr txBox="1"/>
          <p:nvPr/>
        </p:nvSpPr>
        <p:spPr>
          <a:xfrm>
            <a:off x="276225" y="3883425"/>
            <a:ext cx="1917666" cy="186689"/>
          </a:xfrm>
          <a:prstGeom prst="rect">
            <a:avLst/>
          </a:prstGeom>
          <a:noFill/>
        </p:spPr>
        <p:txBody>
          <a:bodyPr wrap="none" lIns="0" rIns="0" tIns="0" bIns="0">
            <a:spAutoFit/>
          </a:bodyPr>
          <a:lstStyle/>
          <a:p>
            <a:r>
              <a:rPr sz="1100" b="0">
                <a:solidFill>
                  <a:srgbClr val="252423"/>
                </a:solidFill>
                <a:latin typeface="Segoe UI"/>
              </a:rPr>
              <a:t>a year (2026–2036), indicating</a:t>
            </a:r>
          </a:p>
        </p:txBody>
      </p:sp>
      <p:sp>
        <p:nvSpPr>
          <p:cNvPr id="67" name="TextBox 66"/>
          <p:cNvSpPr txBox="1"/>
          <p:nvPr/>
        </p:nvSpPr>
        <p:spPr>
          <a:xfrm>
            <a:off x="276225" y="4051065"/>
            <a:ext cx="1833850" cy="186689"/>
          </a:xfrm>
          <a:prstGeom prst="rect">
            <a:avLst/>
          </a:prstGeom>
          <a:noFill/>
        </p:spPr>
        <p:txBody>
          <a:bodyPr wrap="none" lIns="0" rIns="0" tIns="0" bIns="0">
            <a:spAutoFit/>
          </a:bodyPr>
          <a:lstStyle/>
          <a:p>
            <a:r>
              <a:rPr sz="1100" b="0">
                <a:solidFill>
                  <a:srgbClr val="252423"/>
                </a:solidFill>
                <a:latin typeface="Segoe UI"/>
              </a:rPr>
              <a:t>input costs are being passed</a:t>
            </a:r>
          </a:p>
        </p:txBody>
      </p:sp>
      <p:sp>
        <p:nvSpPr>
          <p:cNvPr id="68" name="TextBox 67"/>
          <p:cNvSpPr txBox="1"/>
          <p:nvPr/>
        </p:nvSpPr>
        <p:spPr>
          <a:xfrm>
            <a:off x="276225" y="4218705"/>
            <a:ext cx="604137" cy="186689"/>
          </a:xfrm>
          <a:prstGeom prst="rect">
            <a:avLst/>
          </a:prstGeom>
          <a:noFill/>
        </p:spPr>
        <p:txBody>
          <a:bodyPr wrap="none" lIns="0" rIns="0" tIns="0" bIns="0">
            <a:spAutoFit/>
          </a:bodyPr>
          <a:lstStyle/>
          <a:p>
            <a:r>
              <a:rPr sz="1100" b="0">
                <a:solidFill>
                  <a:srgbClr val="252423"/>
                </a:solidFill>
                <a:latin typeface="Segoe UI"/>
              </a:rPr>
              <a:t>through.</a:t>
            </a:r>
          </a:p>
        </p:txBody>
      </p:sp>
      <p:sp>
        <p:nvSpPr>
          <p:cNvPr id="69" name="TextBox 68"/>
          <p:cNvSpPr txBox="1"/>
          <p:nvPr/>
        </p:nvSpPr>
        <p:spPr>
          <a:xfrm>
            <a:off x="2657475" y="2952014"/>
            <a:ext cx="1906999" cy="186689"/>
          </a:xfrm>
          <a:prstGeom prst="rect">
            <a:avLst/>
          </a:prstGeom>
          <a:noFill/>
        </p:spPr>
        <p:txBody>
          <a:bodyPr wrap="none" lIns="0" rIns="0" tIns="0" bIns="0">
            <a:spAutoFit/>
          </a:bodyPr>
          <a:lstStyle/>
          <a:p>
            <a:r>
              <a:rPr sz="1100" b="0">
                <a:solidFill>
                  <a:srgbClr val="252423"/>
                </a:solidFill>
                <a:latin typeface="Segoe UI"/>
              </a:rPr>
              <a:t>▸ Assessed moderate to high.</a:t>
            </a:r>
          </a:p>
        </p:txBody>
      </p:sp>
      <p:sp>
        <p:nvSpPr>
          <p:cNvPr id="70" name="TextBox 69"/>
          <p:cNvSpPr txBox="1"/>
          <p:nvPr/>
        </p:nvSpPr>
        <p:spPr>
          <a:xfrm>
            <a:off x="2657475" y="3119654"/>
            <a:ext cx="1677216" cy="186689"/>
          </a:xfrm>
          <a:prstGeom prst="rect">
            <a:avLst/>
          </a:prstGeom>
          <a:noFill/>
        </p:spPr>
        <p:txBody>
          <a:bodyPr wrap="none" lIns="0" rIns="0" tIns="0" bIns="0">
            <a:spAutoFit/>
          </a:bodyPr>
          <a:lstStyle/>
          <a:p>
            <a:r>
              <a:rPr sz="1100" b="0">
                <a:solidFill>
                  <a:srgbClr val="252423"/>
                </a:solidFill>
                <a:latin typeface="Segoe UI"/>
              </a:rPr>
              <a:t>Demand routes through 4</a:t>
            </a:r>
          </a:p>
        </p:txBody>
      </p:sp>
      <p:sp>
        <p:nvSpPr>
          <p:cNvPr id="71" name="TextBox 70"/>
          <p:cNvSpPr txBox="1"/>
          <p:nvPr/>
        </p:nvSpPr>
        <p:spPr>
          <a:xfrm>
            <a:off x="2657475" y="3287294"/>
            <a:ext cx="1750690" cy="186689"/>
          </a:xfrm>
          <a:prstGeom prst="rect">
            <a:avLst/>
          </a:prstGeom>
          <a:noFill/>
        </p:spPr>
        <p:txBody>
          <a:bodyPr wrap="none" lIns="0" rIns="0" tIns="0" bIns="0">
            <a:spAutoFit/>
          </a:bodyPr>
          <a:lstStyle/>
          <a:p>
            <a:r>
              <a:rPr sz="1100" b="0">
                <a:solidFill>
                  <a:srgbClr val="252423"/>
                </a:solidFill>
                <a:latin typeface="Segoe UI"/>
              </a:rPr>
              <a:t>application channels led by</a:t>
            </a:r>
          </a:p>
        </p:txBody>
      </p:sp>
      <p:sp>
        <p:nvSpPr>
          <p:cNvPr id="72" name="TextBox 71"/>
          <p:cNvSpPr txBox="1"/>
          <p:nvPr/>
        </p:nvSpPr>
        <p:spPr>
          <a:xfrm>
            <a:off x="2657475" y="3454934"/>
            <a:ext cx="2114550" cy="186689"/>
          </a:xfrm>
          <a:prstGeom prst="rect">
            <a:avLst/>
          </a:prstGeom>
          <a:noFill/>
        </p:spPr>
        <p:txBody>
          <a:bodyPr wrap="none" lIns="0" rIns="0" tIns="0" bIns="0">
            <a:spAutoFit/>
          </a:bodyPr>
          <a:lstStyle/>
          <a:p>
            <a:r>
              <a:rPr sz="1100" b="0">
                <a:solidFill>
                  <a:srgbClr val="252423"/>
                </a:solidFill>
                <a:latin typeface="Segoe UI"/>
              </a:rPr>
              <a:t>'Medical and Biomedical Imaging'</a:t>
            </a:r>
          </a:p>
        </p:txBody>
      </p:sp>
      <p:sp>
        <p:nvSpPr>
          <p:cNvPr id="73" name="TextBox 72"/>
          <p:cNvSpPr txBox="1"/>
          <p:nvPr/>
        </p:nvSpPr>
        <p:spPr>
          <a:xfrm>
            <a:off x="2657475" y="3622574"/>
            <a:ext cx="194890" cy="186689"/>
          </a:xfrm>
          <a:prstGeom prst="rect">
            <a:avLst/>
          </a:prstGeom>
          <a:noFill/>
        </p:spPr>
        <p:txBody>
          <a:bodyPr wrap="none" lIns="0" rIns="0" tIns="0" bIns="0">
            <a:spAutoFit/>
          </a:bodyPr>
          <a:lstStyle/>
          <a:p>
            <a:r>
              <a:rPr sz="1100" b="0">
                <a:solidFill>
                  <a:srgbClr val="252423"/>
                </a:solidFill>
                <a:latin typeface="Segoe UI"/>
              </a:rPr>
              <a:t>at</a:t>
            </a:r>
          </a:p>
        </p:txBody>
      </p:sp>
      <p:pic>
        <p:nvPicPr>
          <p:cNvPr id="74" name="Picture 73" descr="lock.png"/>
          <p:cNvPicPr>
            <a:picLocks noChangeAspect="1"/>
          </p:cNvPicPr>
          <p:nvPr/>
        </p:nvPicPr>
        <p:blipFill>
          <a:blip r:embed="rId4"/>
          <a:stretch>
            <a:fillRect/>
          </a:stretch>
        </p:blipFill>
        <p:spPr>
          <a:xfrm>
            <a:off x="2800417" y="3612795"/>
            <a:ext cx="128699" cy="187198"/>
          </a:xfrm>
          <a:prstGeom prst="rect">
            <a:avLst/>
          </a:prstGeom>
        </p:spPr>
      </p:pic>
      <p:sp>
        <p:nvSpPr>
          <p:cNvPr id="75" name="TextBox 74"/>
          <p:cNvSpPr txBox="1"/>
          <p:nvPr/>
        </p:nvSpPr>
        <p:spPr>
          <a:xfrm>
            <a:off x="2967912" y="3622574"/>
            <a:ext cx="1689004" cy="186689"/>
          </a:xfrm>
          <a:prstGeom prst="rect">
            <a:avLst/>
          </a:prstGeom>
          <a:noFill/>
        </p:spPr>
        <p:txBody>
          <a:bodyPr wrap="none" lIns="0" rIns="0" tIns="0" bIns="0">
            <a:spAutoFit/>
          </a:bodyPr>
          <a:lstStyle/>
          <a:p>
            <a:r>
              <a:rPr sz="1100" b="0">
                <a:solidFill>
                  <a:srgbClr val="252423"/>
                </a:solidFill>
                <a:latin typeface="Segoe UI"/>
              </a:rPr>
              <a:t>, giving large buyers scale.</a:t>
            </a:r>
          </a:p>
        </p:txBody>
      </p:sp>
      <p:sp>
        <p:nvSpPr>
          <p:cNvPr id="76" name="TextBox 75"/>
          <p:cNvSpPr txBox="1"/>
          <p:nvPr/>
        </p:nvSpPr>
        <p:spPr>
          <a:xfrm>
            <a:off x="2657475" y="4082537"/>
            <a:ext cx="1541958" cy="186689"/>
          </a:xfrm>
          <a:prstGeom prst="rect">
            <a:avLst/>
          </a:prstGeom>
          <a:noFill/>
        </p:spPr>
        <p:txBody>
          <a:bodyPr wrap="none" lIns="0" rIns="0" tIns="0" bIns="0">
            <a:spAutoFit/>
          </a:bodyPr>
          <a:lstStyle/>
          <a:p>
            <a:r>
              <a:rPr sz="1100" b="0">
                <a:solidFill>
                  <a:srgbClr val="252423"/>
                </a:solidFill>
                <a:latin typeface="Segoe UI"/>
              </a:rPr>
              <a:t>▸ Price sensitivity tracks</a:t>
            </a:r>
          </a:p>
        </p:txBody>
      </p:sp>
      <p:sp>
        <p:nvSpPr>
          <p:cNvPr id="77" name="TextBox 76"/>
          <p:cNvSpPr txBox="1"/>
          <p:nvPr/>
        </p:nvSpPr>
        <p:spPr>
          <a:xfrm>
            <a:off x="2657475" y="4250177"/>
            <a:ext cx="1212051" cy="186689"/>
          </a:xfrm>
          <a:prstGeom prst="rect">
            <a:avLst/>
          </a:prstGeom>
          <a:noFill/>
        </p:spPr>
        <p:txBody>
          <a:bodyPr wrap="none" lIns="0" rIns="0" tIns="0" bIns="0">
            <a:spAutoFit/>
          </a:bodyPr>
          <a:lstStyle/>
          <a:p>
            <a:r>
              <a:rPr sz="1100" b="0">
                <a:solidFill>
                  <a:srgbClr val="252423"/>
                </a:solidFill>
                <a:latin typeface="Segoe UI"/>
              </a:rPr>
              <a:t>realisation moving</a:t>
            </a:r>
          </a:p>
        </p:txBody>
      </p:sp>
      <p:pic>
        <p:nvPicPr>
          <p:cNvPr id="78" name="Picture 77" descr="lock.png"/>
          <p:cNvPicPr>
            <a:picLocks noChangeAspect="1"/>
          </p:cNvPicPr>
          <p:nvPr/>
        </p:nvPicPr>
        <p:blipFill>
          <a:blip r:embed="rId4"/>
          <a:stretch>
            <a:fillRect/>
          </a:stretch>
        </p:blipFill>
        <p:spPr>
          <a:xfrm>
            <a:off x="3817577" y="4240398"/>
            <a:ext cx="128699" cy="187198"/>
          </a:xfrm>
          <a:prstGeom prst="rect">
            <a:avLst/>
          </a:prstGeom>
        </p:spPr>
      </p:pic>
      <p:sp>
        <p:nvSpPr>
          <p:cNvPr id="79" name="TextBox 78"/>
          <p:cNvSpPr txBox="1"/>
          <p:nvPr/>
        </p:nvSpPr>
        <p:spPr>
          <a:xfrm>
            <a:off x="3985073" y="4250177"/>
            <a:ext cx="446178" cy="186689"/>
          </a:xfrm>
          <a:prstGeom prst="rect">
            <a:avLst/>
          </a:prstGeom>
          <a:noFill/>
        </p:spPr>
        <p:txBody>
          <a:bodyPr wrap="none" lIns="0" rIns="0" tIns="0" bIns="0">
            <a:spAutoFit/>
          </a:bodyPr>
          <a:lstStyle/>
          <a:p>
            <a:r>
              <a:rPr sz="1100" b="0">
                <a:solidFill>
                  <a:srgbClr val="252423"/>
                </a:solidFill>
                <a:latin typeface="Segoe UI"/>
              </a:rPr>
              <a:t>a year</a:t>
            </a:r>
          </a:p>
        </p:txBody>
      </p:sp>
      <p:sp>
        <p:nvSpPr>
          <p:cNvPr id="80" name="TextBox 79"/>
          <p:cNvSpPr txBox="1"/>
          <p:nvPr/>
        </p:nvSpPr>
        <p:spPr>
          <a:xfrm>
            <a:off x="2657475" y="4417817"/>
            <a:ext cx="1656202" cy="186689"/>
          </a:xfrm>
          <a:prstGeom prst="rect">
            <a:avLst/>
          </a:prstGeom>
          <a:noFill/>
        </p:spPr>
        <p:txBody>
          <a:bodyPr wrap="none" lIns="0" rIns="0" tIns="0" bIns="0">
            <a:spAutoFit/>
          </a:bodyPr>
          <a:lstStyle/>
          <a:p>
            <a:r>
              <a:rPr sz="1100" b="0">
                <a:solidFill>
                  <a:srgbClr val="252423"/>
                </a:solidFill>
                <a:latin typeface="Segoe UI"/>
              </a:rPr>
              <a:t>against volume growth of</a:t>
            </a:r>
          </a:p>
        </p:txBody>
      </p:sp>
      <p:pic>
        <p:nvPicPr>
          <p:cNvPr id="81" name="Picture 80" descr="lock.png"/>
          <p:cNvPicPr>
            <a:picLocks noChangeAspect="1"/>
          </p:cNvPicPr>
          <p:nvPr/>
        </p:nvPicPr>
        <p:blipFill>
          <a:blip r:embed="rId4"/>
          <a:stretch>
            <a:fillRect/>
          </a:stretch>
        </p:blipFill>
        <p:spPr>
          <a:xfrm>
            <a:off x="4261728" y="4408038"/>
            <a:ext cx="128699" cy="187198"/>
          </a:xfrm>
          <a:prstGeom prst="rect">
            <a:avLst/>
          </a:prstGeom>
        </p:spPr>
      </p:pic>
      <p:sp>
        <p:nvSpPr>
          <p:cNvPr id="82" name="TextBox 81"/>
          <p:cNvSpPr txBox="1"/>
          <p:nvPr/>
        </p:nvSpPr>
        <p:spPr>
          <a:xfrm>
            <a:off x="4429224" y="4417817"/>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83" name="TextBox 82"/>
          <p:cNvSpPr txBox="1"/>
          <p:nvPr/>
        </p:nvSpPr>
        <p:spPr>
          <a:xfrm>
            <a:off x="5038725" y="2841285"/>
            <a:ext cx="2015761" cy="186689"/>
          </a:xfrm>
          <a:prstGeom prst="rect">
            <a:avLst/>
          </a:prstGeom>
          <a:noFill/>
        </p:spPr>
        <p:txBody>
          <a:bodyPr wrap="none" lIns="0" rIns="0" tIns="0" bIns="0">
            <a:spAutoFit/>
          </a:bodyPr>
          <a:lstStyle/>
          <a:p>
            <a:r>
              <a:rPr sz="1100" b="0">
                <a:solidFill>
                  <a:srgbClr val="252423"/>
                </a:solidFill>
                <a:latin typeface="Segoe UI"/>
              </a:rPr>
              <a:t>▸ Assessed low. 2 product form</a:t>
            </a:r>
          </a:p>
        </p:txBody>
      </p:sp>
      <p:sp>
        <p:nvSpPr>
          <p:cNvPr id="84" name="TextBox 83"/>
          <p:cNvSpPr txBox="1"/>
          <p:nvPr/>
        </p:nvSpPr>
        <p:spPr>
          <a:xfrm>
            <a:off x="5038725" y="3008925"/>
            <a:ext cx="2114550" cy="186689"/>
          </a:xfrm>
          <a:prstGeom prst="rect">
            <a:avLst/>
          </a:prstGeom>
          <a:noFill/>
        </p:spPr>
        <p:txBody>
          <a:bodyPr wrap="none" lIns="0" rIns="0" tIns="0" bIns="0">
            <a:spAutoFit/>
          </a:bodyPr>
          <a:lstStyle/>
          <a:p>
            <a:r>
              <a:rPr sz="1100" b="0">
                <a:solidFill>
                  <a:srgbClr val="252423"/>
                </a:solidFill>
                <a:latin typeface="Segoe UI"/>
              </a:rPr>
              <a:t>lines compete inside the segment;</a:t>
            </a:r>
          </a:p>
        </p:txBody>
      </p:sp>
      <p:sp>
        <p:nvSpPr>
          <p:cNvPr id="85" name="TextBox 84"/>
          <p:cNvSpPr txBox="1"/>
          <p:nvPr/>
        </p:nvSpPr>
        <p:spPr>
          <a:xfrm>
            <a:off x="5038725" y="3176565"/>
            <a:ext cx="1071016" cy="186689"/>
          </a:xfrm>
          <a:prstGeom prst="rect">
            <a:avLst/>
          </a:prstGeom>
          <a:noFill/>
        </p:spPr>
        <p:txBody>
          <a:bodyPr wrap="none" lIns="0" rIns="0" tIns="0" bIns="0">
            <a:spAutoFit/>
          </a:bodyPr>
          <a:lstStyle/>
          <a:p>
            <a:r>
              <a:rPr sz="1100" b="0">
                <a:solidFill>
                  <a:srgbClr val="252423"/>
                </a:solidFill>
                <a:latin typeface="Segoe UI"/>
              </a:rPr>
              <a:t>the leader holds</a:t>
            </a:r>
          </a:p>
        </p:txBody>
      </p:sp>
      <p:pic>
        <p:nvPicPr>
          <p:cNvPr id="86" name="Picture 85" descr="lock.png"/>
          <p:cNvPicPr>
            <a:picLocks noChangeAspect="1"/>
          </p:cNvPicPr>
          <p:nvPr/>
        </p:nvPicPr>
        <p:blipFill>
          <a:blip r:embed="rId4"/>
          <a:stretch>
            <a:fillRect/>
          </a:stretch>
        </p:blipFill>
        <p:spPr>
          <a:xfrm>
            <a:off x="6057793" y="3166786"/>
            <a:ext cx="128699" cy="187198"/>
          </a:xfrm>
          <a:prstGeom prst="rect">
            <a:avLst/>
          </a:prstGeom>
        </p:spPr>
      </p:pic>
      <p:sp>
        <p:nvSpPr>
          <p:cNvPr id="87" name="TextBox 86"/>
          <p:cNvSpPr txBox="1"/>
          <p:nvPr/>
        </p:nvSpPr>
        <p:spPr>
          <a:xfrm>
            <a:off x="6225289" y="3176565"/>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88" name="TextBox 87"/>
          <p:cNvSpPr txBox="1"/>
          <p:nvPr/>
        </p:nvSpPr>
        <p:spPr>
          <a:xfrm>
            <a:off x="5038725" y="3525799"/>
            <a:ext cx="2087602" cy="186689"/>
          </a:xfrm>
          <a:prstGeom prst="rect">
            <a:avLst/>
          </a:prstGeom>
          <a:noFill/>
        </p:spPr>
        <p:txBody>
          <a:bodyPr wrap="none" lIns="0" rIns="0" tIns="0" bIns="0">
            <a:spAutoFit/>
          </a:bodyPr>
          <a:lstStyle/>
          <a:p>
            <a:r>
              <a:rPr sz="1100" b="0">
                <a:solidFill>
                  <a:srgbClr val="252423"/>
                </a:solidFill>
                <a:latin typeface="Segoe UI"/>
              </a:rPr>
              <a:t>▸ Growth is unevenly distributed</a:t>
            </a:r>
          </a:p>
        </p:txBody>
      </p:sp>
      <p:sp>
        <p:nvSpPr>
          <p:cNvPr id="89" name="TextBox 88"/>
          <p:cNvSpPr txBox="1"/>
          <p:nvPr/>
        </p:nvSpPr>
        <p:spPr>
          <a:xfrm>
            <a:off x="5038725" y="3693439"/>
            <a:ext cx="1425996" cy="186689"/>
          </a:xfrm>
          <a:prstGeom prst="rect">
            <a:avLst/>
          </a:prstGeom>
          <a:noFill/>
        </p:spPr>
        <p:txBody>
          <a:bodyPr wrap="none" lIns="0" rIns="0" tIns="0" bIns="0">
            <a:spAutoFit/>
          </a:bodyPr>
          <a:lstStyle/>
          <a:p>
            <a:r>
              <a:rPr sz="1100" b="0">
                <a:solidFill>
                  <a:srgbClr val="252423"/>
                </a:solidFill>
                <a:latin typeface="Segoe UI"/>
              </a:rPr>
              <a:t>'Gaseous Helium-3' at</a:t>
            </a:r>
          </a:p>
        </p:txBody>
      </p:sp>
      <p:pic>
        <p:nvPicPr>
          <p:cNvPr id="90" name="Picture 89" descr="lock.png"/>
          <p:cNvPicPr>
            <a:picLocks noChangeAspect="1"/>
          </p:cNvPicPr>
          <p:nvPr/>
        </p:nvPicPr>
        <p:blipFill>
          <a:blip r:embed="rId4"/>
          <a:stretch>
            <a:fillRect/>
          </a:stretch>
        </p:blipFill>
        <p:spPr>
          <a:xfrm>
            <a:off x="6412773" y="3683660"/>
            <a:ext cx="128699" cy="187198"/>
          </a:xfrm>
          <a:prstGeom prst="rect">
            <a:avLst/>
          </a:prstGeom>
        </p:spPr>
      </p:pic>
      <p:sp>
        <p:nvSpPr>
          <p:cNvPr id="91" name="TextBox 90"/>
          <p:cNvSpPr txBox="1"/>
          <p:nvPr/>
        </p:nvSpPr>
        <p:spPr>
          <a:xfrm>
            <a:off x="5038725" y="3861079"/>
            <a:ext cx="1766515" cy="186689"/>
          </a:xfrm>
          <a:prstGeom prst="rect">
            <a:avLst/>
          </a:prstGeom>
          <a:noFill/>
        </p:spPr>
        <p:txBody>
          <a:bodyPr wrap="none" lIns="0" rIns="0" tIns="0" bIns="0">
            <a:spAutoFit/>
          </a:bodyPr>
          <a:lstStyle/>
          <a:p>
            <a:r>
              <a:rPr sz="1100" b="0">
                <a:solidFill>
                  <a:srgbClr val="252423"/>
                </a:solidFill>
                <a:latin typeface="Segoe UI"/>
              </a:rPr>
              <a:t>against 'Liquid Helium-3' at</a:t>
            </a:r>
          </a:p>
        </p:txBody>
      </p:sp>
      <p:pic>
        <p:nvPicPr>
          <p:cNvPr id="92" name="Picture 91" descr="lock.png"/>
          <p:cNvPicPr>
            <a:picLocks noChangeAspect="1"/>
          </p:cNvPicPr>
          <p:nvPr/>
        </p:nvPicPr>
        <p:blipFill>
          <a:blip r:embed="rId4"/>
          <a:stretch>
            <a:fillRect/>
          </a:stretch>
        </p:blipFill>
        <p:spPr>
          <a:xfrm>
            <a:off x="6753292" y="3851300"/>
            <a:ext cx="128699" cy="187198"/>
          </a:xfrm>
          <a:prstGeom prst="rect">
            <a:avLst/>
          </a:prstGeom>
        </p:spPr>
      </p:pic>
      <p:sp>
        <p:nvSpPr>
          <p:cNvPr id="93" name="TextBox 92"/>
          <p:cNvSpPr txBox="1"/>
          <p:nvPr/>
        </p:nvSpPr>
        <p:spPr>
          <a:xfrm>
            <a:off x="6920787" y="3861079"/>
            <a:ext cx="106486" cy="186689"/>
          </a:xfrm>
          <a:prstGeom prst="rect">
            <a:avLst/>
          </a:prstGeom>
          <a:noFill/>
        </p:spPr>
        <p:txBody>
          <a:bodyPr wrap="none" lIns="0" rIns="0" tIns="0" bIns="0">
            <a:spAutoFit/>
          </a:bodyPr>
          <a:lstStyle/>
          <a:p>
            <a:r>
              <a:rPr sz="1100" b="0">
                <a:solidFill>
                  <a:srgbClr val="252423"/>
                </a:solidFill>
                <a:latin typeface="Segoe UI"/>
              </a:rPr>
              <a:t>.</a:t>
            </a:r>
          </a:p>
        </p:txBody>
      </p:sp>
      <p:sp>
        <p:nvSpPr>
          <p:cNvPr id="94" name="TextBox 93"/>
          <p:cNvSpPr txBox="1"/>
          <p:nvPr/>
        </p:nvSpPr>
        <p:spPr>
          <a:xfrm>
            <a:off x="5038725" y="4210313"/>
            <a:ext cx="2114550" cy="186689"/>
          </a:xfrm>
          <a:prstGeom prst="rect">
            <a:avLst/>
          </a:prstGeom>
          <a:noFill/>
        </p:spPr>
        <p:txBody>
          <a:bodyPr wrap="none" lIns="0" rIns="0" tIns="0" bIns="0">
            <a:spAutoFit/>
          </a:bodyPr>
          <a:lstStyle/>
          <a:p>
            <a:r>
              <a:rPr sz="1100" b="0">
                <a:solidFill>
                  <a:srgbClr val="252423"/>
                </a:solidFill>
                <a:latin typeface="Segoe UI"/>
              </a:rPr>
              <a:t>▸ 4 of 7 regions grow at or above</a:t>
            </a:r>
          </a:p>
        </p:txBody>
      </p:sp>
      <p:sp>
        <p:nvSpPr>
          <p:cNvPr id="95" name="TextBox 94"/>
          <p:cNvSpPr txBox="1"/>
          <p:nvPr/>
        </p:nvSpPr>
        <p:spPr>
          <a:xfrm>
            <a:off x="5038725" y="4377953"/>
            <a:ext cx="275927" cy="186689"/>
          </a:xfrm>
          <a:prstGeom prst="rect">
            <a:avLst/>
          </a:prstGeom>
          <a:noFill/>
        </p:spPr>
        <p:txBody>
          <a:bodyPr wrap="none" lIns="0" rIns="0" tIns="0" bIns="0">
            <a:spAutoFit/>
          </a:bodyPr>
          <a:lstStyle/>
          <a:p>
            <a:r>
              <a:rPr sz="1100" b="0">
                <a:solidFill>
                  <a:srgbClr val="252423"/>
                </a:solidFill>
                <a:latin typeface="Segoe UI"/>
              </a:rPr>
              <a:t>the</a:t>
            </a:r>
          </a:p>
        </p:txBody>
      </p:sp>
      <p:pic>
        <p:nvPicPr>
          <p:cNvPr id="96" name="Picture 95" descr="lock.png"/>
          <p:cNvPicPr>
            <a:picLocks noChangeAspect="1"/>
          </p:cNvPicPr>
          <p:nvPr/>
        </p:nvPicPr>
        <p:blipFill>
          <a:blip r:embed="rId4"/>
          <a:stretch>
            <a:fillRect/>
          </a:stretch>
        </p:blipFill>
        <p:spPr>
          <a:xfrm>
            <a:off x="5262703" y="4368174"/>
            <a:ext cx="128699" cy="187198"/>
          </a:xfrm>
          <a:prstGeom prst="rect">
            <a:avLst/>
          </a:prstGeom>
        </p:spPr>
      </p:pic>
      <p:sp>
        <p:nvSpPr>
          <p:cNvPr id="97" name="TextBox 96"/>
          <p:cNvSpPr txBox="1"/>
          <p:nvPr/>
        </p:nvSpPr>
        <p:spPr>
          <a:xfrm>
            <a:off x="5430199" y="4377953"/>
            <a:ext cx="1397505" cy="186689"/>
          </a:xfrm>
          <a:prstGeom prst="rect">
            <a:avLst/>
          </a:prstGeom>
          <a:noFill/>
        </p:spPr>
        <p:txBody>
          <a:bodyPr wrap="none" lIns="0" rIns="0" tIns="0" bIns="0">
            <a:spAutoFit/>
          </a:bodyPr>
          <a:lstStyle/>
          <a:p>
            <a:r>
              <a:rPr sz="1100" b="0">
                <a:solidFill>
                  <a:srgbClr val="252423"/>
                </a:solidFill>
                <a:latin typeface="Segoe UI"/>
              </a:rPr>
              <a:t>market pace, keeping</a:t>
            </a:r>
          </a:p>
        </p:txBody>
      </p:sp>
      <p:sp>
        <p:nvSpPr>
          <p:cNvPr id="98" name="TextBox 97"/>
          <p:cNvSpPr txBox="1"/>
          <p:nvPr/>
        </p:nvSpPr>
        <p:spPr>
          <a:xfrm>
            <a:off x="5038725" y="4545593"/>
            <a:ext cx="1084322" cy="186689"/>
          </a:xfrm>
          <a:prstGeom prst="rect">
            <a:avLst/>
          </a:prstGeom>
          <a:noFill/>
        </p:spPr>
        <p:txBody>
          <a:bodyPr wrap="none" lIns="0" rIns="0" tIns="0" bIns="0">
            <a:spAutoFit/>
          </a:bodyPr>
          <a:lstStyle/>
          <a:p>
            <a:r>
              <a:rPr sz="1100" b="0">
                <a:solidFill>
                  <a:srgbClr val="252423"/>
                </a:solidFill>
                <a:latin typeface="Segoe UI"/>
              </a:rPr>
              <a:t>share contested.</a:t>
            </a:r>
          </a:p>
        </p:txBody>
      </p:sp>
      <p:sp>
        <p:nvSpPr>
          <p:cNvPr id="99" name="TextBox 98"/>
          <p:cNvSpPr txBox="1"/>
          <p:nvPr/>
        </p:nvSpPr>
        <p:spPr>
          <a:xfrm>
            <a:off x="7419975" y="2860746"/>
            <a:ext cx="1906999" cy="186689"/>
          </a:xfrm>
          <a:prstGeom prst="rect">
            <a:avLst/>
          </a:prstGeom>
          <a:noFill/>
        </p:spPr>
        <p:txBody>
          <a:bodyPr wrap="none" lIns="0" rIns="0" tIns="0" bIns="0">
            <a:spAutoFit/>
          </a:bodyPr>
          <a:lstStyle/>
          <a:p>
            <a:r>
              <a:rPr sz="1100" b="0">
                <a:solidFill>
                  <a:srgbClr val="252423"/>
                </a:solidFill>
                <a:latin typeface="Segoe UI"/>
              </a:rPr>
              <a:t>▸ Assessed moderate to high.</a:t>
            </a:r>
          </a:p>
        </p:txBody>
      </p:sp>
      <p:sp>
        <p:nvSpPr>
          <p:cNvPr id="100" name="TextBox 99"/>
          <p:cNvSpPr txBox="1"/>
          <p:nvPr/>
        </p:nvSpPr>
        <p:spPr>
          <a:xfrm>
            <a:off x="7419975" y="3028386"/>
            <a:ext cx="1472381" cy="186689"/>
          </a:xfrm>
          <a:prstGeom prst="rect">
            <a:avLst/>
          </a:prstGeom>
          <a:noFill/>
        </p:spPr>
        <p:txBody>
          <a:bodyPr wrap="none" lIns="0" rIns="0" tIns="0" bIns="0">
            <a:spAutoFit/>
          </a:bodyPr>
          <a:lstStyle/>
          <a:p>
            <a:r>
              <a:rPr sz="1100" b="0">
                <a:solidFill>
                  <a:srgbClr val="252423"/>
                </a:solidFill>
                <a:latin typeface="Segoe UI"/>
              </a:rPr>
              <a:t>'Liquid Helium-3' loses</a:t>
            </a:r>
          </a:p>
        </p:txBody>
      </p:sp>
      <p:pic>
        <p:nvPicPr>
          <p:cNvPr id="101" name="Picture 100" descr="lock.png"/>
          <p:cNvPicPr>
            <a:picLocks noChangeAspect="1"/>
          </p:cNvPicPr>
          <p:nvPr/>
        </p:nvPicPr>
        <p:blipFill>
          <a:blip r:embed="rId4"/>
          <a:stretch>
            <a:fillRect/>
          </a:stretch>
        </p:blipFill>
        <p:spPr>
          <a:xfrm>
            <a:off x="8840408" y="3018607"/>
            <a:ext cx="128699" cy="187198"/>
          </a:xfrm>
          <a:prstGeom prst="rect">
            <a:avLst/>
          </a:prstGeom>
        </p:spPr>
      </p:pic>
      <p:sp>
        <p:nvSpPr>
          <p:cNvPr id="102" name="TextBox 101"/>
          <p:cNvSpPr txBox="1"/>
          <p:nvPr/>
        </p:nvSpPr>
        <p:spPr>
          <a:xfrm>
            <a:off x="9007903" y="3028386"/>
            <a:ext cx="308942" cy="186689"/>
          </a:xfrm>
          <a:prstGeom prst="rect">
            <a:avLst/>
          </a:prstGeom>
          <a:noFill/>
        </p:spPr>
        <p:txBody>
          <a:bodyPr wrap="none" lIns="0" rIns="0" tIns="0" bIns="0">
            <a:spAutoFit/>
          </a:bodyPr>
          <a:lstStyle/>
          <a:p>
            <a:r>
              <a:rPr sz="1100" b="0">
                <a:solidFill>
                  <a:srgbClr val="252423"/>
                </a:solidFill>
                <a:latin typeface="Segoe UI"/>
              </a:rPr>
              <a:t>BPS</a:t>
            </a:r>
          </a:p>
        </p:txBody>
      </p:sp>
      <p:sp>
        <p:nvSpPr>
          <p:cNvPr id="103" name="TextBox 102"/>
          <p:cNvSpPr txBox="1"/>
          <p:nvPr/>
        </p:nvSpPr>
        <p:spPr>
          <a:xfrm>
            <a:off x="7419975" y="3196026"/>
            <a:ext cx="1969704" cy="186689"/>
          </a:xfrm>
          <a:prstGeom prst="rect">
            <a:avLst/>
          </a:prstGeom>
          <a:noFill/>
        </p:spPr>
        <p:txBody>
          <a:bodyPr wrap="none" lIns="0" rIns="0" tIns="0" bIns="0">
            <a:spAutoFit/>
          </a:bodyPr>
          <a:lstStyle/>
          <a:p>
            <a:r>
              <a:rPr sz="1100" b="0">
                <a:solidFill>
                  <a:srgbClr val="252423"/>
                </a:solidFill>
                <a:latin typeface="Segoe UI"/>
              </a:rPr>
              <a:t>of share to 'Gaseous Helium-3'</a:t>
            </a:r>
          </a:p>
        </p:txBody>
      </p:sp>
      <p:sp>
        <p:nvSpPr>
          <p:cNvPr id="104" name="TextBox 103"/>
          <p:cNvSpPr txBox="1"/>
          <p:nvPr/>
        </p:nvSpPr>
        <p:spPr>
          <a:xfrm>
            <a:off x="7419975" y="3363666"/>
            <a:ext cx="213990"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05" name="Picture 104" descr="lock.png"/>
          <p:cNvPicPr>
            <a:picLocks noChangeAspect="1"/>
          </p:cNvPicPr>
          <p:nvPr/>
        </p:nvPicPr>
        <p:blipFill>
          <a:blip r:embed="rId4"/>
          <a:stretch>
            <a:fillRect/>
          </a:stretch>
        </p:blipFill>
        <p:spPr>
          <a:xfrm>
            <a:off x="7582016" y="3353887"/>
            <a:ext cx="128699" cy="187198"/>
          </a:xfrm>
          <a:prstGeom prst="rect">
            <a:avLst/>
          </a:prstGeom>
        </p:spPr>
      </p:pic>
      <p:sp>
        <p:nvSpPr>
          <p:cNvPr id="106" name="TextBox 105"/>
          <p:cNvSpPr txBox="1"/>
          <p:nvPr/>
        </p:nvSpPr>
        <p:spPr>
          <a:xfrm>
            <a:off x="7749512" y="3363666"/>
            <a:ext cx="1646733" cy="186689"/>
          </a:xfrm>
          <a:prstGeom prst="rect">
            <a:avLst/>
          </a:prstGeom>
          <a:noFill/>
        </p:spPr>
        <p:txBody>
          <a:bodyPr wrap="none" lIns="0" rIns="0" tIns="0" bIns="0">
            <a:spAutoFit/>
          </a:bodyPr>
          <a:lstStyle/>
          <a:p>
            <a:r>
              <a:rPr sz="1100" b="0">
                <a:solidFill>
                  <a:srgbClr val="252423"/>
                </a:solidFill>
                <a:latin typeface="Segoe UI"/>
              </a:rPr>
              <a:t>BPS) by 2036 substitution</a:t>
            </a:r>
          </a:p>
        </p:txBody>
      </p:sp>
      <p:sp>
        <p:nvSpPr>
          <p:cNvPr id="107" name="TextBox 106"/>
          <p:cNvSpPr txBox="1"/>
          <p:nvPr/>
        </p:nvSpPr>
        <p:spPr>
          <a:xfrm>
            <a:off x="7419975" y="3531306"/>
            <a:ext cx="1514673" cy="186689"/>
          </a:xfrm>
          <a:prstGeom prst="rect">
            <a:avLst/>
          </a:prstGeom>
          <a:noFill/>
        </p:spPr>
        <p:txBody>
          <a:bodyPr wrap="none" lIns="0" rIns="0" tIns="0" bIns="0">
            <a:spAutoFit/>
          </a:bodyPr>
          <a:lstStyle/>
          <a:p>
            <a:r>
              <a:rPr sz="1100" b="0">
                <a:solidFill>
                  <a:srgbClr val="252423"/>
                </a:solidFill>
                <a:latin typeface="Segoe UI"/>
              </a:rPr>
              <a:t>is visible inside the mix.</a:t>
            </a:r>
          </a:p>
        </p:txBody>
      </p:sp>
      <p:sp>
        <p:nvSpPr>
          <p:cNvPr id="108" name="TextBox 107"/>
          <p:cNvSpPr txBox="1"/>
          <p:nvPr/>
        </p:nvSpPr>
        <p:spPr>
          <a:xfrm>
            <a:off x="7419975" y="3894694"/>
            <a:ext cx="1683149" cy="179984"/>
          </a:xfrm>
          <a:prstGeom prst="rect">
            <a:avLst/>
          </a:prstGeom>
          <a:noFill/>
        </p:spPr>
        <p:txBody>
          <a:bodyPr wrap="none" lIns="0" rIns="0" tIns="0" bIns="0">
            <a:spAutoFit/>
          </a:bodyPr>
          <a:lstStyle/>
          <a:p>
            <a:r>
              <a:rPr sz="1055" b="0">
                <a:solidFill>
                  <a:srgbClr val="252423"/>
                </a:solidFill>
                <a:latin typeface="Segoe UI"/>
              </a:rPr>
              <a:t>▸ The slowest line grows at</a:t>
            </a:r>
          </a:p>
        </p:txBody>
      </p:sp>
      <p:pic>
        <p:nvPicPr>
          <p:cNvPr id="109" name="Picture 108" descr="lock.png"/>
          <p:cNvPicPr>
            <a:picLocks noChangeAspect="1"/>
          </p:cNvPicPr>
          <p:nvPr/>
        </p:nvPicPr>
        <p:blipFill>
          <a:blip r:embed="rId4"/>
          <a:stretch>
            <a:fillRect/>
          </a:stretch>
        </p:blipFill>
        <p:spPr>
          <a:xfrm>
            <a:off x="9050206" y="3885306"/>
            <a:ext cx="123551" cy="179710"/>
          </a:xfrm>
          <a:prstGeom prst="rect">
            <a:avLst/>
          </a:prstGeom>
        </p:spPr>
      </p:pic>
      <p:sp>
        <p:nvSpPr>
          <p:cNvPr id="110" name="TextBox 109"/>
          <p:cNvSpPr txBox="1"/>
          <p:nvPr/>
        </p:nvSpPr>
        <p:spPr>
          <a:xfrm>
            <a:off x="9211002" y="3894694"/>
            <a:ext cx="105275" cy="179984"/>
          </a:xfrm>
          <a:prstGeom prst="rect">
            <a:avLst/>
          </a:prstGeom>
          <a:noFill/>
        </p:spPr>
        <p:txBody>
          <a:bodyPr wrap="none" lIns="0" rIns="0" tIns="0" bIns="0">
            <a:spAutoFit/>
          </a:bodyPr>
          <a:lstStyle/>
          <a:p>
            <a:r>
              <a:rPr sz="1055" b="0">
                <a:solidFill>
                  <a:srgbClr val="252423"/>
                </a:solidFill>
                <a:latin typeface="Segoe UI"/>
              </a:rPr>
              <a:t>,</a:t>
            </a:r>
          </a:p>
        </p:txBody>
      </p:sp>
      <p:sp>
        <p:nvSpPr>
          <p:cNvPr id="111" name="TextBox 110"/>
          <p:cNvSpPr txBox="1"/>
          <p:nvPr/>
        </p:nvSpPr>
        <p:spPr>
          <a:xfrm>
            <a:off x="7419975" y="4055628"/>
            <a:ext cx="129897" cy="179984"/>
          </a:xfrm>
          <a:prstGeom prst="rect">
            <a:avLst/>
          </a:prstGeom>
          <a:noFill/>
        </p:spPr>
        <p:txBody>
          <a:bodyPr wrap="none" lIns="0" rIns="0" tIns="0" bIns="0">
            <a:spAutoFit/>
          </a:bodyPr>
          <a:lstStyle/>
          <a:p>
            <a:r>
              <a:rPr sz="1055" b="0">
                <a:solidFill>
                  <a:srgbClr val="252423"/>
                </a:solidFill>
                <a:latin typeface="Segoe UI"/>
              </a:rPr>
              <a:t>-</a:t>
            </a:r>
          </a:p>
        </p:txBody>
      </p:sp>
      <p:pic>
        <p:nvPicPr>
          <p:cNvPr id="112" name="Picture 111" descr="lock.png"/>
          <p:cNvPicPr>
            <a:picLocks noChangeAspect="1"/>
          </p:cNvPicPr>
          <p:nvPr/>
        </p:nvPicPr>
        <p:blipFill>
          <a:blip r:embed="rId4"/>
          <a:stretch>
            <a:fillRect/>
          </a:stretch>
        </p:blipFill>
        <p:spPr>
          <a:xfrm>
            <a:off x="7496953" y="4046240"/>
            <a:ext cx="123551" cy="179710"/>
          </a:xfrm>
          <a:prstGeom prst="rect">
            <a:avLst/>
          </a:prstGeom>
        </p:spPr>
      </p:pic>
      <p:sp>
        <p:nvSpPr>
          <p:cNvPr id="113" name="TextBox 112"/>
          <p:cNvSpPr txBox="1"/>
          <p:nvPr/>
        </p:nvSpPr>
        <p:spPr>
          <a:xfrm>
            <a:off x="7657749" y="4055628"/>
            <a:ext cx="1470190" cy="179984"/>
          </a:xfrm>
          <a:prstGeom prst="rect">
            <a:avLst/>
          </a:prstGeom>
          <a:noFill/>
        </p:spPr>
        <p:txBody>
          <a:bodyPr wrap="none" lIns="0" rIns="0" tIns="0" bIns="0">
            <a:spAutoFit/>
          </a:bodyPr>
          <a:lstStyle/>
          <a:p>
            <a:r>
              <a:rPr sz="1055" b="0">
                <a:solidFill>
                  <a:srgbClr val="252423"/>
                </a:solidFill>
                <a:latin typeface="Segoe UI"/>
              </a:rPr>
              <a:t>BPS against the market.</a:t>
            </a:r>
          </a:p>
        </p:txBody>
      </p:sp>
      <p:sp>
        <p:nvSpPr>
          <p:cNvPr id="114" name="TextBox 113"/>
          <p:cNvSpPr txBox="1"/>
          <p:nvPr/>
        </p:nvSpPr>
        <p:spPr>
          <a:xfrm>
            <a:off x="7419975" y="4392850"/>
            <a:ext cx="1375459" cy="186689"/>
          </a:xfrm>
          <a:prstGeom prst="rect">
            <a:avLst/>
          </a:prstGeom>
          <a:noFill/>
        </p:spPr>
        <p:txBody>
          <a:bodyPr wrap="none" lIns="0" rIns="0" tIns="0" bIns="0">
            <a:spAutoFit/>
          </a:bodyPr>
          <a:lstStyle/>
          <a:p>
            <a:r>
              <a:rPr sz="1100" b="0">
                <a:solidFill>
                  <a:srgbClr val="252423"/>
                </a:solidFill>
                <a:latin typeface="Segoe UI"/>
              </a:rPr>
              <a:t>▸ Realisation moving</a:t>
            </a:r>
          </a:p>
        </p:txBody>
      </p:sp>
      <p:pic>
        <p:nvPicPr>
          <p:cNvPr id="115" name="Picture 114" descr="lock.png"/>
          <p:cNvPicPr>
            <a:picLocks noChangeAspect="1"/>
          </p:cNvPicPr>
          <p:nvPr/>
        </p:nvPicPr>
        <p:blipFill>
          <a:blip r:embed="rId4"/>
          <a:stretch>
            <a:fillRect/>
          </a:stretch>
        </p:blipFill>
        <p:spPr>
          <a:xfrm>
            <a:off x="8743486" y="4383071"/>
            <a:ext cx="128699" cy="187198"/>
          </a:xfrm>
          <a:prstGeom prst="rect">
            <a:avLst/>
          </a:prstGeom>
        </p:spPr>
      </p:pic>
      <p:sp>
        <p:nvSpPr>
          <p:cNvPr id="116" name="TextBox 115"/>
          <p:cNvSpPr txBox="1"/>
          <p:nvPr/>
        </p:nvSpPr>
        <p:spPr>
          <a:xfrm>
            <a:off x="8910981" y="4392850"/>
            <a:ext cx="446178" cy="186689"/>
          </a:xfrm>
          <a:prstGeom prst="rect">
            <a:avLst/>
          </a:prstGeom>
          <a:noFill/>
        </p:spPr>
        <p:txBody>
          <a:bodyPr wrap="none" lIns="0" rIns="0" tIns="0" bIns="0">
            <a:spAutoFit/>
          </a:bodyPr>
          <a:lstStyle/>
          <a:p>
            <a:r>
              <a:rPr sz="1100" b="0">
                <a:solidFill>
                  <a:srgbClr val="252423"/>
                </a:solidFill>
                <a:latin typeface="Segoe UI"/>
              </a:rPr>
              <a:t>a year</a:t>
            </a:r>
          </a:p>
        </p:txBody>
      </p:sp>
      <p:sp>
        <p:nvSpPr>
          <p:cNvPr id="117" name="TextBox 116"/>
          <p:cNvSpPr txBox="1"/>
          <p:nvPr/>
        </p:nvSpPr>
        <p:spPr>
          <a:xfrm>
            <a:off x="7419975" y="4560490"/>
            <a:ext cx="2062815" cy="186689"/>
          </a:xfrm>
          <a:prstGeom prst="rect">
            <a:avLst/>
          </a:prstGeom>
          <a:noFill/>
        </p:spPr>
        <p:txBody>
          <a:bodyPr wrap="none" lIns="0" rIns="0" tIns="0" bIns="0">
            <a:spAutoFit/>
          </a:bodyPr>
          <a:lstStyle/>
          <a:p>
            <a:r>
              <a:rPr sz="1100" b="0">
                <a:solidFill>
                  <a:srgbClr val="252423"/>
                </a:solidFill>
                <a:latin typeface="Segoe UI"/>
              </a:rPr>
              <a:t>widens the price gap substitutes</a:t>
            </a:r>
          </a:p>
        </p:txBody>
      </p:sp>
      <p:sp>
        <p:nvSpPr>
          <p:cNvPr id="118" name="TextBox 117"/>
          <p:cNvSpPr txBox="1"/>
          <p:nvPr/>
        </p:nvSpPr>
        <p:spPr>
          <a:xfrm>
            <a:off x="7419975" y="4728130"/>
            <a:ext cx="763513" cy="186689"/>
          </a:xfrm>
          <a:prstGeom prst="rect">
            <a:avLst/>
          </a:prstGeom>
          <a:noFill/>
        </p:spPr>
        <p:txBody>
          <a:bodyPr wrap="none" lIns="0" rIns="0" tIns="0" bIns="0">
            <a:spAutoFit/>
          </a:bodyPr>
          <a:lstStyle/>
          <a:p>
            <a:r>
              <a:rPr sz="1100" b="0">
                <a:solidFill>
                  <a:srgbClr val="252423"/>
                </a:solidFill>
                <a:latin typeface="Segoe UI"/>
              </a:rPr>
              <a:t>must close.</a:t>
            </a:r>
          </a:p>
        </p:txBody>
      </p:sp>
      <p:sp>
        <p:nvSpPr>
          <p:cNvPr id="119" name="TextBox 118"/>
          <p:cNvSpPr txBox="1"/>
          <p:nvPr/>
        </p:nvSpPr>
        <p:spPr>
          <a:xfrm>
            <a:off x="9801225" y="2848734"/>
            <a:ext cx="2114550" cy="186689"/>
          </a:xfrm>
          <a:prstGeom prst="rect">
            <a:avLst/>
          </a:prstGeom>
          <a:noFill/>
        </p:spPr>
        <p:txBody>
          <a:bodyPr wrap="none" lIns="0" rIns="0" tIns="0" bIns="0">
            <a:spAutoFit/>
          </a:bodyPr>
          <a:lstStyle/>
          <a:p>
            <a:r>
              <a:rPr sz="1100" b="0">
                <a:solidFill>
                  <a:srgbClr val="252423"/>
                </a:solidFill>
                <a:latin typeface="Segoe UI"/>
              </a:rPr>
              <a:t>▸ Assessed moderate to high. The</a:t>
            </a:r>
          </a:p>
        </p:txBody>
      </p:sp>
      <p:sp>
        <p:nvSpPr>
          <p:cNvPr id="120" name="TextBox 119"/>
          <p:cNvSpPr txBox="1"/>
          <p:nvPr/>
        </p:nvSpPr>
        <p:spPr>
          <a:xfrm>
            <a:off x="9801225" y="3016374"/>
            <a:ext cx="1074491" cy="186689"/>
          </a:xfrm>
          <a:prstGeom prst="rect">
            <a:avLst/>
          </a:prstGeom>
          <a:noFill/>
        </p:spPr>
        <p:txBody>
          <a:bodyPr wrap="none" lIns="0" rIns="0" tIns="0" bIns="0">
            <a:spAutoFit/>
          </a:bodyPr>
          <a:lstStyle/>
          <a:p>
            <a:r>
              <a:rPr sz="1100" b="0">
                <a:solidFill>
                  <a:srgbClr val="252423"/>
                </a:solidFill>
                <a:latin typeface="Segoe UI"/>
              </a:rPr>
              <a:t>market grows at</a:t>
            </a:r>
          </a:p>
        </p:txBody>
      </p:sp>
      <p:pic>
        <p:nvPicPr>
          <p:cNvPr id="121" name="Picture 120" descr="lock.png"/>
          <p:cNvPicPr>
            <a:picLocks noChangeAspect="1"/>
          </p:cNvPicPr>
          <p:nvPr/>
        </p:nvPicPr>
        <p:blipFill>
          <a:blip r:embed="rId4"/>
          <a:stretch>
            <a:fillRect/>
          </a:stretch>
        </p:blipFill>
        <p:spPr>
          <a:xfrm>
            <a:off x="10823767" y="3006595"/>
            <a:ext cx="128699" cy="187198"/>
          </a:xfrm>
          <a:prstGeom prst="rect">
            <a:avLst/>
          </a:prstGeom>
        </p:spPr>
      </p:pic>
      <p:sp>
        <p:nvSpPr>
          <p:cNvPr id="122" name="TextBox 121"/>
          <p:cNvSpPr txBox="1"/>
          <p:nvPr/>
        </p:nvSpPr>
        <p:spPr>
          <a:xfrm>
            <a:off x="10991263" y="3016374"/>
            <a:ext cx="702910" cy="186689"/>
          </a:xfrm>
          <a:prstGeom prst="rect">
            <a:avLst/>
          </a:prstGeom>
          <a:noFill/>
        </p:spPr>
        <p:txBody>
          <a:bodyPr wrap="none" lIns="0" rIns="0" tIns="0" bIns="0">
            <a:spAutoFit/>
          </a:bodyPr>
          <a:lstStyle/>
          <a:p>
            <a:r>
              <a:rPr sz="1100" b="0">
                <a:solidFill>
                  <a:srgbClr val="252423"/>
                </a:solidFill>
                <a:latin typeface="Segoe UI"/>
              </a:rPr>
              <a:t>CAGR and</a:t>
            </a:r>
          </a:p>
        </p:txBody>
      </p:sp>
      <p:sp>
        <p:nvSpPr>
          <p:cNvPr id="123" name="TextBox 122"/>
          <p:cNvSpPr txBox="1"/>
          <p:nvPr/>
        </p:nvSpPr>
        <p:spPr>
          <a:xfrm>
            <a:off x="9801225" y="3184014"/>
            <a:ext cx="371425" cy="186689"/>
          </a:xfrm>
          <a:prstGeom prst="rect">
            <a:avLst/>
          </a:prstGeom>
          <a:noFill/>
        </p:spPr>
        <p:txBody>
          <a:bodyPr wrap="none" lIns="0" rIns="0" tIns="0" bIns="0">
            <a:spAutoFit/>
          </a:bodyPr>
          <a:lstStyle/>
          <a:p>
            <a:r>
              <a:rPr sz="1100" b="0">
                <a:solidFill>
                  <a:srgbClr val="252423"/>
                </a:solidFill>
                <a:latin typeface="Segoe UI"/>
              </a:rPr>
              <a:t>adds</a:t>
            </a:r>
          </a:p>
        </p:txBody>
      </p:sp>
      <p:pic>
        <p:nvPicPr>
          <p:cNvPr id="124" name="Picture 123" descr="lock.png"/>
          <p:cNvPicPr>
            <a:picLocks noChangeAspect="1"/>
          </p:cNvPicPr>
          <p:nvPr/>
        </p:nvPicPr>
        <p:blipFill>
          <a:blip r:embed="rId4"/>
          <a:stretch>
            <a:fillRect/>
          </a:stretch>
        </p:blipFill>
        <p:spPr>
          <a:xfrm>
            <a:off x="10120701" y="3174235"/>
            <a:ext cx="128699" cy="187198"/>
          </a:xfrm>
          <a:prstGeom prst="rect">
            <a:avLst/>
          </a:prstGeom>
        </p:spPr>
      </p:pic>
      <p:sp>
        <p:nvSpPr>
          <p:cNvPr id="125" name="TextBox 124"/>
          <p:cNvSpPr txBox="1"/>
          <p:nvPr/>
        </p:nvSpPr>
        <p:spPr>
          <a:xfrm>
            <a:off x="10288197" y="3184014"/>
            <a:ext cx="1122312" cy="186689"/>
          </a:xfrm>
          <a:prstGeom prst="rect">
            <a:avLst/>
          </a:prstGeom>
          <a:noFill/>
        </p:spPr>
        <p:txBody>
          <a:bodyPr wrap="none" lIns="0" rIns="0" tIns="0" bIns="0">
            <a:spAutoFit/>
          </a:bodyPr>
          <a:lstStyle/>
          <a:p>
            <a:r>
              <a:rPr sz="1100" b="0">
                <a:solidFill>
                  <a:srgbClr val="252423"/>
                </a:solidFill>
                <a:latin typeface="Segoe UI"/>
              </a:rPr>
              <a:t>US$ Mn by 2036,</a:t>
            </a:r>
          </a:p>
        </p:txBody>
      </p:sp>
      <p:sp>
        <p:nvSpPr>
          <p:cNvPr id="126" name="TextBox 125"/>
          <p:cNvSpPr txBox="1"/>
          <p:nvPr/>
        </p:nvSpPr>
        <p:spPr>
          <a:xfrm>
            <a:off x="9801225" y="3351654"/>
            <a:ext cx="1054053" cy="186689"/>
          </a:xfrm>
          <a:prstGeom prst="rect">
            <a:avLst/>
          </a:prstGeom>
          <a:noFill/>
        </p:spPr>
        <p:txBody>
          <a:bodyPr wrap="none" lIns="0" rIns="0" tIns="0" bIns="0">
            <a:spAutoFit/>
          </a:bodyPr>
          <a:lstStyle/>
          <a:p>
            <a:r>
              <a:rPr sz="1100" b="0">
                <a:solidFill>
                  <a:srgbClr val="252423"/>
                </a:solidFill>
                <a:latin typeface="Segoe UI"/>
              </a:rPr>
              <a:t>attracting entry.</a:t>
            </a:r>
          </a:p>
        </p:txBody>
      </p:sp>
      <p:sp>
        <p:nvSpPr>
          <p:cNvPr id="127" name="TextBox 126"/>
          <p:cNvSpPr txBox="1"/>
          <p:nvPr/>
        </p:nvSpPr>
        <p:spPr>
          <a:xfrm>
            <a:off x="9801225" y="3708336"/>
            <a:ext cx="2114550" cy="186689"/>
          </a:xfrm>
          <a:prstGeom prst="rect">
            <a:avLst/>
          </a:prstGeom>
          <a:noFill/>
        </p:spPr>
        <p:txBody>
          <a:bodyPr wrap="none" lIns="0" rIns="0" tIns="0" bIns="0">
            <a:spAutoFit/>
          </a:bodyPr>
          <a:lstStyle/>
          <a:p>
            <a:r>
              <a:rPr sz="1100" b="0">
                <a:solidFill>
                  <a:srgbClr val="252423"/>
                </a:solidFill>
                <a:latin typeface="Segoe UI"/>
              </a:rPr>
              <a:t>▸ Demand spreads over 7 regions</a:t>
            </a:r>
          </a:p>
        </p:txBody>
      </p:sp>
      <p:sp>
        <p:nvSpPr>
          <p:cNvPr id="128" name="TextBox 127"/>
          <p:cNvSpPr txBox="1"/>
          <p:nvPr/>
        </p:nvSpPr>
        <p:spPr>
          <a:xfrm>
            <a:off x="9801225" y="3875976"/>
            <a:ext cx="1622164" cy="186689"/>
          </a:xfrm>
          <a:prstGeom prst="rect">
            <a:avLst/>
          </a:prstGeom>
          <a:noFill/>
        </p:spPr>
        <p:txBody>
          <a:bodyPr wrap="none" lIns="0" rIns="0" tIns="0" bIns="0">
            <a:spAutoFit/>
          </a:bodyPr>
          <a:lstStyle/>
          <a:p>
            <a:r>
              <a:rPr sz="1100" b="0">
                <a:solidFill>
                  <a:srgbClr val="252423"/>
                </a:solidFill>
                <a:latin typeface="Segoe UI"/>
              </a:rPr>
              <a:t>with no single one above</a:t>
            </a:r>
          </a:p>
        </p:txBody>
      </p:sp>
      <p:pic>
        <p:nvPicPr>
          <p:cNvPr id="129" name="Picture 128" descr="lock.png"/>
          <p:cNvPicPr>
            <a:picLocks noChangeAspect="1"/>
          </p:cNvPicPr>
          <p:nvPr/>
        </p:nvPicPr>
        <p:blipFill>
          <a:blip r:embed="rId4"/>
          <a:stretch>
            <a:fillRect/>
          </a:stretch>
        </p:blipFill>
        <p:spPr>
          <a:xfrm>
            <a:off x="11371440" y="3866197"/>
            <a:ext cx="128699" cy="187198"/>
          </a:xfrm>
          <a:prstGeom prst="rect">
            <a:avLst/>
          </a:prstGeom>
        </p:spPr>
      </p:pic>
      <p:sp>
        <p:nvSpPr>
          <p:cNvPr id="130" name="TextBox 129"/>
          <p:cNvSpPr txBox="1"/>
          <p:nvPr/>
        </p:nvSpPr>
        <p:spPr>
          <a:xfrm>
            <a:off x="11538936" y="3875976"/>
            <a:ext cx="285750" cy="186689"/>
          </a:xfrm>
          <a:prstGeom prst="rect">
            <a:avLst/>
          </a:prstGeom>
          <a:noFill/>
        </p:spPr>
        <p:txBody>
          <a:bodyPr wrap="none" lIns="0" rIns="0" tIns="0" bIns="0">
            <a:spAutoFit/>
          </a:bodyPr>
          <a:lstStyle/>
          <a:p>
            <a:r>
              <a:rPr sz="1100" b="0">
                <a:solidFill>
                  <a:srgbClr val="252423"/>
                </a:solidFill>
                <a:latin typeface="Segoe UI"/>
              </a:rPr>
              <a:t>, so</a:t>
            </a:r>
          </a:p>
        </p:txBody>
      </p:sp>
      <p:sp>
        <p:nvSpPr>
          <p:cNvPr id="131" name="TextBox 130"/>
          <p:cNvSpPr txBox="1"/>
          <p:nvPr/>
        </p:nvSpPr>
        <p:spPr>
          <a:xfrm>
            <a:off x="9801225" y="4043616"/>
            <a:ext cx="1604228" cy="186689"/>
          </a:xfrm>
          <a:prstGeom prst="rect">
            <a:avLst/>
          </a:prstGeom>
          <a:noFill/>
        </p:spPr>
        <p:txBody>
          <a:bodyPr wrap="none" lIns="0" rIns="0" tIns="0" bIns="0">
            <a:spAutoFit/>
          </a:bodyPr>
          <a:lstStyle/>
          <a:p>
            <a:r>
              <a:rPr sz="1100" b="0">
                <a:solidFill>
                  <a:srgbClr val="252423"/>
                </a:solidFill>
                <a:latin typeface="Segoe UI"/>
              </a:rPr>
              <a:t>regional entry is feasible.</a:t>
            </a:r>
          </a:p>
        </p:txBody>
      </p:sp>
      <p:sp>
        <p:nvSpPr>
          <p:cNvPr id="132" name="TextBox 131"/>
          <p:cNvSpPr txBox="1"/>
          <p:nvPr/>
        </p:nvSpPr>
        <p:spPr>
          <a:xfrm>
            <a:off x="9801225" y="4400299"/>
            <a:ext cx="1790317" cy="186689"/>
          </a:xfrm>
          <a:prstGeom prst="rect">
            <a:avLst/>
          </a:prstGeom>
          <a:noFill/>
        </p:spPr>
        <p:txBody>
          <a:bodyPr wrap="none" lIns="0" rIns="0" tIns="0" bIns="0">
            <a:spAutoFit/>
          </a:bodyPr>
          <a:lstStyle/>
          <a:p>
            <a:r>
              <a:rPr sz="1100" b="0">
                <a:solidFill>
                  <a:srgbClr val="252423"/>
                </a:solidFill>
                <a:latin typeface="Segoe UI"/>
              </a:rPr>
              <a:t>▸ Incumbent scale in 'North</a:t>
            </a:r>
          </a:p>
        </p:txBody>
      </p:sp>
      <p:sp>
        <p:nvSpPr>
          <p:cNvPr id="133" name="TextBox 132"/>
          <p:cNvSpPr txBox="1"/>
          <p:nvPr/>
        </p:nvSpPr>
        <p:spPr>
          <a:xfrm>
            <a:off x="9801225" y="4567939"/>
            <a:ext cx="2112218" cy="186689"/>
          </a:xfrm>
          <a:prstGeom prst="rect">
            <a:avLst/>
          </a:prstGeom>
          <a:noFill/>
        </p:spPr>
        <p:txBody>
          <a:bodyPr wrap="none" lIns="0" rIns="0" tIns="0" bIns="0">
            <a:spAutoFit/>
          </a:bodyPr>
          <a:lstStyle/>
          <a:p>
            <a:r>
              <a:rPr sz="1100" b="0">
                <a:solidFill>
                  <a:srgbClr val="252423"/>
                </a:solidFill>
                <a:latin typeface="Segoe UI"/>
              </a:rPr>
              <a:t>America' and 'Gaseous Helium-3'</a:t>
            </a:r>
          </a:p>
        </p:txBody>
      </p:sp>
      <p:sp>
        <p:nvSpPr>
          <p:cNvPr id="134" name="TextBox 133"/>
          <p:cNvSpPr txBox="1"/>
          <p:nvPr/>
        </p:nvSpPr>
        <p:spPr>
          <a:xfrm>
            <a:off x="9801225" y="4735579"/>
            <a:ext cx="118491"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135" name="Picture 134" descr="lock.png"/>
          <p:cNvPicPr>
            <a:picLocks noChangeAspect="1"/>
          </p:cNvPicPr>
          <p:nvPr/>
        </p:nvPicPr>
        <p:blipFill>
          <a:blip r:embed="rId4"/>
          <a:stretch>
            <a:fillRect/>
          </a:stretch>
        </p:blipFill>
        <p:spPr>
          <a:xfrm>
            <a:off x="9867768" y="4725800"/>
            <a:ext cx="128699" cy="187198"/>
          </a:xfrm>
          <a:prstGeom prst="rect">
            <a:avLst/>
          </a:prstGeom>
        </p:spPr>
      </p:pic>
      <p:sp>
        <p:nvSpPr>
          <p:cNvPr id="136" name="TextBox 135"/>
          <p:cNvSpPr txBox="1"/>
          <p:nvPr/>
        </p:nvSpPr>
        <p:spPr>
          <a:xfrm>
            <a:off x="10035264" y="4735579"/>
            <a:ext cx="1578452" cy="186689"/>
          </a:xfrm>
          <a:prstGeom prst="rect">
            <a:avLst/>
          </a:prstGeom>
          <a:noFill/>
        </p:spPr>
        <p:txBody>
          <a:bodyPr wrap="none" lIns="0" rIns="0" tIns="0" bIns="0">
            <a:spAutoFit/>
          </a:bodyPr>
          <a:lstStyle/>
          <a:p>
            <a:r>
              <a:rPr sz="1100" b="0">
                <a:solidFill>
                  <a:srgbClr val="252423"/>
                </a:solidFill>
                <a:latin typeface="Segoe UI"/>
              </a:rPr>
              <a:t>of segment) remains the</a:t>
            </a:r>
          </a:p>
        </p:txBody>
      </p:sp>
      <p:sp>
        <p:nvSpPr>
          <p:cNvPr id="137" name="TextBox 136"/>
          <p:cNvSpPr txBox="1"/>
          <p:nvPr/>
        </p:nvSpPr>
        <p:spPr>
          <a:xfrm>
            <a:off x="9801225" y="4903219"/>
            <a:ext cx="1079782" cy="186689"/>
          </a:xfrm>
          <a:prstGeom prst="rect">
            <a:avLst/>
          </a:prstGeom>
          <a:noFill/>
        </p:spPr>
        <p:txBody>
          <a:bodyPr wrap="none" lIns="0" rIns="0" tIns="0" bIns="0">
            <a:spAutoFit/>
          </a:bodyPr>
          <a:lstStyle/>
          <a:p>
            <a:r>
              <a:rPr sz="1100" b="0">
                <a:solidFill>
                  <a:srgbClr val="252423"/>
                </a:solidFill>
                <a:latin typeface="Segoe UI"/>
              </a:rPr>
              <a:t>principal barrier.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003F56"/>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03F56"/>
              </a:gs>
              <a:gs pos="100000">
                <a:srgbClr val="0068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5692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ctmr_logo.png"/>
          <p:cNvPicPr>
            <a:picLocks noChangeAspect="1"/>
          </p:cNvPicPr>
          <p:nvPr/>
        </p:nvPicPr>
        <p:blipFill>
          <a:blip r:embed="rId2"/>
          <a:stretch>
            <a:fillRect/>
          </a:stretch>
        </p:blipFill>
        <p:spPr>
          <a:xfrm>
            <a:off x="411480" y="274320"/>
            <a:ext cx="1307592" cy="416821"/>
          </a:xfrm>
          <a:prstGeom prst="rect">
            <a:avLst/>
          </a:prstGeom>
        </p:spPr>
      </p:pic>
      <p:sp>
        <p:nvSpPr>
          <p:cNvPr id="5" name="TextBox 4"/>
          <p:cNvSpPr txBox="1"/>
          <p:nvPr/>
        </p:nvSpPr>
        <p:spPr>
          <a:xfrm>
            <a:off x="914400" y="2771775"/>
            <a:ext cx="7239000" cy="247650"/>
          </a:xfrm>
          <a:prstGeom prst="rect">
            <a:avLst/>
          </a:prstGeom>
          <a:noFill/>
        </p:spPr>
        <p:txBody>
          <a:bodyPr wrap="none" lIns="0" tIns="0">
            <a:spAutoFit/>
          </a:bodyPr>
          <a:lstStyle/>
          <a:p>
            <a:r>
              <a:rPr sz="1400" b="0">
                <a:solidFill>
                  <a:srgbClr val="9FDDF5"/>
                </a:solidFill>
                <a:latin typeface="Calibri"/>
              </a:rPr>
              <a:t>Helium-3 Market</a:t>
            </a:r>
          </a:p>
        </p:txBody>
      </p:sp>
      <p:sp>
        <p:nvSpPr>
          <p:cNvPr id="6" name="FMI Breaker Title"/>
          <p:cNvSpPr txBox="1"/>
          <p:nvPr/>
        </p:nvSpPr>
        <p:spPr>
          <a:xfrm>
            <a:off x="914400" y="3076575"/>
            <a:ext cx="7239000" cy="9715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2386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Competitive Landscape</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Market Share by Leading Players</a:t>
            </a:r>
          </a:p>
          <a:p>
            <a:pPr marL="342900" indent="-323850">
              <a:lnSpc>
                <a:spcPct val="100000"/>
              </a:lnSpc>
              <a:spcAft>
                <a:spcPts val="800"/>
              </a:spcAft>
            </a:pPr>
            <a:r>
              <a:rPr sz="2000" b="0">
                <a:solidFill>
                  <a:srgbClr val="F2B739"/>
                </a:solidFill>
                <a:latin typeface="Calibri"/>
              </a:rPr>
              <a:t>➤	</a:t>
            </a:r>
            <a:r>
              <a:rPr sz="2000" b="0">
                <a:solidFill>
                  <a:srgbClr val="F2B739"/>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0526E"/>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Competitive Landscape at a Glance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Market concentration, segment leadership and the moves that will shift share, 2026–2036, in one page</a:t>
            </a:r>
          </a:p>
        </p:txBody>
      </p:sp>
      <p:cxnSp>
        <p:nvCxnSpPr>
          <p:cNvPr id="8" name="Connector 7"/>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3 share, 2026</a:t>
            </a:r>
          </a:p>
        </p:txBody>
      </p:sp>
      <p:sp>
        <p:nvSpPr>
          <p:cNvPr id="10" name="TextBox 9"/>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Segoe UI"/>
              </a:rPr>
              <a:t> </a:t>
            </a:r>
          </a:p>
        </p:txBody>
      </p:sp>
      <p:cxnSp>
        <p:nvCxnSpPr>
          <p:cNvPr id="11" name="Connector 10"/>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5 share</a:t>
            </a:r>
          </a:p>
        </p:txBody>
      </p:sp>
      <p:sp>
        <p:nvSpPr>
          <p:cNvPr id="13" name="TextBox 12"/>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14" name="Connector 13"/>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Top 3 product types</a:t>
            </a:r>
          </a:p>
        </p:txBody>
      </p:sp>
      <p:sp>
        <p:nvSpPr>
          <p:cNvPr id="16" name="TextBox 15"/>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17" name="Connector 16"/>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Largest end use</a:t>
            </a:r>
          </a:p>
        </p:txBody>
      </p:sp>
      <p:sp>
        <p:nvSpPr>
          <p:cNvPr id="19" name="TextBox 18"/>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r>
          </a:p>
        </p:txBody>
      </p:sp>
      <p:cxnSp>
        <p:nvCxnSpPr>
          <p:cNvPr id="20" name="Connector 19"/>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Named competitors</a:t>
            </a:r>
          </a:p>
        </p:txBody>
      </p:sp>
      <p:sp>
        <p:nvSpPr>
          <p:cNvPr id="22" name="TextBox 21"/>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10</a:t>
            </a:r>
          </a:p>
        </p:txBody>
      </p:sp>
      <p:cxnSp>
        <p:nvCxnSpPr>
          <p:cNvPr id="23" name="Connector 22"/>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Moves tracked</a:t>
            </a:r>
          </a:p>
        </p:txBody>
      </p:sp>
      <p:sp>
        <p:nvSpPr>
          <p:cNvPr id="25" name="TextBox 24"/>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50</a:t>
            </a:r>
          </a:p>
        </p:txBody>
      </p:sp>
      <p:cxnSp>
        <p:nvCxnSpPr>
          <p:cNvPr id="26" name="Connector 25"/>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Largest player</a:t>
            </a:r>
          </a:p>
        </p:txBody>
      </p:sp>
      <p:sp>
        <p:nvSpPr>
          <p:cNvPr id="28" name="TextBox 27"/>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Air Liquide</a:t>
            </a:r>
          </a:p>
        </p:txBody>
      </p:sp>
      <p:cxnSp>
        <p:nvCxnSpPr>
          <p:cNvPr id="29" name="Connector 28"/>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sp>
        <p:nvSpPr>
          <p:cNvPr id="31" name="TextBox 30"/>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Segoe UI"/>
              </a:rPr>
              <a:t> </a:t>
            </a:r>
          </a:p>
        </p:txBody>
      </p:sp>
      <p:cxnSp>
        <p:nvCxnSpPr>
          <p:cNvPr id="32" name="Connector 31"/>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35" name="TextBox 34"/>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Leadership is concentrated in value, spread in capability</a:t>
            </a:r>
          </a:p>
        </p:txBody>
      </p:sp>
      <p:sp>
        <p:nvSpPr>
          <p:cNvPr id="36" name="TextBox 35"/>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37" name="Rectangle 36"/>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9" name="TextBox 38"/>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The tier structure is steep</a:t>
            </a:r>
          </a:p>
        </p:txBody>
      </p:sp>
      <p:sp>
        <p:nvSpPr>
          <p:cNvPr id="40" name="TextBox 39"/>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41" name="Rectangle 40"/>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Segoe UI"/>
              </a:rPr>
              <a:t>3</a:t>
            </a:r>
          </a:p>
        </p:txBody>
      </p:sp>
      <p:sp>
        <p:nvSpPr>
          <p:cNvPr id="43" name="TextBox 42"/>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Growth is shifting inside the product mix</a:t>
            </a:r>
          </a:p>
        </p:txBody>
      </p:sp>
      <p:sp>
        <p:nvSpPr>
          <p:cNvPr id="44" name="TextBox 43"/>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45" name="Rectangle 44"/>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Segoe UI"/>
              </a:rPr>
              <a:t>4</a:t>
            </a:r>
          </a:p>
        </p:txBody>
      </p:sp>
      <p:sp>
        <p:nvSpPr>
          <p:cNvPr id="47" name="TextBox 46"/>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Reach divides the field</a:t>
            </a:r>
          </a:p>
        </p:txBody>
      </p:sp>
      <p:sp>
        <p:nvSpPr>
          <p:cNvPr id="48" name="TextBox 47"/>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4 players compete globally, 2 regionally and 4 in one market or niche.</a:t>
            </a:r>
          </a:p>
        </p:txBody>
      </p:sp>
      <p:sp>
        <p:nvSpPr>
          <p:cNvPr id="49" name="Rectangle 48"/>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Segoe UI"/>
              </a:rPr>
              <a:t>5</a:t>
            </a:r>
          </a:p>
        </p:txBody>
      </p:sp>
      <p:sp>
        <p:nvSpPr>
          <p:cNvPr id="51" name="TextBox 50"/>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Consolidation is an active lever</a:t>
            </a:r>
          </a:p>
        </p:txBody>
      </p:sp>
      <p:sp>
        <p:nvSpPr>
          <p:cNvPr id="52" name="TextBox 51"/>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is an active strategy at 5 of 10 named players; the independent target list is shrinking.</a:t>
            </a:r>
          </a:p>
        </p:txBody>
      </p:sp>
      <p:sp>
        <p:nvSpPr>
          <p:cNvPr id="53" name="Rectangle 52"/>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Segoe UI"/>
              </a:rPr>
              <a:t>6</a:t>
            </a:r>
          </a:p>
        </p:txBody>
      </p:sp>
      <p:sp>
        <p:nvSpPr>
          <p:cNvPr id="55" name="TextBox 54"/>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Segoe UI"/>
              </a:rPr>
              <a:t>Success factors, in order</a:t>
            </a:r>
          </a:p>
        </p:txBody>
      </p:sp>
      <p:sp>
        <p:nvSpPr>
          <p:cNvPr id="56" name="TextBox 55"/>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1 segment breadth, 2 scale and share, 3 geographic reach, 4 innovation pipeline, 5 strategic momentum.  Ranking leads: Linde, Air Liquide, Chemgas.</a:t>
            </a:r>
          </a:p>
        </p:txBody>
      </p:sp>
      <p:cxnSp>
        <p:nvCxnSpPr>
          <p:cNvPr id="57" name="Connector 56"/>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Segoe UI"/>
              </a:rPr>
              <a:t>HOW THIS SECTION IS BUILT</a:t>
            </a:r>
          </a:p>
        </p:txBody>
      </p:sp>
      <p:sp>
        <p:nvSpPr>
          <p:cNvPr id="59" name="TextBox 58"/>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323975" cy="159867"/>
          </a:xfrm>
          <a:prstGeom prst="rect">
            <a:avLst/>
          </a:prstGeom>
          <a:noFill/>
        </p:spPr>
        <p:txBody>
          <a:bodyPr wrap="none" lIns="0" rIns="0" tIns="0" bIns="0">
            <a:spAutoFit/>
          </a:bodyPr>
          <a:lstStyle/>
          <a:p>
            <a:r>
              <a:rPr sz="923" b="1">
                <a:solidFill>
                  <a:srgbClr val="0F2D52"/>
                </a:solidFill>
                <a:latin typeface="Segoe UI"/>
              </a:rPr>
              <a:t>Medical and Biomedical</a:t>
            </a:r>
          </a:p>
        </p:txBody>
      </p:sp>
      <p:sp>
        <p:nvSpPr>
          <p:cNvPr id="66" name="TextBox 65"/>
          <p:cNvSpPr txBox="1"/>
          <p:nvPr/>
        </p:nvSpPr>
        <p:spPr>
          <a:xfrm>
            <a:off x="4705350" y="1445742"/>
            <a:ext cx="565761" cy="159867"/>
          </a:xfrm>
          <a:prstGeom prst="rect">
            <a:avLst/>
          </a:prstGeom>
          <a:noFill/>
        </p:spPr>
        <p:txBody>
          <a:bodyPr wrap="none" lIns="0" rIns="0" tIns="0" bIns="0">
            <a:spAutoFit/>
          </a:bodyPr>
          <a:lstStyle/>
          <a:p>
            <a:r>
              <a:rPr sz="923" b="1">
                <a:solidFill>
                  <a:srgbClr val="0F2D52"/>
                </a:solidFill>
                <a:latin typeface="Segoe UI"/>
              </a:rPr>
              <a:t>Imaging,</a:t>
            </a:r>
          </a:p>
        </p:txBody>
      </p:sp>
      <p:pic>
        <p:nvPicPr>
          <p:cNvPr id="67" name="Picture 66" descr="lock.png"/>
          <p:cNvPicPr>
            <a:picLocks noChangeAspect="1"/>
          </p:cNvPicPr>
          <p:nvPr/>
        </p:nvPicPr>
        <p:blipFill>
          <a:blip r:embed="rId4"/>
          <a:stretch>
            <a:fillRect/>
          </a:stretch>
        </p:blipFill>
        <p:spPr>
          <a:xfrm>
            <a:off x="5215282" y="1437528"/>
            <a:ext cx="108107" cy="157246"/>
          </a:xfrm>
          <a:prstGeom prst="rect">
            <a:avLst/>
          </a:prstGeom>
        </p:spPr>
      </p:pic>
      <p:sp>
        <p:nvSpPr>
          <p:cNvPr id="68" name="TextBox 67"/>
          <p:cNvSpPr txBox="1"/>
          <p:nvPr/>
        </p:nvSpPr>
        <p:spPr>
          <a:xfrm>
            <a:off x="523875" y="2124075"/>
            <a:ext cx="1226222" cy="186689"/>
          </a:xfrm>
          <a:prstGeom prst="rect">
            <a:avLst/>
          </a:prstGeom>
          <a:noFill/>
        </p:spPr>
        <p:txBody>
          <a:bodyPr wrap="none" lIns="0" rIns="0" tIns="0" bIns="0">
            <a:spAutoFit/>
          </a:bodyPr>
          <a:lstStyle/>
          <a:p>
            <a:r>
              <a:rPr sz="1100" b="0">
                <a:solidFill>
                  <a:srgbClr val="1F2933"/>
                </a:solidFill>
                <a:latin typeface="Segoe UI"/>
              </a:rPr>
              <a:t>The top three hold</a:t>
            </a:r>
          </a:p>
        </p:txBody>
      </p:sp>
      <p:pic>
        <p:nvPicPr>
          <p:cNvPr id="69" name="Picture 68" descr="lock.png"/>
          <p:cNvPicPr>
            <a:picLocks noChangeAspect="1"/>
          </p:cNvPicPr>
          <p:nvPr/>
        </p:nvPicPr>
        <p:blipFill>
          <a:blip r:embed="rId4"/>
          <a:stretch>
            <a:fillRect/>
          </a:stretch>
        </p:blipFill>
        <p:spPr>
          <a:xfrm>
            <a:off x="1698149" y="2114296"/>
            <a:ext cx="128699" cy="187198"/>
          </a:xfrm>
          <a:prstGeom prst="rect">
            <a:avLst/>
          </a:prstGeom>
        </p:spPr>
      </p:pic>
      <p:sp>
        <p:nvSpPr>
          <p:cNvPr id="70" name="TextBox 69"/>
          <p:cNvSpPr txBox="1"/>
          <p:nvPr/>
        </p:nvSpPr>
        <p:spPr>
          <a:xfrm>
            <a:off x="1865644" y="2124075"/>
            <a:ext cx="3556587" cy="186689"/>
          </a:xfrm>
          <a:prstGeom prst="rect">
            <a:avLst/>
          </a:prstGeom>
          <a:noFill/>
        </p:spPr>
        <p:txBody>
          <a:bodyPr wrap="none" lIns="0" rIns="0" tIns="0" bIns="0">
            <a:spAutoFit/>
          </a:bodyPr>
          <a:lstStyle/>
          <a:p>
            <a:r>
              <a:rPr sz="1100" b="0">
                <a:solidFill>
                  <a:srgbClr val="1F2933"/>
                </a:solidFill>
                <a:latin typeface="Segoe UI"/>
              </a:rPr>
              <a:t>of 2026 value, but 3 companies lead the 6 sub-segments</a:t>
            </a:r>
          </a:p>
        </p:txBody>
      </p:sp>
      <p:sp>
        <p:nvSpPr>
          <p:cNvPr id="71" name="TextBox 70"/>
          <p:cNvSpPr txBox="1"/>
          <p:nvPr/>
        </p:nvSpPr>
        <p:spPr>
          <a:xfrm>
            <a:off x="523875" y="2291715"/>
            <a:ext cx="2213919" cy="186689"/>
          </a:xfrm>
          <a:prstGeom prst="rect">
            <a:avLst/>
          </a:prstGeom>
          <a:noFill/>
        </p:spPr>
        <p:txBody>
          <a:bodyPr wrap="none" lIns="0" rIns="0" tIns="0" bIns="0">
            <a:spAutoFit/>
          </a:bodyPr>
          <a:lstStyle/>
          <a:p>
            <a:r>
              <a:rPr sz="1100" b="0">
                <a:solidFill>
                  <a:srgbClr val="1F2933"/>
                </a:solidFill>
                <a:latin typeface="Segoe UI"/>
              </a:rPr>
              <a:t>tracked; no one leads more than 3.</a:t>
            </a:r>
          </a:p>
        </p:txBody>
      </p:sp>
      <p:sp>
        <p:nvSpPr>
          <p:cNvPr id="72" name="TextBox 71"/>
          <p:cNvSpPr txBox="1"/>
          <p:nvPr/>
        </p:nvSpPr>
        <p:spPr>
          <a:xfrm>
            <a:off x="523875" y="3228975"/>
            <a:ext cx="1465022" cy="186689"/>
          </a:xfrm>
          <a:prstGeom prst="rect">
            <a:avLst/>
          </a:prstGeom>
          <a:noFill/>
        </p:spPr>
        <p:txBody>
          <a:bodyPr wrap="none" lIns="0" rIns="0" tIns="0" bIns="0">
            <a:spAutoFit/>
          </a:bodyPr>
          <a:lstStyle/>
          <a:p>
            <a:r>
              <a:rPr sz="1100" b="0">
                <a:solidFill>
                  <a:srgbClr val="1F2933"/>
                </a:solidFill>
                <a:latin typeface="Segoe UI"/>
              </a:rPr>
              <a:t>Tier 1 (4 players) holds</a:t>
            </a:r>
          </a:p>
        </p:txBody>
      </p:sp>
      <p:pic>
        <p:nvPicPr>
          <p:cNvPr id="73" name="Picture 72" descr="lock.png"/>
          <p:cNvPicPr>
            <a:picLocks noChangeAspect="1"/>
          </p:cNvPicPr>
          <p:nvPr/>
        </p:nvPicPr>
        <p:blipFill>
          <a:blip r:embed="rId4"/>
          <a:stretch>
            <a:fillRect/>
          </a:stretch>
        </p:blipFill>
        <p:spPr>
          <a:xfrm>
            <a:off x="1936949" y="3219196"/>
            <a:ext cx="128699" cy="187198"/>
          </a:xfrm>
          <a:prstGeom prst="rect">
            <a:avLst/>
          </a:prstGeom>
        </p:spPr>
      </p:pic>
      <p:sp>
        <p:nvSpPr>
          <p:cNvPr id="74" name="TextBox 73"/>
          <p:cNvSpPr txBox="1"/>
          <p:nvPr/>
        </p:nvSpPr>
        <p:spPr>
          <a:xfrm>
            <a:off x="2104445" y="3228975"/>
            <a:ext cx="2024888" cy="186689"/>
          </a:xfrm>
          <a:prstGeom prst="rect">
            <a:avLst/>
          </a:prstGeom>
          <a:noFill/>
        </p:spPr>
        <p:txBody>
          <a:bodyPr wrap="none" lIns="0" rIns="0" tIns="0" bIns="0">
            <a:spAutoFit/>
          </a:bodyPr>
          <a:lstStyle/>
          <a:p>
            <a:r>
              <a:rPr sz="1100" b="0">
                <a:solidFill>
                  <a:srgbClr val="1F2933"/>
                </a:solidFill>
                <a:latin typeface="Segoe UI"/>
              </a:rPr>
              <a:t>; Tier 2 and Tier 3 together hold</a:t>
            </a:r>
          </a:p>
        </p:txBody>
      </p:sp>
      <p:pic>
        <p:nvPicPr>
          <p:cNvPr id="75" name="Picture 74" descr="lock.png"/>
          <p:cNvPicPr>
            <a:picLocks noChangeAspect="1"/>
          </p:cNvPicPr>
          <p:nvPr/>
        </p:nvPicPr>
        <p:blipFill>
          <a:blip r:embed="rId4"/>
          <a:stretch>
            <a:fillRect/>
          </a:stretch>
        </p:blipFill>
        <p:spPr>
          <a:xfrm>
            <a:off x="4077385" y="3219196"/>
            <a:ext cx="128699" cy="187198"/>
          </a:xfrm>
          <a:prstGeom prst="rect">
            <a:avLst/>
          </a:prstGeom>
        </p:spPr>
      </p:pic>
      <p:sp>
        <p:nvSpPr>
          <p:cNvPr id="76" name="TextBox 75"/>
          <p:cNvSpPr txBox="1"/>
          <p:nvPr/>
        </p:nvSpPr>
        <p:spPr>
          <a:xfrm>
            <a:off x="4244881" y="3228975"/>
            <a:ext cx="106486" cy="186689"/>
          </a:xfrm>
          <a:prstGeom prst="rect">
            <a:avLst/>
          </a:prstGeom>
          <a:noFill/>
        </p:spPr>
        <p:txBody>
          <a:bodyPr wrap="none" lIns="0" rIns="0" tIns="0" bIns="0">
            <a:spAutoFit/>
          </a:bodyPr>
          <a:lstStyle/>
          <a:p>
            <a:r>
              <a:rPr sz="1100" b="0">
                <a:solidFill>
                  <a:srgbClr val="1F2933"/>
                </a:solidFill>
                <a:latin typeface="Segoe UI"/>
              </a:rPr>
              <a:t>.</a:t>
            </a:r>
          </a:p>
        </p:txBody>
      </p:sp>
      <p:sp>
        <p:nvSpPr>
          <p:cNvPr id="77" name="TextBox 76"/>
          <p:cNvSpPr txBox="1"/>
          <p:nvPr/>
        </p:nvSpPr>
        <p:spPr>
          <a:xfrm>
            <a:off x="523875" y="4333875"/>
            <a:ext cx="4977112" cy="186689"/>
          </a:xfrm>
          <a:prstGeom prst="rect">
            <a:avLst/>
          </a:prstGeom>
          <a:noFill/>
        </p:spPr>
        <p:txBody>
          <a:bodyPr wrap="none" lIns="0" rIns="0" tIns="0" bIns="0">
            <a:spAutoFit/>
          </a:bodyPr>
          <a:lstStyle/>
          <a:p>
            <a:r>
              <a:rPr sz="1100" b="0">
                <a:solidFill>
                  <a:srgbClr val="1F2933"/>
                </a:solidFill>
                <a:latin typeface="Segoe UI"/>
              </a:rPr>
              <a:t>'Gaseous Helium-3' is the largest line; 'Gaseous Helium-3' compounds fastest at</a:t>
            </a:r>
          </a:p>
        </p:txBody>
      </p:sp>
      <p:pic>
        <p:nvPicPr>
          <p:cNvPr id="78" name="Picture 77" descr="lock.png"/>
          <p:cNvPicPr>
            <a:picLocks noChangeAspect="1"/>
          </p:cNvPicPr>
          <p:nvPr/>
        </p:nvPicPr>
        <p:blipFill>
          <a:blip r:embed="rId4"/>
          <a:stretch>
            <a:fillRect/>
          </a:stretch>
        </p:blipFill>
        <p:spPr>
          <a:xfrm>
            <a:off x="5449039" y="4324096"/>
            <a:ext cx="128699" cy="187198"/>
          </a:xfrm>
          <a:prstGeom prst="rect">
            <a:avLst/>
          </a:prstGeom>
        </p:spPr>
      </p:pic>
      <p:sp>
        <p:nvSpPr>
          <p:cNvPr id="79" name="TextBox 78"/>
          <p:cNvSpPr txBox="1"/>
          <p:nvPr/>
        </p:nvSpPr>
        <p:spPr>
          <a:xfrm>
            <a:off x="523875" y="4501515"/>
            <a:ext cx="462255" cy="186689"/>
          </a:xfrm>
          <a:prstGeom prst="rect">
            <a:avLst/>
          </a:prstGeom>
          <a:noFill/>
        </p:spPr>
        <p:txBody>
          <a:bodyPr wrap="none" lIns="0" rIns="0" tIns="0" bIns="0">
            <a:spAutoFit/>
          </a:bodyPr>
          <a:lstStyle/>
          <a:p>
            <a:r>
              <a:rPr sz="1100" b="0">
                <a:solidFill>
                  <a:srgbClr val="1F2933"/>
                </a:solidFill>
                <a:latin typeface="Segoe UI"/>
              </a:rPr>
              <a:t>CAGR.</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Segment Leadership Map</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Share by player group and which named player leads or is active in each sub-segment, 2026</a:t>
            </a:r>
          </a:p>
        </p:txBody>
      </p:sp>
      <p:sp>
        <p:nvSpPr>
          <p:cNvPr id="8" name="TextBox 7"/>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Segoe UI"/>
              </a:rPr>
              <a:t>Who holds the market, 2026</a:t>
            </a:r>
          </a:p>
        </p:txBody>
      </p:sp>
      <p:sp>
        <p:nvSpPr>
          <p:cNvPr id="9" name="Rectangle 8"/>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1" name="Rectangle 10"/>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3" name="Rectangle 12"/>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Segoe UI"/>
              </a:rPr>
              <a:t/>
            </a:r>
          </a:p>
        </p:txBody>
      </p:sp>
      <p:sp>
        <p:nvSpPr>
          <p:cNvPr id="15" name="Rectangle 14"/>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Segoe UI"/>
              </a:rPr>
              <a:t/>
            </a:r>
          </a:p>
        </p:txBody>
      </p:sp>
      <p:sp>
        <p:nvSpPr>
          <p:cNvPr id="17" name="Rectangle 16"/>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Air Liquide, Linde, Chemgas</a:t>
            </a:r>
          </a:p>
        </p:txBody>
      </p:sp>
      <p:sp>
        <p:nvSpPr>
          <p:cNvPr id="19" name="Rectangle 18"/>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Airgas, Merck KGaA</a:t>
            </a:r>
          </a:p>
        </p:txBody>
      </p:sp>
      <p:sp>
        <p:nvSpPr>
          <p:cNvPr id="21" name="Rectangle 20"/>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Eurisotop, ISOFLEX USA, DWS Specialty Gas, Wuhan Baisida Gas, Shanghai Wechem Chemical</a:t>
            </a:r>
          </a:p>
        </p:txBody>
      </p:sp>
      <p:sp>
        <p:nvSpPr>
          <p:cNvPr id="23" name="Rectangle 22"/>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Long tail of regional and niche suppliers</a:t>
            </a:r>
          </a:p>
        </p:txBody>
      </p:sp>
      <p:cxnSp>
        <p:nvCxnSpPr>
          <p:cNvPr id="25" name="Connector 24"/>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Segoe UI"/>
              </a:rPr>
              <a:t>Who leads which sub-segment, 2026  (full = leader, half = active)</a:t>
            </a:r>
          </a:p>
        </p:txBody>
      </p:sp>
      <p:sp>
        <p:nvSpPr>
          <p:cNvPr id="27" name="TextBox 26"/>
          <p:cNvSpPr txBox="1"/>
          <p:nvPr/>
        </p:nvSpPr>
        <p:spPr>
          <a:xfrm>
            <a:off x="2299305"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Gaseous Helium-3</a:t>
            </a:r>
          </a:p>
        </p:txBody>
      </p:sp>
      <p:sp>
        <p:nvSpPr>
          <p:cNvPr id="28" name="TextBox 27"/>
          <p:cNvSpPr txBox="1"/>
          <p:nvPr/>
        </p:nvSpPr>
        <p:spPr>
          <a:xfrm>
            <a:off x="3919512"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Liquid Helium-3</a:t>
            </a:r>
          </a:p>
        </p:txBody>
      </p:sp>
      <p:sp>
        <p:nvSpPr>
          <p:cNvPr id="29" name="TextBox 28"/>
          <p:cNvSpPr txBox="1"/>
          <p:nvPr/>
        </p:nvSpPr>
        <p:spPr>
          <a:xfrm>
            <a:off x="5539720"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Medical and Biomedical Imaging</a:t>
            </a:r>
          </a:p>
        </p:txBody>
      </p:sp>
      <p:sp>
        <p:nvSpPr>
          <p:cNvPr id="30" name="TextBox 29"/>
          <p:cNvSpPr txBox="1"/>
          <p:nvPr/>
        </p:nvSpPr>
        <p:spPr>
          <a:xfrm>
            <a:off x="7159927"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Cryogenic Refrigeration and Ultra-Low-Temperature Cooling</a:t>
            </a:r>
          </a:p>
        </p:txBody>
      </p:sp>
      <p:sp>
        <p:nvSpPr>
          <p:cNvPr id="31" name="TextBox 30"/>
          <p:cNvSpPr txBox="1"/>
          <p:nvPr/>
        </p:nvSpPr>
        <p:spPr>
          <a:xfrm>
            <a:off x="8780135"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Neutron Detection and Radiation Monitoring</a:t>
            </a:r>
          </a:p>
        </p:txBody>
      </p:sp>
      <p:sp>
        <p:nvSpPr>
          <p:cNvPr id="32" name="TextBox 31"/>
          <p:cNvSpPr txBox="1"/>
          <p:nvPr/>
        </p:nvSpPr>
        <p:spPr>
          <a:xfrm>
            <a:off x="10400342" y="2114550"/>
            <a:ext cx="158210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Segoe UI"/>
              </a:rPr>
              <a:t>Nuclear Fusion Research</a:t>
            </a:r>
          </a:p>
        </p:txBody>
      </p:sp>
      <p:cxnSp>
        <p:nvCxnSpPr>
          <p:cNvPr id="33" name="Connector 32"/>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750" y="26289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 Liquide</a:t>
            </a:r>
          </a:p>
        </p:txBody>
      </p:sp>
      <p:sp>
        <p:nvSpPr>
          <p:cNvPr id="36" name="TextBox 35"/>
          <p:cNvSpPr txBox="1"/>
          <p:nvPr/>
        </p:nvSpPr>
        <p:spPr>
          <a:xfrm>
            <a:off x="285750" y="27908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7" name="Oval 36"/>
          <p:cNvSpPr/>
          <p:nvPr/>
        </p:nvSpPr>
        <p:spPr>
          <a:xfrm>
            <a:off x="3014158"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3086100" y="2705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63436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25457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87478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94989"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115196"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1191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5750" y="29718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Linde</a:t>
            </a:r>
          </a:p>
        </p:txBody>
      </p:sp>
      <p:sp>
        <p:nvSpPr>
          <p:cNvPr id="48" name="TextBox 47"/>
          <p:cNvSpPr txBox="1"/>
          <p:nvPr/>
        </p:nvSpPr>
        <p:spPr>
          <a:xfrm>
            <a:off x="285750" y="31337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9" name="Oval 48"/>
          <p:cNvSpPr/>
          <p:nvPr/>
        </p:nvSpPr>
        <p:spPr>
          <a:xfrm>
            <a:off x="3014158"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308610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3436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471487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25457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633412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87478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9498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9572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115196"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33147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Chemgas</a:t>
            </a:r>
          </a:p>
        </p:txBody>
      </p:sp>
      <p:sp>
        <p:nvSpPr>
          <p:cNvPr id="62" name="TextBox 61"/>
          <p:cNvSpPr txBox="1"/>
          <p:nvPr/>
        </p:nvSpPr>
        <p:spPr>
          <a:xfrm>
            <a:off x="285750" y="34766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63" name="Oval 62"/>
          <p:cNvSpPr/>
          <p:nvPr/>
        </p:nvSpPr>
        <p:spPr>
          <a:xfrm>
            <a:off x="3014158"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63436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25457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7478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7953375"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494989"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111519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1191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5750" y="36576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Airgas</a:t>
            </a:r>
          </a:p>
        </p:txBody>
      </p:sp>
      <p:sp>
        <p:nvSpPr>
          <p:cNvPr id="74" name="TextBox 73"/>
          <p:cNvSpPr txBox="1"/>
          <p:nvPr/>
        </p:nvSpPr>
        <p:spPr>
          <a:xfrm>
            <a:off x="285750" y="38195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75" name="Oval 74"/>
          <p:cNvSpPr/>
          <p:nvPr/>
        </p:nvSpPr>
        <p:spPr>
          <a:xfrm>
            <a:off x="3014158"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63436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47148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25457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633412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87478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79533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49498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11519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40005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Merck KGaA</a:t>
            </a:r>
          </a:p>
        </p:txBody>
      </p:sp>
      <p:sp>
        <p:nvSpPr>
          <p:cNvPr id="87" name="TextBox 86"/>
          <p:cNvSpPr txBox="1"/>
          <p:nvPr/>
        </p:nvSpPr>
        <p:spPr>
          <a:xfrm>
            <a:off x="285750" y="41624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88" name="Oval 87"/>
          <p:cNvSpPr/>
          <p:nvPr/>
        </p:nvSpPr>
        <p:spPr>
          <a:xfrm>
            <a:off x="3014158"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308610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63436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47148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25457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633412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87478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49498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9572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111519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Connector 97"/>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5750" y="43434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Eurisotop</a:t>
            </a:r>
          </a:p>
        </p:txBody>
      </p:sp>
      <p:sp>
        <p:nvSpPr>
          <p:cNvPr id="101" name="TextBox 100"/>
          <p:cNvSpPr txBox="1"/>
          <p:nvPr/>
        </p:nvSpPr>
        <p:spPr>
          <a:xfrm>
            <a:off x="285750" y="45053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102" name="Oval 101"/>
          <p:cNvSpPr/>
          <p:nvPr/>
        </p:nvSpPr>
        <p:spPr>
          <a:xfrm>
            <a:off x="3014158"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3086100"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63436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7148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25457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87478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79533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49498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9572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111519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2" name="Connector 111"/>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46863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ISOFLEX USA</a:t>
            </a:r>
          </a:p>
        </p:txBody>
      </p:sp>
      <p:sp>
        <p:nvSpPr>
          <p:cNvPr id="115" name="TextBox 114"/>
          <p:cNvSpPr txBox="1"/>
          <p:nvPr/>
        </p:nvSpPr>
        <p:spPr>
          <a:xfrm>
            <a:off x="285750" y="48482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6" name="Oval 115"/>
          <p:cNvSpPr/>
          <p:nvPr/>
        </p:nvSpPr>
        <p:spPr>
          <a:xfrm>
            <a:off x="3014158"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3086100"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63436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25457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633412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87478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795337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49498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111519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5" name="Connector 124"/>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0292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DWS Specialty Gas</a:t>
            </a:r>
          </a:p>
        </p:txBody>
      </p:sp>
      <p:sp>
        <p:nvSpPr>
          <p:cNvPr id="128" name="TextBox 127"/>
          <p:cNvSpPr txBox="1"/>
          <p:nvPr/>
        </p:nvSpPr>
        <p:spPr>
          <a:xfrm>
            <a:off x="285750" y="51911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9" name="Oval 128"/>
          <p:cNvSpPr/>
          <p:nvPr/>
        </p:nvSpPr>
        <p:spPr>
          <a:xfrm>
            <a:off x="3014158"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63436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47148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625457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633412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787478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49498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9572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11519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8" name="Connector 13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9" name="Rectangle 138"/>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85750" y="53721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Wuhan Baisida Gas</a:t>
            </a:r>
          </a:p>
        </p:txBody>
      </p:sp>
      <p:sp>
        <p:nvSpPr>
          <p:cNvPr id="141" name="TextBox 140"/>
          <p:cNvSpPr txBox="1"/>
          <p:nvPr/>
        </p:nvSpPr>
        <p:spPr>
          <a:xfrm>
            <a:off x="285750" y="55340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42" name="Oval 141"/>
          <p:cNvSpPr/>
          <p:nvPr/>
        </p:nvSpPr>
        <p:spPr>
          <a:xfrm>
            <a:off x="3014158"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086100"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63436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47148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625457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87478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79533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949498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95726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11519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7150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Shanghai Wechem Chemical</a:t>
            </a:r>
          </a:p>
        </p:txBody>
      </p:sp>
      <p:sp>
        <p:nvSpPr>
          <p:cNvPr id="155" name="TextBox 154"/>
          <p:cNvSpPr txBox="1"/>
          <p:nvPr/>
        </p:nvSpPr>
        <p:spPr>
          <a:xfrm>
            <a:off x="285750" y="58769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56" name="Oval 155"/>
          <p:cNvSpPr/>
          <p:nvPr/>
        </p:nvSpPr>
        <p:spPr>
          <a:xfrm>
            <a:off x="3014158"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3086100"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63436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471487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625457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633412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87478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795337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949498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111519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6" name="Connector 165"/>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7" name="Rectangle 166"/>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1</a:t>
            </a:r>
          </a:p>
        </p:txBody>
      </p:sp>
      <p:sp>
        <p:nvSpPr>
          <p:cNvPr id="169" name="Rectangle 168"/>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2</a:t>
            </a:r>
          </a:p>
        </p:txBody>
      </p:sp>
      <p:sp>
        <p:nvSpPr>
          <p:cNvPr id="171" name="Rectangle 170"/>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Segoe UI"/>
              </a:rPr>
              <a:t>Tier 3</a:t>
            </a:r>
          </a:p>
        </p:txBody>
      </p:sp>
      <p:sp>
        <p:nvSpPr>
          <p:cNvPr id="173" name="TextBox 172"/>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74" name="TextBox 173"/>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Read across a row to see breadth; down a column to see contestability.  'Gaseous Helium-3' is the most contested column (8 players active); 'Nuclear Fusion Research' is the most open (3).</a:t>
            </a:r>
          </a:p>
        </p:txBody>
      </p:sp>
      <p:sp>
        <p:nvSpPr>
          <p:cNvPr id="175" name="TextBox 1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76" name="TextBox 175"/>
          <p:cNvSpPr txBox="1"/>
          <p:nvPr/>
        </p:nvSpPr>
        <p:spPr>
          <a:xfrm>
            <a:off x="276225" y="1306830"/>
            <a:ext cx="448991" cy="186689"/>
          </a:xfrm>
          <a:prstGeom prst="rect">
            <a:avLst/>
          </a:prstGeom>
          <a:noFill/>
        </p:spPr>
        <p:txBody>
          <a:bodyPr wrap="none" lIns="0" rIns="0" tIns="0" bIns="0">
            <a:spAutoFit/>
          </a:bodyPr>
          <a:lstStyle/>
          <a:p>
            <a:r>
              <a:rPr sz="1100" b="1">
                <a:solidFill>
                  <a:srgbClr val="FFFFFF"/>
                </a:solidFill>
                <a:latin typeface="Segoe UI"/>
              </a:rPr>
              <a:t>Top 3</a:t>
            </a:r>
          </a:p>
        </p:txBody>
      </p:sp>
      <p:pic>
        <p:nvPicPr>
          <p:cNvPr id="177" name="Picture 176" descr="lock.png"/>
          <p:cNvPicPr>
            <a:picLocks noChangeAspect="1"/>
          </p:cNvPicPr>
          <p:nvPr/>
        </p:nvPicPr>
        <p:blipFill>
          <a:blip r:embed="rId4"/>
          <a:stretch>
            <a:fillRect/>
          </a:stretch>
        </p:blipFill>
        <p:spPr>
          <a:xfrm>
            <a:off x="673268" y="1297051"/>
            <a:ext cx="128699" cy="187198"/>
          </a:xfrm>
          <a:prstGeom prst="rect">
            <a:avLst/>
          </a:prstGeom>
        </p:spPr>
      </p:pic>
      <p:sp>
        <p:nvSpPr>
          <p:cNvPr id="178" name="TextBox 177"/>
          <p:cNvSpPr txBox="1"/>
          <p:nvPr/>
        </p:nvSpPr>
        <p:spPr>
          <a:xfrm>
            <a:off x="4786109" y="1306830"/>
            <a:ext cx="919758" cy="186689"/>
          </a:xfrm>
          <a:prstGeom prst="rect">
            <a:avLst/>
          </a:prstGeom>
          <a:noFill/>
        </p:spPr>
        <p:txBody>
          <a:bodyPr wrap="none" lIns="0" rIns="0" tIns="0" bIns="0">
            <a:spAutoFit/>
          </a:bodyPr>
          <a:lstStyle/>
          <a:p>
            <a:r>
              <a:rPr sz="1100" b="1">
                <a:solidFill>
                  <a:srgbClr val="FFFFFF"/>
                </a:solidFill>
                <a:latin typeface="Segoe UI"/>
              </a:rPr>
              <a:t>Rest of top 5</a:t>
            </a:r>
          </a:p>
        </p:txBody>
      </p:sp>
      <p:pic>
        <p:nvPicPr>
          <p:cNvPr id="179" name="Picture 178" descr="lock.png"/>
          <p:cNvPicPr>
            <a:picLocks noChangeAspect="1"/>
          </p:cNvPicPr>
          <p:nvPr/>
        </p:nvPicPr>
        <p:blipFill>
          <a:blip r:embed="rId4"/>
          <a:stretch>
            <a:fillRect/>
          </a:stretch>
        </p:blipFill>
        <p:spPr>
          <a:xfrm>
            <a:off x="5653919" y="1297051"/>
            <a:ext cx="128699" cy="187198"/>
          </a:xfrm>
          <a:prstGeom prst="rect">
            <a:avLst/>
          </a:prstGeom>
        </p:spPr>
      </p:pic>
      <p:sp>
        <p:nvSpPr>
          <p:cNvPr id="180" name="TextBox 179"/>
          <p:cNvSpPr txBox="1"/>
          <p:nvPr/>
        </p:nvSpPr>
        <p:spPr>
          <a:xfrm>
            <a:off x="6322271" y="1306830"/>
            <a:ext cx="707297" cy="186689"/>
          </a:xfrm>
          <a:prstGeom prst="rect">
            <a:avLst/>
          </a:prstGeom>
          <a:noFill/>
        </p:spPr>
        <p:txBody>
          <a:bodyPr wrap="none" lIns="0" rIns="0" tIns="0" bIns="0">
            <a:spAutoFit/>
          </a:bodyPr>
          <a:lstStyle/>
          <a:p>
            <a:r>
              <a:rPr sz="1100" b="1">
                <a:solidFill>
                  <a:srgbClr val="FFFFFF"/>
                </a:solidFill>
                <a:latin typeface="Segoe UI"/>
              </a:rPr>
              <a:t>Emerging</a:t>
            </a:r>
          </a:p>
        </p:txBody>
      </p:sp>
      <p:pic>
        <p:nvPicPr>
          <p:cNvPr id="181" name="Picture 180" descr="lock.png"/>
          <p:cNvPicPr>
            <a:picLocks noChangeAspect="1"/>
          </p:cNvPicPr>
          <p:nvPr/>
        </p:nvPicPr>
        <p:blipFill>
          <a:blip r:embed="rId4"/>
          <a:stretch>
            <a:fillRect/>
          </a:stretch>
        </p:blipFill>
        <p:spPr>
          <a:xfrm>
            <a:off x="6977619" y="1297051"/>
            <a:ext cx="128699" cy="187198"/>
          </a:xfrm>
          <a:prstGeom prst="rect">
            <a:avLst/>
          </a:prstGeom>
        </p:spPr>
      </p:pic>
      <p:sp>
        <p:nvSpPr>
          <p:cNvPr id="182" name="TextBox 181"/>
          <p:cNvSpPr txBox="1"/>
          <p:nvPr/>
        </p:nvSpPr>
        <p:spPr>
          <a:xfrm>
            <a:off x="8564687" y="1306830"/>
            <a:ext cx="513048" cy="186689"/>
          </a:xfrm>
          <a:prstGeom prst="rect">
            <a:avLst/>
          </a:prstGeom>
          <a:noFill/>
        </p:spPr>
        <p:txBody>
          <a:bodyPr wrap="none" lIns="0" rIns="0" tIns="0" bIns="0">
            <a:spAutoFit/>
          </a:bodyPr>
          <a:lstStyle/>
          <a:p>
            <a:r>
              <a:rPr sz="1100" b="1">
                <a:solidFill>
                  <a:srgbClr val="0F2D52"/>
                </a:solidFill>
                <a:latin typeface="Segoe UI"/>
              </a:rPr>
              <a:t>Others</a:t>
            </a:r>
          </a:p>
        </p:txBody>
      </p:sp>
      <p:pic>
        <p:nvPicPr>
          <p:cNvPr id="183" name="Picture 182" descr="lock.png"/>
          <p:cNvPicPr>
            <a:picLocks noChangeAspect="1"/>
          </p:cNvPicPr>
          <p:nvPr/>
        </p:nvPicPr>
        <p:blipFill>
          <a:blip r:embed="rId4"/>
          <a:stretch>
            <a:fillRect/>
          </a:stretch>
        </p:blipFill>
        <p:spPr>
          <a:xfrm>
            <a:off x="9025786" y="1297051"/>
            <a:ext cx="128699" cy="187198"/>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Value Chain Positioning of Leading Players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How the market is organised by product type and end use, and who leads at each stage</a:t>
            </a:r>
          </a:p>
        </p:txBody>
      </p:sp>
      <p:sp>
        <p:nvSpPr>
          <p:cNvPr id="8" name="TextBox 7"/>
          <p:cNvSpPr txBox="1"/>
          <p:nvPr/>
        </p:nvSpPr>
        <p:spPr>
          <a:xfrm>
            <a:off x="24765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Segoe UI"/>
              </a:rPr>
              <a:t>Top 3 share, 2026</a:t>
            </a:r>
          </a:p>
        </p:txBody>
      </p:sp>
      <p:sp>
        <p:nvSpPr>
          <p:cNvPr id="9" name="TextBox 8"/>
          <p:cNvSpPr txBox="1"/>
          <p:nvPr/>
        </p:nvSpPr>
        <p:spPr>
          <a:xfrm>
            <a:off x="247650" y="1238250"/>
            <a:ext cx="2857500" cy="228600"/>
          </a:xfrm>
          <a:prstGeom prst="rect">
            <a:avLst/>
          </a:prstGeom>
          <a:noFill/>
        </p:spPr>
        <p:txBody>
          <a:bodyPr wrap="square" lIns="28575" rIns="28575" tIns="9525" bIns="9525" anchor="t">
            <a:spAutoFit/>
          </a:bodyPr>
          <a:lstStyle/>
          <a:p>
            <a:pPr algn="l"/>
            <a:r>
              <a:rPr sz="1100" b="1">
                <a:solidFill>
                  <a:srgbClr val="E87722"/>
                </a:solidFill>
                <a:latin typeface="Segoe UI"/>
              </a:rPr>
              <a:t> </a:t>
            </a:r>
          </a:p>
        </p:txBody>
      </p:sp>
      <p:cxnSp>
        <p:nvCxnSpPr>
          <p:cNvPr id="10" name="Connector 9"/>
          <p:cNvCxnSpPr/>
          <p:nvPr/>
        </p:nvCxnSpPr>
        <p:spPr>
          <a:xfrm>
            <a:off x="314325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20040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Segoe UI"/>
              </a:rPr>
              <a:t>Top 5 share</a:t>
            </a:r>
          </a:p>
        </p:txBody>
      </p:sp>
      <p:sp>
        <p:nvSpPr>
          <p:cNvPr id="12" name="TextBox 11"/>
          <p:cNvSpPr txBox="1"/>
          <p:nvPr/>
        </p:nvSpPr>
        <p:spPr>
          <a:xfrm>
            <a:off x="320040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3" name="Connector 12"/>
          <p:cNvCxnSpPr/>
          <p:nvPr/>
        </p:nvCxnSpPr>
        <p:spPr>
          <a:xfrm>
            <a:off x="60960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5315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Segoe UI"/>
              </a:rPr>
              <a:t>Gaseous Helium-3, share</a:t>
            </a:r>
          </a:p>
        </p:txBody>
      </p:sp>
      <p:sp>
        <p:nvSpPr>
          <p:cNvPr id="15" name="TextBox 14"/>
          <p:cNvSpPr txBox="1"/>
          <p:nvPr/>
        </p:nvSpPr>
        <p:spPr>
          <a:xfrm>
            <a:off x="615315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6" name="Connector 15"/>
          <p:cNvCxnSpPr/>
          <p:nvPr/>
        </p:nvCxnSpPr>
        <p:spPr>
          <a:xfrm>
            <a:off x="904875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0590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Segoe UI"/>
              </a:rPr>
              <a:t>Liquid Helium-3, share</a:t>
            </a:r>
          </a:p>
        </p:txBody>
      </p:sp>
      <p:sp>
        <p:nvSpPr>
          <p:cNvPr id="18" name="TextBox 17"/>
          <p:cNvSpPr txBox="1"/>
          <p:nvPr/>
        </p:nvSpPr>
        <p:spPr>
          <a:xfrm>
            <a:off x="910590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Segoe UI"/>
              </a:rPr>
              <a:t> </a:t>
            </a:r>
          </a:p>
        </p:txBody>
      </p:sp>
      <p:cxnSp>
        <p:nvCxnSpPr>
          <p:cNvPr id="19" name="Connector 18"/>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1. Gaseous Helium-3</a:t>
            </a:r>
          </a:p>
        </p:txBody>
      </p:sp>
      <p:sp>
        <p:nvSpPr>
          <p:cNvPr id="23" name="TextBox 22"/>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Segoe UI"/>
              </a:rPr>
              <a:t> </a:t>
            </a:r>
          </a:p>
        </p:txBody>
      </p:sp>
      <p:sp>
        <p:nvSpPr>
          <p:cNvPr id="24" name="TextBox 23"/>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Segoe UI"/>
              </a:rPr>
              <a:t>of market</a:t>
            </a:r>
          </a:p>
        </p:txBody>
      </p:sp>
      <p:sp>
        <p:nvSpPr>
          <p:cNvPr id="25" name="TextBox 24"/>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Segoe UI"/>
              </a:rPr>
              <a:t> </a:t>
            </a:r>
          </a:p>
        </p:txBody>
      </p:sp>
      <p:sp>
        <p:nvSpPr>
          <p:cNvPr id="26" name="TextBox 25"/>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cxnSp>
        <p:nvCxnSpPr>
          <p:cNvPr id="27" name="Connector 26"/>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LEADS</a:t>
            </a:r>
          </a:p>
        </p:txBody>
      </p:sp>
      <p:sp>
        <p:nvSpPr>
          <p:cNvPr id="29" name="TextBox 28"/>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Segoe UI"/>
              </a:rPr>
              <a:t>●  Chemgas</a:t>
            </a:r>
          </a:p>
        </p:txBody>
      </p:sp>
      <p:sp>
        <p:nvSpPr>
          <p:cNvPr id="30" name="TextBox 29"/>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ALSO ACTIVE</a:t>
            </a:r>
          </a:p>
        </p:txBody>
      </p:sp>
      <p:sp>
        <p:nvSpPr>
          <p:cNvPr id="31" name="TextBox 30"/>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Air Liquide</a:t>
            </a:r>
          </a:p>
        </p:txBody>
      </p:sp>
      <p:sp>
        <p:nvSpPr>
          <p:cNvPr id="32" name="TextBox 31"/>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Linde</a:t>
            </a:r>
          </a:p>
        </p:txBody>
      </p:sp>
      <p:sp>
        <p:nvSpPr>
          <p:cNvPr id="33" name="TextBox 32"/>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Merck KGaA</a:t>
            </a:r>
          </a:p>
        </p:txBody>
      </p:sp>
      <p:sp>
        <p:nvSpPr>
          <p:cNvPr id="34" name="TextBox 33"/>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Eurisotop</a:t>
            </a:r>
          </a:p>
        </p:txBody>
      </p:sp>
      <p:cxnSp>
        <p:nvCxnSpPr>
          <p:cNvPr id="35" name="Connector 34"/>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37" name="TextBox 36"/>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cxnSp>
        <p:nvCxnSpPr>
          <p:cNvPr id="38" name="Connector 37"/>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2. Liquid Helium-3</a:t>
            </a:r>
          </a:p>
        </p:txBody>
      </p:sp>
      <p:sp>
        <p:nvSpPr>
          <p:cNvPr id="43" name="TextBox 42"/>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Segoe UI"/>
              </a:rPr>
              <a:t> </a:t>
            </a:r>
          </a:p>
        </p:txBody>
      </p:sp>
      <p:sp>
        <p:nvSpPr>
          <p:cNvPr id="44" name="TextBox 43"/>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Segoe UI"/>
              </a:rPr>
              <a:t>of market</a:t>
            </a:r>
          </a:p>
        </p:txBody>
      </p:sp>
      <p:sp>
        <p:nvSpPr>
          <p:cNvPr id="45" name="TextBox 44"/>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Segoe UI"/>
              </a:rPr>
              <a:t> </a:t>
            </a:r>
          </a:p>
        </p:txBody>
      </p:sp>
      <p:sp>
        <p:nvSpPr>
          <p:cNvPr id="46" name="TextBox 45"/>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Segoe UI"/>
              </a:rPr>
              <a:t>CAGR 2026–2036</a:t>
            </a:r>
          </a:p>
        </p:txBody>
      </p:sp>
      <p:cxnSp>
        <p:nvCxnSpPr>
          <p:cNvPr id="47" name="Connector 46"/>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LEADS</a:t>
            </a:r>
          </a:p>
        </p:txBody>
      </p:sp>
      <p:sp>
        <p:nvSpPr>
          <p:cNvPr id="49" name="TextBox 48"/>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Segoe UI"/>
              </a:rPr>
              <a:t>●  Air Liquide</a:t>
            </a:r>
          </a:p>
        </p:txBody>
      </p:sp>
      <p:sp>
        <p:nvSpPr>
          <p:cNvPr id="50" name="TextBox 49"/>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ALSO ACTIVE</a:t>
            </a:r>
          </a:p>
        </p:txBody>
      </p:sp>
      <p:sp>
        <p:nvSpPr>
          <p:cNvPr id="51" name="TextBox 50"/>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Linde</a:t>
            </a:r>
          </a:p>
        </p:txBody>
      </p:sp>
      <p:sp>
        <p:nvSpPr>
          <p:cNvPr id="52" name="TextBox 51"/>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Airgas</a:t>
            </a:r>
          </a:p>
        </p:txBody>
      </p:sp>
      <p:sp>
        <p:nvSpPr>
          <p:cNvPr id="53" name="TextBox 52"/>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Merck KGaA</a:t>
            </a:r>
          </a:p>
        </p:txBody>
      </p:sp>
      <p:sp>
        <p:nvSpPr>
          <p:cNvPr id="54" name="TextBox 53"/>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Segoe UI"/>
              </a:rPr>
              <a:t>●  Eurisotop</a:t>
            </a:r>
          </a:p>
        </p:txBody>
      </p:sp>
      <p:cxnSp>
        <p:nvCxnSpPr>
          <p:cNvPr id="55" name="Connector 54"/>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57" name="TextBox 56"/>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cxnSp>
        <p:nvCxnSpPr>
          <p:cNvPr id="58" name="Connector 57"/>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59" name="Freeform 58"/>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Segoe UI"/>
              </a:rPr>
              <a:t>4. Application</a:t>
            </a:r>
          </a:p>
        </p:txBody>
      </p:sp>
      <p:sp>
        <p:nvSpPr>
          <p:cNvPr id="63" name="TextBox 62"/>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Segoe UI"/>
              </a:rPr>
              <a:t>By application</a:t>
            </a:r>
          </a:p>
        </p:txBody>
      </p:sp>
      <p:sp>
        <p:nvSpPr>
          <p:cNvPr id="64" name="TextBox 63"/>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Segoe UI"/>
              </a:rPr>
              <a:t>Who buys the output.</a:t>
            </a:r>
          </a:p>
        </p:txBody>
      </p:sp>
      <p:cxnSp>
        <p:nvCxnSpPr>
          <p:cNvPr id="65" name="Connector 64"/>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a:t>
            </a:r>
          </a:p>
        </p:txBody>
      </p:sp>
      <p:sp>
        <p:nvSpPr>
          <p:cNvPr id="67" name="Rectangle 66"/>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69" name="TextBox 68"/>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Cryogenic Refrigeration and Ultra-Low-Temperature Cooling</a:t>
            </a:r>
          </a:p>
        </p:txBody>
      </p:sp>
      <p:sp>
        <p:nvSpPr>
          <p:cNvPr id="70" name="Rectangle 69"/>
          <p:cNvSpPr/>
          <p:nvPr/>
        </p:nvSpPr>
        <p:spPr>
          <a:xfrm>
            <a:off x="10682288" y="2847975"/>
            <a:ext cx="32430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044689" y="280987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72" name="TextBox 71"/>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Neutron Detection and Radiation Monitoring</a:t>
            </a:r>
          </a:p>
        </p:txBody>
      </p:sp>
      <p:sp>
        <p:nvSpPr>
          <p:cNvPr id="73" name="Rectangle 72"/>
          <p:cNvSpPr/>
          <p:nvPr/>
        </p:nvSpPr>
        <p:spPr>
          <a:xfrm>
            <a:off x="10682288" y="3171825"/>
            <a:ext cx="170918"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891305" y="313372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sp>
        <p:nvSpPr>
          <p:cNvPr id="75" name="TextBox 74"/>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Nuclear Fusion Research</a:t>
            </a:r>
          </a:p>
        </p:txBody>
      </p:sp>
      <p:sp>
        <p:nvSpPr>
          <p:cNvPr id="76" name="Rectangle 75"/>
          <p:cNvSpPr/>
          <p:nvPr/>
        </p:nvSpPr>
        <p:spPr>
          <a:xfrm>
            <a:off x="10682288" y="3495675"/>
            <a:ext cx="159178"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879565" y="3457575"/>
            <a:ext cx="476250" cy="1905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78" name="Connector 77"/>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Segoe UI"/>
              </a:rPr>
              <a:t>WHAT TO WATCH</a:t>
            </a:r>
          </a:p>
        </p:txBody>
      </p:sp>
      <p:sp>
        <p:nvSpPr>
          <p:cNvPr id="80" name="TextBox 79"/>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81" name="Rectangle 80"/>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Segoe UI"/>
              </a:rPr>
              <a:t>ENABLERS</a:t>
            </a:r>
          </a:p>
        </p:txBody>
      </p:sp>
      <p:sp>
        <p:nvSpPr>
          <p:cNvPr id="84" name="TextBox 83"/>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Gaseous Helium-3 Compounds Fastest Across the Product Form Mix  |  South Asia &amp; Pacific Emerges as the Growth Engine Among Regions  |  Premiumisation Lifts Average Realisation</a:t>
            </a:r>
          </a:p>
        </p:txBody>
      </p:sp>
      <p:sp>
        <p:nvSpPr>
          <p:cNvPr id="85" name="Rectangle 84"/>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Segoe UI"/>
              </a:rPr>
              <a:t>CONSTRAINTS</a:t>
            </a:r>
          </a:p>
        </p:txBody>
      </p:sp>
      <p:sp>
        <p:nvSpPr>
          <p:cNvPr id="88" name="TextBox 87"/>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Liquid Helium-3 Lags the Category and Dilutes Blended Growth  |  Uneven Region Performance Caps the Blended Rate  |  Concentration Risk Limits Pricing and Sourcing Flexibility</a:t>
            </a:r>
          </a:p>
        </p:txBody>
      </p:sp>
      <p:sp>
        <p:nvSpPr>
          <p:cNvPr id="89" name="TextBox 8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90" name="Picture 89" descr="lock.png"/>
          <p:cNvPicPr>
            <a:picLocks noChangeAspect="1"/>
          </p:cNvPicPr>
          <p:nvPr/>
        </p:nvPicPr>
        <p:blipFill>
          <a:blip r:embed="rId4"/>
          <a:stretch>
            <a:fillRect/>
          </a:stretch>
        </p:blipFill>
        <p:spPr>
          <a:xfrm>
            <a:off x="1612050" y="1258951"/>
            <a:ext cx="128699" cy="187198"/>
          </a:xfrm>
          <a:prstGeom prst="rect">
            <a:avLst/>
          </a:prstGeom>
        </p:spPr>
      </p:pic>
      <p:pic>
        <p:nvPicPr>
          <p:cNvPr id="91" name="Picture 90" descr="lock.png"/>
          <p:cNvPicPr>
            <a:picLocks noChangeAspect="1"/>
          </p:cNvPicPr>
          <p:nvPr/>
        </p:nvPicPr>
        <p:blipFill>
          <a:blip r:embed="rId4"/>
          <a:stretch>
            <a:fillRect/>
          </a:stretch>
        </p:blipFill>
        <p:spPr>
          <a:xfrm>
            <a:off x="4564800" y="1258951"/>
            <a:ext cx="128699" cy="187198"/>
          </a:xfrm>
          <a:prstGeom prst="rect">
            <a:avLst/>
          </a:prstGeom>
        </p:spPr>
      </p:pic>
      <p:pic>
        <p:nvPicPr>
          <p:cNvPr id="92" name="Picture 91" descr="lock.png"/>
          <p:cNvPicPr>
            <a:picLocks noChangeAspect="1"/>
          </p:cNvPicPr>
          <p:nvPr/>
        </p:nvPicPr>
        <p:blipFill>
          <a:blip r:embed="rId4"/>
          <a:stretch>
            <a:fillRect/>
          </a:stretch>
        </p:blipFill>
        <p:spPr>
          <a:xfrm>
            <a:off x="7517550" y="1258951"/>
            <a:ext cx="128699" cy="187198"/>
          </a:xfrm>
          <a:prstGeom prst="rect">
            <a:avLst/>
          </a:prstGeom>
        </p:spPr>
      </p:pic>
      <p:pic>
        <p:nvPicPr>
          <p:cNvPr id="93" name="Picture 92" descr="lock.png"/>
          <p:cNvPicPr>
            <a:picLocks noChangeAspect="1"/>
          </p:cNvPicPr>
          <p:nvPr/>
        </p:nvPicPr>
        <p:blipFill>
          <a:blip r:embed="rId4"/>
          <a:stretch>
            <a:fillRect/>
          </a:stretch>
        </p:blipFill>
        <p:spPr>
          <a:xfrm>
            <a:off x="10470300" y="1258951"/>
            <a:ext cx="128699" cy="187198"/>
          </a:xfrm>
          <a:prstGeom prst="rect">
            <a:avLst/>
          </a:prstGeom>
        </p:spPr>
      </p:pic>
      <p:pic>
        <p:nvPicPr>
          <p:cNvPr id="94" name="Picture 93" descr="lock.png"/>
          <p:cNvPicPr>
            <a:picLocks noChangeAspect="1"/>
          </p:cNvPicPr>
          <p:nvPr/>
        </p:nvPicPr>
        <p:blipFill>
          <a:blip r:embed="rId4"/>
          <a:stretch>
            <a:fillRect/>
          </a:stretch>
        </p:blipFill>
        <p:spPr>
          <a:xfrm>
            <a:off x="554775" y="1925701"/>
            <a:ext cx="128699" cy="187198"/>
          </a:xfrm>
          <a:prstGeom prst="rect">
            <a:avLst/>
          </a:prstGeom>
        </p:spPr>
      </p:pic>
      <p:pic>
        <p:nvPicPr>
          <p:cNvPr id="95" name="Picture 94" descr="lock.png"/>
          <p:cNvPicPr>
            <a:picLocks noChangeAspect="1"/>
          </p:cNvPicPr>
          <p:nvPr/>
        </p:nvPicPr>
        <p:blipFill>
          <a:blip r:embed="rId4"/>
          <a:stretch>
            <a:fillRect/>
          </a:stretch>
        </p:blipFill>
        <p:spPr>
          <a:xfrm>
            <a:off x="554775" y="2135251"/>
            <a:ext cx="128699" cy="187198"/>
          </a:xfrm>
          <a:prstGeom prst="rect">
            <a:avLst/>
          </a:prstGeom>
        </p:spPr>
      </p:pic>
      <p:pic>
        <p:nvPicPr>
          <p:cNvPr id="96" name="Picture 95" descr="lock.png"/>
          <p:cNvPicPr>
            <a:picLocks noChangeAspect="1"/>
          </p:cNvPicPr>
          <p:nvPr/>
        </p:nvPicPr>
        <p:blipFill>
          <a:blip r:embed="rId4"/>
          <a:stretch>
            <a:fillRect/>
          </a:stretch>
        </p:blipFill>
        <p:spPr>
          <a:xfrm>
            <a:off x="3569437" y="1925701"/>
            <a:ext cx="128699" cy="187198"/>
          </a:xfrm>
          <a:prstGeom prst="rect">
            <a:avLst/>
          </a:prstGeom>
        </p:spPr>
      </p:pic>
      <p:pic>
        <p:nvPicPr>
          <p:cNvPr id="97" name="Picture 96" descr="lock.png"/>
          <p:cNvPicPr>
            <a:picLocks noChangeAspect="1"/>
          </p:cNvPicPr>
          <p:nvPr/>
        </p:nvPicPr>
        <p:blipFill>
          <a:blip r:embed="rId4"/>
          <a:stretch>
            <a:fillRect/>
          </a:stretch>
        </p:blipFill>
        <p:spPr>
          <a:xfrm>
            <a:off x="3569437" y="2135251"/>
            <a:ext cx="128699" cy="187198"/>
          </a:xfrm>
          <a:prstGeom prst="rect">
            <a:avLst/>
          </a:prstGeom>
        </p:spPr>
      </p:pic>
      <p:pic>
        <p:nvPicPr>
          <p:cNvPr id="98" name="Picture 97" descr="lock.png"/>
          <p:cNvPicPr>
            <a:picLocks noChangeAspect="1"/>
          </p:cNvPicPr>
          <p:nvPr/>
        </p:nvPicPr>
        <p:blipFill>
          <a:blip r:embed="rId4"/>
          <a:stretch>
            <a:fillRect/>
          </a:stretch>
        </p:blipFill>
        <p:spPr>
          <a:xfrm>
            <a:off x="11660925" y="2487676"/>
            <a:ext cx="128699" cy="187198"/>
          </a:xfrm>
          <a:prstGeom prst="rect">
            <a:avLst/>
          </a:prstGeom>
        </p:spPr>
      </p:pic>
      <p:pic>
        <p:nvPicPr>
          <p:cNvPr id="99" name="Picture 98" descr="lock.png"/>
          <p:cNvPicPr>
            <a:picLocks noChangeAspect="1"/>
          </p:cNvPicPr>
          <p:nvPr/>
        </p:nvPicPr>
        <p:blipFill>
          <a:blip r:embed="rId4"/>
          <a:stretch>
            <a:fillRect/>
          </a:stretch>
        </p:blipFill>
        <p:spPr>
          <a:xfrm>
            <a:off x="11218464" y="2811526"/>
            <a:ext cx="128699" cy="187198"/>
          </a:xfrm>
          <a:prstGeom prst="rect">
            <a:avLst/>
          </a:prstGeom>
        </p:spPr>
      </p:pic>
      <p:pic>
        <p:nvPicPr>
          <p:cNvPr id="100" name="Picture 99" descr="lock.png"/>
          <p:cNvPicPr>
            <a:picLocks noChangeAspect="1"/>
          </p:cNvPicPr>
          <p:nvPr/>
        </p:nvPicPr>
        <p:blipFill>
          <a:blip r:embed="rId4"/>
          <a:stretch>
            <a:fillRect/>
          </a:stretch>
        </p:blipFill>
        <p:spPr>
          <a:xfrm>
            <a:off x="11065080" y="3135376"/>
            <a:ext cx="128699" cy="187198"/>
          </a:xfrm>
          <a:prstGeom prst="rect">
            <a:avLst/>
          </a:prstGeom>
        </p:spPr>
      </p:pic>
      <p:pic>
        <p:nvPicPr>
          <p:cNvPr id="101" name="Picture 100" descr="lock.png"/>
          <p:cNvPicPr>
            <a:picLocks noChangeAspect="1"/>
          </p:cNvPicPr>
          <p:nvPr/>
        </p:nvPicPr>
        <p:blipFill>
          <a:blip r:embed="rId4"/>
          <a:stretch>
            <a:fillRect/>
          </a:stretch>
        </p:blipFill>
        <p:spPr>
          <a:xfrm>
            <a:off x="11053340" y="3459226"/>
            <a:ext cx="128699" cy="187198"/>
          </a:xfrm>
          <a:prstGeom prst="rect">
            <a:avLst/>
          </a:prstGeom>
        </p:spPr>
      </p:pic>
      <p:sp>
        <p:nvSpPr>
          <p:cNvPr id="102" name="TextBox 101"/>
          <p:cNvSpPr txBox="1"/>
          <p:nvPr/>
        </p:nvSpPr>
        <p:spPr>
          <a:xfrm>
            <a:off x="314325" y="4676775"/>
            <a:ext cx="2013134" cy="186689"/>
          </a:xfrm>
          <a:prstGeom prst="rect">
            <a:avLst/>
          </a:prstGeom>
          <a:noFill/>
        </p:spPr>
        <p:txBody>
          <a:bodyPr wrap="none" lIns="0" rIns="0" tIns="0" bIns="0">
            <a:spAutoFit/>
          </a:bodyPr>
          <a:lstStyle/>
          <a:p>
            <a:r>
              <a:rPr sz="1100" b="0">
                <a:solidFill>
                  <a:srgbClr val="1F2933"/>
                </a:solidFill>
                <a:latin typeface="Segoe UI"/>
              </a:rPr>
              <a:t>5 named players compete here;</a:t>
            </a:r>
          </a:p>
        </p:txBody>
      </p:sp>
      <p:sp>
        <p:nvSpPr>
          <p:cNvPr id="103" name="TextBox 102"/>
          <p:cNvSpPr txBox="1"/>
          <p:nvPr/>
        </p:nvSpPr>
        <p:spPr>
          <a:xfrm>
            <a:off x="314325" y="4844415"/>
            <a:ext cx="1602531" cy="186689"/>
          </a:xfrm>
          <a:prstGeom prst="rect">
            <a:avLst/>
          </a:prstGeom>
          <a:noFill/>
        </p:spPr>
        <p:txBody>
          <a:bodyPr wrap="none" lIns="0" rIns="0" tIns="0" bIns="0">
            <a:spAutoFit/>
          </a:bodyPr>
          <a:lstStyle/>
          <a:p>
            <a:r>
              <a:rPr sz="1100" b="0">
                <a:solidFill>
                  <a:srgbClr val="1F2933"/>
                </a:solidFill>
                <a:latin typeface="Segoe UI"/>
              </a:rPr>
              <a:t>'Gaseous Helium-3' adds</a:t>
            </a:r>
          </a:p>
        </p:txBody>
      </p:sp>
      <p:pic>
        <p:nvPicPr>
          <p:cNvPr id="104" name="Picture 103" descr="lock.png"/>
          <p:cNvPicPr>
            <a:picLocks noChangeAspect="1"/>
          </p:cNvPicPr>
          <p:nvPr/>
        </p:nvPicPr>
        <p:blipFill>
          <a:blip r:embed="rId4"/>
          <a:stretch>
            <a:fillRect/>
          </a:stretch>
        </p:blipFill>
        <p:spPr>
          <a:xfrm>
            <a:off x="1864908" y="4834636"/>
            <a:ext cx="128699" cy="187198"/>
          </a:xfrm>
          <a:prstGeom prst="rect">
            <a:avLst/>
          </a:prstGeom>
        </p:spPr>
      </p:pic>
      <p:sp>
        <p:nvSpPr>
          <p:cNvPr id="105" name="TextBox 104"/>
          <p:cNvSpPr txBox="1"/>
          <p:nvPr/>
        </p:nvSpPr>
        <p:spPr>
          <a:xfrm>
            <a:off x="2032404" y="4844415"/>
            <a:ext cx="564604" cy="186689"/>
          </a:xfrm>
          <a:prstGeom prst="rect">
            <a:avLst/>
          </a:prstGeom>
          <a:noFill/>
        </p:spPr>
        <p:txBody>
          <a:bodyPr wrap="none" lIns="0" rIns="0" tIns="0" bIns="0">
            <a:spAutoFit/>
          </a:bodyPr>
          <a:lstStyle/>
          <a:p>
            <a:r>
              <a:rPr sz="1100" b="0">
                <a:solidFill>
                  <a:srgbClr val="1F2933"/>
                </a:solidFill>
                <a:latin typeface="Segoe UI"/>
              </a:rPr>
              <a:t>US$ Mn</a:t>
            </a:r>
          </a:p>
        </p:txBody>
      </p:sp>
      <p:sp>
        <p:nvSpPr>
          <p:cNvPr id="106" name="TextBox 105"/>
          <p:cNvSpPr txBox="1"/>
          <p:nvPr/>
        </p:nvSpPr>
        <p:spPr>
          <a:xfrm>
            <a:off x="314325" y="5012055"/>
            <a:ext cx="595709" cy="186689"/>
          </a:xfrm>
          <a:prstGeom prst="rect">
            <a:avLst/>
          </a:prstGeom>
          <a:noFill/>
        </p:spPr>
        <p:txBody>
          <a:bodyPr wrap="none" lIns="0" rIns="0" tIns="0" bIns="0">
            <a:spAutoFit/>
          </a:bodyPr>
          <a:lstStyle/>
          <a:p>
            <a:r>
              <a:rPr sz="1100" b="0">
                <a:solidFill>
                  <a:srgbClr val="1F2933"/>
                </a:solidFill>
                <a:latin typeface="Segoe UI"/>
              </a:rPr>
              <a:t>by 2036.</a:t>
            </a:r>
          </a:p>
        </p:txBody>
      </p:sp>
      <p:sp>
        <p:nvSpPr>
          <p:cNvPr id="107" name="TextBox 106"/>
          <p:cNvSpPr txBox="1"/>
          <p:nvPr/>
        </p:nvSpPr>
        <p:spPr>
          <a:xfrm>
            <a:off x="3328987" y="4676775"/>
            <a:ext cx="2460884" cy="186689"/>
          </a:xfrm>
          <a:prstGeom prst="rect">
            <a:avLst/>
          </a:prstGeom>
          <a:noFill/>
        </p:spPr>
        <p:txBody>
          <a:bodyPr wrap="none" lIns="0" rIns="0" tIns="0" bIns="0">
            <a:spAutoFit/>
          </a:bodyPr>
          <a:lstStyle/>
          <a:p>
            <a:r>
              <a:rPr sz="1100" b="0">
                <a:solidFill>
                  <a:srgbClr val="1F2933"/>
                </a:solidFill>
                <a:latin typeface="Segoe UI"/>
              </a:rPr>
              <a:t>5 named players compete here; 'Liquid</a:t>
            </a:r>
          </a:p>
        </p:txBody>
      </p:sp>
      <p:sp>
        <p:nvSpPr>
          <p:cNvPr id="108" name="TextBox 107"/>
          <p:cNvSpPr txBox="1"/>
          <p:nvPr/>
        </p:nvSpPr>
        <p:spPr>
          <a:xfrm>
            <a:off x="3328987" y="4844415"/>
            <a:ext cx="1012626" cy="186689"/>
          </a:xfrm>
          <a:prstGeom prst="rect">
            <a:avLst/>
          </a:prstGeom>
          <a:noFill/>
        </p:spPr>
        <p:txBody>
          <a:bodyPr wrap="none" lIns="0" rIns="0" tIns="0" bIns="0">
            <a:spAutoFit/>
          </a:bodyPr>
          <a:lstStyle/>
          <a:p>
            <a:r>
              <a:rPr sz="1100" b="0">
                <a:solidFill>
                  <a:srgbClr val="1F2933"/>
                </a:solidFill>
                <a:latin typeface="Segoe UI"/>
              </a:rPr>
              <a:t>Helium-3' adds</a:t>
            </a:r>
          </a:p>
        </p:txBody>
      </p:sp>
      <p:pic>
        <p:nvPicPr>
          <p:cNvPr id="109" name="Picture 108" descr="lock.png"/>
          <p:cNvPicPr>
            <a:picLocks noChangeAspect="1"/>
          </p:cNvPicPr>
          <p:nvPr/>
        </p:nvPicPr>
        <p:blipFill>
          <a:blip r:embed="rId4"/>
          <a:stretch>
            <a:fillRect/>
          </a:stretch>
        </p:blipFill>
        <p:spPr>
          <a:xfrm>
            <a:off x="4289665" y="4834636"/>
            <a:ext cx="128699" cy="187198"/>
          </a:xfrm>
          <a:prstGeom prst="rect">
            <a:avLst/>
          </a:prstGeom>
        </p:spPr>
      </p:pic>
      <p:sp>
        <p:nvSpPr>
          <p:cNvPr id="110" name="TextBox 109"/>
          <p:cNvSpPr txBox="1"/>
          <p:nvPr/>
        </p:nvSpPr>
        <p:spPr>
          <a:xfrm>
            <a:off x="4457160" y="4844415"/>
            <a:ext cx="1122312" cy="186689"/>
          </a:xfrm>
          <a:prstGeom prst="rect">
            <a:avLst/>
          </a:prstGeom>
          <a:noFill/>
        </p:spPr>
        <p:txBody>
          <a:bodyPr wrap="none" lIns="0" rIns="0" tIns="0" bIns="0">
            <a:spAutoFit/>
          </a:bodyPr>
          <a:lstStyle/>
          <a:p>
            <a:r>
              <a:rPr sz="1100" b="0">
                <a:solidFill>
                  <a:srgbClr val="1F2933"/>
                </a:solidFill>
                <a:latin typeface="Segoe UI"/>
              </a:rPr>
              <a:t>US$ Mn by 2036.</a:t>
            </a:r>
          </a:p>
        </p:txBody>
      </p:sp>
      <p:sp>
        <p:nvSpPr>
          <p:cNvPr id="111" name="TextBox 110"/>
          <p:cNvSpPr txBox="1"/>
          <p:nvPr/>
        </p:nvSpPr>
        <p:spPr>
          <a:xfrm>
            <a:off x="9358313" y="4676775"/>
            <a:ext cx="1872876" cy="186689"/>
          </a:xfrm>
          <a:prstGeom prst="rect">
            <a:avLst/>
          </a:prstGeom>
          <a:noFill/>
        </p:spPr>
        <p:txBody>
          <a:bodyPr wrap="none" lIns="0" rIns="0" tIns="0" bIns="0">
            <a:spAutoFit/>
          </a:bodyPr>
          <a:lstStyle/>
          <a:p>
            <a:r>
              <a:rPr sz="1100" b="0">
                <a:solidFill>
                  <a:srgbClr val="1F2933"/>
                </a:solidFill>
                <a:latin typeface="Segoe UI"/>
              </a:rPr>
              <a:t>The top two end uses pay for</a:t>
            </a:r>
          </a:p>
        </p:txBody>
      </p:sp>
      <p:pic>
        <p:nvPicPr>
          <p:cNvPr id="112" name="Picture 111" descr="lock.png"/>
          <p:cNvPicPr>
            <a:picLocks noChangeAspect="1"/>
          </p:cNvPicPr>
          <p:nvPr/>
        </p:nvPicPr>
        <p:blipFill>
          <a:blip r:embed="rId4"/>
          <a:stretch>
            <a:fillRect/>
          </a:stretch>
        </p:blipFill>
        <p:spPr>
          <a:xfrm>
            <a:off x="11179240" y="4666996"/>
            <a:ext cx="128699" cy="187198"/>
          </a:xfrm>
          <a:prstGeom prst="rect">
            <a:avLst/>
          </a:prstGeom>
        </p:spPr>
      </p:pic>
      <p:sp>
        <p:nvSpPr>
          <p:cNvPr id="113" name="TextBox 112"/>
          <p:cNvSpPr txBox="1"/>
          <p:nvPr/>
        </p:nvSpPr>
        <p:spPr>
          <a:xfrm>
            <a:off x="11346736" y="4676775"/>
            <a:ext cx="439599" cy="186689"/>
          </a:xfrm>
          <a:prstGeom prst="rect">
            <a:avLst/>
          </a:prstGeom>
          <a:noFill/>
        </p:spPr>
        <p:txBody>
          <a:bodyPr wrap="none" lIns="0" rIns="0" tIns="0" bIns="0">
            <a:spAutoFit/>
          </a:bodyPr>
          <a:lstStyle/>
          <a:p>
            <a:r>
              <a:rPr sz="1100" b="0">
                <a:solidFill>
                  <a:srgbClr val="1F2933"/>
                </a:solidFill>
                <a:latin typeface="Segoe UI"/>
              </a:rPr>
              <a:t>of the</a:t>
            </a:r>
          </a:p>
        </p:txBody>
      </p:sp>
      <p:sp>
        <p:nvSpPr>
          <p:cNvPr id="114" name="TextBox 113"/>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Segoe UI"/>
              </a:rPr>
              <a:t>market; vendors package for one vertical</a:t>
            </a:r>
          </a:p>
        </p:txBody>
      </p:sp>
      <p:sp>
        <p:nvSpPr>
          <p:cNvPr id="115" name="TextBox 114"/>
          <p:cNvSpPr txBox="1"/>
          <p:nvPr/>
        </p:nvSpPr>
        <p:spPr>
          <a:xfrm>
            <a:off x="9358313" y="5012055"/>
            <a:ext cx="647551" cy="186689"/>
          </a:xfrm>
          <a:prstGeom prst="rect">
            <a:avLst/>
          </a:prstGeom>
          <a:noFill/>
        </p:spPr>
        <p:txBody>
          <a:bodyPr wrap="none" lIns="0" rIns="0" tIns="0" bIns="0">
            <a:spAutoFit/>
          </a:bodyPr>
          <a:lstStyle/>
          <a:p>
            <a:r>
              <a:rPr sz="1100" b="0">
                <a:solidFill>
                  <a:srgbClr val="1F2933"/>
                </a:solidFill>
                <a:latin typeface="Segoe UI"/>
              </a:rPr>
              <a:t>at a time.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Player Landscape by Business Type and Reach</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Named players by business type and geographic reach, with how each group competes</a:t>
            </a:r>
          </a:p>
        </p:txBody>
      </p:sp>
      <p:sp>
        <p:nvSpPr>
          <p:cNvPr id="8" name="Rectangle 7"/>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1  (4)</a:t>
            </a:r>
          </a:p>
        </p:txBody>
      </p:sp>
      <p:sp>
        <p:nvSpPr>
          <p:cNvPr id="10" name="Rectangle 9"/>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2  (2)</a:t>
            </a:r>
          </a:p>
        </p:txBody>
      </p:sp>
      <p:sp>
        <p:nvSpPr>
          <p:cNvPr id="12" name="Rectangle 11"/>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Segoe UI"/>
              </a:rPr>
              <a:t>Tier 3  (4)</a:t>
            </a:r>
          </a:p>
        </p:txBody>
      </p:sp>
      <p:sp>
        <p:nvSpPr>
          <p:cNvPr id="14" name="TextBox 13"/>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Global (4)</a:t>
            </a:r>
          </a:p>
        </p:txBody>
      </p:sp>
      <p:sp>
        <p:nvSpPr>
          <p:cNvPr id="15" name="TextBox 14"/>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Sells in most major regions</a:t>
            </a:r>
          </a:p>
        </p:txBody>
      </p:sp>
      <p:cxnSp>
        <p:nvCxnSpPr>
          <p:cNvPr id="16" name="Connector 15"/>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19" name="TextBox 18"/>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Air Liquide</a:t>
            </a:r>
          </a:p>
        </p:txBody>
      </p:sp>
      <p:sp>
        <p:nvSpPr>
          <p:cNvPr id="20" name="Rectangle 19"/>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2" name="TextBox 21"/>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Linde</a:t>
            </a:r>
          </a:p>
        </p:txBody>
      </p:sp>
      <p:sp>
        <p:nvSpPr>
          <p:cNvPr id="23" name="Rectangle 22"/>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5" name="TextBox 24"/>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Chemgas</a:t>
            </a:r>
          </a:p>
        </p:txBody>
      </p:sp>
      <p:sp>
        <p:nvSpPr>
          <p:cNvPr id="26" name="Rectangle 25"/>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28" name="TextBox 27"/>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Segoe UI"/>
              </a:rPr>
              <a:t>Airgas</a:t>
            </a:r>
          </a:p>
        </p:txBody>
      </p:sp>
      <p:cxnSp>
        <p:nvCxnSpPr>
          <p:cNvPr id="29" name="Connector 28"/>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Regional (2)</a:t>
            </a:r>
          </a:p>
        </p:txBody>
      </p:sp>
      <p:sp>
        <p:nvSpPr>
          <p:cNvPr id="32" name="TextBox 31"/>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Strong in one or two regions</a:t>
            </a:r>
          </a:p>
        </p:txBody>
      </p:sp>
      <p:cxnSp>
        <p:nvCxnSpPr>
          <p:cNvPr id="33" name="Connector 32"/>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8" name="TextBox 37"/>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Merck KGaA</a:t>
            </a:r>
          </a:p>
        </p:txBody>
      </p:sp>
      <p:sp>
        <p:nvSpPr>
          <p:cNvPr id="39" name="Rectangle 38"/>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41" name="TextBox 40"/>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Eurisotop</a:t>
            </a:r>
          </a:p>
        </p:txBody>
      </p:sp>
      <p:cxnSp>
        <p:nvCxnSpPr>
          <p:cNvPr id="42" name="Connector 41"/>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Segoe UI"/>
              </a:rPr>
              <a:t>Local or niche (4)</a:t>
            </a:r>
          </a:p>
        </p:txBody>
      </p:sp>
      <p:sp>
        <p:nvSpPr>
          <p:cNvPr id="44" name="TextBox 43"/>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One market or one specialist use</a:t>
            </a:r>
          </a:p>
        </p:txBody>
      </p:sp>
      <p:cxnSp>
        <p:nvCxnSpPr>
          <p:cNvPr id="45" name="Connector 44"/>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1" name="TextBox 50"/>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ISOFLEX USA</a:t>
            </a:r>
          </a:p>
        </p:txBody>
      </p:sp>
      <p:sp>
        <p:nvSpPr>
          <p:cNvPr id="52" name="Rectangle 51"/>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4" name="TextBox 53"/>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DWS Specialty Gas</a:t>
            </a:r>
          </a:p>
        </p:txBody>
      </p:sp>
      <p:sp>
        <p:nvSpPr>
          <p:cNvPr id="55" name="Rectangle 54"/>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57" name="TextBox 56"/>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Wuhan Baisida Gas</a:t>
            </a:r>
          </a:p>
        </p:txBody>
      </p:sp>
      <p:sp>
        <p:nvSpPr>
          <p:cNvPr id="58" name="Rectangle 57"/>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Segoe UI"/>
              </a:rPr>
              <a:t>3</a:t>
            </a:r>
          </a:p>
        </p:txBody>
      </p:sp>
      <p:sp>
        <p:nvSpPr>
          <p:cNvPr id="60" name="TextBox 59"/>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Segoe UI"/>
              </a:rPr>
              <a:t>Shanghai Wechem Chemical</a:t>
            </a:r>
          </a:p>
        </p:txBody>
      </p:sp>
      <p:sp>
        <p:nvSpPr>
          <p:cNvPr id="61" name="Rectangle 60"/>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1</a:t>
            </a:r>
          </a:p>
        </p:txBody>
      </p:sp>
      <p:sp>
        <p:nvSpPr>
          <p:cNvPr id="63" name="TextBox 62"/>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64" name="TextBox 63"/>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65" name="Rectangle 64"/>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2</a:t>
            </a:r>
          </a:p>
        </p:txBody>
      </p:sp>
      <p:sp>
        <p:nvSpPr>
          <p:cNvPr id="67" name="TextBox 66"/>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68" name="TextBox 67"/>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69" name="Rectangle 68"/>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Segoe UI"/>
              </a:rPr>
              <a:t>Tier 3</a:t>
            </a:r>
          </a:p>
        </p:txBody>
      </p:sp>
      <p:sp>
        <p:nvSpPr>
          <p:cNvPr id="71" name="TextBox 70"/>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Segoe UI"/>
              </a:rPr>
              <a:t> </a:t>
            </a:r>
          </a:p>
        </p:txBody>
      </p:sp>
      <p:sp>
        <p:nvSpPr>
          <p:cNvPr id="72" name="TextBox 71"/>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Segoe UI"/>
              </a:rPr>
              <a:t>combined share</a:t>
            </a:r>
          </a:p>
        </p:txBody>
      </p:sp>
      <p:sp>
        <p:nvSpPr>
          <p:cNvPr id="73" name="TextBox 72"/>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Segoe UI"/>
              </a:rPr>
              <a:t>BY TYPE   Tier 1 4   |   Tier 2 2   |   Tier 3 4      BY REACH   Global 4   |   Regional 2   |   Local or niche 4</a:t>
            </a:r>
          </a:p>
        </p:txBody>
      </p:sp>
      <p:sp>
        <p:nvSpPr>
          <p:cNvPr id="74" name="Rectangle 73"/>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1</a:t>
            </a:r>
          </a:p>
        </p:txBody>
      </p:sp>
      <p:sp>
        <p:nvSpPr>
          <p:cNvPr id="76" name="TextBox 75"/>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77" name="TextBox 76"/>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Direct + key accounts; premium / bundled positioning.</a:t>
            </a:r>
          </a:p>
        </p:txBody>
      </p:sp>
      <p:sp>
        <p:nvSpPr>
          <p:cNvPr id="78" name="TextBox 77"/>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79" name="TextBox 78"/>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80" name="Rectangle 79"/>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2</a:t>
            </a:r>
          </a:p>
        </p:txBody>
      </p:sp>
      <p:sp>
        <p:nvSpPr>
          <p:cNvPr id="82" name="TextBox 81"/>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83" name="TextBox 82"/>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Distributors; mid / value-added positioning.</a:t>
            </a:r>
          </a:p>
        </p:txBody>
      </p:sp>
      <p:sp>
        <p:nvSpPr>
          <p:cNvPr id="84" name="TextBox 83"/>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85" name="TextBox 84"/>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86" name="Rectangle 85"/>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Segoe UI"/>
              </a:rPr>
              <a:t>Tier 3</a:t>
            </a:r>
          </a:p>
        </p:txBody>
      </p:sp>
      <p:sp>
        <p:nvSpPr>
          <p:cNvPr id="88" name="TextBox 87"/>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HOW IT EARNS</a:t>
            </a:r>
          </a:p>
        </p:txBody>
      </p:sp>
      <p:sp>
        <p:nvSpPr>
          <p:cNvPr id="89" name="TextBox 88"/>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Regional partners; value / entry positioning.</a:t>
            </a:r>
          </a:p>
        </p:txBody>
      </p:sp>
      <p:sp>
        <p:nvSpPr>
          <p:cNvPr id="90" name="TextBox 89"/>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Segoe UI"/>
              </a:rPr>
              <a:t>DOMINANT STRATEGY</a:t>
            </a:r>
          </a:p>
        </p:txBody>
      </p:sp>
      <p:sp>
        <p:nvSpPr>
          <p:cNvPr id="91" name="TextBox 90"/>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
            </a:r>
          </a:p>
        </p:txBody>
      </p:sp>
      <p:sp>
        <p:nvSpPr>
          <p:cNvPr id="92" name="TextBox 9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97" name="Picture 96" descr="lock.png"/>
          <p:cNvPicPr>
            <a:picLocks noChangeAspect="1"/>
          </p:cNvPicPr>
          <p:nvPr/>
        </p:nvPicPr>
        <p:blipFill>
          <a:blip r:embed="rId4"/>
          <a:stretch>
            <a:fillRect/>
          </a:stretch>
        </p:blipFill>
        <p:spPr>
          <a:xfrm>
            <a:off x="1436476" y="5867145"/>
            <a:ext cx="128699" cy="187198"/>
          </a:xfrm>
          <a:prstGeom prst="rect">
            <a:avLst/>
          </a:prstGeom>
        </p:spPr>
      </p:pic>
      <p:sp>
        <p:nvSpPr>
          <p:cNvPr id="98" name="TextBox 97"/>
          <p:cNvSpPr txBox="1"/>
          <p:nvPr/>
        </p:nvSpPr>
        <p:spPr>
          <a:xfrm>
            <a:off x="1603972"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
        <p:nvSpPr>
          <p:cNvPr id="99" name="TextBox 98"/>
          <p:cNvSpPr txBox="1"/>
          <p:nvPr/>
        </p:nvSpPr>
        <p:spPr>
          <a:xfrm>
            <a:off x="3219450"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100" name="Picture 99" descr="lock.png"/>
          <p:cNvPicPr>
            <a:picLocks noChangeAspect="1"/>
          </p:cNvPicPr>
          <p:nvPr/>
        </p:nvPicPr>
        <p:blipFill>
          <a:blip r:embed="rId4"/>
          <a:stretch>
            <a:fillRect/>
          </a:stretch>
        </p:blipFill>
        <p:spPr>
          <a:xfrm>
            <a:off x="4436851" y="5867145"/>
            <a:ext cx="128699" cy="187198"/>
          </a:xfrm>
          <a:prstGeom prst="rect">
            <a:avLst/>
          </a:prstGeom>
        </p:spPr>
      </p:pic>
      <p:sp>
        <p:nvSpPr>
          <p:cNvPr id="101" name="TextBox 100"/>
          <p:cNvSpPr txBox="1"/>
          <p:nvPr/>
        </p:nvSpPr>
        <p:spPr>
          <a:xfrm>
            <a:off x="4604347"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
        <p:nvSpPr>
          <p:cNvPr id="102" name="TextBox 101"/>
          <p:cNvSpPr txBox="1"/>
          <p:nvPr/>
        </p:nvSpPr>
        <p:spPr>
          <a:xfrm>
            <a:off x="6219825" y="5876925"/>
            <a:ext cx="1269350" cy="186689"/>
          </a:xfrm>
          <a:prstGeom prst="rect">
            <a:avLst/>
          </a:prstGeom>
          <a:noFill/>
        </p:spPr>
        <p:txBody>
          <a:bodyPr wrap="none" lIns="0" rIns="0" tIns="0" bIns="0">
            <a:spAutoFit/>
          </a:bodyPr>
          <a:lstStyle/>
          <a:p>
            <a:r>
              <a:rPr sz="1100" b="0">
                <a:solidFill>
                  <a:srgbClr val="1F2933"/>
                </a:solidFill>
                <a:latin typeface="Segoe UI"/>
              </a:rPr>
              <a:t>Launch-led growth;</a:t>
            </a:r>
          </a:p>
        </p:txBody>
      </p:sp>
      <p:pic>
        <p:nvPicPr>
          <p:cNvPr id="103" name="Picture 102" descr="lock.png"/>
          <p:cNvPicPr>
            <a:picLocks noChangeAspect="1"/>
          </p:cNvPicPr>
          <p:nvPr/>
        </p:nvPicPr>
        <p:blipFill>
          <a:blip r:embed="rId4"/>
          <a:stretch>
            <a:fillRect/>
          </a:stretch>
        </p:blipFill>
        <p:spPr>
          <a:xfrm>
            <a:off x="7437226" y="5867145"/>
            <a:ext cx="128699" cy="187198"/>
          </a:xfrm>
          <a:prstGeom prst="rect">
            <a:avLst/>
          </a:prstGeom>
        </p:spPr>
      </p:pic>
      <p:sp>
        <p:nvSpPr>
          <p:cNvPr id="104" name="TextBox 103"/>
          <p:cNvSpPr txBox="1"/>
          <p:nvPr/>
        </p:nvSpPr>
        <p:spPr>
          <a:xfrm>
            <a:off x="7604722" y="5876925"/>
            <a:ext cx="1093360" cy="186689"/>
          </a:xfrm>
          <a:prstGeom prst="rect">
            <a:avLst/>
          </a:prstGeom>
          <a:noFill/>
        </p:spPr>
        <p:txBody>
          <a:bodyPr wrap="none" lIns="0" rIns="0" tIns="0" bIns="0">
            <a:spAutoFit/>
          </a:bodyPr>
          <a:lstStyle/>
          <a:p>
            <a:r>
              <a:rPr sz="1100" b="0">
                <a:solidFill>
                  <a:srgbClr val="1F2933"/>
                </a:solidFill>
                <a:latin typeface="Segoe UI"/>
              </a:rPr>
              <a:t>combined share.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Corporate Scorecard: Who They Are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Eight corporate Ps for every named competitor: ownership, strategy, breadth, presence, scale and performance</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1, CORPORATE: WHO THEY ARE</a:t>
            </a:r>
          </a:p>
        </p:txBody>
      </p:sp>
      <p:sp>
        <p:nvSpPr>
          <p:cNvPr id="10" name="TextBox 9"/>
          <p:cNvSpPr txBox="1"/>
          <p:nvPr/>
        </p:nvSpPr>
        <p:spPr>
          <a:xfrm>
            <a:off x="2318355" y="1295400"/>
            <a:ext cx="223838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Parent and ownership</a:t>
            </a:r>
          </a:p>
        </p:txBody>
      </p:sp>
      <p:sp>
        <p:nvSpPr>
          <p:cNvPr id="11" name="TextBox 10"/>
          <p:cNvSpPr txBox="1"/>
          <p:nvPr/>
        </p:nvSpPr>
        <p:spPr>
          <a:xfrm>
            <a:off x="2318355" y="1657350"/>
            <a:ext cx="223838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From the company roster</a:t>
            </a:r>
          </a:p>
        </p:txBody>
      </p:sp>
      <p:sp>
        <p:nvSpPr>
          <p:cNvPr id="12" name="TextBox 11"/>
          <p:cNvSpPr txBox="1"/>
          <p:nvPr/>
        </p:nvSpPr>
        <p:spPr>
          <a:xfrm>
            <a:off x="4632937" y="1295400"/>
            <a:ext cx="115824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Purpose (strategy)</a:t>
            </a:r>
          </a:p>
        </p:txBody>
      </p:sp>
      <p:sp>
        <p:nvSpPr>
          <p:cNvPr id="13" name="TextBox 12"/>
          <p:cNvSpPr txBox="1"/>
          <p:nvPr/>
        </p:nvSpPr>
        <p:spPr>
          <a:xfrm>
            <a:off x="4632937" y="1657350"/>
            <a:ext cx="115824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Dominant active move</a:t>
            </a:r>
          </a:p>
        </p:txBody>
      </p:sp>
      <p:sp>
        <p:nvSpPr>
          <p:cNvPr id="14" name="TextBox 13"/>
          <p:cNvSpPr txBox="1"/>
          <p:nvPr/>
        </p:nvSpPr>
        <p:spPr>
          <a:xfrm>
            <a:off x="5867381"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Portfolio breadth</a:t>
            </a:r>
          </a:p>
        </p:txBody>
      </p:sp>
      <p:sp>
        <p:nvSpPr>
          <p:cNvPr id="15" name="TextBox 14"/>
          <p:cNvSpPr txBox="1"/>
          <p:nvPr/>
        </p:nvSpPr>
        <p:spPr>
          <a:xfrm>
            <a:off x="5867381"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Sub-segments: 6+ 3, 4+ 2, 2+ 1</a:t>
            </a:r>
          </a:p>
        </p:txBody>
      </p:sp>
      <p:sp>
        <p:nvSpPr>
          <p:cNvPr id="16" name="TextBox 15"/>
          <p:cNvSpPr txBox="1"/>
          <p:nvPr/>
        </p:nvSpPr>
        <p:spPr>
          <a:xfrm>
            <a:off x="6896084"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Presence</a:t>
            </a:r>
          </a:p>
        </p:txBody>
      </p:sp>
      <p:sp>
        <p:nvSpPr>
          <p:cNvPr id="17" name="TextBox 16"/>
          <p:cNvSpPr txBox="1"/>
          <p:nvPr/>
        </p:nvSpPr>
        <p:spPr>
          <a:xfrm>
            <a:off x="6896084"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Global 3, regional 2, local 1</a:t>
            </a:r>
          </a:p>
        </p:txBody>
      </p:sp>
      <p:sp>
        <p:nvSpPr>
          <p:cNvPr id="18" name="TextBox 17"/>
          <p:cNvSpPr txBox="1"/>
          <p:nvPr/>
        </p:nvSpPr>
        <p:spPr>
          <a:xfrm>
            <a:off x="7924787"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Power (scale)</a:t>
            </a:r>
          </a:p>
        </p:txBody>
      </p:sp>
      <p:sp>
        <p:nvSpPr>
          <p:cNvPr id="19" name="TextBox 18"/>
          <p:cNvSpPr txBox="1"/>
          <p:nvPr/>
        </p:nvSpPr>
        <p:spPr>
          <a:xfrm>
            <a:off x="7924787"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Tier 1 = 3, 2 = 2, 3 = 1</a:t>
            </a:r>
          </a:p>
        </p:txBody>
      </p:sp>
      <p:sp>
        <p:nvSpPr>
          <p:cNvPr id="20" name="TextBox 19"/>
          <p:cNvSpPr txBox="1"/>
          <p:nvPr/>
        </p:nvSpPr>
        <p:spPr>
          <a:xfrm>
            <a:off x="8953490"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Performance</a:t>
            </a:r>
          </a:p>
        </p:txBody>
      </p:sp>
      <p:sp>
        <p:nvSpPr>
          <p:cNvPr id="21" name="TextBox 20"/>
          <p:cNvSpPr txBox="1"/>
          <p:nvPr/>
        </p:nvSpPr>
        <p:spPr>
          <a:xfrm>
            <a:off x="8953490"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
            </a:r>
          </a:p>
        </p:txBody>
      </p:sp>
      <p:sp>
        <p:nvSpPr>
          <p:cNvPr id="22" name="TextBox 21"/>
          <p:cNvSpPr txBox="1"/>
          <p:nvPr/>
        </p:nvSpPr>
        <p:spPr>
          <a:xfrm>
            <a:off x="9982194"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People</a:t>
            </a:r>
          </a:p>
        </p:txBody>
      </p:sp>
      <p:sp>
        <p:nvSpPr>
          <p:cNvPr id="23" name="TextBox 22"/>
          <p:cNvSpPr txBox="1"/>
          <p:nvPr/>
        </p:nvSpPr>
        <p:spPr>
          <a:xfrm>
            <a:off x="9982194"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Talent; not assessed</a:t>
            </a:r>
          </a:p>
        </p:txBody>
      </p:sp>
      <p:sp>
        <p:nvSpPr>
          <p:cNvPr id="24" name="TextBox 23"/>
          <p:cNvSpPr txBox="1"/>
          <p:nvPr/>
        </p:nvSpPr>
        <p:spPr>
          <a:xfrm>
            <a:off x="11010897" y="1295400"/>
            <a:ext cx="95250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Partnerships</a:t>
            </a:r>
          </a:p>
        </p:txBody>
      </p:sp>
      <p:sp>
        <p:nvSpPr>
          <p:cNvPr id="25" name="TextBox 24"/>
          <p:cNvSpPr txBox="1"/>
          <p:nvPr/>
        </p:nvSpPr>
        <p:spPr>
          <a:xfrm>
            <a:off x="11010897" y="1657350"/>
            <a:ext cx="95250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Named alliances</a:t>
            </a:r>
          </a:p>
        </p:txBody>
      </p:sp>
      <p:cxnSp>
        <p:nvCxnSpPr>
          <p:cNvPr id="26" name="Connector 25"/>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5750" y="22479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 Liquide</a:t>
            </a:r>
          </a:p>
        </p:txBody>
      </p:sp>
      <p:sp>
        <p:nvSpPr>
          <p:cNvPr id="29" name="TextBox 28"/>
          <p:cNvSpPr txBox="1"/>
          <p:nvPr/>
        </p:nvSpPr>
        <p:spPr>
          <a:xfrm>
            <a:off x="285750" y="24098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0" name="TextBox 29"/>
          <p:cNvSpPr txBox="1"/>
          <p:nvPr/>
        </p:nvSpPr>
        <p:spPr>
          <a:xfrm>
            <a:off x="2280255" y="22288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1" name="TextBox 30"/>
          <p:cNvSpPr txBox="1"/>
          <p:nvPr/>
        </p:nvSpPr>
        <p:spPr>
          <a:xfrm>
            <a:off x="4632937" y="22288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32" name="Oval 31"/>
          <p:cNvSpPr/>
          <p:nvPr/>
        </p:nvSpPr>
        <p:spPr>
          <a:xfrm>
            <a:off x="6267432"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343650" y="2324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2961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32483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35354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44094" y="22288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8" name="TextBox 37"/>
          <p:cNvSpPr txBox="1"/>
          <p:nvPr/>
        </p:nvSpPr>
        <p:spPr>
          <a:xfrm>
            <a:off x="10972797" y="22288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39" name="Connector 38"/>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5750" y="25908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Linde</a:t>
            </a:r>
          </a:p>
        </p:txBody>
      </p:sp>
      <p:sp>
        <p:nvSpPr>
          <p:cNvPr id="42" name="TextBox 41"/>
          <p:cNvSpPr txBox="1"/>
          <p:nvPr/>
        </p:nvSpPr>
        <p:spPr>
          <a:xfrm>
            <a:off x="285750" y="27527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3" name="TextBox 42"/>
          <p:cNvSpPr txBox="1"/>
          <p:nvPr/>
        </p:nvSpPr>
        <p:spPr>
          <a:xfrm>
            <a:off x="2280255" y="25717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4" name="TextBox 43"/>
          <p:cNvSpPr txBox="1"/>
          <p:nvPr/>
        </p:nvSpPr>
        <p:spPr>
          <a:xfrm>
            <a:off x="4632937" y="25717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45" name="Oval 44"/>
          <p:cNvSpPr/>
          <p:nvPr/>
        </p:nvSpPr>
        <p:spPr>
          <a:xfrm>
            <a:off x="6267432"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6343650"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29613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32483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353542"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44094" y="25717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1" name="TextBox 50"/>
          <p:cNvSpPr txBox="1"/>
          <p:nvPr/>
        </p:nvSpPr>
        <p:spPr>
          <a:xfrm>
            <a:off x="10972797" y="25717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Chemgas</a:t>
            </a:r>
          </a:p>
        </p:txBody>
      </p:sp>
      <p:sp>
        <p:nvSpPr>
          <p:cNvPr id="55" name="TextBox 54"/>
          <p:cNvSpPr txBox="1"/>
          <p:nvPr/>
        </p:nvSpPr>
        <p:spPr>
          <a:xfrm>
            <a:off x="285750" y="30956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56" name="TextBox 55"/>
          <p:cNvSpPr txBox="1"/>
          <p:nvPr/>
        </p:nvSpPr>
        <p:spPr>
          <a:xfrm>
            <a:off x="2280255" y="29146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7" name="TextBox 56"/>
          <p:cNvSpPr txBox="1"/>
          <p:nvPr/>
        </p:nvSpPr>
        <p:spPr>
          <a:xfrm>
            <a:off x="4632937" y="29146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58" name="Oval 57"/>
          <p:cNvSpPr/>
          <p:nvPr/>
        </p:nvSpPr>
        <p:spPr>
          <a:xfrm>
            <a:off x="626743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634365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96136"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32483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35354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942975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44094" y="29146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5" name="TextBox 64"/>
          <p:cNvSpPr txBox="1"/>
          <p:nvPr/>
        </p:nvSpPr>
        <p:spPr>
          <a:xfrm>
            <a:off x="10972797" y="29146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66" name="Connector 65"/>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5750" y="32766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Airgas</a:t>
            </a:r>
          </a:p>
        </p:txBody>
      </p:sp>
      <p:sp>
        <p:nvSpPr>
          <p:cNvPr id="69" name="TextBox 68"/>
          <p:cNvSpPr txBox="1"/>
          <p:nvPr/>
        </p:nvSpPr>
        <p:spPr>
          <a:xfrm>
            <a:off x="285750" y="34385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70" name="TextBox 69"/>
          <p:cNvSpPr txBox="1"/>
          <p:nvPr/>
        </p:nvSpPr>
        <p:spPr>
          <a:xfrm>
            <a:off x="2280255" y="32575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1" name="TextBox 70"/>
          <p:cNvSpPr txBox="1"/>
          <p:nvPr/>
        </p:nvSpPr>
        <p:spPr>
          <a:xfrm>
            <a:off x="4632937" y="32575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72" name="Oval 71"/>
          <p:cNvSpPr/>
          <p:nvPr/>
        </p:nvSpPr>
        <p:spPr>
          <a:xfrm>
            <a:off x="6267432"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6343650" y="33528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296136"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32483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353542"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9429750"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44094" y="32575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9" name="TextBox 78"/>
          <p:cNvSpPr txBox="1"/>
          <p:nvPr/>
        </p:nvSpPr>
        <p:spPr>
          <a:xfrm>
            <a:off x="10972797" y="32575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80" name="Connector 79"/>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6195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Merck KGaA</a:t>
            </a:r>
          </a:p>
        </p:txBody>
      </p:sp>
      <p:sp>
        <p:nvSpPr>
          <p:cNvPr id="83" name="TextBox 82"/>
          <p:cNvSpPr txBox="1"/>
          <p:nvPr/>
        </p:nvSpPr>
        <p:spPr>
          <a:xfrm>
            <a:off x="285750" y="37814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84" name="TextBox 83"/>
          <p:cNvSpPr txBox="1"/>
          <p:nvPr/>
        </p:nvSpPr>
        <p:spPr>
          <a:xfrm>
            <a:off x="2280255" y="36004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5" name="TextBox 84"/>
          <p:cNvSpPr txBox="1"/>
          <p:nvPr/>
        </p:nvSpPr>
        <p:spPr>
          <a:xfrm>
            <a:off x="4632937" y="36004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86" name="Oval 85"/>
          <p:cNvSpPr/>
          <p:nvPr/>
        </p:nvSpPr>
        <p:spPr>
          <a:xfrm>
            <a:off x="626743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63436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296136"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73723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32483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84010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9353542"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942975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44094" y="36004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5" name="TextBox 94"/>
          <p:cNvSpPr txBox="1"/>
          <p:nvPr/>
        </p:nvSpPr>
        <p:spPr>
          <a:xfrm>
            <a:off x="10972797" y="36004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96" name="Connector 95"/>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85750" y="39624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Eurisotop</a:t>
            </a:r>
          </a:p>
        </p:txBody>
      </p:sp>
      <p:sp>
        <p:nvSpPr>
          <p:cNvPr id="99" name="TextBox 98"/>
          <p:cNvSpPr txBox="1"/>
          <p:nvPr/>
        </p:nvSpPr>
        <p:spPr>
          <a:xfrm>
            <a:off x="285750" y="41243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100" name="TextBox 99"/>
          <p:cNvSpPr txBox="1"/>
          <p:nvPr/>
        </p:nvSpPr>
        <p:spPr>
          <a:xfrm>
            <a:off x="2280255" y="39433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1" name="TextBox 100"/>
          <p:cNvSpPr txBox="1"/>
          <p:nvPr/>
        </p:nvSpPr>
        <p:spPr>
          <a:xfrm>
            <a:off x="4632937" y="39433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02" name="Oval 101"/>
          <p:cNvSpPr/>
          <p:nvPr/>
        </p:nvSpPr>
        <p:spPr>
          <a:xfrm>
            <a:off x="626743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63436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72961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73723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32483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84010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35354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942975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944094" y="39433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1" name="TextBox 110"/>
          <p:cNvSpPr txBox="1"/>
          <p:nvPr/>
        </p:nvSpPr>
        <p:spPr>
          <a:xfrm>
            <a:off x="10972797" y="39433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12" name="Connector 111"/>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43053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ISOFLEX USA</a:t>
            </a:r>
          </a:p>
        </p:txBody>
      </p:sp>
      <p:sp>
        <p:nvSpPr>
          <p:cNvPr id="115" name="TextBox 114"/>
          <p:cNvSpPr txBox="1"/>
          <p:nvPr/>
        </p:nvSpPr>
        <p:spPr>
          <a:xfrm>
            <a:off x="285750" y="44672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6" name="TextBox 115"/>
          <p:cNvSpPr txBox="1"/>
          <p:nvPr/>
        </p:nvSpPr>
        <p:spPr>
          <a:xfrm>
            <a:off x="2280255" y="42862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7" name="TextBox 116"/>
          <p:cNvSpPr txBox="1"/>
          <p:nvPr/>
        </p:nvSpPr>
        <p:spPr>
          <a:xfrm>
            <a:off x="4632937" y="42862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118" name="Oval 117"/>
          <p:cNvSpPr/>
          <p:nvPr/>
        </p:nvSpPr>
        <p:spPr>
          <a:xfrm>
            <a:off x="626743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634365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2961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737235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832483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840105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935354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942975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944094" y="42862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7" name="TextBox 126"/>
          <p:cNvSpPr txBox="1"/>
          <p:nvPr/>
        </p:nvSpPr>
        <p:spPr>
          <a:xfrm>
            <a:off x="10972797" y="42862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28" name="Connector 127"/>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85750" y="46482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DWS Specialty Gas</a:t>
            </a:r>
          </a:p>
        </p:txBody>
      </p:sp>
      <p:sp>
        <p:nvSpPr>
          <p:cNvPr id="131" name="TextBox 130"/>
          <p:cNvSpPr txBox="1"/>
          <p:nvPr/>
        </p:nvSpPr>
        <p:spPr>
          <a:xfrm>
            <a:off x="285750" y="48101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32" name="TextBox 131"/>
          <p:cNvSpPr txBox="1"/>
          <p:nvPr/>
        </p:nvSpPr>
        <p:spPr>
          <a:xfrm>
            <a:off x="2280255" y="46291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33" name="TextBox 132"/>
          <p:cNvSpPr txBox="1"/>
          <p:nvPr/>
        </p:nvSpPr>
        <p:spPr>
          <a:xfrm>
            <a:off x="4632937" y="46291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34" name="Oval 133"/>
          <p:cNvSpPr/>
          <p:nvPr/>
        </p:nvSpPr>
        <p:spPr>
          <a:xfrm>
            <a:off x="626743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634365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72961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737235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832483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reeform 138"/>
          <p:cNvSpPr/>
          <p:nvPr/>
        </p:nvSpPr>
        <p:spPr>
          <a:xfrm>
            <a:off x="840105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935354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942975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9944094" y="46291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43" name="TextBox 142"/>
          <p:cNvSpPr txBox="1"/>
          <p:nvPr/>
        </p:nvSpPr>
        <p:spPr>
          <a:xfrm>
            <a:off x="10972797" y="46291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44" name="Connector 14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5" name="Rectangle 14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85750" y="49911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Wuhan Baisida Gas</a:t>
            </a:r>
          </a:p>
        </p:txBody>
      </p:sp>
      <p:sp>
        <p:nvSpPr>
          <p:cNvPr id="147" name="TextBox 146"/>
          <p:cNvSpPr txBox="1"/>
          <p:nvPr/>
        </p:nvSpPr>
        <p:spPr>
          <a:xfrm>
            <a:off x="285750" y="51530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48" name="TextBox 147"/>
          <p:cNvSpPr txBox="1"/>
          <p:nvPr/>
        </p:nvSpPr>
        <p:spPr>
          <a:xfrm>
            <a:off x="2280255" y="49720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49" name="TextBox 148"/>
          <p:cNvSpPr txBox="1"/>
          <p:nvPr/>
        </p:nvSpPr>
        <p:spPr>
          <a:xfrm>
            <a:off x="4632937" y="49720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Buy to scale</a:t>
            </a:r>
          </a:p>
        </p:txBody>
      </p:sp>
      <p:sp>
        <p:nvSpPr>
          <p:cNvPr id="150" name="Oval 149"/>
          <p:cNvSpPr/>
          <p:nvPr/>
        </p:nvSpPr>
        <p:spPr>
          <a:xfrm>
            <a:off x="626743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eeform 150"/>
          <p:cNvSpPr/>
          <p:nvPr/>
        </p:nvSpPr>
        <p:spPr>
          <a:xfrm>
            <a:off x="634365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7296136"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737235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832483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840105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9353542"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942975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944094" y="49720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59" name="TextBox 158"/>
          <p:cNvSpPr txBox="1"/>
          <p:nvPr/>
        </p:nvSpPr>
        <p:spPr>
          <a:xfrm>
            <a:off x="10972797" y="49720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60" name="Connector 159"/>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1" name="Rectangle 160"/>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285750" y="53340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Shanghai Wechem Chemical</a:t>
            </a:r>
          </a:p>
        </p:txBody>
      </p:sp>
      <p:sp>
        <p:nvSpPr>
          <p:cNvPr id="163" name="TextBox 162"/>
          <p:cNvSpPr txBox="1"/>
          <p:nvPr/>
        </p:nvSpPr>
        <p:spPr>
          <a:xfrm>
            <a:off x="285750" y="54959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64" name="TextBox 163"/>
          <p:cNvSpPr txBox="1"/>
          <p:nvPr/>
        </p:nvSpPr>
        <p:spPr>
          <a:xfrm>
            <a:off x="2280255" y="5314950"/>
            <a:ext cx="2314582"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65" name="TextBox 164"/>
          <p:cNvSpPr txBox="1"/>
          <p:nvPr/>
        </p:nvSpPr>
        <p:spPr>
          <a:xfrm>
            <a:off x="4632937" y="5314950"/>
            <a:ext cx="115824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Launch-led growth</a:t>
            </a:r>
          </a:p>
        </p:txBody>
      </p:sp>
      <p:sp>
        <p:nvSpPr>
          <p:cNvPr id="166" name="Oval 165"/>
          <p:cNvSpPr/>
          <p:nvPr/>
        </p:nvSpPr>
        <p:spPr>
          <a:xfrm>
            <a:off x="626743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6343650"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729613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737235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832483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Freeform 170"/>
          <p:cNvSpPr/>
          <p:nvPr/>
        </p:nvSpPr>
        <p:spPr>
          <a:xfrm>
            <a:off x="840105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935354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942975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9944094" y="53149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75" name="TextBox 174"/>
          <p:cNvSpPr txBox="1"/>
          <p:nvPr/>
        </p:nvSpPr>
        <p:spPr>
          <a:xfrm>
            <a:off x="10972797" y="5314950"/>
            <a:ext cx="1028703"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76" name="Connector 17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7" name="Oval 17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79" name="Oval 17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82" name="Oval 18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Freeform 18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85" name="Oval 18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87" name="TextBox 18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88" name="TextBox 18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4 of 10 named players compete globally; scale and share follow the tier structure.</a:t>
            </a:r>
          </a:p>
        </p:txBody>
      </p:sp>
      <p:sp>
        <p:nvSpPr>
          <p:cNvPr id="189" name="TextBox 18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190" name="TextBox 189"/>
          <p:cNvSpPr txBox="1"/>
          <p:nvPr/>
        </p:nvSpPr>
        <p:spPr>
          <a:xfrm>
            <a:off x="8982065" y="1666875"/>
            <a:ext cx="380872" cy="166573"/>
          </a:xfrm>
          <a:prstGeom prst="rect">
            <a:avLst/>
          </a:prstGeom>
          <a:noFill/>
        </p:spPr>
        <p:txBody>
          <a:bodyPr wrap="none" lIns="0" rIns="0" tIns="0" bIns="0">
            <a:spAutoFit/>
          </a:bodyPr>
          <a:lstStyle/>
          <a:p>
            <a:r>
              <a:rPr sz="968" b="0">
                <a:solidFill>
                  <a:srgbClr val="5F6B7A"/>
                </a:solidFill>
                <a:latin typeface="Segoe UI"/>
              </a:rPr>
              <a:t>Share</a:t>
            </a:r>
          </a:p>
        </p:txBody>
      </p:sp>
      <p:pic>
        <p:nvPicPr>
          <p:cNvPr id="191" name="Picture 190" descr="lock.png"/>
          <p:cNvPicPr>
            <a:picLocks noChangeAspect="1"/>
          </p:cNvPicPr>
          <p:nvPr/>
        </p:nvPicPr>
        <p:blipFill>
          <a:blip r:embed="rId4"/>
          <a:stretch>
            <a:fillRect/>
          </a:stretch>
        </p:blipFill>
        <p:spPr>
          <a:xfrm>
            <a:off x="9308078" y="1658269"/>
            <a:ext cx="113255" cy="164734"/>
          </a:xfrm>
          <a:prstGeom prst="rect">
            <a:avLst/>
          </a:prstGeom>
        </p:spPr>
      </p:pic>
      <p:sp>
        <p:nvSpPr>
          <p:cNvPr id="192" name="TextBox 191"/>
          <p:cNvSpPr txBox="1"/>
          <p:nvPr/>
        </p:nvSpPr>
        <p:spPr>
          <a:xfrm>
            <a:off x="9455475" y="1666875"/>
            <a:ext cx="404429" cy="166573"/>
          </a:xfrm>
          <a:prstGeom prst="rect">
            <a:avLst/>
          </a:prstGeom>
          <a:noFill/>
        </p:spPr>
        <p:txBody>
          <a:bodyPr wrap="none" lIns="0" rIns="0" tIns="0" bIns="0">
            <a:spAutoFit/>
          </a:bodyPr>
          <a:lstStyle/>
          <a:p>
            <a:r>
              <a:rPr sz="968" b="0">
                <a:solidFill>
                  <a:srgbClr val="5F6B7A"/>
                </a:solidFill>
                <a:latin typeface="Segoe UI"/>
              </a:rPr>
              <a:t>+ = 3,</a:t>
            </a:r>
          </a:p>
        </p:txBody>
      </p:sp>
      <p:pic>
        <p:nvPicPr>
          <p:cNvPr id="193" name="Picture 192" descr="lock.png"/>
          <p:cNvPicPr>
            <a:picLocks noChangeAspect="1"/>
          </p:cNvPicPr>
          <p:nvPr/>
        </p:nvPicPr>
        <p:blipFill>
          <a:blip r:embed="rId4"/>
          <a:stretch>
            <a:fillRect/>
          </a:stretch>
        </p:blipFill>
        <p:spPr>
          <a:xfrm>
            <a:off x="8970213" y="1805792"/>
            <a:ext cx="113255" cy="164734"/>
          </a:xfrm>
          <a:prstGeom prst="rect">
            <a:avLst/>
          </a:prstGeom>
        </p:spPr>
      </p:pic>
      <p:sp>
        <p:nvSpPr>
          <p:cNvPr id="194" name="TextBox 193"/>
          <p:cNvSpPr txBox="1"/>
          <p:nvPr/>
        </p:nvSpPr>
        <p:spPr>
          <a:xfrm>
            <a:off x="9117610" y="1814398"/>
            <a:ext cx="630852" cy="166573"/>
          </a:xfrm>
          <a:prstGeom prst="rect">
            <a:avLst/>
          </a:prstGeom>
          <a:noFill/>
        </p:spPr>
        <p:txBody>
          <a:bodyPr wrap="none" lIns="0" rIns="0" tIns="0" bIns="0">
            <a:spAutoFit/>
          </a:bodyPr>
          <a:lstStyle/>
          <a:p>
            <a:r>
              <a:rPr sz="968" b="0">
                <a:solidFill>
                  <a:srgbClr val="5F6B7A"/>
                </a:solidFill>
                <a:latin typeface="Segoe UI"/>
              </a:rPr>
              <a:t>= 2, else 1</a:t>
            </a:r>
          </a:p>
        </p:txBody>
      </p:sp>
      <p:pic>
        <p:nvPicPr>
          <p:cNvPr id="195" name="Picture 194" descr="lock.png"/>
          <p:cNvPicPr>
            <a:picLocks noChangeAspect="1"/>
          </p:cNvPicPr>
          <p:nvPr/>
        </p:nvPicPr>
        <p:blipFill>
          <a:blip r:embed="rId4"/>
          <a:stretch>
            <a:fillRect/>
          </a:stretch>
        </p:blipFill>
        <p:spPr>
          <a:xfrm>
            <a:off x="3373196" y="23067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0394096" y="23067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1422799" y="2306701"/>
            <a:ext cx="128699" cy="187198"/>
          </a:xfrm>
          <a:prstGeom prst="rect">
            <a:avLst/>
          </a:prstGeom>
        </p:spPr>
      </p:pic>
      <p:pic>
        <p:nvPicPr>
          <p:cNvPr id="198" name="Picture 197" descr="lock.png"/>
          <p:cNvPicPr>
            <a:picLocks noChangeAspect="1"/>
          </p:cNvPicPr>
          <p:nvPr/>
        </p:nvPicPr>
        <p:blipFill>
          <a:blip r:embed="rId4"/>
          <a:stretch>
            <a:fillRect/>
          </a:stretch>
        </p:blipFill>
        <p:spPr>
          <a:xfrm>
            <a:off x="3373196" y="26496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0394096" y="26496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1422799" y="2649601"/>
            <a:ext cx="128699" cy="187198"/>
          </a:xfrm>
          <a:prstGeom prst="rect">
            <a:avLst/>
          </a:prstGeom>
        </p:spPr>
      </p:pic>
      <p:pic>
        <p:nvPicPr>
          <p:cNvPr id="201" name="Picture 200" descr="lock.png"/>
          <p:cNvPicPr>
            <a:picLocks noChangeAspect="1"/>
          </p:cNvPicPr>
          <p:nvPr/>
        </p:nvPicPr>
        <p:blipFill>
          <a:blip r:embed="rId4"/>
          <a:stretch>
            <a:fillRect/>
          </a:stretch>
        </p:blipFill>
        <p:spPr>
          <a:xfrm>
            <a:off x="3373196" y="29925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0394096" y="29925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1422799" y="2992501"/>
            <a:ext cx="128699" cy="187198"/>
          </a:xfrm>
          <a:prstGeom prst="rect">
            <a:avLst/>
          </a:prstGeom>
        </p:spPr>
      </p:pic>
      <p:pic>
        <p:nvPicPr>
          <p:cNvPr id="204" name="Picture 203" descr="lock.png"/>
          <p:cNvPicPr>
            <a:picLocks noChangeAspect="1"/>
          </p:cNvPicPr>
          <p:nvPr/>
        </p:nvPicPr>
        <p:blipFill>
          <a:blip r:embed="rId4"/>
          <a:stretch>
            <a:fillRect/>
          </a:stretch>
        </p:blipFill>
        <p:spPr>
          <a:xfrm>
            <a:off x="3373196" y="33354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0394096" y="33354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1422799" y="3335401"/>
            <a:ext cx="128699" cy="187198"/>
          </a:xfrm>
          <a:prstGeom prst="rect">
            <a:avLst/>
          </a:prstGeom>
        </p:spPr>
      </p:pic>
      <p:pic>
        <p:nvPicPr>
          <p:cNvPr id="207" name="Picture 206" descr="lock.png"/>
          <p:cNvPicPr>
            <a:picLocks noChangeAspect="1"/>
          </p:cNvPicPr>
          <p:nvPr/>
        </p:nvPicPr>
        <p:blipFill>
          <a:blip r:embed="rId4"/>
          <a:stretch>
            <a:fillRect/>
          </a:stretch>
        </p:blipFill>
        <p:spPr>
          <a:xfrm>
            <a:off x="3373196" y="36783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0394096" y="36783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1422799" y="3678301"/>
            <a:ext cx="128699" cy="187198"/>
          </a:xfrm>
          <a:prstGeom prst="rect">
            <a:avLst/>
          </a:prstGeom>
        </p:spPr>
      </p:pic>
      <p:pic>
        <p:nvPicPr>
          <p:cNvPr id="210" name="Picture 209" descr="lock.png"/>
          <p:cNvPicPr>
            <a:picLocks noChangeAspect="1"/>
          </p:cNvPicPr>
          <p:nvPr/>
        </p:nvPicPr>
        <p:blipFill>
          <a:blip r:embed="rId4"/>
          <a:stretch>
            <a:fillRect/>
          </a:stretch>
        </p:blipFill>
        <p:spPr>
          <a:xfrm>
            <a:off x="3373196" y="40212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0394096" y="40212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1422799" y="4021201"/>
            <a:ext cx="128699" cy="187198"/>
          </a:xfrm>
          <a:prstGeom prst="rect">
            <a:avLst/>
          </a:prstGeom>
        </p:spPr>
      </p:pic>
      <p:pic>
        <p:nvPicPr>
          <p:cNvPr id="213" name="Picture 212" descr="lock.png"/>
          <p:cNvPicPr>
            <a:picLocks noChangeAspect="1"/>
          </p:cNvPicPr>
          <p:nvPr/>
        </p:nvPicPr>
        <p:blipFill>
          <a:blip r:embed="rId4"/>
          <a:stretch>
            <a:fillRect/>
          </a:stretch>
        </p:blipFill>
        <p:spPr>
          <a:xfrm>
            <a:off x="3373196" y="43641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0394096" y="43641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1422799" y="4364101"/>
            <a:ext cx="128699" cy="187198"/>
          </a:xfrm>
          <a:prstGeom prst="rect">
            <a:avLst/>
          </a:prstGeom>
        </p:spPr>
      </p:pic>
      <p:pic>
        <p:nvPicPr>
          <p:cNvPr id="216" name="Picture 215" descr="lock.png"/>
          <p:cNvPicPr>
            <a:picLocks noChangeAspect="1"/>
          </p:cNvPicPr>
          <p:nvPr/>
        </p:nvPicPr>
        <p:blipFill>
          <a:blip r:embed="rId4"/>
          <a:stretch>
            <a:fillRect/>
          </a:stretch>
        </p:blipFill>
        <p:spPr>
          <a:xfrm>
            <a:off x="3373196" y="47070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0394096" y="47070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1422799" y="4707001"/>
            <a:ext cx="128699" cy="187198"/>
          </a:xfrm>
          <a:prstGeom prst="rect">
            <a:avLst/>
          </a:prstGeom>
        </p:spPr>
      </p:pic>
      <p:pic>
        <p:nvPicPr>
          <p:cNvPr id="219" name="Picture 218" descr="lock.png"/>
          <p:cNvPicPr>
            <a:picLocks noChangeAspect="1"/>
          </p:cNvPicPr>
          <p:nvPr/>
        </p:nvPicPr>
        <p:blipFill>
          <a:blip r:embed="rId4"/>
          <a:stretch>
            <a:fillRect/>
          </a:stretch>
        </p:blipFill>
        <p:spPr>
          <a:xfrm>
            <a:off x="3373196" y="50499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0394096" y="50499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1422799" y="5049901"/>
            <a:ext cx="128699" cy="187198"/>
          </a:xfrm>
          <a:prstGeom prst="rect">
            <a:avLst/>
          </a:prstGeom>
        </p:spPr>
      </p:pic>
      <p:pic>
        <p:nvPicPr>
          <p:cNvPr id="222" name="Picture 221" descr="lock.png"/>
          <p:cNvPicPr>
            <a:picLocks noChangeAspect="1"/>
          </p:cNvPicPr>
          <p:nvPr/>
        </p:nvPicPr>
        <p:blipFill>
          <a:blip r:embed="rId4"/>
          <a:stretch>
            <a:fillRect/>
          </a:stretch>
        </p:blipFill>
        <p:spPr>
          <a:xfrm>
            <a:off x="3373196" y="53928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0394096" y="5392801"/>
            <a:ext cx="128699" cy="187198"/>
          </a:xfrm>
          <a:prstGeom prst="rect">
            <a:avLst/>
          </a:prstGeom>
        </p:spPr>
      </p:pic>
      <p:pic>
        <p:nvPicPr>
          <p:cNvPr id="224" name="Picture 223" descr="lock.png"/>
          <p:cNvPicPr>
            <a:picLocks noChangeAspect="1"/>
          </p:cNvPicPr>
          <p:nvPr/>
        </p:nvPicPr>
        <p:blipFill>
          <a:blip r:embed="rId4"/>
          <a:stretch>
            <a:fillRect/>
          </a:stretch>
        </p:blipFill>
        <p:spPr>
          <a:xfrm>
            <a:off x="11422799" y="5392801"/>
            <a:ext cx="128699" cy="187198"/>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Offering Scorecard: What They Sell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Six offering Ps: product, technology, price and model, verticals, proof and IP</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2, OFFERING: WHAT THEY SELL</a:t>
            </a:r>
          </a:p>
        </p:txBody>
      </p:sp>
      <p:sp>
        <p:nvSpPr>
          <p:cNvPr id="10" name="TextBox 9"/>
          <p:cNvSpPr txBox="1"/>
          <p:nvPr/>
        </p:nvSpPr>
        <p:spPr>
          <a:xfrm>
            <a:off x="2318355" y="1295400"/>
            <a:ext cx="135339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Product</a:t>
            </a:r>
          </a:p>
        </p:txBody>
      </p:sp>
      <p:sp>
        <p:nvSpPr>
          <p:cNvPr id="11" name="TextBox 10"/>
          <p:cNvSpPr txBox="1"/>
          <p:nvPr/>
        </p:nvSpPr>
        <p:spPr>
          <a:xfrm>
            <a:off x="2318355" y="1657350"/>
            <a:ext cx="135339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Of the top three types offered</a:t>
            </a:r>
          </a:p>
        </p:txBody>
      </p:sp>
      <p:sp>
        <p:nvSpPr>
          <p:cNvPr id="12" name="TextBox 11"/>
          <p:cNvSpPr txBox="1"/>
          <p:nvPr/>
        </p:nvSpPr>
        <p:spPr>
          <a:xfrm>
            <a:off x="3747950" y="1295400"/>
            <a:ext cx="135339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Platform (technology)</a:t>
            </a:r>
          </a:p>
        </p:txBody>
      </p:sp>
      <p:sp>
        <p:nvSpPr>
          <p:cNvPr id="13" name="TextBox 12"/>
          <p:cNvSpPr txBox="1"/>
          <p:nvPr/>
        </p:nvSpPr>
        <p:spPr>
          <a:xfrm>
            <a:off x="3747950" y="1657350"/>
            <a:ext cx="135339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R&amp;D and development: both 3, one 2</a:t>
            </a:r>
          </a:p>
        </p:txBody>
      </p:sp>
      <p:sp>
        <p:nvSpPr>
          <p:cNvPr id="14" name="TextBox 13"/>
          <p:cNvSpPr txBox="1"/>
          <p:nvPr/>
        </p:nvSpPr>
        <p:spPr>
          <a:xfrm>
            <a:off x="5177544"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Price and model</a:t>
            </a:r>
          </a:p>
        </p:txBody>
      </p:sp>
      <p:sp>
        <p:nvSpPr>
          <p:cNvPr id="15" name="TextBox 14"/>
          <p:cNvSpPr txBox="1"/>
          <p:nvPr/>
        </p:nvSpPr>
        <p:spPr>
          <a:xfrm>
            <a:off x="5177544"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Positioning by tier</a:t>
            </a:r>
          </a:p>
        </p:txBody>
      </p:sp>
      <p:sp>
        <p:nvSpPr>
          <p:cNvPr id="16" name="TextBox 15"/>
          <p:cNvSpPr txBox="1"/>
          <p:nvPr/>
        </p:nvSpPr>
        <p:spPr>
          <a:xfrm>
            <a:off x="6893058"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Positioning (verticals)</a:t>
            </a:r>
          </a:p>
        </p:txBody>
      </p:sp>
      <p:sp>
        <p:nvSpPr>
          <p:cNvPr id="17" name="TextBox 16"/>
          <p:cNvSpPr txBox="1"/>
          <p:nvPr/>
        </p:nvSpPr>
        <p:spPr>
          <a:xfrm>
            <a:off x="6893058"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End uses served</a:t>
            </a:r>
          </a:p>
        </p:txBody>
      </p:sp>
      <p:sp>
        <p:nvSpPr>
          <p:cNvPr id="18" name="TextBox 17"/>
          <p:cNvSpPr txBox="1"/>
          <p:nvPr/>
        </p:nvSpPr>
        <p:spPr>
          <a:xfrm>
            <a:off x="8608572"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Proof</a:t>
            </a:r>
          </a:p>
        </p:txBody>
      </p:sp>
      <p:sp>
        <p:nvSpPr>
          <p:cNvPr id="19" name="TextBox 18"/>
          <p:cNvSpPr txBox="1"/>
          <p:nvPr/>
        </p:nvSpPr>
        <p:spPr>
          <a:xfrm>
            <a:off x="8608572"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Named customer references</a:t>
            </a:r>
          </a:p>
        </p:txBody>
      </p:sp>
      <p:sp>
        <p:nvSpPr>
          <p:cNvPr id="20" name="TextBox 19"/>
          <p:cNvSpPr txBox="1"/>
          <p:nvPr/>
        </p:nvSpPr>
        <p:spPr>
          <a:xfrm>
            <a:off x="10324086"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Patents and IP</a:t>
            </a:r>
          </a:p>
        </p:txBody>
      </p:sp>
      <p:sp>
        <p:nvSpPr>
          <p:cNvPr id="21" name="TextBox 20"/>
          <p:cNvSpPr txBox="1"/>
          <p:nvPr/>
        </p:nvSpPr>
        <p:spPr>
          <a:xfrm>
            <a:off x="10324086"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Where the study covers patents</a:t>
            </a:r>
          </a:p>
        </p:txBody>
      </p:sp>
      <p:cxnSp>
        <p:nvCxnSpPr>
          <p:cNvPr id="22" name="Connector 21"/>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22479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 Liquide</a:t>
            </a:r>
          </a:p>
        </p:txBody>
      </p:sp>
      <p:sp>
        <p:nvSpPr>
          <p:cNvPr id="25" name="TextBox 24"/>
          <p:cNvSpPr txBox="1"/>
          <p:nvPr/>
        </p:nvSpPr>
        <p:spPr>
          <a:xfrm>
            <a:off x="285750" y="24098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26" name="Oval 25"/>
          <p:cNvSpPr/>
          <p:nvPr/>
        </p:nvSpPr>
        <p:spPr>
          <a:xfrm>
            <a:off x="2918852"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48447"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429125"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7544" y="22288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30" name="TextBox 29"/>
          <p:cNvSpPr txBox="1"/>
          <p:nvPr/>
        </p:nvSpPr>
        <p:spPr>
          <a:xfrm>
            <a:off x="6893058" y="22288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Cryogenic Refrigeration and Ultra-Low-Temperature Cooling</a:t>
            </a:r>
          </a:p>
        </p:txBody>
      </p:sp>
      <p:sp>
        <p:nvSpPr>
          <p:cNvPr id="31" name="TextBox 30"/>
          <p:cNvSpPr txBox="1"/>
          <p:nvPr/>
        </p:nvSpPr>
        <p:spPr>
          <a:xfrm>
            <a:off x="8570472" y="22288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2" name="TextBox 31"/>
          <p:cNvSpPr txBox="1"/>
          <p:nvPr/>
        </p:nvSpPr>
        <p:spPr>
          <a:xfrm>
            <a:off x="10285986" y="22288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33" name="Connector 32"/>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750" y="25908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Linde</a:t>
            </a:r>
          </a:p>
        </p:txBody>
      </p:sp>
      <p:sp>
        <p:nvSpPr>
          <p:cNvPr id="36" name="TextBox 35"/>
          <p:cNvSpPr txBox="1"/>
          <p:nvPr/>
        </p:nvSpPr>
        <p:spPr>
          <a:xfrm>
            <a:off x="285750" y="27527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7" name="Oval 36"/>
          <p:cNvSpPr/>
          <p:nvPr/>
        </p:nvSpPr>
        <p:spPr>
          <a:xfrm>
            <a:off x="2918852"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990850" y="2667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34844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7544" y="25717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41" name="TextBox 40"/>
          <p:cNvSpPr txBox="1"/>
          <p:nvPr/>
        </p:nvSpPr>
        <p:spPr>
          <a:xfrm>
            <a:off x="6893058" y="25717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Neutron Detection and Radiation Monitoring</a:t>
            </a:r>
          </a:p>
        </p:txBody>
      </p:sp>
      <p:sp>
        <p:nvSpPr>
          <p:cNvPr id="42" name="TextBox 41"/>
          <p:cNvSpPr txBox="1"/>
          <p:nvPr/>
        </p:nvSpPr>
        <p:spPr>
          <a:xfrm>
            <a:off x="8570472" y="25717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3" name="TextBox 42"/>
          <p:cNvSpPr txBox="1"/>
          <p:nvPr/>
        </p:nvSpPr>
        <p:spPr>
          <a:xfrm>
            <a:off x="10285986" y="25717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Chemgas</a:t>
            </a:r>
          </a:p>
        </p:txBody>
      </p:sp>
      <p:sp>
        <p:nvSpPr>
          <p:cNvPr id="47" name="TextBox 46"/>
          <p:cNvSpPr txBox="1"/>
          <p:nvPr/>
        </p:nvSpPr>
        <p:spPr>
          <a:xfrm>
            <a:off x="285750" y="30956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8" name="Oval 47"/>
          <p:cNvSpPr/>
          <p:nvPr/>
        </p:nvSpPr>
        <p:spPr>
          <a:xfrm>
            <a:off x="2918852"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2990850" y="30099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34844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4429125"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77544" y="29146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53" name="TextBox 52"/>
          <p:cNvSpPr txBox="1"/>
          <p:nvPr/>
        </p:nvSpPr>
        <p:spPr>
          <a:xfrm>
            <a:off x="6893058" y="29146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Cryogenic Refrigeration and Ultra-Low-Temperature Cooling, Neutron Detection and Radiation Monitoring</a:t>
            </a:r>
          </a:p>
        </p:txBody>
      </p:sp>
      <p:sp>
        <p:nvSpPr>
          <p:cNvPr id="54" name="TextBox 53"/>
          <p:cNvSpPr txBox="1"/>
          <p:nvPr/>
        </p:nvSpPr>
        <p:spPr>
          <a:xfrm>
            <a:off x="8570472" y="29146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5" name="TextBox 54"/>
          <p:cNvSpPr txBox="1"/>
          <p:nvPr/>
        </p:nvSpPr>
        <p:spPr>
          <a:xfrm>
            <a:off x="10285986" y="29146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56" name="Connector 55"/>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5750" y="32766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Airgas</a:t>
            </a:r>
          </a:p>
        </p:txBody>
      </p:sp>
      <p:sp>
        <p:nvSpPr>
          <p:cNvPr id="59" name="TextBox 58"/>
          <p:cNvSpPr txBox="1"/>
          <p:nvPr/>
        </p:nvSpPr>
        <p:spPr>
          <a:xfrm>
            <a:off x="285750" y="34385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60" name="Oval 59"/>
          <p:cNvSpPr/>
          <p:nvPr/>
        </p:nvSpPr>
        <p:spPr>
          <a:xfrm>
            <a:off x="2918852"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2990850" y="33528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34844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77544" y="32575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Premium / bundled</a:t>
            </a:r>
          </a:p>
        </p:txBody>
      </p:sp>
      <p:sp>
        <p:nvSpPr>
          <p:cNvPr id="64" name="TextBox 63"/>
          <p:cNvSpPr txBox="1"/>
          <p:nvPr/>
        </p:nvSpPr>
        <p:spPr>
          <a:xfrm>
            <a:off x="6893058" y="32575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Cryogenic Refrigeration and Ultra-Low-Temperature Cooling</a:t>
            </a:r>
          </a:p>
        </p:txBody>
      </p:sp>
      <p:sp>
        <p:nvSpPr>
          <p:cNvPr id="65" name="TextBox 64"/>
          <p:cNvSpPr txBox="1"/>
          <p:nvPr/>
        </p:nvSpPr>
        <p:spPr>
          <a:xfrm>
            <a:off x="8570472" y="32575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6" name="TextBox 65"/>
          <p:cNvSpPr txBox="1"/>
          <p:nvPr/>
        </p:nvSpPr>
        <p:spPr>
          <a:xfrm>
            <a:off x="10285986" y="32575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67" name="Connector 66"/>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6195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Merck KGaA</a:t>
            </a:r>
          </a:p>
        </p:txBody>
      </p:sp>
      <p:sp>
        <p:nvSpPr>
          <p:cNvPr id="70" name="TextBox 69"/>
          <p:cNvSpPr txBox="1"/>
          <p:nvPr/>
        </p:nvSpPr>
        <p:spPr>
          <a:xfrm>
            <a:off x="285750" y="37814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71" name="Oval 70"/>
          <p:cNvSpPr/>
          <p:nvPr/>
        </p:nvSpPr>
        <p:spPr>
          <a:xfrm>
            <a:off x="2918852"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34844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44291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77544" y="36004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Mid / value-added</a:t>
            </a:r>
          </a:p>
        </p:txBody>
      </p:sp>
      <p:sp>
        <p:nvSpPr>
          <p:cNvPr id="75" name="TextBox 74"/>
          <p:cNvSpPr txBox="1"/>
          <p:nvPr/>
        </p:nvSpPr>
        <p:spPr>
          <a:xfrm>
            <a:off x="6893058" y="36004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Neutron Detection and Radiation Monitoring</a:t>
            </a:r>
          </a:p>
        </p:txBody>
      </p:sp>
      <p:sp>
        <p:nvSpPr>
          <p:cNvPr id="76" name="TextBox 75"/>
          <p:cNvSpPr txBox="1"/>
          <p:nvPr/>
        </p:nvSpPr>
        <p:spPr>
          <a:xfrm>
            <a:off x="8570472" y="36004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7" name="TextBox 76"/>
          <p:cNvSpPr txBox="1"/>
          <p:nvPr/>
        </p:nvSpPr>
        <p:spPr>
          <a:xfrm>
            <a:off x="10285986" y="36004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78" name="Connector 77"/>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5750" y="39624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Eurisotop</a:t>
            </a:r>
          </a:p>
        </p:txBody>
      </p:sp>
      <p:sp>
        <p:nvSpPr>
          <p:cNvPr id="81" name="TextBox 80"/>
          <p:cNvSpPr txBox="1"/>
          <p:nvPr/>
        </p:nvSpPr>
        <p:spPr>
          <a:xfrm>
            <a:off x="285750" y="41243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82" name="Oval 81"/>
          <p:cNvSpPr/>
          <p:nvPr/>
        </p:nvSpPr>
        <p:spPr>
          <a:xfrm>
            <a:off x="2918852"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299085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348447"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177544" y="39433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Mid / value-added</a:t>
            </a:r>
          </a:p>
        </p:txBody>
      </p:sp>
      <p:sp>
        <p:nvSpPr>
          <p:cNvPr id="86" name="TextBox 85"/>
          <p:cNvSpPr txBox="1"/>
          <p:nvPr/>
        </p:nvSpPr>
        <p:spPr>
          <a:xfrm>
            <a:off x="6893058" y="39433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Cryogenic Refrigeration and Ultra-Low-Temperature Cooling, Neutron Detection and Radiation Monitoring</a:t>
            </a:r>
          </a:p>
        </p:txBody>
      </p:sp>
      <p:sp>
        <p:nvSpPr>
          <p:cNvPr id="87" name="TextBox 86"/>
          <p:cNvSpPr txBox="1"/>
          <p:nvPr/>
        </p:nvSpPr>
        <p:spPr>
          <a:xfrm>
            <a:off x="8570472" y="39433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8" name="TextBox 87"/>
          <p:cNvSpPr txBox="1"/>
          <p:nvPr/>
        </p:nvSpPr>
        <p:spPr>
          <a:xfrm>
            <a:off x="10285986" y="39433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89" name="Connector 88"/>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5750" y="43053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ISOFLEX USA</a:t>
            </a:r>
          </a:p>
        </p:txBody>
      </p:sp>
      <p:sp>
        <p:nvSpPr>
          <p:cNvPr id="92" name="TextBox 91"/>
          <p:cNvSpPr txBox="1"/>
          <p:nvPr/>
        </p:nvSpPr>
        <p:spPr>
          <a:xfrm>
            <a:off x="285750" y="44672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93" name="Oval 92"/>
          <p:cNvSpPr/>
          <p:nvPr/>
        </p:nvSpPr>
        <p:spPr>
          <a:xfrm>
            <a:off x="2918852"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2990850"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34844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442912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177544" y="42862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98" name="TextBox 97"/>
          <p:cNvSpPr txBox="1"/>
          <p:nvPr/>
        </p:nvSpPr>
        <p:spPr>
          <a:xfrm>
            <a:off x="6893058" y="42862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Cryogenic Refrigeration and Ultra-Low-Temperature Cooling</a:t>
            </a:r>
          </a:p>
        </p:txBody>
      </p:sp>
      <p:sp>
        <p:nvSpPr>
          <p:cNvPr id="99" name="TextBox 98"/>
          <p:cNvSpPr txBox="1"/>
          <p:nvPr/>
        </p:nvSpPr>
        <p:spPr>
          <a:xfrm>
            <a:off x="8570472" y="42862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0" name="TextBox 99"/>
          <p:cNvSpPr txBox="1"/>
          <p:nvPr/>
        </p:nvSpPr>
        <p:spPr>
          <a:xfrm>
            <a:off x="10285986" y="42862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01" name="Connector 100"/>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85750" y="46482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DWS Specialty Gas</a:t>
            </a:r>
          </a:p>
        </p:txBody>
      </p:sp>
      <p:sp>
        <p:nvSpPr>
          <p:cNvPr id="104" name="TextBox 103"/>
          <p:cNvSpPr txBox="1"/>
          <p:nvPr/>
        </p:nvSpPr>
        <p:spPr>
          <a:xfrm>
            <a:off x="285750" y="48101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05" name="Oval 104"/>
          <p:cNvSpPr/>
          <p:nvPr/>
        </p:nvSpPr>
        <p:spPr>
          <a:xfrm>
            <a:off x="2918852"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2990850" y="4724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4348447"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177544" y="46291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09" name="TextBox 108"/>
          <p:cNvSpPr txBox="1"/>
          <p:nvPr/>
        </p:nvSpPr>
        <p:spPr>
          <a:xfrm>
            <a:off x="6893058" y="46291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Neutron Detection and Radiation Monitoring</a:t>
            </a:r>
          </a:p>
        </p:txBody>
      </p:sp>
      <p:sp>
        <p:nvSpPr>
          <p:cNvPr id="110" name="TextBox 109"/>
          <p:cNvSpPr txBox="1"/>
          <p:nvPr/>
        </p:nvSpPr>
        <p:spPr>
          <a:xfrm>
            <a:off x="8570472" y="46291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1" name="TextBox 110"/>
          <p:cNvSpPr txBox="1"/>
          <p:nvPr/>
        </p:nvSpPr>
        <p:spPr>
          <a:xfrm>
            <a:off x="10285986" y="46291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12" name="Connector 111"/>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5750" y="49911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Wuhan Baisida Gas</a:t>
            </a:r>
          </a:p>
        </p:txBody>
      </p:sp>
      <p:sp>
        <p:nvSpPr>
          <p:cNvPr id="115" name="TextBox 114"/>
          <p:cNvSpPr txBox="1"/>
          <p:nvPr/>
        </p:nvSpPr>
        <p:spPr>
          <a:xfrm>
            <a:off x="285750" y="51530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6" name="Oval 115"/>
          <p:cNvSpPr/>
          <p:nvPr/>
        </p:nvSpPr>
        <p:spPr>
          <a:xfrm>
            <a:off x="2918852"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34844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4429125"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177544" y="49720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20" name="TextBox 119"/>
          <p:cNvSpPr txBox="1"/>
          <p:nvPr/>
        </p:nvSpPr>
        <p:spPr>
          <a:xfrm>
            <a:off x="6893058" y="49720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Cryogenic Refrigeration and Ultra-Low-Temperature Cooling, Neutron Detection and Radiation Monitoring</a:t>
            </a:r>
          </a:p>
        </p:txBody>
      </p:sp>
      <p:sp>
        <p:nvSpPr>
          <p:cNvPr id="121" name="TextBox 120"/>
          <p:cNvSpPr txBox="1"/>
          <p:nvPr/>
        </p:nvSpPr>
        <p:spPr>
          <a:xfrm>
            <a:off x="8570472" y="49720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2" name="TextBox 121"/>
          <p:cNvSpPr txBox="1"/>
          <p:nvPr/>
        </p:nvSpPr>
        <p:spPr>
          <a:xfrm>
            <a:off x="10285986" y="49720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23" name="Connector 122"/>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4" name="Rectangle 123"/>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5750" y="53340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Shanghai Wechem Chemical</a:t>
            </a:r>
          </a:p>
        </p:txBody>
      </p:sp>
      <p:sp>
        <p:nvSpPr>
          <p:cNvPr id="126" name="TextBox 125"/>
          <p:cNvSpPr txBox="1"/>
          <p:nvPr/>
        </p:nvSpPr>
        <p:spPr>
          <a:xfrm>
            <a:off x="285750" y="54959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7" name="Oval 126"/>
          <p:cNvSpPr/>
          <p:nvPr/>
        </p:nvSpPr>
        <p:spPr>
          <a:xfrm>
            <a:off x="2918852"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2990850" y="5410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348447"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177544" y="53149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Value / entry</a:t>
            </a:r>
          </a:p>
        </p:txBody>
      </p:sp>
      <p:sp>
        <p:nvSpPr>
          <p:cNvPr id="131" name="TextBox 130"/>
          <p:cNvSpPr txBox="1"/>
          <p:nvPr/>
        </p:nvSpPr>
        <p:spPr>
          <a:xfrm>
            <a:off x="6893058" y="53149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Medical and Biomedical Imaging, Cryogenic Refrigeration and Ultra-Low-Temperature Cooling</a:t>
            </a:r>
          </a:p>
        </p:txBody>
      </p:sp>
      <p:sp>
        <p:nvSpPr>
          <p:cNvPr id="132" name="TextBox 131"/>
          <p:cNvSpPr txBox="1"/>
          <p:nvPr/>
        </p:nvSpPr>
        <p:spPr>
          <a:xfrm>
            <a:off x="8570472" y="53149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33" name="TextBox 132"/>
          <p:cNvSpPr txBox="1"/>
          <p:nvPr/>
        </p:nvSpPr>
        <p:spPr>
          <a:xfrm>
            <a:off x="10285986" y="53149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cxnSp>
        <p:nvCxnSpPr>
          <p:cNvPr id="134" name="Connector 133"/>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37" name="Oval 136"/>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40" name="Oval 139"/>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43" name="Oval 142"/>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45" name="TextBox 144"/>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46" name="TextBox 145"/>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breadth and technology strength do not always go together; the end uses each player serves show where it competes head to head.  Proof needs customer research.</a:t>
            </a:r>
          </a:p>
        </p:txBody>
      </p:sp>
      <p:sp>
        <p:nvSpPr>
          <p:cNvPr id="147" name="TextBox 1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8" name="Picture 147" descr="lock.png"/>
          <p:cNvPicPr>
            <a:picLocks noChangeAspect="1"/>
          </p:cNvPicPr>
          <p:nvPr/>
        </p:nvPicPr>
        <p:blipFill>
          <a:blip r:embed="rId4"/>
          <a:stretch>
            <a:fillRect/>
          </a:stretch>
        </p:blipFill>
        <p:spPr>
          <a:xfrm>
            <a:off x="9363879"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079393"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363879"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79393"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363879"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79393"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363879"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79393"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363879"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79393"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363879"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79393"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363879"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79393"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363879"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79393"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363879"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79393"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363879"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79393" y="5392801"/>
            <a:ext cx="128699" cy="187198"/>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Execution Scorecard: How They Win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Six execution Ps: channel, promotion, momentum, pipeline, policy exposure and prospects</a:t>
            </a:r>
          </a:p>
        </p:txBody>
      </p:sp>
      <p:sp>
        <p:nvSpPr>
          <p:cNvPr id="8" name="Rectangle 7"/>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Segoe UI"/>
              </a:rPr>
              <a:t>LEVEL 3, EXECUTION: HOW THEY WIN</a:t>
            </a:r>
          </a:p>
        </p:txBody>
      </p:sp>
      <p:sp>
        <p:nvSpPr>
          <p:cNvPr id="10" name="TextBox 9"/>
          <p:cNvSpPr txBox="1"/>
          <p:nvPr/>
        </p:nvSpPr>
        <p:spPr>
          <a:xfrm>
            <a:off x="2318355"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Place (channel)</a:t>
            </a:r>
          </a:p>
        </p:txBody>
      </p:sp>
      <p:sp>
        <p:nvSpPr>
          <p:cNvPr id="11" name="TextBox 10"/>
          <p:cNvSpPr txBox="1"/>
          <p:nvPr/>
        </p:nvSpPr>
        <p:spPr>
          <a:xfrm>
            <a:off x="2318355"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Route to market by tier</a:t>
            </a:r>
          </a:p>
        </p:txBody>
      </p:sp>
      <p:sp>
        <p:nvSpPr>
          <p:cNvPr id="12" name="TextBox 11"/>
          <p:cNvSpPr txBox="1"/>
          <p:nvPr/>
        </p:nvSpPr>
        <p:spPr>
          <a:xfrm>
            <a:off x="4033869"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Promotion</a:t>
            </a:r>
          </a:p>
        </p:txBody>
      </p:sp>
      <p:sp>
        <p:nvSpPr>
          <p:cNvPr id="13" name="TextBox 12"/>
          <p:cNvSpPr txBox="1"/>
          <p:nvPr/>
        </p:nvSpPr>
        <p:spPr>
          <a:xfrm>
            <a:off x="4033869"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Go-to-market; not assessed</a:t>
            </a:r>
          </a:p>
        </p:txBody>
      </p:sp>
      <p:sp>
        <p:nvSpPr>
          <p:cNvPr id="14" name="TextBox 13"/>
          <p:cNvSpPr txBox="1"/>
          <p:nvPr/>
        </p:nvSpPr>
        <p:spPr>
          <a:xfrm>
            <a:off x="5749382" y="1295400"/>
            <a:ext cx="135339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Pace (momentum)</a:t>
            </a:r>
          </a:p>
        </p:txBody>
      </p:sp>
      <p:sp>
        <p:nvSpPr>
          <p:cNvPr id="15" name="TextBox 14"/>
          <p:cNvSpPr txBox="1"/>
          <p:nvPr/>
        </p:nvSpPr>
        <p:spPr>
          <a:xfrm>
            <a:off x="5749382" y="1657350"/>
            <a:ext cx="135339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Active moves: 5+ = 3, 3-4 = 2</a:t>
            </a:r>
          </a:p>
        </p:txBody>
      </p:sp>
      <p:sp>
        <p:nvSpPr>
          <p:cNvPr id="16" name="TextBox 15"/>
          <p:cNvSpPr txBox="1"/>
          <p:nvPr/>
        </p:nvSpPr>
        <p:spPr>
          <a:xfrm>
            <a:off x="7178977"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Pipeline</a:t>
            </a:r>
          </a:p>
        </p:txBody>
      </p:sp>
      <p:sp>
        <p:nvSpPr>
          <p:cNvPr id="17" name="TextBox 16"/>
          <p:cNvSpPr txBox="1"/>
          <p:nvPr/>
        </p:nvSpPr>
        <p:spPr>
          <a:xfrm>
            <a:off x="7178977"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Launch or development in motion</a:t>
            </a:r>
          </a:p>
        </p:txBody>
      </p:sp>
      <p:sp>
        <p:nvSpPr>
          <p:cNvPr id="18" name="TextBox 17"/>
          <p:cNvSpPr txBox="1"/>
          <p:nvPr/>
        </p:nvSpPr>
        <p:spPr>
          <a:xfrm>
            <a:off x="8894491" y="1295400"/>
            <a:ext cx="1639314"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Policy exposure</a:t>
            </a:r>
          </a:p>
        </p:txBody>
      </p:sp>
      <p:sp>
        <p:nvSpPr>
          <p:cNvPr id="19" name="TextBox 18"/>
          <p:cNvSpPr txBox="1"/>
          <p:nvPr/>
        </p:nvSpPr>
        <p:spPr>
          <a:xfrm>
            <a:off x="8894491" y="1657350"/>
            <a:ext cx="1639314"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Regulation in its favour or against</a:t>
            </a:r>
          </a:p>
        </p:txBody>
      </p:sp>
      <p:sp>
        <p:nvSpPr>
          <p:cNvPr id="20" name="TextBox 19"/>
          <p:cNvSpPr txBox="1"/>
          <p:nvPr/>
        </p:nvSpPr>
        <p:spPr>
          <a:xfrm>
            <a:off x="10610005" y="1295400"/>
            <a:ext cx="135339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Segoe UI"/>
              </a:rPr>
              <a:t>Prospects</a:t>
            </a:r>
          </a:p>
        </p:txBody>
      </p:sp>
      <p:sp>
        <p:nvSpPr>
          <p:cNvPr id="21" name="TextBox 20"/>
          <p:cNvSpPr txBox="1"/>
          <p:nvPr/>
        </p:nvSpPr>
        <p:spPr>
          <a:xfrm>
            <a:off x="10610005" y="1657350"/>
            <a:ext cx="135339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Gaining 3, holding 2, at risk 1</a:t>
            </a:r>
          </a:p>
        </p:txBody>
      </p:sp>
      <p:cxnSp>
        <p:nvCxnSpPr>
          <p:cNvPr id="22" name="Connector 21"/>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22479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 Liquide</a:t>
            </a:r>
          </a:p>
        </p:txBody>
      </p:sp>
      <p:sp>
        <p:nvSpPr>
          <p:cNvPr id="25" name="TextBox 24"/>
          <p:cNvSpPr txBox="1"/>
          <p:nvPr/>
        </p:nvSpPr>
        <p:spPr>
          <a:xfrm>
            <a:off x="285750" y="24098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26" name="TextBox 25"/>
          <p:cNvSpPr txBox="1"/>
          <p:nvPr/>
        </p:nvSpPr>
        <p:spPr>
          <a:xfrm>
            <a:off x="2318355" y="22288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27" name="TextBox 26"/>
          <p:cNvSpPr txBox="1"/>
          <p:nvPr/>
        </p:nvSpPr>
        <p:spPr>
          <a:xfrm>
            <a:off x="3995769" y="22288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28" name="Oval 27"/>
          <p:cNvSpPr/>
          <p:nvPr/>
        </p:nvSpPr>
        <p:spPr>
          <a:xfrm>
            <a:off x="634988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40877" y="22288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0" name="TextBox 29"/>
          <p:cNvSpPr txBox="1"/>
          <p:nvPr/>
        </p:nvSpPr>
        <p:spPr>
          <a:xfrm>
            <a:off x="8856391" y="22288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1" name="Oval 30"/>
          <p:cNvSpPr/>
          <p:nvPr/>
        </p:nvSpPr>
        <p:spPr>
          <a:xfrm>
            <a:off x="1121050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Linde</a:t>
            </a:r>
          </a:p>
        </p:txBody>
      </p:sp>
      <p:sp>
        <p:nvSpPr>
          <p:cNvPr id="35" name="TextBox 34"/>
          <p:cNvSpPr txBox="1"/>
          <p:nvPr/>
        </p:nvSpPr>
        <p:spPr>
          <a:xfrm>
            <a:off x="285750" y="27527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36" name="TextBox 35"/>
          <p:cNvSpPr txBox="1"/>
          <p:nvPr/>
        </p:nvSpPr>
        <p:spPr>
          <a:xfrm>
            <a:off x="2318355" y="25717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37" name="TextBox 36"/>
          <p:cNvSpPr txBox="1"/>
          <p:nvPr/>
        </p:nvSpPr>
        <p:spPr>
          <a:xfrm>
            <a:off x="3995769" y="25717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38" name="Oval 37"/>
          <p:cNvSpPr/>
          <p:nvPr/>
        </p:nvSpPr>
        <p:spPr>
          <a:xfrm>
            <a:off x="634988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977" y="25717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40" name="TextBox 39"/>
          <p:cNvSpPr txBox="1"/>
          <p:nvPr/>
        </p:nvSpPr>
        <p:spPr>
          <a:xfrm>
            <a:off x="8856391" y="25717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1" name="Oval 40"/>
          <p:cNvSpPr/>
          <p:nvPr/>
        </p:nvSpPr>
        <p:spPr>
          <a:xfrm>
            <a:off x="1121050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5750" y="29337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Chemgas</a:t>
            </a:r>
          </a:p>
        </p:txBody>
      </p:sp>
      <p:sp>
        <p:nvSpPr>
          <p:cNvPr id="45" name="TextBox 44"/>
          <p:cNvSpPr txBox="1"/>
          <p:nvPr/>
        </p:nvSpPr>
        <p:spPr>
          <a:xfrm>
            <a:off x="285750" y="30956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46" name="TextBox 45"/>
          <p:cNvSpPr txBox="1"/>
          <p:nvPr/>
        </p:nvSpPr>
        <p:spPr>
          <a:xfrm>
            <a:off x="2318355" y="29146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47" name="TextBox 46"/>
          <p:cNvSpPr txBox="1"/>
          <p:nvPr/>
        </p:nvSpPr>
        <p:spPr>
          <a:xfrm>
            <a:off x="3995769" y="29146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48" name="Oval 47"/>
          <p:cNvSpPr/>
          <p:nvPr/>
        </p:nvSpPr>
        <p:spPr>
          <a:xfrm>
            <a:off x="634988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40877" y="29146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0" name="TextBox 49"/>
          <p:cNvSpPr txBox="1"/>
          <p:nvPr/>
        </p:nvSpPr>
        <p:spPr>
          <a:xfrm>
            <a:off x="8856391" y="29146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1" name="Oval 50"/>
          <p:cNvSpPr/>
          <p:nvPr/>
        </p:nvSpPr>
        <p:spPr>
          <a:xfrm>
            <a:off x="1121050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32766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Airgas</a:t>
            </a:r>
          </a:p>
        </p:txBody>
      </p:sp>
      <p:sp>
        <p:nvSpPr>
          <p:cNvPr id="55" name="TextBox 54"/>
          <p:cNvSpPr txBox="1"/>
          <p:nvPr/>
        </p:nvSpPr>
        <p:spPr>
          <a:xfrm>
            <a:off x="285750" y="34385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1</a:t>
            </a:r>
          </a:p>
        </p:txBody>
      </p:sp>
      <p:sp>
        <p:nvSpPr>
          <p:cNvPr id="56" name="TextBox 55"/>
          <p:cNvSpPr txBox="1"/>
          <p:nvPr/>
        </p:nvSpPr>
        <p:spPr>
          <a:xfrm>
            <a:off x="2318355" y="32575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Direct + key accounts</a:t>
            </a:r>
          </a:p>
        </p:txBody>
      </p:sp>
      <p:sp>
        <p:nvSpPr>
          <p:cNvPr id="57" name="TextBox 56"/>
          <p:cNvSpPr txBox="1"/>
          <p:nvPr/>
        </p:nvSpPr>
        <p:spPr>
          <a:xfrm>
            <a:off x="3995769" y="32575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58" name="Oval 57"/>
          <p:cNvSpPr/>
          <p:nvPr/>
        </p:nvSpPr>
        <p:spPr>
          <a:xfrm>
            <a:off x="634988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78977" y="32575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60" name="TextBox 59"/>
          <p:cNvSpPr txBox="1"/>
          <p:nvPr/>
        </p:nvSpPr>
        <p:spPr>
          <a:xfrm>
            <a:off x="8856391" y="32575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1" name="Oval 60"/>
          <p:cNvSpPr/>
          <p:nvPr/>
        </p:nvSpPr>
        <p:spPr>
          <a:xfrm>
            <a:off x="1121050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6195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Merck KGaA</a:t>
            </a:r>
          </a:p>
        </p:txBody>
      </p:sp>
      <p:sp>
        <p:nvSpPr>
          <p:cNvPr id="65" name="TextBox 64"/>
          <p:cNvSpPr txBox="1"/>
          <p:nvPr/>
        </p:nvSpPr>
        <p:spPr>
          <a:xfrm>
            <a:off x="285750" y="37814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66" name="TextBox 65"/>
          <p:cNvSpPr txBox="1"/>
          <p:nvPr/>
        </p:nvSpPr>
        <p:spPr>
          <a:xfrm>
            <a:off x="2318355" y="36004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Distributors</a:t>
            </a:r>
          </a:p>
        </p:txBody>
      </p:sp>
      <p:sp>
        <p:nvSpPr>
          <p:cNvPr id="67" name="TextBox 66"/>
          <p:cNvSpPr txBox="1"/>
          <p:nvPr/>
        </p:nvSpPr>
        <p:spPr>
          <a:xfrm>
            <a:off x="3995769" y="36004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68" name="Oval 67"/>
          <p:cNvSpPr/>
          <p:nvPr/>
        </p:nvSpPr>
        <p:spPr>
          <a:xfrm>
            <a:off x="6349880"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40877" y="36004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0" name="TextBox 69"/>
          <p:cNvSpPr txBox="1"/>
          <p:nvPr/>
        </p:nvSpPr>
        <p:spPr>
          <a:xfrm>
            <a:off x="8856391" y="36004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1" name="Oval 70"/>
          <p:cNvSpPr/>
          <p:nvPr/>
        </p:nvSpPr>
        <p:spPr>
          <a:xfrm>
            <a:off x="1121050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12871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5750" y="39624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Eurisotop</a:t>
            </a:r>
          </a:p>
        </p:txBody>
      </p:sp>
      <p:sp>
        <p:nvSpPr>
          <p:cNvPr id="76" name="TextBox 75"/>
          <p:cNvSpPr txBox="1"/>
          <p:nvPr/>
        </p:nvSpPr>
        <p:spPr>
          <a:xfrm>
            <a:off x="285750" y="41243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2</a:t>
            </a:r>
          </a:p>
        </p:txBody>
      </p:sp>
      <p:sp>
        <p:nvSpPr>
          <p:cNvPr id="77" name="TextBox 76"/>
          <p:cNvSpPr txBox="1"/>
          <p:nvPr/>
        </p:nvSpPr>
        <p:spPr>
          <a:xfrm>
            <a:off x="2318355" y="39433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Distributors</a:t>
            </a:r>
          </a:p>
        </p:txBody>
      </p:sp>
      <p:sp>
        <p:nvSpPr>
          <p:cNvPr id="78" name="TextBox 77"/>
          <p:cNvSpPr txBox="1"/>
          <p:nvPr/>
        </p:nvSpPr>
        <p:spPr>
          <a:xfrm>
            <a:off x="3995769" y="39433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79" name="Oval 78"/>
          <p:cNvSpPr/>
          <p:nvPr/>
        </p:nvSpPr>
        <p:spPr>
          <a:xfrm>
            <a:off x="6349880"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178977" y="39433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81" name="TextBox 80"/>
          <p:cNvSpPr txBox="1"/>
          <p:nvPr/>
        </p:nvSpPr>
        <p:spPr>
          <a:xfrm>
            <a:off x="8856391" y="39433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82" name="Oval 81"/>
          <p:cNvSpPr/>
          <p:nvPr/>
        </p:nvSpPr>
        <p:spPr>
          <a:xfrm>
            <a:off x="1121050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12871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43053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ISOFLEX USA</a:t>
            </a:r>
          </a:p>
        </p:txBody>
      </p:sp>
      <p:sp>
        <p:nvSpPr>
          <p:cNvPr id="87" name="TextBox 86"/>
          <p:cNvSpPr txBox="1"/>
          <p:nvPr/>
        </p:nvSpPr>
        <p:spPr>
          <a:xfrm>
            <a:off x="285750" y="44672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88" name="TextBox 87"/>
          <p:cNvSpPr txBox="1"/>
          <p:nvPr/>
        </p:nvSpPr>
        <p:spPr>
          <a:xfrm>
            <a:off x="2318355" y="42862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89" name="TextBox 88"/>
          <p:cNvSpPr txBox="1"/>
          <p:nvPr/>
        </p:nvSpPr>
        <p:spPr>
          <a:xfrm>
            <a:off x="3995769" y="42862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0" name="Oval 89"/>
          <p:cNvSpPr/>
          <p:nvPr/>
        </p:nvSpPr>
        <p:spPr>
          <a:xfrm>
            <a:off x="6349880"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140877" y="42862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2" name="TextBox 91"/>
          <p:cNvSpPr txBox="1"/>
          <p:nvPr/>
        </p:nvSpPr>
        <p:spPr>
          <a:xfrm>
            <a:off x="8856391" y="42862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93" name="Oval 92"/>
          <p:cNvSpPr/>
          <p:nvPr/>
        </p:nvSpPr>
        <p:spPr>
          <a:xfrm>
            <a:off x="1121050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11287125"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46482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DWS Specialty Gas</a:t>
            </a:r>
          </a:p>
        </p:txBody>
      </p:sp>
      <p:sp>
        <p:nvSpPr>
          <p:cNvPr id="98" name="TextBox 97"/>
          <p:cNvSpPr txBox="1"/>
          <p:nvPr/>
        </p:nvSpPr>
        <p:spPr>
          <a:xfrm>
            <a:off x="285750" y="48101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99" name="TextBox 98"/>
          <p:cNvSpPr txBox="1"/>
          <p:nvPr/>
        </p:nvSpPr>
        <p:spPr>
          <a:xfrm>
            <a:off x="2318355" y="46291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00" name="TextBox 99"/>
          <p:cNvSpPr txBox="1"/>
          <p:nvPr/>
        </p:nvSpPr>
        <p:spPr>
          <a:xfrm>
            <a:off x="3995769" y="46291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1" name="Oval 100"/>
          <p:cNvSpPr/>
          <p:nvPr/>
        </p:nvSpPr>
        <p:spPr>
          <a:xfrm>
            <a:off x="6349880"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78977" y="46291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103" name="TextBox 102"/>
          <p:cNvSpPr txBox="1"/>
          <p:nvPr/>
        </p:nvSpPr>
        <p:spPr>
          <a:xfrm>
            <a:off x="8856391" y="46291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04" name="Oval 103"/>
          <p:cNvSpPr/>
          <p:nvPr/>
        </p:nvSpPr>
        <p:spPr>
          <a:xfrm>
            <a:off x="1121050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1128712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85750" y="49911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Wuhan Baisida Gas</a:t>
            </a:r>
          </a:p>
        </p:txBody>
      </p:sp>
      <p:sp>
        <p:nvSpPr>
          <p:cNvPr id="109" name="TextBox 108"/>
          <p:cNvSpPr txBox="1"/>
          <p:nvPr/>
        </p:nvSpPr>
        <p:spPr>
          <a:xfrm>
            <a:off x="285750" y="51530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10" name="TextBox 109"/>
          <p:cNvSpPr txBox="1"/>
          <p:nvPr/>
        </p:nvSpPr>
        <p:spPr>
          <a:xfrm>
            <a:off x="2318355" y="49720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11" name="TextBox 110"/>
          <p:cNvSpPr txBox="1"/>
          <p:nvPr/>
        </p:nvSpPr>
        <p:spPr>
          <a:xfrm>
            <a:off x="3995769" y="49720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2" name="Oval 111"/>
          <p:cNvSpPr/>
          <p:nvPr/>
        </p:nvSpPr>
        <p:spPr>
          <a:xfrm>
            <a:off x="6349880"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140877" y="49720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4" name="TextBox 113"/>
          <p:cNvSpPr txBox="1"/>
          <p:nvPr/>
        </p:nvSpPr>
        <p:spPr>
          <a:xfrm>
            <a:off x="8856391" y="49720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15" name="Oval 114"/>
          <p:cNvSpPr/>
          <p:nvPr/>
        </p:nvSpPr>
        <p:spPr>
          <a:xfrm>
            <a:off x="1121050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112871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85750" y="5334000"/>
            <a:ext cx="1975455" cy="171450"/>
          </a:xfrm>
          <a:prstGeom prst="rect">
            <a:avLst/>
          </a:prstGeom>
          <a:noFill/>
        </p:spPr>
        <p:txBody>
          <a:bodyPr wrap="square" lIns="28575" rIns="28575" tIns="9525" bIns="9525" anchor="t">
            <a:spAutoFit/>
          </a:bodyPr>
          <a:lstStyle/>
          <a:p>
            <a:pPr algn="l"/>
            <a:r>
              <a:rPr sz="1100" b="1">
                <a:solidFill>
                  <a:srgbClr val="1F2933"/>
                </a:solidFill>
                <a:latin typeface="Segoe UI"/>
              </a:rPr>
              <a:t>Shanghai Wechem Chemical</a:t>
            </a:r>
          </a:p>
        </p:txBody>
      </p:sp>
      <p:sp>
        <p:nvSpPr>
          <p:cNvPr id="120" name="TextBox 119"/>
          <p:cNvSpPr txBox="1"/>
          <p:nvPr/>
        </p:nvSpPr>
        <p:spPr>
          <a:xfrm>
            <a:off x="285750" y="5495925"/>
            <a:ext cx="1975455" cy="152400"/>
          </a:xfrm>
          <a:prstGeom prst="rect">
            <a:avLst/>
          </a:prstGeom>
          <a:noFill/>
        </p:spPr>
        <p:txBody>
          <a:bodyPr wrap="square" lIns="28575" rIns="28575" tIns="9525" bIns="9525" anchor="t">
            <a:spAutoFit/>
          </a:bodyPr>
          <a:lstStyle/>
          <a:p>
            <a:pPr algn="l"/>
            <a:r>
              <a:rPr sz="1100" b="0">
                <a:solidFill>
                  <a:srgbClr val="5F6B7A"/>
                </a:solidFill>
                <a:latin typeface="Segoe UI"/>
              </a:rPr>
              <a:t>Tier 3</a:t>
            </a:r>
          </a:p>
        </p:txBody>
      </p:sp>
      <p:sp>
        <p:nvSpPr>
          <p:cNvPr id="121" name="TextBox 120"/>
          <p:cNvSpPr txBox="1"/>
          <p:nvPr/>
        </p:nvSpPr>
        <p:spPr>
          <a:xfrm>
            <a:off x="2318355" y="53149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Regional partners</a:t>
            </a:r>
          </a:p>
        </p:txBody>
      </p:sp>
      <p:sp>
        <p:nvSpPr>
          <p:cNvPr id="122" name="TextBox 121"/>
          <p:cNvSpPr txBox="1"/>
          <p:nvPr/>
        </p:nvSpPr>
        <p:spPr>
          <a:xfrm>
            <a:off x="3995769" y="53149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3" name="Oval 122"/>
          <p:cNvSpPr/>
          <p:nvPr/>
        </p:nvSpPr>
        <p:spPr>
          <a:xfrm>
            <a:off x="6349880"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178977" y="5314950"/>
            <a:ext cx="1639314"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Segoe UI"/>
              </a:rPr>
              <a:t>Launch pipeline</a:t>
            </a:r>
          </a:p>
        </p:txBody>
      </p:sp>
      <p:sp>
        <p:nvSpPr>
          <p:cNvPr id="125" name="TextBox 124"/>
          <p:cNvSpPr txBox="1"/>
          <p:nvPr/>
        </p:nvSpPr>
        <p:spPr>
          <a:xfrm>
            <a:off x="8856391" y="5314950"/>
            <a:ext cx="1715514" cy="342900"/>
          </a:xfrm>
          <a:prstGeom prst="rect">
            <a:avLst/>
          </a:prstGeom>
          <a:noFill/>
        </p:spPr>
        <p:txBody>
          <a:bodyPr wrap="square" lIns="28575" rIns="28575" tIns="9525" bIns="9525" anchor="ctr">
            <a:spAutoFit/>
          </a:bodyPr>
          <a:lstStyle/>
          <a:p>
            <a:pPr algn="ctr"/>
            <a:r>
              <a:rPr sz="1100" b="0">
                <a:solidFill>
                  <a:srgbClr val="5F6B7A"/>
                </a:solidFill>
                <a:latin typeface="Segoe UI"/>
              </a:rPr>
              <a:t/>
            </a:r>
          </a:p>
        </p:txBody>
      </p:sp>
      <p:sp>
        <p:nvSpPr>
          <p:cNvPr id="126" name="Oval 125"/>
          <p:cNvSpPr/>
          <p:nvPr/>
        </p:nvSpPr>
        <p:spPr>
          <a:xfrm>
            <a:off x="1121050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112871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8" name="Connector 127"/>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Oval 128"/>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31" name="Oval 130"/>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34" name="Oval 133"/>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37" name="Oval 136"/>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39" name="TextBox 138"/>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READING</a:t>
            </a:r>
          </a:p>
        </p:txBody>
      </p:sp>
      <p:sp>
        <p:nvSpPr>
          <p:cNvPr id="140" name="TextBox 139"/>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Momentum sits with the players running the most strategic moves; prospects combine breadth, reach, scale and pace.  Promotion and policy exposure need market and regulatory research.</a:t>
            </a:r>
          </a:p>
        </p:txBody>
      </p:sp>
      <p:sp>
        <p:nvSpPr>
          <p:cNvPr id="141" name="TextBox 1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2" name="Picture 141" descr="lock.png"/>
          <p:cNvPicPr>
            <a:picLocks noChangeAspect="1"/>
          </p:cNvPicPr>
          <p:nvPr/>
        </p:nvPicPr>
        <p:blipFill>
          <a:blip r:embed="rId4"/>
          <a:stretch>
            <a:fillRect/>
          </a:stretch>
        </p:blipFill>
        <p:spPr>
          <a:xfrm>
            <a:off x="4789176"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7934284"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649798"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4789176"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649798"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789176"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7934284"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649798"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789176"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649798"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789176"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7934284"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649798"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789176"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649798"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789176"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7934284"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649798"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4789176"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649798"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789176"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7934284"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649798"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4789176"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649798" y="5392801"/>
            <a:ext cx="128699" cy="187198"/>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Success Factors and Composite Ranking</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Five weighted success factors and the composite ranking they produce</a:t>
            </a:r>
          </a:p>
        </p:txBody>
      </p:sp>
      <p:sp>
        <p:nvSpPr>
          <p:cNvPr id="8" name="TextBox 7"/>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1. Segment breadth</a:t>
            </a:r>
          </a:p>
        </p:txBody>
      </p:sp>
      <p:sp>
        <p:nvSpPr>
          <p:cNvPr id="9" name="TextBox 8"/>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0" name="TextBox 9"/>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Lead or be active in several sub-segments</a:t>
            </a:r>
          </a:p>
        </p:txBody>
      </p:sp>
      <p:sp>
        <p:nvSpPr>
          <p:cNvPr id="11" name="TextBox 10"/>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2. Scale and share</a:t>
            </a:r>
          </a:p>
        </p:txBody>
      </p:sp>
      <p:sp>
        <p:nvSpPr>
          <p:cNvPr id="12" name="TextBox 11"/>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3" name="TextBox 12"/>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Tier position and share of market value</a:t>
            </a:r>
          </a:p>
        </p:txBody>
      </p:sp>
      <p:sp>
        <p:nvSpPr>
          <p:cNvPr id="14" name="TextBox 13"/>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3. Geographic reach</a:t>
            </a:r>
          </a:p>
        </p:txBody>
      </p:sp>
      <p:sp>
        <p:nvSpPr>
          <p:cNvPr id="15" name="TextBox 14"/>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6" name="TextBox 15"/>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Global, regional or single-market footprint</a:t>
            </a:r>
          </a:p>
        </p:txBody>
      </p:sp>
      <p:sp>
        <p:nvSpPr>
          <p:cNvPr id="17" name="TextBox 16"/>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4. Innovation pipeline</a:t>
            </a:r>
          </a:p>
        </p:txBody>
      </p:sp>
      <p:sp>
        <p:nvSpPr>
          <p:cNvPr id="18" name="TextBox 17"/>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19" name="TextBox 18"/>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R&amp;D and product development in motion</a:t>
            </a:r>
          </a:p>
        </p:txBody>
      </p:sp>
      <p:sp>
        <p:nvSpPr>
          <p:cNvPr id="20" name="TextBox 19"/>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Segoe UI"/>
              </a:rPr>
              <a:t>5. Strategic momentum</a:t>
            </a:r>
          </a:p>
        </p:txBody>
      </p:sp>
      <p:sp>
        <p:nvSpPr>
          <p:cNvPr id="21" name="TextBox 20"/>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Segoe UI"/>
              </a:rPr>
              <a:t/>
            </a:r>
          </a:p>
        </p:txBody>
      </p:sp>
      <p:sp>
        <p:nvSpPr>
          <p:cNvPr id="22" name="TextBox 21"/>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Number of active strategic moves</a:t>
            </a:r>
          </a:p>
        </p:txBody>
      </p:sp>
      <p:sp>
        <p:nvSpPr>
          <p:cNvPr id="23" name="TextBox 22"/>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Segoe UI"/>
              </a:rPr>
              <a:t>Composite</a:t>
            </a:r>
          </a:p>
        </p:txBody>
      </p:sp>
      <p:sp>
        <p:nvSpPr>
          <p:cNvPr id="24" name="TextBox 23"/>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Segoe UI"/>
              </a:rPr>
              <a:t>weighted 0 to 3</a:t>
            </a:r>
          </a:p>
        </p:txBody>
      </p:sp>
      <p:cxnSp>
        <p:nvCxnSpPr>
          <p:cNvPr id="25" name="Connector 24"/>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Linde</a:t>
            </a:r>
          </a:p>
        </p:txBody>
      </p:sp>
      <p:sp>
        <p:nvSpPr>
          <p:cNvPr id="28" name="Oval 27"/>
          <p:cNvSpPr/>
          <p:nvPr/>
        </p:nvSpPr>
        <p:spPr>
          <a:xfrm>
            <a:off x="284797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92417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420350" y="18954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87150" y="18097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36" name="Connector 35"/>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Air Liquide</a:t>
            </a:r>
          </a:p>
        </p:txBody>
      </p:sp>
      <p:sp>
        <p:nvSpPr>
          <p:cNvPr id="39" name="Oval 38"/>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92417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30000" y="21145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Chemgas</a:t>
            </a:r>
          </a:p>
        </p:txBody>
      </p:sp>
      <p:sp>
        <p:nvSpPr>
          <p:cNvPr id="51" name="Oval 50"/>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292417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420350" y="25050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430000" y="24193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60" name="Connector 59"/>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Airgas</a:t>
            </a:r>
          </a:p>
        </p:txBody>
      </p:sp>
      <p:sp>
        <p:nvSpPr>
          <p:cNvPr id="63" name="Oval 62"/>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2924175" y="2800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420350" y="2809875"/>
            <a:ext cx="9144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372850" y="27241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71" name="Connector 70"/>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Eurisotop</a:t>
            </a:r>
          </a:p>
        </p:txBody>
      </p:sp>
      <p:sp>
        <p:nvSpPr>
          <p:cNvPr id="74" name="Oval 73"/>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84" name="Connector 83"/>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Merck KGaA</a:t>
            </a:r>
          </a:p>
        </p:txBody>
      </p:sp>
      <p:sp>
        <p:nvSpPr>
          <p:cNvPr id="87" name="Oval 86"/>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98" name="Connector 97"/>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Shanghai Wechem Chemical</a:t>
            </a:r>
          </a:p>
        </p:txBody>
      </p:sp>
      <p:sp>
        <p:nvSpPr>
          <p:cNvPr id="101" name="Oval 100"/>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11" name="Connector 110"/>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Wuhan Baisida Gas</a:t>
            </a:r>
          </a:p>
        </p:txBody>
      </p:sp>
      <p:sp>
        <p:nvSpPr>
          <p:cNvPr id="114" name="Oval 113"/>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8200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789622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0420350" y="40290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125200" y="39433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25" name="Connector 124"/>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DWS Specialty Gas</a:t>
            </a:r>
          </a:p>
        </p:txBody>
      </p:sp>
      <p:sp>
        <p:nvSpPr>
          <p:cNvPr id="128" name="Oval 127"/>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29241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782002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0420350" y="4333875"/>
            <a:ext cx="6096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068050" y="42481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38" name="Connector 137"/>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9" name="Rectangle 138"/>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Segoe UI"/>
              </a:rPr>
              <a:t>ISOFLEX USA</a:t>
            </a:r>
          </a:p>
        </p:txBody>
      </p:sp>
      <p:sp>
        <p:nvSpPr>
          <p:cNvPr id="141" name="Oval 140"/>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29241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reeform 145"/>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420350" y="4638675"/>
            <a:ext cx="5524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1010900" y="4552950"/>
            <a:ext cx="419100" cy="304800"/>
          </a:xfrm>
          <a:prstGeom prst="rect">
            <a:avLst/>
          </a:prstGeom>
          <a:noFill/>
        </p:spPr>
        <p:txBody>
          <a:bodyPr wrap="none" lIns="0" rIns="0" tIns="0" bIns="0" anchor="ctr">
            <a:spAutoFit/>
          </a:bodyPr>
          <a:lstStyle/>
          <a:p>
            <a:pPr algn="l"/>
            <a:r>
              <a:rPr sz="1100" b="1">
                <a:solidFill>
                  <a:srgbClr val="1F2933"/>
                </a:solidFill>
                <a:latin typeface="Segoe UI"/>
              </a:rPr>
              <a:t> </a:t>
            </a:r>
          </a:p>
        </p:txBody>
      </p:sp>
      <p:cxnSp>
        <p:nvCxnSpPr>
          <p:cNvPr id="152" name="Connector 151"/>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Oval 152"/>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Strong, direct evidence</a:t>
            </a:r>
          </a:p>
        </p:txBody>
      </p:sp>
      <p:sp>
        <p:nvSpPr>
          <p:cNvPr id="155" name="Oval 154"/>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Freeform 155"/>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Moderate or partial</a:t>
            </a:r>
          </a:p>
        </p:txBody>
      </p:sp>
      <p:sp>
        <p:nvSpPr>
          <p:cNvPr id="158" name="Oval 157"/>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Weak or indirect</a:t>
            </a:r>
          </a:p>
        </p:txBody>
      </p:sp>
      <p:sp>
        <p:nvSpPr>
          <p:cNvPr id="161" name="Oval 160"/>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Segoe UI"/>
              </a:rPr>
              <a:t>None found</a:t>
            </a:r>
          </a:p>
        </p:txBody>
      </p:sp>
      <p:sp>
        <p:nvSpPr>
          <p:cNvPr id="163" name="TextBox 162"/>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Segoe UI"/>
              </a:rPr>
              <a:t>STRATEGIC GROUPS</a:t>
            </a:r>
          </a:p>
        </p:txBody>
      </p:sp>
      <p:sp>
        <p:nvSpPr>
          <p:cNvPr id="164" name="Rectangle 163"/>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1</a:t>
            </a:r>
          </a:p>
        </p:txBody>
      </p:sp>
      <p:sp>
        <p:nvSpPr>
          <p:cNvPr id="166" name="TextBox 165"/>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Linde, Air Liquide, Chemgas, Airgas</a:t>
            </a:r>
          </a:p>
        </p:txBody>
      </p:sp>
      <p:sp>
        <p:nvSpPr>
          <p:cNvPr id="167" name="TextBox 166"/>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scale and share; weakest on segment breadth.</a:t>
            </a:r>
          </a:p>
        </p:txBody>
      </p:sp>
      <p:sp>
        <p:nvSpPr>
          <p:cNvPr id="168" name="Rectangle 167"/>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2</a:t>
            </a:r>
          </a:p>
        </p:txBody>
      </p:sp>
      <p:sp>
        <p:nvSpPr>
          <p:cNvPr id="170" name="TextBox 169"/>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Eurisotop, Merck KGaA</a:t>
            </a:r>
          </a:p>
        </p:txBody>
      </p:sp>
      <p:sp>
        <p:nvSpPr>
          <p:cNvPr id="171" name="TextBox 170"/>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strategic momentum; weakest on segment breadth.</a:t>
            </a:r>
          </a:p>
        </p:txBody>
      </p:sp>
      <p:sp>
        <p:nvSpPr>
          <p:cNvPr id="172" name="Rectangle 171"/>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Segoe UI"/>
              </a:rPr>
              <a:t>Tier 3</a:t>
            </a:r>
          </a:p>
        </p:txBody>
      </p:sp>
      <p:sp>
        <p:nvSpPr>
          <p:cNvPr id="174" name="TextBox 173"/>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Shanghai Wechem Chemical, Wuhan Baisida Gas, DWS Specialty Gas, ISOFLEX USA</a:t>
            </a:r>
          </a:p>
        </p:txBody>
      </p:sp>
      <p:sp>
        <p:nvSpPr>
          <p:cNvPr id="175" name="TextBox 174"/>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Wins on strategic momentum; weakest on scale and share.</a:t>
            </a:r>
          </a:p>
        </p:txBody>
      </p:sp>
      <p:sp>
        <p:nvSpPr>
          <p:cNvPr id="176" name="TextBox 17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7" name="Picture 176" descr="lock.png"/>
          <p:cNvPicPr>
            <a:picLocks noChangeAspect="1"/>
          </p:cNvPicPr>
          <p:nvPr/>
        </p:nvPicPr>
        <p:blipFill>
          <a:blip r:embed="rId4"/>
          <a:stretch>
            <a:fillRect/>
          </a:stretch>
        </p:blipFill>
        <p:spPr>
          <a:xfrm>
            <a:off x="11632350" y="18685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575200" y="21733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575200" y="24781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518050" y="27829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479950" y="30877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22800" y="33925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27550" y="36973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270400" y="40021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213250" y="4306951"/>
            <a:ext cx="128699" cy="187198"/>
          </a:xfrm>
          <a:prstGeom prst="rect">
            <a:avLst/>
          </a:prstGeom>
        </p:spPr>
      </p:pic>
      <p:pic>
        <p:nvPicPr>
          <p:cNvPr id="186" name="Picture 185" descr="lock.png"/>
          <p:cNvPicPr>
            <a:picLocks noChangeAspect="1"/>
          </p:cNvPicPr>
          <p:nvPr/>
        </p:nvPicPr>
        <p:blipFill>
          <a:blip r:embed="rId4"/>
          <a:stretch>
            <a:fillRect/>
          </a:stretch>
        </p:blipFill>
        <p:spPr>
          <a:xfrm>
            <a:off x="11156100" y="4611751"/>
            <a:ext cx="128699" cy="187198"/>
          </a:xfrm>
          <a:prstGeom prst="rect">
            <a:avLst/>
          </a:prstGeom>
        </p:spPr>
      </p:pic>
      <p:sp>
        <p:nvSpPr>
          <p:cNvPr id="187" name="TextBox 186"/>
          <p:cNvSpPr txBox="1"/>
          <p:nvPr/>
        </p:nvSpPr>
        <p:spPr>
          <a:xfrm>
            <a:off x="21621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88" name="Picture 187" descr="lock.png"/>
          <p:cNvPicPr>
            <a:picLocks noChangeAspect="1"/>
          </p:cNvPicPr>
          <p:nvPr/>
        </p:nvPicPr>
        <p:blipFill>
          <a:blip r:embed="rId4"/>
          <a:stretch>
            <a:fillRect/>
          </a:stretch>
        </p:blipFill>
        <p:spPr>
          <a:xfrm>
            <a:off x="2525743" y="1212159"/>
            <a:ext cx="92663" cy="134782"/>
          </a:xfrm>
          <a:prstGeom prst="rect">
            <a:avLst/>
          </a:prstGeom>
        </p:spPr>
      </p:pic>
      <p:sp>
        <p:nvSpPr>
          <p:cNvPr id="189" name="TextBox 188"/>
          <p:cNvSpPr txBox="1"/>
          <p:nvPr/>
        </p:nvSpPr>
        <p:spPr>
          <a:xfrm>
            <a:off x="381952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0" name="Picture 189" descr="lock.png"/>
          <p:cNvPicPr>
            <a:picLocks noChangeAspect="1"/>
          </p:cNvPicPr>
          <p:nvPr/>
        </p:nvPicPr>
        <p:blipFill>
          <a:blip r:embed="rId4"/>
          <a:stretch>
            <a:fillRect/>
          </a:stretch>
        </p:blipFill>
        <p:spPr>
          <a:xfrm>
            <a:off x="4183093" y="1212159"/>
            <a:ext cx="92663" cy="134782"/>
          </a:xfrm>
          <a:prstGeom prst="rect">
            <a:avLst/>
          </a:prstGeom>
        </p:spPr>
      </p:pic>
      <p:sp>
        <p:nvSpPr>
          <p:cNvPr id="191" name="TextBox 190"/>
          <p:cNvSpPr txBox="1"/>
          <p:nvPr/>
        </p:nvSpPr>
        <p:spPr>
          <a:xfrm>
            <a:off x="54768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2" name="Picture 191" descr="lock.png"/>
          <p:cNvPicPr>
            <a:picLocks noChangeAspect="1"/>
          </p:cNvPicPr>
          <p:nvPr/>
        </p:nvPicPr>
        <p:blipFill>
          <a:blip r:embed="rId4"/>
          <a:stretch>
            <a:fillRect/>
          </a:stretch>
        </p:blipFill>
        <p:spPr>
          <a:xfrm>
            <a:off x="5840443" y="1212159"/>
            <a:ext cx="92663" cy="134782"/>
          </a:xfrm>
          <a:prstGeom prst="rect">
            <a:avLst/>
          </a:prstGeom>
        </p:spPr>
      </p:pic>
      <p:sp>
        <p:nvSpPr>
          <p:cNvPr id="193" name="TextBox 192"/>
          <p:cNvSpPr txBox="1"/>
          <p:nvPr/>
        </p:nvSpPr>
        <p:spPr>
          <a:xfrm>
            <a:off x="713422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4" name="Picture 193" descr="lock.png"/>
          <p:cNvPicPr>
            <a:picLocks noChangeAspect="1"/>
          </p:cNvPicPr>
          <p:nvPr/>
        </p:nvPicPr>
        <p:blipFill>
          <a:blip r:embed="rId4"/>
          <a:stretch>
            <a:fillRect/>
          </a:stretch>
        </p:blipFill>
        <p:spPr>
          <a:xfrm>
            <a:off x="7497793" y="1212159"/>
            <a:ext cx="92663" cy="134782"/>
          </a:xfrm>
          <a:prstGeom prst="rect">
            <a:avLst/>
          </a:prstGeom>
        </p:spPr>
      </p:pic>
      <p:sp>
        <p:nvSpPr>
          <p:cNvPr id="195" name="TextBox 194"/>
          <p:cNvSpPr txBox="1"/>
          <p:nvPr/>
        </p:nvSpPr>
        <p:spPr>
          <a:xfrm>
            <a:off x="8791575" y="1219200"/>
            <a:ext cx="422307" cy="139750"/>
          </a:xfrm>
          <a:prstGeom prst="rect">
            <a:avLst/>
          </a:prstGeom>
          <a:noFill/>
        </p:spPr>
        <p:txBody>
          <a:bodyPr wrap="none" lIns="0" rIns="0" tIns="0" bIns="0">
            <a:spAutoFit/>
          </a:bodyPr>
          <a:lstStyle/>
          <a:p>
            <a:r>
              <a:rPr sz="791" b="1">
                <a:solidFill>
                  <a:srgbClr val="1F2933"/>
                </a:solidFill>
                <a:latin typeface="Segoe UI"/>
              </a:rPr>
              <a:t>Weight</a:t>
            </a:r>
          </a:p>
        </p:txBody>
      </p:sp>
      <p:pic>
        <p:nvPicPr>
          <p:cNvPr id="196" name="Picture 195" descr="lock.png"/>
          <p:cNvPicPr>
            <a:picLocks noChangeAspect="1"/>
          </p:cNvPicPr>
          <p:nvPr/>
        </p:nvPicPr>
        <p:blipFill>
          <a:blip r:embed="rId4"/>
          <a:stretch>
            <a:fillRect/>
          </a:stretch>
        </p:blipFill>
        <p:spPr>
          <a:xfrm>
            <a:off x="9155143" y="1212159"/>
            <a:ext cx="92663" cy="134782"/>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Strategic Activity Tracker</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Each player's active strategic moves: what, type, source department, signal and who should act</a:t>
            </a:r>
          </a:p>
        </p:txBody>
      </p:sp>
      <p:sp>
        <p:nvSpPr>
          <p:cNvPr id="8" name="TextBox 7"/>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Segoe UI"/>
              </a:rPr>
              <a:t>COMPANY</a:t>
            </a:r>
          </a:p>
        </p:txBody>
      </p:sp>
      <p:sp>
        <p:nvSpPr>
          <p:cNvPr id="9" name="TextBox 8"/>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Segoe UI"/>
              </a:rPr>
              <a:t>DEVELOPMENT (WHAT IS HAPPENING)</a:t>
            </a:r>
          </a:p>
        </p:txBody>
      </p:sp>
      <p:sp>
        <p:nvSpPr>
          <p:cNvPr id="10" name="TextBox 9"/>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Segoe UI"/>
              </a:rPr>
              <a:t>DATE</a:t>
            </a:r>
          </a:p>
        </p:txBody>
      </p:sp>
      <p:sp>
        <p:nvSpPr>
          <p:cNvPr id="11" name="TextBox 10"/>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Segoe UI"/>
              </a:rPr>
              <a:t>TYPE</a:t>
            </a:r>
          </a:p>
        </p:txBody>
      </p:sp>
      <p:sp>
        <p:nvSpPr>
          <p:cNvPr id="12" name="TextBox 11"/>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Segoe UI"/>
              </a:rPr>
              <a:t>SOURCE DEPT</a:t>
            </a:r>
          </a:p>
        </p:txBody>
      </p:sp>
      <p:sp>
        <p:nvSpPr>
          <p:cNvPr id="13" name="TextBox 12"/>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Segoe UI"/>
              </a:rPr>
              <a:t>EVIDENCE</a:t>
            </a:r>
          </a:p>
        </p:txBody>
      </p:sp>
      <p:sp>
        <p:nvSpPr>
          <p:cNvPr id="14" name="TextBox 13"/>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Segoe UI"/>
              </a:rPr>
              <a:t>SIGNAL (WHAT IT INDICATES)</a:t>
            </a:r>
          </a:p>
        </p:txBody>
      </p:sp>
      <p:sp>
        <p:nvSpPr>
          <p:cNvPr id="15" name="TextBox 14"/>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Segoe UI"/>
              </a:rPr>
              <a:t>WHO SHOULD ACT</a:t>
            </a:r>
          </a:p>
        </p:txBody>
      </p:sp>
      <p:cxnSp>
        <p:nvCxnSpPr>
          <p:cNvPr id="16" name="Connector 15"/>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Air Liquide</a:t>
            </a:r>
          </a:p>
        </p:txBody>
      </p:sp>
      <p:sp>
        <p:nvSpPr>
          <p:cNvPr id="19" name="TextBox 18"/>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North America</a:t>
            </a:r>
          </a:p>
        </p:txBody>
      </p:sp>
      <p:sp>
        <p:nvSpPr>
          <p:cNvPr id="20" name="TextBox 19"/>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21" name="Rectangle 20"/>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23" name="TextBox 22"/>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24" name="TextBox 23"/>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25" name="TextBox 24"/>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26" name="TextBox 25"/>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27" name="Connector 26"/>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Linde</a:t>
            </a:r>
          </a:p>
        </p:txBody>
      </p:sp>
      <p:sp>
        <p:nvSpPr>
          <p:cNvPr id="30" name="TextBox 29"/>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Gaseous Helium-3</a:t>
            </a:r>
          </a:p>
        </p:txBody>
      </p:sp>
      <p:sp>
        <p:nvSpPr>
          <p:cNvPr id="31" name="TextBox 30"/>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32" name="Rectangle 31"/>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34" name="TextBox 33"/>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35" name="TextBox 34"/>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36" name="TextBox 35"/>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37" name="TextBox 36"/>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38" name="Connector 37"/>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Chemgas</a:t>
            </a:r>
          </a:p>
        </p:txBody>
      </p:sp>
      <p:sp>
        <p:nvSpPr>
          <p:cNvPr id="41" name="TextBox 40"/>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East Asia</a:t>
            </a:r>
          </a:p>
        </p:txBody>
      </p:sp>
      <p:sp>
        <p:nvSpPr>
          <p:cNvPr id="42" name="TextBox 41"/>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43" name="Rectangle 42"/>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45" name="TextBox 44"/>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46" name="TextBox 45"/>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47" name="TextBox 46"/>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48" name="TextBox 47"/>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49" name="Connector 48"/>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Airgas</a:t>
            </a:r>
          </a:p>
        </p:txBody>
      </p:sp>
      <p:sp>
        <p:nvSpPr>
          <p:cNvPr id="52" name="TextBox 51"/>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Liquid Helium-3</a:t>
            </a:r>
          </a:p>
        </p:txBody>
      </p:sp>
      <p:sp>
        <p:nvSpPr>
          <p:cNvPr id="53" name="TextBox 52"/>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54" name="Rectangle 53"/>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56" name="TextBox 55"/>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57" name="TextBox 56"/>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58" name="TextBox 57"/>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59" name="TextBox 58"/>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60" name="Connector 59"/>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Merck KGaA</a:t>
            </a:r>
          </a:p>
        </p:txBody>
      </p:sp>
      <p:sp>
        <p:nvSpPr>
          <p:cNvPr id="63" name="TextBox 62"/>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Middle East &amp; Africa</a:t>
            </a:r>
          </a:p>
        </p:txBody>
      </p:sp>
      <p:sp>
        <p:nvSpPr>
          <p:cNvPr id="64" name="TextBox 63"/>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65" name="Rectangle 64"/>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67" name="TextBox 66"/>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68" name="TextBox 67"/>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69" name="TextBox 68"/>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70" name="TextBox 69"/>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71" name="Connector 70"/>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Eurisotop</a:t>
            </a:r>
          </a:p>
        </p:txBody>
      </p:sp>
      <p:sp>
        <p:nvSpPr>
          <p:cNvPr id="74" name="TextBox 73"/>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Gaseous Helium-3</a:t>
            </a:r>
          </a:p>
        </p:txBody>
      </p:sp>
      <p:sp>
        <p:nvSpPr>
          <p:cNvPr id="75" name="TextBox 74"/>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76" name="Rectangle 75"/>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78" name="TextBox 77"/>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79" name="TextBox 78"/>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80" name="TextBox 79"/>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81" name="TextBox 80"/>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82" name="Connector 81"/>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ISOFLEX USA</a:t>
            </a:r>
          </a:p>
        </p:txBody>
      </p:sp>
      <p:sp>
        <p:nvSpPr>
          <p:cNvPr id="85" name="TextBox 84"/>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Western Europe</a:t>
            </a:r>
          </a:p>
        </p:txBody>
      </p:sp>
      <p:sp>
        <p:nvSpPr>
          <p:cNvPr id="86" name="TextBox 85"/>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87" name="Rectangle 86"/>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89" name="TextBox 88"/>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90" name="TextBox 89"/>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91" name="TextBox 90"/>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92" name="TextBox 91"/>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93" name="Connector 92"/>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DWS Specialty Gas</a:t>
            </a:r>
          </a:p>
        </p:txBody>
      </p:sp>
      <p:sp>
        <p:nvSpPr>
          <p:cNvPr id="96" name="TextBox 95"/>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Liquid Helium-3</a:t>
            </a:r>
          </a:p>
        </p:txBody>
      </p:sp>
      <p:sp>
        <p:nvSpPr>
          <p:cNvPr id="97" name="TextBox 96"/>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98" name="Rectangle 97"/>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00" name="TextBox 99"/>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101" name="TextBox 100"/>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02" name="TextBox 101"/>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103" name="TextBox 102"/>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104" name="Connector 103"/>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Wuhan Baisida Gas</a:t>
            </a:r>
          </a:p>
        </p:txBody>
      </p:sp>
      <p:sp>
        <p:nvSpPr>
          <p:cNvPr id="107" name="TextBox 106"/>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Acquisition to add scale or capability in South Asia &amp; Pacific</a:t>
            </a:r>
          </a:p>
        </p:txBody>
      </p:sp>
      <p:sp>
        <p:nvSpPr>
          <p:cNvPr id="108" name="TextBox 107"/>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109" name="Rectangle 108"/>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111" name="TextBox 110"/>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a:t>
            </a:r>
          </a:p>
        </p:txBody>
      </p:sp>
      <p:sp>
        <p:nvSpPr>
          <p:cNvPr id="112" name="TextBox 111"/>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13" name="TextBox 112"/>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Consolidation: capability is being bought, not built</a:t>
            </a:r>
          </a:p>
        </p:txBody>
      </p:sp>
      <p:sp>
        <p:nvSpPr>
          <p:cNvPr id="114" name="TextBox 113"/>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Corporate development: track targets and deal multiples</a:t>
            </a:r>
          </a:p>
        </p:txBody>
      </p:sp>
      <p:cxnSp>
        <p:nvCxnSpPr>
          <p:cNvPr id="115" name="Connector 114"/>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6" name="Rectangle 115"/>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Segoe UI"/>
              </a:rPr>
              <a:t>Shanghai Wechem Chemical</a:t>
            </a:r>
          </a:p>
        </p:txBody>
      </p:sp>
      <p:sp>
        <p:nvSpPr>
          <p:cNvPr id="118" name="TextBox 117"/>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development programme in Gaseous Helium-3</a:t>
            </a:r>
          </a:p>
        </p:txBody>
      </p:sp>
      <p:sp>
        <p:nvSpPr>
          <p:cNvPr id="119" name="TextBox 118"/>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Segoe UI"/>
              </a:rPr>
              <a:t/>
            </a:r>
          </a:p>
        </p:txBody>
      </p:sp>
      <p:sp>
        <p:nvSpPr>
          <p:cNvPr id="120" name="Rectangle 119"/>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22" name="TextBox 121"/>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and R&amp;D</a:t>
            </a:r>
          </a:p>
        </p:txBody>
      </p:sp>
      <p:sp>
        <p:nvSpPr>
          <p:cNvPr id="123" name="TextBox 122"/>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Segoe UI"/>
              </a:rPr>
              <a:t>FMI company profiling</a:t>
            </a:r>
          </a:p>
        </p:txBody>
      </p:sp>
      <p:sp>
        <p:nvSpPr>
          <p:cNvPr id="124" name="TextBox 123"/>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Capability build ahead of demand</a:t>
            </a:r>
          </a:p>
        </p:txBody>
      </p:sp>
      <p:sp>
        <p:nvSpPr>
          <p:cNvPr id="125" name="TextBox 124"/>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Product: watch the roadmap</a:t>
            </a:r>
          </a:p>
        </p:txBody>
      </p:sp>
      <p:cxnSp>
        <p:nvCxnSpPr>
          <p:cNvPr id="126" name="Connector 125"/>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MA</a:t>
            </a:r>
          </a:p>
        </p:txBody>
      </p:sp>
      <p:sp>
        <p:nvSpPr>
          <p:cNvPr id="129" name="TextBox 128"/>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M&amp;A</a:t>
            </a:r>
          </a:p>
        </p:txBody>
      </p:sp>
      <p:sp>
        <p:nvSpPr>
          <p:cNvPr id="130" name="Rectangle 129"/>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PR</a:t>
            </a:r>
          </a:p>
        </p:txBody>
      </p:sp>
      <p:sp>
        <p:nvSpPr>
          <p:cNvPr id="132" name="TextBox 131"/>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Product / portfolio</a:t>
            </a:r>
          </a:p>
        </p:txBody>
      </p:sp>
      <p:sp>
        <p:nvSpPr>
          <p:cNvPr id="133" name="Rectangle 132"/>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EX</a:t>
            </a:r>
          </a:p>
        </p:txBody>
      </p:sp>
      <p:sp>
        <p:nvSpPr>
          <p:cNvPr id="135" name="TextBox 134"/>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Expansion</a:t>
            </a:r>
          </a:p>
        </p:txBody>
      </p:sp>
      <p:sp>
        <p:nvSpPr>
          <p:cNvPr id="136" name="Rectangle 135"/>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RD</a:t>
            </a:r>
          </a:p>
        </p:txBody>
      </p:sp>
      <p:sp>
        <p:nvSpPr>
          <p:cNvPr id="138" name="TextBox 137"/>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R&amp;D / technology</a:t>
            </a:r>
          </a:p>
        </p:txBody>
      </p:sp>
      <p:sp>
        <p:nvSpPr>
          <p:cNvPr id="139" name="Rectangle 138"/>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RG</a:t>
            </a:r>
          </a:p>
        </p:txBody>
      </p:sp>
      <p:sp>
        <p:nvSpPr>
          <p:cNvPr id="141" name="TextBox 140"/>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Regulation / compliance</a:t>
            </a:r>
          </a:p>
        </p:txBody>
      </p:sp>
      <p:sp>
        <p:nvSpPr>
          <p:cNvPr id="142" name="Rectangle 141"/>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Segoe UI"/>
              </a:rPr>
              <a:t>CP</a:t>
            </a:r>
          </a:p>
        </p:txBody>
      </p:sp>
      <p:sp>
        <p:nvSpPr>
          <p:cNvPr id="144" name="TextBox 143"/>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Segoe UI"/>
              </a:rPr>
              <a:t>Capital / funding</a:t>
            </a:r>
          </a:p>
        </p:txBody>
      </p:sp>
      <p:sp>
        <p:nvSpPr>
          <p:cNvPr id="145" name="TextBox 144"/>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Segoe UI"/>
              </a:rPr>
              <a:t>Dates, deal values and evidence sources populate from the research feed; until then each row reads the player's most telling active strategy.</a:t>
            </a:r>
          </a:p>
        </p:txBody>
      </p:sp>
      <p:sp>
        <p:nvSpPr>
          <p:cNvPr id="146" name="TextBox 1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Strategic Activity by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Where competitor activity concentrates by type and department, and what it means for each function</a:t>
            </a:r>
          </a:p>
        </p:txBody>
      </p:sp>
      <p:sp>
        <p:nvSpPr>
          <p:cNvPr id="8" name="Rectangle 7"/>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Air Liquide</a:t>
            </a:r>
          </a:p>
        </p:txBody>
      </p:sp>
      <p:sp>
        <p:nvSpPr>
          <p:cNvPr id="10" name="Rectangle 9"/>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Linde</a:t>
            </a:r>
          </a:p>
        </p:txBody>
      </p:sp>
      <p:sp>
        <p:nvSpPr>
          <p:cNvPr id="12" name="Rectangle 11"/>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Chemgas</a:t>
            </a:r>
          </a:p>
        </p:txBody>
      </p:sp>
      <p:sp>
        <p:nvSpPr>
          <p:cNvPr id="14" name="Rectangle 13"/>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Airgas</a:t>
            </a:r>
          </a:p>
        </p:txBody>
      </p:sp>
      <p:sp>
        <p:nvSpPr>
          <p:cNvPr id="16" name="Rectangle 15"/>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Merck KGaA</a:t>
            </a:r>
          </a:p>
        </p:txBody>
      </p:sp>
      <p:sp>
        <p:nvSpPr>
          <p:cNvPr id="18" name="Rectangle 17"/>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Eurisotop</a:t>
            </a:r>
          </a:p>
        </p:txBody>
      </p:sp>
      <p:sp>
        <p:nvSpPr>
          <p:cNvPr id="20" name="Rectangle 19"/>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ISOFLEX USA</a:t>
            </a:r>
          </a:p>
        </p:txBody>
      </p:sp>
      <p:sp>
        <p:nvSpPr>
          <p:cNvPr id="22" name="Rectangle 21"/>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DWS Specialty Gas</a:t>
            </a:r>
          </a:p>
        </p:txBody>
      </p:sp>
      <p:sp>
        <p:nvSpPr>
          <p:cNvPr id="24" name="Rectangle 23"/>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Wuhan Baisida Gas</a:t>
            </a:r>
          </a:p>
        </p:txBody>
      </p:sp>
      <p:sp>
        <p:nvSpPr>
          <p:cNvPr id="26" name="Rectangle 25"/>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Segoe UI"/>
              </a:rPr>
              <a:t>Shanghai Wechem Chemical</a:t>
            </a:r>
          </a:p>
        </p:txBody>
      </p:sp>
      <p:sp>
        <p:nvSpPr>
          <p:cNvPr id="28" name="TextBox 27"/>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Moves by type (count)</a:t>
            </a:r>
          </a:p>
        </p:txBody>
      </p:sp>
      <p:sp>
        <p:nvSpPr>
          <p:cNvPr id="29" name="TextBox 28"/>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MA</a:t>
            </a:r>
          </a:p>
        </p:txBody>
      </p:sp>
      <p:sp>
        <p:nvSpPr>
          <p:cNvPr id="30" name="TextBox 29"/>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PR</a:t>
            </a:r>
          </a:p>
        </p:txBody>
      </p:sp>
      <p:sp>
        <p:nvSpPr>
          <p:cNvPr id="31" name="TextBox 30"/>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EX</a:t>
            </a:r>
          </a:p>
        </p:txBody>
      </p:sp>
      <p:sp>
        <p:nvSpPr>
          <p:cNvPr id="32" name="TextBox 31"/>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RD</a:t>
            </a:r>
          </a:p>
        </p:txBody>
      </p:sp>
      <p:sp>
        <p:nvSpPr>
          <p:cNvPr id="33" name="TextBox 32"/>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RG</a:t>
            </a:r>
          </a:p>
        </p:txBody>
      </p:sp>
      <p:sp>
        <p:nvSpPr>
          <p:cNvPr id="34" name="TextBox 33"/>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CP</a:t>
            </a:r>
          </a:p>
        </p:txBody>
      </p:sp>
      <p:sp>
        <p:nvSpPr>
          <p:cNvPr id="35" name="Rectangle 34"/>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7" name="Rectangle 36"/>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0" name="Rectangle 39"/>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2" name="Rectangle 41"/>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4" name="Rectangle 43"/>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46" name="Rectangle 45"/>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49" name="Rectangle 48"/>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1" name="Rectangle 50"/>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3" name="Rectangle 52"/>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6" name="Rectangle 55"/>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58" name="Rectangle 57"/>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1" name="Rectangle 60"/>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3" name="Rectangle 62"/>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5" name="Rectangle 64"/>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67" name="Rectangle 66"/>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70" name="Rectangle 69"/>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2" name="Rectangle 71"/>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4" name="Rectangle 73"/>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7" name="Rectangle 76"/>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79" name="Rectangle 78"/>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2" name="Rectangle 81"/>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4" name="Rectangle 83"/>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6" name="Rectangle 85"/>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88" name="Rectangle 87"/>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91" name="Rectangle 90"/>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3" name="Rectangle 92"/>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5" name="Rectangle 94"/>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98" name="Rectangle 97"/>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0" name="Rectangle 99"/>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3" name="Rectangle 102"/>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5" name="Rectangle 104"/>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7" name="Rectangle 106"/>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09" name="Rectangle 108"/>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112" name="Rectangle 111"/>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4" name="Rectangle 113"/>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6" name="Rectangle 115"/>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19" name="Rectangle 118"/>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1" name="Rectangle 120"/>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4" name="Rectangle 123"/>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6" name="Rectangle 125"/>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28" name="Rectangle 127"/>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0" name="Rectangle 129"/>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133" name="Rectangle 132"/>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5" name="Rectangle 134"/>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37" name="Rectangle 136"/>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140" name="TextBox 139"/>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By department</a:t>
            </a:r>
          </a:p>
        </p:txBody>
      </p:sp>
      <p:sp>
        <p:nvSpPr>
          <p:cNvPr id="141" name="TextBox 140"/>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Product &amp; R&amp;D</a:t>
            </a:r>
          </a:p>
        </p:txBody>
      </p:sp>
      <p:sp>
        <p:nvSpPr>
          <p:cNvPr id="142" name="TextBox 141"/>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Corp. dev.</a:t>
            </a:r>
          </a:p>
        </p:txBody>
      </p:sp>
      <p:sp>
        <p:nvSpPr>
          <p:cNvPr id="143" name="TextBox 142"/>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Operations</a:t>
            </a:r>
          </a:p>
        </p:txBody>
      </p:sp>
      <p:sp>
        <p:nvSpPr>
          <p:cNvPr id="144" name="TextBox 143"/>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Legal &amp; reg.</a:t>
            </a:r>
          </a:p>
        </p:txBody>
      </p:sp>
      <p:sp>
        <p:nvSpPr>
          <p:cNvPr id="145" name="Rectangle 144"/>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47" name="Rectangle 146"/>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49" name="Rectangle 148"/>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1" name="Rectangle 150"/>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3" name="Rectangle 152"/>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55" name="Rectangle 154"/>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58" name="Rectangle 157"/>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1" name="Rectangle 160"/>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3" name="Rectangle 162"/>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5" name="Rectangle 164"/>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67" name="Rectangle 166"/>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69" name="Rectangle 168"/>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2" name="Rectangle 171"/>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5" name="Rectangle 174"/>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7" name="Rectangle 176"/>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79" name="Rectangle 178"/>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1" name="Rectangle 180"/>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83" name="Rectangle 182"/>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6" name="Rectangle 185"/>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89" name="Rectangle 188"/>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1" name="Rectangle 190"/>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3" name="Rectangle 192"/>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195" name="Rectangle 194"/>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197" name="Rectangle 196"/>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0" name="Rectangle 199"/>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3" name="Rectangle 202"/>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5" name="Rectangle 204"/>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7" name="Rectangle 206"/>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09" name="Rectangle 208"/>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Segoe UI"/>
              </a:rPr>
              <a:t>3</a:t>
            </a:r>
          </a:p>
        </p:txBody>
      </p:sp>
      <p:sp>
        <p:nvSpPr>
          <p:cNvPr id="211" name="Rectangle 210"/>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Segoe UI"/>
              </a:rPr>
              <a:t>1</a:t>
            </a:r>
          </a:p>
        </p:txBody>
      </p:sp>
      <p:sp>
        <p:nvSpPr>
          <p:cNvPr id="214" name="Rectangle 213"/>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Segoe UI"/>
              </a:rPr>
              <a:t>By region of activity</a:t>
            </a:r>
          </a:p>
        </p:txBody>
      </p:sp>
      <p:sp>
        <p:nvSpPr>
          <p:cNvPr id="216" name="TextBox 215"/>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N. America</a:t>
            </a:r>
          </a:p>
        </p:txBody>
      </p:sp>
      <p:sp>
        <p:nvSpPr>
          <p:cNvPr id="217" name="TextBox 216"/>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S. Asia &amp; Pac.</a:t>
            </a:r>
          </a:p>
        </p:txBody>
      </p:sp>
      <p:sp>
        <p:nvSpPr>
          <p:cNvPr id="218" name="TextBox 217"/>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E. Asia</a:t>
            </a:r>
          </a:p>
        </p:txBody>
      </p:sp>
      <p:sp>
        <p:nvSpPr>
          <p:cNvPr id="219" name="TextBox 218"/>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LATAM</a:t>
            </a:r>
          </a:p>
        </p:txBody>
      </p:sp>
      <p:sp>
        <p:nvSpPr>
          <p:cNvPr id="220" name="TextBox 219"/>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Segoe UI"/>
              </a:rPr>
              <a:t>MEA</a:t>
            </a:r>
          </a:p>
        </p:txBody>
      </p:sp>
      <p:sp>
        <p:nvSpPr>
          <p:cNvPr id="221" name="TextBox 220"/>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Segoe UI"/>
              </a:rPr>
              <a:t>E. Europe</a:t>
            </a:r>
          </a:p>
        </p:txBody>
      </p:sp>
      <p:sp>
        <p:nvSpPr>
          <p:cNvPr id="222" name="Rectangle 221"/>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24" name="Rectangle 223"/>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26" name="Rectangle 225"/>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28" name="Rectangle 227"/>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34" name="Rectangle 233"/>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36" name="Rectangle 235"/>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38" name="Rectangle 237"/>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44" name="Rectangle 243"/>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46" name="Rectangle 245"/>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48" name="Rectangle 247"/>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54" name="Rectangle 253"/>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56" name="Rectangle 255"/>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58" name="Rectangle 257"/>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64" name="Rectangle 263"/>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66" name="Rectangle 265"/>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68" name="Rectangle 267"/>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74" name="Rectangle 273"/>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76" name="Rectangle 275"/>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78" name="Rectangle 277"/>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84" name="Rectangle 283"/>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86" name="Rectangle 285"/>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88" name="Rectangle 287"/>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294" name="Rectangle 293"/>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96" name="Rectangle 295"/>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298" name="Rectangle 297"/>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2</a:t>
            </a:r>
          </a:p>
        </p:txBody>
      </p:sp>
      <p:sp>
        <p:nvSpPr>
          <p:cNvPr id="304" name="Rectangle 303"/>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06" name="Rectangle 305"/>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Segoe UI"/>
              </a:rPr>
              <a:t>1</a:t>
            </a:r>
          </a:p>
        </p:txBody>
      </p:sp>
      <p:sp>
        <p:nvSpPr>
          <p:cNvPr id="308" name="Rectangle 307"/>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1 move</a:t>
            </a:r>
          </a:p>
        </p:txBody>
      </p:sp>
      <p:sp>
        <p:nvSpPr>
          <p:cNvPr id="311" name="Rectangle 310"/>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2 moves</a:t>
            </a:r>
          </a:p>
        </p:txBody>
      </p:sp>
      <p:sp>
        <p:nvSpPr>
          <p:cNvPr id="313" name="Rectangle 312"/>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Segoe UI"/>
              </a:rPr>
              <a:t>3+ moves</a:t>
            </a:r>
          </a:p>
        </p:txBody>
      </p:sp>
      <p:sp>
        <p:nvSpPr>
          <p:cNvPr id="315" name="TextBox 314"/>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Segoe UI"/>
              </a:rPr>
              <a:t>Type codes: MA M&amp;A, PR Product / portfolio, EX Expansion, RD R&amp;D / technology, RG Regulation / compliance, CP Capital / funding</a:t>
            </a:r>
          </a:p>
        </p:txBody>
      </p:sp>
      <p:cxnSp>
        <p:nvCxnSpPr>
          <p:cNvPr id="316" name="Connector 315"/>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7" name="TextBox 316"/>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Segoe UI"/>
              </a:rPr>
              <a:t>WHAT IT MEANS FOR EACH OF YOUR DEPARTMENTS</a:t>
            </a:r>
          </a:p>
        </p:txBody>
      </p:sp>
      <p:sp>
        <p:nvSpPr>
          <p:cNvPr id="318" name="Rectangle 317"/>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Sales</a:t>
            </a:r>
          </a:p>
        </p:txBody>
      </p:sp>
      <p:sp>
        <p:nvSpPr>
          <p:cNvPr id="320" name="TextBox 319"/>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10 expansion moves target new regions and volume tiers: defend key accounts where rivals expand.</a:t>
            </a:r>
          </a:p>
        </p:txBody>
      </p:sp>
      <p:sp>
        <p:nvSpPr>
          <p:cNvPr id="321" name="Rectangle 320"/>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Marketing</a:t>
            </a:r>
          </a:p>
        </p:txBody>
      </p:sp>
      <p:sp>
        <p:nvSpPr>
          <p:cNvPr id="323" name="TextBox 322"/>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Certification and compliance are being used as trust signals; make your own credentials visible.</a:t>
            </a:r>
          </a:p>
        </p:txBody>
      </p:sp>
      <p:sp>
        <p:nvSpPr>
          <p:cNvPr id="324" name="Rectangle 323"/>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Product and R&amp;D</a:t>
            </a:r>
          </a:p>
        </p:txBody>
      </p:sp>
      <p:sp>
        <p:nvSpPr>
          <p:cNvPr id="326" name="TextBox 325"/>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20 product and R&amp;D moves: benchmark launches and the technology roadmap.</a:t>
            </a:r>
          </a:p>
        </p:txBody>
      </p:sp>
      <p:sp>
        <p:nvSpPr>
          <p:cNvPr id="327" name="Rectangle 326"/>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Corporate development</a:t>
            </a:r>
          </a:p>
        </p:txBody>
      </p:sp>
      <p:sp>
        <p:nvSpPr>
          <p:cNvPr id="329" name="TextBox 328"/>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5 players are acquiring; the independent target list is shrinking.</a:t>
            </a:r>
          </a:p>
        </p:txBody>
      </p:sp>
      <p:sp>
        <p:nvSpPr>
          <p:cNvPr id="330" name="Rectangle 329"/>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Operations</a:t>
            </a:r>
          </a:p>
        </p:txBody>
      </p:sp>
      <p:sp>
        <p:nvSpPr>
          <p:cNvPr id="332" name="TextBox 331"/>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Expansion moves add capacity in rivals' home regions; review supply and lead times.</a:t>
            </a:r>
          </a:p>
        </p:txBody>
      </p:sp>
      <p:sp>
        <p:nvSpPr>
          <p:cNvPr id="333" name="Rectangle 332"/>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Segoe UI"/>
              </a:rPr>
              <a:t>Legal and regulatory</a:t>
            </a:r>
          </a:p>
        </p:txBody>
      </p:sp>
      <p:sp>
        <p:nvSpPr>
          <p:cNvPr id="335" name="TextBox 334"/>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Segoe UI"/>
              </a:rPr>
              <a:t>5 players lean on certification; audit your own compliance position.</a:t>
            </a:r>
          </a:p>
        </p:txBody>
      </p:sp>
      <p:sp>
        <p:nvSpPr>
          <p:cNvPr id="336" name="TextBox 33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Industry Structure Landscape – Helium-3 Market, Global 2026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Tier ladder, market concentration and tier profile, and the structural shift 2026→2036 shaping the tier structure</a:t>
            </a:r>
          </a:p>
        </p:txBody>
      </p:sp>
      <p:sp>
        <p:nvSpPr>
          <p:cNvPr id="8" name="Rectangle 7"/>
          <p:cNvSpPr/>
          <p:nvPr/>
        </p:nvSpPr>
        <p:spPr>
          <a:xfrm>
            <a:off x="142875" y="1047750"/>
            <a:ext cx="5810250" cy="40005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52423"/>
                </a:solidFill>
                <a:latin typeface="Segoe UI"/>
              </a:rPr>
              <a:t>Tier Ladder – Share of Market Value, 2026</a:t>
            </a:r>
          </a:p>
        </p:txBody>
      </p:sp>
      <p:sp>
        <p:nvSpPr>
          <p:cNvPr id="10" name="TextBox 9"/>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Segoe UI"/>
              </a:rPr>
              <a:t/>
            </a:r>
          </a:p>
        </p:txBody>
      </p:sp>
      <p:sp>
        <p:nvSpPr>
          <p:cNvPr id="11" name="TextBox 10"/>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1</a:t>
            </a:r>
          </a:p>
        </p:txBody>
      </p:sp>
      <p:sp>
        <p:nvSpPr>
          <p:cNvPr id="12" name="TextBox 11"/>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Top / global players</a:t>
            </a:r>
          </a:p>
        </p:txBody>
      </p:sp>
      <p:sp>
        <p:nvSpPr>
          <p:cNvPr id="13" name="Rectangle 12"/>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15" name="TextBox 14"/>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16" name="TextBox 15"/>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Air Liquide · Linde · Chemgas · Airgas</a:t>
            </a:r>
          </a:p>
        </p:txBody>
      </p:sp>
      <p:sp>
        <p:nvSpPr>
          <p:cNvPr id="17" name="TextBox 16"/>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2</a:t>
            </a:r>
          </a:p>
        </p:txBody>
      </p:sp>
      <p:sp>
        <p:nvSpPr>
          <p:cNvPr id="18" name="TextBox 17"/>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Mid-sized players</a:t>
            </a:r>
          </a:p>
        </p:txBody>
      </p:sp>
      <p:sp>
        <p:nvSpPr>
          <p:cNvPr id="19" name="Rectangle 18"/>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21" name="TextBox 20"/>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22" name="TextBox 21"/>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Merck KGaA · Eurisotop</a:t>
            </a:r>
          </a:p>
        </p:txBody>
      </p:sp>
      <p:sp>
        <p:nvSpPr>
          <p:cNvPr id="23" name="TextBox 22"/>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Tier 3</a:t>
            </a:r>
          </a:p>
        </p:txBody>
      </p:sp>
      <p:sp>
        <p:nvSpPr>
          <p:cNvPr id="24" name="TextBox 23"/>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Emerging / local players</a:t>
            </a:r>
          </a:p>
        </p:txBody>
      </p:sp>
      <p:sp>
        <p:nvSpPr>
          <p:cNvPr id="25" name="Rectangle 24"/>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Segoe UI"/>
              </a:rPr>
              <a:t> </a:t>
            </a:r>
          </a:p>
        </p:txBody>
      </p:sp>
      <p:sp>
        <p:nvSpPr>
          <p:cNvPr id="27" name="TextBox 26"/>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Segoe UI"/>
              </a:rPr>
              <a:t/>
            </a:r>
          </a:p>
        </p:txBody>
      </p:sp>
      <p:sp>
        <p:nvSpPr>
          <p:cNvPr id="28" name="TextBox 27"/>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ISOFLEX USA · DWS Specialty Gas · Wuhan Baisida Gas · Shanghai Wechem Chemical</a:t>
            </a:r>
          </a:p>
        </p:txBody>
      </p:sp>
      <p:sp>
        <p:nvSpPr>
          <p:cNvPr id="29" name="TextBox 28"/>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Segoe UI"/>
              </a:rPr>
              <a:t>Others</a:t>
            </a:r>
          </a:p>
        </p:txBody>
      </p:sp>
      <p:sp>
        <p:nvSpPr>
          <p:cNvPr id="30" name="TextBox 29"/>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Long tail</a:t>
            </a:r>
          </a:p>
        </p:txBody>
      </p:sp>
      <p:sp>
        <p:nvSpPr>
          <p:cNvPr id="31" name="Rectangle 30"/>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Segoe UI"/>
              </a:rPr>
              <a:t> </a:t>
            </a:r>
          </a:p>
        </p:txBody>
      </p:sp>
      <p:sp>
        <p:nvSpPr>
          <p:cNvPr id="33" name="TextBox 32"/>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Segoe UI"/>
              </a:rPr>
              <a:t/>
            </a:r>
          </a:p>
        </p:txBody>
      </p:sp>
      <p:sp>
        <p:nvSpPr>
          <p:cNvPr id="34" name="TextBox 33"/>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Regional &amp; niche suppliers</a:t>
            </a:r>
          </a:p>
        </p:txBody>
      </p:sp>
      <p:sp>
        <p:nvSpPr>
          <p:cNvPr id="35" name="Rectangle 34"/>
          <p:cNvSpPr/>
          <p:nvPr/>
        </p:nvSpPr>
        <p:spPr>
          <a:xfrm>
            <a:off x="142875" y="5162550"/>
            <a:ext cx="5810250" cy="1466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52423"/>
                </a:solidFill>
                <a:latin typeface="Segoe UI"/>
              </a:rPr>
              <a:t>Concentration Read-out</a:t>
            </a:r>
          </a:p>
        </p:txBody>
      </p:sp>
      <p:sp>
        <p:nvSpPr>
          <p:cNvPr id="37" name="Rectangle 36"/>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Segoe UI"/>
              </a:rPr>
              <a:t>Fragmented HHI &lt; 1,500</a:t>
            </a:r>
          </a:p>
        </p:txBody>
      </p:sp>
      <p:sp>
        <p:nvSpPr>
          <p:cNvPr id="39" name="Rectangle 38"/>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Segoe UI"/>
              </a:rPr>
              <a:t>Moderate 1,500–2,500</a:t>
            </a:r>
          </a:p>
        </p:txBody>
      </p:sp>
      <p:sp>
        <p:nvSpPr>
          <p:cNvPr id="41" name="Rectangle 40"/>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Segoe UI"/>
              </a:rPr>
              <a:t>Concentrated &gt; 2,500</a:t>
            </a:r>
          </a:p>
        </p:txBody>
      </p:sp>
      <p:sp>
        <p:nvSpPr>
          <p:cNvPr id="43" name="TextBox 42"/>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Segoe UI"/>
              </a:rPr>
              <a:t/>
            </a:r>
          </a:p>
        </p:txBody>
      </p:sp>
      <p:sp>
        <p:nvSpPr>
          <p:cNvPr id="44" name="TextBox 43"/>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Segoe UI"/>
              </a:rPr>
              <a:t/>
            </a:r>
          </a:p>
        </p:txBody>
      </p:sp>
      <p:sp>
        <p:nvSpPr>
          <p:cNvPr id="45" name="Rectangle 44"/>
          <p:cNvSpPr/>
          <p:nvPr/>
        </p:nvSpPr>
        <p:spPr>
          <a:xfrm>
            <a:off x="6096000" y="1047750"/>
            <a:ext cx="5953125" cy="40005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52423"/>
                </a:solidFill>
                <a:latin typeface="Segoe UI"/>
              </a:rPr>
              <a:t>Tier Profile Matrix</a:t>
            </a:r>
          </a:p>
        </p:txBody>
      </p:sp>
      <p:sp>
        <p:nvSpPr>
          <p:cNvPr id="47" name="TextBox 46"/>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Segoe UI"/>
              </a:rPr>
              <a:t>Size, growth and competitive characteristics of each tier</a:t>
            </a:r>
          </a:p>
        </p:txBody>
      </p:sp>
      <p:sp>
        <p:nvSpPr>
          <p:cNvPr id="48" name="Rectangle 47"/>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Segoe UI"/>
              </a:rPr>
              <a:t>Metric</a:t>
            </a:r>
          </a:p>
        </p:txBody>
      </p:sp>
      <p:sp>
        <p:nvSpPr>
          <p:cNvPr id="50" name="Rectangle 49"/>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1</a:t>
            </a:r>
          </a:p>
        </p:txBody>
      </p:sp>
      <p:sp>
        <p:nvSpPr>
          <p:cNvPr id="52" name="Rectangle 51"/>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2</a:t>
            </a:r>
          </a:p>
        </p:txBody>
      </p:sp>
      <p:sp>
        <p:nvSpPr>
          <p:cNvPr id="54" name="Rectangle 53"/>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Tier 3</a:t>
            </a:r>
          </a:p>
        </p:txBody>
      </p:sp>
      <p:sp>
        <p:nvSpPr>
          <p:cNvPr id="56" name="Rectangle 55"/>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Segoe UI"/>
              </a:rPr>
              <a:t>Others</a:t>
            </a:r>
          </a:p>
        </p:txBody>
      </p:sp>
      <p:sp>
        <p:nvSpPr>
          <p:cNvPr id="58" name="Rectangle 57"/>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Segoe UI"/>
              </a:rPr>
              <a:t>Total</a:t>
            </a:r>
          </a:p>
        </p:txBody>
      </p:sp>
      <p:sp>
        <p:nvSpPr>
          <p:cNvPr id="60" name="Rectangle 59"/>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Players</a:t>
            </a:r>
          </a:p>
        </p:txBody>
      </p:sp>
      <p:sp>
        <p:nvSpPr>
          <p:cNvPr id="62" name="Rectangle 61"/>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4</a:t>
            </a:r>
          </a:p>
        </p:txBody>
      </p:sp>
      <p:sp>
        <p:nvSpPr>
          <p:cNvPr id="64" name="Rectangle 63"/>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2</a:t>
            </a:r>
          </a:p>
        </p:txBody>
      </p:sp>
      <p:sp>
        <p:nvSpPr>
          <p:cNvPr id="66" name="Rectangle 65"/>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4</a:t>
            </a:r>
          </a:p>
        </p:txBody>
      </p:sp>
      <p:sp>
        <p:nvSpPr>
          <p:cNvPr id="68" name="Rectangle 67"/>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Long tail</a:t>
            </a:r>
          </a:p>
        </p:txBody>
      </p:sp>
      <p:sp>
        <p:nvSpPr>
          <p:cNvPr id="70" name="Rectangle 69"/>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 </a:t>
            </a:r>
          </a:p>
        </p:txBody>
      </p:sp>
      <p:sp>
        <p:nvSpPr>
          <p:cNvPr id="72" name="Rectangle 71"/>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Value 2026 (US$ Mn)</a:t>
            </a:r>
          </a:p>
        </p:txBody>
      </p:sp>
      <p:sp>
        <p:nvSpPr>
          <p:cNvPr id="74" name="Rectangle 73"/>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76" name="Rectangle 75"/>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78" name="Rectangle 77"/>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80" name="Rectangle 79"/>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82" name="Rectangle 81"/>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 </a:t>
            </a:r>
          </a:p>
        </p:txBody>
      </p:sp>
      <p:sp>
        <p:nvSpPr>
          <p:cNvPr id="84" name="Rectangle 83"/>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of value 2026</a:t>
            </a:r>
          </a:p>
        </p:txBody>
      </p:sp>
      <p:sp>
        <p:nvSpPr>
          <p:cNvPr id="86" name="Rectangle 85"/>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88" name="TextBox 87"/>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89" name="Rectangle 88"/>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1" name="TextBox 90"/>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2" name="Rectangle 91"/>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4" name="TextBox 93"/>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5" name="Rectangle 94"/>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97" name="TextBox 96"/>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98" name="Rectangle 97"/>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00" name="Rectangle 99"/>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of value 2036</a:t>
            </a:r>
          </a:p>
        </p:txBody>
      </p:sp>
      <p:sp>
        <p:nvSpPr>
          <p:cNvPr id="102" name="Rectangle 101"/>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04" name="TextBox 103"/>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05" name="Rectangle 104"/>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07" name="TextBox 106"/>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08" name="Rectangle 107"/>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10" name="TextBox 109"/>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11" name="Rectangle 110"/>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13" name="TextBox 112"/>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14" name="Rectangle 113"/>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16" name="Rectangle 115"/>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Share change (pp)</a:t>
            </a:r>
          </a:p>
        </p:txBody>
      </p:sp>
      <p:sp>
        <p:nvSpPr>
          <p:cNvPr id="118" name="Rectangle 117"/>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0" name="TextBox 119"/>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1" name="Rectangle 120"/>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3" name="TextBox 122"/>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4" name="Rectangle 123"/>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6" name="TextBox 125"/>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27" name="Rectangle 126"/>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Segoe UI"/>
              </a:rPr>
              <a:t>−</a:t>
            </a:r>
          </a:p>
        </p:txBody>
      </p:sp>
      <p:sp>
        <p:nvSpPr>
          <p:cNvPr id="129" name="TextBox 128"/>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0" name="Rectangle 129"/>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a:t>
            </a:r>
          </a:p>
        </p:txBody>
      </p:sp>
      <p:sp>
        <p:nvSpPr>
          <p:cNvPr id="132" name="Rectangle 131"/>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CAGR 2026–2036</a:t>
            </a:r>
          </a:p>
        </p:txBody>
      </p:sp>
      <p:sp>
        <p:nvSpPr>
          <p:cNvPr id="134" name="Rectangle 133"/>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6" name="TextBox 135"/>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37" name="Rectangle 136"/>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39" name="TextBox 138"/>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0" name="Rectangle 139"/>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42" name="TextBox 141"/>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3" name="Rectangle 142"/>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45" name="TextBox 144"/>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46" name="Rectangle 145"/>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Segoe UI"/>
              </a:rPr>
              <a:t> </a:t>
            </a:r>
          </a:p>
        </p:txBody>
      </p:sp>
      <p:sp>
        <p:nvSpPr>
          <p:cNvPr id="148" name="TextBox 147"/>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Segoe UI"/>
              </a:rPr>
              <a:t>%</a:t>
            </a:r>
          </a:p>
        </p:txBody>
      </p:sp>
      <p:sp>
        <p:nvSpPr>
          <p:cNvPr id="149" name="Rectangle 148"/>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Avg / player (US$ Mn)</a:t>
            </a:r>
          </a:p>
        </p:txBody>
      </p:sp>
      <p:sp>
        <p:nvSpPr>
          <p:cNvPr id="151" name="Rectangle 150"/>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3" name="Rectangle 152"/>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5" name="Rectangle 154"/>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 </a:t>
            </a:r>
          </a:p>
        </p:txBody>
      </p:sp>
      <p:sp>
        <p:nvSpPr>
          <p:cNvPr id="157" name="Rectangle 156"/>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Segoe UI"/>
              </a:rPr>
              <a:t>–</a:t>
            </a:r>
          </a:p>
        </p:txBody>
      </p:sp>
      <p:sp>
        <p:nvSpPr>
          <p:cNvPr id="159" name="Rectangle 158"/>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Segoe UI"/>
              </a:rPr>
              <a:t>–</a:t>
            </a:r>
          </a:p>
        </p:txBody>
      </p:sp>
      <p:sp>
        <p:nvSpPr>
          <p:cNvPr id="161" name="Rectangle 160"/>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Installed base share (units)</a:t>
            </a:r>
          </a:p>
        </p:txBody>
      </p:sp>
      <p:sp>
        <p:nvSpPr>
          <p:cNvPr id="163" name="Rectangle 162"/>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65" name="TextBox 164"/>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66" name="Rectangle 165"/>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68" name="TextBox 167"/>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69" name="Rectangle 168"/>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71" name="TextBox 170"/>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72" name="Rectangle 171"/>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Segoe UI"/>
              </a:rPr>
              <a:t> </a:t>
            </a:r>
          </a:p>
        </p:txBody>
      </p:sp>
      <p:sp>
        <p:nvSpPr>
          <p:cNvPr id="174" name="TextBox 173"/>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Segoe UI"/>
              </a:rPr>
              <a:t>%</a:t>
            </a:r>
          </a:p>
        </p:txBody>
      </p:sp>
      <p:sp>
        <p:nvSpPr>
          <p:cNvPr id="175" name="Rectangle 174"/>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Segoe UI"/>
              </a:rPr>
              <a:t>100%</a:t>
            </a:r>
          </a:p>
        </p:txBody>
      </p:sp>
      <p:sp>
        <p:nvSpPr>
          <p:cNvPr id="177" name="Rectangle 176"/>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Price positioning</a:t>
            </a:r>
          </a:p>
        </p:txBody>
      </p:sp>
      <p:sp>
        <p:nvSpPr>
          <p:cNvPr id="179" name="Rectangle 178"/>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Premium</a:t>
            </a:r>
          </a:p>
        </p:txBody>
      </p:sp>
      <p:sp>
        <p:nvSpPr>
          <p:cNvPr id="181" name="Rectangle 180"/>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Mid / value</a:t>
            </a:r>
          </a:p>
        </p:txBody>
      </p:sp>
      <p:sp>
        <p:nvSpPr>
          <p:cNvPr id="183" name="Rectangle 182"/>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Value / entry</a:t>
            </a:r>
          </a:p>
        </p:txBody>
      </p:sp>
      <p:sp>
        <p:nvSpPr>
          <p:cNvPr id="185" name="Rectangle 184"/>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Mixed</a:t>
            </a:r>
          </a:p>
        </p:txBody>
      </p:sp>
      <p:sp>
        <p:nvSpPr>
          <p:cNvPr id="187" name="Rectangle 186"/>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189" name="Rectangle 188"/>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Route-to-market</a:t>
            </a:r>
          </a:p>
        </p:txBody>
      </p:sp>
      <p:sp>
        <p:nvSpPr>
          <p:cNvPr id="191" name="Rectangle 190"/>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Direct / key accounts</a:t>
            </a:r>
          </a:p>
        </p:txBody>
      </p:sp>
      <p:sp>
        <p:nvSpPr>
          <p:cNvPr id="193" name="Rectangle 192"/>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Distributors</a:t>
            </a:r>
          </a:p>
        </p:txBody>
      </p:sp>
      <p:sp>
        <p:nvSpPr>
          <p:cNvPr id="195" name="Rectangle 194"/>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Regional partners</a:t>
            </a:r>
          </a:p>
        </p:txBody>
      </p:sp>
      <p:sp>
        <p:nvSpPr>
          <p:cNvPr id="197" name="Rectangle 196"/>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Local / online</a:t>
            </a:r>
          </a:p>
        </p:txBody>
      </p:sp>
      <p:sp>
        <p:nvSpPr>
          <p:cNvPr id="199" name="Rectangle 198"/>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01" name="Rectangle 200"/>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Portfolio breadth</a:t>
            </a:r>
          </a:p>
        </p:txBody>
      </p:sp>
      <p:sp>
        <p:nvSpPr>
          <p:cNvPr id="203" name="Rectangle 202"/>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Full portfolio</a:t>
            </a:r>
          </a:p>
        </p:txBody>
      </p:sp>
      <p:sp>
        <p:nvSpPr>
          <p:cNvPr id="205" name="Rectangle 204"/>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2–3 core lines</a:t>
            </a:r>
          </a:p>
        </p:txBody>
      </p:sp>
      <p:sp>
        <p:nvSpPr>
          <p:cNvPr id="207" name="Rectangle 206"/>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Single line</a:t>
            </a:r>
          </a:p>
        </p:txBody>
      </p:sp>
      <p:sp>
        <p:nvSpPr>
          <p:cNvPr id="209" name="Rectangle 208"/>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Segoe UI"/>
              </a:rPr>
              <a:t>Niche</a:t>
            </a:r>
          </a:p>
        </p:txBody>
      </p:sp>
      <p:sp>
        <p:nvSpPr>
          <p:cNvPr id="211" name="Rectangle 210"/>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13" name="Rectangle 212"/>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Strategic posture</a:t>
            </a:r>
          </a:p>
        </p:txBody>
      </p:sp>
      <p:sp>
        <p:nvSpPr>
          <p:cNvPr id="215" name="Rectangle 214"/>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Defend &amp; bundle</a:t>
            </a:r>
          </a:p>
        </p:txBody>
      </p:sp>
      <p:sp>
        <p:nvSpPr>
          <p:cNvPr id="217" name="Rectangle 216"/>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Niche deepening</a:t>
            </a:r>
          </a:p>
        </p:txBody>
      </p:sp>
      <p:sp>
        <p:nvSpPr>
          <p:cNvPr id="219" name="Rectangle 218"/>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Scale-up or exit</a:t>
            </a:r>
          </a:p>
        </p:txBody>
      </p:sp>
      <p:sp>
        <p:nvSpPr>
          <p:cNvPr id="221" name="Rectangle 220"/>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Long-tail</a:t>
            </a:r>
          </a:p>
        </p:txBody>
      </p:sp>
      <p:sp>
        <p:nvSpPr>
          <p:cNvPr id="223" name="Rectangle 222"/>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a:t>
            </a:r>
          </a:p>
        </p:txBody>
      </p:sp>
      <p:sp>
        <p:nvSpPr>
          <p:cNvPr id="225" name="Rectangle 224"/>
          <p:cNvSpPr/>
          <p:nvPr/>
        </p:nvSpPr>
        <p:spPr>
          <a:xfrm>
            <a:off x="6096000" y="5162550"/>
            <a:ext cx="5953125" cy="1466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52423"/>
                </a:solidFill>
                <a:latin typeface="Segoe UI"/>
              </a:rPr>
              <a:t>Key Takeaways</a:t>
            </a:r>
          </a:p>
        </p:txBody>
      </p:sp>
      <p:sp>
        <p:nvSpPr>
          <p:cNvPr id="227" name="TextBox 226"/>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28" name="TextBox 227"/>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29" name="TextBox 228"/>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30" name="TextBox 229"/>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31" name="TextBox 230"/>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232" name="TextBox 231"/>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233" name="TextBox 2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1147518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160488"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989162"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981783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1064651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160488"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989162"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981783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1064651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160487"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989163"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981783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1064651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160487"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989163"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981783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064651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147518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160488"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989163"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981783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160488"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8989162"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981783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10646512" y="3478276"/>
            <a:ext cx="128699" cy="187198"/>
          </a:xfrm>
          <a:prstGeom prst="rect">
            <a:avLst/>
          </a:prstGeom>
        </p:spPr>
      </p:pic>
      <p:sp>
        <p:nvSpPr>
          <p:cNvPr id="268" name="TextBox 267"/>
          <p:cNvSpPr txBox="1"/>
          <p:nvPr/>
        </p:nvSpPr>
        <p:spPr>
          <a:xfrm>
            <a:off x="266700" y="1344930"/>
            <a:ext cx="511628" cy="186689"/>
          </a:xfrm>
          <a:prstGeom prst="rect">
            <a:avLst/>
          </a:prstGeom>
          <a:noFill/>
        </p:spPr>
        <p:txBody>
          <a:bodyPr wrap="none" lIns="0" rIns="0" tIns="0" bIns="0">
            <a:spAutoFit/>
          </a:bodyPr>
          <a:lstStyle/>
          <a:p>
            <a:r>
              <a:rPr sz="1100" b="0">
                <a:solidFill>
                  <a:srgbClr val="6B7280"/>
                </a:solidFill>
                <a:latin typeface="Segoe UI"/>
              </a:rPr>
              <a:t>Market</a:t>
            </a:r>
          </a:p>
        </p:txBody>
      </p:sp>
      <p:pic>
        <p:nvPicPr>
          <p:cNvPr id="269" name="Picture 268" descr="lock.png"/>
          <p:cNvPicPr>
            <a:picLocks noChangeAspect="1"/>
          </p:cNvPicPr>
          <p:nvPr/>
        </p:nvPicPr>
        <p:blipFill>
          <a:blip r:embed="rId4"/>
          <a:stretch>
            <a:fillRect/>
          </a:stretch>
        </p:blipFill>
        <p:spPr>
          <a:xfrm>
            <a:off x="726380" y="1335151"/>
            <a:ext cx="128699" cy="187198"/>
          </a:xfrm>
          <a:prstGeom prst="rect">
            <a:avLst/>
          </a:prstGeom>
        </p:spPr>
      </p:pic>
      <p:sp>
        <p:nvSpPr>
          <p:cNvPr id="270" name="TextBox 269"/>
          <p:cNvSpPr txBox="1"/>
          <p:nvPr/>
        </p:nvSpPr>
        <p:spPr>
          <a:xfrm>
            <a:off x="893875" y="1344930"/>
            <a:ext cx="1382856" cy="186689"/>
          </a:xfrm>
          <a:prstGeom prst="rect">
            <a:avLst/>
          </a:prstGeom>
          <a:noFill/>
        </p:spPr>
        <p:txBody>
          <a:bodyPr wrap="none" lIns="0" rIns="0" tIns="0" bIns="0">
            <a:spAutoFit/>
          </a:bodyPr>
          <a:lstStyle/>
          <a:p>
            <a:r>
              <a:rPr sz="1100" b="0">
                <a:solidFill>
                  <a:srgbClr val="6B7280"/>
                </a:solidFill>
                <a:latin typeface="Segoe UI"/>
              </a:rPr>
              <a:t>US$ Mn · Tier 1 share</a:t>
            </a:r>
          </a:p>
        </p:txBody>
      </p:sp>
      <p:pic>
        <p:nvPicPr>
          <p:cNvPr id="271" name="Picture 270" descr="lock.png"/>
          <p:cNvPicPr>
            <a:picLocks noChangeAspect="1"/>
          </p:cNvPicPr>
          <p:nvPr/>
        </p:nvPicPr>
        <p:blipFill>
          <a:blip r:embed="rId4"/>
          <a:stretch>
            <a:fillRect/>
          </a:stretch>
        </p:blipFill>
        <p:spPr>
          <a:xfrm>
            <a:off x="2224783" y="1335151"/>
            <a:ext cx="128699" cy="187198"/>
          </a:xfrm>
          <a:prstGeom prst="rect">
            <a:avLst/>
          </a:prstGeom>
        </p:spPr>
      </p:pic>
      <p:sp>
        <p:nvSpPr>
          <p:cNvPr id="272" name="TextBox 271"/>
          <p:cNvSpPr txBox="1"/>
          <p:nvPr/>
        </p:nvSpPr>
        <p:spPr>
          <a:xfrm>
            <a:off x="2392279" y="1344930"/>
            <a:ext cx="196800" cy="186689"/>
          </a:xfrm>
          <a:prstGeom prst="rect">
            <a:avLst/>
          </a:prstGeom>
          <a:noFill/>
        </p:spPr>
        <p:txBody>
          <a:bodyPr wrap="none" lIns="0" rIns="0" tIns="0" bIns="0">
            <a:spAutoFit/>
          </a:bodyPr>
          <a:lstStyle/>
          <a:p>
            <a:r>
              <a:rPr sz="1100" b="0">
                <a:solidFill>
                  <a:srgbClr val="6B7280"/>
                </a:solidFill>
                <a:latin typeface="Segoe UI"/>
              </a:rPr>
              <a:t>→</a:t>
            </a:r>
          </a:p>
        </p:txBody>
      </p:sp>
      <p:pic>
        <p:nvPicPr>
          <p:cNvPr id="273" name="Picture 272" descr="lock.png"/>
          <p:cNvPicPr>
            <a:picLocks noChangeAspect="1"/>
          </p:cNvPicPr>
          <p:nvPr/>
        </p:nvPicPr>
        <p:blipFill>
          <a:blip r:embed="rId4"/>
          <a:stretch>
            <a:fillRect/>
          </a:stretch>
        </p:blipFill>
        <p:spPr>
          <a:xfrm>
            <a:off x="2537131" y="1335151"/>
            <a:ext cx="128699" cy="187198"/>
          </a:xfrm>
          <a:prstGeom prst="rect">
            <a:avLst/>
          </a:prstGeom>
        </p:spPr>
      </p:pic>
      <p:sp>
        <p:nvSpPr>
          <p:cNvPr id="274" name="TextBox 273"/>
          <p:cNvSpPr txBox="1"/>
          <p:nvPr/>
        </p:nvSpPr>
        <p:spPr>
          <a:xfrm>
            <a:off x="2704627" y="1344930"/>
            <a:ext cx="565422" cy="186689"/>
          </a:xfrm>
          <a:prstGeom prst="rect">
            <a:avLst/>
          </a:prstGeom>
          <a:noFill/>
        </p:spPr>
        <p:txBody>
          <a:bodyPr wrap="none" lIns="0" rIns="0" tIns="0" bIns="0">
            <a:spAutoFit/>
          </a:bodyPr>
          <a:lstStyle/>
          <a:p>
            <a:r>
              <a:rPr sz="1100" b="0">
                <a:solidFill>
                  <a:srgbClr val="6B7280"/>
                </a:solidFill>
                <a:latin typeface="Segoe UI"/>
              </a:rPr>
              <a:t>by 2036</a:t>
            </a:r>
          </a:p>
        </p:txBody>
      </p:sp>
      <p:pic>
        <p:nvPicPr>
          <p:cNvPr id="275" name="Picture 274" descr="lock.png"/>
          <p:cNvPicPr>
            <a:picLocks noChangeAspect="1"/>
          </p:cNvPicPr>
          <p:nvPr/>
        </p:nvPicPr>
        <p:blipFill>
          <a:blip r:embed="rId4"/>
          <a:stretch>
            <a:fillRect/>
          </a:stretch>
        </p:blipFill>
        <p:spPr>
          <a:xfrm>
            <a:off x="1377182" y="1839976"/>
            <a:ext cx="128699" cy="187198"/>
          </a:xfrm>
          <a:prstGeom prst="rect">
            <a:avLst/>
          </a:prstGeom>
        </p:spPr>
      </p:pic>
      <p:sp>
        <p:nvSpPr>
          <p:cNvPr id="276" name="TextBox 275"/>
          <p:cNvSpPr txBox="1"/>
          <p:nvPr/>
        </p:nvSpPr>
        <p:spPr>
          <a:xfrm>
            <a:off x="1544678" y="1849755"/>
            <a:ext cx="1547684" cy="186689"/>
          </a:xfrm>
          <a:prstGeom prst="rect">
            <a:avLst/>
          </a:prstGeom>
          <a:noFill/>
        </p:spPr>
        <p:txBody>
          <a:bodyPr wrap="none" lIns="0" rIns="0" tIns="0" bIns="0">
            <a:spAutoFit/>
          </a:bodyPr>
          <a:lstStyle/>
          <a:p>
            <a:r>
              <a:rPr sz="1100" b="0">
                <a:solidFill>
                  <a:srgbClr val="FFFFFF"/>
                </a:solidFill>
                <a:latin typeface="Segoe UI"/>
              </a:rPr>
              <a:t>US$ Mn · 4 players · avg</a:t>
            </a:r>
          </a:p>
        </p:txBody>
      </p:sp>
      <p:pic>
        <p:nvPicPr>
          <p:cNvPr id="277" name="Picture 276" descr="lock.png"/>
          <p:cNvPicPr>
            <a:picLocks noChangeAspect="1"/>
          </p:cNvPicPr>
          <p:nvPr/>
        </p:nvPicPr>
        <p:blipFill>
          <a:blip r:embed="rId4"/>
          <a:stretch>
            <a:fillRect/>
          </a:stretch>
        </p:blipFill>
        <p:spPr>
          <a:xfrm>
            <a:off x="3040414" y="1839976"/>
            <a:ext cx="128699" cy="187198"/>
          </a:xfrm>
          <a:prstGeom prst="rect">
            <a:avLst/>
          </a:prstGeom>
        </p:spPr>
      </p:pic>
      <p:sp>
        <p:nvSpPr>
          <p:cNvPr id="278" name="TextBox 277"/>
          <p:cNvSpPr txBox="1"/>
          <p:nvPr/>
        </p:nvSpPr>
        <p:spPr>
          <a:xfrm>
            <a:off x="3207910" y="184975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79" name="Picture 278" descr="lock.png"/>
          <p:cNvPicPr>
            <a:picLocks noChangeAspect="1"/>
          </p:cNvPicPr>
          <p:nvPr/>
        </p:nvPicPr>
        <p:blipFill>
          <a:blip r:embed="rId4"/>
          <a:stretch>
            <a:fillRect/>
          </a:stretch>
        </p:blipFill>
        <p:spPr>
          <a:xfrm>
            <a:off x="1377182" y="2697226"/>
            <a:ext cx="128699" cy="187198"/>
          </a:xfrm>
          <a:prstGeom prst="rect">
            <a:avLst/>
          </a:prstGeom>
        </p:spPr>
      </p:pic>
      <p:sp>
        <p:nvSpPr>
          <p:cNvPr id="280" name="TextBox 279"/>
          <p:cNvSpPr txBox="1"/>
          <p:nvPr/>
        </p:nvSpPr>
        <p:spPr>
          <a:xfrm>
            <a:off x="1544678" y="2707005"/>
            <a:ext cx="1547684" cy="186689"/>
          </a:xfrm>
          <a:prstGeom prst="rect">
            <a:avLst/>
          </a:prstGeom>
          <a:noFill/>
        </p:spPr>
        <p:txBody>
          <a:bodyPr wrap="none" lIns="0" rIns="0" tIns="0" bIns="0">
            <a:spAutoFit/>
          </a:bodyPr>
          <a:lstStyle/>
          <a:p>
            <a:r>
              <a:rPr sz="1100" b="0">
                <a:solidFill>
                  <a:srgbClr val="FFFFFF"/>
                </a:solidFill>
                <a:latin typeface="Segoe UI"/>
              </a:rPr>
              <a:t>US$ Mn · 2 players · avg</a:t>
            </a:r>
          </a:p>
        </p:txBody>
      </p:sp>
      <p:pic>
        <p:nvPicPr>
          <p:cNvPr id="281" name="Picture 280" descr="lock.png"/>
          <p:cNvPicPr>
            <a:picLocks noChangeAspect="1"/>
          </p:cNvPicPr>
          <p:nvPr/>
        </p:nvPicPr>
        <p:blipFill>
          <a:blip r:embed="rId4"/>
          <a:stretch>
            <a:fillRect/>
          </a:stretch>
        </p:blipFill>
        <p:spPr>
          <a:xfrm>
            <a:off x="3040414" y="2697226"/>
            <a:ext cx="128699" cy="187198"/>
          </a:xfrm>
          <a:prstGeom prst="rect">
            <a:avLst/>
          </a:prstGeom>
        </p:spPr>
      </p:pic>
      <p:sp>
        <p:nvSpPr>
          <p:cNvPr id="282" name="TextBox 281"/>
          <p:cNvSpPr txBox="1"/>
          <p:nvPr/>
        </p:nvSpPr>
        <p:spPr>
          <a:xfrm>
            <a:off x="3207910" y="270700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83" name="Picture 282" descr="lock.png"/>
          <p:cNvPicPr>
            <a:picLocks noChangeAspect="1"/>
          </p:cNvPicPr>
          <p:nvPr/>
        </p:nvPicPr>
        <p:blipFill>
          <a:blip r:embed="rId4"/>
          <a:stretch>
            <a:fillRect/>
          </a:stretch>
        </p:blipFill>
        <p:spPr>
          <a:xfrm>
            <a:off x="1377182" y="3554476"/>
            <a:ext cx="128699" cy="187198"/>
          </a:xfrm>
          <a:prstGeom prst="rect">
            <a:avLst/>
          </a:prstGeom>
        </p:spPr>
      </p:pic>
      <p:sp>
        <p:nvSpPr>
          <p:cNvPr id="284" name="TextBox 283"/>
          <p:cNvSpPr txBox="1"/>
          <p:nvPr/>
        </p:nvSpPr>
        <p:spPr>
          <a:xfrm>
            <a:off x="1544678" y="3564255"/>
            <a:ext cx="1547684" cy="186689"/>
          </a:xfrm>
          <a:prstGeom prst="rect">
            <a:avLst/>
          </a:prstGeom>
          <a:noFill/>
        </p:spPr>
        <p:txBody>
          <a:bodyPr wrap="none" lIns="0" rIns="0" tIns="0" bIns="0">
            <a:spAutoFit/>
          </a:bodyPr>
          <a:lstStyle/>
          <a:p>
            <a:r>
              <a:rPr sz="1100" b="0">
                <a:solidFill>
                  <a:srgbClr val="FFFFFF"/>
                </a:solidFill>
                <a:latin typeface="Segoe UI"/>
              </a:rPr>
              <a:t>US$ Mn · 4 players · avg</a:t>
            </a:r>
          </a:p>
        </p:txBody>
      </p:sp>
      <p:pic>
        <p:nvPicPr>
          <p:cNvPr id="285" name="Picture 284" descr="lock.png"/>
          <p:cNvPicPr>
            <a:picLocks noChangeAspect="1"/>
          </p:cNvPicPr>
          <p:nvPr/>
        </p:nvPicPr>
        <p:blipFill>
          <a:blip r:embed="rId4"/>
          <a:stretch>
            <a:fillRect/>
          </a:stretch>
        </p:blipFill>
        <p:spPr>
          <a:xfrm>
            <a:off x="3040414" y="3554476"/>
            <a:ext cx="128699" cy="187198"/>
          </a:xfrm>
          <a:prstGeom prst="rect">
            <a:avLst/>
          </a:prstGeom>
        </p:spPr>
      </p:pic>
      <p:sp>
        <p:nvSpPr>
          <p:cNvPr id="286" name="TextBox 285"/>
          <p:cNvSpPr txBox="1"/>
          <p:nvPr/>
        </p:nvSpPr>
        <p:spPr>
          <a:xfrm>
            <a:off x="3207910" y="3564255"/>
            <a:ext cx="1072099" cy="186689"/>
          </a:xfrm>
          <a:prstGeom prst="rect">
            <a:avLst/>
          </a:prstGeom>
          <a:noFill/>
        </p:spPr>
        <p:txBody>
          <a:bodyPr wrap="none" lIns="0" rIns="0" tIns="0" bIns="0">
            <a:spAutoFit/>
          </a:bodyPr>
          <a:lstStyle/>
          <a:p>
            <a:r>
              <a:rPr sz="1100" b="0">
                <a:solidFill>
                  <a:srgbClr val="FFFFFF"/>
                </a:solidFill>
                <a:latin typeface="Segoe UI"/>
              </a:rPr>
              <a:t>US$ Mn / player</a:t>
            </a:r>
          </a:p>
        </p:txBody>
      </p:sp>
      <p:pic>
        <p:nvPicPr>
          <p:cNvPr id="287" name="Picture 286" descr="lock.png"/>
          <p:cNvPicPr>
            <a:picLocks noChangeAspect="1"/>
          </p:cNvPicPr>
          <p:nvPr/>
        </p:nvPicPr>
        <p:blipFill>
          <a:blip r:embed="rId4"/>
          <a:stretch>
            <a:fillRect/>
          </a:stretch>
        </p:blipFill>
        <p:spPr>
          <a:xfrm>
            <a:off x="1377182" y="4411726"/>
            <a:ext cx="128699" cy="187198"/>
          </a:xfrm>
          <a:prstGeom prst="rect">
            <a:avLst/>
          </a:prstGeom>
        </p:spPr>
      </p:pic>
      <p:sp>
        <p:nvSpPr>
          <p:cNvPr id="288" name="TextBox 287"/>
          <p:cNvSpPr txBox="1"/>
          <p:nvPr/>
        </p:nvSpPr>
        <p:spPr>
          <a:xfrm>
            <a:off x="1544678" y="4421505"/>
            <a:ext cx="1349598" cy="186689"/>
          </a:xfrm>
          <a:prstGeom prst="rect">
            <a:avLst/>
          </a:prstGeom>
          <a:noFill/>
        </p:spPr>
        <p:txBody>
          <a:bodyPr wrap="none" lIns="0" rIns="0" tIns="0" bIns="0">
            <a:spAutoFit/>
          </a:bodyPr>
          <a:lstStyle/>
          <a:p>
            <a:r>
              <a:rPr sz="1100" b="0">
                <a:solidFill>
                  <a:srgbClr val="14213D"/>
                </a:solidFill>
                <a:latin typeface="Segoe UI"/>
              </a:rPr>
              <a:t>US$ Mn · – · long tail</a:t>
            </a:r>
          </a:p>
        </p:txBody>
      </p:sp>
      <p:sp>
        <p:nvSpPr>
          <p:cNvPr id="289" name="TextBox 288"/>
          <p:cNvSpPr txBox="1"/>
          <p:nvPr/>
        </p:nvSpPr>
        <p:spPr>
          <a:xfrm>
            <a:off x="1172820" y="5802630"/>
            <a:ext cx="630361" cy="186689"/>
          </a:xfrm>
          <a:prstGeom prst="rect">
            <a:avLst/>
          </a:prstGeom>
          <a:noFill/>
        </p:spPr>
        <p:txBody>
          <a:bodyPr wrap="none" lIns="0" rIns="0" tIns="0" bIns="0">
            <a:spAutoFit/>
          </a:bodyPr>
          <a:lstStyle/>
          <a:p>
            <a:r>
              <a:rPr sz="1100" b="1">
                <a:solidFill>
                  <a:srgbClr val="2E7D32"/>
                </a:solidFill>
                <a:latin typeface="Segoe UI"/>
              </a:rPr>
              <a:t>▲</a:t>
            </a:r>
            <a:r>
              <a:rPr sz="1100" b="1">
                <a:solidFill>
                  <a:srgbClr val="14213D"/>
                </a:solidFill>
                <a:latin typeface="Segoe UI"/>
              </a:rPr>
              <a:t> HHI =</a:t>
            </a:r>
          </a:p>
        </p:txBody>
      </p:sp>
      <p:pic>
        <p:nvPicPr>
          <p:cNvPr id="290" name="Picture 289" descr="lock.png"/>
          <p:cNvPicPr>
            <a:picLocks noChangeAspect="1"/>
          </p:cNvPicPr>
          <p:nvPr/>
        </p:nvPicPr>
        <p:blipFill>
          <a:blip r:embed="rId4"/>
          <a:stretch>
            <a:fillRect/>
          </a:stretch>
        </p:blipFill>
        <p:spPr>
          <a:xfrm>
            <a:off x="1751233" y="5792851"/>
            <a:ext cx="128699" cy="187198"/>
          </a:xfrm>
          <a:prstGeom prst="rect">
            <a:avLst/>
          </a:prstGeom>
        </p:spPr>
      </p:pic>
      <p:sp>
        <p:nvSpPr>
          <p:cNvPr id="291" name="TextBox 290"/>
          <p:cNvSpPr txBox="1"/>
          <p:nvPr/>
        </p:nvSpPr>
        <p:spPr>
          <a:xfrm>
            <a:off x="598277" y="6107430"/>
            <a:ext cx="472380" cy="186689"/>
          </a:xfrm>
          <a:prstGeom prst="rect">
            <a:avLst/>
          </a:prstGeom>
          <a:noFill/>
        </p:spPr>
        <p:txBody>
          <a:bodyPr wrap="none" lIns="0" rIns="0" tIns="0" bIns="0">
            <a:spAutoFit/>
          </a:bodyPr>
          <a:lstStyle/>
          <a:p>
            <a:r>
              <a:rPr sz="1100" b="1">
                <a:solidFill>
                  <a:srgbClr val="14213D"/>
                </a:solidFill>
                <a:latin typeface="Segoe UI"/>
              </a:rPr>
              <a:t>CR4 =</a:t>
            </a:r>
          </a:p>
        </p:txBody>
      </p:sp>
      <p:pic>
        <p:nvPicPr>
          <p:cNvPr id="292" name="Picture 291" descr="lock.png"/>
          <p:cNvPicPr>
            <a:picLocks noChangeAspect="1"/>
          </p:cNvPicPr>
          <p:nvPr/>
        </p:nvPicPr>
        <p:blipFill>
          <a:blip r:embed="rId4"/>
          <a:stretch>
            <a:fillRect/>
          </a:stretch>
        </p:blipFill>
        <p:spPr>
          <a:xfrm>
            <a:off x="1018709" y="6097651"/>
            <a:ext cx="128699" cy="187198"/>
          </a:xfrm>
          <a:prstGeom prst="rect">
            <a:avLst/>
          </a:prstGeom>
        </p:spPr>
      </p:pic>
      <p:sp>
        <p:nvSpPr>
          <p:cNvPr id="293" name="TextBox 292"/>
          <p:cNvSpPr txBox="1"/>
          <p:nvPr/>
        </p:nvSpPr>
        <p:spPr>
          <a:xfrm>
            <a:off x="1186205" y="6107430"/>
            <a:ext cx="1213458" cy="186689"/>
          </a:xfrm>
          <a:prstGeom prst="rect">
            <a:avLst/>
          </a:prstGeom>
          <a:noFill/>
        </p:spPr>
        <p:txBody>
          <a:bodyPr wrap="none" lIns="0" rIns="0" tIns="0" bIns="0">
            <a:spAutoFit/>
          </a:bodyPr>
          <a:lstStyle/>
          <a:p>
            <a:r>
              <a:rPr sz="1100" b="1">
                <a:solidFill>
                  <a:srgbClr val="14213D"/>
                </a:solidFill>
                <a:latin typeface="Segoe UI"/>
              </a:rPr>
              <a:t>· Tier 1 : Others =</a:t>
            </a:r>
          </a:p>
        </p:txBody>
      </p:sp>
      <p:pic>
        <p:nvPicPr>
          <p:cNvPr id="294" name="Picture 293" descr="lock.png"/>
          <p:cNvPicPr>
            <a:picLocks noChangeAspect="1"/>
          </p:cNvPicPr>
          <p:nvPr/>
        </p:nvPicPr>
        <p:blipFill>
          <a:blip r:embed="rId4"/>
          <a:stretch>
            <a:fillRect/>
          </a:stretch>
        </p:blipFill>
        <p:spPr>
          <a:xfrm>
            <a:off x="2347715" y="6097651"/>
            <a:ext cx="128699" cy="187198"/>
          </a:xfrm>
          <a:prstGeom prst="rect">
            <a:avLst/>
          </a:prstGeom>
        </p:spPr>
      </p:pic>
      <p:sp>
        <p:nvSpPr>
          <p:cNvPr id="295" name="TextBox 294"/>
          <p:cNvSpPr txBox="1"/>
          <p:nvPr/>
        </p:nvSpPr>
        <p:spPr>
          <a:xfrm>
            <a:off x="2515210" y="6107430"/>
            <a:ext cx="1594392" cy="186689"/>
          </a:xfrm>
          <a:prstGeom prst="rect">
            <a:avLst/>
          </a:prstGeom>
          <a:noFill/>
        </p:spPr>
        <p:txBody>
          <a:bodyPr wrap="none" lIns="0" rIns="0" tIns="0" bIns="0">
            <a:spAutoFit/>
          </a:bodyPr>
          <a:lstStyle/>
          <a:p>
            <a:r>
              <a:rPr sz="1100" b="1">
                <a:solidFill>
                  <a:srgbClr val="14213D"/>
                </a:solidFill>
                <a:latin typeface="Segoe UI"/>
              </a:rPr>
              <a:t>: 1 · Top-player share =</a:t>
            </a:r>
          </a:p>
        </p:txBody>
      </p:sp>
      <p:pic>
        <p:nvPicPr>
          <p:cNvPr id="296" name="Picture 295" descr="lock.png"/>
          <p:cNvPicPr>
            <a:picLocks noChangeAspect="1"/>
          </p:cNvPicPr>
          <p:nvPr/>
        </p:nvPicPr>
        <p:blipFill>
          <a:blip r:embed="rId4"/>
          <a:stretch>
            <a:fillRect/>
          </a:stretch>
        </p:blipFill>
        <p:spPr>
          <a:xfrm>
            <a:off x="4057655" y="6097651"/>
            <a:ext cx="128699" cy="187198"/>
          </a:xfrm>
          <a:prstGeom prst="rect">
            <a:avLst/>
          </a:prstGeom>
        </p:spPr>
      </p:pic>
      <p:sp>
        <p:nvSpPr>
          <p:cNvPr id="297" name="TextBox 296"/>
          <p:cNvSpPr txBox="1"/>
          <p:nvPr/>
        </p:nvSpPr>
        <p:spPr>
          <a:xfrm>
            <a:off x="4225151" y="6107430"/>
            <a:ext cx="1348771" cy="186689"/>
          </a:xfrm>
          <a:prstGeom prst="rect">
            <a:avLst/>
          </a:prstGeom>
          <a:noFill/>
        </p:spPr>
        <p:txBody>
          <a:bodyPr wrap="none" lIns="0" rIns="0" tIns="0" bIns="0">
            <a:spAutoFit/>
          </a:bodyPr>
          <a:lstStyle/>
          <a:p>
            <a:r>
              <a:rPr sz="1100" b="1">
                <a:solidFill>
                  <a:srgbClr val="14213D"/>
                </a:solidFill>
                <a:latin typeface="Segoe UI"/>
              </a:rPr>
              <a:t>· Class: Fragmented</a:t>
            </a:r>
          </a:p>
        </p:txBody>
      </p:sp>
      <p:sp>
        <p:nvSpPr>
          <p:cNvPr id="298" name="TextBox 297"/>
          <p:cNvSpPr txBox="1"/>
          <p:nvPr/>
        </p:nvSpPr>
        <p:spPr>
          <a:xfrm>
            <a:off x="6372225" y="5476875"/>
            <a:ext cx="498847" cy="186689"/>
          </a:xfrm>
          <a:prstGeom prst="rect">
            <a:avLst/>
          </a:prstGeom>
          <a:noFill/>
        </p:spPr>
        <p:txBody>
          <a:bodyPr wrap="none" lIns="0" rIns="0" tIns="0" bIns="0">
            <a:spAutoFit/>
          </a:bodyPr>
          <a:lstStyle/>
          <a:p>
            <a:r>
              <a:rPr sz="1100" b="0">
                <a:solidFill>
                  <a:srgbClr val="14213D"/>
                </a:solidFill>
                <a:latin typeface="Segoe UI"/>
              </a:rPr>
              <a:t>Tier 1 (</a:t>
            </a:r>
          </a:p>
        </p:txBody>
      </p:sp>
      <p:pic>
        <p:nvPicPr>
          <p:cNvPr id="299" name="Picture 298" descr="lock.png"/>
          <p:cNvPicPr>
            <a:picLocks noChangeAspect="1"/>
          </p:cNvPicPr>
          <p:nvPr/>
        </p:nvPicPr>
        <p:blipFill>
          <a:blip r:embed="rId4"/>
          <a:stretch>
            <a:fillRect/>
          </a:stretch>
        </p:blipFill>
        <p:spPr>
          <a:xfrm>
            <a:off x="6819123" y="5467095"/>
            <a:ext cx="128699" cy="187198"/>
          </a:xfrm>
          <a:prstGeom prst="rect">
            <a:avLst/>
          </a:prstGeom>
        </p:spPr>
      </p:pic>
      <p:sp>
        <p:nvSpPr>
          <p:cNvPr id="300" name="TextBox 299"/>
          <p:cNvSpPr txBox="1"/>
          <p:nvPr/>
        </p:nvSpPr>
        <p:spPr>
          <a:xfrm>
            <a:off x="6986619" y="5476875"/>
            <a:ext cx="2789602" cy="186689"/>
          </a:xfrm>
          <a:prstGeom prst="rect">
            <a:avLst/>
          </a:prstGeom>
          <a:noFill/>
        </p:spPr>
        <p:txBody>
          <a:bodyPr wrap="none" lIns="0" rIns="0" tIns="0" bIns="0">
            <a:spAutoFit/>
          </a:bodyPr>
          <a:lstStyle/>
          <a:p>
            <a:r>
              <a:rPr sz="1100" b="0">
                <a:solidFill>
                  <a:srgbClr val="14213D"/>
                </a:solidFill>
                <a:latin typeface="Segoe UI"/>
              </a:rPr>
              <a:t>) holds the largest single block of value on a</a:t>
            </a:r>
          </a:p>
        </p:txBody>
      </p:sp>
      <p:pic>
        <p:nvPicPr>
          <p:cNvPr id="301" name="Picture 300" descr="lock.png"/>
          <p:cNvPicPr>
            <a:picLocks noChangeAspect="1"/>
          </p:cNvPicPr>
          <p:nvPr/>
        </p:nvPicPr>
        <p:blipFill>
          <a:blip r:embed="rId4"/>
          <a:stretch>
            <a:fillRect/>
          </a:stretch>
        </p:blipFill>
        <p:spPr>
          <a:xfrm>
            <a:off x="9724273" y="5467095"/>
            <a:ext cx="128699" cy="187198"/>
          </a:xfrm>
          <a:prstGeom prst="rect">
            <a:avLst/>
          </a:prstGeom>
        </p:spPr>
      </p:pic>
      <p:sp>
        <p:nvSpPr>
          <p:cNvPr id="302" name="TextBox 301"/>
          <p:cNvSpPr txBox="1"/>
          <p:nvPr/>
        </p:nvSpPr>
        <p:spPr>
          <a:xfrm>
            <a:off x="9891769" y="5476875"/>
            <a:ext cx="1365901" cy="186689"/>
          </a:xfrm>
          <a:prstGeom prst="rect">
            <a:avLst/>
          </a:prstGeom>
          <a:noFill/>
        </p:spPr>
        <p:txBody>
          <a:bodyPr wrap="none" lIns="0" rIns="0" tIns="0" bIns="0">
            <a:spAutoFit/>
          </a:bodyPr>
          <a:lstStyle/>
          <a:p>
            <a:r>
              <a:rPr sz="1100" b="0">
                <a:solidFill>
                  <a:srgbClr val="14213D"/>
                </a:solidFill>
                <a:latin typeface="Segoe UI"/>
              </a:rPr>
              <a:t>US$ Mn base; CR4 of</a:t>
            </a:r>
          </a:p>
        </p:txBody>
      </p:sp>
      <p:pic>
        <p:nvPicPr>
          <p:cNvPr id="303" name="Picture 302" descr="lock.png"/>
          <p:cNvPicPr>
            <a:picLocks noChangeAspect="1"/>
          </p:cNvPicPr>
          <p:nvPr/>
        </p:nvPicPr>
        <p:blipFill>
          <a:blip r:embed="rId4"/>
          <a:stretch>
            <a:fillRect/>
          </a:stretch>
        </p:blipFill>
        <p:spPr>
          <a:xfrm>
            <a:off x="11205721" y="5467095"/>
            <a:ext cx="128699" cy="187198"/>
          </a:xfrm>
          <a:prstGeom prst="rect">
            <a:avLst/>
          </a:prstGeom>
        </p:spPr>
      </p:pic>
      <p:sp>
        <p:nvSpPr>
          <p:cNvPr id="304" name="TextBox 303"/>
          <p:cNvSpPr txBox="1"/>
          <p:nvPr/>
        </p:nvSpPr>
        <p:spPr>
          <a:xfrm>
            <a:off x="6372225" y="5644515"/>
            <a:ext cx="746557" cy="186689"/>
          </a:xfrm>
          <a:prstGeom prst="rect">
            <a:avLst/>
          </a:prstGeom>
          <a:noFill/>
        </p:spPr>
        <p:txBody>
          <a:bodyPr wrap="none" lIns="0" rIns="0" tIns="0" bIns="0">
            <a:spAutoFit/>
          </a:bodyPr>
          <a:lstStyle/>
          <a:p>
            <a:r>
              <a:rPr sz="1100" b="0">
                <a:solidFill>
                  <a:srgbClr val="14213D"/>
                </a:solidFill>
                <a:latin typeface="Segoe UI"/>
              </a:rPr>
              <a:t>and HHI of</a:t>
            </a:r>
          </a:p>
        </p:txBody>
      </p:sp>
      <p:pic>
        <p:nvPicPr>
          <p:cNvPr id="305" name="Picture 304" descr="lock.png"/>
          <p:cNvPicPr>
            <a:picLocks noChangeAspect="1"/>
          </p:cNvPicPr>
          <p:nvPr/>
        </p:nvPicPr>
        <p:blipFill>
          <a:blip r:embed="rId4"/>
          <a:stretch>
            <a:fillRect/>
          </a:stretch>
        </p:blipFill>
        <p:spPr>
          <a:xfrm>
            <a:off x="7066834" y="5634735"/>
            <a:ext cx="128699" cy="187198"/>
          </a:xfrm>
          <a:prstGeom prst="rect">
            <a:avLst/>
          </a:prstGeom>
        </p:spPr>
      </p:pic>
      <p:sp>
        <p:nvSpPr>
          <p:cNvPr id="306" name="TextBox 305"/>
          <p:cNvSpPr txBox="1"/>
          <p:nvPr/>
        </p:nvSpPr>
        <p:spPr>
          <a:xfrm>
            <a:off x="7234330" y="5644515"/>
            <a:ext cx="2174402" cy="186689"/>
          </a:xfrm>
          <a:prstGeom prst="rect">
            <a:avLst/>
          </a:prstGeom>
          <a:noFill/>
        </p:spPr>
        <p:txBody>
          <a:bodyPr wrap="none" lIns="0" rIns="0" tIns="0" bIns="0">
            <a:spAutoFit/>
          </a:bodyPr>
          <a:lstStyle/>
          <a:p>
            <a:r>
              <a:rPr sz="1100" b="0">
                <a:solidFill>
                  <a:srgbClr val="14213D"/>
                </a:solidFill>
                <a:latin typeface="Segoe UI"/>
              </a:rPr>
              <a:t>classify the market as fragmented.</a:t>
            </a:r>
          </a:p>
        </p:txBody>
      </p:sp>
      <p:sp>
        <p:nvSpPr>
          <p:cNvPr id="307" name="TextBox 306"/>
          <p:cNvSpPr txBox="1"/>
          <p:nvPr/>
        </p:nvSpPr>
        <p:spPr>
          <a:xfrm>
            <a:off x="6372225" y="5857875"/>
            <a:ext cx="1425949" cy="186689"/>
          </a:xfrm>
          <a:prstGeom prst="rect">
            <a:avLst/>
          </a:prstGeom>
          <a:noFill/>
        </p:spPr>
        <p:txBody>
          <a:bodyPr wrap="none" lIns="0" rIns="0" tIns="0" bIns="0">
            <a:spAutoFit/>
          </a:bodyPr>
          <a:lstStyle/>
          <a:p>
            <a:r>
              <a:rPr sz="1100" b="0">
                <a:solidFill>
                  <a:srgbClr val="14213D"/>
                </a:solidFill>
                <a:latin typeface="Segoe UI"/>
              </a:rPr>
              <a:t>Tier 2 grows fastest at</a:t>
            </a:r>
          </a:p>
        </p:txBody>
      </p:sp>
      <p:pic>
        <p:nvPicPr>
          <p:cNvPr id="308" name="Picture 307" descr="lock.png"/>
          <p:cNvPicPr>
            <a:picLocks noChangeAspect="1"/>
          </p:cNvPicPr>
          <p:nvPr/>
        </p:nvPicPr>
        <p:blipFill>
          <a:blip r:embed="rId4"/>
          <a:stretch>
            <a:fillRect/>
          </a:stretch>
        </p:blipFill>
        <p:spPr>
          <a:xfrm>
            <a:off x="7746226" y="5848095"/>
            <a:ext cx="128699" cy="187198"/>
          </a:xfrm>
          <a:prstGeom prst="rect">
            <a:avLst/>
          </a:prstGeom>
        </p:spPr>
      </p:pic>
      <p:sp>
        <p:nvSpPr>
          <p:cNvPr id="309" name="TextBox 308"/>
          <p:cNvSpPr txBox="1"/>
          <p:nvPr/>
        </p:nvSpPr>
        <p:spPr>
          <a:xfrm>
            <a:off x="7913722" y="5857875"/>
            <a:ext cx="1098544" cy="186689"/>
          </a:xfrm>
          <a:prstGeom prst="rect">
            <a:avLst/>
          </a:prstGeom>
          <a:noFill/>
        </p:spPr>
        <p:txBody>
          <a:bodyPr wrap="none" lIns="0" rIns="0" tIns="0" bIns="0">
            <a:spAutoFit/>
          </a:bodyPr>
          <a:lstStyle/>
          <a:p>
            <a:r>
              <a:rPr sz="1100" b="0">
                <a:solidFill>
                  <a:srgbClr val="14213D"/>
                </a:solidFill>
                <a:latin typeface="Segoe UI"/>
              </a:rPr>
              <a:t>CAGR, moving +</a:t>
            </a:r>
          </a:p>
        </p:txBody>
      </p:sp>
      <p:pic>
        <p:nvPicPr>
          <p:cNvPr id="310" name="Picture 309" descr="lock.png"/>
          <p:cNvPicPr>
            <a:picLocks noChangeAspect="1"/>
          </p:cNvPicPr>
          <p:nvPr/>
        </p:nvPicPr>
        <p:blipFill>
          <a:blip r:embed="rId4"/>
          <a:stretch>
            <a:fillRect/>
          </a:stretch>
        </p:blipFill>
        <p:spPr>
          <a:xfrm>
            <a:off x="8960318" y="5848095"/>
            <a:ext cx="128699" cy="187198"/>
          </a:xfrm>
          <a:prstGeom prst="rect">
            <a:avLst/>
          </a:prstGeom>
        </p:spPr>
      </p:pic>
      <p:sp>
        <p:nvSpPr>
          <p:cNvPr id="311" name="TextBox 310"/>
          <p:cNvSpPr txBox="1"/>
          <p:nvPr/>
        </p:nvSpPr>
        <p:spPr>
          <a:xfrm>
            <a:off x="9127814" y="5857875"/>
            <a:ext cx="1331248" cy="186689"/>
          </a:xfrm>
          <a:prstGeom prst="rect">
            <a:avLst/>
          </a:prstGeom>
          <a:noFill/>
        </p:spPr>
        <p:txBody>
          <a:bodyPr wrap="none" lIns="0" rIns="0" tIns="0" bIns="0">
            <a:spAutoFit/>
          </a:bodyPr>
          <a:lstStyle/>
          <a:p>
            <a:r>
              <a:rPr sz="1100" b="0">
                <a:solidFill>
                  <a:srgbClr val="14213D"/>
                </a:solidFill>
                <a:latin typeface="Segoe UI"/>
              </a:rPr>
              <a:t>pp of share by 2036.</a:t>
            </a:r>
          </a:p>
        </p:txBody>
      </p:sp>
      <p:sp>
        <p:nvSpPr>
          <p:cNvPr id="312" name="TextBox 311"/>
          <p:cNvSpPr txBox="1"/>
          <p:nvPr/>
        </p:nvSpPr>
        <p:spPr>
          <a:xfrm>
            <a:off x="6372225" y="6076950"/>
            <a:ext cx="2353947" cy="186689"/>
          </a:xfrm>
          <a:prstGeom prst="rect">
            <a:avLst/>
          </a:prstGeom>
          <a:noFill/>
        </p:spPr>
        <p:txBody>
          <a:bodyPr wrap="none" lIns="0" rIns="0" tIns="0" bIns="0">
            <a:spAutoFit/>
          </a:bodyPr>
          <a:lstStyle/>
          <a:p>
            <a:r>
              <a:rPr sz="1100" b="0">
                <a:solidFill>
                  <a:srgbClr val="14213D"/>
                </a:solidFill>
                <a:latin typeface="Segoe UI"/>
              </a:rPr>
              <a:t>Tier 3 and the long tail together hold</a:t>
            </a:r>
          </a:p>
        </p:txBody>
      </p:sp>
      <p:pic>
        <p:nvPicPr>
          <p:cNvPr id="313" name="Picture 312" descr="lock.png"/>
          <p:cNvPicPr>
            <a:picLocks noChangeAspect="1"/>
          </p:cNvPicPr>
          <p:nvPr/>
        </p:nvPicPr>
        <p:blipFill>
          <a:blip r:embed="rId4"/>
          <a:stretch>
            <a:fillRect/>
          </a:stretch>
        </p:blipFill>
        <p:spPr>
          <a:xfrm>
            <a:off x="8674224" y="6067170"/>
            <a:ext cx="128699" cy="187198"/>
          </a:xfrm>
          <a:prstGeom prst="rect">
            <a:avLst/>
          </a:prstGeom>
        </p:spPr>
      </p:pic>
      <p:sp>
        <p:nvSpPr>
          <p:cNvPr id="314" name="TextBox 313"/>
          <p:cNvSpPr txBox="1"/>
          <p:nvPr/>
        </p:nvSpPr>
        <p:spPr>
          <a:xfrm>
            <a:off x="8841720" y="6076950"/>
            <a:ext cx="2283198" cy="186689"/>
          </a:xfrm>
          <a:prstGeom prst="rect">
            <a:avLst/>
          </a:prstGeom>
          <a:noFill/>
        </p:spPr>
        <p:txBody>
          <a:bodyPr wrap="none" lIns="0" rIns="0" tIns="0" bIns="0">
            <a:spAutoFit/>
          </a:bodyPr>
          <a:lstStyle/>
          <a:p>
            <a:r>
              <a:rPr sz="1100" b="0">
                <a:solidFill>
                  <a:srgbClr val="14213D"/>
                </a:solidFill>
                <a:latin typeface="Segoe UI"/>
              </a:rPr>
              <a:t>of value; the average Tier 3 player is</a:t>
            </a:r>
          </a:p>
        </p:txBody>
      </p:sp>
      <p:pic>
        <p:nvPicPr>
          <p:cNvPr id="315" name="Picture 314" descr="lock.png"/>
          <p:cNvPicPr>
            <a:picLocks noChangeAspect="1"/>
          </p:cNvPicPr>
          <p:nvPr/>
        </p:nvPicPr>
        <p:blipFill>
          <a:blip r:embed="rId4"/>
          <a:stretch>
            <a:fillRect/>
          </a:stretch>
        </p:blipFill>
        <p:spPr>
          <a:xfrm>
            <a:off x="11072970" y="6067170"/>
            <a:ext cx="128699" cy="187198"/>
          </a:xfrm>
          <a:prstGeom prst="rect">
            <a:avLst/>
          </a:prstGeom>
        </p:spPr>
      </p:pic>
      <p:sp>
        <p:nvSpPr>
          <p:cNvPr id="316" name="TextBox 315"/>
          <p:cNvSpPr txBox="1"/>
          <p:nvPr/>
        </p:nvSpPr>
        <p:spPr>
          <a:xfrm>
            <a:off x="11240465" y="6076950"/>
            <a:ext cx="140320" cy="186689"/>
          </a:xfrm>
          <a:prstGeom prst="rect">
            <a:avLst/>
          </a:prstGeom>
          <a:noFill/>
        </p:spPr>
        <p:txBody>
          <a:bodyPr wrap="none" lIns="0" rIns="0" tIns="0" bIns="0">
            <a:spAutoFit/>
          </a:bodyPr>
          <a:lstStyle/>
          <a:p>
            <a:r>
              <a:rPr sz="1100" b="0">
                <a:solidFill>
                  <a:srgbClr val="14213D"/>
                </a:solidFill>
                <a:latin typeface="Segoe UI"/>
              </a:rPr>
              <a:t>x</a:t>
            </a:r>
          </a:p>
        </p:txBody>
      </p:sp>
      <p:sp>
        <p:nvSpPr>
          <p:cNvPr id="317" name="TextBox 316"/>
          <p:cNvSpPr txBox="1"/>
          <p:nvPr/>
        </p:nvSpPr>
        <p:spPr>
          <a:xfrm>
            <a:off x="6372225" y="6244590"/>
            <a:ext cx="1881479" cy="186689"/>
          </a:xfrm>
          <a:prstGeom prst="rect">
            <a:avLst/>
          </a:prstGeom>
          <a:noFill/>
        </p:spPr>
        <p:txBody>
          <a:bodyPr wrap="none" lIns="0" rIns="0" tIns="0" bIns="0">
            <a:spAutoFit/>
          </a:bodyPr>
          <a:lstStyle/>
          <a:p>
            <a:r>
              <a:rPr sz="1100" b="0">
                <a:solidFill>
                  <a:srgbClr val="14213D"/>
                </a:solidFill>
                <a:latin typeface="Segoe UI"/>
              </a:rPr>
              <a:t>smaller than a Tier 1 supplier.</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Industry Structure Landscape – Helium-3 Market, Global 2026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Tier ladder, market concentration and tier profile, and the structural shift 2026→2036 shaping the tier structure</a:t>
            </a:r>
          </a:p>
        </p:txBody>
      </p:sp>
      <p:sp>
        <p:nvSpPr>
          <p:cNvPr id="8" name="Rectangle 7"/>
          <p:cNvSpPr/>
          <p:nvPr/>
        </p:nvSpPr>
        <p:spPr>
          <a:xfrm>
            <a:off x="142875" y="1047750"/>
            <a:ext cx="11906250" cy="23812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52423"/>
                </a:solidFill>
                <a:latin typeface="Segoe UI"/>
              </a:rPr>
              <a:t>Structural Shift, 2026 → 2036 – Tier Migration and Entry / Exit</a:t>
            </a:r>
          </a:p>
        </p:txBody>
      </p:sp>
      <p:sp>
        <p:nvSpPr>
          <p:cNvPr id="10" name="Rounded Rectangle 9"/>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1</a:t>
            </a:r>
          </a:p>
        </p:txBody>
      </p:sp>
      <p:sp>
        <p:nvSpPr>
          <p:cNvPr id="12" name="TextBox 11"/>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Top / global players</a:t>
            </a:r>
          </a:p>
        </p:txBody>
      </p:sp>
      <p:sp>
        <p:nvSpPr>
          <p:cNvPr id="13" name="TextBox 12"/>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14" name="TextBox 13"/>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1 up-tier (M&amp;A)</a:t>
            </a:r>
          </a:p>
        </p:txBody>
      </p:sp>
      <p:cxnSp>
        <p:nvCxnSpPr>
          <p:cNvPr id="15" name="Connector 14"/>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0 down / exit</a:t>
            </a:r>
          </a:p>
        </p:txBody>
      </p:sp>
      <p:sp>
        <p:nvSpPr>
          <p:cNvPr id="20" name="Rounded Rectangle 19"/>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2</a:t>
            </a:r>
          </a:p>
        </p:txBody>
      </p:sp>
      <p:sp>
        <p:nvSpPr>
          <p:cNvPr id="22" name="TextBox 21"/>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Mid-sized players</a:t>
            </a:r>
          </a:p>
        </p:txBody>
      </p:sp>
      <p:sp>
        <p:nvSpPr>
          <p:cNvPr id="23" name="TextBox 22"/>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24" name="TextBox 23"/>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1 up-tier (M&amp;A)</a:t>
            </a:r>
          </a:p>
        </p:txBody>
      </p:sp>
      <p:cxnSp>
        <p:nvCxnSpPr>
          <p:cNvPr id="25" name="Connector 24"/>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0 down / exit</a:t>
            </a:r>
          </a:p>
        </p:txBody>
      </p:sp>
      <p:sp>
        <p:nvSpPr>
          <p:cNvPr id="30" name="Rounded Rectangle 29"/>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Segoe UI"/>
              </a:rPr>
              <a:t>Tier 3</a:t>
            </a:r>
          </a:p>
        </p:txBody>
      </p:sp>
      <p:sp>
        <p:nvSpPr>
          <p:cNvPr id="32" name="TextBox 31"/>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Segoe UI"/>
              </a:rPr>
              <a:t>Emerging / local players</a:t>
            </a:r>
          </a:p>
        </p:txBody>
      </p:sp>
      <p:sp>
        <p:nvSpPr>
          <p:cNvPr id="33" name="TextBox 32"/>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Segoe UI"/>
              </a:rPr>
              <a:t/>
            </a:r>
          </a:p>
        </p:txBody>
      </p:sp>
      <p:sp>
        <p:nvSpPr>
          <p:cNvPr id="34" name="TextBox 33"/>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Segoe UI"/>
              </a:rPr>
              <a:t>2 up-tier (M&amp;A)</a:t>
            </a:r>
          </a:p>
        </p:txBody>
      </p:sp>
      <p:cxnSp>
        <p:nvCxnSpPr>
          <p:cNvPr id="35" name="Connector 34"/>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6" name="Freeform 35"/>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Segoe UI"/>
              </a:rPr>
              <a:t>1 down / exit</a:t>
            </a:r>
          </a:p>
        </p:txBody>
      </p:sp>
      <p:sp>
        <p:nvSpPr>
          <p:cNvPr id="40" name="Rounded Rectangle 39"/>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Segoe UI"/>
              </a:rPr>
              <a:t>Others</a:t>
            </a:r>
          </a:p>
        </p:txBody>
      </p:sp>
      <p:sp>
        <p:nvSpPr>
          <p:cNvPr id="42" name="TextBox 41"/>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Segoe UI"/>
              </a:rPr>
              <a:t>Long tail</a:t>
            </a:r>
          </a:p>
        </p:txBody>
      </p:sp>
      <p:sp>
        <p:nvSpPr>
          <p:cNvPr id="43" name="TextBox 42"/>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r>
          </a:p>
        </p:txBody>
      </p:sp>
      <p:sp>
        <p:nvSpPr>
          <p:cNvPr id="44" name="Rounded Rectangle 43"/>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46" name="TextBox 45"/>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New entrants 2026–2036</a:t>
            </a:r>
          </a:p>
        </p:txBody>
      </p:sp>
      <p:sp>
        <p:nvSpPr>
          <p:cNvPr id="47" name="TextBox 46"/>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scaling up from the long tail</a:t>
            </a:r>
          </a:p>
        </p:txBody>
      </p:sp>
      <p:sp>
        <p:nvSpPr>
          <p:cNvPr id="48" name="Rounded Rectangle 47"/>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0" name="TextBox 49"/>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Exits / acquisitions</a:t>
            </a:r>
          </a:p>
        </p:txBody>
      </p:sp>
      <p:sp>
        <p:nvSpPr>
          <p:cNvPr id="51" name="TextBox 50"/>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absorbed mainly by Tier 1–2 acquirers</a:t>
            </a:r>
          </a:p>
        </p:txBody>
      </p:sp>
      <p:sp>
        <p:nvSpPr>
          <p:cNvPr id="52" name="Rounded Rectangle 51"/>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4" name="TextBox 53"/>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Net change in player count</a:t>
            </a:r>
          </a:p>
        </p:txBody>
      </p:sp>
      <p:sp>
        <p:nvSpPr>
          <p:cNvPr id="55" name="TextBox 54"/>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Between 2026 and 2036</a:t>
            </a:r>
          </a:p>
        </p:txBody>
      </p:sp>
      <p:sp>
        <p:nvSpPr>
          <p:cNvPr id="56" name="Rounded Rectangle 55"/>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Segoe UI"/>
              </a:rPr>
              <a:t> </a:t>
            </a:r>
          </a:p>
        </p:txBody>
      </p:sp>
      <p:sp>
        <p:nvSpPr>
          <p:cNvPr id="58" name="TextBox 57"/>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Segoe UI"/>
              </a:rPr>
              <a:t>Share moving between tiers</a:t>
            </a:r>
          </a:p>
        </p:txBody>
      </p:sp>
      <p:sp>
        <p:nvSpPr>
          <p:cNvPr id="59" name="TextBox 58"/>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Segoe UI"/>
              </a:rPr>
              <a:t>largest transfer: Others → Tier 2</a:t>
            </a:r>
          </a:p>
        </p:txBody>
      </p:sp>
      <p:sp>
        <p:nvSpPr>
          <p:cNvPr id="60" name="Rectangle 59"/>
          <p:cNvSpPr/>
          <p:nvPr/>
        </p:nvSpPr>
        <p:spPr>
          <a:xfrm>
            <a:off x="142875" y="3543300"/>
            <a:ext cx="7096125" cy="3086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52423"/>
                </a:solidFill>
                <a:latin typeface="Segoe UI"/>
              </a:rPr>
              <a:t>Structural Forces Shaping the Tier Structure (1 = weak, 5 = strong)</a:t>
            </a:r>
          </a:p>
        </p:txBody>
      </p:sp>
      <p:sp>
        <p:nvSpPr>
          <p:cNvPr id="62" name="Rectangle 61"/>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Segoe UI"/>
              </a:rPr>
              <a:t>Force</a:t>
            </a:r>
          </a:p>
        </p:txBody>
      </p:sp>
      <p:sp>
        <p:nvSpPr>
          <p:cNvPr id="64" name="Rectangle 63"/>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Segoe UI"/>
              </a:rPr>
              <a:t>Drivers in the market</a:t>
            </a:r>
          </a:p>
        </p:txBody>
      </p:sp>
      <p:sp>
        <p:nvSpPr>
          <p:cNvPr id="66" name="Rectangle 65"/>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Segoe UI"/>
              </a:rPr>
              <a:t>Score</a:t>
            </a:r>
          </a:p>
        </p:txBody>
      </p:sp>
      <p:sp>
        <p:nvSpPr>
          <p:cNvPr id="68" name="Rectangle 67"/>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Segoe UI"/>
              </a:rPr>
              <a:t>Effect on tier structure</a:t>
            </a:r>
          </a:p>
        </p:txBody>
      </p:sp>
      <p:sp>
        <p:nvSpPr>
          <p:cNvPr id="70" name="Rectangle 69"/>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Entry barriers</a:t>
            </a:r>
          </a:p>
        </p:txBody>
      </p:sp>
      <p:sp>
        <p:nvSpPr>
          <p:cNvPr id="72" name="Rectangle 71"/>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Certification, qualification, scale economics</a:t>
            </a:r>
          </a:p>
        </p:txBody>
      </p:sp>
      <p:sp>
        <p:nvSpPr>
          <p:cNvPr id="74" name="Rectangle 73"/>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76" name="Rectangle 75"/>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Protects Tier 1–2; slows new entry</a:t>
            </a:r>
          </a:p>
        </p:txBody>
      </p:sp>
      <p:sp>
        <p:nvSpPr>
          <p:cNvPr id="78" name="Rectangle 77"/>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Buyer power</a:t>
            </a:r>
          </a:p>
        </p:txBody>
      </p:sp>
      <p:sp>
        <p:nvSpPr>
          <p:cNvPr id="80" name="Rectangle 79"/>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Key-account purchasing, multi-year supply contracts</a:t>
            </a:r>
          </a:p>
        </p:txBody>
      </p:sp>
      <p:sp>
        <p:nvSpPr>
          <p:cNvPr id="82" name="Rectangle 81"/>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84" name="Rectangle 83"/>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Compresses Tier 3 pricing</a:t>
            </a:r>
          </a:p>
        </p:txBody>
      </p:sp>
      <p:sp>
        <p:nvSpPr>
          <p:cNvPr id="86" name="Rectangle 85"/>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Switching costs</a:t>
            </a:r>
          </a:p>
        </p:txBody>
      </p:sp>
      <p:sp>
        <p:nvSpPr>
          <p:cNvPr id="88" name="Rectangle 87"/>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Requalification, integration and retraining</a:t>
            </a:r>
          </a:p>
        </p:txBody>
      </p:sp>
      <p:sp>
        <p:nvSpPr>
          <p:cNvPr id="90" name="Rectangle 89"/>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92" name="Rectangle 91"/>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Locks in the installed base</a:t>
            </a:r>
          </a:p>
        </p:txBody>
      </p:sp>
      <p:sp>
        <p:nvSpPr>
          <p:cNvPr id="94" name="Rectangle 93"/>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Technology substitution</a:t>
            </a:r>
          </a:p>
        </p:txBody>
      </p:sp>
      <p:sp>
        <p:nvSpPr>
          <p:cNvPr id="96" name="Rectangle 95"/>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Alternative materials and next-generation formats</a:t>
            </a:r>
          </a:p>
        </p:txBody>
      </p:sp>
      <p:sp>
        <p:nvSpPr>
          <p:cNvPr id="98" name="Rectangle 97"/>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00" name="Rectangle 99"/>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Opens demand to Tier 2–3 innovators</a:t>
            </a:r>
          </a:p>
        </p:txBody>
      </p:sp>
      <p:sp>
        <p:nvSpPr>
          <p:cNvPr id="102" name="Rectangle 101"/>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Supplier power</a:t>
            </a:r>
          </a:p>
        </p:txBody>
      </p:sp>
      <p:sp>
        <p:nvSpPr>
          <p:cNvPr id="104" name="Rectangle 103"/>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Few qualified input and component suppliers</a:t>
            </a:r>
          </a:p>
        </p:txBody>
      </p:sp>
      <p:sp>
        <p:nvSpPr>
          <p:cNvPr id="106" name="Rectangle 105"/>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08" name="Rectangle 107"/>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Segoe UI"/>
              </a:rPr>
              <a:t>Raises input cost for sub-scale players</a:t>
            </a:r>
          </a:p>
        </p:txBody>
      </p:sp>
      <p:sp>
        <p:nvSpPr>
          <p:cNvPr id="110" name="Rectangle 109"/>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Overall structural pressure</a:t>
            </a:r>
          </a:p>
        </p:txBody>
      </p:sp>
      <p:sp>
        <p:nvSpPr>
          <p:cNvPr id="112" name="Rectangle 111"/>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Average of the five forces</a:t>
            </a:r>
          </a:p>
        </p:txBody>
      </p:sp>
      <p:sp>
        <p:nvSpPr>
          <p:cNvPr id="114" name="Rectangle 113"/>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Segoe UI"/>
              </a:rPr>
              <a:t> </a:t>
            </a:r>
          </a:p>
        </p:txBody>
      </p:sp>
      <p:sp>
        <p:nvSpPr>
          <p:cNvPr id="116" name="Rectangle 115"/>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Segoe UI"/>
              </a:rPr>
              <a:t>Consolidation towards Tier 1–2</a:t>
            </a:r>
          </a:p>
        </p:txBody>
      </p:sp>
      <p:sp>
        <p:nvSpPr>
          <p:cNvPr id="118" name="Rectangle 117"/>
          <p:cNvSpPr/>
          <p:nvPr/>
        </p:nvSpPr>
        <p:spPr>
          <a:xfrm>
            <a:off x="7381875" y="3543300"/>
            <a:ext cx="4667250" cy="3086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52423"/>
                </a:solidFill>
                <a:latin typeface="Segoe UI"/>
              </a:rPr>
              <a:t>Key Takeaways</a:t>
            </a:r>
          </a:p>
        </p:txBody>
      </p:sp>
      <p:sp>
        <p:nvSpPr>
          <p:cNvPr id="120" name="TextBox 119"/>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1" name="TextBox 120"/>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122" name="TextBox 121"/>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3" name="TextBox 122"/>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1 Tier 2 player is positioned to move up-tier by 2036 through M&amp;A and key-account wins – the main structural change of the decade.</a:t>
            </a:r>
          </a:p>
        </p:txBody>
      </p:sp>
      <p:sp>
        <p:nvSpPr>
          <p:cNvPr id="124" name="TextBox 123"/>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5" name="TextBox 124"/>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
            </a:r>
          </a:p>
        </p:txBody>
      </p:sp>
      <p:sp>
        <p:nvSpPr>
          <p:cNvPr id="126" name="TextBox 125"/>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0A4DC"/>
                </a:solidFill>
                <a:latin typeface="Segoe UI"/>
              </a:rPr>
              <a:t>•</a:t>
            </a:r>
          </a:p>
        </p:txBody>
      </p:sp>
      <p:sp>
        <p:nvSpPr>
          <p:cNvPr id="127" name="TextBox 126"/>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Segoe UI"/>
              </a:rPr>
              <a:t>Switching costs (4 / 5) and technology substitution (4 / 5) are the dominant forces shaping the tier structure.</a:t>
            </a:r>
          </a:p>
        </p:txBody>
      </p:sp>
      <p:sp>
        <p:nvSpPr>
          <p:cNvPr id="128" name="TextBox 1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4279050" y="4225988"/>
            <a:ext cx="128699" cy="187198"/>
          </a:xfrm>
          <a:prstGeom prst="rect">
            <a:avLst/>
          </a:prstGeom>
        </p:spPr>
      </p:pic>
      <p:pic>
        <p:nvPicPr>
          <p:cNvPr id="134" name="Picture 133" descr="lock.png"/>
          <p:cNvPicPr>
            <a:picLocks noChangeAspect="1"/>
          </p:cNvPicPr>
          <p:nvPr/>
        </p:nvPicPr>
        <p:blipFill>
          <a:blip r:embed="rId4"/>
          <a:stretch>
            <a:fillRect/>
          </a:stretch>
        </p:blipFill>
        <p:spPr>
          <a:xfrm>
            <a:off x="4279050" y="4635563"/>
            <a:ext cx="128699" cy="187198"/>
          </a:xfrm>
          <a:prstGeom prst="rect">
            <a:avLst/>
          </a:prstGeom>
        </p:spPr>
      </p:pic>
      <p:pic>
        <p:nvPicPr>
          <p:cNvPr id="135" name="Picture 134" descr="lock.png"/>
          <p:cNvPicPr>
            <a:picLocks noChangeAspect="1"/>
          </p:cNvPicPr>
          <p:nvPr/>
        </p:nvPicPr>
        <p:blipFill>
          <a:blip r:embed="rId4"/>
          <a:stretch>
            <a:fillRect/>
          </a:stretch>
        </p:blipFill>
        <p:spPr>
          <a:xfrm>
            <a:off x="4279050" y="504513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545471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86428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6273863"/>
            <a:ext cx="128699" cy="187198"/>
          </a:xfrm>
          <a:prstGeom prst="rect">
            <a:avLst/>
          </a:prstGeom>
        </p:spPr>
      </p:pic>
      <p:sp>
        <p:nvSpPr>
          <p:cNvPr id="139" name="TextBox 138"/>
          <p:cNvSpPr txBox="1"/>
          <p:nvPr/>
        </p:nvSpPr>
        <p:spPr>
          <a:xfrm>
            <a:off x="504867" y="1870710"/>
            <a:ext cx="1019439" cy="186689"/>
          </a:xfrm>
          <a:prstGeom prst="rect">
            <a:avLst/>
          </a:prstGeom>
          <a:noFill/>
        </p:spPr>
        <p:txBody>
          <a:bodyPr wrap="none" lIns="0" rIns="0" tIns="0" bIns="0">
            <a:spAutoFit/>
          </a:bodyPr>
          <a:lstStyle/>
          <a:p>
            <a:r>
              <a:rPr sz="1100" b="1">
                <a:solidFill>
                  <a:srgbClr val="FFFFFF"/>
                </a:solidFill>
                <a:latin typeface="Segoe UI"/>
              </a:rPr>
              <a:t>4 → 5 players ·</a:t>
            </a:r>
          </a:p>
        </p:txBody>
      </p:sp>
      <p:pic>
        <p:nvPicPr>
          <p:cNvPr id="140" name="Picture 139" descr="lock.png"/>
          <p:cNvPicPr>
            <a:picLocks noChangeAspect="1"/>
          </p:cNvPicPr>
          <p:nvPr/>
        </p:nvPicPr>
        <p:blipFill>
          <a:blip r:embed="rId4"/>
          <a:stretch>
            <a:fillRect/>
          </a:stretch>
        </p:blipFill>
        <p:spPr>
          <a:xfrm>
            <a:off x="1472358" y="1860931"/>
            <a:ext cx="128699" cy="187198"/>
          </a:xfrm>
          <a:prstGeom prst="rect">
            <a:avLst/>
          </a:prstGeom>
        </p:spPr>
      </p:pic>
      <p:sp>
        <p:nvSpPr>
          <p:cNvPr id="141" name="TextBox 140"/>
          <p:cNvSpPr txBox="1"/>
          <p:nvPr/>
        </p:nvSpPr>
        <p:spPr>
          <a:xfrm>
            <a:off x="163985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42" name="Picture 141" descr="lock.png"/>
          <p:cNvPicPr>
            <a:picLocks noChangeAspect="1"/>
          </p:cNvPicPr>
          <p:nvPr/>
        </p:nvPicPr>
        <p:blipFill>
          <a:blip r:embed="rId4"/>
          <a:stretch>
            <a:fillRect/>
          </a:stretch>
        </p:blipFill>
        <p:spPr>
          <a:xfrm>
            <a:off x="1784705" y="1860931"/>
            <a:ext cx="128699" cy="187198"/>
          </a:xfrm>
          <a:prstGeom prst="rect">
            <a:avLst/>
          </a:prstGeom>
        </p:spPr>
      </p:pic>
      <p:sp>
        <p:nvSpPr>
          <p:cNvPr id="143" name="TextBox 142"/>
          <p:cNvSpPr txBox="1"/>
          <p:nvPr/>
        </p:nvSpPr>
        <p:spPr>
          <a:xfrm>
            <a:off x="103369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44" name="TextBox 143"/>
          <p:cNvSpPr txBox="1"/>
          <p:nvPr/>
        </p:nvSpPr>
        <p:spPr>
          <a:xfrm>
            <a:off x="3762417" y="1870710"/>
            <a:ext cx="1019439" cy="186689"/>
          </a:xfrm>
          <a:prstGeom prst="rect">
            <a:avLst/>
          </a:prstGeom>
          <a:noFill/>
        </p:spPr>
        <p:txBody>
          <a:bodyPr wrap="none" lIns="0" rIns="0" tIns="0" bIns="0">
            <a:spAutoFit/>
          </a:bodyPr>
          <a:lstStyle/>
          <a:p>
            <a:r>
              <a:rPr sz="1100" b="1">
                <a:solidFill>
                  <a:srgbClr val="FFFFFF"/>
                </a:solidFill>
                <a:latin typeface="Segoe UI"/>
              </a:rPr>
              <a:t>2 → 2 players ·</a:t>
            </a:r>
          </a:p>
        </p:txBody>
      </p:sp>
      <p:pic>
        <p:nvPicPr>
          <p:cNvPr id="145" name="Picture 144" descr="lock.png"/>
          <p:cNvPicPr>
            <a:picLocks noChangeAspect="1"/>
          </p:cNvPicPr>
          <p:nvPr/>
        </p:nvPicPr>
        <p:blipFill>
          <a:blip r:embed="rId4"/>
          <a:stretch>
            <a:fillRect/>
          </a:stretch>
        </p:blipFill>
        <p:spPr>
          <a:xfrm>
            <a:off x="4729908" y="1860931"/>
            <a:ext cx="128699" cy="187198"/>
          </a:xfrm>
          <a:prstGeom prst="rect">
            <a:avLst/>
          </a:prstGeom>
        </p:spPr>
      </p:pic>
      <p:sp>
        <p:nvSpPr>
          <p:cNvPr id="146" name="TextBox 145"/>
          <p:cNvSpPr txBox="1"/>
          <p:nvPr/>
        </p:nvSpPr>
        <p:spPr>
          <a:xfrm>
            <a:off x="489740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47" name="Picture 146" descr="lock.png"/>
          <p:cNvPicPr>
            <a:picLocks noChangeAspect="1"/>
          </p:cNvPicPr>
          <p:nvPr/>
        </p:nvPicPr>
        <p:blipFill>
          <a:blip r:embed="rId4"/>
          <a:stretch>
            <a:fillRect/>
          </a:stretch>
        </p:blipFill>
        <p:spPr>
          <a:xfrm>
            <a:off x="5042255" y="1860931"/>
            <a:ext cx="128699" cy="187198"/>
          </a:xfrm>
          <a:prstGeom prst="rect">
            <a:avLst/>
          </a:prstGeom>
        </p:spPr>
      </p:pic>
      <p:sp>
        <p:nvSpPr>
          <p:cNvPr id="148" name="TextBox 147"/>
          <p:cNvSpPr txBox="1"/>
          <p:nvPr/>
        </p:nvSpPr>
        <p:spPr>
          <a:xfrm>
            <a:off x="429124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49" name="TextBox 148"/>
          <p:cNvSpPr txBox="1"/>
          <p:nvPr/>
        </p:nvSpPr>
        <p:spPr>
          <a:xfrm>
            <a:off x="7019967" y="1870710"/>
            <a:ext cx="1019439" cy="186689"/>
          </a:xfrm>
          <a:prstGeom prst="rect">
            <a:avLst/>
          </a:prstGeom>
          <a:noFill/>
        </p:spPr>
        <p:txBody>
          <a:bodyPr wrap="none" lIns="0" rIns="0" tIns="0" bIns="0">
            <a:spAutoFit/>
          </a:bodyPr>
          <a:lstStyle/>
          <a:p>
            <a:r>
              <a:rPr sz="1100" b="1">
                <a:solidFill>
                  <a:srgbClr val="FFFFFF"/>
                </a:solidFill>
                <a:latin typeface="Segoe UI"/>
              </a:rPr>
              <a:t>4 → 4 players ·</a:t>
            </a:r>
          </a:p>
        </p:txBody>
      </p:sp>
      <p:pic>
        <p:nvPicPr>
          <p:cNvPr id="150" name="Picture 149" descr="lock.png"/>
          <p:cNvPicPr>
            <a:picLocks noChangeAspect="1"/>
          </p:cNvPicPr>
          <p:nvPr/>
        </p:nvPicPr>
        <p:blipFill>
          <a:blip r:embed="rId4"/>
          <a:stretch>
            <a:fillRect/>
          </a:stretch>
        </p:blipFill>
        <p:spPr>
          <a:xfrm>
            <a:off x="7987458" y="1860931"/>
            <a:ext cx="128699" cy="187198"/>
          </a:xfrm>
          <a:prstGeom prst="rect">
            <a:avLst/>
          </a:prstGeom>
        </p:spPr>
      </p:pic>
      <p:sp>
        <p:nvSpPr>
          <p:cNvPr id="151" name="TextBox 150"/>
          <p:cNvSpPr txBox="1"/>
          <p:nvPr/>
        </p:nvSpPr>
        <p:spPr>
          <a:xfrm>
            <a:off x="8154953" y="1870710"/>
            <a:ext cx="196800" cy="186689"/>
          </a:xfrm>
          <a:prstGeom prst="rect">
            <a:avLst/>
          </a:prstGeom>
          <a:noFill/>
        </p:spPr>
        <p:txBody>
          <a:bodyPr wrap="none" lIns="0" rIns="0" tIns="0" bIns="0">
            <a:spAutoFit/>
          </a:bodyPr>
          <a:lstStyle/>
          <a:p>
            <a:r>
              <a:rPr sz="1100" b="1">
                <a:solidFill>
                  <a:srgbClr val="FFFFFF"/>
                </a:solidFill>
                <a:latin typeface="Segoe UI"/>
              </a:rPr>
              <a:t>→</a:t>
            </a:r>
          </a:p>
        </p:txBody>
      </p:sp>
      <p:pic>
        <p:nvPicPr>
          <p:cNvPr id="152" name="Picture 151" descr="lock.png"/>
          <p:cNvPicPr>
            <a:picLocks noChangeAspect="1"/>
          </p:cNvPicPr>
          <p:nvPr/>
        </p:nvPicPr>
        <p:blipFill>
          <a:blip r:embed="rId4"/>
          <a:stretch>
            <a:fillRect/>
          </a:stretch>
        </p:blipFill>
        <p:spPr>
          <a:xfrm>
            <a:off x="8299805" y="1860931"/>
            <a:ext cx="128699" cy="187198"/>
          </a:xfrm>
          <a:prstGeom prst="rect">
            <a:avLst/>
          </a:prstGeom>
        </p:spPr>
      </p:pic>
      <p:sp>
        <p:nvSpPr>
          <p:cNvPr id="153" name="TextBox 152"/>
          <p:cNvSpPr txBox="1"/>
          <p:nvPr/>
        </p:nvSpPr>
        <p:spPr>
          <a:xfrm>
            <a:off x="7548790" y="2038350"/>
            <a:ext cx="428169" cy="186689"/>
          </a:xfrm>
          <a:prstGeom prst="rect">
            <a:avLst/>
          </a:prstGeom>
          <a:noFill/>
        </p:spPr>
        <p:txBody>
          <a:bodyPr wrap="none" lIns="0" rIns="0" tIns="0" bIns="0">
            <a:spAutoFit/>
          </a:bodyPr>
          <a:lstStyle/>
          <a:p>
            <a:r>
              <a:rPr sz="1100" b="1">
                <a:solidFill>
                  <a:srgbClr val="FFFFFF"/>
                </a:solidFill>
                <a:latin typeface="Segoe UI"/>
              </a:rPr>
              <a:t>share</a:t>
            </a:r>
          </a:p>
        </p:txBody>
      </p:sp>
      <p:sp>
        <p:nvSpPr>
          <p:cNvPr id="154" name="TextBox 153"/>
          <p:cNvSpPr txBox="1"/>
          <p:nvPr/>
        </p:nvSpPr>
        <p:spPr>
          <a:xfrm>
            <a:off x="10423079" y="1870710"/>
            <a:ext cx="728315" cy="186689"/>
          </a:xfrm>
          <a:prstGeom prst="rect">
            <a:avLst/>
          </a:prstGeom>
          <a:noFill/>
        </p:spPr>
        <p:txBody>
          <a:bodyPr wrap="none" lIns="0" rIns="0" tIns="0" bIns="0">
            <a:spAutoFit/>
          </a:bodyPr>
          <a:lstStyle/>
          <a:p>
            <a:r>
              <a:rPr sz="1100" b="1">
                <a:solidFill>
                  <a:srgbClr val="14213D"/>
                </a:solidFill>
                <a:latin typeface="Segoe UI"/>
              </a:rPr>
              <a:t>Long tail ·</a:t>
            </a:r>
          </a:p>
        </p:txBody>
      </p:sp>
      <p:pic>
        <p:nvPicPr>
          <p:cNvPr id="155" name="Picture 154" descr="lock.png"/>
          <p:cNvPicPr>
            <a:picLocks noChangeAspect="1"/>
          </p:cNvPicPr>
          <p:nvPr/>
        </p:nvPicPr>
        <p:blipFill>
          <a:blip r:embed="rId4"/>
          <a:stretch>
            <a:fillRect/>
          </a:stretch>
        </p:blipFill>
        <p:spPr>
          <a:xfrm>
            <a:off x="11099446" y="1860931"/>
            <a:ext cx="128699" cy="187198"/>
          </a:xfrm>
          <a:prstGeom prst="rect">
            <a:avLst/>
          </a:prstGeom>
        </p:spPr>
      </p:pic>
      <p:sp>
        <p:nvSpPr>
          <p:cNvPr id="156" name="TextBox 155"/>
          <p:cNvSpPr txBox="1"/>
          <p:nvPr/>
        </p:nvSpPr>
        <p:spPr>
          <a:xfrm>
            <a:off x="11266941" y="1870710"/>
            <a:ext cx="196800" cy="186689"/>
          </a:xfrm>
          <a:prstGeom prst="rect">
            <a:avLst/>
          </a:prstGeom>
          <a:noFill/>
        </p:spPr>
        <p:txBody>
          <a:bodyPr wrap="none" lIns="0" rIns="0" tIns="0" bIns="0">
            <a:spAutoFit/>
          </a:bodyPr>
          <a:lstStyle/>
          <a:p>
            <a:r>
              <a:rPr sz="1100" b="1">
                <a:solidFill>
                  <a:srgbClr val="14213D"/>
                </a:solidFill>
                <a:latin typeface="Segoe UI"/>
              </a:rPr>
              <a:t>→</a:t>
            </a:r>
          </a:p>
        </p:txBody>
      </p:sp>
      <p:pic>
        <p:nvPicPr>
          <p:cNvPr id="157" name="Picture 156" descr="lock.png"/>
          <p:cNvPicPr>
            <a:picLocks noChangeAspect="1"/>
          </p:cNvPicPr>
          <p:nvPr/>
        </p:nvPicPr>
        <p:blipFill>
          <a:blip r:embed="rId4"/>
          <a:stretch>
            <a:fillRect/>
          </a:stretch>
        </p:blipFill>
        <p:spPr>
          <a:xfrm>
            <a:off x="11411793" y="1860931"/>
            <a:ext cx="128699" cy="187198"/>
          </a:xfrm>
          <a:prstGeom prst="rect">
            <a:avLst/>
          </a:prstGeom>
        </p:spPr>
      </p:pic>
      <p:sp>
        <p:nvSpPr>
          <p:cNvPr id="158" name="TextBox 157"/>
          <p:cNvSpPr txBox="1"/>
          <p:nvPr/>
        </p:nvSpPr>
        <p:spPr>
          <a:xfrm>
            <a:off x="10806340" y="2038350"/>
            <a:ext cx="428169" cy="186689"/>
          </a:xfrm>
          <a:prstGeom prst="rect">
            <a:avLst/>
          </a:prstGeom>
          <a:noFill/>
        </p:spPr>
        <p:txBody>
          <a:bodyPr wrap="none" lIns="0" rIns="0" tIns="0" bIns="0">
            <a:spAutoFit/>
          </a:bodyPr>
          <a:lstStyle/>
          <a:p>
            <a:r>
              <a:rPr sz="1100" b="1">
                <a:solidFill>
                  <a:srgbClr val="14213D"/>
                </a:solidFill>
                <a:latin typeface="Segoe UI"/>
              </a:rPr>
              <a:t>share</a:t>
            </a:r>
          </a:p>
        </p:txBody>
      </p:sp>
      <p:sp>
        <p:nvSpPr>
          <p:cNvPr id="159" name="TextBox 158"/>
          <p:cNvSpPr txBox="1"/>
          <p:nvPr/>
        </p:nvSpPr>
        <p:spPr>
          <a:xfrm>
            <a:off x="7658100" y="3857625"/>
            <a:ext cx="1977097" cy="186689"/>
          </a:xfrm>
          <a:prstGeom prst="rect">
            <a:avLst/>
          </a:prstGeom>
          <a:noFill/>
        </p:spPr>
        <p:txBody>
          <a:bodyPr wrap="none" lIns="0" rIns="0" tIns="0" bIns="0">
            <a:spAutoFit/>
          </a:bodyPr>
          <a:lstStyle/>
          <a:p>
            <a:r>
              <a:rPr sz="1100" b="0">
                <a:solidFill>
                  <a:srgbClr val="14213D"/>
                </a:solidFill>
                <a:latin typeface="Segoe UI"/>
              </a:rPr>
              <a:t>The market is fragmented (HHI</a:t>
            </a:r>
          </a:p>
        </p:txBody>
      </p:sp>
      <p:pic>
        <p:nvPicPr>
          <p:cNvPr id="160" name="Picture 159" descr="lock.png"/>
          <p:cNvPicPr>
            <a:picLocks noChangeAspect="1"/>
          </p:cNvPicPr>
          <p:nvPr/>
        </p:nvPicPr>
        <p:blipFill>
          <a:blip r:embed="rId4"/>
          <a:stretch>
            <a:fillRect/>
          </a:stretch>
        </p:blipFill>
        <p:spPr>
          <a:xfrm>
            <a:off x="9583248" y="3847846"/>
            <a:ext cx="128699" cy="187198"/>
          </a:xfrm>
          <a:prstGeom prst="rect">
            <a:avLst/>
          </a:prstGeom>
        </p:spPr>
      </p:pic>
      <p:sp>
        <p:nvSpPr>
          <p:cNvPr id="161" name="TextBox 160"/>
          <p:cNvSpPr txBox="1"/>
          <p:nvPr/>
        </p:nvSpPr>
        <p:spPr>
          <a:xfrm>
            <a:off x="9750744" y="3857625"/>
            <a:ext cx="1540048" cy="186689"/>
          </a:xfrm>
          <a:prstGeom prst="rect">
            <a:avLst/>
          </a:prstGeom>
          <a:noFill/>
        </p:spPr>
        <p:txBody>
          <a:bodyPr wrap="none" lIns="0" rIns="0" tIns="0" bIns="0">
            <a:spAutoFit/>
          </a:bodyPr>
          <a:lstStyle/>
          <a:p>
            <a:r>
              <a:rPr sz="1100" b="0">
                <a:solidFill>
                  <a:srgbClr val="14213D"/>
                </a:solidFill>
                <a:latin typeface="Segoe UI"/>
              </a:rPr>
              <a:t>); Tier 1 sets pricing and</a:t>
            </a:r>
          </a:p>
        </p:txBody>
      </p:sp>
      <p:sp>
        <p:nvSpPr>
          <p:cNvPr id="162" name="TextBox 161"/>
          <p:cNvSpPr txBox="1"/>
          <p:nvPr/>
        </p:nvSpPr>
        <p:spPr>
          <a:xfrm>
            <a:off x="7658100" y="4025265"/>
            <a:ext cx="2999186" cy="186689"/>
          </a:xfrm>
          <a:prstGeom prst="rect">
            <a:avLst/>
          </a:prstGeom>
          <a:noFill/>
        </p:spPr>
        <p:txBody>
          <a:bodyPr wrap="none" lIns="0" rIns="0" tIns="0" bIns="0">
            <a:spAutoFit/>
          </a:bodyPr>
          <a:lstStyle/>
          <a:p>
            <a:r>
              <a:rPr sz="1100" b="0">
                <a:solidFill>
                  <a:srgbClr val="14213D"/>
                </a:solidFill>
                <a:latin typeface="Segoe UI"/>
              </a:rPr>
              <a:t>innovation benchmarks and is expected to hold</a:t>
            </a:r>
          </a:p>
        </p:txBody>
      </p:sp>
      <p:pic>
        <p:nvPicPr>
          <p:cNvPr id="163" name="Picture 162" descr="lock.png"/>
          <p:cNvPicPr>
            <a:picLocks noChangeAspect="1"/>
          </p:cNvPicPr>
          <p:nvPr/>
        </p:nvPicPr>
        <p:blipFill>
          <a:blip r:embed="rId4"/>
          <a:stretch>
            <a:fillRect/>
          </a:stretch>
        </p:blipFill>
        <p:spPr>
          <a:xfrm>
            <a:off x="10605337" y="4015486"/>
            <a:ext cx="128699" cy="187198"/>
          </a:xfrm>
          <a:prstGeom prst="rect">
            <a:avLst/>
          </a:prstGeom>
        </p:spPr>
      </p:pic>
      <p:sp>
        <p:nvSpPr>
          <p:cNvPr id="164" name="TextBox 163"/>
          <p:cNvSpPr txBox="1"/>
          <p:nvPr/>
        </p:nvSpPr>
        <p:spPr>
          <a:xfrm>
            <a:off x="10772833" y="4025265"/>
            <a:ext cx="715141" cy="186689"/>
          </a:xfrm>
          <a:prstGeom prst="rect">
            <a:avLst/>
          </a:prstGeom>
          <a:noFill/>
        </p:spPr>
        <p:txBody>
          <a:bodyPr wrap="none" lIns="0" rIns="0" tIns="0" bIns="0">
            <a:spAutoFit/>
          </a:bodyPr>
          <a:lstStyle/>
          <a:p>
            <a:r>
              <a:rPr sz="1100" b="0">
                <a:solidFill>
                  <a:srgbClr val="14213D"/>
                </a:solidFill>
                <a:latin typeface="Segoe UI"/>
              </a:rPr>
              <a:t>of value in</a:t>
            </a:r>
          </a:p>
        </p:txBody>
      </p:sp>
      <p:sp>
        <p:nvSpPr>
          <p:cNvPr id="165" name="TextBox 164"/>
          <p:cNvSpPr txBox="1"/>
          <p:nvPr/>
        </p:nvSpPr>
        <p:spPr>
          <a:xfrm>
            <a:off x="7658100" y="4192905"/>
            <a:ext cx="407714" cy="186689"/>
          </a:xfrm>
          <a:prstGeom prst="rect">
            <a:avLst/>
          </a:prstGeom>
          <a:noFill/>
        </p:spPr>
        <p:txBody>
          <a:bodyPr wrap="none" lIns="0" rIns="0" tIns="0" bIns="0">
            <a:spAutoFit/>
          </a:bodyPr>
          <a:lstStyle/>
          <a:p>
            <a:r>
              <a:rPr sz="1100" b="0">
                <a:solidFill>
                  <a:srgbClr val="14213D"/>
                </a:solidFill>
                <a:latin typeface="Segoe UI"/>
              </a:rPr>
              <a:t>2036.</a:t>
            </a:r>
          </a:p>
        </p:txBody>
      </p:sp>
      <p:sp>
        <p:nvSpPr>
          <p:cNvPr id="166" name="TextBox 165"/>
          <p:cNvSpPr txBox="1"/>
          <p:nvPr/>
        </p:nvSpPr>
        <p:spPr>
          <a:xfrm>
            <a:off x="7658100" y="5019675"/>
            <a:ext cx="3747630" cy="186689"/>
          </a:xfrm>
          <a:prstGeom prst="rect">
            <a:avLst/>
          </a:prstGeom>
          <a:noFill/>
        </p:spPr>
        <p:txBody>
          <a:bodyPr wrap="none" lIns="0" rIns="0" tIns="0" bIns="0">
            <a:spAutoFit/>
          </a:bodyPr>
          <a:lstStyle/>
          <a:p>
            <a:r>
              <a:rPr sz="1100" b="0">
                <a:solidFill>
                  <a:srgbClr val="14213D"/>
                </a:solidFill>
                <a:latin typeface="Segoe UI"/>
              </a:rPr>
              <a:t>Tier 3 and the long tail face the highest structural pressure (</a:t>
            </a:r>
          </a:p>
        </p:txBody>
      </p:sp>
      <p:pic>
        <p:nvPicPr>
          <p:cNvPr id="167" name="Picture 166" descr="lock.png"/>
          <p:cNvPicPr>
            <a:picLocks noChangeAspect="1"/>
          </p:cNvPicPr>
          <p:nvPr/>
        </p:nvPicPr>
        <p:blipFill>
          <a:blip r:embed="rId4"/>
          <a:stretch>
            <a:fillRect/>
          </a:stretch>
        </p:blipFill>
        <p:spPr>
          <a:xfrm>
            <a:off x="11353782" y="5009895"/>
            <a:ext cx="128699" cy="187198"/>
          </a:xfrm>
          <a:prstGeom prst="rect">
            <a:avLst/>
          </a:prstGeom>
        </p:spPr>
      </p:pic>
      <p:sp>
        <p:nvSpPr>
          <p:cNvPr id="168" name="TextBox 167"/>
          <p:cNvSpPr txBox="1"/>
          <p:nvPr/>
        </p:nvSpPr>
        <p:spPr>
          <a:xfrm>
            <a:off x="11521278" y="5019675"/>
            <a:ext cx="316855" cy="186689"/>
          </a:xfrm>
          <a:prstGeom prst="rect">
            <a:avLst/>
          </a:prstGeom>
          <a:noFill/>
        </p:spPr>
        <p:txBody>
          <a:bodyPr wrap="none" lIns="0" rIns="0" tIns="0" bIns="0">
            <a:spAutoFit/>
          </a:bodyPr>
          <a:lstStyle/>
          <a:p>
            <a:r>
              <a:rPr sz="1100" b="0">
                <a:solidFill>
                  <a:srgbClr val="14213D"/>
                </a:solidFill>
                <a:latin typeface="Segoe UI"/>
              </a:rPr>
              <a:t>/ 5);</a:t>
            </a:r>
          </a:p>
        </p:txBody>
      </p:sp>
      <p:sp>
        <p:nvSpPr>
          <p:cNvPr id="169" name="TextBox 168"/>
          <p:cNvSpPr txBox="1"/>
          <p:nvPr/>
        </p:nvSpPr>
        <p:spPr>
          <a:xfrm>
            <a:off x="7658100" y="5187315"/>
            <a:ext cx="2845012" cy="186689"/>
          </a:xfrm>
          <a:prstGeom prst="rect">
            <a:avLst/>
          </a:prstGeom>
          <a:noFill/>
        </p:spPr>
        <p:txBody>
          <a:bodyPr wrap="none" lIns="0" rIns="0" tIns="0" bIns="0">
            <a:spAutoFit/>
          </a:bodyPr>
          <a:lstStyle/>
          <a:p>
            <a:r>
              <a:rPr sz="1100" b="0">
                <a:solidFill>
                  <a:srgbClr val="14213D"/>
                </a:solidFill>
                <a:latin typeface="Segoe UI"/>
              </a:rPr>
              <a:t>2 players are expected to exit or be acquired.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Competitive Dashboard View (2026)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Benchmarking of companies on portfolio, coverage, revenue, share, regional presence and strategy</a:t>
            </a:r>
          </a:p>
        </p:txBody>
      </p:sp>
      <p:sp>
        <p:nvSpPr>
          <p:cNvPr id="8" name="TextBox 7"/>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05E5C"/>
                </a:solidFill>
                <a:latin typeface="Segoe UI"/>
              </a:rPr>
              <a:t>Intensified competition across the leading players portfolio, revenue, share, regional presence and strategy.  All figures 2026.</a:t>
            </a:r>
          </a:p>
        </p:txBody>
      </p:sp>
      <p:sp>
        <p:nvSpPr>
          <p:cNvPr id="9" name="Rectangle 8"/>
          <p:cNvSpPr/>
          <p:nvPr/>
        </p:nvSpPr>
        <p:spPr>
          <a:xfrm>
            <a:off x="133350" y="1153291"/>
            <a:ext cx="11925300" cy="4563424"/>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33350" y="1536618"/>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1792170"/>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631840"/>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2960407"/>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3288973"/>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4055629"/>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5041328"/>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0586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954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717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480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2437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007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770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7533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2967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0600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982325"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058650" y="1171544"/>
            <a:ext cx="0" cy="4526917"/>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3350" y="5698461"/>
            <a:ext cx="11925300" cy="0"/>
          </a:xfrm>
          <a:prstGeom prst="line">
            <a:avLst/>
          </a:prstGeom>
          <a:ln w="9525">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Company / Brand</a:t>
            </a:r>
          </a:p>
        </p:txBody>
      </p:sp>
      <p:sp>
        <p:nvSpPr>
          <p:cNvPr id="34" name="TextBox 33"/>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Product Portfolio</a:t>
            </a:r>
          </a:p>
        </p:txBody>
      </p:sp>
      <p:sp>
        <p:nvSpPr>
          <p:cNvPr id="35" name="TextBox 34"/>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Overall Rev (US$ Mn)</a:t>
            </a:r>
          </a:p>
        </p:txBody>
      </p:sp>
      <p:sp>
        <p:nvSpPr>
          <p:cNvPr id="36" name="TextBox 35"/>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Target Rev (US$ Mn)</a:t>
            </a:r>
          </a:p>
        </p:txBody>
      </p:sp>
      <p:sp>
        <p:nvSpPr>
          <p:cNvPr id="37" name="TextBox 36"/>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Market Share (%)</a:t>
            </a:r>
          </a:p>
        </p:txBody>
      </p:sp>
      <p:sp>
        <p:nvSpPr>
          <p:cNvPr id="38" name="TextBox 37"/>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Regional Presence</a:t>
            </a:r>
          </a:p>
        </p:txBody>
      </p:sp>
      <p:sp>
        <p:nvSpPr>
          <p:cNvPr id="39" name="TextBox 38"/>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07BA5"/>
                </a:solidFill>
                <a:latin typeface="Segoe UI"/>
              </a:rPr>
              <a:t>Strategies</a:t>
            </a:r>
          </a:p>
        </p:txBody>
      </p:sp>
      <p:sp>
        <p:nvSpPr>
          <p:cNvPr id="40" name="TextBox 39"/>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Air Liquide</a:t>
            </a:r>
          </a:p>
        </p:txBody>
      </p:sp>
      <p:cxnSp>
        <p:nvCxnSpPr>
          <p:cNvPr id="41" name="Connector 40"/>
          <p:cNvCxnSpPr/>
          <p:nvPr/>
        </p:nvCxnSpPr>
        <p:spPr>
          <a:xfrm>
            <a:off x="16049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A</a:t>
            </a:r>
          </a:p>
        </p:txBody>
      </p:sp>
      <p:sp>
        <p:nvSpPr>
          <p:cNvPr id="43" name="TextBox 42"/>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44" name="TextBox 43"/>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45" name="Rectangle 44"/>
          <p:cNvSpPr/>
          <p:nvPr/>
        </p:nvSpPr>
        <p:spPr>
          <a:xfrm>
            <a:off x="16049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7764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9478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49" name="TextBox 48"/>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50" name="Oval 49"/>
          <p:cNvSpPr/>
          <p:nvPr/>
        </p:nvSpPr>
        <p:spPr>
          <a:xfrm>
            <a:off x="15859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07BA5"/>
                </a:solidFill>
                <a:latin typeface="Segoe UI"/>
              </a:rPr>
              <a:t> </a:t>
            </a:r>
          </a:p>
        </p:txBody>
      </p:sp>
      <p:sp>
        <p:nvSpPr>
          <p:cNvPr id="54" name="TextBox 53"/>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North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9AA0A6"/>
                </a:solidFill>
                <a:latin typeface="Segoe UI"/>
              </a:rPr>
              <a:t>▲</a:t>
            </a:r>
          </a:p>
        </p:txBody>
      </p:sp>
      <p:sp>
        <p:nvSpPr>
          <p:cNvPr id="55" name="Oval 54"/>
          <p:cNvSpPr/>
          <p:nvPr/>
        </p:nvSpPr>
        <p:spPr>
          <a:xfrm>
            <a:off x="14287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57" name="Oval 56"/>
          <p:cNvSpPr/>
          <p:nvPr/>
        </p:nvSpPr>
        <p:spPr>
          <a:xfrm>
            <a:off x="16383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59" name="Oval 58"/>
          <p:cNvSpPr/>
          <p:nvPr/>
        </p:nvSpPr>
        <p:spPr>
          <a:xfrm>
            <a:off x="18478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61" name="Oval 60"/>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63" name="Oval 62"/>
          <p:cNvSpPr/>
          <p:nvPr/>
        </p:nvSpPr>
        <p:spPr>
          <a:xfrm>
            <a:off x="15335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65" name="Oval 64"/>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67" name="Oval 66"/>
          <p:cNvSpPr/>
          <p:nvPr/>
        </p:nvSpPr>
        <p:spPr>
          <a:xfrm>
            <a:off x="19526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69" name="TextBox 68"/>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Linde</a:t>
            </a:r>
          </a:p>
        </p:txBody>
      </p:sp>
      <p:cxnSp>
        <p:nvCxnSpPr>
          <p:cNvPr id="70" name="Connector 69"/>
          <p:cNvCxnSpPr/>
          <p:nvPr/>
        </p:nvCxnSpPr>
        <p:spPr>
          <a:xfrm>
            <a:off x="26812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B</a:t>
            </a:r>
          </a:p>
        </p:txBody>
      </p:sp>
      <p:sp>
        <p:nvSpPr>
          <p:cNvPr id="72" name="TextBox 71"/>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73" name="TextBox 72"/>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74" name="Rectangle 73"/>
          <p:cNvSpPr/>
          <p:nvPr/>
        </p:nvSpPr>
        <p:spPr>
          <a:xfrm>
            <a:off x="26812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8527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0241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78" name="TextBox 77"/>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79" name="Oval 78"/>
          <p:cNvSpPr/>
          <p:nvPr/>
        </p:nvSpPr>
        <p:spPr>
          <a:xfrm>
            <a:off x="26622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07BA5"/>
                </a:solidFill>
                <a:latin typeface="Segoe UI"/>
              </a:rPr>
              <a:t> </a:t>
            </a:r>
          </a:p>
        </p:txBody>
      </p:sp>
      <p:sp>
        <p:nvSpPr>
          <p:cNvPr id="83" name="TextBox 82"/>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South Asia &amp; Pacific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9AA0A6"/>
                </a:solidFill>
                <a:latin typeface="Segoe UI"/>
              </a:rPr>
              <a:t>▲</a:t>
            </a:r>
          </a:p>
        </p:txBody>
      </p:sp>
      <p:sp>
        <p:nvSpPr>
          <p:cNvPr id="84" name="Oval 83"/>
          <p:cNvSpPr/>
          <p:nvPr/>
        </p:nvSpPr>
        <p:spPr>
          <a:xfrm>
            <a:off x="25050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86" name="Oval 85"/>
          <p:cNvSpPr/>
          <p:nvPr/>
        </p:nvSpPr>
        <p:spPr>
          <a:xfrm>
            <a:off x="27146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88" name="Oval 87"/>
          <p:cNvSpPr/>
          <p:nvPr/>
        </p:nvSpPr>
        <p:spPr>
          <a:xfrm>
            <a:off x="29241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90" name="Oval 89"/>
          <p:cNvSpPr/>
          <p:nvPr/>
        </p:nvSpPr>
        <p:spPr>
          <a:xfrm>
            <a:off x="31337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92" name="Oval 91"/>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94" name="Oval 93"/>
          <p:cNvSpPr/>
          <p:nvPr/>
        </p:nvSpPr>
        <p:spPr>
          <a:xfrm>
            <a:off x="28194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96" name="Oval 95"/>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98" name="TextBox 97"/>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Chemgas</a:t>
            </a:r>
          </a:p>
        </p:txBody>
      </p:sp>
      <p:cxnSp>
        <p:nvCxnSpPr>
          <p:cNvPr id="99" name="Connector 98"/>
          <p:cNvCxnSpPr/>
          <p:nvPr/>
        </p:nvCxnSpPr>
        <p:spPr>
          <a:xfrm>
            <a:off x="375761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C</a:t>
            </a:r>
          </a:p>
        </p:txBody>
      </p:sp>
      <p:sp>
        <p:nvSpPr>
          <p:cNvPr id="101" name="TextBox 100"/>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102" name="TextBox 101"/>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103" name="Rectangle 102"/>
          <p:cNvSpPr/>
          <p:nvPr/>
        </p:nvSpPr>
        <p:spPr>
          <a:xfrm>
            <a:off x="375761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929062" y="2303274"/>
            <a:ext cx="114300" cy="109522"/>
          </a:xfrm>
          <a:prstGeom prst="rect">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10051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07" name="TextBox 106"/>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08" name="Oval 107"/>
          <p:cNvSpPr/>
          <p:nvPr/>
        </p:nvSpPr>
        <p:spPr>
          <a:xfrm>
            <a:off x="373856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12" name="TextBox 111"/>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 Asia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9AA0A6"/>
                </a:solidFill>
                <a:latin typeface="Segoe UI"/>
              </a:rPr>
              <a:t>▲</a:t>
            </a:r>
          </a:p>
        </p:txBody>
      </p:sp>
      <p:sp>
        <p:nvSpPr>
          <p:cNvPr id="113" name="Oval 112"/>
          <p:cNvSpPr/>
          <p:nvPr/>
        </p:nvSpPr>
        <p:spPr>
          <a:xfrm>
            <a:off x="35814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15" name="Oval 114"/>
          <p:cNvSpPr/>
          <p:nvPr/>
        </p:nvSpPr>
        <p:spPr>
          <a:xfrm>
            <a:off x="37909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17" name="Oval 116"/>
          <p:cNvSpPr/>
          <p:nvPr/>
        </p:nvSpPr>
        <p:spPr>
          <a:xfrm>
            <a:off x="40005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19" name="Oval 118"/>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21" name="Oval 120"/>
          <p:cNvSpPr/>
          <p:nvPr/>
        </p:nvSpPr>
        <p:spPr>
          <a:xfrm>
            <a:off x="36861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23" name="Oval 122"/>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25" name="Oval 124"/>
          <p:cNvSpPr/>
          <p:nvPr/>
        </p:nvSpPr>
        <p:spPr>
          <a:xfrm>
            <a:off x="41052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27" name="TextBox 126"/>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Airgas</a:t>
            </a:r>
          </a:p>
        </p:txBody>
      </p:sp>
      <p:cxnSp>
        <p:nvCxnSpPr>
          <p:cNvPr id="128" name="Connector 127"/>
          <p:cNvCxnSpPr/>
          <p:nvPr/>
        </p:nvCxnSpPr>
        <p:spPr>
          <a:xfrm>
            <a:off x="483393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D</a:t>
            </a:r>
          </a:p>
        </p:txBody>
      </p:sp>
      <p:sp>
        <p:nvSpPr>
          <p:cNvPr id="130" name="TextBox 129"/>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131" name="TextBox 130"/>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132" name="Rectangle 131"/>
          <p:cNvSpPr/>
          <p:nvPr/>
        </p:nvSpPr>
        <p:spPr>
          <a:xfrm>
            <a:off x="4833938" y="2303274"/>
            <a:ext cx="114300" cy="109522"/>
          </a:xfrm>
          <a:prstGeom prst="rect">
            <a:avLst/>
          </a:prstGeom>
          <a:solidFill>
            <a:srgbClr val="FFFFFF"/>
          </a:solidFill>
          <a:ln w="12700">
            <a:solidFill>
              <a:srgbClr val="F2B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00538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176838"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36" name="TextBox 135"/>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37" name="Oval 136"/>
          <p:cNvSpPr/>
          <p:nvPr/>
        </p:nvSpPr>
        <p:spPr>
          <a:xfrm>
            <a:off x="481488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41" name="TextBox 140"/>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Latin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Eastern Europe  </a:t>
            </a:r>
            <a:r>
              <a:rPr sz="1100" b="1">
                <a:solidFill>
                  <a:srgbClr val="9AA0A6"/>
                </a:solidFill>
                <a:latin typeface="Segoe UI"/>
              </a:rPr>
              <a:t>▲</a:t>
            </a:r>
          </a:p>
        </p:txBody>
      </p:sp>
      <p:sp>
        <p:nvSpPr>
          <p:cNvPr id="142" name="Oval 141"/>
          <p:cNvSpPr/>
          <p:nvPr/>
        </p:nvSpPr>
        <p:spPr>
          <a:xfrm>
            <a:off x="46577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44" name="Oval 143"/>
          <p:cNvSpPr/>
          <p:nvPr/>
        </p:nvSpPr>
        <p:spPr>
          <a:xfrm>
            <a:off x="48672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46" name="Oval 145"/>
          <p:cNvSpPr/>
          <p:nvPr/>
        </p:nvSpPr>
        <p:spPr>
          <a:xfrm>
            <a:off x="50768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48" name="Oval 147"/>
          <p:cNvSpPr/>
          <p:nvPr/>
        </p:nvSpPr>
        <p:spPr>
          <a:xfrm>
            <a:off x="52863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50" name="Oval 149"/>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52" name="Oval 151"/>
          <p:cNvSpPr/>
          <p:nvPr/>
        </p:nvSpPr>
        <p:spPr>
          <a:xfrm>
            <a:off x="497205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54" name="Oval 153"/>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56" name="TextBox 155"/>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Merck KGaA</a:t>
            </a:r>
          </a:p>
        </p:txBody>
      </p:sp>
      <p:cxnSp>
        <p:nvCxnSpPr>
          <p:cNvPr id="157" name="Connector 156"/>
          <p:cNvCxnSpPr/>
          <p:nvPr/>
        </p:nvCxnSpPr>
        <p:spPr>
          <a:xfrm>
            <a:off x="59102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E</a:t>
            </a:r>
          </a:p>
        </p:txBody>
      </p:sp>
      <p:sp>
        <p:nvSpPr>
          <p:cNvPr id="159" name="TextBox 158"/>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160" name="TextBox 159"/>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161" name="Rectangle 160"/>
          <p:cNvSpPr/>
          <p:nvPr/>
        </p:nvSpPr>
        <p:spPr>
          <a:xfrm>
            <a:off x="59102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0817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62531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65" name="TextBox 164"/>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66" name="Oval 165"/>
          <p:cNvSpPr/>
          <p:nvPr/>
        </p:nvSpPr>
        <p:spPr>
          <a:xfrm>
            <a:off x="58912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70" name="TextBox 169"/>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Middle East &amp; Africa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Eastern Europe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Western Europe  </a:t>
            </a:r>
            <a:r>
              <a:rPr sz="1100" b="1">
                <a:solidFill>
                  <a:srgbClr val="9AA0A6"/>
                </a:solidFill>
                <a:latin typeface="Segoe UI"/>
              </a:rPr>
              <a:t>▲</a:t>
            </a:r>
          </a:p>
        </p:txBody>
      </p:sp>
      <p:sp>
        <p:nvSpPr>
          <p:cNvPr id="171" name="Oval 170"/>
          <p:cNvSpPr/>
          <p:nvPr/>
        </p:nvSpPr>
        <p:spPr>
          <a:xfrm>
            <a:off x="57340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173" name="Oval 172"/>
          <p:cNvSpPr/>
          <p:nvPr/>
        </p:nvSpPr>
        <p:spPr>
          <a:xfrm>
            <a:off x="59436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175" name="Oval 174"/>
          <p:cNvSpPr/>
          <p:nvPr/>
        </p:nvSpPr>
        <p:spPr>
          <a:xfrm>
            <a:off x="61531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177" name="Oval 176"/>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179" name="Oval 178"/>
          <p:cNvSpPr/>
          <p:nvPr/>
        </p:nvSpPr>
        <p:spPr>
          <a:xfrm>
            <a:off x="58388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181" name="Oval 180"/>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183" name="Oval 182"/>
          <p:cNvSpPr/>
          <p:nvPr/>
        </p:nvSpPr>
        <p:spPr>
          <a:xfrm>
            <a:off x="62579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185" name="TextBox 184"/>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Eurisotop</a:t>
            </a:r>
          </a:p>
        </p:txBody>
      </p:sp>
      <p:cxnSp>
        <p:nvCxnSpPr>
          <p:cNvPr id="186" name="Connector 185"/>
          <p:cNvCxnSpPr/>
          <p:nvPr/>
        </p:nvCxnSpPr>
        <p:spPr>
          <a:xfrm>
            <a:off x="69865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F</a:t>
            </a:r>
          </a:p>
        </p:txBody>
      </p:sp>
      <p:sp>
        <p:nvSpPr>
          <p:cNvPr id="188" name="TextBox 187"/>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189" name="TextBox 188"/>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190" name="Rectangle 189"/>
          <p:cNvSpPr/>
          <p:nvPr/>
        </p:nvSpPr>
        <p:spPr>
          <a:xfrm>
            <a:off x="69865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1580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73294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94" name="TextBox 193"/>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195" name="Oval 194"/>
          <p:cNvSpPr/>
          <p:nvPr/>
        </p:nvSpPr>
        <p:spPr>
          <a:xfrm>
            <a:off x="69675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199" name="TextBox 198"/>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Eastern Europe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Western Europe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North America  </a:t>
            </a:r>
            <a:r>
              <a:rPr sz="1100" b="1">
                <a:solidFill>
                  <a:srgbClr val="9AA0A6"/>
                </a:solidFill>
                <a:latin typeface="Segoe UI"/>
              </a:rPr>
              <a:t>▲</a:t>
            </a:r>
          </a:p>
        </p:txBody>
      </p:sp>
      <p:sp>
        <p:nvSpPr>
          <p:cNvPr id="200" name="Oval 199"/>
          <p:cNvSpPr/>
          <p:nvPr/>
        </p:nvSpPr>
        <p:spPr>
          <a:xfrm>
            <a:off x="68103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02" name="Oval 201"/>
          <p:cNvSpPr/>
          <p:nvPr/>
        </p:nvSpPr>
        <p:spPr>
          <a:xfrm>
            <a:off x="70199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04" name="Oval 203"/>
          <p:cNvSpPr/>
          <p:nvPr/>
        </p:nvSpPr>
        <p:spPr>
          <a:xfrm>
            <a:off x="72294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06" name="Oval 205"/>
          <p:cNvSpPr/>
          <p:nvPr/>
        </p:nvSpPr>
        <p:spPr>
          <a:xfrm>
            <a:off x="74390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08" name="Oval 207"/>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10" name="Oval 209"/>
          <p:cNvSpPr/>
          <p:nvPr/>
        </p:nvSpPr>
        <p:spPr>
          <a:xfrm>
            <a:off x="71247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12" name="Oval 211"/>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14" name="TextBox 213"/>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ISOFLEX USA</a:t>
            </a:r>
          </a:p>
        </p:txBody>
      </p:sp>
      <p:cxnSp>
        <p:nvCxnSpPr>
          <p:cNvPr id="215" name="Connector 214"/>
          <p:cNvCxnSpPr/>
          <p:nvPr/>
        </p:nvCxnSpPr>
        <p:spPr>
          <a:xfrm>
            <a:off x="806291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G</a:t>
            </a:r>
          </a:p>
        </p:txBody>
      </p:sp>
      <p:sp>
        <p:nvSpPr>
          <p:cNvPr id="217" name="TextBox 216"/>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218" name="TextBox 217"/>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219" name="Rectangle 218"/>
          <p:cNvSpPr/>
          <p:nvPr/>
        </p:nvSpPr>
        <p:spPr>
          <a:xfrm>
            <a:off x="806291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234362" y="2303274"/>
            <a:ext cx="114300" cy="109522"/>
          </a:xfrm>
          <a:prstGeom prst="rect">
            <a:avLst/>
          </a:prstGeom>
          <a:solidFill>
            <a:srgbClr val="FFFFFF"/>
          </a:solidFill>
          <a:ln w="1270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40581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23" name="TextBox 222"/>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24" name="Oval 223"/>
          <p:cNvSpPr/>
          <p:nvPr/>
        </p:nvSpPr>
        <p:spPr>
          <a:xfrm>
            <a:off x="804386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Freeform 224"/>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28" name="TextBox 227"/>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Western Europe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North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9AA0A6"/>
                </a:solidFill>
                <a:latin typeface="Segoe UI"/>
              </a:rPr>
              <a:t>▲</a:t>
            </a:r>
          </a:p>
        </p:txBody>
      </p:sp>
      <p:sp>
        <p:nvSpPr>
          <p:cNvPr id="229" name="Oval 228"/>
          <p:cNvSpPr/>
          <p:nvPr/>
        </p:nvSpPr>
        <p:spPr>
          <a:xfrm>
            <a:off x="78867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31" name="Oval 230"/>
          <p:cNvSpPr/>
          <p:nvPr/>
        </p:nvSpPr>
        <p:spPr>
          <a:xfrm>
            <a:off x="80962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33" name="Oval 232"/>
          <p:cNvSpPr/>
          <p:nvPr/>
        </p:nvSpPr>
        <p:spPr>
          <a:xfrm>
            <a:off x="83058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35" name="Oval 234"/>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37" name="Oval 236"/>
          <p:cNvSpPr/>
          <p:nvPr/>
        </p:nvSpPr>
        <p:spPr>
          <a:xfrm>
            <a:off x="79914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39" name="Oval 238"/>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41" name="Oval 240"/>
          <p:cNvSpPr/>
          <p:nvPr/>
        </p:nvSpPr>
        <p:spPr>
          <a:xfrm>
            <a:off x="841057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43" name="TextBox 242"/>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DWS Specialty Gas</a:t>
            </a:r>
          </a:p>
        </p:txBody>
      </p:sp>
      <p:cxnSp>
        <p:nvCxnSpPr>
          <p:cNvPr id="244" name="Connector 243"/>
          <p:cNvCxnSpPr/>
          <p:nvPr/>
        </p:nvCxnSpPr>
        <p:spPr>
          <a:xfrm>
            <a:off x="913923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H</a:t>
            </a:r>
          </a:p>
        </p:txBody>
      </p:sp>
      <p:sp>
        <p:nvSpPr>
          <p:cNvPr id="246" name="TextBox 245"/>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D4D7DA"/>
                </a:solidFill>
                <a:latin typeface="Segoe UI"/>
              </a:rPr>
              <a:t>✦ </a:t>
            </a:r>
          </a:p>
        </p:txBody>
      </p:sp>
      <p:sp>
        <p:nvSpPr>
          <p:cNvPr id="247" name="TextBox 246"/>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D24B3E"/>
                </a:solidFill>
                <a:latin typeface="Segoe UI"/>
              </a:rPr>
              <a:t>✘ </a:t>
            </a:r>
            <a:r>
              <a:rPr sz="1100" b="1">
                <a:solidFill>
                  <a:srgbClr val="2F6FB0"/>
                </a:solidFill>
                <a:latin typeface="Segoe UI"/>
              </a:rPr>
              <a:t>✔ </a:t>
            </a:r>
          </a:p>
        </p:txBody>
      </p:sp>
      <p:sp>
        <p:nvSpPr>
          <p:cNvPr id="248" name="Rectangle 247"/>
          <p:cNvSpPr/>
          <p:nvPr/>
        </p:nvSpPr>
        <p:spPr>
          <a:xfrm>
            <a:off x="9139238" y="2303274"/>
            <a:ext cx="114300" cy="109522"/>
          </a:xfrm>
          <a:prstGeom prst="rect">
            <a:avLst/>
          </a:prstGeom>
          <a:solidFill>
            <a:srgbClr val="FFFFFF"/>
          </a:solidFill>
          <a:ln w="12700">
            <a:solidFill>
              <a:srgbClr val="F2B7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1068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482138"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52" name="TextBox 251"/>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53" name="Oval 252"/>
          <p:cNvSpPr/>
          <p:nvPr/>
        </p:nvSpPr>
        <p:spPr>
          <a:xfrm>
            <a:off x="912018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57" name="TextBox 256"/>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North America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South Asia &amp; Pacific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9AA0A6"/>
                </a:solidFill>
                <a:latin typeface="Segoe UI"/>
              </a:rPr>
              <a:t>▲</a:t>
            </a:r>
          </a:p>
        </p:txBody>
      </p:sp>
      <p:sp>
        <p:nvSpPr>
          <p:cNvPr id="258" name="Oval 257"/>
          <p:cNvSpPr/>
          <p:nvPr/>
        </p:nvSpPr>
        <p:spPr>
          <a:xfrm>
            <a:off x="89630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60" name="Oval 259"/>
          <p:cNvSpPr/>
          <p:nvPr/>
        </p:nvSpPr>
        <p:spPr>
          <a:xfrm>
            <a:off x="91725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62" name="Oval 261"/>
          <p:cNvSpPr/>
          <p:nvPr/>
        </p:nvSpPr>
        <p:spPr>
          <a:xfrm>
            <a:off x="93821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64" name="Oval 263"/>
          <p:cNvSpPr/>
          <p:nvPr/>
        </p:nvSpPr>
        <p:spPr>
          <a:xfrm>
            <a:off x="95916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66" name="Oval 265"/>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68" name="Oval 267"/>
          <p:cNvSpPr/>
          <p:nvPr/>
        </p:nvSpPr>
        <p:spPr>
          <a:xfrm>
            <a:off x="927735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70" name="Oval 269"/>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272" name="TextBox 271"/>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Wuhan Baisida Gas</a:t>
            </a:r>
          </a:p>
        </p:txBody>
      </p:sp>
      <p:cxnSp>
        <p:nvCxnSpPr>
          <p:cNvPr id="273" name="Connector 272"/>
          <p:cNvCxnSpPr/>
          <p:nvPr/>
        </p:nvCxnSpPr>
        <p:spPr>
          <a:xfrm>
            <a:off x="10215562"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274" name="TextBox 273"/>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I</a:t>
            </a:r>
          </a:p>
        </p:txBody>
      </p:sp>
      <p:sp>
        <p:nvSpPr>
          <p:cNvPr id="275" name="TextBox 274"/>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F2B739"/>
                </a:solidFill>
                <a:latin typeface="Segoe UI"/>
              </a:rPr>
              <a:t>✦ </a:t>
            </a:r>
            <a:r>
              <a:rPr sz="1300" b="0">
                <a:solidFill>
                  <a:srgbClr val="6ECFF2"/>
                </a:solidFill>
                <a:latin typeface="Segoe UI"/>
              </a:rPr>
              <a:t>✦ </a:t>
            </a:r>
          </a:p>
        </p:txBody>
      </p:sp>
      <p:sp>
        <p:nvSpPr>
          <p:cNvPr id="276" name="TextBox 275"/>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D24B3E"/>
                </a:solidFill>
                <a:latin typeface="Segoe UI"/>
              </a:rPr>
              <a:t>✘ </a:t>
            </a:r>
            <a:r>
              <a:rPr sz="1100" b="1">
                <a:solidFill>
                  <a:srgbClr val="2F6FB0"/>
                </a:solidFill>
                <a:latin typeface="Segoe UI"/>
              </a:rPr>
              <a:t>✔ </a:t>
            </a:r>
            <a:r>
              <a:rPr sz="1100" b="1">
                <a:solidFill>
                  <a:srgbClr val="2F6FB0"/>
                </a:solidFill>
                <a:latin typeface="Segoe UI"/>
              </a:rPr>
              <a:t>✔ </a:t>
            </a:r>
          </a:p>
        </p:txBody>
      </p:sp>
      <p:sp>
        <p:nvSpPr>
          <p:cNvPr id="277" name="Rectangle 276"/>
          <p:cNvSpPr/>
          <p:nvPr/>
        </p:nvSpPr>
        <p:spPr>
          <a:xfrm>
            <a:off x="10215562"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387012"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558462" y="2303274"/>
            <a:ext cx="114300" cy="109522"/>
          </a:xfrm>
          <a:prstGeom prst="rect">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81" name="TextBox 280"/>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282" name="Oval 281"/>
          <p:cNvSpPr/>
          <p:nvPr/>
        </p:nvSpPr>
        <p:spPr>
          <a:xfrm>
            <a:off x="10196512"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Freeform 282"/>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286" name="TextBox 285"/>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South Asia &amp; Pacific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East Asia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9AA0A6"/>
                </a:solidFill>
                <a:latin typeface="Segoe UI"/>
              </a:rPr>
              <a:t>▲</a:t>
            </a:r>
          </a:p>
        </p:txBody>
      </p:sp>
      <p:sp>
        <p:nvSpPr>
          <p:cNvPr id="287" name="Oval 286"/>
          <p:cNvSpPr/>
          <p:nvPr/>
        </p:nvSpPr>
        <p:spPr>
          <a:xfrm>
            <a:off x="100393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289" name="Oval 288"/>
          <p:cNvSpPr/>
          <p:nvPr/>
        </p:nvSpPr>
        <p:spPr>
          <a:xfrm>
            <a:off x="1024890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291" name="Oval 290"/>
          <p:cNvSpPr/>
          <p:nvPr/>
        </p:nvSpPr>
        <p:spPr>
          <a:xfrm>
            <a:off x="10458450"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293" name="Oval 292"/>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295" name="Oval 294"/>
          <p:cNvSpPr/>
          <p:nvPr/>
        </p:nvSpPr>
        <p:spPr>
          <a:xfrm>
            <a:off x="101441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297" name="Oval 296"/>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299" name="Oval 298"/>
          <p:cNvSpPr/>
          <p:nvPr/>
        </p:nvSpPr>
        <p:spPr>
          <a:xfrm>
            <a:off x="10563225"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01" name="TextBox 300"/>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52423"/>
                </a:solidFill>
                <a:latin typeface="Segoe UI"/>
              </a:rPr>
              <a:t>Shanghai Wechem Chemical</a:t>
            </a:r>
          </a:p>
        </p:txBody>
      </p:sp>
      <p:cxnSp>
        <p:nvCxnSpPr>
          <p:cNvPr id="302" name="Connector 301"/>
          <p:cNvCxnSpPr/>
          <p:nvPr/>
        </p:nvCxnSpPr>
        <p:spPr>
          <a:xfrm>
            <a:off x="11291888" y="1509238"/>
            <a:ext cx="457200" cy="0"/>
          </a:xfrm>
          <a:prstGeom prst="line">
            <a:avLst/>
          </a:prstGeom>
          <a:ln w="1905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Segoe UI"/>
              </a:rPr>
              <a:t>Brand J</a:t>
            </a:r>
          </a:p>
        </p:txBody>
      </p:sp>
      <p:sp>
        <p:nvSpPr>
          <p:cNvPr id="304" name="TextBox 303"/>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12558C"/>
                </a:solidFill>
                <a:latin typeface="Segoe UI"/>
              </a:rPr>
              <a:t>✦ </a:t>
            </a:r>
            <a:r>
              <a:rPr sz="1300" b="0">
                <a:solidFill>
                  <a:srgbClr val="5B7C99"/>
                </a:solidFill>
                <a:latin typeface="Segoe UI"/>
              </a:rPr>
              <a:t>✦ </a:t>
            </a:r>
            <a:r>
              <a:rPr sz="1300" b="0">
                <a:solidFill>
                  <a:srgbClr val="D4D7DA"/>
                </a:solidFill>
                <a:latin typeface="Segoe UI"/>
              </a:rPr>
              <a:t>✦ </a:t>
            </a:r>
            <a:r>
              <a:rPr sz="1300" b="0">
                <a:solidFill>
                  <a:srgbClr val="D4D7DA"/>
                </a:solidFill>
                <a:latin typeface="Segoe UI"/>
              </a:rPr>
              <a:t>✦ </a:t>
            </a:r>
          </a:p>
        </p:txBody>
      </p:sp>
      <p:sp>
        <p:nvSpPr>
          <p:cNvPr id="305" name="TextBox 304"/>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2F6FB0"/>
                </a:solidFill>
                <a:latin typeface="Segoe UI"/>
              </a:rPr>
              <a:t>✔ </a:t>
            </a:r>
            <a:r>
              <a:rPr sz="1100" b="1">
                <a:solidFill>
                  <a:srgbClr val="2F6FB0"/>
                </a:solidFill>
                <a:latin typeface="Segoe UI"/>
              </a:rPr>
              <a:t>✔ </a:t>
            </a:r>
            <a:r>
              <a:rPr sz="1100" b="1">
                <a:solidFill>
                  <a:srgbClr val="D24B3E"/>
                </a:solidFill>
                <a:latin typeface="Segoe UI"/>
              </a:rPr>
              <a:t>✘ </a:t>
            </a:r>
          </a:p>
        </p:txBody>
      </p:sp>
      <p:sp>
        <p:nvSpPr>
          <p:cNvPr id="306" name="Rectangle 305"/>
          <p:cNvSpPr/>
          <p:nvPr/>
        </p:nvSpPr>
        <p:spPr>
          <a:xfrm>
            <a:off x="11291888" y="2303274"/>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463338" y="2303274"/>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1634788" y="2303274"/>
            <a:ext cx="114300" cy="109522"/>
          </a:xfrm>
          <a:prstGeom prst="rect">
            <a:avLst/>
          </a:prstGeom>
          <a:solidFill>
            <a:srgbClr val="FFFFFF"/>
          </a:solidFill>
          <a:ln w="12700">
            <a:solidFill>
              <a:srgbClr val="12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310" name="TextBox 309"/>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52423"/>
                </a:solidFill>
                <a:latin typeface="Segoe UI"/>
              </a:rPr>
              <a:t> </a:t>
            </a:r>
          </a:p>
        </p:txBody>
      </p:sp>
      <p:sp>
        <p:nvSpPr>
          <p:cNvPr id="311" name="Oval 310"/>
          <p:cNvSpPr/>
          <p:nvPr/>
        </p:nvSpPr>
        <p:spPr>
          <a:xfrm>
            <a:off x="11272838" y="3416749"/>
            <a:ext cx="495300" cy="474596"/>
          </a:xfrm>
          <a:prstGeom prst="ellipse">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Freeform 311"/>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07BA5"/>
                </a:solidFill>
                <a:latin typeface="Segoe UI"/>
              </a:rPr>
              <a:t> </a:t>
            </a:r>
          </a:p>
        </p:txBody>
      </p:sp>
      <p:sp>
        <p:nvSpPr>
          <p:cNvPr id="315" name="TextBox 314"/>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52423"/>
                </a:solidFill>
                <a:latin typeface="Segoe UI"/>
              </a:rPr>
              <a:t>East Asia  </a:t>
            </a:r>
            <a:r>
              <a:rPr sz="1100" b="1">
                <a:solidFill>
                  <a:srgbClr val="2F6FB0"/>
                </a:solidFill>
                <a:latin typeface="Segoe UI"/>
              </a:rPr>
              <a:t>▲</a:t>
            </a:r>
          </a:p>
          <a:p>
            <a:pPr algn="l">
              <a:lnSpc>
                <a:spcPct val="100000"/>
              </a:lnSpc>
              <a:spcBef>
                <a:spcPts val="0"/>
              </a:spcBef>
              <a:spcAft>
                <a:spcPts val="300"/>
              </a:spcAft>
            </a:pPr>
            <a:r>
              <a:rPr sz="1100" b="0">
                <a:solidFill>
                  <a:srgbClr val="252423"/>
                </a:solidFill>
                <a:latin typeface="Segoe UI"/>
              </a:rPr>
              <a:t>Latin America  </a:t>
            </a:r>
            <a:r>
              <a:rPr sz="1100" b="1">
                <a:solidFill>
                  <a:srgbClr val="E2A828"/>
                </a:solidFill>
                <a:latin typeface="Segoe UI"/>
              </a:rPr>
              <a:t>▲</a:t>
            </a:r>
          </a:p>
          <a:p>
            <a:pPr algn="l">
              <a:lnSpc>
                <a:spcPct val="100000"/>
              </a:lnSpc>
              <a:spcBef>
                <a:spcPts val="0"/>
              </a:spcBef>
              <a:spcAft>
                <a:spcPts val="300"/>
              </a:spcAft>
            </a:pPr>
            <a:r>
              <a:rPr sz="1100" b="0">
                <a:solidFill>
                  <a:srgbClr val="252423"/>
                </a:solidFill>
                <a:latin typeface="Segoe UI"/>
              </a:rPr>
              <a:t>Middle East &amp; Africa  </a:t>
            </a:r>
            <a:r>
              <a:rPr sz="1100" b="1">
                <a:solidFill>
                  <a:srgbClr val="9AA0A6"/>
                </a:solidFill>
                <a:latin typeface="Segoe UI"/>
              </a:rPr>
              <a:t>▲</a:t>
            </a:r>
          </a:p>
        </p:txBody>
      </p:sp>
      <p:sp>
        <p:nvSpPr>
          <p:cNvPr id="316" name="Oval 315"/>
          <p:cNvSpPr/>
          <p:nvPr/>
        </p:nvSpPr>
        <p:spPr>
          <a:xfrm>
            <a:off x="111156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318" name="Oval 317"/>
          <p:cNvSpPr/>
          <p:nvPr/>
        </p:nvSpPr>
        <p:spPr>
          <a:xfrm>
            <a:off x="113252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320" name="Oval 319"/>
          <p:cNvSpPr/>
          <p:nvPr/>
        </p:nvSpPr>
        <p:spPr>
          <a:xfrm>
            <a:off x="1153477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322" name="Oval 321"/>
          <p:cNvSpPr/>
          <p:nvPr/>
        </p:nvSpPr>
        <p:spPr>
          <a:xfrm>
            <a:off x="11744325" y="5173667"/>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324" name="Oval 323"/>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326" name="Oval 325"/>
          <p:cNvSpPr/>
          <p:nvPr/>
        </p:nvSpPr>
        <p:spPr>
          <a:xfrm>
            <a:off x="11430000" y="5392711"/>
            <a:ext cx="180975" cy="173410"/>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328" name="Oval 327"/>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30" name="TextBox 329"/>
          <p:cNvSpPr txBox="1"/>
          <p:nvPr/>
        </p:nvSpPr>
        <p:spPr>
          <a:xfrm>
            <a:off x="285750" y="5716715"/>
            <a:ext cx="1262062" cy="164283"/>
          </a:xfrm>
          <a:prstGeom prst="rect">
            <a:avLst/>
          </a:prstGeom>
          <a:noFill/>
        </p:spPr>
        <p:txBody>
          <a:bodyPr wrap="square" lIns="0" rIns="0" tIns="0" bIns="0" anchor="ctr">
            <a:spAutoFit/>
          </a:bodyPr>
          <a:lstStyle/>
          <a:p>
            <a:pPr algn="l"/>
            <a:r>
              <a:rPr sz="1100" b="1">
                <a:solidFill>
                  <a:srgbClr val="252423"/>
                </a:solidFill>
                <a:latin typeface="Segoe UI"/>
              </a:rPr>
              <a:t>Product Portfolio:</a:t>
            </a:r>
          </a:p>
        </p:txBody>
      </p:sp>
      <p:sp>
        <p:nvSpPr>
          <p:cNvPr id="331" name="Rectangle 330"/>
          <p:cNvSpPr/>
          <p:nvPr/>
        </p:nvSpPr>
        <p:spPr>
          <a:xfrm>
            <a:off x="1528762" y="5744096"/>
            <a:ext cx="114300" cy="109522"/>
          </a:xfrm>
          <a:prstGeom prst="rect">
            <a:avLst/>
          </a:prstGeom>
          <a:solidFill>
            <a:srgbClr val="F2B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1681162" y="5716715"/>
            <a:ext cx="1209675" cy="164283"/>
          </a:xfrm>
          <a:prstGeom prst="rect">
            <a:avLst/>
          </a:prstGeom>
          <a:noFill/>
        </p:spPr>
        <p:txBody>
          <a:bodyPr wrap="square" lIns="0" rIns="0" tIns="0" bIns="0" anchor="ctr">
            <a:spAutoFit/>
          </a:bodyPr>
          <a:lstStyle/>
          <a:p>
            <a:pPr algn="l"/>
            <a:r>
              <a:rPr sz="1100" b="0">
                <a:solidFill>
                  <a:srgbClr val="252423"/>
                </a:solidFill>
                <a:latin typeface="Segoe UI"/>
              </a:rPr>
              <a:t>Gaseous Helium-3</a:t>
            </a:r>
          </a:p>
        </p:txBody>
      </p:sp>
      <p:sp>
        <p:nvSpPr>
          <p:cNvPr id="333" name="Rectangle 332"/>
          <p:cNvSpPr/>
          <p:nvPr/>
        </p:nvSpPr>
        <p:spPr>
          <a:xfrm>
            <a:off x="2947988" y="5744096"/>
            <a:ext cx="114300" cy="109522"/>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3100388" y="5716715"/>
            <a:ext cx="1066800" cy="164283"/>
          </a:xfrm>
          <a:prstGeom prst="rect">
            <a:avLst/>
          </a:prstGeom>
          <a:noFill/>
        </p:spPr>
        <p:txBody>
          <a:bodyPr wrap="square" lIns="0" rIns="0" tIns="0" bIns="0" anchor="ctr">
            <a:spAutoFit/>
          </a:bodyPr>
          <a:lstStyle/>
          <a:p>
            <a:pPr algn="l"/>
            <a:r>
              <a:rPr sz="1100" b="0">
                <a:solidFill>
                  <a:srgbClr val="252423"/>
                </a:solidFill>
                <a:latin typeface="Segoe UI"/>
              </a:rPr>
              <a:t>Liquid Helium-3</a:t>
            </a:r>
          </a:p>
        </p:txBody>
      </p:sp>
      <p:sp>
        <p:nvSpPr>
          <p:cNvPr id="335" name="Rectangle 334"/>
          <p:cNvSpPr/>
          <p:nvPr/>
        </p:nvSpPr>
        <p:spPr>
          <a:xfrm>
            <a:off x="4224338" y="5744096"/>
            <a:ext cx="114300" cy="109522"/>
          </a:xfrm>
          <a:prstGeom prst="rect">
            <a:avLst/>
          </a:prstGeom>
          <a:solidFill>
            <a:srgbClr val="FFFFFF"/>
          </a:solidFill>
          <a:ln w="12700">
            <a:solidFill>
              <a:srgbClr val="605E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4376738" y="5716715"/>
            <a:ext cx="800026" cy="164283"/>
          </a:xfrm>
          <a:prstGeom prst="rect">
            <a:avLst/>
          </a:prstGeom>
          <a:noFill/>
        </p:spPr>
        <p:txBody>
          <a:bodyPr wrap="square" lIns="0" rIns="0" tIns="0" bIns="0" anchor="ctr">
            <a:spAutoFit/>
          </a:bodyPr>
          <a:lstStyle/>
          <a:p>
            <a:pPr algn="l"/>
            <a:r>
              <a:rPr sz="1100" b="0">
                <a:solidFill>
                  <a:srgbClr val="252423"/>
                </a:solidFill>
                <a:latin typeface="Segoe UI"/>
              </a:rPr>
              <a:t>Not offered</a:t>
            </a:r>
          </a:p>
        </p:txBody>
      </p:sp>
      <p:sp>
        <p:nvSpPr>
          <p:cNvPr id="337" name="TextBox 336"/>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2F6FB0"/>
                </a:solidFill>
                <a:latin typeface="Segoe UI"/>
              </a:rPr>
              <a:t>✔</a:t>
            </a:r>
          </a:p>
        </p:txBody>
      </p:sp>
      <p:sp>
        <p:nvSpPr>
          <p:cNvPr id="338" name="TextBox 337"/>
          <p:cNvSpPr txBox="1"/>
          <p:nvPr/>
        </p:nvSpPr>
        <p:spPr>
          <a:xfrm>
            <a:off x="475615" y="5890125"/>
            <a:ext cx="483468" cy="164283"/>
          </a:xfrm>
          <a:prstGeom prst="rect">
            <a:avLst/>
          </a:prstGeom>
          <a:noFill/>
        </p:spPr>
        <p:txBody>
          <a:bodyPr wrap="square" lIns="0" rIns="0" tIns="0" bIns="0" anchor="ctr">
            <a:spAutoFit/>
          </a:bodyPr>
          <a:lstStyle/>
          <a:p>
            <a:pPr algn="l"/>
            <a:r>
              <a:rPr sz="1100" b="0">
                <a:solidFill>
                  <a:srgbClr val="252423"/>
                </a:solidFill>
                <a:latin typeface="Segoe UI"/>
              </a:rPr>
              <a:t>served</a:t>
            </a:r>
          </a:p>
        </p:txBody>
      </p:sp>
      <p:sp>
        <p:nvSpPr>
          <p:cNvPr id="339" name="TextBox 338"/>
          <p:cNvSpPr txBox="1"/>
          <p:nvPr/>
        </p:nvSpPr>
        <p:spPr>
          <a:xfrm>
            <a:off x="940033" y="5890125"/>
            <a:ext cx="208915" cy="164283"/>
          </a:xfrm>
          <a:prstGeom prst="rect">
            <a:avLst/>
          </a:prstGeom>
          <a:noFill/>
        </p:spPr>
        <p:txBody>
          <a:bodyPr wrap="none" lIns="0" rIns="0" tIns="0" bIns="0" anchor="ctr">
            <a:spAutoFit/>
          </a:bodyPr>
          <a:lstStyle/>
          <a:p>
            <a:pPr algn="l"/>
            <a:r>
              <a:rPr sz="1100" b="1">
                <a:solidFill>
                  <a:srgbClr val="D24B3E"/>
                </a:solidFill>
                <a:latin typeface="Segoe UI"/>
              </a:rPr>
              <a:t>✘</a:t>
            </a:r>
          </a:p>
        </p:txBody>
      </p:sp>
      <p:sp>
        <p:nvSpPr>
          <p:cNvPr id="340" name="TextBox 339"/>
          <p:cNvSpPr txBox="1"/>
          <p:nvPr/>
        </p:nvSpPr>
        <p:spPr>
          <a:xfrm>
            <a:off x="1129898" y="5890125"/>
            <a:ext cx="731118" cy="164283"/>
          </a:xfrm>
          <a:prstGeom prst="rect">
            <a:avLst/>
          </a:prstGeom>
          <a:noFill/>
        </p:spPr>
        <p:txBody>
          <a:bodyPr wrap="square" lIns="0" rIns="0" tIns="0" bIns="0" anchor="ctr">
            <a:spAutoFit/>
          </a:bodyPr>
          <a:lstStyle/>
          <a:p>
            <a:pPr algn="l"/>
            <a:r>
              <a:rPr sz="1100" b="0">
                <a:solidFill>
                  <a:srgbClr val="252423"/>
                </a:solidFill>
                <a:latin typeface="Segoe UI"/>
              </a:rPr>
              <a:t>not served</a:t>
            </a:r>
          </a:p>
        </p:txBody>
      </p:sp>
      <p:sp>
        <p:nvSpPr>
          <p:cNvPr id="341" name="TextBox 340"/>
          <p:cNvSpPr txBox="1"/>
          <p:nvPr/>
        </p:nvSpPr>
        <p:spPr>
          <a:xfrm>
            <a:off x="2013416" y="5890125"/>
            <a:ext cx="1323938" cy="164283"/>
          </a:xfrm>
          <a:prstGeom prst="rect">
            <a:avLst/>
          </a:prstGeom>
          <a:noFill/>
        </p:spPr>
        <p:txBody>
          <a:bodyPr wrap="square" lIns="0" rIns="0" tIns="0" bIns="0" anchor="ctr">
            <a:spAutoFit/>
          </a:bodyPr>
          <a:lstStyle/>
          <a:p>
            <a:pPr algn="l"/>
            <a:r>
              <a:rPr sz="1100" b="1">
                <a:solidFill>
                  <a:srgbClr val="252423"/>
                </a:solidFill>
                <a:latin typeface="Segoe UI"/>
              </a:rPr>
              <a:t>Regional presence:</a:t>
            </a:r>
          </a:p>
        </p:txBody>
      </p:sp>
      <p:sp>
        <p:nvSpPr>
          <p:cNvPr id="342" name="TextBox 341"/>
          <p:cNvSpPr txBox="1"/>
          <p:nvPr/>
        </p:nvSpPr>
        <p:spPr>
          <a:xfrm>
            <a:off x="3318304" y="5890125"/>
            <a:ext cx="208915" cy="164283"/>
          </a:xfrm>
          <a:prstGeom prst="rect">
            <a:avLst/>
          </a:prstGeom>
          <a:noFill/>
        </p:spPr>
        <p:txBody>
          <a:bodyPr wrap="none" lIns="0" rIns="0" tIns="0" bIns="0" anchor="ctr">
            <a:spAutoFit/>
          </a:bodyPr>
          <a:lstStyle/>
          <a:p>
            <a:pPr algn="l"/>
            <a:r>
              <a:rPr sz="1100" b="1">
                <a:solidFill>
                  <a:srgbClr val="2F6FB0"/>
                </a:solidFill>
                <a:latin typeface="Segoe UI"/>
              </a:rPr>
              <a:t>▲</a:t>
            </a:r>
          </a:p>
        </p:txBody>
      </p:sp>
      <p:sp>
        <p:nvSpPr>
          <p:cNvPr id="343" name="TextBox 342"/>
          <p:cNvSpPr txBox="1"/>
          <p:nvPr/>
        </p:nvSpPr>
        <p:spPr>
          <a:xfrm>
            <a:off x="3508169" y="5890125"/>
            <a:ext cx="371475" cy="164283"/>
          </a:xfrm>
          <a:prstGeom prst="rect">
            <a:avLst/>
          </a:prstGeom>
          <a:noFill/>
        </p:spPr>
        <p:txBody>
          <a:bodyPr wrap="none" lIns="0" rIns="0" tIns="0" bIns="0" anchor="ctr">
            <a:spAutoFit/>
          </a:bodyPr>
          <a:lstStyle/>
          <a:p>
            <a:pPr algn="l"/>
            <a:r>
              <a:rPr sz="1100" b="0">
                <a:solidFill>
                  <a:srgbClr val="252423"/>
                </a:solidFill>
                <a:latin typeface="Segoe UI"/>
              </a:rPr>
              <a:t>High</a:t>
            </a:r>
          </a:p>
        </p:txBody>
      </p:sp>
      <p:sp>
        <p:nvSpPr>
          <p:cNvPr id="344" name="TextBox 343"/>
          <p:cNvSpPr txBox="1"/>
          <p:nvPr/>
        </p:nvSpPr>
        <p:spPr>
          <a:xfrm>
            <a:off x="3860594" y="5890125"/>
            <a:ext cx="208915" cy="164283"/>
          </a:xfrm>
          <a:prstGeom prst="rect">
            <a:avLst/>
          </a:prstGeom>
          <a:noFill/>
        </p:spPr>
        <p:txBody>
          <a:bodyPr wrap="none" lIns="0" rIns="0" tIns="0" bIns="0" anchor="ctr">
            <a:spAutoFit/>
          </a:bodyPr>
          <a:lstStyle/>
          <a:p>
            <a:pPr algn="l"/>
            <a:r>
              <a:rPr sz="1100" b="1">
                <a:solidFill>
                  <a:srgbClr val="E2A828"/>
                </a:solidFill>
                <a:latin typeface="Segoe UI"/>
              </a:rPr>
              <a:t>▲</a:t>
            </a:r>
          </a:p>
        </p:txBody>
      </p:sp>
      <p:sp>
        <p:nvSpPr>
          <p:cNvPr id="345" name="TextBox 344"/>
          <p:cNvSpPr txBox="1"/>
          <p:nvPr/>
        </p:nvSpPr>
        <p:spPr>
          <a:xfrm>
            <a:off x="4050459" y="5890125"/>
            <a:ext cx="592931" cy="164283"/>
          </a:xfrm>
          <a:prstGeom prst="rect">
            <a:avLst/>
          </a:prstGeom>
          <a:noFill/>
        </p:spPr>
        <p:txBody>
          <a:bodyPr wrap="square" lIns="0" rIns="0" tIns="0" bIns="0" anchor="ctr">
            <a:spAutoFit/>
          </a:bodyPr>
          <a:lstStyle/>
          <a:p>
            <a:pPr algn="l"/>
            <a:r>
              <a:rPr sz="1100" b="0">
                <a:solidFill>
                  <a:srgbClr val="252423"/>
                </a:solidFill>
                <a:latin typeface="Segoe UI"/>
              </a:rPr>
              <a:t>Medium</a:t>
            </a:r>
          </a:p>
        </p:txBody>
      </p:sp>
      <p:sp>
        <p:nvSpPr>
          <p:cNvPr id="346" name="TextBox 345"/>
          <p:cNvSpPr txBox="1"/>
          <p:nvPr/>
        </p:nvSpPr>
        <p:spPr>
          <a:xfrm>
            <a:off x="4624340" y="5890125"/>
            <a:ext cx="208915" cy="164283"/>
          </a:xfrm>
          <a:prstGeom prst="rect">
            <a:avLst/>
          </a:prstGeom>
          <a:noFill/>
        </p:spPr>
        <p:txBody>
          <a:bodyPr wrap="none" lIns="0" rIns="0" tIns="0" bIns="0" anchor="ctr">
            <a:spAutoFit/>
          </a:bodyPr>
          <a:lstStyle/>
          <a:p>
            <a:pPr algn="l"/>
            <a:r>
              <a:rPr sz="1100" b="1">
                <a:solidFill>
                  <a:srgbClr val="9AA0A6"/>
                </a:solidFill>
                <a:latin typeface="Segoe UI"/>
              </a:rPr>
              <a:t>▲</a:t>
            </a:r>
          </a:p>
        </p:txBody>
      </p:sp>
      <p:sp>
        <p:nvSpPr>
          <p:cNvPr id="347" name="TextBox 346"/>
          <p:cNvSpPr txBox="1"/>
          <p:nvPr/>
        </p:nvSpPr>
        <p:spPr>
          <a:xfrm>
            <a:off x="4814205" y="5890125"/>
            <a:ext cx="328612" cy="164283"/>
          </a:xfrm>
          <a:prstGeom prst="rect">
            <a:avLst/>
          </a:prstGeom>
          <a:noFill/>
        </p:spPr>
        <p:txBody>
          <a:bodyPr wrap="none" lIns="0" rIns="0" tIns="0" bIns="0" anchor="ctr">
            <a:spAutoFit/>
          </a:bodyPr>
          <a:lstStyle/>
          <a:p>
            <a:pPr algn="l"/>
            <a:r>
              <a:rPr sz="1100" b="0">
                <a:solidFill>
                  <a:srgbClr val="252423"/>
                </a:solidFill>
                <a:latin typeface="Segoe UI"/>
              </a:rPr>
              <a:t>Low</a:t>
            </a:r>
          </a:p>
        </p:txBody>
      </p:sp>
      <p:sp>
        <p:nvSpPr>
          <p:cNvPr id="348" name="Oval 347"/>
          <p:cNvSpPr/>
          <p:nvPr/>
        </p:nvSpPr>
        <p:spPr>
          <a:xfrm>
            <a:off x="285750"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E</a:t>
            </a:r>
          </a:p>
        </p:txBody>
      </p:sp>
      <p:sp>
        <p:nvSpPr>
          <p:cNvPr id="350" name="TextBox 349"/>
          <p:cNvSpPr txBox="1"/>
          <p:nvPr/>
        </p:nvSpPr>
        <p:spPr>
          <a:xfrm>
            <a:off x="495300" y="6072662"/>
            <a:ext cx="700050" cy="182537"/>
          </a:xfrm>
          <a:prstGeom prst="rect">
            <a:avLst/>
          </a:prstGeom>
          <a:noFill/>
        </p:spPr>
        <p:txBody>
          <a:bodyPr wrap="square" lIns="0" rIns="0" tIns="0" bIns="0" anchor="ctr">
            <a:spAutoFit/>
          </a:bodyPr>
          <a:lstStyle/>
          <a:p>
            <a:pPr algn="l"/>
            <a:r>
              <a:rPr sz="1100" b="0">
                <a:solidFill>
                  <a:srgbClr val="252423"/>
                </a:solidFill>
                <a:latin typeface="Segoe UI"/>
              </a:rPr>
              <a:t>Expansion</a:t>
            </a:r>
          </a:p>
        </p:txBody>
      </p:sp>
      <p:sp>
        <p:nvSpPr>
          <p:cNvPr id="351" name="Oval 350"/>
          <p:cNvSpPr/>
          <p:nvPr/>
        </p:nvSpPr>
        <p:spPr>
          <a:xfrm>
            <a:off x="1290600"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TextBox 351"/>
          <p:cNvSpPr txBox="1"/>
          <p:nvPr/>
        </p:nvSpPr>
        <p:spPr>
          <a:xfrm>
            <a:off x="1290600"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I</a:t>
            </a:r>
          </a:p>
        </p:txBody>
      </p:sp>
      <p:sp>
        <p:nvSpPr>
          <p:cNvPr id="353" name="TextBox 352"/>
          <p:cNvSpPr txBox="1"/>
          <p:nvPr/>
        </p:nvSpPr>
        <p:spPr>
          <a:xfrm>
            <a:off x="1500150" y="6072662"/>
            <a:ext cx="1092994" cy="182537"/>
          </a:xfrm>
          <a:prstGeom prst="rect">
            <a:avLst/>
          </a:prstGeom>
          <a:noFill/>
        </p:spPr>
        <p:txBody>
          <a:bodyPr wrap="square" lIns="0" rIns="0" tIns="0" bIns="0" anchor="ctr">
            <a:spAutoFit/>
          </a:bodyPr>
          <a:lstStyle/>
          <a:p>
            <a:pPr algn="l"/>
            <a:r>
              <a:rPr sz="1100" b="0">
                <a:solidFill>
                  <a:srgbClr val="252423"/>
                </a:solidFill>
                <a:latin typeface="Segoe UI"/>
              </a:rPr>
              <a:t>R&amp;D Investment</a:t>
            </a:r>
          </a:p>
        </p:txBody>
      </p:sp>
      <p:sp>
        <p:nvSpPr>
          <p:cNvPr id="354" name="Oval 353"/>
          <p:cNvSpPr/>
          <p:nvPr/>
        </p:nvSpPr>
        <p:spPr>
          <a:xfrm>
            <a:off x="2688394"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TextBox 354"/>
          <p:cNvSpPr txBox="1"/>
          <p:nvPr/>
        </p:nvSpPr>
        <p:spPr>
          <a:xfrm>
            <a:off x="2688394"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F</a:t>
            </a:r>
          </a:p>
        </p:txBody>
      </p:sp>
      <p:sp>
        <p:nvSpPr>
          <p:cNvPr id="356" name="TextBox 355"/>
          <p:cNvSpPr txBox="1"/>
          <p:nvPr/>
        </p:nvSpPr>
        <p:spPr>
          <a:xfrm>
            <a:off x="2897944" y="6072662"/>
            <a:ext cx="854869" cy="182537"/>
          </a:xfrm>
          <a:prstGeom prst="rect">
            <a:avLst/>
          </a:prstGeom>
          <a:noFill/>
        </p:spPr>
        <p:txBody>
          <a:bodyPr wrap="square" lIns="0" rIns="0" tIns="0" bIns="0" anchor="ctr">
            <a:spAutoFit/>
          </a:bodyPr>
          <a:lstStyle/>
          <a:p>
            <a:pPr algn="l"/>
            <a:r>
              <a:rPr sz="1100" b="0">
                <a:solidFill>
                  <a:srgbClr val="252423"/>
                </a:solidFill>
                <a:latin typeface="Segoe UI"/>
              </a:rPr>
              <a:t>Financial Aid</a:t>
            </a:r>
          </a:p>
        </p:txBody>
      </p:sp>
      <p:sp>
        <p:nvSpPr>
          <p:cNvPr id="357" name="Oval 356"/>
          <p:cNvSpPr/>
          <p:nvPr/>
        </p:nvSpPr>
        <p:spPr>
          <a:xfrm>
            <a:off x="3848063"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3848063"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P</a:t>
            </a:r>
          </a:p>
        </p:txBody>
      </p:sp>
      <p:sp>
        <p:nvSpPr>
          <p:cNvPr id="359" name="TextBox 358"/>
          <p:cNvSpPr txBox="1"/>
          <p:nvPr/>
        </p:nvSpPr>
        <p:spPr>
          <a:xfrm>
            <a:off x="4057613" y="6072662"/>
            <a:ext cx="1433475" cy="182537"/>
          </a:xfrm>
          <a:prstGeom prst="rect">
            <a:avLst/>
          </a:prstGeom>
          <a:noFill/>
        </p:spPr>
        <p:txBody>
          <a:bodyPr wrap="square" lIns="0" rIns="0" tIns="0" bIns="0" anchor="ctr">
            <a:spAutoFit/>
          </a:bodyPr>
          <a:lstStyle/>
          <a:p>
            <a:pPr algn="l"/>
            <a:r>
              <a:rPr sz="1100" b="0">
                <a:solidFill>
                  <a:srgbClr val="252423"/>
                </a:solidFill>
                <a:latin typeface="Segoe UI"/>
              </a:rPr>
              <a:t>Product Development</a:t>
            </a:r>
          </a:p>
        </p:txBody>
      </p:sp>
      <p:sp>
        <p:nvSpPr>
          <p:cNvPr id="360" name="Oval 359"/>
          <p:cNvSpPr/>
          <p:nvPr/>
        </p:nvSpPr>
        <p:spPr>
          <a:xfrm>
            <a:off x="5586338"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5586338"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A</a:t>
            </a:r>
          </a:p>
        </p:txBody>
      </p:sp>
      <p:sp>
        <p:nvSpPr>
          <p:cNvPr id="362" name="TextBox 361"/>
          <p:cNvSpPr txBox="1"/>
          <p:nvPr/>
        </p:nvSpPr>
        <p:spPr>
          <a:xfrm>
            <a:off x="5795888" y="6072662"/>
            <a:ext cx="762000" cy="182537"/>
          </a:xfrm>
          <a:prstGeom prst="rect">
            <a:avLst/>
          </a:prstGeom>
          <a:noFill/>
        </p:spPr>
        <p:txBody>
          <a:bodyPr wrap="square" lIns="0" rIns="0" tIns="0" bIns="0" anchor="ctr">
            <a:spAutoFit/>
          </a:bodyPr>
          <a:lstStyle/>
          <a:p>
            <a:pPr algn="l"/>
            <a:r>
              <a:rPr sz="1100" b="0">
                <a:solidFill>
                  <a:srgbClr val="252423"/>
                </a:solidFill>
                <a:latin typeface="Segoe UI"/>
              </a:rPr>
              <a:t>Acquisition</a:t>
            </a:r>
          </a:p>
        </p:txBody>
      </p:sp>
      <p:sp>
        <p:nvSpPr>
          <p:cNvPr id="363" name="Oval 362"/>
          <p:cNvSpPr/>
          <p:nvPr/>
        </p:nvSpPr>
        <p:spPr>
          <a:xfrm>
            <a:off x="6653138"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TextBox 363"/>
          <p:cNvSpPr txBox="1"/>
          <p:nvPr/>
        </p:nvSpPr>
        <p:spPr>
          <a:xfrm>
            <a:off x="6653138"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L</a:t>
            </a:r>
          </a:p>
        </p:txBody>
      </p:sp>
      <p:sp>
        <p:nvSpPr>
          <p:cNvPr id="365" name="TextBox 364"/>
          <p:cNvSpPr txBox="1"/>
          <p:nvPr/>
        </p:nvSpPr>
        <p:spPr>
          <a:xfrm>
            <a:off x="6862688" y="6072662"/>
            <a:ext cx="1038188" cy="182537"/>
          </a:xfrm>
          <a:prstGeom prst="rect">
            <a:avLst/>
          </a:prstGeom>
          <a:noFill/>
        </p:spPr>
        <p:txBody>
          <a:bodyPr wrap="square" lIns="0" rIns="0" tIns="0" bIns="0" anchor="ctr">
            <a:spAutoFit/>
          </a:bodyPr>
          <a:lstStyle/>
          <a:p>
            <a:pPr algn="l"/>
            <a:r>
              <a:rPr sz="1100" b="0">
                <a:solidFill>
                  <a:srgbClr val="252423"/>
                </a:solidFill>
                <a:latin typeface="Segoe UI"/>
              </a:rPr>
              <a:t>Product Launch</a:t>
            </a:r>
          </a:p>
        </p:txBody>
      </p:sp>
      <p:sp>
        <p:nvSpPr>
          <p:cNvPr id="366" name="Oval 365"/>
          <p:cNvSpPr/>
          <p:nvPr/>
        </p:nvSpPr>
        <p:spPr>
          <a:xfrm>
            <a:off x="7996126" y="6081789"/>
            <a:ext cx="171450" cy="164283"/>
          </a:xfrm>
          <a:prstGeom prst="ellipse">
            <a:avLst/>
          </a:prstGeom>
          <a:solidFill>
            <a:srgbClr val="12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TextBox 366"/>
          <p:cNvSpPr txBox="1"/>
          <p:nvPr/>
        </p:nvSpPr>
        <p:spPr>
          <a:xfrm>
            <a:off x="7996126" y="6081789"/>
            <a:ext cx="171450" cy="164283"/>
          </a:xfrm>
          <a:prstGeom prst="rect">
            <a:avLst/>
          </a:prstGeom>
          <a:noFill/>
        </p:spPr>
        <p:txBody>
          <a:bodyPr wrap="none" lIns="0" rIns="0" tIns="0" bIns="0" anchor="ctr">
            <a:spAutoFit/>
          </a:bodyPr>
          <a:lstStyle/>
          <a:p>
            <a:pPr algn="ctr"/>
            <a:r>
              <a:rPr sz="1100" b="1">
                <a:solidFill>
                  <a:srgbClr val="FFFFFF"/>
                </a:solidFill>
                <a:latin typeface="Segoe UI"/>
              </a:rPr>
              <a:t>C</a:t>
            </a:r>
          </a:p>
        </p:txBody>
      </p:sp>
      <p:sp>
        <p:nvSpPr>
          <p:cNvPr id="368" name="TextBox 367"/>
          <p:cNvSpPr txBox="1"/>
          <p:nvPr/>
        </p:nvSpPr>
        <p:spPr>
          <a:xfrm>
            <a:off x="8205676" y="6072662"/>
            <a:ext cx="823987" cy="182537"/>
          </a:xfrm>
          <a:prstGeom prst="rect">
            <a:avLst/>
          </a:prstGeom>
          <a:noFill/>
        </p:spPr>
        <p:txBody>
          <a:bodyPr wrap="square" lIns="0" rIns="0" tIns="0" bIns="0" anchor="ctr">
            <a:spAutoFit/>
          </a:bodyPr>
          <a:lstStyle/>
          <a:p>
            <a:pPr algn="l"/>
            <a:r>
              <a:rPr sz="1100" b="0">
                <a:solidFill>
                  <a:srgbClr val="252423"/>
                </a:solidFill>
                <a:latin typeface="Segoe UI"/>
              </a:rPr>
              <a:t>Certification</a:t>
            </a:r>
          </a:p>
        </p:txBody>
      </p:sp>
      <p:sp>
        <p:nvSpPr>
          <p:cNvPr id="369" name="TextBox 368"/>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B06A2C"/>
                </a:solidFill>
                <a:latin typeface="Segoe UI"/>
              </a:rPr>
              <a:t>Note: Market Share indicates the contribution of target revenue in Market</a:t>
            </a:r>
          </a:p>
        </p:txBody>
      </p:sp>
      <p:sp>
        <p:nvSpPr>
          <p:cNvPr id="370" name="TextBox 369"/>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B06A2C"/>
                </a:solidFill>
                <a:latin typeface="Segoe UI"/>
              </a:rPr>
              <a:t>Revenue represents sales of the company from target market</a:t>
            </a:r>
          </a:p>
        </p:txBody>
      </p:sp>
      <p:sp>
        <p:nvSpPr>
          <p:cNvPr id="371" name="TextBox 37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372" name="Picture 371" descr="lock.png"/>
          <p:cNvPicPr>
            <a:picLocks noChangeAspect="1"/>
          </p:cNvPicPr>
          <p:nvPr/>
        </p:nvPicPr>
        <p:blipFill>
          <a:blip r:embed="rId4"/>
          <a:stretch>
            <a:fillRect/>
          </a:stretch>
        </p:blipFill>
        <p:spPr>
          <a:xfrm>
            <a:off x="1769213" y="2702524"/>
            <a:ext cx="128699" cy="187198"/>
          </a:xfrm>
          <a:prstGeom prst="rect">
            <a:avLst/>
          </a:prstGeom>
        </p:spPr>
      </p:pic>
      <p:pic>
        <p:nvPicPr>
          <p:cNvPr id="373" name="Picture 372" descr="lock.png"/>
          <p:cNvPicPr>
            <a:picLocks noChangeAspect="1"/>
          </p:cNvPicPr>
          <p:nvPr/>
        </p:nvPicPr>
        <p:blipFill>
          <a:blip r:embed="rId4"/>
          <a:stretch>
            <a:fillRect/>
          </a:stretch>
        </p:blipFill>
        <p:spPr>
          <a:xfrm>
            <a:off x="1769213" y="3031091"/>
            <a:ext cx="128699" cy="187198"/>
          </a:xfrm>
          <a:prstGeom prst="rect">
            <a:avLst/>
          </a:prstGeom>
        </p:spPr>
      </p:pic>
      <p:pic>
        <p:nvPicPr>
          <p:cNvPr id="374" name="Picture 373" descr="lock.png"/>
          <p:cNvPicPr>
            <a:picLocks noChangeAspect="1"/>
          </p:cNvPicPr>
          <p:nvPr/>
        </p:nvPicPr>
        <p:blipFill>
          <a:blip r:embed="rId4"/>
          <a:stretch>
            <a:fillRect/>
          </a:stretch>
        </p:blipFill>
        <p:spPr>
          <a:xfrm>
            <a:off x="1769212" y="3560448"/>
            <a:ext cx="128699" cy="187198"/>
          </a:xfrm>
          <a:prstGeom prst="rect">
            <a:avLst/>
          </a:prstGeom>
        </p:spPr>
      </p:pic>
      <p:pic>
        <p:nvPicPr>
          <p:cNvPr id="375" name="Picture 374" descr="lock.png"/>
          <p:cNvPicPr>
            <a:picLocks noChangeAspect="1"/>
          </p:cNvPicPr>
          <p:nvPr/>
        </p:nvPicPr>
        <p:blipFill>
          <a:blip r:embed="rId4"/>
          <a:stretch>
            <a:fillRect/>
          </a:stretch>
        </p:blipFill>
        <p:spPr>
          <a:xfrm>
            <a:off x="2845538" y="2702524"/>
            <a:ext cx="128699" cy="187198"/>
          </a:xfrm>
          <a:prstGeom prst="rect">
            <a:avLst/>
          </a:prstGeom>
        </p:spPr>
      </p:pic>
      <p:pic>
        <p:nvPicPr>
          <p:cNvPr id="376" name="Picture 375" descr="lock.png"/>
          <p:cNvPicPr>
            <a:picLocks noChangeAspect="1"/>
          </p:cNvPicPr>
          <p:nvPr/>
        </p:nvPicPr>
        <p:blipFill>
          <a:blip r:embed="rId4"/>
          <a:stretch>
            <a:fillRect/>
          </a:stretch>
        </p:blipFill>
        <p:spPr>
          <a:xfrm>
            <a:off x="2845538" y="3031091"/>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3560448"/>
            <a:ext cx="128699" cy="187198"/>
          </a:xfrm>
          <a:prstGeom prst="rect">
            <a:avLst/>
          </a:prstGeom>
        </p:spPr>
      </p:pic>
      <p:pic>
        <p:nvPicPr>
          <p:cNvPr id="378" name="Picture 377" descr="lock.png"/>
          <p:cNvPicPr>
            <a:picLocks noChangeAspect="1"/>
          </p:cNvPicPr>
          <p:nvPr/>
        </p:nvPicPr>
        <p:blipFill>
          <a:blip r:embed="rId4"/>
          <a:stretch>
            <a:fillRect/>
          </a:stretch>
        </p:blipFill>
        <p:spPr>
          <a:xfrm>
            <a:off x="3921863" y="2702524"/>
            <a:ext cx="128699" cy="187198"/>
          </a:xfrm>
          <a:prstGeom prst="rect">
            <a:avLst/>
          </a:prstGeom>
        </p:spPr>
      </p:pic>
      <p:pic>
        <p:nvPicPr>
          <p:cNvPr id="379" name="Picture 378" descr="lock.png"/>
          <p:cNvPicPr>
            <a:picLocks noChangeAspect="1"/>
          </p:cNvPicPr>
          <p:nvPr/>
        </p:nvPicPr>
        <p:blipFill>
          <a:blip r:embed="rId4"/>
          <a:stretch>
            <a:fillRect/>
          </a:stretch>
        </p:blipFill>
        <p:spPr>
          <a:xfrm>
            <a:off x="3921863" y="3031091"/>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2" y="3560448"/>
            <a:ext cx="128699" cy="187198"/>
          </a:xfrm>
          <a:prstGeom prst="rect">
            <a:avLst/>
          </a:prstGeom>
        </p:spPr>
      </p:pic>
      <p:pic>
        <p:nvPicPr>
          <p:cNvPr id="381" name="Picture 380" descr="lock.png"/>
          <p:cNvPicPr>
            <a:picLocks noChangeAspect="1"/>
          </p:cNvPicPr>
          <p:nvPr/>
        </p:nvPicPr>
        <p:blipFill>
          <a:blip r:embed="rId4"/>
          <a:stretch>
            <a:fillRect/>
          </a:stretch>
        </p:blipFill>
        <p:spPr>
          <a:xfrm>
            <a:off x="4998188" y="2702524"/>
            <a:ext cx="128699" cy="187198"/>
          </a:xfrm>
          <a:prstGeom prst="rect">
            <a:avLst/>
          </a:prstGeom>
        </p:spPr>
      </p:pic>
      <p:pic>
        <p:nvPicPr>
          <p:cNvPr id="382" name="Picture 381" descr="lock.png"/>
          <p:cNvPicPr>
            <a:picLocks noChangeAspect="1"/>
          </p:cNvPicPr>
          <p:nvPr/>
        </p:nvPicPr>
        <p:blipFill>
          <a:blip r:embed="rId4"/>
          <a:stretch>
            <a:fillRect/>
          </a:stretch>
        </p:blipFill>
        <p:spPr>
          <a:xfrm>
            <a:off x="4998188" y="3031091"/>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3560448"/>
            <a:ext cx="128699" cy="187198"/>
          </a:xfrm>
          <a:prstGeom prst="rect">
            <a:avLst/>
          </a:prstGeom>
        </p:spPr>
      </p:pic>
      <p:pic>
        <p:nvPicPr>
          <p:cNvPr id="384" name="Picture 383" descr="lock.png"/>
          <p:cNvPicPr>
            <a:picLocks noChangeAspect="1"/>
          </p:cNvPicPr>
          <p:nvPr/>
        </p:nvPicPr>
        <p:blipFill>
          <a:blip r:embed="rId4"/>
          <a:stretch>
            <a:fillRect/>
          </a:stretch>
        </p:blipFill>
        <p:spPr>
          <a:xfrm>
            <a:off x="6074513" y="2702524"/>
            <a:ext cx="128699" cy="187198"/>
          </a:xfrm>
          <a:prstGeom prst="rect">
            <a:avLst/>
          </a:prstGeom>
        </p:spPr>
      </p:pic>
      <p:pic>
        <p:nvPicPr>
          <p:cNvPr id="385" name="Picture 384" descr="lock.png"/>
          <p:cNvPicPr>
            <a:picLocks noChangeAspect="1"/>
          </p:cNvPicPr>
          <p:nvPr/>
        </p:nvPicPr>
        <p:blipFill>
          <a:blip r:embed="rId4"/>
          <a:stretch>
            <a:fillRect/>
          </a:stretch>
        </p:blipFill>
        <p:spPr>
          <a:xfrm>
            <a:off x="6074513" y="3031091"/>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2" y="3560448"/>
            <a:ext cx="128699" cy="187198"/>
          </a:xfrm>
          <a:prstGeom prst="rect">
            <a:avLst/>
          </a:prstGeom>
        </p:spPr>
      </p:pic>
      <p:pic>
        <p:nvPicPr>
          <p:cNvPr id="387" name="Picture 386" descr="lock.png"/>
          <p:cNvPicPr>
            <a:picLocks noChangeAspect="1"/>
          </p:cNvPicPr>
          <p:nvPr/>
        </p:nvPicPr>
        <p:blipFill>
          <a:blip r:embed="rId4"/>
          <a:stretch>
            <a:fillRect/>
          </a:stretch>
        </p:blipFill>
        <p:spPr>
          <a:xfrm>
            <a:off x="7150838" y="2702524"/>
            <a:ext cx="128699" cy="187198"/>
          </a:xfrm>
          <a:prstGeom prst="rect">
            <a:avLst/>
          </a:prstGeom>
        </p:spPr>
      </p:pic>
      <p:pic>
        <p:nvPicPr>
          <p:cNvPr id="388" name="Picture 387" descr="lock.png"/>
          <p:cNvPicPr>
            <a:picLocks noChangeAspect="1"/>
          </p:cNvPicPr>
          <p:nvPr/>
        </p:nvPicPr>
        <p:blipFill>
          <a:blip r:embed="rId4"/>
          <a:stretch>
            <a:fillRect/>
          </a:stretch>
        </p:blipFill>
        <p:spPr>
          <a:xfrm>
            <a:off x="7150838" y="3031091"/>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3560448"/>
            <a:ext cx="128699" cy="187198"/>
          </a:xfrm>
          <a:prstGeom prst="rect">
            <a:avLst/>
          </a:prstGeom>
        </p:spPr>
      </p:pic>
      <p:pic>
        <p:nvPicPr>
          <p:cNvPr id="390" name="Picture 389" descr="lock.png"/>
          <p:cNvPicPr>
            <a:picLocks noChangeAspect="1"/>
          </p:cNvPicPr>
          <p:nvPr/>
        </p:nvPicPr>
        <p:blipFill>
          <a:blip r:embed="rId4"/>
          <a:stretch>
            <a:fillRect/>
          </a:stretch>
        </p:blipFill>
        <p:spPr>
          <a:xfrm>
            <a:off x="8227163" y="2702524"/>
            <a:ext cx="128699" cy="187198"/>
          </a:xfrm>
          <a:prstGeom prst="rect">
            <a:avLst/>
          </a:prstGeom>
        </p:spPr>
      </p:pic>
      <p:pic>
        <p:nvPicPr>
          <p:cNvPr id="391" name="Picture 390" descr="lock.png"/>
          <p:cNvPicPr>
            <a:picLocks noChangeAspect="1"/>
          </p:cNvPicPr>
          <p:nvPr/>
        </p:nvPicPr>
        <p:blipFill>
          <a:blip r:embed="rId4"/>
          <a:stretch>
            <a:fillRect/>
          </a:stretch>
        </p:blipFill>
        <p:spPr>
          <a:xfrm>
            <a:off x="8227163" y="3031091"/>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2" y="3560448"/>
            <a:ext cx="128699" cy="187198"/>
          </a:xfrm>
          <a:prstGeom prst="rect">
            <a:avLst/>
          </a:prstGeom>
        </p:spPr>
      </p:pic>
      <p:pic>
        <p:nvPicPr>
          <p:cNvPr id="393" name="Picture 392" descr="lock.png"/>
          <p:cNvPicPr>
            <a:picLocks noChangeAspect="1"/>
          </p:cNvPicPr>
          <p:nvPr/>
        </p:nvPicPr>
        <p:blipFill>
          <a:blip r:embed="rId4"/>
          <a:stretch>
            <a:fillRect/>
          </a:stretch>
        </p:blipFill>
        <p:spPr>
          <a:xfrm>
            <a:off x="9303488" y="2702524"/>
            <a:ext cx="128699" cy="187198"/>
          </a:xfrm>
          <a:prstGeom prst="rect">
            <a:avLst/>
          </a:prstGeom>
        </p:spPr>
      </p:pic>
      <p:pic>
        <p:nvPicPr>
          <p:cNvPr id="394" name="Picture 393" descr="lock.png"/>
          <p:cNvPicPr>
            <a:picLocks noChangeAspect="1"/>
          </p:cNvPicPr>
          <p:nvPr/>
        </p:nvPicPr>
        <p:blipFill>
          <a:blip r:embed="rId4"/>
          <a:stretch>
            <a:fillRect/>
          </a:stretch>
        </p:blipFill>
        <p:spPr>
          <a:xfrm>
            <a:off x="9303488" y="3031091"/>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3560448"/>
            <a:ext cx="128699" cy="187198"/>
          </a:xfrm>
          <a:prstGeom prst="rect">
            <a:avLst/>
          </a:prstGeom>
        </p:spPr>
      </p:pic>
      <p:pic>
        <p:nvPicPr>
          <p:cNvPr id="396" name="Picture 395" descr="lock.png"/>
          <p:cNvPicPr>
            <a:picLocks noChangeAspect="1"/>
          </p:cNvPicPr>
          <p:nvPr/>
        </p:nvPicPr>
        <p:blipFill>
          <a:blip r:embed="rId4"/>
          <a:stretch>
            <a:fillRect/>
          </a:stretch>
        </p:blipFill>
        <p:spPr>
          <a:xfrm>
            <a:off x="10379813" y="2702524"/>
            <a:ext cx="128699" cy="187198"/>
          </a:xfrm>
          <a:prstGeom prst="rect">
            <a:avLst/>
          </a:prstGeom>
        </p:spPr>
      </p:pic>
      <p:pic>
        <p:nvPicPr>
          <p:cNvPr id="397" name="Picture 396" descr="lock.png"/>
          <p:cNvPicPr>
            <a:picLocks noChangeAspect="1"/>
          </p:cNvPicPr>
          <p:nvPr/>
        </p:nvPicPr>
        <p:blipFill>
          <a:blip r:embed="rId4"/>
          <a:stretch>
            <a:fillRect/>
          </a:stretch>
        </p:blipFill>
        <p:spPr>
          <a:xfrm>
            <a:off x="10379813" y="3031091"/>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2" y="3560448"/>
            <a:ext cx="128699" cy="187198"/>
          </a:xfrm>
          <a:prstGeom prst="rect">
            <a:avLst/>
          </a:prstGeom>
        </p:spPr>
      </p:pic>
      <p:pic>
        <p:nvPicPr>
          <p:cNvPr id="399" name="Picture 398" descr="lock.png"/>
          <p:cNvPicPr>
            <a:picLocks noChangeAspect="1"/>
          </p:cNvPicPr>
          <p:nvPr/>
        </p:nvPicPr>
        <p:blipFill>
          <a:blip r:embed="rId4"/>
          <a:stretch>
            <a:fillRect/>
          </a:stretch>
        </p:blipFill>
        <p:spPr>
          <a:xfrm>
            <a:off x="11456138" y="2702524"/>
            <a:ext cx="128699" cy="187198"/>
          </a:xfrm>
          <a:prstGeom prst="rect">
            <a:avLst/>
          </a:prstGeom>
        </p:spPr>
      </p:pic>
      <p:pic>
        <p:nvPicPr>
          <p:cNvPr id="400" name="Picture 399" descr="lock.png"/>
          <p:cNvPicPr>
            <a:picLocks noChangeAspect="1"/>
          </p:cNvPicPr>
          <p:nvPr/>
        </p:nvPicPr>
        <p:blipFill>
          <a:blip r:embed="rId4"/>
          <a:stretch>
            <a:fillRect/>
          </a:stretch>
        </p:blipFill>
        <p:spPr>
          <a:xfrm>
            <a:off x="11456138" y="3031091"/>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Advice for Market Vendors / Suppliers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Strategic advice for vendors and suppliers on pricing, product, geography, channel and competitive risk</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Strategic advice for vendors and suppliers where to compete, how to price, and which risks to manage across the Helium-3 Market.</a:t>
            </a:r>
          </a:p>
        </p:txBody>
      </p:sp>
      <p:sp>
        <p:nvSpPr>
          <p:cNvPr id="9" name="Rectangle 8"/>
          <p:cNvSpPr/>
          <p:nvPr/>
        </p:nvSpPr>
        <p:spPr>
          <a:xfrm>
            <a:off x="142875" y="1354081"/>
            <a:ext cx="5857875"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07BA5"/>
                </a:solidFill>
                <a:latin typeface="Segoe UI"/>
              </a:rPr>
              <a:t>Pricing &amp; Margin Strategy</a:t>
            </a:r>
          </a:p>
        </p:txBody>
      </p:sp>
      <p:sp>
        <p:nvSpPr>
          <p:cNvPr id="11" name="Rectangle 10"/>
          <p:cNvSpPr/>
          <p:nvPr/>
        </p:nvSpPr>
        <p:spPr>
          <a:xfrm>
            <a:off x="276225" y="1677931"/>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3" name="Rectangle 12"/>
          <p:cNvSpPr/>
          <p:nvPr/>
        </p:nvSpPr>
        <p:spPr>
          <a:xfrm>
            <a:off x="6191250" y="1354081"/>
            <a:ext cx="5857875" cy="26011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07BA5"/>
                </a:solidFill>
                <a:latin typeface="Segoe UI"/>
              </a:rPr>
              <a:t>Product &amp; Innovation</a:t>
            </a:r>
          </a:p>
        </p:txBody>
      </p:sp>
      <p:sp>
        <p:nvSpPr>
          <p:cNvPr id="15" name="Rectangle 14"/>
          <p:cNvSpPr/>
          <p:nvPr/>
        </p:nvSpPr>
        <p:spPr>
          <a:xfrm>
            <a:off x="6324600" y="1677931"/>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7" name="Rectangle 16"/>
          <p:cNvSpPr/>
          <p:nvPr/>
        </p:nvSpPr>
        <p:spPr>
          <a:xfrm>
            <a:off x="142875" y="4046502"/>
            <a:ext cx="5857875" cy="250988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07BA5"/>
                </a:solidFill>
                <a:latin typeface="Segoe UI"/>
              </a:rPr>
              <a:t>Geographic &amp; Channel Expansion</a:t>
            </a:r>
          </a:p>
        </p:txBody>
      </p:sp>
      <p:sp>
        <p:nvSpPr>
          <p:cNvPr id="19" name="Rectangle 18"/>
          <p:cNvSpPr/>
          <p:nvPr/>
        </p:nvSpPr>
        <p:spPr>
          <a:xfrm>
            <a:off x="276225" y="4370352"/>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retail, hospital/clinic and online channels online is the fastest-shifting route to end customers.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Build reliable distribution and logistics partnerships to convert demand into fulfilled volume.</a:t>
            </a:r>
          </a:p>
        </p:txBody>
      </p:sp>
      <p:sp>
        <p:nvSpPr>
          <p:cNvPr id="21" name="Rectangle 20"/>
          <p:cNvSpPr/>
          <p:nvPr/>
        </p:nvSpPr>
        <p:spPr>
          <a:xfrm>
            <a:off x="6191250" y="4046502"/>
            <a:ext cx="5857875" cy="2509883"/>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07BA5"/>
                </a:solidFill>
                <a:latin typeface="Segoe UI"/>
              </a:rPr>
              <a:t>Competitive &amp; Risk Positioning</a:t>
            </a:r>
          </a:p>
        </p:txBody>
      </p:sp>
      <p:sp>
        <p:nvSpPr>
          <p:cNvPr id="23" name="Rectangle 22"/>
          <p:cNvSpPr/>
          <p:nvPr/>
        </p:nvSpPr>
        <p:spPr>
          <a:xfrm>
            <a:off x="6324600" y="4370352"/>
            <a:ext cx="559117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26" name="TextBox 25"/>
          <p:cNvSpPr txBox="1"/>
          <p:nvPr/>
        </p:nvSpPr>
        <p:spPr>
          <a:xfrm>
            <a:off x="276225" y="1773181"/>
            <a:ext cx="3506623" cy="194310"/>
          </a:xfrm>
          <a:prstGeom prst="rect">
            <a:avLst/>
          </a:prstGeom>
          <a:noFill/>
        </p:spPr>
        <p:txBody>
          <a:bodyPr wrap="none" lIns="0" rIns="0" tIns="0" bIns="0">
            <a:spAutoFit/>
          </a:bodyPr>
          <a:lstStyle/>
          <a:p>
            <a:r>
              <a:rPr sz="1150" b="0">
                <a:solidFill>
                  <a:srgbClr val="252423"/>
                </a:solidFill>
                <a:latin typeface="Segoe U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732002" y="1762957"/>
            <a:ext cx="134549" cy="195707"/>
          </a:xfrm>
          <a:prstGeom prst="rect">
            <a:avLst/>
          </a:prstGeom>
        </p:spPr>
      </p:pic>
      <p:sp>
        <p:nvSpPr>
          <p:cNvPr id="28" name="TextBox 27"/>
          <p:cNvSpPr txBox="1"/>
          <p:nvPr/>
        </p:nvSpPr>
        <p:spPr>
          <a:xfrm>
            <a:off x="3907111" y="1773181"/>
            <a:ext cx="845485" cy="194310"/>
          </a:xfrm>
          <a:prstGeom prst="rect">
            <a:avLst/>
          </a:prstGeom>
          <a:noFill/>
        </p:spPr>
        <p:txBody>
          <a:bodyPr wrap="none" lIns="0" rIns="0" tIns="0" bIns="0">
            <a:spAutoFit/>
          </a:bodyPr>
          <a:lstStyle/>
          <a:p>
            <a:r>
              <a:rPr sz="1150" b="0">
                <a:solidFill>
                  <a:srgbClr val="252423"/>
                </a:solidFill>
                <a:latin typeface="Segoe UI"/>
              </a:rPr>
              <a:t>share, avoid</a:t>
            </a:r>
          </a:p>
        </p:txBody>
      </p:sp>
      <p:sp>
        <p:nvSpPr>
          <p:cNvPr id="29" name="TextBox 28"/>
          <p:cNvSpPr txBox="1"/>
          <p:nvPr/>
        </p:nvSpPr>
        <p:spPr>
          <a:xfrm>
            <a:off x="276225" y="1948441"/>
            <a:ext cx="5088133" cy="194310"/>
          </a:xfrm>
          <a:prstGeom prst="rect">
            <a:avLst/>
          </a:prstGeom>
          <a:noFill/>
        </p:spPr>
        <p:txBody>
          <a:bodyPr wrap="none" lIns="0" rIns="0" tIns="0" bIns="0">
            <a:spAutoFit/>
          </a:bodyPr>
          <a:lstStyle/>
          <a:p>
            <a:r>
              <a:rPr sz="1150" b="0">
                <a:solidFill>
                  <a:srgbClr val="252423"/>
                </a:solidFill>
                <a:latin typeface="Segoe UI"/>
              </a:rPr>
              <a:t>value-destructive discounting compete on mix and service, not headline price.</a:t>
            </a:r>
          </a:p>
        </p:txBody>
      </p:sp>
      <p:sp>
        <p:nvSpPr>
          <p:cNvPr id="30" name="TextBox 29"/>
          <p:cNvSpPr txBox="1"/>
          <p:nvPr/>
        </p:nvSpPr>
        <p:spPr>
          <a:xfrm>
            <a:off x="276225" y="2176279"/>
            <a:ext cx="5141493" cy="194310"/>
          </a:xfrm>
          <a:prstGeom prst="rect">
            <a:avLst/>
          </a:prstGeom>
          <a:noFill/>
        </p:spPr>
        <p:txBody>
          <a:bodyPr wrap="none" lIns="0" rIns="0" tIns="0" bIns="0">
            <a:spAutoFit/>
          </a:bodyPr>
          <a:lstStyle/>
          <a:p>
            <a:r>
              <a:rPr sz="1150" b="0">
                <a:solidFill>
                  <a:srgbClr val="252423"/>
                </a:solidFill>
                <a:latin typeface="Segoe UI"/>
              </a:rPr>
              <a:t>▪ Premiumise toward higher-value formulations (e.g. 'Gaseous Helium-3') to lift</a:t>
            </a:r>
          </a:p>
        </p:txBody>
      </p:sp>
      <p:sp>
        <p:nvSpPr>
          <p:cNvPr id="31" name="TextBox 30"/>
          <p:cNvSpPr txBox="1"/>
          <p:nvPr/>
        </p:nvSpPr>
        <p:spPr>
          <a:xfrm>
            <a:off x="276225" y="2351539"/>
            <a:ext cx="3519170" cy="194310"/>
          </a:xfrm>
          <a:prstGeom prst="rect">
            <a:avLst/>
          </a:prstGeom>
          <a:noFill/>
        </p:spPr>
        <p:txBody>
          <a:bodyPr wrap="none" lIns="0" rIns="0" tIns="0" bIns="0">
            <a:spAutoFit/>
          </a:bodyPr>
          <a:lstStyle/>
          <a:p>
            <a:r>
              <a:rPr sz="1150" b="0">
                <a:solidFill>
                  <a:srgbClr val="252423"/>
                </a:solidFill>
                <a:latin typeface="Segoe UI"/>
              </a:rPr>
              <a:t>blended ASP and defend margin as input costs move.</a:t>
            </a:r>
          </a:p>
        </p:txBody>
      </p:sp>
      <p:sp>
        <p:nvSpPr>
          <p:cNvPr id="32" name="TextBox 31"/>
          <p:cNvSpPr txBox="1"/>
          <p:nvPr/>
        </p:nvSpPr>
        <p:spPr>
          <a:xfrm>
            <a:off x="276225" y="2579377"/>
            <a:ext cx="5212976" cy="194310"/>
          </a:xfrm>
          <a:prstGeom prst="rect">
            <a:avLst/>
          </a:prstGeom>
          <a:noFill/>
        </p:spPr>
        <p:txBody>
          <a:bodyPr wrap="none" lIns="0" rIns="0" tIns="0" bIns="0">
            <a:spAutoFit/>
          </a:bodyPr>
          <a:lstStyle/>
          <a:p>
            <a:r>
              <a:rPr sz="1150" b="0">
                <a:solidFill>
                  <a:srgbClr val="252423"/>
                </a:solidFill>
                <a:latin typeface="Segoe UI"/>
              </a:rPr>
              <a:t>▪ Set transparent, corridor-based regional pricing to limit grey-market arbitrage.</a:t>
            </a:r>
          </a:p>
        </p:txBody>
      </p:sp>
      <p:sp>
        <p:nvSpPr>
          <p:cNvPr id="33" name="TextBox 32"/>
          <p:cNvSpPr txBox="1"/>
          <p:nvPr/>
        </p:nvSpPr>
        <p:spPr>
          <a:xfrm>
            <a:off x="6324600" y="1773181"/>
            <a:ext cx="5400303" cy="194310"/>
          </a:xfrm>
          <a:prstGeom prst="rect">
            <a:avLst/>
          </a:prstGeom>
          <a:noFill/>
        </p:spPr>
        <p:txBody>
          <a:bodyPr wrap="none" lIns="0" rIns="0" tIns="0" bIns="0">
            <a:spAutoFit/>
          </a:bodyPr>
          <a:lstStyle/>
          <a:p>
            <a:r>
              <a:rPr sz="1150" b="0">
                <a:solidFill>
                  <a:srgbClr val="252423"/>
                </a:solidFill>
                <a:latin typeface="Segoe UI"/>
              </a:rPr>
              <a:t>▪ Prioritise R&amp;D in the fastest-growing formulations a differentiated portfolio is the</a:t>
            </a:r>
          </a:p>
        </p:txBody>
      </p:sp>
      <p:sp>
        <p:nvSpPr>
          <p:cNvPr id="34" name="TextBox 33"/>
          <p:cNvSpPr txBox="1"/>
          <p:nvPr/>
        </p:nvSpPr>
        <p:spPr>
          <a:xfrm>
            <a:off x="6324600" y="1948441"/>
            <a:ext cx="2365964" cy="194310"/>
          </a:xfrm>
          <a:prstGeom prst="rect">
            <a:avLst/>
          </a:prstGeom>
          <a:noFill/>
        </p:spPr>
        <p:txBody>
          <a:bodyPr wrap="none" lIns="0" rIns="0" tIns="0" bIns="0">
            <a:spAutoFit/>
          </a:bodyPr>
          <a:lstStyle/>
          <a:p>
            <a:r>
              <a:rPr sz="1150" b="0">
                <a:solidFill>
                  <a:srgbClr val="252423"/>
                </a:solidFill>
                <a:latin typeface="Segoe UI"/>
              </a:rPr>
              <a:t>clearest route to out-growing the ~</a:t>
            </a:r>
          </a:p>
        </p:txBody>
      </p:sp>
      <p:pic>
        <p:nvPicPr>
          <p:cNvPr id="35" name="Picture 34" descr="lock.png"/>
          <p:cNvPicPr>
            <a:picLocks noChangeAspect="1"/>
          </p:cNvPicPr>
          <p:nvPr/>
        </p:nvPicPr>
        <p:blipFill>
          <a:blip r:embed="rId4"/>
          <a:stretch>
            <a:fillRect/>
          </a:stretch>
        </p:blipFill>
        <p:spPr>
          <a:xfrm>
            <a:off x="8639718" y="1938217"/>
            <a:ext cx="134549" cy="195707"/>
          </a:xfrm>
          <a:prstGeom prst="rect">
            <a:avLst/>
          </a:prstGeom>
        </p:spPr>
      </p:pic>
      <p:sp>
        <p:nvSpPr>
          <p:cNvPr id="36" name="TextBox 35"/>
          <p:cNvSpPr txBox="1"/>
          <p:nvPr/>
        </p:nvSpPr>
        <p:spPr>
          <a:xfrm>
            <a:off x="8814827" y="1948441"/>
            <a:ext cx="969539" cy="194310"/>
          </a:xfrm>
          <a:prstGeom prst="rect">
            <a:avLst/>
          </a:prstGeom>
          <a:noFill/>
        </p:spPr>
        <p:txBody>
          <a:bodyPr wrap="none" lIns="0" rIns="0" tIns="0" bIns="0">
            <a:spAutoFit/>
          </a:bodyPr>
          <a:lstStyle/>
          <a:p>
            <a:r>
              <a:rPr sz="1150" b="0">
                <a:solidFill>
                  <a:srgbClr val="252423"/>
                </a:solidFill>
                <a:latin typeface="Segoe UI"/>
              </a:rPr>
              <a:t>market CAGR.</a:t>
            </a:r>
          </a:p>
        </p:txBody>
      </p:sp>
      <p:sp>
        <p:nvSpPr>
          <p:cNvPr id="37" name="TextBox 36"/>
          <p:cNvSpPr txBox="1"/>
          <p:nvPr/>
        </p:nvSpPr>
        <p:spPr>
          <a:xfrm>
            <a:off x="6324600" y="2176279"/>
            <a:ext cx="5205983" cy="194310"/>
          </a:xfrm>
          <a:prstGeom prst="rect">
            <a:avLst/>
          </a:prstGeom>
          <a:noFill/>
        </p:spPr>
        <p:txBody>
          <a:bodyPr wrap="none" lIns="0" rIns="0" tIns="0" bIns="0">
            <a:spAutoFit/>
          </a:bodyPr>
          <a:lstStyle/>
          <a:p>
            <a:r>
              <a:rPr sz="1150" b="0">
                <a:solidFill>
                  <a:srgbClr val="252423"/>
                </a:solidFill>
                <a:latin typeface="Segoe UI"/>
              </a:rPr>
              <a:t>▪ Pursue certification and clinical validation to build switching costs and support</a:t>
            </a:r>
          </a:p>
        </p:txBody>
      </p:sp>
      <p:sp>
        <p:nvSpPr>
          <p:cNvPr id="38" name="TextBox 37"/>
          <p:cNvSpPr txBox="1"/>
          <p:nvPr/>
        </p:nvSpPr>
        <p:spPr>
          <a:xfrm>
            <a:off x="6324600" y="2351539"/>
            <a:ext cx="1456797" cy="194310"/>
          </a:xfrm>
          <a:prstGeom prst="rect">
            <a:avLst/>
          </a:prstGeom>
          <a:noFill/>
        </p:spPr>
        <p:txBody>
          <a:bodyPr wrap="none" lIns="0" rIns="0" tIns="0" bIns="0">
            <a:spAutoFit/>
          </a:bodyPr>
          <a:lstStyle/>
          <a:p>
            <a:r>
              <a:rPr sz="1150" b="0">
                <a:solidFill>
                  <a:srgbClr val="252423"/>
                </a:solidFill>
                <a:latin typeface="Segoe UI"/>
              </a:rPr>
              <a:t>premium positioning.</a:t>
            </a:r>
          </a:p>
        </p:txBody>
      </p:sp>
      <p:sp>
        <p:nvSpPr>
          <p:cNvPr id="39" name="TextBox 38"/>
          <p:cNvSpPr txBox="1"/>
          <p:nvPr/>
        </p:nvSpPr>
        <p:spPr>
          <a:xfrm>
            <a:off x="6324600" y="2579377"/>
            <a:ext cx="4284354" cy="194310"/>
          </a:xfrm>
          <a:prstGeom prst="rect">
            <a:avLst/>
          </a:prstGeom>
          <a:noFill/>
        </p:spPr>
        <p:txBody>
          <a:bodyPr wrap="none" lIns="0" rIns="0" tIns="0" bIns="0">
            <a:spAutoFit/>
          </a:bodyPr>
          <a:lstStyle/>
          <a:p>
            <a:r>
              <a:rPr sz="1150" b="0">
                <a:solidFill>
                  <a:srgbClr val="252423"/>
                </a:solidFill>
                <a:latin typeface="Segoe UI"/>
              </a:rPr>
              <a:t>▪ Localise formats and pack sizes to each channel and geography.</a:t>
            </a:r>
          </a:p>
        </p:txBody>
      </p:sp>
      <p:sp>
        <p:nvSpPr>
          <p:cNvPr id="40" name="TextBox 39"/>
          <p:cNvSpPr txBox="1"/>
          <p:nvPr/>
        </p:nvSpPr>
        <p:spPr>
          <a:xfrm>
            <a:off x="6324600" y="4465602"/>
            <a:ext cx="3124846" cy="194310"/>
          </a:xfrm>
          <a:prstGeom prst="rect">
            <a:avLst/>
          </a:prstGeom>
          <a:noFill/>
        </p:spPr>
        <p:txBody>
          <a:bodyPr wrap="none" lIns="0" rIns="0" tIns="0" bIns="0">
            <a:spAutoFit/>
          </a:bodyPr>
          <a:lstStyle/>
          <a:p>
            <a:r>
              <a:rPr sz="1150" b="0">
                <a:solidFill>
                  <a:srgbClr val="252423"/>
                </a:solidFill>
                <a:latin typeface="Segoe UI"/>
              </a:rPr>
              <a:t>▪ Benchmark relentlessly against 'Air Liquide' (~</a:t>
            </a:r>
          </a:p>
        </p:txBody>
      </p:sp>
      <p:pic>
        <p:nvPicPr>
          <p:cNvPr id="41" name="Picture 40" descr="lock.png"/>
          <p:cNvPicPr>
            <a:picLocks noChangeAspect="1"/>
          </p:cNvPicPr>
          <p:nvPr/>
        </p:nvPicPr>
        <p:blipFill>
          <a:blip r:embed="rId4"/>
          <a:stretch>
            <a:fillRect/>
          </a:stretch>
        </p:blipFill>
        <p:spPr>
          <a:xfrm>
            <a:off x="9398600" y="4455378"/>
            <a:ext cx="134549" cy="195707"/>
          </a:xfrm>
          <a:prstGeom prst="rect">
            <a:avLst/>
          </a:prstGeom>
        </p:spPr>
      </p:pic>
      <p:sp>
        <p:nvSpPr>
          <p:cNvPr id="42" name="TextBox 41"/>
          <p:cNvSpPr txBox="1"/>
          <p:nvPr/>
        </p:nvSpPr>
        <p:spPr>
          <a:xfrm>
            <a:off x="9573709" y="4465602"/>
            <a:ext cx="2189106" cy="194310"/>
          </a:xfrm>
          <a:prstGeom prst="rect">
            <a:avLst/>
          </a:prstGeom>
          <a:noFill/>
        </p:spPr>
        <p:txBody>
          <a:bodyPr wrap="none" lIns="0" rIns="0" tIns="0" bIns="0">
            <a:spAutoFit/>
          </a:bodyPr>
          <a:lstStyle/>
          <a:p>
            <a:r>
              <a:rPr sz="1150" b="0">
                <a:solidFill>
                  <a:srgbClr val="252423"/>
                </a:solidFill>
                <a:latin typeface="Segoe UI"/>
              </a:rPr>
              <a:t>share) match on service and lead</a:t>
            </a:r>
          </a:p>
        </p:txBody>
      </p:sp>
      <p:sp>
        <p:nvSpPr>
          <p:cNvPr id="43" name="TextBox 42"/>
          <p:cNvSpPr txBox="1"/>
          <p:nvPr/>
        </p:nvSpPr>
        <p:spPr>
          <a:xfrm>
            <a:off x="6324600" y="4640861"/>
            <a:ext cx="1874592" cy="194310"/>
          </a:xfrm>
          <a:prstGeom prst="rect">
            <a:avLst/>
          </a:prstGeom>
          <a:noFill/>
        </p:spPr>
        <p:txBody>
          <a:bodyPr wrap="none" lIns="0" rIns="0" tIns="0" bIns="0">
            <a:spAutoFit/>
          </a:bodyPr>
          <a:lstStyle/>
          <a:p>
            <a:r>
              <a:rPr sz="1150" b="0">
                <a:solidFill>
                  <a:srgbClr val="252423"/>
                </a:solidFill>
                <a:latin typeface="Segoe UI"/>
              </a:rPr>
              <a:t>on innovation to take share.</a:t>
            </a:r>
          </a:p>
        </p:txBody>
      </p:sp>
      <p:sp>
        <p:nvSpPr>
          <p:cNvPr id="44" name="TextBox 43"/>
          <p:cNvSpPr txBox="1"/>
          <p:nvPr/>
        </p:nvSpPr>
        <p:spPr>
          <a:xfrm>
            <a:off x="6324600" y="4868699"/>
            <a:ext cx="5044694" cy="194310"/>
          </a:xfrm>
          <a:prstGeom prst="rect">
            <a:avLst/>
          </a:prstGeom>
          <a:noFill/>
        </p:spPr>
        <p:txBody>
          <a:bodyPr wrap="none" lIns="0" rIns="0" tIns="0" bIns="0">
            <a:spAutoFit/>
          </a:bodyPr>
          <a:lstStyle/>
          <a:p>
            <a:r>
              <a:rPr sz="1150" b="0">
                <a:solidFill>
                  <a:srgbClr val="252423"/>
                </a:solidFill>
                <a:latin typeface="Segoe UI"/>
              </a:rPr>
              <a:t>▪ Diversify the customer base to cut dependence on a few large accounts and</a:t>
            </a:r>
          </a:p>
        </p:txBody>
      </p:sp>
      <p:sp>
        <p:nvSpPr>
          <p:cNvPr id="45" name="TextBox 44"/>
          <p:cNvSpPr txBox="1"/>
          <p:nvPr/>
        </p:nvSpPr>
        <p:spPr>
          <a:xfrm>
            <a:off x="6324600" y="5043959"/>
            <a:ext cx="1587983" cy="194310"/>
          </a:xfrm>
          <a:prstGeom prst="rect">
            <a:avLst/>
          </a:prstGeom>
          <a:noFill/>
        </p:spPr>
        <p:txBody>
          <a:bodyPr wrap="none" lIns="0" rIns="0" tIns="0" bIns="0">
            <a:spAutoFit/>
          </a:bodyPr>
          <a:lstStyle/>
          <a:p>
            <a:r>
              <a:rPr sz="1150" b="0">
                <a:solidFill>
                  <a:srgbClr val="252423"/>
                </a:solidFill>
                <a:latin typeface="Segoe UI"/>
              </a:rPr>
              <a:t>single-region exposure.</a:t>
            </a:r>
          </a:p>
        </p:txBody>
      </p:sp>
      <p:sp>
        <p:nvSpPr>
          <p:cNvPr id="46" name="TextBox 45"/>
          <p:cNvSpPr txBox="1"/>
          <p:nvPr/>
        </p:nvSpPr>
        <p:spPr>
          <a:xfrm>
            <a:off x="6324600" y="5271797"/>
            <a:ext cx="5334846" cy="194310"/>
          </a:xfrm>
          <a:prstGeom prst="rect">
            <a:avLst/>
          </a:prstGeom>
          <a:noFill/>
        </p:spPr>
        <p:txBody>
          <a:bodyPr wrap="none" lIns="0" rIns="0" tIns="0" bIns="0">
            <a:spAutoFit/>
          </a:bodyPr>
          <a:lstStyle/>
          <a:p>
            <a:r>
              <a:rPr sz="1150" b="0">
                <a:solidFill>
                  <a:srgbClr val="252423"/>
                </a:solidFill>
                <a:latin typeface="Segoe UI"/>
              </a:rPr>
              <a:t>▪ Stress-test for regulatory, currency and supply shocks; keep flexible capacity and</a:t>
            </a:r>
          </a:p>
        </p:txBody>
      </p:sp>
      <p:sp>
        <p:nvSpPr>
          <p:cNvPr id="47" name="TextBox 46"/>
          <p:cNvSpPr txBox="1"/>
          <p:nvPr/>
        </p:nvSpPr>
        <p:spPr>
          <a:xfrm>
            <a:off x="6324600" y="5447057"/>
            <a:ext cx="979282" cy="194310"/>
          </a:xfrm>
          <a:prstGeom prst="rect">
            <a:avLst/>
          </a:prstGeom>
          <a:noFill/>
        </p:spPr>
        <p:txBody>
          <a:bodyPr wrap="none" lIns="0" rIns="0" tIns="0" bIns="0">
            <a:spAutoFit/>
          </a:bodyPr>
          <a:lstStyle/>
          <a:p>
            <a:r>
              <a:rPr sz="1150" b="0">
                <a:solidFill>
                  <a:srgbClr val="252423"/>
                </a:solidFill>
                <a:latin typeface="Segoe UI"/>
              </a:rPr>
              <a:t>dual sourcing.</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Company Value Share (Global)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company in the global market, 2025, highlighting leadership and the long tail</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Target market value share by key companies leadership, concentration and how the competitive mix shifts by region.</a:t>
            </a:r>
          </a:p>
        </p:txBody>
      </p:sp>
      <p:sp>
        <p:nvSpPr>
          <p:cNvPr id="9" name="Rectangle 8"/>
          <p:cNvSpPr/>
          <p:nvPr/>
        </p:nvSpPr>
        <p:spPr>
          <a:xfrm>
            <a:off x="142875" y="1354081"/>
            <a:ext cx="754380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Share by Key Company (US$ Mn, 2026)</a:t>
            </a:r>
          </a:p>
        </p:txBody>
      </p:sp>
      <p:graphicFrame>
        <p:nvGraphicFramePr>
          <p:cNvPr id="11" name="Chart 10"/>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2" name="TextBox 11"/>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52423"/>
                </a:solidFill>
                <a:latin typeface="Segoe UI"/>
              </a:rPr>
              <a:t/>
            </a:r>
          </a:p>
          <a:p>
            <a:pPr algn="ctr"/>
            <a:r>
              <a:rPr sz="1300" b="1">
                <a:solidFill>
                  <a:srgbClr val="252423"/>
                </a:solidFill>
                <a:latin typeface="Segoe UI"/>
              </a:rPr>
              <a:t/>
            </a:r>
          </a:p>
        </p:txBody>
      </p:sp>
      <p:sp>
        <p:nvSpPr>
          <p:cNvPr id="13" name="Rectangle 12"/>
          <p:cNvSpPr/>
          <p:nvPr/>
        </p:nvSpPr>
        <p:spPr>
          <a:xfrm>
            <a:off x="7800975" y="1354081"/>
            <a:ext cx="4248150" cy="522055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15" name="Rectangle 14"/>
          <p:cNvSpPr/>
          <p:nvPr/>
        </p:nvSpPr>
        <p:spPr>
          <a:xfrm>
            <a:off x="7934325" y="1677931"/>
            <a:ext cx="39814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a:p>
            <a:pPr algn="l">
              <a:lnSpc>
                <a:spcPct val="110000"/>
              </a:lnSpc>
              <a:spcBef>
                <a:spcPts val="0"/>
              </a:spcBef>
              <a:spcAft>
                <a:spcPts val="500"/>
              </a:spcAft>
            </a:pPr>
            <a:r>
              <a:rPr sz="1150" b="0">
                <a:solidFill>
                  <a:srgbClr val="252423"/>
                </a:solidFill>
                <a:latin typeface="Segoe UI"/>
              </a:rPr>
              <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2599110" y="3914616"/>
            <a:ext cx="501538" cy="161696"/>
          </a:xfrm>
          <a:prstGeom prst="rect">
            <a:avLst/>
          </a:prstGeom>
          <a:noFill/>
        </p:spPr>
        <p:txBody>
          <a:bodyPr wrap="none" lIns="0" rIns="0" tIns="0" bIns="0">
            <a:spAutoFit/>
          </a:bodyPr>
          <a:lstStyle/>
          <a:p>
            <a:r>
              <a:rPr sz="935" b="1">
                <a:solidFill>
                  <a:srgbClr val="252423"/>
                </a:solidFill>
                <a:latin typeface="Segoe UI"/>
              </a:rPr>
              <a:t>100% =</a:t>
            </a:r>
          </a:p>
        </p:txBody>
      </p:sp>
      <p:pic>
        <p:nvPicPr>
          <p:cNvPr id="20" name="Picture 19" descr="lock.png"/>
          <p:cNvPicPr>
            <a:picLocks noChangeAspect="1"/>
          </p:cNvPicPr>
          <p:nvPr/>
        </p:nvPicPr>
        <p:blipFill>
          <a:blip r:embed="rId5"/>
          <a:stretch>
            <a:fillRect/>
          </a:stretch>
        </p:blipFill>
        <p:spPr>
          <a:xfrm>
            <a:off x="2515037" y="4091735"/>
            <a:ext cx="109510" cy="159288"/>
          </a:xfrm>
          <a:prstGeom prst="rect">
            <a:avLst/>
          </a:prstGeom>
        </p:spPr>
      </p:pic>
      <p:sp>
        <p:nvSpPr>
          <p:cNvPr id="21" name="TextBox 20"/>
          <p:cNvSpPr txBox="1"/>
          <p:nvPr/>
        </p:nvSpPr>
        <p:spPr>
          <a:xfrm>
            <a:off x="2657561" y="4100056"/>
            <a:ext cx="515701" cy="161696"/>
          </a:xfrm>
          <a:prstGeom prst="rect">
            <a:avLst/>
          </a:prstGeom>
          <a:noFill/>
        </p:spPr>
        <p:txBody>
          <a:bodyPr wrap="none" lIns="0" rIns="0" tIns="0" bIns="0">
            <a:spAutoFit/>
          </a:bodyPr>
          <a:lstStyle/>
          <a:p>
            <a:r>
              <a:rPr sz="935" b="1">
                <a:solidFill>
                  <a:srgbClr val="252423"/>
                </a:solidFill>
                <a:latin typeface="Segoe UI"/>
              </a:rPr>
              <a:t>US$ Mn</a:t>
            </a:r>
          </a:p>
        </p:txBody>
      </p:sp>
      <p:sp>
        <p:nvSpPr>
          <p:cNvPr id="22" name="TextBox 21"/>
          <p:cNvSpPr txBox="1"/>
          <p:nvPr/>
        </p:nvSpPr>
        <p:spPr>
          <a:xfrm>
            <a:off x="7934325" y="1773181"/>
            <a:ext cx="3674241" cy="194310"/>
          </a:xfrm>
          <a:prstGeom prst="rect">
            <a:avLst/>
          </a:prstGeom>
          <a:noFill/>
        </p:spPr>
        <p:txBody>
          <a:bodyPr wrap="none" lIns="0" rIns="0" tIns="0" bIns="0">
            <a:spAutoFit/>
          </a:bodyPr>
          <a:lstStyle/>
          <a:p>
            <a:r>
              <a:rPr sz="1150" b="0">
                <a:solidFill>
                  <a:srgbClr val="252423"/>
                </a:solidFill>
                <a:latin typeface="Segoe UI"/>
              </a:rPr>
              <a:t>Air Liquide accounted for the largest share of the global</a:t>
            </a:r>
          </a:p>
        </p:txBody>
      </p:sp>
      <p:sp>
        <p:nvSpPr>
          <p:cNvPr id="23" name="TextBox 22"/>
          <p:cNvSpPr txBox="1"/>
          <p:nvPr/>
        </p:nvSpPr>
        <p:spPr>
          <a:xfrm>
            <a:off x="7934325" y="1948441"/>
            <a:ext cx="3689105" cy="194310"/>
          </a:xfrm>
          <a:prstGeom prst="rect">
            <a:avLst/>
          </a:prstGeom>
          <a:noFill/>
        </p:spPr>
        <p:txBody>
          <a:bodyPr wrap="none" lIns="0" rIns="0" tIns="0" bIns="0">
            <a:spAutoFit/>
          </a:bodyPr>
          <a:lstStyle/>
          <a:p>
            <a:r>
              <a:rPr sz="1150" b="0">
                <a:solidFill>
                  <a:srgbClr val="252423"/>
                </a:solidFill>
                <a:latin typeface="Segoe UI"/>
              </a:rPr>
              <a:t>Helium-3 market in 2026. The global Helium-3 market is</a:t>
            </a:r>
          </a:p>
        </p:txBody>
      </p:sp>
      <p:sp>
        <p:nvSpPr>
          <p:cNvPr id="24" name="TextBox 23"/>
          <p:cNvSpPr txBox="1"/>
          <p:nvPr/>
        </p:nvSpPr>
        <p:spPr>
          <a:xfrm>
            <a:off x="7934325" y="2123701"/>
            <a:ext cx="3729959" cy="194310"/>
          </a:xfrm>
          <a:prstGeom prst="rect">
            <a:avLst/>
          </a:prstGeom>
          <a:noFill/>
        </p:spPr>
        <p:txBody>
          <a:bodyPr wrap="none" lIns="0" rIns="0" tIns="0" bIns="0">
            <a:spAutoFit/>
          </a:bodyPr>
          <a:lstStyle/>
          <a:p>
            <a:r>
              <a:rPr sz="1150" b="0">
                <a:solidFill>
                  <a:srgbClr val="252423"/>
                </a:solidFill>
                <a:latin typeface="Segoe UI"/>
              </a:rPr>
              <a:t>fragmented, with the top three players accounting for an</a:t>
            </a:r>
          </a:p>
        </p:txBody>
      </p:sp>
      <p:sp>
        <p:nvSpPr>
          <p:cNvPr id="25" name="TextBox 24"/>
          <p:cNvSpPr txBox="1"/>
          <p:nvPr/>
        </p:nvSpPr>
        <p:spPr>
          <a:xfrm>
            <a:off x="7934325" y="2298961"/>
            <a:ext cx="712013" cy="194310"/>
          </a:xfrm>
          <a:prstGeom prst="rect">
            <a:avLst/>
          </a:prstGeom>
          <a:noFill/>
        </p:spPr>
        <p:txBody>
          <a:bodyPr wrap="none" lIns="0" rIns="0" tIns="0" bIns="0">
            <a:spAutoFit/>
          </a:bodyPr>
          <a:lstStyle/>
          <a:p>
            <a:r>
              <a:rPr sz="1150" b="0">
                <a:solidFill>
                  <a:srgbClr val="252423"/>
                </a:solidFill>
                <a:latin typeface="Segoe UI"/>
              </a:rPr>
              <a:t>estimated</a:t>
            </a:r>
          </a:p>
        </p:txBody>
      </p:sp>
      <p:pic>
        <p:nvPicPr>
          <p:cNvPr id="26" name="Picture 25" descr="lock.png"/>
          <p:cNvPicPr>
            <a:picLocks noChangeAspect="1"/>
          </p:cNvPicPr>
          <p:nvPr/>
        </p:nvPicPr>
        <p:blipFill>
          <a:blip r:embed="rId5"/>
          <a:stretch>
            <a:fillRect/>
          </a:stretch>
        </p:blipFill>
        <p:spPr>
          <a:xfrm>
            <a:off x="8595492" y="2288737"/>
            <a:ext cx="134549" cy="195707"/>
          </a:xfrm>
          <a:prstGeom prst="rect">
            <a:avLst/>
          </a:prstGeom>
        </p:spPr>
      </p:pic>
      <p:sp>
        <p:nvSpPr>
          <p:cNvPr id="27" name="TextBox 26"/>
          <p:cNvSpPr txBox="1"/>
          <p:nvPr/>
        </p:nvSpPr>
        <p:spPr>
          <a:xfrm>
            <a:off x="8770601" y="2298961"/>
            <a:ext cx="1876606" cy="194310"/>
          </a:xfrm>
          <a:prstGeom prst="rect">
            <a:avLst/>
          </a:prstGeom>
          <a:noFill/>
        </p:spPr>
        <p:txBody>
          <a:bodyPr wrap="none" lIns="0" rIns="0" tIns="0" bIns="0">
            <a:spAutoFit/>
          </a:bodyPr>
          <a:lstStyle/>
          <a:p>
            <a:r>
              <a:rPr sz="1150" b="0">
                <a:solidFill>
                  <a:srgbClr val="252423"/>
                </a:solidFill>
                <a:latin typeface="Segoe UI"/>
              </a:rPr>
              <a:t>share of the market in 2026.</a:t>
            </a:r>
          </a:p>
        </p:txBody>
      </p:sp>
      <p:sp>
        <p:nvSpPr>
          <p:cNvPr id="28" name="TextBox 27"/>
          <p:cNvSpPr txBox="1"/>
          <p:nvPr/>
        </p:nvSpPr>
        <p:spPr>
          <a:xfrm>
            <a:off x="7934325" y="2526799"/>
            <a:ext cx="2574988" cy="194310"/>
          </a:xfrm>
          <a:prstGeom prst="rect">
            <a:avLst/>
          </a:prstGeom>
          <a:noFill/>
        </p:spPr>
        <p:txBody>
          <a:bodyPr wrap="none" lIns="0" rIns="0" tIns="0" bIns="0">
            <a:spAutoFit/>
          </a:bodyPr>
          <a:lstStyle/>
          <a:p>
            <a:r>
              <a:rPr sz="1150" b="0">
                <a:solidFill>
                  <a:srgbClr val="252423"/>
                </a:solidFill>
                <a:latin typeface="Segoe UI"/>
              </a:rPr>
              <a:t>Air Liquide accounted for an estimated</a:t>
            </a:r>
          </a:p>
        </p:txBody>
      </p:sp>
      <p:pic>
        <p:nvPicPr>
          <p:cNvPr id="29" name="Picture 28" descr="lock.png"/>
          <p:cNvPicPr>
            <a:picLocks noChangeAspect="1"/>
          </p:cNvPicPr>
          <p:nvPr/>
        </p:nvPicPr>
        <p:blipFill>
          <a:blip r:embed="rId5"/>
          <a:stretch>
            <a:fillRect/>
          </a:stretch>
        </p:blipFill>
        <p:spPr>
          <a:xfrm>
            <a:off x="10458467" y="2516575"/>
            <a:ext cx="134549" cy="195707"/>
          </a:xfrm>
          <a:prstGeom prst="rect">
            <a:avLst/>
          </a:prstGeom>
        </p:spPr>
      </p:pic>
      <p:sp>
        <p:nvSpPr>
          <p:cNvPr id="30" name="TextBox 29"/>
          <p:cNvSpPr txBox="1"/>
          <p:nvPr/>
        </p:nvSpPr>
        <p:spPr>
          <a:xfrm>
            <a:off x="10633576" y="2526799"/>
            <a:ext cx="842320" cy="194310"/>
          </a:xfrm>
          <a:prstGeom prst="rect">
            <a:avLst/>
          </a:prstGeom>
          <a:noFill/>
        </p:spPr>
        <p:txBody>
          <a:bodyPr wrap="none" lIns="0" rIns="0" tIns="0" bIns="0">
            <a:spAutoFit/>
          </a:bodyPr>
          <a:lstStyle/>
          <a:p>
            <a:r>
              <a:rPr sz="1150" b="0">
                <a:solidFill>
                  <a:srgbClr val="252423"/>
                </a:solidFill>
                <a:latin typeface="Segoe UI"/>
              </a:rPr>
              <a:t>share of the</a:t>
            </a:r>
          </a:p>
        </p:txBody>
      </p:sp>
      <p:sp>
        <p:nvSpPr>
          <p:cNvPr id="31" name="TextBox 30"/>
          <p:cNvSpPr txBox="1"/>
          <p:nvPr/>
        </p:nvSpPr>
        <p:spPr>
          <a:xfrm>
            <a:off x="7934325" y="2702058"/>
            <a:ext cx="2052385" cy="194310"/>
          </a:xfrm>
          <a:prstGeom prst="rect">
            <a:avLst/>
          </a:prstGeom>
          <a:noFill/>
        </p:spPr>
        <p:txBody>
          <a:bodyPr wrap="none" lIns="0" rIns="0" tIns="0" bIns="0">
            <a:spAutoFit/>
          </a:bodyPr>
          <a:lstStyle/>
          <a:p>
            <a:r>
              <a:rPr sz="1150" b="0">
                <a:solidFill>
                  <a:srgbClr val="252423"/>
                </a:solidFill>
                <a:latin typeface="Segoe UI"/>
              </a:rPr>
              <a:t>market, followed by Linde with</a:t>
            </a:r>
          </a:p>
        </p:txBody>
      </p:sp>
      <p:pic>
        <p:nvPicPr>
          <p:cNvPr id="32" name="Picture 31" descr="lock.png"/>
          <p:cNvPicPr>
            <a:picLocks noChangeAspect="1"/>
          </p:cNvPicPr>
          <p:nvPr/>
        </p:nvPicPr>
        <p:blipFill>
          <a:blip r:embed="rId5"/>
          <a:stretch>
            <a:fillRect/>
          </a:stretch>
        </p:blipFill>
        <p:spPr>
          <a:xfrm>
            <a:off x="9935864" y="2691835"/>
            <a:ext cx="134549" cy="195707"/>
          </a:xfrm>
          <a:prstGeom prst="rect">
            <a:avLst/>
          </a:prstGeom>
        </p:spPr>
      </p:pic>
      <p:sp>
        <p:nvSpPr>
          <p:cNvPr id="33" name="TextBox 32"/>
          <p:cNvSpPr txBox="1"/>
          <p:nvPr/>
        </p:nvSpPr>
        <p:spPr>
          <a:xfrm>
            <a:off x="10110973" y="2702058"/>
            <a:ext cx="1704375" cy="194310"/>
          </a:xfrm>
          <a:prstGeom prst="rect">
            <a:avLst/>
          </a:prstGeom>
          <a:noFill/>
        </p:spPr>
        <p:txBody>
          <a:bodyPr wrap="none" lIns="0" rIns="0" tIns="0" bIns="0">
            <a:spAutoFit/>
          </a:bodyPr>
          <a:lstStyle/>
          <a:p>
            <a:r>
              <a:rPr sz="1150" b="0">
                <a:solidFill>
                  <a:srgbClr val="252423"/>
                </a:solidFill>
                <a:latin typeface="Segoe UI"/>
              </a:rPr>
              <a:t>. Key players are focusing</a:t>
            </a:r>
          </a:p>
        </p:txBody>
      </p:sp>
      <p:sp>
        <p:nvSpPr>
          <p:cNvPr id="34" name="TextBox 33"/>
          <p:cNvSpPr txBox="1"/>
          <p:nvPr/>
        </p:nvSpPr>
        <p:spPr>
          <a:xfrm>
            <a:off x="7934325" y="2877318"/>
            <a:ext cx="3886501" cy="194310"/>
          </a:xfrm>
          <a:prstGeom prst="rect">
            <a:avLst/>
          </a:prstGeom>
          <a:noFill/>
        </p:spPr>
        <p:txBody>
          <a:bodyPr wrap="none" lIns="0" rIns="0" tIns="0" bIns="0">
            <a:spAutoFit/>
          </a:bodyPr>
          <a:lstStyle/>
          <a:p>
            <a:r>
              <a:rPr sz="1150" b="0">
                <a:solidFill>
                  <a:srgbClr val="252423"/>
                </a:solidFill>
                <a:latin typeface="Segoe UI"/>
              </a:rPr>
              <a:t>on product innovation, geographic expansion and strategic</a:t>
            </a:r>
          </a:p>
        </p:txBody>
      </p:sp>
      <p:sp>
        <p:nvSpPr>
          <p:cNvPr id="35" name="TextBox 34"/>
          <p:cNvSpPr txBox="1"/>
          <p:nvPr/>
        </p:nvSpPr>
        <p:spPr>
          <a:xfrm>
            <a:off x="7934325" y="3052578"/>
            <a:ext cx="3207106" cy="194310"/>
          </a:xfrm>
          <a:prstGeom prst="rect">
            <a:avLst/>
          </a:prstGeom>
          <a:noFill/>
        </p:spPr>
        <p:txBody>
          <a:bodyPr wrap="none" lIns="0" rIns="0" tIns="0" bIns="0">
            <a:spAutoFit/>
          </a:bodyPr>
          <a:lstStyle/>
          <a:p>
            <a:r>
              <a:rPr sz="1150" b="0">
                <a:solidFill>
                  <a:srgbClr val="252423"/>
                </a:solidFill>
                <a:latin typeface="Segoe UI"/>
              </a:rPr>
              <a:t>partnerships to strengthen their market position.</a:t>
            </a:r>
          </a:p>
        </p:txBody>
      </p:sp>
      <p:sp>
        <p:nvSpPr>
          <p:cNvPr id="36" name="TextBox 35"/>
          <p:cNvSpPr txBox="1"/>
          <p:nvPr/>
        </p:nvSpPr>
        <p:spPr>
          <a:xfrm>
            <a:off x="7934325" y="3280416"/>
            <a:ext cx="3961728" cy="194310"/>
          </a:xfrm>
          <a:prstGeom prst="rect">
            <a:avLst/>
          </a:prstGeom>
          <a:noFill/>
        </p:spPr>
        <p:txBody>
          <a:bodyPr wrap="none" lIns="0" rIns="0" tIns="0" bIns="0">
            <a:spAutoFit/>
          </a:bodyPr>
          <a:lstStyle/>
          <a:p>
            <a:r>
              <a:rPr sz="1150" b="0">
                <a:solidFill>
                  <a:srgbClr val="252423"/>
                </a:solidFill>
                <a:latin typeface="Segoe UI"/>
              </a:rPr>
              <a:t>Regional share differs from the global picture use the region</a:t>
            </a:r>
          </a:p>
        </p:txBody>
      </p:sp>
      <p:sp>
        <p:nvSpPr>
          <p:cNvPr id="37" name="TextBox 36"/>
          <p:cNvSpPr txBox="1"/>
          <p:nvPr/>
        </p:nvSpPr>
        <p:spPr>
          <a:xfrm>
            <a:off x="7934325" y="3455676"/>
            <a:ext cx="3721736" cy="194310"/>
          </a:xfrm>
          <a:prstGeom prst="rect">
            <a:avLst/>
          </a:prstGeom>
          <a:noFill/>
        </p:spPr>
        <p:txBody>
          <a:bodyPr wrap="none" lIns="0" rIns="0" tIns="0" bIns="0">
            <a:spAutoFit/>
          </a:bodyPr>
          <a:lstStyle/>
          <a:p>
            <a:r>
              <a:rPr sz="1150" b="0">
                <a:solidFill>
                  <a:srgbClr val="252423"/>
                </a:solidFill>
                <a:latin typeface="Segoe UI"/>
              </a:rPr>
              <a:t>selector to see how leadership shifts across geographies.</a:t>
            </a:r>
          </a:p>
        </p:txBody>
      </p:sp>
      <p:sp>
        <p:nvSpPr>
          <p:cNvPr id="38" name="lockshield_11"/>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Company Share by Product Type (Top 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company value share within each leading product form, highlighting where leadership differs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Company value share within each of the leading product types where each player concentrates, and how leadership varies by formulation.</a:t>
            </a:r>
          </a:p>
        </p:txBody>
      </p:sp>
      <p:sp>
        <p:nvSpPr>
          <p:cNvPr id="9" name="Rectangle 8"/>
          <p:cNvSpPr/>
          <p:nvPr/>
        </p:nvSpPr>
        <p:spPr>
          <a:xfrm>
            <a:off x="14287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Gaseous Helium-3</a:t>
            </a:r>
          </a:p>
        </p:txBody>
      </p:sp>
      <p:graphicFrame>
        <p:nvGraphicFramePr>
          <p:cNvPr id="11" name="Chart 10"/>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2" name="Rectangle 11"/>
          <p:cNvSpPr/>
          <p:nvPr/>
        </p:nvSpPr>
        <p:spPr>
          <a:xfrm>
            <a:off x="412432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Liquid Helium-3</a:t>
            </a:r>
          </a:p>
        </p:txBody>
      </p:sp>
      <p:graphicFrame>
        <p:nvGraphicFramePr>
          <p:cNvPr id="14" name="Chart 13"/>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5" name="Rectangle 14"/>
          <p:cNvSpPr/>
          <p:nvPr/>
        </p:nvSpPr>
        <p:spPr>
          <a:xfrm>
            <a:off x="142875" y="4603240"/>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Company Share Key Takeaways</a:t>
            </a:r>
          </a:p>
        </p:txBody>
      </p:sp>
      <p:sp>
        <p:nvSpPr>
          <p:cNvPr id="17" name="Rectangle 16"/>
          <p:cNvSpPr/>
          <p:nvPr/>
        </p:nvSpPr>
        <p:spPr>
          <a:xfrm>
            <a:off x="276225" y="492709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9" name="TextBox 1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0" name="Picture 19" descr="lock.png"/>
          <p:cNvPicPr>
            <a:picLocks noChangeAspect="1"/>
          </p:cNvPicPr>
          <p:nvPr/>
        </p:nvPicPr>
        <p:blipFill>
          <a:blip r:embed="rId6"/>
          <a:stretch>
            <a:fillRect/>
          </a:stretch>
        </p:blipFill>
        <p:spPr>
          <a:xfrm>
            <a:off x="1233011" y="2619895"/>
            <a:ext cx="523875" cy="762000"/>
          </a:xfrm>
          <a:prstGeom prst="rect">
            <a:avLst/>
          </a:prstGeom>
        </p:spPr>
      </p:pic>
      <p:pic>
        <p:nvPicPr>
          <p:cNvPr id="21" name="Picture 20" descr="lock.png"/>
          <p:cNvPicPr>
            <a:picLocks noChangeAspect="1"/>
          </p:cNvPicPr>
          <p:nvPr/>
        </p:nvPicPr>
        <p:blipFill>
          <a:blip r:embed="rId6"/>
          <a:stretch>
            <a:fillRect/>
          </a:stretch>
        </p:blipFill>
        <p:spPr>
          <a:xfrm>
            <a:off x="5214461" y="2619895"/>
            <a:ext cx="523875" cy="762000"/>
          </a:xfrm>
          <a:prstGeom prst="rect">
            <a:avLst/>
          </a:prstGeom>
        </p:spPr>
      </p:pic>
      <p:sp>
        <p:nvSpPr>
          <p:cNvPr id="22" name="TextBox 21"/>
          <p:cNvSpPr txBox="1"/>
          <p:nvPr/>
        </p:nvSpPr>
        <p:spPr>
          <a:xfrm>
            <a:off x="276225" y="5022340"/>
            <a:ext cx="2855598" cy="194310"/>
          </a:xfrm>
          <a:prstGeom prst="rect">
            <a:avLst/>
          </a:prstGeom>
          <a:noFill/>
        </p:spPr>
        <p:txBody>
          <a:bodyPr wrap="none" lIns="0" rIns="0" tIns="0" bIns="0">
            <a:spAutoFit/>
          </a:bodyPr>
          <a:lstStyle/>
          <a:p>
            <a:r>
              <a:rPr sz="1150" b="0">
                <a:solidFill>
                  <a:srgbClr val="252423"/>
                </a:solidFill>
                <a:latin typeface="Segoe UI"/>
              </a:rPr>
              <a:t>▪ Gaseous Helium-3: 'Air Liquide' leads at ~</a:t>
            </a:r>
          </a:p>
        </p:txBody>
      </p:sp>
      <p:pic>
        <p:nvPicPr>
          <p:cNvPr id="23" name="Picture 22" descr="lock.png"/>
          <p:cNvPicPr>
            <a:picLocks noChangeAspect="1"/>
          </p:cNvPicPr>
          <p:nvPr/>
        </p:nvPicPr>
        <p:blipFill>
          <a:blip r:embed="rId6"/>
          <a:stretch>
            <a:fillRect/>
          </a:stretch>
        </p:blipFill>
        <p:spPr>
          <a:xfrm>
            <a:off x="3080977" y="5012116"/>
            <a:ext cx="134549" cy="195707"/>
          </a:xfrm>
          <a:prstGeom prst="rect">
            <a:avLst/>
          </a:prstGeom>
        </p:spPr>
      </p:pic>
      <p:sp>
        <p:nvSpPr>
          <p:cNvPr id="24" name="TextBox 23"/>
          <p:cNvSpPr txBox="1"/>
          <p:nvPr/>
        </p:nvSpPr>
        <p:spPr>
          <a:xfrm>
            <a:off x="3256086" y="5022340"/>
            <a:ext cx="1407123" cy="194310"/>
          </a:xfrm>
          <a:prstGeom prst="rect">
            <a:avLst/>
          </a:prstGeom>
          <a:noFill/>
        </p:spPr>
        <p:txBody>
          <a:bodyPr wrap="none" lIns="0" rIns="0" tIns="0" bIns="0">
            <a:spAutoFit/>
          </a:bodyPr>
          <a:lstStyle/>
          <a:p>
            <a:r>
              <a:rPr sz="1150" b="0">
                <a:solidFill>
                  <a:srgbClr val="252423"/>
                </a:solidFill>
                <a:latin typeface="Segoe UI"/>
              </a:rPr>
              <a:t>, ahead of 'Airgas' (~</a:t>
            </a:r>
          </a:p>
        </p:txBody>
      </p:sp>
      <p:pic>
        <p:nvPicPr>
          <p:cNvPr id="25" name="Picture 24" descr="lock.png"/>
          <p:cNvPicPr>
            <a:picLocks noChangeAspect="1"/>
          </p:cNvPicPr>
          <p:nvPr/>
        </p:nvPicPr>
        <p:blipFill>
          <a:blip r:embed="rId6"/>
          <a:stretch>
            <a:fillRect/>
          </a:stretch>
        </p:blipFill>
        <p:spPr>
          <a:xfrm>
            <a:off x="4612363" y="5012116"/>
            <a:ext cx="134549" cy="195707"/>
          </a:xfrm>
          <a:prstGeom prst="rect">
            <a:avLst/>
          </a:prstGeom>
        </p:spPr>
      </p:pic>
      <p:sp>
        <p:nvSpPr>
          <p:cNvPr id="26" name="TextBox 25"/>
          <p:cNvSpPr txBox="1"/>
          <p:nvPr/>
        </p:nvSpPr>
        <p:spPr>
          <a:xfrm>
            <a:off x="4787473" y="5022340"/>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27" name="Picture 26" descr="lock.png"/>
          <p:cNvPicPr>
            <a:picLocks noChangeAspect="1"/>
          </p:cNvPicPr>
          <p:nvPr/>
        </p:nvPicPr>
        <p:blipFill>
          <a:blip r:embed="rId6"/>
          <a:stretch>
            <a:fillRect/>
          </a:stretch>
        </p:blipFill>
        <p:spPr>
          <a:xfrm>
            <a:off x="6243896" y="5012116"/>
            <a:ext cx="134549" cy="195707"/>
          </a:xfrm>
          <a:prstGeom prst="rect">
            <a:avLst/>
          </a:prstGeom>
        </p:spPr>
      </p:pic>
      <p:sp>
        <p:nvSpPr>
          <p:cNvPr id="28" name="TextBox 27"/>
          <p:cNvSpPr txBox="1"/>
          <p:nvPr/>
        </p:nvSpPr>
        <p:spPr>
          <a:xfrm>
            <a:off x="6419006" y="5022340"/>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29" name="Picture 28" descr="lock.png"/>
          <p:cNvPicPr>
            <a:picLocks noChangeAspect="1"/>
          </p:cNvPicPr>
          <p:nvPr/>
        </p:nvPicPr>
        <p:blipFill>
          <a:blip r:embed="rId6"/>
          <a:stretch>
            <a:fillRect/>
          </a:stretch>
        </p:blipFill>
        <p:spPr>
          <a:xfrm>
            <a:off x="8133651" y="5012116"/>
            <a:ext cx="134549" cy="195707"/>
          </a:xfrm>
          <a:prstGeom prst="rect">
            <a:avLst/>
          </a:prstGeom>
        </p:spPr>
      </p:pic>
      <p:sp>
        <p:nvSpPr>
          <p:cNvPr id="30" name="TextBox 29"/>
          <p:cNvSpPr txBox="1"/>
          <p:nvPr/>
        </p:nvSpPr>
        <p:spPr>
          <a:xfrm>
            <a:off x="8308760" y="5022340"/>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1" name="TextBox 30"/>
          <p:cNvSpPr txBox="1"/>
          <p:nvPr/>
        </p:nvSpPr>
        <p:spPr>
          <a:xfrm>
            <a:off x="276225" y="5250177"/>
            <a:ext cx="2613818" cy="194310"/>
          </a:xfrm>
          <a:prstGeom prst="rect">
            <a:avLst/>
          </a:prstGeom>
          <a:noFill/>
        </p:spPr>
        <p:txBody>
          <a:bodyPr wrap="none" lIns="0" rIns="0" tIns="0" bIns="0">
            <a:spAutoFit/>
          </a:bodyPr>
          <a:lstStyle/>
          <a:p>
            <a:r>
              <a:rPr sz="1150" b="0">
                <a:solidFill>
                  <a:srgbClr val="252423"/>
                </a:solidFill>
                <a:latin typeface="Segoe UI"/>
              </a:rPr>
              <a:t>▪ Liquid Helium-3: 'Chemgas' leads at ~</a:t>
            </a:r>
          </a:p>
        </p:txBody>
      </p:sp>
      <p:pic>
        <p:nvPicPr>
          <p:cNvPr id="32" name="Picture 31" descr="lock.png"/>
          <p:cNvPicPr>
            <a:picLocks noChangeAspect="1"/>
          </p:cNvPicPr>
          <p:nvPr/>
        </p:nvPicPr>
        <p:blipFill>
          <a:blip r:embed="rId6"/>
          <a:stretch>
            <a:fillRect/>
          </a:stretch>
        </p:blipFill>
        <p:spPr>
          <a:xfrm>
            <a:off x="2839197" y="5239954"/>
            <a:ext cx="134549" cy="195707"/>
          </a:xfrm>
          <a:prstGeom prst="rect">
            <a:avLst/>
          </a:prstGeom>
        </p:spPr>
      </p:pic>
      <p:sp>
        <p:nvSpPr>
          <p:cNvPr id="33" name="TextBox 32"/>
          <p:cNvSpPr txBox="1"/>
          <p:nvPr/>
        </p:nvSpPr>
        <p:spPr>
          <a:xfrm>
            <a:off x="3014306" y="5250177"/>
            <a:ext cx="1353696" cy="194310"/>
          </a:xfrm>
          <a:prstGeom prst="rect">
            <a:avLst/>
          </a:prstGeom>
          <a:noFill/>
        </p:spPr>
        <p:txBody>
          <a:bodyPr wrap="none" lIns="0" rIns="0" tIns="0" bIns="0">
            <a:spAutoFit/>
          </a:bodyPr>
          <a:lstStyle/>
          <a:p>
            <a:r>
              <a:rPr sz="1150" b="0">
                <a:solidFill>
                  <a:srgbClr val="252423"/>
                </a:solidFill>
                <a:latin typeface="Segoe UI"/>
              </a:rPr>
              <a:t>, ahead of 'Linde' (~</a:t>
            </a:r>
          </a:p>
        </p:txBody>
      </p:sp>
      <p:pic>
        <p:nvPicPr>
          <p:cNvPr id="34" name="Picture 33" descr="lock.png"/>
          <p:cNvPicPr>
            <a:picLocks noChangeAspect="1"/>
          </p:cNvPicPr>
          <p:nvPr/>
        </p:nvPicPr>
        <p:blipFill>
          <a:blip r:embed="rId6"/>
          <a:stretch>
            <a:fillRect/>
          </a:stretch>
        </p:blipFill>
        <p:spPr>
          <a:xfrm>
            <a:off x="4317157" y="5239954"/>
            <a:ext cx="134549" cy="195707"/>
          </a:xfrm>
          <a:prstGeom prst="rect">
            <a:avLst/>
          </a:prstGeom>
        </p:spPr>
      </p:pic>
      <p:sp>
        <p:nvSpPr>
          <p:cNvPr id="35" name="TextBox 34"/>
          <p:cNvSpPr txBox="1"/>
          <p:nvPr/>
        </p:nvSpPr>
        <p:spPr>
          <a:xfrm>
            <a:off x="4492266" y="5250177"/>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36" name="Picture 35" descr="lock.png"/>
          <p:cNvPicPr>
            <a:picLocks noChangeAspect="1"/>
          </p:cNvPicPr>
          <p:nvPr/>
        </p:nvPicPr>
        <p:blipFill>
          <a:blip r:embed="rId6"/>
          <a:stretch>
            <a:fillRect/>
          </a:stretch>
        </p:blipFill>
        <p:spPr>
          <a:xfrm>
            <a:off x="5948690" y="5239954"/>
            <a:ext cx="134549" cy="195707"/>
          </a:xfrm>
          <a:prstGeom prst="rect">
            <a:avLst/>
          </a:prstGeom>
        </p:spPr>
      </p:pic>
      <p:sp>
        <p:nvSpPr>
          <p:cNvPr id="37" name="TextBox 36"/>
          <p:cNvSpPr txBox="1"/>
          <p:nvPr/>
        </p:nvSpPr>
        <p:spPr>
          <a:xfrm>
            <a:off x="6123799" y="5250177"/>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38" name="Picture 37" descr="lock.png"/>
          <p:cNvPicPr>
            <a:picLocks noChangeAspect="1"/>
          </p:cNvPicPr>
          <p:nvPr/>
        </p:nvPicPr>
        <p:blipFill>
          <a:blip r:embed="rId6"/>
          <a:stretch>
            <a:fillRect/>
          </a:stretch>
        </p:blipFill>
        <p:spPr>
          <a:xfrm>
            <a:off x="7838444" y="5239954"/>
            <a:ext cx="134549" cy="195707"/>
          </a:xfrm>
          <a:prstGeom prst="rect">
            <a:avLst/>
          </a:prstGeom>
        </p:spPr>
      </p:pic>
      <p:sp>
        <p:nvSpPr>
          <p:cNvPr id="39" name="TextBox 38"/>
          <p:cNvSpPr txBox="1"/>
          <p:nvPr/>
        </p:nvSpPr>
        <p:spPr>
          <a:xfrm>
            <a:off x="8013554" y="525017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0" name="TextBox 39"/>
          <p:cNvSpPr txBox="1"/>
          <p:nvPr/>
        </p:nvSpPr>
        <p:spPr>
          <a:xfrm>
            <a:off x="276225" y="5478015"/>
            <a:ext cx="9657147" cy="194310"/>
          </a:xfrm>
          <a:prstGeom prst="rect">
            <a:avLst/>
          </a:prstGeom>
          <a:noFill/>
        </p:spPr>
        <p:txBody>
          <a:bodyPr wrap="none" lIns="0" rIns="0" tIns="0" bIns="0">
            <a:spAutoFit/>
          </a:bodyPr>
          <a:lstStyle/>
          <a:p>
            <a:r>
              <a:rPr sz="1150" b="0">
                <a:solidFill>
                  <a:srgbClr val="252423"/>
                </a:solidFill>
                <a:latin typeface="Segoe UI"/>
              </a:rPr>
              <a:t>▪ Leadership shifts across formulations a strong position in one product type does not carry over to the others, so product-level targeting is essential.</a:t>
            </a:r>
          </a:p>
        </p:txBody>
      </p:sp>
      <p:sp>
        <p:nvSpPr>
          <p:cNvPr id="41" name="TextBox 40"/>
          <p:cNvSpPr txBox="1"/>
          <p:nvPr/>
        </p:nvSpPr>
        <p:spPr>
          <a:xfrm>
            <a:off x="276225" y="5705853"/>
            <a:ext cx="7791226" cy="194310"/>
          </a:xfrm>
          <a:prstGeom prst="rect">
            <a:avLst/>
          </a:prstGeom>
          <a:noFill/>
        </p:spPr>
        <p:txBody>
          <a:bodyPr wrap="none" lIns="0" rIns="0" tIns="0" bIns="0">
            <a:spAutoFit/>
          </a:bodyPr>
          <a:lstStyle/>
          <a:p>
            <a:r>
              <a:rPr sz="1150" b="0">
                <a:solidFill>
                  <a:srgbClr val="252423"/>
                </a:solidFill>
                <a:latin typeface="Segoe UI"/>
              </a:rPr>
              <a:t>▪ Note: competitor figures are indicative derived from market modelling and expert validation, not company disclosures.</a:t>
            </a:r>
          </a:p>
        </p:txBody>
      </p:sp>
      <p:sp>
        <p:nvSpPr>
          <p:cNvPr id="42" name="lockshield_11"/>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4"/>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Company Share by Region (Top 3)</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Company value share within the largest regions, highlighting where leadership shifts across geographies</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Company value share within each of the largest regions where each player concentrates, and how leadership varies by geography.</a:t>
            </a:r>
          </a:p>
        </p:txBody>
      </p:sp>
      <p:sp>
        <p:nvSpPr>
          <p:cNvPr id="9" name="Rectangle 8"/>
          <p:cNvSpPr/>
          <p:nvPr/>
        </p:nvSpPr>
        <p:spPr>
          <a:xfrm>
            <a:off x="14287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a:t>
            </a:r>
          </a:p>
        </p:txBody>
      </p:sp>
      <p:graphicFrame>
        <p:nvGraphicFramePr>
          <p:cNvPr id="11" name="Chart 10"/>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2" name="Rectangle 11"/>
          <p:cNvSpPr/>
          <p:nvPr/>
        </p:nvSpPr>
        <p:spPr>
          <a:xfrm>
            <a:off x="4124325" y="1299320"/>
            <a:ext cx="38290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&amp; Pacific</a:t>
            </a:r>
          </a:p>
        </p:txBody>
      </p:sp>
      <p:graphicFrame>
        <p:nvGraphicFramePr>
          <p:cNvPr id="14" name="Chart 13"/>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5" name="Rectangle 14"/>
          <p:cNvSpPr/>
          <p:nvPr/>
        </p:nvSpPr>
        <p:spPr>
          <a:xfrm>
            <a:off x="8105775" y="1299320"/>
            <a:ext cx="3943350" cy="321265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a:t>
            </a:r>
          </a:p>
        </p:txBody>
      </p:sp>
      <p:graphicFrame>
        <p:nvGraphicFramePr>
          <p:cNvPr id="17" name="Chart 16"/>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8" name="Rectangle 17"/>
          <p:cNvSpPr/>
          <p:nvPr/>
        </p:nvSpPr>
        <p:spPr>
          <a:xfrm>
            <a:off x="142875" y="4603240"/>
            <a:ext cx="11906250" cy="197139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Company Share Key Takeaways</a:t>
            </a:r>
          </a:p>
        </p:txBody>
      </p:sp>
      <p:sp>
        <p:nvSpPr>
          <p:cNvPr id="20" name="Rectangle 19"/>
          <p:cNvSpPr/>
          <p:nvPr/>
        </p:nvSpPr>
        <p:spPr>
          <a:xfrm>
            <a:off x="276225" y="492709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618333" cy="194310"/>
          </a:xfrm>
          <a:prstGeom prst="rect">
            <a:avLst/>
          </a:prstGeom>
          <a:noFill/>
        </p:spPr>
        <p:txBody>
          <a:bodyPr wrap="none" lIns="0" rIns="0" tIns="0" bIns="0">
            <a:spAutoFit/>
          </a:bodyPr>
          <a:lstStyle/>
          <a:p>
            <a:r>
              <a:rPr sz="1150" b="0">
                <a:solidFill>
                  <a:srgbClr val="252423"/>
                </a:solidFill>
                <a:latin typeface="Segoe UI"/>
              </a:rPr>
              <a:t>▪ North America: 'Air Liquide' leads at ~</a:t>
            </a:r>
          </a:p>
        </p:txBody>
      </p:sp>
      <p:pic>
        <p:nvPicPr>
          <p:cNvPr id="27" name="Picture 26" descr="lock.png"/>
          <p:cNvPicPr>
            <a:picLocks noChangeAspect="1"/>
          </p:cNvPicPr>
          <p:nvPr/>
        </p:nvPicPr>
        <p:blipFill>
          <a:blip r:embed="rId7"/>
          <a:stretch>
            <a:fillRect/>
          </a:stretch>
        </p:blipFill>
        <p:spPr>
          <a:xfrm>
            <a:off x="2843712" y="5012116"/>
            <a:ext cx="134549" cy="195707"/>
          </a:xfrm>
          <a:prstGeom prst="rect">
            <a:avLst/>
          </a:prstGeom>
        </p:spPr>
      </p:pic>
      <p:sp>
        <p:nvSpPr>
          <p:cNvPr id="28" name="TextBox 27"/>
          <p:cNvSpPr txBox="1"/>
          <p:nvPr/>
        </p:nvSpPr>
        <p:spPr>
          <a:xfrm>
            <a:off x="3018821" y="5022340"/>
            <a:ext cx="1353696" cy="194310"/>
          </a:xfrm>
          <a:prstGeom prst="rect">
            <a:avLst/>
          </a:prstGeom>
          <a:noFill/>
        </p:spPr>
        <p:txBody>
          <a:bodyPr wrap="none" lIns="0" rIns="0" tIns="0" bIns="0">
            <a:spAutoFit/>
          </a:bodyPr>
          <a:lstStyle/>
          <a:p>
            <a:r>
              <a:rPr sz="1150" b="0">
                <a:solidFill>
                  <a:srgbClr val="252423"/>
                </a:solidFill>
                <a:latin typeface="Segoe UI"/>
              </a:rPr>
              <a:t>, ahead of 'Linde' (~</a:t>
            </a:r>
          </a:p>
        </p:txBody>
      </p:sp>
      <p:pic>
        <p:nvPicPr>
          <p:cNvPr id="29" name="Picture 28" descr="lock.png"/>
          <p:cNvPicPr>
            <a:picLocks noChangeAspect="1"/>
          </p:cNvPicPr>
          <p:nvPr/>
        </p:nvPicPr>
        <p:blipFill>
          <a:blip r:embed="rId7"/>
          <a:stretch>
            <a:fillRect/>
          </a:stretch>
        </p:blipFill>
        <p:spPr>
          <a:xfrm>
            <a:off x="4321672" y="5012116"/>
            <a:ext cx="134549" cy="195707"/>
          </a:xfrm>
          <a:prstGeom prst="rect">
            <a:avLst/>
          </a:prstGeom>
        </p:spPr>
      </p:pic>
      <p:sp>
        <p:nvSpPr>
          <p:cNvPr id="30" name="TextBox 29"/>
          <p:cNvSpPr txBox="1"/>
          <p:nvPr/>
        </p:nvSpPr>
        <p:spPr>
          <a:xfrm>
            <a:off x="4496781" y="5022340"/>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31" name="Picture 30" descr="lock.png"/>
          <p:cNvPicPr>
            <a:picLocks noChangeAspect="1"/>
          </p:cNvPicPr>
          <p:nvPr/>
        </p:nvPicPr>
        <p:blipFill>
          <a:blip r:embed="rId7"/>
          <a:stretch>
            <a:fillRect/>
          </a:stretch>
        </p:blipFill>
        <p:spPr>
          <a:xfrm>
            <a:off x="5953205" y="5012116"/>
            <a:ext cx="134549" cy="195707"/>
          </a:xfrm>
          <a:prstGeom prst="rect">
            <a:avLst/>
          </a:prstGeom>
        </p:spPr>
      </p:pic>
      <p:sp>
        <p:nvSpPr>
          <p:cNvPr id="32" name="TextBox 31"/>
          <p:cNvSpPr txBox="1"/>
          <p:nvPr/>
        </p:nvSpPr>
        <p:spPr>
          <a:xfrm>
            <a:off x="6128314" y="5022340"/>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33" name="Picture 32" descr="lock.png"/>
          <p:cNvPicPr>
            <a:picLocks noChangeAspect="1"/>
          </p:cNvPicPr>
          <p:nvPr/>
        </p:nvPicPr>
        <p:blipFill>
          <a:blip r:embed="rId7"/>
          <a:stretch>
            <a:fillRect/>
          </a:stretch>
        </p:blipFill>
        <p:spPr>
          <a:xfrm>
            <a:off x="7842959" y="5012116"/>
            <a:ext cx="134549" cy="195707"/>
          </a:xfrm>
          <a:prstGeom prst="rect">
            <a:avLst/>
          </a:prstGeom>
        </p:spPr>
      </p:pic>
      <p:sp>
        <p:nvSpPr>
          <p:cNvPr id="34" name="TextBox 33"/>
          <p:cNvSpPr txBox="1"/>
          <p:nvPr/>
        </p:nvSpPr>
        <p:spPr>
          <a:xfrm>
            <a:off x="8018069" y="5022340"/>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35" name="TextBox 34"/>
          <p:cNvSpPr txBox="1"/>
          <p:nvPr/>
        </p:nvSpPr>
        <p:spPr>
          <a:xfrm>
            <a:off x="276225" y="5250177"/>
            <a:ext cx="2964493" cy="194310"/>
          </a:xfrm>
          <a:prstGeom prst="rect">
            <a:avLst/>
          </a:prstGeom>
          <a:noFill/>
        </p:spPr>
        <p:txBody>
          <a:bodyPr wrap="none" lIns="0" rIns="0" tIns="0" bIns="0">
            <a:spAutoFit/>
          </a:bodyPr>
          <a:lstStyle/>
          <a:p>
            <a:r>
              <a:rPr sz="1150" b="0">
                <a:solidFill>
                  <a:srgbClr val="252423"/>
                </a:solidFill>
                <a:latin typeface="Segoe UI"/>
              </a:rPr>
              <a:t>▪ South Asia &amp; Pacific: 'Air Liquide' leads at ~</a:t>
            </a:r>
          </a:p>
        </p:txBody>
      </p:sp>
      <p:pic>
        <p:nvPicPr>
          <p:cNvPr id="36" name="Picture 35" descr="lock.png"/>
          <p:cNvPicPr>
            <a:picLocks noChangeAspect="1"/>
          </p:cNvPicPr>
          <p:nvPr/>
        </p:nvPicPr>
        <p:blipFill>
          <a:blip r:embed="rId7"/>
          <a:stretch>
            <a:fillRect/>
          </a:stretch>
        </p:blipFill>
        <p:spPr>
          <a:xfrm>
            <a:off x="3189872" y="5239954"/>
            <a:ext cx="134549" cy="195707"/>
          </a:xfrm>
          <a:prstGeom prst="rect">
            <a:avLst/>
          </a:prstGeom>
        </p:spPr>
      </p:pic>
      <p:sp>
        <p:nvSpPr>
          <p:cNvPr id="37" name="TextBox 36"/>
          <p:cNvSpPr txBox="1"/>
          <p:nvPr/>
        </p:nvSpPr>
        <p:spPr>
          <a:xfrm>
            <a:off x="3364982" y="5250177"/>
            <a:ext cx="1602268" cy="194310"/>
          </a:xfrm>
          <a:prstGeom prst="rect">
            <a:avLst/>
          </a:prstGeom>
          <a:noFill/>
        </p:spPr>
        <p:txBody>
          <a:bodyPr wrap="none" lIns="0" rIns="0" tIns="0" bIns="0">
            <a:spAutoFit/>
          </a:bodyPr>
          <a:lstStyle/>
          <a:p>
            <a:r>
              <a:rPr sz="1150" b="0">
                <a:solidFill>
                  <a:srgbClr val="252423"/>
                </a:solidFill>
                <a:latin typeface="Segoe UI"/>
              </a:rPr>
              <a:t>, ahead of 'Chemgas' (~</a:t>
            </a:r>
          </a:p>
        </p:txBody>
      </p:sp>
      <p:pic>
        <p:nvPicPr>
          <p:cNvPr id="38" name="Picture 37" descr="lock.png"/>
          <p:cNvPicPr>
            <a:picLocks noChangeAspect="1"/>
          </p:cNvPicPr>
          <p:nvPr/>
        </p:nvPicPr>
        <p:blipFill>
          <a:blip r:embed="rId7"/>
          <a:stretch>
            <a:fillRect/>
          </a:stretch>
        </p:blipFill>
        <p:spPr>
          <a:xfrm>
            <a:off x="4916404" y="5239954"/>
            <a:ext cx="134549" cy="195707"/>
          </a:xfrm>
          <a:prstGeom prst="rect">
            <a:avLst/>
          </a:prstGeom>
        </p:spPr>
      </p:pic>
      <p:sp>
        <p:nvSpPr>
          <p:cNvPr id="39" name="TextBox 38"/>
          <p:cNvSpPr txBox="1"/>
          <p:nvPr/>
        </p:nvSpPr>
        <p:spPr>
          <a:xfrm>
            <a:off x="5091513" y="5250177"/>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0" name="Picture 39" descr="lock.png"/>
          <p:cNvPicPr>
            <a:picLocks noChangeAspect="1"/>
          </p:cNvPicPr>
          <p:nvPr/>
        </p:nvPicPr>
        <p:blipFill>
          <a:blip r:embed="rId7"/>
          <a:stretch>
            <a:fillRect/>
          </a:stretch>
        </p:blipFill>
        <p:spPr>
          <a:xfrm>
            <a:off x="6547937" y="5239954"/>
            <a:ext cx="134549" cy="195707"/>
          </a:xfrm>
          <a:prstGeom prst="rect">
            <a:avLst/>
          </a:prstGeom>
        </p:spPr>
      </p:pic>
      <p:sp>
        <p:nvSpPr>
          <p:cNvPr id="41" name="TextBox 40"/>
          <p:cNvSpPr txBox="1"/>
          <p:nvPr/>
        </p:nvSpPr>
        <p:spPr>
          <a:xfrm>
            <a:off x="6723046" y="5250177"/>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42" name="Picture 41" descr="lock.png"/>
          <p:cNvPicPr>
            <a:picLocks noChangeAspect="1"/>
          </p:cNvPicPr>
          <p:nvPr/>
        </p:nvPicPr>
        <p:blipFill>
          <a:blip r:embed="rId7"/>
          <a:stretch>
            <a:fillRect/>
          </a:stretch>
        </p:blipFill>
        <p:spPr>
          <a:xfrm>
            <a:off x="8437691" y="5239954"/>
            <a:ext cx="134549" cy="195707"/>
          </a:xfrm>
          <a:prstGeom prst="rect">
            <a:avLst/>
          </a:prstGeom>
        </p:spPr>
      </p:pic>
      <p:sp>
        <p:nvSpPr>
          <p:cNvPr id="43" name="TextBox 42"/>
          <p:cNvSpPr txBox="1"/>
          <p:nvPr/>
        </p:nvSpPr>
        <p:spPr>
          <a:xfrm>
            <a:off x="8612801" y="5250177"/>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4" name="TextBox 43"/>
          <p:cNvSpPr txBox="1"/>
          <p:nvPr/>
        </p:nvSpPr>
        <p:spPr>
          <a:xfrm>
            <a:off x="276225" y="5478015"/>
            <a:ext cx="2241446" cy="194310"/>
          </a:xfrm>
          <a:prstGeom prst="rect">
            <a:avLst/>
          </a:prstGeom>
          <a:noFill/>
        </p:spPr>
        <p:txBody>
          <a:bodyPr wrap="none" lIns="0" rIns="0" tIns="0" bIns="0">
            <a:spAutoFit/>
          </a:bodyPr>
          <a:lstStyle/>
          <a:p>
            <a:r>
              <a:rPr sz="1150" b="0">
                <a:solidFill>
                  <a:srgbClr val="252423"/>
                </a:solidFill>
                <a:latin typeface="Segoe UI"/>
              </a:rPr>
              <a:t>▪ East Asia: 'Air Liquide' leads at ~</a:t>
            </a:r>
          </a:p>
        </p:txBody>
      </p:sp>
      <p:pic>
        <p:nvPicPr>
          <p:cNvPr id="45" name="Picture 44" descr="lock.png"/>
          <p:cNvPicPr>
            <a:picLocks noChangeAspect="1"/>
          </p:cNvPicPr>
          <p:nvPr/>
        </p:nvPicPr>
        <p:blipFill>
          <a:blip r:embed="rId7"/>
          <a:stretch>
            <a:fillRect/>
          </a:stretch>
        </p:blipFill>
        <p:spPr>
          <a:xfrm>
            <a:off x="2466825" y="5467792"/>
            <a:ext cx="134549" cy="195707"/>
          </a:xfrm>
          <a:prstGeom prst="rect">
            <a:avLst/>
          </a:prstGeom>
        </p:spPr>
      </p:pic>
      <p:sp>
        <p:nvSpPr>
          <p:cNvPr id="46" name="TextBox 45"/>
          <p:cNvSpPr txBox="1"/>
          <p:nvPr/>
        </p:nvSpPr>
        <p:spPr>
          <a:xfrm>
            <a:off x="2641934" y="5478015"/>
            <a:ext cx="1407123" cy="194310"/>
          </a:xfrm>
          <a:prstGeom prst="rect">
            <a:avLst/>
          </a:prstGeom>
          <a:noFill/>
        </p:spPr>
        <p:txBody>
          <a:bodyPr wrap="none" lIns="0" rIns="0" tIns="0" bIns="0">
            <a:spAutoFit/>
          </a:bodyPr>
          <a:lstStyle/>
          <a:p>
            <a:r>
              <a:rPr sz="1150" b="0">
                <a:solidFill>
                  <a:srgbClr val="252423"/>
                </a:solidFill>
                <a:latin typeface="Segoe UI"/>
              </a:rPr>
              <a:t>, ahead of 'Airgas' (~</a:t>
            </a:r>
          </a:p>
        </p:txBody>
      </p:sp>
      <p:pic>
        <p:nvPicPr>
          <p:cNvPr id="47" name="Picture 46" descr="lock.png"/>
          <p:cNvPicPr>
            <a:picLocks noChangeAspect="1"/>
          </p:cNvPicPr>
          <p:nvPr/>
        </p:nvPicPr>
        <p:blipFill>
          <a:blip r:embed="rId7"/>
          <a:stretch>
            <a:fillRect/>
          </a:stretch>
        </p:blipFill>
        <p:spPr>
          <a:xfrm>
            <a:off x="3998212" y="5467792"/>
            <a:ext cx="134549" cy="195707"/>
          </a:xfrm>
          <a:prstGeom prst="rect">
            <a:avLst/>
          </a:prstGeom>
        </p:spPr>
      </p:pic>
      <p:sp>
        <p:nvSpPr>
          <p:cNvPr id="48" name="TextBox 47"/>
          <p:cNvSpPr txBox="1"/>
          <p:nvPr/>
        </p:nvSpPr>
        <p:spPr>
          <a:xfrm>
            <a:off x="4173321" y="5478015"/>
            <a:ext cx="1507269" cy="194310"/>
          </a:xfrm>
          <a:prstGeom prst="rect">
            <a:avLst/>
          </a:prstGeom>
          <a:noFill/>
        </p:spPr>
        <p:txBody>
          <a:bodyPr wrap="none" lIns="0" rIns="0" tIns="0" bIns="0">
            <a:spAutoFit/>
          </a:bodyPr>
          <a:lstStyle/>
          <a:p>
            <a:r>
              <a:rPr sz="1150" b="0">
                <a:solidFill>
                  <a:srgbClr val="252423"/>
                </a:solidFill>
                <a:latin typeface="Segoe UI"/>
              </a:rPr>
              <a:t>); the top three hold ~</a:t>
            </a:r>
          </a:p>
        </p:txBody>
      </p:sp>
      <p:pic>
        <p:nvPicPr>
          <p:cNvPr id="49" name="Picture 48" descr="lock.png"/>
          <p:cNvPicPr>
            <a:picLocks noChangeAspect="1"/>
          </p:cNvPicPr>
          <p:nvPr/>
        </p:nvPicPr>
        <p:blipFill>
          <a:blip r:embed="rId7"/>
          <a:stretch>
            <a:fillRect/>
          </a:stretch>
        </p:blipFill>
        <p:spPr>
          <a:xfrm>
            <a:off x="5629745" y="5467792"/>
            <a:ext cx="134549" cy="195707"/>
          </a:xfrm>
          <a:prstGeom prst="rect">
            <a:avLst/>
          </a:prstGeom>
        </p:spPr>
      </p:pic>
      <p:sp>
        <p:nvSpPr>
          <p:cNvPr id="50" name="TextBox 49"/>
          <p:cNvSpPr txBox="1"/>
          <p:nvPr/>
        </p:nvSpPr>
        <p:spPr>
          <a:xfrm>
            <a:off x="5804854" y="5478015"/>
            <a:ext cx="1765491" cy="194310"/>
          </a:xfrm>
          <a:prstGeom prst="rect">
            <a:avLst/>
          </a:prstGeom>
          <a:noFill/>
        </p:spPr>
        <p:txBody>
          <a:bodyPr wrap="none" lIns="0" rIns="0" tIns="0" bIns="0">
            <a:spAutoFit/>
          </a:bodyPr>
          <a:lstStyle/>
          <a:p>
            <a:r>
              <a:rPr sz="1150" b="0">
                <a:solidFill>
                  <a:srgbClr val="252423"/>
                </a:solidFill>
                <a:latin typeface="Segoe UI"/>
              </a:rPr>
              <a:t>and a long tail ('Others') ~</a:t>
            </a:r>
          </a:p>
        </p:txBody>
      </p:sp>
      <p:pic>
        <p:nvPicPr>
          <p:cNvPr id="51" name="Picture 50" descr="lock.png"/>
          <p:cNvPicPr>
            <a:picLocks noChangeAspect="1"/>
          </p:cNvPicPr>
          <p:nvPr/>
        </p:nvPicPr>
        <p:blipFill>
          <a:blip r:embed="rId7"/>
          <a:stretch>
            <a:fillRect/>
          </a:stretch>
        </p:blipFill>
        <p:spPr>
          <a:xfrm>
            <a:off x="7519499" y="5467792"/>
            <a:ext cx="134549" cy="195707"/>
          </a:xfrm>
          <a:prstGeom prst="rect">
            <a:avLst/>
          </a:prstGeom>
        </p:spPr>
      </p:pic>
      <p:sp>
        <p:nvSpPr>
          <p:cNvPr id="52" name="TextBox 51"/>
          <p:cNvSpPr txBox="1"/>
          <p:nvPr/>
        </p:nvSpPr>
        <p:spPr>
          <a:xfrm>
            <a:off x="7694609" y="5478015"/>
            <a:ext cx="107863" cy="194310"/>
          </a:xfrm>
          <a:prstGeom prst="rect">
            <a:avLst/>
          </a:prstGeom>
          <a:noFill/>
        </p:spPr>
        <p:txBody>
          <a:bodyPr wrap="none" lIns="0" rIns="0" tIns="0" bIns="0">
            <a:spAutoFit/>
          </a:bodyPr>
          <a:lstStyle/>
          <a:p>
            <a:r>
              <a:rPr sz="1150" b="0">
                <a:solidFill>
                  <a:srgbClr val="252423"/>
                </a:solidFill>
                <a:latin typeface="Segoe UI"/>
              </a:rPr>
              <a:t>.</a:t>
            </a:r>
          </a:p>
        </p:txBody>
      </p:sp>
      <p:sp>
        <p:nvSpPr>
          <p:cNvPr id="53" name="TextBox 52"/>
          <p:cNvSpPr txBox="1"/>
          <p:nvPr/>
        </p:nvSpPr>
        <p:spPr>
          <a:xfrm>
            <a:off x="276225" y="5705853"/>
            <a:ext cx="10592548" cy="194310"/>
          </a:xfrm>
          <a:prstGeom prst="rect">
            <a:avLst/>
          </a:prstGeom>
          <a:noFill/>
        </p:spPr>
        <p:txBody>
          <a:bodyPr wrap="none" lIns="0" rIns="0" tIns="0" bIns="0">
            <a:spAutoFit/>
          </a:bodyPr>
          <a:lstStyle/>
          <a:p>
            <a:r>
              <a:rPr sz="1150" b="0">
                <a:solidFill>
                  <a:srgbClr val="252423"/>
                </a:solidFill>
                <a:latin typeface="Segoe U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933691"/>
            <a:ext cx="7791226" cy="194310"/>
          </a:xfrm>
          <a:prstGeom prst="rect">
            <a:avLst/>
          </a:prstGeom>
          <a:noFill/>
        </p:spPr>
        <p:txBody>
          <a:bodyPr wrap="none" lIns="0" rIns="0" tIns="0" bIns="0">
            <a:spAutoFit/>
          </a:bodyPr>
          <a:lstStyle/>
          <a:p>
            <a:r>
              <a:rPr sz="1150" b="0">
                <a:solidFill>
                  <a:srgbClr val="252423"/>
                </a:solidFill>
                <a:latin typeface="Segoe UI"/>
              </a:rPr>
              <a:t>▪ Note: competitor figures are indicative derived from market modelling and expert validation, not company disclosures.</a:t>
            </a:r>
          </a:p>
        </p:txBody>
      </p:sp>
      <p:sp>
        <p:nvSpPr>
          <p:cNvPr id="55" name="lockshield_11"/>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4"/>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7"/>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Helium-3 Market Who Shaped Growth</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Ranking of the players that shaped growth, by value share, growth role and signature move</a:t>
            </a:r>
          </a:p>
        </p:txBody>
      </p:sp>
      <p:sp>
        <p:nvSpPr>
          <p:cNvPr id="8" name="TextBox 7"/>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05E5C"/>
                </a:solidFill>
                <a:latin typeface="Segoe UI"/>
              </a:rPr>
              <a:t>A framework to identify the companies that most influenced annual Helium-3 Market growth, ranked by growth-shaping impact.</a:t>
            </a:r>
          </a:p>
        </p:txBody>
      </p:sp>
      <p:sp>
        <p:nvSpPr>
          <p:cNvPr id="9" name="Rounded Rectangle 8"/>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E3A5F"/>
                </a:solidFill>
                <a:latin typeface="Segoe UI"/>
              </a:rPr>
              <a:t>RANKED BY GROWTH-SHAPING IMPACT</a:t>
            </a:r>
          </a:p>
        </p:txBody>
      </p:sp>
      <p:sp>
        <p:nvSpPr>
          <p:cNvPr id="11" name="TextBox 10"/>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05E5C"/>
                </a:solidFill>
                <a:latin typeface="Segoe UI"/>
              </a:rPr>
              <a:t>Ranked by overall contribution to category growth, not share alone.</a:t>
            </a:r>
          </a:p>
        </p:txBody>
      </p:sp>
      <p:cxnSp>
        <p:nvCxnSpPr>
          <p:cNvPr id="12" name="Connector 11"/>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3875" y="1792170"/>
            <a:ext cx="11106150" cy="0"/>
          </a:xfrm>
          <a:prstGeom prst="line">
            <a:avLst/>
          </a:prstGeom>
          <a:ln w="25400">
            <a:solidFill>
              <a:srgbClr val="0E3A5F"/>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52525" y="1655267"/>
            <a:ext cx="285750" cy="273805"/>
          </a:xfrm>
          <a:prstGeom prst="ellipse">
            <a:avLst/>
          </a:prstGeom>
          <a:solidFill>
            <a:srgbClr val="0E5AA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1</a:t>
            </a:r>
          </a:p>
        </p:txBody>
      </p:sp>
      <p:sp>
        <p:nvSpPr>
          <p:cNvPr id="18" name="Rounded Rectangle 17"/>
          <p:cNvSpPr/>
          <p:nvPr/>
        </p:nvSpPr>
        <p:spPr>
          <a:xfrm>
            <a:off x="142875" y="1992961"/>
            <a:ext cx="2305050" cy="2135683"/>
          </a:xfrm>
          <a:prstGeom prst="roundRect">
            <a:avLst>
              <a:gd name="adj" fmla="val 3719"/>
            </a:avLst>
          </a:prstGeom>
          <a:solidFill>
            <a:srgbClr val="FFFFFF"/>
          </a:solidFill>
          <a:ln w="2032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2875" y="1992961"/>
            <a:ext cx="2305050" cy="310313"/>
          </a:xfrm>
          <a:prstGeom prst="roundRect">
            <a:avLst>
              <a:gd name="adj" fmla="val 3719"/>
            </a:avLst>
          </a:prstGeom>
          <a:solidFill>
            <a:srgbClr val="0E5AA7"/>
          </a:solidFill>
          <a:ln w="1270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22" name="TextBox 21"/>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Air Liquide</a:t>
            </a:r>
          </a:p>
        </p:txBody>
      </p:sp>
      <p:sp>
        <p:nvSpPr>
          <p:cNvPr id="23" name="TextBox 22"/>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4" name="TextBox 23"/>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25" name="Connector 24"/>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27" name="TextBox 26"/>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28" name="TextBox 27"/>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5AA7"/>
                </a:solidFill>
                <a:latin typeface="Segoe UI"/>
              </a:rPr>
              <a:t>Market leader</a:t>
            </a:r>
          </a:p>
        </p:txBody>
      </p:sp>
      <p:cxnSp>
        <p:nvCxnSpPr>
          <p:cNvPr id="29" name="Connector 28"/>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1" name="TextBox 30"/>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32" name="TextBox 31"/>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Expanded reach across its core segment</a:t>
            </a:r>
          </a:p>
        </p:txBody>
      </p:sp>
      <p:cxnSp>
        <p:nvCxnSpPr>
          <p:cNvPr id="33" name="Connector 32"/>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35" name="TextBox 34"/>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36" name="TextBox 35"/>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New launch</a:t>
            </a:r>
          </a:p>
        </p:txBody>
      </p:sp>
      <p:sp>
        <p:nvSpPr>
          <p:cNvPr id="37" name="Oval 36"/>
          <p:cNvSpPr/>
          <p:nvPr/>
        </p:nvSpPr>
        <p:spPr>
          <a:xfrm>
            <a:off x="3552825" y="1655267"/>
            <a:ext cx="285750" cy="273805"/>
          </a:xfrm>
          <a:prstGeom prst="ellipse">
            <a:avLst/>
          </a:prstGeom>
          <a:solidFill>
            <a:srgbClr val="E883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2</a:t>
            </a:r>
          </a:p>
        </p:txBody>
      </p:sp>
      <p:sp>
        <p:nvSpPr>
          <p:cNvPr id="39" name="Rounded Rectangle 38"/>
          <p:cNvSpPr/>
          <p:nvPr/>
        </p:nvSpPr>
        <p:spPr>
          <a:xfrm>
            <a:off x="2543175" y="1992961"/>
            <a:ext cx="2305050" cy="2135683"/>
          </a:xfrm>
          <a:prstGeom prst="roundRect">
            <a:avLst>
              <a:gd name="adj" fmla="val 3719"/>
            </a:avLst>
          </a:prstGeom>
          <a:solidFill>
            <a:srgbClr val="FFFFFF"/>
          </a:solidFill>
          <a:ln w="2032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543175" y="1992961"/>
            <a:ext cx="2305050" cy="310313"/>
          </a:xfrm>
          <a:prstGeom prst="roundRect">
            <a:avLst>
              <a:gd name="adj" fmla="val 3719"/>
            </a:avLst>
          </a:prstGeom>
          <a:solidFill>
            <a:srgbClr val="E8833A"/>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43" name="TextBox 42"/>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Linde</a:t>
            </a:r>
          </a:p>
        </p:txBody>
      </p:sp>
      <p:sp>
        <p:nvSpPr>
          <p:cNvPr id="44" name="TextBox 43"/>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5" name="TextBox 44"/>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46" name="Connector 45"/>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48" name="TextBox 47"/>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49" name="TextBox 48"/>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E8833A"/>
                </a:solidFill>
                <a:latin typeface="Segoe UI"/>
              </a:rPr>
              <a:t>Portfolio expander</a:t>
            </a:r>
          </a:p>
        </p:txBody>
      </p:sp>
      <p:cxnSp>
        <p:nvCxnSpPr>
          <p:cNvPr id="50" name="Connector 49"/>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2" name="TextBox 51"/>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53" name="TextBox 52"/>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Drove new customer adoption</a:t>
            </a:r>
          </a:p>
        </p:txBody>
      </p:sp>
      <p:cxnSp>
        <p:nvCxnSpPr>
          <p:cNvPr id="54" name="Connector 53"/>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56" name="TextBox 55"/>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57" name="TextBox 56"/>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Channel expansion</a:t>
            </a:r>
          </a:p>
        </p:txBody>
      </p:sp>
      <p:sp>
        <p:nvSpPr>
          <p:cNvPr id="58" name="Oval 57"/>
          <p:cNvSpPr/>
          <p:nvPr/>
        </p:nvSpPr>
        <p:spPr>
          <a:xfrm>
            <a:off x="5953125" y="1655267"/>
            <a:ext cx="285750" cy="273805"/>
          </a:xfrm>
          <a:prstGeom prst="ellipse">
            <a:avLst/>
          </a:prstGeom>
          <a:solidFill>
            <a:srgbClr val="5B7C9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3</a:t>
            </a:r>
          </a:p>
        </p:txBody>
      </p:sp>
      <p:sp>
        <p:nvSpPr>
          <p:cNvPr id="60" name="Rounded Rectangle 59"/>
          <p:cNvSpPr/>
          <p:nvPr/>
        </p:nvSpPr>
        <p:spPr>
          <a:xfrm>
            <a:off x="4943475" y="1992961"/>
            <a:ext cx="2305050" cy="2135683"/>
          </a:xfrm>
          <a:prstGeom prst="roundRect">
            <a:avLst>
              <a:gd name="adj" fmla="val 3719"/>
            </a:avLst>
          </a:prstGeom>
          <a:solidFill>
            <a:srgbClr val="FFFFFF"/>
          </a:solidFill>
          <a:ln w="2032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4943475" y="1992961"/>
            <a:ext cx="2305050" cy="310313"/>
          </a:xfrm>
          <a:prstGeom prst="roundRect">
            <a:avLst>
              <a:gd name="adj" fmla="val 371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64" name="TextBox 63"/>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Chemgas</a:t>
            </a:r>
          </a:p>
        </p:txBody>
      </p:sp>
      <p:sp>
        <p:nvSpPr>
          <p:cNvPr id="65" name="TextBox 64"/>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6" name="TextBox 65"/>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67" name="Connector 66"/>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69" name="TextBox 68"/>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70" name="TextBox 69"/>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5B7C99"/>
                </a:solidFill>
                <a:latin typeface="Segoe UI"/>
              </a:rPr>
              <a:t>Access builder</a:t>
            </a:r>
          </a:p>
        </p:txBody>
      </p:sp>
      <p:cxnSp>
        <p:nvCxnSpPr>
          <p:cNvPr id="71" name="Connector 70"/>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3" name="TextBox 72"/>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74" name="TextBox 73"/>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Won through wider channel availability</a:t>
            </a:r>
          </a:p>
        </p:txBody>
      </p:sp>
      <p:cxnSp>
        <p:nvCxnSpPr>
          <p:cNvPr id="75" name="Connector 74"/>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77" name="TextBox 76"/>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78" name="TextBox 77"/>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Pricing strategy</a:t>
            </a:r>
          </a:p>
        </p:txBody>
      </p:sp>
      <p:sp>
        <p:nvSpPr>
          <p:cNvPr id="79" name="Oval 78"/>
          <p:cNvSpPr/>
          <p:nvPr/>
        </p:nvSpPr>
        <p:spPr>
          <a:xfrm>
            <a:off x="8353425" y="1655267"/>
            <a:ext cx="285750" cy="273805"/>
          </a:xfrm>
          <a:prstGeom prst="ellipse">
            <a:avLst/>
          </a:prstGeom>
          <a:solidFill>
            <a:srgbClr val="8A55C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4</a:t>
            </a:r>
          </a:p>
        </p:txBody>
      </p:sp>
      <p:sp>
        <p:nvSpPr>
          <p:cNvPr id="81" name="Rounded Rectangle 80"/>
          <p:cNvSpPr/>
          <p:nvPr/>
        </p:nvSpPr>
        <p:spPr>
          <a:xfrm>
            <a:off x="7343775" y="1992961"/>
            <a:ext cx="2305050" cy="2135683"/>
          </a:xfrm>
          <a:prstGeom prst="roundRect">
            <a:avLst>
              <a:gd name="adj" fmla="val 3719"/>
            </a:avLst>
          </a:prstGeom>
          <a:solidFill>
            <a:srgbClr val="FFFFFF"/>
          </a:solidFill>
          <a:ln w="2032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343775" y="1992961"/>
            <a:ext cx="2305050" cy="310313"/>
          </a:xfrm>
          <a:prstGeom prst="roundRect">
            <a:avLst>
              <a:gd name="adj" fmla="val 3719"/>
            </a:avLst>
          </a:prstGeom>
          <a:solidFill>
            <a:srgbClr val="8A55C8"/>
          </a:solidFill>
          <a:ln w="1270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85" name="TextBox 84"/>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Airgas</a:t>
            </a:r>
          </a:p>
        </p:txBody>
      </p:sp>
      <p:sp>
        <p:nvSpPr>
          <p:cNvPr id="86" name="TextBox 85"/>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87" name="TextBox 86"/>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88" name="Connector 87"/>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0" name="TextBox 89"/>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91" name="TextBox 90"/>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8A55C8"/>
                </a:solidFill>
                <a:latin typeface="Segoe UI"/>
              </a:rPr>
              <a:t>Premiumiser</a:t>
            </a:r>
          </a:p>
        </p:txBody>
      </p:sp>
      <p:cxnSp>
        <p:nvCxnSpPr>
          <p:cNvPr id="92" name="Connector 91"/>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4" name="TextBox 93"/>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95" name="TextBox 94"/>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Supported premium SKU growth</a:t>
            </a:r>
          </a:p>
        </p:txBody>
      </p:sp>
      <p:cxnSp>
        <p:nvCxnSpPr>
          <p:cNvPr id="96" name="Connector 95"/>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98" name="TextBox 97"/>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99" name="TextBox 98"/>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Portfolio/brand investment</a:t>
            </a:r>
          </a:p>
        </p:txBody>
      </p:sp>
      <p:sp>
        <p:nvSpPr>
          <p:cNvPr id="100" name="Oval 99"/>
          <p:cNvSpPr/>
          <p:nvPr/>
        </p:nvSpPr>
        <p:spPr>
          <a:xfrm>
            <a:off x="10753725" y="1655267"/>
            <a:ext cx="285750" cy="273805"/>
          </a:xfrm>
          <a:prstGeom prst="ellipse">
            <a:avLst/>
          </a:prstGeom>
          <a:solidFill>
            <a:srgbClr val="D99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Segoe UI"/>
              </a:rPr>
              <a:t>5</a:t>
            </a:r>
          </a:p>
        </p:txBody>
      </p:sp>
      <p:sp>
        <p:nvSpPr>
          <p:cNvPr id="102" name="Rounded Rectangle 101"/>
          <p:cNvSpPr/>
          <p:nvPr/>
        </p:nvSpPr>
        <p:spPr>
          <a:xfrm>
            <a:off x="9744075" y="1992961"/>
            <a:ext cx="2305050" cy="2135683"/>
          </a:xfrm>
          <a:prstGeom prst="roundRect">
            <a:avLst>
              <a:gd name="adj" fmla="val 3719"/>
            </a:avLst>
          </a:prstGeom>
          <a:solidFill>
            <a:srgbClr val="FFFFFF"/>
          </a:solidFill>
          <a:ln w="2032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9744075" y="1992961"/>
            <a:ext cx="2305050" cy="310313"/>
          </a:xfrm>
          <a:prstGeom prst="roundRect">
            <a:avLst>
              <a:gd name="adj" fmla="val 3719"/>
            </a:avLst>
          </a:prstGeom>
          <a:solidFill>
            <a:srgbClr val="D9982A"/>
          </a:solidFill>
          <a:ln w="1270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52423"/>
                </a:solidFill>
                <a:latin typeface="Segoe UI"/>
              </a:rPr>
              <a:t>⚡</a:t>
            </a:r>
          </a:p>
        </p:txBody>
      </p:sp>
      <p:sp>
        <p:nvSpPr>
          <p:cNvPr id="106" name="TextBox 105"/>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Segoe UI"/>
              </a:rPr>
              <a:t>Merck KGaA</a:t>
            </a:r>
          </a:p>
        </p:txBody>
      </p:sp>
      <p:sp>
        <p:nvSpPr>
          <p:cNvPr id="107" name="TextBox 106"/>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08" name="TextBox 107"/>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52423"/>
                </a:solidFill>
                <a:latin typeface="Segoe UI"/>
              </a:rPr>
              <a:t/>
            </a:r>
          </a:p>
        </p:txBody>
      </p:sp>
      <p:cxnSp>
        <p:nvCxnSpPr>
          <p:cNvPr id="109" name="Connector 108"/>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1" name="TextBox 110"/>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05E5C"/>
                </a:solidFill>
                <a:latin typeface="Segoe UI"/>
              </a:rPr>
              <a:t>Growth role:</a:t>
            </a:r>
          </a:p>
        </p:txBody>
      </p:sp>
      <p:sp>
        <p:nvSpPr>
          <p:cNvPr id="112" name="TextBox 111"/>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D9982A"/>
                </a:solidFill>
                <a:latin typeface="Segoe UI"/>
              </a:rPr>
              <a:t>Disruptor</a:t>
            </a:r>
          </a:p>
        </p:txBody>
      </p:sp>
      <p:cxnSp>
        <p:nvCxnSpPr>
          <p:cNvPr id="113" name="Connector 112"/>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5" name="TextBox 114"/>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Why it shaped growth:</a:t>
            </a:r>
          </a:p>
        </p:txBody>
      </p:sp>
      <p:sp>
        <p:nvSpPr>
          <p:cNvPr id="116" name="TextBox 115"/>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Strengthened end-user and specifier pull</a:t>
            </a:r>
          </a:p>
        </p:txBody>
      </p:sp>
      <p:cxnSp>
        <p:nvCxnSpPr>
          <p:cNvPr id="117" name="Connector 116"/>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52423"/>
                </a:solidFill>
                <a:latin typeface="Segoe UI"/>
              </a:rPr>
              <a:t>🚀</a:t>
            </a:r>
          </a:p>
        </p:txBody>
      </p:sp>
      <p:sp>
        <p:nvSpPr>
          <p:cNvPr id="119" name="TextBox 118"/>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E3A5F"/>
                </a:solidFill>
                <a:latin typeface="Segoe UI"/>
              </a:rPr>
              <a:t>Signature move:</a:t>
            </a:r>
          </a:p>
        </p:txBody>
      </p:sp>
      <p:sp>
        <p:nvSpPr>
          <p:cNvPr id="120" name="TextBox 119"/>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Partnership / acquisition</a:t>
            </a:r>
          </a:p>
        </p:txBody>
      </p:sp>
      <p:sp>
        <p:nvSpPr>
          <p:cNvPr id="121" name="Rounded Rectangle 120"/>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E3A5F"/>
                </a:solidFill>
                <a:latin typeface="Segoe UI"/>
              </a:rPr>
              <a:t>HOW TO DECIDE WHO SHAPED GROWTH</a:t>
            </a:r>
          </a:p>
        </p:txBody>
      </p:sp>
      <p:sp>
        <p:nvSpPr>
          <p:cNvPr id="123" name="Oval 122"/>
          <p:cNvSpPr/>
          <p:nvPr/>
        </p:nvSpPr>
        <p:spPr>
          <a:xfrm>
            <a:off x="815340" y="4539352"/>
            <a:ext cx="400050" cy="383328"/>
          </a:xfrm>
          <a:prstGeom prst="ellipse">
            <a:avLst/>
          </a:prstGeom>
          <a:solidFill>
            <a:srgbClr val="FFFFFF"/>
          </a:solidFill>
          <a:ln w="1270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25" name="TextBox 124"/>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5AA7"/>
                </a:solidFill>
                <a:latin typeface="Segoe UI"/>
              </a:rPr>
              <a:t>1. SHARE GAIN</a:t>
            </a:r>
          </a:p>
        </p:txBody>
      </p:sp>
      <p:sp>
        <p:nvSpPr>
          <p:cNvPr id="126" name="TextBox 125"/>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Company gained value or volume share</a:t>
            </a:r>
          </a:p>
        </p:txBody>
      </p:sp>
      <p:sp>
        <p:nvSpPr>
          <p:cNvPr id="127" name="Rounded Rectangle 126"/>
          <p:cNvSpPr/>
          <p:nvPr/>
        </p:nvSpPr>
        <p:spPr>
          <a:xfrm>
            <a:off x="520065" y="6027028"/>
            <a:ext cx="990600" cy="237298"/>
          </a:xfrm>
          <a:prstGeom prst="roundRect">
            <a:avLst>
              <a:gd name="adj" fmla="val 11538"/>
            </a:avLst>
          </a:prstGeom>
          <a:solidFill>
            <a:srgbClr val="FFFFFF"/>
          </a:solidFill>
          <a:ln w="15240">
            <a:solidFill>
              <a:srgbClr val="0E5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5AA7"/>
                </a:solidFill>
                <a:latin typeface="Segoe UI"/>
              </a:rPr>
              <a:t> </a:t>
            </a:r>
          </a:p>
        </p:txBody>
      </p:sp>
      <p:sp>
        <p:nvSpPr>
          <p:cNvPr id="129" name="TextBox 128"/>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30" name="Oval 129"/>
          <p:cNvSpPr/>
          <p:nvPr/>
        </p:nvSpPr>
        <p:spPr>
          <a:xfrm>
            <a:off x="2350770" y="4539352"/>
            <a:ext cx="400050" cy="383328"/>
          </a:xfrm>
          <a:prstGeom prst="ellipse">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32" name="TextBox 131"/>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E8833A"/>
                </a:solidFill>
                <a:latin typeface="Segoe UI"/>
              </a:rPr>
              <a:t>2. DISTRIBUTION EXPANSION</a:t>
            </a:r>
          </a:p>
        </p:txBody>
      </p:sp>
      <p:sp>
        <p:nvSpPr>
          <p:cNvPr id="133" name="TextBox 132"/>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Expanded channel, retail or e-commerce reach</a:t>
            </a:r>
          </a:p>
        </p:txBody>
      </p:sp>
      <p:sp>
        <p:nvSpPr>
          <p:cNvPr id="134" name="Rounded Rectangle 133"/>
          <p:cNvSpPr/>
          <p:nvPr/>
        </p:nvSpPr>
        <p:spPr>
          <a:xfrm>
            <a:off x="2055495" y="6027028"/>
            <a:ext cx="990600" cy="237298"/>
          </a:xfrm>
          <a:prstGeom prst="roundRect">
            <a:avLst>
              <a:gd name="adj" fmla="val 11538"/>
            </a:avLst>
          </a:prstGeom>
          <a:solidFill>
            <a:srgbClr val="FFFFFF"/>
          </a:solidFill>
          <a:ln w="1524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E8833A"/>
                </a:solidFill>
                <a:latin typeface="Segoe UI"/>
              </a:rPr>
              <a:t> </a:t>
            </a:r>
          </a:p>
        </p:txBody>
      </p:sp>
      <p:sp>
        <p:nvSpPr>
          <p:cNvPr id="136" name="TextBox 135"/>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37" name="Oval 136"/>
          <p:cNvSpPr/>
          <p:nvPr/>
        </p:nvSpPr>
        <p:spPr>
          <a:xfrm>
            <a:off x="3886200" y="4539352"/>
            <a:ext cx="400050" cy="383328"/>
          </a:xfrm>
          <a:prstGeom prst="ellipse">
            <a:avLst/>
          </a:prstGeom>
          <a:solidFill>
            <a:srgbClr val="FFFFFF"/>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39" name="TextBox 138"/>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5B7C99"/>
                </a:solidFill>
                <a:latin typeface="Segoe UI"/>
              </a:rPr>
              <a:t>3. INNOVATION / LAUNCHES</a:t>
            </a:r>
          </a:p>
        </p:txBody>
      </p:sp>
      <p:sp>
        <p:nvSpPr>
          <p:cNvPr id="140" name="TextBox 139"/>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New SKUs, pack sizes or product improvements</a:t>
            </a:r>
          </a:p>
        </p:txBody>
      </p:sp>
      <p:sp>
        <p:nvSpPr>
          <p:cNvPr id="141" name="Rounded Rectangle 140"/>
          <p:cNvSpPr/>
          <p:nvPr/>
        </p:nvSpPr>
        <p:spPr>
          <a:xfrm>
            <a:off x="3590925" y="6027028"/>
            <a:ext cx="990600" cy="237298"/>
          </a:xfrm>
          <a:prstGeom prst="roundRect">
            <a:avLst>
              <a:gd name="adj" fmla="val 11538"/>
            </a:avLst>
          </a:prstGeom>
          <a:solidFill>
            <a:srgbClr val="FFFFFF"/>
          </a:solidFill>
          <a:ln w="1524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5B7C99"/>
                </a:solidFill>
                <a:latin typeface="Segoe UI"/>
              </a:rPr>
              <a:t> </a:t>
            </a:r>
          </a:p>
        </p:txBody>
      </p:sp>
      <p:sp>
        <p:nvSpPr>
          <p:cNvPr id="143" name="TextBox 142"/>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44" name="Oval 143"/>
          <p:cNvSpPr/>
          <p:nvPr/>
        </p:nvSpPr>
        <p:spPr>
          <a:xfrm>
            <a:off x="5421630" y="4539352"/>
            <a:ext cx="400050" cy="383328"/>
          </a:xfrm>
          <a:prstGeom prst="ellipse">
            <a:avLst/>
          </a:prstGeom>
          <a:solidFill>
            <a:srgbClr val="FFFFFF"/>
          </a:solidFill>
          <a:ln w="1270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46" name="TextBox 145"/>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8A55C8"/>
                </a:solidFill>
                <a:latin typeface="Segoe UI"/>
              </a:rPr>
              <a:t>4. BUYER INFLUENCE</a:t>
            </a:r>
          </a:p>
        </p:txBody>
      </p:sp>
      <p:sp>
        <p:nvSpPr>
          <p:cNvPr id="147" name="TextBox 146"/>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Stronger specifier, channel or end-user pull</a:t>
            </a:r>
          </a:p>
        </p:txBody>
      </p:sp>
      <p:sp>
        <p:nvSpPr>
          <p:cNvPr id="148" name="Rounded Rectangle 147"/>
          <p:cNvSpPr/>
          <p:nvPr/>
        </p:nvSpPr>
        <p:spPr>
          <a:xfrm>
            <a:off x="5126355" y="6027028"/>
            <a:ext cx="990600" cy="237298"/>
          </a:xfrm>
          <a:prstGeom prst="roundRect">
            <a:avLst>
              <a:gd name="adj" fmla="val 11538"/>
            </a:avLst>
          </a:prstGeom>
          <a:solidFill>
            <a:srgbClr val="FFFFFF"/>
          </a:solidFill>
          <a:ln w="15240">
            <a:solidFill>
              <a:srgbClr val="8A5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8A55C8"/>
                </a:solidFill>
                <a:latin typeface="Segoe UI"/>
              </a:rPr>
              <a:t> </a:t>
            </a:r>
          </a:p>
        </p:txBody>
      </p:sp>
      <p:sp>
        <p:nvSpPr>
          <p:cNvPr id="150" name="TextBox 149"/>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05E5C"/>
                </a:solidFill>
                <a:latin typeface="Segoe UI"/>
              </a:rPr>
              <a:t>+</a:t>
            </a:r>
          </a:p>
        </p:txBody>
      </p:sp>
      <p:sp>
        <p:nvSpPr>
          <p:cNvPr id="151" name="Oval 150"/>
          <p:cNvSpPr/>
          <p:nvPr/>
        </p:nvSpPr>
        <p:spPr>
          <a:xfrm>
            <a:off x="6957060" y="4539352"/>
            <a:ext cx="400050" cy="383328"/>
          </a:xfrm>
          <a:prstGeom prst="ellipse">
            <a:avLst/>
          </a:prstGeom>
          <a:solidFill>
            <a:srgbClr val="FFFFFF"/>
          </a:solidFill>
          <a:ln w="1270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52423"/>
                </a:solidFill>
                <a:latin typeface="Segoe UI"/>
              </a:rPr>
              <a:t>💲</a:t>
            </a:r>
          </a:p>
        </p:txBody>
      </p:sp>
      <p:sp>
        <p:nvSpPr>
          <p:cNvPr id="153" name="TextBox 152"/>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D9982A"/>
                </a:solidFill>
                <a:latin typeface="Segoe UI"/>
              </a:rPr>
              <a:t>5. BRAND / PRICING POWER</a:t>
            </a:r>
          </a:p>
        </p:txBody>
      </p:sp>
      <p:sp>
        <p:nvSpPr>
          <p:cNvPr id="154" name="TextBox 153"/>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05E5C"/>
                </a:solidFill>
                <a:latin typeface="Segoe UI"/>
              </a:rPr>
              <a:t>Premiumisation, positioning or pricing execution</a:t>
            </a:r>
          </a:p>
        </p:txBody>
      </p:sp>
      <p:sp>
        <p:nvSpPr>
          <p:cNvPr id="155" name="Rounded Rectangle 154"/>
          <p:cNvSpPr/>
          <p:nvPr/>
        </p:nvSpPr>
        <p:spPr>
          <a:xfrm>
            <a:off x="6661785" y="6027028"/>
            <a:ext cx="990600" cy="237298"/>
          </a:xfrm>
          <a:prstGeom prst="roundRect">
            <a:avLst>
              <a:gd name="adj" fmla="val 11538"/>
            </a:avLst>
          </a:prstGeom>
          <a:solidFill>
            <a:srgbClr val="FFFFFF"/>
          </a:solidFill>
          <a:ln w="15240">
            <a:solidFill>
              <a:srgbClr val="D99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D9982A"/>
                </a:solidFill>
                <a:latin typeface="Segoe UI"/>
              </a:rPr>
              <a:t> </a:t>
            </a:r>
          </a:p>
        </p:txBody>
      </p:sp>
      <p:sp>
        <p:nvSpPr>
          <p:cNvPr id="157" name="Rounded Rectangle 156"/>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Segoe UI"/>
              </a:rPr>
              <a:t>BEST WAY TO USE THIS SLIDE</a:t>
            </a:r>
          </a:p>
        </p:txBody>
      </p:sp>
      <p:cxnSp>
        <p:nvCxnSpPr>
          <p:cNvPr id="159" name="Connector 158"/>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2" name="TextBox 161"/>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Rank companies by impact on category growth</a:t>
            </a:r>
          </a:p>
        </p:txBody>
      </p:sp>
      <p:sp>
        <p:nvSpPr>
          <p:cNvPr id="163" name="Oval 162"/>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5" name="TextBox 164"/>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Mention the one move that explains their impact</a:t>
            </a:r>
          </a:p>
        </p:txBody>
      </p:sp>
      <p:sp>
        <p:nvSpPr>
          <p:cNvPr id="166" name="Oval 165"/>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52423"/>
                </a:solidFill>
                <a:latin typeface="Segoe UI"/>
              </a:rPr>
              <a:t>🚫</a:t>
            </a:r>
          </a:p>
        </p:txBody>
      </p:sp>
      <p:sp>
        <p:nvSpPr>
          <p:cNvPr id="168" name="TextBox 167"/>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Do not rely on market share alone</a:t>
            </a:r>
          </a:p>
        </p:txBody>
      </p:sp>
      <p:sp>
        <p:nvSpPr>
          <p:cNvPr id="169" name="TextBox 16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76" name="Picture 175" descr="lock.png"/>
          <p:cNvPicPr>
            <a:picLocks noChangeAspect="1"/>
          </p:cNvPicPr>
          <p:nvPr/>
        </p:nvPicPr>
        <p:blipFill>
          <a:blip r:embed="rId4"/>
          <a:stretch>
            <a:fillRect/>
          </a:stretch>
        </p:blipFill>
        <p:spPr>
          <a:xfrm>
            <a:off x="1048377" y="2391038"/>
            <a:ext cx="92663" cy="134782"/>
          </a:xfrm>
          <a:prstGeom prst="rect">
            <a:avLst/>
          </a:prstGeom>
        </p:spPr>
      </p:pic>
      <p:sp>
        <p:nvSpPr>
          <p:cNvPr id="177" name="TextBox 176"/>
          <p:cNvSpPr txBox="1"/>
          <p:nvPr/>
        </p:nvSpPr>
        <p:spPr>
          <a:xfrm>
            <a:off x="28575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78" name="Picture 177" descr="lock.png"/>
          <p:cNvPicPr>
            <a:picLocks noChangeAspect="1"/>
          </p:cNvPicPr>
          <p:nvPr/>
        </p:nvPicPr>
        <p:blipFill>
          <a:blip r:embed="rId4"/>
          <a:stretch>
            <a:fillRect/>
          </a:stretch>
        </p:blipFill>
        <p:spPr>
          <a:xfrm>
            <a:off x="3448677" y="2391038"/>
            <a:ext cx="92663" cy="134782"/>
          </a:xfrm>
          <a:prstGeom prst="rect">
            <a:avLst/>
          </a:prstGeom>
        </p:spPr>
      </p:pic>
      <p:sp>
        <p:nvSpPr>
          <p:cNvPr id="179" name="TextBox 178"/>
          <p:cNvSpPr txBox="1"/>
          <p:nvPr/>
        </p:nvSpPr>
        <p:spPr>
          <a:xfrm>
            <a:off x="52578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0" name="Picture 179" descr="lock.png"/>
          <p:cNvPicPr>
            <a:picLocks noChangeAspect="1"/>
          </p:cNvPicPr>
          <p:nvPr/>
        </p:nvPicPr>
        <p:blipFill>
          <a:blip r:embed="rId4"/>
          <a:stretch>
            <a:fillRect/>
          </a:stretch>
        </p:blipFill>
        <p:spPr>
          <a:xfrm>
            <a:off x="5848977" y="2391038"/>
            <a:ext cx="92663" cy="134782"/>
          </a:xfrm>
          <a:prstGeom prst="rect">
            <a:avLst/>
          </a:prstGeom>
        </p:spPr>
      </p:pic>
      <p:sp>
        <p:nvSpPr>
          <p:cNvPr id="181" name="TextBox 180"/>
          <p:cNvSpPr txBox="1"/>
          <p:nvPr/>
        </p:nvSpPr>
        <p:spPr>
          <a:xfrm>
            <a:off x="76581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2" name="Picture 181" descr="lock.png"/>
          <p:cNvPicPr>
            <a:picLocks noChangeAspect="1"/>
          </p:cNvPicPr>
          <p:nvPr/>
        </p:nvPicPr>
        <p:blipFill>
          <a:blip r:embed="rId4"/>
          <a:stretch>
            <a:fillRect/>
          </a:stretch>
        </p:blipFill>
        <p:spPr>
          <a:xfrm>
            <a:off x="8249277" y="2391038"/>
            <a:ext cx="92663" cy="134782"/>
          </a:xfrm>
          <a:prstGeom prst="rect">
            <a:avLst/>
          </a:prstGeom>
        </p:spPr>
      </p:pic>
      <p:sp>
        <p:nvSpPr>
          <p:cNvPr id="183" name="TextBox 182"/>
          <p:cNvSpPr txBox="1"/>
          <p:nvPr/>
        </p:nvSpPr>
        <p:spPr>
          <a:xfrm>
            <a:off x="10058400" y="2398079"/>
            <a:ext cx="649916" cy="139750"/>
          </a:xfrm>
          <a:prstGeom prst="rect">
            <a:avLst/>
          </a:prstGeom>
          <a:noFill/>
        </p:spPr>
        <p:txBody>
          <a:bodyPr wrap="none" lIns="0" rIns="0" tIns="0" bIns="0">
            <a:spAutoFit/>
          </a:bodyPr>
          <a:lstStyle/>
          <a:p>
            <a:r>
              <a:rPr sz="791" b="1">
                <a:solidFill>
                  <a:srgbClr val="252423"/>
                </a:solidFill>
                <a:latin typeface="Segoe UI"/>
              </a:rPr>
              <a:t>Value share:</a:t>
            </a:r>
          </a:p>
        </p:txBody>
      </p:sp>
      <p:pic>
        <p:nvPicPr>
          <p:cNvPr id="184" name="Picture 183" descr="lock.png"/>
          <p:cNvPicPr>
            <a:picLocks noChangeAspect="1"/>
          </p:cNvPicPr>
          <p:nvPr/>
        </p:nvPicPr>
        <p:blipFill>
          <a:blip r:embed="rId4"/>
          <a:stretch>
            <a:fillRect/>
          </a:stretch>
        </p:blipFill>
        <p:spPr>
          <a:xfrm>
            <a:off x="10649577" y="2391038"/>
            <a:ext cx="92663" cy="134782"/>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1FA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AFE"/>
              </a:gs>
              <a:gs pos="100000">
                <a:srgbClr val="D8F0FA"/>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BFE6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97D6F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8D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007BA5"/>
              </a:gs>
              <a:gs pos="100000">
                <a:srgbClr val="5CC6EC"/>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actmr_logo.png"/>
          <p:cNvPicPr>
            <a:picLocks noChangeAspect="1"/>
          </p:cNvPicPr>
          <p:nvPr/>
        </p:nvPicPr>
        <p:blipFill>
          <a:blip r:embed="rId2"/>
          <a:stretch>
            <a:fillRect/>
          </a:stretch>
        </p:blipFill>
        <p:spPr>
          <a:xfrm>
            <a:off x="411480" y="274320"/>
            <a:ext cx="1307592" cy="416821"/>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07BA5"/>
                </a:solidFill>
                <a:latin typeface="Calibri"/>
              </a:rPr>
              <a:t>Helium-3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0526E"/>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Air Liquide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Air Liquide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Air Liquide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Air Liquide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Air Liquide Strategy Analysis</a:t>
            </a:r>
          </a:p>
        </p:txBody>
      </p:sp>
      <p:sp>
        <p:nvSpPr>
          <p:cNvPr id="12" name="TextBox 1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Air Liquide Executive Market Snapshot (1/5)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total market, addressable opportunity and share of market by end-market, region and product</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Executive snapshot and strategic positioning Air Liquide: market, addressable opportunity and SOM splits by end-market, region and product.</a:t>
            </a:r>
          </a:p>
        </p:txBody>
      </p:sp>
      <p:sp>
        <p:nvSpPr>
          <p:cNvPr id="9" name="Rounded Rectangle 8"/>
          <p:cNvSpPr/>
          <p:nvPr/>
        </p:nvSpPr>
        <p:spPr>
          <a:xfrm>
            <a:off x="14287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TAM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Total market</a:t>
            </a:r>
          </a:p>
        </p:txBody>
      </p:sp>
      <p:sp>
        <p:nvSpPr>
          <p:cNvPr id="10" name="Rounded Rectangle 9"/>
          <p:cNvSpPr/>
          <p:nvPr/>
        </p:nvSpPr>
        <p:spPr>
          <a:xfrm>
            <a:off x="254317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SAM (US$ MN)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Addressable</a:t>
            </a:r>
          </a:p>
        </p:txBody>
      </p:sp>
      <p:sp>
        <p:nvSpPr>
          <p:cNvPr id="11" name="Rounded Rectangle 10"/>
          <p:cNvSpPr/>
          <p:nvPr/>
        </p:nvSpPr>
        <p:spPr>
          <a:xfrm>
            <a:off x="4953000"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
            </a:r>
          </a:p>
          <a:p>
            <a:pPr algn="ctr">
              <a:lnSpc>
                <a:spcPct val="95000"/>
              </a:lnSpc>
            </a:pPr>
            <a:r>
              <a:rPr sz="1500" b="1">
                <a:solidFill>
                  <a:srgbClr val="00A4DC"/>
                </a:solidFill>
                <a:latin typeface="Segoe UI"/>
              </a:rPr>
              <a:t/>
            </a:r>
          </a:p>
          <a:p>
            <a:pPr algn="ctr">
              <a:lnSpc>
                <a:spcPct val="95000"/>
              </a:lnSpc>
            </a:pPr>
            <a:r>
              <a:rPr sz="1100" b="0">
                <a:solidFill>
                  <a:srgbClr val="605E5C"/>
                </a:solidFill>
                <a:latin typeface="Segoe UI"/>
              </a:rPr>
              <a:t/>
            </a:r>
          </a:p>
        </p:txBody>
      </p:sp>
      <p:sp>
        <p:nvSpPr>
          <p:cNvPr id="12" name="Rounded Rectangle 11"/>
          <p:cNvSpPr/>
          <p:nvPr/>
        </p:nvSpPr>
        <p:spPr>
          <a:xfrm>
            <a:off x="7353300"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BOOK-TO-BILL</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Order momentum</a:t>
            </a:r>
          </a:p>
        </p:txBody>
      </p:sp>
      <p:sp>
        <p:nvSpPr>
          <p:cNvPr id="13" name="Rounded Rectangle 12"/>
          <p:cNvSpPr/>
          <p:nvPr/>
        </p:nvSpPr>
        <p:spPr>
          <a:xfrm>
            <a:off x="9763125" y="1335828"/>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EBITDA MARGIN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Profitability</a:t>
            </a:r>
          </a:p>
        </p:txBody>
      </p:sp>
      <p:sp>
        <p:nvSpPr>
          <p:cNvPr id="14" name="Rectangle 13"/>
          <p:cNvSpPr/>
          <p:nvPr/>
        </p:nvSpPr>
        <p:spPr>
          <a:xfrm>
            <a:off x="142875" y="2065976"/>
            <a:ext cx="38290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End-Market (US$ Mn)</a:t>
            </a:r>
          </a:p>
        </p:txBody>
      </p:sp>
      <p:graphicFrame>
        <p:nvGraphicFramePr>
          <p:cNvPr id="16" name="Chart 15"/>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7" name="Rectangle 16"/>
          <p:cNvSpPr/>
          <p:nvPr/>
        </p:nvSpPr>
        <p:spPr>
          <a:xfrm>
            <a:off x="4124325" y="2065976"/>
            <a:ext cx="38290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Region (US$ Mn)</a:t>
            </a:r>
          </a:p>
        </p:txBody>
      </p:sp>
      <p:graphicFrame>
        <p:nvGraphicFramePr>
          <p:cNvPr id="19" name="Chart 18"/>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0" name="Rectangle 19"/>
          <p:cNvSpPr/>
          <p:nvPr/>
        </p:nvSpPr>
        <p:spPr>
          <a:xfrm>
            <a:off x="8105775" y="2065976"/>
            <a:ext cx="3943350" cy="261027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by Product Line (US$ Mn)</a:t>
            </a:r>
          </a:p>
        </p:txBody>
      </p:sp>
      <p:graphicFrame>
        <p:nvGraphicFramePr>
          <p:cNvPr id="22" name="Chart 21"/>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3" name="Rectangle 22"/>
          <p:cNvSpPr/>
          <p:nvPr/>
        </p:nvSpPr>
        <p:spPr>
          <a:xfrm>
            <a:off x="142875" y="4785777"/>
            <a:ext cx="11906250" cy="180711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25" name="Rectangle 24"/>
          <p:cNvSpPr/>
          <p:nvPr/>
        </p:nvSpPr>
        <p:spPr>
          <a:xfrm>
            <a:off x="276225" y="5109627"/>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8" name="Picture 27" descr="lock.png"/>
          <p:cNvPicPr>
            <a:picLocks noChangeAspect="1"/>
          </p:cNvPicPr>
          <p:nvPr/>
        </p:nvPicPr>
        <p:blipFill>
          <a:blip r:embed="rId7"/>
          <a:stretch>
            <a:fillRect/>
          </a:stretch>
        </p:blipFill>
        <p:spPr>
          <a:xfrm>
            <a:off x="12025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3602831"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8412956"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1082278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210462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608607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9278088" y="3145920"/>
            <a:ext cx="444576" cy="646656"/>
          </a:xfrm>
          <a:prstGeom prst="rect">
            <a:avLst/>
          </a:prstGeom>
        </p:spPr>
      </p:pic>
      <p:sp>
        <p:nvSpPr>
          <p:cNvPr id="35" name="TextBox 34"/>
          <p:cNvSpPr txBox="1"/>
          <p:nvPr/>
        </p:nvSpPr>
        <p:spPr>
          <a:xfrm>
            <a:off x="5710511" y="1377568"/>
            <a:ext cx="837652" cy="146456"/>
          </a:xfrm>
          <a:prstGeom prst="rect">
            <a:avLst/>
          </a:prstGeom>
          <a:noFill/>
        </p:spPr>
        <p:txBody>
          <a:bodyPr wrap="none" lIns="0" rIns="0" tIns="0" bIns="0">
            <a:spAutoFit/>
          </a:bodyPr>
          <a:lstStyle/>
          <a:p>
            <a:r>
              <a:rPr sz="835" b="1">
                <a:solidFill>
                  <a:srgbClr val="605E5C"/>
                </a:solidFill>
                <a:latin typeface="Segoe UI"/>
              </a:rPr>
              <a:t>SOM (US$ MN)</a:t>
            </a:r>
          </a:p>
        </p:txBody>
      </p:sp>
      <p:pic>
        <p:nvPicPr>
          <p:cNvPr id="36" name="Picture 35" descr="lock.png"/>
          <p:cNvPicPr>
            <a:picLocks noChangeAspect="1"/>
          </p:cNvPicPr>
          <p:nvPr/>
        </p:nvPicPr>
        <p:blipFill>
          <a:blip r:embed="rId7"/>
          <a:stretch>
            <a:fillRect/>
          </a:stretch>
        </p:blipFill>
        <p:spPr>
          <a:xfrm>
            <a:off x="6017010" y="1533061"/>
            <a:ext cx="133378" cy="194005"/>
          </a:xfrm>
          <a:prstGeom prst="rect">
            <a:avLst/>
          </a:prstGeom>
        </p:spPr>
      </p:pic>
      <p:pic>
        <p:nvPicPr>
          <p:cNvPr id="37" name="Picture 36" descr="lock.png"/>
          <p:cNvPicPr>
            <a:picLocks noChangeAspect="1"/>
          </p:cNvPicPr>
          <p:nvPr/>
        </p:nvPicPr>
        <p:blipFill>
          <a:blip r:embed="rId7"/>
          <a:stretch>
            <a:fillRect/>
          </a:stretch>
        </p:blipFill>
        <p:spPr>
          <a:xfrm>
            <a:off x="5850163" y="1761621"/>
            <a:ext cx="97811" cy="142270"/>
          </a:xfrm>
          <a:prstGeom prst="rect">
            <a:avLst/>
          </a:prstGeom>
        </p:spPr>
      </p:pic>
      <p:sp>
        <p:nvSpPr>
          <p:cNvPr id="38" name="TextBox 37"/>
          <p:cNvSpPr txBox="1"/>
          <p:nvPr/>
        </p:nvSpPr>
        <p:spPr>
          <a:xfrm>
            <a:off x="5977460" y="1769053"/>
            <a:ext cx="420815" cy="146456"/>
          </a:xfrm>
          <a:prstGeom prst="rect">
            <a:avLst/>
          </a:prstGeom>
          <a:noFill/>
        </p:spPr>
        <p:txBody>
          <a:bodyPr wrap="none" lIns="0" rIns="0" tIns="0" bIns="0">
            <a:spAutoFit/>
          </a:bodyPr>
          <a:lstStyle/>
          <a:p>
            <a:r>
              <a:rPr sz="835" b="0">
                <a:solidFill>
                  <a:srgbClr val="605E5C"/>
                </a:solidFill>
                <a:latin typeface="Segoe UI"/>
              </a:rPr>
              <a:t>of SAM</a:t>
            </a:r>
          </a:p>
        </p:txBody>
      </p:sp>
      <p:sp>
        <p:nvSpPr>
          <p:cNvPr id="39" name="TextBox 38"/>
          <p:cNvSpPr txBox="1"/>
          <p:nvPr/>
        </p:nvSpPr>
        <p:spPr>
          <a:xfrm>
            <a:off x="276225" y="5204877"/>
            <a:ext cx="2672705" cy="194310"/>
          </a:xfrm>
          <a:prstGeom prst="rect">
            <a:avLst/>
          </a:prstGeom>
          <a:noFill/>
        </p:spPr>
        <p:txBody>
          <a:bodyPr wrap="none" lIns="0" rIns="0" tIns="0" bIns="0">
            <a:spAutoFit/>
          </a:bodyPr>
          <a:lstStyle/>
          <a:p>
            <a:r>
              <a:rPr sz="1150" b="0">
                <a:solidFill>
                  <a:srgbClr val="252423"/>
                </a:solidFill>
                <a:latin typeface="Segoe UI"/>
              </a:rPr>
              <a:t>▪ Market Position: Air Liquide captures ~</a:t>
            </a:r>
          </a:p>
        </p:txBody>
      </p:sp>
      <p:pic>
        <p:nvPicPr>
          <p:cNvPr id="40" name="Picture 39" descr="lock.png"/>
          <p:cNvPicPr>
            <a:picLocks noChangeAspect="1"/>
          </p:cNvPicPr>
          <p:nvPr/>
        </p:nvPicPr>
        <p:blipFill>
          <a:blip r:embed="rId7"/>
          <a:stretch>
            <a:fillRect/>
          </a:stretch>
        </p:blipFill>
        <p:spPr>
          <a:xfrm>
            <a:off x="2898084" y="5194653"/>
            <a:ext cx="134549" cy="195707"/>
          </a:xfrm>
          <a:prstGeom prst="rect">
            <a:avLst/>
          </a:prstGeom>
        </p:spPr>
      </p:pic>
      <p:sp>
        <p:nvSpPr>
          <p:cNvPr id="41" name="TextBox 40"/>
          <p:cNvSpPr txBox="1"/>
          <p:nvPr/>
        </p:nvSpPr>
        <p:spPr>
          <a:xfrm>
            <a:off x="3073194" y="5204877"/>
            <a:ext cx="5055667" cy="194310"/>
          </a:xfrm>
          <a:prstGeom prst="rect">
            <a:avLst/>
          </a:prstGeom>
          <a:noFill/>
        </p:spPr>
        <p:txBody>
          <a:bodyPr wrap="none" lIns="0" rIns="0" tIns="0" bIns="0">
            <a:spAutoFit/>
          </a:bodyPr>
          <a:lstStyle/>
          <a:p>
            <a:r>
              <a:rPr sz="1150" b="0">
                <a:solidFill>
                  <a:srgbClr val="252423"/>
                </a:solidFill>
                <a:latin typeface="Segoe UI"/>
              </a:rPr>
              <a:t>of a US$ Mn SAM, with its strongest end-market in 'Nuclear Fusion Research'.</a:t>
            </a:r>
          </a:p>
        </p:txBody>
      </p:sp>
      <p:sp>
        <p:nvSpPr>
          <p:cNvPr id="42" name="TextBox 41"/>
          <p:cNvSpPr txBox="1"/>
          <p:nvPr/>
        </p:nvSpPr>
        <p:spPr>
          <a:xfrm>
            <a:off x="276225" y="5432715"/>
            <a:ext cx="7991273" cy="194310"/>
          </a:xfrm>
          <a:prstGeom prst="rect">
            <a:avLst/>
          </a:prstGeom>
          <a:noFill/>
        </p:spPr>
        <p:txBody>
          <a:bodyPr wrap="none" lIns="0" rIns="0" tIns="0" bIns="0">
            <a:spAutoFit/>
          </a:bodyPr>
          <a:lstStyle/>
          <a:p>
            <a:r>
              <a:rPr sz="1150" b="0">
                <a:solidFill>
                  <a:srgbClr val="252423"/>
                </a:solidFill>
                <a:latin typeface="Segoe UI"/>
              </a:rPr>
              <a:t>▪ Geographic Balance: 'North America' is the largest SOM region; 'Rest of the World' shows the highest SAM penetration (~</a:t>
            </a:r>
          </a:p>
        </p:txBody>
      </p:sp>
      <p:pic>
        <p:nvPicPr>
          <p:cNvPr id="43" name="Picture 42" descr="lock.png"/>
          <p:cNvPicPr>
            <a:picLocks noChangeAspect="1"/>
          </p:cNvPicPr>
          <p:nvPr/>
        </p:nvPicPr>
        <p:blipFill>
          <a:blip r:embed="rId7"/>
          <a:stretch>
            <a:fillRect/>
          </a:stretch>
        </p:blipFill>
        <p:spPr>
          <a:xfrm>
            <a:off x="8216652" y="5422491"/>
            <a:ext cx="134549" cy="195707"/>
          </a:xfrm>
          <a:prstGeom prst="rect">
            <a:avLst/>
          </a:prstGeom>
        </p:spPr>
      </p:pic>
      <p:sp>
        <p:nvSpPr>
          <p:cNvPr id="44" name="TextBox 43"/>
          <p:cNvSpPr txBox="1"/>
          <p:nvPr/>
        </p:nvSpPr>
        <p:spPr>
          <a:xfrm>
            <a:off x="8391762" y="5432715"/>
            <a:ext cx="152077" cy="194310"/>
          </a:xfrm>
          <a:prstGeom prst="rect">
            <a:avLst/>
          </a:prstGeom>
          <a:noFill/>
        </p:spPr>
        <p:txBody>
          <a:bodyPr wrap="none" lIns="0" rIns="0" tIns="0" bIns="0">
            <a:spAutoFit/>
          </a:bodyPr>
          <a:lstStyle/>
          <a:p>
            <a:r>
              <a:rPr sz="1150" b="0">
                <a:solidFill>
                  <a:srgbClr val="252423"/>
                </a:solidFill>
                <a:latin typeface="Segoe UI"/>
              </a:rPr>
              <a:t>).</a:t>
            </a:r>
          </a:p>
        </p:txBody>
      </p:sp>
      <p:sp>
        <p:nvSpPr>
          <p:cNvPr id="45" name="TextBox 44"/>
          <p:cNvSpPr txBox="1"/>
          <p:nvPr/>
        </p:nvSpPr>
        <p:spPr>
          <a:xfrm>
            <a:off x="276225" y="5660552"/>
            <a:ext cx="1465805" cy="194310"/>
          </a:xfrm>
          <a:prstGeom prst="rect">
            <a:avLst/>
          </a:prstGeom>
          <a:noFill/>
        </p:spPr>
        <p:txBody>
          <a:bodyPr wrap="none" lIns="0" rIns="0" tIns="0" bIns="0">
            <a:spAutoFit/>
          </a:bodyPr>
          <a:lstStyle/>
          <a:p>
            <a:r>
              <a:rPr sz="1150" b="0">
                <a:solidFill>
                  <a:srgbClr val="252423"/>
                </a:solidFill>
                <a:latin typeface="Segoe UI"/>
              </a:rPr>
              <a:t>▪ Growth Trajectory: a</a:t>
            </a:r>
          </a:p>
        </p:txBody>
      </p:sp>
      <p:pic>
        <p:nvPicPr>
          <p:cNvPr id="46" name="Picture 45" descr="lock.png"/>
          <p:cNvPicPr>
            <a:picLocks noChangeAspect="1"/>
          </p:cNvPicPr>
          <p:nvPr/>
        </p:nvPicPr>
        <p:blipFill>
          <a:blip r:embed="rId7"/>
          <a:stretch>
            <a:fillRect/>
          </a:stretch>
        </p:blipFill>
        <p:spPr>
          <a:xfrm>
            <a:off x="1691184" y="5650329"/>
            <a:ext cx="134549" cy="195707"/>
          </a:xfrm>
          <a:prstGeom prst="rect">
            <a:avLst/>
          </a:prstGeom>
        </p:spPr>
      </p:pic>
      <p:sp>
        <p:nvSpPr>
          <p:cNvPr id="47" name="TextBox 46"/>
          <p:cNvSpPr txBox="1"/>
          <p:nvPr/>
        </p:nvSpPr>
        <p:spPr>
          <a:xfrm>
            <a:off x="1866293" y="5660552"/>
            <a:ext cx="1272951" cy="194310"/>
          </a:xfrm>
          <a:prstGeom prst="rect">
            <a:avLst/>
          </a:prstGeom>
          <a:noFill/>
        </p:spPr>
        <p:txBody>
          <a:bodyPr wrap="none" lIns="0" rIns="0" tIns="0" bIns="0">
            <a:spAutoFit/>
          </a:bodyPr>
          <a:lstStyle/>
          <a:p>
            <a:r>
              <a:rPr sz="1150" b="0">
                <a:solidFill>
                  <a:srgbClr val="252423"/>
                </a:solidFill>
                <a:latin typeface="Segoe UI"/>
              </a:rPr>
              <a:t>book-to-bill and ~</a:t>
            </a:r>
          </a:p>
        </p:txBody>
      </p:sp>
      <p:pic>
        <p:nvPicPr>
          <p:cNvPr id="48" name="Picture 47" descr="lock.png"/>
          <p:cNvPicPr>
            <a:picLocks noChangeAspect="1"/>
          </p:cNvPicPr>
          <p:nvPr/>
        </p:nvPicPr>
        <p:blipFill>
          <a:blip r:embed="rId7"/>
          <a:stretch>
            <a:fillRect/>
          </a:stretch>
        </p:blipFill>
        <p:spPr>
          <a:xfrm>
            <a:off x="3088399" y="5650329"/>
            <a:ext cx="134549" cy="195707"/>
          </a:xfrm>
          <a:prstGeom prst="rect">
            <a:avLst/>
          </a:prstGeom>
        </p:spPr>
      </p:pic>
      <p:sp>
        <p:nvSpPr>
          <p:cNvPr id="49" name="TextBox 48"/>
          <p:cNvSpPr txBox="1"/>
          <p:nvPr/>
        </p:nvSpPr>
        <p:spPr>
          <a:xfrm>
            <a:off x="3263508" y="5660552"/>
            <a:ext cx="4874143" cy="194310"/>
          </a:xfrm>
          <a:prstGeom prst="rect">
            <a:avLst/>
          </a:prstGeom>
          <a:noFill/>
        </p:spPr>
        <p:txBody>
          <a:bodyPr wrap="none" lIns="0" rIns="0" tIns="0" bIns="0">
            <a:spAutoFit/>
          </a:bodyPr>
          <a:lstStyle/>
          <a:p>
            <a:r>
              <a:rPr sz="1150" b="0">
                <a:solidFill>
                  <a:srgbClr val="252423"/>
                </a:solidFill>
                <a:latin typeface="Segoe UI"/>
              </a:rPr>
              <a:t>EBITDA margin point to a path to capture more of the addressable market.</a:t>
            </a:r>
          </a:p>
        </p:txBody>
      </p:sp>
      <p:sp>
        <p:nvSpPr>
          <p:cNvPr id="50" name="TextBox 49"/>
          <p:cNvSpPr txBox="1"/>
          <p:nvPr/>
        </p:nvSpPr>
        <p:spPr>
          <a:xfrm>
            <a:off x="276225" y="5888390"/>
            <a:ext cx="1482203" cy="194310"/>
          </a:xfrm>
          <a:prstGeom prst="rect">
            <a:avLst/>
          </a:prstGeom>
          <a:noFill/>
        </p:spPr>
        <p:txBody>
          <a:bodyPr wrap="none" lIns="0" rIns="0" tIns="0" bIns="0">
            <a:spAutoFit/>
          </a:bodyPr>
          <a:lstStyle/>
          <a:p>
            <a:r>
              <a:rPr sz="1150" b="0">
                <a:solidFill>
                  <a:srgbClr val="252423"/>
                </a:solidFill>
                <a:latin typeface="Segoe UI"/>
              </a:rPr>
              <a:t>▪ Competitive Edge: ~</a:t>
            </a:r>
          </a:p>
        </p:txBody>
      </p:sp>
      <p:pic>
        <p:nvPicPr>
          <p:cNvPr id="51" name="Picture 50" descr="lock.png"/>
          <p:cNvPicPr>
            <a:picLocks noChangeAspect="1"/>
          </p:cNvPicPr>
          <p:nvPr/>
        </p:nvPicPr>
        <p:blipFill>
          <a:blip r:embed="rId7"/>
          <a:stretch>
            <a:fillRect/>
          </a:stretch>
        </p:blipFill>
        <p:spPr>
          <a:xfrm>
            <a:off x="1707582" y="5878167"/>
            <a:ext cx="134549" cy="195707"/>
          </a:xfrm>
          <a:prstGeom prst="rect">
            <a:avLst/>
          </a:prstGeom>
        </p:spPr>
      </p:pic>
      <p:sp>
        <p:nvSpPr>
          <p:cNvPr id="52" name="TextBox 51"/>
          <p:cNvSpPr txBox="1"/>
          <p:nvPr/>
        </p:nvSpPr>
        <p:spPr>
          <a:xfrm>
            <a:off x="1882691" y="5888390"/>
            <a:ext cx="1158435" cy="194310"/>
          </a:xfrm>
          <a:prstGeom prst="rect">
            <a:avLst/>
          </a:prstGeom>
          <a:noFill/>
        </p:spPr>
        <p:txBody>
          <a:bodyPr wrap="none" lIns="0" rIns="0" tIns="0" bIns="0">
            <a:spAutoFit/>
          </a:bodyPr>
          <a:lstStyle/>
          <a:p>
            <a:r>
              <a:rPr sz="1150" b="0">
                <a:solidFill>
                  <a:srgbClr val="252423"/>
                </a:solidFill>
                <a:latin typeface="Segoe UI"/>
              </a:rPr>
              <a:t>win rate with a +</a:t>
            </a:r>
          </a:p>
        </p:txBody>
      </p:sp>
      <p:pic>
        <p:nvPicPr>
          <p:cNvPr id="53" name="Picture 52" descr="lock.png"/>
          <p:cNvPicPr>
            <a:picLocks noChangeAspect="1"/>
          </p:cNvPicPr>
          <p:nvPr/>
        </p:nvPicPr>
        <p:blipFill>
          <a:blip r:embed="rId7"/>
          <a:stretch>
            <a:fillRect/>
          </a:stretch>
        </p:blipFill>
        <p:spPr>
          <a:xfrm>
            <a:off x="2990280" y="5878167"/>
            <a:ext cx="134549" cy="195707"/>
          </a:xfrm>
          <a:prstGeom prst="rect">
            <a:avLst/>
          </a:prstGeom>
        </p:spPr>
      </p:pic>
      <p:sp>
        <p:nvSpPr>
          <p:cNvPr id="54" name="TextBox 53"/>
          <p:cNvSpPr txBox="1"/>
          <p:nvPr/>
        </p:nvSpPr>
        <p:spPr>
          <a:xfrm>
            <a:off x="3165390" y="5888390"/>
            <a:ext cx="1235725" cy="194310"/>
          </a:xfrm>
          <a:prstGeom prst="rect">
            <a:avLst/>
          </a:prstGeom>
          <a:noFill/>
        </p:spPr>
        <p:txBody>
          <a:bodyPr wrap="none" lIns="0" rIns="0" tIns="0" bIns="0">
            <a:spAutoFit/>
          </a:bodyPr>
          <a:lstStyle/>
          <a:p>
            <a:r>
              <a:rPr sz="1150" b="0">
                <a:solidFill>
                  <a:srgbClr val="252423"/>
                </a:solidFill>
                <a:latin typeface="Segoe UI"/>
              </a:rPr>
              <a:t>ASP premium and</a:t>
            </a:r>
          </a:p>
        </p:txBody>
      </p:sp>
      <p:pic>
        <p:nvPicPr>
          <p:cNvPr id="55" name="Picture 54" descr="lock.png"/>
          <p:cNvPicPr>
            <a:picLocks noChangeAspect="1"/>
          </p:cNvPicPr>
          <p:nvPr/>
        </p:nvPicPr>
        <p:blipFill>
          <a:blip r:embed="rId7"/>
          <a:stretch>
            <a:fillRect/>
          </a:stretch>
        </p:blipFill>
        <p:spPr>
          <a:xfrm>
            <a:off x="4350269" y="5878167"/>
            <a:ext cx="134549" cy="195707"/>
          </a:xfrm>
          <a:prstGeom prst="rect">
            <a:avLst/>
          </a:prstGeom>
        </p:spPr>
      </p:pic>
      <p:sp>
        <p:nvSpPr>
          <p:cNvPr id="56" name="TextBox 55"/>
          <p:cNvSpPr txBox="1"/>
          <p:nvPr/>
        </p:nvSpPr>
        <p:spPr>
          <a:xfrm>
            <a:off x="4525379" y="5888390"/>
            <a:ext cx="1355550" cy="194310"/>
          </a:xfrm>
          <a:prstGeom prst="rect">
            <a:avLst/>
          </a:prstGeom>
          <a:noFill/>
        </p:spPr>
        <p:txBody>
          <a:bodyPr wrap="none" lIns="0" rIns="0" tIns="0" bIns="0">
            <a:spAutoFit/>
          </a:bodyPr>
          <a:lstStyle/>
          <a:p>
            <a:r>
              <a:rPr sz="1150" b="0">
                <a:solidFill>
                  <a:srgbClr val="252423"/>
                </a:solidFill>
                <a:latin typeface="Segoe UI"/>
              </a:rPr>
              <a:t>x pipeline coverage.</a:t>
            </a:r>
          </a:p>
        </p:txBody>
      </p:sp>
      <p:sp>
        <p:nvSpPr>
          <p:cNvPr id="57" name="lockshield_16"/>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9"/>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2"/>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Air Liquide Regional Penetration &amp; Win Position (2/5)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penetration and competitive positioning highlighting growth potential, win rates and sales efficiency</a:t>
            </a:r>
          </a:p>
        </p:txBody>
      </p:sp>
      <p:sp>
        <p:nvSpPr>
          <p:cNvPr id="8" name="Rectangle 7"/>
          <p:cNvSpPr/>
          <p:nvPr/>
        </p:nvSpPr>
        <p:spPr>
          <a:xfrm>
            <a:off x="142875" y="1007261"/>
            <a:ext cx="11906250" cy="25555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Regional penetration and competitive positioning Air Liquide: SOM vs SAM by region, win position, TAM/SAM/SOM and go-to-market benchmarks.</a:t>
            </a:r>
          </a:p>
        </p:txBody>
      </p:sp>
      <p:sp>
        <p:nvSpPr>
          <p:cNvPr id="9" name="Rectangle 8"/>
          <p:cNvSpPr/>
          <p:nvPr/>
        </p:nvSpPr>
        <p:spPr>
          <a:xfrm>
            <a:off x="142875" y="1299320"/>
            <a:ext cx="5905500" cy="226345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SOM vs SAM Penetration by Region</a:t>
            </a:r>
          </a:p>
        </p:txBody>
      </p:sp>
      <p:graphicFrame>
        <p:nvGraphicFramePr>
          <p:cNvPr id="11" name="Chart 10"/>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2" name="Rectangle 11"/>
          <p:cNvSpPr/>
          <p:nvPr/>
        </p:nvSpPr>
        <p:spPr>
          <a:xfrm>
            <a:off x="6162675" y="1299320"/>
            <a:ext cx="5886450" cy="226345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Competitive Win Position</a:t>
            </a:r>
          </a:p>
        </p:txBody>
      </p:sp>
      <p:cxnSp>
        <p:nvCxnSpPr>
          <p:cNvPr id="14" name="Connector 13"/>
          <p:cNvCxnSpPr/>
          <p:nvPr/>
        </p:nvCxnSpPr>
        <p:spPr>
          <a:xfrm>
            <a:off x="6581775" y="3219879"/>
            <a:ext cx="5257800" cy="0"/>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1775" y="1680320"/>
            <a:ext cx="0" cy="1539559"/>
          </a:xfrm>
          <a:prstGeom prst="line">
            <a:avLst/>
          </a:prstGeom>
          <a:ln w="12700">
            <a:solidFill>
              <a:srgbClr val="E6E6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05E5C"/>
                </a:solidFill>
                <a:latin typeface="Segoe UI"/>
              </a:rPr>
              <a:t>0</a:t>
            </a:r>
          </a:p>
        </p:txBody>
      </p:sp>
      <p:sp>
        <p:nvSpPr>
          <p:cNvPr id="17" name="TextBox 16"/>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05E5C"/>
                </a:solidFill>
                <a:latin typeface="Segoe UI"/>
              </a:rPr>
              <a:t>1</a:t>
            </a:r>
          </a:p>
        </p:txBody>
      </p:sp>
      <p:sp>
        <p:nvSpPr>
          <p:cNvPr id="18" name="TextBox 17"/>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05E5C"/>
                </a:solidFill>
                <a:latin typeface="Segoe UI"/>
              </a:rPr>
              <a:t>2</a:t>
            </a:r>
          </a:p>
        </p:txBody>
      </p:sp>
      <p:sp>
        <p:nvSpPr>
          <p:cNvPr id="19" name="TextBox 18"/>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05E5C"/>
                </a:solidFill>
                <a:latin typeface="Segoe UI"/>
              </a:rPr>
              <a:t>3</a:t>
            </a:r>
          </a:p>
        </p:txBody>
      </p:sp>
      <p:sp>
        <p:nvSpPr>
          <p:cNvPr id="20" name="TextBox 19"/>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05E5C"/>
                </a:solidFill>
                <a:latin typeface="Segoe UI"/>
              </a:rPr>
              <a:t>Win Rate %</a:t>
            </a:r>
          </a:p>
        </p:txBody>
      </p:sp>
      <p:sp>
        <p:nvSpPr>
          <p:cNvPr id="21" name="TextBox 20"/>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05E5C"/>
                </a:solidFill>
                <a:latin typeface="Segoe UI"/>
              </a:rPr>
              <a:t>ASP vs Peer</a:t>
            </a:r>
          </a:p>
        </p:txBody>
      </p:sp>
      <p:sp>
        <p:nvSpPr>
          <p:cNvPr id="22" name="Oval 21"/>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Air Liquide</a:t>
            </a:r>
          </a:p>
        </p:txBody>
      </p:sp>
      <p:sp>
        <p:nvSpPr>
          <p:cNvPr id="24" name="Oval 23"/>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Industry Avg.</a:t>
            </a:r>
          </a:p>
        </p:txBody>
      </p:sp>
      <p:sp>
        <p:nvSpPr>
          <p:cNvPr id="26" name="Oval 25"/>
          <p:cNvSpPr/>
          <p:nvPr/>
        </p:nvSpPr>
        <p:spPr>
          <a:xfrm>
            <a:off x="10513967" y="2711164"/>
            <a:ext cx="247650" cy="247650"/>
          </a:xfrm>
          <a:prstGeom prst="ellipse">
            <a:avLst/>
          </a:prstGeom>
          <a:solidFill>
            <a:srgbClr val="2F6FB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52423"/>
                </a:solidFill>
                <a:latin typeface="Segoe UI"/>
              </a:rPr>
              <a:t>Market Leader</a:t>
            </a:r>
          </a:p>
        </p:txBody>
      </p:sp>
      <p:sp>
        <p:nvSpPr>
          <p:cNvPr id="28" name="Rectangle 27"/>
          <p:cNvSpPr/>
          <p:nvPr/>
        </p:nvSpPr>
        <p:spPr>
          <a:xfrm>
            <a:off x="142875" y="3635794"/>
            <a:ext cx="5905500" cy="166108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TAM · SAM · SOM (US$ Mn)</a:t>
            </a:r>
          </a:p>
        </p:txBody>
      </p:sp>
      <p:sp>
        <p:nvSpPr>
          <p:cNvPr id="30" name="Rectangle 29"/>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
            </a:r>
          </a:p>
        </p:txBody>
      </p:sp>
      <p:sp>
        <p:nvSpPr>
          <p:cNvPr id="31" name="Rectangle 30"/>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
            </a:r>
          </a:p>
        </p:txBody>
      </p:sp>
      <p:sp>
        <p:nvSpPr>
          <p:cNvPr id="32" name="Rectangle 31"/>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Segoe UI"/>
              </a:rPr>
              <a:t/>
            </a:r>
          </a:p>
        </p:txBody>
      </p:sp>
      <p:sp>
        <p:nvSpPr>
          <p:cNvPr id="33" name="Rectangle 32"/>
          <p:cNvSpPr/>
          <p:nvPr/>
        </p:nvSpPr>
        <p:spPr>
          <a:xfrm>
            <a:off x="6162675" y="3635794"/>
            <a:ext cx="5886450" cy="166108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Go-to-Market Benchmarks (Target vs Actual)</a:t>
            </a:r>
          </a:p>
        </p:txBody>
      </p:sp>
      <p:sp>
        <p:nvSpPr>
          <p:cNvPr id="35" name="Rectangle 34"/>
          <p:cNvSpPr/>
          <p:nvPr/>
        </p:nvSpPr>
        <p:spPr>
          <a:xfrm>
            <a:off x="10391775" y="3940594"/>
            <a:ext cx="95250" cy="95250"/>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52423"/>
                </a:solidFill>
                <a:latin typeface="Segoe UI"/>
              </a:rPr>
              <a:t>Target</a:t>
            </a:r>
          </a:p>
        </p:txBody>
      </p:sp>
      <p:sp>
        <p:nvSpPr>
          <p:cNvPr id="37" name="Rectangle 36"/>
          <p:cNvSpPr/>
          <p:nvPr/>
        </p:nvSpPr>
        <p:spPr>
          <a:xfrm>
            <a:off x="11134725" y="3940594"/>
            <a:ext cx="95250" cy="95250"/>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52423"/>
                </a:solidFill>
                <a:latin typeface="Segoe UI"/>
              </a:rPr>
              <a:t>Actual</a:t>
            </a:r>
          </a:p>
        </p:txBody>
      </p:sp>
      <p:sp>
        <p:nvSpPr>
          <p:cNvPr id="39" name="TextBox 38"/>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Conversion (%)</a:t>
            </a:r>
          </a:p>
        </p:txBody>
      </p:sp>
      <p:sp>
        <p:nvSpPr>
          <p:cNvPr id="40" name="Rectangle 39"/>
          <p:cNvSpPr/>
          <p:nvPr/>
        </p:nvSpPr>
        <p:spPr>
          <a:xfrm>
            <a:off x="7381875" y="4164998"/>
            <a:ext cx="1597914"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81875" y="4277766"/>
            <a:ext cx="3018282"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Sales Cycle (Days)</a:t>
            </a:r>
          </a:p>
        </p:txBody>
      </p:sp>
      <p:sp>
        <p:nvSpPr>
          <p:cNvPr id="43" name="Rectangle 42"/>
          <p:cNvSpPr/>
          <p:nvPr/>
        </p:nvSpPr>
        <p:spPr>
          <a:xfrm>
            <a:off x="7381875" y="4477393"/>
            <a:ext cx="3817239"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81875" y="4590162"/>
            <a:ext cx="2219325"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52423"/>
                </a:solidFill>
                <a:latin typeface="Segoe UI"/>
              </a:rPr>
              <a:t>Pipeline Coverage</a:t>
            </a:r>
          </a:p>
        </p:txBody>
      </p:sp>
      <p:sp>
        <p:nvSpPr>
          <p:cNvPr id="46" name="Rectangle 45"/>
          <p:cNvSpPr/>
          <p:nvPr/>
        </p:nvSpPr>
        <p:spPr>
          <a:xfrm>
            <a:off x="7381875" y="4789789"/>
            <a:ext cx="2130552" cy="93719"/>
          </a:xfrm>
          <a:prstGeom prst="rect">
            <a:avLst/>
          </a:prstGeom>
          <a:solidFill>
            <a:srgbClr val="0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1875" y="4902557"/>
            <a:ext cx="3906012" cy="93719"/>
          </a:xfrm>
          <a:prstGeom prst="rect">
            <a:avLst/>
          </a:prstGeom>
          <a:solidFill>
            <a:srgbClr val="9CC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2875" y="5369895"/>
            <a:ext cx="11906250" cy="12595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50" name="Rectangle 49"/>
          <p:cNvSpPr/>
          <p:nvPr/>
        </p:nvSpPr>
        <p:spPr>
          <a:xfrm>
            <a:off x="276225" y="569374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00" b="0">
                <a:solidFill>
                  <a:srgbClr val="252423"/>
                </a:solidFill>
                <a:latin typeface="Segoe UI"/>
              </a:rPr>
              <a:t/>
            </a:r>
          </a:p>
        </p:txBody>
      </p:sp>
      <p:sp>
        <p:nvSpPr>
          <p:cNvPr id="52" name="TextBox 5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015511"/>
            <a:ext cx="983146" cy="194310"/>
          </a:xfrm>
          <a:prstGeom prst="rect">
            <a:avLst/>
          </a:prstGeom>
          <a:noFill/>
        </p:spPr>
        <p:txBody>
          <a:bodyPr wrap="none" lIns="0" rIns="0" tIns="0" bIns="0">
            <a:spAutoFit/>
          </a:bodyPr>
          <a:lstStyle/>
          <a:p>
            <a:r>
              <a:rPr sz="1150" b="1">
                <a:solidFill>
                  <a:srgbClr val="FFFFFF"/>
                </a:solidFill>
                <a:latin typeface="Segoe UI"/>
              </a:rPr>
              <a:t>TAM · 100% ·</a:t>
            </a:r>
          </a:p>
        </p:txBody>
      </p:sp>
      <p:pic>
        <p:nvPicPr>
          <p:cNvPr id="55" name="Picture 54" descr="lock.png"/>
          <p:cNvPicPr>
            <a:picLocks noChangeAspect="1"/>
          </p:cNvPicPr>
          <p:nvPr/>
        </p:nvPicPr>
        <p:blipFill>
          <a:blip r:embed="rId5"/>
          <a:stretch>
            <a:fillRect/>
          </a:stretch>
        </p:blipFill>
        <p:spPr>
          <a:xfrm>
            <a:off x="1284725" y="4005288"/>
            <a:ext cx="134549" cy="195707"/>
          </a:xfrm>
          <a:prstGeom prst="rect">
            <a:avLst/>
          </a:prstGeom>
        </p:spPr>
      </p:pic>
      <p:sp>
        <p:nvSpPr>
          <p:cNvPr id="56" name="TextBox 55"/>
          <p:cNvSpPr txBox="1"/>
          <p:nvPr/>
        </p:nvSpPr>
        <p:spPr>
          <a:xfrm>
            <a:off x="1459835" y="4015511"/>
            <a:ext cx="616185" cy="194310"/>
          </a:xfrm>
          <a:prstGeom prst="rect">
            <a:avLst/>
          </a:prstGeom>
          <a:noFill/>
        </p:spPr>
        <p:txBody>
          <a:bodyPr wrap="none" lIns="0" rIns="0" tIns="0" bIns="0">
            <a:spAutoFit/>
          </a:bodyPr>
          <a:lstStyle/>
          <a:p>
            <a:r>
              <a:rPr sz="1150" b="1">
                <a:solidFill>
                  <a:srgbClr val="FFFFFF"/>
                </a:solidFill>
                <a:latin typeface="Segoe UI"/>
              </a:rPr>
              <a:t>US$ Mn</a:t>
            </a:r>
          </a:p>
        </p:txBody>
      </p:sp>
      <p:sp>
        <p:nvSpPr>
          <p:cNvPr id="57" name="TextBox 56"/>
          <p:cNvSpPr txBox="1"/>
          <p:nvPr/>
        </p:nvSpPr>
        <p:spPr>
          <a:xfrm>
            <a:off x="352425" y="4493006"/>
            <a:ext cx="480404" cy="194310"/>
          </a:xfrm>
          <a:prstGeom prst="rect">
            <a:avLst/>
          </a:prstGeom>
          <a:noFill/>
        </p:spPr>
        <p:txBody>
          <a:bodyPr wrap="none" lIns="0" rIns="0" tIns="0" bIns="0">
            <a:spAutoFit/>
          </a:bodyPr>
          <a:lstStyle/>
          <a:p>
            <a:r>
              <a:rPr sz="1150" b="1">
                <a:solidFill>
                  <a:srgbClr val="FFFFFF"/>
                </a:solidFill>
                <a:latin typeface="Segoe UI"/>
              </a:rPr>
              <a:t>SAM ·</a:t>
            </a:r>
          </a:p>
        </p:txBody>
      </p:sp>
      <p:pic>
        <p:nvPicPr>
          <p:cNvPr id="58" name="Picture 57" descr="lock.png"/>
          <p:cNvPicPr>
            <a:picLocks noChangeAspect="1"/>
          </p:cNvPicPr>
          <p:nvPr/>
        </p:nvPicPr>
        <p:blipFill>
          <a:blip r:embed="rId5"/>
          <a:stretch>
            <a:fillRect/>
          </a:stretch>
        </p:blipFill>
        <p:spPr>
          <a:xfrm>
            <a:off x="781983" y="4482783"/>
            <a:ext cx="134549" cy="195707"/>
          </a:xfrm>
          <a:prstGeom prst="rect">
            <a:avLst/>
          </a:prstGeom>
        </p:spPr>
      </p:pic>
      <p:sp>
        <p:nvSpPr>
          <p:cNvPr id="59" name="TextBox 58"/>
          <p:cNvSpPr txBox="1"/>
          <p:nvPr/>
        </p:nvSpPr>
        <p:spPr>
          <a:xfrm>
            <a:off x="957092" y="4493006"/>
            <a:ext cx="669332" cy="194310"/>
          </a:xfrm>
          <a:prstGeom prst="rect">
            <a:avLst/>
          </a:prstGeom>
          <a:noFill/>
        </p:spPr>
        <p:txBody>
          <a:bodyPr wrap="none" lIns="0" rIns="0" tIns="0" bIns="0">
            <a:spAutoFit/>
          </a:bodyPr>
          <a:lstStyle/>
          <a:p>
            <a:r>
              <a:rPr sz="1150" b="1">
                <a:solidFill>
                  <a:srgbClr val="FFFFFF"/>
                </a:solidFill>
                <a:latin typeface="Segoe UI"/>
              </a:rPr>
              <a:t>of TAM ·</a:t>
            </a:r>
          </a:p>
        </p:txBody>
      </p:sp>
      <p:pic>
        <p:nvPicPr>
          <p:cNvPr id="60" name="Picture 59" descr="lock.png"/>
          <p:cNvPicPr>
            <a:picLocks noChangeAspect="1"/>
          </p:cNvPicPr>
          <p:nvPr/>
        </p:nvPicPr>
        <p:blipFill>
          <a:blip r:embed="rId5"/>
          <a:stretch>
            <a:fillRect/>
          </a:stretch>
        </p:blipFill>
        <p:spPr>
          <a:xfrm>
            <a:off x="1575578" y="4482783"/>
            <a:ext cx="134549" cy="195707"/>
          </a:xfrm>
          <a:prstGeom prst="rect">
            <a:avLst/>
          </a:prstGeom>
        </p:spPr>
      </p:pic>
      <p:sp>
        <p:nvSpPr>
          <p:cNvPr id="61" name="TextBox 60"/>
          <p:cNvSpPr txBox="1"/>
          <p:nvPr/>
        </p:nvSpPr>
        <p:spPr>
          <a:xfrm>
            <a:off x="1750688" y="4493006"/>
            <a:ext cx="616185" cy="194310"/>
          </a:xfrm>
          <a:prstGeom prst="rect">
            <a:avLst/>
          </a:prstGeom>
          <a:noFill/>
        </p:spPr>
        <p:txBody>
          <a:bodyPr wrap="none" lIns="0" rIns="0" tIns="0" bIns="0">
            <a:spAutoFit/>
          </a:bodyPr>
          <a:lstStyle/>
          <a:p>
            <a:r>
              <a:rPr sz="1150" b="1">
                <a:solidFill>
                  <a:srgbClr val="FFFFFF"/>
                </a:solidFill>
                <a:latin typeface="Segoe UI"/>
              </a:rPr>
              <a:t>US$ Mn</a:t>
            </a:r>
          </a:p>
        </p:txBody>
      </p:sp>
      <p:sp>
        <p:nvSpPr>
          <p:cNvPr id="62" name="TextBox 61"/>
          <p:cNvSpPr txBox="1"/>
          <p:nvPr/>
        </p:nvSpPr>
        <p:spPr>
          <a:xfrm>
            <a:off x="352425" y="4970502"/>
            <a:ext cx="488391" cy="194310"/>
          </a:xfrm>
          <a:prstGeom prst="rect">
            <a:avLst/>
          </a:prstGeom>
          <a:noFill/>
        </p:spPr>
        <p:txBody>
          <a:bodyPr wrap="none" lIns="0" rIns="0" tIns="0" bIns="0">
            <a:spAutoFit/>
          </a:bodyPr>
          <a:lstStyle/>
          <a:p>
            <a:r>
              <a:rPr sz="1150" b="1">
                <a:solidFill>
                  <a:srgbClr val="FFFFFF"/>
                </a:solidFill>
                <a:latin typeface="Segoe UI"/>
              </a:rPr>
              <a:t>SOM ·</a:t>
            </a:r>
          </a:p>
        </p:txBody>
      </p:sp>
      <p:pic>
        <p:nvPicPr>
          <p:cNvPr id="63" name="Picture 62" descr="lock.png"/>
          <p:cNvPicPr>
            <a:picLocks noChangeAspect="1"/>
          </p:cNvPicPr>
          <p:nvPr/>
        </p:nvPicPr>
        <p:blipFill>
          <a:blip r:embed="rId5"/>
          <a:stretch>
            <a:fillRect/>
          </a:stretch>
        </p:blipFill>
        <p:spPr>
          <a:xfrm>
            <a:off x="789970" y="4960279"/>
            <a:ext cx="134549" cy="195707"/>
          </a:xfrm>
          <a:prstGeom prst="rect">
            <a:avLst/>
          </a:prstGeom>
        </p:spPr>
      </p:pic>
      <p:sp>
        <p:nvSpPr>
          <p:cNvPr id="64" name="TextBox 63"/>
          <p:cNvSpPr txBox="1"/>
          <p:nvPr/>
        </p:nvSpPr>
        <p:spPr>
          <a:xfrm>
            <a:off x="965080" y="4970502"/>
            <a:ext cx="665784" cy="194310"/>
          </a:xfrm>
          <a:prstGeom prst="rect">
            <a:avLst/>
          </a:prstGeom>
          <a:noFill/>
        </p:spPr>
        <p:txBody>
          <a:bodyPr wrap="none" lIns="0" rIns="0" tIns="0" bIns="0">
            <a:spAutoFit/>
          </a:bodyPr>
          <a:lstStyle/>
          <a:p>
            <a:r>
              <a:rPr sz="1150" b="1">
                <a:solidFill>
                  <a:srgbClr val="FFFFFF"/>
                </a:solidFill>
                <a:latin typeface="Segoe UI"/>
              </a:rPr>
              <a:t>of SAM ·</a:t>
            </a:r>
          </a:p>
        </p:txBody>
      </p:sp>
      <p:pic>
        <p:nvPicPr>
          <p:cNvPr id="65" name="Picture 64" descr="lock.png"/>
          <p:cNvPicPr>
            <a:picLocks noChangeAspect="1"/>
          </p:cNvPicPr>
          <p:nvPr/>
        </p:nvPicPr>
        <p:blipFill>
          <a:blip r:embed="rId5"/>
          <a:stretch>
            <a:fillRect/>
          </a:stretch>
        </p:blipFill>
        <p:spPr>
          <a:xfrm>
            <a:off x="1580018" y="4960279"/>
            <a:ext cx="134549" cy="195707"/>
          </a:xfrm>
          <a:prstGeom prst="rect">
            <a:avLst/>
          </a:prstGeom>
        </p:spPr>
      </p:pic>
      <p:sp>
        <p:nvSpPr>
          <p:cNvPr id="66" name="TextBox 65"/>
          <p:cNvSpPr txBox="1"/>
          <p:nvPr/>
        </p:nvSpPr>
        <p:spPr>
          <a:xfrm>
            <a:off x="1755127" y="4970502"/>
            <a:ext cx="616185" cy="194310"/>
          </a:xfrm>
          <a:prstGeom prst="rect">
            <a:avLst/>
          </a:prstGeom>
          <a:noFill/>
        </p:spPr>
        <p:txBody>
          <a:bodyPr wrap="none" lIns="0" rIns="0" tIns="0" bIns="0">
            <a:spAutoFit/>
          </a:bodyPr>
          <a:lstStyle/>
          <a:p>
            <a:r>
              <a:rPr sz="1150" b="1">
                <a:solidFill>
                  <a:srgbClr val="FFFFFF"/>
                </a:solidFill>
                <a:latin typeface="Segoe UI"/>
              </a:rPr>
              <a:t>US$ Mn</a:t>
            </a:r>
          </a:p>
        </p:txBody>
      </p:sp>
      <p:sp>
        <p:nvSpPr>
          <p:cNvPr id="67" name="TextBox 66"/>
          <p:cNvSpPr txBox="1"/>
          <p:nvPr/>
        </p:nvSpPr>
        <p:spPr>
          <a:xfrm>
            <a:off x="276225" y="5788995"/>
            <a:ext cx="8271160" cy="186689"/>
          </a:xfrm>
          <a:prstGeom prst="rect">
            <a:avLst/>
          </a:prstGeom>
          <a:noFill/>
        </p:spPr>
        <p:txBody>
          <a:bodyPr wrap="none" lIns="0" rIns="0" tIns="0" bIns="0">
            <a:spAutoFit/>
          </a:bodyPr>
          <a:lstStyle/>
          <a:p>
            <a:r>
              <a:rPr sz="1100" b="0">
                <a:solidFill>
                  <a:srgbClr val="252423"/>
                </a:solidFill>
                <a:latin typeface="Segoe UI"/>
              </a:rPr>
              <a:t>▪ Regional Opportunity: 'Rest of the World' shows the highest SAM penetration; lower-penetration regions are the growth headroom.</a:t>
            </a:r>
          </a:p>
        </p:txBody>
      </p:sp>
      <p:sp>
        <p:nvSpPr>
          <p:cNvPr id="68" name="TextBox 67"/>
          <p:cNvSpPr txBox="1"/>
          <p:nvPr/>
        </p:nvSpPr>
        <p:spPr>
          <a:xfrm>
            <a:off x="276225" y="6006927"/>
            <a:ext cx="1421072" cy="186689"/>
          </a:xfrm>
          <a:prstGeom prst="rect">
            <a:avLst/>
          </a:prstGeom>
          <a:noFill/>
        </p:spPr>
        <p:txBody>
          <a:bodyPr wrap="none" lIns="0" rIns="0" tIns="0" bIns="0">
            <a:spAutoFit/>
          </a:bodyPr>
          <a:lstStyle/>
          <a:p>
            <a:r>
              <a:rPr sz="1100" b="0">
                <a:solidFill>
                  <a:srgbClr val="252423"/>
                </a:solidFill>
                <a:latin typeface="Segoe UI"/>
              </a:rPr>
              <a:t>▪ Competitive Edge: ~</a:t>
            </a:r>
          </a:p>
        </p:txBody>
      </p:sp>
      <p:pic>
        <p:nvPicPr>
          <p:cNvPr id="69" name="Picture 68" descr="lock.png"/>
          <p:cNvPicPr>
            <a:picLocks noChangeAspect="1"/>
          </p:cNvPicPr>
          <p:nvPr/>
        </p:nvPicPr>
        <p:blipFill>
          <a:blip r:embed="rId5"/>
          <a:stretch>
            <a:fillRect/>
          </a:stretch>
        </p:blipFill>
        <p:spPr>
          <a:xfrm>
            <a:off x="1645349" y="5997147"/>
            <a:ext cx="128699" cy="187198"/>
          </a:xfrm>
          <a:prstGeom prst="rect">
            <a:avLst/>
          </a:prstGeom>
        </p:spPr>
      </p:pic>
      <p:sp>
        <p:nvSpPr>
          <p:cNvPr id="70" name="TextBox 69"/>
          <p:cNvSpPr txBox="1"/>
          <p:nvPr/>
        </p:nvSpPr>
        <p:spPr>
          <a:xfrm>
            <a:off x="1812844" y="6006927"/>
            <a:ext cx="1111381" cy="186689"/>
          </a:xfrm>
          <a:prstGeom prst="rect">
            <a:avLst/>
          </a:prstGeom>
          <a:noFill/>
        </p:spPr>
        <p:txBody>
          <a:bodyPr wrap="none" lIns="0" rIns="0" tIns="0" bIns="0">
            <a:spAutoFit/>
          </a:bodyPr>
          <a:lstStyle/>
          <a:p>
            <a:r>
              <a:rPr sz="1100" b="0">
                <a:solidFill>
                  <a:srgbClr val="252423"/>
                </a:solidFill>
                <a:latin typeface="Segoe UI"/>
              </a:rPr>
              <a:t>win rate with a +</a:t>
            </a:r>
          </a:p>
        </p:txBody>
      </p:sp>
      <p:pic>
        <p:nvPicPr>
          <p:cNvPr id="71" name="Picture 70" descr="lock.png"/>
          <p:cNvPicPr>
            <a:picLocks noChangeAspect="1"/>
          </p:cNvPicPr>
          <p:nvPr/>
        </p:nvPicPr>
        <p:blipFill>
          <a:blip r:embed="rId5"/>
          <a:stretch>
            <a:fillRect/>
          </a:stretch>
        </p:blipFill>
        <p:spPr>
          <a:xfrm>
            <a:off x="2872278" y="5997147"/>
            <a:ext cx="128699" cy="187198"/>
          </a:xfrm>
          <a:prstGeom prst="rect">
            <a:avLst/>
          </a:prstGeom>
        </p:spPr>
      </p:pic>
      <p:sp>
        <p:nvSpPr>
          <p:cNvPr id="72" name="TextBox 71"/>
          <p:cNvSpPr txBox="1"/>
          <p:nvPr/>
        </p:nvSpPr>
        <p:spPr>
          <a:xfrm>
            <a:off x="3039774" y="6006927"/>
            <a:ext cx="2508027" cy="186689"/>
          </a:xfrm>
          <a:prstGeom prst="rect">
            <a:avLst/>
          </a:prstGeom>
          <a:noFill/>
        </p:spPr>
        <p:txBody>
          <a:bodyPr wrap="none" lIns="0" rIns="0" tIns="0" bIns="0">
            <a:spAutoFit/>
          </a:bodyPr>
          <a:lstStyle/>
          <a:p>
            <a:r>
              <a:rPr sz="1100" b="0">
                <a:solidFill>
                  <a:srgbClr val="252423"/>
                </a:solidFill>
                <a:latin typeface="Segoe UI"/>
              </a:rPr>
              <a:t>ASP premium signals value recognition;</a:t>
            </a:r>
          </a:p>
        </p:txBody>
      </p:sp>
      <p:pic>
        <p:nvPicPr>
          <p:cNvPr id="73" name="Picture 72" descr="lock.png"/>
          <p:cNvPicPr>
            <a:picLocks noChangeAspect="1"/>
          </p:cNvPicPr>
          <p:nvPr/>
        </p:nvPicPr>
        <p:blipFill>
          <a:blip r:embed="rId5"/>
          <a:stretch>
            <a:fillRect/>
          </a:stretch>
        </p:blipFill>
        <p:spPr>
          <a:xfrm>
            <a:off x="5495853" y="5997147"/>
            <a:ext cx="128699" cy="187198"/>
          </a:xfrm>
          <a:prstGeom prst="rect">
            <a:avLst/>
          </a:prstGeom>
        </p:spPr>
      </p:pic>
      <p:sp>
        <p:nvSpPr>
          <p:cNvPr id="74" name="TextBox 73"/>
          <p:cNvSpPr txBox="1"/>
          <p:nvPr/>
        </p:nvSpPr>
        <p:spPr>
          <a:xfrm>
            <a:off x="5663349" y="6006927"/>
            <a:ext cx="2433322" cy="186689"/>
          </a:xfrm>
          <a:prstGeom prst="rect">
            <a:avLst/>
          </a:prstGeom>
          <a:noFill/>
        </p:spPr>
        <p:txBody>
          <a:bodyPr wrap="none" lIns="0" rIns="0" tIns="0" bIns="0">
            <a:spAutoFit/>
          </a:bodyPr>
          <a:lstStyle/>
          <a:p>
            <a:r>
              <a:rPr sz="1100" b="0">
                <a:solidFill>
                  <a:srgbClr val="252423"/>
                </a:solidFill>
                <a:latin typeface="Segoe UI"/>
              </a:rPr>
              <a:t>x pipeline coverage underpins growth.</a:t>
            </a:r>
          </a:p>
        </p:txBody>
      </p:sp>
      <p:sp>
        <p:nvSpPr>
          <p:cNvPr id="75" name="TextBox 74"/>
          <p:cNvSpPr txBox="1"/>
          <p:nvPr/>
        </p:nvSpPr>
        <p:spPr>
          <a:xfrm>
            <a:off x="276225" y="6224859"/>
            <a:ext cx="2871282" cy="186689"/>
          </a:xfrm>
          <a:prstGeom prst="rect">
            <a:avLst/>
          </a:prstGeom>
          <a:noFill/>
        </p:spPr>
        <p:txBody>
          <a:bodyPr wrap="none" lIns="0" rIns="0" tIns="0" bIns="0">
            <a:spAutoFit/>
          </a:bodyPr>
          <a:lstStyle/>
          <a:p>
            <a:r>
              <a:rPr sz="1100" b="0">
                <a:solidFill>
                  <a:srgbClr val="252423"/>
                </a:solidFill>
                <a:latin typeface="Segoe UI"/>
              </a:rPr>
              <a:t>▪ Sales Efficiency: a ~95-day sales cycle and ~</a:t>
            </a:r>
          </a:p>
        </p:txBody>
      </p:sp>
      <p:pic>
        <p:nvPicPr>
          <p:cNvPr id="76" name="Picture 75" descr="lock.png"/>
          <p:cNvPicPr>
            <a:picLocks noChangeAspect="1"/>
          </p:cNvPicPr>
          <p:nvPr/>
        </p:nvPicPr>
        <p:blipFill>
          <a:blip r:embed="rId5"/>
          <a:stretch>
            <a:fillRect/>
          </a:stretch>
        </p:blipFill>
        <p:spPr>
          <a:xfrm>
            <a:off x="3095559" y="6215079"/>
            <a:ext cx="128699" cy="187198"/>
          </a:xfrm>
          <a:prstGeom prst="rect">
            <a:avLst/>
          </a:prstGeom>
        </p:spPr>
      </p:pic>
      <p:sp>
        <p:nvSpPr>
          <p:cNvPr id="77" name="TextBox 76"/>
          <p:cNvSpPr txBox="1"/>
          <p:nvPr/>
        </p:nvSpPr>
        <p:spPr>
          <a:xfrm>
            <a:off x="3263055" y="6224859"/>
            <a:ext cx="2548772" cy="186689"/>
          </a:xfrm>
          <a:prstGeom prst="rect">
            <a:avLst/>
          </a:prstGeom>
          <a:noFill/>
        </p:spPr>
        <p:txBody>
          <a:bodyPr wrap="none" lIns="0" rIns="0" tIns="0" bIns="0">
            <a:spAutoFit/>
          </a:bodyPr>
          <a:lstStyle/>
          <a:p>
            <a:r>
              <a:rPr sz="1100" b="0">
                <a:solidFill>
                  <a:srgbClr val="252423"/>
                </a:solidFill>
                <a:latin typeface="Segoe UI"/>
              </a:rPr>
              <a:t>conversion support faster share capture.</a:t>
            </a:r>
          </a:p>
        </p:txBody>
      </p:sp>
      <p:sp>
        <p:nvSpPr>
          <p:cNvPr id="78" name="lockshield_11"/>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Air Liquide SWOT Analysis (3/5)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SWOT assessment of Air Liquide: strengths, weaknesses, opportunities and threats shaping its competitive position</a:t>
            </a:r>
          </a:p>
        </p:txBody>
      </p:sp>
      <p:sp>
        <p:nvSpPr>
          <p:cNvPr id="8" name="TextBox 7"/>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52423"/>
                </a:solidFill>
                <a:latin typeface="Segoe UI"/>
              </a:rPr>
              <a:t>SWOT assessment Air Liquide: strengths, weaknesses, opportunities and threats (indicative).</a:t>
            </a:r>
          </a:p>
        </p:txBody>
      </p:sp>
      <p:cxnSp>
        <p:nvCxnSpPr>
          <p:cNvPr id="9" name="Connector 8"/>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24400" y="2577079"/>
            <a:ext cx="1257300" cy="1204744"/>
          </a:xfrm>
          <a:prstGeom prst="roundRect">
            <a:avLst>
              <a:gd name="adj" fmla="val 12121"/>
            </a:avLst>
          </a:prstGeom>
          <a:noFill/>
          <a:ln w="19050">
            <a:solidFill>
              <a:srgbClr val="5B7C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0300" y="2577079"/>
            <a:ext cx="1257300" cy="1204744"/>
          </a:xfrm>
          <a:prstGeom prst="roundRect">
            <a:avLst>
              <a:gd name="adj" fmla="val 12121"/>
            </a:avLst>
          </a:prstGeom>
          <a:noFill/>
          <a:ln w="19050">
            <a:solidFill>
              <a:srgbClr val="3E6E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4000868"/>
            <a:ext cx="1257300" cy="1204744"/>
          </a:xfrm>
          <a:prstGeom prst="roundRect">
            <a:avLst>
              <a:gd name="adj" fmla="val 12121"/>
            </a:avLst>
          </a:prstGeom>
          <a:noFill/>
          <a:ln w="19050">
            <a:solidFill>
              <a:srgbClr val="E883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4000868"/>
            <a:ext cx="1257300" cy="1204744"/>
          </a:xfrm>
          <a:prstGeom prst="roundRect">
            <a:avLst>
              <a:gd name="adj" fmla="val 12121"/>
            </a:avLst>
          </a:prstGeom>
          <a:noFill/>
          <a:ln w="19050">
            <a:solidFill>
              <a:srgbClr val="F2C2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F2C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3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FFFFFF"/>
                </a:solidFill>
                <a:latin typeface="Segoe UI"/>
              </a:rPr>
              <a:t>S</a:t>
            </a:r>
          </a:p>
        </p:txBody>
      </p:sp>
      <p:sp>
        <p:nvSpPr>
          <p:cNvPr id="24" name="TextBox 23"/>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1F2933"/>
                </a:solidFill>
                <a:latin typeface="Segoe UI"/>
              </a:rPr>
              <a:t>O</a:t>
            </a:r>
          </a:p>
        </p:txBody>
      </p:sp>
      <p:sp>
        <p:nvSpPr>
          <p:cNvPr id="25" name="TextBox 24"/>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1F2933"/>
                </a:solidFill>
                <a:latin typeface="Segoe UI"/>
              </a:rPr>
              <a:t>T</a:t>
            </a:r>
          </a:p>
        </p:txBody>
      </p:sp>
      <p:sp>
        <p:nvSpPr>
          <p:cNvPr id="26" name="TextBox 25"/>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Segoe UI"/>
              </a:rPr>
              <a:t>W</a:t>
            </a:r>
          </a:p>
        </p:txBody>
      </p:sp>
      <p:sp>
        <p:nvSpPr>
          <p:cNvPr id="27" name="TextBox 26"/>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4A6A85"/>
                </a:solidFill>
                <a:latin typeface="Segoe UI"/>
              </a:rPr>
              <a:t>Strengths</a:t>
            </a:r>
          </a:p>
        </p:txBody>
      </p:sp>
      <p:sp>
        <p:nvSpPr>
          <p:cNvPr id="28" name="Rectangle 27"/>
          <p:cNvSpPr/>
          <p:nvPr/>
        </p:nvSpPr>
        <p:spPr>
          <a:xfrm>
            <a:off x="190500" y="1500111"/>
            <a:ext cx="1428750" cy="18254"/>
          </a:xfrm>
          <a:prstGeom prst="rect">
            <a:avLst/>
          </a:prstGeom>
          <a:solidFill>
            <a:srgbClr val="4A6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4788" y="1605070"/>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1" name="Oval 30"/>
          <p:cNvSpPr/>
          <p:nvPr/>
        </p:nvSpPr>
        <p:spPr>
          <a:xfrm>
            <a:off x="204788" y="2116174"/>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Balanced SOM across regions and end-markets; strongest in 'North America'.</a:t>
            </a:r>
          </a:p>
        </p:txBody>
      </p:sp>
      <p:sp>
        <p:nvSpPr>
          <p:cNvPr id="33" name="Oval 32"/>
          <p:cNvSpPr/>
          <p:nvPr/>
        </p:nvSpPr>
        <p:spPr>
          <a:xfrm>
            <a:off x="204788" y="2627277"/>
            <a:ext cx="66675" cy="63888"/>
          </a:xfrm>
          <a:prstGeom prst="ellipse">
            <a:avLst/>
          </a:prstGeom>
          <a:solidFill>
            <a:srgbClr val="4A6A8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5" name="TextBox 34"/>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3E6E9E"/>
                </a:solidFill>
                <a:latin typeface="Segoe UI"/>
              </a:rPr>
              <a:t>Weaknesses</a:t>
            </a:r>
          </a:p>
        </p:txBody>
      </p:sp>
      <p:sp>
        <p:nvSpPr>
          <p:cNvPr id="36" name="Rectangle 35"/>
          <p:cNvSpPr/>
          <p:nvPr/>
        </p:nvSpPr>
        <p:spPr>
          <a:xfrm>
            <a:off x="8334375" y="1500111"/>
            <a:ext cx="1428750" cy="18254"/>
          </a:xfrm>
          <a:prstGeom prst="rect">
            <a:avLst/>
          </a:prstGeom>
          <a:solidFill>
            <a:srgbClr val="3E6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348662" y="1605070"/>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39" name="Oval 38"/>
          <p:cNvSpPr/>
          <p:nvPr/>
        </p:nvSpPr>
        <p:spPr>
          <a:xfrm>
            <a:off x="8348662" y="2116174"/>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Uneven SAM penetration strong in 'Rest of the World', thin elsewhere.</a:t>
            </a:r>
          </a:p>
        </p:txBody>
      </p:sp>
      <p:sp>
        <p:nvSpPr>
          <p:cNvPr id="41" name="Oval 40"/>
          <p:cNvSpPr/>
          <p:nvPr/>
        </p:nvSpPr>
        <p:spPr>
          <a:xfrm>
            <a:off x="8348662" y="2627277"/>
            <a:ext cx="66675" cy="63888"/>
          </a:xfrm>
          <a:prstGeom prst="ellipse">
            <a:avLst/>
          </a:prstGeom>
          <a:solidFill>
            <a:srgbClr val="3E6E9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Reliance on a few large accounts/regions raises concentration risk.</a:t>
            </a:r>
          </a:p>
        </p:txBody>
      </p:sp>
      <p:sp>
        <p:nvSpPr>
          <p:cNvPr id="43" name="TextBox 42"/>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C4611F"/>
                </a:solidFill>
                <a:latin typeface="Segoe UI"/>
              </a:rPr>
              <a:t>Threats</a:t>
            </a:r>
          </a:p>
        </p:txBody>
      </p:sp>
      <p:sp>
        <p:nvSpPr>
          <p:cNvPr id="44" name="Rectangle 43"/>
          <p:cNvSpPr/>
          <p:nvPr/>
        </p:nvSpPr>
        <p:spPr>
          <a:xfrm>
            <a:off x="190500" y="4256419"/>
            <a:ext cx="1428750" cy="18254"/>
          </a:xfrm>
          <a:prstGeom prst="rect">
            <a:avLst/>
          </a:prstGeom>
          <a:solidFill>
            <a:srgbClr val="C46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04788" y="4361379"/>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
            </a:r>
          </a:p>
        </p:txBody>
      </p:sp>
      <p:sp>
        <p:nvSpPr>
          <p:cNvPr id="47" name="Oval 46"/>
          <p:cNvSpPr/>
          <p:nvPr/>
        </p:nvSpPr>
        <p:spPr>
          <a:xfrm>
            <a:off x="204788" y="4872482"/>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Input-cost inflation and price pressure can squeeze margin.</a:t>
            </a:r>
          </a:p>
        </p:txBody>
      </p:sp>
      <p:sp>
        <p:nvSpPr>
          <p:cNvPr id="49" name="Oval 48"/>
          <p:cNvSpPr/>
          <p:nvPr/>
        </p:nvSpPr>
        <p:spPr>
          <a:xfrm>
            <a:off x="204788" y="5383586"/>
            <a:ext cx="66675" cy="63888"/>
          </a:xfrm>
          <a:prstGeom prst="ellipse">
            <a:avLst/>
          </a:prstGeom>
          <a:solidFill>
            <a:srgbClr val="C461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Tier-1 incumbents and regulation raise barriers and switching friction.</a:t>
            </a:r>
          </a:p>
        </p:txBody>
      </p:sp>
      <p:sp>
        <p:nvSpPr>
          <p:cNvPr id="51" name="TextBox 50"/>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7F1F"/>
                </a:solidFill>
                <a:latin typeface="Segoe UI"/>
              </a:rPr>
              <a:t>Opportunities</a:t>
            </a:r>
          </a:p>
        </p:txBody>
      </p:sp>
      <p:sp>
        <p:nvSpPr>
          <p:cNvPr id="52" name="Rectangle 51"/>
          <p:cNvSpPr/>
          <p:nvPr/>
        </p:nvSpPr>
        <p:spPr>
          <a:xfrm>
            <a:off x="8334375" y="4256419"/>
            <a:ext cx="1428750" cy="18254"/>
          </a:xfrm>
          <a:prstGeom prst="rect">
            <a:avLst/>
          </a:prstGeom>
          <a:solidFill>
            <a:srgbClr val="A87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348662" y="4361379"/>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Premiumisation headroom in 'Gaseous Helium-3' and adjacent high-value lines.</a:t>
            </a:r>
          </a:p>
        </p:txBody>
      </p:sp>
      <p:sp>
        <p:nvSpPr>
          <p:cNvPr id="55" name="Oval 54"/>
          <p:cNvSpPr/>
          <p:nvPr/>
        </p:nvSpPr>
        <p:spPr>
          <a:xfrm>
            <a:off x="8348662" y="4872482"/>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Under-penetrated regions offer share-capture runway.</a:t>
            </a:r>
          </a:p>
        </p:txBody>
      </p:sp>
      <p:sp>
        <p:nvSpPr>
          <p:cNvPr id="57" name="Oval 56"/>
          <p:cNvSpPr/>
          <p:nvPr/>
        </p:nvSpPr>
        <p:spPr>
          <a:xfrm>
            <a:off x="8348662" y="5383586"/>
            <a:ext cx="66675" cy="63888"/>
          </a:xfrm>
          <a:prstGeom prst="ellipse">
            <a:avLst/>
          </a:prstGeom>
          <a:solidFill>
            <a:srgbClr val="A87F1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52423"/>
                </a:solidFill>
                <a:latin typeface="Segoe UI"/>
              </a:rPr>
              <a:t>Channel shift to online and clinics opens new demand pools.</a:t>
            </a:r>
          </a:p>
        </p:txBody>
      </p:sp>
      <p:sp>
        <p:nvSpPr>
          <p:cNvPr id="59" name="TextBox 58"/>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Segoe UI"/>
              </a:rPr>
              <a:t>Note: competitor figures are indicative derived from market modelling and expert validation, not company disclosures.</a:t>
            </a:r>
          </a:p>
        </p:txBody>
      </p:sp>
      <p:sp>
        <p:nvSpPr>
          <p:cNvPr id="60" name="TextBox 5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
        <p:nvSpPr>
          <p:cNvPr id="61" name="TextBox 60"/>
          <p:cNvSpPr txBox="1"/>
          <p:nvPr/>
        </p:nvSpPr>
        <p:spPr>
          <a:xfrm>
            <a:off x="361950" y="1642784"/>
            <a:ext cx="17169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62" name="Picture 61" descr="lock.png"/>
          <p:cNvPicPr>
            <a:picLocks noChangeAspect="1"/>
          </p:cNvPicPr>
          <p:nvPr/>
        </p:nvPicPr>
        <p:blipFill>
          <a:blip r:embed="rId4"/>
          <a:stretch>
            <a:fillRect/>
          </a:stretch>
        </p:blipFill>
        <p:spPr>
          <a:xfrm>
            <a:off x="481699" y="1633005"/>
            <a:ext cx="128699" cy="187198"/>
          </a:xfrm>
          <a:prstGeom prst="rect">
            <a:avLst/>
          </a:prstGeom>
        </p:spPr>
      </p:pic>
      <p:sp>
        <p:nvSpPr>
          <p:cNvPr id="63" name="TextBox 62"/>
          <p:cNvSpPr txBox="1"/>
          <p:nvPr/>
        </p:nvSpPr>
        <p:spPr>
          <a:xfrm>
            <a:off x="649195" y="1642784"/>
            <a:ext cx="1111381" cy="186689"/>
          </a:xfrm>
          <a:prstGeom prst="rect">
            <a:avLst/>
          </a:prstGeom>
          <a:noFill/>
        </p:spPr>
        <p:txBody>
          <a:bodyPr wrap="none" lIns="0" rIns="0" tIns="0" bIns="0">
            <a:spAutoFit/>
          </a:bodyPr>
          <a:lstStyle/>
          <a:p>
            <a:r>
              <a:rPr sz="1100" b="0">
                <a:solidFill>
                  <a:srgbClr val="252423"/>
                </a:solidFill>
                <a:latin typeface="Segoe UI"/>
              </a:rPr>
              <a:t>win rate with a +</a:t>
            </a:r>
          </a:p>
        </p:txBody>
      </p:sp>
      <p:pic>
        <p:nvPicPr>
          <p:cNvPr id="64" name="Picture 63" descr="lock.png"/>
          <p:cNvPicPr>
            <a:picLocks noChangeAspect="1"/>
          </p:cNvPicPr>
          <p:nvPr/>
        </p:nvPicPr>
        <p:blipFill>
          <a:blip r:embed="rId4"/>
          <a:stretch>
            <a:fillRect/>
          </a:stretch>
        </p:blipFill>
        <p:spPr>
          <a:xfrm>
            <a:off x="1708628" y="1633005"/>
            <a:ext cx="128699" cy="187198"/>
          </a:xfrm>
          <a:prstGeom prst="rect">
            <a:avLst/>
          </a:prstGeom>
        </p:spPr>
      </p:pic>
      <p:sp>
        <p:nvSpPr>
          <p:cNvPr id="65" name="TextBox 64"/>
          <p:cNvSpPr txBox="1"/>
          <p:nvPr/>
        </p:nvSpPr>
        <p:spPr>
          <a:xfrm>
            <a:off x="1876124" y="1642784"/>
            <a:ext cx="1606283" cy="186689"/>
          </a:xfrm>
          <a:prstGeom prst="rect">
            <a:avLst/>
          </a:prstGeom>
          <a:noFill/>
        </p:spPr>
        <p:txBody>
          <a:bodyPr wrap="none" lIns="0" rIns="0" tIns="0" bIns="0">
            <a:spAutoFit/>
          </a:bodyPr>
          <a:lstStyle/>
          <a:p>
            <a:r>
              <a:rPr sz="1100" b="0">
                <a:solidFill>
                  <a:srgbClr val="252423"/>
                </a:solidFill>
                <a:latin typeface="Segoe UI"/>
              </a:rPr>
              <a:t>ASP premium clear value</a:t>
            </a:r>
          </a:p>
        </p:txBody>
      </p:sp>
      <p:sp>
        <p:nvSpPr>
          <p:cNvPr id="66" name="TextBox 65"/>
          <p:cNvSpPr txBox="1"/>
          <p:nvPr/>
        </p:nvSpPr>
        <p:spPr>
          <a:xfrm>
            <a:off x="361950" y="1810424"/>
            <a:ext cx="812323" cy="186689"/>
          </a:xfrm>
          <a:prstGeom prst="rect">
            <a:avLst/>
          </a:prstGeom>
          <a:noFill/>
        </p:spPr>
        <p:txBody>
          <a:bodyPr wrap="none" lIns="0" rIns="0" tIns="0" bIns="0">
            <a:spAutoFit/>
          </a:bodyPr>
          <a:lstStyle/>
          <a:p>
            <a:r>
              <a:rPr sz="1100" b="0">
                <a:solidFill>
                  <a:srgbClr val="252423"/>
                </a:solidFill>
                <a:latin typeface="Segoe U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220918" cy="186689"/>
          </a:xfrm>
          <a:prstGeom prst="rect">
            <a:avLst/>
          </a:prstGeom>
          <a:noFill/>
        </p:spPr>
        <p:txBody>
          <a:bodyPr wrap="none" lIns="0" rIns="0" tIns="0" bIns="0">
            <a:spAutoFit/>
          </a:bodyPr>
          <a:lstStyle/>
          <a:p>
            <a:r>
              <a:rPr sz="1100" b="0">
                <a:solidFill>
                  <a:srgbClr val="252423"/>
                </a:solidFill>
                <a:latin typeface="Segoe UI"/>
              </a:rPr>
              <a:t>book-to-bill and ~</a:t>
            </a:r>
          </a:p>
        </p:txBody>
      </p:sp>
      <p:pic>
        <p:nvPicPr>
          <p:cNvPr id="69" name="Picture 68" descr="lock.png"/>
          <p:cNvPicPr>
            <a:picLocks noChangeAspect="1"/>
          </p:cNvPicPr>
          <p:nvPr/>
        </p:nvPicPr>
        <p:blipFill>
          <a:blip r:embed="rId4"/>
          <a:stretch>
            <a:fillRect/>
          </a:stretch>
        </p:blipFill>
        <p:spPr>
          <a:xfrm>
            <a:off x="1684948" y="2655212"/>
            <a:ext cx="128699" cy="187198"/>
          </a:xfrm>
          <a:prstGeom prst="rect">
            <a:avLst/>
          </a:prstGeom>
        </p:spPr>
      </p:pic>
      <p:sp>
        <p:nvSpPr>
          <p:cNvPr id="70" name="TextBox 69"/>
          <p:cNvSpPr txBox="1"/>
          <p:nvPr/>
        </p:nvSpPr>
        <p:spPr>
          <a:xfrm>
            <a:off x="1852444" y="2664991"/>
            <a:ext cx="1412865" cy="186689"/>
          </a:xfrm>
          <a:prstGeom prst="rect">
            <a:avLst/>
          </a:prstGeom>
          <a:noFill/>
        </p:spPr>
        <p:txBody>
          <a:bodyPr wrap="none" lIns="0" rIns="0" tIns="0" bIns="0">
            <a:spAutoFit/>
          </a:bodyPr>
          <a:lstStyle/>
          <a:p>
            <a:r>
              <a:rPr sz="1100" b="0">
                <a:solidFill>
                  <a:srgbClr val="252423"/>
                </a:solidFill>
                <a:latin typeface="Segoe UI"/>
              </a:rPr>
              <a:t>EBITDA signal healthy</a:t>
            </a:r>
          </a:p>
        </p:txBody>
      </p:sp>
      <p:sp>
        <p:nvSpPr>
          <p:cNvPr id="71" name="TextBox 70"/>
          <p:cNvSpPr txBox="1"/>
          <p:nvPr/>
        </p:nvSpPr>
        <p:spPr>
          <a:xfrm>
            <a:off x="361950" y="2832631"/>
            <a:ext cx="828178" cy="186689"/>
          </a:xfrm>
          <a:prstGeom prst="rect">
            <a:avLst/>
          </a:prstGeom>
          <a:noFill/>
        </p:spPr>
        <p:txBody>
          <a:bodyPr wrap="none" lIns="0" rIns="0" tIns="0" bIns="0">
            <a:spAutoFit/>
          </a:bodyPr>
          <a:lstStyle/>
          <a:p>
            <a:r>
              <a:rPr sz="1100" b="0">
                <a:solidFill>
                  <a:srgbClr val="252423"/>
                </a:solidFill>
                <a:latin typeface="Segoe UI"/>
              </a:rPr>
              <a:t>momentum.</a:t>
            </a:r>
          </a:p>
        </p:txBody>
      </p:sp>
      <p:sp>
        <p:nvSpPr>
          <p:cNvPr id="72" name="TextBox 71"/>
          <p:cNvSpPr txBox="1"/>
          <p:nvPr/>
        </p:nvSpPr>
        <p:spPr>
          <a:xfrm>
            <a:off x="8505825" y="1726603"/>
            <a:ext cx="171698" cy="186689"/>
          </a:xfrm>
          <a:prstGeom prst="rect">
            <a:avLst/>
          </a:prstGeom>
          <a:noFill/>
        </p:spPr>
        <p:txBody>
          <a:bodyPr wrap="none" lIns="0" rIns="0" tIns="0" bIns="0">
            <a:spAutoFit/>
          </a:bodyPr>
          <a:lstStyle/>
          <a:p>
            <a:r>
              <a:rPr sz="1100" b="0">
                <a:solidFill>
                  <a:srgbClr val="252423"/>
                </a:solidFill>
                <a:latin typeface="Segoe UI"/>
              </a:rPr>
              <a:t>~</a:t>
            </a:r>
          </a:p>
        </p:txBody>
      </p:sp>
      <p:pic>
        <p:nvPicPr>
          <p:cNvPr id="73" name="Picture 72" descr="lock.png"/>
          <p:cNvPicPr>
            <a:picLocks noChangeAspect="1"/>
          </p:cNvPicPr>
          <p:nvPr/>
        </p:nvPicPr>
        <p:blipFill>
          <a:blip r:embed="rId4"/>
          <a:stretch>
            <a:fillRect/>
          </a:stretch>
        </p:blipFill>
        <p:spPr>
          <a:xfrm>
            <a:off x="8625574" y="1716825"/>
            <a:ext cx="128699" cy="187198"/>
          </a:xfrm>
          <a:prstGeom prst="rect">
            <a:avLst/>
          </a:prstGeom>
        </p:spPr>
      </p:pic>
      <p:sp>
        <p:nvSpPr>
          <p:cNvPr id="74" name="TextBox 73"/>
          <p:cNvSpPr txBox="1"/>
          <p:nvPr/>
        </p:nvSpPr>
        <p:spPr>
          <a:xfrm>
            <a:off x="8793070" y="1726603"/>
            <a:ext cx="3127784" cy="186689"/>
          </a:xfrm>
          <a:prstGeom prst="rect">
            <a:avLst/>
          </a:prstGeom>
          <a:noFill/>
        </p:spPr>
        <p:txBody>
          <a:bodyPr wrap="none" lIns="0" rIns="0" tIns="0" bIns="0">
            <a:spAutoFit/>
          </a:bodyPr>
          <a:lstStyle/>
          <a:p>
            <a:r>
              <a:rPr sz="1100" b="0">
                <a:solidFill>
                  <a:srgbClr val="252423"/>
                </a:solidFill>
                <a:latin typeface="Segoe UI"/>
              </a:rPr>
              <a:t>share leaves a scale gap versus the market leader.</a:t>
            </a:r>
          </a:p>
        </p:txBody>
      </p:sp>
      <p:sp>
        <p:nvSpPr>
          <p:cNvPr id="75" name="TextBox 74"/>
          <p:cNvSpPr txBox="1"/>
          <p:nvPr/>
        </p:nvSpPr>
        <p:spPr>
          <a:xfrm>
            <a:off x="361950" y="4482912"/>
            <a:ext cx="1442077" cy="186689"/>
          </a:xfrm>
          <a:prstGeom prst="rect">
            <a:avLst/>
          </a:prstGeom>
          <a:noFill/>
        </p:spPr>
        <p:txBody>
          <a:bodyPr wrap="none" lIns="0" rIns="0" tIns="0" bIns="0">
            <a:spAutoFit/>
          </a:bodyPr>
          <a:lstStyle/>
          <a:p>
            <a:r>
              <a:rPr sz="1100" b="0">
                <a:solidFill>
                  <a:srgbClr val="252423"/>
                </a:solidFill>
                <a:latin typeface="Segoe UI"/>
              </a:rPr>
              <a:t>Intense competition ~</a:t>
            </a:r>
          </a:p>
        </p:txBody>
      </p:sp>
      <p:pic>
        <p:nvPicPr>
          <p:cNvPr id="76" name="Picture 75" descr="lock.png"/>
          <p:cNvPicPr>
            <a:picLocks noChangeAspect="1"/>
          </p:cNvPicPr>
          <p:nvPr/>
        </p:nvPicPr>
        <p:blipFill>
          <a:blip r:embed="rId4"/>
          <a:stretch>
            <a:fillRect/>
          </a:stretch>
        </p:blipFill>
        <p:spPr>
          <a:xfrm>
            <a:off x="1752079" y="4473133"/>
            <a:ext cx="128699" cy="187198"/>
          </a:xfrm>
          <a:prstGeom prst="rect">
            <a:avLst/>
          </a:prstGeom>
        </p:spPr>
      </p:pic>
      <p:sp>
        <p:nvSpPr>
          <p:cNvPr id="77" name="TextBox 76"/>
          <p:cNvSpPr txBox="1"/>
          <p:nvPr/>
        </p:nvSpPr>
        <p:spPr>
          <a:xfrm>
            <a:off x="1919575" y="4482912"/>
            <a:ext cx="1868868" cy="186689"/>
          </a:xfrm>
          <a:prstGeom prst="rect">
            <a:avLst/>
          </a:prstGeom>
          <a:noFill/>
        </p:spPr>
        <p:txBody>
          <a:bodyPr wrap="none" lIns="0" rIns="0" tIns="0" bIns="0">
            <a:spAutoFit/>
          </a:bodyPr>
          <a:lstStyle/>
          <a:p>
            <a:r>
              <a:rPr sz="1100" b="0">
                <a:solidFill>
                  <a:srgbClr val="252423"/>
                </a:solidFill>
                <a:latin typeface="Segoe UI"/>
              </a:rPr>
              <a:t>x pipeline needed to convert.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Air Liquide Key Financials (4/5)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Air Liquide's financial performance, key ratios and pricing, highlighting margin and momentum</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Key financials and pricing Air Liquide (all figures indicative, USD Mn unless noted).</a:t>
            </a:r>
          </a:p>
        </p:txBody>
      </p:sp>
      <p:sp>
        <p:nvSpPr>
          <p:cNvPr id="9" name="Rectangle 8"/>
          <p:cNvSpPr/>
          <p:nvPr/>
        </p:nvSpPr>
        <p:spPr>
          <a:xfrm>
            <a:off x="142875" y="1354081"/>
            <a:ext cx="5905500" cy="191663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Air Liquide Financial Performance</a:t>
            </a:r>
          </a:p>
        </p:txBody>
      </p:sp>
      <p:graphicFrame>
        <p:nvGraphicFramePr>
          <p:cNvPr id="11" name="Table 10"/>
          <p:cNvGraphicFramePr>
            <a:graphicFrameLocks noGrp="1"/>
          </p:cNvGraphicFramePr>
          <p:nvPr/>
        </p:nvGraphicFramePr>
        <p:xfrm>
          <a:off x="152400" y="1611256"/>
          <a:ext cx="5886451" cy="1449914"/>
        </p:xfrm>
        <a:graphic>
          <a:graphicData uri="http://schemas.openxmlformats.org/drawingml/2006/table">
            <a:tbl>
              <a:tblPr>
                <a:tableStyleId>{5C22544A-7EE6-4342-B048-85BDC9FD1C3A}</a:tableStyleId>
              </a:tblPr>
              <a:tblGrid>
                <a:gridCol w="2495746"/>
                <a:gridCol w="678141"/>
                <a:gridCol w="678141"/>
                <a:gridCol w="678141"/>
                <a:gridCol w="678141"/>
                <a:gridCol w="678141"/>
              </a:tblGrid>
              <a:tr h="246126">
                <a:tc>
                  <a:txBody>
                    <a:bodyPr wrap="none"/>
                    <a:lstStyle/>
                    <a:p>
                      <a:pPr algn="l"/>
                      <a:r>
                        <a:rPr sz="1100" b="1">
                          <a:solidFill>
                            <a:srgbClr val="FFFFFF"/>
                          </a:solidFill>
                          <a:latin typeface="Segoe UI"/>
                        </a:rPr>
                        <a:t>USD Mn</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300947">
                <a:tc>
                  <a:txBody>
                    <a:bodyPr wrap="none"/>
                    <a:lstStyle/>
                    <a:p>
                      <a:pPr algn="l"/>
                      <a:r>
                        <a:rPr sz="1100" b="1">
                          <a:solidFill>
                            <a:srgbClr val="252423"/>
                          </a:solidFill>
                          <a:latin typeface="Segoe U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52423"/>
                          </a:solidFill>
                          <a:latin typeface="Segoe UI"/>
                        </a:rPr>
                        <a:t>Gross Profit</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300947">
                <a:tc>
                  <a:txBody>
                    <a:bodyPr wrap="none"/>
                    <a:lstStyle/>
                    <a:p>
                      <a:pPr algn="l"/>
                      <a:r>
                        <a:rPr sz="1100" b="1">
                          <a:solidFill>
                            <a:srgbClr val="252423"/>
                          </a:solidFill>
                          <a:latin typeface="Segoe U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52423"/>
                          </a:solidFill>
                          <a:latin typeface="Segoe UI"/>
                        </a:rPr>
                        <a:t>Profit After Tax / Net Profit</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12" name="TextBox 11"/>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398495"/>
            <a:ext cx="5905500" cy="319439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Air Liquide Key Ratios</a:t>
            </a:r>
          </a:p>
        </p:txBody>
      </p:sp>
      <p:graphicFrame>
        <p:nvGraphicFramePr>
          <p:cNvPr id="15" name="Table 14"/>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70535"/>
                <a:gridCol w="803183"/>
                <a:gridCol w="803183"/>
                <a:gridCol w="803183"/>
                <a:gridCol w="803183"/>
                <a:gridCol w="803183"/>
              </a:tblGrid>
              <a:tr h="246126">
                <a:tc>
                  <a:txBody>
                    <a:bodyPr wrap="none"/>
                    <a:lstStyle/>
                    <a:p>
                      <a:pPr algn="l"/>
                      <a:r>
                        <a:rPr sz="1100" b="1">
                          <a:solidFill>
                            <a:srgbClr val="FFFFFF"/>
                          </a:solidFill>
                          <a:latin typeface="Segoe UI"/>
                        </a:rPr>
                        <a:t>Key Ratios</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496309">
                <a:tc>
                  <a:txBody>
                    <a:bodyPr wrap="none"/>
                    <a:lstStyle/>
                    <a:p>
                      <a:pPr algn="l"/>
                      <a:r>
                        <a:rPr sz="1100" b="1">
                          <a:solidFill>
                            <a:srgbClr val="252423"/>
                          </a:solidFill>
                          <a:latin typeface="Segoe U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52423"/>
                          </a:solidFill>
                          <a:latin typeface="Segoe UI"/>
                        </a:rPr>
                        <a:t>Pre-Tax Margin</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96309">
                <a:tc>
                  <a:txBody>
                    <a:bodyPr wrap="none"/>
                    <a:lstStyle/>
                    <a:p>
                      <a:pPr algn="l"/>
                      <a:r>
                        <a:rPr sz="1100" b="1">
                          <a:solidFill>
                            <a:srgbClr val="252423"/>
                          </a:solidFill>
                          <a:latin typeface="Segoe U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52423"/>
                          </a:solidFill>
                          <a:latin typeface="Segoe UI"/>
                        </a:rPr>
                        <a:t>Return on Equity</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r h="496309">
                <a:tc>
                  <a:txBody>
                    <a:bodyPr wrap="none"/>
                    <a:lstStyle/>
                    <a:p>
                      <a:pPr algn="l"/>
                      <a:r>
                        <a:rPr sz="1100" b="1">
                          <a:solidFill>
                            <a:srgbClr val="252423"/>
                          </a:solidFill>
                          <a:latin typeface="Segoe U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6" name="TextBox 15"/>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7" name="Rectangle 16"/>
          <p:cNvSpPr/>
          <p:nvPr/>
        </p:nvSpPr>
        <p:spPr>
          <a:xfrm>
            <a:off x="6200775" y="1354081"/>
            <a:ext cx="5848350" cy="5238811"/>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Air Liquide Pricing Analysis (US$/Litres)</a:t>
            </a:r>
          </a:p>
        </p:txBody>
      </p:sp>
      <p:graphicFrame>
        <p:nvGraphicFramePr>
          <p:cNvPr id="19" name="Table 18"/>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3234359"/>
                <a:gridCol w="1297470"/>
                <a:gridCol w="1297470"/>
              </a:tblGrid>
              <a:tr h="246126">
                <a:tc>
                  <a:txBody>
                    <a:bodyPr wrap="none"/>
                    <a:lstStyle/>
                    <a:p>
                      <a:pPr algn="l"/>
                      <a:r>
                        <a:rPr sz="1100" b="1">
                          <a:solidFill>
                            <a:srgbClr val="FFFFFF"/>
                          </a:solidFill>
                          <a:latin typeface="Segoe UI"/>
                        </a:rPr>
                        <a:t>Product Type</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2020A</a:t>
                      </a:r>
                      <a:endParaRPr sz="1100"/>
                    </a:p>
                  </a:txBody>
                  <a:tcPr marL="47625" marR="38100" marT="19050" marB="19050" anchor="ctr">
                    <a:solidFill>
                      <a:srgbClr val="007BA5"/>
                    </a:solidFill>
                  </a:tcPr>
                </a:tc>
                <a:tc>
                  <a:txBody>
                    <a:bodyPr wrap="none"/>
                    <a:lstStyle/>
                    <a:p>
                      <a:pPr algn="ctr"/>
                      <a:r>
                        <a:rPr sz="1100" b="1">
                          <a:solidFill>
                            <a:srgbClr val="FFFFFF"/>
                          </a:solidFill>
                          <a:latin typeface="Segoe UI"/>
                        </a:rPr>
                        <a:t>2024A</a:t>
                      </a:r>
                      <a:endParaRPr sz="1100"/>
                    </a:p>
                  </a:txBody>
                  <a:tcPr marL="47625" marR="38100" marT="19050" marB="19050" anchor="ctr">
                    <a:solidFill>
                      <a:srgbClr val="007BA5"/>
                    </a:solidFill>
                  </a:tcPr>
                </a:tc>
              </a:tr>
              <a:tr h="2262980">
                <a:tc>
                  <a:txBody>
                    <a:bodyPr wrap="none"/>
                    <a:lstStyle/>
                    <a:p>
                      <a:pPr algn="l"/>
                      <a:r>
                        <a:rPr sz="1100" b="1">
                          <a:solidFill>
                            <a:srgbClr val="252423"/>
                          </a:solidFill>
                          <a:latin typeface="Segoe UI"/>
                        </a:rPr>
                        <a:t>Gaseous Helium-3</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262980">
                <a:tc>
                  <a:txBody>
                    <a:bodyPr wrap="none"/>
                    <a:lstStyle/>
                    <a:p>
                      <a:pPr algn="l"/>
                      <a:r>
                        <a:rPr sz="1100" b="1">
                          <a:solidFill>
                            <a:srgbClr val="252423"/>
                          </a:solidFill>
                          <a:latin typeface="Segoe UI"/>
                        </a:rPr>
                        <a:t>Liquid Helium-3</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c>
                  <a:txBody>
                    <a:bodyPr wrap="none"/>
                    <a:lstStyle/>
                    <a:p>
                      <a:pPr algn="ctr"/>
                      <a:r>
                        <a:rPr sz="1100"/>
                        <a:t> </a:t>
                      </a:r>
                      <a:endParaRPr sz="1100"/>
                    </a:p>
                  </a:txBody>
                  <a:tcPr marL="47625" marR="38100" marT="19050" marB="19050" anchor="ctr">
                    <a:solidFill>
                      <a:srgbClr val="F2FAFD"/>
                    </a:solidFill>
                  </a:tcPr>
                </a:tc>
              </a:tr>
            </a:tbl>
          </a:graphicData>
        </a:graphic>
      </p:graphicFrame>
      <p:sp>
        <p:nvSpPr>
          <p:cNvPr id="20" name="TextBox 19"/>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2" name="Picture 21" descr="lock.png"/>
          <p:cNvPicPr>
            <a:picLocks noChangeAspect="1"/>
          </p:cNvPicPr>
          <p:nvPr/>
        </p:nvPicPr>
        <p:blipFill>
          <a:blip r:embed="rId4"/>
          <a:stretch>
            <a:fillRect/>
          </a:stretch>
        </p:blipFill>
        <p:spPr>
          <a:xfrm>
            <a:off x="4175477" y="2219246"/>
            <a:ext cx="330041" cy="480060"/>
          </a:xfrm>
          <a:prstGeom prst="rect">
            <a:avLst/>
          </a:prstGeom>
        </p:spPr>
      </p:pic>
      <p:pic>
        <p:nvPicPr>
          <p:cNvPr id="23" name="Picture 22" descr="lock.png"/>
          <p:cNvPicPr>
            <a:picLocks noChangeAspect="1"/>
          </p:cNvPicPr>
          <p:nvPr/>
        </p:nvPicPr>
        <p:blipFill>
          <a:blip r:embed="rId4"/>
          <a:stretch>
            <a:fillRect/>
          </a:stretch>
        </p:blipFill>
        <p:spPr>
          <a:xfrm>
            <a:off x="3844202"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0555438" y="3853662"/>
            <a:ext cx="366712" cy="533400"/>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Air Liquide Strategy Analysis (5/5)</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Air Liquide's strategic priorities and the competitive moves that support them</a:t>
            </a:r>
          </a:p>
        </p:txBody>
      </p:sp>
      <p:sp>
        <p:nvSpPr>
          <p:cNvPr id="8" name="Rectangle 7"/>
          <p:cNvSpPr/>
          <p:nvPr/>
        </p:nvSpPr>
        <p:spPr>
          <a:xfrm>
            <a:off x="142875" y="1007261"/>
            <a:ext cx="11906250" cy="27380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Strategy analysis Air Liquide: strategic priorities and the competitive moves that support them (indicative).</a:t>
            </a:r>
          </a:p>
        </p:txBody>
      </p:sp>
      <p:sp>
        <p:nvSpPr>
          <p:cNvPr id="9" name="Rounded Rectangle 8"/>
          <p:cNvSpPr/>
          <p:nvPr/>
        </p:nvSpPr>
        <p:spPr>
          <a:xfrm>
            <a:off x="14287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MARKET SHARE</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of global value</a:t>
            </a:r>
          </a:p>
        </p:txBody>
      </p:sp>
      <p:sp>
        <p:nvSpPr>
          <p:cNvPr id="10" name="Rounded Rectangle 9"/>
          <p:cNvSpPr/>
          <p:nvPr/>
        </p:nvSpPr>
        <p:spPr>
          <a:xfrm>
            <a:off x="254317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WIN RATE</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deals won</a:t>
            </a:r>
          </a:p>
        </p:txBody>
      </p:sp>
      <p:sp>
        <p:nvSpPr>
          <p:cNvPr id="11" name="Rounded Rectangle 10"/>
          <p:cNvSpPr/>
          <p:nvPr/>
        </p:nvSpPr>
        <p:spPr>
          <a:xfrm>
            <a:off x="4953000"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ASP PREMIUM</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vs peers</a:t>
            </a:r>
          </a:p>
        </p:txBody>
      </p:sp>
      <p:sp>
        <p:nvSpPr>
          <p:cNvPr id="12" name="Rounded Rectangle 11"/>
          <p:cNvSpPr/>
          <p:nvPr/>
        </p:nvSpPr>
        <p:spPr>
          <a:xfrm>
            <a:off x="7353300"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BOOK-TO-BILL</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order momentum</a:t>
            </a:r>
          </a:p>
        </p:txBody>
      </p:sp>
      <p:sp>
        <p:nvSpPr>
          <p:cNvPr id="13" name="Rounded Rectangle 12"/>
          <p:cNvSpPr/>
          <p:nvPr/>
        </p:nvSpPr>
        <p:spPr>
          <a:xfrm>
            <a:off x="9763125" y="1354081"/>
            <a:ext cx="2276475" cy="602372"/>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EBITDA MARGIN</a:t>
            </a:r>
          </a:p>
          <a:p>
            <a:pPr algn="ctr">
              <a:lnSpc>
                <a:spcPct val="95000"/>
              </a:lnSpc>
            </a:pPr>
            <a:r>
              <a:rPr sz="1500" b="1">
                <a:solidFill>
                  <a:srgbClr val="00A4DC"/>
                </a:solidFill>
                <a:latin typeface="Segoe UI"/>
              </a:rPr>
              <a:t> </a:t>
            </a:r>
          </a:p>
          <a:p>
            <a:pPr algn="ctr">
              <a:lnSpc>
                <a:spcPct val="95000"/>
              </a:lnSpc>
            </a:pPr>
            <a:r>
              <a:rPr sz="1100" b="0">
                <a:solidFill>
                  <a:srgbClr val="605E5C"/>
                </a:solidFill>
                <a:latin typeface="Segoe UI"/>
              </a:rPr>
              <a:t>profitability</a:t>
            </a:r>
          </a:p>
        </p:txBody>
      </p:sp>
      <p:sp>
        <p:nvSpPr>
          <p:cNvPr id="14" name="Rectangle 13"/>
          <p:cNvSpPr/>
          <p:nvPr/>
        </p:nvSpPr>
        <p:spPr>
          <a:xfrm>
            <a:off x="142875" y="2084229"/>
            <a:ext cx="5905500" cy="44904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07BA5"/>
                </a:solidFill>
                <a:latin typeface="Segoe UI"/>
              </a:rPr>
              <a:t>Strategic Priorities</a:t>
            </a:r>
          </a:p>
        </p:txBody>
      </p:sp>
      <p:sp>
        <p:nvSpPr>
          <p:cNvPr id="16" name="Rectangle 15"/>
          <p:cNvSpPr/>
          <p:nvPr/>
        </p:nvSpPr>
        <p:spPr>
          <a:xfrm>
            <a:off x="276225" y="2408079"/>
            <a:ext cx="56388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18" name="Rectangle 17"/>
          <p:cNvSpPr/>
          <p:nvPr/>
        </p:nvSpPr>
        <p:spPr>
          <a:xfrm>
            <a:off x="6200775" y="2084229"/>
            <a:ext cx="5848350" cy="44904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07BA5"/>
                </a:solidFill>
                <a:latin typeface="Segoe UI"/>
              </a:rPr>
              <a:t>Competitive Moves</a:t>
            </a:r>
          </a:p>
        </p:txBody>
      </p:sp>
      <p:sp>
        <p:nvSpPr>
          <p:cNvPr id="20" name="Rectangle 19"/>
          <p:cNvSpPr/>
          <p:nvPr/>
        </p:nvSpPr>
        <p:spPr>
          <a:xfrm>
            <a:off x="6334125" y="2408079"/>
            <a:ext cx="5581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a:p>
            <a:pPr algn="l">
              <a:lnSpc>
                <a:spcPct val="110000"/>
              </a:lnSpc>
              <a:spcBef>
                <a:spcPts val="0"/>
              </a:spcBef>
              <a:spcAft>
                <a:spcPts val="500"/>
              </a:spcAft>
            </a:pPr>
            <a:r>
              <a:rPr sz="1100" b="0">
                <a:solidFill>
                  <a:srgbClr val="00A4DC"/>
                </a:solidFill>
                <a:latin typeface="Segoe UI"/>
              </a:rPr>
              <a:t/>
            </a:r>
            <a:r>
              <a:rPr sz="1150" b="0">
                <a:solidFill>
                  <a:srgbClr val="252423"/>
                </a:solidFill>
                <a:latin typeface="Segoe UI"/>
              </a:rPr>
              <a:t/>
            </a:r>
          </a:p>
        </p:txBody>
      </p:sp>
      <p:sp>
        <p:nvSpPr>
          <p:cNvPr id="22" name="TextBox 2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5414700" cy="194310"/>
          </a:xfrm>
          <a:prstGeom prst="rect">
            <a:avLst/>
          </a:prstGeom>
          <a:noFill/>
        </p:spPr>
        <p:txBody>
          <a:bodyPr wrap="none" lIns="0" rIns="0" tIns="0" bIns="0">
            <a:spAutoFit/>
          </a:bodyPr>
          <a:lstStyle/>
          <a:p>
            <a:r>
              <a:rPr sz="1150" b="0">
                <a:solidFill>
                  <a:srgbClr val="252423"/>
                </a:solidFill>
                <a:latin typeface="Segoe UI"/>
              </a:rPr>
              <a:t>▪ Defend and extend leadership in 'Nuclear Fusion Research' Air Liquide's strongest</a:t>
            </a:r>
          </a:p>
        </p:txBody>
      </p:sp>
      <p:sp>
        <p:nvSpPr>
          <p:cNvPr id="29" name="TextBox 28"/>
          <p:cNvSpPr txBox="1"/>
          <p:nvPr/>
        </p:nvSpPr>
        <p:spPr>
          <a:xfrm>
            <a:off x="276225" y="2678589"/>
            <a:ext cx="3431187" cy="194310"/>
          </a:xfrm>
          <a:prstGeom prst="rect">
            <a:avLst/>
          </a:prstGeom>
          <a:noFill/>
        </p:spPr>
        <p:txBody>
          <a:bodyPr wrap="none" lIns="0" rIns="0" tIns="0" bIns="0">
            <a:spAutoFit/>
          </a:bodyPr>
          <a:lstStyle/>
          <a:p>
            <a:r>
              <a:rPr sz="1150" b="0">
                <a:solidFill>
                  <a:srgbClr val="252423"/>
                </a:solidFill>
                <a:latin typeface="Segoe UI"/>
              </a:rPr>
              <a:t>end-market while scaling the next-best applications.</a:t>
            </a:r>
          </a:p>
        </p:txBody>
      </p:sp>
      <p:sp>
        <p:nvSpPr>
          <p:cNvPr id="30" name="TextBox 29"/>
          <p:cNvSpPr txBox="1"/>
          <p:nvPr/>
        </p:nvSpPr>
        <p:spPr>
          <a:xfrm>
            <a:off x="276225" y="2906426"/>
            <a:ext cx="999905" cy="194310"/>
          </a:xfrm>
          <a:prstGeom prst="rect">
            <a:avLst/>
          </a:prstGeom>
          <a:noFill/>
        </p:spPr>
        <p:txBody>
          <a:bodyPr wrap="none" lIns="0" rIns="0" tIns="0" bIns="0">
            <a:spAutoFit/>
          </a:bodyPr>
          <a:lstStyle/>
          <a:p>
            <a:r>
              <a:rPr sz="1150" b="0">
                <a:solidFill>
                  <a:srgbClr val="252423"/>
                </a:solidFill>
                <a:latin typeface="Segoe UI"/>
              </a:rPr>
              <a:t>▪ Convert its ~</a:t>
            </a:r>
          </a:p>
        </p:txBody>
      </p:sp>
      <p:pic>
        <p:nvPicPr>
          <p:cNvPr id="31" name="Picture 30" descr="lock.png"/>
          <p:cNvPicPr>
            <a:picLocks noChangeAspect="1"/>
          </p:cNvPicPr>
          <p:nvPr/>
        </p:nvPicPr>
        <p:blipFill>
          <a:blip r:embed="rId4"/>
          <a:stretch>
            <a:fillRect/>
          </a:stretch>
        </p:blipFill>
        <p:spPr>
          <a:xfrm>
            <a:off x="1225284" y="2896203"/>
            <a:ext cx="134549" cy="195707"/>
          </a:xfrm>
          <a:prstGeom prst="rect">
            <a:avLst/>
          </a:prstGeom>
        </p:spPr>
      </p:pic>
      <p:sp>
        <p:nvSpPr>
          <p:cNvPr id="32" name="TextBox 31"/>
          <p:cNvSpPr txBox="1"/>
          <p:nvPr/>
        </p:nvSpPr>
        <p:spPr>
          <a:xfrm>
            <a:off x="1400393" y="2906426"/>
            <a:ext cx="1014097" cy="194310"/>
          </a:xfrm>
          <a:prstGeom prst="rect">
            <a:avLst/>
          </a:prstGeom>
          <a:noFill/>
        </p:spPr>
        <p:txBody>
          <a:bodyPr wrap="none" lIns="0" rIns="0" tIns="0" bIns="0">
            <a:spAutoFit/>
          </a:bodyPr>
          <a:lstStyle/>
          <a:p>
            <a:r>
              <a:rPr sz="1150" b="0">
                <a:solidFill>
                  <a:srgbClr val="252423"/>
                </a:solidFill>
                <a:latin typeface="Segoe UI"/>
              </a:rPr>
              <a:t>win rate and +</a:t>
            </a:r>
          </a:p>
        </p:txBody>
      </p:sp>
      <p:pic>
        <p:nvPicPr>
          <p:cNvPr id="33" name="Picture 32" descr="lock.png"/>
          <p:cNvPicPr>
            <a:picLocks noChangeAspect="1"/>
          </p:cNvPicPr>
          <p:nvPr/>
        </p:nvPicPr>
        <p:blipFill>
          <a:blip r:embed="rId4"/>
          <a:stretch>
            <a:fillRect/>
          </a:stretch>
        </p:blipFill>
        <p:spPr>
          <a:xfrm>
            <a:off x="2363644" y="2896203"/>
            <a:ext cx="134549" cy="195707"/>
          </a:xfrm>
          <a:prstGeom prst="rect">
            <a:avLst/>
          </a:prstGeom>
        </p:spPr>
      </p:pic>
      <p:sp>
        <p:nvSpPr>
          <p:cNvPr id="34" name="TextBox 33"/>
          <p:cNvSpPr txBox="1"/>
          <p:nvPr/>
        </p:nvSpPr>
        <p:spPr>
          <a:xfrm>
            <a:off x="2538754" y="2906426"/>
            <a:ext cx="2572630" cy="194310"/>
          </a:xfrm>
          <a:prstGeom prst="rect">
            <a:avLst/>
          </a:prstGeom>
          <a:noFill/>
        </p:spPr>
        <p:txBody>
          <a:bodyPr wrap="none" lIns="0" rIns="0" tIns="0" bIns="0">
            <a:spAutoFit/>
          </a:bodyPr>
          <a:lstStyle/>
          <a:p>
            <a:r>
              <a:rPr sz="1150" b="0">
                <a:solidFill>
                  <a:srgbClr val="252423"/>
                </a:solidFill>
                <a:latin typeface="Segoe UI"/>
              </a:rPr>
              <a:t>ASP premium into share gains through</a:t>
            </a:r>
          </a:p>
        </p:txBody>
      </p:sp>
      <p:sp>
        <p:nvSpPr>
          <p:cNvPr id="35" name="TextBox 34"/>
          <p:cNvSpPr txBox="1"/>
          <p:nvPr/>
        </p:nvSpPr>
        <p:spPr>
          <a:xfrm>
            <a:off x="276225" y="3081686"/>
            <a:ext cx="1343226" cy="194310"/>
          </a:xfrm>
          <a:prstGeom prst="rect">
            <a:avLst/>
          </a:prstGeom>
          <a:noFill/>
        </p:spPr>
        <p:txBody>
          <a:bodyPr wrap="none" lIns="0" rIns="0" tIns="0" bIns="0">
            <a:spAutoFit/>
          </a:bodyPr>
          <a:lstStyle/>
          <a:p>
            <a:r>
              <a:rPr sz="1150" b="0">
                <a:solidFill>
                  <a:srgbClr val="252423"/>
                </a:solidFill>
                <a:latin typeface="Segoe UI"/>
              </a:rPr>
              <a:t>value-based selling.</a:t>
            </a:r>
          </a:p>
        </p:txBody>
      </p:sp>
      <p:sp>
        <p:nvSpPr>
          <p:cNvPr id="36" name="TextBox 35"/>
          <p:cNvSpPr txBox="1"/>
          <p:nvPr/>
        </p:nvSpPr>
        <p:spPr>
          <a:xfrm>
            <a:off x="276225" y="3309524"/>
            <a:ext cx="3583517" cy="194310"/>
          </a:xfrm>
          <a:prstGeom prst="rect">
            <a:avLst/>
          </a:prstGeom>
          <a:noFill/>
        </p:spPr>
        <p:txBody>
          <a:bodyPr wrap="none" lIns="0" rIns="0" tIns="0" bIns="0">
            <a:spAutoFit/>
          </a:bodyPr>
          <a:lstStyle/>
          <a:p>
            <a:r>
              <a:rPr sz="1150" b="0">
                <a:solidFill>
                  <a:srgbClr val="252423"/>
                </a:solidFill>
                <a:latin typeface="Segoe UI"/>
              </a:rPr>
              <a:t>▪ Raise SAM penetration beyond 'Rest of the World' (~</a:t>
            </a:r>
          </a:p>
        </p:txBody>
      </p:sp>
      <p:pic>
        <p:nvPicPr>
          <p:cNvPr id="37" name="Picture 36" descr="lock.png"/>
          <p:cNvPicPr>
            <a:picLocks noChangeAspect="1"/>
          </p:cNvPicPr>
          <p:nvPr/>
        </p:nvPicPr>
        <p:blipFill>
          <a:blip r:embed="rId4"/>
          <a:stretch>
            <a:fillRect/>
          </a:stretch>
        </p:blipFill>
        <p:spPr>
          <a:xfrm>
            <a:off x="3808896" y="3299301"/>
            <a:ext cx="134549" cy="195707"/>
          </a:xfrm>
          <a:prstGeom prst="rect">
            <a:avLst/>
          </a:prstGeom>
        </p:spPr>
      </p:pic>
      <p:sp>
        <p:nvSpPr>
          <p:cNvPr id="38" name="TextBox 37"/>
          <p:cNvSpPr txBox="1"/>
          <p:nvPr/>
        </p:nvSpPr>
        <p:spPr>
          <a:xfrm>
            <a:off x="3984005" y="3309524"/>
            <a:ext cx="1615260" cy="194310"/>
          </a:xfrm>
          <a:prstGeom prst="rect">
            <a:avLst/>
          </a:prstGeom>
          <a:noFill/>
        </p:spPr>
        <p:txBody>
          <a:bodyPr wrap="none" lIns="0" rIns="0" tIns="0" bIns="0">
            <a:spAutoFit/>
          </a:bodyPr>
          <a:lstStyle/>
          <a:p>
            <a:r>
              <a:rPr sz="1150" b="0">
                <a:solidFill>
                  <a:srgbClr val="252423"/>
                </a:solidFill>
                <a:latin typeface="Segoe UI"/>
              </a:rPr>
              <a:t>) into lower-penetration</a:t>
            </a:r>
          </a:p>
        </p:txBody>
      </p:sp>
      <p:sp>
        <p:nvSpPr>
          <p:cNvPr id="39" name="TextBox 38"/>
          <p:cNvSpPr txBox="1"/>
          <p:nvPr/>
        </p:nvSpPr>
        <p:spPr>
          <a:xfrm>
            <a:off x="276225" y="3484784"/>
            <a:ext cx="586773" cy="194310"/>
          </a:xfrm>
          <a:prstGeom prst="rect">
            <a:avLst/>
          </a:prstGeom>
          <a:noFill/>
        </p:spPr>
        <p:txBody>
          <a:bodyPr wrap="none" lIns="0" rIns="0" tIns="0" bIns="0">
            <a:spAutoFit/>
          </a:bodyPr>
          <a:lstStyle/>
          <a:p>
            <a:r>
              <a:rPr sz="1150" b="0">
                <a:solidFill>
                  <a:srgbClr val="252423"/>
                </a:solidFill>
                <a:latin typeface="Segoe UI"/>
              </a:rPr>
              <a:t>regions.</a:t>
            </a:r>
          </a:p>
        </p:txBody>
      </p:sp>
      <p:sp>
        <p:nvSpPr>
          <p:cNvPr id="40" name="TextBox 39"/>
          <p:cNvSpPr txBox="1"/>
          <p:nvPr/>
        </p:nvSpPr>
        <p:spPr>
          <a:xfrm>
            <a:off x="276225" y="3712622"/>
            <a:ext cx="746546" cy="194310"/>
          </a:xfrm>
          <a:prstGeom prst="rect">
            <a:avLst/>
          </a:prstGeom>
          <a:noFill/>
        </p:spPr>
        <p:txBody>
          <a:bodyPr wrap="none" lIns="0" rIns="0" tIns="0" bIns="0">
            <a:spAutoFit/>
          </a:bodyPr>
          <a:lstStyle/>
          <a:p>
            <a:r>
              <a:rPr sz="1150" b="0">
                <a:solidFill>
                  <a:srgbClr val="252423"/>
                </a:solidFill>
                <a:latin typeface="Segoe UI"/>
              </a:rPr>
              <a:t>▪ Sustain a</a:t>
            </a:r>
          </a:p>
        </p:txBody>
      </p:sp>
      <p:pic>
        <p:nvPicPr>
          <p:cNvPr id="41" name="Picture 40" descr="lock.png"/>
          <p:cNvPicPr>
            <a:picLocks noChangeAspect="1"/>
          </p:cNvPicPr>
          <p:nvPr/>
        </p:nvPicPr>
        <p:blipFill>
          <a:blip r:embed="rId4"/>
          <a:stretch>
            <a:fillRect/>
          </a:stretch>
        </p:blipFill>
        <p:spPr>
          <a:xfrm>
            <a:off x="971925" y="3702399"/>
            <a:ext cx="134549" cy="195707"/>
          </a:xfrm>
          <a:prstGeom prst="rect">
            <a:avLst/>
          </a:prstGeom>
        </p:spPr>
      </p:pic>
      <p:sp>
        <p:nvSpPr>
          <p:cNvPr id="42" name="TextBox 41"/>
          <p:cNvSpPr txBox="1"/>
          <p:nvPr/>
        </p:nvSpPr>
        <p:spPr>
          <a:xfrm>
            <a:off x="1147034" y="3712622"/>
            <a:ext cx="4064401" cy="194310"/>
          </a:xfrm>
          <a:prstGeom prst="rect">
            <a:avLst/>
          </a:prstGeom>
          <a:noFill/>
        </p:spPr>
        <p:txBody>
          <a:bodyPr wrap="none" lIns="0" rIns="0" tIns="0" bIns="0">
            <a:spAutoFit/>
          </a:bodyPr>
          <a:lstStyle/>
          <a:p>
            <a:r>
              <a:rPr sz="1150" b="0">
                <a:solidFill>
                  <a:srgbClr val="252423"/>
                </a:solidFill>
                <a:latin typeface="Segoe UI"/>
              </a:rPr>
              <a:t>book-to-bill with disciplined capacity and channel investment.</a:t>
            </a:r>
          </a:p>
        </p:txBody>
      </p:sp>
      <p:sp>
        <p:nvSpPr>
          <p:cNvPr id="43" name="TextBox 42"/>
          <p:cNvSpPr txBox="1"/>
          <p:nvPr/>
        </p:nvSpPr>
        <p:spPr>
          <a:xfrm>
            <a:off x="276225" y="3940460"/>
            <a:ext cx="5364522" cy="194310"/>
          </a:xfrm>
          <a:prstGeom prst="rect">
            <a:avLst/>
          </a:prstGeom>
          <a:noFill/>
        </p:spPr>
        <p:txBody>
          <a:bodyPr wrap="none" lIns="0" rIns="0" tIns="0" bIns="0">
            <a:spAutoFit/>
          </a:bodyPr>
          <a:lstStyle/>
          <a:p>
            <a:r>
              <a:rPr sz="1150" b="0">
                <a:solidFill>
                  <a:srgbClr val="252423"/>
                </a:solidFill>
                <a:latin typeface="Segoe UI"/>
              </a:rPr>
              <a:t>▪ Protect margin through corridor-based pricing and cost discipline as input prices</a:t>
            </a:r>
          </a:p>
        </p:txBody>
      </p:sp>
      <p:sp>
        <p:nvSpPr>
          <p:cNvPr id="44" name="TextBox 43"/>
          <p:cNvSpPr txBox="1"/>
          <p:nvPr/>
        </p:nvSpPr>
        <p:spPr>
          <a:xfrm>
            <a:off x="276225" y="4115720"/>
            <a:ext cx="465558" cy="194310"/>
          </a:xfrm>
          <a:prstGeom prst="rect">
            <a:avLst/>
          </a:prstGeom>
          <a:noFill/>
        </p:spPr>
        <p:txBody>
          <a:bodyPr wrap="none" lIns="0" rIns="0" tIns="0" bIns="0">
            <a:spAutoFit/>
          </a:bodyPr>
          <a:lstStyle/>
          <a:p>
            <a:r>
              <a:rPr sz="1150" b="0">
                <a:solidFill>
                  <a:srgbClr val="252423"/>
                </a:solidFill>
                <a:latin typeface="Segoe UI"/>
              </a:rPr>
              <a:t>move.</a:t>
            </a:r>
          </a:p>
        </p:txBody>
      </p:sp>
      <p:sp>
        <p:nvSpPr>
          <p:cNvPr id="45" name="TextBox 44"/>
          <p:cNvSpPr txBox="1"/>
          <p:nvPr/>
        </p:nvSpPr>
        <p:spPr>
          <a:xfrm>
            <a:off x="6334125" y="2503329"/>
            <a:ext cx="5483722" cy="194310"/>
          </a:xfrm>
          <a:prstGeom prst="rect">
            <a:avLst/>
          </a:prstGeom>
          <a:noFill/>
        </p:spPr>
        <p:txBody>
          <a:bodyPr wrap="none" lIns="0" rIns="0" tIns="0" bIns="0">
            <a:spAutoFit/>
          </a:bodyPr>
          <a:lstStyle/>
          <a:p>
            <a:r>
              <a:rPr sz="1150" b="0">
                <a:solidFill>
                  <a:srgbClr val="252423"/>
                </a:solidFill>
                <a:latin typeface="Segoe UI"/>
              </a:rPr>
              <a:t>▪ Premiumise the portfolio around 'Gaseous Helium-3' and adjacent high-value lines</a:t>
            </a:r>
          </a:p>
        </p:txBody>
      </p:sp>
      <p:sp>
        <p:nvSpPr>
          <p:cNvPr id="46" name="TextBox 45"/>
          <p:cNvSpPr txBox="1"/>
          <p:nvPr/>
        </p:nvSpPr>
        <p:spPr>
          <a:xfrm>
            <a:off x="6334125" y="2678589"/>
            <a:ext cx="1501921" cy="194310"/>
          </a:xfrm>
          <a:prstGeom prst="rect">
            <a:avLst/>
          </a:prstGeom>
          <a:noFill/>
        </p:spPr>
        <p:txBody>
          <a:bodyPr wrap="none" lIns="0" rIns="0" tIns="0" bIns="0">
            <a:spAutoFit/>
          </a:bodyPr>
          <a:lstStyle/>
          <a:p>
            <a:r>
              <a:rPr sz="1150" b="0">
                <a:solidFill>
                  <a:srgbClr val="252423"/>
                </a:solidFill>
                <a:latin typeface="Segoe UI"/>
              </a:rPr>
              <a:t>to lift blended pricing.</a:t>
            </a:r>
          </a:p>
        </p:txBody>
      </p:sp>
      <p:sp>
        <p:nvSpPr>
          <p:cNvPr id="47" name="TextBox 46"/>
          <p:cNvSpPr txBox="1"/>
          <p:nvPr/>
        </p:nvSpPr>
        <p:spPr>
          <a:xfrm>
            <a:off x="6334125" y="2906426"/>
            <a:ext cx="4779439" cy="194310"/>
          </a:xfrm>
          <a:prstGeom prst="rect">
            <a:avLst/>
          </a:prstGeom>
          <a:noFill/>
        </p:spPr>
        <p:txBody>
          <a:bodyPr wrap="none" lIns="0" rIns="0" tIns="0" bIns="0">
            <a:spAutoFit/>
          </a:bodyPr>
          <a:lstStyle/>
          <a:p>
            <a:r>
              <a:rPr sz="1150" b="0">
                <a:solidFill>
                  <a:srgbClr val="252423"/>
                </a:solidFill>
                <a:latin typeface="Segoe UI"/>
              </a:rPr>
              <a:t>▪ Deepen presence in 'North America' (largest SOM region) and build out</a:t>
            </a:r>
          </a:p>
        </p:txBody>
      </p:sp>
      <p:sp>
        <p:nvSpPr>
          <p:cNvPr id="48" name="TextBox 47"/>
          <p:cNvSpPr txBox="1"/>
          <p:nvPr/>
        </p:nvSpPr>
        <p:spPr>
          <a:xfrm>
            <a:off x="6334125" y="3081686"/>
            <a:ext cx="1808484" cy="194310"/>
          </a:xfrm>
          <a:prstGeom prst="rect">
            <a:avLst/>
          </a:prstGeom>
          <a:noFill/>
        </p:spPr>
        <p:txBody>
          <a:bodyPr wrap="none" lIns="0" rIns="0" tIns="0" bIns="0">
            <a:spAutoFit/>
          </a:bodyPr>
          <a:lstStyle/>
          <a:p>
            <a:r>
              <a:rPr sz="1150" b="0">
                <a:solidFill>
                  <a:srgbClr val="252423"/>
                </a:solidFill>
                <a:latin typeface="Segoe UI"/>
              </a:rPr>
              <a:t>under-served geographies.</a:t>
            </a:r>
          </a:p>
        </p:txBody>
      </p:sp>
      <p:sp>
        <p:nvSpPr>
          <p:cNvPr id="49" name="TextBox 48"/>
          <p:cNvSpPr txBox="1"/>
          <p:nvPr/>
        </p:nvSpPr>
        <p:spPr>
          <a:xfrm>
            <a:off x="6334125" y="3309524"/>
            <a:ext cx="5252568" cy="194310"/>
          </a:xfrm>
          <a:prstGeom prst="rect">
            <a:avLst/>
          </a:prstGeom>
          <a:noFill/>
        </p:spPr>
        <p:txBody>
          <a:bodyPr wrap="none" lIns="0" rIns="0" tIns="0" bIns="0">
            <a:spAutoFit/>
          </a:bodyPr>
          <a:lstStyle/>
          <a:p>
            <a:r>
              <a:rPr sz="1150" b="0">
                <a:solidFill>
                  <a:srgbClr val="252423"/>
                </a:solidFill>
                <a:latin typeface="Segoe UI"/>
              </a:rPr>
              <a:t>▪ Invest in R&amp;D, certification and selective M&amp;A to move up the price ladder and</a:t>
            </a:r>
          </a:p>
        </p:txBody>
      </p:sp>
      <p:sp>
        <p:nvSpPr>
          <p:cNvPr id="50" name="TextBox 49"/>
          <p:cNvSpPr txBox="1"/>
          <p:nvPr/>
        </p:nvSpPr>
        <p:spPr>
          <a:xfrm>
            <a:off x="6334125" y="3484784"/>
            <a:ext cx="1118201" cy="194310"/>
          </a:xfrm>
          <a:prstGeom prst="rect">
            <a:avLst/>
          </a:prstGeom>
          <a:noFill/>
        </p:spPr>
        <p:txBody>
          <a:bodyPr wrap="none" lIns="0" rIns="0" tIns="0" bIns="0">
            <a:spAutoFit/>
          </a:bodyPr>
          <a:lstStyle/>
          <a:p>
            <a:r>
              <a:rPr sz="1150" b="0">
                <a:solidFill>
                  <a:srgbClr val="252423"/>
                </a:solidFill>
                <a:latin typeface="Segoe UI"/>
              </a:rPr>
              <a:t>widen the moat.</a:t>
            </a:r>
          </a:p>
        </p:txBody>
      </p:sp>
      <p:sp>
        <p:nvSpPr>
          <p:cNvPr id="51" name="TextBox 50"/>
          <p:cNvSpPr txBox="1"/>
          <p:nvPr/>
        </p:nvSpPr>
        <p:spPr>
          <a:xfrm>
            <a:off x="6334125" y="3712622"/>
            <a:ext cx="5016454" cy="194310"/>
          </a:xfrm>
          <a:prstGeom prst="rect">
            <a:avLst/>
          </a:prstGeom>
          <a:noFill/>
        </p:spPr>
        <p:txBody>
          <a:bodyPr wrap="none" lIns="0" rIns="0" tIns="0" bIns="0">
            <a:spAutoFit/>
          </a:bodyPr>
          <a:lstStyle/>
          <a:p>
            <a:r>
              <a:rPr sz="1150" b="0">
                <a:solidFill>
                  <a:srgbClr val="252423"/>
                </a:solidFill>
                <a:latin typeface="Segoe UI"/>
              </a:rPr>
              <a:t>▪ Diversify the customer base and secure supply to de-risk concentration and</a:t>
            </a:r>
          </a:p>
        </p:txBody>
      </p:sp>
      <p:sp>
        <p:nvSpPr>
          <p:cNvPr id="52" name="TextBox 51"/>
          <p:cNvSpPr txBox="1"/>
          <p:nvPr/>
        </p:nvSpPr>
        <p:spPr>
          <a:xfrm>
            <a:off x="6334125" y="3887882"/>
            <a:ext cx="1239625" cy="194310"/>
          </a:xfrm>
          <a:prstGeom prst="rect">
            <a:avLst/>
          </a:prstGeom>
          <a:noFill/>
        </p:spPr>
        <p:txBody>
          <a:bodyPr wrap="none" lIns="0" rIns="0" tIns="0" bIns="0">
            <a:spAutoFit/>
          </a:bodyPr>
          <a:lstStyle/>
          <a:p>
            <a:r>
              <a:rPr sz="1150" b="0">
                <a:solidFill>
                  <a:srgbClr val="252423"/>
                </a:solidFill>
                <a:latin typeface="Segoe UI"/>
              </a:rPr>
              <a:t>input-cost shocks.</a:t>
            </a:r>
          </a:p>
        </p:txBody>
      </p:sp>
      <p:sp>
        <p:nvSpPr>
          <p:cNvPr id="53" name="TextBox 52"/>
          <p:cNvSpPr txBox="1"/>
          <p:nvPr/>
        </p:nvSpPr>
        <p:spPr>
          <a:xfrm>
            <a:off x="6334125" y="4115720"/>
            <a:ext cx="3444121" cy="194310"/>
          </a:xfrm>
          <a:prstGeom prst="rect">
            <a:avLst/>
          </a:prstGeom>
          <a:noFill/>
        </p:spPr>
        <p:txBody>
          <a:bodyPr wrap="none" lIns="0" rIns="0" tIns="0" bIns="0">
            <a:spAutoFit/>
          </a:bodyPr>
          <a:lstStyle/>
          <a:p>
            <a:r>
              <a:rPr sz="1150" b="0">
                <a:solidFill>
                  <a:srgbClr val="252423"/>
                </a:solidFill>
                <a:latin typeface="Segoe UI"/>
              </a:rPr>
              <a:t>▪ Sharpen go-to-market a ~95-day sales cycle and ~</a:t>
            </a:r>
          </a:p>
        </p:txBody>
      </p:sp>
      <p:pic>
        <p:nvPicPr>
          <p:cNvPr id="54" name="Picture 53" descr="lock.png"/>
          <p:cNvPicPr>
            <a:picLocks noChangeAspect="1"/>
          </p:cNvPicPr>
          <p:nvPr/>
        </p:nvPicPr>
        <p:blipFill>
          <a:blip r:embed="rId4"/>
          <a:stretch>
            <a:fillRect/>
          </a:stretch>
        </p:blipFill>
        <p:spPr>
          <a:xfrm>
            <a:off x="9727400" y="4105497"/>
            <a:ext cx="134549" cy="195707"/>
          </a:xfrm>
          <a:prstGeom prst="rect">
            <a:avLst/>
          </a:prstGeom>
        </p:spPr>
      </p:pic>
      <p:sp>
        <p:nvSpPr>
          <p:cNvPr id="55" name="TextBox 54"/>
          <p:cNvSpPr txBox="1"/>
          <p:nvPr/>
        </p:nvSpPr>
        <p:spPr>
          <a:xfrm>
            <a:off x="9902509" y="4115720"/>
            <a:ext cx="1587733" cy="194310"/>
          </a:xfrm>
          <a:prstGeom prst="rect">
            <a:avLst/>
          </a:prstGeom>
          <a:noFill/>
        </p:spPr>
        <p:txBody>
          <a:bodyPr wrap="none" lIns="0" rIns="0" tIns="0" bIns="0">
            <a:spAutoFit/>
          </a:bodyPr>
          <a:lstStyle/>
          <a:p>
            <a:r>
              <a:rPr sz="1150" b="0">
                <a:solidFill>
                  <a:srgbClr val="252423"/>
                </a:solidFill>
                <a:latin typeface="Segoe UI"/>
              </a:rPr>
              <a:t>conversion speed share</a:t>
            </a:r>
          </a:p>
        </p:txBody>
      </p:sp>
      <p:sp>
        <p:nvSpPr>
          <p:cNvPr id="56" name="TextBox 55"/>
          <p:cNvSpPr txBox="1"/>
          <p:nvPr/>
        </p:nvSpPr>
        <p:spPr>
          <a:xfrm>
            <a:off x="6334125" y="4290980"/>
            <a:ext cx="595330" cy="194310"/>
          </a:xfrm>
          <a:prstGeom prst="rect">
            <a:avLst/>
          </a:prstGeom>
          <a:noFill/>
        </p:spPr>
        <p:txBody>
          <a:bodyPr wrap="none" lIns="0" rIns="0" tIns="0" bIns="0">
            <a:spAutoFit/>
          </a:bodyPr>
          <a:lstStyle/>
          <a:p>
            <a:r>
              <a:rPr sz="1150" b="0">
                <a:solidFill>
                  <a:srgbClr val="252423"/>
                </a:solidFill>
                <a:latin typeface="Segoe UI"/>
              </a:rPr>
              <a:t>capture.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
          <p:cNvSpPr/>
          <p:nvPr userDrawn="1"/>
        </p:nvSpPr>
        <p:spPr>
          <a:xfrm>
            <a:off x="-1" y="0"/>
            <a:ext cx="12188825" cy="6224588"/>
          </a:xfrm>
          <a:prstGeom prst="rect">
            <a:avLst/>
          </a:prstGeom>
          <a:solidFill>
            <a:srgbClr val="FFFFF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9" name="Footer Placeholder 1">
            <a:extLst>
              <a:ext uri="{FF2B5EF4-FFF2-40B4-BE49-F238E27FC236}">
                <a16:creationId xmlns:a16="http://schemas.microsoft.com/office/drawing/2014/main" id="{0FF216E4-8655-20ED-6557-5AF033D14335}"/>
              </a:ext>
            </a:extLst>
          </p:cNvPr>
          <p:cNvSpPr>
            <a:spLocks noGrp="1"/>
          </p:cNvSpPr>
          <p:nvPr/>
        </p:nvSpPr>
        <p:spPr>
          <a:xfrm>
            <a:off x="152400" y="6513512"/>
            <a:ext cx="3466790" cy="269876"/>
          </a:xfrm>
        </p:spPr>
        <p:txBody>
          <a:bodyPr lIns="0" anchor="ctr">
            <a:noAutofit/>
          </a:bodyPr>
          <a:lstStyle>
            <a:lvl1pPr algn="l">
              <a:defRPr sz="1100">
                <a:solidFill>
                  <a:srgbClr val="FFFFFF"/>
                </a:solidFill>
                <a:latin typeface="+mn-lt"/>
              </a:defRPr>
            </a:lvl1pPr>
          </a:lstStyle>
          <a:p>
            <a:r>
              <a:rPr lang="en-US" dirty="0"/>
              <a:t>©2026 Fact.MR, All Rights Reserved</a:t>
            </a:r>
          </a:p>
        </p:txBody>
      </p:sp>
      <p:pic>
        <p:nvPicPr>
          <p:cNvPr id="30" name="Picture 7" descr="ToC-Template-for-Fact.MR00">
            <a:extLst>
              <a:ext uri="{FF2B5EF4-FFF2-40B4-BE49-F238E27FC236}">
                <a16:creationId xmlns:a16="http://schemas.microsoft.com/office/drawing/2014/main" id="{E01E74BD-8C0C-2DA1-84BC-F0FB6B91C451}"/>
              </a:ext>
            </a:extLst>
          </p:cNvPr>
          <p:cNvPicPr/>
          <p:nvPr/>
        </p:nvPicPr>
        <p:blipFill>
          <a:blip r:embed="rId3" cstate="email">
            <a:extLst>
              <a:ext uri="{28A0092B-C50C-407E-A947-70E740481C1C}">
                <a14:useLocalDpi xmlns:a14="http://schemas.microsoft.com/office/drawing/2010/main"/>
              </a:ext>
            </a:extLst>
          </a:blip>
          <a:stretch>
            <a:fillRect/>
          </a:stretch>
        </p:blipFill>
        <p:spPr bwMode="auto">
          <a:xfrm>
            <a:off x="7355435" y="1400538"/>
            <a:ext cx="3843278" cy="4983148"/>
          </a:xfrm>
          <a:prstGeom prst="rect">
            <a:avLst/>
          </a:prstGeom>
          <a:noFill/>
        </p:spPr>
      </p:pic>
      <p:sp>
        <p:nvSpPr>
          <p:cNvPr id="31" name="TextBox 9">
            <a:extLst>
              <a:ext uri="{FF2B5EF4-FFF2-40B4-BE49-F238E27FC236}">
                <a16:creationId xmlns:a16="http://schemas.microsoft.com/office/drawing/2014/main" id="{5EEF0DCE-F017-96AA-8684-BEC3942CBEAD}"/>
              </a:ext>
            </a:extLst>
          </p:cNvPr>
          <p:cNvSpPr txBox="1"/>
          <p:nvPr/>
        </p:nvSpPr>
        <p:spPr>
          <a:xfrm>
            <a:off x="882588" y="1044750"/>
            <a:ext cx="6015923" cy="3941720"/>
          </a:xfrm>
          <a:prstGeom prst="rect">
            <a:avLst/>
          </a:prstGeom>
          <a:noFill/>
        </p:spPr>
        <p:txBody>
          <a:bodyPr wrap="square" rtlCol="0">
            <a:spAutoFit/>
          </a:bodyPr>
          <a:lstStyle/>
          <a:p>
            <a:pPr>
              <a:lnSpc>
                <a:spcPct val="150000"/>
              </a:lnSpc>
            </a:pPr>
            <a:r>
              <a:rPr lang="en-US" sz="1200" dirty="0">
                <a:solidFill>
                  <a:srgbClr val="000000">
                    <a:lumMod val="75000"/>
                    <a:lumOff val="25000"/>
                  </a:srgbClr>
                </a:solidFill>
              </a:rPr>
              <a:t>Fact.MR is an independent, pure play market intelligence firm incorporated with an objective to deliver high quality, customized market research solutions that help our clients successfully go to the market equipped with actionable insights capable of impacting crucial business decisions. Our laser-like focus on providing fact-based solutions is underpinned by insights gleaned from over 100 million data points, painstakingly gathered over the last decade and consolidated among a diverse range of industry sectors. This has allowed us to patent a proven and tested research methodology where we analyze historical data and compare this with projections for the immediate future to arrive at accurate market forecasts. This approach enable us to deliver precise statistics, actionable strategic insights, and state of the art market research solutions. Besides in-depth primary and secondary research comprising focused interviews with industry experts and key market stakeholders, our analysts gather real-time data from a plethora of channels, including but not limited to POS, social media channels, annual reports, financial documents and filter this into our market estimates and forecasts to provide the latest updates shaping global markets.</a:t>
            </a:r>
          </a:p>
        </p:txBody>
      </p:sp>
      <p:sp>
        <p:nvSpPr>
          <p:cNvPr id="32" name="TextBox 11">
            <a:extLst>
              <a:ext uri="{FF2B5EF4-FFF2-40B4-BE49-F238E27FC236}">
                <a16:creationId xmlns:a16="http://schemas.microsoft.com/office/drawing/2014/main" id="{2F875F8A-B92D-B1E8-E4A0-3F2D58AFED8E}"/>
              </a:ext>
            </a:extLst>
          </p:cNvPr>
          <p:cNvSpPr txBox="1"/>
          <p:nvPr/>
        </p:nvSpPr>
        <p:spPr>
          <a:xfrm>
            <a:off x="2987329" y="5889088"/>
            <a:ext cx="1868627" cy="507831"/>
          </a:xfrm>
          <a:prstGeom prst="rect">
            <a:avLst/>
          </a:prstGeom>
          <a:noFill/>
        </p:spPr>
        <p:txBody>
          <a:bodyPr wrap="square" rtlCol="0">
            <a:spAutoFit/>
          </a:bodyPr>
          <a:lstStyle/>
          <a:p>
            <a:pPr algn="ctr"/>
            <a:r>
              <a:rPr lang="en-US" sz="1600" dirty="0">
                <a:solidFill>
                  <a:srgbClr val="0070C0"/>
                </a:solidFill>
              </a:rPr>
              <a:t>Call the Consultant</a:t>
            </a:r>
          </a:p>
          <a:p>
            <a:pPr algn="ctr"/>
            <a:r>
              <a:rPr lang="en-US" sz="1100" dirty="0">
                <a:solidFill>
                  <a:srgbClr val="000000">
                    <a:lumMod val="50000"/>
                    <a:lumOff val="50000"/>
                  </a:srgbClr>
                </a:solidFill>
              </a:rPr>
              <a:t>(Fact.MR Brochure)</a:t>
            </a:r>
            <a:endParaRPr lang="en-IN" sz="1100" dirty="0">
              <a:solidFill>
                <a:srgbClr val="000000">
                  <a:lumMod val="50000"/>
                  <a:lumOff val="50000"/>
                </a:srgbClr>
              </a:solidFill>
            </a:endParaRPr>
          </a:p>
        </p:txBody>
      </p:sp>
      <p:grpSp>
        <p:nvGrpSpPr>
          <p:cNvPr id="33" name="Group 18">
            <a:extLst>
              <a:ext uri="{FF2B5EF4-FFF2-40B4-BE49-F238E27FC236}">
                <a16:creationId xmlns:a16="http://schemas.microsoft.com/office/drawing/2014/main" id="{6FC95BD5-103D-EC7D-0762-E8FA100182AA}"/>
              </a:ext>
            </a:extLst>
          </p:cNvPr>
          <p:cNvGrpSpPr/>
          <p:nvPr/>
        </p:nvGrpSpPr>
        <p:grpSpPr>
          <a:xfrm>
            <a:off x="903497" y="5015496"/>
            <a:ext cx="5686658" cy="1498016"/>
            <a:chOff x="575436" y="5033127"/>
            <a:chExt cx="4928816" cy="1245790"/>
          </a:xfrm>
        </p:grpSpPr>
        <p:sp>
          <p:nvSpPr>
            <p:cNvPr id="34" name="TextBox 19">
              <a:extLst>
                <a:ext uri="{FF2B5EF4-FFF2-40B4-BE49-F238E27FC236}">
                  <a16:creationId xmlns:a16="http://schemas.microsoft.com/office/drawing/2014/main" id="{13451374-B269-CB11-A98A-6D9F03D23441}"/>
                </a:ext>
              </a:extLst>
            </p:cNvPr>
            <p:cNvSpPr txBox="1"/>
            <p:nvPr/>
          </p:nvSpPr>
          <p:spPr>
            <a:xfrm>
              <a:off x="588933" y="5755697"/>
              <a:ext cx="1698752" cy="523220"/>
            </a:xfrm>
            <a:prstGeom prst="rect">
              <a:avLst/>
            </a:prstGeom>
            <a:noFill/>
          </p:spPr>
          <p:txBody>
            <a:bodyPr wrap="square" rtlCol="0">
              <a:spAutoFit/>
            </a:bodyPr>
            <a:lstStyle/>
            <a:p>
              <a:pPr algn="ctr"/>
              <a:r>
                <a:rPr lang="en-US" sz="1600" dirty="0">
                  <a:solidFill>
                    <a:srgbClr val="0070C0"/>
                  </a:solidFill>
                </a:rPr>
                <a:t>Know us More</a:t>
              </a:r>
            </a:p>
            <a:p>
              <a:pPr algn="ctr"/>
              <a:r>
                <a:rPr lang="en-US" sz="1100" dirty="0">
                  <a:solidFill>
                    <a:srgbClr val="000000">
                      <a:lumMod val="50000"/>
                      <a:lumOff val="50000"/>
                    </a:srgbClr>
                  </a:solidFill>
                </a:rPr>
                <a:t>(Fact.MR Brochure)</a:t>
              </a:r>
              <a:endParaRPr lang="en-IN" sz="1100" dirty="0">
                <a:solidFill>
                  <a:srgbClr val="000000">
                    <a:lumMod val="50000"/>
                    <a:lumOff val="50000"/>
                  </a:srgbClr>
                </a:solidFill>
              </a:endParaRPr>
            </a:p>
          </p:txBody>
        </p:sp>
        <p:pic>
          <p:nvPicPr>
            <p:cNvPr id="35" name="Picture 20">
              <a:extLst>
                <a:ext uri="{FF2B5EF4-FFF2-40B4-BE49-F238E27FC236}">
                  <a16:creationId xmlns:a16="http://schemas.microsoft.com/office/drawing/2014/main" id="{D59C991B-2241-FA7A-2251-488489F042D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0689" y="5316658"/>
              <a:ext cx="368270" cy="376276"/>
            </a:xfrm>
            <a:prstGeom prst="rect">
              <a:avLst/>
            </a:prstGeom>
          </p:spPr>
        </p:pic>
        <p:pic>
          <p:nvPicPr>
            <p:cNvPr id="36" name="Picture 21">
              <a:extLst>
                <a:ext uri="{FF2B5EF4-FFF2-40B4-BE49-F238E27FC236}">
                  <a16:creationId xmlns:a16="http://schemas.microsoft.com/office/drawing/2014/main" id="{DB412F43-34F2-C3C0-00D4-5D3338DBC41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51180" y="5319802"/>
              <a:ext cx="360260" cy="383756"/>
            </a:xfrm>
            <a:prstGeom prst="rect">
              <a:avLst/>
            </a:prstGeom>
          </p:spPr>
        </p:pic>
        <p:pic>
          <p:nvPicPr>
            <p:cNvPr id="37" name="Picture 22">
              <a:extLst>
                <a:ext uri="{FF2B5EF4-FFF2-40B4-BE49-F238E27FC236}">
                  <a16:creationId xmlns:a16="http://schemas.microsoft.com/office/drawing/2014/main" id="{8B39B747-937C-A236-6CDF-8B3D46BEC40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96890" y="5319554"/>
              <a:ext cx="365683" cy="381583"/>
            </a:xfrm>
            <a:prstGeom prst="rect">
              <a:avLst/>
            </a:prstGeom>
          </p:spPr>
        </p:pic>
        <p:pic>
          <p:nvPicPr>
            <p:cNvPr id="38" name="Picture 23">
              <a:extLst>
                <a:ext uri="{FF2B5EF4-FFF2-40B4-BE49-F238E27FC236}">
                  <a16:creationId xmlns:a16="http://schemas.microsoft.com/office/drawing/2014/main" id="{F3086995-5A4E-4EE7-308B-3E2B194E93D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506566" y="5239119"/>
              <a:ext cx="475224" cy="498986"/>
            </a:xfrm>
            <a:prstGeom prst="rect">
              <a:avLst/>
            </a:prstGeom>
          </p:spPr>
        </p:pic>
        <p:pic>
          <p:nvPicPr>
            <p:cNvPr id="39" name="Picture 24">
              <a:extLst>
                <a:ext uri="{FF2B5EF4-FFF2-40B4-BE49-F238E27FC236}">
                  <a16:creationId xmlns:a16="http://schemas.microsoft.com/office/drawing/2014/main" id="{14F2E23C-3C22-6547-5ADF-D98658772CB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575716" y="5238252"/>
              <a:ext cx="881478" cy="905302"/>
            </a:xfrm>
            <a:prstGeom prst="rect">
              <a:avLst/>
            </a:prstGeom>
          </p:spPr>
        </p:pic>
        <p:sp>
          <p:nvSpPr>
            <p:cNvPr id="40" name="Rectangle 25">
              <a:extLst>
                <a:ext uri="{FF2B5EF4-FFF2-40B4-BE49-F238E27FC236}">
                  <a16:creationId xmlns:a16="http://schemas.microsoft.com/office/drawing/2014/main" id="{9FE5E435-FC89-89EA-7009-D77D985EE62F}"/>
                </a:ext>
              </a:extLst>
            </p:cNvPr>
            <p:cNvSpPr/>
            <p:nvPr/>
          </p:nvSpPr>
          <p:spPr>
            <a:xfrm>
              <a:off x="4522231" y="5042620"/>
              <a:ext cx="982021" cy="177449"/>
            </a:xfrm>
            <a:prstGeom prst="rect">
              <a:avLst/>
            </a:prstGeom>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r>
                <a:rPr lang="en-US" sz="1000" dirty="0"/>
                <a:t>SCAN</a:t>
              </a:r>
              <a:endParaRPr lang="en-IN" sz="1000" dirty="0"/>
            </a:p>
          </p:txBody>
        </p:sp>
        <p:sp>
          <p:nvSpPr>
            <p:cNvPr id="41" name="Rectangle 26">
              <a:extLst>
                <a:ext uri="{FF2B5EF4-FFF2-40B4-BE49-F238E27FC236}">
                  <a16:creationId xmlns:a16="http://schemas.microsoft.com/office/drawing/2014/main" id="{0951F2F9-8062-17B3-B722-81CA49087CC9}"/>
                </a:ext>
              </a:extLst>
            </p:cNvPr>
            <p:cNvSpPr/>
            <p:nvPr/>
          </p:nvSpPr>
          <p:spPr>
            <a:xfrm>
              <a:off x="575436" y="5033127"/>
              <a:ext cx="3655744" cy="177449"/>
            </a:xfrm>
            <a:prstGeom prst="rect">
              <a:avLst/>
            </a:prstGeom>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r>
                <a:rPr lang="en-US" sz="1000" dirty="0"/>
                <a:t>CLICK</a:t>
              </a:r>
              <a:endParaRPr lang="en-IN" sz="1000" dirty="0"/>
            </a:p>
          </p:txBody>
        </p:sp>
      </p:grpSp>
      <p:sp>
        <p:nvSpPr>
          <p:cNvPr id="42" name="TextBox 27">
            <a:extLst>
              <a:ext uri="{FF2B5EF4-FFF2-40B4-BE49-F238E27FC236}">
                <a16:creationId xmlns:a16="http://schemas.microsoft.com/office/drawing/2014/main" id="{09DD9639-7994-B576-C300-A62477ED0561}"/>
              </a:ext>
            </a:extLst>
          </p:cNvPr>
          <p:cNvSpPr txBox="1"/>
          <p:nvPr/>
        </p:nvSpPr>
        <p:spPr>
          <a:xfrm>
            <a:off x="823897" y="532189"/>
            <a:ext cx="9894260" cy="284693"/>
          </a:xfrm>
          <a:prstGeom prst="rect">
            <a:avLst/>
          </a:prstGeom>
          <a:noFill/>
        </p:spPr>
        <p:txBody>
          <a:bodyPr wrap="square" rtlCol="0">
            <a:spAutoFit/>
          </a:bodyPr>
          <a:lstStyle/>
          <a:p>
            <a:r>
              <a:rPr lang="en-US" sz="1250" dirty="0">
                <a:solidFill>
                  <a:srgbClr val="0070C0"/>
                </a:solidFill>
              </a:rPr>
              <a:t>MARKET STATISTICS | DEMAND FORECASTING | COMPETITION EVALUATION | TRENDS &amp; DYNAMICS | PRICING DATA  |  ADVISORY  | CONSULTING</a:t>
            </a:r>
            <a:endParaRPr lang="en-IN" sz="1250" dirty="0">
              <a:solidFill>
                <a:srgbClr val="0070C0"/>
              </a:solidFill>
            </a:endParaRPr>
          </a:p>
        </p:txBody>
      </p:sp>
      <p:sp>
        <p:nvSpPr>
          <p:cNvPr id="43" name="TextBox 28">
            <a:extLst>
              <a:ext uri="{FF2B5EF4-FFF2-40B4-BE49-F238E27FC236}">
                <a16:creationId xmlns:a16="http://schemas.microsoft.com/office/drawing/2014/main" id="{8D98CB54-108E-88C4-13CA-F3F80064B81B}"/>
              </a:ext>
            </a:extLst>
          </p:cNvPr>
          <p:cNvSpPr txBox="1"/>
          <p:nvPr/>
        </p:nvSpPr>
        <p:spPr>
          <a:xfrm>
            <a:off x="7164663" y="1027258"/>
            <a:ext cx="3453384" cy="338554"/>
          </a:xfrm>
          <a:prstGeom prst="rect">
            <a:avLst/>
          </a:prstGeom>
          <a:noFill/>
        </p:spPr>
        <p:txBody>
          <a:bodyPr wrap="square" rtlCol="0">
            <a:spAutoFit/>
          </a:bodyPr>
          <a:lstStyle/>
          <a:p>
            <a:r>
              <a:rPr lang="en-US" sz="1600" dirty="0">
                <a:solidFill>
                  <a:srgbClr val="0070C0"/>
                </a:solidFill>
              </a:rPr>
              <a:t>Thank Your!! For Trusting Fact.MR</a:t>
            </a:r>
            <a:endParaRPr lang="en-IN" sz="1100" dirty="0">
              <a:solidFill>
                <a:srgbClr val="000000">
                  <a:lumMod val="50000"/>
                  <a:lumOff val="50000"/>
                </a:srgbClr>
              </a:solidFill>
            </a:endParaRP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4"/>
          <p:cNvSpPr/>
          <p:nvPr userDrawn="1"/>
        </p:nvSpPr>
        <p:spPr>
          <a:xfrm>
            <a:off x="0" y="6438900"/>
            <a:ext cx="12188825" cy="419100"/>
          </a:xfrm>
          <a:prstGeom prst="rect">
            <a:avLst/>
          </a:prstGeom>
          <a:solidFill>
            <a:srgbClr val="007DB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4" name="Rectangle 8"/>
          <p:cNvSpPr/>
          <p:nvPr userDrawn="1"/>
        </p:nvSpPr>
        <p:spPr>
          <a:xfrm>
            <a:off x="1655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5" name="Rectangle 9"/>
          <p:cNvSpPr/>
          <p:nvPr userDrawn="1"/>
        </p:nvSpPr>
        <p:spPr>
          <a:xfrm>
            <a:off x="-64" y="6388476"/>
            <a:ext cx="12188952" cy="2434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6" name="Rectangle 16"/>
          <p:cNvSpPr/>
          <p:nvPr userDrawn="1"/>
        </p:nvSpPr>
        <p:spPr>
          <a:xfrm>
            <a:off x="3602404" y="865796"/>
            <a:ext cx="3501293"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7" name="Rectangle 17"/>
          <p:cNvSpPr/>
          <p:nvPr userDrawn="1"/>
        </p:nvSpPr>
        <p:spPr>
          <a:xfrm>
            <a:off x="7175913" y="865796"/>
            <a:ext cx="3364674" cy="27432"/>
          </a:xfrm>
          <a:prstGeom prst="rect">
            <a:avLst/>
          </a:prstGeom>
          <a:solidFill>
            <a:srgbClr val="00B3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sp>
        <p:nvSpPr>
          <p:cNvPr id="8" name="Rectangle 10"/>
          <p:cNvSpPr/>
          <p:nvPr userDrawn="1"/>
        </p:nvSpPr>
        <p:spPr bwMode="gray">
          <a:xfrm>
            <a:off x="-1071957" y="876300"/>
            <a:ext cx="899524" cy="418887"/>
          </a:xfrm>
          <a:prstGeom prst="rect">
            <a:avLst/>
          </a:prstGeom>
          <a:solidFill>
            <a:srgbClr val="2A5F8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9" name="Rectangle 11"/>
          <p:cNvSpPr/>
          <p:nvPr userDrawn="1"/>
        </p:nvSpPr>
        <p:spPr bwMode="gray">
          <a:xfrm>
            <a:off x="-1071957" y="1588016"/>
            <a:ext cx="899524" cy="418887"/>
          </a:xfrm>
          <a:prstGeom prst="rect">
            <a:avLst/>
          </a:prstGeom>
          <a:solidFill>
            <a:srgbClr val="9E7E0A"/>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0" name="Rectangle 12"/>
          <p:cNvSpPr/>
          <p:nvPr userDrawn="1"/>
        </p:nvSpPr>
        <p:spPr bwMode="gray">
          <a:xfrm>
            <a:off x="-1071957" y="2299732"/>
            <a:ext cx="899524" cy="418887"/>
          </a:xfrm>
          <a:prstGeom prst="rect">
            <a:avLst/>
          </a:prstGeom>
          <a:solidFill>
            <a:srgbClr val="40315E"/>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1" name="Rectangle 13"/>
          <p:cNvSpPr/>
          <p:nvPr userDrawn="1"/>
        </p:nvSpPr>
        <p:spPr bwMode="gray">
          <a:xfrm>
            <a:off x="-1071957" y="3011448"/>
            <a:ext cx="899524" cy="418887"/>
          </a:xfrm>
          <a:prstGeom prst="rect">
            <a:avLst/>
          </a:prstGeom>
          <a:solidFill>
            <a:srgbClr val="008189"/>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2" name="Rectangle 14"/>
          <p:cNvSpPr/>
          <p:nvPr userDrawn="1"/>
        </p:nvSpPr>
        <p:spPr bwMode="gray">
          <a:xfrm>
            <a:off x="-1071957" y="3723164"/>
            <a:ext cx="899524" cy="418887"/>
          </a:xfrm>
          <a:prstGeom prst="rect">
            <a:avLst/>
          </a:prstGeom>
          <a:solidFill>
            <a:srgbClr val="A35313"/>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3" name="Rectangle 15"/>
          <p:cNvSpPr/>
          <p:nvPr userDrawn="1"/>
        </p:nvSpPr>
        <p:spPr bwMode="gray">
          <a:xfrm>
            <a:off x="-1071957" y="5146596"/>
            <a:ext cx="899524" cy="418887"/>
          </a:xfrm>
          <a:prstGeom prst="rect">
            <a:avLst/>
          </a:prstGeom>
          <a:solidFill>
            <a:srgbClr val="7B8422"/>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4" name="Rectangle 18"/>
          <p:cNvSpPr/>
          <p:nvPr userDrawn="1"/>
        </p:nvSpPr>
        <p:spPr bwMode="gray">
          <a:xfrm>
            <a:off x="-1071957" y="5858313"/>
            <a:ext cx="899524" cy="418887"/>
          </a:xfrm>
          <a:prstGeom prst="rect">
            <a:avLst/>
          </a:prstGeom>
          <a:solidFill>
            <a:srgbClr val="C55A11"/>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5" name="Rectangle 19"/>
          <p:cNvSpPr/>
          <p:nvPr userDrawn="1"/>
        </p:nvSpPr>
        <p:spPr bwMode="gray">
          <a:xfrm>
            <a:off x="-1071957" y="4434880"/>
            <a:ext cx="899524" cy="418887"/>
          </a:xfrm>
          <a:prstGeom prst="rect">
            <a:avLst/>
          </a:prstGeom>
          <a:solidFill>
            <a:srgbClr val="000000">
              <a:lumMod val="65000"/>
              <a:lumOff val="35000"/>
            </a:srgbClr>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6" name="Rectangle 20"/>
          <p:cNvSpPr/>
          <p:nvPr userDrawn="1"/>
        </p:nvSpPr>
        <p:spPr bwMode="gray">
          <a:xfrm>
            <a:off x="12354555" y="876300"/>
            <a:ext cx="899524" cy="418887"/>
          </a:xfrm>
          <a:prstGeom prst="rect">
            <a:avLst/>
          </a:prstGeom>
          <a:solidFill>
            <a:srgbClr val="2774B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7" name="Rectangle 21"/>
          <p:cNvSpPr/>
          <p:nvPr userDrawn="1"/>
        </p:nvSpPr>
        <p:spPr bwMode="gray">
          <a:xfrm>
            <a:off x="12354555" y="1429857"/>
            <a:ext cx="899524" cy="418887"/>
          </a:xfrm>
          <a:prstGeom prst="rect">
            <a:avLst/>
          </a:prstGeom>
          <a:solidFill>
            <a:srgbClr val="3B82B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8" name="Rectangle 22"/>
          <p:cNvSpPr/>
          <p:nvPr userDrawn="1"/>
        </p:nvSpPr>
        <p:spPr bwMode="gray">
          <a:xfrm>
            <a:off x="12354555" y="1983414"/>
            <a:ext cx="899524" cy="418887"/>
          </a:xfrm>
          <a:prstGeom prst="rect">
            <a:avLst/>
          </a:prstGeom>
          <a:solidFill>
            <a:srgbClr val="5AA0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19" name="Rectangle 23"/>
          <p:cNvSpPr/>
          <p:nvPr userDrawn="1"/>
        </p:nvSpPr>
        <p:spPr bwMode="gray">
          <a:xfrm>
            <a:off x="12354555" y="2536971"/>
            <a:ext cx="899524" cy="418887"/>
          </a:xfrm>
          <a:prstGeom prst="rect">
            <a:avLst/>
          </a:prstGeom>
          <a:solidFill>
            <a:srgbClr val="69B1E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0" name="Rectangle 24"/>
          <p:cNvSpPr/>
          <p:nvPr userDrawn="1"/>
        </p:nvSpPr>
        <p:spPr bwMode="gray">
          <a:xfrm>
            <a:off x="12354555" y="3090528"/>
            <a:ext cx="899524" cy="418887"/>
          </a:xfrm>
          <a:prstGeom prst="rect">
            <a:avLst/>
          </a:prstGeom>
          <a:solidFill>
            <a:srgbClr val="79C3EC"/>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1" name="Rectangle 25"/>
          <p:cNvSpPr/>
          <p:nvPr userDrawn="1"/>
        </p:nvSpPr>
        <p:spPr bwMode="gray">
          <a:xfrm>
            <a:off x="12354555" y="3644085"/>
            <a:ext cx="899524" cy="418887"/>
          </a:xfrm>
          <a:prstGeom prst="rect">
            <a:avLst/>
          </a:prstGeom>
          <a:solidFill>
            <a:srgbClr val="58595B"/>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2" name="Rectangle 26"/>
          <p:cNvSpPr/>
          <p:nvPr userDrawn="1"/>
        </p:nvSpPr>
        <p:spPr bwMode="gray">
          <a:xfrm>
            <a:off x="12354555" y="4197642"/>
            <a:ext cx="899524" cy="418887"/>
          </a:xfrm>
          <a:prstGeom prst="rect">
            <a:avLst/>
          </a:prstGeom>
          <a:solidFill>
            <a:srgbClr val="808285"/>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3" name="Rectangle 27"/>
          <p:cNvSpPr/>
          <p:nvPr userDrawn="1"/>
        </p:nvSpPr>
        <p:spPr bwMode="gray">
          <a:xfrm>
            <a:off x="12354555" y="4751199"/>
            <a:ext cx="899524" cy="418887"/>
          </a:xfrm>
          <a:prstGeom prst="rect">
            <a:avLst/>
          </a:prstGeom>
          <a:solidFill>
            <a:srgbClr val="939598"/>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4" name="Rectangle 28"/>
          <p:cNvSpPr/>
          <p:nvPr userDrawn="1"/>
        </p:nvSpPr>
        <p:spPr bwMode="gray">
          <a:xfrm>
            <a:off x="12354555" y="5304756"/>
            <a:ext cx="899524" cy="418887"/>
          </a:xfrm>
          <a:prstGeom prst="rect">
            <a:avLst/>
          </a:prstGeom>
          <a:solidFill>
            <a:srgbClr val="BCBEC0"/>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sp>
        <p:nvSpPr>
          <p:cNvPr id="25" name="Rectangle 29"/>
          <p:cNvSpPr/>
          <p:nvPr userDrawn="1"/>
        </p:nvSpPr>
        <p:spPr bwMode="gray">
          <a:xfrm>
            <a:off x="12354555" y="5858313"/>
            <a:ext cx="899524" cy="418887"/>
          </a:xfrm>
          <a:prstGeom prst="rect">
            <a:avLst/>
          </a:prstGeom>
          <a:solidFill>
            <a:srgbClr val="D1D3D4"/>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GB" sz="1400" dirty="0"/>
          </a:p>
        </p:txBody>
      </p:sp>
      <p:pic>
        <p:nvPicPr>
          <p:cNvPr id="26" name="Picture 5">
            <a:extLst>
              <a:ext uri="{FF2B5EF4-FFF2-40B4-BE49-F238E27FC236}">
                <a16:creationId xmlns:a16="http://schemas.microsoft.com/office/drawing/2014/main" id="{B6F5C3B9-EDA3-07A0-375B-1932F3D794E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7" name="Rectangle 1"/>
          <p:cNvSpPr/>
          <p:nvPr userDrawn="1"/>
        </p:nvSpPr>
        <p:spPr>
          <a:xfrm>
            <a:off x="-1" y="0"/>
            <a:ext cx="12188825" cy="6224588"/>
          </a:xfrm>
          <a:prstGeom prst="rect">
            <a:avLst/>
          </a:prstGeom>
          <a:solidFill>
            <a:srgbClr val="FFFFFF"/>
          </a:solidFill>
          <a:ln>
            <a:noFill/>
          </a:ln>
        </p:spPr>
        <p:style>
          <a:lnRef idx="2">
            <a:srgbClr val="92278F">
              <a:shade val="50000"/>
            </a:srgbClr>
          </a:lnRef>
          <a:fillRef idx="1">
            <a:srgbClr val="92278F"/>
          </a:fillRef>
          <a:effectRef idx="0">
            <a:srgbClr val="92278F"/>
          </a:effectRef>
          <a:fontRef idx="minor">
            <a:srgbClr val="FFFFFF"/>
          </a:fontRef>
        </p:style>
        <p:txBody>
          <a:bodyPr rtlCol="0" anchor="ctr"/>
          <a:lstStyle/>
          <a:p>
            <a:pPr algn="ctr"/>
            <a:endParaRPr lang="en-IN"/>
          </a:p>
        </p:txBody>
      </p:sp>
      <p:pic>
        <p:nvPicPr>
          <p:cNvPr id="28" name="Picture 2">
            <a:extLst>
              <a:ext uri="{FF2B5EF4-FFF2-40B4-BE49-F238E27FC236}">
                <a16:creationId xmlns:a16="http://schemas.microsoft.com/office/drawing/2014/main" id="{83769B9C-E5EC-A283-0CD8-2E9AA369919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509684" y="290991"/>
            <a:ext cx="1603477" cy="408887"/>
          </a:xfrm>
          <a:prstGeom prst="rect">
            <a:avLst/>
          </a:prstGeom>
        </p:spPr>
      </p:pic>
      <p:sp>
        <p:nvSpPr>
          <p:cNvPr id="29" name="Footer Placeholder 1">
            <a:extLst>
              <a:ext uri="{FF2B5EF4-FFF2-40B4-BE49-F238E27FC236}">
                <a16:creationId xmlns:a16="http://schemas.microsoft.com/office/drawing/2014/main" id="{0792B2E1-BA9A-3A88-210A-A6E9BB2F3A0D}"/>
              </a:ext>
            </a:extLst>
          </p:cNvPr>
          <p:cNvSpPr>
            <a:spLocks noGrp="1"/>
          </p:cNvSpPr>
          <p:nvPr/>
        </p:nvSpPr>
        <p:spPr>
          <a:xfrm>
            <a:off x="152400" y="6513512"/>
            <a:ext cx="3466790" cy="269876"/>
          </a:xfrm>
        </p:spPr>
        <p:txBody>
          <a:bodyPr lIns="0" anchor="ctr">
            <a:noAutofit/>
          </a:bodyPr>
          <a:lstStyle>
            <a:lvl1pPr algn="l">
              <a:defRPr sz="1100">
                <a:solidFill>
                  <a:srgbClr val="FFFFFF"/>
                </a:solidFill>
                <a:latin typeface="+mn-lt"/>
              </a:defRPr>
            </a:lvl1pPr>
          </a:lstStyle>
          <a:p>
            <a:r>
              <a:rPr lang="en-US"/>
              <a:t>©2026 Fact.MR, All Rights Reserved</a:t>
            </a:r>
            <a:endParaRPr lang="en-US" dirty="0"/>
          </a:p>
        </p:txBody>
      </p:sp>
      <p:pic>
        <p:nvPicPr>
          <p:cNvPr id="30" name="Picture 3">
            <a:extLst>
              <a:ext uri="{FF2B5EF4-FFF2-40B4-BE49-F238E27FC236}">
                <a16:creationId xmlns:a16="http://schemas.microsoft.com/office/drawing/2014/main" id="{08A50285-99EB-6AE6-02AC-019726D162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058399" cy="6858000"/>
          </a:xfrm>
          <a:prstGeom prst="rect">
            <a:avLst/>
          </a:prstGeom>
        </p:spPr>
      </p:pic>
      <p:sp>
        <p:nvSpPr>
          <p:cNvPr id="31" name="Rectangle 5">
            <a:extLst>
              <a:ext uri="{FF2B5EF4-FFF2-40B4-BE49-F238E27FC236}">
                <a16:creationId xmlns:a16="http://schemas.microsoft.com/office/drawing/2014/main" id="{029B9271-A9D1-2B3F-65F7-8A09A85F6F61}"/>
              </a:ext>
            </a:extLst>
          </p:cNvPr>
          <p:cNvSpPr/>
          <p:nvPr/>
        </p:nvSpPr>
        <p:spPr>
          <a:xfrm>
            <a:off x="5151125" y="4115774"/>
            <a:ext cx="2212027" cy="1323439"/>
          </a:xfrm>
          <a:prstGeom prst="rect">
            <a:avLst/>
          </a:prstGeom>
        </p:spPr>
        <p:txBody>
          <a:bodyPr wrap="square">
            <a:spAutoFit/>
          </a:bodyPr>
          <a:lstStyle/>
          <a:p>
            <a:pPr algn="ctr"/>
            <a:r>
              <a:rPr lang="en-IN" sz="1600" dirty="0">
                <a:solidFill>
                  <a:srgbClr val="EAE5EB">
                    <a:lumMod val="25000"/>
                  </a:srgbClr>
                </a:solidFill>
              </a:rPr>
              <a:t>11140 Rockville Pike, Suite 400, Rockville,</a:t>
            </a:r>
            <a:br>
              <a:rPr lang="en-IN" sz="1600" dirty="0">
                <a:solidFill>
                  <a:srgbClr val="EAE5EB">
                    <a:lumMod val="25000"/>
                  </a:srgbClr>
                </a:solidFill>
              </a:rPr>
            </a:br>
            <a:r>
              <a:rPr lang="en-IN" sz="1600" dirty="0">
                <a:solidFill>
                  <a:srgbClr val="EAE5EB">
                    <a:lumMod val="25000"/>
                  </a:srgbClr>
                </a:solidFill>
              </a:rPr>
              <a:t>MD 20852,</a:t>
            </a:r>
            <a:br>
              <a:rPr lang="en-IN" sz="1600" dirty="0">
                <a:solidFill>
                  <a:srgbClr val="EAE5EB">
                    <a:lumMod val="25000"/>
                  </a:srgbClr>
                </a:solidFill>
              </a:rPr>
            </a:br>
            <a:r>
              <a:rPr lang="en-IN" sz="1600" dirty="0">
                <a:solidFill>
                  <a:srgbClr val="EAE5EB">
                    <a:lumMod val="25000"/>
                  </a:srgbClr>
                </a:solidFill>
              </a:rPr>
              <a:t>United States</a:t>
            </a:r>
          </a:p>
          <a:p>
            <a:pPr algn="ctr"/>
            <a:r>
              <a:rPr lang="en-IN" sz="1600" dirty="0">
                <a:solidFill>
                  <a:srgbClr val="EAE5EB">
                    <a:lumMod val="25000"/>
                  </a:srgbClr>
                </a:solidFill>
              </a:rPr>
              <a:t>Tel: +1 (628) 251-1583</a:t>
            </a:r>
          </a:p>
        </p:txBody>
      </p:sp>
      <p:sp>
        <p:nvSpPr>
          <p:cNvPr id="32" name="Rectangle 6">
            <a:extLst>
              <a:ext uri="{FF2B5EF4-FFF2-40B4-BE49-F238E27FC236}">
                <a16:creationId xmlns:a16="http://schemas.microsoft.com/office/drawing/2014/main" id="{571547CA-BD89-9E30-483A-7AEE46324227}"/>
              </a:ext>
            </a:extLst>
          </p:cNvPr>
          <p:cNvSpPr/>
          <p:nvPr/>
        </p:nvSpPr>
        <p:spPr>
          <a:xfrm>
            <a:off x="7989398" y="4115774"/>
            <a:ext cx="2348504" cy="1323439"/>
          </a:xfrm>
          <a:prstGeom prst="rect">
            <a:avLst/>
          </a:prstGeom>
        </p:spPr>
        <p:txBody>
          <a:bodyPr wrap="square">
            <a:spAutoFit/>
          </a:bodyPr>
          <a:lstStyle/>
          <a:p>
            <a:pPr algn="ctr"/>
            <a:r>
              <a:rPr lang="en-IN" sz="1600" dirty="0">
                <a:solidFill>
                  <a:srgbClr val="EAE5EB">
                    <a:lumMod val="25000"/>
                  </a:srgbClr>
                </a:solidFill>
              </a:rPr>
              <a:t>Suite 9884, 27 Upper Pembroke Street,</a:t>
            </a:r>
          </a:p>
          <a:p>
            <a:pPr algn="ctr"/>
            <a:r>
              <a:rPr lang="en-IN" sz="1600" dirty="0">
                <a:solidFill>
                  <a:srgbClr val="EAE5EB">
                    <a:lumMod val="25000"/>
                  </a:srgbClr>
                </a:solidFill>
              </a:rPr>
              <a:t>Dublin 2,</a:t>
            </a:r>
            <a:br>
              <a:rPr lang="en-IN" sz="1600" dirty="0">
                <a:solidFill>
                  <a:srgbClr val="EAE5EB">
                    <a:lumMod val="25000"/>
                  </a:srgbClr>
                </a:solidFill>
              </a:rPr>
            </a:br>
            <a:r>
              <a:rPr lang="en-IN" sz="1600" dirty="0">
                <a:solidFill>
                  <a:srgbClr val="EAE5EB">
                    <a:lumMod val="25000"/>
                  </a:srgbClr>
                </a:solidFill>
              </a:rPr>
              <a:t>Ireland</a:t>
            </a:r>
          </a:p>
          <a:p>
            <a:pPr algn="ctr"/>
            <a:r>
              <a:rPr lang="en-IN" sz="1600" dirty="0">
                <a:solidFill>
                  <a:srgbClr val="EAE5EB">
                    <a:lumMod val="25000"/>
                  </a:srgbClr>
                </a:solidFill>
              </a:rPr>
              <a:t>Tel: +353-1-4434-232 (D)</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