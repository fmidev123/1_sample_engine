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00.xml" ContentType="application/vnd.openxmlformats-officedocument.drawingml.chart+xml"/>
  <Override PartName="/ppt/charts/chart101.xml" ContentType="application/vnd.openxmlformats-officedocument.drawingml.chart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charts/chart104.xml" ContentType="application/vnd.openxmlformats-officedocument.drawingml.chart+xml"/>
  <Override PartName="/ppt/charts/chart105.xml" ContentType="application/vnd.openxmlformats-officedocument.drawingml.chart+xml"/>
  <Override PartName="/ppt/charts/chart106.xml" ContentType="application/vnd.openxmlformats-officedocument.drawingml.chart+xml"/>
  <Override PartName="/ppt/charts/chart107.xml" ContentType="application/vnd.openxmlformats-officedocument.drawingml.chart+xml"/>
  <Override PartName="/ppt/charts/chart108.xml" ContentType="application/vnd.openxmlformats-officedocument.drawingml.chart+xml"/>
  <Override PartName="/ppt/charts/chart109.xml" ContentType="application/vnd.openxmlformats-officedocument.drawingml.chart+xml"/>
  <Override PartName="/ppt/charts/chart11.xml" ContentType="application/vnd.openxmlformats-officedocument.drawingml.chart+xml"/>
  <Override PartName="/ppt/charts/chart110.xml" ContentType="application/vnd.openxmlformats-officedocument.drawingml.chart+xml"/>
  <Override PartName="/ppt/charts/chart111.xml" ContentType="application/vnd.openxmlformats-officedocument.drawingml.chart+xml"/>
  <Override PartName="/ppt/charts/chart112.xml" ContentType="application/vnd.openxmlformats-officedocument.drawingml.chart+xml"/>
  <Override PartName="/ppt/charts/chart113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474" r:id="rId226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85" r:id="rId237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1" r:id="rId43"/>
    <p:sldId id="292" r:id="rId44"/>
    <p:sldId id="295" r:id="rId47"/>
    <p:sldId id="296" r:id="rId48"/>
    <p:sldId id="297" r:id="rId49"/>
    <p:sldId id="298" r:id="rId50"/>
    <p:sldId id="300" r:id="rId52"/>
    <p:sldId id="301" r:id="rId53"/>
    <p:sldId id="304" r:id="rId56"/>
    <p:sldId id="305" r:id="rId57"/>
    <p:sldId id="306" r:id="rId58"/>
    <p:sldId id="307" r:id="rId59"/>
    <p:sldId id="309" r:id="rId61"/>
    <p:sldId id="310" r:id="rId62"/>
    <p:sldId id="313" r:id="rId65"/>
    <p:sldId id="314" r:id="rId66"/>
    <p:sldId id="315" r:id="rId67"/>
    <p:sldId id="316" r:id="rId68"/>
    <p:sldId id="317" r:id="rId69"/>
    <p:sldId id="319" r:id="rId71"/>
    <p:sldId id="320" r:id="rId72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9" r:id="rId101"/>
    <p:sldId id="350" r:id="rId102"/>
    <p:sldId id="353" r:id="rId105"/>
    <p:sldId id="354" r:id="rId106"/>
    <p:sldId id="355" r:id="rId107"/>
    <p:sldId id="356" r:id="rId108"/>
    <p:sldId id="358" r:id="rId110"/>
    <p:sldId id="359" r:id="rId111"/>
    <p:sldId id="362" r:id="rId114"/>
    <p:sldId id="363" r:id="rId115"/>
    <p:sldId id="364" r:id="rId116"/>
    <p:sldId id="365" r:id="rId117"/>
    <p:sldId id="367" r:id="rId119"/>
    <p:sldId id="368" r:id="rId120"/>
    <p:sldId id="371" r:id="rId123"/>
    <p:sldId id="372" r:id="rId124"/>
    <p:sldId id="373" r:id="rId125"/>
    <p:sldId id="374" r:id="rId126"/>
    <p:sldId id="375" r:id="rId127"/>
    <p:sldId id="377" r:id="rId129"/>
    <p:sldId id="378" r:id="rId130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1" r:id="rId143"/>
    <p:sldId id="392" r:id="rId144"/>
    <p:sldId id="393" r:id="rId145"/>
    <p:sldId id="395" r:id="rId147"/>
    <p:sldId id="396" r:id="rId148"/>
    <p:sldId id="397" r:id="rId149"/>
    <p:sldId id="399" r:id="rId151"/>
    <p:sldId id="400" r:id="rId152"/>
    <p:sldId id="401" r:id="rId153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86" r:id="rId1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30.xml"/><Relationship Id="rId18" Type="http://schemas.openxmlformats.org/officeDocument/2006/relationships/slide" Target="slides/slide31.xml"/><Relationship Id="rId19" Type="http://schemas.openxmlformats.org/officeDocument/2006/relationships/slide" Target="slides/slide32.xml"/><Relationship Id="rId20" Type="http://schemas.openxmlformats.org/officeDocument/2006/relationships/slide" Target="slides/slide33.xml"/><Relationship Id="rId21" Type="http://schemas.openxmlformats.org/officeDocument/2006/relationships/slide" Target="slides/slide34.xml"/><Relationship Id="rId22" Type="http://schemas.openxmlformats.org/officeDocument/2006/relationships/slide" Target="slides/slide35.xml"/><Relationship Id="rId23" Type="http://schemas.openxmlformats.org/officeDocument/2006/relationships/slide" Target="slides/slide36.xml"/><Relationship Id="rId24" Type="http://schemas.openxmlformats.org/officeDocument/2006/relationships/slide" Target="slides/slide37.xml"/><Relationship Id="rId25" Type="http://schemas.openxmlformats.org/officeDocument/2006/relationships/slide" Target="slides/slide38.xml"/><Relationship Id="rId26" Type="http://schemas.openxmlformats.org/officeDocument/2006/relationships/slide" Target="slides/slide39.xml"/><Relationship Id="rId27" Type="http://schemas.openxmlformats.org/officeDocument/2006/relationships/slide" Target="slides/slide40.xml"/><Relationship Id="rId28" Type="http://schemas.openxmlformats.org/officeDocument/2006/relationships/slide" Target="slides/slide41.xml"/><Relationship Id="rId29" Type="http://schemas.openxmlformats.org/officeDocument/2006/relationships/slide" Target="slides/slide42.xml"/><Relationship Id="rId30" Type="http://schemas.openxmlformats.org/officeDocument/2006/relationships/slide" Target="slides/slide43.xml"/><Relationship Id="rId31" Type="http://schemas.openxmlformats.org/officeDocument/2006/relationships/slide" Target="slides/slide44.xml"/><Relationship Id="rId32" Type="http://schemas.openxmlformats.org/officeDocument/2006/relationships/slide" Target="slides/slide45.xml"/><Relationship Id="rId33" Type="http://schemas.openxmlformats.org/officeDocument/2006/relationships/slide" Target="slides/slide46.xml"/><Relationship Id="rId34" Type="http://schemas.openxmlformats.org/officeDocument/2006/relationships/slide" Target="slides/slide47.xml"/><Relationship Id="rId35" Type="http://schemas.openxmlformats.org/officeDocument/2006/relationships/slide" Target="slides/slide48.xml"/><Relationship Id="rId36" Type="http://schemas.openxmlformats.org/officeDocument/2006/relationships/slide" Target="slides/slide49.xml"/><Relationship Id="rId37" Type="http://schemas.openxmlformats.org/officeDocument/2006/relationships/slide" Target="slides/slide50.xml"/><Relationship Id="rId38" Type="http://schemas.openxmlformats.org/officeDocument/2006/relationships/slide" Target="slides/slide51.xml"/><Relationship Id="rId39" Type="http://schemas.openxmlformats.org/officeDocument/2006/relationships/slide" Target="slides/slide52.xml"/><Relationship Id="rId40" Type="http://schemas.openxmlformats.org/officeDocument/2006/relationships/slide" Target="slides/slide53.xml"/><Relationship Id="rId41" Type="http://schemas.openxmlformats.org/officeDocument/2006/relationships/slide" Target="slides/slide54.xml"/><Relationship Id="rId43" Type="http://schemas.openxmlformats.org/officeDocument/2006/relationships/slide" Target="slides/slide55.xml"/><Relationship Id="rId44" Type="http://schemas.openxmlformats.org/officeDocument/2006/relationships/slide" Target="slides/slide56.xml"/><Relationship Id="rId47" Type="http://schemas.openxmlformats.org/officeDocument/2006/relationships/slide" Target="slides/slide57.xml"/><Relationship Id="rId48" Type="http://schemas.openxmlformats.org/officeDocument/2006/relationships/slide" Target="slides/slide58.xml"/><Relationship Id="rId49" Type="http://schemas.openxmlformats.org/officeDocument/2006/relationships/slide" Target="slides/slide59.xml"/><Relationship Id="rId50" Type="http://schemas.openxmlformats.org/officeDocument/2006/relationships/slide" Target="slides/slide60.xml"/><Relationship Id="rId52" Type="http://schemas.openxmlformats.org/officeDocument/2006/relationships/slide" Target="slides/slide61.xml"/><Relationship Id="rId53" Type="http://schemas.openxmlformats.org/officeDocument/2006/relationships/slide" Target="slides/slide62.xml"/><Relationship Id="rId56" Type="http://schemas.openxmlformats.org/officeDocument/2006/relationships/slide" Target="slides/slide63.xml"/><Relationship Id="rId57" Type="http://schemas.openxmlformats.org/officeDocument/2006/relationships/slide" Target="slides/slide64.xml"/><Relationship Id="rId58" Type="http://schemas.openxmlformats.org/officeDocument/2006/relationships/slide" Target="slides/slide65.xml"/><Relationship Id="rId59" Type="http://schemas.openxmlformats.org/officeDocument/2006/relationships/slide" Target="slides/slide66.xml"/><Relationship Id="rId61" Type="http://schemas.openxmlformats.org/officeDocument/2006/relationships/slide" Target="slides/slide67.xml"/><Relationship Id="rId62" Type="http://schemas.openxmlformats.org/officeDocument/2006/relationships/slide" Target="slides/slide68.xml"/><Relationship Id="rId65" Type="http://schemas.openxmlformats.org/officeDocument/2006/relationships/slide" Target="slides/slide69.xml"/><Relationship Id="rId66" Type="http://schemas.openxmlformats.org/officeDocument/2006/relationships/slide" Target="slides/slide70.xml"/><Relationship Id="rId67" Type="http://schemas.openxmlformats.org/officeDocument/2006/relationships/slide" Target="slides/slide71.xml"/><Relationship Id="rId68" Type="http://schemas.openxmlformats.org/officeDocument/2006/relationships/slide" Target="slides/slide72.xml"/><Relationship Id="rId69" Type="http://schemas.openxmlformats.org/officeDocument/2006/relationships/slide" Target="slides/slide73.xml"/><Relationship Id="rId71" Type="http://schemas.openxmlformats.org/officeDocument/2006/relationships/slide" Target="slides/slide74.xml"/><Relationship Id="rId72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slide" Target="slides/slide86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89" Type="http://schemas.openxmlformats.org/officeDocument/2006/relationships/slide" Target="slides/slide90.xml"/><Relationship Id="rId90" Type="http://schemas.openxmlformats.org/officeDocument/2006/relationships/slide" Target="slides/slide91.xml"/><Relationship Id="rId91" Type="http://schemas.openxmlformats.org/officeDocument/2006/relationships/slide" Target="slides/slide92.xml"/><Relationship Id="rId92" Type="http://schemas.openxmlformats.org/officeDocument/2006/relationships/slide" Target="slides/slide93.xml"/><Relationship Id="rId93" Type="http://schemas.openxmlformats.org/officeDocument/2006/relationships/slide" Target="slides/slide94.xml"/><Relationship Id="rId94" Type="http://schemas.openxmlformats.org/officeDocument/2006/relationships/slide" Target="slides/slide95.xml"/><Relationship Id="rId95" Type="http://schemas.openxmlformats.org/officeDocument/2006/relationships/slide" Target="slides/slide96.xml"/><Relationship Id="rId96" Type="http://schemas.openxmlformats.org/officeDocument/2006/relationships/slide" Target="slides/slide97.xml"/><Relationship Id="rId97" Type="http://schemas.openxmlformats.org/officeDocument/2006/relationships/slide" Target="slides/slide98.xml"/><Relationship Id="rId98" Type="http://schemas.openxmlformats.org/officeDocument/2006/relationships/slide" Target="slides/slide99.xml"/><Relationship Id="rId99" Type="http://schemas.openxmlformats.org/officeDocument/2006/relationships/slide" Target="slides/slide100.xml"/><Relationship Id="rId101" Type="http://schemas.openxmlformats.org/officeDocument/2006/relationships/slide" Target="slides/slide101.xml"/><Relationship Id="rId102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3" Type="http://schemas.openxmlformats.org/officeDocument/2006/relationships/slide" Target="slides/slide122.xml"/><Relationship Id="rId134" Type="http://schemas.openxmlformats.org/officeDocument/2006/relationships/slide" Target="slides/slide123.xml"/><Relationship Id="rId135" Type="http://schemas.openxmlformats.org/officeDocument/2006/relationships/slide" Target="slides/slide124.xml"/><Relationship Id="rId136" Type="http://schemas.openxmlformats.org/officeDocument/2006/relationships/slide" Target="slides/slide125.xml"/><Relationship Id="rId137" Type="http://schemas.openxmlformats.org/officeDocument/2006/relationships/slide" Target="slides/slide126.xml"/><Relationship Id="rId138" Type="http://schemas.openxmlformats.org/officeDocument/2006/relationships/slide" Target="slides/slide127.xml"/><Relationship Id="rId139" Type="http://schemas.openxmlformats.org/officeDocument/2006/relationships/slide" Target="slides/slide128.xml"/><Relationship Id="rId140" Type="http://schemas.openxmlformats.org/officeDocument/2006/relationships/slide" Target="slides/slide129.xml"/><Relationship Id="rId141" Type="http://schemas.openxmlformats.org/officeDocument/2006/relationships/slide" Target="slides/slide130.xml"/><Relationship Id="rId143" Type="http://schemas.openxmlformats.org/officeDocument/2006/relationships/slide" Target="slides/slide131.xml"/><Relationship Id="rId144" Type="http://schemas.openxmlformats.org/officeDocument/2006/relationships/slide" Target="slides/slide132.xml"/><Relationship Id="rId145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1" Type="http://schemas.openxmlformats.org/officeDocument/2006/relationships/slide" Target="slides/slide137.xml"/><Relationship Id="rId152" Type="http://schemas.openxmlformats.org/officeDocument/2006/relationships/slide" Target="slides/slide138.xml"/><Relationship Id="rId153" Type="http://schemas.openxmlformats.org/officeDocument/2006/relationships/slide" Target="slides/slide139.xml"/><Relationship Id="rId154" Type="http://schemas.openxmlformats.org/officeDocument/2006/relationships/slide" Target="slides/slide193.xml"/><Relationship Id="rId155" Type="http://schemas.openxmlformats.org/officeDocument/2006/relationships/slide" Target="slides/slide140.xml"/><Relationship Id="rId156" Type="http://schemas.openxmlformats.org/officeDocument/2006/relationships/slide" Target="slides/slide141.xml"/><Relationship Id="rId157" Type="http://schemas.openxmlformats.org/officeDocument/2006/relationships/slide" Target="slides/slide142.xml"/><Relationship Id="rId158" Type="http://schemas.openxmlformats.org/officeDocument/2006/relationships/slide" Target="slides/slide143.xml"/><Relationship Id="rId159" Type="http://schemas.openxmlformats.org/officeDocument/2006/relationships/slide" Target="slides/slide144.xml"/><Relationship Id="rId160" Type="http://schemas.openxmlformats.org/officeDocument/2006/relationships/slide" Target="slides/slide145.xml"/><Relationship Id="rId161" Type="http://schemas.openxmlformats.org/officeDocument/2006/relationships/slide" Target="slides/slide146.xml"/><Relationship Id="rId162" Type="http://schemas.openxmlformats.org/officeDocument/2006/relationships/slide" Target="slides/slide147.xml"/><Relationship Id="rId163" Type="http://schemas.openxmlformats.org/officeDocument/2006/relationships/slide" Target="slides/slide148.xml"/><Relationship Id="rId164" Type="http://schemas.openxmlformats.org/officeDocument/2006/relationships/slide" Target="slides/slide149.xml"/><Relationship Id="rId165" Type="http://schemas.openxmlformats.org/officeDocument/2006/relationships/slide" Target="slides/slide150.xml"/><Relationship Id="rId166" Type="http://schemas.openxmlformats.org/officeDocument/2006/relationships/slide" Target="slides/slide151.xml"/><Relationship Id="rId167" Type="http://schemas.openxmlformats.org/officeDocument/2006/relationships/slide" Target="slides/slide152.xml"/><Relationship Id="rId168" Type="http://schemas.openxmlformats.org/officeDocument/2006/relationships/slide" Target="slides/slide153.xml"/><Relationship Id="rId169" Type="http://schemas.openxmlformats.org/officeDocument/2006/relationships/slide" Target="slides/slide154.xml"/><Relationship Id="rId170" Type="http://schemas.openxmlformats.org/officeDocument/2006/relationships/slide" Target="slides/slide155.xml"/><Relationship Id="rId171" Type="http://schemas.openxmlformats.org/officeDocument/2006/relationships/slide" Target="slides/slide156.xml"/><Relationship Id="rId172" Type="http://schemas.openxmlformats.org/officeDocument/2006/relationships/slide" Target="slides/slide157.xml"/><Relationship Id="rId173" Type="http://schemas.openxmlformats.org/officeDocument/2006/relationships/slide" Target="slides/slide158.xml"/><Relationship Id="rId174" Type="http://schemas.openxmlformats.org/officeDocument/2006/relationships/slide" Target="slides/slide159.xml"/><Relationship Id="rId175" Type="http://schemas.openxmlformats.org/officeDocument/2006/relationships/slide" Target="slides/slide160.xml"/><Relationship Id="rId176" Type="http://schemas.openxmlformats.org/officeDocument/2006/relationships/slide" Target="slides/slide161.xml"/><Relationship Id="rId177" Type="http://schemas.openxmlformats.org/officeDocument/2006/relationships/slide" Target="slides/slide162.xml"/><Relationship Id="rId178" Type="http://schemas.openxmlformats.org/officeDocument/2006/relationships/slide" Target="slides/slide163.xml"/><Relationship Id="rId179" Type="http://schemas.openxmlformats.org/officeDocument/2006/relationships/slide" Target="slides/slide164.xml"/><Relationship Id="rId180" Type="http://schemas.openxmlformats.org/officeDocument/2006/relationships/slide" Target="slides/slide165.xml"/><Relationship Id="rId181" Type="http://schemas.openxmlformats.org/officeDocument/2006/relationships/slide" Target="slides/slide166.xml"/><Relationship Id="rId182" Type="http://schemas.openxmlformats.org/officeDocument/2006/relationships/slide" Target="slides/slide167.xml"/><Relationship Id="rId183" Type="http://schemas.openxmlformats.org/officeDocument/2006/relationships/slide" Target="slides/slide168.xml"/><Relationship Id="rId184" Type="http://schemas.openxmlformats.org/officeDocument/2006/relationships/slide" Target="slides/slide169.xml"/><Relationship Id="rId185" Type="http://schemas.openxmlformats.org/officeDocument/2006/relationships/slide" Target="slides/slide170.xml"/><Relationship Id="rId186" Type="http://schemas.openxmlformats.org/officeDocument/2006/relationships/slide" Target="slides/slide171.xml"/><Relationship Id="rId187" Type="http://schemas.openxmlformats.org/officeDocument/2006/relationships/slide" Target="slides/slide172.xml"/><Relationship Id="rId188" Type="http://schemas.openxmlformats.org/officeDocument/2006/relationships/slide" Target="slides/slide173.xml"/><Relationship Id="rId189" Type="http://schemas.openxmlformats.org/officeDocument/2006/relationships/slide" Target="slides/slide174.xml"/><Relationship Id="rId190" Type="http://schemas.openxmlformats.org/officeDocument/2006/relationships/slide" Target="slides/slide175.xml"/><Relationship Id="rId191" Type="http://schemas.openxmlformats.org/officeDocument/2006/relationships/slide" Target="slides/slide176.xml"/><Relationship Id="rId192" Type="http://schemas.openxmlformats.org/officeDocument/2006/relationships/slide" Target="slides/slide177.xml"/><Relationship Id="rId193" Type="http://schemas.openxmlformats.org/officeDocument/2006/relationships/slide" Target="slides/slide178.xml"/><Relationship Id="rId194" Type="http://schemas.openxmlformats.org/officeDocument/2006/relationships/slide" Target="slides/slide179.xml"/><Relationship Id="rId195" Type="http://schemas.openxmlformats.org/officeDocument/2006/relationships/slide" Target="slides/slide180.xml"/><Relationship Id="rId196" Type="http://schemas.openxmlformats.org/officeDocument/2006/relationships/slide" Target="slides/slide181.xml"/><Relationship Id="rId197" Type="http://schemas.openxmlformats.org/officeDocument/2006/relationships/slide" Target="slides/slide182.xml"/><Relationship Id="rId198" Type="http://schemas.openxmlformats.org/officeDocument/2006/relationships/slide" Target="slides/slide183.xml"/><Relationship Id="rId199" Type="http://schemas.openxmlformats.org/officeDocument/2006/relationships/slide" Target="slides/slide184.xml"/><Relationship Id="rId200" Type="http://schemas.openxmlformats.org/officeDocument/2006/relationships/slide" Target="slides/slide185.xml"/><Relationship Id="rId201" Type="http://schemas.openxmlformats.org/officeDocument/2006/relationships/slide" Target="slides/slide186.xml"/><Relationship Id="rId202" Type="http://schemas.openxmlformats.org/officeDocument/2006/relationships/slide" Target="slides/slide187.xml"/><Relationship Id="rId203" Type="http://schemas.openxmlformats.org/officeDocument/2006/relationships/slide" Target="slides/slide188.xml"/><Relationship Id="rId204" Type="http://schemas.openxmlformats.org/officeDocument/2006/relationships/slide" Target="slides/slide189.xml"/><Relationship Id="rId205" Type="http://schemas.openxmlformats.org/officeDocument/2006/relationships/slide" Target="slides/slide190.xml"/><Relationship Id="rId206" Type="http://schemas.openxmlformats.org/officeDocument/2006/relationships/slide" Target="slides/slide191.xml"/><Relationship Id="rId207" Type="http://schemas.openxmlformats.org/officeDocument/2006/relationships/slide" Target="slides/slide192.xml"/><Relationship Id="rId218" Type="http://schemas.openxmlformats.org/officeDocument/2006/relationships/slide" Target="slides/slide11.xml"/><Relationship Id="rId219" Type="http://schemas.openxmlformats.org/officeDocument/2006/relationships/slide" Target="slides/slide12.xml"/><Relationship Id="rId220" Type="http://schemas.openxmlformats.org/officeDocument/2006/relationships/slide" Target="slides/slide13.xml"/><Relationship Id="rId221" Type="http://schemas.openxmlformats.org/officeDocument/2006/relationships/slide" Target="slides/slide14.xml"/><Relationship Id="rId222" Type="http://schemas.openxmlformats.org/officeDocument/2006/relationships/slide" Target="slides/slide15.xml"/><Relationship Id="rId223" Type="http://schemas.openxmlformats.org/officeDocument/2006/relationships/slide" Target="slides/slide16.xml"/><Relationship Id="rId224" Type="http://schemas.openxmlformats.org/officeDocument/2006/relationships/slide" Target="slides/slide17.xml"/><Relationship Id="rId225" Type="http://schemas.openxmlformats.org/officeDocument/2006/relationships/slide" Target="slides/slide18.xml"/><Relationship Id="rId226" Type="http://schemas.openxmlformats.org/officeDocument/2006/relationships/slide" Target="slides/slide10.xml"/><Relationship Id="rId227" Type="http://schemas.openxmlformats.org/officeDocument/2006/relationships/slide" Target="slides/slide20.xml"/><Relationship Id="rId228" Type="http://schemas.openxmlformats.org/officeDocument/2006/relationships/slide" Target="slides/slide21.xml"/><Relationship Id="rId229" Type="http://schemas.openxmlformats.org/officeDocument/2006/relationships/slide" Target="slides/slide22.xml"/><Relationship Id="rId230" Type="http://schemas.openxmlformats.org/officeDocument/2006/relationships/slide" Target="slides/slide23.xml"/><Relationship Id="rId231" Type="http://schemas.openxmlformats.org/officeDocument/2006/relationships/slide" Target="slides/slide24.xml"/><Relationship Id="rId232" Type="http://schemas.openxmlformats.org/officeDocument/2006/relationships/slide" Target="slides/slide25.xml"/><Relationship Id="rId233" Type="http://schemas.openxmlformats.org/officeDocument/2006/relationships/slide" Target="slides/slide26.xml"/><Relationship Id="rId234" Type="http://schemas.openxmlformats.org/officeDocument/2006/relationships/slide" Target="slides/slide27.xml"/><Relationship Id="rId235" Type="http://schemas.openxmlformats.org/officeDocument/2006/relationships/slide" Target="slides/slide28.xml"/><Relationship Id="rId236" Type="http://schemas.openxmlformats.org/officeDocument/2006/relationships/slide" Target="slides/slide29.xml"/><Relationship Id="rId237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/Relationships>
</file>

<file path=ppt/charts/_rels/chart3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/Relationships>
</file>

<file path=ppt/charts/_rels/chart5.xml.rels><?xml version='1.0' encoding='UTF-8' standalone='yes'?>
<Relationships xmlns="http://schemas.openxmlformats.org/package/2006/relationships"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charts/_rels/chart6.xml.rels><?xml version='1.0' encoding='UTF-8' standalone='yes'?>
<Relationships xmlns="http://schemas.openxmlformats.org/package/2006/relationships"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/Relationships>
</file>

<file path=ppt/charts/_rels/chart7.xml.rels><?xml version='1.0' encoding='UTF-8' standalone='yes'?>
<Relationships xmlns="http://schemas.openxmlformats.org/package/2006/relationships"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charts/_rels/chart8.xml.rels><?xml version='1.0' encoding='UTF-8' standalone='yes'?>
<Relationships xmlns="http://schemas.openxmlformats.org/package/2006/relationships"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charts/_rels/chart9.xml.rels><?xml version='1.0' encoding='UTF-8' standalone='yes'?>
<Relationships xmlns="http://schemas.openxmlformats.org/package/2006/relationships"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charts/_rels/chart11.xml.rels><?xml version='1.0' encoding='UTF-8' standalone='yes'?>
<Relationships xmlns="http://schemas.openxmlformats.org/package/2006/relationships"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/Relationships>
</file>

<file path=ppt/charts/_rels/chart12.xml.rels><?xml version='1.0' encoding='UTF-8' standalone='yes'?>
<Relationships xmlns="http://schemas.openxmlformats.org/package/2006/relationships"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/Relationships>
</file>

<file path=ppt/charts/_rels/chart13.xml.rels><?xml version='1.0' encoding='UTF-8' standalone='yes'?>
<Relationships xmlns="http://schemas.openxmlformats.org/package/2006/relationships"><Relationship Id="rId2" Type="http://schemas.openxmlformats.org/officeDocument/2006/relationships/image" Target="../media/image110.png"/></Relationships>
</file>

<file path=ppt/charts/_rels/chart14.xml.rels><?xml version='1.0' encoding='UTF-8' standalone='yes'?>
<Relationships xmlns="http://schemas.openxmlformats.org/package/2006/relationships"><Relationship Id="rId2" Type="http://schemas.openxmlformats.org/officeDocument/2006/relationships/image" Target="../media/image111.png"/></Relationships>
</file>

<file path=ppt/charts/_rels/chart15.xml.rels><?xml version='1.0' encoding='UTF-8' standalone='yes'?>
<Relationships xmlns="http://schemas.openxmlformats.org/package/2006/relationships"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127.png"/><Relationship Id="rId13" Type="http://schemas.openxmlformats.org/officeDocument/2006/relationships/image" Target="../media/image128.png"/></Relationships>
</file>

<file path=ppt/charts/_rels/chart19.xml.rels><?xml version='1.0' encoding='UTF-8' standalone='yes'?>
<Relationships xmlns="http://schemas.openxmlformats.org/package/2006/relationships"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/Relationships>
</file>

<file path=ppt/charts/_rels/chart20.xml.rels><?xml version='1.0' encoding='UTF-8' standalone='yes'?>
<Relationships xmlns="http://schemas.openxmlformats.org/package/2006/relationships"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/Relationships>
</file>

<file path=ppt/charts/_rels/chart24.xml.rels><?xml version='1.0' encoding='UTF-8' standalone='yes'?>
<Relationships xmlns="http://schemas.openxmlformats.org/package/2006/relationships"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/Relationships>
</file>

<file path=ppt/charts/_rels/chart25.xml.rels><?xml version='1.0' encoding='UTF-8' standalone='yes'?>
<Relationships xmlns="http://schemas.openxmlformats.org/package/2006/relationships"><Relationship Id="rId2" Type="http://schemas.openxmlformats.org/officeDocument/2006/relationships/image" Target="../media/image170.png"/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image" Target="../media/image178.png"/><Relationship Id="rId11" Type="http://schemas.openxmlformats.org/officeDocument/2006/relationships/image" Target="../media/image179.png"/><Relationship Id="rId12" Type="http://schemas.openxmlformats.org/officeDocument/2006/relationships/image" Target="../media/image180.png"/><Relationship Id="rId13" Type="http://schemas.openxmlformats.org/officeDocument/2006/relationships/image" Target="../media/image181.png"/><Relationship Id="rId14" Type="http://schemas.openxmlformats.org/officeDocument/2006/relationships/image" Target="../media/image182.png"/><Relationship Id="rId15" Type="http://schemas.openxmlformats.org/officeDocument/2006/relationships/image" Target="../media/image183.png"/><Relationship Id="rId16" Type="http://schemas.openxmlformats.org/officeDocument/2006/relationships/image" Target="../media/image184.png"/><Relationship Id="rId17" Type="http://schemas.openxmlformats.org/officeDocument/2006/relationships/image" Target="../media/image185.png"/><Relationship Id="rId18" Type="http://schemas.openxmlformats.org/officeDocument/2006/relationships/image" Target="../media/image186.png"/><Relationship Id="rId19" Type="http://schemas.openxmlformats.org/officeDocument/2006/relationships/image" Target="../media/image187.png"/><Relationship Id="rId20" Type="http://schemas.openxmlformats.org/officeDocument/2006/relationships/image" Target="../media/image188.png"/><Relationship Id="rId21" Type="http://schemas.openxmlformats.org/officeDocument/2006/relationships/image" Target="../media/image189.png"/><Relationship Id="rId22" Type="http://schemas.openxmlformats.org/officeDocument/2006/relationships/image" Target="../media/image190.png"/><Relationship Id="rId23" Type="http://schemas.openxmlformats.org/officeDocument/2006/relationships/image" Target="../media/image191.png"/><Relationship Id="rId24" Type="http://schemas.openxmlformats.org/officeDocument/2006/relationships/image" Target="../media/image192.png"/><Relationship Id="rId25" Type="http://schemas.openxmlformats.org/officeDocument/2006/relationships/image" Target="../media/image193.png"/><Relationship Id="rId26" Type="http://schemas.openxmlformats.org/officeDocument/2006/relationships/image" Target="../media/image194.png"/><Relationship Id="rId27" Type="http://schemas.openxmlformats.org/officeDocument/2006/relationships/image" Target="../media/image195.png"/><Relationship Id="rId28" Type="http://schemas.openxmlformats.org/officeDocument/2006/relationships/image" Target="../media/image196.png"/></Relationships>
</file>

<file path=ppt/charts/_rels/chart31.xml.rels><?xml version='1.0' encoding='UTF-8' standalone='yes'?>
<Relationships xmlns="http://schemas.openxmlformats.org/package/2006/relationships"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03.png"/><Relationship Id="rId9" Type="http://schemas.openxmlformats.org/officeDocument/2006/relationships/image" Target="../media/image204.png"/><Relationship Id="rId10" Type="http://schemas.openxmlformats.org/officeDocument/2006/relationships/image" Target="../media/image205.png"/><Relationship Id="rId11" Type="http://schemas.openxmlformats.org/officeDocument/2006/relationships/image" Target="../media/image206.png"/><Relationship Id="rId12" Type="http://schemas.openxmlformats.org/officeDocument/2006/relationships/image" Target="../media/image207.png"/><Relationship Id="rId13" Type="http://schemas.openxmlformats.org/officeDocument/2006/relationships/image" Target="../media/image208.png"/></Relationships>
</file>

<file path=ppt/charts/_rels/chart32.xml.rels><?xml version='1.0' encoding='UTF-8' standalone='yes'?>
<Relationships xmlns="http://schemas.openxmlformats.org/package/2006/relationships"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Relationship Id="rId12" Type="http://schemas.openxmlformats.org/officeDocument/2006/relationships/image" Target="../media/image234.png"/><Relationship Id="rId13" Type="http://schemas.openxmlformats.org/officeDocument/2006/relationships/image" Target="../media/image235.png"/><Relationship Id="rId14" Type="http://schemas.openxmlformats.org/officeDocument/2006/relationships/image" Target="../media/image236.png"/><Relationship Id="rId15" Type="http://schemas.openxmlformats.org/officeDocument/2006/relationships/image" Target="../media/image237.png"/><Relationship Id="rId16" Type="http://schemas.openxmlformats.org/officeDocument/2006/relationships/image" Target="../media/image238.png"/><Relationship Id="rId17" Type="http://schemas.openxmlformats.org/officeDocument/2006/relationships/image" Target="../media/image239.png"/><Relationship Id="rId18" Type="http://schemas.openxmlformats.org/officeDocument/2006/relationships/image" Target="../media/image240.png"/><Relationship Id="rId19" Type="http://schemas.openxmlformats.org/officeDocument/2006/relationships/image" Target="../media/image241.png"/><Relationship Id="rId20" Type="http://schemas.openxmlformats.org/officeDocument/2006/relationships/image" Target="../media/image242.png"/><Relationship Id="rId21" Type="http://schemas.openxmlformats.org/officeDocument/2006/relationships/image" Target="../media/image243.png"/><Relationship Id="rId22" Type="http://schemas.openxmlformats.org/officeDocument/2006/relationships/image" Target="../media/image244.png"/><Relationship Id="rId23" Type="http://schemas.openxmlformats.org/officeDocument/2006/relationships/image" Target="../media/image245.png"/><Relationship Id="rId24" Type="http://schemas.openxmlformats.org/officeDocument/2006/relationships/image" Target="../media/image246.png"/><Relationship Id="rId25" Type="http://schemas.openxmlformats.org/officeDocument/2006/relationships/image" Target="../media/image247.png"/><Relationship Id="rId26" Type="http://schemas.openxmlformats.org/officeDocument/2006/relationships/image" Target="../media/image248.png"/><Relationship Id="rId27" Type="http://schemas.openxmlformats.org/officeDocument/2006/relationships/image" Target="../media/image249.png"/><Relationship Id="rId28" Type="http://schemas.openxmlformats.org/officeDocument/2006/relationships/image" Target="../media/image250.png"/><Relationship Id="rId29" Type="http://schemas.openxmlformats.org/officeDocument/2006/relationships/image" Target="../media/image251.png"/><Relationship Id="rId30" Type="http://schemas.openxmlformats.org/officeDocument/2006/relationships/image" Target="../media/image252.png"/><Relationship Id="rId31" Type="http://schemas.openxmlformats.org/officeDocument/2006/relationships/image" Target="../media/image253.png"/><Relationship Id="rId32" Type="http://schemas.openxmlformats.org/officeDocument/2006/relationships/image" Target="../media/image254.png"/><Relationship Id="rId33" Type="http://schemas.openxmlformats.org/officeDocument/2006/relationships/image" Target="../media/image255.png"/><Relationship Id="rId34" Type="http://schemas.openxmlformats.org/officeDocument/2006/relationships/image" Target="../media/image256.png"/><Relationship Id="rId35" Type="http://schemas.openxmlformats.org/officeDocument/2006/relationships/image" Target="../media/image257.png"/><Relationship Id="rId36" Type="http://schemas.openxmlformats.org/officeDocument/2006/relationships/image" Target="../media/image258.png"/></Relationships>
</file>

<file path=ppt/charts/_rels/chart40.xml.rels><?xml version='1.0' encoding='UTF-8' standalone='yes'?>
<Relationships xmlns="http://schemas.openxmlformats.org/package/2006/relationships"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Relationship Id="rId7" Type="http://schemas.openxmlformats.org/officeDocument/2006/relationships/image" Target="../media/image264.png"/><Relationship Id="rId8" Type="http://schemas.openxmlformats.org/officeDocument/2006/relationships/image" Target="../media/image265.png"/><Relationship Id="rId9" Type="http://schemas.openxmlformats.org/officeDocument/2006/relationships/image" Target="../media/image266.png"/><Relationship Id="rId10" Type="http://schemas.openxmlformats.org/officeDocument/2006/relationships/image" Target="../media/image267.png"/><Relationship Id="rId11" Type="http://schemas.openxmlformats.org/officeDocument/2006/relationships/image" Target="../media/image268.png"/><Relationship Id="rId12" Type="http://schemas.openxmlformats.org/officeDocument/2006/relationships/image" Target="../media/image269.png"/><Relationship Id="rId13" Type="http://schemas.openxmlformats.org/officeDocument/2006/relationships/image" Target="../media/image270.png"/><Relationship Id="rId14" Type="http://schemas.openxmlformats.org/officeDocument/2006/relationships/image" Target="../media/image271.png"/><Relationship Id="rId15" Type="http://schemas.openxmlformats.org/officeDocument/2006/relationships/image" Target="../media/image272.png"/><Relationship Id="rId16" Type="http://schemas.openxmlformats.org/officeDocument/2006/relationships/image" Target="../media/image273.png"/><Relationship Id="rId17" Type="http://schemas.openxmlformats.org/officeDocument/2006/relationships/image" Target="../media/image274.png"/></Relationships>
</file>

<file path=ppt/charts/_rels/chart41.xml.rels><?xml version='1.0' encoding='UTF-8' standalone='yes'?>
<Relationships xmlns="http://schemas.openxmlformats.org/package/2006/relationships"><Relationship Id="rId2" Type="http://schemas.openxmlformats.org/officeDocument/2006/relationships/image" Target="../media/image275.png"/></Relationships>
</file>

<file path=ppt/charts/_rels/chart43.xml.rels><?xml version='1.0' encoding='UTF-8' standalone='yes'?>
<Relationships xmlns="http://schemas.openxmlformats.org/package/2006/relationships"><Relationship Id="rId2" Type="http://schemas.openxmlformats.org/officeDocument/2006/relationships/image" Target="../media/image276.png"/></Relationships>
</file>

<file path=ppt/charts/_rels/chart45.xml.rels><?xml version='1.0' encoding='UTF-8' standalone='yes'?>
<Relationships xmlns="http://schemas.openxmlformats.org/package/2006/relationships"><Relationship Id="rId2" Type="http://schemas.openxmlformats.org/officeDocument/2006/relationships/image" Target="../media/image277.png"/><Relationship Id="rId3" Type="http://schemas.openxmlformats.org/officeDocument/2006/relationships/image" Target="../media/image278.png"/><Relationship Id="rId4" Type="http://schemas.openxmlformats.org/officeDocument/2006/relationships/image" Target="../media/image279.png"/><Relationship Id="rId5" Type="http://schemas.openxmlformats.org/officeDocument/2006/relationships/image" Target="../media/image280.png"/><Relationship Id="rId6" Type="http://schemas.openxmlformats.org/officeDocument/2006/relationships/image" Target="../media/image281.png"/><Relationship Id="rId7" Type="http://schemas.openxmlformats.org/officeDocument/2006/relationships/image" Target="../media/image282.png"/><Relationship Id="rId8" Type="http://schemas.openxmlformats.org/officeDocument/2006/relationships/image" Target="../media/image283.png"/><Relationship Id="rId9" Type="http://schemas.openxmlformats.org/officeDocument/2006/relationships/image" Target="../media/image284.png"/><Relationship Id="rId10" Type="http://schemas.openxmlformats.org/officeDocument/2006/relationships/image" Target="../media/image285.png"/><Relationship Id="rId11" Type="http://schemas.openxmlformats.org/officeDocument/2006/relationships/image" Target="../media/image286.png"/></Relationships>
</file>

<file path=ppt/charts/_rels/chart46.xml.rels><?xml version='1.0' encoding='UTF-8' standalone='yes'?>
<Relationships xmlns="http://schemas.openxmlformats.org/package/2006/relationships"><Relationship Id="rId2" Type="http://schemas.openxmlformats.org/officeDocument/2006/relationships/image" Target="../media/image287.png"/><Relationship Id="rId3" Type="http://schemas.openxmlformats.org/officeDocument/2006/relationships/image" Target="../media/image288.png"/><Relationship Id="rId4" Type="http://schemas.openxmlformats.org/officeDocument/2006/relationships/image" Target="../media/image289.png"/><Relationship Id="rId5" Type="http://schemas.openxmlformats.org/officeDocument/2006/relationships/image" Target="../media/image290.png"/><Relationship Id="rId6" Type="http://schemas.openxmlformats.org/officeDocument/2006/relationships/image" Target="../media/image291.png"/><Relationship Id="rId7" Type="http://schemas.openxmlformats.org/officeDocument/2006/relationships/image" Target="../media/image292.png"/><Relationship Id="rId8" Type="http://schemas.openxmlformats.org/officeDocument/2006/relationships/image" Target="../media/image293.png"/><Relationship Id="rId9" Type="http://schemas.openxmlformats.org/officeDocument/2006/relationships/image" Target="../media/image294.png"/><Relationship Id="rId10" Type="http://schemas.openxmlformats.org/officeDocument/2006/relationships/image" Target="../media/image295.png"/><Relationship Id="rId11" Type="http://schemas.openxmlformats.org/officeDocument/2006/relationships/image" Target="../media/image296.png"/><Relationship Id="rId12" Type="http://schemas.openxmlformats.org/officeDocument/2006/relationships/image" Target="../media/image297.png"/><Relationship Id="rId13" Type="http://schemas.openxmlformats.org/officeDocument/2006/relationships/image" Target="../media/image298.png"/><Relationship Id="rId14" Type="http://schemas.openxmlformats.org/officeDocument/2006/relationships/image" Target="../media/image299.png"/><Relationship Id="rId15" Type="http://schemas.openxmlformats.org/officeDocument/2006/relationships/image" Target="../media/image300.png"/><Relationship Id="rId16" Type="http://schemas.openxmlformats.org/officeDocument/2006/relationships/image" Target="../media/image301.png"/><Relationship Id="rId17" Type="http://schemas.openxmlformats.org/officeDocument/2006/relationships/image" Target="../media/image302.png"/><Relationship Id="rId18" Type="http://schemas.openxmlformats.org/officeDocument/2006/relationships/image" Target="../media/image303.png"/><Relationship Id="rId19" Type="http://schemas.openxmlformats.org/officeDocument/2006/relationships/image" Target="../media/image304.png"/><Relationship Id="rId20" Type="http://schemas.openxmlformats.org/officeDocument/2006/relationships/image" Target="../media/image305.png"/><Relationship Id="rId21" Type="http://schemas.openxmlformats.org/officeDocument/2006/relationships/image" Target="../media/image306.png"/><Relationship Id="rId22" Type="http://schemas.openxmlformats.org/officeDocument/2006/relationships/image" Target="../media/image307.png"/><Relationship Id="rId23" Type="http://schemas.openxmlformats.org/officeDocument/2006/relationships/image" Target="../media/image308.png"/></Relationships>
</file>

<file path=ppt/charts/_rels/chart47.xml.rels><?xml version='1.0' encoding='UTF-8' standalone='yes'?>
<Relationships xmlns="http://schemas.openxmlformats.org/package/2006/relationships"><Relationship Id="rId2" Type="http://schemas.openxmlformats.org/officeDocument/2006/relationships/image" Target="../media/image309.png"/><Relationship Id="rId3" Type="http://schemas.openxmlformats.org/officeDocument/2006/relationships/image" Target="../media/image310.png"/><Relationship Id="rId4" Type="http://schemas.openxmlformats.org/officeDocument/2006/relationships/image" Target="../media/image311.png"/><Relationship Id="rId5" Type="http://schemas.openxmlformats.org/officeDocument/2006/relationships/image" Target="../media/image312.png"/><Relationship Id="rId6" Type="http://schemas.openxmlformats.org/officeDocument/2006/relationships/image" Target="../media/image313.png"/></Relationships>
</file>

<file path=ppt/charts/_rels/chart48.xml.rels><?xml version='1.0' encoding='UTF-8' standalone='yes'?>
<Relationships xmlns="http://schemas.openxmlformats.org/package/2006/relationships"><Relationship Id="rId2" Type="http://schemas.openxmlformats.org/officeDocument/2006/relationships/image" Target="../media/image314.png"/><Relationship Id="rId3" Type="http://schemas.openxmlformats.org/officeDocument/2006/relationships/image" Target="../media/image315.png"/><Relationship Id="rId4" Type="http://schemas.openxmlformats.org/officeDocument/2006/relationships/image" Target="../media/image316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/Relationships>
</file>

<file path=ppt/charts/_rels/chart49.xml.rels><?xml version='1.0' encoding='UTF-8' standalone='yes'?>
<Relationships xmlns="http://schemas.openxmlformats.org/package/2006/relationships"><Relationship Id="rId2" Type="http://schemas.openxmlformats.org/officeDocument/2006/relationships/image" Target="../media/image319.png"/><Relationship Id="rId3" Type="http://schemas.openxmlformats.org/officeDocument/2006/relationships/image" Target="../media/image320.png"/></Relationships>
</file>

<file path=ppt/charts/_rels/chart51.xml.rels><?xml version='1.0' encoding='UTF-8' standalone='yes'?>
<Relationships xmlns="http://schemas.openxmlformats.org/package/2006/relationships"><Relationship Id="rId2" Type="http://schemas.openxmlformats.org/officeDocument/2006/relationships/image" Target="../media/image321.png"/><Relationship Id="rId3" Type="http://schemas.openxmlformats.org/officeDocument/2006/relationships/image" Target="../media/image322.png"/><Relationship Id="rId4" Type="http://schemas.openxmlformats.org/officeDocument/2006/relationships/image" Target="../media/image323.png"/><Relationship Id="rId5" Type="http://schemas.openxmlformats.org/officeDocument/2006/relationships/image" Target="../media/image324.png"/><Relationship Id="rId6" Type="http://schemas.openxmlformats.org/officeDocument/2006/relationships/image" Target="../media/image325.png"/><Relationship Id="rId7" Type="http://schemas.openxmlformats.org/officeDocument/2006/relationships/image" Target="../media/image326.png"/><Relationship Id="rId8" Type="http://schemas.openxmlformats.org/officeDocument/2006/relationships/image" Target="../media/image327.png"/><Relationship Id="rId9" Type="http://schemas.openxmlformats.org/officeDocument/2006/relationships/image" Target="../media/image328.png"/><Relationship Id="rId10" Type="http://schemas.openxmlformats.org/officeDocument/2006/relationships/image" Target="../media/image329.png"/><Relationship Id="rId11" Type="http://schemas.openxmlformats.org/officeDocument/2006/relationships/image" Target="../media/image330.png"/><Relationship Id="rId12" Type="http://schemas.openxmlformats.org/officeDocument/2006/relationships/image" Target="../media/image331.png"/><Relationship Id="rId13" Type="http://schemas.openxmlformats.org/officeDocument/2006/relationships/image" Target="../media/image332.png"/><Relationship Id="rId14" Type="http://schemas.openxmlformats.org/officeDocument/2006/relationships/image" Target="../media/image333.png"/><Relationship Id="rId15" Type="http://schemas.openxmlformats.org/officeDocument/2006/relationships/image" Target="../media/image334.png"/><Relationship Id="rId16" Type="http://schemas.openxmlformats.org/officeDocument/2006/relationships/image" Target="../media/image335.png"/></Relationships>
</file>

<file path=ppt/charts/_rels/chart52.xml.rels><?xml version='1.0' encoding='UTF-8' standalone='yes'?>
<Relationships xmlns="http://schemas.openxmlformats.org/package/2006/relationships"><Relationship Id="rId2" Type="http://schemas.openxmlformats.org/officeDocument/2006/relationships/image" Target="../media/image336.png"/><Relationship Id="rId3" Type="http://schemas.openxmlformats.org/officeDocument/2006/relationships/image" Target="../media/image337.png"/><Relationship Id="rId4" Type="http://schemas.openxmlformats.org/officeDocument/2006/relationships/image" Target="../media/image338.png"/><Relationship Id="rId5" Type="http://schemas.openxmlformats.org/officeDocument/2006/relationships/image" Target="../media/image339.png"/><Relationship Id="rId6" Type="http://schemas.openxmlformats.org/officeDocument/2006/relationships/image" Target="../media/image340.png"/><Relationship Id="rId7" Type="http://schemas.openxmlformats.org/officeDocument/2006/relationships/image" Target="../media/image341.png"/><Relationship Id="rId8" Type="http://schemas.openxmlformats.org/officeDocument/2006/relationships/image" Target="../media/image342.png"/><Relationship Id="rId9" Type="http://schemas.openxmlformats.org/officeDocument/2006/relationships/image" Target="../media/image343.png"/><Relationship Id="rId10" Type="http://schemas.openxmlformats.org/officeDocument/2006/relationships/image" Target="../media/image344.png"/><Relationship Id="rId11" Type="http://schemas.openxmlformats.org/officeDocument/2006/relationships/image" Target="../media/image345.png"/><Relationship Id="rId12" Type="http://schemas.openxmlformats.org/officeDocument/2006/relationships/image" Target="../media/image346.png"/><Relationship Id="rId13" Type="http://schemas.openxmlformats.org/officeDocument/2006/relationships/image" Target="../media/image347.png"/><Relationship Id="rId14" Type="http://schemas.openxmlformats.org/officeDocument/2006/relationships/image" Target="../media/image348.png"/><Relationship Id="rId15" Type="http://schemas.openxmlformats.org/officeDocument/2006/relationships/image" Target="../media/image349.png"/></Relationships>
</file>

<file path=ppt/charts/_rels/chart55.xml.rels><?xml version='1.0' encoding='UTF-8' standalone='yes'?>
<Relationships xmlns="http://schemas.openxmlformats.org/package/2006/relationships"><Relationship Id="rId2" Type="http://schemas.openxmlformats.org/officeDocument/2006/relationships/image" Target="../media/image353.png"/><Relationship Id="rId3" Type="http://schemas.openxmlformats.org/officeDocument/2006/relationships/image" Target="../media/image354.png"/><Relationship Id="rId4" Type="http://schemas.openxmlformats.org/officeDocument/2006/relationships/image" Target="../media/image355.png"/><Relationship Id="rId5" Type="http://schemas.openxmlformats.org/officeDocument/2006/relationships/image" Target="../media/image356.png"/><Relationship Id="rId6" Type="http://schemas.openxmlformats.org/officeDocument/2006/relationships/image" Target="../media/image357.png"/><Relationship Id="rId7" Type="http://schemas.openxmlformats.org/officeDocument/2006/relationships/image" Target="../media/image358.png"/><Relationship Id="rId8" Type="http://schemas.openxmlformats.org/officeDocument/2006/relationships/image" Target="../media/image359.png"/><Relationship Id="rId9" Type="http://schemas.openxmlformats.org/officeDocument/2006/relationships/image" Target="../media/image360.png"/><Relationship Id="rId10" Type="http://schemas.openxmlformats.org/officeDocument/2006/relationships/image" Target="../media/image361.png"/><Relationship Id="rId11" Type="http://schemas.openxmlformats.org/officeDocument/2006/relationships/image" Target="../media/image362.png"/><Relationship Id="rId12" Type="http://schemas.openxmlformats.org/officeDocument/2006/relationships/image" Target="../media/image363.png"/><Relationship Id="rId13" Type="http://schemas.openxmlformats.org/officeDocument/2006/relationships/image" Target="../media/image364.png"/><Relationship Id="rId14" Type="http://schemas.openxmlformats.org/officeDocument/2006/relationships/image" Target="../media/image365.png"/><Relationship Id="rId15" Type="http://schemas.openxmlformats.org/officeDocument/2006/relationships/image" Target="../media/image366.png"/><Relationship Id="rId16" Type="http://schemas.openxmlformats.org/officeDocument/2006/relationships/image" Target="../media/image367.png"/><Relationship Id="rId17" Type="http://schemas.openxmlformats.org/officeDocument/2006/relationships/image" Target="../media/image368.png"/></Relationships>
</file>

<file path=ppt/charts/_rels/chart59.xml.rels><?xml version='1.0' encoding='UTF-8' standalone='yes'?>
<Relationships xmlns="http://schemas.openxmlformats.org/package/2006/relationships"><Relationship Id="rId2" Type="http://schemas.openxmlformats.org/officeDocument/2006/relationships/image" Target="../media/image369.png"/><Relationship Id="rId3" Type="http://schemas.openxmlformats.org/officeDocument/2006/relationships/image" Target="../media/image370.png"/><Relationship Id="rId4" Type="http://schemas.openxmlformats.org/officeDocument/2006/relationships/image" Target="../media/image371.png"/><Relationship Id="rId5" Type="http://schemas.openxmlformats.org/officeDocument/2006/relationships/image" Target="../media/image372.png"/><Relationship Id="rId6" Type="http://schemas.openxmlformats.org/officeDocument/2006/relationships/image" Target="../media/image373.png"/><Relationship Id="rId7" Type="http://schemas.openxmlformats.org/officeDocument/2006/relationships/image" Target="../media/image374.png"/></Relationships>
</file>

<file path=ppt/charts/_rels/chart60.xml.rels><?xml version='1.0' encoding='UTF-8' standalone='yes'?>
<Relationships xmlns="http://schemas.openxmlformats.org/package/2006/relationships"><Relationship Id="rId2" Type="http://schemas.openxmlformats.org/officeDocument/2006/relationships/image" Target="../media/image379.png"/><Relationship Id="rId3" Type="http://schemas.openxmlformats.org/officeDocument/2006/relationships/image" Target="../media/image380.png"/><Relationship Id="rId4" Type="http://schemas.openxmlformats.org/officeDocument/2006/relationships/image" Target="../media/image381.png"/><Relationship Id="rId5" Type="http://schemas.openxmlformats.org/officeDocument/2006/relationships/image" Target="../media/image382.png"/><Relationship Id="rId6" Type="http://schemas.openxmlformats.org/officeDocument/2006/relationships/image" Target="../media/image383.png"/><Relationship Id="rId7" Type="http://schemas.openxmlformats.org/officeDocument/2006/relationships/image" Target="../media/image384.png"/><Relationship Id="rId8" Type="http://schemas.openxmlformats.org/officeDocument/2006/relationships/image" Target="../media/image385.png"/><Relationship Id="rId9" Type="http://schemas.openxmlformats.org/officeDocument/2006/relationships/image" Target="../media/image386.png"/><Relationship Id="rId10" Type="http://schemas.openxmlformats.org/officeDocument/2006/relationships/image" Target="../media/image387.png"/><Relationship Id="rId11" Type="http://schemas.openxmlformats.org/officeDocument/2006/relationships/image" Target="../media/image388.png"/><Relationship Id="rId12" Type="http://schemas.openxmlformats.org/officeDocument/2006/relationships/image" Target="../media/image389.png"/><Relationship Id="rId13" Type="http://schemas.openxmlformats.org/officeDocument/2006/relationships/image" Target="../media/image390.png"/><Relationship Id="rId14" Type="http://schemas.openxmlformats.org/officeDocument/2006/relationships/image" Target="../media/image391.png"/><Relationship Id="rId15" Type="http://schemas.openxmlformats.org/officeDocument/2006/relationships/image" Target="../media/image392.png"/><Relationship Id="rId16" Type="http://schemas.openxmlformats.org/officeDocument/2006/relationships/image" Target="../media/image393.png"/><Relationship Id="rId17" Type="http://schemas.openxmlformats.org/officeDocument/2006/relationships/image" Target="../media/image394.png"/></Relationships>
</file>

<file path=ppt/charts/_rels/chart64.xml.rels><?xml version='1.0' encoding='UTF-8' standalone='yes'?>
<Relationships xmlns="http://schemas.openxmlformats.org/package/2006/relationships"><Relationship Id="rId2" Type="http://schemas.openxmlformats.org/officeDocument/2006/relationships/image" Target="../media/image395.png"/><Relationship Id="rId3" Type="http://schemas.openxmlformats.org/officeDocument/2006/relationships/image" Target="../media/image396.png"/><Relationship Id="rId4" Type="http://schemas.openxmlformats.org/officeDocument/2006/relationships/image" Target="../media/image397.png"/><Relationship Id="rId5" Type="http://schemas.openxmlformats.org/officeDocument/2006/relationships/image" Target="../media/image398.png"/><Relationship Id="rId6" Type="http://schemas.openxmlformats.org/officeDocument/2006/relationships/image" Target="../media/image399.png"/><Relationship Id="rId7" Type="http://schemas.openxmlformats.org/officeDocument/2006/relationships/image" Target="../media/image400.png"/></Relationships>
</file>

<file path=ppt/charts/_rels/chart65.xml.rels><?xml version='1.0' encoding='UTF-8' standalone='yes'?>
<Relationships xmlns="http://schemas.openxmlformats.org/package/2006/relationships"><Relationship Id="rId2" Type="http://schemas.openxmlformats.org/officeDocument/2006/relationships/image" Target="../media/image413.png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Relationship Id="rId10" Type="http://schemas.openxmlformats.org/officeDocument/2006/relationships/image" Target="../media/image421.png"/><Relationship Id="rId11" Type="http://schemas.openxmlformats.org/officeDocument/2006/relationships/image" Target="../media/image422.png"/><Relationship Id="rId12" Type="http://schemas.openxmlformats.org/officeDocument/2006/relationships/image" Target="../media/image423.png"/><Relationship Id="rId13" Type="http://schemas.openxmlformats.org/officeDocument/2006/relationships/image" Target="../media/image424.png"/><Relationship Id="rId14" Type="http://schemas.openxmlformats.org/officeDocument/2006/relationships/image" Target="../media/image425.png"/><Relationship Id="rId15" Type="http://schemas.openxmlformats.org/officeDocument/2006/relationships/image" Target="../media/image426.png"/><Relationship Id="rId16" Type="http://schemas.openxmlformats.org/officeDocument/2006/relationships/image" Target="../media/image427.png"/><Relationship Id="rId17" Type="http://schemas.openxmlformats.org/officeDocument/2006/relationships/image" Target="../media/image428.png"/><Relationship Id="rId18" Type="http://schemas.openxmlformats.org/officeDocument/2006/relationships/image" Target="../media/image429.png"/><Relationship Id="rId19" Type="http://schemas.openxmlformats.org/officeDocument/2006/relationships/image" Target="../media/image430.png"/><Relationship Id="rId20" Type="http://schemas.openxmlformats.org/officeDocument/2006/relationships/image" Target="../media/image431.png"/><Relationship Id="rId21" Type="http://schemas.openxmlformats.org/officeDocument/2006/relationships/image" Target="../media/image432.png"/><Relationship Id="rId22" Type="http://schemas.openxmlformats.org/officeDocument/2006/relationships/image" Target="../media/image433.png"/><Relationship Id="rId23" Type="http://schemas.openxmlformats.org/officeDocument/2006/relationships/image" Target="../media/image434.png"/><Relationship Id="rId24" Type="http://schemas.openxmlformats.org/officeDocument/2006/relationships/image" Target="../media/image435.png"/><Relationship Id="rId25" Type="http://schemas.openxmlformats.org/officeDocument/2006/relationships/image" Target="../media/image436.png"/><Relationship Id="rId26" Type="http://schemas.openxmlformats.org/officeDocument/2006/relationships/image" Target="../media/image437.png"/><Relationship Id="rId27" Type="http://schemas.openxmlformats.org/officeDocument/2006/relationships/image" Target="../media/image438.png"/><Relationship Id="rId28" Type="http://schemas.openxmlformats.org/officeDocument/2006/relationships/image" Target="../media/image439.png"/><Relationship Id="rId29" Type="http://schemas.openxmlformats.org/officeDocument/2006/relationships/image" Target="../media/image440.png"/><Relationship Id="rId30" Type="http://schemas.openxmlformats.org/officeDocument/2006/relationships/image" Target="../media/image441.png"/><Relationship Id="rId31" Type="http://schemas.openxmlformats.org/officeDocument/2006/relationships/image" Target="../media/image442.png"/><Relationship Id="rId32" Type="http://schemas.openxmlformats.org/officeDocument/2006/relationships/image" Target="../media/image443.png"/></Relationships>
</file>

<file path=ppt/charts/_rels/chart71.xml.rels><?xml version='1.0' encoding='UTF-8' standalone='yes'?>
<Relationships xmlns="http://schemas.openxmlformats.org/package/2006/relationships"><Relationship Id="rId2" Type="http://schemas.openxmlformats.org/officeDocument/2006/relationships/image" Target="../media/image444.png"/><Relationship Id="rId3" Type="http://schemas.openxmlformats.org/officeDocument/2006/relationships/image" Target="../media/image445.png"/><Relationship Id="rId4" Type="http://schemas.openxmlformats.org/officeDocument/2006/relationships/image" Target="../media/image446.png"/><Relationship Id="rId5" Type="http://schemas.openxmlformats.org/officeDocument/2006/relationships/image" Target="../media/image447.png"/><Relationship Id="rId6" Type="http://schemas.openxmlformats.org/officeDocument/2006/relationships/image" Target="../media/image448.png"/><Relationship Id="rId7" Type="http://schemas.openxmlformats.org/officeDocument/2006/relationships/image" Target="../media/image449.png"/><Relationship Id="rId8" Type="http://schemas.openxmlformats.org/officeDocument/2006/relationships/image" Target="../media/image450.png"/><Relationship Id="rId9" Type="http://schemas.openxmlformats.org/officeDocument/2006/relationships/image" Target="../media/image451.png"/><Relationship Id="rId10" Type="http://schemas.openxmlformats.org/officeDocument/2006/relationships/image" Target="../media/image452.png"/><Relationship Id="rId11" Type="http://schemas.openxmlformats.org/officeDocument/2006/relationships/image" Target="../media/image453.png"/><Relationship Id="rId12" Type="http://schemas.openxmlformats.org/officeDocument/2006/relationships/image" Target="../media/image454.png"/><Relationship Id="rId13" Type="http://schemas.openxmlformats.org/officeDocument/2006/relationships/image" Target="../media/image455.png"/></Relationships>
</file>

<file path=ppt/charts/_rels/chart72.xml.rels><?xml version='1.0' encoding='UTF-8' standalone='yes'?>
<Relationships xmlns="http://schemas.openxmlformats.org/package/2006/relationships"><Relationship Id="rId2" Type="http://schemas.openxmlformats.org/officeDocument/2006/relationships/image" Target="../media/image468.png"/><Relationship Id="rId3" Type="http://schemas.openxmlformats.org/officeDocument/2006/relationships/image" Target="../media/image469.png"/><Relationship Id="rId4" Type="http://schemas.openxmlformats.org/officeDocument/2006/relationships/image" Target="../media/image470.png"/><Relationship Id="rId5" Type="http://schemas.openxmlformats.org/officeDocument/2006/relationships/image" Target="../media/image471.png"/><Relationship Id="rId6" Type="http://schemas.openxmlformats.org/officeDocument/2006/relationships/image" Target="../media/image472.png"/><Relationship Id="rId7" Type="http://schemas.openxmlformats.org/officeDocument/2006/relationships/image" Target="../media/image473.png"/><Relationship Id="rId8" Type="http://schemas.openxmlformats.org/officeDocument/2006/relationships/image" Target="../media/image474.png"/><Relationship Id="rId9" Type="http://schemas.openxmlformats.org/officeDocument/2006/relationships/image" Target="../media/image475.png"/><Relationship Id="rId10" Type="http://schemas.openxmlformats.org/officeDocument/2006/relationships/image" Target="../media/image476.png"/><Relationship Id="rId11" Type="http://schemas.openxmlformats.org/officeDocument/2006/relationships/image" Target="../media/image477.png"/><Relationship Id="rId12" Type="http://schemas.openxmlformats.org/officeDocument/2006/relationships/image" Target="../media/image478.png"/><Relationship Id="rId13" Type="http://schemas.openxmlformats.org/officeDocument/2006/relationships/image" Target="../media/image479.png"/><Relationship Id="rId14" Type="http://schemas.openxmlformats.org/officeDocument/2006/relationships/image" Target="../media/image480.png"/><Relationship Id="rId15" Type="http://schemas.openxmlformats.org/officeDocument/2006/relationships/image" Target="../media/image481.png"/><Relationship Id="rId16" Type="http://schemas.openxmlformats.org/officeDocument/2006/relationships/image" Target="../media/image482.png"/><Relationship Id="rId17" Type="http://schemas.openxmlformats.org/officeDocument/2006/relationships/image" Target="../media/image483.png"/><Relationship Id="rId18" Type="http://schemas.openxmlformats.org/officeDocument/2006/relationships/image" Target="../media/image484.png"/><Relationship Id="rId19" Type="http://schemas.openxmlformats.org/officeDocument/2006/relationships/image" Target="../media/image485.png"/><Relationship Id="rId20" Type="http://schemas.openxmlformats.org/officeDocument/2006/relationships/image" Target="../media/image486.png"/><Relationship Id="rId21" Type="http://schemas.openxmlformats.org/officeDocument/2006/relationships/image" Target="../media/image487.png"/><Relationship Id="rId22" Type="http://schemas.openxmlformats.org/officeDocument/2006/relationships/image" Target="../media/image488.png"/><Relationship Id="rId23" Type="http://schemas.openxmlformats.org/officeDocument/2006/relationships/image" Target="../media/image489.png"/><Relationship Id="rId24" Type="http://schemas.openxmlformats.org/officeDocument/2006/relationships/image" Target="../media/image490.png"/><Relationship Id="rId25" Type="http://schemas.openxmlformats.org/officeDocument/2006/relationships/image" Target="../media/image491.png"/><Relationship Id="rId26" Type="http://schemas.openxmlformats.org/officeDocument/2006/relationships/image" Target="../media/image492.png"/><Relationship Id="rId27" Type="http://schemas.openxmlformats.org/officeDocument/2006/relationships/image" Target="../media/image493.png"/><Relationship Id="rId28" Type="http://schemas.openxmlformats.org/officeDocument/2006/relationships/image" Target="../media/image494.png"/><Relationship Id="rId29" Type="http://schemas.openxmlformats.org/officeDocument/2006/relationships/image" Target="../media/image495.png"/><Relationship Id="rId30" Type="http://schemas.openxmlformats.org/officeDocument/2006/relationships/image" Target="../media/image496.png"/><Relationship Id="rId31" Type="http://schemas.openxmlformats.org/officeDocument/2006/relationships/image" Target="../media/image497.png"/><Relationship Id="rId32" Type="http://schemas.openxmlformats.org/officeDocument/2006/relationships/image" Target="../media/image498.png"/><Relationship Id="rId33" Type="http://schemas.openxmlformats.org/officeDocument/2006/relationships/image" Target="../media/image499.png"/><Relationship Id="rId34" Type="http://schemas.openxmlformats.org/officeDocument/2006/relationships/image" Target="../media/image500.png"/><Relationship Id="rId35" Type="http://schemas.openxmlformats.org/officeDocument/2006/relationships/image" Target="../media/image501.png"/><Relationship Id="rId36" Type="http://schemas.openxmlformats.org/officeDocument/2006/relationships/image" Target="../media/image502.png"/><Relationship Id="rId37" Type="http://schemas.openxmlformats.org/officeDocument/2006/relationships/image" Target="../media/image503.png"/><Relationship Id="rId38" Type="http://schemas.openxmlformats.org/officeDocument/2006/relationships/image" Target="../media/image504.png"/><Relationship Id="rId39" Type="http://schemas.openxmlformats.org/officeDocument/2006/relationships/image" Target="../media/image505.png"/><Relationship Id="rId40" Type="http://schemas.openxmlformats.org/officeDocument/2006/relationships/image" Target="../media/image506.png"/><Relationship Id="rId41" Type="http://schemas.openxmlformats.org/officeDocument/2006/relationships/image" Target="../media/image507.png"/><Relationship Id="rId42" Type="http://schemas.openxmlformats.org/officeDocument/2006/relationships/image" Target="../media/image508.png"/><Relationship Id="rId43" Type="http://schemas.openxmlformats.org/officeDocument/2006/relationships/image" Target="../media/image509.png"/><Relationship Id="rId44" Type="http://schemas.openxmlformats.org/officeDocument/2006/relationships/image" Target="../media/image510.png"/><Relationship Id="rId45" Type="http://schemas.openxmlformats.org/officeDocument/2006/relationships/image" Target="../media/image511.png"/><Relationship Id="rId46" Type="http://schemas.openxmlformats.org/officeDocument/2006/relationships/image" Target="../media/image512.png"/></Relationships>
</file>

<file path=ppt/charts/_rels/chart80.xml.rels><?xml version='1.0' encoding='UTF-8' standalone='yes'?>
<Relationships xmlns="http://schemas.openxmlformats.org/package/2006/relationships"><Relationship Id="rId2" Type="http://schemas.openxmlformats.org/officeDocument/2006/relationships/image" Target="../media/image513.png"/><Relationship Id="rId3" Type="http://schemas.openxmlformats.org/officeDocument/2006/relationships/image" Target="../media/image514.png"/><Relationship Id="rId4" Type="http://schemas.openxmlformats.org/officeDocument/2006/relationships/image" Target="../media/image515.png"/><Relationship Id="rId5" Type="http://schemas.openxmlformats.org/officeDocument/2006/relationships/image" Target="../media/image516.png"/><Relationship Id="rId6" Type="http://schemas.openxmlformats.org/officeDocument/2006/relationships/image" Target="../media/image517.png"/><Relationship Id="rId7" Type="http://schemas.openxmlformats.org/officeDocument/2006/relationships/image" Target="../media/image518.png"/><Relationship Id="rId8" Type="http://schemas.openxmlformats.org/officeDocument/2006/relationships/image" Target="../media/image519.png"/><Relationship Id="rId9" Type="http://schemas.openxmlformats.org/officeDocument/2006/relationships/image" Target="../media/image520.png"/><Relationship Id="rId10" Type="http://schemas.openxmlformats.org/officeDocument/2006/relationships/image" Target="../media/image521.png"/><Relationship Id="rId11" Type="http://schemas.openxmlformats.org/officeDocument/2006/relationships/image" Target="../media/image522.png"/><Relationship Id="rId12" Type="http://schemas.openxmlformats.org/officeDocument/2006/relationships/image" Target="../media/image523.png"/><Relationship Id="rId13" Type="http://schemas.openxmlformats.org/officeDocument/2006/relationships/image" Target="../media/image524.png"/><Relationship Id="rId14" Type="http://schemas.openxmlformats.org/officeDocument/2006/relationships/image" Target="../media/image525.png"/><Relationship Id="rId15" Type="http://schemas.openxmlformats.org/officeDocument/2006/relationships/image" Target="../media/image526.png"/><Relationship Id="rId16" Type="http://schemas.openxmlformats.org/officeDocument/2006/relationships/image" Target="../media/image527.png"/><Relationship Id="rId17" Type="http://schemas.openxmlformats.org/officeDocument/2006/relationships/image" Target="../media/image528.png"/><Relationship Id="rId18" Type="http://schemas.openxmlformats.org/officeDocument/2006/relationships/image" Target="../media/image529.png"/></Relationships>
</file>

<file path=ppt/charts/_rels/chart104.xml.rels><?xml version='1.0' encoding='UTF-8' standalone='yes'?>
<Relationships xmlns="http://schemas.openxmlformats.org/package/2006/relationships"><Relationship Id="rId2" Type="http://schemas.openxmlformats.org/officeDocument/2006/relationships/image" Target="../media/image530.png"/><Relationship Id="rId3" Type="http://schemas.openxmlformats.org/officeDocument/2006/relationships/image" Target="../media/image531.png"/><Relationship Id="rId4" Type="http://schemas.openxmlformats.org/officeDocument/2006/relationships/image" Target="../media/image532.png"/><Relationship Id="rId5" Type="http://schemas.openxmlformats.org/officeDocument/2006/relationships/image" Target="../media/image533.png"/><Relationship Id="rId6" Type="http://schemas.openxmlformats.org/officeDocument/2006/relationships/image" Target="../media/image534.png"/><Relationship Id="rId7" Type="http://schemas.openxmlformats.org/officeDocument/2006/relationships/image" Target="../media/image535.png"/><Relationship Id="rId8" Type="http://schemas.openxmlformats.org/officeDocument/2006/relationships/image" Target="../media/image536.png"/><Relationship Id="rId9" Type="http://schemas.openxmlformats.org/officeDocument/2006/relationships/image" Target="../media/image537.png"/><Relationship Id="rId10" Type="http://schemas.openxmlformats.org/officeDocument/2006/relationships/image" Target="../media/image538.png"/><Relationship Id="rId11" Type="http://schemas.openxmlformats.org/officeDocument/2006/relationships/image" Target="../media/image539.png"/></Relationships>
</file>

<file path=ppt/charts/_rels/chart105.xml.rels><?xml version='1.0' encoding='UTF-8' standalone='yes'?>
<Relationships xmlns="http://schemas.openxmlformats.org/package/2006/relationships"><Relationship Id="rId2" Type="http://schemas.openxmlformats.org/officeDocument/2006/relationships/image" Target="../media/image540.png"/><Relationship Id="rId3" Type="http://schemas.openxmlformats.org/officeDocument/2006/relationships/image" Target="../media/image541.png"/><Relationship Id="rId4" Type="http://schemas.openxmlformats.org/officeDocument/2006/relationships/image" Target="../media/image542.png"/><Relationship Id="rId5" Type="http://schemas.openxmlformats.org/officeDocument/2006/relationships/image" Target="../media/image543.png"/><Relationship Id="rId6" Type="http://schemas.openxmlformats.org/officeDocument/2006/relationships/image" Target="../media/image544.png"/><Relationship Id="rId7" Type="http://schemas.openxmlformats.org/officeDocument/2006/relationships/image" Target="../media/image545.png"/><Relationship Id="rId8" Type="http://schemas.openxmlformats.org/officeDocument/2006/relationships/image" Target="../media/image546.png"/><Relationship Id="rId9" Type="http://schemas.openxmlformats.org/officeDocument/2006/relationships/image" Target="../media/image547.png"/><Relationship Id="rId10" Type="http://schemas.openxmlformats.org/officeDocument/2006/relationships/image" Target="../media/image548.png"/><Relationship Id="rId11" Type="http://schemas.openxmlformats.org/officeDocument/2006/relationships/image" Target="../media/image549.png"/><Relationship Id="rId12" Type="http://schemas.openxmlformats.org/officeDocument/2006/relationships/image" Target="../media/image550.png"/></Relationships>
</file>

<file path=ppt/charts/_rels/chart106.xml.rels><?xml version='1.0' encoding='UTF-8' standalone='yes'?>
<Relationships xmlns="http://schemas.openxmlformats.org/package/2006/relationships"><Relationship Id="rId2" Type="http://schemas.openxmlformats.org/officeDocument/2006/relationships/image" Target="../media/image551.png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png"/><Relationship Id="rId11" Type="http://schemas.openxmlformats.org/officeDocument/2006/relationships/image" Target="../media/image560.png"/></Relationships>
</file>

<file path=ppt/charts/_rels/chart107.xml.rels><?xml version='1.0' encoding='UTF-8' standalone='yes'?>
<Relationships xmlns="http://schemas.openxmlformats.org/package/2006/relationships"><Relationship Id="rId2" Type="http://schemas.openxmlformats.org/officeDocument/2006/relationships/image" Target="../media/image561.png"/><Relationship Id="rId3" Type="http://schemas.openxmlformats.org/officeDocument/2006/relationships/image" Target="../media/image562.png"/><Relationship Id="rId4" Type="http://schemas.openxmlformats.org/officeDocument/2006/relationships/image" Target="../media/image563.png"/><Relationship Id="rId5" Type="http://schemas.openxmlformats.org/officeDocument/2006/relationships/image" Target="../media/image564.png"/><Relationship Id="rId6" Type="http://schemas.openxmlformats.org/officeDocument/2006/relationships/image" Target="../media/image565.png"/><Relationship Id="rId7" Type="http://schemas.openxmlformats.org/officeDocument/2006/relationships/image" Target="../media/image566.png"/><Relationship Id="rId8" Type="http://schemas.openxmlformats.org/officeDocument/2006/relationships/image" Target="../media/image567.png"/><Relationship Id="rId9" Type="http://schemas.openxmlformats.org/officeDocument/2006/relationships/image" Target="../media/image568.png"/><Relationship Id="rId10" Type="http://schemas.openxmlformats.org/officeDocument/2006/relationships/image" Target="../media/image569.png"/><Relationship Id="rId11" Type="http://schemas.openxmlformats.org/officeDocument/2006/relationships/image" Target="../media/image570.png"/></Relationships>
</file>

<file path=ppt/charts/_rels/chart108.xml.rels><?xml version='1.0' encoding='UTF-8' standalone='yes'?>
<Relationships xmlns="http://schemas.openxmlformats.org/package/2006/relationships"><Relationship Id="rId2" Type="http://schemas.openxmlformats.org/officeDocument/2006/relationships/image" Target="../media/image571.png"/><Relationship Id="rId3" Type="http://schemas.openxmlformats.org/officeDocument/2006/relationships/image" Target="../media/image572.png"/><Relationship Id="rId4" Type="http://schemas.openxmlformats.org/officeDocument/2006/relationships/image" Target="../media/image573.png"/><Relationship Id="rId5" Type="http://schemas.openxmlformats.org/officeDocument/2006/relationships/image" Target="../media/image574.png"/><Relationship Id="rId6" Type="http://schemas.openxmlformats.org/officeDocument/2006/relationships/image" Target="../media/image575.png"/><Relationship Id="rId7" Type="http://schemas.openxmlformats.org/officeDocument/2006/relationships/image" Target="../media/image576.png"/><Relationship Id="rId8" Type="http://schemas.openxmlformats.org/officeDocument/2006/relationships/image" Target="../media/image577.png"/><Relationship Id="rId9" Type="http://schemas.openxmlformats.org/officeDocument/2006/relationships/image" Target="../media/image578.png"/><Relationship Id="rId10" Type="http://schemas.openxmlformats.org/officeDocument/2006/relationships/image" Target="../media/image579.png"/><Relationship Id="rId11" Type="http://schemas.openxmlformats.org/officeDocument/2006/relationships/image" Target="../media/image580.png"/><Relationship Id="rId12" Type="http://schemas.openxmlformats.org/officeDocument/2006/relationships/image" Target="../media/image581.png"/></Relationships>
</file>

<file path=ppt/charts/_rels/chart109.xml.rels><?xml version='1.0' encoding='UTF-8' standalone='yes'?>
<Relationships xmlns="http://schemas.openxmlformats.org/package/2006/relationships"><Relationship Id="rId2" Type="http://schemas.openxmlformats.org/officeDocument/2006/relationships/image" Target="../media/image582.png"/><Relationship Id="rId3" Type="http://schemas.openxmlformats.org/officeDocument/2006/relationships/image" Target="../media/image583.png"/><Relationship Id="rId4" Type="http://schemas.openxmlformats.org/officeDocument/2006/relationships/image" Target="../media/image584.png"/><Relationship Id="rId5" Type="http://schemas.openxmlformats.org/officeDocument/2006/relationships/image" Target="../media/image585.png"/><Relationship Id="rId6" Type="http://schemas.openxmlformats.org/officeDocument/2006/relationships/image" Target="../media/image586.png"/><Relationship Id="rId7" Type="http://schemas.openxmlformats.org/officeDocument/2006/relationships/image" Target="../media/image587.png"/><Relationship Id="rId8" Type="http://schemas.openxmlformats.org/officeDocument/2006/relationships/image" Target="../media/image588.png"/><Relationship Id="rId9" Type="http://schemas.openxmlformats.org/officeDocument/2006/relationships/image" Target="../media/image589.png"/><Relationship Id="rId10" Type="http://schemas.openxmlformats.org/officeDocument/2006/relationships/image" Target="../media/image590.png"/></Relationships>
</file>

<file path=ppt/charts/_rels/chart110.xml.rels><?xml version='1.0' encoding='UTF-8' standalone='yes'?>
<Relationships xmlns="http://schemas.openxmlformats.org/package/2006/relationships"><Relationship Id="rId2" Type="http://schemas.openxmlformats.org/officeDocument/2006/relationships/image" Target="../media/image591.png"/><Relationship Id="rId3" Type="http://schemas.openxmlformats.org/officeDocument/2006/relationships/image" Target="../media/image592.png"/><Relationship Id="rId4" Type="http://schemas.openxmlformats.org/officeDocument/2006/relationships/image" Target="../media/image593.png"/><Relationship Id="rId5" Type="http://schemas.openxmlformats.org/officeDocument/2006/relationships/image" Target="../media/image594.png"/></Relationships>
</file>

<file path=ppt/charts/_rels/chart111.xml.rels><?xml version='1.0' encoding='UTF-8' standalone='yes'?>
<Relationships xmlns="http://schemas.openxmlformats.org/package/2006/relationships"><Relationship Id="rId2" Type="http://schemas.openxmlformats.org/officeDocument/2006/relationships/image" Target="../media/image595.png"/><Relationship Id="rId3" Type="http://schemas.openxmlformats.org/officeDocument/2006/relationships/image" Target="../media/image596.png"/><Relationship Id="rId4" Type="http://schemas.openxmlformats.org/officeDocument/2006/relationships/image" Target="../media/image597.png"/><Relationship Id="rId5" Type="http://schemas.openxmlformats.org/officeDocument/2006/relationships/image" Target="../media/image598.png"/><Relationship Id="rId6" Type="http://schemas.openxmlformats.org/officeDocument/2006/relationships/image" Target="../media/image599.png"/></Relationships>
</file>

<file path=ppt/charts/_rels/chart112.xml.rels><?xml version='1.0' encoding='UTF-8' standalone='yes'?>
<Relationships xmlns="http://schemas.openxmlformats.org/package/2006/relationships"><Relationship Id="rId2" Type="http://schemas.openxmlformats.org/officeDocument/2006/relationships/image" Target="../media/image600.png"/><Relationship Id="rId3" Type="http://schemas.openxmlformats.org/officeDocument/2006/relationships/image" Target="../media/image601.png"/></Relationships>
</file>

<file path=ppt/charts/_rels/chart113.xml.rels><?xml version='1.0' encoding='UTF-8' standalone='yes'?>
<Relationships xmlns="http://schemas.openxmlformats.org/package/2006/relationships"><Relationship Id="rId2" Type="http://schemas.openxmlformats.org/officeDocument/2006/relationships/image" Target="../media/image602.png"/><Relationship Id="rId3" Type="http://schemas.openxmlformats.org/officeDocument/2006/relationships/image" Target="../media/image603.png"/><Relationship Id="rId4" Type="http://schemas.openxmlformats.org/officeDocument/2006/relationships/image" Target="../media/image604.png"/><Relationship Id="rId5" Type="http://schemas.openxmlformats.org/officeDocument/2006/relationships/image" Target="../media/image605.png"/><Relationship Id="rId6" Type="http://schemas.openxmlformats.org/officeDocument/2006/relationships/image" Target="../media/image606.png"/><Relationship Id="rId7" Type="http://schemas.openxmlformats.org/officeDocument/2006/relationships/image" Target="../media/image607.png"/><Relationship Id="rId8" Type="http://schemas.openxmlformats.org/officeDocument/2006/relationships/image" Target="../media/image608.png"/><Relationship Id="rId9" Type="http://schemas.openxmlformats.org/officeDocument/2006/relationships/image" Target="../media/image609.png"/><Relationship Id="rId10" Type="http://schemas.openxmlformats.org/officeDocument/2006/relationships/image" Target="../media/image610.png"/><Relationship Id="rId11" Type="http://schemas.openxmlformats.org/officeDocument/2006/relationships/image" Target="../media/image611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3.6198398995503034</c:v>
                </c:pt>
                <c:pt idx="1">
                  <c:v>4.553107255971756</c:v>
                </c:pt>
                <c:pt idx="2">
                  <c:v>4.241087899563123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6.01010157788271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2225502.348</c:v>
                </c:pt>
                <c:pt idx="2">
                  <c:v>0.0</c:v>
                </c:pt>
                <c:pt idx="3">
                  <c:v>2658536.5870000003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2225502.348</c:v>
                </c:pt>
                <c:pt idx="1">
                  <c:v>433034.23900000006</c:v>
                </c:pt>
                <c:pt idx="2">
                  <c:v>2658536.5870000003</c:v>
                </c:pt>
                <c:pt idx="3">
                  <c:v>1491119.3059999999</c:v>
                </c:pt>
                <c:pt idx="4">
                  <c:v>4149655.893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,,&quot;M&quot;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4.126859335369337</c:v>
                </c:pt>
                <c:pt idx="1">
                  <c:v>4.9939469101035305</c:v>
                </c:pt>
                <c:pt idx="2">
                  <c:v>4.704118403200064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6.59200992133666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8904.563</c:v>
                </c:pt>
                <c:pt idx="2">
                  <c:v>0.0</c:v>
                </c:pt>
                <c:pt idx="3">
                  <c:v>10899.999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8904.563</c:v>
                </c:pt>
                <c:pt idx="1">
                  <c:v>1995.4359999999997</c:v>
                </c:pt>
                <c:pt idx="2">
                  <c:v>10899.999</c:v>
                </c:pt>
                <c:pt idx="3">
                  <c:v>6844.718000000001</c:v>
                </c:pt>
                <c:pt idx="4">
                  <c:v>17744.717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&quot;;&quot;MMMMMMM&quot;;&quot;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8904.563</c:v>
                </c:pt>
                <c:pt idx="1">
                  <c:v>9270.468</c:v>
                </c:pt>
                <c:pt idx="2">
                  <c:v>9652.224</c:v>
                </c:pt>
                <c:pt idx="3">
                  <c:v>10050.559000000001</c:v>
                </c:pt>
                <c:pt idx="4">
                  <c:v>10466.22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MM&quot;;&quot;MMMMMMMMMMM&quot;;&quot;MMM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MM&quot;;&quot;MMMMMMMMMMM&quot;;&quot;MMM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MM&quot;;&quot;MMMMMMMMMMM&quot;;&quot;MMM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MM&quot;;&quot;MMMMMMMMMMM&quot;;&quot;MMM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MM&quot;;&quot;MMMMMMMMMMM&quot;;&quot;MMM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2225502.348</c:v>
                </c:pt>
                <c:pt idx="1">
                  <c:v>2305239.798</c:v>
                </c:pt>
                <c:pt idx="2">
                  <c:v>2388259.938</c:v>
                </c:pt>
                <c:pt idx="3">
                  <c:v>2474711.164</c:v>
                </c:pt>
                <c:pt idx="4">
                  <c:v>2564749.029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350"/>
          <c:min val="0"/>
        </c:scaling>
        <c:delete val="0"/>
        <c:axPos val="l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3507556"/>
          <c:min val="0"/>
        </c:scaling>
        <c:delete val="0"/>
        <c:axPos val="r"/>
        <c:numFmt formatCode="#,##0,,&quot;M&quot;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M&quot;;&quot;MMMMMMMM&quot;;&quot;M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&quot;;&quot;MMMMMMMM&quot;;&quot;M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&quot;;&quot;MMMMMMMM&quot;;&quot;M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&quot;;&quot;MMMMMMMM&quot;;&quot;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&quot;;&quot;MMMMMMMM&quot;;&quot;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&quot;;&quot;MMMMMMMM&quot;;&quot;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&quot;;&quot;MMMMMMMM&quot;;&quot;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&quot;;&quot;MMMMMMMM&quot;;&quot;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&quot;;&quot;MMMMMMMM&quot;;&quot;MMMM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10899.999</c:v>
                </c:pt>
                <c:pt idx="1">
                  <c:v>11439.934000000001</c:v>
                </c:pt>
                <c:pt idx="2">
                  <c:v>12007.632</c:v>
                </c:pt>
                <c:pt idx="3">
                  <c:v>12604.572</c:v>
                </c:pt>
                <c:pt idx="4">
                  <c:v>13232.323</c:v>
                </c:pt>
                <c:pt idx="5">
                  <c:v>13892.524000000001</c:v>
                </c:pt>
                <c:pt idx="6">
                  <c:v>14586.923</c:v>
                </c:pt>
                <c:pt idx="7">
                  <c:v>15317.345</c:v>
                </c:pt>
                <c:pt idx="8">
                  <c:v>16085.737000000001</c:v>
                </c:pt>
                <c:pt idx="9">
                  <c:v>16894.14</c:v>
                </c:pt>
                <c:pt idx="10">
                  <c:v>17744.717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MM&quot;;&quot;MMMMMMMMMMM&quot;;&quot;MMMMMMM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MM&quot;;&quot;MMMMMMMMMMM&quot;;&quot;MMMMMMM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MM&quot;;&quot;MMMMMMMMMMM&quot;;&quot;MMMMMMM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MM&quot;;&quot;MMMMMMMMMMM&quot;;&quot;MMMMMMM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MM&quot;;&quot;MMMMMMMMMMM&quot;;&quot;MMMMMMM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MMM&quot;;&quot;MMMMMMMMMMM&quot;;&quot;MMMMMMM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MMM&quot;;&quot;MMMMMMMMMMM&quot;;&quot;MMMMMMM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MMM&quot;;&quot;MMMMMMMMMMM&quot;;&quot;MMMMMMM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MMM&quot;;&quot;MMMMMMMMMMM&quot;;&quot;MMMMMMM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MMM&quot;;&quot;MMMMMMMMMMM&quot;;&quot;MMMMMMM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MMM&quot;;&quot;MMMMMMMMMMM&quot;;&quot;MMMMMMM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2658536.5870000003</c:v>
                </c:pt>
                <c:pt idx="1">
                  <c:v>2777384.4790000003</c:v>
                </c:pt>
                <c:pt idx="2">
                  <c:v>2902057.076</c:v>
                </c:pt>
                <c:pt idx="3">
                  <c:v>3032860.343</c:v>
                </c:pt>
                <c:pt idx="4">
                  <c:v>3170117.193</c:v>
                </c:pt>
                <c:pt idx="5">
                  <c:v>3314168.417</c:v>
                </c:pt>
                <c:pt idx="6">
                  <c:v>3465373.738</c:v>
                </c:pt>
                <c:pt idx="7">
                  <c:v>3624112.901</c:v>
                </c:pt>
                <c:pt idx="8">
                  <c:v>3790786.815</c:v>
                </c:pt>
                <c:pt idx="9">
                  <c:v>3965818.808</c:v>
                </c:pt>
                <c:pt idx="10">
                  <c:v>4149655.893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939"/>
          <c:min val="0"/>
        </c:scaling>
        <c:delete val="0"/>
        <c:axPos val="l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5803428"/>
          <c:min val="0"/>
        </c:scaling>
        <c:delete val="0"/>
        <c:axPos val="r"/>
        <c:numFmt formatCode="#,##0,,&quot;M&quot;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Turkiye</c:v>
                </c:pt>
                <c:pt idx="1">
                  <c:v>Hungary</c:v>
                </c:pt>
                <c:pt idx="2">
                  <c:v>Russia</c:v>
                </c:pt>
                <c:pt idx="3">
                  <c:v>Brazil</c:v>
                </c:pt>
                <c:pt idx="4">
                  <c:v>Poland</c:v>
                </c:pt>
                <c:pt idx="5">
                  <c:v>France</c:v>
                </c:pt>
                <c:pt idx="6">
                  <c:v>Chile</c:v>
                </c:pt>
                <c:pt idx="7">
                  <c:v>Germany</c:v>
                </c:pt>
                <c:pt idx="8">
                  <c:v>India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110.06599292276161</c:v>
                </c:pt>
                <c:pt idx="1">
                  <c:v>116.34082488153128</c:v>
                </c:pt>
                <c:pt idx="2">
                  <c:v>118.36155088916583</c:v>
                </c:pt>
                <c:pt idx="3">
                  <c:v>118.5729789167459</c:v>
                </c:pt>
                <c:pt idx="4">
                  <c:v>119.26787899803611</c:v>
                </c:pt>
                <c:pt idx="5">
                  <c:v>122.98526572334856</c:v>
                </c:pt>
                <c:pt idx="6">
                  <c:v>126.79162205238038</c:v>
                </c:pt>
                <c:pt idx="7">
                  <c:v>131.054746758804</c:v>
                </c:pt>
                <c:pt idx="8">
                  <c:v>135.42999057944166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Japan</c:v>
                </c:pt>
                <c:pt idx="1">
                  <c:v>Russia</c:v>
                </c:pt>
                <c:pt idx="2">
                  <c:v>Mexico</c:v>
                </c:pt>
                <c:pt idx="3">
                  <c:v>Brazil</c:v>
                </c:pt>
                <c:pt idx="4">
                  <c:v>China</c:v>
                </c:pt>
                <c:pt idx="5">
                  <c:v>Canada</c:v>
                </c:pt>
                <c:pt idx="6">
                  <c:v>India</c:v>
                </c:pt>
                <c:pt idx="7">
                  <c:v>U.S.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3.6518378112874785</c:v>
                </c:pt>
                <c:pt idx="1">
                  <c:v>4.5035018243264355</c:v>
                </c:pt>
                <c:pt idx="2">
                  <c:v>6.552366364837822</c:v>
                </c:pt>
                <c:pt idx="3">
                  <c:v>7.401985005079828</c:v>
                </c:pt>
                <c:pt idx="4">
                  <c:v>9.179384746018759</c:v>
                </c:pt>
                <c:pt idx="5">
                  <c:v>9.191306347463838</c:v>
                </c:pt>
                <c:pt idx="6">
                  <c:v>11.485513354969482</c:v>
                </c:pt>
                <c:pt idx="7">
                  <c:v>16.577600421229917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MMM&quot;;&quot;MMMMMMMM&quot;;&quot;M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Gaseous Helium-3</c:v>
                </c:pt>
                <c:pt idx="1">
                  <c:v>Liquid Helium-3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12762.837</c:v>
                </c:pt>
                <c:pt idx="1">
                  <c:v>4981.88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Optimistic Scenario</c:v>
                </c:pt>
              </c:strCache>
            </c:strRef>
          </c:tx>
          <c:spPr>
            <a:ln w="28575">
              <a:solidFill>
                <a:srgbClr val="2E5F8A"/>
              </a:solidFill>
            </a:ln>
          </c:spPr>
          <c:marker>
            <c:symbol val="circle"/>
            <c:size val="6"/>
            <c:spPr>
              <a:solidFill>
                <a:srgbClr val="2E5F8A"/>
              </a:solidFill>
              <a:ln>
                <a:solidFill>
                  <a:srgbClr val="2E5F8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0.05622613063278267</c:v>
                </c:pt>
                <c:pt idx="1">
                  <c:v>0.05680668330072368</c:v>
                </c:pt>
                <c:pt idx="2">
                  <c:v>0.058072392720919394</c:v>
                </c:pt>
                <c:pt idx="3">
                  <c:v>0.05881508171954663</c:v>
                </c:pt>
                <c:pt idx="4">
                  <c:v>0.06006510052709529</c:v>
                </c:pt>
                <c:pt idx="5">
                  <c:v>0.061927053227879066</c:v>
                </c:pt>
                <c:pt idx="6">
                  <c:v>0.06270112345180041</c:v>
                </c:pt>
                <c:pt idx="7">
                  <c:v>0.06388314960454516</c:v>
                </c:pt>
                <c:pt idx="8">
                  <c:v>0.06467291044111356</c:v>
                </c:pt>
                <c:pt idx="9">
                  <c:v>0.06581832516434853</c:v>
                </c:pt>
                <c:pt idx="10">
                  <c:v>0.06707880438032855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Likely Scenario</c:v>
                </c:pt>
              </c:strCache>
            </c:strRef>
          </c:tx>
          <c:spPr>
            <a:ln w="28575">
              <a:solidFill>
                <a:srgbClr val="8B1A1A"/>
              </a:solidFill>
            </a:ln>
          </c:spPr>
          <c:marker>
            <c:symbol val="circle"/>
            <c:size val="6"/>
            <c:spPr>
              <a:solidFill>
                <a:srgbClr val="8B1A1A"/>
              </a:solidFill>
              <a:ln>
                <a:solidFill>
                  <a:srgbClr val="8B1A1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0.04356444320429449</c:v>
                </c:pt>
                <c:pt idx="1">
                  <c:v>0.04510944552960777</c:v>
                </c:pt>
                <c:pt idx="2">
                  <c:v>0.046215477834915614</c:v>
                </c:pt>
                <c:pt idx="3">
                  <c:v>0.04674912766315752</c:v>
                </c:pt>
                <c:pt idx="4">
                  <c:v>0.04826830822258813</c:v>
                </c:pt>
                <c:pt idx="5">
                  <c:v>0.04875892177435892</c:v>
                </c:pt>
                <c:pt idx="6">
                  <c:v>0.050157600759670386</c:v>
                </c:pt>
                <c:pt idx="7">
                  <c:v>0.05124211492674266</c:v>
                </c:pt>
                <c:pt idx="8">
                  <c:v>0.05229220007263804</c:v>
                </c:pt>
                <c:pt idx="9">
                  <c:v>0.0537253080791264</c:v>
                </c:pt>
                <c:pt idx="10">
                  <c:v>0.054788304107963114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strCache>
                <c:ptCount val="1"/>
                <c:pt idx="0">
                  <c:v>Conservative Scenario</c:v>
                </c:pt>
              </c:strCache>
            </c:strRef>
          </c:tx>
          <c:spPr>
            <a:ln w="28575">
              <a:solidFill>
                <a:srgbClr val="A08000"/>
              </a:solidFill>
            </a:ln>
          </c:spPr>
          <c:marker>
            <c:symbol val="circle"/>
            <c:size val="6"/>
            <c:spPr>
              <a:solidFill>
                <a:srgbClr val="A08000"/>
              </a:solidFill>
              <a:ln>
                <a:solidFill>
                  <a:srgbClr val="A08000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0.0342144380942096</c:v>
                </c:pt>
                <c:pt idx="1">
                  <c:v>0.0375544380942096</c:v>
                </c:pt>
                <c:pt idx="2">
                  <c:v>0.0397244380942096</c:v>
                </c:pt>
                <c:pt idx="3">
                  <c:v>0.040824438094209596</c:v>
                </c:pt>
                <c:pt idx="4">
                  <c:v>0.040824438094209596</c:v>
                </c:pt>
                <c:pt idx="5">
                  <c:v>0.039554438094209596</c:v>
                </c:pt>
                <c:pt idx="6">
                  <c:v>0.0372144380942096</c:v>
                </c:pt>
                <c:pt idx="7">
                  <c:v>0.035794438094209596</c:v>
                </c:pt>
                <c:pt idx="8">
                  <c:v>0.034524438094209596</c:v>
                </c:pt>
                <c:pt idx="9">
                  <c:v>0.0333044380942096</c:v>
                </c:pt>
                <c:pt idx="10">
                  <c:v>0.0321244380942096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2140495176"/>
        <c:scaling>
          <c:min val="0.0"/>
        </c:scaling>
        <c:delete val="0"/>
        <c:axPos val="l"/>
        <c:numFmt formatCode="0.00%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21.93168165716126</c:v>
                </c:pt>
                <c:pt idx="1">
                  <c:v>25.520202115708297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27.99086394517993</c:v>
                </c:pt>
                <c:pt idx="1">
                  <c:v>23.517177668784594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21.255378871338436</c:v>
                </c:pt>
                <c:pt idx="1">
                  <c:v>21.738692297877236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9.48547133912361</c:v>
                </c:pt>
                <c:pt idx="1">
                  <c:v>10.083008345482588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8.761792150577614</c:v>
                </c:pt>
                <c:pt idx="1">
                  <c:v>8.687066669988099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6.7517964160333</c:v>
                </c:pt>
                <c:pt idx="1">
                  <c:v>6.741032322026322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3.823015620585853</c:v>
                </c:pt>
                <c:pt idx="1">
                  <c:v>3.7128205801328593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39.60093023861745</c:v>
                </c:pt>
                <c:pt idx="1">
                  <c:v>36.79292828395065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14.400340770673465</c:v>
                </c:pt>
                <c:pt idx="1">
                  <c:v>15.899413893160427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15.600359229390756</c:v>
                </c:pt>
                <c:pt idx="1">
                  <c:v>15.307603947698913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9.600230238553232</c:v>
                </c:pt>
                <c:pt idx="1">
                  <c:v>10.450130030250694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8.400202605523175</c:v>
                </c:pt>
                <c:pt idx="1">
                  <c:v>8.340510586897496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7.373092419549764</c:v>
                </c:pt>
                <c:pt idx="1">
                  <c:v>7.89159951099812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5.024844497692156</c:v>
                </c:pt>
                <c:pt idx="1">
                  <c:v>5.317813747043697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675781.745</c:v>
                </c:pt>
                <c:pt idx="1">
                  <c:v>688909.276</c:v>
                </c:pt>
                <c:pt idx="2">
                  <c:v>702303.837</c:v>
                </c:pt>
                <c:pt idx="3">
                  <c:v>715971.13</c:v>
                </c:pt>
                <c:pt idx="4">
                  <c:v>729916.983</c:v>
                </c:pt>
                <c:pt idx="5">
                  <c:v>744147.359</c:v>
                </c:pt>
                <c:pt idx="6">
                  <c:v>764537.754</c:v>
                </c:pt>
                <c:pt idx="7">
                  <c:v>785500.335</c:v>
                </c:pt>
                <c:pt idx="8">
                  <c:v>807051.572</c:v>
                </c:pt>
                <c:pt idx="9">
                  <c:v>829208.418</c:v>
                </c:pt>
                <c:pt idx="10">
                  <c:v>851988.334</c:v>
                </c:pt>
                <c:pt idx="11">
                  <c:v>875409.291</c:v>
                </c:pt>
                <c:pt idx="12">
                  <c:v>899489.792</c:v>
                </c:pt>
                <c:pt idx="13">
                  <c:v>924248.892</c:v>
                </c:pt>
                <c:pt idx="14">
                  <c:v>949706.211</c:v>
                </c:pt>
                <c:pt idx="15">
                  <c:v>975881.949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465061.54</c:v>
                </c:pt>
                <c:pt idx="1">
                  <c:v>483517.996</c:v>
                </c:pt>
                <c:pt idx="2">
                  <c:v>502717.377</c:v>
                </c:pt>
                <c:pt idx="3">
                  <c:v>522689.949</c:v>
                </c:pt>
                <c:pt idx="4">
                  <c:v>543467.228</c:v>
                </c:pt>
                <c:pt idx="5">
                  <c:v>565082.024</c:v>
                </c:pt>
                <c:pt idx="6">
                  <c:v>592087.691</c:v>
                </c:pt>
                <c:pt idx="7">
                  <c:v>620396.463</c:v>
                </c:pt>
                <c:pt idx="8">
                  <c:v>650071.749</c:v>
                </c:pt>
                <c:pt idx="9">
                  <c:v>681180.074</c:v>
                </c:pt>
                <c:pt idx="10">
                  <c:v>713791.217</c:v>
                </c:pt>
                <c:pt idx="11">
                  <c:v>747978.386</c:v>
                </c:pt>
                <c:pt idx="12">
                  <c:v>783818.378</c:v>
                </c:pt>
                <c:pt idx="13">
                  <c:v>821391.76</c:v>
                </c:pt>
                <c:pt idx="14">
                  <c:v>860783.052</c:v>
                </c:pt>
                <c:pt idx="15">
                  <c:v>902080.926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450410.342</c:v>
                </c:pt>
                <c:pt idx="1">
                  <c:v>474211.194</c:v>
                </c:pt>
                <c:pt idx="2">
                  <c:v>499303.191</c:v>
                </c:pt>
                <c:pt idx="3">
                  <c:v>525757.868</c:v>
                </c:pt>
                <c:pt idx="4">
                  <c:v>553650.791</c:v>
                </c:pt>
                <c:pt idx="5">
                  <c:v>583061.781</c:v>
                </c:pt>
                <c:pt idx="6">
                  <c:v>618743.574</c:v>
                </c:pt>
                <c:pt idx="7">
                  <c:v>656650.801</c:v>
                </c:pt>
                <c:pt idx="8">
                  <c:v>696924.458</c:v>
                </c:pt>
                <c:pt idx="9">
                  <c:v>739714.596</c:v>
                </c:pt>
                <c:pt idx="10">
                  <c:v>785180.898</c:v>
                </c:pt>
                <c:pt idx="11">
                  <c:v>833493.309</c:v>
                </c:pt>
                <c:pt idx="12">
                  <c:v>884832.697</c:v>
                </c:pt>
                <c:pt idx="13">
                  <c:v>939391.571</c:v>
                </c:pt>
                <c:pt idx="14">
                  <c:v>997374.83</c:v>
                </c:pt>
                <c:pt idx="15">
                  <c:v>1059000.571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203541.364</c:v>
                </c:pt>
                <c:pt idx="1">
                  <c:v>212440.846</c:v>
                </c:pt>
                <c:pt idx="2">
                  <c:v>221735.753</c:v>
                </c:pt>
                <c:pt idx="3">
                  <c:v>231443.848</c:v>
                </c:pt>
                <c:pt idx="4">
                  <c:v>241583.704</c:v>
                </c:pt>
                <c:pt idx="5">
                  <c:v>252174.726</c:v>
                </c:pt>
                <c:pt idx="6">
                  <c:v>265241.576</c:v>
                </c:pt>
                <c:pt idx="7">
                  <c:v>278992.875</c:v>
                </c:pt>
                <c:pt idx="8">
                  <c:v>293464.761</c:v>
                </c:pt>
                <c:pt idx="9">
                  <c:v>308695.293</c:v>
                </c:pt>
                <c:pt idx="10">
                  <c:v>324724.552</c:v>
                </c:pt>
                <c:pt idx="11">
                  <c:v>341594.745</c:v>
                </c:pt>
                <c:pt idx="12">
                  <c:v>359350.328</c:v>
                </c:pt>
                <c:pt idx="13">
                  <c:v>378038.115</c:v>
                </c:pt>
                <c:pt idx="14">
                  <c:v>397707.414</c:v>
                </c:pt>
                <c:pt idx="15">
                  <c:v>418410.15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195003.22</c:v>
                </c:pt>
                <c:pt idx="1">
                  <c:v>202035.576</c:v>
                </c:pt>
                <c:pt idx="2">
                  <c:v>209334.161</c:v>
                </c:pt>
                <c:pt idx="3">
                  <c:v>216909.569</c:v>
                </c:pt>
                <c:pt idx="4">
                  <c:v>224772.832</c:v>
                </c:pt>
                <c:pt idx="5">
                  <c:v>232935.45</c:v>
                </c:pt>
                <c:pt idx="6">
                  <c:v>243264.779</c:v>
                </c:pt>
                <c:pt idx="7">
                  <c:v>254067.702</c:v>
                </c:pt>
                <c:pt idx="8">
                  <c:v>265366.689</c:v>
                </c:pt>
                <c:pt idx="9">
                  <c:v>277185.318</c:v>
                </c:pt>
                <c:pt idx="10">
                  <c:v>289548.32</c:v>
                </c:pt>
                <c:pt idx="11">
                  <c:v>302481.647</c:v>
                </c:pt>
                <c:pt idx="12">
                  <c:v>316012.53</c:v>
                </c:pt>
                <c:pt idx="13">
                  <c:v>330169.541</c:v>
                </c:pt>
                <c:pt idx="14">
                  <c:v>344982.666</c:v>
                </c:pt>
                <c:pt idx="15">
                  <c:v>360483.374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149560.806</c:v>
                </c:pt>
                <c:pt idx="1">
                  <c:v>155107.299</c:v>
                </c:pt>
                <c:pt idx="2">
                  <c:v>160865.955</c:v>
                </c:pt>
                <c:pt idx="3">
                  <c:v>166845.02</c:v>
                </c:pt>
                <c:pt idx="4">
                  <c:v>173053.059</c:v>
                </c:pt>
                <c:pt idx="5">
                  <c:v>179498.978</c:v>
                </c:pt>
                <c:pt idx="6">
                  <c:v>187612.16</c:v>
                </c:pt>
                <c:pt idx="7">
                  <c:v>196099.234</c:v>
                </c:pt>
                <c:pt idx="8">
                  <c:v>204977.63</c:v>
                </c:pt>
                <c:pt idx="9">
                  <c:v>214265.599</c:v>
                </c:pt>
                <c:pt idx="10">
                  <c:v>223982.247</c:v>
                </c:pt>
                <c:pt idx="11">
                  <c:v>234147.578</c:v>
                </c:pt>
                <c:pt idx="12">
                  <c:v>244782.537</c:v>
                </c:pt>
                <c:pt idx="13">
                  <c:v>255909.049</c:v>
                </c:pt>
                <c:pt idx="14">
                  <c:v>267550.073</c:v>
                </c:pt>
                <c:pt idx="15">
                  <c:v>279729.645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layout>
                <c:manualLayout>
                  <c:x val="0"/>
                  <c:y val="-0.0830"/>
                </c:manualLayout>
              </c:layout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6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7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8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9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86143.331</c:v>
                </c:pt>
                <c:pt idx="1">
                  <c:v>89017.611</c:v>
                </c:pt>
                <c:pt idx="2">
                  <c:v>91999.664</c:v>
                </c:pt>
                <c:pt idx="3">
                  <c:v>95093.78</c:v>
                </c:pt>
                <c:pt idx="4">
                  <c:v>98304.432</c:v>
                </c:pt>
                <c:pt idx="5">
                  <c:v>101636.269</c:v>
                </c:pt>
                <c:pt idx="6">
                  <c:v>105896.945</c:v>
                </c:pt>
                <c:pt idx="7">
                  <c:v>110349.666</c:v>
                </c:pt>
                <c:pt idx="8">
                  <c:v>115003.484</c:v>
                </c:pt>
                <c:pt idx="9">
                  <c:v>119867.895</c:v>
                </c:pt>
                <c:pt idx="10">
                  <c:v>124952.849</c:v>
                </c:pt>
                <c:pt idx="11">
                  <c:v>130268.782</c:v>
                </c:pt>
                <c:pt idx="12">
                  <c:v>135826.639</c:v>
                </c:pt>
                <c:pt idx="13">
                  <c:v>141637.887</c:v>
                </c:pt>
                <c:pt idx="14">
                  <c:v>147714.562</c:v>
                </c:pt>
                <c:pt idx="15">
                  <c:v>154069.278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,,&quot;M&quot;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3650.6</c:v>
                </c:pt>
                <c:pt idx="1">
                  <c:v>3774.844</c:v>
                </c:pt>
                <c:pt idx="2">
                  <c:v>3903.403</c:v>
                </c:pt>
                <c:pt idx="3">
                  <c:v>4036.426</c:v>
                </c:pt>
                <c:pt idx="4">
                  <c:v>4174.07</c:v>
                </c:pt>
                <c:pt idx="5">
                  <c:v>4316.501</c:v>
                </c:pt>
                <c:pt idx="6">
                  <c:v>4498.421</c:v>
                </c:pt>
                <c:pt idx="7">
                  <c:v>4688.108</c:v>
                </c:pt>
                <c:pt idx="8">
                  <c:v>4885.898</c:v>
                </c:pt>
                <c:pt idx="9">
                  <c:v>5092.141</c:v>
                </c:pt>
                <c:pt idx="10">
                  <c:v>5307.203</c:v>
                </c:pt>
                <c:pt idx="11">
                  <c:v>5531.469</c:v>
                </c:pt>
                <c:pt idx="12">
                  <c:v>5765.335</c:v>
                </c:pt>
                <c:pt idx="13">
                  <c:v>6009.219</c:v>
                </c:pt>
                <c:pt idx="14">
                  <c:v>6263.557</c:v>
                </c:pt>
                <c:pt idx="15">
                  <c:v>6528.801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1398.599</c:v>
                </c:pt>
                <c:pt idx="1">
                  <c:v>1454.306</c:v>
                </c:pt>
                <c:pt idx="2">
                  <c:v>1512.252</c:v>
                </c:pt>
                <c:pt idx="3">
                  <c:v>1572.527</c:v>
                </c:pt>
                <c:pt idx="4">
                  <c:v>1635.222</c:v>
                </c:pt>
                <c:pt idx="5">
                  <c:v>1700.439</c:v>
                </c:pt>
                <c:pt idx="6">
                  <c:v>1781.884</c:v>
                </c:pt>
                <c:pt idx="7">
                  <c:v>1867.25</c:v>
                </c:pt>
                <c:pt idx="8">
                  <c:v>1956.73</c:v>
                </c:pt>
                <c:pt idx="9">
                  <c:v>2050.524</c:v>
                </c:pt>
                <c:pt idx="10">
                  <c:v>2148.839</c:v>
                </c:pt>
                <c:pt idx="11">
                  <c:v>2251.894</c:v>
                </c:pt>
                <c:pt idx="12">
                  <c:v>2359.921</c:v>
                </c:pt>
                <c:pt idx="13">
                  <c:v>2473.158</c:v>
                </c:pt>
                <c:pt idx="14">
                  <c:v>2591.86</c:v>
                </c:pt>
                <c:pt idx="15">
                  <c:v>2716.291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1219.484</c:v>
                </c:pt>
                <c:pt idx="1">
                  <c:v>1282.422</c:v>
                </c:pt>
                <c:pt idx="2">
                  <c:v>1348.718</c:v>
                </c:pt>
                <c:pt idx="3">
                  <c:v>1418.554</c:v>
                </c:pt>
                <c:pt idx="4">
                  <c:v>1492.127</c:v>
                </c:pt>
                <c:pt idx="5">
                  <c:v>1569.637</c:v>
                </c:pt>
                <c:pt idx="6">
                  <c:v>1663.861</c:v>
                </c:pt>
                <c:pt idx="7">
                  <c:v>1763.876</c:v>
                </c:pt>
                <c:pt idx="8">
                  <c:v>1870.046</c:v>
                </c:pt>
                <c:pt idx="9">
                  <c:v>1982.757</c:v>
                </c:pt>
                <c:pt idx="10">
                  <c:v>2102.419</c:v>
                </c:pt>
                <c:pt idx="11">
                  <c:v>2229.471</c:v>
                </c:pt>
                <c:pt idx="12">
                  <c:v>2364.372</c:v>
                </c:pt>
                <c:pt idx="13">
                  <c:v>2507.624</c:v>
                </c:pt>
                <c:pt idx="14">
                  <c:v>2659.748</c:v>
                </c:pt>
                <c:pt idx="15">
                  <c:v>2821.306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817.319</c:v>
                </c:pt>
                <c:pt idx="1">
                  <c:v>858.676</c:v>
                </c:pt>
                <c:pt idx="2">
                  <c:v>902.151</c:v>
                </c:pt>
                <c:pt idx="3">
                  <c:v>947.857</c:v>
                </c:pt>
                <c:pt idx="4">
                  <c:v>995.908</c:v>
                </c:pt>
                <c:pt idx="5">
                  <c:v>1046.425</c:v>
                </c:pt>
                <c:pt idx="6">
                  <c:v>1107.907</c:v>
                </c:pt>
                <c:pt idx="7">
                  <c:v>1173.034</c:v>
                </c:pt>
                <c:pt idx="8">
                  <c:v>1242.024</c:v>
                </c:pt>
                <c:pt idx="9">
                  <c:v>1315.108</c:v>
                </c:pt>
                <c:pt idx="10">
                  <c:v>1392.529</c:v>
                </c:pt>
                <c:pt idx="11">
                  <c:v>1474.549</c:v>
                </c:pt>
                <c:pt idx="12">
                  <c:v>1561.44</c:v>
                </c:pt>
                <c:pt idx="13">
                  <c:v>1653.494</c:v>
                </c:pt>
                <c:pt idx="14">
                  <c:v>1751.02</c:v>
                </c:pt>
                <c:pt idx="15">
                  <c:v>1854.346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749.887</c:v>
                </c:pt>
                <c:pt idx="1">
                  <c:v>780.353</c:v>
                </c:pt>
                <c:pt idx="2">
                  <c:v>812.102</c:v>
                </c:pt>
                <c:pt idx="3">
                  <c:v>845.191</c:v>
                </c:pt>
                <c:pt idx="4">
                  <c:v>879.677</c:v>
                </c:pt>
                <c:pt idx="5">
                  <c:v>915.622</c:v>
                </c:pt>
                <c:pt idx="6">
                  <c:v>960.414</c:v>
                </c:pt>
                <c:pt idx="7">
                  <c:v>1007.457</c:v>
                </c:pt>
                <c:pt idx="8">
                  <c:v>1056.861</c:v>
                </c:pt>
                <c:pt idx="9">
                  <c:v>1108.752</c:v>
                </c:pt>
                <c:pt idx="10">
                  <c:v>1163.258</c:v>
                </c:pt>
                <c:pt idx="11">
                  <c:v>1220.515</c:v>
                </c:pt>
                <c:pt idx="12">
                  <c:v>1280.664</c:v>
                </c:pt>
                <c:pt idx="13">
                  <c:v>1343.852</c:v>
                </c:pt>
                <c:pt idx="14">
                  <c:v>1410.243</c:v>
                </c:pt>
                <c:pt idx="15">
                  <c:v>1480.0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633.212</c:v>
                </c:pt>
                <c:pt idx="1">
                  <c:v>664.083</c:v>
                </c:pt>
                <c:pt idx="2">
                  <c:v>696.485</c:v>
                </c:pt>
                <c:pt idx="3">
                  <c:v>730.495</c:v>
                </c:pt>
                <c:pt idx="4">
                  <c:v>766.195</c:v>
                </c:pt>
                <c:pt idx="5">
                  <c:v>803.667</c:v>
                </c:pt>
                <c:pt idx="6">
                  <c:v>849.431</c:v>
                </c:pt>
                <c:pt idx="7">
                  <c:v>897.831</c:v>
                </c:pt>
                <c:pt idx="8">
                  <c:v>949.021</c:v>
                </c:pt>
                <c:pt idx="9">
                  <c:v>1003.164</c:v>
                </c:pt>
                <c:pt idx="10">
                  <c:v>1060.428</c:v>
                </c:pt>
                <c:pt idx="11">
                  <c:v>1120.998</c:v>
                </c:pt>
                <c:pt idx="12">
                  <c:v>1185.064</c:v>
                </c:pt>
                <c:pt idx="13">
                  <c:v>1252.833</c:v>
                </c:pt>
                <c:pt idx="14">
                  <c:v>1324.515</c:v>
                </c:pt>
                <c:pt idx="15">
                  <c:v>1400.342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layout>
                <c:manualLayout>
                  <c:x val="0"/>
                  <c:y val="-0.0830"/>
                </c:manualLayout>
              </c:layout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6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7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8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9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435.462</c:v>
                </c:pt>
                <c:pt idx="1">
                  <c:v>455.784</c:v>
                </c:pt>
                <c:pt idx="2">
                  <c:v>477.113</c:v>
                </c:pt>
                <c:pt idx="3">
                  <c:v>499.509</c:v>
                </c:pt>
                <c:pt idx="4">
                  <c:v>523.021</c:v>
                </c:pt>
                <c:pt idx="5">
                  <c:v>547.708</c:v>
                </c:pt>
                <c:pt idx="6">
                  <c:v>578.016</c:v>
                </c:pt>
                <c:pt idx="7">
                  <c:v>610.076</c:v>
                </c:pt>
                <c:pt idx="8">
                  <c:v>643.992</c:v>
                </c:pt>
                <c:pt idx="9">
                  <c:v>679.877</c:v>
                </c:pt>
                <c:pt idx="10">
                  <c:v>717.848</c:v>
                </c:pt>
                <c:pt idx="11">
                  <c:v>758.027</c:v>
                </c:pt>
                <c:pt idx="12">
                  <c:v>800.549</c:v>
                </c:pt>
                <c:pt idx="13">
                  <c:v>845.557</c:v>
                </c:pt>
                <c:pt idx="14">
                  <c:v>893.197</c:v>
                </c:pt>
                <c:pt idx="15">
                  <c:v>943.631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68.90585408915138</c:v>
                </c:pt>
                <c:pt idx="1">
                  <c:v>73.47540815029473</c:v>
                </c:pt>
                <c:pt idx="2">
                  <c:v>70.56162162162161</c:v>
                </c:pt>
                <c:pt idx="3">
                  <c:v>69.0557749201066</c:v>
                </c:pt>
                <c:pt idx="4">
                  <c:v>73.15858278807387</c:v>
                </c:pt>
                <c:pt idx="5">
                  <c:v>69.08846470393499</c:v>
                </c:pt>
                <c:pt idx="6">
                  <c:v>73.86457329607687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31.094145910848624</c:v>
                </c:pt>
                <c:pt idx="1">
                  <c:v>26.52459184970529</c:v>
                </c:pt>
                <c:pt idx="2">
                  <c:v>29.438378378378378</c:v>
                </c:pt>
                <c:pt idx="3">
                  <c:v>30.944225079893396</c:v>
                </c:pt>
                <c:pt idx="4">
                  <c:v>26.841417211926117</c:v>
                </c:pt>
                <c:pt idx="5">
                  <c:v>30.91153529606501</c:v>
                </c:pt>
                <c:pt idx="6">
                  <c:v>26.135426703923127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113.26361935576072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135.08146193407907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12762.837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69.71483425113396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64.91853806592093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4981.88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25.0"/>
          <c:min val="5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75.0"/>
          <c:min val="25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7361.939</c:v>
                </c:pt>
                <c:pt idx="2">
                  <c:v>8220.416</c:v>
                </c:pt>
                <c:pt idx="3">
                  <c:v>9177.543</c:v>
                </c:pt>
                <c:pt idx="4">
                  <c:v>10244.823</c:v>
                </c:pt>
                <c:pt idx="5">
                  <c:v>11435.116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7361.939</c:v>
                </c:pt>
                <c:pt idx="1">
                  <c:v>858.476999999999</c:v>
                </c:pt>
                <c:pt idx="2">
                  <c:v>957.1270000000004</c:v>
                </c:pt>
                <c:pt idx="3">
                  <c:v>1067.2800000000007</c:v>
                </c:pt>
                <c:pt idx="4">
                  <c:v>1190.2929999999997</c:v>
                </c:pt>
                <c:pt idx="5">
                  <c:v>1327.7209999999995</c:v>
                </c:pt>
                <c:pt idx="6">
                  <c:v>12762.837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3538.06</c:v>
                </c:pt>
                <c:pt idx="2">
                  <c:v>3787.216</c:v>
                </c:pt>
                <c:pt idx="3">
                  <c:v>4054.78</c:v>
                </c:pt>
                <c:pt idx="4">
                  <c:v>4342.1</c:v>
                </c:pt>
                <c:pt idx="5">
                  <c:v>4650.621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3538.06</c:v>
                </c:pt>
                <c:pt idx="1">
                  <c:v>249.15599999999995</c:v>
                </c:pt>
                <c:pt idx="2">
                  <c:v>267.5640000000003</c:v>
                </c:pt>
                <c:pt idx="3">
                  <c:v>287.32000000000016</c:v>
                </c:pt>
                <c:pt idx="4">
                  <c:v>308.52099999999973</c:v>
                </c:pt>
                <c:pt idx="5">
                  <c:v>331.259</c:v>
                </c:pt>
                <c:pt idx="6">
                  <c:v>4981.88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65.14031064747367</c:v>
                </c:pt>
                <c:pt idx="1">
                  <c:v>67.54073096703954</c:v>
                </c:pt>
                <c:pt idx="2">
                  <c:v>71.92471426847776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34.85968935252634</c:v>
                </c:pt>
                <c:pt idx="1">
                  <c:v>32.459269032960464</c:v>
                </c:pt>
                <c:pt idx="2">
                  <c:v>28.075285731522232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85.29234414723551</c:v>
                </c:pt>
                <c:pt idx="1">
                  <c:v>86.6443340269734</c:v>
                </c:pt>
                <c:pt idx="2">
                  <c:v>87.4914864864865</c:v>
                </c:pt>
                <c:pt idx="3">
                  <c:v>88.15625562866907</c:v>
                </c:pt>
                <c:pt idx="4">
                  <c:v>88.0576491988524</c:v>
                </c:pt>
                <c:pt idx="5">
                  <c:v>82.28791914099357</c:v>
                </c:pt>
                <c:pt idx="6">
                  <c:v>86.99945058824737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14.707655852764479</c:v>
                </c:pt>
                <c:pt idx="1">
                  <c:v>13.35566597302659</c:v>
                </c:pt>
                <c:pt idx="2">
                  <c:v>12.508513513513513</c:v>
                </c:pt>
                <c:pt idx="3">
                  <c:v>11.843744371330917</c:v>
                </c:pt>
                <c:pt idx="4">
                  <c:v>11.942350801147594</c:v>
                </c:pt>
                <c:pt idx="5">
                  <c:v>17.71208085900643</c:v>
                </c:pt>
                <c:pt idx="6">
                  <c:v>13.000549411752631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100.47300617256806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172.5223644515931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15341.275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97.00806535256557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27.47763554840693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2403.442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10.0"/>
          <c:min val="9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2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9402.468</c:v>
                </c:pt>
                <c:pt idx="2">
                  <c:v>10363.004</c:v>
                </c:pt>
                <c:pt idx="3">
                  <c:v>11425.318</c:v>
                </c:pt>
                <c:pt idx="4">
                  <c:v>12600.596</c:v>
                </c:pt>
                <c:pt idx="5">
                  <c:v>13901.285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9402.468</c:v>
                </c:pt>
                <c:pt idx="1">
                  <c:v>960.5360000000001</c:v>
                </c:pt>
                <c:pt idx="2">
                  <c:v>1062.3139999999985</c:v>
                </c:pt>
                <c:pt idx="3">
                  <c:v>1175.2780000000002</c:v>
                </c:pt>
                <c:pt idx="4">
                  <c:v>1300.6890000000003</c:v>
                </c:pt>
                <c:pt idx="5">
                  <c:v>1439.9899999999998</c:v>
                </c:pt>
                <c:pt idx="6">
                  <c:v>15341.275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1497.531</c:v>
                </c:pt>
                <c:pt idx="2">
                  <c:v>1644.628</c:v>
                </c:pt>
                <c:pt idx="3">
                  <c:v>1807.005</c:v>
                </c:pt>
                <c:pt idx="4">
                  <c:v>1986.327</c:v>
                </c:pt>
                <c:pt idx="5">
                  <c:v>2184.452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1497.531</c:v>
                </c:pt>
                <c:pt idx="1">
                  <c:v>147.09699999999998</c:v>
                </c:pt>
                <c:pt idx="2">
                  <c:v>162.37700000000018</c:v>
                </c:pt>
                <c:pt idx="3">
                  <c:v>179.3219999999999</c:v>
                </c:pt>
                <c:pt idx="4">
                  <c:v>198.12500000000023</c:v>
                </c:pt>
                <c:pt idx="5">
                  <c:v>218.98999999999978</c:v>
                </c:pt>
                <c:pt idx="6">
                  <c:v>2403.442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86.14756277203047</c:v>
                </c:pt>
                <c:pt idx="1">
                  <c:v>86.26118222579655</c:v>
                </c:pt>
                <c:pt idx="2">
                  <c:v>86.45545037432831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13.852437227969524</c:v>
                </c:pt>
                <c:pt idx="1">
                  <c:v>13.738817774203465</c:v>
                </c:pt>
                <c:pt idx="2">
                  <c:v>13.544549625671683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14.395669493689804</c:v>
                </c:pt>
                <c:pt idx="1">
                  <c:v>16.2892350582929</c:v>
                </c:pt>
                <c:pt idx="2">
                  <c:v>17.322094594594596</c:v>
                </c:pt>
                <c:pt idx="3">
                  <c:v>15.051829593829847</c:v>
                </c:pt>
                <c:pt idx="4">
                  <c:v>16.93176467469796</c:v>
                </c:pt>
                <c:pt idx="5">
                  <c:v>16.123986550909397</c:v>
                </c:pt>
                <c:pt idx="6">
                  <c:v>14.869621543067401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25.56200463952541</c:v>
                </c:pt>
                <c:pt idx="1">
                  <c:v>23.174624484590193</c:v>
                </c:pt>
                <c:pt idx="2">
                  <c:v>24.99831081081081</c:v>
                </c:pt>
                <c:pt idx="3">
                  <c:v>25.021597911069453</c:v>
                </c:pt>
                <c:pt idx="4">
                  <c:v>25.864938624028134</c:v>
                </c:pt>
                <c:pt idx="5">
                  <c:v>24.62384441815244</c:v>
                </c:pt>
                <c:pt idx="6">
                  <c:v>28.32922921069274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47.33110718066702</c:v>
                </c:pt>
                <c:pt idx="1">
                  <c:v>50.779738092551675</c:v>
                </c:pt>
                <c:pt idx="2">
                  <c:v>46.13398648648649</c:v>
                </c:pt>
                <c:pt idx="3">
                  <c:v>47.795341322493215</c:v>
                </c:pt>
                <c:pt idx="4">
                  <c:v>47.46015798749102</c:v>
                </c:pt>
                <c:pt idx="5">
                  <c:v>48.02254700482684</c:v>
                </c:pt>
                <c:pt idx="6">
                  <c:v>46.5176684049644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12.711218686117773</c:v>
                </c:pt>
                <c:pt idx="1">
                  <c:v>9.756402364565227</c:v>
                </c:pt>
                <c:pt idx="2">
                  <c:v>11.545608108108107</c:v>
                </c:pt>
                <c:pt idx="3">
                  <c:v>12.131231172607485</c:v>
                </c:pt>
                <c:pt idx="4">
                  <c:v>9.743138713782875</c:v>
                </c:pt>
                <c:pt idx="5">
                  <c:v>11.22962202611131</c:v>
                </c:pt>
                <c:pt idx="6">
                  <c:v>10.28348084127545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156.7236750341338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48.106609918037606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2785.058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129.1270119602589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91.27799002550367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4646.537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0E2A5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72.87249111850856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215.81315741405115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8407.86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91.13349322815321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44.802242642407585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1905.262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80.0"/>
          <c:min val="5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7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1310.905</c:v>
                </c:pt>
                <c:pt idx="2">
                  <c:v>1525.551</c:v>
                </c:pt>
                <c:pt idx="3">
                  <c:v>1774.343</c:v>
                </c:pt>
                <c:pt idx="4">
                  <c:v>2062.755</c:v>
                </c:pt>
                <c:pt idx="5">
                  <c:v>2397.18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1310.905</c:v>
                </c:pt>
                <c:pt idx="1">
                  <c:v>214.64599999999996</c:v>
                </c:pt>
                <c:pt idx="2">
                  <c:v>248.79200000000014</c:v>
                </c:pt>
                <c:pt idx="3">
                  <c:v>288.41200000000003</c:v>
                </c:pt>
                <c:pt idx="4">
                  <c:v>334.4249999999997</c:v>
                </c:pt>
                <c:pt idx="5">
                  <c:v>387.87800000000016</c:v>
                </c:pt>
                <c:pt idx="6">
                  <c:v>2785.058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2487.325</c:v>
                </c:pt>
                <c:pt idx="2">
                  <c:v>2814.933</c:v>
                </c:pt>
                <c:pt idx="3">
                  <c:v>3187.619</c:v>
                </c:pt>
                <c:pt idx="4">
                  <c:v>3611.907</c:v>
                </c:pt>
                <c:pt idx="5">
                  <c:v>4095.319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2487.325</c:v>
                </c:pt>
                <c:pt idx="1">
                  <c:v>327.6080000000002</c:v>
                </c:pt>
                <c:pt idx="2">
                  <c:v>372.68600000000015</c:v>
                </c:pt>
                <c:pt idx="3">
                  <c:v>424.288</c:v>
                </c:pt>
                <c:pt idx="4">
                  <c:v>483.4119999999998</c:v>
                </c:pt>
                <c:pt idx="5">
                  <c:v>551.2180000000003</c:v>
                </c:pt>
                <c:pt idx="6">
                  <c:v>4646.537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5880.908</c:v>
                </c:pt>
                <c:pt idx="2">
                  <c:v>6332.517</c:v>
                </c:pt>
                <c:pt idx="3">
                  <c:v>6811.379</c:v>
                </c:pt>
                <c:pt idx="4">
                  <c:v>7317.415</c:v>
                </c:pt>
                <c:pt idx="5">
                  <c:v>7849.996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5880.908</c:v>
                </c:pt>
                <c:pt idx="1">
                  <c:v>451.60899999999947</c:v>
                </c:pt>
                <c:pt idx="2">
                  <c:v>478.8620000000001</c:v>
                </c:pt>
                <c:pt idx="3">
                  <c:v>506.03600000000006</c:v>
                </c:pt>
                <c:pt idx="4">
                  <c:v>532.5810000000001</c:v>
                </c:pt>
                <c:pt idx="5">
                  <c:v>557.8640000000005</c:v>
                </c:pt>
                <c:pt idx="6">
                  <c:v>8407.86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1220.861</c:v>
                </c:pt>
                <c:pt idx="2">
                  <c:v>1334.631</c:v>
                </c:pt>
                <c:pt idx="3">
                  <c:v>1458.982</c:v>
                </c:pt>
                <c:pt idx="4">
                  <c:v>1594.846</c:v>
                </c:pt>
                <c:pt idx="5">
                  <c:v>1743.242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1220.861</c:v>
                </c:pt>
                <c:pt idx="1">
                  <c:v>113.76999999999998</c:v>
                </c:pt>
                <c:pt idx="2">
                  <c:v>124.35099999999989</c:v>
                </c:pt>
                <c:pt idx="3">
                  <c:v>135.86400000000003</c:v>
                </c:pt>
                <c:pt idx="4">
                  <c:v>148.39599999999996</c:v>
                </c:pt>
                <c:pt idx="5">
                  <c:v>162.01999999999998</c:v>
                </c:pt>
                <c:pt idx="6">
                  <c:v>1905.262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56.80693145750105</c:v>
                </c:pt>
                <c:pt idx="1">
                  <c:v>53.95328935351279</c:v>
                </c:pt>
                <c:pt idx="2">
                  <c:v>47.382327934562156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21.355668998018206</c:v>
                </c:pt>
                <c:pt idx="1">
                  <c:v>22.819497506375917</c:v>
                </c:pt>
                <c:pt idx="2">
                  <c:v>26.185466919534417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10.43596412311306</c:v>
                </c:pt>
                <c:pt idx="1">
                  <c:v>12.026652479509401</c:v>
                </c:pt>
                <c:pt idx="2">
                  <c:v>15.695139009542952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11.401435421367674</c:v>
                </c:pt>
                <c:pt idx="1">
                  <c:v>11.200560660601896</c:v>
                </c:pt>
                <c:pt idx="2">
                  <c:v>10.737066136360472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27.451408442495</c:v>
                </c:pt>
                <c:pt idx="1">
                  <c:v>26.731398472658825</c:v>
                </c:pt>
                <c:pt idx="2">
                  <c:v>26.09033783783784</c:v>
                </c:pt>
                <c:pt idx="3">
                  <c:v>24.881818172013205</c:v>
                </c:pt>
                <c:pt idx="4">
                  <c:v>24.96915831183036</c:v>
                </c:pt>
                <c:pt idx="5">
                  <c:v>27.700079324965106</c:v>
                </c:pt>
                <c:pt idx="6">
                  <c:v>23.564587127100367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32.96786561696256</c:v>
                </c:pt>
                <c:pt idx="1">
                  <c:v>32.73557459534885</c:v>
                </c:pt>
                <c:pt idx="2">
                  <c:v>32.45243243243243</c:v>
                </c:pt>
                <c:pt idx="3">
                  <c:v>33.179514502687205</c:v>
                </c:pt>
                <c:pt idx="4">
                  <c:v>33.465486577100904</c:v>
                </c:pt>
                <c:pt idx="5">
                  <c:v>31.14036549030839</c:v>
                </c:pt>
                <c:pt idx="6">
                  <c:v>32.51921754086241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3.3703852459276975</c:v>
                </c:pt>
                <c:pt idx="1">
                  <c:v>3.1806515836845572</c:v>
                </c:pt>
                <c:pt idx="2">
                  <c:v>3.503243243243243</c:v>
                </c:pt>
                <c:pt idx="3">
                  <c:v>3.7364116513315206</c:v>
                </c:pt>
                <c:pt idx="4">
                  <c:v>4.209269183603672</c:v>
                </c:pt>
                <c:pt idx="5">
                  <c:v>4.105439112240926</c:v>
                </c:pt>
                <c:pt idx="6">
                  <c:v>2.9501282088395713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11.787764496927295</c:v>
                </c:pt>
                <c:pt idx="1">
                  <c:v>12.381118326808735</c:v>
                </c:pt>
                <c:pt idx="2">
                  <c:v>12.503040540540539</c:v>
                </c:pt>
                <c:pt idx="3">
                  <c:v>10.750366975742391</c:v>
                </c:pt>
                <c:pt idx="4">
                  <c:v>10.392075075903133</c:v>
                </c:pt>
                <c:pt idx="5">
                  <c:v>12.198535004710585</c:v>
                </c:pt>
                <c:pt idx="6">
                  <c:v>11.768087279731763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3.6905315743124167</c:v>
                </c:pt>
                <c:pt idx="1">
                  <c:v>3.5344223054082504</c:v>
                </c:pt>
                <c:pt idx="2">
                  <c:v>3.1107432432432436</c:v>
                </c:pt>
                <c:pt idx="3">
                  <c:v>3.481443053238177</c:v>
                </c:pt>
                <c:pt idx="4">
                  <c:v>3.2156716640448315</c:v>
                </c:pt>
                <c:pt idx="5">
                  <c:v>3.641859479262441</c:v>
                </c:pt>
                <c:pt idx="6">
                  <c:v>3.230455331691072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3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3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3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3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20.732044623375025</c:v>
                </c:pt>
                <c:pt idx="1">
                  <c:v>21.436834716090786</c:v>
                </c:pt>
                <c:pt idx="2">
                  <c:v>22.3402027027027</c:v>
                </c:pt>
                <c:pt idx="3">
                  <c:v>23.970445644987507</c:v>
                </c:pt>
                <c:pt idx="4">
                  <c:v>23.748339187517093</c:v>
                </c:pt>
                <c:pt idx="5">
                  <c:v>21.213721588512556</c:v>
                </c:pt>
                <c:pt idx="6">
                  <c:v>25.967524511774826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114.53466867011146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141.36920563020234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4479.127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92.23662688552136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202.65530299589938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5775.764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0E2A5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99.50932613697272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21.021414772606864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620.249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87.53262808264265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74.05784165668273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2063.757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67.89375597341446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23.501947110270375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595.921</c:v>
                </c:pt>
              </c:numCache>
            </c:numRef>
          </c:bubbleSize>
          <c:bubble3D val="0"/>
        </c:ser>
        <c:ser>
          <c:idx val="5"/>
          <c:order val="5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79C3E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107.46118627402849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137.39428783433837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4209.899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30.0"/>
          <c:min val="5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2568.207</c:v>
                </c:pt>
                <c:pt idx="2">
                  <c:v>2867.576</c:v>
                </c:pt>
                <c:pt idx="3">
                  <c:v>3203.403</c:v>
                </c:pt>
                <c:pt idx="4">
                  <c:v>3580.318</c:v>
                </c:pt>
                <c:pt idx="5">
                  <c:v>4003.579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2568.207</c:v>
                </c:pt>
                <c:pt idx="1">
                  <c:v>299.36900000000014</c:v>
                </c:pt>
                <c:pt idx="2">
                  <c:v>335.82699999999977</c:v>
                </c:pt>
                <c:pt idx="3">
                  <c:v>376.9150000000004</c:v>
                </c:pt>
                <c:pt idx="4">
                  <c:v>423.26099999999997</c:v>
                </c:pt>
                <c:pt idx="5">
                  <c:v>475.54800000000023</c:v>
                </c:pt>
                <c:pt idx="6">
                  <c:v>4479.127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3681.571</c:v>
                </c:pt>
                <c:pt idx="2">
                  <c:v>4027.495</c:v>
                </c:pt>
                <c:pt idx="3">
                  <c:v>4406.522</c:v>
                </c:pt>
                <c:pt idx="4">
                  <c:v>4821.86</c:v>
                </c:pt>
                <c:pt idx="5">
                  <c:v>5276.997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3681.571</c:v>
                </c:pt>
                <c:pt idx="1">
                  <c:v>345.924</c:v>
                </c:pt>
                <c:pt idx="2">
                  <c:v>379.02700000000004</c:v>
                </c:pt>
                <c:pt idx="3">
                  <c:v>415.33799999999974</c:v>
                </c:pt>
                <c:pt idx="4">
                  <c:v>455.1370000000006</c:v>
                </c:pt>
                <c:pt idx="5">
                  <c:v>498.7669999999998</c:v>
                </c:pt>
                <c:pt idx="6">
                  <c:v>5775.764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381.889</c:v>
                </c:pt>
                <c:pt idx="2">
                  <c:v>420.549</c:v>
                </c:pt>
                <c:pt idx="3">
                  <c:v>463.256</c:v>
                </c:pt>
                <c:pt idx="4">
                  <c:v>510.441</c:v>
                </c:pt>
                <c:pt idx="5">
                  <c:v>562.596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381.889</c:v>
                </c:pt>
                <c:pt idx="1">
                  <c:v>38.65999999999997</c:v>
                </c:pt>
                <c:pt idx="2">
                  <c:v>42.706999999999994</c:v>
                </c:pt>
                <c:pt idx="3">
                  <c:v>47.185</c:v>
                </c:pt>
                <c:pt idx="4">
                  <c:v>52.15500000000003</c:v>
                </c:pt>
                <c:pt idx="5">
                  <c:v>57.65300000000002</c:v>
                </c:pt>
                <c:pt idx="6">
                  <c:v>620.249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1345.384</c:v>
                </c:pt>
                <c:pt idx="2">
                  <c:v>1465.814</c:v>
                </c:pt>
                <c:pt idx="3">
                  <c:v>1596.928</c:v>
                </c:pt>
                <c:pt idx="4">
                  <c:v>1739.639</c:v>
                </c:pt>
                <c:pt idx="5">
                  <c:v>1894.9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1345.384</c:v>
                </c:pt>
                <c:pt idx="1">
                  <c:v>120.43000000000006</c:v>
                </c:pt>
                <c:pt idx="2">
                  <c:v>131.11400000000003</c:v>
                </c:pt>
                <c:pt idx="3">
                  <c:v>142.71099999999979</c:v>
                </c:pt>
                <c:pt idx="4">
                  <c:v>155.2610000000002</c:v>
                </c:pt>
                <c:pt idx="5">
                  <c:v>168.85699999999997</c:v>
                </c:pt>
                <c:pt idx="6">
                  <c:v>2063.757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426.952</c:v>
                </c:pt>
                <c:pt idx="2">
                  <c:v>457.612</c:v>
                </c:pt>
                <c:pt idx="3">
                  <c:v>489.897</c:v>
                </c:pt>
                <c:pt idx="4">
                  <c:v>523.763</c:v>
                </c:pt>
                <c:pt idx="5">
                  <c:v>559.144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426.952</c:v>
                </c:pt>
                <c:pt idx="1">
                  <c:v>30.660000000000025</c:v>
                </c:pt>
                <c:pt idx="2">
                  <c:v>32.28499999999997</c:v>
                </c:pt>
                <c:pt idx="3">
                  <c:v>33.86600000000004</c:v>
                </c:pt>
                <c:pt idx="4">
                  <c:v>35.38099999999997</c:v>
                </c:pt>
                <c:pt idx="5">
                  <c:v>36.777000000000044</c:v>
                </c:pt>
                <c:pt idx="6">
                  <c:v>595.921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2495.996</c:v>
                </c:pt>
                <c:pt idx="2">
                  <c:v>2768.586</c:v>
                </c:pt>
                <c:pt idx="3">
                  <c:v>3072.317</c:v>
                </c:pt>
                <c:pt idx="4">
                  <c:v>3410.902</c:v>
                </c:pt>
                <c:pt idx="5">
                  <c:v>3788.521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2495.996</c:v>
                </c:pt>
                <c:pt idx="1">
                  <c:v>272.5899999999997</c:v>
                </c:pt>
                <c:pt idx="2">
                  <c:v>303.7310000000002</c:v>
                </c:pt>
                <c:pt idx="3">
                  <c:v>338.58500000000004</c:v>
                </c:pt>
                <c:pt idx="4">
                  <c:v>377.61900000000014</c:v>
                </c:pt>
                <c:pt idx="5">
                  <c:v>421.37800000000016</c:v>
                </c:pt>
                <c:pt idx="6">
                  <c:v>4209.899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34.34208955565815</c:v>
                </c:pt>
                <c:pt idx="1">
                  <c:v>33.775883832649896</c:v>
                </c:pt>
                <c:pt idx="2">
                  <c:v>32.549203236095565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22.794740179838133</c:v>
                </c:pt>
                <c:pt idx="1">
                  <c:v>23.561534271700392</c:v>
                </c:pt>
                <c:pt idx="2">
                  <c:v>25.242031191593533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22.519353279885827</c:v>
                </c:pt>
                <c:pt idx="1">
                  <c:v>22.899047972389724</c:v>
                </c:pt>
                <c:pt idx="2">
                  <c:v>23.724802148154858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12.667920929977136</c:v>
                </c:pt>
                <c:pt idx="1">
                  <c:v>12.342973609447121</c:v>
                </c:pt>
                <c:pt idx="2">
                  <c:v>11.630261558975553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3.5056857927783764</c:v>
                </c:pt>
                <c:pt idx="1">
                  <c:v>3.5035691287678103</c:v>
                </c:pt>
                <c:pt idx="2">
                  <c:v>3.495400912846342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4.1702102618623735</c:v>
                </c:pt>
                <c:pt idx="1">
                  <c:v>3.9169911850450627</c:v>
                </c:pt>
                <c:pt idx="2">
                  <c:v>3.3583009523341514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3.3630725471938794</c:v>
                </c:pt>
                <c:pt idx="1">
                  <c:v>4.247760334819195</c:v>
                </c:pt>
                <c:pt idx="2">
                  <c:v>3.952026249019247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5.60704364196133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86143.331</c:v>
                </c:pt>
                <c:pt idx="2">
                  <c:v>0.0</c:v>
                </c:pt>
                <c:pt idx="3">
                  <c:v>101636.269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86143.331</c:v>
                </c:pt>
                <c:pt idx="1">
                  <c:v>15492.937999999995</c:v>
                </c:pt>
                <c:pt idx="2">
                  <c:v>101636.269</c:v>
                </c:pt>
                <c:pt idx="3">
                  <c:v>52433.00899999999</c:v>
                </c:pt>
                <c:pt idx="4">
                  <c:v>154069.278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4.6935109436657685</c:v>
                </c:pt>
                <c:pt idx="1">
                  <c:v>5.590613092955543</c:v>
                </c:pt>
                <c:pt idx="2">
                  <c:v>5.290728154682811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7.37960928270131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435.462</c:v>
                </c:pt>
                <c:pt idx="2">
                  <c:v>0.0</c:v>
                </c:pt>
                <c:pt idx="3">
                  <c:v>547.708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435.462</c:v>
                </c:pt>
                <c:pt idx="1">
                  <c:v>112.24599999999998</c:v>
                </c:pt>
                <c:pt idx="2">
                  <c:v>547.708</c:v>
                </c:pt>
                <c:pt idx="3">
                  <c:v>395.923</c:v>
                </c:pt>
                <c:pt idx="4">
                  <c:v>943.631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435.462</c:v>
                </c:pt>
                <c:pt idx="1">
                  <c:v>455.784</c:v>
                </c:pt>
                <c:pt idx="2">
                  <c:v>477.113</c:v>
                </c:pt>
                <c:pt idx="3">
                  <c:v>499.509</c:v>
                </c:pt>
                <c:pt idx="4">
                  <c:v>523.021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&quot;;&quot;MMMMMMMM&quot;;&quot;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&quot;;&quot;MMMMMMMM&quot;;&quot;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&quot;;&quot;MMMMMMMM&quot;;&quot;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86143.331</c:v>
                </c:pt>
                <c:pt idx="1">
                  <c:v>89017.611</c:v>
                </c:pt>
                <c:pt idx="2">
                  <c:v>91999.664</c:v>
                </c:pt>
                <c:pt idx="3">
                  <c:v>95093.78</c:v>
                </c:pt>
                <c:pt idx="4">
                  <c:v>98304.432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7"/>
          <c:min val="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138736"/>
          <c:min val="0"/>
        </c:scaling>
        <c:delete val="0"/>
        <c:axPos val="r"/>
        <c:numFmt formatCode="#,##0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&quot;;&quot;MMMMM&quot;;&quot;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&quot;;&quot;MMMMM&quot;;&quot;M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547.708</c:v>
                </c:pt>
                <c:pt idx="1">
                  <c:v>578.0160000000001</c:v>
                </c:pt>
                <c:pt idx="2">
                  <c:v>610.076</c:v>
                </c:pt>
                <c:pt idx="3">
                  <c:v>643.992</c:v>
                </c:pt>
                <c:pt idx="4">
                  <c:v>679.877</c:v>
                </c:pt>
                <c:pt idx="5">
                  <c:v>717.848</c:v>
                </c:pt>
                <c:pt idx="6">
                  <c:v>758.027</c:v>
                </c:pt>
                <c:pt idx="7">
                  <c:v>800.549</c:v>
                </c:pt>
                <c:pt idx="8">
                  <c:v>845.557</c:v>
                </c:pt>
                <c:pt idx="9">
                  <c:v>893.1969999999999</c:v>
                </c:pt>
                <c:pt idx="10">
                  <c:v>943.631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&quot;;&quot;MMMMMMMMM&quot;;&quot;MMMMM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&quot;;&quot;MMMMMMMMM&quot;;&quot;MMMMM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&quot;;&quot;MMMMMMMMM&quot;;&quot;MMMMM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&quot;;&quot;MMMMMMMMM&quot;;&quot;MMMMM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&quot;;&quot;MMMMMMMMM&quot;;&quot;MMMMM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M&quot;;&quot;MMMMMMMMM&quot;;&quot;MMMMM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M&quot;;&quot;MMMMMMMMM&quot;;&quot;MMMMM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M&quot;;&quot;MMMMMMMMM&quot;;&quot;MMMMM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M&quot;;&quot;MMMMMMMMM&quot;;&quot;MMMMM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M&quot;;&quot;MMMMMMMMM&quot;;&quot;MMMMM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M&quot;;&quot;MMMMMMMMM&quot;;&quot;MMMMM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101636.269</c:v>
                </c:pt>
                <c:pt idx="1">
                  <c:v>105896.945</c:v>
                </c:pt>
                <c:pt idx="2">
                  <c:v>110349.666</c:v>
                </c:pt>
                <c:pt idx="3">
                  <c:v>115003.484</c:v>
                </c:pt>
                <c:pt idx="4">
                  <c:v>119867.89499999999</c:v>
                </c:pt>
                <c:pt idx="5">
                  <c:v>124952.84900000002</c:v>
                </c:pt>
                <c:pt idx="6">
                  <c:v>130268.782</c:v>
                </c:pt>
                <c:pt idx="7">
                  <c:v>135826.639</c:v>
                </c:pt>
                <c:pt idx="8">
                  <c:v>141637.887</c:v>
                </c:pt>
                <c:pt idx="9">
                  <c:v>147714.56199999998</c:v>
                </c:pt>
                <c:pt idx="10">
                  <c:v>154069.278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3"/>
          <c:min val="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234802"/>
          <c:min val="0"/>
        </c:scaling>
        <c:delete val="0"/>
        <c:axPos val="r"/>
        <c:numFmt formatCode="#,##0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Italy</c:v>
                </c:pt>
                <c:pt idx="1">
                  <c:v>U.K.</c:v>
                </c:pt>
                <c:pt idx="2">
                  <c:v>Spain</c:v>
                </c:pt>
                <c:pt idx="3">
                  <c:v>France</c:v>
                </c:pt>
                <c:pt idx="4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65.78603178155589</c:v>
                </c:pt>
                <c:pt idx="1">
                  <c:v>69.3361528417407</c:v>
                </c:pt>
                <c:pt idx="2">
                  <c:v>102.20039095731232</c:v>
                </c:pt>
                <c:pt idx="3">
                  <c:v>109.85948723965151</c:v>
                </c:pt>
                <c:pt idx="4">
                  <c:v>117.0677413636813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U.K.</c:v>
                </c:pt>
                <c:pt idx="1">
                  <c:v>Spain</c:v>
                </c:pt>
                <c:pt idx="2">
                  <c:v>Italy</c:v>
                </c:pt>
                <c:pt idx="3">
                  <c:v>France</c:v>
                </c:pt>
                <c:pt idx="4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5.466466964536032</c:v>
                </c:pt>
                <c:pt idx="1">
                  <c:v>6.791219504802701</c:v>
                </c:pt>
                <c:pt idx="2">
                  <c:v>11.404490267046876</c:v>
                </c:pt>
                <c:pt idx="3">
                  <c:v>13.402606062289891</c:v>
                </c:pt>
                <c:pt idx="4">
                  <c:v>51.48905216418345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Gaseous Helium-3</c:v>
                </c:pt>
                <c:pt idx="1">
                  <c:v>Liquid Helium-3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650.217</c:v>
                </c:pt>
                <c:pt idx="1">
                  <c:v>293.414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Optimistic Scenario</c:v>
                </c:pt>
              </c:strCache>
            </c:strRef>
          </c:tx>
          <c:spPr>
            <a:ln w="28575">
              <a:solidFill>
                <a:srgbClr val="2E5F8A"/>
              </a:solidFill>
            </a:ln>
          </c:spPr>
          <c:marker>
            <c:symbol val="circle"/>
            <c:size val="6"/>
            <c:spPr>
              <a:solidFill>
                <a:srgbClr val="2E5F8A"/>
              </a:solidFill>
              <a:ln>
                <a:solidFill>
                  <a:srgbClr val="2E5F8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0.07272710351453582</c:v>
                </c:pt>
                <c:pt idx="1">
                  <c:v>0.07079710351453582</c:v>
                </c:pt>
                <c:pt idx="2">
                  <c:v>0.06877710351453582</c:v>
                </c:pt>
                <c:pt idx="3">
                  <c:v>0.06646710351453582</c:v>
                </c:pt>
                <c:pt idx="4">
                  <c:v>0.06558710351453581</c:v>
                </c:pt>
                <c:pt idx="5">
                  <c:v>0.06625710351453581</c:v>
                </c:pt>
                <c:pt idx="6">
                  <c:v>0.06863710351453582</c:v>
                </c:pt>
                <c:pt idx="7">
                  <c:v>0.07022710351453582</c:v>
                </c:pt>
                <c:pt idx="8">
                  <c:v>0.07008710351453581</c:v>
                </c:pt>
                <c:pt idx="9">
                  <c:v>0.06938710351453582</c:v>
                </c:pt>
                <c:pt idx="10">
                  <c:v>0.06884710351453582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Likely Scenario</c:v>
                </c:pt>
              </c:strCache>
            </c:strRef>
          </c:tx>
          <c:spPr>
            <a:ln w="28575">
              <a:solidFill>
                <a:srgbClr val="8B1A1A"/>
              </a:solidFill>
            </a:ln>
          </c:spPr>
          <c:marker>
            <c:symbol val="circle"/>
            <c:size val="6"/>
            <c:spPr>
              <a:solidFill>
                <a:srgbClr val="8B1A1A"/>
              </a:solidFill>
              <a:ln>
                <a:solidFill>
                  <a:srgbClr val="8B1A1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0.0614096234385896</c:v>
                </c:pt>
                <c:pt idx="1">
                  <c:v>0.060776426170853874</c:v>
                </c:pt>
                <c:pt idx="2">
                  <c:v>0.05936932113144116</c:v>
                </c:pt>
                <c:pt idx="3">
                  <c:v>0.05792703846604312</c:v>
                </c:pt>
                <c:pt idx="4">
                  <c:v>0.05655511105261572</c:v>
                </c:pt>
                <c:pt idx="5">
                  <c:v>0.05496156459548082</c:v>
                </c:pt>
                <c:pt idx="6">
                  <c:v>0.05374793649898735</c:v>
                </c:pt>
                <c:pt idx="7">
                  <c:v>0.052006644012714105</c:v>
                </c:pt>
                <c:pt idx="8">
                  <c:v>0.05072617842684853</c:v>
                </c:pt>
                <c:pt idx="9">
                  <c:v>0.049797489100836145</c:v>
                </c:pt>
                <c:pt idx="10">
                  <c:v>0.049044687904750334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strCache>
                <c:ptCount val="1"/>
                <c:pt idx="0">
                  <c:v>Conservative Scenario</c:v>
                </c:pt>
              </c:strCache>
            </c:strRef>
          </c:tx>
          <c:spPr>
            <a:ln w="28575">
              <a:solidFill>
                <a:srgbClr val="A08000"/>
              </a:solidFill>
            </a:ln>
          </c:spPr>
          <c:marker>
            <c:symbol val="circle"/>
            <c:size val="6"/>
            <c:spPr>
              <a:solidFill>
                <a:srgbClr val="A08000"/>
              </a:solidFill>
              <a:ln>
                <a:solidFill>
                  <a:srgbClr val="A08000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0.03505211057226507</c:v>
                </c:pt>
                <c:pt idx="1">
                  <c:v>0.036544706473102984</c:v>
                </c:pt>
                <c:pt idx="2">
                  <c:v>0.038153841393225536</c:v>
                </c:pt>
                <c:pt idx="3">
                  <c:v>0.03883962869901593</c:v>
                </c:pt>
                <c:pt idx="4">
                  <c:v>0.03996916073208246</c:v>
                </c:pt>
                <c:pt idx="5">
                  <c:v>0.041062834605369095</c:v>
                </c:pt>
                <c:pt idx="6">
                  <c:v>0.042582324126041925</c:v>
                </c:pt>
                <c:pt idx="7">
                  <c:v>0.043626693029631215</c:v>
                </c:pt>
                <c:pt idx="8">
                  <c:v>0.04504309034093686</c:v>
                </c:pt>
                <c:pt idx="9">
                  <c:v>0.04643707630238008</c:v>
                </c:pt>
                <c:pt idx="10">
                  <c:v>0.04744558704618948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2140495176"/>
        <c:scaling>
          <c:min val="0.0"/>
        </c:scaling>
        <c:delete val="0"/>
        <c:axPos val="l"/>
        <c:numFmt formatCode="0.00%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41.501029519294924</c:v>
                </c:pt>
                <c:pt idx="1">
                  <c:v>45.12787617528785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18.903852127826532</c:v>
                </c:pt>
                <c:pt idx="1">
                  <c:v>15.624414102855729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11.976426446744124</c:v>
                </c:pt>
                <c:pt idx="1">
                  <c:v>12.794665007776567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8.698892715158602</c:v>
                </c:pt>
                <c:pt idx="1">
                  <c:v>7.517746010336987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6.6158243175967035</c:v>
                </c:pt>
                <c:pt idx="1">
                  <c:v>6.81722348306195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5.369650080327132</c:v>
                </c:pt>
                <c:pt idx="1">
                  <c:v>5.138590965552522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4.842641360634755</c:v>
                </c:pt>
                <c:pt idx="1">
                  <c:v>4.883558940283994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1F476B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2.0916834324172213</c:v>
                </c:pt>
                <c:pt idx="1">
                  <c:v>2.095925314844404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42.054160245970486</c:v>
                </c:pt>
                <c:pt idx="1">
                  <c:v>46.01279525577265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18.950608718514246</c:v>
                </c:pt>
                <c:pt idx="1">
                  <c:v>15.784453880807222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11.8882689316205</c:v>
                </c:pt>
                <c:pt idx="1">
                  <c:v>12.523645365614314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8.539586787120145</c:v>
                </c:pt>
                <c:pt idx="1">
                  <c:v>7.250185718782025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6.606805085921696</c:v>
                </c:pt>
                <c:pt idx="1">
                  <c:v>6.68418057482215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5.3572341466620905</c:v>
                </c:pt>
                <c:pt idx="1">
                  <c:v>5.159114102864361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4.4868798702958514</c:v>
                </c:pt>
                <c:pt idx="1">
                  <c:v>4.483108333660086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1F476B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2.1164562138949954</c:v>
                </c:pt>
                <c:pt idx="1">
                  <c:v>2.102516767677196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34115.135</c:v>
                </c:pt>
                <c:pt idx="1">
                  <c:v>35594.196</c:v>
                </c:pt>
                <c:pt idx="2">
                  <c:v>37137.382</c:v>
                </c:pt>
                <c:pt idx="3">
                  <c:v>38747.473</c:v>
                </c:pt>
                <c:pt idx="4">
                  <c:v>40427.37</c:v>
                </c:pt>
                <c:pt idx="5">
                  <c:v>42180.098</c:v>
                </c:pt>
                <c:pt idx="6">
                  <c:v>44341.759</c:v>
                </c:pt>
                <c:pt idx="7">
                  <c:v>46614.202</c:v>
                </c:pt>
                <c:pt idx="8">
                  <c:v>49003.104</c:v>
                </c:pt>
                <c:pt idx="9">
                  <c:v>51514.433</c:v>
                </c:pt>
                <c:pt idx="10">
                  <c:v>54154.464</c:v>
                </c:pt>
                <c:pt idx="11">
                  <c:v>56929.792</c:v>
                </c:pt>
                <c:pt idx="12">
                  <c:v>59847.351</c:v>
                </c:pt>
                <c:pt idx="13">
                  <c:v>62914.43</c:v>
                </c:pt>
                <c:pt idx="14">
                  <c:v>66138.692</c:v>
                </c:pt>
                <c:pt idx="15">
                  <c:v>69528.193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17842.642</c:v>
                </c:pt>
                <c:pt idx="1">
                  <c:v>18108.694</c:v>
                </c:pt>
                <c:pt idx="2">
                  <c:v>18378.713</c:v>
                </c:pt>
                <c:pt idx="3">
                  <c:v>18652.759</c:v>
                </c:pt>
                <c:pt idx="4">
                  <c:v>18930.891</c:v>
                </c:pt>
                <c:pt idx="5">
                  <c:v>19213.17</c:v>
                </c:pt>
                <c:pt idx="6">
                  <c:v>19651.291</c:v>
                </c:pt>
                <c:pt idx="7">
                  <c:v>20099.404</c:v>
                </c:pt>
                <c:pt idx="8">
                  <c:v>20557.734</c:v>
                </c:pt>
                <c:pt idx="9">
                  <c:v>21026.516</c:v>
                </c:pt>
                <c:pt idx="10">
                  <c:v>21505.988</c:v>
                </c:pt>
                <c:pt idx="11">
                  <c:v>21996.393</c:v>
                </c:pt>
                <c:pt idx="12">
                  <c:v>22497.982</c:v>
                </c:pt>
                <c:pt idx="13">
                  <c:v>23011.007</c:v>
                </c:pt>
                <c:pt idx="14">
                  <c:v>23535.732</c:v>
                </c:pt>
                <c:pt idx="15">
                  <c:v>24072.422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9933.906</c:v>
                </c:pt>
                <c:pt idx="1">
                  <c:v>10345.97</c:v>
                </c:pt>
                <c:pt idx="2">
                  <c:v>10775.128</c:v>
                </c:pt>
                <c:pt idx="3">
                  <c:v>11222.086</c:v>
                </c:pt>
                <c:pt idx="4">
                  <c:v>11687.585</c:v>
                </c:pt>
                <c:pt idx="5">
                  <c:v>12172.393</c:v>
                </c:pt>
                <c:pt idx="6">
                  <c:v>12773.587</c:v>
                </c:pt>
                <c:pt idx="7">
                  <c:v>13404.474</c:v>
                </c:pt>
                <c:pt idx="8">
                  <c:v>14066.52</c:v>
                </c:pt>
                <c:pt idx="9">
                  <c:v>14761.265</c:v>
                </c:pt>
                <c:pt idx="10">
                  <c:v>15490.323</c:v>
                </c:pt>
                <c:pt idx="11">
                  <c:v>16255.389</c:v>
                </c:pt>
                <c:pt idx="12">
                  <c:v>17058.242</c:v>
                </c:pt>
                <c:pt idx="13">
                  <c:v>17900.747</c:v>
                </c:pt>
                <c:pt idx="14">
                  <c:v>18784.864</c:v>
                </c:pt>
                <c:pt idx="15">
                  <c:v>19712.648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8028.889</c:v>
                </c:pt>
                <c:pt idx="1">
                  <c:v>8185.155</c:v>
                </c:pt>
                <c:pt idx="2">
                  <c:v>8344.462</c:v>
                </c:pt>
                <c:pt idx="3">
                  <c:v>8506.87</c:v>
                </c:pt>
                <c:pt idx="4">
                  <c:v>8672.439</c:v>
                </c:pt>
                <c:pt idx="5">
                  <c:v>8841.23</c:v>
                </c:pt>
                <c:pt idx="6">
                  <c:v>9083.261</c:v>
                </c:pt>
                <c:pt idx="7">
                  <c:v>9331.918</c:v>
                </c:pt>
                <c:pt idx="8">
                  <c:v>9587.381</c:v>
                </c:pt>
                <c:pt idx="9">
                  <c:v>9849.838</c:v>
                </c:pt>
                <c:pt idx="10">
                  <c:v>10119.48</c:v>
                </c:pt>
                <c:pt idx="11">
                  <c:v>10396.503</c:v>
                </c:pt>
                <c:pt idx="12">
                  <c:v>10681.11</c:v>
                </c:pt>
                <c:pt idx="13">
                  <c:v>10973.508</c:v>
                </c:pt>
                <c:pt idx="14">
                  <c:v>11273.911</c:v>
                </c:pt>
                <c:pt idx="15">
                  <c:v>11582.537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5588.338</c:v>
                </c:pt>
                <c:pt idx="1">
                  <c:v>5798.994</c:v>
                </c:pt>
                <c:pt idx="2">
                  <c:v>6017.591</c:v>
                </c:pt>
                <c:pt idx="3">
                  <c:v>6244.428</c:v>
                </c:pt>
                <c:pt idx="4">
                  <c:v>6479.816</c:v>
                </c:pt>
                <c:pt idx="5">
                  <c:v>6724.077</c:v>
                </c:pt>
                <c:pt idx="6">
                  <c:v>7030.752</c:v>
                </c:pt>
                <c:pt idx="7">
                  <c:v>7351.414</c:v>
                </c:pt>
                <c:pt idx="8">
                  <c:v>7686.7</c:v>
                </c:pt>
                <c:pt idx="9">
                  <c:v>8037.279</c:v>
                </c:pt>
                <c:pt idx="10">
                  <c:v>8403.847</c:v>
                </c:pt>
                <c:pt idx="11">
                  <c:v>8787.133</c:v>
                </c:pt>
                <c:pt idx="12">
                  <c:v>9187.901</c:v>
                </c:pt>
                <c:pt idx="13">
                  <c:v>9606.947</c:v>
                </c:pt>
                <c:pt idx="14">
                  <c:v>10045.105</c:v>
                </c:pt>
                <c:pt idx="15">
                  <c:v>10503.247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4707.488</c:v>
                </c:pt>
                <c:pt idx="1">
                  <c:v>4848.756</c:v>
                </c:pt>
                <c:pt idx="2">
                  <c:v>4994.263</c:v>
                </c:pt>
                <c:pt idx="3">
                  <c:v>5144.137</c:v>
                </c:pt>
                <c:pt idx="4">
                  <c:v>5298.508</c:v>
                </c:pt>
                <c:pt idx="5">
                  <c:v>5457.512</c:v>
                </c:pt>
                <c:pt idx="6">
                  <c:v>5664.365</c:v>
                </c:pt>
                <c:pt idx="7">
                  <c:v>5879.058</c:v>
                </c:pt>
                <c:pt idx="8">
                  <c:v>6101.889</c:v>
                </c:pt>
                <c:pt idx="9">
                  <c:v>6333.166</c:v>
                </c:pt>
                <c:pt idx="10">
                  <c:v>6573.208</c:v>
                </c:pt>
                <c:pt idx="11">
                  <c:v>6822.349</c:v>
                </c:pt>
                <c:pt idx="12">
                  <c:v>7080.933</c:v>
                </c:pt>
                <c:pt idx="13">
                  <c:v>7349.318</c:v>
                </c:pt>
                <c:pt idx="14">
                  <c:v>7627.875</c:v>
                </c:pt>
                <c:pt idx="15">
                  <c:v>7916.99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4135.103</c:v>
                </c:pt>
                <c:pt idx="1">
                  <c:v>4281.69</c:v>
                </c:pt>
                <c:pt idx="2">
                  <c:v>4433.474</c:v>
                </c:pt>
                <c:pt idx="3">
                  <c:v>4590.639</c:v>
                </c:pt>
                <c:pt idx="4">
                  <c:v>4753.375</c:v>
                </c:pt>
                <c:pt idx="5">
                  <c:v>4921.88</c:v>
                </c:pt>
                <c:pt idx="6">
                  <c:v>5135.268</c:v>
                </c:pt>
                <c:pt idx="7">
                  <c:v>5357.908</c:v>
                </c:pt>
                <c:pt idx="8">
                  <c:v>5590.201</c:v>
                </c:pt>
                <c:pt idx="9">
                  <c:v>5832.565</c:v>
                </c:pt>
                <c:pt idx="10">
                  <c:v>6085.436</c:v>
                </c:pt>
                <c:pt idx="11">
                  <c:v>6349.271</c:v>
                </c:pt>
                <c:pt idx="12">
                  <c:v>6624.544</c:v>
                </c:pt>
                <c:pt idx="13">
                  <c:v>6911.752</c:v>
                </c:pt>
                <c:pt idx="14">
                  <c:v>7211.412</c:v>
                </c:pt>
                <c:pt idx="15">
                  <c:v>7524.064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1F476B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1791.83</c:v>
                </c:pt>
                <c:pt idx="1">
                  <c:v>1854.156</c:v>
                </c:pt>
                <c:pt idx="2">
                  <c:v>1918.651</c:v>
                </c:pt>
                <c:pt idx="3">
                  <c:v>1985.388</c:v>
                </c:pt>
                <c:pt idx="4">
                  <c:v>2054.448</c:v>
                </c:pt>
                <c:pt idx="5">
                  <c:v>2125.909</c:v>
                </c:pt>
                <c:pt idx="6">
                  <c:v>2216.662</c:v>
                </c:pt>
                <c:pt idx="7">
                  <c:v>2311.288</c:v>
                </c:pt>
                <c:pt idx="8">
                  <c:v>2409.955</c:v>
                </c:pt>
                <c:pt idx="9">
                  <c:v>2512.833</c:v>
                </c:pt>
                <c:pt idx="10">
                  <c:v>2620.103</c:v>
                </c:pt>
                <c:pt idx="11">
                  <c:v>2731.952</c:v>
                </c:pt>
                <c:pt idx="12">
                  <c:v>2848.576</c:v>
                </c:pt>
                <c:pt idx="13">
                  <c:v>2970.178</c:v>
                </c:pt>
                <c:pt idx="14">
                  <c:v>3096.971</c:v>
                </c:pt>
                <c:pt idx="15">
                  <c:v>3229.177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174.206</c:v>
                </c:pt>
                <c:pt idx="1">
                  <c:v>184.214</c:v>
                </c:pt>
                <c:pt idx="2">
                  <c:v>194.796</c:v>
                </c:pt>
                <c:pt idx="3">
                  <c:v>205.987</c:v>
                </c:pt>
                <c:pt idx="4">
                  <c:v>217.821</c:v>
                </c:pt>
                <c:pt idx="5">
                  <c:v>230.334</c:v>
                </c:pt>
                <c:pt idx="6">
                  <c:v>245.409</c:v>
                </c:pt>
                <c:pt idx="7">
                  <c:v>261.47</c:v>
                </c:pt>
                <c:pt idx="8">
                  <c:v>278.583</c:v>
                </c:pt>
                <c:pt idx="9">
                  <c:v>296.816</c:v>
                </c:pt>
                <c:pt idx="10">
                  <c:v>316.242</c:v>
                </c:pt>
                <c:pt idx="11">
                  <c:v>336.939</c:v>
                </c:pt>
                <c:pt idx="12">
                  <c:v>358.991</c:v>
                </c:pt>
                <c:pt idx="13">
                  <c:v>382.487</c:v>
                </c:pt>
                <c:pt idx="14">
                  <c:v>407.52</c:v>
                </c:pt>
                <c:pt idx="15">
                  <c:v>434.191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90.067</c:v>
                </c:pt>
                <c:pt idx="1">
                  <c:v>92.659</c:v>
                </c:pt>
                <c:pt idx="2">
                  <c:v>95.325</c:v>
                </c:pt>
                <c:pt idx="3">
                  <c:v>98.069</c:v>
                </c:pt>
                <c:pt idx="4">
                  <c:v>100.891</c:v>
                </c:pt>
                <c:pt idx="5">
                  <c:v>103.794</c:v>
                </c:pt>
                <c:pt idx="6">
                  <c:v>107.612</c:v>
                </c:pt>
                <c:pt idx="7">
                  <c:v>111.569</c:v>
                </c:pt>
                <c:pt idx="8">
                  <c:v>115.673</c:v>
                </c:pt>
                <c:pt idx="9">
                  <c:v>119.927</c:v>
                </c:pt>
                <c:pt idx="10">
                  <c:v>124.338</c:v>
                </c:pt>
                <c:pt idx="11">
                  <c:v>128.911</c:v>
                </c:pt>
                <c:pt idx="12">
                  <c:v>133.652</c:v>
                </c:pt>
                <c:pt idx="13">
                  <c:v>138.567</c:v>
                </c:pt>
                <c:pt idx="14">
                  <c:v>143.663</c:v>
                </c:pt>
                <c:pt idx="15">
                  <c:v>148.947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50.195</c:v>
                </c:pt>
                <c:pt idx="1">
                  <c:v>52.877</c:v>
                </c:pt>
                <c:pt idx="2">
                  <c:v>55.701</c:v>
                </c:pt>
                <c:pt idx="3">
                  <c:v>58.677</c:v>
                </c:pt>
                <c:pt idx="4">
                  <c:v>61.811</c:v>
                </c:pt>
                <c:pt idx="5">
                  <c:v>65.113</c:v>
                </c:pt>
                <c:pt idx="6">
                  <c:v>69.112</c:v>
                </c:pt>
                <c:pt idx="7">
                  <c:v>73.357</c:v>
                </c:pt>
                <c:pt idx="8">
                  <c:v>77.862</c:v>
                </c:pt>
                <c:pt idx="9">
                  <c:v>82.645</c:v>
                </c:pt>
                <c:pt idx="10">
                  <c:v>87.721</c:v>
                </c:pt>
                <c:pt idx="11">
                  <c:v>93.108</c:v>
                </c:pt>
                <c:pt idx="12">
                  <c:v>98.827</c:v>
                </c:pt>
                <c:pt idx="13">
                  <c:v>104.897</c:v>
                </c:pt>
                <c:pt idx="14">
                  <c:v>111.339</c:v>
                </c:pt>
                <c:pt idx="15">
                  <c:v>118.177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40.197</c:v>
                </c:pt>
                <c:pt idx="1">
                  <c:v>41.434</c:v>
                </c:pt>
                <c:pt idx="2">
                  <c:v>42.708</c:v>
                </c:pt>
                <c:pt idx="3">
                  <c:v>44.022</c:v>
                </c:pt>
                <c:pt idx="4">
                  <c:v>45.376</c:v>
                </c:pt>
                <c:pt idx="5">
                  <c:v>46.772</c:v>
                </c:pt>
                <c:pt idx="6">
                  <c:v>48.585</c:v>
                </c:pt>
                <c:pt idx="7">
                  <c:v>50.469</c:v>
                </c:pt>
                <c:pt idx="8">
                  <c:v>52.425</c:v>
                </c:pt>
                <c:pt idx="9">
                  <c:v>54.457</c:v>
                </c:pt>
                <c:pt idx="10">
                  <c:v>56.568</c:v>
                </c:pt>
                <c:pt idx="11">
                  <c:v>58.761</c:v>
                </c:pt>
                <c:pt idx="12">
                  <c:v>61.038</c:v>
                </c:pt>
                <c:pt idx="13">
                  <c:v>63.404</c:v>
                </c:pt>
                <c:pt idx="14">
                  <c:v>65.862</c:v>
                </c:pt>
                <c:pt idx="15">
                  <c:v>68.415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28.47</c:v>
                </c:pt>
                <c:pt idx="1">
                  <c:v>29.869</c:v>
                </c:pt>
                <c:pt idx="2">
                  <c:v>31.336</c:v>
                </c:pt>
                <c:pt idx="3">
                  <c:v>32.876</c:v>
                </c:pt>
                <c:pt idx="4">
                  <c:v>34.491</c:v>
                </c:pt>
                <c:pt idx="5">
                  <c:v>36.186</c:v>
                </c:pt>
                <c:pt idx="6">
                  <c:v>38.254</c:v>
                </c:pt>
                <c:pt idx="7">
                  <c:v>40.439</c:v>
                </c:pt>
                <c:pt idx="8">
                  <c:v>42.75</c:v>
                </c:pt>
                <c:pt idx="9">
                  <c:v>45.192</c:v>
                </c:pt>
                <c:pt idx="10">
                  <c:v>47.775</c:v>
                </c:pt>
                <c:pt idx="11">
                  <c:v>50.504</c:v>
                </c:pt>
                <c:pt idx="12">
                  <c:v>53.39</c:v>
                </c:pt>
                <c:pt idx="13">
                  <c:v>56.44</c:v>
                </c:pt>
                <c:pt idx="14">
                  <c:v>59.665</c:v>
                </c:pt>
                <c:pt idx="15">
                  <c:v>63.074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23.665</c:v>
                </c:pt>
                <c:pt idx="1">
                  <c:v>24.705</c:v>
                </c:pt>
                <c:pt idx="2">
                  <c:v>25.791</c:v>
                </c:pt>
                <c:pt idx="3">
                  <c:v>26.924</c:v>
                </c:pt>
                <c:pt idx="4">
                  <c:v>28.107</c:v>
                </c:pt>
                <c:pt idx="5">
                  <c:v>29.342</c:v>
                </c:pt>
                <c:pt idx="6">
                  <c:v>30.865</c:v>
                </c:pt>
                <c:pt idx="7">
                  <c:v>32.469</c:v>
                </c:pt>
                <c:pt idx="8">
                  <c:v>34.155</c:v>
                </c:pt>
                <c:pt idx="9">
                  <c:v>35.929</c:v>
                </c:pt>
                <c:pt idx="10">
                  <c:v>37.795</c:v>
                </c:pt>
                <c:pt idx="11">
                  <c:v>39.758</c:v>
                </c:pt>
                <c:pt idx="12">
                  <c:v>41.822</c:v>
                </c:pt>
                <c:pt idx="13">
                  <c:v>43.994</c:v>
                </c:pt>
                <c:pt idx="14">
                  <c:v>46.279</c:v>
                </c:pt>
                <c:pt idx="15">
                  <c:v>48.683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586272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19.457</c:v>
                </c:pt>
                <c:pt idx="1">
                  <c:v>20.387</c:v>
                </c:pt>
                <c:pt idx="2">
                  <c:v>21.362</c:v>
                </c:pt>
                <c:pt idx="3">
                  <c:v>22.383</c:v>
                </c:pt>
                <c:pt idx="4">
                  <c:v>23.454</c:v>
                </c:pt>
                <c:pt idx="5">
                  <c:v>24.575</c:v>
                </c:pt>
                <c:pt idx="6">
                  <c:v>25.947</c:v>
                </c:pt>
                <c:pt idx="7">
                  <c:v>27.395</c:v>
                </c:pt>
                <c:pt idx="8">
                  <c:v>28.924</c:v>
                </c:pt>
                <c:pt idx="9">
                  <c:v>30.539</c:v>
                </c:pt>
                <c:pt idx="10">
                  <c:v>32.243</c:v>
                </c:pt>
                <c:pt idx="11">
                  <c:v>34.043</c:v>
                </c:pt>
                <c:pt idx="12">
                  <c:v>35.943</c:v>
                </c:pt>
                <c:pt idx="13">
                  <c:v>37.949</c:v>
                </c:pt>
                <c:pt idx="14">
                  <c:v>40.067</c:v>
                </c:pt>
                <c:pt idx="15">
                  <c:v>42.304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1F476B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9.205</c:v>
                </c:pt>
                <c:pt idx="1">
                  <c:v>9.639</c:v>
                </c:pt>
                <c:pt idx="2">
                  <c:v>10.094</c:v>
                </c:pt>
                <c:pt idx="3">
                  <c:v>10.571</c:v>
                </c:pt>
                <c:pt idx="4">
                  <c:v>11.07</c:v>
                </c:pt>
                <c:pt idx="5">
                  <c:v>11.592</c:v>
                </c:pt>
                <c:pt idx="6">
                  <c:v>12.232</c:v>
                </c:pt>
                <c:pt idx="7">
                  <c:v>12.908</c:v>
                </c:pt>
                <c:pt idx="8">
                  <c:v>13.62</c:v>
                </c:pt>
                <c:pt idx="9">
                  <c:v>14.372</c:v>
                </c:pt>
                <c:pt idx="10">
                  <c:v>15.166</c:v>
                </c:pt>
                <c:pt idx="11">
                  <c:v>16.003</c:v>
                </c:pt>
                <c:pt idx="12">
                  <c:v>16.886</c:v>
                </c:pt>
                <c:pt idx="13">
                  <c:v>17.819</c:v>
                </c:pt>
                <c:pt idx="14">
                  <c:v>18.802</c:v>
                </c:pt>
                <c:pt idx="15">
                  <c:v>19.84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65.94254032258064</c:v>
                </c:pt>
                <c:pt idx="1">
                  <c:v>73.04510211800303</c:v>
                </c:pt>
                <c:pt idx="2">
                  <c:v>71.54037343631246</c:v>
                </c:pt>
                <c:pt idx="3">
                  <c:v>64.64311760788915</c:v>
                </c:pt>
                <c:pt idx="4">
                  <c:v>72.39786596506615</c:v>
                </c:pt>
                <c:pt idx="5">
                  <c:v>68.32547788486761</c:v>
                </c:pt>
                <c:pt idx="6">
                  <c:v>65.39104513686075</c:v>
                </c:pt>
                <c:pt idx="7">
                  <c:v>69.77528322788818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34.05745967741935</c:v>
                </c:pt>
                <c:pt idx="1">
                  <c:v>26.954897881996974</c:v>
                </c:pt>
                <c:pt idx="2">
                  <c:v>28.45962656368753</c:v>
                </c:pt>
                <c:pt idx="3">
                  <c:v>35.35688239211085</c:v>
                </c:pt>
                <c:pt idx="4">
                  <c:v>27.60213403493386</c:v>
                </c:pt>
                <c:pt idx="5">
                  <c:v>31.674522115132387</c:v>
                </c:pt>
                <c:pt idx="6">
                  <c:v>34.60895486313923</c:v>
                </c:pt>
                <c:pt idx="7">
                  <c:v>30.224716772111808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114.20178239721832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127.86521285064305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650.217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72.18409672067352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72.13478714935697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293.414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25.0"/>
          <c:min val="6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50.0"/>
          <c:min val="5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350.164</c:v>
                </c:pt>
                <c:pt idx="2">
                  <c:v>396.37</c:v>
                </c:pt>
                <c:pt idx="3">
                  <c:v>448.625</c:v>
                </c:pt>
                <c:pt idx="4">
                  <c:v>507.731</c:v>
                </c:pt>
                <c:pt idx="5">
                  <c:v>574.584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350.164</c:v>
                </c:pt>
                <c:pt idx="1">
                  <c:v>46.20600000000002</c:v>
                </c:pt>
                <c:pt idx="2">
                  <c:v>52.254999999999995</c:v>
                </c:pt>
                <c:pt idx="3">
                  <c:v>59.105999999999995</c:v>
                </c:pt>
                <c:pt idx="4">
                  <c:v>66.85299999999995</c:v>
                </c:pt>
                <c:pt idx="5">
                  <c:v>75.63300000000004</c:v>
                </c:pt>
                <c:pt idx="6">
                  <c:v>650.217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197.544</c:v>
                </c:pt>
                <c:pt idx="2">
                  <c:v>213.706</c:v>
                </c:pt>
                <c:pt idx="3">
                  <c:v>231.252</c:v>
                </c:pt>
                <c:pt idx="4">
                  <c:v>250.296</c:v>
                </c:pt>
                <c:pt idx="5">
                  <c:v>270.973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197.544</c:v>
                </c:pt>
                <c:pt idx="1">
                  <c:v>16.161999999999978</c:v>
                </c:pt>
                <c:pt idx="2">
                  <c:v>17.54600000000002</c:v>
                </c:pt>
                <c:pt idx="3">
                  <c:v>19.043999999999983</c:v>
                </c:pt>
                <c:pt idx="4">
                  <c:v>20.67700000000002</c:v>
                </c:pt>
                <c:pt idx="5">
                  <c:v>22.440999999999974</c:v>
                </c:pt>
                <c:pt idx="6">
                  <c:v>293.414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61.234504962545536</c:v>
                </c:pt>
                <c:pt idx="1">
                  <c:v>63.932606425321524</c:v>
                </c:pt>
                <c:pt idx="2">
                  <c:v>68.90585408915138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38.76549503745447</c:v>
                </c:pt>
                <c:pt idx="1">
                  <c:v>36.06739357467848</c:v>
                </c:pt>
                <c:pt idx="2">
                  <c:v>31.094145910848624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80.27721774193549</c:v>
                </c:pt>
                <c:pt idx="1">
                  <c:v>86.95158850226929</c:v>
                </c:pt>
                <c:pt idx="2">
                  <c:v>83.45829139535361</c:v>
                </c:pt>
                <c:pt idx="3">
                  <c:v>86.14484573675367</c:v>
                </c:pt>
                <c:pt idx="4">
                  <c:v>86.16531462398596</c:v>
                </c:pt>
                <c:pt idx="5">
                  <c:v>87.43494927100875</c:v>
                </c:pt>
                <c:pt idx="6">
                  <c:v>86.03261562837787</c:v>
                </c:pt>
                <c:pt idx="7">
                  <c:v>84.46697421181001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19.722782258064512</c:v>
                </c:pt>
                <c:pt idx="1">
                  <c:v>13.048411497730708</c:v>
                </c:pt>
                <c:pt idx="2">
                  <c:v>16.541708604646384</c:v>
                </c:pt>
                <c:pt idx="3">
                  <c:v>13.855154263246346</c:v>
                </c:pt>
                <c:pt idx="4">
                  <c:v>13.834685376014031</c:v>
                </c:pt>
                <c:pt idx="5">
                  <c:v>12.56505072899126</c:v>
                </c:pt>
                <c:pt idx="6">
                  <c:v>13.967384371622119</c:v>
                </c:pt>
                <c:pt idx="7">
                  <c:v>15.533025788189992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100.64566786016076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170.0026291381539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804.845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96.30280539094484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29.99737086184609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138.786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10.0"/>
          <c:min val="9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2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465.559</c:v>
                </c:pt>
                <c:pt idx="2">
                  <c:v>518.943</c:v>
                </c:pt>
                <c:pt idx="3">
                  <c:v>578.722</c:v>
                </c:pt>
                <c:pt idx="4">
                  <c:v>645.687</c:v>
                </c:pt>
                <c:pt idx="5">
                  <c:v>720.726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465.559</c:v>
                </c:pt>
                <c:pt idx="1">
                  <c:v>53.38399999999996</c:v>
                </c:pt>
                <c:pt idx="2">
                  <c:v>59.778999999999996</c:v>
                </c:pt>
                <c:pt idx="3">
                  <c:v>66.96500000000003</c:v>
                </c:pt>
                <c:pt idx="4">
                  <c:v>75.03899999999999</c:v>
                </c:pt>
                <c:pt idx="5">
                  <c:v>84.11900000000003</c:v>
                </c:pt>
                <c:pt idx="6">
                  <c:v>804.845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82.149</c:v>
                </c:pt>
                <c:pt idx="2">
                  <c:v>91.133</c:v>
                </c:pt>
                <c:pt idx="3">
                  <c:v>101.155</c:v>
                </c:pt>
                <c:pt idx="4">
                  <c:v>112.34</c:v>
                </c:pt>
                <c:pt idx="5">
                  <c:v>124.831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82.149</c:v>
                </c:pt>
                <c:pt idx="1">
                  <c:v>8.983999999999995</c:v>
                </c:pt>
                <c:pt idx="2">
                  <c:v>10.022000000000006</c:v>
                </c:pt>
                <c:pt idx="3">
                  <c:v>11.185000000000002</c:v>
                </c:pt>
                <c:pt idx="4">
                  <c:v>12.491</c:v>
                </c:pt>
                <c:pt idx="5">
                  <c:v>13.954999999999998</c:v>
                </c:pt>
                <c:pt idx="6">
                  <c:v>138.786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Tritium-Decay-Derived Helium-3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84.84161649007261</c:v>
                </c:pt>
                <c:pt idx="1">
                  <c:v>85.00131456907695</c:v>
                </c:pt>
                <c:pt idx="2">
                  <c:v>85.29234414723551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Terrestrial Natural / Geological Helium-3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15.158383509927386</c:v>
                </c:pt>
                <c:pt idx="1">
                  <c:v>14.998685430923045</c:v>
                </c:pt>
                <c:pt idx="2">
                  <c:v>14.707655852764479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16.431451612903224</c:v>
                </c:pt>
                <c:pt idx="1">
                  <c:v>14.82602118003026</c:v>
                </c:pt>
                <c:pt idx="2">
                  <c:v>15.233243637409362</c:v>
                </c:pt>
                <c:pt idx="3">
                  <c:v>11.228081301328597</c:v>
                </c:pt>
                <c:pt idx="4">
                  <c:v>12.887524665643502</c:v>
                </c:pt>
                <c:pt idx="5">
                  <c:v>15.81610634895115</c:v>
                </c:pt>
                <c:pt idx="6">
                  <c:v>16.38972251874828</c:v>
                </c:pt>
                <c:pt idx="7">
                  <c:v>13.79392939973422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24.037298387096776</c:v>
                </c:pt>
                <c:pt idx="1">
                  <c:v>29.59294629349471</c:v>
                </c:pt>
                <c:pt idx="2">
                  <c:v>29.10872378448329</c:v>
                </c:pt>
                <c:pt idx="3">
                  <c:v>24.669435900688082</c:v>
                </c:pt>
                <c:pt idx="4">
                  <c:v>23.620551048746623</c:v>
                </c:pt>
                <c:pt idx="5">
                  <c:v>24.283066925036177</c:v>
                </c:pt>
                <c:pt idx="6">
                  <c:v>29.20636199453497</c:v>
                </c:pt>
                <c:pt idx="7">
                  <c:v>24.37475673148453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49.1733870967742</c:v>
                </c:pt>
                <c:pt idx="1">
                  <c:v>44.08330181543118</c:v>
                </c:pt>
                <c:pt idx="2">
                  <c:v>43.81406240371382</c:v>
                </c:pt>
                <c:pt idx="3">
                  <c:v>53.05672701905699</c:v>
                </c:pt>
                <c:pt idx="4">
                  <c:v>52.582036103193744</c:v>
                </c:pt>
                <c:pt idx="5">
                  <c:v>50.01226973099673</c:v>
                </c:pt>
                <c:pt idx="6">
                  <c:v>42.302966827126426</c:v>
                </c:pt>
                <c:pt idx="7">
                  <c:v>47.29370254104761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10.357862903225808</c:v>
                </c:pt>
                <c:pt idx="1">
                  <c:v>11.497730711043875</c:v>
                </c:pt>
                <c:pt idx="2">
                  <c:v>11.843970174393526</c:v>
                </c:pt>
                <c:pt idx="3">
                  <c:v>11.04575577892634</c:v>
                </c:pt>
                <c:pt idx="4">
                  <c:v>10.90988818241614</c:v>
                </c:pt>
                <c:pt idx="5">
                  <c:v>9.888556995015952</c:v>
                </c:pt>
                <c:pt idx="6">
                  <c:v>12.100948659590324</c:v>
                </c:pt>
                <c:pt idx="7">
                  <c:v>14.537611327733648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150.80108689102966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44.1592965594806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135.842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126.72336483397677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88.8458813820503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241.211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0E2A5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76.63277916829365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214.42374403879438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446.631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93.70470879450376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52.57107801967471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119.947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70.0"/>
          <c:min val="5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7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60.466</c:v>
                </c:pt>
                <c:pt idx="2">
                  <c:v>71.126</c:v>
                </c:pt>
                <c:pt idx="3">
                  <c:v>83.638</c:v>
                </c:pt>
                <c:pt idx="4">
                  <c:v>98.326</c:v>
                </c:pt>
                <c:pt idx="5">
                  <c:v>115.575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60.466</c:v>
                </c:pt>
                <c:pt idx="1">
                  <c:v>10.660000000000004</c:v>
                </c:pt>
                <c:pt idx="2">
                  <c:v>12.512</c:v>
                </c:pt>
                <c:pt idx="3">
                  <c:v>14.687999999999988</c:v>
                </c:pt>
                <c:pt idx="4">
                  <c:v>17.24900000000001</c:v>
                </c:pt>
                <c:pt idx="5">
                  <c:v>20.26700000000001</c:v>
                </c:pt>
                <c:pt idx="6">
                  <c:v>135.842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121.654</c:v>
                </c:pt>
                <c:pt idx="2">
                  <c:v>139.264</c:v>
                </c:pt>
                <c:pt idx="3">
                  <c:v>159.556</c:v>
                </c:pt>
                <c:pt idx="4">
                  <c:v>182.961</c:v>
                </c:pt>
                <c:pt idx="5">
                  <c:v>209.984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121.654</c:v>
                </c:pt>
                <c:pt idx="1">
                  <c:v>17.610000000000014</c:v>
                </c:pt>
                <c:pt idx="2">
                  <c:v>20.292</c:v>
                </c:pt>
                <c:pt idx="3">
                  <c:v>23.405</c:v>
                </c:pt>
                <c:pt idx="4">
                  <c:v>27.022999999999996</c:v>
                </c:pt>
                <c:pt idx="5">
                  <c:v>31.227000000000004</c:v>
                </c:pt>
                <c:pt idx="6">
                  <c:v>241.211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293.604</c:v>
                </c:pt>
                <c:pt idx="2">
                  <c:v>319.986</c:v>
                </c:pt>
                <c:pt idx="3">
                  <c:v>348.423</c:v>
                </c:pt>
                <c:pt idx="4">
                  <c:v>378.987</c:v>
                </c:pt>
                <c:pt idx="5">
                  <c:v>411.72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293.604</c:v>
                </c:pt>
                <c:pt idx="1">
                  <c:v>26.382000000000005</c:v>
                </c:pt>
                <c:pt idx="2">
                  <c:v>28.437000000000012</c:v>
                </c:pt>
                <c:pt idx="3">
                  <c:v>30.56400000000002</c:v>
                </c:pt>
                <c:pt idx="4">
                  <c:v>32.733000000000004</c:v>
                </c:pt>
                <c:pt idx="5">
                  <c:v>34.910999999999945</c:v>
                </c:pt>
                <c:pt idx="6">
                  <c:v>446.631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71.984</c:v>
                </c:pt>
                <c:pt idx="2">
                  <c:v>79.7</c:v>
                </c:pt>
                <c:pt idx="3">
                  <c:v>88.26</c:v>
                </c:pt>
                <c:pt idx="4">
                  <c:v>97.753</c:v>
                </c:pt>
                <c:pt idx="5">
                  <c:v>108.278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71.984</c:v>
                </c:pt>
                <c:pt idx="1">
                  <c:v>7.716000000000008</c:v>
                </c:pt>
                <c:pt idx="2">
                  <c:v>8.560000000000002</c:v>
                </c:pt>
                <c:pt idx="3">
                  <c:v>9.492999999999995</c:v>
                </c:pt>
                <c:pt idx="4">
                  <c:v>10.525000000000006</c:v>
                </c:pt>
                <c:pt idx="5">
                  <c:v>11.668999999999997</c:v>
                </c:pt>
                <c:pt idx="6">
                  <c:v>119.947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Medical and Biomedical Imaging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56.30801309873193</c:v>
                </c:pt>
                <c:pt idx="1">
                  <c:v>53.605936009698596</c:v>
                </c:pt>
                <c:pt idx="2">
                  <c:v>47.33110718066702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Cryogenic Refrigeration and Ultra-Low-Temperature Cooling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20.775406350037432</c:v>
                </c:pt>
                <c:pt idx="1">
                  <c:v>22.211470345512573</c:v>
                </c:pt>
                <c:pt idx="2">
                  <c:v>25.56200463952541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Neutron Detection and Radiation Monitoring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9.590963160964677</c:v>
                </c:pt>
                <c:pt idx="1">
                  <c:v>11.03982413987015</c:v>
                </c:pt>
                <c:pt idx="2">
                  <c:v>14.395669493689804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Nuclear Fusion Research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13.32561739026597</c:v>
                </c:pt>
                <c:pt idx="1">
                  <c:v>13.142769504918677</c:v>
                </c:pt>
                <c:pt idx="2">
                  <c:v>12.711218686117773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21.965725806451612</c:v>
                </c:pt>
                <c:pt idx="1">
                  <c:v>30.647220121028738</c:v>
                </c:pt>
                <c:pt idx="2">
                  <c:v>25.542797280364816</c:v>
                </c:pt>
                <c:pt idx="3">
                  <c:v>28.609252623902087</c:v>
                </c:pt>
                <c:pt idx="4">
                  <c:v>26.29247971935979</c:v>
                </c:pt>
                <c:pt idx="5">
                  <c:v>24.86439831777757</c:v>
                </c:pt>
                <c:pt idx="6">
                  <c:v>27.274802446507817</c:v>
                </c:pt>
                <c:pt idx="7">
                  <c:v>28.383821866413626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38.4375</c:v>
                </c:pt>
                <c:pt idx="1">
                  <c:v>31.410741301059</c:v>
                </c:pt>
                <c:pt idx="2">
                  <c:v>30.889632931413434</c:v>
                </c:pt>
                <c:pt idx="3">
                  <c:v>25.78717062498018</c:v>
                </c:pt>
                <c:pt idx="4">
                  <c:v>33.04099978074984</c:v>
                </c:pt>
                <c:pt idx="5">
                  <c:v>40.37249210929368</c:v>
                </c:pt>
                <c:pt idx="6">
                  <c:v>29.002933929518555</c:v>
                </c:pt>
                <c:pt idx="7">
                  <c:v>33.47904493644502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&quot;;&quot;MMM&quot;;&quot;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3.387096774193549</c:v>
                </c:pt>
                <c:pt idx="1">
                  <c:v>3.985438729198184</c:v>
                </c:pt>
                <c:pt idx="2">
                  <c:v>4.3608651890803785</c:v>
                </c:pt>
                <c:pt idx="3">
                  <c:v>3.743222246884612</c:v>
                </c:pt>
                <c:pt idx="4">
                  <c:v>2.942337206752905</c:v>
                </c:pt>
                <c:pt idx="5">
                  <c:v>2.780574900361322</c:v>
                </c:pt>
                <c:pt idx="6">
                  <c:v>4.190752415288659</c:v>
                </c:pt>
                <c:pt idx="7">
                  <c:v>3.091035972647982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13.62399193548387</c:v>
                </c:pt>
                <c:pt idx="1">
                  <c:v>12.421993192133131</c:v>
                </c:pt>
                <c:pt idx="2">
                  <c:v>10.350635745537458</c:v>
                </c:pt>
                <c:pt idx="3">
                  <c:v>12.700954434473791</c:v>
                </c:pt>
                <c:pt idx="4">
                  <c:v>11.686033764525325</c:v>
                </c:pt>
                <c:pt idx="5">
                  <c:v>8.851976272878817</c:v>
                </c:pt>
                <c:pt idx="6">
                  <c:v>9.76588988029299</c:v>
                </c:pt>
                <c:pt idx="7">
                  <c:v>13.1792229686935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3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3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3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3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&quot;;&quot;MMM&quot;;&quot;MMM&quot;" sourceLinked="0"/>
              <c:spPr>
                <a:blipFill>
                  <a:blip r:embed="rId3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3.8558467741935485</c:v>
                </c:pt>
                <c:pt idx="1">
                  <c:v>3.2431921331316187</c:v>
                </c:pt>
                <c:pt idx="2">
                  <c:v>2.964073701292033</c:v>
                </c:pt>
                <c:pt idx="3">
                  <c:v>2.5810952214858736</c:v>
                </c:pt>
                <c:pt idx="4">
                  <c:v>3.63809106190163</c:v>
                </c:pt>
                <c:pt idx="5">
                  <c:v>3.4389094324614775</c:v>
                </c:pt>
                <c:pt idx="6">
                  <c:v>3.4253794974051175</c:v>
                </c:pt>
                <c:pt idx="7">
                  <c:v>4.136889064950678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4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4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4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4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4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18.72983870967742</c:v>
                </c:pt>
                <c:pt idx="1">
                  <c:v>18.29141452344932</c:v>
                </c:pt>
                <c:pt idx="2">
                  <c:v>25.891995152311896</c:v>
                </c:pt>
                <c:pt idx="3">
                  <c:v>26.578304848273454</c:v>
                </c:pt>
                <c:pt idx="4">
                  <c:v>22.40005846671052</c:v>
                </c:pt>
                <c:pt idx="5">
                  <c:v>19.691648967227124</c:v>
                </c:pt>
                <c:pt idx="6">
                  <c:v>26.34024183098686</c:v>
                </c:pt>
                <c:pt idx="7">
                  <c:v>17.729985190849188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2A5F8F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113.08936406485941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153.71694406508578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259.04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0081E2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94.26923980706914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203.91047784585953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311.095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0E2A5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95.71450068251724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20.686935374323546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31.804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90.04016219252416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74.56673994172078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111.233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71.46567473412216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25.784176970210403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34.825</c:v>
                </c:pt>
              </c:numCache>
            </c:numRef>
          </c:bubbleSize>
          <c:bubble3D val="0"/>
        </c:ser>
        <c:ser>
          <c:idx val="5"/>
          <c:order val="5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79C3EC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104.70628654244445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121.33472580280005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195.634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25.0"/>
          <c:min val="6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140.32</c:v>
                </c:pt>
                <c:pt idx="2">
                  <c:v>158.424</c:v>
                </c:pt>
                <c:pt idx="3">
                  <c:v>178.974</c:v>
                </c:pt>
                <c:pt idx="4">
                  <c:v>202.325</c:v>
                </c:pt>
                <c:pt idx="5">
                  <c:v>228.862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140.32</c:v>
                </c:pt>
                <c:pt idx="1">
                  <c:v>18.104000000000013</c:v>
                </c:pt>
                <c:pt idx="2">
                  <c:v>20.549999999999983</c:v>
                </c:pt>
                <c:pt idx="3">
                  <c:v>23.351</c:v>
                </c:pt>
                <c:pt idx="4">
                  <c:v>26.537000000000006</c:v>
                </c:pt>
                <c:pt idx="5">
                  <c:v>30.178000000000026</c:v>
                </c:pt>
                <c:pt idx="6">
                  <c:v>259.04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186.139</c:v>
                </c:pt>
                <c:pt idx="2">
                  <c:v>206.171</c:v>
                </c:pt>
                <c:pt idx="3">
                  <c:v>228.418</c:v>
                </c:pt>
                <c:pt idx="4">
                  <c:v>253.132</c:v>
                </c:pt>
                <c:pt idx="5">
                  <c:v>280.586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186.139</c:v>
                </c:pt>
                <c:pt idx="1">
                  <c:v>20.031999999999982</c:v>
                </c:pt>
                <c:pt idx="2">
                  <c:v>22.247000000000014</c:v>
                </c:pt>
                <c:pt idx="3">
                  <c:v>24.714</c:v>
                </c:pt>
                <c:pt idx="4">
                  <c:v>27.454000000000008</c:v>
                </c:pt>
                <c:pt idx="5">
                  <c:v>30.509000000000015</c:v>
                </c:pt>
                <c:pt idx="6">
                  <c:v>311.095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18.884</c:v>
                </c:pt>
                <c:pt idx="2">
                  <c:v>20.939</c:v>
                </c:pt>
                <c:pt idx="3">
                  <c:v>23.231</c:v>
                </c:pt>
                <c:pt idx="4">
                  <c:v>25.783</c:v>
                </c:pt>
                <c:pt idx="5">
                  <c:v>28.629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18.884</c:v>
                </c:pt>
                <c:pt idx="1">
                  <c:v>2.0549999999999997</c:v>
                </c:pt>
                <c:pt idx="2">
                  <c:v>2.2920000000000016</c:v>
                </c:pt>
                <c:pt idx="3">
                  <c:v>2.5519999999999996</c:v>
                </c:pt>
                <c:pt idx="4">
                  <c:v>2.846</c:v>
                </c:pt>
                <c:pt idx="5">
                  <c:v>3.174999999999997</c:v>
                </c:pt>
                <c:pt idx="6">
                  <c:v>31.804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68.068</c:v>
                </c:pt>
                <c:pt idx="2">
                  <c:v>75.085</c:v>
                </c:pt>
                <c:pt idx="3">
                  <c:v>82.834</c:v>
                </c:pt>
                <c:pt idx="4">
                  <c:v>91.387</c:v>
                </c:pt>
                <c:pt idx="5">
                  <c:v>100.826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68.068</c:v>
                </c:pt>
                <c:pt idx="1">
                  <c:v>7.016999999999996</c:v>
                </c:pt>
                <c:pt idx="2">
                  <c:v>7.749000000000009</c:v>
                </c:pt>
                <c:pt idx="3">
                  <c:v>8.552999999999997</c:v>
                </c:pt>
                <c:pt idx="4">
                  <c:v>9.438999999999993</c:v>
                </c:pt>
                <c:pt idx="5">
                  <c:v>10.40700000000001</c:v>
                </c:pt>
                <c:pt idx="6">
                  <c:v>111.233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23.537</c:v>
                </c:pt>
                <c:pt idx="2">
                  <c:v>25.515</c:v>
                </c:pt>
                <c:pt idx="3">
                  <c:v>27.632</c:v>
                </c:pt>
                <c:pt idx="4">
                  <c:v>29.888</c:v>
                </c:pt>
                <c:pt idx="5">
                  <c:v>32.287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23.537</c:v>
                </c:pt>
                <c:pt idx="1">
                  <c:v>1.9780000000000015</c:v>
                </c:pt>
                <c:pt idx="2">
                  <c:v>2.117000000000001</c:v>
                </c:pt>
                <c:pt idx="3">
                  <c:v>2.2560000000000002</c:v>
                </c:pt>
                <c:pt idx="4">
                  <c:v>2.3989999999999974</c:v>
                </c:pt>
                <c:pt idx="5">
                  <c:v>2.538000000000004</c:v>
                </c:pt>
                <c:pt idx="6">
                  <c:v>34.825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110.76</c:v>
                </c:pt>
                <c:pt idx="2">
                  <c:v>123.942</c:v>
                </c:pt>
                <c:pt idx="3">
                  <c:v>138.788</c:v>
                </c:pt>
                <c:pt idx="4">
                  <c:v>155.512</c:v>
                </c:pt>
                <c:pt idx="5">
                  <c:v>174.367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110.76</c:v>
                </c:pt>
                <c:pt idx="1">
                  <c:v>13.181999999999988</c:v>
                </c:pt>
                <c:pt idx="2">
                  <c:v>14.846000000000018</c:v>
                </c:pt>
                <c:pt idx="3">
                  <c:v>16.72399999999999</c:v>
                </c:pt>
                <c:pt idx="4">
                  <c:v>18.85499999999999</c:v>
                </c:pt>
                <c:pt idx="5">
                  <c:v>21.266999999999996</c:v>
                </c:pt>
                <c:pt idx="6">
                  <c:v>195.634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Academic Institutions and Universities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34.43928517298869</c:v>
                </c:pt>
                <c:pt idx="1">
                  <c:v>33.985079640976586</c:v>
                </c:pt>
                <c:pt idx="2">
                  <c:v>32.96786561696256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Government and Defense Agencies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24.784252127625372</c:v>
                </c:pt>
                <c:pt idx="1">
                  <c:v>25.619490677514296</c:v>
                </c:pt>
                <c:pt idx="2">
                  <c:v>27.451408442495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Other End Users</c:v>
                </c:pt>
              </c:strCache>
            </c:strRef>
          </c:tx>
          <c:spPr>
            <a:solidFill>
              <a:srgbClr val="0E2A5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20.00587881376561</c:v>
                </c:pt>
                <c:pt idx="1">
                  <c:v>20.222454300466673</c:v>
                </c:pt>
                <c:pt idx="2">
                  <c:v>20.732044623375025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Healthcare and Medical Research Institutions</c:v>
                </c:pt>
              </c:strCache>
            </c:strRef>
          </c:tx>
          <c:spPr>
            <a:solidFill>
              <a:srgbClr val="00ACAC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12.711327279992284</c:v>
                </c:pt>
                <c:pt idx="1">
                  <c:v>12.427789990286795</c:v>
                </c:pt>
                <c:pt idx="2">
                  <c:v>11.787764496927295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Commercial and Industrial Enterprises</c:v>
                </c:pt>
              </c:strCache>
            </c:strRef>
          </c:tx>
          <c:spPr>
            <a:solidFill>
              <a:srgbClr val="F4762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4.571925908575261</c:v>
                </c:pt>
                <c:pt idx="1">
                  <c:v>4.297362828368401</c:v>
                </c:pt>
                <c:pt idx="2">
                  <c:v>3.6905315743124167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Independent Research Institutions</c:v>
                </c:pt>
              </c:strCache>
            </c:strRef>
          </c:tx>
          <c:spPr>
            <a:solidFill>
              <a:srgbClr val="79C3EC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3.4873306970527853</c:v>
                </c:pt>
                <c:pt idx="1">
                  <c:v>3.447822562387258</c:v>
                </c:pt>
                <c:pt idx="2">
                  <c:v>3.3703852459276975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Volume (Litres)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  <c:numFmt formatCode="&quot;&quot;" sourceLinked="0"/>
            </c:dLbl>
            <c:dLbl>
              <c:idx val="2"/>
              <c:delete val="1"/>
              <c:numFmt formatCode="&quot;&quot;" sourceLinked="0"/>
            </c:dLbl>
            <c:dLbl>
              <c:idx val="3"/>
              <c:delete val="1"/>
              <c:numFmt formatCode="&quot;&quot;" sourceLinked="0"/>
            </c:dLbl>
            <c:dLbl>
              <c:idx val="4"/>
              <c:delete val="1"/>
              <c:numFmt formatCode="&quot;&quot;" sourceLinked="0"/>
            </c:dLbl>
            <c:dLbl>
              <c:idx val="5"/>
              <c:delete val="1"/>
              <c:numFmt formatCode="&quot;&quot;" sourceLinked="0"/>
            </c:dLbl>
            <c:dLbl>
              <c:idx val="6"/>
              <c:delete val="1"/>
              <c:numFmt formatCode="&quot;&quot;" sourceLinked="0"/>
            </c:dLbl>
            <c:dLbl>
              <c:idx val="7"/>
              <c:delete val="1"/>
              <c:numFmt formatCode="&quot;&quot;" sourceLinked="0"/>
            </c:dLbl>
            <c:dLbl>
              <c:idx val="8"/>
              <c:delete val="1"/>
              <c:numFmt formatCode="&quot;&quot;" sourceLinked="0"/>
            </c:dLbl>
            <c:dLbl>
              <c:idx val="9"/>
              <c:delete val="1"/>
              <c:numFmt formatCode="&quot;&quot;" sourceLinked="0"/>
            </c:dLbl>
            <c:dLbl>
              <c:idx val="10"/>
              <c:delete val="1"/>
              <c:numFmt formatCode="&quot;&quot;" sourceLinked="0"/>
            </c:dLbl>
            <c:dLbl>
              <c:idx val="11"/>
              <c:delete val="1"/>
              <c:numFmt formatCode="&quot;&quot;" sourceLinked="0"/>
            </c:dLbl>
            <c:dLbl>
              <c:idx val="12"/>
              <c:delete val="1"/>
              <c:numFmt formatCode="&quot;&quot;" sourceLinked="0"/>
            </c:dLbl>
            <c:dLbl>
              <c:idx val="13"/>
              <c:delete val="1"/>
              <c:numFmt formatCode="&quot;&quot;" sourceLinked="0"/>
            </c:dLbl>
            <c:dLbl>
              <c:idx val="14"/>
              <c:delete val="1"/>
              <c:numFmt formatCode="&quot;&quot;" sourceLinked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34115.135</c:v>
                </c:pt>
                <c:pt idx="1">
                  <c:v>35594.195999999996</c:v>
                </c:pt>
                <c:pt idx="2">
                  <c:v>37137.382</c:v>
                </c:pt>
                <c:pt idx="3">
                  <c:v>38747.473</c:v>
                </c:pt>
                <c:pt idx="4">
                  <c:v>40427.369999999995</c:v>
                </c:pt>
                <c:pt idx="5">
                  <c:v>42180.098</c:v>
                </c:pt>
                <c:pt idx="6">
                  <c:v>44341.759</c:v>
                </c:pt>
                <c:pt idx="7">
                  <c:v>46614.202000000005</c:v>
                </c:pt>
                <c:pt idx="8">
                  <c:v>49003.104</c:v>
                </c:pt>
                <c:pt idx="9">
                  <c:v>51514.433000000005</c:v>
                </c:pt>
                <c:pt idx="10">
                  <c:v>54154.464</c:v>
                </c:pt>
                <c:pt idx="11">
                  <c:v>56929.792</c:v>
                </c:pt>
                <c:pt idx="12">
                  <c:v>59847.350999999995</c:v>
                </c:pt>
                <c:pt idx="13">
                  <c:v>62914.42999999999</c:v>
                </c:pt>
                <c:pt idx="14">
                  <c:v>66138.69200000001</c:v>
                </c:pt>
                <c:pt idx="15">
                  <c:v>69528.193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0E2A5C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Global</c:v>
                </c:pt>
                <c:pt idx="1">
                  <c:v>Western Europe</c:v>
                </c:pt>
                <c:pt idx="2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0.045531072559717556</c:v>
                </c:pt>
                <c:pt idx="1">
                  <c:v>0.04247760334819195</c:v>
                </c:pt>
                <c:pt idx="2">
                  <c:v>0.051248370933512755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06918530076024222"/>
          <c:min val="0.0"/>
        </c:scaling>
        <c:delete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0.0</c:v>
                </c:pt>
                <c:pt idx="1">
                  <c:v>42180.098</c:v>
                </c:pt>
                <c:pt idx="2">
                  <c:v>44341.759</c:v>
                </c:pt>
                <c:pt idx="3">
                  <c:v>46614.202000000005</c:v>
                </c:pt>
                <c:pt idx="4">
                  <c:v>49003.104</c:v>
                </c:pt>
                <c:pt idx="5">
                  <c:v>51514.433000000005</c:v>
                </c:pt>
                <c:pt idx="6">
                  <c:v>54154.464</c:v>
                </c:pt>
                <c:pt idx="7">
                  <c:v>56929.792</c:v>
                </c:pt>
                <c:pt idx="8">
                  <c:v>59847.350999999995</c:v>
                </c:pt>
                <c:pt idx="9">
                  <c:v>62914.42999999999</c:v>
                </c:pt>
                <c:pt idx="10">
                  <c:v>66138.69200000001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00ACAC"/>
              </a:solidFill>
            </c:spPr>
          </c:dPt>
          <c:dPt>
            <c:idx val="7"/>
            <c:spPr>
              <a:solidFill>
                <a:srgbClr val="00ACAC"/>
              </a:solidFill>
            </c:spPr>
          </c:dPt>
          <c:dPt>
            <c:idx val="8"/>
            <c:spPr>
              <a:solidFill>
                <a:srgbClr val="00ACAC"/>
              </a:solidFill>
            </c:spPr>
          </c:dPt>
          <c:dPt>
            <c:idx val="9"/>
            <c:spPr>
              <a:solidFill>
                <a:srgbClr val="00ACAC"/>
              </a:solidFill>
            </c:spPr>
          </c:dPt>
          <c:dPt>
            <c:idx val="10"/>
            <c:spPr>
              <a:solidFill>
                <a:srgbClr val="00ACAC"/>
              </a:solidFill>
            </c:spPr>
          </c:dPt>
          <c:dPt>
            <c:idx val="11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42180.098</c:v>
                </c:pt>
                <c:pt idx="1">
                  <c:v>2161.661</c:v>
                </c:pt>
                <c:pt idx="2">
                  <c:v>2272.4430000000066</c:v>
                </c:pt>
                <c:pt idx="3">
                  <c:v>2388.9019999999946</c:v>
                </c:pt>
                <c:pt idx="4">
                  <c:v>2511.329000000005</c:v>
                </c:pt>
                <c:pt idx="5">
                  <c:v>2640.0309999999954</c:v>
                </c:pt>
                <c:pt idx="6">
                  <c:v>2775.3280000000013</c:v>
                </c:pt>
                <c:pt idx="7">
                  <c:v>2917.558999999994</c:v>
                </c:pt>
                <c:pt idx="8">
                  <c:v>3067.078999999998</c:v>
                </c:pt>
                <c:pt idx="9">
                  <c:v>3224.262000000017</c:v>
                </c:pt>
                <c:pt idx="10">
                  <c:v>3389.5009999999893</c:v>
                </c:pt>
                <c:pt idx="11">
                  <c:v>69528.193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41.501029519294924</c:v>
                </c:pt>
                <c:pt idx="1">
                  <c:v>1.5865908412265908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Rest of the market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58.498970480705076</c:v>
                </c:pt>
                <c:pt idx="1">
                  <c:v>98.4134091587734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  <c:numFmt formatCode="&quot;&quot;" sourceLinked="0"/>
            </c:dLbl>
            <c:dLbl>
              <c:idx val="2"/>
              <c:delete val="1"/>
              <c:numFmt formatCode="&quot;&quot;" sourceLinked="0"/>
            </c:dLbl>
            <c:dLbl>
              <c:idx val="3"/>
              <c:delete val="1"/>
              <c:numFmt formatCode="&quot;&quot;" sourceLinked="0"/>
            </c:dLbl>
            <c:dLbl>
              <c:idx val="4"/>
              <c:delete val="1"/>
              <c:numFmt formatCode="&quot;&quot;" sourceLinked="0"/>
            </c:dLbl>
            <c:dLbl>
              <c:idx val="5"/>
              <c:delete val="1"/>
              <c:numFmt formatCode="&quot;&quot;" sourceLinked="0"/>
            </c:dLbl>
            <c:dLbl>
              <c:idx val="6"/>
              <c:delete val="1"/>
              <c:numFmt formatCode="&quot;&quot;" sourceLinked="0"/>
            </c:dLbl>
            <c:dLbl>
              <c:idx val="7"/>
              <c:delete val="1"/>
              <c:numFmt formatCode="&quot;&quot;" sourceLinked="0"/>
            </c:dLbl>
            <c:dLbl>
              <c:idx val="8"/>
              <c:delete val="1"/>
              <c:numFmt formatCode="&quot;&quot;" sourceLinked="0"/>
            </c:dLbl>
            <c:dLbl>
              <c:idx val="9"/>
              <c:delete val="1"/>
              <c:numFmt formatCode="&quot;&quot;" sourceLinked="0"/>
            </c:dLbl>
            <c:dLbl>
              <c:idx val="10"/>
              <c:delete val="1"/>
              <c:numFmt formatCode="&quot;&quot;" sourceLinked="0"/>
            </c:dLbl>
            <c:dLbl>
              <c:idx val="11"/>
              <c:delete val="1"/>
              <c:numFmt formatCode="&quot;&quot;" sourceLinked="0"/>
            </c:dLbl>
            <c:dLbl>
              <c:idx val="12"/>
              <c:delete val="1"/>
              <c:numFmt formatCode="&quot;&quot;" sourceLinked="0"/>
            </c:dLbl>
            <c:dLbl>
              <c:idx val="13"/>
              <c:delete val="1"/>
              <c:numFmt formatCode="&quot;&quot;" sourceLinked="0"/>
            </c:dLbl>
            <c:dLbl>
              <c:idx val="14"/>
              <c:delete val="1"/>
              <c:numFmt formatCode="&quot;&quot;" sourceLinked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174.20600000000002</c:v>
                </c:pt>
                <c:pt idx="1">
                  <c:v>184.214</c:v>
                </c:pt>
                <c:pt idx="2">
                  <c:v>194.796</c:v>
                </c:pt>
                <c:pt idx="3">
                  <c:v>205.98700000000002</c:v>
                </c:pt>
                <c:pt idx="4">
                  <c:v>217.821</c:v>
                </c:pt>
                <c:pt idx="5">
                  <c:v>230.334</c:v>
                </c:pt>
                <c:pt idx="6">
                  <c:v>245.409</c:v>
                </c:pt>
                <c:pt idx="7">
                  <c:v>261.47</c:v>
                </c:pt>
                <c:pt idx="8">
                  <c:v>278.583</c:v>
                </c:pt>
                <c:pt idx="9">
                  <c:v>296.81600000000003</c:v>
                </c:pt>
                <c:pt idx="10">
                  <c:v>316.24199999999996</c:v>
                </c:pt>
                <c:pt idx="11">
                  <c:v>336.93899999999996</c:v>
                </c:pt>
                <c:pt idx="12">
                  <c:v>358.991</c:v>
                </c:pt>
                <c:pt idx="13">
                  <c:v>382.48699999999997</c:v>
                </c:pt>
                <c:pt idx="14">
                  <c:v>407.52</c:v>
                </c:pt>
                <c:pt idx="15">
                  <c:v>434.19100000000003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0E2A5C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Global</c:v>
                </c:pt>
                <c:pt idx="1">
                  <c:v>Western Europe</c:v>
                </c:pt>
                <c:pt idx="2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0.049939469101035305</c:v>
                </c:pt>
                <c:pt idx="1">
                  <c:v>0.05590613092955543</c:v>
                </c:pt>
                <c:pt idx="2">
                  <c:v>0.06544804476305299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08835486043012154"/>
          <c:min val="0.0"/>
        </c:scaling>
        <c:delete/>
        <c:axPos val="b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0.0</c:v>
                </c:pt>
                <c:pt idx="1">
                  <c:v>230.334</c:v>
                </c:pt>
                <c:pt idx="2">
                  <c:v>245.409</c:v>
                </c:pt>
                <c:pt idx="3">
                  <c:v>261.47</c:v>
                </c:pt>
                <c:pt idx="4">
                  <c:v>278.583</c:v>
                </c:pt>
                <c:pt idx="5">
                  <c:v>296.81600000000003</c:v>
                </c:pt>
                <c:pt idx="6">
                  <c:v>316.24199999999996</c:v>
                </c:pt>
                <c:pt idx="7">
                  <c:v>336.93899999999996</c:v>
                </c:pt>
                <c:pt idx="8">
                  <c:v>358.991</c:v>
                </c:pt>
                <c:pt idx="9">
                  <c:v>382.48699999999997</c:v>
                </c:pt>
                <c:pt idx="10">
                  <c:v>407.52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00ACAC"/>
              </a:solidFill>
            </c:spPr>
          </c:dPt>
          <c:dPt>
            <c:idx val="7"/>
            <c:spPr>
              <a:solidFill>
                <a:srgbClr val="00ACAC"/>
              </a:solidFill>
            </c:spPr>
          </c:dPt>
          <c:dPt>
            <c:idx val="8"/>
            <c:spPr>
              <a:solidFill>
                <a:srgbClr val="00ACAC"/>
              </a:solidFill>
            </c:spPr>
          </c:dPt>
          <c:dPt>
            <c:idx val="9"/>
            <c:spPr>
              <a:solidFill>
                <a:srgbClr val="00ACAC"/>
              </a:solidFill>
            </c:spPr>
          </c:dPt>
          <c:dPt>
            <c:idx val="10"/>
            <c:spPr>
              <a:solidFill>
                <a:srgbClr val="00ACAC"/>
              </a:solidFill>
            </c:spPr>
          </c:dPt>
          <c:dPt>
            <c:idx val="11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230.334</c:v>
                </c:pt>
                <c:pt idx="1">
                  <c:v>15.074999999999989</c:v>
                </c:pt>
                <c:pt idx="2">
                  <c:v>16.061000000000035</c:v>
                </c:pt>
                <c:pt idx="3">
                  <c:v>17.113</c:v>
                </c:pt>
                <c:pt idx="4">
                  <c:v>18.233000000000004</c:v>
                </c:pt>
                <c:pt idx="5">
                  <c:v>19.42599999999993</c:v>
                </c:pt>
                <c:pt idx="6">
                  <c:v>20.697000000000003</c:v>
                </c:pt>
                <c:pt idx="7">
                  <c:v>22.05200000000002</c:v>
                </c:pt>
                <c:pt idx="8">
                  <c:v>23.49599999999998</c:v>
                </c:pt>
                <c:pt idx="9">
                  <c:v>25.033000000000015</c:v>
                </c:pt>
                <c:pt idx="10">
                  <c:v>26.67100000000005</c:v>
                </c:pt>
                <c:pt idx="11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42.054160245970486</c:v>
                </c:pt>
                <c:pt idx="1">
                  <c:v>2.1131561571702897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Rest of the market</c:v>
                </c:pt>
              </c:strCache>
            </c:strRef>
          </c:tx>
          <c:spPr>
            <a:solidFill>
              <a:srgbClr val="0081E2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57.945839754029514</c:v>
                </c:pt>
                <c:pt idx="1">
                  <c:v>97.8868438428297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9EC6DE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Liquid Helium-3</c:v>
                </c:pt>
                <c:pt idx="5">
                  <c:v>Gaseous Helium-3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4">
                  <c:v>80.734</c:v>
                </c:pt>
                <c:pt idx="5">
                  <c:v>149.6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200.46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FFFFFF"/>
              </a:solidFill>
            </c:spPr>
          </c:dPt>
          <c:dPt>
            <c:idx val="4"/>
            <c:spPr>
              <a:solidFill>
                <a:srgbClr val="9DABB6"/>
              </a:solidFill>
            </c:spPr>
          </c:dPt>
          <c:dPt>
            <c:idx val="5"/>
            <c:spPr>
              <a:solidFill>
                <a:srgbClr val="0B2E4A"/>
              </a:solidFill>
            </c:spPr>
          </c:dPt>
          <c:dLbls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    </c:v>
                </c:pt>
                <c:pt idx="4">
                  <c:v>Terrestrial Natural /…</c:v>
                </c:pt>
                <c:pt idx="5">
                  <c:v>Tritium-Decay-Derived…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4">
                  <c:v>36.6</c:v>
                </c:pt>
                <c:pt idx="5">
                  <c:v>193.734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259.60356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C5B1E6"/>
              </a:solidFill>
            </c:spPr>
          </c:dPt>
          <c:dPt>
            <c:idx val="3"/>
            <c:spPr>
              <a:solidFill>
                <a:srgbClr val="A88ADA"/>
              </a:solidFill>
            </c:spPr>
          </c:dPt>
          <c:dPt>
            <c:idx val="4"/>
            <c:spPr>
              <a:solidFill>
                <a:srgbClr val="8B63CE"/>
              </a:solidFill>
            </c:spPr>
          </c:dPt>
          <c:dPt>
            <c:idx val="5"/>
            <c:spPr>
              <a:solidFill>
                <a:srgbClr val="6F3CC2"/>
              </a:solidFill>
            </c:spPr>
          </c:dPt>
          <c:dLbls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 </c:v>
                </c:pt>
                <c:pt idx="1">
                  <c:v>  </c:v>
                </c:pt>
                <c:pt idx="2">
                  <c:v>Neutron Detection and…</c:v>
                </c:pt>
                <c:pt idx="3">
                  <c:v>Nuclear Fusion Resear…</c:v>
                </c:pt>
                <c:pt idx="4">
                  <c:v>Cryogenic Refrigerati…</c:v>
                </c:pt>
                <c:pt idx="5">
                  <c:v>Medical and Biomedica…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2">
                  <c:v>24.131</c:v>
                </c:pt>
                <c:pt idx="3">
                  <c:v>34.742</c:v>
                </c:pt>
                <c:pt idx="4">
                  <c:v>48.241</c:v>
                </c:pt>
                <c:pt idx="5">
                  <c:v>123.22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65.1148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Pt>
            <c:idx val="0"/>
            <c:spPr>
              <a:solidFill>
                <a:srgbClr val="DABAA0"/>
              </a:solidFill>
            </c:spPr>
          </c:dPt>
          <c:dPt>
            <c:idx val="1"/>
            <c:spPr>
              <a:solidFill>
                <a:srgbClr val="CFA584"/>
              </a:solidFill>
            </c:spPr>
          </c:dPt>
          <c:dPt>
            <c:idx val="2"/>
            <c:spPr>
              <a:solidFill>
                <a:srgbClr val="C49067"/>
              </a:solidFill>
            </c:spPr>
          </c:dPt>
          <c:dPt>
            <c:idx val="3"/>
            <c:spPr>
              <a:solidFill>
                <a:srgbClr val="B97C4B"/>
              </a:solidFill>
            </c:spPr>
          </c:dPt>
          <c:dPt>
            <c:idx val="4"/>
            <c:spPr>
              <a:solidFill>
                <a:srgbClr val="AE672F"/>
              </a:solidFill>
            </c:spPr>
          </c:dPt>
          <c:dPt>
            <c:idx val="5"/>
            <c:spPr>
              <a:solidFill>
                <a:srgbClr val="A35313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Independent Research…</c:v>
                </c:pt>
                <c:pt idx="1">
                  <c:v>Commercial and Indust…</c:v>
                </c:pt>
                <c:pt idx="2">
                  <c:v>Healthcare and Medica…</c:v>
                </c:pt>
                <c:pt idx="3">
                  <c:v>Other End Users</c:v>
                </c:pt>
                <c:pt idx="4">
                  <c:v>Government and Defens…</c:v>
                </c:pt>
                <c:pt idx="5">
                  <c:v>Academic Institutions…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7.181</c:v>
                </c:pt>
                <c:pt idx="1">
                  <c:v>11.147</c:v>
                </c:pt>
                <c:pt idx="2">
                  <c:v>32.212</c:v>
                </c:pt>
                <c:pt idx="3">
                  <c:v>39.08</c:v>
                </c:pt>
                <c:pt idx="4">
                  <c:v>60.95</c:v>
                </c:pt>
                <c:pt idx="5">
                  <c:v>79.764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6.88376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Gaseous Helium-3</c:v>
                </c:pt>
                <c:pt idx="2">
                  <c:v>Liquid Helium-3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230.334</c:v>
                </c:pt>
                <c:pt idx="2">
                  <c:v>383.692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Gaseous Helium-3</c:v>
                </c:pt>
                <c:pt idx="2">
                  <c:v>Liquid Helium-3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230.334</c:v>
                </c:pt>
                <c:pt idx="1">
                  <c:v>153.35800000000003</c:v>
                </c:pt>
                <c:pt idx="2">
                  <c:v>50.49900000000001</c:v>
                </c:pt>
                <c:pt idx="3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Gaseous Helium-3</c:v>
                </c:pt>
                <c:pt idx="1">
                  <c:v>Liquid Helium-3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153.35800000000003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ACAC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Gaseous Helium-3</c:v>
                </c:pt>
                <c:pt idx="1">
                  <c:v>Liquid Helium-3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153.35800000000003</c:v>
                </c:pt>
                <c:pt idx="1">
                  <c:v>50.49900000000001</c:v>
                </c:pt>
                <c:pt idx="2">
                  <c:v>203.85700000000003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Tritium-Decay-Derived Helium-3</c:v>
                </c:pt>
                <c:pt idx="2">
                  <c:v>Terrestrial Natural / Geological Helium-3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230.334</c:v>
                </c:pt>
                <c:pt idx="2">
                  <c:v>403.34799999999996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Tritium-Decay-Derived Helium-3</c:v>
                </c:pt>
                <c:pt idx="2">
                  <c:v>Terrestrial Natural / Geological Helium-3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230.334</c:v>
                </c:pt>
                <c:pt idx="1">
                  <c:v>173.01399999999998</c:v>
                </c:pt>
                <c:pt idx="2">
                  <c:v>30.842999999999996</c:v>
                </c:pt>
                <c:pt idx="3">
                  <c:v>434.191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Tritium-Decay-Derived Helium-3</c:v>
                </c:pt>
                <c:pt idx="1">
                  <c:v>Terrestrial Natural / Geological Helium-3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173.01399999999998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ACAC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Tritium-Decay-Derived Helium-3</c:v>
                </c:pt>
                <c:pt idx="1">
                  <c:v>Terrestrial Natural / Geological Helium-3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173.01399999999998</c:v>
                </c:pt>
                <c:pt idx="1">
                  <c:v>30.842999999999996</c:v>
                </c:pt>
                <c:pt idx="2">
                  <c:v>203.85699999999997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Neutron Detection and Radiation Monitoring</c:v>
                </c:pt>
                <c:pt idx="2">
                  <c:v>Cryogenic Refrigeration and Ultra-Low-Temperature Cooling</c:v>
                </c:pt>
                <c:pt idx="3">
                  <c:v>Medical and Biomedical Imaging</c:v>
                </c:pt>
                <c:pt idx="4">
                  <c:v>Nuclear Fusion Research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230.33399999999997</c:v>
                </c:pt>
                <c:pt idx="2">
                  <c:v>266.09499999999997</c:v>
                </c:pt>
                <c:pt idx="3">
                  <c:v>323.68699999999995</c:v>
                </c:pt>
                <c:pt idx="4">
                  <c:v>405.81199999999995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Neutron Detection and Radiation Monitoring</c:v>
                </c:pt>
                <c:pt idx="2">
                  <c:v>Cryogenic Refrigeration and Ultra-Low-Temperature Cooling</c:v>
                </c:pt>
                <c:pt idx="3">
                  <c:v>Medical and Biomedical Imaging</c:v>
                </c:pt>
                <c:pt idx="4">
                  <c:v>Nuclear Fusion Research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230.33399999999997</c:v>
                </c:pt>
                <c:pt idx="1">
                  <c:v>35.761</c:v>
                </c:pt>
                <c:pt idx="2">
                  <c:v>57.592</c:v>
                </c:pt>
                <c:pt idx="3">
                  <c:v>82.125</c:v>
                </c:pt>
                <c:pt idx="4">
                  <c:v>28.379000000000005</c:v>
                </c:pt>
                <c:pt idx="5">
                  <c:v>434.191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Neutron Detection and Radiation Monitoring</c:v>
                </c:pt>
                <c:pt idx="1">
                  <c:v>Cryogenic Refrigeration and Ultra-Low-Temperature Cooling</c:v>
                </c:pt>
                <c:pt idx="2">
                  <c:v>Medical and Biomedical Imaging</c:v>
                </c:pt>
                <c:pt idx="3">
                  <c:v>Nuclear Fusion Research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35.761</c:v>
                </c:pt>
                <c:pt idx="2">
                  <c:v>93.35300000000001</c:v>
                </c:pt>
                <c:pt idx="3">
                  <c:v>175.478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ACAC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Neutron Detection and Radiation Monitoring</c:v>
                </c:pt>
                <c:pt idx="1">
                  <c:v>Cryogenic Refrigeration and Ultra-Low-Temperature Cooling</c:v>
                </c:pt>
                <c:pt idx="2">
                  <c:v>Medical and Biomedical Imaging</c:v>
                </c:pt>
                <c:pt idx="3">
                  <c:v>Nuclear Fusion Research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35.761</c:v>
                </c:pt>
                <c:pt idx="1">
                  <c:v>57.592</c:v>
                </c:pt>
                <c:pt idx="2">
                  <c:v>82.125</c:v>
                </c:pt>
                <c:pt idx="3">
                  <c:v>28.379000000000005</c:v>
                </c:pt>
                <c:pt idx="4">
                  <c:v>203.85700000000003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8"/>
                <c:pt idx="0">
                  <c:v>2026</c:v>
                </c:pt>
                <c:pt idx="1">
                  <c:v>Government and Defense Agencies</c:v>
                </c:pt>
                <c:pt idx="2">
                  <c:v>Academic Institutions and Universities</c:v>
                </c:pt>
                <c:pt idx="3">
                  <c:v>Independent Research Institutions</c:v>
                </c:pt>
                <c:pt idx="4">
                  <c:v>Healthcare and Medical Research Institutions</c:v>
                </c:pt>
                <c:pt idx="5">
                  <c:v>Commercial and Industrial Enterprises</c:v>
                </c:pt>
                <c:pt idx="6">
                  <c:v>Other End Users</c:v>
                </c:pt>
                <c:pt idx="7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0.0</c:v>
                </c:pt>
                <c:pt idx="1">
                  <c:v>230.334</c:v>
                </c:pt>
                <c:pt idx="2">
                  <c:v>292.624</c:v>
                </c:pt>
                <c:pt idx="3">
                  <c:v>358.223</c:v>
                </c:pt>
                <c:pt idx="4">
                  <c:v>364.463</c:v>
                </c:pt>
                <c:pt idx="5">
                  <c:v>389.47400000000005</c:v>
                </c:pt>
                <c:pt idx="6">
                  <c:v>396.28900000000004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00ACAC"/>
              </a:solidFill>
            </c:spPr>
          </c:dPt>
          <c:dPt>
            <c:idx val="7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2026</c:v>
                </c:pt>
                <c:pt idx="1">
                  <c:v>Government and Defense Agencies</c:v>
                </c:pt>
                <c:pt idx="2">
                  <c:v>Academic Institutions and Universities</c:v>
                </c:pt>
                <c:pt idx="3">
                  <c:v>Independent Research Institutions</c:v>
                </c:pt>
                <c:pt idx="4">
                  <c:v>Healthcare and Medical Research Institutions</c:v>
                </c:pt>
                <c:pt idx="5">
                  <c:v>Commercial and Industrial Enterprises</c:v>
                </c:pt>
                <c:pt idx="6">
                  <c:v>Other End Users</c:v>
                </c:pt>
                <c:pt idx="7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230.334</c:v>
                </c:pt>
                <c:pt idx="1">
                  <c:v>62.28999999999999</c:v>
                </c:pt>
                <c:pt idx="2">
                  <c:v>65.599</c:v>
                </c:pt>
                <c:pt idx="3">
                  <c:v>6.239999999999999</c:v>
                </c:pt>
                <c:pt idx="4">
                  <c:v>25.010999999999996</c:v>
                </c:pt>
                <c:pt idx="5">
                  <c:v>6.8149999999999995</c:v>
                </c:pt>
                <c:pt idx="6">
                  <c:v>37.902</c:v>
                </c:pt>
                <c:pt idx="7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Government and Defense Agencies</c:v>
                </c:pt>
                <c:pt idx="1">
                  <c:v>Academic Institutions and Universities</c:v>
                </c:pt>
                <c:pt idx="2">
                  <c:v>Independent Research Institutions</c:v>
                </c:pt>
                <c:pt idx="3">
                  <c:v>Healthcare and Medical Research Institutions</c:v>
                </c:pt>
                <c:pt idx="4">
                  <c:v>Commercial and Industrial Enterprises</c:v>
                </c:pt>
                <c:pt idx="5">
                  <c:v>Other End Users</c:v>
                </c:pt>
                <c:pt idx="6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62.28999999999999</c:v>
                </c:pt>
                <c:pt idx="2">
                  <c:v>127.889</c:v>
                </c:pt>
                <c:pt idx="3">
                  <c:v>134.129</c:v>
                </c:pt>
                <c:pt idx="4">
                  <c:v>159.14</c:v>
                </c:pt>
                <c:pt idx="5">
                  <c:v>165.95499999999998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ACAC"/>
              </a:solidFill>
            </c:spPr>
          </c:dPt>
          <c:dPt>
            <c:idx val="1"/>
            <c:spPr>
              <a:solidFill>
                <a:srgbClr val="00ACAC"/>
              </a:solidFill>
            </c:spPr>
          </c:dPt>
          <c:dPt>
            <c:idx val="2"/>
            <c:spPr>
              <a:solidFill>
                <a:srgbClr val="00ACA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00ACAC"/>
              </a:solidFill>
            </c:spPr>
          </c:dPt>
          <c:dPt>
            <c:idx val="5"/>
            <c:spPr>
              <a:solidFill>
                <a:srgbClr val="00ACAC"/>
              </a:solidFill>
            </c:spPr>
          </c:dPt>
          <c:dPt>
            <c:idx val="6"/>
            <c:spPr>
              <a:solidFill>
                <a:srgbClr val="2A5F8F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Government and Defense Agencies</c:v>
                </c:pt>
                <c:pt idx="1">
                  <c:v>Academic Institutions and Universities</c:v>
                </c:pt>
                <c:pt idx="2">
                  <c:v>Independent Research Institutions</c:v>
                </c:pt>
                <c:pt idx="3">
                  <c:v>Healthcare and Medical Research Institutions</c:v>
                </c:pt>
                <c:pt idx="4">
                  <c:v>Commercial and Industrial Enterprises</c:v>
                </c:pt>
                <c:pt idx="5">
                  <c:v>Other End Users</c:v>
                </c:pt>
                <c:pt idx="6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62.28999999999999</c:v>
                </c:pt>
                <c:pt idx="1">
                  <c:v>65.599</c:v>
                </c:pt>
                <c:pt idx="2">
                  <c:v>6.239999999999999</c:v>
                </c:pt>
                <c:pt idx="3">
                  <c:v>25.010999999999996</c:v>
                </c:pt>
                <c:pt idx="4">
                  <c:v>6.8149999999999995</c:v>
                </c:pt>
                <c:pt idx="5">
                  <c:v>37.902</c:v>
                </c:pt>
                <c:pt idx="6">
                  <c:v>203.85699999999997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Gaseous Helium-3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4129.0</c:v>
                </c:pt>
                <c:pt idx="1">
                  <c:v>4140.0</c:v>
                </c:pt>
                <c:pt idx="2">
                  <c:v>4155.0</c:v>
                </c:pt>
                <c:pt idx="3">
                  <c:v>4175.0</c:v>
                </c:pt>
                <c:pt idx="4">
                  <c:v>4198.0</c:v>
                </c:pt>
                <c:pt idx="5">
                  <c:v>4224.0</c:v>
                </c:pt>
                <c:pt idx="6">
                  <c:v>4251.0</c:v>
                </c:pt>
                <c:pt idx="7">
                  <c:v>4276.0</c:v>
                </c:pt>
                <c:pt idx="8">
                  <c:v>4298.0</c:v>
                </c:pt>
                <c:pt idx="9">
                  <c:v>4317.0</c:v>
                </c:pt>
                <c:pt idx="10">
                  <c:v>4334.0</c:v>
                </c:pt>
                <c:pt idx="11">
                  <c:v>4348.0</c:v>
                </c:pt>
                <c:pt idx="12">
                  <c:v>4361.0</c:v>
                </c:pt>
                <c:pt idx="13">
                  <c:v>4372.0</c:v>
                </c:pt>
                <c:pt idx="14">
                  <c:v>4383.0</c:v>
                </c:pt>
                <c:pt idx="15">
                  <c:v>4392.0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Liquid Helium-3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3783.0</c:v>
                </c:pt>
                <c:pt idx="1">
                  <c:v>3802.0</c:v>
                </c:pt>
                <c:pt idx="2">
                  <c:v>3819.0</c:v>
                </c:pt>
                <c:pt idx="3">
                  <c:v>3835.0</c:v>
                </c:pt>
                <c:pt idx="4">
                  <c:v>3849.0</c:v>
                </c:pt>
                <c:pt idx="5">
                  <c:v>3864.0</c:v>
                </c:pt>
                <c:pt idx="6">
                  <c:v>3876.0</c:v>
                </c:pt>
                <c:pt idx="7">
                  <c:v>3890.0</c:v>
                </c:pt>
                <c:pt idx="8">
                  <c:v>3905.0</c:v>
                </c:pt>
                <c:pt idx="9">
                  <c:v>3920.0</c:v>
                </c:pt>
                <c:pt idx="10">
                  <c:v>3935.0</c:v>
                </c:pt>
                <c:pt idx="11">
                  <c:v>3949.0</c:v>
                </c:pt>
                <c:pt idx="12">
                  <c:v>3964.0</c:v>
                </c:pt>
                <c:pt idx="13">
                  <c:v>3979.0</c:v>
                </c:pt>
                <c:pt idx="14">
                  <c:v>3993.0</c:v>
                </c:pt>
                <c:pt idx="15">
                  <c:v>4006.0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500.0"/>
          <c:min val="35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C55A11"/>
              </a:solidFill>
            </c:spPr>
          </c:dPt>
          <c:cat>
            <c:strRef>
              <c:strCache>
                <c:ptCount val="2"/>
                <c:pt idx="0">
                  <c:v>Liquid Helium-3</c:v>
                </c:pt>
                <c:pt idx="1">
                  <c:v>Gaseous Helium-3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94.2</c:v>
                </c:pt>
                <c:pt idx="1">
                  <c:v>103.0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5.0"/>
          <c:min val="91.0"/>
        </c:scaling>
        <c:delete/>
        <c:axPos val="b"/>
        <c:majorTickMark val="out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strCache>
                <c:ptCount val="7"/>
                <c:pt idx="0">
                  <c:v>North America</c:v>
                </c:pt>
                <c:pt idx="1">
                  <c:v>Western Europe</c:v>
                </c:pt>
                <c:pt idx="2">
                  <c:v>Eastern Europe</c:v>
                </c:pt>
                <c:pt idx="3">
                  <c:v>Latin America</c:v>
                </c:pt>
                <c:pt idx="4">
                  <c:v>Middle East &amp; Africa</c:v>
                </c:pt>
                <c:pt idx="5">
                  <c:v>East Asia</c:v>
                </c:pt>
                <c:pt idx="6">
                  <c:v>South Asia &amp; Pacific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134.7</c:v>
                </c:pt>
                <c:pt idx="1">
                  <c:v>125.6</c:v>
                </c:pt>
                <c:pt idx="2">
                  <c:v>103.9</c:v>
                </c:pt>
                <c:pt idx="3">
                  <c:v>96.8</c:v>
                </c:pt>
                <c:pt idx="4">
                  <c:v>91.5</c:v>
                </c:pt>
                <c:pt idx="5">
                  <c:v>70.0</c:v>
                </c:pt>
                <c:pt idx="6">
                  <c:v>62.6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4"/>
            <c:spPr>
              <a:solidFill>
                <a:srgbClr val="5B7DB1"/>
              </a:solidFill>
            </c:spPr>
          </c:dPt>
          <c:dPt>
            <c:idx val="5"/>
            <c:spPr>
              <a:solidFill>
                <a:srgbClr val="5B7DB1"/>
              </a:solidFill>
            </c:spPr>
          </c:dPt>
          <c:dPt>
            <c:idx val="6"/>
            <c:spPr>
              <a:solidFill>
                <a:srgbClr val="5B7DB1"/>
              </a:solidFill>
            </c:spPr>
          </c:dPt>
          <c:cat>
            <c:strRef>
              <c:strCache>
                <c:ptCount val="7"/>
                <c:pt idx="0">
                  <c:v>North America</c:v>
                </c:pt>
                <c:pt idx="1">
                  <c:v>Western Europe</c:v>
                </c:pt>
                <c:pt idx="2">
                  <c:v>Eastern Europe</c:v>
                </c:pt>
                <c:pt idx="3">
                  <c:v>Latin America</c:v>
                </c:pt>
                <c:pt idx="4">
                  <c:v>Middle East &amp; Africa</c:v>
                </c:pt>
                <c:pt idx="5">
                  <c:v>East Asia</c:v>
                </c:pt>
                <c:pt idx="6">
                  <c:v>South Asia &amp; Pacific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10.0</c:v>
                </c:pt>
                <c:pt idx="1">
                  <c:v>9.4</c:v>
                </c:pt>
                <c:pt idx="2">
                  <c:v>7.9</c:v>
                </c:pt>
                <c:pt idx="3">
                  <c:v>7.0</c:v>
                </c:pt>
                <c:pt idx="4">
                  <c:v>6.8</c:v>
                </c:pt>
                <c:pt idx="5">
                  <c:v>5.0</c:v>
                </c:pt>
                <c:pt idx="6">
                  <c:v>4.9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5.0"/>
          <c:min val="6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CBEC0"/>
              </a:solidFill>
            </c:spPr>
          </c:dPt>
          <c:dPt>
            <c:idx val="9"/>
            <c:spPr>
              <a:solidFill>
                <a:srgbClr val="3DC6C4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Air Liquide</c:v>
                </c:pt>
                <c:pt idx="1">
                  <c:v>Linde</c:v>
                </c:pt>
                <c:pt idx="2">
                  <c:v>Chemgas</c:v>
                </c:pt>
                <c:pt idx="3">
                  <c:v>Airgas</c:v>
                </c:pt>
                <c:pt idx="4">
                  <c:v>Merck KGaA</c:v>
                </c:pt>
                <c:pt idx="5">
                  <c:v>Eurisotop</c:v>
                </c:pt>
                <c:pt idx="6">
                  <c:v>ISOFLEX USA</c:v>
                </c:pt>
                <c:pt idx="7">
                  <c:v>DWS Specialty Gas</c:v>
                </c:pt>
                <c:pt idx="8">
                  <c:v>Wuhan Baisida Gas</c:v>
                </c:pt>
                <c:pt idx="9">
                  <c:v>Shanghai Wechem Chemical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15.401240790072531</c:v>
                </c:pt>
                <c:pt idx="1">
                  <c:v>13.483170759180721</c:v>
                </c:pt>
                <c:pt idx="2">
                  <c:v>9.299352883645389</c:v>
                </c:pt>
                <c:pt idx="3">
                  <c:v>6.532876475193234</c:v>
                </c:pt>
                <c:pt idx="4">
                  <c:v>6.473319829711895</c:v>
                </c:pt>
                <c:pt idx="5">
                  <c:v>6.433244680872182</c:v>
                </c:pt>
                <c:pt idx="6">
                  <c:v>5.1503700280767655</c:v>
                </c:pt>
                <c:pt idx="7">
                  <c:v>3.1015192989370006</c:v>
                </c:pt>
                <c:pt idx="8">
                  <c:v>2.164598136819089</c:v>
                </c:pt>
                <c:pt idx="9">
                  <c:v>2.136096181068746</c:v>
                </c:pt>
                <c:pt idx="10">
                  <c:v>29.824210936422443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CBEC0"/>
              </a:solidFill>
            </c:spPr>
          </c:dPt>
          <c:dPt>
            <c:idx val="9"/>
            <c:spPr>
              <a:solidFill>
                <a:srgbClr val="3DC6C4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Air Liquide</c:v>
                </c:pt>
                <c:pt idx="1">
                  <c:v>Linde</c:v>
                </c:pt>
                <c:pt idx="2">
                  <c:v>Chemgas</c:v>
                </c:pt>
                <c:pt idx="3">
                  <c:v>Airgas</c:v>
                </c:pt>
                <c:pt idx="4">
                  <c:v>Merck KGaA</c:v>
                </c:pt>
                <c:pt idx="5">
                  <c:v>Eurisotop</c:v>
                </c:pt>
                <c:pt idx="6">
                  <c:v>ISOFLEX USA</c:v>
                </c:pt>
                <c:pt idx="7">
                  <c:v>DWS Specialty Gas</c:v>
                </c:pt>
                <c:pt idx="8">
                  <c:v>Wuhan Baisida Gas</c:v>
                </c:pt>
                <c:pt idx="9">
                  <c:v>Shanghai Wechem Chemical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11.693602256562977</c:v>
                </c:pt>
                <c:pt idx="1">
                  <c:v>9.98907014549872</c:v>
                </c:pt>
                <c:pt idx="2">
                  <c:v>11.264513875278551</c:v>
                </c:pt>
                <c:pt idx="3">
                  <c:v>11.542462021743303</c:v>
                </c:pt>
                <c:pt idx="4">
                  <c:v>9.170712625473369</c:v>
                </c:pt>
                <c:pt idx="5">
                  <c:v>5.69371565484273</c:v>
                </c:pt>
                <c:pt idx="6">
                  <c:v>3.7515880157620747</c:v>
                </c:pt>
                <c:pt idx="7">
                  <c:v>3.240076671241286</c:v>
                </c:pt>
                <c:pt idx="8">
                  <c:v>3.3901784262482124</c:v>
                </c:pt>
                <c:pt idx="9">
                  <c:v>3.0300946920704144</c:v>
                </c:pt>
                <c:pt idx="10">
                  <c:v>27.23398561527836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CBEC0"/>
              </a:solidFill>
            </c:spPr>
          </c:dPt>
          <c:dPt>
            <c:idx val="9"/>
            <c:spPr>
              <a:solidFill>
                <a:srgbClr val="3DC6C4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Air Liquide</c:v>
                </c:pt>
                <c:pt idx="1">
                  <c:v>Linde</c:v>
                </c:pt>
                <c:pt idx="2">
                  <c:v>Chemgas</c:v>
                </c:pt>
                <c:pt idx="3">
                  <c:v>Airgas</c:v>
                </c:pt>
                <c:pt idx="4">
                  <c:v>Merck KGaA</c:v>
                </c:pt>
                <c:pt idx="5">
                  <c:v>Eurisotop</c:v>
                </c:pt>
                <c:pt idx="6">
                  <c:v>ISOFLEX USA</c:v>
                </c:pt>
                <c:pt idx="7">
                  <c:v>DWS Specialty Gas</c:v>
                </c:pt>
                <c:pt idx="8">
                  <c:v>Wuhan Baisida Gas</c:v>
                </c:pt>
                <c:pt idx="9">
                  <c:v>Shanghai Wechem Chemical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12.127056022733685</c:v>
                </c:pt>
                <c:pt idx="1">
                  <c:v>13.515963661294228</c:v>
                </c:pt>
                <c:pt idx="2">
                  <c:v>13.672509787055716</c:v>
                </c:pt>
                <c:pt idx="3">
                  <c:v>10.747277583816313</c:v>
                </c:pt>
                <c:pt idx="4">
                  <c:v>6.853819923875349</c:v>
                </c:pt>
                <c:pt idx="5">
                  <c:v>4.527540451517601</c:v>
                </c:pt>
                <c:pt idx="6">
                  <c:v>4.351504519294602</c:v>
                </c:pt>
                <c:pt idx="7">
                  <c:v>4.386878793633664</c:v>
                </c:pt>
                <c:pt idx="8">
                  <c:v>3.8343075690671227</c:v>
                </c:pt>
                <c:pt idx="9">
                  <c:v>2.614124464284719</c:v>
                </c:pt>
                <c:pt idx="10">
                  <c:v>23.369017223427004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CBEC0"/>
              </a:solidFill>
            </c:spPr>
          </c:dPt>
          <c:dPt>
            <c:idx val="9"/>
            <c:spPr>
              <a:solidFill>
                <a:srgbClr val="3DC6C4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Air Liquide</c:v>
                </c:pt>
                <c:pt idx="1">
                  <c:v>Linde</c:v>
                </c:pt>
                <c:pt idx="2">
                  <c:v>Chemgas</c:v>
                </c:pt>
                <c:pt idx="3">
                  <c:v>Airgas</c:v>
                </c:pt>
                <c:pt idx="4">
                  <c:v>Merck KGaA</c:v>
                </c:pt>
                <c:pt idx="5">
                  <c:v>Eurisotop</c:v>
                </c:pt>
                <c:pt idx="6">
                  <c:v>ISOFLEX USA</c:v>
                </c:pt>
                <c:pt idx="7">
                  <c:v>DWS Specialty Gas</c:v>
                </c:pt>
                <c:pt idx="8">
                  <c:v>Wuhan Baisida Gas</c:v>
                </c:pt>
                <c:pt idx="9">
                  <c:v>Shanghai Wechem Chemical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17.074931814674855</c:v>
                </c:pt>
                <c:pt idx="1">
                  <c:v>12.550885260107192</c:v>
                </c:pt>
                <c:pt idx="2">
                  <c:v>8.380043562697718</c:v>
                </c:pt>
                <c:pt idx="3">
                  <c:v>7.444952014860334</c:v>
                </c:pt>
                <c:pt idx="4">
                  <c:v>8.04660708305492</c:v>
                </c:pt>
                <c:pt idx="5">
                  <c:v>6.919214229256515</c:v>
                </c:pt>
                <c:pt idx="6">
                  <c:v>4.691071174682332</c:v>
                </c:pt>
                <c:pt idx="7">
                  <c:v>2.86510879859984</c:v>
                </c:pt>
                <c:pt idx="8">
                  <c:v>2.560369933335589</c:v>
                </c:pt>
                <c:pt idx="9">
                  <c:v>2.6169804142295043</c:v>
                </c:pt>
                <c:pt idx="10">
                  <c:v>26.849835714501204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CBEC0"/>
              </a:solidFill>
            </c:spPr>
          </c:dPt>
          <c:dPt>
            <c:idx val="9"/>
            <c:spPr>
              <a:solidFill>
                <a:srgbClr val="3DC6C4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Air Liquide</c:v>
                </c:pt>
                <c:pt idx="1">
                  <c:v>Linde</c:v>
                </c:pt>
                <c:pt idx="2">
                  <c:v>Chemgas</c:v>
                </c:pt>
                <c:pt idx="3">
                  <c:v>Airgas</c:v>
                </c:pt>
                <c:pt idx="4">
                  <c:v>Merck KGaA</c:v>
                </c:pt>
                <c:pt idx="5">
                  <c:v>Eurisotop</c:v>
                </c:pt>
                <c:pt idx="6">
                  <c:v>ISOFLEX USA</c:v>
                </c:pt>
                <c:pt idx="7">
                  <c:v>DWS Specialty Gas</c:v>
                </c:pt>
                <c:pt idx="8">
                  <c:v>Wuhan Baisida Gas</c:v>
                </c:pt>
                <c:pt idx="9">
                  <c:v>Shanghai Wechem Chemical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13.257277768762723</c:v>
                </c:pt>
                <c:pt idx="1">
                  <c:v>11.068290254169384</c:v>
                </c:pt>
                <c:pt idx="2">
                  <c:v>12.589358575079316</c:v>
                </c:pt>
                <c:pt idx="3">
                  <c:v>12.215437450069626</c:v>
                </c:pt>
                <c:pt idx="4">
                  <c:v>8.651701491037262</c:v>
                </c:pt>
                <c:pt idx="5">
                  <c:v>5.225916176548457</c:v>
                </c:pt>
                <c:pt idx="6">
                  <c:v>4.4928995088464045</c:v>
                </c:pt>
                <c:pt idx="7">
                  <c:v>4.585103214436975</c:v>
                </c:pt>
                <c:pt idx="8">
                  <c:v>3.999752878424063</c:v>
                </c:pt>
                <c:pt idx="9">
                  <c:v>2.5965461190797754</c:v>
                </c:pt>
                <c:pt idx="10">
                  <c:v>21.317716563546018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Pt>
            <c:idx val="2"/>
            <c:spPr>
              <a:solidFill>
                <a:srgbClr val="0E2A5C"/>
              </a:solidFill>
            </c:spPr>
          </c:dPt>
          <c:dPt>
            <c:idx val="3"/>
            <c:spPr>
              <a:solidFill>
                <a:srgbClr val="00ACAC"/>
              </a:solidFill>
            </c:spPr>
          </c:dPt>
          <c:dPt>
            <c:idx val="4"/>
            <c:spPr>
              <a:solidFill>
                <a:srgbClr val="F47620"/>
              </a:solidFill>
            </c:spPr>
          </c:dPt>
          <c:dPt>
            <c:idx val="5"/>
            <c:spPr>
              <a:solidFill>
                <a:srgbClr val="79C3EC"/>
              </a:solidFill>
            </c:spPr>
          </c:dPt>
          <c:dPt>
            <c:idx val="6"/>
            <c:spPr>
              <a:solidFill>
                <a:srgbClr val="586272"/>
              </a:solidFill>
            </c:spPr>
          </c:dPt>
          <c:dPt>
            <c:idx val="7"/>
            <c:spPr>
              <a:solidFill>
                <a:srgbClr val="1F476B"/>
              </a:solidFill>
            </c:spPr>
          </c:dPt>
          <c:dPt>
            <c:idx val="8"/>
            <c:spPr>
              <a:solidFill>
                <a:srgbClr val="BCBEC0"/>
              </a:solidFill>
            </c:spPr>
          </c:dPt>
          <c:dPt>
            <c:idx val="9"/>
            <c:spPr>
              <a:solidFill>
                <a:srgbClr val="3DC6C4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Air Liquide</c:v>
                </c:pt>
                <c:pt idx="1">
                  <c:v>Linde</c:v>
                </c:pt>
                <c:pt idx="2">
                  <c:v>Chemgas</c:v>
                </c:pt>
                <c:pt idx="3">
                  <c:v>Airgas</c:v>
                </c:pt>
                <c:pt idx="4">
                  <c:v>Merck KGaA</c:v>
                </c:pt>
                <c:pt idx="5">
                  <c:v>Eurisotop</c:v>
                </c:pt>
                <c:pt idx="6">
                  <c:v>ISOFLEX USA</c:v>
                </c:pt>
                <c:pt idx="7">
                  <c:v>DWS Specialty Gas</c:v>
                </c:pt>
                <c:pt idx="8">
                  <c:v>Wuhan Baisida Gas</c:v>
                </c:pt>
                <c:pt idx="9">
                  <c:v>Shanghai Wechem Chemical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15.570454803610694</c:v>
                </c:pt>
                <c:pt idx="1">
                  <c:v>10.546713911504883</c:v>
                </c:pt>
                <c:pt idx="2">
                  <c:v>10.489494550876001</c:v>
                </c:pt>
                <c:pt idx="3">
                  <c:v>11.523850319189417</c:v>
                </c:pt>
                <c:pt idx="4">
                  <c:v>9.716274527037694</c:v>
                </c:pt>
                <c:pt idx="5">
                  <c:v>6.041847824962319</c:v>
                </c:pt>
                <c:pt idx="6">
                  <c:v>4.100995695833606</c:v>
                </c:pt>
                <c:pt idx="7">
                  <c:v>3.8524851858046234</c:v>
                </c:pt>
                <c:pt idx="8">
                  <c:v>3.889793811996375</c:v>
                </c:pt>
                <c:pt idx="9">
                  <c:v>2.9792010725276863</c:v>
                </c:pt>
                <c:pt idx="10">
                  <c:v>21.288888296656708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1668A8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&quot;;&quot;MMMMMMM&quot;;&quot;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Neutron Detection and Radiation Monitoring</c:v>
                </c:pt>
                <c:pt idx="1">
                  <c:v>Cryogenic Refrigeration and Ultra-Low-Temperature Cooling</c:v>
                </c:pt>
                <c:pt idx="2">
                  <c:v>Medical and Biomedical Imaging</c:v>
                </c:pt>
                <c:pt idx="3">
                  <c:v>Nuclear Fusion Research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763.4935546779672</c:v>
                </c:pt>
                <c:pt idx="1">
                  <c:v>424.75852365506705</c:v>
                </c:pt>
                <c:pt idx="2">
                  <c:v>534.6500644677277</c:v>
                </c:pt>
                <c:pt idx="3">
                  <c:v>1010.004449886173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333.2058738497485"/>
          <c:min val="0.0"/>
        </c:scaling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E3A5F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907.2739073781455</c:v>
                </c:pt>
                <c:pt idx="1">
                  <c:v>552.2556073911977</c:v>
                </c:pt>
                <c:pt idx="2">
                  <c:v>297.81543941292296</c:v>
                </c:pt>
                <c:pt idx="3">
                  <c:v>336.508649912355</c:v>
                </c:pt>
                <c:pt idx="4">
                  <c:v>639.0529885923137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197.6015577391522"/>
          <c:min val="0.0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2A5F8F"/>
              </a:solidFill>
            </c:spPr>
          </c:dPt>
          <c:dPt>
            <c:idx val="1"/>
            <c:spPr>
              <a:solidFill>
                <a:srgbClr val="0081E2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Gaseous Helium-3</c:v>
                </c:pt>
                <c:pt idx="1">
                  <c:v>Liquid Helium-3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1143.3643778168293</c:v>
                </c:pt>
                <c:pt idx="1">
                  <c:v>1589.5422148701055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SAM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&quot;;&quot;MMMMMMM&quot;;&quot;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&quot;;&quot;MMMMMMM&quot;;&quot;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2768.1758520000003</c:v>
                </c:pt>
                <c:pt idx="1">
                  <c:v>2488.319464247069</c:v>
                </c:pt>
                <c:pt idx="2">
                  <c:v>1818.5074304918792</c:v>
                </c:pt>
                <c:pt idx="3">
                  <c:v>1165.038742407389</c:v>
                </c:pt>
                <c:pt idx="4">
                  <c:v>924.2987374890702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SOM</c:v>
                </c:pt>
              </c:strCache>
            </c:strRef>
          </c:tx>
          <c:spPr>
            <a:solidFill>
              <a:srgbClr val="2A5F8F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907.2739073781455</c:v>
                </c:pt>
                <c:pt idx="1">
                  <c:v>552.2556073911977</c:v>
                </c:pt>
                <c:pt idx="2">
                  <c:v>297.81543941292296</c:v>
                </c:pt>
                <c:pt idx="3">
                  <c:v>336.508649912355</c:v>
                </c:pt>
                <c:pt idx="4">
                  <c:v>639.0529885923137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3543.2650905600003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9D6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Signals Market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Overview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Taxonomy Geographic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Taxonomy Market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Taxonomy Company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Volume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Pricing &amp; Price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Value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Market Volume &amp;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Country Outlook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Country Outlook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Market Overview (1/4)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Supply Side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Analysis and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Global Overview Scenario Outlook (4/4)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Global Helium-3 – Regional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Market Analysis By Region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Market Analysis By Region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Volume Share Analysis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Value Share Analysis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Market Trends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Region Top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By Product Form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By Supply Source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By Application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By End User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Absolute $ Analysis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Absolute $ Analysis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Western Europe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Volume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Pricing &amp; Price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Value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Market Volume &amp;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Country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Market Overview (1/4)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Supply Side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Analysis and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Western Europe Overview Scenario Outlook (4/4)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Western Europe Helium-3 – Country Outlook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Western Europe Helium-3 – Country Outlook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Market Analysis By Country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Market Analysis By Country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Volume Share Analysis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Value Share Analysis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Market Trends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By Country Top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By Product Form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Product Form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By Supply Source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Source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By Application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Application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By End User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Absolute $ Analysis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Absolute $ Analysis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End User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Country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Overview Volume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Overview Value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Overview Key Segments (Value)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Product Form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Product Form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Supply Source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Supply Source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Application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Application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End User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Country End User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Assessment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Global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Global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Global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Pricing Competitor Pricing 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Supply Chain Analysis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Chain Analysis Value Chain &amp; Stakeholder Mapping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Chain Analysis Operating Margin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Supply Chain Analysis Buyers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Dynamics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Market Dynamics by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Driving Factors Supply Side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Driving Factors Demand Side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Market Restraints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Market Opportunities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Recent Developments &amp;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Market Dynamics Market Dynamics &amp; Forces Five Forces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Competition Assessment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Competitive Landscape at a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Segment Leadership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Value Chain Positioning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Player Landscape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Corporate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Offering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Execution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Success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Strategic Activity Tracker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Strategic Activity by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Industry Structure Landscape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Industry Structure Landscape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Competitive Landscape Competitive 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Advice for Vendors &amp; Suppliers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Company Value 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Company Share by Product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Company Share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Market Share by Leading Players Who Shaped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Air Liquide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Air Liquide Penetration &amp; Win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Air Liquide SWOT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Air Liquide Key Financials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Competitor Company Profiles &amp; Strategic Benchmarking Air Liquide Strategy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(1/8)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(2/8)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(3/8)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(4/8)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(5/8)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(6/8)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(7/8)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Table of Contents  (8/8)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(1/5)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(2/5)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(3/5)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(4/5)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Figures  (5/5)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(1/5)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(2/5)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(3/5)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(4/5)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Helium-3 Market List of Tables  (5/5)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2.jpg"/><Relationship Id="rId3" Type="http://schemas.openxmlformats.org/officeDocument/2006/relationships/image" Target="../media/image6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10.xml"/><Relationship Id="rId7" Type="http://schemas.openxmlformats.org/officeDocument/2006/relationships/slide" Target="slide19.xml"/><Relationship Id="rId8" Type="http://schemas.openxmlformats.org/officeDocument/2006/relationships/slide" Target="slide30.xml"/><Relationship Id="rId9" Type="http://schemas.openxmlformats.org/officeDocument/2006/relationships/slide" Target="slide31.xml"/><Relationship Id="rId10" Type="http://schemas.openxmlformats.org/officeDocument/2006/relationships/slide" Target="slide42.xml"/><Relationship Id="rId11" Type="http://schemas.openxmlformats.org/officeDocument/2006/relationships/slide" Target="slide50.xml"/><Relationship Id="rId12" Type="http://schemas.openxmlformats.org/officeDocument/2006/relationships/slide" Target="slide76.xml"/><Relationship Id="rId13" Type="http://schemas.openxmlformats.org/officeDocument/2006/relationships/slide" Target="slide77.xml"/><Relationship Id="rId14" Type="http://schemas.openxmlformats.org/officeDocument/2006/relationships/slide" Target="slide87.xml"/><Relationship Id="rId15" Type="http://schemas.openxmlformats.org/officeDocument/2006/relationships/slide" Target="slide96.xml"/><Relationship Id="rId16" Type="http://schemas.openxmlformats.org/officeDocument/2006/relationships/slide" Target="slide122.xml"/><Relationship Id="rId17" Type="http://schemas.openxmlformats.org/officeDocument/2006/relationships/slide" Target="slide123.xml"/><Relationship Id="rId18" Type="http://schemas.openxmlformats.org/officeDocument/2006/relationships/slide" Target="slide127.xml"/><Relationship Id="rId19" Type="http://schemas.openxmlformats.org/officeDocument/2006/relationships/slide" Target="slide140.xml"/><Relationship Id="rId20" Type="http://schemas.openxmlformats.org/officeDocument/2006/relationships/slide" Target="slide141.xml"/><Relationship Id="rId21" Type="http://schemas.openxmlformats.org/officeDocument/2006/relationships/slide" Target="slide153.xml"/><Relationship Id="rId22" Type="http://schemas.openxmlformats.org/officeDocument/2006/relationships/slide" Target="slide157.xml"/><Relationship Id="rId23" Type="http://schemas.openxmlformats.org/officeDocument/2006/relationships/slide" Target="slide158.xml"/><Relationship Id="rId24" Type="http://schemas.openxmlformats.org/officeDocument/2006/relationships/slide" Target="slide166.xml"/><Relationship Id="rId25" Type="http://schemas.openxmlformats.org/officeDocument/2006/relationships/slide" Target="slide167.xml"/><Relationship Id="rId26" Type="http://schemas.openxmlformats.org/officeDocument/2006/relationships/slide" Target="slide181.xml"/><Relationship Id="rId27" Type="http://schemas.openxmlformats.org/officeDocument/2006/relationships/slide" Target="slide18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Relationship Id="rId22" Type="http://schemas.openxmlformats.org/officeDocument/2006/relationships/image" Target="../media/image73.png"/><Relationship Id="rId23" Type="http://schemas.openxmlformats.org/officeDocument/2006/relationships/image" Target="../media/image74.png"/><Relationship Id="rId24" Type="http://schemas.openxmlformats.org/officeDocument/2006/relationships/image" Target="../media/image75.png"/><Relationship Id="rId25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2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2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notesSlide" Target="../notesSlides/notesSlide2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72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Relationship Id="rId5" Type="http://schemas.openxmlformats.org/officeDocument/2006/relationships/notesSlide" Target="../notesSlides/notesSlide25.xml"/><Relationship Id="rId6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7.xml"/><Relationship Id="rId4" Type="http://schemas.openxmlformats.org/officeDocument/2006/relationships/chart" Target="../charts/chart18.xml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9.xml"/><Relationship Id="rId4" Type="http://schemas.openxmlformats.org/officeDocument/2006/relationships/notesSlide" Target="../notesSlides/notesSlide29.xml"/><Relationship Id="rId5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09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60.png"/><Relationship Id="rId10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0.xml"/><Relationship Id="rId4" Type="http://schemas.openxmlformats.org/officeDocument/2006/relationships/chart" Target="../charts/chart21.xml"/><Relationship Id="rId5" Type="http://schemas.openxmlformats.org/officeDocument/2006/relationships/notesSlide" Target="../notesSlides/notesSlide33.xml"/><Relationship Id="rId6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notesSlide" Target="../notesSlides/notesSlide34.xml"/><Relationship Id="rId6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4.xml"/><Relationship Id="rId4" Type="http://schemas.openxmlformats.org/officeDocument/2006/relationships/notesSlide" Target="../notesSlides/notesSlide37.xml"/><Relationship Id="rId5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Relationship Id="rId11" Type="http://schemas.openxmlformats.org/officeDocument/2006/relationships/image" Target="../media/image166.png"/><Relationship Id="rId12" Type="http://schemas.openxmlformats.org/officeDocument/2006/relationships/image" Target="../media/image167.png"/><Relationship Id="rId13" Type="http://schemas.openxmlformats.org/officeDocument/2006/relationships/image" Target="../media/image168.png"/><Relationship Id="rId14" Type="http://schemas.openxmlformats.org/officeDocument/2006/relationships/image" Target="../media/image169.png"/><Relationship Id="rId15" Type="http://schemas.openxmlformats.org/officeDocument/2006/relationships/image" Target="../media/image92.png"/><Relationship Id="rId16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notesSlide" Target="../notesSlides/notesSlide41.xml"/><Relationship Id="rId6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7.xml"/><Relationship Id="rId4" Type="http://schemas.openxmlformats.org/officeDocument/2006/relationships/chart" Target="../charts/chart28.xml"/><Relationship Id="rId5" Type="http://schemas.openxmlformats.org/officeDocument/2006/relationships/chart" Target="../charts/chart29.xml"/><Relationship Id="rId6" Type="http://schemas.openxmlformats.org/officeDocument/2006/relationships/chart" Target="../charts/chart30.xml"/><Relationship Id="rId7" Type="http://schemas.openxmlformats.org/officeDocument/2006/relationships/notesSlide" Target="../notesSlides/notesSlide42.xml"/><Relationship Id="rId8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1.xml"/><Relationship Id="rId4" Type="http://schemas.openxmlformats.org/officeDocument/2006/relationships/notesSlide" Target="../notesSlides/notesSlide45.xml"/><Relationship Id="rId5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92.png"/><Relationship Id="rId7" Type="http://schemas.openxmlformats.org/officeDocument/2006/relationships/image" Target="../media/image211.png"/><Relationship Id="rId8" Type="http://schemas.openxmlformats.org/officeDocument/2006/relationships/image" Target="../media/image212.png"/><Relationship Id="rId9" Type="http://schemas.openxmlformats.org/officeDocument/2006/relationships/image" Target="../media/image72.png"/><Relationship Id="rId10" Type="http://schemas.openxmlformats.org/officeDocument/2006/relationships/image" Target="../media/image213.png"/><Relationship Id="rId11" Type="http://schemas.openxmlformats.org/officeDocument/2006/relationships/image" Target="../media/image214.png"/><Relationship Id="rId12" Type="http://schemas.openxmlformats.org/officeDocument/2006/relationships/image" Target="../media/image215.png"/><Relationship Id="rId13" Type="http://schemas.openxmlformats.org/officeDocument/2006/relationships/image" Target="../media/image216.png"/><Relationship Id="rId14" Type="http://schemas.openxmlformats.org/officeDocument/2006/relationships/image" Target="../media/image217.png"/><Relationship Id="rId15" Type="http://schemas.openxmlformats.org/officeDocument/2006/relationships/image" Target="../media/image218.png"/><Relationship Id="rId16" Type="http://schemas.openxmlformats.org/officeDocument/2006/relationships/image" Target="../media/image219.png"/><Relationship Id="rId17" Type="http://schemas.openxmlformats.org/officeDocument/2006/relationships/image" Target="../media/image220.png"/><Relationship Id="rId18" Type="http://schemas.openxmlformats.org/officeDocument/2006/relationships/image" Target="../media/image221.png"/><Relationship Id="rId19" Type="http://schemas.openxmlformats.org/officeDocument/2006/relationships/image" Target="../media/image222.png"/><Relationship Id="rId20" Type="http://schemas.openxmlformats.org/officeDocument/2006/relationships/image" Target="../media/image223.png"/><Relationship Id="rId21" Type="http://schemas.openxmlformats.org/officeDocument/2006/relationships/image" Target="../media/image109.png"/><Relationship Id="rId22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2.xml"/><Relationship Id="rId4" Type="http://schemas.openxmlformats.org/officeDocument/2006/relationships/chart" Target="../charts/chart33.xml"/><Relationship Id="rId5" Type="http://schemas.openxmlformats.org/officeDocument/2006/relationships/notesSlide" Target="../notesSlides/notesSlide49.xml"/><Relationship Id="rId6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Relationship Id="rId6" Type="http://schemas.openxmlformats.org/officeDocument/2006/relationships/chart" Target="../charts/chart37.xml"/><Relationship Id="rId7" Type="http://schemas.openxmlformats.org/officeDocument/2006/relationships/notesSlide" Target="../notesSlides/notesSlide50.xml"/><Relationship Id="rId8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notesSlide" Target="../notesSlides/notesSlide51.xml"/><Relationship Id="rId6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0.xml"/><Relationship Id="rId4" Type="http://schemas.openxmlformats.org/officeDocument/2006/relationships/notesSlide" Target="../notesSlides/notesSlide54.xml"/><Relationship Id="rId5" Type="http://schemas.openxmlformats.org/officeDocument/2006/relationships/image" Target="../media/image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1.xml"/><Relationship Id="rId4" Type="http://schemas.openxmlformats.org/officeDocument/2006/relationships/chart" Target="../charts/chart42.xml"/><Relationship Id="rId5" Type="http://schemas.openxmlformats.org/officeDocument/2006/relationships/notesSlide" Target="../notesSlides/notesSlide58.xml"/><Relationship Id="rId6" Type="http://schemas.openxmlformats.org/officeDocument/2006/relationships/image" Target="../media/image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9.xml"/><Relationship Id="rId4" Type="http://schemas.openxmlformats.org/officeDocument/2006/relationships/image" Target="../media/image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3.xml"/><Relationship Id="rId4" Type="http://schemas.openxmlformats.org/officeDocument/2006/relationships/chart" Target="../charts/chart44.xml"/><Relationship Id="rId5" Type="http://schemas.openxmlformats.org/officeDocument/2006/relationships/notesSlide" Target="../notesSlides/notesSlide60.xml"/><Relationship Id="rId6" Type="http://schemas.openxmlformats.org/officeDocument/2006/relationships/image" Target="../media/image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5.xml"/><Relationship Id="rId4" Type="http://schemas.openxmlformats.org/officeDocument/2006/relationships/chart" Target="../charts/chart46.xml"/><Relationship Id="rId5" Type="http://schemas.openxmlformats.org/officeDocument/2006/relationships/notesSlide" Target="../notesSlides/notesSlide61.xml"/><Relationship Id="rId6" Type="http://schemas.openxmlformats.org/officeDocument/2006/relationships/image" Target="../media/image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7.xml"/><Relationship Id="rId4" Type="http://schemas.openxmlformats.org/officeDocument/2006/relationships/chart" Target="../charts/chart48.xml"/><Relationship Id="rId5" Type="http://schemas.openxmlformats.org/officeDocument/2006/relationships/notesSlide" Target="../notesSlides/notesSlide62.xml"/><Relationship Id="rId6" Type="http://schemas.openxmlformats.org/officeDocument/2006/relationships/image" Target="../media/image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3.xml"/><Relationship Id="rId4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9.xml"/><Relationship Id="rId4" Type="http://schemas.openxmlformats.org/officeDocument/2006/relationships/notesSlide" Target="../notesSlides/notesSlide64.xml"/><Relationship Id="rId5" Type="http://schemas.openxmlformats.org/officeDocument/2006/relationships/image" Target="../media/image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5.xml"/><Relationship Id="rId4" Type="http://schemas.openxmlformats.org/officeDocument/2006/relationships/image" Target="../media/image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0.xml"/><Relationship Id="rId4" Type="http://schemas.openxmlformats.org/officeDocument/2006/relationships/notesSlide" Target="../notesSlides/notesSlide66.xml"/><Relationship Id="rId5" Type="http://schemas.openxmlformats.org/officeDocument/2006/relationships/image" Target="../media/image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7.xml"/><Relationship Id="rId4" Type="http://schemas.openxmlformats.org/officeDocument/2006/relationships/image" Target="../media/image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8.xml"/><Relationship Id="rId4" Type="http://schemas.openxmlformats.org/officeDocument/2006/relationships/image" Target="../media/image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1.xml"/><Relationship Id="rId4" Type="http://schemas.openxmlformats.org/officeDocument/2006/relationships/notesSlide" Target="../notesSlides/notesSlide69.xml"/><Relationship Id="rId5" Type="http://schemas.openxmlformats.org/officeDocument/2006/relationships/image" Target="../media/image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2.xml"/><Relationship Id="rId4" Type="http://schemas.openxmlformats.org/officeDocument/2006/relationships/notesSlide" Target="../notesSlides/notesSlide70.xml"/><Relationship Id="rId5" Type="http://schemas.openxmlformats.org/officeDocument/2006/relationships/image" Target="../media/image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1.xml"/><Relationship Id="rId4" Type="http://schemas.openxmlformats.org/officeDocument/2006/relationships/image" Target="../media/image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2.xml"/><Relationship Id="rId4" Type="http://schemas.openxmlformats.org/officeDocument/2006/relationships/image" Target="../media/image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3.xml"/><Relationship Id="rId4" Type="http://schemas.openxmlformats.org/officeDocument/2006/relationships/chart" Target="../charts/chart54.xml"/><Relationship Id="rId5" Type="http://schemas.openxmlformats.org/officeDocument/2006/relationships/notesSlide" Target="../notesSlides/notesSlide73.xml"/><Relationship Id="rId6" Type="http://schemas.openxmlformats.org/officeDocument/2006/relationships/image" Target="../media/image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4.xml"/><Relationship Id="rId4" Type="http://schemas.openxmlformats.org/officeDocument/2006/relationships/image" Target="../media/image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5.xml"/><Relationship Id="rId4" Type="http://schemas.openxmlformats.org/officeDocument/2006/relationships/image" Target="../media/image350.png"/><Relationship Id="rId5" Type="http://schemas.openxmlformats.org/officeDocument/2006/relationships/image" Target="../media/image319.png"/><Relationship Id="rId6" Type="http://schemas.openxmlformats.org/officeDocument/2006/relationships/image" Target="../media/image164.png"/><Relationship Id="rId7" Type="http://schemas.openxmlformats.org/officeDocument/2006/relationships/image" Target="../media/image351.png"/><Relationship Id="rId8" Type="http://schemas.openxmlformats.org/officeDocument/2006/relationships/image" Target="../media/image320.png"/><Relationship Id="rId9" Type="http://schemas.openxmlformats.org/officeDocument/2006/relationships/image" Target="../media/image352.png"/><Relationship Id="rId10" Type="http://schemas.openxmlformats.org/officeDocument/2006/relationships/image" Target="../media/image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5.xml"/><Relationship Id="rId4" Type="http://schemas.openxmlformats.org/officeDocument/2006/relationships/chart" Target="../charts/chart56.xml"/><Relationship Id="rId5" Type="http://schemas.openxmlformats.org/officeDocument/2006/relationships/notesSlide" Target="../notesSlides/notesSlide76.xml"/><Relationship Id="rId6" Type="http://schemas.openxmlformats.org/officeDocument/2006/relationships/image" Target="../media/image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7.xml"/><Relationship Id="rId4" Type="http://schemas.openxmlformats.org/officeDocument/2006/relationships/chart" Target="../charts/chart58.xml"/><Relationship Id="rId5" Type="http://schemas.openxmlformats.org/officeDocument/2006/relationships/notesSlide" Target="../notesSlides/notesSlide77.xml"/><Relationship Id="rId6" Type="http://schemas.openxmlformats.org/officeDocument/2006/relationships/image" Target="../media/image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9.xml"/><Relationship Id="rId4" Type="http://schemas.openxmlformats.org/officeDocument/2006/relationships/image" Target="../media/image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9.xml"/><Relationship Id="rId4" Type="http://schemas.openxmlformats.org/officeDocument/2006/relationships/notesSlide" Target="../notesSlides/notesSlide80.xml"/><Relationship Id="rId5" Type="http://schemas.openxmlformats.org/officeDocument/2006/relationships/image" Target="../media/image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3.xml"/><Relationship Id="rId4" Type="http://schemas.openxmlformats.org/officeDocument/2006/relationships/image" Target="../media/image375.png"/><Relationship Id="rId5" Type="http://schemas.openxmlformats.org/officeDocument/2006/relationships/image" Target="../media/image376.png"/><Relationship Id="rId6" Type="http://schemas.openxmlformats.org/officeDocument/2006/relationships/image" Target="../media/image75.png"/><Relationship Id="rId7" Type="http://schemas.openxmlformats.org/officeDocument/2006/relationships/image" Target="../media/image377.png"/><Relationship Id="rId8" Type="http://schemas.openxmlformats.org/officeDocument/2006/relationships/image" Target="../media/image378.png"/><Relationship Id="rId9" Type="http://schemas.openxmlformats.org/officeDocument/2006/relationships/image" Target="../media/image215.png"/><Relationship Id="rId10" Type="http://schemas.openxmlformats.org/officeDocument/2006/relationships/image" Target="../media/image2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0.xml"/><Relationship Id="rId4" Type="http://schemas.openxmlformats.org/officeDocument/2006/relationships/chart" Target="../charts/chart61.xml"/><Relationship Id="rId5" Type="http://schemas.openxmlformats.org/officeDocument/2006/relationships/notesSlide" Target="../notesSlides/notesSlide84.xml"/><Relationship Id="rId6" Type="http://schemas.openxmlformats.org/officeDocument/2006/relationships/image" Target="../media/image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2.xml"/><Relationship Id="rId4" Type="http://schemas.openxmlformats.org/officeDocument/2006/relationships/chart" Target="../charts/chart63.xml"/><Relationship Id="rId5" Type="http://schemas.openxmlformats.org/officeDocument/2006/relationships/notesSlide" Target="../notesSlides/notesSlide85.xml"/><Relationship Id="rId6" Type="http://schemas.openxmlformats.org/officeDocument/2006/relationships/image" Target="../media/image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7.xml"/><Relationship Id="rId4" Type="http://schemas.openxmlformats.org/officeDocument/2006/relationships/image" Target="../media/image2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4.xml"/><Relationship Id="rId4" Type="http://schemas.openxmlformats.org/officeDocument/2006/relationships/notesSlide" Target="../notesSlides/notesSlide88.xml"/><Relationship Id="rId5" Type="http://schemas.openxmlformats.org/officeDocument/2006/relationships/image" Target="../media/image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1.xml"/><Relationship Id="rId4" Type="http://schemas.openxmlformats.org/officeDocument/2006/relationships/image" Target="../media/image401.png"/><Relationship Id="rId5" Type="http://schemas.openxmlformats.org/officeDocument/2006/relationships/image" Target="../media/image402.png"/><Relationship Id="rId6" Type="http://schemas.openxmlformats.org/officeDocument/2006/relationships/image" Target="../media/image403.png"/><Relationship Id="rId7" Type="http://schemas.openxmlformats.org/officeDocument/2006/relationships/image" Target="../media/image404.png"/><Relationship Id="rId8" Type="http://schemas.openxmlformats.org/officeDocument/2006/relationships/image" Target="../media/image405.png"/><Relationship Id="rId9" Type="http://schemas.openxmlformats.org/officeDocument/2006/relationships/image" Target="../media/image406.png"/><Relationship Id="rId10" Type="http://schemas.openxmlformats.org/officeDocument/2006/relationships/image" Target="../media/image407.png"/><Relationship Id="rId11" Type="http://schemas.openxmlformats.org/officeDocument/2006/relationships/image" Target="../media/image408.png"/><Relationship Id="rId12" Type="http://schemas.openxmlformats.org/officeDocument/2006/relationships/image" Target="../media/image409.png"/><Relationship Id="rId13" Type="http://schemas.openxmlformats.org/officeDocument/2006/relationships/image" Target="../media/image410.png"/><Relationship Id="rId14" Type="http://schemas.openxmlformats.org/officeDocument/2006/relationships/image" Target="../media/image411.png"/><Relationship Id="rId15" Type="http://schemas.openxmlformats.org/officeDocument/2006/relationships/image" Target="../media/image412.png"/><Relationship Id="rId16" Type="http://schemas.openxmlformats.org/officeDocument/2006/relationships/image" Target="../media/image2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5.xml"/><Relationship Id="rId4" Type="http://schemas.openxmlformats.org/officeDocument/2006/relationships/chart" Target="../charts/chart66.xml"/><Relationship Id="rId5" Type="http://schemas.openxmlformats.org/officeDocument/2006/relationships/notesSlide" Target="../notesSlides/notesSlide92.xml"/><Relationship Id="rId6" Type="http://schemas.openxmlformats.org/officeDocument/2006/relationships/image" Target="../media/image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7.xml"/><Relationship Id="rId4" Type="http://schemas.openxmlformats.org/officeDocument/2006/relationships/chart" Target="../charts/chart68.xml"/><Relationship Id="rId5" Type="http://schemas.openxmlformats.org/officeDocument/2006/relationships/chart" Target="../charts/chart69.xml"/><Relationship Id="rId6" Type="http://schemas.openxmlformats.org/officeDocument/2006/relationships/chart" Target="../charts/chart70.xml"/><Relationship Id="rId7" Type="http://schemas.openxmlformats.org/officeDocument/2006/relationships/notesSlide" Target="../notesSlides/notesSlide93.xml"/><Relationship Id="rId8" Type="http://schemas.openxmlformats.org/officeDocument/2006/relationships/image" Target="../media/image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5.xml"/><Relationship Id="rId4" Type="http://schemas.openxmlformats.org/officeDocument/2006/relationships/image" Target="../media/image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1.xml"/><Relationship Id="rId4" Type="http://schemas.openxmlformats.org/officeDocument/2006/relationships/notesSlide" Target="../notesSlides/notesSlide96.xml"/><Relationship Id="rId5" Type="http://schemas.openxmlformats.org/officeDocument/2006/relationships/image" Target="../media/image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9.xml"/><Relationship Id="rId4" Type="http://schemas.openxmlformats.org/officeDocument/2006/relationships/image" Target="../media/image456.png"/><Relationship Id="rId5" Type="http://schemas.openxmlformats.org/officeDocument/2006/relationships/image" Target="../media/image457.png"/><Relationship Id="rId6" Type="http://schemas.openxmlformats.org/officeDocument/2006/relationships/image" Target="../media/image458.png"/><Relationship Id="rId7" Type="http://schemas.openxmlformats.org/officeDocument/2006/relationships/image" Target="../media/image459.png"/><Relationship Id="rId8" Type="http://schemas.openxmlformats.org/officeDocument/2006/relationships/image" Target="../media/image460.png"/><Relationship Id="rId9" Type="http://schemas.openxmlformats.org/officeDocument/2006/relationships/image" Target="../media/image461.png"/><Relationship Id="rId10" Type="http://schemas.openxmlformats.org/officeDocument/2006/relationships/image" Target="../media/image462.png"/><Relationship Id="rId11" Type="http://schemas.openxmlformats.org/officeDocument/2006/relationships/image" Target="../media/image463.png"/><Relationship Id="rId12" Type="http://schemas.openxmlformats.org/officeDocument/2006/relationships/image" Target="../media/image66.png"/><Relationship Id="rId13" Type="http://schemas.openxmlformats.org/officeDocument/2006/relationships/image" Target="../media/image464.png"/><Relationship Id="rId14" Type="http://schemas.openxmlformats.org/officeDocument/2006/relationships/image" Target="../media/image465.png"/><Relationship Id="rId15" Type="http://schemas.openxmlformats.org/officeDocument/2006/relationships/image" Target="../media/image109.png"/><Relationship Id="rId16" Type="http://schemas.openxmlformats.org/officeDocument/2006/relationships/image" Target="../media/image79.png"/><Relationship Id="rId17" Type="http://schemas.openxmlformats.org/officeDocument/2006/relationships/image" Target="../media/image466.png"/><Relationship Id="rId18" Type="http://schemas.openxmlformats.org/officeDocument/2006/relationships/image" Target="../media/image352.png"/><Relationship Id="rId19" Type="http://schemas.openxmlformats.org/officeDocument/2006/relationships/image" Target="../media/image323.png"/><Relationship Id="rId20" Type="http://schemas.openxmlformats.org/officeDocument/2006/relationships/image" Target="../media/image467.png"/><Relationship Id="rId21" Type="http://schemas.openxmlformats.org/officeDocument/2006/relationships/image" Target="../media/image215.png"/><Relationship Id="rId22" Type="http://schemas.openxmlformats.org/officeDocument/2006/relationships/image" Target="../media/image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2.xml"/><Relationship Id="rId4" Type="http://schemas.openxmlformats.org/officeDocument/2006/relationships/chart" Target="../charts/chart73.xml"/><Relationship Id="rId5" Type="http://schemas.openxmlformats.org/officeDocument/2006/relationships/notesSlide" Target="../notesSlides/notesSlide100.xml"/><Relationship Id="rId6" Type="http://schemas.openxmlformats.org/officeDocument/2006/relationships/image" Target="../media/image2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4.xml"/><Relationship Id="rId4" Type="http://schemas.openxmlformats.org/officeDocument/2006/relationships/chart" Target="../charts/chart75.xml"/><Relationship Id="rId5" Type="http://schemas.openxmlformats.org/officeDocument/2006/relationships/chart" Target="../charts/chart76.xml"/><Relationship Id="rId6" Type="http://schemas.openxmlformats.org/officeDocument/2006/relationships/chart" Target="../charts/chart77.xml"/><Relationship Id="rId7" Type="http://schemas.openxmlformats.org/officeDocument/2006/relationships/notesSlide" Target="../notesSlides/notesSlide101.xml"/><Relationship Id="rId8" Type="http://schemas.openxmlformats.org/officeDocument/2006/relationships/image" Target="../media/image2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8.xml"/><Relationship Id="rId4" Type="http://schemas.openxmlformats.org/officeDocument/2006/relationships/chart" Target="../charts/chart79.xml"/><Relationship Id="rId5" Type="http://schemas.openxmlformats.org/officeDocument/2006/relationships/notesSlide" Target="../notesSlides/notesSlide102.xml"/><Relationship Id="rId6" Type="http://schemas.openxmlformats.org/officeDocument/2006/relationships/image" Target="../media/image2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4.xml"/><Relationship Id="rId4" Type="http://schemas.openxmlformats.org/officeDocument/2006/relationships/image" Target="../media/image2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0.xml"/><Relationship Id="rId4" Type="http://schemas.openxmlformats.org/officeDocument/2006/relationships/notesSlide" Target="../notesSlides/notesSlide105.xml"/><Relationship Id="rId5" Type="http://schemas.openxmlformats.org/officeDocument/2006/relationships/image" Target="../media/image2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8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1.xml"/><Relationship Id="rId4" Type="http://schemas.openxmlformats.org/officeDocument/2006/relationships/chart" Target="../charts/chart82.xml"/><Relationship Id="rId5" Type="http://schemas.openxmlformats.org/officeDocument/2006/relationships/chart" Target="../charts/chart83.xml"/><Relationship Id="rId6" Type="http://schemas.openxmlformats.org/officeDocument/2006/relationships/chart" Target="../charts/chart84.xml"/><Relationship Id="rId7" Type="http://schemas.openxmlformats.org/officeDocument/2006/relationships/notesSlide" Target="../notesSlides/notesSlide109.xml"/><Relationship Id="rId8" Type="http://schemas.openxmlformats.org/officeDocument/2006/relationships/image" Target="../media/image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5.xml"/><Relationship Id="rId4" Type="http://schemas.openxmlformats.org/officeDocument/2006/relationships/chart" Target="../charts/chart86.xml"/><Relationship Id="rId5" Type="http://schemas.openxmlformats.org/officeDocument/2006/relationships/chart" Target="../charts/chart87.xml"/><Relationship Id="rId6" Type="http://schemas.openxmlformats.org/officeDocument/2006/relationships/chart" Target="../charts/chart88.xml"/><Relationship Id="rId7" Type="http://schemas.openxmlformats.org/officeDocument/2006/relationships/notesSlide" Target="../notesSlides/notesSlide110.xml"/><Relationship Id="rId8" Type="http://schemas.openxmlformats.org/officeDocument/2006/relationships/image" Target="../media/image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9.xml"/><Relationship Id="rId4" Type="http://schemas.openxmlformats.org/officeDocument/2006/relationships/chart" Target="../charts/chart90.xml"/><Relationship Id="rId5" Type="http://schemas.openxmlformats.org/officeDocument/2006/relationships/chart" Target="../charts/chart91.xml"/><Relationship Id="rId6" Type="http://schemas.openxmlformats.org/officeDocument/2006/relationships/chart" Target="../charts/chart92.xml"/><Relationship Id="rId7" Type="http://schemas.openxmlformats.org/officeDocument/2006/relationships/notesSlide" Target="../notesSlides/notesSlide111.xml"/><Relationship Id="rId8" Type="http://schemas.openxmlformats.org/officeDocument/2006/relationships/image" Target="../media/image2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3.xml"/><Relationship Id="rId4" Type="http://schemas.openxmlformats.org/officeDocument/2006/relationships/chart" Target="../charts/chart94.xml"/><Relationship Id="rId5" Type="http://schemas.openxmlformats.org/officeDocument/2006/relationships/notesSlide" Target="../notesSlides/notesSlide112.xml"/><Relationship Id="rId6" Type="http://schemas.openxmlformats.org/officeDocument/2006/relationships/image" Target="../media/image2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3.xml"/><Relationship Id="rId4" Type="http://schemas.openxmlformats.org/officeDocument/2006/relationships/image" Target="../media/image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5.xml"/><Relationship Id="rId4" Type="http://schemas.openxmlformats.org/officeDocument/2006/relationships/chart" Target="../charts/chart96.xml"/><Relationship Id="rId5" Type="http://schemas.openxmlformats.org/officeDocument/2006/relationships/notesSlide" Target="../notesSlides/notesSlide115.xml"/><Relationship Id="rId6" Type="http://schemas.openxmlformats.org/officeDocument/2006/relationships/image" Target="../media/image2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6.xml"/><Relationship Id="rId4" Type="http://schemas.openxmlformats.org/officeDocument/2006/relationships/image" Target="../media/image2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7.xml"/><Relationship Id="rId4" Type="http://schemas.openxmlformats.org/officeDocument/2006/relationships/chart" Target="../charts/chart98.xml"/><Relationship Id="rId5" Type="http://schemas.openxmlformats.org/officeDocument/2006/relationships/notesSlide" Target="../notesSlides/notesSlide118.xml"/><Relationship Id="rId6" Type="http://schemas.openxmlformats.org/officeDocument/2006/relationships/image" Target="../media/image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9.xml"/><Relationship Id="rId4" Type="http://schemas.openxmlformats.org/officeDocument/2006/relationships/image" Target="../media/image2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9.xml"/><Relationship Id="rId4" Type="http://schemas.openxmlformats.org/officeDocument/2006/relationships/chart" Target="../charts/chart100.xml"/><Relationship Id="rId5" Type="http://schemas.openxmlformats.org/officeDocument/2006/relationships/notesSlide" Target="../notesSlides/notesSlide121.xml"/><Relationship Id="rId6" Type="http://schemas.openxmlformats.org/officeDocument/2006/relationships/image" Target="../media/image2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2.xml"/><Relationship Id="rId4" Type="http://schemas.openxmlformats.org/officeDocument/2006/relationships/image" Target="../media/image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4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5.xml"/><Relationship Id="rId4" Type="http://schemas.openxmlformats.org/officeDocument/2006/relationships/image" Target="../media/image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1.xml"/><Relationship Id="rId4" Type="http://schemas.openxmlformats.org/officeDocument/2006/relationships/chart" Target="../charts/chart102.xml"/><Relationship Id="rId5" Type="http://schemas.openxmlformats.org/officeDocument/2006/relationships/notesSlide" Target="../notesSlides/notesSlide126.xml"/><Relationship Id="rId6" Type="http://schemas.openxmlformats.org/officeDocument/2006/relationships/image" Target="../media/image2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3.xml"/><Relationship Id="rId4" Type="http://schemas.openxmlformats.org/officeDocument/2006/relationships/notesSlide" Target="../notesSlides/notesSlide127.xml"/><Relationship Id="rId5" Type="http://schemas.openxmlformats.org/officeDocument/2006/relationships/image" Target="../media/image2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8.xml"/><Relationship Id="rId4" Type="http://schemas.openxmlformats.org/officeDocument/2006/relationships/image" Target="../media/image2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9.xml"/><Relationship Id="rId4" Type="http://schemas.openxmlformats.org/officeDocument/2006/relationships/image" Target="../media/image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0.xml"/><Relationship Id="rId4" Type="http://schemas.openxmlformats.org/officeDocument/2006/relationships/image" Target="../media/image2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1.xml"/><Relationship Id="rId4" Type="http://schemas.openxmlformats.org/officeDocument/2006/relationships/image" Target="../media/image2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2.xml"/><Relationship Id="rId4" Type="http://schemas.openxmlformats.org/officeDocument/2006/relationships/image" Target="../media/image2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3.xml"/><Relationship Id="rId4" Type="http://schemas.openxmlformats.org/officeDocument/2006/relationships/image" Target="../media/image2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4.xml"/><Relationship Id="rId4" Type="http://schemas.openxmlformats.org/officeDocument/2006/relationships/image" Target="../media/image2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6.xml"/><Relationship Id="rId4" Type="http://schemas.openxmlformats.org/officeDocument/2006/relationships/image" Target="../media/image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7.xml"/><Relationship Id="rId4" Type="http://schemas.openxmlformats.org/officeDocument/2006/relationships/image" Target="../media/image2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8.xml"/><Relationship Id="rId4" Type="http://schemas.openxmlformats.org/officeDocument/2006/relationships/image" Target="../media/image2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9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0.xml"/><Relationship Id="rId4" Type="http://schemas.openxmlformats.org/officeDocument/2006/relationships/image" Target="../media/image2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1.xml"/><Relationship Id="rId4" Type="http://schemas.openxmlformats.org/officeDocument/2006/relationships/image" Target="../media/image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2.xml"/><Relationship Id="rId4" Type="http://schemas.openxmlformats.org/officeDocument/2006/relationships/image" Target="../media/image2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3.xml"/><Relationship Id="rId4" Type="http://schemas.openxmlformats.org/officeDocument/2006/relationships/image" Target="../media/image2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4.xml"/><Relationship Id="rId4" Type="http://schemas.openxmlformats.org/officeDocument/2006/relationships/image" Target="../media/image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5.xml"/><Relationship Id="rId4" Type="http://schemas.openxmlformats.org/officeDocument/2006/relationships/image" Target="../media/image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6.xml"/><Relationship Id="rId4" Type="http://schemas.openxmlformats.org/officeDocument/2006/relationships/image" Target="../media/image2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8.xml"/><Relationship Id="rId4" Type="http://schemas.openxmlformats.org/officeDocument/2006/relationships/image" Target="../media/image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9.xml"/><Relationship Id="rId4" Type="http://schemas.openxmlformats.org/officeDocument/2006/relationships/image" Target="../media/image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0.xml"/><Relationship Id="rId4" Type="http://schemas.openxmlformats.org/officeDocument/2006/relationships/image" Target="../media/image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1.xml"/><Relationship Id="rId4" Type="http://schemas.openxmlformats.org/officeDocument/2006/relationships/image" Target="../media/image2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2.xml"/><Relationship Id="rId4" Type="http://schemas.openxmlformats.org/officeDocument/2006/relationships/image" Target="../media/image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3.xml"/><Relationship Id="rId4" Type="http://schemas.openxmlformats.org/officeDocument/2006/relationships/image" Target="../media/image2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4.xml"/><Relationship Id="rId4" Type="http://schemas.openxmlformats.org/officeDocument/2006/relationships/image" Target="../media/image2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5.xml"/><Relationship Id="rId4" Type="http://schemas.openxmlformats.org/officeDocument/2006/relationships/image" Target="../media/image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6.xml"/><Relationship Id="rId4" Type="http://schemas.openxmlformats.org/officeDocument/2006/relationships/image" Target="../media/image2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8.xml"/><Relationship Id="rId4" Type="http://schemas.openxmlformats.org/officeDocument/2006/relationships/image" Target="../media/image2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9.xml"/><Relationship Id="rId4" Type="http://schemas.openxmlformats.org/officeDocument/2006/relationships/image" Target="../media/image2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0.xml"/><Relationship Id="rId4" Type="http://schemas.openxmlformats.org/officeDocument/2006/relationships/image" Target="../media/image2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1.xml"/><Relationship Id="rId4" Type="http://schemas.openxmlformats.org/officeDocument/2006/relationships/image" Target="../media/image2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4.xml"/><Relationship Id="rId4" Type="http://schemas.openxmlformats.org/officeDocument/2006/relationships/notesSlide" Target="../notesSlides/notesSlide162.xml"/><Relationship Id="rId5" Type="http://schemas.openxmlformats.org/officeDocument/2006/relationships/image" Target="../media/image2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5.xml"/><Relationship Id="rId4" Type="http://schemas.openxmlformats.org/officeDocument/2006/relationships/chart" Target="../charts/chart106.xml"/><Relationship Id="rId5" Type="http://schemas.openxmlformats.org/officeDocument/2006/relationships/notesSlide" Target="../notesSlides/notesSlide163.xml"/><Relationship Id="rId6" Type="http://schemas.openxmlformats.org/officeDocument/2006/relationships/image" Target="../media/image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7.xml"/><Relationship Id="rId4" Type="http://schemas.openxmlformats.org/officeDocument/2006/relationships/chart" Target="../charts/chart108.xml"/><Relationship Id="rId5" Type="http://schemas.openxmlformats.org/officeDocument/2006/relationships/chart" Target="../charts/chart109.xml"/><Relationship Id="rId6" Type="http://schemas.openxmlformats.org/officeDocument/2006/relationships/notesSlide" Target="../notesSlides/notesSlide164.xml"/><Relationship Id="rId7" Type="http://schemas.openxmlformats.org/officeDocument/2006/relationships/image" Target="../media/image2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5.xml"/><Relationship Id="rId4" Type="http://schemas.openxmlformats.org/officeDocument/2006/relationships/image" Target="../media/image2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0.xml"/><Relationship Id="rId4" Type="http://schemas.openxmlformats.org/officeDocument/2006/relationships/chart" Target="../charts/chart111.xml"/><Relationship Id="rId5" Type="http://schemas.openxmlformats.org/officeDocument/2006/relationships/chart" Target="../charts/chart112.xml"/><Relationship Id="rId6" Type="http://schemas.openxmlformats.org/officeDocument/2006/relationships/notesSlide" Target="../notesSlides/notesSlide166.xml"/><Relationship Id="rId7" Type="http://schemas.openxmlformats.org/officeDocument/2006/relationships/image" Target="../media/image2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3.xml"/><Relationship Id="rId4" Type="http://schemas.openxmlformats.org/officeDocument/2006/relationships/notesSlide" Target="../notesSlides/notesSlide167.xml"/><Relationship Id="rId5" Type="http://schemas.openxmlformats.org/officeDocument/2006/relationships/image" Target="../media/image2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8.xml"/><Relationship Id="rId4" Type="http://schemas.openxmlformats.org/officeDocument/2006/relationships/image" Target="../media/image2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9.xml"/><Relationship Id="rId4" Type="http://schemas.openxmlformats.org/officeDocument/2006/relationships/image" Target="../media/image2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0.xml"/><Relationship Id="rId4" Type="http://schemas.openxmlformats.org/officeDocument/2006/relationships/image" Target="../media/image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4.jpg"/><Relationship Id="rId3" Type="http://schemas.openxmlformats.org/officeDocument/2006/relationships/image" Target="../media/image6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pic>
        <p:nvPicPr>
          <p:cNvPr id="3" name="Picture 17">
            <a:extLst>
              <a:ext uri="{FF2B5EF4-FFF2-40B4-BE49-F238E27FC236}">
                <a16:creationId xmlns:a16="http://schemas.microsoft.com/office/drawing/2014/main" id="{A0C23977-F6BF-1BE4-6D85-57D27DB65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" r="6551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4" name="Picture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811" y="117564"/>
            <a:ext cx="1563189" cy="1172392"/>
          </a:xfrm>
          <a:prstGeom prst="rect">
            <a:avLst/>
          </a:prstGeom>
        </p:spPr>
      </p:pic>
      <p:sp>
        <p:nvSpPr>
          <p:cNvPr id="5" name="Rectangle 19"/>
          <p:cNvSpPr/>
          <p:nvPr userDrawn="1"/>
        </p:nvSpPr>
        <p:spPr bwMode="gray">
          <a:xfrm>
            <a:off x="161109" y="6503175"/>
            <a:ext cx="337271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931344" algn="l"/>
              </a:tabLst>
              <a:defRPr/>
            </a:pPr>
            <a:r>
              <a:rPr lang="en-US" sz="1100" dirty="0">
                <a:solidFill>
                  <a:srgbClr val="000000"/>
                </a:solidFill>
                <a:ea typeface="ＭＳ Ｐゴシック" charset="0"/>
              </a:rPr>
              <a:t>©2026 Transparency Market Research, All Rights Reserved</a:t>
            </a:r>
            <a:endParaRPr lang="en-GB" sz="11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6" name="Cover bottom line"/>
          <p:cNvSpPr/>
          <p:nvPr/>
        </p:nvSpPr>
        <p:spPr>
          <a:xfrm>
            <a:off x="8622792" y="6172200"/>
            <a:ext cx="2651760" cy="22860"/>
          </a:xfrm>
          <a:prstGeom prst="rect">
            <a:avLst/>
          </a:prstGeom>
          <a:solidFill>
            <a:srgbClr val="3F7396"/>
          </a:solidFill>
          <a:ln>
            <a:noFill/>
          </a:ln>
        </p:spPr>
        <p:style>
          <a:lnRef idx="1">
            <a:srgbClr val="2A5F8F"/>
          </a:lnRef>
          <a:fillRef idx="3">
            <a:srgbClr val="2A5F8F"/>
          </a:fillRef>
          <a:effectRef idx="2">
            <a:srgbClr val="2A5F8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021366-A59A-8F49-E457-CE02C74158AB}"/>
              </a:ext>
            </a:extLst>
          </p:cNvPr>
          <p:cNvSpPr>
            <a:spLocks noGrp="1"/>
          </p:cNvSpPr>
          <p:nvPr/>
        </p:nvSpPr>
        <p:spPr bwMode="gray">
          <a:xfrm>
            <a:off x="2887038" y="1480455"/>
            <a:ext cx="9216989" cy="211437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 sz="3600"/>
              <a:t>Helium-3 Market</a:t>
            </a:r>
            <a:endParaRPr lang="en-GB" noProof="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2EDD5C-8176-C4BE-C570-D3D16C8D35E6}"/>
              </a:ext>
            </a:extLst>
          </p:cNvPr>
          <p:cNvSpPr>
            <a:spLocks noGrp="1"/>
          </p:cNvSpPr>
          <p:nvPr/>
        </p:nvSpPr>
        <p:spPr bwMode="gray">
          <a:xfrm>
            <a:off x="2887038" y="3612121"/>
            <a:ext cx="9216989" cy="898917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96" indent="0" algn="ctr">
              <a:buNone/>
              <a:defRPr sz="2000"/>
            </a:lvl2pPr>
            <a:lvl3pPr marL="914391" indent="0" algn="ctr">
              <a:buNone/>
              <a:defRPr sz="1800"/>
            </a:lvl3pPr>
            <a:lvl4pPr marL="1371587" indent="0" algn="ctr">
              <a:buNone/>
              <a:defRPr sz="1600"/>
            </a:lvl4pPr>
            <a:lvl5pPr marL="1828783" indent="0" algn="ctr">
              <a:buNone/>
              <a:defRPr sz="1600"/>
            </a:lvl5pPr>
            <a:lvl6pPr marL="2285978" indent="0" algn="ctr">
              <a:buNone/>
              <a:defRPr sz="1600"/>
            </a:lvl6pPr>
            <a:lvl7pPr marL="2743174" indent="0" algn="ctr">
              <a:buNone/>
              <a:defRPr sz="1600"/>
            </a:lvl7pPr>
            <a:lvl8pPr marL="3200370" indent="0" algn="ctr">
              <a:buNone/>
              <a:defRPr sz="1600"/>
            </a:lvl8pPr>
            <a:lvl9pPr marL="3657565" indent="0" algn="ctr">
              <a:buNone/>
              <a:defRPr sz="1600"/>
            </a:lvl9pPr>
          </a:lstStyle>
          <a:p>
            <a:r>
              <a:rPr lang="en-US" sz="2000" noProof="0" dirty="0"/>
              <a:t>Global Industry Analysis 2021–2025 and Opportunity Assessment, 2026–2036</a:t>
            </a:r>
            <a:endParaRPr lang="en-GB" sz="2000" noProof="0" dirty="0"/>
          </a:p>
        </p:txBody>
      </p:sp>
      <p:sp>
        <p:nvSpPr>
          <p:cNvPr id="8" name="Front Page Tag">
            <a:extLst>
              <a:ext uri="{FF2B5EF4-FFF2-40B4-BE49-F238E27FC236}">
                <a16:creationId xmlns:a16="http://schemas.microsoft.com/office/drawing/2014/main" id="{892EDD5C-8176-C4BE-C570-D3D16C8D35E6}"/>
              </a:ext>
            </a:extLst>
          </p:cNvPr>
          <p:cNvSpPr>
            <a:spLocks noGrp="1"/>
          </p:cNvSpPr>
          <p:nvPr/>
        </p:nvSpPr>
        <p:spPr bwMode="gray">
          <a:xfrm>
            <a:off x="2887038" y="2450000"/>
            <a:ext cx="9216989" cy="898917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96" indent="0" algn="ctr">
              <a:buNone/>
              <a:defRPr sz="2000"/>
            </a:lvl2pPr>
            <a:lvl3pPr marL="914391" indent="0" algn="ctr">
              <a:buNone/>
              <a:defRPr sz="1800"/>
            </a:lvl3pPr>
            <a:lvl4pPr marL="1371587" indent="0" algn="ctr">
              <a:buNone/>
              <a:defRPr sz="1600"/>
            </a:lvl4pPr>
            <a:lvl5pPr marL="1828783" indent="0" algn="ctr">
              <a:buNone/>
              <a:defRPr sz="1600"/>
            </a:lvl5pPr>
            <a:lvl6pPr marL="2285978" indent="0" algn="ctr">
              <a:buNone/>
              <a:defRPr sz="1600"/>
            </a:lvl6pPr>
            <a:lvl7pPr marL="2743174" indent="0" algn="ctr">
              <a:buNone/>
              <a:defRPr sz="1600"/>
            </a:lvl7pPr>
            <a:lvl8pPr marL="3200370" indent="0" algn="ctr">
              <a:buNone/>
              <a:defRPr sz="1600"/>
            </a:lvl8pPr>
            <a:lvl9pPr marL="3657565" indent="0" algn="ctr">
              <a:buNone/>
              <a:defRPr sz="1600"/>
            </a:lvl9pPr>
          </a:lstStyle>
          <a:p>
            <a:r>
              <a:rPr lang="en-US" sz="2000" noProof="0" dirty="0" b="1">
                <a:solidFill>
                  <a:srgbClr val="0070C0"/>
                </a:solidFill>
              </a:rPr>
              <a:t>Sample Report | 2026</a:t>
            </a:r>
            <a:endParaRPr lang="en-GB" sz="2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Storyline of the report by section · click a section card to jump to it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314325" y="113503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1. Market Signals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42875" y="1559435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Overview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314325" y="1965580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2. Market Taxonomy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14325" y="238997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3. Table of Contents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14325" y="281437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4. List of Figures, List of Tables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142875" y="3238775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Market Outlook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314325" y="3644920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5. Helium-3 Market Global Overview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314325" y="406931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6. Global Market Analysis By Region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314325" y="449371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7. Global Market Analysis By Segments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142875" y="4918115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Market Outlook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314325" y="5324261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8. Western Europe Overview</a:t>
            </a:r>
          </a:p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314325" y="5748660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9. Western Europe Market Analysis By Country</a:t>
            </a:r>
          </a:p>
        </p:txBody>
      </p:sp>
      <p:sp>
        <p:nvSpPr>
          <p:cNvPr id="19" name="Rounded Rectangle 18">
            <a:hlinkClick action="ppaction://hlinksldjump" r:id="rId15"/>
          </p:cNvPr>
          <p:cNvSpPr/>
          <p:nvPr/>
        </p:nvSpPr>
        <p:spPr>
          <a:xfrm>
            <a:off x="314325" y="6173058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10. Western Europe Market Analysis By Segments</a:t>
            </a:r>
          </a:p>
        </p:txBody>
      </p:sp>
      <p:sp>
        <p:nvSpPr>
          <p:cNvPr id="20" name="Rounded Rectangle 19">
            <a:hlinkClick action="ppaction://hlinksldjump" r:id="rId16"/>
          </p:cNvPr>
          <p:cNvSpPr/>
          <p:nvPr/>
        </p:nvSpPr>
        <p:spPr>
          <a:xfrm>
            <a:off x="6219825" y="1135037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Country Market Outlook</a:t>
            </a:r>
          </a:p>
        </p:txBody>
      </p:sp>
      <p:sp>
        <p:nvSpPr>
          <p:cNvPr id="21" name="Rounded Rectangle 20">
            <a:hlinkClick action="ppaction://hlinksldjump" r:id="rId17"/>
          </p:cNvPr>
          <p:cNvSpPr/>
          <p:nvPr/>
        </p:nvSpPr>
        <p:spPr>
          <a:xfrm>
            <a:off x="6391275" y="158142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11. Helium-3 Market Overview (Volume &amp; Value)</a:t>
            </a:r>
          </a:p>
        </p:txBody>
      </p:sp>
      <p:sp>
        <p:nvSpPr>
          <p:cNvPr id="22" name="Rounded Rectangle 21">
            <a:hlinkClick action="ppaction://hlinksldjump" r:id="rId18"/>
          </p:cNvPr>
          <p:cNvSpPr/>
          <p:nvPr/>
        </p:nvSpPr>
        <p:spPr>
          <a:xfrm>
            <a:off x="6391275" y="2046062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12. Segment Overview (Volume &amp; Value)</a:t>
            </a:r>
          </a:p>
        </p:txBody>
      </p:sp>
      <p:sp>
        <p:nvSpPr>
          <p:cNvPr id="23" name="Rounded Rectangle 22">
            <a:hlinkClick action="ppaction://hlinksldjump" r:id="rId19"/>
          </p:cNvPr>
          <p:cNvSpPr/>
          <p:nvPr/>
        </p:nvSpPr>
        <p:spPr>
          <a:xfrm>
            <a:off x="6219825" y="2510702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Pricing Assessment</a:t>
            </a:r>
          </a:p>
        </p:txBody>
      </p:sp>
      <p:sp>
        <p:nvSpPr>
          <p:cNvPr id="24" name="Rounded Rectangle 23">
            <a:hlinkClick action="ppaction://hlinksldjump" r:id="rId20"/>
          </p:cNvPr>
          <p:cNvSpPr/>
          <p:nvPr/>
        </p:nvSpPr>
        <p:spPr>
          <a:xfrm>
            <a:off x="6391275" y="2957088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13. Helium-3 Market Pricing Analysis</a:t>
            </a:r>
          </a:p>
        </p:txBody>
      </p:sp>
      <p:sp>
        <p:nvSpPr>
          <p:cNvPr id="25" name="Rounded Rectangle 24">
            <a:hlinkClick action="ppaction://hlinksldjump" r:id="rId21"/>
          </p:cNvPr>
          <p:cNvSpPr/>
          <p:nvPr/>
        </p:nvSpPr>
        <p:spPr>
          <a:xfrm>
            <a:off x="6391275" y="342172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14. Supply Chain Analysis</a:t>
            </a:r>
          </a:p>
        </p:txBody>
      </p:sp>
      <p:sp>
        <p:nvSpPr>
          <p:cNvPr id="26" name="Rounded Rectangle 25">
            <a:hlinkClick action="ppaction://hlinksldjump" r:id="rId22"/>
          </p:cNvPr>
          <p:cNvSpPr/>
          <p:nvPr/>
        </p:nvSpPr>
        <p:spPr>
          <a:xfrm>
            <a:off x="6219825" y="3886367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Dynamics</a:t>
            </a:r>
          </a:p>
        </p:txBody>
      </p:sp>
      <p:sp>
        <p:nvSpPr>
          <p:cNvPr id="27" name="Rounded Rectangle 26">
            <a:hlinkClick action="ppaction://hlinksldjump" r:id="rId23"/>
          </p:cNvPr>
          <p:cNvSpPr/>
          <p:nvPr/>
        </p:nvSpPr>
        <p:spPr>
          <a:xfrm>
            <a:off x="6391275" y="433275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15. Market Dynamics &amp; Forces</a:t>
            </a:r>
          </a:p>
        </p:txBody>
      </p:sp>
      <p:sp>
        <p:nvSpPr>
          <p:cNvPr id="28" name="Rounded Rectangle 27">
            <a:hlinkClick action="ppaction://hlinksldjump" r:id="rId24"/>
          </p:cNvPr>
          <p:cNvSpPr/>
          <p:nvPr/>
        </p:nvSpPr>
        <p:spPr>
          <a:xfrm>
            <a:off x="6219825" y="4797393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BF2F9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Competition Assessment</a:t>
            </a:r>
          </a:p>
        </p:txBody>
      </p:sp>
      <p:sp>
        <p:nvSpPr>
          <p:cNvPr id="29" name="Rounded Rectangle 28">
            <a:hlinkClick action="ppaction://hlinksldjump" r:id="rId25"/>
          </p:cNvPr>
          <p:cNvSpPr/>
          <p:nvPr/>
        </p:nvSpPr>
        <p:spPr>
          <a:xfrm>
            <a:off x="6391275" y="524377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16. Competitive Landscape</a:t>
            </a:r>
          </a:p>
        </p:txBody>
      </p:sp>
      <p:sp>
        <p:nvSpPr>
          <p:cNvPr id="30" name="Rounded Rectangle 29">
            <a:hlinkClick action="ppaction://hlinksldjump" r:id="rId26"/>
          </p:cNvPr>
          <p:cNvSpPr/>
          <p:nvPr/>
        </p:nvSpPr>
        <p:spPr>
          <a:xfrm>
            <a:off x="6391275" y="5708418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17. Market Share by Leading Players</a:t>
            </a:r>
          </a:p>
        </p:txBody>
      </p:sp>
      <p:sp>
        <p:nvSpPr>
          <p:cNvPr id="31" name="Rounded Rectangle 30">
            <a:hlinkClick action="ppaction://hlinksldjump" r:id="rId27"/>
          </p:cNvPr>
          <p:cNvSpPr/>
          <p:nvPr/>
        </p:nvSpPr>
        <p:spPr>
          <a:xfrm>
            <a:off x="6391275" y="6173058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BF2F9"/>
          </a:solidFill>
          <a:ln w="635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E2A5C"/>
                </a:solidFill>
                <a:latin typeface="Calibri"/>
              </a:rPr>
              <a:t>18. Company Profiles &amp; Strategic Benchmarking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1464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4893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Market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5125"/>
            <a:ext cx="84582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Signals Reshaping Helium-3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Signals reshaping Helium-3 demand, the evidence behind each and what it implies for the global market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2875" y="1062022"/>
          <a:ext cx="11906250" cy="5549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1875"/>
                <a:gridCol w="5000625"/>
                <a:gridCol w="3333750"/>
              </a:tblGrid>
              <a:tr h="3468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QUESTIONS WE'RE HEARING</a:t>
                      </a:r>
                    </a:p>
                  </a:txBody>
                  <a:tcPr marL="70000" marR="70000" marT="45000" marB="4500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WHAT WE'RE OBSERVING</a:t>
                      </a:r>
                    </a:p>
                  </a:txBody>
                  <a:tcPr marL="70000" marR="70000" marT="45000" marB="4500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SELECT DATA POINTS</a:t>
                      </a:r>
                    </a:p>
                  </a:txBody>
                  <a:tcPr marL="70000" marR="70000" marT="45000" marB="45000" anchor="ctr">
                    <a:solidFill>
                      <a:srgbClr val="EBF2F9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How fast is Helium-3 demand set to grow through 2036?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/>
                        <a:t> 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Which product form categories are buyers prioritising?</a:t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Where is incremental demand concentrating?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Which regions will drive the next wave of Helium-3 demand?</a:t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Where should suppliers focus investment?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4750" y="1761432"/>
            <a:ext cx="16898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Global demand expands at a</a:t>
            </a:r>
          </a:p>
        </p:txBody>
      </p:sp>
      <p:pic>
        <p:nvPicPr>
          <p:cNvPr id="11" name="Picture 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645" y="1751653"/>
            <a:ext cx="128699" cy="1871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90141" y="1761432"/>
            <a:ext cx="27081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 (2026–2036), accelerating from</a:t>
            </a:r>
          </a:p>
        </p:txBody>
      </p:sp>
      <p:pic>
        <p:nvPicPr>
          <p:cNvPr id="13" name="Picture 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302" y="1751653"/>
            <a:ext cx="128699" cy="187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84750" y="1929072"/>
            <a:ext cx="1137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across 2021–2025.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4228" y="1689042"/>
            <a:ext cx="330041" cy="4800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84750" y="2801893"/>
            <a:ext cx="24262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leads Product Form, at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042" y="2792114"/>
            <a:ext cx="128699" cy="1871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26538" y="2801893"/>
            <a:ext cx="18541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value, within a mix of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4750" y="2969533"/>
            <a:ext cx="115860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tracked categories.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5375" y="2885713"/>
            <a:ext cx="15127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Lead: Gaseous Helium-3 ·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190" y="2875934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13685" y="2885713"/>
            <a:ext cx="789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(2036)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4750" y="3842354"/>
            <a:ext cx="4302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Neutron Detection and Radiation Monitoring is the fastest-growing part 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4750" y="4009994"/>
            <a:ext cx="9992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Application, at a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58" y="400021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99554" y="4009994"/>
            <a:ext cx="25370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 outpacing the wider market.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5375" y="3842354"/>
            <a:ext cx="31702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Fastest: Neutron Detection and Radiation Monitoring ·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1907" y="400021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39403" y="4009994"/>
            <a:ext cx="5023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F-CAGR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4750" y="4882815"/>
            <a:ext cx="26734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North America is the largest regional market (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275" y="4873036"/>
            <a:ext cx="128699" cy="1871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73771" y="4882815"/>
            <a:ext cx="20167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value), while South Asia &amp;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4750" y="5050455"/>
            <a:ext cx="13741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Pacific grows fastest at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56" y="5040676"/>
            <a:ext cx="128699" cy="18719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274452" y="505045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5375" y="4882815"/>
            <a:ext cx="14641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Largest: North America (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622" y="4873036"/>
            <a:ext cx="128699" cy="18719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365118" y="4882815"/>
            <a:ext cx="14139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 · Fastest: South Asia &amp;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5375" y="5050455"/>
            <a:ext cx="5146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Pacific (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099" y="5040676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415594" y="5050455"/>
            <a:ext cx="1184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4750" y="5923276"/>
            <a:ext cx="9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 incremental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79" y="5913497"/>
            <a:ext cx="128699" cy="1871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846075" y="5923276"/>
            <a:ext cx="31250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demand is added between 2026 and 2036,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4750" y="6090916"/>
            <a:ext cx="33244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front-loaded in the leading categories and regions above.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5375" y="6007096"/>
            <a:ext cx="8579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$ opportunity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346" y="5997317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758842" y="6007096"/>
            <a:ext cx="13457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(2026–2036) ·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672" y="5997317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220167" y="6007096"/>
            <a:ext cx="528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 2031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03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3051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10025"/>
            <a:ext cx="71247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Taxonomy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Table of Contents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List of Figures, List of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Market Taxonomy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Geographic Coverage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Segments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Taxonomy Regions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Geographic scope of the study: the global market broken into 7 regions and the countries assessed under each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0" y="1445350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2975" y="1627887"/>
            <a:ext cx="10296525" cy="0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2975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57475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71975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6475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10500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25000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239500" y="1627887"/>
            <a:ext cx="0" cy="182537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9650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9650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9650" y="3106436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24150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24150" y="2558825"/>
            <a:ext cx="0" cy="237298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24150" y="3097309"/>
            <a:ext cx="0" cy="237298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8650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38650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8650" y="3106436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53150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53150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53150" y="3106436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53150" y="3827457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77175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77175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77175" y="3106436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77175" y="3663174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77175" y="4210785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77175" y="4767523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77175" y="5315134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77175" y="5871872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591675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91675" y="2558825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91675" y="3106436"/>
            <a:ext cx="0" cy="237298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91675" y="3644920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91675" y="4365941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306175" y="2093356"/>
            <a:ext cx="0" cy="164283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306175" y="2732236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306175" y="3288973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06175" y="3836584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306175" y="4393322"/>
            <a:ext cx="0" cy="246425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306175" y="4940933"/>
            <a:ext cx="0" cy="255552"/>
          </a:xfrm>
          <a:prstGeom prst="line">
            <a:avLst/>
          </a:prstGeom>
          <a:ln w="15875">
            <a:solidFill>
              <a:srgbClr val="79C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667250" y="1080276"/>
            <a:ext cx="2857500" cy="365074"/>
          </a:xfrm>
          <a:prstGeom prst="roundRect">
            <a:avLst>
              <a:gd name="adj" fmla="val 17500"/>
            </a:avLst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Helium-3 Market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2875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North America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225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U.S.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6225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Canada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6225" y="3352861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Mexico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57375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Latin America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90725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Brazil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90725" y="2796123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Chile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90725" y="3334608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Latin America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71875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 Asia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05225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China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05225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Japan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05225" y="3352861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South Korea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286375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South Asia &amp; Pacific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19725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India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19725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ASEAN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19725" y="3352861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Australia &amp; New Zealand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19725" y="4073882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South Asia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010400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Western Europe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43750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Germany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43750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Italy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43750" y="336198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France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43750" y="390959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U.K.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43750" y="4466337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Spain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43750" y="501394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BENELUX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43750" y="5570686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Nordic Countries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43750" y="6118296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Western Europe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24900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Eastern Europe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58250" y="225763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Russia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58250" y="280525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Hungary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58250" y="3343734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Poland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58250" y="3891345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Balkan &amp; Baltic Countries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58250" y="4612366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Eastern Europe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439400" y="181042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2A5F8F"/>
          </a:solidFill>
          <a:ln w="12700">
            <a:solidFill>
              <a:srgbClr val="2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Middle East &amp; Africa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72750" y="2257639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Kingdom of Saudi Arabia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572750" y="2987787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Other GCC Countries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72750" y="353539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Turkiye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572750" y="4092136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South Africa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572750" y="4639747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Other African Union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72750" y="5196485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E2A5C"/>
                </a:solidFill>
                <a:latin typeface="Calibri"/>
              </a:rPr>
              <a:t>Rest of MEA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Taxonomy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Segmentation framework of the study: 4 axes and the sub-segments sized under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875" y="1028700"/>
            <a:ext cx="287655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875" y="1028700"/>
            <a:ext cx="2876550" cy="2286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0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Product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24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00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2775" y="1028700"/>
            <a:ext cx="287655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2775" y="1028700"/>
            <a:ext cx="2876550" cy="2286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89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Supply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9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04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Tritium-Decay-Derived Helium-3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623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99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04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Terrestrial Natural / Geological Helium-3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2675" y="1028700"/>
            <a:ext cx="2876550" cy="12915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2675" y="1028700"/>
            <a:ext cx="2876550" cy="2286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88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98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1257300"/>
            <a:ext cx="2590800" cy="35433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Neutron Detection and Radiation Monitoring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72200" y="161163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9825" y="161163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325" y="1611630"/>
            <a:ext cx="2590800" cy="35433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Cryogenic Refrigeration and Ultra-Low-Temperature Cooling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72200" y="196596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9825" y="196596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0325" y="196596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72200" y="214312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9825" y="214312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0325" y="214312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Nuclear Fusion Research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72575" y="1028700"/>
            <a:ext cx="2876550" cy="146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72575" y="1028700"/>
            <a:ext cx="2876550" cy="2286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87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End 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97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02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Government and Defense Agencies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821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2297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02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82100" y="161163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229725" y="161163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20225" y="161163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Independent Research Institutions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82100" y="178879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229725" y="178879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0225" y="1788795"/>
            <a:ext cx="2590800" cy="35433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Healthcare and Medical Research Institutions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82100" y="214312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229725" y="214312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0225" y="214312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Commercial and Industrial Enterprises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182100" y="232029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229725" y="232029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20225" y="232029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Other End Users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Company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Companies profiled and benchmarked across the competition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1007261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Companies covered in this study of the Helium-3 Market profiled and benchmarked in the Competition Assessment section.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875" y="2084229"/>
            <a:ext cx="5857875" cy="359597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875" y="2084229"/>
            <a:ext cx="5857875" cy="273805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" y="2148117"/>
            <a:ext cx="5857875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List Companies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375" y="2358035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358035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Air Liquide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" y="2832631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52400" y="2832631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3375" y="2832631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832631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Linde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2400" y="3307227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3375" y="3307227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3307227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Chemgas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" y="3781823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2400" y="3781823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3375" y="3781823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3781823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Airgas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2400" y="4256419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3375" y="4256419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4256419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Merck KGaA (Sigma-Aldrich)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4731015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52400" y="4731015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3375" y="4731015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025" y="4731015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Eurisotop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2400" y="5205612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3375" y="5205612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025" y="5205612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ISOFLEX USA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1250" y="2084229"/>
            <a:ext cx="5857875" cy="359597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1250" y="2084229"/>
            <a:ext cx="5857875" cy="273805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1250" y="2148117"/>
            <a:ext cx="5857875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List Companies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0" y="2358035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58035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DWS Specialty Gas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0775" y="2832631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200775" y="2832631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81750" y="2832631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2832631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Wuhan Baisida Gas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00775" y="3307227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81750" y="3307227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307227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Shanghai Wechem Chemical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00775" y="3781823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200775" y="3781823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81750" y="3781823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3781823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Laurentis Energy Partners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200775" y="4256419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381750" y="4256419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256419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V/O Izotop (Rosatom Group)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0775" y="4731015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6200775" y="4731015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381750" y="4731015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4731015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Changyou Gas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200775" y="5205612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2875" y="6337341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B06A2C"/>
                </a:solidFill>
                <a:latin typeface="Calibri"/>
              </a:rPr>
              <a:t>Note: the list of companies is indicative and can be customised on request.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1464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4893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Table of 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5125"/>
            <a:ext cx="84582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The full contents of this study, as delivered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(1/8)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Executive Summary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Market Outlook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Demand Side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Supply Side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Analysis and Recommendations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Overview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Coverage / Taxonomy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Definition / Scope / Limitations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Key Market Trends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Trends Impacting the Market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Innovation / Development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Key Success Factors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Adoption / Usage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USPs / Features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Strategic Promotional Strategies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Demand Analysis 2021–2025 and Forecast,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Volume (Units) Analysis,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Current and Future Market Volume (Units) Projections,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Y-o-Y Growth Trend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6.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- Pricing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Form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Pricing Analysis Benchmark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Helium-3 Selling Price and Transaction Data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Average Realized Selling Price by Isotopic Purity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Selling Price by Order Volume and Cylinder Package Size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Government Procurement versus Commercial Contract Prices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Gaseous versus Liquid Helium-3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7.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Demand (US$ Mn) Analysis 2021–2025 and Forecast,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7.1.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Value (US$ Mn) Analysis,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7.2.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Current and Future Market Value (US$ Mn) Projections,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7.2.1.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Y-o-Y Growth Trend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7.2.2.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Absolute $ Opportunity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8.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Background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Macro-Economic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Forecast Factors - Relevance &amp;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Value Chain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Dynamics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Drivers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Restraints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Opportunity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Helium-3 Adoption and Penetration Rates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Helium-3-Based Detectors as a Share of Addressable Neutron Detection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Helium-3 Adoption in Active Cryogenic Refrigeration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Active Helium-3 Procurement Organizations 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Helium-3 Usage Share Relative to Alternative Detection Technologies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9.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Product Form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Product Form,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Product Form,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9.3.1.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9.3.2.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Product Form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10.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Supply Source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Supply Source,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Supply Source,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(2/8)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Supply Source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Application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Application,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Application,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Application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End User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End User,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End User,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End User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Helium-3 Market Analysis 2021–2025 and Forecast 2026–2036, by Region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Region,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Current Market Size (US$ Mn) and Volume Analysis and Forecast By Region,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South Asia and Pacific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Middle East and Africa (MEA)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Region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North America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14.4.1.1.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14.4.1.2.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14.4.1.3.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Latin America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(3/8)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15.4.1.1.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15.4.1.2.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Argentina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15.4.1.3.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16.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Western Europe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16.4.1.6.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16.4.1.7.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Nordics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16.4.1.8.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17.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Eastern Europe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Hungary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Balkan &amp; Baltics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Eastern Europe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(4/8)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18.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South Asia and Pacific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Australia and New Zealand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South Asia &amp; Pacific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19.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East Asia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(5/8)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20.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Middle East and Africa Helium-3 Market Analysis 2021–2025 and Forecast 2026–2036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GCC Countries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Turkiye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Northern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South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Middle East and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Country Wise Helium-3 Market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U.S.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Canada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Mexico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Brazil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Germany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Italy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France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21.7.1.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21.7.2.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21.7.3.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(6/8)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21.7.4.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U.K.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21.8.1.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21.8.2.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21.8.3.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21.8.4.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Spain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21.9.1.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21.9.2.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21.9.3.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21.9.4.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BENELUX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21.10.1.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21.10.2.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21.10.3.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21.10.4.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Nordics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Russia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Hungary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Poland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Balkan &amp; Baltics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China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Japan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21.17.1.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21.17.2.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21.17.3.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21.17.4.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S. Korea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21.18.1.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21.18.2.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21.18.3.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21.18.4.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India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21.19.1.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21.19.2.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21.19.3.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(7/8)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21.19.4.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ASEAN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21.20.1.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21.20.2.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21.20.3.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21.20.4.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Australia and New Zealand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GCC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Northern Africa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Turkiye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South Africa Helium-3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Product Form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Supply Source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21.25.4.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End User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Structure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Analysis by Tier of Companies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Share Analysis of Top Players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Presence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Competition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Competition Dashboard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Helium-3 Supplier and Competitor Landscape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Verified Helium-3 Suppliers and Producers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Upstream Recovery Operators vs. Distributors vs. Direct Suppliers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Parent Companies, Subsidiaries and Distribution Partnerships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Competitor Presence by Country and Region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Company-Wise Helium-3 Sales and Revenue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Reported Helium-3 Product Revenue by Company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Estimated Helium-3 Revenue from Relevant Product Portfolios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Annual Helium-3 Sales Volume by Company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Company-Wise Revenue and Volume Growth, Where Available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Competition Benchmarking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Competition Deep Dive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Air Liquide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Overview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Product Portfolio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Profitability by Market Segments (Product/Channel/Region)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Sales Footprint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23.6.1.5.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Strategy Overview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Linde plc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Chemgas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Airgas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Merck KGaA (Sigma-Aldrich)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Eurisotop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(8/8)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157734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ISOFLEX USA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23.6.8.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DWS Specialty Gas Co., Ltd.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23.6.9.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Wuhan Baisida Gas Co., Ltd.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23.6.10.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Shanghai Wechem Chemical Co., Ltd.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Laurentis Energy Partners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V/O Izotop (Rosatom Group)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Changyou Gas Company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Assumptions and Acronyms Used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Research Methodology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9495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2924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List of Figures, List of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8275"/>
            <a:ext cx="8458200" cy="882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Every figure in the full study, by analysis block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Every table in the full study, by analysis block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(1/5)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1: Global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2: Global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3: Global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4: Global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5: Global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6: Global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7: Global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8: Global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9: Global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10: Global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11: Global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12: Global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13: Global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14: Global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15: Global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16: Global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17: Global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18: Global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19: Global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20: Global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21: Global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22: Global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23: North America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24: North America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25: North America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26: North America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27: North America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28: North America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29: North America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30: North America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31: North America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32: North America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33: North America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34: North America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35: North America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36: North America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37: North America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38: North America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39: North America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40: North America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41: North America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42: North America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43: North America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44: North America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45: U.S.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46: U.S.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47: U.S.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48: U.S.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49: Canada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50: Canada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51: Canada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52: Canada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53: Mexico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54: Mexico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55: Mexico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56: Mexico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57: Latin America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58: Latin America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59: Latin America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60: Latin America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61: Latin America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62: Latin America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(2/5)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63: Latin America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64: Latin America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65: Latin America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66: Latin America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67: Latin America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68: Latin America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69: Latin America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70: Latin America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71: Latin America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72: Latin America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73: Latin America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74: Latin America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75: Latin America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76: Latin America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77: Latin America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78: Latin America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79: Brazil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80: Brazil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81: Brazil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82: Brazil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83: Argentina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84: Argentina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85: Argentina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86: Argentina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87: Eastern Europe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88: Eastern Europe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89: Eastern Europe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90: Eastern Europe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91: Eastern Europe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92: Eastern Europe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93: Eastern Europe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94: Eastern Europe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95: Eastern Europe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96: Eastern Europe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97: Eastern Europe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98: Eastern Europe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99: Eastern Europe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100: Eastern Europe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101: Eastern Europe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102: Eastern Europe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103: Eastern Europe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104: Eastern Europe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105: Eastern Europe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106: Eastern Europe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107: Eastern Europe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108: Eastern Europe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109: Russia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110: Russia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111: Russia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112: Russia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113: Hungary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114: Hungary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115: Hungary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116: Hungary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117: Poland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118: Poland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119: Poland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120: Poland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121: Balkan and Baltics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122: Balkan and Baltics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123: Balkan and Baltics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124: Balkan and Baltics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(3/5)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125: Western Europe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126: Western Europe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127: Western Europe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128: Western Europe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129: Western Europe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130: Western Europe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131: Western Europe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132: Western Europe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133: Western Europe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134: Western Europe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135: Western Europe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136: Western Europe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137: Western Europe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138: Western Europe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139: Western Europe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140: Western Europe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141: Western Europe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142: Western Europe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143: Western Europe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144: Western Europe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145: Western Europe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146: Western Europe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147: Germany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148: Germany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149: Germany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150: Germany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151: Italy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152: Italy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153: Italy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154: Italy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155: France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156: France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157: France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158: France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159: U.K.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160: U.K.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161: U.K.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162: U.K.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163: Spain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164: Spain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165: Spain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166: Spain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167: BENELUX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168: BENELUX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169: BENELUX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170: BENELUX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171: Nordics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172: Nordics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173: Nordics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174: Nordics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175: East Asia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176: East Asia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177: East Asia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178: East Asia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179: East Asia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180: East Asia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181: East Asia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182: East Asia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183: East Asia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184: East Asia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185: East Asia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186: East Asia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(4/5)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187: East Asia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188: East Asia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189: East Asia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190: East Asia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191: East Asia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192: East Asia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193: East Asia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194: East Asia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195: East Asia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196: East Asia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197: China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198: China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199: China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200: China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201: Japan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202: Japan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203: Japan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204: Japan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205: South Korea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206: South Korea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207: South Korea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208: South Korea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209: South Asia and Pacific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210: South Asia and Pacific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211: South Asia and Pacific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4396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212: South Asia and Pacific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213: South Asia and Pacific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214: South Asia and Pacific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49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215: South Asia and Pacific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81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3285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216: South Asia and Pacific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217: South Asia and Pacific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218: South Asia and Pacific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219: South Asia and Pacific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220: South Asia and Pacific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221: South Asia and Pacific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222: South Asia and Pacific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223: South Asia and Pacific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224: South Asia and Pacific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225: South Asia and Pacific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226: South Asia and Pacific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227: South Asia and Pacific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228: South Asia and Pacific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229: South Asia and Pacific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230: South Asia and Pacific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231: India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232: India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233: India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234: India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235: ASEAN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236: ASEAN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237: ASEAN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238: ASEAN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239: Australia and New Zealand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240: Australia and New Zealand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241: Australia and New Zealand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242: Australia and New Zealand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243: Middle East and Africa Helium-3 Market Value, 2021-2036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244: Middle East and Africa Helium-3 Market Incremental $ Opportunity, 2026-2036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245: Middle East and Africa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(5/5)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93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33289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246: Middle East and Africa Helium-3 Market Value, 2026-2036 Y-o-Y Comparison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247: Middle East and Africa Helium-3 Market Value, 2026-2036 BPS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248: Middle East and Africa Helium-3 Market Attractiveness Analysis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249: Middle East and Africa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3289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250: Middle East and Africa Helium-3 Market Value, 2026-2036 Y-o-Y Comparison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251: Middle East and Africa Helium-3 Market Value, 2026-2036 BPS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252: Middle East and Africa Helium-3 Market Attractiveness Analysis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253: Middle East and Africa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254: Middle East and Africa Helium-3 Market Value, 2026-2036 Y-o-Y Comparison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255: Middle East and Africa Helium-3 Market Value, 2026-2036 BPS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256: Middle East and Africa Helium-3 Market Attractiveness Analysis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257: Middle East and Africa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258: Middle East and Africa Helium-3 Market Value, 2026-2036 Y-o-Y Comparison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259: Middle East and Africa Helium-3 Market Value, 2026-2036 BPS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260: Middle East and Africa Helium-3 Market Attractiveness Analysis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261: Middle East and Africa Helium-3 Market Value, 2026-2036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262: Middle East and Africa Helium-3 Market Value, 2026-2036 Y-o-Y Comparison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263: Middle East and Africa Helium-3 Market Value, 2026-2036 BPS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264: Middle East and Africa Helium-3 Market Attractiveness Analysis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265: GCC Countries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266: GCC Countries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267: GCC Countries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268: GCC Countries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269: Turkiye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270: Turkiye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271: Turkiye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272: Turkiye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273: Northern Africa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274: Northern Africa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100012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275: Northern Africa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276: Northern Africa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277: South Africa Helium-3 Market Value, 2026-2036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278: South Africa Helium-3 Market Value, 2026-2036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279: South Africa Helium-3 Market Value, 2026-2036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280: South Africa Helium-3 Market Value, 2026-2036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(1/5)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1: Global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2: Global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3: Global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4: Global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5: Global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6: Global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7: Global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8: Global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9: Global Helium-3 Market Value, 2021-2036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10: Global Helium-3 Market Volume,2021-2036 By Region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11: North America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12: North America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13: North America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14: North America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15: North America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16: North America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17: North America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18: North America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19: North America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20: North America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21: U.S.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22: U.S.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23: U.S.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24: U.S.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25: U.S.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26: U.S.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27: U.S.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28: U.S.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29: Canada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30: Canada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31: Canada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32: Canada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33: Canada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34: Canada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35: Canada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36: Canada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37: Mexico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38: Mexico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39: Mexico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40: Mexico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41: Mexico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42: Mexico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43: Mexico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44: Mexico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45: Latin America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46: Latin America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47: Latin America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48: Latin America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49: Latin America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50: Latin America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51: Latin America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52: Latin America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53: Latin America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54: Latin America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55: Brazil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56: Brazil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57: Brazil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58: Brazil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59: Brazil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60: Brazil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61: Brazil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62: Brazil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(2/5)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63: Argentina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64: Argentina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65: Argentina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66: Argentina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67: Argentina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68: Argentina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69: Argentina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70: Argentina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71: Eastern Europe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72: Eastern Europe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73: Eastern Europe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74: Eastern Europe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75: Eastern Europe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76: Eastern Europe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77: Eastern Europe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78: Eastern Europe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79: Eastern Europe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80: Eastern Europe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81: Hungary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82: Hungary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83: Hungary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84: Hungary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85: Hungary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86: Hungary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87: Hungary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88: Hungary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89: Poland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90: Poland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91: Poland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92: Poland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93: Poland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94: Poland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95: Poland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96: Poland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97: Russia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98: Russia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99: Russia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100: Russia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101: Russia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102: Russia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103: Russia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104: Russia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105: Balkan and Baltics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106: Balkan and Baltics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107: Balkan and Baltics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108: Balkan and Baltics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109: Balkan and Baltics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110: Balkan and Baltics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111: Balkan and Baltics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112: Balkan and Baltics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113: Western Europe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114: Western Europe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115: Western Europe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116: Western Europe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117: Western Europe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118: Western Europe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119: Western Europe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120: Western Europe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121: Western Europe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122: Western Europe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123: Germany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124: Germany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(3/5)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125: Germany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126: Germany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127: Germany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128: Germany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129: Germany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130: Germany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131: Italy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132: Italy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133: Italy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134: Italy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135: Italy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136: Italy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137: Italy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138: Italy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139: France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140: France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141: France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142: France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143: France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144: France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145: France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146: France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147: U.K.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148: U.K.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149: U.K.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150: U.K.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151: U.K.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152: U.K.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153: U.K.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154: U.K.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155: Spain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156: Spain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157: Spain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158: Spain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159: Spain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160: Spain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161: Spain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162: Spain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163: BENELUX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164: BENELUX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165: BENELUX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166: BENELUX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167: BENELUX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168: BENELUX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169: BENELUX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170: BENELUX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171: Nordics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172: Nordics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173: Nordics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174: Nordics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175: Nordics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176: Nordics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177: Nordics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178: Nordics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179: East Asia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180: East Asia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181: East Asia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182: East Asia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183: East Asia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184: East Asia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185: East Asia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186: East Asia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(4/5)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187: East Asia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188: East Asia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189: China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190: China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191: China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192: China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193: China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194: China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195: China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196: China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197: Japan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198: Japan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199: Japan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200: Japan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201: Japan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202: Japan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203: Japan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204: Japan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205: South Korea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206: South Korea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207: South Korea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208: South Korea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209: South Korea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210: South Korea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211: South Korea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212: South Korea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213: South Asia and Pacific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214: South Asia and Pacific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215: South Asia and Pacific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216: South Asia and Pacific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217: South Asia and Pacific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218: South Asia and Pacific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219: South Asia and Pacific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220: South Asia and Pacific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221: South Asia and Pacific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222: South Asia and Pacific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223: India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224: India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225: India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226: India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227: India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228: India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229: India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230: India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231: ASEAN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232: ASEAN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233: ASEAN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234: ASEAN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235: ASEAN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236: ASEAN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237: ASEAN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238: ASEAN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239: Australia and New Zealand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240: Australia and New Zealand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241: Australia and New Zealand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242: Australia and New Zealand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243: Australia and New Zealand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244: Australia and New Zealand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245: Australia and New Zealand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246: Australia and New Zealand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247: Middle East and Africa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248: Middle East and Africa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76200"/>
            <a:ext cx="10896600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(5/5)</a:t>
            </a:r>
          </a:p>
        </p:txBody>
      </p:sp>
      <p:graphicFrame>
        <p:nvGraphicFramePr>
          <p:cNvPr id="6" name="TMR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249: Middle East and Africa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250: Middle East and Africa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251: Middle East and Africa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252: Middle East and Africa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253: Middle East and Africa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254: Middle East and Africa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255: Middle East and Africa Helium-3 Market Value, 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256: Middle East and Africa Helium-3 Market Volume,2021-2036 By Country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257: GCC Countries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258: GCC Countries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259: GCC Countries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260: GCC Countries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261: GCC Countries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262: GCC Countries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263: GCC Countries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264: GCC Countries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265: Turkiye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266: Turkiye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267: Turkiye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268: Turkiye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269: Turkiye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270: Turkiye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271: Turkiye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272: Turkiye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273: Northern Africa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274: Northern Africa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275: Northern Africa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276: Northern Africa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277: Northern Africa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278: Northern Africa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279: Northern Africa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MR Contents Table"/>
          <p:cNvGraphicFramePr>
            <a:graphicFrameLocks noGrp="1"/>
          </p:cNvGraphicFramePr>
          <p:nvPr/>
        </p:nvGraphicFramePr>
        <p:xfrm>
          <a:off x="6172200" y="981075"/>
          <a:ext cx="5876925" cy="150019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280: Northern Africa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281: South Africa Helium-3 Market Value,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282: South Africa Helium-3 Market Volume, 2021-2036 By Product Form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283: South Africa Helium-3 Market Value,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284: South Africa Helium-3 Market Volume, 2021-2036 By Supply Source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285: South Africa Helium-3 Market Value,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286: South Africa Helium-3 Market Volume, 2021-2036 By Application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287: South Africa Helium-3 Market Value,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288: South Africa Helium-3 Market Volume, 2021-2036 By End User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4919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275399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Global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58845"/>
            <a:ext cx="7124700" cy="2378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Market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Market Analysis By Segments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Product Form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Supply Source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End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5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Global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Pricing &amp; Price Index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Volume &amp; Value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Country Outlook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Summary, By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global market volume growth, incremental opportunity and the geographies driving it,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(Litres)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Growth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8625" y="2046987"/>
            <a:ext cx="287311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Helium-3 market is projected to register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893" y="203676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046002" y="2046987"/>
            <a:ext cx="8244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222247"/>
            <a:ext cx="36735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volume by the end of forecast period, 2036. Global Helium-3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8625" y="2397507"/>
            <a:ext cx="14999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volume stood at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7681" y="2387283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72790" y="2397507"/>
            <a:ext cx="19928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in 2025 and is expected 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572767"/>
            <a:ext cx="4085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reach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299" y="2562543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81409" y="2572767"/>
            <a:ext cx="19791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by 2036 end, at a CAGR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673" y="2562543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84783" y="257276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8625" y="2800604"/>
            <a:ext cx="38421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Value is projected to grow faster than volume over the forecast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8625" y="2975864"/>
            <a:ext cx="31848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period, owing to an increase in average selling price.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8625" y="4456475"/>
            <a:ext cx="2868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'South Asia &amp; Pacific' leads regional growth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6614" y="4446251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041723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8625" y="4684312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'Gaseous Helium-3' within Product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8625" y="4859572"/>
            <a:ext cx="4247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53" name="lockshield_13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ockshield_16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Pricing &amp; Regional Price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average price by sub-segment and price variation by region, highlighting where pricing power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52895"/>
            <a:ext cx="7696200" cy="2665040"/>
          </a:xfrm>
          <a:prstGeom prst="roundRect">
            <a:avLst>
              <a:gd name="adj" fmla="val 28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11004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by Product Form  ·  range across 2021–2036 (US$/Litres)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7225" y="333693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" y="2865938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7225" y="2394940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7225" y="1923943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7225" y="145294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7225" y="1452945"/>
            <a:ext cx="0" cy="18839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8650" y="333693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8650" y="28659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8650" y="239494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8650" y="192394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8650" y="145294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MR Scale tick"/>
          <p:cNvSpPr txBox="1"/>
          <p:nvPr/>
        </p:nvSpPr>
        <p:spPr>
          <a:xfrm>
            <a:off x="219075" y="327026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1" name="TMR Scale tick"/>
          <p:cNvSpPr txBox="1"/>
          <p:nvPr/>
        </p:nvSpPr>
        <p:spPr>
          <a:xfrm>
            <a:off x="219075" y="2328265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2" name="TMR Scale tick"/>
          <p:cNvSpPr txBox="1"/>
          <p:nvPr/>
        </p:nvSpPr>
        <p:spPr>
          <a:xfrm>
            <a:off x="219075" y="138627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409825" y="1670329"/>
            <a:ext cx="0" cy="625317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8380" y="2295646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78380" y="1670329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190750" y="1811109"/>
            <a:ext cx="438150" cy="313078"/>
          </a:xfrm>
          <a:prstGeom prst="rect">
            <a:avLst/>
          </a:prstGeom>
          <a:solidFill>
            <a:srgbClr val="CFE7F5"/>
          </a:solidFill>
          <a:ln w="15875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190750" y="1962529"/>
            <a:ext cx="438150" cy="0"/>
          </a:xfrm>
          <a:prstGeom prst="line">
            <a:avLst/>
          </a:prstGeom>
          <a:ln w="2540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7225" y="1517929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915025" y="2587129"/>
            <a:ext cx="0" cy="532423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83580" y="3119552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83580" y="2587129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695950" y="2706362"/>
            <a:ext cx="438150" cy="266516"/>
          </a:xfrm>
          <a:prstGeom prst="rect">
            <a:avLst/>
          </a:prstGeom>
          <a:solidFill>
            <a:srgbClr val="CFE7F5"/>
          </a:solidFill>
          <a:ln w="15875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695950" y="2835044"/>
            <a:ext cx="438150" cy="0"/>
          </a:xfrm>
          <a:prstGeom prst="line">
            <a:avLst/>
          </a:prstGeom>
          <a:ln w="2540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62425" y="2434729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25" y="3365510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2425" y="3365510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2875" y="3772696"/>
            <a:ext cx="7696200" cy="2783689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125" y="3829846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Region vs Global  ·  2026–2036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9125" y="4317081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9125" y="472842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9125" y="513977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9125" y="555112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9125" y="5962471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9125" y="4317081"/>
            <a:ext cx="0" cy="16453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0550" y="4317081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0550" y="472842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0550" y="513977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90550" y="555112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90550" y="5962471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MR Scale tick"/>
          <p:cNvSpPr txBox="1"/>
          <p:nvPr/>
        </p:nvSpPr>
        <p:spPr>
          <a:xfrm>
            <a:off x="219075" y="4250406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+56%</a:t>
            </a:r>
          </a:p>
        </p:txBody>
      </p:sp>
      <p:sp>
        <p:nvSpPr>
          <p:cNvPr id="51" name="TMR Scale tick"/>
          <p:cNvSpPr txBox="1"/>
          <p:nvPr/>
        </p:nvSpPr>
        <p:spPr>
          <a:xfrm>
            <a:off x="219075" y="466175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+28%</a:t>
            </a:r>
          </a:p>
        </p:txBody>
      </p:sp>
      <p:sp>
        <p:nvSpPr>
          <p:cNvPr id="52" name="TMR Scale tick"/>
          <p:cNvSpPr txBox="1"/>
          <p:nvPr/>
        </p:nvSpPr>
        <p:spPr>
          <a:xfrm>
            <a:off x="107156" y="5073101"/>
            <a:ext cx="47386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1">
                <a:solidFill>
                  <a:srgbClr val="6C7A89"/>
                </a:solidFill>
                <a:latin typeface="Calibri"/>
              </a:rPr>
              <a:t>Global</a:t>
            </a:r>
          </a:p>
        </p:txBody>
      </p:sp>
      <p:sp>
        <p:nvSpPr>
          <p:cNvPr id="53" name="TMR Scale tick"/>
          <p:cNvSpPr txBox="1"/>
          <p:nvPr/>
        </p:nvSpPr>
        <p:spPr>
          <a:xfrm>
            <a:off x="219075" y="548444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-28%</a:t>
            </a:r>
          </a:p>
        </p:txBody>
      </p:sp>
      <p:sp>
        <p:nvSpPr>
          <p:cNvPr id="54" name="TMR Scale tick"/>
          <p:cNvSpPr txBox="1"/>
          <p:nvPr/>
        </p:nvSpPr>
        <p:spPr>
          <a:xfrm>
            <a:off x="219075" y="5895796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-56%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9125" y="5139776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93989" y="4423458"/>
            <a:ext cx="457200" cy="716318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MR Data Label"/>
          <p:cNvSpPr txBox="1"/>
          <p:nvPr/>
        </p:nvSpPr>
        <p:spPr>
          <a:xfrm>
            <a:off x="619125" y="428058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00918" y="5103163"/>
            <a:ext cx="457200" cy="3661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MR Data Label"/>
          <p:cNvSpPr txBox="1"/>
          <p:nvPr/>
        </p:nvSpPr>
        <p:spPr>
          <a:xfrm>
            <a:off x="1626054" y="4960288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07846" y="5139776"/>
            <a:ext cx="457200" cy="412685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MR Data Label"/>
          <p:cNvSpPr txBox="1"/>
          <p:nvPr/>
        </p:nvSpPr>
        <p:spPr>
          <a:xfrm>
            <a:off x="2632982" y="5561985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14775" y="5139776"/>
            <a:ext cx="457200" cy="528830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MR Data Label"/>
          <p:cNvSpPr txBox="1"/>
          <p:nvPr/>
        </p:nvSpPr>
        <p:spPr>
          <a:xfrm>
            <a:off x="3639911" y="5678131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21704" y="4590074"/>
            <a:ext cx="457200" cy="54970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MR Data Label"/>
          <p:cNvSpPr txBox="1"/>
          <p:nvPr/>
        </p:nvSpPr>
        <p:spPr>
          <a:xfrm>
            <a:off x="4646839" y="4447199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28632" y="4944313"/>
            <a:ext cx="457200" cy="195463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MR Data Label"/>
          <p:cNvSpPr txBox="1"/>
          <p:nvPr/>
        </p:nvSpPr>
        <p:spPr>
          <a:xfrm>
            <a:off x="5653768" y="4801438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35561" y="5139776"/>
            <a:ext cx="457200" cy="60032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MR Data Label"/>
          <p:cNvSpPr txBox="1"/>
          <p:nvPr/>
        </p:nvSpPr>
        <p:spPr>
          <a:xfrm>
            <a:off x="6660696" y="520933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125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6054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32982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39911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6839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53768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60696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15275" y="1052895"/>
            <a:ext cx="4133850" cy="5503490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8625" y="113862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48625" y="137674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8625" y="1462470"/>
            <a:ext cx="3867150" cy="50177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475" y="1491005"/>
            <a:ext cx="128699" cy="187198"/>
          </a:xfrm>
          <a:prstGeom prst="rect">
            <a:avLst/>
          </a:prstGeom>
        </p:spPr>
      </p:pic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675" y="2407805"/>
            <a:ext cx="128699" cy="187198"/>
          </a:xfrm>
          <a:prstGeom prst="rect">
            <a:avLst/>
          </a:prstGeom>
        </p:spPr>
      </p:pic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40" y="4253659"/>
            <a:ext cx="128699" cy="187198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168" y="4933363"/>
            <a:ext cx="128699" cy="187198"/>
          </a:xfrm>
          <a:prstGeom prst="rect">
            <a:avLst/>
          </a:prstGeom>
        </p:spPr>
      </p:pic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097" y="5535060"/>
            <a:ext cx="128699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026" y="5651206"/>
            <a:ext cx="128699" cy="187198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954" y="4420275"/>
            <a:ext cx="128699" cy="187198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83" y="4774514"/>
            <a:ext cx="128699" cy="187198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811" y="5182408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048625" y="1471995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expected to command the highest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8625" y="1647255"/>
            <a:ext cx="1299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average price of US$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862" y="1637031"/>
            <a:ext cx="134549" cy="19570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9471971" y="1647255"/>
            <a:ext cx="23447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2036. Average selling price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8625" y="1822515"/>
            <a:ext cx="19488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Helium-3 is estimated at US$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670" y="1812291"/>
            <a:ext cx="134549" cy="195707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0121780" y="1822515"/>
            <a:ext cx="14311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2025 and 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8625" y="1997775"/>
            <a:ext cx="25590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projected to remain broadly stable at US$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828" y="1987551"/>
            <a:ext cx="134549" cy="19570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0731938" y="1997775"/>
            <a:ext cx="11202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by 2036.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8625" y="2225613"/>
            <a:ext cx="37830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the highest-priced region, while South Asia &amp;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48625" y="2400873"/>
            <a:ext cx="38215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the most price-competitive market. Against the global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48625" y="2576133"/>
            <a:ext cx="5269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of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680" y="2565909"/>
            <a:ext cx="134549" cy="195707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8699789" y="2576133"/>
            <a:ext cx="30910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US$/Litres, 4 of 7 regions price above and 3 below.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8625" y="2803971"/>
            <a:ext cx="21080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'North America' is the dearest at +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842" y="2793747"/>
            <a:ext cx="134549" cy="195707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280951" y="2803971"/>
            <a:ext cx="1599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versus Global, 'South Asia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8625" y="2979230"/>
            <a:ext cx="16536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&amp; Pacific' the cheapest at -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433" y="2969007"/>
            <a:ext cx="134549" cy="19570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826542" y="2979230"/>
            <a:ext cx="17021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pointing to premiumisation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8625" y="3154490"/>
            <a:ext cx="23656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headroom in the lower-priced regions.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Summary, By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global market value growth, incremental opportunity and the geographies driving it,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(US$ Mn)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Growth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8625" y="2046987"/>
            <a:ext cx="24569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is projected to register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4708" y="203676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629817" y="2046987"/>
            <a:ext cx="9972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222247"/>
            <a:ext cx="37194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revenue by the end of forecast period, 2036. Global Helium-3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8625" y="2397507"/>
            <a:ext cx="23955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is expected to be valued at US$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378" y="2387283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68487" y="2397507"/>
            <a:ext cx="1079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2036 end.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625345"/>
            <a:ext cx="3812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 is projected to create overall incremental opportunity of US$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545" y="2790381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09654" y="2800604"/>
            <a:ext cx="14556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from 2025 to 2036.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8625" y="4456475"/>
            <a:ext cx="2868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'South Asia &amp; Pacific' leads regional growth at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6614" y="4446251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041723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8625" y="4684312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'Gaseous Helium-3' within Product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8625" y="4859572"/>
            <a:ext cx="4247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49" name="lockshield_13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ockshield_16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Volume &amp; Value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and value growth of the global market and the incremental $ opportunity it creates,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4695825" cy="257175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Market, 2021–2025 (Historical)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4505325" cy="22288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991100" y="981075"/>
            <a:ext cx="7048500" cy="257175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6350" y="10382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Market, 2026–2036 (Forecast)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86350" y="1266825"/>
          <a:ext cx="6858000" cy="22288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686175"/>
            <a:ext cx="2514600" cy="7334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9875" y="3686175"/>
            <a:ext cx="2514600" cy="7334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76875" y="3686175"/>
            <a:ext cx="3200400" cy="7334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2026–2031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9675" y="3686175"/>
            <a:ext cx="3200400" cy="7334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4552950"/>
            <a:ext cx="11906250" cy="20574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6386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Volume &amp; Value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225" y="48768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962525"/>
            <a:ext cx="11639550" cy="1571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894" y="2050946"/>
            <a:ext cx="205327" cy="298657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0846" y="2011501"/>
            <a:ext cx="259564" cy="377547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594" y="4022407"/>
            <a:ext cx="157162" cy="2286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594" y="4022407"/>
            <a:ext cx="157162" cy="2286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494" y="402240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294" y="4022407"/>
            <a:ext cx="157162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6225" y="4972050"/>
            <a:ext cx="24569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is projected to register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2308" y="4961826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857417" y="4972050"/>
            <a:ext cx="70261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its revenue by the end of forecast period, 2036. Global Helium-3 market is expected to be valued at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2697" y="4961826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007806" y="4972050"/>
            <a:ext cx="1079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2036 end.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225" y="5199888"/>
            <a:ext cx="3812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 is projected to create overall incremental opportunity of US$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7834" y="5189664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12943" y="5199888"/>
            <a:ext cx="42856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from 2025 to 2036. Global Helium-3 market is projected to register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789" y="5189664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22898" y="5199888"/>
            <a:ext cx="30956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volume by the end of forecast period,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5375147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225" y="5602985"/>
            <a:ext cx="24925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Helium-3 market volume stood at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7964" y="5592762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893074" y="5602985"/>
            <a:ext cx="23582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in 2025 and is expected to reach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459" y="5592762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375568" y="5602985"/>
            <a:ext cx="19791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by 2036 end, at a CAGR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833" y="5592762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78942" y="5602985"/>
            <a:ext cx="39120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Value is projected to grow faster than volume over the forecast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5778245"/>
            <a:ext cx="31848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period, owing to an increase in average selling price.</a:t>
            </a:r>
          </a:p>
        </p:txBody>
      </p:sp>
      <p:sp>
        <p:nvSpPr>
          <p:cNvPr id="48" name="lockshield_9"/>
          <p:cNvSpPr/>
          <p:nvPr/>
        </p:nvSpPr>
        <p:spPr>
          <a:xfrm>
            <a:off x="238125" y="1266825"/>
            <a:ext cx="4505325" cy="22288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ockshield_12"/>
          <p:cNvSpPr/>
          <p:nvPr/>
        </p:nvSpPr>
        <p:spPr>
          <a:xfrm>
            <a:off x="5086350" y="1266825"/>
            <a:ext cx="6858000" cy="22288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Summary Country Indices (Value)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3933825" cy="244599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CAGR Index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93011"/>
          <a:ext cx="3743325" cy="21030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2875" y="3489764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" y="3565964"/>
          <a:ext cx="3927746" cy="2132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0293"/>
                <a:gridCol w="1068161"/>
                <a:gridCol w="1068161"/>
                <a:gridCol w="108113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9075" y="5707558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007261"/>
            <a:ext cx="3933825" cy="4928498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0050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2036 Market By Country (US$ Mn)  ·  Top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0050" y="1293011"/>
            <a:ext cx="2523950" cy="1794080"/>
          </a:xfrm>
          <a:prstGeom prst="rect">
            <a:avLst/>
          </a:prstGeom>
          <a:solidFill>
            <a:srgbClr val="2A5F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U.S.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34000" y="1293011"/>
            <a:ext cx="1219375" cy="1794080"/>
          </a:xfrm>
          <a:prstGeom prst="rect">
            <a:avLst/>
          </a:prstGeom>
          <a:solidFill>
            <a:srgbClr val="0081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Canada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0050" y="3087091"/>
            <a:ext cx="1452626" cy="1407612"/>
          </a:xfrm>
          <a:prstGeom prst="rect">
            <a:avLst/>
          </a:prstGeom>
          <a:solidFill>
            <a:srgbClr val="0E2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0050" y="4494703"/>
            <a:ext cx="1452626" cy="1383906"/>
          </a:xfrm>
          <a:prstGeom prst="rect">
            <a:avLst/>
          </a:prstGeom>
          <a:solidFill>
            <a:srgbClr val="00AC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China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2676" y="3087091"/>
            <a:ext cx="1148173" cy="1260029"/>
          </a:xfrm>
          <a:prstGeom prst="rect">
            <a:avLst/>
          </a:prstGeom>
          <a:solidFill>
            <a:srgbClr val="F476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Brazil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0849" y="3087091"/>
            <a:ext cx="1142526" cy="1260029"/>
          </a:xfrm>
          <a:prstGeom prst="rect">
            <a:avLst/>
          </a:prstGeom>
          <a:solidFill>
            <a:srgbClr val="79C3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Mexico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2676" y="4347120"/>
            <a:ext cx="1182618" cy="786238"/>
          </a:xfrm>
          <a:prstGeom prst="rect">
            <a:avLst/>
          </a:prstGeom>
          <a:solidFill>
            <a:srgbClr val="58627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Kingdom of Saudi Arabia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2676" y="5133358"/>
            <a:ext cx="1182618" cy="745251"/>
          </a:xfrm>
          <a:prstGeom prst="rect">
            <a:avLst/>
          </a:prstGeom>
          <a:solidFill>
            <a:srgbClr val="1F47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Russia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5295" y="4347120"/>
            <a:ext cx="1108080" cy="780138"/>
          </a:xfrm>
          <a:prstGeom prst="rect">
            <a:avLst/>
          </a:prstGeom>
          <a:solidFill>
            <a:srgbClr val="BCB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Japan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5295" y="5127258"/>
            <a:ext cx="1108080" cy="751351"/>
          </a:xfrm>
          <a:prstGeom prst="rect">
            <a:avLst/>
          </a:prstGeom>
          <a:solidFill>
            <a:srgbClr val="3DC6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ASEAN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6725" y="1007261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197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Absolute Index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181975" y="1293011"/>
          <a:ext cx="3743325" cy="209396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8086725" y="3471510"/>
            <a:ext cx="3933825" cy="2464249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096250" y="3547710"/>
          <a:ext cx="3928892" cy="21594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421"/>
                <a:gridCol w="1088118"/>
                <a:gridCol w="1088118"/>
                <a:gridCol w="110223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162925" y="5716684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875" y="6027028"/>
            <a:ext cx="10858500" cy="602372"/>
          </a:xfrm>
          <a:prstGeom prst="roundRect">
            <a:avLst>
              <a:gd name="adj" fmla="val 126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017" y="2125483"/>
            <a:ext cx="183356" cy="266700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294" y="4499083"/>
            <a:ext cx="351971" cy="511958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399" y="2190051"/>
            <a:ext cx="115252" cy="167639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061" y="2190051"/>
            <a:ext cx="115252" cy="167639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737" y="3790897"/>
            <a:ext cx="115252" cy="167639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737" y="5186656"/>
            <a:ext cx="115252" cy="167639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136" y="3717105"/>
            <a:ext cx="115252" cy="167639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486" y="3717105"/>
            <a:ext cx="115252" cy="167639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359" y="4740239"/>
            <a:ext cx="115252" cy="167639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359" y="5505983"/>
            <a:ext cx="115252" cy="167639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709" y="4737189"/>
            <a:ext cx="115252" cy="167639"/>
          </a:xfrm>
          <a:prstGeom prst="rect">
            <a:avLst/>
          </a:prstGeom>
        </p:spPr>
      </p:pic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709" y="5502933"/>
            <a:ext cx="115252" cy="167639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1867" y="2120920"/>
            <a:ext cx="183356" cy="266700"/>
          </a:xfrm>
          <a:prstGeom prst="rect">
            <a:avLst/>
          </a:prstGeom>
        </p:spPr>
      </p:pic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5439" y="4490163"/>
            <a:ext cx="357960" cy="52066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7175" y="6160574"/>
            <a:ext cx="28521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U.S. Helium-3 market is projected to register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7418" y="6150795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24914" y="6160574"/>
            <a:ext cx="41989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Canada in 2036. India posts the highest CAGR Index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935" y="6150795"/>
            <a:ext cx="128699" cy="18719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539431" y="6160574"/>
            <a:ext cx="789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growing at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462" y="6150795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444958" y="6160574"/>
            <a:ext cx="2125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global benchmark, while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7175" y="6328214"/>
            <a:ext cx="2534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U.S. offers the largest absolute opportunity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0092" y="6318435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907587" y="6328214"/>
            <a:ext cx="33119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incremental market between 2026 and 2036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586" y="6318435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335081" y="6328214"/>
            <a:ext cx="14835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increment).</a:t>
            </a:r>
          </a:p>
        </p:txBody>
      </p:sp>
      <p:sp>
        <p:nvSpPr>
          <p:cNvPr id="60" name="lockshield_9"/>
          <p:cNvSpPr/>
          <p:nvPr/>
        </p:nvSpPr>
        <p:spPr>
          <a:xfrm>
            <a:off x="238125" y="1293011"/>
            <a:ext cx="3743325" cy="210309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ockshield_27"/>
          <p:cNvSpPr/>
          <p:nvPr/>
        </p:nvSpPr>
        <p:spPr>
          <a:xfrm>
            <a:off x="8181975" y="1293011"/>
            <a:ext cx="3743325" cy="209396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Summary Country Indices (Value)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" y="1057275"/>
          <a:ext cx="11887200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7762"/>
                <a:gridCol w="3323146"/>
                <a:gridCol w="3323146"/>
                <a:gridCol w="332314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Hungary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Turkiye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9075" y="25527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290512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" y="2981325"/>
          <a:ext cx="11887199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52787"/>
                <a:gridCol w="2644804"/>
                <a:gridCol w="2644804"/>
                <a:gridCol w="264480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Kingdom of Saudi Arabia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9075" y="4476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190" y="1656588"/>
            <a:ext cx="366712" cy="533400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702" y="3580638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Overview (1/4)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market size, competitive landscape and the drivers, restraints and trends shaping 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11639550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857500"/>
            <a:ext cx="11906250" cy="1628775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9432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Landscape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1813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267075"/>
            <a:ext cx="11639550" cy="1143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619625"/>
            <a:ext cx="3943350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705350"/>
            <a:ext cx="3676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Drivers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943475"/>
            <a:ext cx="36766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5029200"/>
            <a:ext cx="3676650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8625" y="4619625"/>
            <a:ext cx="3819525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1975" y="47053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Restraints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1975" y="4943475"/>
            <a:ext cx="35528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1975" y="5029200"/>
            <a:ext cx="3552825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0550" y="4619625"/>
            <a:ext cx="3819525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3900" y="47053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Trends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43900" y="4943475"/>
            <a:ext cx="35528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3900" y="5029200"/>
            <a:ext cx="3552825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Mix shifting toward 'Gaseous Helium-3' and higher-growth tiers.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South Asia &amp; Pacific outpacing the global average.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Demand broadening across 2 product form categories.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400175"/>
            <a:ext cx="28405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Helium-3 market is expected to witness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974" y="1389951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41083" y="1400175"/>
            <a:ext cx="47292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revenue by 2036 end. Global Helium-3 market accounted for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499" y="1389951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94608" y="1400175"/>
            <a:ext cx="2992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 2025, which is expected to increase to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113" y="138995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211222" y="1400175"/>
            <a:ext cx="4213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225" y="1575435"/>
            <a:ext cx="11493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 at a CAGR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686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49795" y="157543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1803273"/>
            <a:ext cx="115861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global Helium-3 market has been analysed on the basis of product form, supply source, application and end user across the globe. North America is expected to remain the largest market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225" y="1978533"/>
            <a:ext cx="56720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Helium-3, while demand in South Asia &amp; Pacific is projected to increase at the highest CAGR of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386" y="196830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72496" y="1978533"/>
            <a:ext cx="19608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throughout the forecast period.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3276600"/>
            <a:ext cx="54010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market is consolidated: the leading product form category 'Gaseous Helium-3' holds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413" y="326637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801522" y="3276600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3504437"/>
            <a:ext cx="49355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spans 7 regions and 4 segmentation lenses (2 product form categories).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3732275"/>
            <a:ext cx="29509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North America is the largest regional market at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367" y="3722052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351477" y="3732275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5038725"/>
            <a:ext cx="27507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Accelerating uptake of 'Gaseous Helium-3'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119" y="5028501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151228" y="5038725"/>
            <a:ext cx="490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266563"/>
            <a:ext cx="2877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Fast-growing demand in South Asia &amp; Pacific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424" y="5256339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277533" y="5266563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494400"/>
            <a:ext cx="36576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Momentum in Neutron Detection and Radiation Monitoring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6225" y="5669660"/>
            <a:ext cx="121978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within application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161" y="5659437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20271" y="566966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1975" y="5038725"/>
            <a:ext cx="25559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Slower momentum in 'Liquid Helium-3' (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41" y="5028501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52150" y="503872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1975" y="5266563"/>
            <a:ext cx="32641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Maturing demand in established categories caps the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1975" y="5441822"/>
            <a:ext cx="562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blended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401" y="543159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058510" y="5441822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1975" y="5669660"/>
            <a:ext cx="35337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Value concentration in 'Gaseous Helium-3' raises barriers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1975" y="5844920"/>
            <a:ext cx="11079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 new entrants.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Supply Side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recent developments, investments and R&amp;D activity shaping the supply side of the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Recent Developments &amp; Key Industry Activities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5610225" cy="12954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Capacity and product development are concentrating in 'Gaseous Helium-3' and South Asia &amp; Pacific.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Portfolio expansion tracks the shift toward higher-growth product form categories.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Commercial focus is intensifying across North America and South Asia &amp; Pacific.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1075"/>
            <a:ext cx="58769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390650"/>
            <a:ext cx="5610225" cy="12954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95600"/>
            <a:ext cx="5876925" cy="12858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9813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Strategic Acquisitions &amp; New Investments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2194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3305175"/>
            <a:ext cx="5610225" cy="800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95600"/>
            <a:ext cx="5876925" cy="12858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29813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Substantial Investment in R&amp;D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32194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3305175"/>
            <a:ext cx="5610225" cy="800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4314825"/>
            <a:ext cx="11906250" cy="2295525"/>
          </a:xfrm>
          <a:prstGeom prst="roundRect">
            <a:avLst>
              <a:gd name="adj" fmla="val 33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" y="437197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structure product form share (2036)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38125" y="4600575"/>
          <a:ext cx="11715750" cy="19526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871570" y="5462588"/>
            <a:ext cx="934136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025" y="5284520"/>
            <a:ext cx="382860" cy="5568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5550" y="1400175"/>
            <a:ext cx="6841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2026 size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714" y="1390396"/>
            <a:ext cx="128699" cy="1871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05210" y="1400175"/>
            <a:ext cx="8783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Mn; 2036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645" y="1390396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99141" y="1400175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1618107"/>
            <a:ext cx="991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Forecast CAGR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444" y="1608328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12940" y="1618107"/>
            <a:ext cx="833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(2026–2036).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1836039"/>
            <a:ext cx="20770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category 'Gaseous Helium-3'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622" y="1826260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98117" y="1836039"/>
            <a:ext cx="5430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5550" y="2053970"/>
            <a:ext cx="16862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region North America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898" y="2044192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7394" y="205397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5550" y="2271903"/>
            <a:ext cx="15547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Incremental opportunity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384" y="2262124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75880" y="2271903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3314700"/>
            <a:ext cx="4574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Investment is flowing toward the fastest-growing tier 'Gaseous Helium-3' (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462" y="3304476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74571" y="331470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3542537"/>
            <a:ext cx="14097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South Asia &amp; Pacific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140" y="3532314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810250" y="3542537"/>
            <a:ext cx="22834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is a priority region for new capacity.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3770375"/>
            <a:ext cx="30881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Scale players anchor around 'Gaseous Helium-3'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574" y="3760152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488684" y="3770375"/>
            <a:ext cx="484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5550" y="3314700"/>
            <a:ext cx="47752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R&amp;D aligns with the migration to 'Gaseous Helium-3' and adjacent premium tiers.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5550" y="3532632"/>
            <a:ext cx="44298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Development spend targets product form categories gaining share to 2036.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5550" y="3750564"/>
            <a:ext cx="15943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Innovation underpins the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947" y="3740785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015443" y="3750564"/>
            <a:ext cx="9244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CAGR.</a:t>
            </a:r>
          </a:p>
        </p:txBody>
      </p:sp>
      <p:sp>
        <p:nvSpPr>
          <p:cNvPr id="61" name="lockshield_25"/>
          <p:cNvSpPr/>
          <p:nvPr/>
        </p:nvSpPr>
        <p:spPr>
          <a:xfrm>
            <a:off x="238125" y="4600575"/>
            <a:ext cx="11715750" cy="19526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Analysis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the market approach, differentiating strategy and TMR's analysis and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Overall Market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5610225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1075"/>
            <a:ext cx="5876925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Differentiating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390650"/>
            <a:ext cx="5610225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Differentiate through the high-growth 'Gaseous Helium-3' tier and Neutron Detection and Radiation Monitoring within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57500"/>
            <a:ext cx="58769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9432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Segment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1813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3267075"/>
            <a:ext cx="5610225" cy="10763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57500"/>
            <a:ext cx="58769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29432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Region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31813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3267075"/>
            <a:ext cx="5610225" cy="10763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4552950"/>
            <a:ext cx="11906250" cy="20574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225" y="46386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TMR Analysis &amp; Recommendation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225" y="48768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225" y="4962525"/>
            <a:ext cx="11639550" cy="1571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400175"/>
            <a:ext cx="54811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Balance scale in 'Gaseous Helium-3' with targeted growth in 'Gaseous Helium-3', pursuing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1575435"/>
            <a:ext cx="2747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15" y="1565211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5224" y="1575435"/>
            <a:ext cx="15518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trajectory to 2036.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225" y="3276600"/>
            <a:ext cx="19494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'Gaseous Helium-3' (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841" y="3266376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49950" y="3276600"/>
            <a:ext cx="1839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'Gaseous Helium-3' anchors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744" y="3266376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13853" y="3276600"/>
            <a:ext cx="5865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value.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3276600"/>
            <a:ext cx="17206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 with North America (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392" y="3266376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150501" y="3276600"/>
            <a:ext cx="25028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capture upside in South Asia &amp; Pacific (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2510" y="3266376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777620" y="327660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4972050"/>
            <a:ext cx="101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Helium-3 adds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02" y="496182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418311" y="4972050"/>
            <a:ext cx="18151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of demand to 2036 a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573" y="4961826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357682" y="4972050"/>
            <a:ext cx="8227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expansion.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225" y="5199888"/>
            <a:ext cx="6265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Concentrate resources on the leading segment/region while seeding the fastest-growing pockets early.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5427725"/>
            <a:ext cx="44408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share in 'Gaseous Helium-3' as the value anchor of the portfolio.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Scenario Outlook (4/4)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Scenario outlook comparing optimistic, likely and conservative outcomes for 2036 and the CAGR behind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3943350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8625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0550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8669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Helium-3 Market Value (US$ Mn) Scenario Forecast, 2025 &amp; 2036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8125" y="4305300"/>
            <a:ext cx="568642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6342" y="3403783"/>
            <a:ext cx="635826" cy="901517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3936" y="2962662"/>
            <a:ext cx="635826" cy="134263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5725" y="2776844"/>
            <a:ext cx="635826" cy="152845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7515" y="2567940"/>
            <a:ext cx="635826" cy="173736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456468" y="2829312"/>
            <a:ext cx="1568418" cy="0"/>
          </a:xfrm>
          <a:prstGeom prst="line">
            <a:avLst/>
          </a:prstGeom>
          <a:ln w="15875">
            <a:solidFill>
              <a:srgbClr val="92D05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570768" y="2724537"/>
            <a:ext cx="1358868" cy="209550"/>
          </a:xfrm>
          <a:prstGeom prst="round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56468" y="2572137"/>
            <a:ext cx="2550207" cy="0"/>
          </a:xfrm>
          <a:prstGeom prst="line">
            <a:avLst/>
          </a:prstGeom>
          <a:ln w="15875">
            <a:solidFill>
              <a:srgbClr val="0078D4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70768" y="2467362"/>
            <a:ext cx="1358868" cy="20955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56468" y="2314962"/>
            <a:ext cx="3531997" cy="0"/>
          </a:xfrm>
          <a:prstGeom prst="line">
            <a:avLst/>
          </a:prstGeom>
          <a:ln w="15875">
            <a:solidFill>
              <a:srgbClr val="80808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70768" y="2210187"/>
            <a:ext cx="1358868" cy="209550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55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2638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2036</a:t>
            </a:r>
          </a:p>
        </p:txBody>
      </p:sp>
      <p:sp>
        <p:nvSpPr>
          <p:cNvPr id="25" name="Oval 24"/>
          <p:cNvSpPr/>
          <p:nvPr/>
        </p:nvSpPr>
        <p:spPr>
          <a:xfrm>
            <a:off x="304800" y="4572000"/>
            <a:ext cx="133350" cy="13335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577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Conservative Scenario</a:t>
            </a:r>
          </a:p>
        </p:txBody>
      </p:sp>
      <p:sp>
        <p:nvSpPr>
          <p:cNvPr id="27" name="Oval 26"/>
          <p:cNvSpPr/>
          <p:nvPr/>
        </p:nvSpPr>
        <p:spPr>
          <a:xfrm>
            <a:off x="2200275" y="4572000"/>
            <a:ext cx="133350" cy="13335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0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Likely Scenario</a:t>
            </a:r>
          </a:p>
        </p:txBody>
      </p:sp>
      <p:sp>
        <p:nvSpPr>
          <p:cNvPr id="29" name="Oval 28"/>
          <p:cNvSpPr/>
          <p:nvPr/>
        </p:nvSpPr>
        <p:spPr>
          <a:xfrm>
            <a:off x="4095750" y="4572000"/>
            <a:ext cx="133350" cy="13335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672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Optimistic Scenario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7450" y="18669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Helium-3 Market Attractiveness Analysis By Region, 2026–2036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267450" y="2095500"/>
          <a:ext cx="5686425" cy="2667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42875" y="4953000"/>
            <a:ext cx="11906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225" y="50387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Scenario Assumptions &amp; Outlook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225" y="52768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225" y="5362575"/>
            <a:ext cx="11639550" cy="1190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969" y="1214437"/>
            <a:ext cx="157162" cy="228600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806" y="1214437"/>
            <a:ext cx="157162" cy="228600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731" y="1214437"/>
            <a:ext cx="157162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37332" y="1028326"/>
            <a:ext cx="1030634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OPTIMISTIC (2036)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6321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575" y="1473019"/>
            <a:ext cx="113255" cy="1647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807156" y="1028326"/>
            <a:ext cx="75866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LIKELY (2036)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0158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12" y="1473019"/>
            <a:ext cx="113255" cy="16473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548094" y="1028326"/>
            <a:ext cx="1220636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CONSERVATIVE (2036)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12083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337" y="1473019"/>
            <a:ext cx="113255" cy="16473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32418" y="2758903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750688"/>
            <a:ext cx="108107" cy="15724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32418" y="2501728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493513"/>
            <a:ext cx="108107" cy="15724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032418" y="2244553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236338"/>
            <a:ext cx="108107" cy="1572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6225" y="5372100"/>
            <a:ext cx="8081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Optimistic: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40" y="5361876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208649" y="5372100"/>
            <a:ext cx="12038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by 2036 at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612" y="5361876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536721" y="5372100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6225" y="5599938"/>
            <a:ext cx="14482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Likely (base forecast):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650" y="5589714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848759" y="5599938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966" y="5589714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671076" y="5599938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5827775"/>
            <a:ext cx="9696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Conservative: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994" y="5817552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70103" y="5827775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310" y="5817552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192420" y="58277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6225" y="6055613"/>
            <a:ext cx="36601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Scenarios flex the base forecast's year-on-year growth by ±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509" y="6045390"/>
            <a:ext cx="134549" cy="19570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060618" y="6055613"/>
            <a:ext cx="1900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across the 2026–2036 horizon.</a:t>
            </a:r>
          </a:p>
        </p:txBody>
      </p:sp>
      <p:sp>
        <p:nvSpPr>
          <p:cNvPr id="76" name="lockshield_33"/>
          <p:cNvSpPr/>
          <p:nvPr/>
        </p:nvSpPr>
        <p:spPr>
          <a:xfrm>
            <a:off x="6267450" y="2095500"/>
            <a:ext cx="5686425" cy="2667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6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Global Market Analysis By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Helium-3 – Regional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Share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Share Analysis By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– Regional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7 regions, highlighting where value concentrates,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Region view breaks the Global market down geographically. Each region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Region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1330779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North America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370364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1979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1979" y="1992961"/>
            <a:ext cx="1330779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0079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 Asia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1979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311979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311979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3815443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7057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7057" y="1992961"/>
            <a:ext cx="1330779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5157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7057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4757057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757057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5260521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2136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2136" y="1992961"/>
            <a:ext cx="1330779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0236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Latin America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2136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202136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202136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47214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47214" y="1992961"/>
            <a:ext cx="1330779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5314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Middle East &amp; Africa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47214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7647214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7647214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8150679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2293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92293" y="1992961"/>
            <a:ext cx="1330779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30393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Eastern Europe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2293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9092293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9092293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9595757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37371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537371" y="1992961"/>
            <a:ext cx="1330779" cy="219044"/>
          </a:xfrm>
          <a:prstGeom prst="rect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75471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Western Europe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37371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10537371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10537371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4" name="Oval 63"/>
          <p:cNvSpPr/>
          <p:nvPr/>
        </p:nvSpPr>
        <p:spPr>
          <a:xfrm>
            <a:off x="11040836" y="1445350"/>
            <a:ext cx="323850" cy="310313"/>
          </a:xfrm>
          <a:prstGeom prst="ellipse">
            <a:avLst/>
          </a:prstGeom>
          <a:solidFill>
            <a:srgbClr val="6C7A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Region Insights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Region Overview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By Region split shows where market value concentrates and where growth is fastest.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demand and access dynamics are rebalancing the geographic mix through 2036.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82" name="Picture 81" descr="4_317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425" y="2286582"/>
            <a:ext cx="1195728" cy="361950"/>
          </a:xfrm>
          <a:prstGeom prst="rect">
            <a:avLst/>
          </a:prstGeom>
        </p:spPr>
      </p:pic>
      <p:pic>
        <p:nvPicPr>
          <p:cNvPr id="83" name="Picture 82" descr="6_529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425" y="2779432"/>
            <a:ext cx="1195728" cy="361950"/>
          </a:xfrm>
          <a:prstGeom prst="rect">
            <a:avLst/>
          </a:prstGeom>
        </p:spPr>
      </p:pic>
      <p:pic>
        <p:nvPicPr>
          <p:cNvPr id="84" name="Picture 83" descr="4_2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071" y="3272281"/>
            <a:ext cx="982436" cy="361950"/>
          </a:xfrm>
          <a:prstGeom prst="rect">
            <a:avLst/>
          </a:prstGeom>
        </p:spPr>
      </p:pic>
      <p:pic>
        <p:nvPicPr>
          <p:cNvPr id="85" name="Picture 84" descr="1_700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504" y="2286582"/>
            <a:ext cx="1195728" cy="361950"/>
          </a:xfrm>
          <a:prstGeom prst="rect">
            <a:avLst/>
          </a:prstGeom>
        </p:spPr>
      </p:pic>
      <p:pic>
        <p:nvPicPr>
          <p:cNvPr id="86" name="Picture 85" descr="2_716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9504" y="2779432"/>
            <a:ext cx="1195728" cy="361950"/>
          </a:xfrm>
          <a:prstGeom prst="rect">
            <a:avLst/>
          </a:prstGeom>
        </p:spPr>
      </p:pic>
      <p:pic>
        <p:nvPicPr>
          <p:cNvPr id="87" name="Picture 86" descr="4_8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150" y="3272281"/>
            <a:ext cx="982436" cy="361950"/>
          </a:xfrm>
          <a:prstGeom prst="rect">
            <a:avLst/>
          </a:prstGeom>
        </p:spPr>
      </p:pic>
      <p:pic>
        <p:nvPicPr>
          <p:cNvPr id="88" name="Picture 87" descr="1_570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4582" y="2286582"/>
            <a:ext cx="1195728" cy="361950"/>
          </a:xfrm>
          <a:prstGeom prst="rect">
            <a:avLst/>
          </a:prstGeom>
        </p:spPr>
      </p:pic>
      <p:pic>
        <p:nvPicPr>
          <p:cNvPr id="89" name="Picture 88" descr="2_821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4582" y="2779432"/>
            <a:ext cx="1195728" cy="361950"/>
          </a:xfrm>
          <a:prstGeom prst="rect">
            <a:avLst/>
          </a:prstGeom>
        </p:spPr>
      </p:pic>
      <p:pic>
        <p:nvPicPr>
          <p:cNvPr id="90" name="Picture 89" descr="6_0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1228" y="3272281"/>
            <a:ext cx="982436" cy="361950"/>
          </a:xfrm>
          <a:prstGeom prst="rect">
            <a:avLst/>
          </a:prstGeom>
        </p:spPr>
      </p:pic>
      <p:pic>
        <p:nvPicPr>
          <p:cNvPr id="91" name="Picture 90" descr="1_046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9661" y="2286582"/>
            <a:ext cx="1195728" cy="361950"/>
          </a:xfrm>
          <a:prstGeom prst="rect">
            <a:avLst/>
          </a:prstGeom>
        </p:spPr>
      </p:pic>
      <p:pic>
        <p:nvPicPr>
          <p:cNvPr id="92" name="Picture 91" descr="1_854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93" name="Picture 92" descr="5_9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94" name="Picture 93" descr="915_6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4739" y="2286582"/>
            <a:ext cx="1195728" cy="361950"/>
          </a:xfrm>
          <a:prstGeom prst="rect">
            <a:avLst/>
          </a:prstGeom>
        </p:spPr>
      </p:pic>
      <p:pic>
        <p:nvPicPr>
          <p:cNvPr id="95" name="Picture 94" descr="1_480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4739" y="2779432"/>
            <a:ext cx="1195728" cy="361950"/>
          </a:xfrm>
          <a:prstGeom prst="rect">
            <a:avLst/>
          </a:prstGeom>
        </p:spPr>
      </p:pic>
      <p:pic>
        <p:nvPicPr>
          <p:cNvPr id="96" name="Picture 95" descr="4_9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21385" y="3272281"/>
            <a:ext cx="982436" cy="361950"/>
          </a:xfrm>
          <a:prstGeom prst="rect">
            <a:avLst/>
          </a:prstGeom>
        </p:spPr>
      </p:pic>
      <p:pic>
        <p:nvPicPr>
          <p:cNvPr id="97" name="Picture 96" descr="803_7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9818" y="2286582"/>
            <a:ext cx="1195728" cy="361950"/>
          </a:xfrm>
          <a:prstGeom prst="rect">
            <a:avLst/>
          </a:prstGeom>
        </p:spPr>
      </p:pic>
      <p:pic>
        <p:nvPicPr>
          <p:cNvPr id="98" name="Picture 97" descr="1_400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59818" y="2779432"/>
            <a:ext cx="1195728" cy="361950"/>
          </a:xfrm>
          <a:prstGeom prst="rect">
            <a:avLst/>
          </a:prstGeom>
        </p:spPr>
      </p:pic>
      <p:pic>
        <p:nvPicPr>
          <p:cNvPr id="99" name="Picture 98" descr="5_7_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66464" y="3272281"/>
            <a:ext cx="982436" cy="361950"/>
          </a:xfrm>
          <a:prstGeom prst="rect">
            <a:avLst/>
          </a:prstGeom>
        </p:spPr>
      </p:pic>
      <p:pic>
        <p:nvPicPr>
          <p:cNvPr id="100" name="Picture 99" descr="547_7_605E5C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04896" y="2286582"/>
            <a:ext cx="1195728" cy="361950"/>
          </a:xfrm>
          <a:prstGeom prst="rect">
            <a:avLst/>
          </a:prstGeom>
        </p:spPr>
      </p:pic>
      <p:pic>
        <p:nvPicPr>
          <p:cNvPr id="101" name="Picture 100" descr="943_6_605E5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04896" y="2779432"/>
            <a:ext cx="1195728" cy="361950"/>
          </a:xfrm>
          <a:prstGeom prst="rect">
            <a:avLst/>
          </a:prstGeom>
        </p:spPr>
      </p:pic>
      <p:pic>
        <p:nvPicPr>
          <p:cNvPr id="102" name="Picture 101" descr="5_6__605E5C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1542" y="3272281"/>
            <a:ext cx="982436" cy="361950"/>
          </a:xfrm>
          <a:prstGeom prst="rect">
            <a:avLst/>
          </a:prstGeom>
        </p:spPr>
      </p:pic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38944" y="2827057"/>
            <a:ext cx="183356" cy="266700"/>
          </a:xfrm>
          <a:prstGeom prst="rect">
            <a:avLst/>
          </a:prstGeom>
        </p:spPr>
      </p:pic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84023" y="2827057"/>
            <a:ext cx="183356" cy="266700"/>
          </a:xfrm>
          <a:prstGeom prst="rect">
            <a:avLst/>
          </a:prstGeom>
        </p:spPr>
      </p:pic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29101" y="2827057"/>
            <a:ext cx="183356" cy="266700"/>
          </a:xfrm>
          <a:prstGeom prst="rect">
            <a:avLst/>
          </a:prstGeom>
        </p:spPr>
      </p:pic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74180" y="2827057"/>
            <a:ext cx="183356" cy="266700"/>
          </a:xfrm>
          <a:prstGeom prst="rect">
            <a:avLst/>
          </a:prstGeom>
        </p:spPr>
      </p:pic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19258" y="2827057"/>
            <a:ext cx="183356" cy="266700"/>
          </a:xfrm>
          <a:prstGeom prst="rect">
            <a:avLst/>
          </a:prstGeom>
        </p:spPr>
      </p:pic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64337" y="2827057"/>
            <a:ext cx="183356" cy="266700"/>
          </a:xfrm>
          <a:prstGeom prst="rect">
            <a:avLst/>
          </a:prstGeom>
        </p:spPr>
      </p:pic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09415" y="2827057"/>
            <a:ext cx="183356" cy="2667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485775" y="4229437"/>
            <a:ext cx="27509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North America Helium-3 market is projected to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5775" y="4397077"/>
            <a:ext cx="512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register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6316" y="4387298"/>
            <a:ext cx="128699" cy="18719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113812" y="4397077"/>
            <a:ext cx="19285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South Asia &amp;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5775" y="4564717"/>
            <a:ext cx="28783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Pacific in 2036. Among Helium-3 by region, South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5775" y="4732357"/>
            <a:ext cx="27899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Asia &amp; Pacific is expected to witness the highest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5775" y="4899997"/>
            <a:ext cx="5433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131" y="4890217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144627" y="4899997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5775" y="511792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region, North America is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5775" y="5285569"/>
            <a:ext cx="23888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losing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22716" y="5275790"/>
            <a:ext cx="128699" cy="187198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2990212" y="5285569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5775" y="5453209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124" name="Picture 12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76057" y="5443430"/>
            <a:ext cx="128699" cy="187198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1743553" y="5453209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38575" y="4229437"/>
            <a:ext cx="10633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North America: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50003" y="4219658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5017499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76949" y="4219658"/>
            <a:ext cx="128699" cy="187198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6044445" y="4229437"/>
            <a:ext cx="1419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market.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38575" y="4447369"/>
            <a:ext cx="7321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East Asia: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18727" y="4437590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4686223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45673" y="4437590"/>
            <a:ext cx="128699" cy="18719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5713169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38575" y="4665301"/>
            <a:ext cx="13501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South Asia &amp; Pacific:</a:t>
            </a:r>
          </a:p>
        </p:txBody>
      </p:sp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36770" y="4655522"/>
            <a:ext cx="128699" cy="18719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5304266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63716" y="4655522"/>
            <a:ext cx="128699" cy="187198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6331212" y="4665301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38575" y="4883233"/>
            <a:ext cx="10082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Latin America: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94887" y="4873454"/>
            <a:ext cx="128699" cy="18719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4962383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4" name="Picture 14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21833" y="4873454"/>
            <a:ext cx="128699" cy="187198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5989329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38575" y="5101165"/>
            <a:ext cx="13869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Middle East &amp; Africa: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73571" y="5091385"/>
            <a:ext cx="128699" cy="18719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5341067" y="5101165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00517" y="5091385"/>
            <a:ext cx="128699" cy="18719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6368013" y="5101165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38575" y="5319097"/>
            <a:ext cx="10966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Eastern Europe:</a:t>
            </a:r>
          </a:p>
        </p:txBody>
      </p:sp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83257" y="5309317"/>
            <a:ext cx="128699" cy="18719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5050753" y="531909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10203" y="5309317"/>
            <a:ext cx="128699" cy="187198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6077699" y="5319097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38575" y="5537029"/>
            <a:ext cx="11556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Western Europe:</a:t>
            </a:r>
          </a:p>
        </p:txBody>
      </p:sp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42227" y="5527249"/>
            <a:ext cx="128699" cy="18719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5109723" y="553702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69173" y="5527249"/>
            <a:ext cx="128699" cy="187198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136669" y="553702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524875" y="5842641"/>
            <a:ext cx="30816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Global market is projected to grow at a CAGR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524875" y="6017901"/>
            <a:ext cx="2008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of</a:t>
            </a:r>
          </a:p>
        </p:txBody>
      </p:sp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74884" y="6007677"/>
            <a:ext cx="134549" cy="195707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8849994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Analysis, By Region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share by region in 2026 and 2036, highlighting share gains and losses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Region, 2026 &amp; 2036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(2026→2036)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551045" y="1530164"/>
            <a:ext cx="85725" cy="85725"/>
          </a:xfrm>
          <a:prstGeom prst="rect">
            <a:avLst/>
          </a:prstGeom>
          <a:solidFill>
            <a:srgbClr val="586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4712970" y="152540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4855845" y="144920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305550" y="151111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551045" y="1721842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4712970" y="1717080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4855845" y="164088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305550" y="170279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551045" y="2004726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712970" y="199996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4855845" y="1923764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305550" y="198567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551045" y="2348887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712970" y="234412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4855845" y="226792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305550" y="2329837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551045" y="2932358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4712970" y="292759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4855845" y="285139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305550" y="291330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551045" y="3762153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4712970" y="3757390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4855845" y="368119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305550" y="374310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6" name="TMR Legend Chip"/>
          <p:cNvSpPr/>
          <p:nvPr/>
        </p:nvSpPr>
        <p:spPr>
          <a:xfrm>
            <a:off x="4551045" y="4661284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4712970" y="465652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PS Name 7"/>
          <p:cNvSpPr txBox="1"/>
          <p:nvPr/>
        </p:nvSpPr>
        <p:spPr>
          <a:xfrm>
            <a:off x="4855845" y="458032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9" name="BPS Value 7"/>
          <p:cNvSpPr txBox="1"/>
          <p:nvPr/>
        </p:nvSpPr>
        <p:spPr>
          <a:xfrm>
            <a:off x="6305550" y="464223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Regional Highlights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(LITRES)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(LITRES)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863" y="3121818"/>
            <a:ext cx="343793" cy="500062"/>
          </a:xfrm>
          <a:prstGeom prst="rect">
            <a:avLst/>
          </a:prstGeom>
        </p:spPr>
      </p:pic>
      <p:pic>
        <p:nvPicPr>
          <p:cNvPr id="50" name="Picture 49" descr="2_658_537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10" y="5897562"/>
            <a:ext cx="2740473" cy="482599"/>
          </a:xfrm>
          <a:prstGeom prst="rect">
            <a:avLst/>
          </a:prstGeom>
        </p:spPr>
      </p:pic>
      <p:pic>
        <p:nvPicPr>
          <p:cNvPr id="51" name="Picture 50" descr="4_149_656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148" y="5897562"/>
            <a:ext cx="2740473" cy="482599"/>
          </a:xfrm>
          <a:prstGeom prst="rect">
            <a:avLst/>
          </a:prstGeom>
        </p:spPr>
      </p:pic>
      <p:pic>
        <p:nvPicPr>
          <p:cNvPr id="52" name="Picture 51" descr="4_6_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5355" y="5897562"/>
            <a:ext cx="1309912" cy="482599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657" y="5893409"/>
            <a:ext cx="337498" cy="49090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39000" y="1400175"/>
            <a:ext cx="36615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South Asia &amp; Pacific Helium-3 market is projected to register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9710" y="1389951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024819" y="1400175"/>
            <a:ext cx="5648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39000" y="1575435"/>
            <a:ext cx="46482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volume than North America in 2036. Among Helium-3 by region, South Asia &amp;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39000" y="1750695"/>
            <a:ext cx="30239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expected to witness the highest CAGR of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149" y="1740471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387259" y="175069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0" y="192595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9000" y="2153793"/>
            <a:ext cx="42526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region, South Asia &amp; Pacific is expected 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0" y="2329053"/>
            <a:ext cx="1837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226" y="2318829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00335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5478" y="2318829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770588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39000" y="2504313"/>
            <a:ext cx="20835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expected to lose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685" y="2494089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446794" y="2504313"/>
            <a:ext cx="19263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39000" y="2679573"/>
            <a:ext cx="75510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account for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258" y="2669349"/>
            <a:ext cx="134549" cy="19570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118367" y="267957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74" name="lockshield_9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Analysis, By Region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region in 2026 and 2036, highlighting share gains and losses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Region, 2026 &amp; 2036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(2026→2036)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551045" y="1559593"/>
            <a:ext cx="85725" cy="85725"/>
          </a:xfrm>
          <a:prstGeom prst="rect">
            <a:avLst/>
          </a:prstGeom>
          <a:solidFill>
            <a:srgbClr val="586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4712970" y="155483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4855845" y="147863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305550" y="154054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551045" y="1801796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4712970" y="1797033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4855845" y="1720833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305550" y="178274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551045" y="2099422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712970" y="209465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4855845" y="201845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305550" y="208037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551045" y="2443960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712970" y="243919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4855845" y="2362997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305550" y="242491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551045" y="291624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4712970" y="291148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4855845" y="283528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305550" y="289719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551045" y="3488444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4712970" y="348368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4855845" y="340748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305550" y="346939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6" name="TMR Legend Chip"/>
          <p:cNvSpPr/>
          <p:nvPr/>
        </p:nvSpPr>
        <p:spPr>
          <a:xfrm>
            <a:off x="4551045" y="4454591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4712970" y="444982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PS Name 7"/>
          <p:cNvSpPr txBox="1"/>
          <p:nvPr/>
        </p:nvSpPr>
        <p:spPr>
          <a:xfrm>
            <a:off x="4855845" y="437362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39" name="BPS Value 7"/>
          <p:cNvSpPr txBox="1"/>
          <p:nvPr/>
        </p:nvSpPr>
        <p:spPr>
          <a:xfrm>
            <a:off x="6305550" y="443554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Regional Highlights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863" y="3121818"/>
            <a:ext cx="343793" cy="500062"/>
          </a:xfrm>
          <a:prstGeom prst="rect">
            <a:avLst/>
          </a:prstGeom>
        </p:spPr>
      </p:pic>
      <p:pic>
        <p:nvPicPr>
          <p:cNvPr id="50" name="Picture 49" descr="10_900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203" y="5897562"/>
            <a:ext cx="1878689" cy="482599"/>
          </a:xfrm>
          <a:prstGeom prst="rect">
            <a:avLst/>
          </a:prstGeom>
        </p:spPr>
      </p:pic>
      <p:pic>
        <p:nvPicPr>
          <p:cNvPr id="51" name="Picture 50" descr="17_745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9041" y="5897562"/>
            <a:ext cx="1878689" cy="482599"/>
          </a:xfrm>
          <a:prstGeom prst="rect">
            <a:avLst/>
          </a:prstGeom>
        </p:spPr>
      </p:pic>
      <p:pic>
        <p:nvPicPr>
          <p:cNvPr id="52" name="Picture 51" descr="5_0_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5355" y="5897562"/>
            <a:ext cx="1309912" cy="482599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657" y="5893409"/>
            <a:ext cx="337498" cy="49090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39000" y="1400175"/>
            <a:ext cx="33617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Helium-3 market is projected to register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9908" y="1389951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725017" y="1400175"/>
            <a:ext cx="9168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39000" y="1575435"/>
            <a:ext cx="451246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than South Asia &amp; Pacific in 2036. Among Helium-3 by region, South Asia &amp;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39000" y="1750695"/>
            <a:ext cx="30239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expected to witness the highest CAGR of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149" y="1740471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387259" y="175069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0" y="192595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9000" y="2153793"/>
            <a:ext cx="46482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region, North America is expected to dominate the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0" y="2329053"/>
            <a:ext cx="9185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losing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708" y="2318829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281817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961" y="2318829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852070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8" name="lockshield_9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Share Analysis, By Region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share by region, 2021–2036, highlighting the geographies gaining and ceding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3267075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Size, By Region (Litres)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92680" cy="2800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8836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390820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43976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</a:t>
                      </a:r>
                      <a:endParaRPr sz="1100"/>
                    </a:p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Pacific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9FD"/>
                    </a:solidFill>
                  </a:tcPr>
                </a:tc>
              </a:tr>
              <a:tr h="43976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</a:t>
                      </a:r>
                      <a:endParaRPr sz="1100"/>
                    </a:p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40481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381500"/>
            <a:ext cx="1190625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4672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Volume Share Read-out, By 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7053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791075"/>
            <a:ext cx="11639550" cy="1762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244" y="2591179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4800600"/>
            <a:ext cx="36615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South Asia &amp; Pacific Helium-3 market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935" y="479037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2044" y="4800600"/>
            <a:ext cx="76696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 North America in 2036. Among Helium-3 by region, South Asia &amp; Pacific is expected to witness the highest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4975860"/>
            <a:ext cx="5645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15" y="496563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5025" y="497586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5203697"/>
            <a:ext cx="60465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region, South Asia &amp; Pacific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943" y="519347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47052" y="520369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195" y="519347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17304" y="5203697"/>
            <a:ext cx="29866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North America is expected to lose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104" y="519347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28213" y="5203697"/>
            <a:ext cx="2984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5378957"/>
            <a:ext cx="23830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427" y="536873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783536" y="537895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Share Analysis, By Region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and share by region, 2021–2036, highlighting the geographies gaining and ceding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68605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Size, By Region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5" cy="2219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5375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4671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800475"/>
            <a:ext cx="11906250" cy="2828925"/>
          </a:xfrm>
          <a:prstGeom prst="roundRect">
            <a:avLst>
              <a:gd name="adj" fmla="val 269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8862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Share Read-out, By 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1243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210050"/>
            <a:ext cx="11639550" cy="2343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995" y="2204276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4219575"/>
            <a:ext cx="33617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Helium-3 market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133" y="420935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62242" y="4219575"/>
            <a:ext cx="78456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South Asia &amp; Pacific in 2036. Among Helium-3 by region, South Asia &amp; Pacific is expected to witness the highest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4394835"/>
            <a:ext cx="5645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15" y="4384611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5025" y="439483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622672"/>
            <a:ext cx="55416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region, North America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043" y="461244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2153" y="462267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296" y="461244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12405" y="462267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Trends, By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regional volume and value shares shift over 2021–2036, highlighting who gains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Volume By Region (Litres)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9448800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763125" y="1304925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MR Dense Legend"/>
          <p:cNvSpPr txBox="1"/>
          <p:nvPr/>
        </p:nvSpPr>
        <p:spPr>
          <a:xfrm>
            <a:off x="9839325" y="1362075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5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2" name="TMR Dense Legend"/>
          <p:cNvSpPr txBox="1"/>
          <p:nvPr/>
        </p:nvSpPr>
        <p:spPr>
          <a:xfrm>
            <a:off x="9839325" y="1533525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0E2A5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South Asia &amp; Pacific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2A5F8F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North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E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 Asia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ACA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Latin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4762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Middle East &amp; Africa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79C3E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Eastern Europe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58627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Western Europe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By Region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152900"/>
          <a:ext cx="9448800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763125" y="4191000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MR Dense Legend"/>
          <p:cNvSpPr txBox="1"/>
          <p:nvPr/>
        </p:nvSpPr>
        <p:spPr>
          <a:xfrm>
            <a:off x="9839325" y="4248150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5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8" name="TMR Dense Legend"/>
          <p:cNvSpPr txBox="1"/>
          <p:nvPr/>
        </p:nvSpPr>
        <p:spPr>
          <a:xfrm>
            <a:off x="9839325" y="4419600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2A5F8F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North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2A5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South Asia &amp; Pacific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E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 Asia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ACA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Latin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4762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Middle East &amp; Africa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79C3E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Eastern Europe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58627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Western Europe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0765" y="1407795"/>
            <a:ext cx="452511" cy="112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1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0765" y="4293870"/>
            <a:ext cx="452511" cy="112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1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23" name="lockshield_9"/>
          <p:cNvSpPr/>
          <p:nvPr/>
        </p:nvSpPr>
        <p:spPr>
          <a:xfrm>
            <a:off x="238125" y="1266825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ockshield_15"/>
          <p:cNvSpPr/>
          <p:nvPr/>
        </p:nvSpPr>
        <p:spPr>
          <a:xfrm>
            <a:off x="238125" y="4152900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Top 10 Countries (2036)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hierarchy of the global market in 2036, highlighting the leading countries within each region by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by country  ·  2036 (US$ Mn)  ·  tile size = market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125" y="1266825"/>
            <a:ext cx="3090574" cy="5305425"/>
          </a:xfrm>
          <a:prstGeom prst="rect">
            <a:avLst/>
          </a:prstGeom>
          <a:solidFill>
            <a:srgbClr val="2A5F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U.S.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699" y="1266825"/>
            <a:ext cx="2888699" cy="2742291"/>
          </a:xfrm>
          <a:prstGeom prst="rect">
            <a:avLst/>
          </a:prstGeom>
          <a:solidFill>
            <a:srgbClr val="0081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Canada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699" y="4009116"/>
            <a:ext cx="2888699" cy="2563134"/>
          </a:xfrm>
          <a:prstGeom prst="rect">
            <a:avLst/>
          </a:prstGeom>
          <a:solidFill>
            <a:srgbClr val="0E2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398" y="1266825"/>
            <a:ext cx="2359499" cy="3085160"/>
          </a:xfrm>
          <a:prstGeom prst="rect">
            <a:avLst/>
          </a:prstGeom>
          <a:solidFill>
            <a:srgbClr val="00AC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China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398" y="4351985"/>
            <a:ext cx="2359499" cy="2220265"/>
          </a:xfrm>
          <a:prstGeom prst="rect">
            <a:avLst/>
          </a:prstGeom>
          <a:solidFill>
            <a:srgbClr val="F476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Brazil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6896" y="1266825"/>
            <a:ext cx="2051777" cy="2540699"/>
          </a:xfrm>
          <a:prstGeom prst="rect">
            <a:avLst/>
          </a:prstGeom>
          <a:solidFill>
            <a:srgbClr val="79C3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Mexico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28673" y="1266825"/>
            <a:ext cx="1325202" cy="2540699"/>
          </a:xfrm>
          <a:prstGeom prst="rect">
            <a:avLst/>
          </a:prstGeom>
          <a:solidFill>
            <a:srgbClr val="58627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Kingdom of Saudi Arabia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6896" y="3807524"/>
            <a:ext cx="2286546" cy="1395738"/>
          </a:xfrm>
          <a:prstGeom prst="rect">
            <a:avLst/>
          </a:prstGeom>
          <a:solidFill>
            <a:srgbClr val="1F47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Russia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76896" y="5203263"/>
            <a:ext cx="2286546" cy="1368987"/>
          </a:xfrm>
          <a:prstGeom prst="rect">
            <a:avLst/>
          </a:prstGeom>
          <a:solidFill>
            <a:srgbClr val="BCB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Japan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63442" y="3807524"/>
            <a:ext cx="1090433" cy="2764726"/>
          </a:xfrm>
          <a:prstGeom prst="rect">
            <a:avLst/>
          </a:prstGeom>
          <a:solidFill>
            <a:srgbClr val="3DC6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ASEAN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973" y="3919537"/>
            <a:ext cx="308877" cy="449275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610" y="2637970"/>
            <a:ext cx="308877" cy="449275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610" y="5290683"/>
            <a:ext cx="308877" cy="449275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709" y="2809405"/>
            <a:ext cx="308877" cy="449275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709" y="5462117"/>
            <a:ext cx="308877" cy="449275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346" y="2537174"/>
            <a:ext cx="308877" cy="449275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6835" y="2537174"/>
            <a:ext cx="308877" cy="449275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30" y="4505393"/>
            <a:ext cx="308877" cy="449275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30" y="5887756"/>
            <a:ext cx="308877" cy="449275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4220" y="5189887"/>
            <a:ext cx="308877" cy="4492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Global Market Analysis By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Product Form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Supply Source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End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Product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Product Form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Product Form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Product Form,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Product Form segment categorizes the market by product form.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Gaseous Helium-3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Liquid Helium-3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Product Form split shows how demand is distributed across product form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7" name="Picture 46" descr="7_36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48" name="Picture 47" descr="12_763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127" y="2779432"/>
            <a:ext cx="1409020" cy="361950"/>
          </a:xfrm>
          <a:prstGeom prst="rect">
            <a:avLst/>
          </a:prstGeom>
        </p:spPr>
      </p:pic>
      <p:pic>
        <p:nvPicPr>
          <p:cNvPr id="49" name="Picture 48" descr="5_7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0" name="Picture 49" descr="3_538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51" name="Picture 50" descr="4_982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2" name="Picture 51" descr="3_5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5775" y="4229437"/>
            <a:ext cx="25149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product form, gaseous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775" y="4397077"/>
            <a:ext cx="26279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segment is expected to witness the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775" y="4564717"/>
            <a:ext cx="9907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4607" y="4554938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92103" y="4564717"/>
            <a:ext cx="16249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 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775" y="473235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share by product form, the gaseous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" y="4899997"/>
            <a:ext cx="27444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segment is expected to dominate the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5067637"/>
            <a:ext cx="9596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3519" y="5057858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561015" y="506763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5500" y="5057858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5775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5775" y="545320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segment is projected to register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307" y="5611070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39803" y="5620849"/>
            <a:ext cx="27326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liquid Helium-3 segment 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578848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38575" y="4229437"/>
            <a:ext cx="12617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Gaseous Helium-3: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366" y="4219658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215862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5312" y="421965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242808" y="4229437"/>
            <a:ext cx="15034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segment.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38575" y="4447369"/>
            <a:ext cx="11242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Liquid Helium-3: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849" y="4437590"/>
            <a:ext cx="128699" cy="18719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78345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7795" y="4437590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105291" y="444736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Product Form segment is projected to grow at 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Product Form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Product Form mix within each region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Form mix within each region (share of 2036 value) · row label = region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Product Form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777865"/>
            <a:ext cx="112030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followed by liquid Helium-3 are expected to be the two most attractive product form segments in the global Helium-3 market in terms of value over the forecast period. Gaseous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945505"/>
            <a:ext cx="30991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and liquid Helium-3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4332" y="593572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71827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9722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77218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191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53687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1581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59077" y="594550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481" y="5935726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780977" y="5945505"/>
            <a:ext cx="25285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 line grow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113145"/>
            <a:ext cx="19596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Product Form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Gaseous Helium-3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5305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Liquid Helium-3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266825"/>
          <a:ext cx="5686425" cy="53054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059" y="3583939"/>
            <a:ext cx="402511" cy="585471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384" y="3583939"/>
            <a:ext cx="402511" cy="585471"/>
          </a:xfrm>
          <a:prstGeom prst="rect">
            <a:avLst/>
          </a:prstGeom>
        </p:spPr>
      </p:pic>
      <p:sp>
        <p:nvSpPr>
          <p:cNvPr id="17" name="lockshield_9"/>
          <p:cNvSpPr/>
          <p:nvPr/>
        </p:nvSpPr>
        <p:spPr>
          <a:xfrm>
            <a:off x="238125" y="1266825"/>
            <a:ext cx="5686425" cy="53054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ckshield_12"/>
          <p:cNvSpPr/>
          <p:nvPr/>
        </p:nvSpPr>
        <p:spPr>
          <a:xfrm>
            <a:off x="6267450" y="1266825"/>
            <a:ext cx="5686425" cy="53054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Product Form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Product Form,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Product Form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4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591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Analysis, By Product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607" y="1589913"/>
            <a:ext cx="366712" cy="5333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2990850"/>
            <a:ext cx="30804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873" y="29806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80982" y="2990850"/>
            <a:ext cx="82718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liquid Helium-3 segment in 2036. Among Helium-3 by product form, gaseous Helium-3 segment is expected to witness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166110"/>
            <a:ext cx="12639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58" y="31558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4467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393947"/>
            <a:ext cx="69970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product form, the gaseous Helium-3 segment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409" y="33837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97518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661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67770" y="3393947"/>
            <a:ext cx="26876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liquid Helium-3 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3569207"/>
            <a:ext cx="11787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085" y="3558984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9194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99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41808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Product Form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Product Form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2313111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230834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223214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229406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4599302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459453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451833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458025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Read-out, By Product 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29550" y="1400175"/>
            <a:ext cx="38729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product form, gaseous Helium-3 segment 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50" y="1575435"/>
            <a:ext cx="24860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4711" y="156521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39820" y="157543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36755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 In terms of value share by product form, the gaseous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9550" y="1925955"/>
            <a:ext cx="38224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segment is expected to dominate the market, gaining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1143" y="1915731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29550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693" y="2090991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99802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9550" y="2329053"/>
            <a:ext cx="292018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liquid Helium-3 segment is expected to lose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885" y="2318829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73994" y="2329053"/>
            <a:ext cx="8298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504313"/>
            <a:ext cx="1851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 to account for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324" y="249408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05433" y="250431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3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Supply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Supply Source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Supply Source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Supply Source,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Supply Source segment categorizes the market by supply source.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Tritium-Decay-Derived Helium-3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Terrestrial Natural / Geological…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Supply Source split shows how demand is distributed across supply source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7" name="Picture 46" descr="9_40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48" name="Picture 47" descr="15_341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127" y="2779432"/>
            <a:ext cx="1409020" cy="361950"/>
          </a:xfrm>
          <a:prstGeom prst="rect">
            <a:avLst/>
          </a:prstGeom>
        </p:spPr>
      </p:pic>
      <p:pic>
        <p:nvPicPr>
          <p:cNvPr id="49" name="Picture 48" descr="5_0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0" name="Picture 49" descr="1_498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51" name="Picture 50" descr="2_403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2" name="Picture 51" descr="4_8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5775" y="4229437"/>
            <a:ext cx="197000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Among Helium-3 by supply source,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775" y="4390371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expected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775" y="4551305"/>
            <a:ext cx="175729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witness the highest CAGR of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0155" y="4541917"/>
            <a:ext cx="123551" cy="17971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350951" y="4551305"/>
            <a:ext cx="100791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775" y="4712240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period. In terms of value share by supply source,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" y="4873174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expected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5034109"/>
            <a:ext cx="18393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dominate the market, gaining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2157" y="5024721"/>
            <a:ext cx="123551" cy="17971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432953" y="5034109"/>
            <a:ext cx="51573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5775" y="5195043"/>
            <a:ext cx="8641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6964" y="5185655"/>
            <a:ext cx="123551" cy="17971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457760" y="5195043"/>
            <a:ext cx="87510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5775" y="5404258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projected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5775" y="5565192"/>
            <a:ext cx="64119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register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055" y="5555804"/>
            <a:ext cx="123551" cy="17971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234851" y="5565192"/>
            <a:ext cx="212428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X higher value than terrestrial natural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5775" y="5726126"/>
            <a:ext cx="22065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/ geological Helium-3 segment in 2036.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38575" y="4229437"/>
            <a:ext cx="20674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Tritium-Decay-Derived Helium-3: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4097" y="421965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21593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1043" y="4219658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048539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38575" y="4615009"/>
            <a:ext cx="25354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Terrestrial Natural / Geological Helium-3: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2037" y="4605230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489533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983" y="4605230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38575" y="478264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4875" y="5842641"/>
            <a:ext cx="31489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Supply Source segment is projected to grow 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24875" y="6017901"/>
            <a:ext cx="680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 CAGR of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4084" y="6007677"/>
            <a:ext cx="134549" cy="195707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329193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Supply Source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Supply Source mix within each region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Supply Source mix within each region (share of 2036 value) · row label = region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Supply Source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777865"/>
            <a:ext cx="11677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Tritium-decay-derived Helium-3 followed by terrestrial natural / geological Helium-3 are expected to be the two most attractive supply source segments in the global Helium-3 market in terms of value 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945505"/>
            <a:ext cx="69476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Tritium-Decay-Derived Helium-3 and terrestrial natural / geological Helium-3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2903" y="593572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20399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8293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25789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762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02258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152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07648" y="5945505"/>
            <a:ext cx="14532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175" y="6113145"/>
            <a:ext cx="11976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846" y="6103366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70342" y="6113145"/>
            <a:ext cx="44437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 line grow 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Supply Source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Tritium-Decay-Derived Helium-3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Terrestrial Natural / Geological Helium-3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881" y="3674659"/>
            <a:ext cx="395643" cy="575481"/>
          </a:xfrm>
          <a:prstGeom prst="rect">
            <a:avLst/>
          </a:prstGeom>
        </p:spPr>
      </p:pic>
      <p:sp>
        <p:nvSpPr>
          <p:cNvPr id="17" name="lockshield_9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ckshield_12"/>
          <p:cNvSpPr/>
          <p:nvPr/>
        </p:nvSpPr>
        <p:spPr>
          <a:xfrm>
            <a:off x="6267450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Supply Source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Supply Source,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Supply Source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3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1189"/>
                <a:gridCol w="518264"/>
                <a:gridCol w="518264"/>
                <a:gridCol w="518264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41737"/>
                <a:gridCol w="58864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Supply Source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Analysis, By Supply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906" y="1589913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2990850"/>
            <a:ext cx="38966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984" y="29806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97093" y="2990850"/>
            <a:ext cx="67551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terrestrial natural / geological Helium-3 segment in 2036. Among Helium-3 by supply source,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166110"/>
            <a:ext cx="50627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084" y="31558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63193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393947"/>
            <a:ext cx="78393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supply source, the tritium-decay-derived Helium-3 segment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763" y="33837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39873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016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10125" y="3393947"/>
            <a:ext cx="18242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terrestrial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3569207"/>
            <a:ext cx="34818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natural / geological Helium-3 segment 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225" y="3558984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82334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39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4948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Supply Source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Supply Source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980911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976148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899948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Terrestrial Natural / Geological Helium-3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96186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4267101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426233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418613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Tritium-Decay-Derived Helium-3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424805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Read-out, By Supply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29550" y="1400175"/>
            <a:ext cx="40446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supply source, tritium-decay-derived Helium-3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50" y="15754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343" y="156521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10452" y="157543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37046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 In terms of value share by supply source, the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9550" y="1925955"/>
            <a:ext cx="39636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expected to dominate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9550" y="2101215"/>
            <a:ext cx="12314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market, gaining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182" y="209099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85291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0434" y="2090991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55543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2329053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terrestrial natural / geological Helium-3 segment is expected 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2504313"/>
            <a:ext cx="3166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lose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372" y="2494089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70482" y="250431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986" y="2494089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033096" y="2504313"/>
            <a:ext cx="579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2679573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45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Application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Application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4 sub-segments of Application,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Application segment categorizes the market by application.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Cryogenic Refrigeration and Ultra…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Neutron Detection and Radiation M…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Nuclear Fusion Research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Application split shows how demand is distributed across application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1" name="Picture 60" descr="5_881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330" y="2286582"/>
            <a:ext cx="1195728" cy="361950"/>
          </a:xfrm>
          <a:prstGeom prst="rect">
            <a:avLst/>
          </a:prstGeom>
        </p:spPr>
      </p:pic>
      <p:pic>
        <p:nvPicPr>
          <p:cNvPr id="62" name="Picture 61" descr="8_408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330" y="2779432"/>
            <a:ext cx="1195728" cy="361950"/>
          </a:xfrm>
          <a:prstGeom prst="rect">
            <a:avLst/>
          </a:prstGeom>
        </p:spPr>
      </p:pic>
      <p:pic>
        <p:nvPicPr>
          <p:cNvPr id="63" name="Picture 62" descr="3_6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976" y="3272281"/>
            <a:ext cx="982436" cy="361950"/>
          </a:xfrm>
          <a:prstGeom prst="rect">
            <a:avLst/>
          </a:prstGeom>
        </p:spPr>
      </p:pic>
      <p:pic>
        <p:nvPicPr>
          <p:cNvPr id="64" name="Picture 63" descr="2_487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218" y="2286582"/>
            <a:ext cx="1195728" cy="361950"/>
          </a:xfrm>
          <a:prstGeom prst="rect">
            <a:avLst/>
          </a:prstGeom>
        </p:spPr>
      </p:pic>
      <p:pic>
        <p:nvPicPr>
          <p:cNvPr id="65" name="Picture 64" descr="4_647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18" y="2779432"/>
            <a:ext cx="1195728" cy="361950"/>
          </a:xfrm>
          <a:prstGeom prst="rect">
            <a:avLst/>
          </a:prstGeom>
        </p:spPr>
      </p:pic>
      <p:pic>
        <p:nvPicPr>
          <p:cNvPr id="66" name="Picture 65" descr="6_4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64" y="3272281"/>
            <a:ext cx="982436" cy="361950"/>
          </a:xfrm>
          <a:prstGeom prst="rect">
            <a:avLst/>
          </a:prstGeom>
        </p:spPr>
      </p:pic>
      <p:pic>
        <p:nvPicPr>
          <p:cNvPr id="67" name="Picture 66" descr="1_311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105" y="2286582"/>
            <a:ext cx="1195728" cy="361950"/>
          </a:xfrm>
          <a:prstGeom prst="rect">
            <a:avLst/>
          </a:prstGeom>
        </p:spPr>
      </p:pic>
      <p:pic>
        <p:nvPicPr>
          <p:cNvPr id="68" name="Picture 67" descr="2_785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105" y="2779432"/>
            <a:ext cx="1195728" cy="361950"/>
          </a:xfrm>
          <a:prstGeom prst="rect">
            <a:avLst/>
          </a:prstGeom>
        </p:spPr>
      </p:pic>
      <p:pic>
        <p:nvPicPr>
          <p:cNvPr id="69" name="Picture 68" descr="7_8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0751" y="3272281"/>
            <a:ext cx="982436" cy="361950"/>
          </a:xfrm>
          <a:prstGeom prst="rect">
            <a:avLst/>
          </a:prstGeom>
        </p:spPr>
      </p:pic>
      <p:pic>
        <p:nvPicPr>
          <p:cNvPr id="70" name="Picture 69" descr="1_221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2992" y="2286582"/>
            <a:ext cx="1195728" cy="361950"/>
          </a:xfrm>
          <a:prstGeom prst="rect">
            <a:avLst/>
          </a:prstGeom>
        </p:spPr>
      </p:pic>
      <p:pic>
        <p:nvPicPr>
          <p:cNvPr id="71" name="Picture 70" descr="1_905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2992" y="2779432"/>
            <a:ext cx="1195728" cy="361950"/>
          </a:xfrm>
          <a:prstGeom prst="rect">
            <a:avLst/>
          </a:prstGeom>
        </p:spPr>
      </p:pic>
      <p:pic>
        <p:nvPicPr>
          <p:cNvPr id="72" name="Picture 71" descr="4_6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9638" y="3272281"/>
            <a:ext cx="982436" cy="361950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0848" y="2827057"/>
            <a:ext cx="183356" cy="266700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9737" y="2827057"/>
            <a:ext cx="183356" cy="266700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624" y="2827057"/>
            <a:ext cx="183356" cy="266700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511" y="2827057"/>
            <a:ext cx="183356" cy="2667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5775" y="422943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application, neutron detection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5775" y="4397077"/>
            <a:ext cx="28467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radiation monitoring segment is expected to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5775" y="4564717"/>
            <a:ext cx="16750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witness the highest CAGR of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08919" y="4554938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276415" y="4564717"/>
            <a:ext cx="1046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4732357"/>
            <a:ext cx="29021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period. In terms of value share by application, the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5775" y="4899997"/>
            <a:ext cx="25433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segment is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5775" y="5067637"/>
            <a:ext cx="23888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losing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22716" y="5057858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990212" y="5067637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775" y="5235277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6057" y="522549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43553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5775" y="5453209"/>
            <a:ext cx="25512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segment 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562084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8376" y="5611070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845872" y="562084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cryogenic refrigeration and ultra-low-temperature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5775" y="5956129"/>
            <a:ext cx="14972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cooling segment in 2036.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38575" y="4229437"/>
            <a:ext cx="20688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Medical and Biomedical Imaging: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5461" y="4219658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02295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82407" y="421965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049903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38575" y="4615009"/>
            <a:ext cx="37236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● Cryogenic Refrigeration and Ultra-Low-Temperature Cooling: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0306" y="4605230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677802" y="4615009"/>
            <a:ext cx="1954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of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38575" y="4782649"/>
            <a:ext cx="7755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2026 value ·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62145" y="4772870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4729640" y="4782649"/>
            <a:ext cx="12846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CAGR serves a niche.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38575" y="5000581"/>
            <a:ext cx="27842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Neutron Detection and Radiation Monitoring:</a:t>
            </a:r>
          </a:p>
        </p:txBody>
      </p:sp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0878" y="4990801"/>
            <a:ext cx="128699" cy="18719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6738374" y="500058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7824" y="499080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3838575" y="5168221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838575" y="5386153"/>
            <a:ext cx="16224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Nuclear Fusion Research: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09076" y="5376373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5576572" y="538615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6022" y="5376373"/>
            <a:ext cx="128699" cy="18719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603518" y="5386153"/>
            <a:ext cx="885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38575" y="5553793"/>
            <a:ext cx="4191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niche.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24875" y="5842641"/>
            <a:ext cx="3093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Application segment is projected to grow at 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Application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Application mix within each region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Application mix within each region (share of 2036 value) · row label = region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Application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694045"/>
            <a:ext cx="115089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followed by cryogenic refrigeration and ultra-low-temperature cooling are expected to be the two most attractive application segments in the global Helium-3 market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861685"/>
            <a:ext cx="91965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over the forecast period. Medical and biomedical imaging and cryogenic refrigeration and Ultra-Low-Temperature cooling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745" y="5851905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69241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7136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974631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707" y="601954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203" y="602932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97" y="601954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6593" y="602932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0997" y="601954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38493" y="6029325"/>
            <a:ext cx="80262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nuclear fusion research segment is expected to be less attractive as compared to other segments over the forecast period, owing to 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196965"/>
            <a:ext cx="67902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lower CAGR and incremental opportunity. Bubbles right of the CAGR-Index line grow 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Application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Neutron Detection and Radiation Monitoring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Cryogenic Refrigeration and Ultra-Low-Temperature Cooling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Medical and Biomedical Imaging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Nuclear Fusion Research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5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2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ckshield_15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8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Application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Application,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Application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3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472"/>
                <a:gridCol w="457535"/>
                <a:gridCol w="457535"/>
                <a:gridCol w="457535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480014"/>
                <a:gridCol w="52493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Application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28575" marR="1905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067050"/>
            <a:ext cx="11906250" cy="35623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1527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Analysis, By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3909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476625"/>
            <a:ext cx="11639550" cy="30765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042" y="1837563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3486150"/>
            <a:ext cx="39182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Medical and biomedical imaging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663" y="34759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18773" y="3486150"/>
            <a:ext cx="69713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cryogenic refrigeration and ultra-low-temperature cooling segment in 2036. Among Helium-3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661410"/>
            <a:ext cx="65217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application, neutron detection and radiation monitoring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58" y="36511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22267" y="36614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889247"/>
            <a:ext cx="76359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application, the medical and biomedical imaging segment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77" y="38790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36487" y="38892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630" y="38790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6739" y="388924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Application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Application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614672" cy="51625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419225"/>
            <a:ext cx="2595753" cy="17792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3932301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760970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756208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680008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Nuclear Fusion Research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74192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238701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238225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230605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Neutron Detection and Radiation Monitoring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236796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928997" y="3378950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5090922" y="337418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5233797" y="3297988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Cryogenic Refrigeration and Ultra-Low-Temperature Cooling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896100" y="335990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928997" y="5121393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5090922" y="511663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5233797" y="504043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896100" y="510234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Read-out, By Application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751325"/>
            <a:ext cx="275034" cy="4000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29550" y="1400175"/>
            <a:ext cx="3923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application, neutron detection and radiation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9550" y="1575435"/>
            <a:ext cx="38500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monitoring segment is expected to witness the highest CAGR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8795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29550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1978533"/>
            <a:ext cx="40132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application, the medical and biomedical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153793"/>
            <a:ext cx="3665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imaging segment is expected to dominate the market, losing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4539" y="214356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9550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693" y="2318829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99802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5" name="lockshield_9"/>
          <p:cNvSpPr/>
          <p:nvPr/>
        </p:nvSpPr>
        <p:spPr>
          <a:xfrm>
            <a:off x="238125" y="1409700"/>
            <a:ext cx="4614672" cy="516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End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End User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End User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6 sub-segments of End User,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End User segment categorizes the market by end user.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157162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Institutions and Univers…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490788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282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52825" y="1992961"/>
            <a:ext cx="157162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092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Government and Defense Agencies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282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55282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55282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875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38750" y="1992961"/>
            <a:ext cx="1571625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85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Other End Users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875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23875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523875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5862638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2467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24675" y="1992961"/>
            <a:ext cx="1571625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277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Healthcare and Medical Research I…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2467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92467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92467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7548562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1060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10600" y="1992961"/>
            <a:ext cx="1571625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870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Commercial and Industrial Enterpr…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1060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861060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861060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9652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96525" y="1992961"/>
            <a:ext cx="1571625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462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Independent Research Institutions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9652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029652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029652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10920412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End User split shows how demand is distributed across end user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75" name="Picture 74" descr="3_68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848" y="2286582"/>
            <a:ext cx="1195728" cy="361950"/>
          </a:xfrm>
          <a:prstGeom prst="rect">
            <a:avLst/>
          </a:prstGeom>
        </p:spPr>
      </p:pic>
      <p:pic>
        <p:nvPicPr>
          <p:cNvPr id="76" name="Picture 75" descr="5_776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4848" y="2779432"/>
            <a:ext cx="1195728" cy="361950"/>
          </a:xfrm>
          <a:prstGeom prst="rect">
            <a:avLst/>
          </a:prstGeom>
        </p:spPr>
      </p:pic>
      <p:pic>
        <p:nvPicPr>
          <p:cNvPr id="77" name="Picture 76" descr="4_6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94" y="3272281"/>
            <a:ext cx="982436" cy="361950"/>
          </a:xfrm>
          <a:prstGeom prst="rect">
            <a:avLst/>
          </a:prstGeom>
        </p:spPr>
      </p:pic>
      <p:pic>
        <p:nvPicPr>
          <p:cNvPr id="78" name="Picture 77" descr="2_568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79" name="Picture 78" descr="4_479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80" name="Picture 79" descr="5_7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81" name="Picture 80" descr="2_496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6698" y="2286582"/>
            <a:ext cx="1195728" cy="361950"/>
          </a:xfrm>
          <a:prstGeom prst="rect">
            <a:avLst/>
          </a:prstGeom>
        </p:spPr>
      </p:pic>
      <p:pic>
        <p:nvPicPr>
          <p:cNvPr id="82" name="Picture 81" descr="4_210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6698" y="2779432"/>
            <a:ext cx="1195728" cy="361950"/>
          </a:xfrm>
          <a:prstGeom prst="rect">
            <a:avLst/>
          </a:prstGeom>
        </p:spPr>
      </p:pic>
      <p:pic>
        <p:nvPicPr>
          <p:cNvPr id="83" name="Picture 82" descr="5_4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3344" y="3272281"/>
            <a:ext cx="982436" cy="361950"/>
          </a:xfrm>
          <a:prstGeom prst="rect">
            <a:avLst/>
          </a:prstGeom>
        </p:spPr>
      </p:pic>
      <p:pic>
        <p:nvPicPr>
          <p:cNvPr id="84" name="Picture 83" descr="1_345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2623" y="2286582"/>
            <a:ext cx="1195728" cy="361950"/>
          </a:xfrm>
          <a:prstGeom prst="rect">
            <a:avLst/>
          </a:prstGeom>
        </p:spPr>
      </p:pic>
      <p:pic>
        <p:nvPicPr>
          <p:cNvPr id="85" name="Picture 84" descr="2_064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12623" y="2779432"/>
            <a:ext cx="1195728" cy="361950"/>
          </a:xfrm>
          <a:prstGeom prst="rect">
            <a:avLst/>
          </a:prstGeom>
        </p:spPr>
      </p:pic>
      <p:pic>
        <p:nvPicPr>
          <p:cNvPr id="86" name="Picture 85" descr="4_4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9269" y="3272281"/>
            <a:ext cx="982436" cy="361950"/>
          </a:xfrm>
          <a:prstGeom prst="rect">
            <a:avLst/>
          </a:prstGeom>
        </p:spPr>
      </p:pic>
      <p:pic>
        <p:nvPicPr>
          <p:cNvPr id="87" name="Picture 86" descr="427_0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88" name="Picture 87" descr="595_9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89" name="Picture 88" descr="3_4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90" name="Picture 89" descr="381_9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84473" y="2286582"/>
            <a:ext cx="1195728" cy="361950"/>
          </a:xfrm>
          <a:prstGeom prst="rect">
            <a:avLst/>
          </a:prstGeom>
        </p:spPr>
      </p:pic>
      <p:pic>
        <p:nvPicPr>
          <p:cNvPr id="91" name="Picture 90" descr="620_2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84473" y="2779432"/>
            <a:ext cx="1195728" cy="361950"/>
          </a:xfrm>
          <a:prstGeom prst="rect">
            <a:avLst/>
          </a:prstGeom>
        </p:spPr>
      </p:pic>
      <p:pic>
        <p:nvPicPr>
          <p:cNvPr id="92" name="Picture 91" descr="5_0_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91119" y="3272281"/>
            <a:ext cx="982436" cy="361950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59367" y="2827057"/>
            <a:ext cx="183356" cy="266700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45292" y="2827057"/>
            <a:ext cx="183356" cy="266700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31217" y="2827057"/>
            <a:ext cx="183356" cy="266700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7142" y="2827057"/>
            <a:ext cx="183356" cy="266700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03067" y="2827057"/>
            <a:ext cx="183356" cy="266700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88992" y="2827057"/>
            <a:ext cx="183356" cy="2667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85775" y="4229437"/>
            <a:ext cx="2734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end user, government and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5775" y="4397077"/>
            <a:ext cx="28620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defense agencies segment is expected to witness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5775" y="4564717"/>
            <a:ext cx="12123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6163" y="4554938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813659" y="4564717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5775" y="4732357"/>
            <a:ext cx="28988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end user, the academic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5775" y="4899997"/>
            <a:ext cx="28393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institutions and universities segment is expected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5775" y="5067637"/>
            <a:ext cx="18350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dominate the market, losing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68827" y="5057858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2436323" y="5067637"/>
            <a:ext cx="534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5775" y="5235277"/>
            <a:ext cx="8969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30764" y="5225498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498259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5775" y="5453209"/>
            <a:ext cx="28699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 segment is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5775" y="562084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8376" y="5611070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845872" y="562084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5775" y="5788489"/>
            <a:ext cx="26846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government and defense agencies segment in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5775" y="595612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38575" y="4229437"/>
            <a:ext cx="230816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Academic Institutions and Universities: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3825" y="4220049"/>
            <a:ext cx="123551" cy="17971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6254621" y="4229437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9694" y="4220049"/>
            <a:ext cx="123551" cy="17971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7240490" y="4229437"/>
            <a:ext cx="382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38575" y="4390371"/>
            <a:ext cx="110954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38575" y="4599586"/>
            <a:ext cx="214052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Government and Defense Agencies: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26185" y="4590198"/>
            <a:ext cx="123551" cy="17971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6086981" y="4599586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12054" y="4590198"/>
            <a:ext cx="123551" cy="17971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072850" y="4599586"/>
            <a:ext cx="74202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grows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38575" y="4760520"/>
            <a:ext cx="47670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fastest.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38575" y="4969735"/>
            <a:ext cx="111321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Other End Users:</a:t>
            </a:r>
          </a:p>
        </p:txBody>
      </p:sp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98867" y="4960347"/>
            <a:ext cx="123551" cy="17971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5059663" y="4969735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84735" y="4960347"/>
            <a:ext cx="123551" cy="179710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6045531" y="4969735"/>
            <a:ext cx="121299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38575" y="5178949"/>
            <a:ext cx="275215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● Healthcare and Medical Research Institutions:</a:t>
            </a:r>
          </a:p>
        </p:txBody>
      </p:sp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37810" y="5169562"/>
            <a:ext cx="123551" cy="17971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6698606" y="5178949"/>
            <a:ext cx="89239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of 2026 value ·</a:t>
            </a:r>
          </a:p>
        </p:txBody>
      </p:sp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38084" y="5169562"/>
            <a:ext cx="123551" cy="17971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3838575" y="5339884"/>
            <a:ext cx="12362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CAGR serves a niche.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38575" y="5549099"/>
            <a:ext cx="230266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Commercial and Industrial Enterprises:</a:t>
            </a:r>
          </a:p>
        </p:txBody>
      </p:sp>
      <p:pic>
        <p:nvPicPr>
          <p:cNvPr id="141" name="Picture 14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8325" y="5539711"/>
            <a:ext cx="123551" cy="179710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6249121" y="5549099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3" name="Picture 14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4193" y="5539711"/>
            <a:ext cx="123551" cy="17971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7234989" y="5549099"/>
            <a:ext cx="382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38575" y="5710033"/>
            <a:ext cx="87615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38575" y="5919248"/>
            <a:ext cx="210097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Independent Research Institutions: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86633" y="5909860"/>
            <a:ext cx="123551" cy="17971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6047429" y="5919248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72501" y="5909860"/>
            <a:ext cx="123551" cy="17971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033297" y="5919248"/>
            <a:ext cx="75879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serves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38575" y="6080182"/>
            <a:ext cx="50001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 niche.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524875" y="5842641"/>
            <a:ext cx="29392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End User segment is projected to grow at 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End User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End User mix within each region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End User mix within each region (share of 2036 value) · row label = region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End User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694045"/>
            <a:ext cx="11677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 followed by government and defense agencies are expected to be the two most attractive end user segments in the global Helium-3 market in terms of value over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861685"/>
            <a:ext cx="67433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period. Academic institutions and universities and government and defense agencies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537" y="5851905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16033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927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21423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0396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97892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5787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03282" y="5861685"/>
            <a:ext cx="14532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175" y="6029325"/>
            <a:ext cx="11976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846" y="601954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70342" y="6029325"/>
            <a:ext cx="97997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commercial and industrial enterprises segment is expected to be less attractive as compared to other segments over the forecast period, owing to its lower CAGR 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175" y="6196965"/>
            <a:ext cx="58382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incremental opportunity. Bubbles right of the CAGR-Index line grow faster than the segment average.</a:t>
            </a:r>
          </a:p>
        </p:txBody>
      </p:sp>
      <p:sp>
        <p:nvSpPr>
          <p:cNvPr id="31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ockshield_12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End User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End User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Government and Defense Agencies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Academic Institutions and Universities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Independent Research Institutions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Healthcare and Medical Research Institutions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5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2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ckshield_15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8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End User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End User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Commercial and Industrial Enterprises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Other End Users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Summary of Global Absolute $ Opportunity Analysis, By End 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1390650"/>
            <a:ext cx="5610225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5550" y="1400175"/>
            <a:ext cx="55821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academic institutions and universities segment is anticipated to witness an increase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1575435"/>
            <a:ext cx="1977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422" y="1565211"/>
            <a:ext cx="134549" cy="1957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7531" y="1575435"/>
            <a:ext cx="50259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 terms of value as compared to 2026. The academic institutions and universities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5550" y="1750695"/>
            <a:ext cx="39559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create an incremental opportunity of US$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642" y="1740471"/>
            <a:ext cx="134549" cy="1957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385751" y="1750695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550" y="1925955"/>
            <a:ext cx="2256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from 2026 to 2036.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2153793"/>
            <a:ext cx="51137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government and defense agencies segment is expected to create an incremental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2329053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3647" y="2318829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38756" y="2329053"/>
            <a:ext cx="42383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Helium-3 market from 2026 to 2036. The other 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2504313"/>
            <a:ext cx="43036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users segment is expected to create an incremental opportunity of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8366" y="249408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33476" y="2504313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5550" y="2679573"/>
            <a:ext cx="2256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from 2026 to 2036.</a:t>
            </a:r>
          </a:p>
        </p:txBody>
      </p:sp>
      <p:sp>
        <p:nvSpPr>
          <p:cNvPr id="37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ockshield_12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End User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End User,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End User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5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4919"/>
                <a:gridCol w="505078"/>
                <a:gridCol w="505078"/>
                <a:gridCol w="505078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27953"/>
                <a:gridCol w="57366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End User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2194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552825"/>
            <a:ext cx="11906250" cy="3076575"/>
          </a:xfrm>
          <a:prstGeom prst="roundRect">
            <a:avLst>
              <a:gd name="adj" fmla="val 247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6385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Value Analysis, By End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87667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962400"/>
            <a:ext cx="11639550" cy="25908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772" y="2080450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3971925"/>
            <a:ext cx="42514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Academic institutions and universities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840" y="396170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51949" y="3971925"/>
            <a:ext cx="71616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government and defense agencies segment in 2036. Among Helium-3 by end user, government 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4147185"/>
            <a:ext cx="42095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defense agencies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90" y="4136961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09999" y="414718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375022"/>
            <a:ext cx="78208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end user, the academic institutions and universities segment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222" y="436479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1331" y="43750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474" y="43647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91584" y="437502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End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End User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End User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614672" cy="51625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419225"/>
            <a:ext cx="2595753" cy="17792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3932301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586205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58144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50524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Commercial and Industrial Enterprises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56715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1748534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5090922" y="174377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166757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Independent Research Institutions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172948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928997" y="2106784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5090922" y="210202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5233797" y="202582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Healthcare and Medical Research Institutions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896100" y="208773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928997" y="294416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5090922" y="293940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5233797" y="286320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Other End Users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896100" y="292511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928997" y="4103936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5090922" y="4099174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5233797" y="4022974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Government and Defense Agencies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896100" y="408488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928997" y="5472714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5090922" y="546795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5233797" y="539175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Academic Institutions and Universities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896100" y="545366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Global Read-out, By End User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751325"/>
            <a:ext cx="275034" cy="4000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29550" y="1400175"/>
            <a:ext cx="39085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end user, government and defense agencies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15754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343" y="1565211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110452" y="157543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550" y="1750695"/>
            <a:ext cx="10172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9550" y="1978533"/>
            <a:ext cx="39861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end user, the academic institutions 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9550" y="2153793"/>
            <a:ext cx="38777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universities segment is expected to dominate the market, losing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470" y="2318829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90579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722" y="2318829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0832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4" name="lockshield_9"/>
          <p:cNvSpPr/>
          <p:nvPr/>
        </p:nvSpPr>
        <p:spPr>
          <a:xfrm>
            <a:off x="238125" y="1409700"/>
            <a:ext cx="4614672" cy="516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2059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2525395"/>
            <a:ext cx="7239000" cy="9715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Western Europe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87445"/>
            <a:ext cx="7124700" cy="2378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Market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Market Analysis By Segments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Product Form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Supply Source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End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8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Western Europe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Pricing &amp; Price Index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Volume &amp; Value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Country Outlook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Summary, By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Western Europe market volume growth, incremental opportunity and the geographies driving it,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(Litres)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Growth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8625" y="2046987"/>
            <a:ext cx="34581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Western Europe Helium-3 market is projected to register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5949" y="203676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31058" y="2046987"/>
            <a:ext cx="1520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222247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increase in volume by the end of forecast period, 2036. Western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8625" y="2397507"/>
            <a:ext cx="25350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Europe Helium-3 market volume stood at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2867" y="2387283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07976" y="2397507"/>
            <a:ext cx="11307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in 2025 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572767"/>
            <a:ext cx="12705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is expected to reach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8337" y="2562543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443446" y="2572767"/>
            <a:ext cx="19791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by 2036 end, at a CAGR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1711" y="2562543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546820" y="257276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8625" y="2800604"/>
            <a:ext cx="38421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Value is projected to grow faster than volume over the forecast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8625" y="2975864"/>
            <a:ext cx="31848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period, owing to an increase in average selling price.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8625" y="4456475"/>
            <a:ext cx="22427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'Germany' leads regional growth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482" y="4446251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415591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8625" y="4684312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'Gaseous Helium-3' within Product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8625" y="4859572"/>
            <a:ext cx="4247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53" name="lockshield_13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ockshield_16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Pricing &amp; Regional Price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average price by sub-segment and price variation by country, highlighting where pricing power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52895"/>
            <a:ext cx="7696200" cy="2665040"/>
          </a:xfrm>
          <a:prstGeom prst="roundRect">
            <a:avLst>
              <a:gd name="adj" fmla="val 28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11004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by Product Form  ·  range across 2021–2036 (US$/Litres)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7225" y="333693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" y="2865938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7225" y="2394940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7225" y="1923943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7225" y="145294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7225" y="1452945"/>
            <a:ext cx="0" cy="18839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8650" y="333693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8650" y="28659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8650" y="239494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8650" y="192394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8650" y="145294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MR Scale tick"/>
          <p:cNvSpPr txBox="1"/>
          <p:nvPr/>
        </p:nvSpPr>
        <p:spPr>
          <a:xfrm>
            <a:off x="219075" y="327026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1" name="TMR Scale tick"/>
          <p:cNvSpPr txBox="1"/>
          <p:nvPr/>
        </p:nvSpPr>
        <p:spPr>
          <a:xfrm>
            <a:off x="219075" y="2328265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2" name="TMR Scale tick"/>
          <p:cNvSpPr txBox="1"/>
          <p:nvPr/>
        </p:nvSpPr>
        <p:spPr>
          <a:xfrm>
            <a:off x="219075" y="138627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409825" y="1670329"/>
            <a:ext cx="0" cy="1082187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8380" y="2752516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78380" y="1670329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190750" y="1960711"/>
            <a:ext cx="438150" cy="540479"/>
          </a:xfrm>
          <a:prstGeom prst="rect">
            <a:avLst/>
          </a:prstGeom>
          <a:solidFill>
            <a:srgbClr val="CFE7F5"/>
          </a:solidFill>
          <a:ln w="15875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190750" y="2237468"/>
            <a:ext cx="438150" cy="0"/>
          </a:xfrm>
          <a:prstGeom prst="line">
            <a:avLst/>
          </a:prstGeom>
          <a:ln w="2540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7225" y="1517929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915025" y="2112813"/>
            <a:ext cx="0" cy="1006739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83580" y="3119552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83580" y="2112813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695950" y="2382765"/>
            <a:ext cx="438150" cy="502733"/>
          </a:xfrm>
          <a:prstGeom prst="rect">
            <a:avLst/>
          </a:prstGeom>
          <a:solidFill>
            <a:srgbClr val="CFE7F5"/>
          </a:solidFill>
          <a:ln w="15875">
            <a:solidFill>
              <a:srgbClr val="0E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695950" y="2640102"/>
            <a:ext cx="438150" cy="0"/>
          </a:xfrm>
          <a:prstGeom prst="line">
            <a:avLst/>
          </a:prstGeom>
          <a:ln w="2540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62425" y="1960413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25" y="3365510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2425" y="3365510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2875" y="3772696"/>
            <a:ext cx="7696200" cy="2783689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125" y="3829846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 vs Western Europe  ·  2026–2036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9125" y="4302062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9125" y="4679009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9125" y="505595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9125" y="543290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9125" y="580985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9125" y="4302062"/>
            <a:ext cx="0" cy="1507788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0550" y="4302062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0550" y="4679009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0550" y="505595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90550" y="543290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90550" y="580985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MR Scale tick"/>
          <p:cNvSpPr txBox="1"/>
          <p:nvPr/>
        </p:nvSpPr>
        <p:spPr>
          <a:xfrm>
            <a:off x="138112" y="4235387"/>
            <a:ext cx="442912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+9.0%</a:t>
            </a:r>
          </a:p>
        </p:txBody>
      </p:sp>
      <p:sp>
        <p:nvSpPr>
          <p:cNvPr id="51" name="TMR Scale tick"/>
          <p:cNvSpPr txBox="1"/>
          <p:nvPr/>
        </p:nvSpPr>
        <p:spPr>
          <a:xfrm>
            <a:off x="138112" y="4612334"/>
            <a:ext cx="442912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+4.5%</a:t>
            </a:r>
          </a:p>
        </p:txBody>
      </p:sp>
      <p:sp>
        <p:nvSpPr>
          <p:cNvPr id="52" name="TMR Scale tick"/>
          <p:cNvSpPr txBox="1"/>
          <p:nvPr/>
        </p:nvSpPr>
        <p:spPr>
          <a:xfrm>
            <a:off x="219075" y="4989281"/>
            <a:ext cx="36195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1">
                <a:solidFill>
                  <a:srgbClr val="6C7A89"/>
                </a:solidFill>
                <a:latin typeface="Calibri"/>
              </a:rPr>
              <a:t>Western Europe</a:t>
            </a:r>
          </a:p>
        </p:txBody>
      </p:sp>
      <p:sp>
        <p:nvSpPr>
          <p:cNvPr id="53" name="TMR Scale tick"/>
          <p:cNvSpPr txBox="1"/>
          <p:nvPr/>
        </p:nvSpPr>
        <p:spPr>
          <a:xfrm>
            <a:off x="164306" y="5366228"/>
            <a:ext cx="41671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-4.5%</a:t>
            </a:r>
          </a:p>
        </p:txBody>
      </p:sp>
      <p:sp>
        <p:nvSpPr>
          <p:cNvPr id="54" name="TMR Scale tick"/>
          <p:cNvSpPr txBox="1"/>
          <p:nvPr/>
        </p:nvSpPr>
        <p:spPr>
          <a:xfrm>
            <a:off x="164306" y="5743175"/>
            <a:ext cx="41671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-9.0%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9125" y="5055956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31056" y="4905697"/>
            <a:ext cx="457200" cy="150259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MR Data Label"/>
          <p:cNvSpPr txBox="1"/>
          <p:nvPr/>
        </p:nvSpPr>
        <p:spPr>
          <a:xfrm>
            <a:off x="619125" y="4762822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2119" y="5020705"/>
            <a:ext cx="457200" cy="3525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MR Data Label"/>
          <p:cNvSpPr txBox="1"/>
          <p:nvPr/>
        </p:nvSpPr>
        <p:spPr>
          <a:xfrm>
            <a:off x="1500188" y="4877830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93181" y="5055956"/>
            <a:ext cx="457200" cy="119722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MR Data Label"/>
          <p:cNvSpPr txBox="1"/>
          <p:nvPr/>
        </p:nvSpPr>
        <p:spPr>
          <a:xfrm>
            <a:off x="2381250" y="518520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244" y="5055956"/>
            <a:ext cx="457200" cy="246658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MR Data Label"/>
          <p:cNvSpPr txBox="1"/>
          <p:nvPr/>
        </p:nvSpPr>
        <p:spPr>
          <a:xfrm>
            <a:off x="3262312" y="5312139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5306" y="5055956"/>
            <a:ext cx="457200" cy="93114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MR Data Label"/>
          <p:cNvSpPr txBox="1"/>
          <p:nvPr/>
        </p:nvSpPr>
        <p:spPr>
          <a:xfrm>
            <a:off x="4143375" y="5158594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6" name="TMR Data Label"/>
          <p:cNvSpPr txBox="1"/>
          <p:nvPr/>
        </p:nvSpPr>
        <p:spPr>
          <a:xfrm>
            <a:off x="5024438" y="490807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17431" y="5055956"/>
            <a:ext cx="457200" cy="654229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MR Data Label"/>
          <p:cNvSpPr txBox="1"/>
          <p:nvPr/>
        </p:nvSpPr>
        <p:spPr>
          <a:xfrm>
            <a:off x="5905500" y="5719710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98494" y="4996748"/>
            <a:ext cx="457200" cy="5920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MR Data Label"/>
          <p:cNvSpPr txBox="1"/>
          <p:nvPr/>
        </p:nvSpPr>
        <p:spPr>
          <a:xfrm>
            <a:off x="6786562" y="485387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125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0188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81250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62312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43375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4438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5500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86562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915275" y="1052895"/>
            <a:ext cx="4133850" cy="5503490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8625" y="113862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48625" y="1376745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48625" y="1462470"/>
            <a:ext cx="3867150" cy="50177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475" y="1491005"/>
            <a:ext cx="128699" cy="187198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675" y="1933489"/>
            <a:ext cx="128699" cy="187198"/>
          </a:xfrm>
          <a:prstGeom prst="rect">
            <a:avLst/>
          </a:prstGeom>
        </p:spPr>
      </p:pic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06" y="4735898"/>
            <a:ext cx="128699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369" y="4850906"/>
            <a:ext cx="128699" cy="187198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431" y="5158279"/>
            <a:ext cx="128699" cy="187198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493" y="5285215"/>
            <a:ext cx="128699" cy="187198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556" y="5131670"/>
            <a:ext cx="128699" cy="187198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19" y="4881148"/>
            <a:ext cx="128699" cy="18719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681" y="5692785"/>
            <a:ext cx="128699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43" y="4826949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048625" y="1471995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expected to command the highest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8625" y="1647255"/>
            <a:ext cx="1299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average price of US$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862" y="1637031"/>
            <a:ext cx="134549" cy="195707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9471971" y="1647255"/>
            <a:ext cx="23447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2036. Average selling price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8625" y="1822515"/>
            <a:ext cx="19488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Helium-3 is estimated at US$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670" y="1812291"/>
            <a:ext cx="134549" cy="19570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0121780" y="1822515"/>
            <a:ext cx="14311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2025 and 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8625" y="1997775"/>
            <a:ext cx="176461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projected to increase to US$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396" y="1987551"/>
            <a:ext cx="134549" cy="19570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9937506" y="1997775"/>
            <a:ext cx="11202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by 2036.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48625" y="2225613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is the highest-priced country, while Nordic Countries is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8625" y="2400873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most price-competitive market. Against the Western Europe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8625" y="2576133"/>
            <a:ext cx="5269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of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680" y="2565909"/>
            <a:ext cx="134549" cy="195707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699789" y="2576133"/>
            <a:ext cx="27755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US$/Litres, 4 of 8 countries price above and 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8625" y="2751393"/>
            <a:ext cx="4775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below.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48625" y="2979230"/>
            <a:ext cx="17817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'Germany' is the dearest at +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512" y="2969007"/>
            <a:ext cx="134549" cy="195707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9954621" y="2979230"/>
            <a:ext cx="149448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versus Western Europe,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8625" y="3154490"/>
            <a:ext cx="21719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'Nordic Countries' the cheapest at -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739" y="3144267"/>
            <a:ext cx="134549" cy="195707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0344848" y="3154490"/>
            <a:ext cx="7277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pointing to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48625" y="3329750"/>
            <a:ext cx="34590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premiumisation headroom in the lower-priced countries.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Summary, By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Western Europe market value growth, incremental opportunity and the geographies driving it,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(US$ Mn)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915275" y="1627887"/>
            <a:ext cx="4133850" cy="2955981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8625" y="2037462"/>
            <a:ext cx="3867150" cy="247020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5275" y="4638629"/>
            <a:ext cx="4133850" cy="1917756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8625" y="4724354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Growth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4962479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8625" y="5048204"/>
            <a:ext cx="3867150" cy="143198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8625" y="2046987"/>
            <a:ext cx="3797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market value in Western Europe is expected to increase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157" y="2204848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02653" y="2214627"/>
            <a:ext cx="34339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between 2025 and 2036. In 2025, the Helium-3 market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382267"/>
            <a:ext cx="20671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was valued at US$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3874" y="2372488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31370" y="2382267"/>
            <a:ext cx="13883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and is estimated 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8625" y="2549907"/>
            <a:ext cx="9820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account for US$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743" y="2540128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6239" y="2549907"/>
            <a:ext cx="24030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the end of 2026, reflecting a Y-o-Y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8625" y="2717547"/>
            <a:ext cx="8963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growth rate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3068" y="2707768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60564" y="271754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8625" y="2935479"/>
            <a:ext cx="3583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in Western Europe is expected to account for US$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157" y="3093340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02653" y="3103119"/>
            <a:ext cx="14955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261" y="3093340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13757" y="3103119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8625" y="3270759"/>
            <a:ext cx="38175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is expected to create an incremental opportunity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8625" y="3438399"/>
            <a:ext cx="4489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US$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591" y="3428620"/>
            <a:ext cx="128699" cy="18719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613087" y="3438399"/>
            <a:ext cx="32224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for the overall Helium-3 market from 2025 to 2036.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8625" y="3656331"/>
            <a:ext cx="28371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Absolute $ value for 2026 is estimated to be US$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3861" y="3646552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001357" y="3656331"/>
            <a:ext cx="3043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8625" y="5057729"/>
            <a:ext cx="22427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'Germany' leads regional growth at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482" y="5047505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415591" y="5057729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8625" y="5285566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'Gaseous Helium-3' within Product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8625" y="5460826"/>
            <a:ext cx="4247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Form.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8625" y="5688664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8625" y="5916502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63" name="lockshield_13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16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Volume &amp; Value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and value growth of the Western Europe market and the incremental $ opportunity it creates,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4695825" cy="2524125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Market, 2021–2025 (Historical)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4505325" cy="21812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991100" y="981075"/>
            <a:ext cx="7048500" cy="2524125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6350" y="10382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Market, 2026–2036 (Forecast)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86350" y="1266825"/>
          <a:ext cx="6858000" cy="21812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63855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9875" y="363855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76875" y="363855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2026–2031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9675" y="363855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4457700"/>
            <a:ext cx="11906250" cy="2152650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5434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Volume &amp; Value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225" y="47815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867275"/>
            <a:ext cx="11639550" cy="1666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5356" y="2029222"/>
            <a:ext cx="202455" cy="29448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694" y="1990329"/>
            <a:ext cx="255933" cy="372266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594" y="3950970"/>
            <a:ext cx="157162" cy="2286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594" y="3950970"/>
            <a:ext cx="157162" cy="2286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494" y="3950970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294" y="3950970"/>
            <a:ext cx="157162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6225" y="4876800"/>
            <a:ext cx="39662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value in Western Europe is expected to increase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586" y="4866576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366695" y="4876800"/>
            <a:ext cx="57011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between 2025 and 2036. In 2025, the Helium-3 market in Western Europe was valued at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6971" y="4866576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92080" y="4876800"/>
            <a:ext cx="14479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and is estimated 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225" y="5052060"/>
            <a:ext cx="102324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account for US$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621" y="5041836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23731" y="5052060"/>
            <a:ext cx="33994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the end of 2026, reflecting a Y-o-Y growth rate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293" y="5041836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47402" y="5052060"/>
            <a:ext cx="38127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The market in Western Europe is expected to account for US$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297" y="5041836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84406" y="5052060"/>
            <a:ext cx="1560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633" y="5041836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568742" y="5052060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5227320"/>
            <a:ext cx="10172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225" y="5455157"/>
            <a:ext cx="44103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Western Europe is expected to create an incremental opportunity of US$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726" y="5444934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810836" y="5455157"/>
            <a:ext cx="62850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Helium-3 market from 2025 to 2036. Absolute $ value for 2026 is estimated to be US$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5026" y="5444934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20135" y="5455157"/>
            <a:ext cx="3146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5630417"/>
            <a:ext cx="34581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Western Europe Helium-3 market is projected to register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549" y="5620194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858658" y="5630417"/>
            <a:ext cx="34621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volume by the end of forecast period, 2036.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5858255"/>
            <a:ext cx="30776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Western Europe Helium-3 market volume stood at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3020" y="5848032"/>
            <a:ext cx="134549" cy="19570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478129" y="5858255"/>
            <a:ext cx="23582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in 2025 and is expected to reach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5514" y="5848032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960624" y="5858255"/>
            <a:ext cx="19791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Litres by 2036 end, at a CAGR of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8889" y="5848032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063998" y="5858255"/>
            <a:ext cx="33956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Value is projected to grow faster than volume over the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6225" y="6033515"/>
            <a:ext cx="37012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period, owing to an increase in average selling price.</a:t>
            </a:r>
          </a:p>
        </p:txBody>
      </p:sp>
      <p:sp>
        <p:nvSpPr>
          <p:cNvPr id="60" name="lockshield_9"/>
          <p:cNvSpPr/>
          <p:nvPr/>
        </p:nvSpPr>
        <p:spPr>
          <a:xfrm>
            <a:off x="238125" y="1266825"/>
            <a:ext cx="4505325" cy="21812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ockshield_12"/>
          <p:cNvSpPr/>
          <p:nvPr/>
        </p:nvSpPr>
        <p:spPr>
          <a:xfrm>
            <a:off x="5086350" y="1266825"/>
            <a:ext cx="6858000" cy="21812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Summary Country Indices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3933825" cy="244599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CAGR Index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93011"/>
          <a:ext cx="3743325" cy="21030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2875" y="3489764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" y="3565964"/>
          <a:ext cx="3914775" cy="2132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2905"/>
                <a:gridCol w="896654"/>
                <a:gridCol w="611961"/>
                <a:gridCol w="117325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9075" y="5707558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007261"/>
            <a:ext cx="3933825" cy="4928498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0050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2036 Market By Country (US$ Mn)  ·  Top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0050" y="1293011"/>
            <a:ext cx="3743325" cy="2155277"/>
          </a:xfrm>
          <a:prstGeom prst="rect">
            <a:avLst/>
          </a:prstGeom>
          <a:solidFill>
            <a:srgbClr val="2A5F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0050" y="3448288"/>
            <a:ext cx="2042345" cy="1355135"/>
          </a:xfrm>
          <a:prstGeom prst="rect">
            <a:avLst/>
          </a:prstGeom>
          <a:solidFill>
            <a:srgbClr val="0081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0050" y="4803423"/>
            <a:ext cx="2042345" cy="1075186"/>
          </a:xfrm>
          <a:prstGeom prst="rect">
            <a:avLst/>
          </a:prstGeom>
          <a:solidFill>
            <a:srgbClr val="0E2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2395" y="3448288"/>
            <a:ext cx="885037" cy="1436382"/>
          </a:xfrm>
          <a:prstGeom prst="rect">
            <a:avLst/>
          </a:prstGeom>
          <a:solidFill>
            <a:srgbClr val="00AC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7431" y="3448288"/>
            <a:ext cx="815944" cy="1436382"/>
          </a:xfrm>
          <a:prstGeom prst="rect">
            <a:avLst/>
          </a:prstGeom>
          <a:solidFill>
            <a:srgbClr val="F476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2395" y="4884670"/>
            <a:ext cx="910117" cy="993939"/>
          </a:xfrm>
          <a:prstGeom prst="rect">
            <a:avLst/>
          </a:prstGeom>
          <a:solidFill>
            <a:srgbClr val="79C3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BENELUX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2512" y="4884670"/>
            <a:ext cx="790863" cy="993939"/>
          </a:xfrm>
          <a:prstGeom prst="rect">
            <a:avLst/>
          </a:prstGeom>
          <a:solidFill>
            <a:srgbClr val="58627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6725" y="1007261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197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Absolute Index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8181975" y="1293011"/>
          <a:ext cx="3743325" cy="209396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8086725" y="3471510"/>
            <a:ext cx="3933825" cy="2464249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096250" y="3547710"/>
          <a:ext cx="3914775" cy="215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636"/>
                <a:gridCol w="1058879"/>
                <a:gridCol w="579068"/>
                <a:gridCol w="111019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162925" y="5716684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875" y="6027028"/>
            <a:ext cx="10858500" cy="602372"/>
          </a:xfrm>
          <a:prstGeom prst="roundRect">
            <a:avLst>
              <a:gd name="adj" fmla="val 126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017" y="2125483"/>
            <a:ext cx="183356" cy="2667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219" y="4515030"/>
            <a:ext cx="330041" cy="48006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086" y="2370649"/>
            <a:ext cx="115252" cy="167639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596" y="4125855"/>
            <a:ext cx="115252" cy="167639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596" y="5341016"/>
            <a:ext cx="115252" cy="167639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287" y="4166479"/>
            <a:ext cx="115252" cy="167639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777" y="4166479"/>
            <a:ext cx="115252" cy="167639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827" y="5381639"/>
            <a:ext cx="115252" cy="167639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317" y="5381639"/>
            <a:ext cx="115252" cy="167639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1867" y="2120920"/>
            <a:ext cx="183356" cy="266700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8934" y="4510468"/>
            <a:ext cx="330041" cy="4800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7175" y="6160574"/>
            <a:ext cx="29067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988" y="6150795"/>
            <a:ext cx="128699" cy="1871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279484" y="6160574"/>
            <a:ext cx="42622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Italy in 2036. Germany posts the highest CAGR Index (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807" y="6150795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657303" y="6160574"/>
            <a:ext cx="789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growing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334" y="6150795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62830" y="6160574"/>
            <a:ext cx="16620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Western Europe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175" y="6328214"/>
            <a:ext cx="38775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benchmark, while Germany offers the largest absolute opportunity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2794" y="6318435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250290" y="6328214"/>
            <a:ext cx="33119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incremental market between 2026 and 2036 (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288" y="6318435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677784" y="6328214"/>
            <a:ext cx="20655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increment).</a:t>
            </a:r>
          </a:p>
        </p:txBody>
      </p:sp>
      <p:sp>
        <p:nvSpPr>
          <p:cNvPr id="54" name="lockshield_9"/>
          <p:cNvSpPr/>
          <p:nvPr/>
        </p:nvSpPr>
        <p:spPr>
          <a:xfrm>
            <a:off x="238125" y="1293011"/>
            <a:ext cx="3743325" cy="210309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ockshield_24"/>
          <p:cNvSpPr/>
          <p:nvPr/>
        </p:nvSpPr>
        <p:spPr>
          <a:xfrm>
            <a:off x="8181975" y="1293011"/>
            <a:ext cx="3743325" cy="209396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Overview (1/4)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market size, competitive landscape and the drivers, restraints and trends shaping 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11639550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857500"/>
            <a:ext cx="11906250" cy="1628775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9432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Landscape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1813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267075"/>
            <a:ext cx="11639550" cy="1143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619625"/>
            <a:ext cx="3943350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705350"/>
            <a:ext cx="3676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Drivers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943475"/>
            <a:ext cx="36766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5029200"/>
            <a:ext cx="3676650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8625" y="4619625"/>
            <a:ext cx="3819525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1975" y="47053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Restraints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1975" y="4943475"/>
            <a:ext cx="35528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1975" y="5029200"/>
            <a:ext cx="3552825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0550" y="4619625"/>
            <a:ext cx="3819525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3900" y="47053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Trends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43900" y="4943475"/>
            <a:ext cx="35528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3900" y="5029200"/>
            <a:ext cx="3552825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Mix shifting toward 'Gaseous Helium-3' and higher-growth tiers.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Germany outpacing the Western Europe average.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Demand broadening across 2 product form categories.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400175"/>
            <a:ext cx="28405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Helium-3 market is expected to witness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974" y="1389951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41083" y="1400175"/>
            <a:ext cx="47292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revenue by 2036 end. Global Helium-3 market accounted for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499" y="1389951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94608" y="1400175"/>
            <a:ext cx="2992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 2025, which is expected to increase to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113" y="138995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211222" y="1400175"/>
            <a:ext cx="4213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225" y="1575435"/>
            <a:ext cx="11493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 at a CAGR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686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49795" y="157543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1803273"/>
            <a:ext cx="112598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global Helium-3 market has been analysed on the basis of product form, supply source, application and end user across the globe. Germany is expected to remain the largest market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225" y="1978533"/>
            <a:ext cx="50458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Helium-3, while demand in Germany is projected to increase at the highest CAGR of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254" y="196830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446363" y="1978533"/>
            <a:ext cx="19608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throughout the forecast period.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3276600"/>
            <a:ext cx="54010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market is consolidated: the leading product form category 'Gaseous Helium-3' holds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413" y="326637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801522" y="3276600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3504437"/>
            <a:ext cx="505445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spans 8 countries and 4 segmentation lenses (2 product form categories).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3732275"/>
            <a:ext cx="25998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Germany is the largest country market at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220" y="3722052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00329" y="3732275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5038725"/>
            <a:ext cx="27507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Accelerating uptake of 'Gaseous Helium-3'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119" y="5028501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151228" y="5038725"/>
            <a:ext cx="490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266563"/>
            <a:ext cx="22509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Fast-growing demand in Germany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292" y="5256339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651401" y="5266563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494400"/>
            <a:ext cx="36576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Momentum in Neutron Detection and Radiation Monitoring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6225" y="5669660"/>
            <a:ext cx="121978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within application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161" y="5659437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20271" y="566966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1975" y="5038725"/>
            <a:ext cx="25559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Slower momentum in 'Liquid Helium-3' (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41" y="5028501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52150" y="503872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1975" y="5266563"/>
            <a:ext cx="32641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Maturing demand in established categories caps the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1975" y="5441822"/>
            <a:ext cx="562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blended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401" y="543159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058510" y="5441822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1975" y="5669660"/>
            <a:ext cx="35337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Value concentration in 'Gaseous Helium-3' raises barriers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1975" y="5844920"/>
            <a:ext cx="11079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 new entrants.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Supply Side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recent developments, investments and R&amp;D activity shaping the supply side of the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Recent Developments &amp; Key Industry Activities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5610225" cy="12954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Capacity and product development are concentrating in 'Gaseous Helium-3' and Germany.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Portfolio expansion tracks the shift toward higher-growth product form categories.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Commercial focus is intensifying across Germany and Germany.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1075"/>
            <a:ext cx="58769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390650"/>
            <a:ext cx="5610225" cy="12954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95600"/>
            <a:ext cx="5876925" cy="12858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9813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Strategic Acquisitions &amp; New Investments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2194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3305175"/>
            <a:ext cx="5610225" cy="800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95600"/>
            <a:ext cx="5876925" cy="12858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29813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Substantial Investment in R&amp;D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32194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3305175"/>
            <a:ext cx="5610225" cy="800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4314825"/>
            <a:ext cx="11906250" cy="2295525"/>
          </a:xfrm>
          <a:prstGeom prst="roundRect">
            <a:avLst>
              <a:gd name="adj" fmla="val 33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" y="437197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structure product form share (2036)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38125" y="4600575"/>
          <a:ext cx="11715750" cy="19526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871570" y="5462588"/>
            <a:ext cx="934136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025" y="5284520"/>
            <a:ext cx="382860" cy="5568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5550" y="1400175"/>
            <a:ext cx="6841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2026 size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714" y="1390396"/>
            <a:ext cx="128699" cy="1871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05210" y="1400175"/>
            <a:ext cx="8783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Mn; 2036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645" y="1390396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99141" y="1400175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1618107"/>
            <a:ext cx="991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Forecast CAGR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444" y="1608328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12940" y="1618107"/>
            <a:ext cx="833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(2026–2036).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1836039"/>
            <a:ext cx="20770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category 'Gaseous Helium-3'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622" y="1826260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98117" y="1836039"/>
            <a:ext cx="5430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5550" y="2053970"/>
            <a:ext cx="14494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country Germany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063" y="2044192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70559" y="205397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5550" y="2271903"/>
            <a:ext cx="15547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Incremental opportunity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384" y="2262124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75880" y="2271903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3314700"/>
            <a:ext cx="4574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Investment is flowing toward the fastest-growing tier 'Gaseous Helium-3' (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462" y="3304476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74571" y="331470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3542537"/>
            <a:ext cx="7836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Germany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08" y="3532314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84117" y="3542537"/>
            <a:ext cx="2362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is a priority country for new capacity.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3770375"/>
            <a:ext cx="30881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Scale players anchor around 'Gaseous Helium-3'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574" y="3760152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488684" y="3770375"/>
            <a:ext cx="484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5550" y="3314700"/>
            <a:ext cx="47752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R&amp;D aligns with the migration to 'Gaseous Helium-3' and adjacent premium tiers.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5550" y="3532632"/>
            <a:ext cx="44298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Development spend targets product form categories gaining share to 2036.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5550" y="3750564"/>
            <a:ext cx="15943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Innovation underpins the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947" y="3740785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015443" y="3750564"/>
            <a:ext cx="9244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CAGR.</a:t>
            </a:r>
          </a:p>
        </p:txBody>
      </p:sp>
      <p:sp>
        <p:nvSpPr>
          <p:cNvPr id="61" name="lockshield_25"/>
          <p:cNvSpPr/>
          <p:nvPr/>
        </p:nvSpPr>
        <p:spPr>
          <a:xfrm>
            <a:off x="238125" y="4600575"/>
            <a:ext cx="11715750" cy="19526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Analysis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the market approach, differentiating strategy and TMR's analysis and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Overall Market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650"/>
            <a:ext cx="5610225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1075"/>
            <a:ext cx="5876925" cy="174307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Differentiating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390650"/>
            <a:ext cx="5610225" cy="1257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Differentiate through the high-growth 'Gaseous Helium-3' tier and Neutron Detection and Radiation Monitoring within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57500"/>
            <a:ext cx="58769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9432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Segment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1813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3267075"/>
            <a:ext cx="5610225" cy="10763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57500"/>
            <a:ext cx="58769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294322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Market Country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3181350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3267075"/>
            <a:ext cx="5610225" cy="10763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875" y="4552950"/>
            <a:ext cx="11906250" cy="20574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225" y="46386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TMR Analysis &amp; Recommendation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225" y="48768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225" y="4962525"/>
            <a:ext cx="11639550" cy="1571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400175"/>
            <a:ext cx="54811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Balance scale in 'Gaseous Helium-3' with targeted growth in 'Gaseous Helium-3', pursuing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1575435"/>
            <a:ext cx="2747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15" y="1565211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5224" y="1575435"/>
            <a:ext cx="15518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trajectory to 2036.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225" y="3276600"/>
            <a:ext cx="19494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'Gaseous Helium-3' (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841" y="3266376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49950" y="3276600"/>
            <a:ext cx="1839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'Gaseous Helium-3' anchors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744" y="3266376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13853" y="3276600"/>
            <a:ext cx="5865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value.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3276600"/>
            <a:ext cx="13943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 with Germany (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062" y="3266376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824171" y="3276600"/>
            <a:ext cx="18767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capture upside in Germany (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48" y="3266376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25157" y="327660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4972050"/>
            <a:ext cx="101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Helium-3 adds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02" y="496182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418311" y="4972050"/>
            <a:ext cx="18151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of demand to 2036 a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573" y="4961826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357682" y="4972050"/>
            <a:ext cx="8227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expansion.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225" y="5199888"/>
            <a:ext cx="63443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Concentrate resources on the leading segment/country while seeding the fastest-growing pockets early.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5427725"/>
            <a:ext cx="44408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share in 'Gaseous Helium-3' as the value anchor of the portfolio.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Scenario Outlook (4/4)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Scenario outlook comparing optimistic, likely and conservative outcomes for 2036 and the CAGR behind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3943350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8625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0550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8669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Helium-3 Market Value (US$ Mn) Scenario Forecast, 2025 &amp; 2036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8125" y="4305300"/>
            <a:ext cx="568642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6342" y="3536317"/>
            <a:ext cx="635826" cy="768983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3936" y="3104671"/>
            <a:ext cx="635826" cy="1200629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5725" y="2917907"/>
            <a:ext cx="635826" cy="138739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7515" y="2705100"/>
            <a:ext cx="635826" cy="16002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456468" y="2971321"/>
            <a:ext cx="1568418" cy="0"/>
          </a:xfrm>
          <a:prstGeom prst="line">
            <a:avLst/>
          </a:prstGeom>
          <a:ln w="15875">
            <a:solidFill>
              <a:srgbClr val="92D05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570768" y="2866546"/>
            <a:ext cx="1358868" cy="209550"/>
          </a:xfrm>
          <a:prstGeom prst="round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56468" y="2714146"/>
            <a:ext cx="2550207" cy="0"/>
          </a:xfrm>
          <a:prstGeom prst="line">
            <a:avLst/>
          </a:prstGeom>
          <a:ln w="15875">
            <a:solidFill>
              <a:srgbClr val="0078D4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70768" y="2609371"/>
            <a:ext cx="1358868" cy="20955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56468" y="2456971"/>
            <a:ext cx="3531997" cy="0"/>
          </a:xfrm>
          <a:prstGeom prst="line">
            <a:avLst/>
          </a:prstGeom>
          <a:ln w="15875">
            <a:solidFill>
              <a:srgbClr val="80808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70768" y="2352196"/>
            <a:ext cx="1358868" cy="209550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55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2638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2036</a:t>
            </a:r>
          </a:p>
        </p:txBody>
      </p:sp>
      <p:sp>
        <p:nvSpPr>
          <p:cNvPr id="25" name="Oval 24"/>
          <p:cNvSpPr/>
          <p:nvPr/>
        </p:nvSpPr>
        <p:spPr>
          <a:xfrm>
            <a:off x="304800" y="4572000"/>
            <a:ext cx="133350" cy="13335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577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Conservative Scenario</a:t>
            </a:r>
          </a:p>
        </p:txBody>
      </p:sp>
      <p:sp>
        <p:nvSpPr>
          <p:cNvPr id="27" name="Oval 26"/>
          <p:cNvSpPr/>
          <p:nvPr/>
        </p:nvSpPr>
        <p:spPr>
          <a:xfrm>
            <a:off x="2200275" y="4572000"/>
            <a:ext cx="133350" cy="13335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0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Likely Scenario</a:t>
            </a:r>
          </a:p>
        </p:txBody>
      </p:sp>
      <p:sp>
        <p:nvSpPr>
          <p:cNvPr id="29" name="Oval 28"/>
          <p:cNvSpPr/>
          <p:nvPr/>
        </p:nvSpPr>
        <p:spPr>
          <a:xfrm>
            <a:off x="4095750" y="4572000"/>
            <a:ext cx="133350" cy="13335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672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Optimistic Scenario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7450" y="18669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Helium-3 Market Attractiveness Analysis By Region, 2026–2036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267450" y="2095500"/>
          <a:ext cx="5686425" cy="2667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42875" y="4953000"/>
            <a:ext cx="11906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225" y="50387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Scenario Assumptions &amp; Outlook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225" y="52768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225" y="5362575"/>
            <a:ext cx="11639550" cy="1190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969" y="1214437"/>
            <a:ext cx="157162" cy="228600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806" y="1214437"/>
            <a:ext cx="157162" cy="228600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731" y="1214437"/>
            <a:ext cx="157162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37332" y="1028326"/>
            <a:ext cx="1030634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OPTIMISTIC (2036)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6321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575" y="1473019"/>
            <a:ext cx="113255" cy="1647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807156" y="1028326"/>
            <a:ext cx="75866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LIKELY (2036)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0158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12" y="1473019"/>
            <a:ext cx="113255" cy="16473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548094" y="1028326"/>
            <a:ext cx="1220636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CONSERVATIVE (2036)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12083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337" y="1473019"/>
            <a:ext cx="113255" cy="16473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32418" y="2900912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892697"/>
            <a:ext cx="108107" cy="15724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32418" y="2643737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635522"/>
            <a:ext cx="108107" cy="15724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032418" y="2386562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378347"/>
            <a:ext cx="108107" cy="1572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76225" y="5372100"/>
            <a:ext cx="8081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Optimistic: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40" y="5361876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208649" y="5372100"/>
            <a:ext cx="12038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by 2036 at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612" y="5361876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536721" y="5372100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6225" y="5599938"/>
            <a:ext cx="14482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Likely (base forecast):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650" y="5589714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848759" y="5599938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966" y="5589714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671076" y="5599938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5827775"/>
            <a:ext cx="9696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Conservative: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994" y="5817552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70103" y="5827775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310" y="5817552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192420" y="58277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6225" y="6055613"/>
            <a:ext cx="36601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Scenarios flex the base forecast's year-on-year growth by ±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509" y="6045390"/>
            <a:ext cx="134549" cy="19570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060618" y="6055613"/>
            <a:ext cx="1900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across the 2026–2036 horizon.</a:t>
            </a:r>
          </a:p>
        </p:txBody>
      </p:sp>
      <p:sp>
        <p:nvSpPr>
          <p:cNvPr id="76" name="lockshield_33"/>
          <p:cNvSpPr/>
          <p:nvPr/>
        </p:nvSpPr>
        <p:spPr>
          <a:xfrm>
            <a:off x="6267450" y="2095500"/>
            <a:ext cx="5686425" cy="2667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9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Western Europe Market Analysis By Country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Western Europe Helium-3 – Country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Share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Share Analysis By Country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– Country Outlook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8 countries, highlighting where value concentrates,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Country view breaks the Western Europe market down geographically. Each country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Country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2" name="Oval 21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29" name="Oval 28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6" name="Oval 35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3" name="Oval 42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Insights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Overview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By Country split shows where market value concentrates and where growth is fastest.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demand and access dynamics are rebalancing the geographic mix through 2036.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339922"/>
            <a:ext cx="175498" cy="255270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832772"/>
            <a:ext cx="175498" cy="255270"/>
          </a:xfrm>
          <a:prstGeom prst="rect">
            <a:avLst/>
          </a:prstGeom>
        </p:spPr>
      </p:pic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3325622"/>
            <a:ext cx="175498" cy="255270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339922"/>
            <a:ext cx="175498" cy="255270"/>
          </a:xfrm>
          <a:prstGeom prst="rect">
            <a:avLst/>
          </a:prstGeom>
        </p:spPr>
      </p:pic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832772"/>
            <a:ext cx="175498" cy="255270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3325622"/>
            <a:ext cx="175498" cy="255270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339922"/>
            <a:ext cx="175498" cy="255270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832772"/>
            <a:ext cx="175498" cy="255270"/>
          </a:xfrm>
          <a:prstGeom prst="rect">
            <a:avLst/>
          </a:prstGeom>
        </p:spPr>
      </p:pic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3325622"/>
            <a:ext cx="175498" cy="255270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339922"/>
            <a:ext cx="175498" cy="255270"/>
          </a:xfrm>
          <a:prstGeom prst="rect">
            <a:avLst/>
          </a:prstGeom>
        </p:spPr>
      </p:pic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832772"/>
            <a:ext cx="175498" cy="255270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3325622"/>
            <a:ext cx="175498" cy="25527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5775" y="4229437"/>
            <a:ext cx="29067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07" y="438729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39803" y="4397077"/>
            <a:ext cx="23733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Italy in 2036. Among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5775" y="4564717"/>
            <a:ext cx="26475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by country, Germany is expected to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5775" y="4732357"/>
            <a:ext cx="16750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witness the highest CAGR of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919" y="4722578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2276415" y="4732357"/>
            <a:ext cx="1046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5775" y="4899997"/>
            <a:ext cx="4824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5117929"/>
            <a:ext cx="27228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country, Germany 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5285569"/>
            <a:ext cx="24666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gaining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479" y="5275790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3067974" y="5285569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5453209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057" y="5443430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743553" y="5453209"/>
            <a:ext cx="13029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5775" y="5620849"/>
            <a:ext cx="10123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180" y="5611070"/>
            <a:ext cx="128699" cy="18719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613676" y="5620849"/>
            <a:ext cx="169366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over the forecast period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5788489"/>
            <a:ext cx="8778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account for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664" y="5778710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479160" y="5788489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38575" y="4229437"/>
            <a:ext cx="7512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Germany: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861" y="4219658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470535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807" y="4219658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5732303" y="4229437"/>
            <a:ext cx="1419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market.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38575" y="4447369"/>
            <a:ext cx="4740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Italy: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644" y="4437590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4428139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590" y="4437590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5455086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38575" y="4665301"/>
            <a:ext cx="6115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France: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161" y="4655522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4565657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107" y="4655522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592603" y="4665301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8575" y="4883233"/>
            <a:ext cx="4622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U.K.: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911" y="4873454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4416407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857" y="4873454"/>
            <a:ext cx="128699" cy="18719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443353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Western Europe market is projected to grow at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24875" y="6017901"/>
            <a:ext cx="680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 CAGR of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4084" y="6007677"/>
            <a:ext cx="134549" cy="195707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9329193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– Country Outlook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8 countries, highlighting where value concentrates,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Country view breaks the Western Europe market down geographically. Each country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Country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2" name="Oval 21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BENELUX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29" name="Oval 28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6" name="Oval 35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6C7A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Rest of Western 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3" name="Oval 42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850" y="3854838"/>
            <a:ext cx="115443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46106"/>
            <a:ext cx="112776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Insights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46897"/>
            <a:ext cx="112776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19912"/>
            <a:ext cx="112776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339922"/>
            <a:ext cx="175498" cy="255270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832772"/>
            <a:ext cx="175498" cy="25527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3325622"/>
            <a:ext cx="175498" cy="255270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339922"/>
            <a:ext cx="175498" cy="25527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832772"/>
            <a:ext cx="175498" cy="25527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3325622"/>
            <a:ext cx="175498" cy="255270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339922"/>
            <a:ext cx="175498" cy="255270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832772"/>
            <a:ext cx="175498" cy="255270"/>
          </a:xfrm>
          <a:prstGeom prst="rect">
            <a:avLst/>
          </a:prstGeom>
        </p:spPr>
      </p:pic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3325622"/>
            <a:ext cx="175498" cy="255270"/>
          </a:xfrm>
          <a:prstGeom prst="rect">
            <a:avLst/>
          </a:prstGeom>
        </p:spPr>
      </p:pic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339922"/>
            <a:ext cx="175498" cy="255270"/>
          </a:xfrm>
          <a:prstGeom prst="rect">
            <a:avLst/>
          </a:prstGeom>
        </p:spPr>
      </p:pic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832772"/>
            <a:ext cx="175498" cy="255270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3325622"/>
            <a:ext cx="175498" cy="25527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85775" y="4229437"/>
            <a:ext cx="5395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Spain: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28" y="4219658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140824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74" y="4219658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167770" y="4229437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5775" y="4447369"/>
            <a:ext cx="7533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BENELUX: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197" y="4437590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54693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143" y="4437590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381639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5775" y="4665301"/>
            <a:ext cx="11858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Nordic Countries: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713" y="4655522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87209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659" y="4655522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814155" y="4665301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5775" y="4883233"/>
            <a:ext cx="15820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Rest of Western Europe: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894" y="4873454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183390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840" y="4873454"/>
            <a:ext cx="128699" cy="18719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210336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Analysis, By Country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share by country in 2026 and 2036, highlighting share gains and losses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Country, 2026 &amp; 2036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(2026→2036)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551045" y="1500518"/>
            <a:ext cx="85725" cy="85725"/>
          </a:xfrm>
          <a:prstGeom prst="rect">
            <a:avLst/>
          </a:prstGeom>
          <a:solidFill>
            <a:srgbClr val="1F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4712970" y="149575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4855845" y="141955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305550" y="148146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551045" y="1628491"/>
            <a:ext cx="85725" cy="85725"/>
          </a:xfrm>
          <a:prstGeom prst="rect">
            <a:avLst/>
          </a:prstGeom>
          <a:solidFill>
            <a:srgbClr val="586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4712970" y="162372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4855845" y="154752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305550" y="160944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551045" y="1812253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712970" y="180749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4855845" y="173129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305550" y="179320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551045" y="2031471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712970" y="202670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4855845" y="195050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305550" y="201242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551045" y="2294311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4712970" y="228954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4855845" y="221334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305550" y="227526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551045" y="2666752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4712970" y="266198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4855845" y="258578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305550" y="264770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6" name="TMR Legend Chip"/>
          <p:cNvSpPr/>
          <p:nvPr/>
        </p:nvSpPr>
        <p:spPr>
          <a:xfrm>
            <a:off x="4551045" y="3187833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4712970" y="318307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PS Name 7"/>
          <p:cNvSpPr txBox="1"/>
          <p:nvPr/>
        </p:nvSpPr>
        <p:spPr>
          <a:xfrm>
            <a:off x="4855845" y="310687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39" name="BPS Value 7"/>
          <p:cNvSpPr txBox="1"/>
          <p:nvPr/>
        </p:nvSpPr>
        <p:spPr>
          <a:xfrm>
            <a:off x="6305550" y="316878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0" name="TMR Legend Chip"/>
          <p:cNvSpPr/>
          <p:nvPr/>
        </p:nvSpPr>
        <p:spPr>
          <a:xfrm>
            <a:off x="4551045" y="4301765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4712970" y="429700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PS Name 8"/>
          <p:cNvSpPr txBox="1"/>
          <p:nvPr/>
        </p:nvSpPr>
        <p:spPr>
          <a:xfrm>
            <a:off x="4855845" y="422080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43" name="BPS Value 8"/>
          <p:cNvSpPr txBox="1"/>
          <p:nvPr/>
        </p:nvSpPr>
        <p:spPr>
          <a:xfrm>
            <a:off x="6305550" y="428271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Regional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(LITRES)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(LITRES)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867" y="3171825"/>
            <a:ext cx="275034" cy="400050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775" y="6070282"/>
            <a:ext cx="209550" cy="30480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612" y="6070282"/>
            <a:ext cx="209550" cy="30480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537" y="6070282"/>
            <a:ext cx="209550" cy="304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39000" y="1400175"/>
            <a:ext cx="30354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577" y="1389951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398687" y="1400175"/>
            <a:ext cx="13461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9000" y="1575435"/>
            <a:ext cx="45036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Italy in 2036. Among Helium-3 by country, Germany is expected to witness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0" y="1750695"/>
            <a:ext cx="12639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133" y="1740471"/>
            <a:ext cx="134549" cy="19570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27242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9000" y="1978533"/>
            <a:ext cx="45424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country, Germany is expected to dominate the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39000" y="2153793"/>
            <a:ext cx="9998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006" y="2143569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363115" y="215379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258" y="2143569"/>
            <a:ext cx="134549" cy="19570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933367" y="2153793"/>
            <a:ext cx="13587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9000" y="2329053"/>
            <a:ext cx="10549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060" y="2318829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18169" y="232905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673" y="2318829"/>
            <a:ext cx="134549" cy="1957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1180783" y="2329053"/>
            <a:ext cx="4036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39000" y="2504313"/>
            <a:ext cx="5856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2036.</a:t>
            </a:r>
          </a:p>
        </p:txBody>
      </p:sp>
      <p:sp>
        <p:nvSpPr>
          <p:cNvPr id="76" name="lockshield_9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Analysis, By Country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country in 2026 and 2036, highlighting share gains and losses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Country, 2026 &amp; 2036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(2026→2036)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551045" y="1500638"/>
            <a:ext cx="85725" cy="85725"/>
          </a:xfrm>
          <a:prstGeom prst="rect">
            <a:avLst/>
          </a:prstGeom>
          <a:solidFill>
            <a:srgbClr val="1F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4712970" y="1495876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4855845" y="1419676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305550" y="148158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551045" y="1624463"/>
            <a:ext cx="85725" cy="85725"/>
          </a:xfrm>
          <a:prstGeom prst="rect">
            <a:avLst/>
          </a:prstGeom>
          <a:solidFill>
            <a:srgbClr val="586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4712970" y="161970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4855845" y="154350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305550" y="160541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551045" y="1798186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4712970" y="179342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4855845" y="1717224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305550" y="177913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551045" y="2015340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712970" y="201057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4855845" y="193437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305550" y="199629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551045" y="2270836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4712970" y="226607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4855845" y="2189873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305550" y="225178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551045" y="2633401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4712970" y="262863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4855845" y="255243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305550" y="261435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6" name="TMR Legend Chip"/>
          <p:cNvSpPr/>
          <p:nvPr/>
        </p:nvSpPr>
        <p:spPr>
          <a:xfrm>
            <a:off x="4551045" y="3152448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4712970" y="3147685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PS Name 7"/>
          <p:cNvSpPr txBox="1"/>
          <p:nvPr/>
        </p:nvSpPr>
        <p:spPr>
          <a:xfrm>
            <a:off x="4855845" y="307148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39" name="BPS Value 7"/>
          <p:cNvSpPr txBox="1"/>
          <p:nvPr/>
        </p:nvSpPr>
        <p:spPr>
          <a:xfrm>
            <a:off x="6305550" y="313339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0" name="TMR Legend Chip"/>
          <p:cNvSpPr/>
          <p:nvPr/>
        </p:nvSpPr>
        <p:spPr>
          <a:xfrm>
            <a:off x="4551045" y="4285539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4712970" y="428077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PS Name 8"/>
          <p:cNvSpPr txBox="1"/>
          <p:nvPr/>
        </p:nvSpPr>
        <p:spPr>
          <a:xfrm>
            <a:off x="4855845" y="4204577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43" name="BPS Value 8"/>
          <p:cNvSpPr txBox="1"/>
          <p:nvPr/>
        </p:nvSpPr>
        <p:spPr>
          <a:xfrm>
            <a:off x="6305550" y="426648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Regional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867" y="3171825"/>
            <a:ext cx="275034" cy="400050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775" y="6070282"/>
            <a:ext cx="209550" cy="30480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612" y="6070282"/>
            <a:ext cx="209550" cy="30480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537" y="6070282"/>
            <a:ext cx="209550" cy="304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39000" y="1400175"/>
            <a:ext cx="30354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577" y="1389951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398687" y="1400175"/>
            <a:ext cx="1222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9000" y="1575435"/>
            <a:ext cx="45036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Italy in 2036. Among Helium-3 by country, Germany is expected to witness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0" y="1750695"/>
            <a:ext cx="12639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133" y="1740471"/>
            <a:ext cx="134549" cy="19570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27242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9000" y="1978533"/>
            <a:ext cx="4418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country, Germany is expected to dominate the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39000" y="2153793"/>
            <a:ext cx="9998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006" y="2143569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363115" y="215379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258" y="2143569"/>
            <a:ext cx="134549" cy="19570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933367" y="2153793"/>
            <a:ext cx="13587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9000" y="2329053"/>
            <a:ext cx="10549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060" y="2318829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18169" y="232905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673" y="2318829"/>
            <a:ext cx="134549" cy="1957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1180783" y="2329053"/>
            <a:ext cx="4036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39000" y="2504313"/>
            <a:ext cx="5856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2036.</a:t>
            </a:r>
          </a:p>
        </p:txBody>
      </p:sp>
      <p:sp>
        <p:nvSpPr>
          <p:cNvPr id="76" name="lockshield_9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Share Analysis, By Country Volume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share by country, 2021–2036, highlighting the geographies gaining and ceding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Size, By Country (Litres)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7" cy="246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3775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714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048125"/>
            <a:ext cx="11906250" cy="2581275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1338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Volume Share Read-out, By 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37197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457700"/>
            <a:ext cx="11639550" cy="20955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201" y="2328100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4467225"/>
            <a:ext cx="30354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802" y="445700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35912" y="4467225"/>
            <a:ext cx="70275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 Italy in 2036. Among Helium-3 by country, Germany is expected to witness the highest CAGR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2600" y="445700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87710" y="446722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464248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870322"/>
            <a:ext cx="54991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country, Germany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540" y="486009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99650" y="48703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793" y="48600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69902" y="4870322"/>
            <a:ext cx="23704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 expected to lose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553" y="486009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64663" y="4870322"/>
            <a:ext cx="13461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5045582"/>
            <a:ext cx="13353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689" y="503535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35798" y="504558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Share Analysis, By Country Value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and share by country, 2021–2036, highlighting the geographies gaining and ceding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Size, By Country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4" cy="246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726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714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048125"/>
            <a:ext cx="11906250" cy="2581275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1338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Share Read-out, By 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37197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457700"/>
            <a:ext cx="11639550" cy="20955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670" y="2328100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4467225"/>
            <a:ext cx="30354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Helium-3 market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802" y="445700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35912" y="4467225"/>
            <a:ext cx="69037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Italy in 2036. Among Helium-3 by country, Germany is expected to witness the highest CAGR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800" y="445700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63909" y="446722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464248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870322"/>
            <a:ext cx="53753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country, Germany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40" y="486009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75850" y="48703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993" y="48600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46102" y="4870322"/>
            <a:ext cx="23704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 expected to lose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753" y="486009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40862" y="4870322"/>
            <a:ext cx="17671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5045582"/>
            <a:ext cx="9142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654" y="503535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14764" y="504558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Trends, By Country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country volume and value shares shift over 2021–2036, highlighting who gains 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Volume By Country (Litres)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9448800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763125" y="1304925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MR Dense Legend"/>
          <p:cNvSpPr txBox="1"/>
          <p:nvPr/>
        </p:nvSpPr>
        <p:spPr>
          <a:xfrm>
            <a:off x="9839325" y="1362075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12" name="TMR Dense Legend"/>
          <p:cNvSpPr txBox="1"/>
          <p:nvPr/>
        </p:nvSpPr>
        <p:spPr>
          <a:xfrm>
            <a:off x="9839325" y="1533525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2A5F8F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Germany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E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Italy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2A5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France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ACA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U.K.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4762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Spain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79C3E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BENELUX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58627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Nordic Countries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1F476B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Rest of Western Europe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By Country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152900"/>
          <a:ext cx="9448800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763125" y="4191000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MR Dense Legend"/>
          <p:cNvSpPr txBox="1"/>
          <p:nvPr/>
        </p:nvSpPr>
        <p:spPr>
          <a:xfrm>
            <a:off x="9839325" y="4248150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18" name="TMR Dense Legend"/>
          <p:cNvSpPr txBox="1"/>
          <p:nvPr/>
        </p:nvSpPr>
        <p:spPr>
          <a:xfrm>
            <a:off x="9839325" y="4419600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2A5F8F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Germany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E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Italy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2A5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France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ACA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U.K.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4762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Spain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79C3EC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BENELUX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586272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Nordic Countries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1F476B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Rest of Western Europe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434" y="2176405"/>
            <a:ext cx="347145" cy="504938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434" y="5062480"/>
            <a:ext cx="347145" cy="504938"/>
          </a:xfrm>
          <a:prstGeom prst="rect">
            <a:avLst/>
          </a:prstGeom>
        </p:spPr>
      </p:pic>
      <p:sp>
        <p:nvSpPr>
          <p:cNvPr id="23" name="lockshield_9"/>
          <p:cNvSpPr/>
          <p:nvPr/>
        </p:nvSpPr>
        <p:spPr>
          <a:xfrm>
            <a:off x="238125" y="1266825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ockshield_15"/>
          <p:cNvSpPr/>
          <p:nvPr/>
        </p:nvSpPr>
        <p:spPr>
          <a:xfrm>
            <a:off x="238125" y="4152900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Helium-3 Market Top 7 Countries (2036)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hierarchy of the Western Europe market in 2036, highlighting the leading countries within each region by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by country  ·  2036 (US$ Mn)  ·  tile size = market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125" y="1266825"/>
            <a:ext cx="5506520" cy="5305425"/>
          </a:xfrm>
          <a:prstGeom prst="rect">
            <a:avLst/>
          </a:prstGeom>
          <a:solidFill>
            <a:srgbClr val="2A5F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44645" y="1266825"/>
            <a:ext cx="3387734" cy="2958278"/>
          </a:xfrm>
          <a:prstGeom prst="rect">
            <a:avLst/>
          </a:prstGeom>
          <a:solidFill>
            <a:srgbClr val="0081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4645" y="4225103"/>
            <a:ext cx="3387734" cy="2347147"/>
          </a:xfrm>
          <a:prstGeom prst="rect">
            <a:avLst/>
          </a:prstGeom>
          <a:solidFill>
            <a:srgbClr val="0E2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2378" y="1266825"/>
            <a:ext cx="2821497" cy="1631505"/>
          </a:xfrm>
          <a:prstGeom prst="rect">
            <a:avLst/>
          </a:prstGeom>
          <a:solidFill>
            <a:srgbClr val="00ACA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32378" y="2898330"/>
            <a:ext cx="2821497" cy="1504137"/>
          </a:xfrm>
          <a:prstGeom prst="rect">
            <a:avLst/>
          </a:prstGeom>
          <a:solidFill>
            <a:srgbClr val="F476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2378" y="4402467"/>
            <a:ext cx="1509654" cy="2169783"/>
          </a:xfrm>
          <a:prstGeom prst="rect">
            <a:avLst/>
          </a:prstGeom>
          <a:solidFill>
            <a:srgbClr val="79C3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BENELUX</a:t>
            </a:r>
          </a:p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42033" y="4402467"/>
            <a:ext cx="1311842" cy="2169783"/>
          </a:xfrm>
          <a:prstGeom prst="rect">
            <a:avLst/>
          </a:prstGeom>
          <a:solidFill>
            <a:srgbClr val="58627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59" y="3919537"/>
            <a:ext cx="115252" cy="167639"/>
          </a:xfrm>
          <a:prstGeom prst="rect">
            <a:avLst/>
          </a:prstGeom>
        </p:spPr>
      </p:pic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886" y="2745964"/>
            <a:ext cx="115252" cy="167639"/>
          </a:xfrm>
          <a:prstGeom prst="rect">
            <a:avLst/>
          </a:prstGeom>
        </p:spPr>
      </p:pic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886" y="5398676"/>
            <a:ext cx="115252" cy="167639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500" y="2082577"/>
            <a:ext cx="115252" cy="167639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500" y="3650398"/>
            <a:ext cx="115252" cy="167639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579" y="5487358"/>
            <a:ext cx="115252" cy="167639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327" y="5487358"/>
            <a:ext cx="115252" cy="167639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Western Europe Market Analysis By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Product Form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Supply Source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End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Product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Product Form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Product Form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Product Form,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Product Form segment categorizes the market by product form.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Gaseous Helium-3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Liquid Helium-3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Product Form split shows how demand is distributed across product form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7" name="Picture 46" descr="350_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48" name="Picture 47" descr="650_2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49" name="Picture 48" descr="6_4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0" name="Picture 49" descr="197_5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51" name="Picture 50" descr="293_4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2" name="Picture 51" descr="4_0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5775" y="4229437"/>
            <a:ext cx="25149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product form, gaseous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775" y="4397077"/>
            <a:ext cx="26279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segment is expected to witness the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775" y="4564717"/>
            <a:ext cx="9907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4607" y="4554938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92103" y="4564717"/>
            <a:ext cx="16249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 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775" y="473235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share by product form, the gaseous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" y="4899997"/>
            <a:ext cx="27444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segment is expected to dominate the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5067637"/>
            <a:ext cx="9596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3519" y="5057858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561015" y="506763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5500" y="5057858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5775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5775" y="545320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segment is projected to register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307" y="5611070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39803" y="5620849"/>
            <a:ext cx="27326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liquid Helium-3 segment 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578848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38575" y="4229437"/>
            <a:ext cx="12617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Gaseous Helium-3: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366" y="4219658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215862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5312" y="421965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242808" y="4229437"/>
            <a:ext cx="15034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segment.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38575" y="4447369"/>
            <a:ext cx="11242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Liquid Helium-3: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849" y="4437590"/>
            <a:ext cx="128699" cy="18719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78345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7795" y="4437590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105291" y="444736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Product Form segment is projected to grow at 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Product Form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Product Form mix within each country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Form mix within each country (share of 2036 value) · row label = country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Product Form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777865"/>
            <a:ext cx="112726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followed by liquid Helium-3 are expected to be the two most attractive product form segments in the Western Europe Helium-3 market in terms of value over the forecast period.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945505"/>
            <a:ext cx="36115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Gaseous Helium-3 and liquid Helium-3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747" y="593572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84243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137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89633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606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66102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996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71492" y="594550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896" y="5935726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93392" y="5945505"/>
            <a:ext cx="19697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113145"/>
            <a:ext cx="25184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line grow 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Product Form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Gaseous Helium-3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Liquid Helium-3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881" y="3674659"/>
            <a:ext cx="395643" cy="575481"/>
          </a:xfrm>
          <a:prstGeom prst="rect">
            <a:avLst/>
          </a:prstGeom>
        </p:spPr>
      </p:pic>
      <p:sp>
        <p:nvSpPr>
          <p:cNvPr id="17" name="lockshield_9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ckshield_12"/>
          <p:cNvSpPr/>
          <p:nvPr/>
        </p:nvSpPr>
        <p:spPr>
          <a:xfrm>
            <a:off x="6267450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Product Form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Product Form,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Product Form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4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591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Analysis, By Product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607" y="1589913"/>
            <a:ext cx="366712" cy="5333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2990850"/>
            <a:ext cx="30804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873" y="29806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80982" y="2990850"/>
            <a:ext cx="82718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liquid Helium-3 segment in 2036. Among Helium-3 by product form, gaseous Helium-3 segment is expected to witness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166110"/>
            <a:ext cx="12639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58" y="31558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4467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393947"/>
            <a:ext cx="69970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product form, the gaseous Helium-3 segment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409" y="33837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97518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661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67770" y="3393947"/>
            <a:ext cx="26876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liquid Helium-3 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3569207"/>
            <a:ext cx="11787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085" y="3558984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9194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99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41808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Product Form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Product Form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2382128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2377365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2301165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236307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4668318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4663556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4587356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464926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Read-out, By Product 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29550" y="1400175"/>
            <a:ext cx="38729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product form, gaseous Helium-3 segment 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50" y="1575435"/>
            <a:ext cx="24860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4711" y="156521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39820" y="157543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36755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 In terms of value share by product form, the gaseous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9550" y="1925955"/>
            <a:ext cx="38224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segment is expected to dominate the market, gaining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1143" y="1915731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29550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693" y="2090991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99802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9550" y="2329053"/>
            <a:ext cx="292018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liquid Helium-3 segment is expected to lose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885" y="2318829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73994" y="2329053"/>
            <a:ext cx="8298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504313"/>
            <a:ext cx="1851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 to account for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324" y="249408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05433" y="250431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3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Supply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Supply Source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Supply Source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Supply Source,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Supply Source segment categorizes the market by supply source.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Tritium-Decay-Derived Helium-3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Terrestrial Natural / Geological…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Supply Source split shows how demand is distributed across supply source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7" name="Picture 46" descr="465_6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48" name="Picture 47" descr="804_8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49" name="Picture 48" descr="5_6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0" name="Picture 49" descr="82_1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5194" y="2286582"/>
            <a:ext cx="982436" cy="361950"/>
          </a:xfrm>
          <a:prstGeom prst="rect">
            <a:avLst/>
          </a:prstGeom>
        </p:spPr>
      </p:pic>
      <p:pic>
        <p:nvPicPr>
          <p:cNvPr id="51" name="Picture 50" descr="138_8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2" name="Picture 51" descr="5_4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5775" y="4229437"/>
            <a:ext cx="197000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Among Helium-3 by supply source,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775" y="4390371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expected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775" y="4551305"/>
            <a:ext cx="175729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witness the highest CAGR of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0155" y="4541917"/>
            <a:ext cx="123551" cy="17971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350951" y="4551305"/>
            <a:ext cx="100791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775" y="4712240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period. In terms of value share by supply source,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" y="4873174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expected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5034109"/>
            <a:ext cx="18393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dominate the market, gaining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2157" y="5024721"/>
            <a:ext cx="123551" cy="17971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432953" y="5034109"/>
            <a:ext cx="51573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5775" y="5195043"/>
            <a:ext cx="8641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6964" y="5185655"/>
            <a:ext cx="123551" cy="17971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457760" y="5195043"/>
            <a:ext cx="87510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5775" y="5404258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Tritium-decay-derived Helium-3 segment is projected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5775" y="5565192"/>
            <a:ext cx="64119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to register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055" y="5555804"/>
            <a:ext cx="123551" cy="17971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234851" y="5565192"/>
            <a:ext cx="212428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X higher value than terrestrial natural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5775" y="5726126"/>
            <a:ext cx="22065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/ geological Helium-3 segment in 2036.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38575" y="4229437"/>
            <a:ext cx="20674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Tritium-Decay-Derived Helium-3: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4097" y="421965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21593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1043" y="4219658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048539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38575" y="4615009"/>
            <a:ext cx="25354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Terrestrial Natural / Geological Helium-3: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2037" y="4605230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489533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983" y="4605230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38575" y="478264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4875" y="5842641"/>
            <a:ext cx="31489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Supply Source segment is projected to grow 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24875" y="6017901"/>
            <a:ext cx="680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 CAGR of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4084" y="6007677"/>
            <a:ext cx="134549" cy="195707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329193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Supply Source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Supply Source mix within each country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Supply Source mix within each country (share of 2036 value) · row label = country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Supply Source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777865"/>
            <a:ext cx="116775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Tritium-decay-derived Helium-3 followed by terrestrial natural / geological Helium-3 are expected to be the two most attractive supply source segments in the Western Europe Helium-3 market in terms 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945505"/>
            <a:ext cx="75711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over the forecast period. Tritium-Decay-Derived Helium-3 and terrestrial natural / geological Helium-3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369" y="5935726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43864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759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49255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8228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125724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618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31114" y="5945505"/>
            <a:ext cx="7935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175" y="6113145"/>
            <a:ext cx="18573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601" y="6103366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230097" y="6113145"/>
            <a:ext cx="44437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 line grow faster than the segment average.</a:t>
            </a:r>
          </a:p>
        </p:txBody>
      </p:sp>
      <p:sp>
        <p:nvSpPr>
          <p:cNvPr id="30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ockshield_12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Supply Source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Tritium-Decay-Derived Helium-3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Terrestrial Natural / Geological Helium-3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881" y="3674659"/>
            <a:ext cx="395643" cy="575481"/>
          </a:xfrm>
          <a:prstGeom prst="rect">
            <a:avLst/>
          </a:prstGeom>
        </p:spPr>
      </p:pic>
      <p:sp>
        <p:nvSpPr>
          <p:cNvPr id="17" name="lockshield_9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ckshield_12"/>
          <p:cNvSpPr/>
          <p:nvPr/>
        </p:nvSpPr>
        <p:spPr>
          <a:xfrm>
            <a:off x="6267450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Supply Source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Supply Source,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Supply Source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2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261"/>
                <a:gridCol w="543796"/>
                <a:gridCol w="543796"/>
                <a:gridCol w="543796"/>
                <a:gridCol w="543796"/>
                <a:gridCol w="543796"/>
                <a:gridCol w="524641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61764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Supply Source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Analysis, By Supply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441" y="1589913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2990850"/>
            <a:ext cx="38966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984" y="29806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97093" y="2990850"/>
            <a:ext cx="67551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terrestrial natural / geological Helium-3 segment in 2036. Among Helium-3 by supply source,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166110"/>
            <a:ext cx="50627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084" y="31558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63193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393947"/>
            <a:ext cx="78393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supply source, the tritium-decay-derived Helium-3 segment is expected to dominate the market, gaining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763" y="33837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39873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016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10125" y="3393947"/>
            <a:ext cx="18242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terrestrial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3569207"/>
            <a:ext cx="34818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natural / geological Helium-3 segment 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225" y="3558984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82334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39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4948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Supply Source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Supply Source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2007502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200273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92653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Terrestrial Natural / Geological Helium-3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98845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4293692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428893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421273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Tritium-Decay-Derived Helium-3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427464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Read-out, By Supply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29550" y="1400175"/>
            <a:ext cx="40446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supply source, tritium-decay-derived Helium-3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50" y="15754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343" y="156521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10452" y="157543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37046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 In terms of value share by supply source, the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9550" y="1925955"/>
            <a:ext cx="39636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tritium-decay-derived Helium-3 segment is expected to dominate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9550" y="2101215"/>
            <a:ext cx="12314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market, gaining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182" y="209099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85291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0434" y="2090991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55543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2329053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terrestrial natural / geological Helium-3 segment is expected 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2504313"/>
            <a:ext cx="3166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lose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372" y="2494089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70482" y="250431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986" y="2494089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033096" y="2504313"/>
            <a:ext cx="579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2679573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45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Application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Application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4 sub-segments of Application,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Application segment categorizes the market by application.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Cryogenic Refrigeration and Ultra…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Nuclear Fusion Research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Neutron Detection and Radiation M…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Application split shows how demand is distributed across application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1" name="Picture 60" descr="293_6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330" y="2286582"/>
            <a:ext cx="1195728" cy="361950"/>
          </a:xfrm>
          <a:prstGeom prst="rect">
            <a:avLst/>
          </a:prstGeom>
        </p:spPr>
      </p:pic>
      <p:pic>
        <p:nvPicPr>
          <p:cNvPr id="62" name="Picture 61" descr="446_6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330" y="2779432"/>
            <a:ext cx="1195728" cy="361950"/>
          </a:xfrm>
          <a:prstGeom prst="rect">
            <a:avLst/>
          </a:prstGeom>
        </p:spPr>
      </p:pic>
      <p:pic>
        <p:nvPicPr>
          <p:cNvPr id="63" name="Picture 62" descr="4_3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976" y="3272281"/>
            <a:ext cx="982436" cy="361950"/>
          </a:xfrm>
          <a:prstGeom prst="rect">
            <a:avLst/>
          </a:prstGeom>
        </p:spPr>
      </p:pic>
      <p:pic>
        <p:nvPicPr>
          <p:cNvPr id="64" name="Picture 63" descr="121_7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218" y="2286582"/>
            <a:ext cx="1195728" cy="361950"/>
          </a:xfrm>
          <a:prstGeom prst="rect">
            <a:avLst/>
          </a:prstGeom>
        </p:spPr>
      </p:pic>
      <p:pic>
        <p:nvPicPr>
          <p:cNvPr id="65" name="Picture 64" descr="241_2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18" y="2779432"/>
            <a:ext cx="1195728" cy="361950"/>
          </a:xfrm>
          <a:prstGeom prst="rect">
            <a:avLst/>
          </a:prstGeom>
        </p:spPr>
      </p:pic>
      <p:pic>
        <p:nvPicPr>
          <p:cNvPr id="66" name="Picture 65" descr="7_1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64" y="3272281"/>
            <a:ext cx="982436" cy="361950"/>
          </a:xfrm>
          <a:prstGeom prst="rect">
            <a:avLst/>
          </a:prstGeom>
        </p:spPr>
      </p:pic>
      <p:pic>
        <p:nvPicPr>
          <p:cNvPr id="67" name="Picture 66" descr="72_0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0751" y="2286582"/>
            <a:ext cx="982436" cy="361950"/>
          </a:xfrm>
          <a:prstGeom prst="rect">
            <a:avLst/>
          </a:prstGeom>
        </p:spPr>
      </p:pic>
      <p:pic>
        <p:nvPicPr>
          <p:cNvPr id="68" name="Picture 67" descr="119_9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105" y="2779432"/>
            <a:ext cx="1195728" cy="361950"/>
          </a:xfrm>
          <a:prstGeom prst="rect">
            <a:avLst/>
          </a:prstGeom>
        </p:spPr>
      </p:pic>
      <p:pic>
        <p:nvPicPr>
          <p:cNvPr id="69" name="Picture 68" descr="5_2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0751" y="3272281"/>
            <a:ext cx="982436" cy="361950"/>
          </a:xfrm>
          <a:prstGeom prst="rect">
            <a:avLst/>
          </a:prstGeom>
        </p:spPr>
      </p:pic>
      <p:pic>
        <p:nvPicPr>
          <p:cNvPr id="70" name="Picture 69" descr="60_5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9638" y="2286582"/>
            <a:ext cx="982436" cy="361950"/>
          </a:xfrm>
          <a:prstGeom prst="rect">
            <a:avLst/>
          </a:prstGeom>
        </p:spPr>
      </p:pic>
      <p:pic>
        <p:nvPicPr>
          <p:cNvPr id="71" name="Picture 70" descr="135_8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2992" y="2779432"/>
            <a:ext cx="1195728" cy="361950"/>
          </a:xfrm>
          <a:prstGeom prst="rect">
            <a:avLst/>
          </a:prstGeom>
        </p:spPr>
      </p:pic>
      <p:pic>
        <p:nvPicPr>
          <p:cNvPr id="72" name="Picture 71" descr="8_4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9638" y="3272281"/>
            <a:ext cx="982436" cy="361950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0848" y="2827057"/>
            <a:ext cx="183356" cy="266700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9737" y="2827057"/>
            <a:ext cx="183356" cy="266700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624" y="2827057"/>
            <a:ext cx="183356" cy="266700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511" y="2827057"/>
            <a:ext cx="183356" cy="2667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5775" y="422943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application, neutron detection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5775" y="4397077"/>
            <a:ext cx="28467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radiation monitoring segment is expected to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5775" y="4564717"/>
            <a:ext cx="16750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witness the highest CAGR of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08919" y="4554938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276415" y="4564717"/>
            <a:ext cx="1046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4732357"/>
            <a:ext cx="29021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period. In terms of value share by application, the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5775" y="4899997"/>
            <a:ext cx="25433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segment is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5775" y="5067637"/>
            <a:ext cx="23888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losing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22716" y="5057858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990212" y="5067637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775" y="5235277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6057" y="522549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43553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5775" y="5453209"/>
            <a:ext cx="25512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segment 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562084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8376" y="5611070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845872" y="562084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cryogenic refrigeration and ultra-low-temperature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5775" y="5956129"/>
            <a:ext cx="14972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cooling segment in 2036.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38575" y="4229437"/>
            <a:ext cx="20688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Medical and Biomedical Imaging: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5461" y="4219658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02295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82407" y="421965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049903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38575" y="4615009"/>
            <a:ext cx="37236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● Cryogenic Refrigeration and Ultra-Low-Temperature Cooling: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0306" y="4605230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677802" y="4615009"/>
            <a:ext cx="1954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of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38575" y="4782649"/>
            <a:ext cx="7755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2026 value ·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62145" y="4772870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4729640" y="4782649"/>
            <a:ext cx="12846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E72AE"/>
                </a:solidFill>
                <a:latin typeface="Calibri"/>
              </a:rPr>
              <a:t>CAGR serves a niche.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38575" y="5000581"/>
            <a:ext cx="16224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Nuclear Fusion Research:</a:t>
            </a:r>
          </a:p>
        </p:txBody>
      </p:sp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09076" y="4990801"/>
            <a:ext cx="128699" cy="18719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5576572" y="500058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6022" y="499080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6603518" y="5000581"/>
            <a:ext cx="885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838575" y="5168221"/>
            <a:ext cx="4191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niche.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38575" y="5386153"/>
            <a:ext cx="27842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Neutron Detection and Radiation Monitoring: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0878" y="5376373"/>
            <a:ext cx="128699" cy="18719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738374" y="538615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7824" y="5376373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3838575" y="5553793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24875" y="5842641"/>
            <a:ext cx="3093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Application segment is projected to grow at 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Application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Application mix within each country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Application mix within each country (share of 2036 value) · row label = country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Application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694045"/>
            <a:ext cx="115146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Medical and biomedical imaging followed by cryogenic refrigeration and ultra-low-temperature cooling are expected to be the two most attractive application segments in the Western Europe Helium-3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861685"/>
            <a:ext cx="97727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in terms of value over the forecast period. Medical and biomedical imaging and cryogenic refrigeration and Ultra-Low-Temperature cooling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8008" y="5851905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45504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398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50894" y="5861685"/>
            <a:ext cx="11722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175" y="6029325"/>
            <a:ext cx="5332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index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52" y="6019545"/>
            <a:ext cx="128699" cy="18719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5948" y="602932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843" y="6019545"/>
            <a:ext cx="128699" cy="18719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1338" y="602932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5743" y="601954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033238" y="6029325"/>
            <a:ext cx="733214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nuclear fusion research segment is expected to be less attractive as compared to other segments over the forecast period,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175" y="6196965"/>
            <a:ext cx="748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owing to its lower CAGR and incremental opportunity. Bubbles right of the CAGR-Index line grow faster than the segment average.</a:t>
            </a:r>
          </a:p>
        </p:txBody>
      </p:sp>
      <p:sp>
        <p:nvSpPr>
          <p:cNvPr id="31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ockshield_12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Application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Neutron Detection and Radiation Monitoring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Cryogenic Refrigeration and Ultra-Low-Temperature Cooling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Medical and Biomedical Imaging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Nuclear Fusion Research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5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2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ckshield_15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8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Application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Application,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Application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197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6756"/>
                <a:gridCol w="489585"/>
                <a:gridCol w="489585"/>
                <a:gridCol w="489585"/>
                <a:gridCol w="489585"/>
                <a:gridCol w="489585"/>
                <a:gridCol w="472339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55606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067050"/>
            <a:ext cx="11906250" cy="35623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1527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Analysis, By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3909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476625"/>
            <a:ext cx="11639550" cy="30765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686" y="1837563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3486150"/>
            <a:ext cx="39182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Medical and biomedical imaging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663" y="3475926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18773" y="3486150"/>
            <a:ext cx="69713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cryogenic refrigeration and ultra-low-temperature cooling segment in 2036. Among Helium-3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3661410"/>
            <a:ext cx="65217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application, neutron detection and radiation monitoring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58" y="365118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22267" y="36614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3889247"/>
            <a:ext cx="763599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application, the medical and biomedical imaging segment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77" y="387902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36487" y="38892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630" y="38790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6739" y="388924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Application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Application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961859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95709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88089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Nuclear Fusion Research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94280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258157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5090922" y="257681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250061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Neutron Detection and Radiation Monitoring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256252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928997" y="3495083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5090922" y="349032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5233797" y="341412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Cryogenic Refrigeration and Ultra-Low-Temperature Cooling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896100" y="347603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928997" y="5161558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5090922" y="5156796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5233797" y="5080596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896100" y="514250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Read-out, By Application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29550" y="1400175"/>
            <a:ext cx="3923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application, neutron detection and radiation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9550" y="1575435"/>
            <a:ext cx="38500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monitoring segment is expected to witness the highest CAGR of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8795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29550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1978533"/>
            <a:ext cx="40132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application, the medical and biomedical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153793"/>
            <a:ext cx="3665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imaging segment is expected to dominate the market, losing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4539" y="214356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9550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693" y="2318829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99802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5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End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End User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End User Segment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6 sub-segments of End User, 2026–2036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End User segment categorizes the market by end user. Each sub-category is evaluated on market size, growth outlook and adoption trends across the forecast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690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6900" y="1992961"/>
            <a:ext cx="157162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500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Institutions and Univers…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690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86690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86690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2490788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282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52825" y="1992961"/>
            <a:ext cx="157162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092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Government and Defense Agencies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282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55282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55282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875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38750" y="1992961"/>
            <a:ext cx="1571625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85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Other End Users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875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23875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523875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5862638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2467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24675" y="1992961"/>
            <a:ext cx="1571625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277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Healthcare and Medical Research I…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2467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92467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92467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7548562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10600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10600" y="1992961"/>
            <a:ext cx="1571625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8700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Commercial and Industrial Enterpr…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10600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8610600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8610600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96525" y="1773916"/>
            <a:ext cx="1571625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96525" y="1992961"/>
            <a:ext cx="1571625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4625" y="1773916"/>
            <a:ext cx="149542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Independent Research Institutions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96525" y="22302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0296525" y="2723109"/>
            <a:ext cx="157162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0296525" y="3215959"/>
            <a:ext cx="157162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10920412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End User split shows how demand is distributed across end user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ACAC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75" name="Picture 74" descr="186_1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848" y="2286582"/>
            <a:ext cx="1195728" cy="361950"/>
          </a:xfrm>
          <a:prstGeom prst="rect">
            <a:avLst/>
          </a:prstGeom>
        </p:spPr>
      </p:pic>
      <p:pic>
        <p:nvPicPr>
          <p:cNvPr id="76" name="Picture 75" descr="311_1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4848" y="2779432"/>
            <a:ext cx="1195728" cy="361950"/>
          </a:xfrm>
          <a:prstGeom prst="rect">
            <a:avLst/>
          </a:prstGeom>
        </p:spPr>
      </p:pic>
      <p:pic>
        <p:nvPicPr>
          <p:cNvPr id="77" name="Picture 76" descr="5_3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94" y="3272281"/>
            <a:ext cx="982436" cy="361950"/>
          </a:xfrm>
          <a:prstGeom prst="rect">
            <a:avLst/>
          </a:prstGeom>
        </p:spPr>
      </p:pic>
      <p:pic>
        <p:nvPicPr>
          <p:cNvPr id="78" name="Picture 77" descr="140_3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79" name="Picture 78" descr="259_0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80" name="Picture 79" descr="6_3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81" name="Picture 80" descr="110_8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6698" y="2286582"/>
            <a:ext cx="1195728" cy="361950"/>
          </a:xfrm>
          <a:prstGeom prst="rect">
            <a:avLst/>
          </a:prstGeom>
        </p:spPr>
      </p:pic>
      <p:pic>
        <p:nvPicPr>
          <p:cNvPr id="82" name="Picture 81" descr="195_6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6698" y="2779432"/>
            <a:ext cx="1195728" cy="361950"/>
          </a:xfrm>
          <a:prstGeom prst="rect">
            <a:avLst/>
          </a:prstGeom>
        </p:spPr>
      </p:pic>
      <p:pic>
        <p:nvPicPr>
          <p:cNvPr id="83" name="Picture 82" descr="5_9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3344" y="3272281"/>
            <a:ext cx="982436" cy="361950"/>
          </a:xfrm>
          <a:prstGeom prst="rect">
            <a:avLst/>
          </a:prstGeom>
        </p:spPr>
      </p:pic>
      <p:pic>
        <p:nvPicPr>
          <p:cNvPr id="84" name="Picture 83" descr="68_1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9269" y="2286582"/>
            <a:ext cx="982436" cy="361950"/>
          </a:xfrm>
          <a:prstGeom prst="rect">
            <a:avLst/>
          </a:prstGeom>
        </p:spPr>
      </p:pic>
      <p:pic>
        <p:nvPicPr>
          <p:cNvPr id="85" name="Picture 84" descr="111_2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12623" y="2779432"/>
            <a:ext cx="1195728" cy="361950"/>
          </a:xfrm>
          <a:prstGeom prst="rect">
            <a:avLst/>
          </a:prstGeom>
        </p:spPr>
      </p:pic>
      <p:pic>
        <p:nvPicPr>
          <p:cNvPr id="86" name="Picture 85" descr="5_0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9269" y="3272281"/>
            <a:ext cx="982436" cy="361950"/>
          </a:xfrm>
          <a:prstGeom prst="rect">
            <a:avLst/>
          </a:prstGeom>
        </p:spPr>
      </p:pic>
      <p:pic>
        <p:nvPicPr>
          <p:cNvPr id="87" name="Picture 86" descr="23_5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5194" y="2286582"/>
            <a:ext cx="982436" cy="361950"/>
          </a:xfrm>
          <a:prstGeom prst="rect">
            <a:avLst/>
          </a:prstGeom>
        </p:spPr>
      </p:pic>
      <p:pic>
        <p:nvPicPr>
          <p:cNvPr id="88" name="Picture 87" descr="34_8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05194" y="2779432"/>
            <a:ext cx="982436" cy="361950"/>
          </a:xfrm>
          <a:prstGeom prst="rect">
            <a:avLst/>
          </a:prstGeom>
        </p:spPr>
      </p:pic>
      <p:pic>
        <p:nvPicPr>
          <p:cNvPr id="89" name="Picture 88" descr="4_0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90" name="Picture 89" descr="18_9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91119" y="2286582"/>
            <a:ext cx="982436" cy="361950"/>
          </a:xfrm>
          <a:prstGeom prst="rect">
            <a:avLst/>
          </a:prstGeom>
        </p:spPr>
      </p:pic>
      <p:pic>
        <p:nvPicPr>
          <p:cNvPr id="91" name="Picture 90" descr="31_8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91119" y="2779432"/>
            <a:ext cx="982436" cy="361950"/>
          </a:xfrm>
          <a:prstGeom prst="rect">
            <a:avLst/>
          </a:prstGeom>
        </p:spPr>
      </p:pic>
      <p:pic>
        <p:nvPicPr>
          <p:cNvPr id="92" name="Picture 91" descr="5_4_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91119" y="3272281"/>
            <a:ext cx="982436" cy="361950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59367" y="2827057"/>
            <a:ext cx="183356" cy="266700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45292" y="2827057"/>
            <a:ext cx="183356" cy="266700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31217" y="2827057"/>
            <a:ext cx="183356" cy="266700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7142" y="2827057"/>
            <a:ext cx="183356" cy="266700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03067" y="2827057"/>
            <a:ext cx="183356" cy="266700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88992" y="2827057"/>
            <a:ext cx="183356" cy="2667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85775" y="4229437"/>
            <a:ext cx="2734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Helium-3 by end user, government and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5775" y="4397077"/>
            <a:ext cx="28620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defense agencies segment is expected to witness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5775" y="4564717"/>
            <a:ext cx="12123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highest CAGR of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46163" y="4554938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813659" y="4564717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5775" y="4732357"/>
            <a:ext cx="28988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end user, the academic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5775" y="4899997"/>
            <a:ext cx="28393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institutions and universities segment is expected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5775" y="5067637"/>
            <a:ext cx="18350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dominate the market, losing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68827" y="5057858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2436323" y="5067637"/>
            <a:ext cx="534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5775" y="5235277"/>
            <a:ext cx="8969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30764" y="5225498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498259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5775" y="5453209"/>
            <a:ext cx="28699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 segment is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5775" y="562084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8376" y="5611070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845872" y="562084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5775" y="5788489"/>
            <a:ext cx="26846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government and defense agencies segment in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5775" y="595612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38575" y="4229437"/>
            <a:ext cx="230816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Academic Institutions and Universities: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3825" y="4220049"/>
            <a:ext cx="123551" cy="17971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6254621" y="4229437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9694" y="4220049"/>
            <a:ext cx="123551" cy="17971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7240490" y="4229437"/>
            <a:ext cx="382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38575" y="4390371"/>
            <a:ext cx="110954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38575" y="4599586"/>
            <a:ext cx="214052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Government and Defense Agencies: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26185" y="4590198"/>
            <a:ext cx="123551" cy="17971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6086981" y="4599586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12054" y="4590198"/>
            <a:ext cx="123551" cy="17971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072850" y="4599586"/>
            <a:ext cx="74202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grows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38575" y="4760520"/>
            <a:ext cx="47670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fastest.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38575" y="4969735"/>
            <a:ext cx="111321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Other End Users:</a:t>
            </a:r>
          </a:p>
        </p:txBody>
      </p:sp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98867" y="4960347"/>
            <a:ext cx="123551" cy="17971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5059663" y="4969735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84735" y="4960347"/>
            <a:ext cx="123551" cy="179710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6045531" y="4969735"/>
            <a:ext cx="121299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38575" y="5178949"/>
            <a:ext cx="275215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● Healthcare and Medical Research Institutions:</a:t>
            </a:r>
          </a:p>
        </p:txBody>
      </p:sp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37810" y="5169562"/>
            <a:ext cx="123551" cy="17971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6698606" y="5178949"/>
            <a:ext cx="89239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of 2026 value ·</a:t>
            </a:r>
          </a:p>
        </p:txBody>
      </p:sp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38084" y="5169562"/>
            <a:ext cx="123551" cy="17971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3838575" y="5339884"/>
            <a:ext cx="12362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6F3CC2"/>
                </a:solidFill>
                <a:latin typeface="Calibri"/>
              </a:rPr>
              <a:t>CAGR serves a niche.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38575" y="5549099"/>
            <a:ext cx="230266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Commercial and Industrial Enterprises:</a:t>
            </a:r>
          </a:p>
        </p:txBody>
      </p:sp>
      <p:pic>
        <p:nvPicPr>
          <p:cNvPr id="141" name="Picture 140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8325" y="5539711"/>
            <a:ext cx="123551" cy="179710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6249121" y="5549099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3" name="Picture 142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74193" y="5539711"/>
            <a:ext cx="123551" cy="17971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7234989" y="5549099"/>
            <a:ext cx="382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38575" y="5710033"/>
            <a:ext cx="87615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38575" y="5919248"/>
            <a:ext cx="210097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● Independent Research Institutions: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86633" y="5909860"/>
            <a:ext cx="123551" cy="17971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6047429" y="5919248"/>
            <a:ext cx="87799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72501" y="5909860"/>
            <a:ext cx="123551" cy="17971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033297" y="5919248"/>
            <a:ext cx="75879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serves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38575" y="6080182"/>
            <a:ext cx="50001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 niche.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524875" y="5842641"/>
            <a:ext cx="29392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End User segment is projected to grow at 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24875" y="6017901"/>
            <a:ext cx="5747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CAGR of</a:t>
            </a:r>
          </a:p>
        </p:txBody>
      </p:sp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48826" y="6007677"/>
            <a:ext cx="134549" cy="195707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223935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End User 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End User mix within each country and the attractiveness of each sub-segment on growth and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End User mix within each country (share of 2036 value) · row label = country size (US$ Mn), largest first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End User · Bubble size represents 2036 value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175" y="5694045"/>
            <a:ext cx="114331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Academic institutions and universities followed by government and defense agencies are expected to be the two most attractive end user segments in the Western Europe Helium-3 market in terms 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" y="5861685"/>
            <a:ext cx="75883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over the forecast period. Academic institutions and universities and government and defense agencies exhibit a CAGR index of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558" y="5851905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61054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948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66444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418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142914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0808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48304" y="5861685"/>
            <a:ext cx="7935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175" y="6029325"/>
            <a:ext cx="18573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segment average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601" y="601954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230097" y="6029325"/>
            <a:ext cx="95545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commercial and industrial enterprises segment is expected to be less attractive as compared to other segments over the forecast period, owing to its lower CAGR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175" y="6196965"/>
            <a:ext cx="60835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incremental opportunity. Bubbles right of the CAGR-Index line grow faster than the segment average.</a:t>
            </a:r>
          </a:p>
        </p:txBody>
      </p:sp>
      <p:sp>
        <p:nvSpPr>
          <p:cNvPr id="31" name="lockshield_9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ockshield_12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End User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End User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Government and Defense Agencies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Academic Institutions and Universities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Independent Research Institutions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Healthcare and Medical Research Institutions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ectangle 1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5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2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ckshield_15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8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End User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End User and the absolute $ opportunity each sub-segment adds,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Commercial and Industrial Enterprises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Other End Users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066800"/>
            <a:ext cx="5610225" cy="40762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Summary of Western Europe Absolute $ Opportunity Analysis, By End 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5550" y="1502995"/>
            <a:ext cx="561022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1588720"/>
            <a:ext cx="5610225" cy="496448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5550" y="1598245"/>
            <a:ext cx="55821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academic institutions and universities segment is anticipated to witness an increase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1773505"/>
            <a:ext cx="1977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422" y="1763281"/>
            <a:ext cx="134549" cy="1957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7531" y="1773505"/>
            <a:ext cx="50259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 terms of value as compared to 2026. The academic institutions and universities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5550" y="1948765"/>
            <a:ext cx="39559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create an incremental opportunity of US$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642" y="1938541"/>
            <a:ext cx="134549" cy="1957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385751" y="1948765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550" y="2124025"/>
            <a:ext cx="2256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from 2026 to 2036.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2351863"/>
            <a:ext cx="51137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government and defense agencies segment is expected to create an incremental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2527123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3647" y="2516899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38756" y="2527123"/>
            <a:ext cx="42383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Helium-3 market from 2026 to 2036. The other 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2702383"/>
            <a:ext cx="43036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users segment is expected to create an incremental opportunity of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8366" y="269215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33476" y="2702383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5550" y="2877643"/>
            <a:ext cx="2256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Helium-3 market from 2026 to 2036.</a:t>
            </a:r>
          </a:p>
        </p:txBody>
      </p:sp>
      <p:sp>
        <p:nvSpPr>
          <p:cNvPr id="37" name="lockshield_9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ockshield_12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End User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End User, 2021–2036, highlighting the sub-segments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End User (US$ Mn)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3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5650"/>
                <a:gridCol w="529296"/>
                <a:gridCol w="529296"/>
                <a:gridCol w="529296"/>
                <a:gridCol w="529296"/>
                <a:gridCol w="529296"/>
                <a:gridCol w="510652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60117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End User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32194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3552825"/>
            <a:ext cx="11906250" cy="3076575"/>
          </a:xfrm>
          <a:prstGeom prst="roundRect">
            <a:avLst>
              <a:gd name="adj" fmla="val 247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36385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Value Analysis, By End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387667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3962400"/>
            <a:ext cx="11639550" cy="25908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136" y="2080450"/>
            <a:ext cx="366712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3971925"/>
            <a:ext cx="42514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Academic institutions and universities segment is projected to register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840" y="396170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51949" y="3971925"/>
            <a:ext cx="71616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government and defense agencies segment in 2036. Among Helium-3 by end user, government 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" y="4147185"/>
            <a:ext cx="42095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defense agencies segment is expected to witness the highest CAGR of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90" y="4136961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09999" y="414718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4375022"/>
            <a:ext cx="78208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end user, the academic institutions and universities segment is expected to dominate the market, losing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222" y="4364799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1331" y="43750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474" y="43647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91584" y="437502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End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End User in 2021, 2026 and 2036, highlighting share shifts in basis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End User ·  2021 / 2026 / 2036 (US$ Mn)  ·  right axis = BPS share shift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A5F8F"/>
                </a:solidFill>
                <a:latin typeface="Calibri"/>
              </a:rPr>
              <a:t>BPS Δ  (2021→2036)</a:t>
            </a:r>
          </a:p>
        </p:txBody>
      </p:sp>
      <p:sp>
        <p:nvSpPr>
          <p:cNvPr id="11" name="TMR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MR Legend Chip"/>
          <p:cNvSpPr/>
          <p:nvPr/>
        </p:nvSpPr>
        <p:spPr>
          <a:xfrm>
            <a:off x="4928997" y="1748310"/>
            <a:ext cx="85725" cy="85725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090922" y="174354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PS Name 1"/>
          <p:cNvSpPr txBox="1"/>
          <p:nvPr/>
        </p:nvSpPr>
        <p:spPr>
          <a:xfrm>
            <a:off x="5233797" y="166734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Independent Research Institutions</a:t>
            </a:r>
          </a:p>
        </p:txBody>
      </p:sp>
      <p:sp>
        <p:nvSpPr>
          <p:cNvPr id="15" name="BPS Value 1"/>
          <p:cNvSpPr txBox="1"/>
          <p:nvPr/>
        </p:nvSpPr>
        <p:spPr>
          <a:xfrm>
            <a:off x="6896100" y="172926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6" name="TMR Legend Chip"/>
          <p:cNvSpPr/>
          <p:nvPr/>
        </p:nvSpPr>
        <p:spPr>
          <a:xfrm>
            <a:off x="4928997" y="1909736"/>
            <a:ext cx="85725" cy="85725"/>
          </a:xfrm>
          <a:prstGeom prst="rect">
            <a:avLst/>
          </a:prstGeom>
          <a:solidFill>
            <a:srgbClr val="F47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5090922" y="190497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PS Name 2"/>
          <p:cNvSpPr txBox="1"/>
          <p:nvPr/>
        </p:nvSpPr>
        <p:spPr>
          <a:xfrm>
            <a:off x="5233797" y="182877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Commercial and Industrial Enterprises</a:t>
            </a:r>
          </a:p>
        </p:txBody>
      </p:sp>
      <p:sp>
        <p:nvSpPr>
          <p:cNvPr id="19" name="BPS Value 2"/>
          <p:cNvSpPr txBox="1"/>
          <p:nvPr/>
        </p:nvSpPr>
        <p:spPr>
          <a:xfrm>
            <a:off x="6896100" y="189068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0" name="TMR Legend Chip"/>
          <p:cNvSpPr/>
          <p:nvPr/>
        </p:nvSpPr>
        <p:spPr>
          <a:xfrm>
            <a:off x="4928997" y="2263599"/>
            <a:ext cx="85725" cy="85725"/>
          </a:xfrm>
          <a:prstGeom prst="rect">
            <a:avLst/>
          </a:prstGeom>
          <a:solidFill>
            <a:srgbClr val="00A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5090922" y="225883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PS Name 3"/>
          <p:cNvSpPr txBox="1"/>
          <p:nvPr/>
        </p:nvSpPr>
        <p:spPr>
          <a:xfrm>
            <a:off x="5233797" y="218263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Healthcare and Medical Research Institutions</a:t>
            </a:r>
          </a:p>
        </p:txBody>
      </p:sp>
      <p:sp>
        <p:nvSpPr>
          <p:cNvPr id="23" name="BPS Value 3"/>
          <p:cNvSpPr txBox="1"/>
          <p:nvPr/>
        </p:nvSpPr>
        <p:spPr>
          <a:xfrm>
            <a:off x="6896100" y="224454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4" name="TMR Legend Chip"/>
          <p:cNvSpPr/>
          <p:nvPr/>
        </p:nvSpPr>
        <p:spPr>
          <a:xfrm>
            <a:off x="4928997" y="3007064"/>
            <a:ext cx="85725" cy="85725"/>
          </a:xfrm>
          <a:prstGeom prst="rect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5090922" y="300230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PS Name 4"/>
          <p:cNvSpPr txBox="1"/>
          <p:nvPr/>
        </p:nvSpPr>
        <p:spPr>
          <a:xfrm>
            <a:off x="5233797" y="292610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Other End Users</a:t>
            </a:r>
          </a:p>
        </p:txBody>
      </p:sp>
      <p:sp>
        <p:nvSpPr>
          <p:cNvPr id="27" name="BPS Value 4"/>
          <p:cNvSpPr txBox="1"/>
          <p:nvPr/>
        </p:nvSpPr>
        <p:spPr>
          <a:xfrm>
            <a:off x="6896100" y="298801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8" name="TMR Legend Chip"/>
          <p:cNvSpPr/>
          <p:nvPr/>
        </p:nvSpPr>
        <p:spPr>
          <a:xfrm>
            <a:off x="4928997" y="4108630"/>
            <a:ext cx="85725" cy="85725"/>
          </a:xfrm>
          <a:prstGeom prst="rect">
            <a:avLst/>
          </a:prstGeom>
          <a:solidFill>
            <a:srgbClr val="008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5090922" y="410386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PS Name 5"/>
          <p:cNvSpPr txBox="1"/>
          <p:nvPr/>
        </p:nvSpPr>
        <p:spPr>
          <a:xfrm>
            <a:off x="5233797" y="402766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Government and Defense Agencies</a:t>
            </a:r>
          </a:p>
        </p:txBody>
      </p:sp>
      <p:sp>
        <p:nvSpPr>
          <p:cNvPr id="31" name="BPS Value 5"/>
          <p:cNvSpPr txBox="1"/>
          <p:nvPr/>
        </p:nvSpPr>
        <p:spPr>
          <a:xfrm>
            <a:off x="6896100" y="408958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2" name="TMR Legend Chip"/>
          <p:cNvSpPr/>
          <p:nvPr/>
        </p:nvSpPr>
        <p:spPr>
          <a:xfrm>
            <a:off x="4928997" y="5489929"/>
            <a:ext cx="85725" cy="85725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5090922" y="548516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PS Name 6"/>
          <p:cNvSpPr txBox="1"/>
          <p:nvPr/>
        </p:nvSpPr>
        <p:spPr>
          <a:xfrm>
            <a:off x="5233797" y="540896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Academic Institutions and Universities</a:t>
            </a:r>
          </a:p>
        </p:txBody>
      </p:sp>
      <p:sp>
        <p:nvSpPr>
          <p:cNvPr id="35" name="BPS Value 6"/>
          <p:cNvSpPr txBox="1"/>
          <p:nvPr/>
        </p:nvSpPr>
        <p:spPr>
          <a:xfrm>
            <a:off x="6896100" y="547087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Western Europe Read-out, By End User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29550" y="1400175"/>
            <a:ext cx="39085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Helium-3 by end user, government and defense agencies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15754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343" y="1565211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110452" y="157543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550" y="1750695"/>
            <a:ext cx="10172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9550" y="1978533"/>
            <a:ext cx="39861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end user, the academic institutions 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9550" y="2153793"/>
            <a:ext cx="38777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universities segment is expected to dominate the market, losing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470" y="2318829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90579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722" y="2318829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0832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4" name="lockshield_9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4604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295084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Country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5695"/>
            <a:ext cx="7124700" cy="1985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Overview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Segment Overview (Volume &amp; Value)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Product Form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Supply Source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End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Overview (Volume &amp;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Segments (Value)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Volume Overview (Litres)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the Germany market in volume: size, growth, YoY momentum and gap to the Global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2025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estimate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27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(LITRES)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forecast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26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H-CAGR (2021–2025)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25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F-CAGR (2026–2036)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819275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8764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Volume (Litres), 2021–2036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2105025"/>
          <a:ext cx="4505325" cy="1438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991100" y="1819275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6350" y="18764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Comparison &amp; Growth Deviation from Regional Benchmark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086350" y="2105025"/>
          <a:ext cx="2880360" cy="14382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42910" y="2124075"/>
            <a:ext cx="3901440" cy="7048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2200" b="1">
                <a:solidFill>
                  <a:srgbClr val="00ACAC"/>
                </a:solidFill>
                <a:latin typeface="Calibri"/>
              </a:rPr>
              <a:t> </a:t>
            </a:r>
          </a:p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Western Europe benchmark</a:t>
            </a:r>
          </a:p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▲ above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2910" y="2867025"/>
            <a:ext cx="3901440" cy="6381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3733800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125" y="3790950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Forecast Build-up 2026–2036 (Litres)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38125" y="4019550"/>
          <a:ext cx="4505325" cy="14382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991100" y="3733800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6350" y="3790950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Market Share, 2026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086350" y="4019550"/>
          <a:ext cx="6858000" cy="14382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142875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044" y="1219200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944" y="1219200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844" y="1303020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744" y="1303020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2661285"/>
            <a:ext cx="165021" cy="24003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365" y="2599095"/>
            <a:ext cx="191595" cy="278683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378" y="2141220"/>
            <a:ext cx="230504" cy="335279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4575810"/>
            <a:ext cx="165021" cy="240030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708" y="4462938"/>
            <a:ext cx="261282" cy="38004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71485" y="2876550"/>
            <a:ext cx="23089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Germany's helium-3 market expands at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8480" y="2866771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495976" y="2876550"/>
            <a:ext cx="12328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through 2036,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1485" y="3044190"/>
            <a:ext cx="26396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outpacing the Western Europe benchmark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9177" y="3034411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26672" y="3044190"/>
            <a:ext cx="212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7623" y="3034411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55118" y="304419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175" y="5966460"/>
            <a:ext cx="9367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holds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00" y="5956680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09496" y="5966460"/>
            <a:ext cx="10350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and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2548" y="5956680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460044" y="5966460"/>
            <a:ext cx="3006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helium-3 market in 2026; 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175" y="6134100"/>
            <a:ext cx="16109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 those shares move to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6216" y="6124320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983712" y="6134100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1606" y="6124320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389102" y="6134100"/>
            <a:ext cx="7937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86500" y="5966460"/>
            <a:ext cx="1586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build-up adds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1530" y="5956680"/>
            <a:ext cx="128699" cy="18719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989026" y="5966460"/>
            <a:ext cx="35375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Litres between 2026 and 2036 the Germany market grows to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4673" y="5956680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642168" y="5966460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86500" y="6134100"/>
            <a:ext cx="17556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its 2026 size over the decade.</a:t>
            </a:r>
          </a:p>
        </p:txBody>
      </p:sp>
      <p:sp>
        <p:nvSpPr>
          <p:cNvPr id="62" name="lockshield_13"/>
          <p:cNvSpPr/>
          <p:nvPr/>
        </p:nvSpPr>
        <p:spPr>
          <a:xfrm>
            <a:off x="238125" y="2105025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ockshield_16"/>
          <p:cNvSpPr/>
          <p:nvPr/>
        </p:nvSpPr>
        <p:spPr>
          <a:xfrm>
            <a:off x="5086350" y="2105025"/>
            <a:ext cx="288036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21"/>
          <p:cNvSpPr/>
          <p:nvPr/>
        </p:nvSpPr>
        <p:spPr>
          <a:xfrm>
            <a:off x="238125" y="4019550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ockshield_24"/>
          <p:cNvSpPr/>
          <p:nvPr/>
        </p:nvSpPr>
        <p:spPr>
          <a:xfrm>
            <a:off x="5086350" y="4019550"/>
            <a:ext cx="685800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Value Overview (US$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the Germany market in value: size, growth, YoY momentum and gap to the Global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2025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estimate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27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forecast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26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H-CAGR (2021–2025)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25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F-CAGR (2026–2036)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819275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8764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 (US$ Mn), 2021–2036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2105025"/>
          <a:ext cx="4505325" cy="1438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991100" y="1819275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6350" y="18764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Comparison &amp; Growth Deviation from Regional Benchmark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086350" y="2105025"/>
          <a:ext cx="2880360" cy="14382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42910" y="2124075"/>
            <a:ext cx="3901440" cy="7048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2200" b="1">
                <a:solidFill>
                  <a:srgbClr val="00ACAC"/>
                </a:solidFill>
                <a:latin typeface="Calibri"/>
              </a:rPr>
              <a:t> </a:t>
            </a:r>
          </a:p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Western Europe benchmark</a:t>
            </a:r>
          </a:p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▲ above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2910" y="2867025"/>
            <a:ext cx="3901440" cy="6381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3733800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125" y="3790950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Forecast Build-up 2026–2036 (US$ Mn)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38125" y="4019550"/>
          <a:ext cx="4505325" cy="14382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991100" y="3733800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6350" y="3790950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Market Share, 2026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086350" y="4019550"/>
          <a:ext cx="6858000" cy="14382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142875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044" y="1219200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944" y="1219200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844" y="1303020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744" y="1303020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2661285"/>
            <a:ext cx="165021" cy="24003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365" y="2599095"/>
            <a:ext cx="191595" cy="278683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378" y="2141220"/>
            <a:ext cx="230504" cy="335279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4575810"/>
            <a:ext cx="165021" cy="240030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708" y="4462938"/>
            <a:ext cx="261282" cy="38004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71485" y="2876550"/>
            <a:ext cx="23089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Germany's helium-3 market expands at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8480" y="2866771"/>
            <a:ext cx="128699" cy="18719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495976" y="2876550"/>
            <a:ext cx="12328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through 2036,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1485" y="3044190"/>
            <a:ext cx="26396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outpacing the Western Europe benchmark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9177" y="3034411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26672" y="3044190"/>
            <a:ext cx="212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7623" y="3034411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55118" y="304419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175" y="5966460"/>
            <a:ext cx="9367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holds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00" y="5956680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09496" y="5966460"/>
            <a:ext cx="10350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and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2548" y="5956680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460044" y="5966460"/>
            <a:ext cx="3006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helium-3 market in 2026; 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175" y="6134100"/>
            <a:ext cx="16109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 those shares move to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6216" y="6124320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983712" y="6134100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1606" y="6124320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389102" y="6134100"/>
            <a:ext cx="7937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86500" y="5882640"/>
            <a:ext cx="31790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in Germany is expected to account for US$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3619" y="5872860"/>
            <a:ext cx="128699" cy="18719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581115" y="5882640"/>
            <a:ext cx="14955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4723" y="5872860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192219" y="5882640"/>
            <a:ext cx="5528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86500" y="6050280"/>
            <a:ext cx="474932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period. Germany is expected to create an incremental opportunity of US$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3880" y="6040501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151376" y="6050280"/>
            <a:ext cx="6873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for the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86500" y="6217920"/>
            <a:ext cx="25796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overall Helium-3 market from 2025 to 2036.</a:t>
            </a:r>
          </a:p>
        </p:txBody>
      </p:sp>
      <p:sp>
        <p:nvSpPr>
          <p:cNvPr id="65" name="lockshield_13"/>
          <p:cNvSpPr/>
          <p:nvPr/>
        </p:nvSpPr>
        <p:spPr>
          <a:xfrm>
            <a:off x="238125" y="2105025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ockshield_16"/>
          <p:cNvSpPr/>
          <p:nvPr/>
        </p:nvSpPr>
        <p:spPr>
          <a:xfrm>
            <a:off x="5086350" y="2105025"/>
            <a:ext cx="288036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ockshield_21"/>
          <p:cNvSpPr/>
          <p:nvPr/>
        </p:nvSpPr>
        <p:spPr>
          <a:xfrm>
            <a:off x="238125" y="4019550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ckshield_24"/>
          <p:cNvSpPr/>
          <p:nvPr/>
        </p:nvSpPr>
        <p:spPr>
          <a:xfrm>
            <a:off x="5086350" y="4019550"/>
            <a:ext cx="685800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Key Segments Overview, By Value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Germany's key segments by value, highlighting the leading sub-segment of every segmentation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2857500" cy="37909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Product Form 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2667000" cy="34480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152775" y="981075"/>
            <a:ext cx="2857500" cy="37909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80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Supply Source 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248025" y="1266825"/>
          <a:ext cx="2667000" cy="34480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62675" y="981075"/>
            <a:ext cx="2857500" cy="37909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79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Application 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57925" y="1266825"/>
          <a:ext cx="2667000" cy="344805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172575" y="981075"/>
            <a:ext cx="2857500" cy="37909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78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End User 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9267825" y="1266825"/>
          <a:ext cx="2667000" cy="344805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142875" y="4905375"/>
            <a:ext cx="119062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9911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52292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5314950"/>
            <a:ext cx="11639550" cy="12287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1655" y="2771775"/>
            <a:ext cx="183356" cy="2667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1555" y="2771775"/>
            <a:ext cx="183356" cy="2667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1455" y="2771775"/>
            <a:ext cx="183356" cy="2667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1355" y="2771775"/>
            <a:ext cx="183356" cy="2667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6225" y="5000625"/>
            <a:ext cx="146803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0E2A5C"/>
                </a:solidFill>
                <a:latin typeface="Calibri"/>
              </a:rPr>
              <a:t>Key Takeaways · 2026 Total: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8698" y="4992303"/>
            <a:ext cx="109510" cy="1592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831222" y="5000625"/>
            <a:ext cx="46508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0E2A5C"/>
                </a:solidFill>
                <a:latin typeface="Calibri"/>
              </a:rPr>
              <a:t>US$ Mn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5324475"/>
            <a:ext cx="27399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Product Form, 'Gaseous Helium-3' leads at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275" y="5314695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131771" y="5324475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9351" y="5314695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46847" y="5324475"/>
            <a:ext cx="20581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'Liquid Helium-3' (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3093" y="5314695"/>
            <a:ext cx="128699" cy="18719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20588" y="5324475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5542407"/>
            <a:ext cx="35684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Supply Source, 'Tritium-Decay-Derived Helium-3' leads at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2682" y="5532627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960178" y="5542407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759" y="5532627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675254" y="5542407"/>
            <a:ext cx="34693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'Terrestrial Natural / Geological Helium-3' (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688" y="5532627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60184" y="5542407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5760339"/>
            <a:ext cx="34136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Application, 'Medical and Biomedical Imaging' leads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7975" y="5750559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805471" y="5760339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3052" y="5750559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520548" y="5760339"/>
            <a:ext cx="45850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'Cryogenic Refrigeration and Ultra-Low-Temperature Cooling' (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3671" y="5750559"/>
            <a:ext cx="128699" cy="18719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221167" y="5760339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978271"/>
            <a:ext cx="36112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By End User, 'Academic Institutions and Universities' leads at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5520" y="5968491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003015" y="5978271"/>
            <a:ext cx="599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0596" y="5968491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18092" y="5978271"/>
            <a:ext cx="31605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ahead of 'Government and Defense Agencies' (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6658" y="5968491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994154" y="5978271"/>
            <a:ext cx="603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6225" y="6196203"/>
            <a:ext cx="66778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Use the Country slicer in the top band to switch country the selection stays synced across every page of the report.</a:t>
            </a:r>
          </a:p>
        </p:txBody>
      </p:sp>
      <p:sp>
        <p:nvSpPr>
          <p:cNvPr id="61" name="lockshield_9"/>
          <p:cNvSpPr/>
          <p:nvPr/>
        </p:nvSpPr>
        <p:spPr>
          <a:xfrm>
            <a:off x="238125" y="1266825"/>
            <a:ext cx="2667000" cy="34480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ockshield_12"/>
          <p:cNvSpPr/>
          <p:nvPr/>
        </p:nvSpPr>
        <p:spPr>
          <a:xfrm>
            <a:off x="3248025" y="1266825"/>
            <a:ext cx="2667000" cy="34480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ockshield_15"/>
          <p:cNvSpPr/>
          <p:nvPr/>
        </p:nvSpPr>
        <p:spPr>
          <a:xfrm>
            <a:off x="6257925" y="1266825"/>
            <a:ext cx="2667000" cy="34480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18"/>
          <p:cNvSpPr/>
          <p:nvPr/>
        </p:nvSpPr>
        <p:spPr>
          <a:xfrm>
            <a:off x="9267825" y="1266825"/>
            <a:ext cx="2667000" cy="34480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Segment Overview (Volume &amp;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Form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Supply Source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End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12.1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Product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Segmental Analysis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Product Form: growth contribution, share variance and absolute $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Product Form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Product Form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38250"/>
          <a:ext cx="585787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845"/>
                <a:gridCol w="1121508"/>
                <a:gridCol w="1121508"/>
                <a:gridCol w="1121508"/>
                <a:gridCol w="112150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Product Form (US$ Mn), between 2026–2036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9896" y="2237613"/>
            <a:ext cx="366712" cy="53340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7" name="lockshield_9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6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Tables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Product Form, 2021–2036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Product Form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4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591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  <a:gridCol w="62038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607" y="158991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12.2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Supply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Segmental Analysis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Supply Source: growth contribution, share variance and absolute $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Supply Source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Supply Source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38250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7570"/>
                <a:gridCol w="807060"/>
                <a:gridCol w="807060"/>
                <a:gridCol w="1019230"/>
                <a:gridCol w="57695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Supply Source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Supply Source (US$ Mn), between 2026–2036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046" y="2239453"/>
            <a:ext cx="364181" cy="529718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7" name="lockshield_9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6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Tables Supply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Supply Source, 2021–2036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Supply Source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2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261"/>
                <a:gridCol w="543796"/>
                <a:gridCol w="543796"/>
                <a:gridCol w="543796"/>
                <a:gridCol w="543796"/>
                <a:gridCol w="543796"/>
                <a:gridCol w="524641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519168"/>
                <a:gridCol w="61764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Supply Source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Tritium-Decay-Derived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Terrestrial Natural / Geological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441" y="158991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Segmental Analysis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Application: growth contribution, share variance and absolute $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Application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Application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38250"/>
          <a:ext cx="5857874" cy="2285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0036"/>
                <a:gridCol w="503260"/>
                <a:gridCol w="503260"/>
                <a:gridCol w="674560"/>
                <a:gridCol w="456758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46177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6177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46177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6177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Application (US$ Mn), between 2026–2036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2659" y="2360675"/>
            <a:ext cx="330041" cy="48006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7" name="lockshield_9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6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Tables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Application, 2021–2036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Application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7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6756"/>
                <a:gridCol w="489585"/>
                <a:gridCol w="489585"/>
                <a:gridCol w="489585"/>
                <a:gridCol w="489585"/>
                <a:gridCol w="489585"/>
                <a:gridCol w="472339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467411"/>
                <a:gridCol w="55606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Neutron Detection and Radiation Monitoring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Cryogenic Refrigeration and Ultra-Low-Temperature Cooling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Medical and Biomedical Imaging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Nuclear Fusion 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686" y="1837563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End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Segmental Analysis End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End User: growth contribution, share variance and absolute $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End User (US$ Mn)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End User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81725" y="1238250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2164"/>
                <a:gridCol w="758676"/>
                <a:gridCol w="758676"/>
                <a:gridCol w="960382"/>
                <a:gridCol w="547978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End User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784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End User (US$ Mn), between 2026–2036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469" y="2356026"/>
            <a:ext cx="336434" cy="489359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7" name="lockshield_9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6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Helium-3 Market Tables End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End User, 2021–2036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End User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3" cy="1971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5650"/>
                <a:gridCol w="529296"/>
                <a:gridCol w="529296"/>
                <a:gridCol w="529296"/>
                <a:gridCol w="529296"/>
                <a:gridCol w="529296"/>
                <a:gridCol w="510652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505325"/>
                <a:gridCol w="60117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End User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Government and Defense Agencies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Academic Institutions and Universities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Independent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Healthcare and Medical Research Institutions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Commercial and Industrial Enterprises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End Users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50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2194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136" y="2080450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Pricing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13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Product Pricing &amp; Regional Price Index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3691.2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4087.1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4483.0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9825" y="1927636"/>
            <a:ext cx="0" cy="604112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190750" y="1927636"/>
            <a:ext cx="438150" cy="604112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225" y="1775236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3566301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5025" y="2813347"/>
            <a:ext cx="0" cy="514367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95950" y="2813347"/>
            <a:ext cx="438150" cy="514367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2425" y="2660947"/>
            <a:ext cx="3505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2425" y="3566301"/>
            <a:ext cx="35052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Region vs Global Price Trend (2026–2036)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9125" y="4518482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9125" y="488389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9125" y="561470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" y="5980114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9125" y="4518482"/>
            <a:ext cx="0" cy="1461632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" y="4518482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0550" y="488389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90550" y="524929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0550" y="561470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0550" y="5980114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MR Scale tick"/>
          <p:cNvSpPr txBox="1"/>
          <p:nvPr/>
        </p:nvSpPr>
        <p:spPr>
          <a:xfrm>
            <a:off x="219075" y="4451807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+13%</a:t>
            </a:r>
          </a:p>
        </p:txBody>
      </p:sp>
      <p:sp>
        <p:nvSpPr>
          <p:cNvPr id="35" name="TMR Scale tick"/>
          <p:cNvSpPr txBox="1"/>
          <p:nvPr/>
        </p:nvSpPr>
        <p:spPr>
          <a:xfrm>
            <a:off x="219075" y="4817215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+6%</a:t>
            </a:r>
          </a:p>
        </p:txBody>
      </p:sp>
      <p:sp>
        <p:nvSpPr>
          <p:cNvPr id="36" name="TMR Scale tick"/>
          <p:cNvSpPr txBox="1"/>
          <p:nvPr/>
        </p:nvSpPr>
        <p:spPr>
          <a:xfrm>
            <a:off x="219075" y="518262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37" name="TMR Scale tick"/>
          <p:cNvSpPr txBox="1"/>
          <p:nvPr/>
        </p:nvSpPr>
        <p:spPr>
          <a:xfrm>
            <a:off x="219075" y="5548031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-6%</a:t>
            </a:r>
          </a:p>
        </p:txBody>
      </p:sp>
      <p:sp>
        <p:nvSpPr>
          <p:cNvPr id="38" name="TMR Scale tick"/>
          <p:cNvSpPr txBox="1"/>
          <p:nvPr/>
        </p:nvSpPr>
        <p:spPr>
          <a:xfrm>
            <a:off x="219075" y="5913439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-13%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93989" y="4614107"/>
            <a:ext cx="457200" cy="63519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MR Data Label"/>
          <p:cNvSpPr txBox="1"/>
          <p:nvPr/>
        </p:nvSpPr>
        <p:spPr>
          <a:xfrm>
            <a:off x="619125" y="4471232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00918" y="5105130"/>
            <a:ext cx="457200" cy="14416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MR Data Label"/>
          <p:cNvSpPr txBox="1"/>
          <p:nvPr/>
        </p:nvSpPr>
        <p:spPr>
          <a:xfrm>
            <a:off x="1626054" y="4962255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7846" y="5249298"/>
            <a:ext cx="457200" cy="243560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MR Data Label"/>
          <p:cNvSpPr txBox="1"/>
          <p:nvPr/>
        </p:nvSpPr>
        <p:spPr>
          <a:xfrm>
            <a:off x="2632982" y="550238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14775" y="5249298"/>
            <a:ext cx="457200" cy="307007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MR Data Label"/>
          <p:cNvSpPr txBox="1"/>
          <p:nvPr/>
        </p:nvSpPr>
        <p:spPr>
          <a:xfrm>
            <a:off x="3639911" y="5565830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21704" y="4710856"/>
            <a:ext cx="457200" cy="53844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MR Data Label"/>
          <p:cNvSpPr txBox="1"/>
          <p:nvPr/>
        </p:nvSpPr>
        <p:spPr>
          <a:xfrm>
            <a:off x="4646839" y="4567981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28632" y="4816972"/>
            <a:ext cx="457200" cy="43232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MR Data Label"/>
          <p:cNvSpPr txBox="1"/>
          <p:nvPr/>
        </p:nvSpPr>
        <p:spPr>
          <a:xfrm>
            <a:off x="5653768" y="4674097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2" name="TMR Data Label"/>
          <p:cNvSpPr txBox="1"/>
          <p:nvPr/>
        </p:nvSpPr>
        <p:spPr>
          <a:xfrm>
            <a:off x="6660696" y="5097812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125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6054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2982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39911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46839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3768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0696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475" y="1748312"/>
            <a:ext cx="128699" cy="187198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675" y="2634023"/>
            <a:ext cx="128699" cy="187198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40" y="4444308"/>
            <a:ext cx="128699" cy="187198"/>
          </a:xfrm>
          <a:prstGeom prst="rect">
            <a:avLst/>
          </a:prstGeom>
        </p:spPr>
      </p:pic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168" y="4935330"/>
            <a:ext cx="128699" cy="187198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097" y="5475459"/>
            <a:ext cx="128699" cy="187198"/>
          </a:xfrm>
          <a:prstGeom prst="rect">
            <a:avLst/>
          </a:prstGeom>
        </p:spPr>
      </p:pic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026" y="5538906"/>
            <a:ext cx="128699" cy="187198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954" y="4541057"/>
            <a:ext cx="128699" cy="187198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83" y="4647173"/>
            <a:ext cx="128699" cy="187198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811" y="5070888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048625" y="1736673"/>
            <a:ext cx="36789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chart shows global average pricing of key product form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8625" y="1911934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types in USD, harmonised across regions. Each candlestick spans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8625" y="2087194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minimum-to-maximum observed price within the base year,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8625" y="2262454"/>
            <a:ext cx="34062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giving a clear read of price range and market dispersion.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8625" y="2490292"/>
            <a:ext cx="37930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Wider bodies mark a larger gap between opening and closing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8625" y="2665551"/>
            <a:ext cx="35682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levels 'Gaseous Helium-3' shows the most movement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8625" y="2840811"/>
            <a:ext cx="1931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(+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933" y="2830588"/>
            <a:ext cx="134549" cy="19570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366042" y="2840811"/>
            <a:ext cx="21069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and 'Liquid Helium-3' the least (+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2118" y="2830588"/>
            <a:ext cx="134549" cy="195707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0597228" y="2840811"/>
            <a:ext cx="736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variability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8625" y="3016071"/>
            <a:ext cx="366811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stakeholders should monitor when planning procurement 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48625" y="3191331"/>
            <a:ext cx="5154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pricing.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8625" y="3419169"/>
            <a:ext cx="37186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lower chart indexes region-level price movement to the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48625" y="3594429"/>
            <a:ext cx="37166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base year, applied consistently across the horizon to strip out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48625" y="3769689"/>
            <a:ext cx="36932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year-on-year inflationary volatility and reveal structural price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8625" y="3944949"/>
            <a:ext cx="431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shifts.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48625" y="4172787"/>
            <a:ext cx="23402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Region price indices diverge by up to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039" y="4162564"/>
            <a:ext cx="134549" cy="195707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513148" y="4172787"/>
            <a:ext cx="11875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between 2026 and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8625" y="4348047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2036: higher-priced regions start higher and grow steadily, while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8625" y="4523307"/>
            <a:ext cx="34547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lower-priced regions start lower and converge, reflecting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48625" y="4698567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catch-up growth.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Pricing Assessment: By Product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(US$/Litres) by product form, 2021 to 2036, with 2026 price index and growth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Form, 2021 to 2036 (US$/Litres)</a:t>
            </a:r>
          </a:p>
        </p:txBody>
      </p:sp>
      <p:graphicFrame>
        <p:nvGraphicFramePr>
          <p:cNvPr id="10" name="TMR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/>
            </a:r>
          </a:p>
        </p:txBody>
      </p:sp>
      <p:graphicFrame>
        <p:nvGraphicFramePr>
          <p:cNvPr id="14" name="TMR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4617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Form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Gaseous Helium-3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Liquid Helium-3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Global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TMR analysis. Average price = market value (US$) / market volume (Litres). 2021 to 2025 historical, 2026 to 2036 forecast.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3571" y="4117466"/>
            <a:ext cx="330041" cy="4800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1110615"/>
            <a:ext cx="4549378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Gaseous Helium-3 commands the highest 2026 price point at US$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319" y="1099058"/>
            <a:ext cx="152098" cy="22123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11268" y="1110615"/>
            <a:ext cx="684361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/Litres, a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091" y="1099058"/>
            <a:ext cx="152098" cy="221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46040" y="1110615"/>
            <a:ext cx="2213471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premium over Liquid Helium-3.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1602867"/>
            <a:ext cx="2164334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2026 Price Index vs Global Average (=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620" y="1593461"/>
            <a:ext cx="123784" cy="1800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267721" y="1602867"/>
            <a:ext cx="118189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76" y="5530976"/>
            <a:ext cx="314325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Gaseous Helium-3 sits at the top of the 2026 price ladder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76" y="5690996"/>
            <a:ext cx="81535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at an index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881" y="5681662"/>
            <a:ext cx="122849" cy="17868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28763" y="5690996"/>
            <a:ext cx="1830065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 while Liquid Helium-3 trades at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777" y="5681662"/>
            <a:ext cx="122849" cy="17868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665660" y="5690996"/>
            <a:ext cx="10953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76" y="5851016"/>
            <a:ext cx="2682775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which keeps the full product form spread within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302" y="5841682"/>
            <a:ext cx="122849" cy="1786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596184" y="5851016"/>
            <a:ext cx="10979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32401" y="5530976"/>
            <a:ext cx="294088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Gaseous Helium-3 posts the fastest price growth at a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231" y="5521642"/>
            <a:ext cx="122849" cy="17868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732401" y="5690996"/>
            <a:ext cx="261191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CAGR between 2026 and 2036, compared with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1267" y="5681662"/>
            <a:ext cx="122849" cy="17868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51149" y="5690996"/>
            <a:ext cx="2337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32401" y="5851016"/>
            <a:ext cx="96381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Liquid Helium-3.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8225" y="5530976"/>
            <a:ext cx="223584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The Global average price rises from US$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1019" y="5521642"/>
            <a:ext cx="122849" cy="17868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000901" y="5530976"/>
            <a:ext cx="555426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/Litres 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8225" y="5690996"/>
            <a:ext cx="73722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2026 to US$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2394" y="5681662"/>
            <a:ext cx="122849" cy="17868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502276" y="5690996"/>
            <a:ext cx="228350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/Litres in 2036, and the gap between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58225" y="5851016"/>
            <a:ext cx="29007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highest and lowest priced product form moves from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5946" y="5841682"/>
            <a:ext cx="122849" cy="1786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58225" y="6011036"/>
            <a:ext cx="623403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 2021 to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578" y="6001702"/>
            <a:ext cx="122849" cy="17868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388460" y="6011036"/>
            <a:ext cx="5116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 2036.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190" y="3048804"/>
            <a:ext cx="454926" cy="661711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3270" y="2219134"/>
            <a:ext cx="256698" cy="373379"/>
          </a:xfrm>
          <a:prstGeom prst="rect">
            <a:avLst/>
          </a:prstGeom>
        </p:spPr>
      </p:pic>
      <p:sp>
        <p:nvSpPr>
          <p:cNvPr id="68" name="lockshield_10"/>
          <p:cNvSpPr/>
          <p:nvPr/>
        </p:nvSpPr>
        <p:spPr>
          <a:xfrm>
            <a:off x="347472" y="1831467"/>
            <a:ext cx="6309360" cy="318211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ckshield_14"/>
          <p:cNvSpPr/>
          <p:nvPr/>
        </p:nvSpPr>
        <p:spPr>
          <a:xfrm>
            <a:off x="6903720" y="1785747"/>
            <a:ext cx="4965192" cy="132588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Pricing Assessment: Region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 average price and price range across product forms, 2026 (US$/Litres)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Forms by Region (US$/Litres), Ranked by Average</a:t>
            </a:r>
          </a:p>
        </p:txBody>
      </p:sp>
      <p:graphicFrame>
        <p:nvGraphicFramePr>
          <p:cNvPr id="10" name="TMR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046720" y="1868043"/>
          <a:ext cx="3776472" cy="309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North America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Western Europe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Eastern Europe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Middle East &amp; Africa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East Asia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South Asia &amp; Pacific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Region 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TMR analysis. Range = lowest to highest product form price in each region; ranked by average price. Other geographies grouped as 'Other' are excluded from the ranking.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494" y="3375398"/>
            <a:ext cx="355774" cy="51748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1110615"/>
            <a:ext cx="3985393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North America is the most premium Global region at US$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334" y="1099058"/>
            <a:ext cx="152098" cy="2212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47284" y="1110615"/>
            <a:ext cx="1224483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/Litres in 2026, +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228" y="1099058"/>
            <a:ext cx="152098" cy="2212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22178" y="1110615"/>
            <a:ext cx="5071119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above the global average, while South Asia &amp; Pacific is the lowest priced.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1831467"/>
            <a:ext cx="4993406" cy="1485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Calibri"/>
              </a:rPr>
              <a:t>Bar spans the lowest to highest product form price in each region, read on the price index axis (Global average =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7426" y="1823910"/>
            <a:ext cx="99449" cy="14465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76855" y="1831467"/>
            <a:ext cx="2037010" cy="1485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Calibri"/>
              </a:rPr>
              <a:t>). Teal = above Global average, blue = below.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76" y="5530976"/>
            <a:ext cx="277832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Average prices across the ranked regions differ by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850" y="5521642"/>
            <a:ext cx="122849" cy="17868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91732" y="5530976"/>
            <a:ext cx="176993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76" y="5690996"/>
            <a:ext cx="91953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2026, from US$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060" y="5681662"/>
            <a:ext cx="122849" cy="17868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832943" y="5690996"/>
            <a:ext cx="2045456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/Litres in South Asia &amp; Pacific to US$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21" y="5841682"/>
            <a:ext cx="122849" cy="17868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53604" y="5851016"/>
            <a:ext cx="141516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/Litres in North America.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2401" y="5530976"/>
            <a:ext cx="309819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North America records the fastest average price growth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32401" y="5690996"/>
            <a:ext cx="27882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at a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179" y="5681662"/>
            <a:ext cx="122849" cy="17868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118062" y="5690996"/>
            <a:ext cx="217852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CAGR between 2026 and 2036, against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541" y="5681662"/>
            <a:ext cx="122849" cy="17868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403423" y="5690996"/>
            <a:ext cx="2337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for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32401" y="5851016"/>
            <a:ext cx="106278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Global as a whole.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58225" y="5530976"/>
            <a:ext cx="301146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South Asia &amp; Pacific shows the widest gap between 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8225" y="5690996"/>
            <a:ext cx="2566615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cheapest and most expensive product form at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1789" y="5681662"/>
            <a:ext cx="122849" cy="17868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331672" y="5690996"/>
            <a:ext cx="26216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 so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8225" y="5851016"/>
            <a:ext cx="285180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product mix shifts move its average price the most.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21" y="3129375"/>
            <a:ext cx="482444" cy="701737"/>
          </a:xfrm>
          <a:prstGeom prst="rect">
            <a:avLst/>
          </a:prstGeom>
        </p:spPr>
      </p:pic>
      <p:sp>
        <p:nvSpPr>
          <p:cNvPr id="60" name="lockshield_10"/>
          <p:cNvSpPr/>
          <p:nvPr/>
        </p:nvSpPr>
        <p:spPr>
          <a:xfrm>
            <a:off x="347472" y="2014347"/>
            <a:ext cx="7406640" cy="301752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Price Positioning &amp; 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region on a common axis with TMR's key findings on where premiums and discounts 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(US$/Litres).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2,096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2,958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3,819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4,680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5,541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6,403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125" y="2151696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North America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2020" y="2076093"/>
            <a:ext cx="595036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67626" y="217550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125" y="2772191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Latin America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79383" y="2696587"/>
            <a:ext cx="418273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26608" y="2796003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3392685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East Asia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6586" y="3317082"/>
            <a:ext cx="298111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73729" y="3416498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4013180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45494" y="3937576"/>
            <a:ext cx="288674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27918" y="403699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125" y="4633674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Western Europe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92385" y="4558070"/>
            <a:ext cx="557731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09338" y="465748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8125" y="5254169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Eastern Europe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8660" y="5178565"/>
            <a:ext cx="472079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72787" y="5277981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125" y="5874663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2A5C"/>
                </a:solidFill>
                <a:latin typeface="Calibri"/>
              </a:rPr>
              <a:t>Middle East &amp; Africa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4041" y="5799059"/>
            <a:ext cx="403756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04006" y="589847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Findings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8625" y="1736673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Gaseous Helium-3 segment is expected to command the highest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8625" y="1911934"/>
            <a:ext cx="12990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average price of US$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862" y="1901710"/>
            <a:ext cx="134549" cy="19570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471971" y="1911934"/>
            <a:ext cx="23447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2036. Average selling price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8625" y="2087194"/>
            <a:ext cx="19488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Helium-3 is estimated at US$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670" y="2076970"/>
            <a:ext cx="134549" cy="19570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121780" y="2087194"/>
            <a:ext cx="14311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in 2025 and 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8625" y="2262454"/>
            <a:ext cx="25590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projected to remain broadly stable at US$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828" y="2252230"/>
            <a:ext cx="134549" cy="19570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31938" y="2262454"/>
            <a:ext cx="11202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Litre by 2036.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8625" y="2490292"/>
            <a:ext cx="37830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the highest-priced region, while South Asia &amp;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8625" y="2665551"/>
            <a:ext cx="37873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the most price-competitive market. The orange dot 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8625" y="2840811"/>
            <a:ext cx="35175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each region's average selling price; the blue band is its full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8625" y="3016071"/>
            <a:ext cx="3318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low-to-high price range, all derived as Value ÷ Volume.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8625" y="3243909"/>
            <a:ext cx="36917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Narrow bands point to commoditised, price-led competition;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8625" y="3419169"/>
            <a:ext cx="38121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wider bands flag premiumisation headroom to trade buyers up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8625" y="3594429"/>
            <a:ext cx="5582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mix.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Helium-3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731520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411231"/>
            <a:ext cx="7124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0" name="Freeform 9"/>
          <p:cNvSpPr/>
          <p:nvPr/>
        </p:nvSpPr>
        <p:spPr>
          <a:xfrm>
            <a:off x="3438525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086100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724150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362200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09775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3800475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800475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00475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00475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00475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00475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691689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006422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006422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691689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2638425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67138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3287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33272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2677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09605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67138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101866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80408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01003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268184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29050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9050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9050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9050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3250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5206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6597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6597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5206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43250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11294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9903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9903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11294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34275" y="1354081"/>
            <a:ext cx="451485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67625" y="1439806"/>
            <a:ext cx="4248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67625" y="1677931"/>
            <a:ext cx="4248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7625" y="1763656"/>
            <a:ext cx="424815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Helium-3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Helium-3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34275" y="4943046"/>
            <a:ext cx="451485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67625" y="5028771"/>
            <a:ext cx="4248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Highest-Impact Drivers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67625" y="5266896"/>
            <a:ext cx="4248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67625" y="5352621"/>
            <a:ext cx="424815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31646" y="1898910"/>
            <a:ext cx="6598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Input Cost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527" y="1889132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457558" y="2322667"/>
            <a:ext cx="1115044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Labor &amp; Production Costs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63" y="2315626"/>
            <a:ext cx="92663" cy="13478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226218" y="3370632"/>
            <a:ext cx="1100506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Technology &amp; Innovation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986" y="3363591"/>
            <a:ext cx="92663" cy="13478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215421" y="4662634"/>
            <a:ext cx="1115939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2E2E2E"/>
                </a:solidFill>
                <a:latin typeface="Calibri"/>
              </a:rPr>
              <a:t>Supply Chain &amp; Logistics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591" y="4655202"/>
            <a:ext cx="97811" cy="14227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422542" y="5653601"/>
            <a:ext cx="1238538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Demand &amp; Market Conditions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863" y="5767261"/>
            <a:ext cx="92663" cy="13478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239908" y="6110885"/>
            <a:ext cx="108027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2E2E2E"/>
                </a:solidFill>
                <a:latin typeface="Calibri"/>
              </a:rPr>
              <a:t>Competitive Landscape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411" y="6103453"/>
            <a:ext cx="97811" cy="14227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049588" y="5653601"/>
            <a:ext cx="1114061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Regulatory &amp; Compliance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03546" y="5774302"/>
            <a:ext cx="295245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Costs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052" y="5767261"/>
            <a:ext cx="92663" cy="13478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240066" y="4605637"/>
            <a:ext cx="1195711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Currency &amp; Trade Dynamics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560" y="4719297"/>
            <a:ext cx="92663" cy="13478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222727" y="3370632"/>
            <a:ext cx="1134100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Brand &amp; Value Perception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088" y="3363591"/>
            <a:ext cx="92663" cy="13478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993598" y="2262317"/>
            <a:ext cx="1203570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Aftermarket &amp; Service Costs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951" y="2375977"/>
            <a:ext cx="92663" cy="13478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667625" y="5362146"/>
            <a:ext cx="7408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Input Cost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543" y="5352366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524038" y="5362146"/>
            <a:ext cx="174414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dominant cost pressure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67625" y="5580078"/>
            <a:ext cx="18513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Demand &amp; Market Conditions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048" y="5570298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634544" y="5580078"/>
            <a:ext cx="15272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major cost pressure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67625" y="5798010"/>
            <a:ext cx="14783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Competitive Landscape</a:t>
            </a:r>
          </a:p>
        </p:txBody>
      </p:sp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060" y="5788230"/>
            <a:ext cx="128699" cy="18719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261556" y="5798010"/>
            <a:ext cx="13302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key pricing lever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67625" y="6015942"/>
            <a:ext cx="15253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 Chain &amp; Logistics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991" y="6006162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308487" y="6015942"/>
            <a:ext cx="13302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key pricing lever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67625" y="6233874"/>
            <a:ext cx="16000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Labor &amp; Production Costs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5752" y="6224094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9383248" y="6233874"/>
            <a:ext cx="13875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supporting factor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Factors Impacting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4450"/>
            <a:ext cx="11906250" cy="328612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390650"/>
          <a:ext cx="11887199" cy="2981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43815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75297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8387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What the Factors Imply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50768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5162550"/>
            <a:ext cx="11639550" cy="13049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155" y="2764346"/>
            <a:ext cx="330041" cy="4800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6225" y="5172075"/>
            <a:ext cx="542556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Input Cost and Demand &amp; Market Conditions carry the heaviest weight on selling prices (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45" y="5161851"/>
            <a:ext cx="134549" cy="1957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26054" y="5172075"/>
            <a:ext cx="2995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762" y="516185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49871" y="5172075"/>
            <a:ext cx="3951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/ 10).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5399913"/>
            <a:ext cx="83334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8 of 10 factors exert upward pressure on price; the rest pull prices down chiefly Technology &amp; Innovation and the Competitive Landscape.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5627750"/>
            <a:ext cx="80536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Cost-side factors set the price floor; demand, brand and competitive forces determine how much of that cost can be passed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225" y="5855588"/>
            <a:ext cx="70483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Aftermarket &amp; Service Costs exerts the least pressure a second-order effect to monitor rather than actively manage.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Regional Price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(US$/Litres) and price trajectory to 2036.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(US$/Litres)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" y="1574749"/>
          <a:ext cx="5886452" cy="2271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904"/>
                <a:gridCol w="1128887"/>
                <a:gridCol w="1128887"/>
                <a:gridCol w="1128887"/>
                <a:gridCol w="112888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(US$/Litres)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10300" y="1574749"/>
          <a:ext cx="5829299" cy="2271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8759"/>
                <a:gridCol w="947635"/>
                <a:gridCol w="947635"/>
                <a:gridCol w="947635"/>
                <a:gridCol w="94763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What This Section Covers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387" y="2566777"/>
            <a:ext cx="366712" cy="53340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639" y="256677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Global Pricing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region and sub-segment against the weighted average price of each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form type and region (US$/Litres).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4450"/>
            <a:ext cx="11906250" cy="3000375"/>
          </a:xfrm>
          <a:prstGeom prst="roundRect">
            <a:avLst>
              <a:gd name="adj" fmla="val 253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Form (US$/Litres)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" y="1571625"/>
          <a:ext cx="11887200" cy="2533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1366"/>
                <a:gridCol w="2895278"/>
                <a:gridCol w="2895278"/>
                <a:gridCol w="289527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075" y="4114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4457700"/>
            <a:ext cx="11906250" cy="2085975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45434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Benchmarking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" y="478155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867275"/>
            <a:ext cx="11639550" cy="16002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992" y="2694812"/>
            <a:ext cx="366712" cy="533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6225" y="4876800"/>
            <a:ext cx="46416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On a weighted-average basis 'North America' is the highest-priced region (~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067" y="4866576"/>
            <a:ext cx="134549" cy="1957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42176" y="4876800"/>
            <a:ext cx="3719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US$/Litres) and 'South Asia &amp; Pacific' the most competitive (~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508" y="486657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85617" y="4876800"/>
            <a:ext cx="7736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225" y="5104638"/>
            <a:ext cx="59541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Price ranges are benchmarked per product form type at 2026, derived as Value ÷ Volume with a ±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520" y="5094414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4630" y="5104638"/>
            <a:ext cx="145511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observed trading band.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225" y="5332475"/>
            <a:ext cx="21408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Cross-region price dispersion of ~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246" y="5322252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541355" y="5332475"/>
            <a:ext cx="36270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reflects differences in mix, logistics and channel structure.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5560313"/>
            <a:ext cx="56917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Benchmarks support price-corridor setting and margin-defence decisions across geographies.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Price Forecast &amp;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form type and the structural factors shaping it (US$/Litres).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Form (US$/Litres)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" y="1574749"/>
          <a:ext cx="11887197" cy="15046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2975"/>
                <a:gridCol w="1499037"/>
                <a:gridCol w="1499037"/>
                <a:gridCol w="1499037"/>
                <a:gridCol w="1499037"/>
                <a:gridCol w="1499037"/>
                <a:gridCol w="149903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Form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62927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2927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3398495"/>
            <a:ext cx="590550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3655670"/>
          <a:ext cx="5886449" cy="2714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9075" y="637982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795" y="2183449"/>
            <a:ext cx="366712" cy="533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34125" y="3817595"/>
            <a:ext cx="33651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Average product form price is projected to rise from ~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8416" y="380737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23525" y="3817595"/>
            <a:ext cx="3081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to ~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90" y="3807371"/>
            <a:ext cx="134549" cy="1957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55900" y="3817595"/>
            <a:ext cx="130136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US$/Litres by 2036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3992855"/>
            <a:ext cx="1489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+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218" y="3982631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07327" y="399285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4125" y="4220692"/>
            <a:ext cx="43107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'Gaseous Helium-3' shows the strongest forecast price appreciation (+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073" y="421046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69182" y="4220692"/>
            <a:ext cx="65184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over 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4125" y="4395952"/>
            <a:ext cx="5628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horizon.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4623790"/>
            <a:ext cx="52424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Upward pressure is led by input cost and demand &amp; market conditions; efficiency 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4799050"/>
            <a:ext cx="25670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competitive intensity work the other way.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4125" y="5026888"/>
            <a:ext cx="52036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Net outlook: modest, structural price appreciation mix and geography will determine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4125" y="5202148"/>
            <a:ext cx="10161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realised pricing.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Competitor Pricing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leading players position price: tier, price position versus peers and strategy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769620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Competitor pricing strategies how leading players position price and the levers they use to sustain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17574"/>
            <a:ext cx="769620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393774"/>
          <a:ext cx="7677150" cy="3619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78"/>
                <a:gridCol w="649472"/>
                <a:gridCol w="1365379"/>
                <a:gridCol w="1278162"/>
                <a:gridCol w="312425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Company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Tier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Price Position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ASP vs Peers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Strategy Focus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Air Liquide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Premium, brand-led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Linde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Value-based premium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Chemgas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Innovation-led price leadership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Airgas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 pricing with mix upsell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Merck KGaA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Penetration &amp; share-led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Eurisotop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/ discount-led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5023044"/>
            <a:ext cx="75438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5351641"/>
            <a:ext cx="7696200" cy="365074"/>
          </a:xfrm>
          <a:prstGeom prst="roundRect">
            <a:avLst>
              <a:gd name="adj" fmla="val 2087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competitor figures are indicative derived from market modelling and expert validation, not company disclosures.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Pricing Themes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Tier 1 players anchor premium pricing, defending ASP through brand, product development and certification rather than discounting.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Mid-tier players price at or just below parity, using launches and expansion to win share in fast-growing segments.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Emerging players compete on value pricing, trading margin for access and volume in price-sensitive regions.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Across tiers, R&amp;D investment and selective M&amp;A are the primary levers to move up the price ladder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189" y="3086680"/>
            <a:ext cx="330041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Supply Chain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Supply Chain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14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Supply Chain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Chain &amp; Stakeholder Mapping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Operating Margin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Buyers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Value Chain &amp; Stakeholder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Mapping of the value chain stages, the stakeholders at each stage and the value added along the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970754"/>
            <a:ext cx="10668000" cy="164283"/>
          </a:xfrm>
          <a:prstGeom prst="rect">
            <a:avLst/>
          </a:prstGeom>
          <a:noFill/>
        </p:spPr>
        <p:txBody>
          <a:bodyPr wrap="square" lIns="0" rIns="19050" tIns="0" bIns="0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End-to-end value chain with the key stakeholders at each stage and their indicative contribution to value addition.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85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171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457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743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Raw Material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Suppliers</a:t>
            </a:r>
          </a:p>
        </p:txBody>
      </p:sp>
      <p:sp>
        <p:nvSpPr>
          <p:cNvPr id="13" name="Oval 12"/>
          <p:cNvSpPr/>
          <p:nvPr/>
        </p:nvSpPr>
        <p:spPr>
          <a:xfrm>
            <a:off x="1076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3950" y="1719155"/>
            <a:ext cx="800100" cy="76665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09712" y="2084229"/>
            <a:ext cx="28575" cy="1551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9500000">
            <a:off x="1381125" y="2020341"/>
            <a:ext cx="142875" cy="821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2100000">
            <a:off x="1524000" y="2020341"/>
            <a:ext cx="142875" cy="821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0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05646"/>
            <a:ext cx="2133600" cy="4563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Raw Material Suppliers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Growers and primary producers supply core inputs; some forward-integrate into small-scale processing.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5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Manufacturers</a:t>
            </a:r>
          </a:p>
        </p:txBody>
      </p:sp>
      <p:sp>
        <p:nvSpPr>
          <p:cNvPr id="25" name="Oval 24"/>
          <p:cNvSpPr/>
          <p:nvPr/>
        </p:nvSpPr>
        <p:spPr>
          <a:xfrm>
            <a:off x="3362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09950" y="1719155"/>
            <a:ext cx="800100" cy="766655"/>
          </a:xfrm>
          <a:prstGeom prst="ellipse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38550" y="2084229"/>
            <a:ext cx="342900" cy="1642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67125" y="1983834"/>
            <a:ext cx="66675" cy="1095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71900" y="2020341"/>
            <a:ext cx="66675" cy="730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76675" y="1992961"/>
            <a:ext cx="66675" cy="1003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86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2905646"/>
            <a:ext cx="2133600" cy="4563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28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Manufacturers / Processors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28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28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Convert inputs into finished and semi-finished product the single largest value-addition stage.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1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Distributors</a:t>
            </a:r>
          </a:p>
        </p:txBody>
      </p:sp>
      <p:sp>
        <p:nvSpPr>
          <p:cNvPr id="38" name="Oval 37"/>
          <p:cNvSpPr/>
          <p:nvPr/>
        </p:nvSpPr>
        <p:spPr>
          <a:xfrm>
            <a:off x="5648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95950" y="1719155"/>
            <a:ext cx="800100" cy="766655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5025" y="2002088"/>
            <a:ext cx="209550" cy="1642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34100" y="2075102"/>
            <a:ext cx="123825" cy="91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972175" y="2148117"/>
            <a:ext cx="85725" cy="82142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3150" y="2148117"/>
            <a:ext cx="85725" cy="82142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572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0" y="2905646"/>
            <a:ext cx="2133600" cy="4563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14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Distributors &amp; Wholesalers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4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4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Move product to market, hold inventory and provide logistics, reach and credit to downstream channels.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7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Retailers</a:t>
            </a:r>
          </a:p>
        </p:txBody>
      </p:sp>
      <p:sp>
        <p:nvSpPr>
          <p:cNvPr id="51" name="Oval 50"/>
          <p:cNvSpPr/>
          <p:nvPr/>
        </p:nvSpPr>
        <p:spPr>
          <a:xfrm>
            <a:off x="7934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81950" y="1719155"/>
            <a:ext cx="800100" cy="766655"/>
          </a:xfrm>
          <a:prstGeom prst="ellipse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8201025" y="1965580"/>
            <a:ext cx="361950" cy="10952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39125" y="2065976"/>
            <a:ext cx="285750" cy="182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43900" y="2138990"/>
            <a:ext cx="76200" cy="109522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58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15200" y="2905646"/>
            <a:ext cx="2133600" cy="4563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0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Retailers &amp; Channels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0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0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Sell to end customers across offline and online channels, capturing point-of-sale margin and brand visibility.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63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End Users</a:t>
            </a:r>
          </a:p>
        </p:txBody>
      </p:sp>
      <p:sp>
        <p:nvSpPr>
          <p:cNvPr id="63" name="Oval 62"/>
          <p:cNvSpPr/>
          <p:nvPr/>
        </p:nvSpPr>
        <p:spPr>
          <a:xfrm>
            <a:off x="10220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267950" y="1719155"/>
            <a:ext cx="800100" cy="766655"/>
          </a:xfrm>
          <a:prstGeom prst="ellipse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01325" y="1956453"/>
            <a:ext cx="133350" cy="1277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0544175" y="2111610"/>
            <a:ext cx="247650" cy="127776"/>
          </a:xfrm>
          <a:custGeom>
            <a:avLst/>
            <a:gdLst/>
            <a:ahLst/>
            <a:cxnLst/>
            <a:rect l="l" t="t" r="r" b="b"/>
            <a:pathLst>
              <a:path w="26" h="14">
                <a:moveTo>
                  <a:pt x="0" y="14"/>
                </a:moveTo>
                <a:lnTo>
                  <a:pt x="4" y="0"/>
                </a:lnTo>
                <a:lnTo>
                  <a:pt x="22" y="0"/>
                </a:lnTo>
                <a:lnTo>
                  <a:pt x="26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144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01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01200" y="2905646"/>
            <a:ext cx="2133600" cy="4563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6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End Users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86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86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Consumers and downstream industries; large end users sometimes backward-integrate to secure supply and cost.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1000" y="5315134"/>
            <a:ext cx="11430000" cy="120474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4350" y="5397275"/>
            <a:ext cx="11163300" cy="20079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Value-Added Read-out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4350" y="5625447"/>
            <a:ext cx="11163300" cy="18254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4350" y="5707588"/>
            <a:ext cx="11163300" cy="7392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650" y="2611256"/>
            <a:ext cx="128699" cy="187198"/>
          </a:xfrm>
          <a:prstGeom prst="rect">
            <a:avLst/>
          </a:prstGeom>
        </p:spPr>
      </p:pic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650" y="2611256"/>
            <a:ext cx="128699" cy="187198"/>
          </a:xfrm>
          <a:prstGeom prst="rect">
            <a:avLst/>
          </a:prstGeom>
        </p:spPr>
      </p:pic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650" y="2611256"/>
            <a:ext cx="128699" cy="187198"/>
          </a:xfrm>
          <a:prstGeom prst="rect">
            <a:avLst/>
          </a:prstGeom>
        </p:spPr>
      </p:pic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650" y="2611256"/>
            <a:ext cx="128699" cy="187198"/>
          </a:xfrm>
          <a:prstGeom prst="rect">
            <a:avLst/>
          </a:prstGeom>
        </p:spPr>
      </p:pic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650" y="2611256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14350" y="5717113"/>
            <a:ext cx="6042481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The Helium-3 Market value chain runs from raw-material suppliers through manufacturers, distributors and retailers to end users.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350" y="5891458"/>
            <a:ext cx="3108563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'Manufacturers / Processors' captures the largest value addition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14" y="5883635"/>
            <a:ext cx="102959" cy="14975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700111" y="5891458"/>
            <a:ext cx="2123678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), reflecting processing and scale advantages.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4350" y="6065804"/>
            <a:ext cx="5690369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Forward and backward integration is common some suppliers process, and some large end users produce their own input.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4350" y="6240149"/>
            <a:ext cx="3730228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Percentages show each stage's indicative share of value added along the chain.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Industry-Wide Operating Margin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Operating margin by region and value chain node, highlighting where value concentrates along the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3667125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Helium-3 Market Operating Margin by Region &amp; Node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7202" cy="32004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8402"/>
                <a:gridCol w="2669700"/>
                <a:gridCol w="2669700"/>
                <a:gridCol w="2669700"/>
                <a:gridCol w="266970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Node of Supply Chain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Operating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Comparison to Parent Market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Notes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44481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781550"/>
            <a:ext cx="11906250" cy="1847850"/>
          </a:xfrm>
          <a:prstGeom prst="roundRect">
            <a:avLst>
              <a:gd name="adj" fmla="val 412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8672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How to Read This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510540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5191125"/>
            <a:ext cx="11639550" cy="13620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Node of Supply Chain: each major stage, from raw-material suppliers through to retailers.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Operating Margin: the indicative margin earned at each node, by region.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Comparison to Parent Market: margin versus the parent / associated market (e.g. the broader food or pharmaceutical value chain).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Margins are broken down by both region and node to surface where value concentrates along the chain.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512" y="2694815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Buyers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Assessment of buyers and end users by volume, average price and revenue, highlighting purchasing 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981075"/>
            <a:ext cx="11906250" cy="3371850"/>
          </a:xfrm>
          <a:prstGeom prst="roundRect">
            <a:avLst>
              <a:gd name="adj" fmla="val 22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Helium-3 Market Buyers / End-User Assessment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" y="1238250"/>
          <a:ext cx="11889685" cy="2905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7914"/>
                <a:gridCol w="1348285"/>
                <a:gridCol w="1260150"/>
                <a:gridCol w="1013302"/>
                <a:gridCol w="1423855"/>
                <a:gridCol w="1136937"/>
                <a:gridCol w="1338880"/>
                <a:gridCol w="1182453"/>
                <a:gridCol w="1367909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Company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Buyer 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Buyer / End-User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Procurement Vol.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Avg Price (US$/Litres)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Revenue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Key Selection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Air Liquide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Price &amp; reliability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Linde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Quality &amp; compliance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Chemgas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B2C / 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Lead time &amp; service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Airgas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Others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Contract / OEM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Capacity &amp; scale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Merck KGaA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Chile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&amp; support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Eurisotop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Price &amp; reliability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ISOFLEX USA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B2C / 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Quality &amp; compliance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DWS Specialty Gas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Others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Contract / OEM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Lead time &amp; service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Wuhan Baisida Gas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Capacity &amp; scale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2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Shanghai Wechem Chemical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&amp; support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75" y="41529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4486275"/>
            <a:ext cx="11906250" cy="2143125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45720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481012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4895850"/>
            <a:ext cx="11639550" cy="16573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This is a representative subset the full assessment lists 20–30 active participants (with brands, specifications, procurement strategies and SWOT). Note: value-chain economics are indicative derived from market modelling and expert validation, not company disclosures.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535" y="264356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Market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Dynamics &amp; Forces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15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Market Dynamics &amp; Forces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Restraints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Opportunities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Recent Developments &amp; Milestones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Five Forces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Dynamics by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growth driver, restraint and opportunity shaping each region of the global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" y="1025515"/>
            <a:ext cx="85725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2E2E2E"/>
                </a:solidFill>
                <a:latin typeface="Calibri"/>
              </a:rPr>
              <a:t>Demand Dynamics by Region  ·  ranked by 2036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875" y="1262813"/>
            <a:ext cx="11906250" cy="255552"/>
          </a:xfrm>
          <a:prstGeom prst="rect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25" y="1262813"/>
            <a:ext cx="14287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4025" y="1262813"/>
            <a:ext cx="37147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Growth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4025" y="1262813"/>
            <a:ext cx="27622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1262813"/>
            <a:ext cx="361950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Priority Opportunities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875" y="1518365"/>
            <a:ext cx="11906250" cy="511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025" y="1518365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4025" y="1545745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4025" y="1545745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1545745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42875" y="2029468"/>
            <a:ext cx="11906250" cy="511104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25" y="2029468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4025" y="2056849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4025" y="2056849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Competitive intensity at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1525" y="2056849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42875" y="2540572"/>
            <a:ext cx="11906250" cy="511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0025" y="2540572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4025" y="2567952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4025" y="2567952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1525" y="2567952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42875" y="3051675"/>
            <a:ext cx="11906250" cy="511104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0025" y="3051675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24025" y="3079056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4025" y="3079056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1525" y="3079056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42875" y="3562779"/>
            <a:ext cx="11906250" cy="511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0025" y="3562779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24025" y="3590159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4025" y="3590159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1525" y="3590159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42875" y="4073882"/>
            <a:ext cx="11906250" cy="511104"/>
          </a:xfrm>
          <a:prstGeom prst="rect">
            <a:avLst/>
          </a:prstGeom>
          <a:solidFill>
            <a:srgbClr val="F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025" y="4073882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24025" y="4101263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4025" y="4101263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1525" y="4101263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42875" y="4584986"/>
            <a:ext cx="11906250" cy="511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0025" y="4584986"/>
            <a:ext cx="1428750" cy="51110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4025" y="4612366"/>
            <a:ext cx="36766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4025" y="4612366"/>
            <a:ext cx="27241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1525" y="4612366"/>
            <a:ext cx="358140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42875" y="5096089"/>
            <a:ext cx="11906250" cy="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0025" y="5114343"/>
            <a:ext cx="381000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2875" y="5369895"/>
            <a:ext cx="11906250" cy="994827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6225" y="5406402"/>
            <a:ext cx="38100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KEY TAKEAWAY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76225" y="5643700"/>
            <a:ext cx="11639550" cy="0"/>
          </a:xfrm>
          <a:prstGeom prst="line">
            <a:avLst/>
          </a:prstGeom>
          <a:ln w="15875">
            <a:solidFill>
              <a:srgbClr val="0B2E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76225" y="5698461"/>
            <a:ext cx="1152525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2600" y="1606276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1596497"/>
            <a:ext cx="128699" cy="18719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606285" y="1606276"/>
            <a:ext cx="1556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Installed demand (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756" y="1596497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278252" y="1606276"/>
            <a:ext cx="9850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Gaseous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52600" y="1773915"/>
            <a:ext cx="24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demand, Accelerating vs history.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2600" y="1606276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1596497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965262" y="1606276"/>
            <a:ext cx="6892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BPS, Rising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62600" y="1773915"/>
            <a:ext cx="7474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realisation (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066" y="1764137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425562" y="1773915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20100" y="1690095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1680317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041589" y="1690095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1680317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310554" y="1690095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52600" y="2117380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2107601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606285" y="2117380"/>
            <a:ext cx="16835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Above-market pace (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905" y="2107601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405401" y="2117380"/>
            <a:ext cx="6658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Gaseous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52600" y="2285020"/>
            <a:ext cx="24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demand, Accelerating vs history.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20100" y="2201200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2191421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0041589" y="2201200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2191421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0310554" y="2201200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52600" y="2628483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2618704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606285" y="2628483"/>
            <a:ext cx="1556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Installed demand (</a:t>
            </a:r>
          </a:p>
        </p:txBody>
      </p:sp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756" y="2618704"/>
            <a:ext cx="128699" cy="18719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78252" y="2628483"/>
            <a:ext cx="9850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Gaseous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52600" y="2796123"/>
            <a:ext cx="24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 demand, Accelerating vs history.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62600" y="2712303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2702524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965262" y="2712303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20100" y="2712303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2702524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041589" y="2712303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2702524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0310554" y="2712303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52600" y="3139587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312980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129614" y="3139587"/>
            <a:ext cx="17520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Gaseous Helium-3 demand,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52600" y="3307227"/>
            <a:ext cx="13897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Accelerating vs history.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62600" y="3223407"/>
            <a:ext cx="11130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Rising realisation (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7" y="3213628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6791183" y="3223407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20100" y="3223407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3213628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0041589" y="3223407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3213628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310554" y="3223407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52600" y="3650690"/>
            <a:ext cx="11343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Installed demand (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969" y="364091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3002465" y="3650690"/>
            <a:ext cx="20712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Gaseous Helium-3 demand,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752600" y="3818330"/>
            <a:ext cx="13897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Accelerating vs history.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62600" y="3734510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3724731"/>
            <a:ext cx="128699" cy="18719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965262" y="373451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20100" y="3734510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3724731"/>
            <a:ext cx="128699" cy="187198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10041589" y="3734510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3724731"/>
            <a:ext cx="128699" cy="18719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0310554" y="3734510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752600" y="4161794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4152015"/>
            <a:ext cx="128699" cy="187198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3129614" y="4161794"/>
            <a:ext cx="17520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Gaseous Helium-3 demand,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752600" y="4329434"/>
            <a:ext cx="13897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Accelerating vs history.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62600" y="4245614"/>
            <a:ext cx="11130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Rising realisation (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7" y="4235835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6791183" y="4245614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420100" y="4245614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4235835"/>
            <a:ext cx="128699" cy="18719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10041589" y="4245614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4235835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10310554" y="4245614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52600" y="4672897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4663118"/>
            <a:ext cx="128699" cy="18719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3129614" y="4672897"/>
            <a:ext cx="17520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Gaseous Helium-3 demand,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752600" y="4840537"/>
            <a:ext cx="13897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Accelerating vs history.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62600" y="4756717"/>
            <a:ext cx="20118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Sub-scale base, Rising realisation (</a:t>
            </a:r>
          </a:p>
        </p:txBody>
      </p:sp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460" y="4746938"/>
            <a:ext cx="128699" cy="187198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7689956" y="4756717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20100" y="4756717"/>
            <a:ext cx="15059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Gaseous Helium-3 (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93" y="4746938"/>
            <a:ext cx="128699" cy="18719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0041589" y="4756717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44" name="Picture 1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058" y="4746938"/>
            <a:ext cx="128699" cy="187198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0310554" y="4756717"/>
            <a:ext cx="1183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headroom.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04800" y="5743623"/>
            <a:ext cx="4469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North America, South Asia &amp; Pacific, East Asia anchor scale with a combined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927" y="5733844"/>
            <a:ext cx="128699" cy="18719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4889423" y="5743623"/>
            <a:ext cx="46229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Global value in 2036, while 'South Asia &amp; Pacific' offers the steepest upside at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473" y="5733844"/>
            <a:ext cx="128699" cy="18719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9627969" y="5743623"/>
            <a:ext cx="18197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against a market pace of</a:t>
            </a:r>
          </a:p>
        </p:txBody>
      </p:sp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2" y="5901484"/>
            <a:ext cx="128699" cy="187198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458828" y="5911263"/>
            <a:ext cx="110088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4 of 7 regions grow at or above that pace, so entry logic has to differ by region scale defence in the leaders, mix and premiumisation in the mid-tier, and availability-led expansion in the fastest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04800" y="6078903"/>
            <a:ext cx="5326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movers.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Global Driving Factors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economic and supply-side factors scored by their impact on the global market</a:t>
            </a:r>
          </a:p>
        </p:txBody>
      </p:sp>
      <p:sp>
        <p:nvSpPr>
          <p:cNvPr id="7" name="Oval 6"/>
          <p:cNvSpPr/>
          <p:nvPr/>
        </p:nvSpPr>
        <p:spPr>
          <a:xfrm>
            <a:off x="2381250" y="1609633"/>
            <a:ext cx="4762500" cy="4563424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19375" y="1837804"/>
            <a:ext cx="4286250" cy="410708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57500" y="2065976"/>
            <a:ext cx="3810000" cy="3650740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95625" y="2294147"/>
            <a:ext cx="3333750" cy="3194397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33750" y="2522318"/>
            <a:ext cx="2857500" cy="2738055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1875" y="2750489"/>
            <a:ext cx="2381250" cy="228171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10000" y="2978660"/>
            <a:ext cx="1905000" cy="1825370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48125" y="3206832"/>
            <a:ext cx="1428750" cy="1369027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6250" y="3435003"/>
            <a:ext cx="952500" cy="912685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4375" y="3663174"/>
            <a:ext cx="476250" cy="45634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4762500" y="1609633"/>
            <a:ext cx="0" cy="228171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729314" y="1835594"/>
            <a:ext cx="1033186" cy="205575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900764" y="2468721"/>
            <a:ext cx="1861736" cy="1422624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440953" y="3383617"/>
            <a:ext cx="2321547" cy="507729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40953" y="3891345"/>
            <a:ext cx="2321547" cy="507729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00764" y="3891345"/>
            <a:ext cx="1861736" cy="1422624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729314" y="3891345"/>
            <a:ext cx="1033186" cy="205575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62500" y="3891345"/>
            <a:ext cx="0" cy="228171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2438400" y="2595333"/>
            <a:ext cx="2324100" cy="2108302"/>
          </a:xfrm>
          <a:custGeom>
            <a:avLst/>
            <a:gdLst/>
            <a:ahLst/>
            <a:cxnLst/>
            <a:rect l="l" t="t" r="r" b="b"/>
            <a:pathLst>
              <a:path w="244" h="231">
                <a:moveTo>
                  <a:pt x="244" y="0"/>
                </a:moveTo>
                <a:lnTo>
                  <a:pt x="182" y="14"/>
                </a:lnTo>
                <a:lnTo>
                  <a:pt x="107" y="33"/>
                </a:lnTo>
                <a:lnTo>
                  <a:pt x="65" y="101"/>
                </a:lnTo>
                <a:lnTo>
                  <a:pt x="0" y="198"/>
                </a:lnTo>
                <a:lnTo>
                  <a:pt x="170" y="201"/>
                </a:lnTo>
                <a:lnTo>
                  <a:pt x="203" y="226"/>
                </a:lnTo>
                <a:lnTo>
                  <a:pt x="244" y="231"/>
                </a:lnTo>
              </a:path>
            </a:pathLst>
          </a:custGeom>
          <a:noFill/>
          <a:ln w="31750">
            <a:solidFill>
              <a:srgbClr val="0F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14875" y="1563999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00300" y="128106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3681689" y="1789960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5456" y="151968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2853139" y="2423087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0507" y="227040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2393328" y="3337982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946" y="323653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2393328" y="4353440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46" y="4308858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2853139" y="5268335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507" y="527498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3681689" y="5901463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85456" y="602571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4714875" y="6127423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0300" y="6264326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4762500" y="970754"/>
            <a:ext cx="7429500" cy="56403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MR Scale 0"/>
          <p:cNvSpPr txBox="1"/>
          <p:nvPr/>
        </p:nvSpPr>
        <p:spPr>
          <a:xfrm>
            <a:off x="4286250" y="381833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4" name="TMR Scale 1"/>
          <p:cNvSpPr txBox="1"/>
          <p:nvPr/>
        </p:nvSpPr>
        <p:spPr>
          <a:xfrm>
            <a:off x="4286250" y="3590159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10%</a:t>
            </a:r>
          </a:p>
        </p:txBody>
      </p:sp>
      <p:sp>
        <p:nvSpPr>
          <p:cNvPr id="45" name="TMR Scale 2"/>
          <p:cNvSpPr txBox="1"/>
          <p:nvPr/>
        </p:nvSpPr>
        <p:spPr>
          <a:xfrm>
            <a:off x="4286250" y="336198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20%</a:t>
            </a:r>
          </a:p>
        </p:txBody>
      </p:sp>
      <p:sp>
        <p:nvSpPr>
          <p:cNvPr id="46" name="TMR Scale 3"/>
          <p:cNvSpPr txBox="1"/>
          <p:nvPr/>
        </p:nvSpPr>
        <p:spPr>
          <a:xfrm>
            <a:off x="4286250" y="3133817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30%</a:t>
            </a:r>
          </a:p>
        </p:txBody>
      </p:sp>
      <p:sp>
        <p:nvSpPr>
          <p:cNvPr id="47" name="TMR Scale 4"/>
          <p:cNvSpPr txBox="1"/>
          <p:nvPr/>
        </p:nvSpPr>
        <p:spPr>
          <a:xfrm>
            <a:off x="4286250" y="2905646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40%</a:t>
            </a:r>
          </a:p>
        </p:txBody>
      </p:sp>
      <p:sp>
        <p:nvSpPr>
          <p:cNvPr id="48" name="TMR Scale 5"/>
          <p:cNvSpPr txBox="1"/>
          <p:nvPr/>
        </p:nvSpPr>
        <p:spPr>
          <a:xfrm>
            <a:off x="4286250" y="2677474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50%</a:t>
            </a:r>
          </a:p>
        </p:txBody>
      </p:sp>
      <p:sp>
        <p:nvSpPr>
          <p:cNvPr id="49" name="TMR Scale 6"/>
          <p:cNvSpPr txBox="1"/>
          <p:nvPr/>
        </p:nvSpPr>
        <p:spPr>
          <a:xfrm>
            <a:off x="4286250" y="2449303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60%</a:t>
            </a:r>
          </a:p>
        </p:txBody>
      </p:sp>
      <p:sp>
        <p:nvSpPr>
          <p:cNvPr id="50" name="TMR Scale 7"/>
          <p:cNvSpPr txBox="1"/>
          <p:nvPr/>
        </p:nvSpPr>
        <p:spPr>
          <a:xfrm>
            <a:off x="4286250" y="2221132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70%</a:t>
            </a:r>
          </a:p>
        </p:txBody>
      </p:sp>
      <p:sp>
        <p:nvSpPr>
          <p:cNvPr id="51" name="TMR Scale 8"/>
          <p:cNvSpPr txBox="1"/>
          <p:nvPr/>
        </p:nvSpPr>
        <p:spPr>
          <a:xfrm>
            <a:off x="4286250" y="199296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80%</a:t>
            </a:r>
          </a:p>
        </p:txBody>
      </p:sp>
      <p:sp>
        <p:nvSpPr>
          <p:cNvPr id="52" name="TMR Scale 9"/>
          <p:cNvSpPr txBox="1"/>
          <p:nvPr/>
        </p:nvSpPr>
        <p:spPr>
          <a:xfrm>
            <a:off x="4286250" y="1764790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90%</a:t>
            </a:r>
          </a:p>
        </p:txBody>
      </p:sp>
      <p:sp>
        <p:nvSpPr>
          <p:cNvPr id="53" name="TMR Scale 10"/>
          <p:cNvSpPr txBox="1"/>
          <p:nvPr/>
        </p:nvSpPr>
        <p:spPr>
          <a:xfrm>
            <a:off x="4286250" y="153661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100%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762500" y="1025515"/>
            <a:ext cx="0" cy="5549124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972050" y="1080276"/>
            <a:ext cx="7077075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Economic and Supply-side Factors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972050" y="1335828"/>
            <a:ext cx="7077075" cy="0"/>
          </a:xfrm>
          <a:prstGeom prst="line">
            <a:avLst/>
          </a:prstGeom>
          <a:ln w="31750">
            <a:solidFill>
              <a:srgbClr val="1F6F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972050" y="1427096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2050" y="1883439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72050" y="2339781"/>
            <a:ext cx="70770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72050" y="2613586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Portfolio breadth spans 2 product form lines and 4 application routes, giving producers focused reformulation and channel latitude.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2050" y="3069929"/>
            <a:ext cx="70770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2050" y="3343734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Note: the dynamics framing is indicative factors, impact ratings and narrative are generated from the loaded dataset's own values.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6991" y="1322601"/>
            <a:ext cx="112522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Production Scale-up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30" y="1313604"/>
            <a:ext cx="118403" cy="17222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482772" y="1561215"/>
            <a:ext cx="1094602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Input Cost Pressure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86" y="1552218"/>
            <a:ext cx="118403" cy="17222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943191" y="2311939"/>
            <a:ext cx="759234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Capacity Add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537" y="2302942"/>
            <a:ext cx="118403" cy="17222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014573" y="3278069"/>
            <a:ext cx="120229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Supply Concentration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976" y="3269072"/>
            <a:ext cx="118403" cy="17222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148118" y="4350392"/>
            <a:ext cx="106874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Geographic Spread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976" y="4341395"/>
            <a:ext cx="118403" cy="1722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22039" y="5316521"/>
            <a:ext cx="98038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Portfolio Breadth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537" y="5307524"/>
            <a:ext cx="118403" cy="17222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838472" y="6067245"/>
            <a:ext cx="73890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Route Depth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86" y="6058248"/>
            <a:ext cx="118403" cy="17222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616852" y="6305860"/>
            <a:ext cx="975365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Value Realisation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30" y="6296863"/>
            <a:ext cx="118403" cy="17222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000625" y="1496754"/>
            <a:ext cx="32104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Supply-side conditions are led by Geographic Spread (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122" y="148697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326618" y="1496754"/>
            <a:ext cx="16789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Supply Concentration (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599" y="148697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0121095" y="1496754"/>
            <a:ext cx="11973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Capacity Add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6494" y="148697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1433990" y="1496754"/>
            <a:ext cx="4931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 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00625" y="1664394"/>
            <a:ext cx="28625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0-10 scale scored from the global dataset itself.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00625" y="1953097"/>
            <a:ext cx="12459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Volume expands at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91" y="1943318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362087" y="1953097"/>
            <a:ext cx="30027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(2026–2036) while average realisation moves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927" y="1943318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480423" y="1953097"/>
            <a:ext cx="23465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 the balance of those two sets the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00625" y="2120737"/>
            <a:ext cx="15714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cost-pass-through picture.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00625" y="2401990"/>
            <a:ext cx="27515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 is concentrated: 'North America' holds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186" y="2392211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7867681" y="2401990"/>
            <a:ext cx="1821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 across 7 regions.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0625" y="3132138"/>
            <a:ext cx="29315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Capacity added between 2026 and 2036 is worth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268" y="3122359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8047764" y="3132138"/>
            <a:ext cx="6590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Mn, a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826" y="3122359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822322" y="3132138"/>
            <a:ext cx="18019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× expansion on the 2026 base.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Global Driving Factors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demand-side factors scored by their impact on the global market</a:t>
            </a:r>
          </a:p>
        </p:txBody>
      </p:sp>
      <p:sp>
        <p:nvSpPr>
          <p:cNvPr id="7" name="Oval 6"/>
          <p:cNvSpPr/>
          <p:nvPr/>
        </p:nvSpPr>
        <p:spPr>
          <a:xfrm>
            <a:off x="5048250" y="1609633"/>
            <a:ext cx="4762500" cy="4563424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86375" y="1837804"/>
            <a:ext cx="4286250" cy="410708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24500" y="2065976"/>
            <a:ext cx="3810000" cy="3650740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2625" y="2294147"/>
            <a:ext cx="3333750" cy="3194397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00750" y="2522318"/>
            <a:ext cx="2857500" cy="2738055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38875" y="2750489"/>
            <a:ext cx="2381250" cy="228171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7000" y="2978660"/>
            <a:ext cx="1905000" cy="1825370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15125" y="3206832"/>
            <a:ext cx="1428750" cy="1369027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53250" y="3435003"/>
            <a:ext cx="952500" cy="912685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91375" y="3663174"/>
            <a:ext cx="476250" cy="45634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7429500" y="1609633"/>
            <a:ext cx="0" cy="228171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29500" y="1835594"/>
            <a:ext cx="1033186" cy="205575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29500" y="2468721"/>
            <a:ext cx="1861736" cy="1422624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29500" y="3383617"/>
            <a:ext cx="2321547" cy="507729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29500" y="3891345"/>
            <a:ext cx="2321547" cy="507729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29500" y="3891345"/>
            <a:ext cx="1861736" cy="1422624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29500" y="3891345"/>
            <a:ext cx="1033186" cy="205575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29500" y="3891345"/>
            <a:ext cx="0" cy="228171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7429500" y="2713982"/>
            <a:ext cx="1524000" cy="3230905"/>
          </a:xfrm>
          <a:custGeom>
            <a:avLst/>
            <a:gdLst/>
            <a:ahLst/>
            <a:cxnLst/>
            <a:rect l="l" t="t" r="r" b="b"/>
            <a:pathLst>
              <a:path w="160" h="354">
                <a:moveTo>
                  <a:pt x="0" y="4"/>
                </a:moveTo>
                <a:lnTo>
                  <a:pt x="62" y="0"/>
                </a:lnTo>
                <a:lnTo>
                  <a:pt x="73" y="71"/>
                </a:lnTo>
                <a:lnTo>
                  <a:pt x="103" y="105"/>
                </a:lnTo>
                <a:lnTo>
                  <a:pt x="160" y="166"/>
                </a:lnTo>
                <a:lnTo>
                  <a:pt x="101" y="209"/>
                </a:lnTo>
                <a:lnTo>
                  <a:pt x="108" y="354"/>
                </a:lnTo>
                <a:lnTo>
                  <a:pt x="0" y="307"/>
                </a:lnTo>
              </a:path>
            </a:pathLst>
          </a:custGeom>
          <a:noFill/>
          <a:ln w="31750">
            <a:solidFill>
              <a:srgbClr val="0F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81875" y="1563999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5700" y="128106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8415061" y="1789960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544" y="151968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9243611" y="2423087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5493" y="227040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9703422" y="3337982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81054" y="3236535"/>
            <a:ext cx="2168071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9703422" y="4353440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1054" y="4308858"/>
            <a:ext cx="2168071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9243611" y="5268335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5493" y="527498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8415061" y="5901463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20544" y="602571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7381875" y="6127423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05700" y="6264326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970754"/>
            <a:ext cx="7429500" cy="56403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MR Scale 0"/>
          <p:cNvSpPr txBox="1"/>
          <p:nvPr/>
        </p:nvSpPr>
        <p:spPr>
          <a:xfrm>
            <a:off x="7486650" y="381833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4" name="TMR Scale 1"/>
          <p:cNvSpPr txBox="1"/>
          <p:nvPr/>
        </p:nvSpPr>
        <p:spPr>
          <a:xfrm>
            <a:off x="7486650" y="3590159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10%</a:t>
            </a:r>
          </a:p>
        </p:txBody>
      </p:sp>
      <p:sp>
        <p:nvSpPr>
          <p:cNvPr id="45" name="TMR Scale 2"/>
          <p:cNvSpPr txBox="1"/>
          <p:nvPr/>
        </p:nvSpPr>
        <p:spPr>
          <a:xfrm>
            <a:off x="7486650" y="336198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20%</a:t>
            </a:r>
          </a:p>
        </p:txBody>
      </p:sp>
      <p:sp>
        <p:nvSpPr>
          <p:cNvPr id="46" name="TMR Scale 3"/>
          <p:cNvSpPr txBox="1"/>
          <p:nvPr/>
        </p:nvSpPr>
        <p:spPr>
          <a:xfrm>
            <a:off x="7486650" y="3133817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30%</a:t>
            </a:r>
          </a:p>
        </p:txBody>
      </p:sp>
      <p:sp>
        <p:nvSpPr>
          <p:cNvPr id="47" name="TMR Scale 4"/>
          <p:cNvSpPr txBox="1"/>
          <p:nvPr/>
        </p:nvSpPr>
        <p:spPr>
          <a:xfrm>
            <a:off x="7486650" y="2905646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40%</a:t>
            </a:r>
          </a:p>
        </p:txBody>
      </p:sp>
      <p:sp>
        <p:nvSpPr>
          <p:cNvPr id="48" name="TMR Scale 5"/>
          <p:cNvSpPr txBox="1"/>
          <p:nvPr/>
        </p:nvSpPr>
        <p:spPr>
          <a:xfrm>
            <a:off x="7486650" y="2677474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50%</a:t>
            </a:r>
          </a:p>
        </p:txBody>
      </p:sp>
      <p:sp>
        <p:nvSpPr>
          <p:cNvPr id="49" name="TMR Scale 6"/>
          <p:cNvSpPr txBox="1"/>
          <p:nvPr/>
        </p:nvSpPr>
        <p:spPr>
          <a:xfrm>
            <a:off x="7486650" y="2449303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60%</a:t>
            </a:r>
          </a:p>
        </p:txBody>
      </p:sp>
      <p:sp>
        <p:nvSpPr>
          <p:cNvPr id="50" name="TMR Scale 7"/>
          <p:cNvSpPr txBox="1"/>
          <p:nvPr/>
        </p:nvSpPr>
        <p:spPr>
          <a:xfrm>
            <a:off x="7486650" y="2221132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70%</a:t>
            </a:r>
          </a:p>
        </p:txBody>
      </p:sp>
      <p:sp>
        <p:nvSpPr>
          <p:cNvPr id="51" name="TMR Scale 8"/>
          <p:cNvSpPr txBox="1"/>
          <p:nvPr/>
        </p:nvSpPr>
        <p:spPr>
          <a:xfrm>
            <a:off x="7486650" y="199296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80%</a:t>
            </a:r>
          </a:p>
        </p:txBody>
      </p:sp>
      <p:sp>
        <p:nvSpPr>
          <p:cNvPr id="52" name="TMR Scale 9"/>
          <p:cNvSpPr txBox="1"/>
          <p:nvPr/>
        </p:nvSpPr>
        <p:spPr>
          <a:xfrm>
            <a:off x="7486650" y="1764790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90%</a:t>
            </a:r>
          </a:p>
        </p:txBody>
      </p:sp>
      <p:sp>
        <p:nvSpPr>
          <p:cNvPr id="53" name="TMR Scale 10"/>
          <p:cNvSpPr txBox="1"/>
          <p:nvPr/>
        </p:nvSpPr>
        <p:spPr>
          <a:xfrm>
            <a:off x="7486650" y="153661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100%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29500" y="1025515"/>
            <a:ext cx="0" cy="5549124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80975" y="1080276"/>
            <a:ext cx="7038975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Demand-side Factors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80975" y="1335828"/>
            <a:ext cx="7038975" cy="0"/>
          </a:xfrm>
          <a:prstGeom prst="line">
            <a:avLst/>
          </a:prstGeom>
          <a:ln w="31750">
            <a:solidFill>
              <a:srgbClr val="1F6F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80975" y="1427096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0975" y="1883439"/>
            <a:ext cx="70389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0975" y="2157244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975" y="2613586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0975" y="3069929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0975" y="3526271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Note: the dynamics framing is indicative factors, impact ratings and narrative are generated from the loaded dataset's own values.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34275" y="1322601"/>
            <a:ext cx="943988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Demand Growth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374" y="1313604"/>
            <a:ext cx="118403" cy="17222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549119" y="1561215"/>
            <a:ext cx="903573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Premiumisation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803" y="1552218"/>
            <a:ext cx="118403" cy="17222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424068" y="2311939"/>
            <a:ext cx="76576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App. Breadth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940" y="2302942"/>
            <a:ext cx="118403" cy="17222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909628" y="3278069"/>
            <a:ext cx="791114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Emerging Pull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855" y="3269072"/>
            <a:ext cx="118403" cy="17222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909628" y="4350392"/>
            <a:ext cx="113526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Volume Momentum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08" y="4341395"/>
            <a:ext cx="118403" cy="1722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424068" y="5316521"/>
            <a:ext cx="103209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Category Maturity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2276" y="5307524"/>
            <a:ext cx="118403" cy="17222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549119" y="6067245"/>
            <a:ext cx="91185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Adoption Depth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087" y="6058248"/>
            <a:ext cx="118403" cy="17222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534275" y="6305860"/>
            <a:ext cx="95578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Consumer Reach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172" y="6296863"/>
            <a:ext cx="118403" cy="17222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09550" y="1496754"/>
            <a:ext cx="31408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Demand-side conditions are led by Adoption Depth (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470" y="148697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465966" y="1496754"/>
            <a:ext cx="14109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Consumer Reach (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007" y="148697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4992503" y="1496754"/>
            <a:ext cx="16060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Volume Momentum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633" y="148697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714129" y="1496754"/>
            <a:ext cx="3143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9550" y="1664394"/>
            <a:ext cx="30412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on a 0-10 scale scored from the global dataset itself.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9550" y="1945648"/>
            <a:ext cx="9984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Value grows at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039" y="1935869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323535" y="1945648"/>
            <a:ext cx="10832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volume at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82" y="1935869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522378" y="1945648"/>
            <a:ext cx="2230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premiumising market through 2036.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9550" y="2310722"/>
            <a:ext cx="16628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'Gaseous Helium-3' carries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433" y="2300943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987929" y="2310722"/>
            <a:ext cx="42025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product form demand while 'Gaseous Helium-3' compounds fastest at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515" y="2300943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306010" y="2310722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9550" y="2767064"/>
            <a:ext cx="24767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Pull is strongest in 'South Asia &amp; Pacific' (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49" y="2757285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2801845" y="2767064"/>
            <a:ext cx="5315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CAGR, +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469" y="2757285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448965" y="2767064"/>
            <a:ext cx="35225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versus the market), with 4 of 7 regions at or above pace.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9550" y="3139587"/>
            <a:ext cx="4922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Reach runs through 4 application routes, led by 'Medical and Biomedical Imaging' at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18" y="3129808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247414" y="3139587"/>
            <a:ext cx="17015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with 'Neutron Detection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9550" y="3307227"/>
            <a:ext cx="26150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Radiation Monitoring' growing fastest at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685" y="3297448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2940181" y="330722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Restraints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key restraints on the global market and the likelihood of their impact across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038350" cy="255552"/>
          </a:xfrm>
          <a:prstGeom prst="roundRect">
            <a:avLst>
              <a:gd name="adj" fmla="val 1869"/>
            </a:avLst>
          </a:prstGeom>
          <a:solidFill>
            <a:srgbClr val="C0603A"/>
          </a:solidFill>
          <a:ln w="12700">
            <a:solidFill>
              <a:srgbClr val="C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" y="1025515"/>
            <a:ext cx="20383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Market Restraints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75" y="1390589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58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Liquid Helium-3 Lags the Category and Dilutes Blended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" y="1700902"/>
            <a:ext cx="9439275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0" y="139058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660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660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solidFill>
            <a:srgbClr val="F2C94C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2875" y="3088183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42875" y="3142944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225" y="3142944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Uneven Region Performance Caps the Blended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925" y="3453257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0" y="3142944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9660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075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9660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solidFill>
            <a:srgbClr val="FBF0C4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42875" y="4840538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42875" y="4895299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6225" y="489529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Concentration Risk Limits Pricing and Sourcing Flexibility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925" y="520561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0750" y="489529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075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660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075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660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solidFill>
            <a:srgbClr val="C99A0A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500" y="1837332"/>
            <a:ext cx="18265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'Liquid Helium-3' grows at only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094" y="1827554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132590" y="1837332"/>
            <a:ext cx="15795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against the market's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0236" y="1827554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27732" y="1837332"/>
            <a:ext cx="2841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 a -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897" y="1827554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227392" y="1837332"/>
            <a:ext cx="24412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gap, and 'Liquid Helium-3' surrenders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21" y="1827554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784217" y="1837332"/>
            <a:ext cx="2419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of product form share between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0500" y="2004972"/>
            <a:ext cx="92983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2036. Because these lines still carry meaningful volume, the drag is absorbed by the whole category: blended growth sits below what the leading lines achieve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0500" y="2172613"/>
            <a:ext cx="80939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on their own. Rationalising or repositioning the lagging end of a 2-line portfolio is therefore a precondition for realising the headline forecast.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" y="3498419"/>
            <a:ext cx="17315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'North America' grows at just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142" y="3488640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037637" y="3498419"/>
            <a:ext cx="4699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-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597" y="3488640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623093" y="3498419"/>
            <a:ext cx="66169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against the market and 3 of 7 regions sit below the market pace altogether. Demand is therefore not uniformly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0500" y="3666059"/>
            <a:ext cx="86180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available: suppliers carrying a broad geographic footprint fund presence in slow regions out of returns earned in the fast ones. With 'North America' at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642" y="3656280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924138" y="3666059"/>
            <a:ext cx="5640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value,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0500" y="3833699"/>
            <a:ext cx="51703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shortfall in a single leading region is difficult to offset elsewhere in the forecast window.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0500" y="5250774"/>
            <a:ext cx="33375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is concentrated: 'North America' accounts for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146" y="524099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643642" y="5250774"/>
            <a:ext cx="29809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 and the leading product form line for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671" y="524099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740167" y="5250774"/>
            <a:ext cx="24450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its segment. Average realisation moves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32" y="540863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44528" y="5418414"/>
            <a:ext cx="91247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year, so cost movements cannot be passed on evenly across 7 regions. The practical constraint is the same in either case commercial terms set for the market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0500" y="5586054"/>
            <a:ext cx="61918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 a whole underserve part of it, and margin is lost in the mismatch rather than in the headline growth rate.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key opportunities in the global market and the likelihood of their impact across 2021–2036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25515"/>
            <a:ext cx="2038350" cy="255552"/>
          </a:xfrm>
          <a:prstGeom prst="roundRect">
            <a:avLst>
              <a:gd name="adj" fmla="val 1869"/>
            </a:avLst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" y="1025515"/>
            <a:ext cx="20383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Market Opportunities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75" y="1390589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225" y="139058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U.S. Carries the Largest Absolute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" y="170090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0" y="139058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solidFill>
            <a:srgbClr val="FBF0C4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660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660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2875" y="3088183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42875" y="3142944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225" y="3142944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France Offers Under-penetrated, Above-pace Headroom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925" y="3453257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0" y="3142944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solidFill>
            <a:srgbClr val="F2C94C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9660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075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9660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42875" y="4840538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42875" y="4895299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6225" y="489529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Neutron Detection and Radiation Monitoring Opens the Fastest Route to Market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925" y="520561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0750" y="489529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075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solidFill>
            <a:srgbClr val="C99A0A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660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075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660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500" y="1746064"/>
            <a:ext cx="6620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'U.S.' adds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63" y="1736285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68059" y="1746064"/>
            <a:ext cx="84330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between 2026 and 2036 the single largest absolute increment of any geography in the dataset. Capturing it is a question of scale execution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0500" y="1913704"/>
            <a:ext cx="37692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rather than market creation: demand already exists and grows at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797" y="1903925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075293" y="1913704"/>
            <a:ext cx="54025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at the market level. Prioritising supply, channel coverage and service levels there converts the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0500" y="2081344"/>
            <a:ext cx="11752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largest share of the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797" y="2071565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481293" y="2081344"/>
            <a:ext cx="3306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the whole market adds over the forecast period.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0500" y="3498419"/>
            <a:ext cx="13632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'France' compounds at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792" y="3488640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69288" y="3498419"/>
            <a:ext cx="76022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from a below-median base one of 6 geographies in the dataset combining above-median growth with below-median size. That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0500" y="3666059"/>
            <a:ext cx="47591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profile is where share is cheapest to buy: competitive intensity is lower than in the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702" y="3656280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065198" y="3666059"/>
            <a:ext cx="20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-share leaders, while growth runs +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179" y="3656280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256675" y="3666059"/>
            <a:ext cx="18251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ahead of the market. Early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0500" y="3833699"/>
            <a:ext cx="45566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distribution and reference accounts established here compound through 2036.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0500" y="5250774"/>
            <a:ext cx="32123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'Neutron Detection and Radiation Monitoring' grows at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907" y="5240995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518403" y="5250774"/>
            <a:ext cx="29566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CAGR, the fastest of 4 application routes, and adds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131" y="524099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590627" y="5250774"/>
            <a:ext cx="27847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over the forecast period while 'Medical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0500" y="5418414"/>
            <a:ext cx="21032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Biomedical Imaging' still carries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765" y="5408635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409261" y="5418414"/>
            <a:ext cx="67864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demand today. Pairing the incumbent route for volume with the fastest route for growth and leading with 'Gaseous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0500" y="5586054"/>
            <a:ext cx="7722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Helium-3' at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95" y="5576275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78291" y="5586054"/>
            <a:ext cx="31375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is the highest-yield combination the dataset supports.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Helium-3 Market Recent Developments &amp;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Recent developments and milestones shaping the global market, by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875" y="1025515"/>
            <a:ext cx="11906250" cy="292059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" y="1025515"/>
            <a:ext cx="1428750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0" y="1025515"/>
            <a:ext cx="102393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Recent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2875" y="1317574"/>
            <a:ext cx="11906250" cy="1296013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" y="1317574"/>
            <a:ext cx="1428750" cy="12960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71625" y="1317574"/>
            <a:ext cx="0" cy="1296013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14500" y="1668957"/>
            <a:ext cx="102108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42875" y="2613586"/>
            <a:ext cx="11906250" cy="985700"/>
          </a:xfrm>
          <a:prstGeom prst="rect">
            <a:avLst/>
          </a:prstGeom>
          <a:solidFill>
            <a:srgbClr val="F5F9FD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" y="26135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2026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71625" y="26135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14500" y="2905646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42875" y="3599286"/>
            <a:ext cx="11906250" cy="9857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" y="35992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71625" y="35992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14500" y="38913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42875" y="4584986"/>
            <a:ext cx="11906250" cy="985700"/>
          </a:xfrm>
          <a:prstGeom prst="rect">
            <a:avLst/>
          </a:prstGeom>
          <a:solidFill>
            <a:srgbClr val="F5F9FD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2875" y="45849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71625" y="45849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14500" y="48770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42875" y="5570686"/>
            <a:ext cx="11906250" cy="9857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" y="55706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71625" y="55706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14500" y="58627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3075" y="1797939"/>
            <a:ext cx="35165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Strongest historical expansion on record: Global value rose +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11" y="1788160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75207" y="1797939"/>
            <a:ext cx="9359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year on year to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214" y="1788160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426710" y="1797939"/>
            <a:ext cx="50276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Mn, the steepest single-year move of the 2021–2025 period. Demand for 'Gaseous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3075" y="1965579"/>
            <a:ext cx="6268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Helium-3'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941" y="1955800"/>
            <a:ext cx="128699" cy="18719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485436" y="1965579"/>
            <a:ext cx="7017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product form value by 2036 set the pace, and the 4 application routes tracked here all carried volume through the year.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43075" y="2945502"/>
            <a:ext cx="334046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Base year for the forecast: the global market is estimated at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621" y="2936114"/>
            <a:ext cx="123551" cy="17971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191417" y="2945502"/>
            <a:ext cx="182568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 having compounded at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179" y="2936114"/>
            <a:ext cx="123551" cy="17971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124975" y="2945502"/>
            <a:ext cx="231078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across 2021–2025. 'North America' holds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846" y="2936114"/>
            <a:ext cx="123551" cy="17971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543642" y="2945502"/>
            <a:ext cx="189666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value across 7 regions, and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43075" y="3106436"/>
            <a:ext cx="417604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forecast is built from 4 segment breakdowns covering 2 product form lines.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43075" y="3931201"/>
            <a:ext cx="108937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The market passes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530" y="3921813"/>
            <a:ext cx="123551" cy="17971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940326" y="3931201"/>
            <a:ext cx="29452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one and a half times the 2026 base reaching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609" y="3921813"/>
            <a:ext cx="123551" cy="17971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993405" y="3931201"/>
            <a:ext cx="33881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Mn. Growth by this point is led by 'Gaseous Helium-3' at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625" y="3921813"/>
            <a:ext cx="123551" cy="17971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489420" y="3931201"/>
            <a:ext cx="19451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and by 'South Asia &amp; Pacific'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43075" y="4092135"/>
            <a:ext cx="102310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among regions at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260" y="4082747"/>
            <a:ext cx="123551" cy="17971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874056" y="4092135"/>
            <a:ext cx="317806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, with 4 of 7 regions running at or above the market rate.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43075" y="4916901"/>
            <a:ext cx="219029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Mid-horizon checkpoint: value reaches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454" y="4907513"/>
            <a:ext cx="123551" cy="17971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041250" y="4916901"/>
            <a:ext cx="54113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470" y="4907513"/>
            <a:ext cx="123551" cy="17971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690266" y="4916901"/>
            <a:ext cx="258133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× the 2026 base. Average realisation stands at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681" y="4907513"/>
            <a:ext cx="123551" cy="17971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379477" y="4916901"/>
            <a:ext cx="185842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US$/Litres, and mix has moved +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981" y="4907513"/>
            <a:ext cx="123551" cy="17971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345777" y="4916901"/>
            <a:ext cx="210962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toward 'Gaseous Helium-3' while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43075" y="5077835"/>
            <a:ext cx="14697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'Liquid Helium-3' gives up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864" y="5068447"/>
            <a:ext cx="123551" cy="1797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3320660" y="5077835"/>
            <a:ext cx="31403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43075" y="5902601"/>
            <a:ext cx="254414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Forecast outcome: the global market reaches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303" y="5893213"/>
            <a:ext cx="123551" cy="17971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395098" y="5902601"/>
            <a:ext cx="63569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 a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879" y="5893213"/>
            <a:ext cx="123551" cy="17971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138675" y="5902601"/>
            <a:ext cx="143775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× expansion on 2026 and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507" y="5893213"/>
            <a:ext cx="123551" cy="17971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684303" y="5902601"/>
            <a:ext cx="179922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of incremental value at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610" y="5893213"/>
            <a:ext cx="123551" cy="17971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591406" y="5902601"/>
            <a:ext cx="167871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CAGR. Volume compounds at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204" y="5893213"/>
            <a:ext cx="123551" cy="17971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378000" y="5902601"/>
            <a:ext cx="85467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same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43075" y="6063535"/>
            <a:ext cx="156505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window, leaving realisation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09" y="6054147"/>
            <a:ext cx="123551" cy="17971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416005" y="6063535"/>
            <a:ext cx="425541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 year the gap between the two is the premiumisation the forecast assumes.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Porter's Five Forces Analysis Global Helium-3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supplier power, buyer power, competition, substitutes and entry barriers shaping the market's profitability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989007"/>
            <a:ext cx="11906250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876300" y="1427096"/>
            <a:ext cx="914400" cy="876177"/>
          </a:xfrm>
          <a:prstGeom prst="ellipse">
            <a:avLst/>
          </a:prstGeom>
          <a:solidFill>
            <a:srgbClr val="F2D24B"/>
          </a:solidFill>
          <a:ln w="12700">
            <a:solidFill>
              <a:srgbClr val="F2D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664394"/>
            <a:ext cx="571500" cy="401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 b="1">
                <a:solidFill>
                  <a:srgbClr val="8A6A00"/>
                </a:solidFill>
                <a:latin typeface="Calibri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Bargaining Power of Suppliers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650" y="2796123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650" y="3663174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650" y="4530225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▸  Buyers can rebalance across 2 product form lines, which caps supplier leverage in commodity grades.</a:t>
            </a:r>
          </a:p>
        </p:txBody>
      </p:sp>
      <p:sp>
        <p:nvSpPr>
          <p:cNvPr id="14" name="Oval 13"/>
          <p:cNvSpPr/>
          <p:nvPr/>
        </p:nvSpPr>
        <p:spPr>
          <a:xfrm>
            <a:off x="3257550" y="1427096"/>
            <a:ext cx="914400" cy="876177"/>
          </a:xfrm>
          <a:prstGeom prst="ellipse">
            <a:avLst/>
          </a:prstGeom>
          <a:solidFill>
            <a:srgbClr val="D9D9D9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476625" y="1710028"/>
            <a:ext cx="152400" cy="209918"/>
          </a:xfrm>
          <a:custGeom>
            <a:avLst/>
            <a:gdLst/>
            <a:ahLst/>
            <a:cxnLst/>
            <a:rect l="l" t="t" r="r" b="b"/>
            <a:pathLst>
              <a:path w="16" h="23">
                <a:moveTo>
                  <a:pt x="0" y="0"/>
                </a:moveTo>
                <a:lnTo>
                  <a:pt x="8" y="0"/>
                </a:lnTo>
                <a:lnTo>
                  <a:pt x="16" y="23"/>
                </a:lnTo>
              </a:path>
            </a:pathLst>
          </a:custGeom>
          <a:noFill/>
          <a:ln w="431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609975" y="1783043"/>
            <a:ext cx="342900" cy="155156"/>
          </a:xfrm>
          <a:custGeom>
            <a:avLst/>
            <a:gdLst/>
            <a:ahLst/>
            <a:cxnLst/>
            <a:rect l="l" t="t" r="r" b="b"/>
            <a:pathLst>
              <a:path w="36" h="17">
                <a:moveTo>
                  <a:pt x="0" y="0"/>
                </a:moveTo>
                <a:lnTo>
                  <a:pt x="36" y="0"/>
                </a:lnTo>
                <a:lnTo>
                  <a:pt x="31" y="17"/>
                </a:lnTo>
                <a:lnTo>
                  <a:pt x="5" y="17"/>
                </a:lnTo>
                <a:close/>
              </a:path>
            </a:pathLst>
          </a:cu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48075" y="1983834"/>
            <a:ext cx="76200" cy="7301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29050" y="1983834"/>
            <a:ext cx="76200" cy="7301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032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Bargaining Power of Buyers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8900" y="2796123"/>
            <a:ext cx="2171700" cy="11499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8900" y="4037375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8900" y="4721889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▸  Switching is easiest where 2 comparable product form lines compete for the same demand.</a:t>
            </a:r>
          </a:p>
        </p:txBody>
      </p:sp>
      <p:sp>
        <p:nvSpPr>
          <p:cNvPr id="23" name="Oval 22"/>
          <p:cNvSpPr/>
          <p:nvPr/>
        </p:nvSpPr>
        <p:spPr>
          <a:xfrm>
            <a:off x="5638800" y="1427096"/>
            <a:ext cx="914400" cy="876177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6925" y="1655267"/>
            <a:ext cx="438150" cy="419835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0" y="1719155"/>
            <a:ext cx="304800" cy="292059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10275" y="1783043"/>
            <a:ext cx="171450" cy="164283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62662" y="1833240"/>
            <a:ext cx="66675" cy="63888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6134100" y="1627887"/>
            <a:ext cx="209550" cy="200791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22" y="0"/>
                </a:lnTo>
              </a:path>
            </a:pathLst>
          </a:custGeom>
          <a:noFill/>
          <a:ln w="381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267450" y="1591379"/>
            <a:ext cx="114300" cy="109522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close/>
              </a:path>
            </a:pathLst>
          </a:custGeom>
          <a:solidFill>
            <a:srgbClr val="B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15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Intensity of Competition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150" y="2796123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150" y="3480637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150" y="4165151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8020050" y="1427096"/>
            <a:ext cx="914400" cy="876177"/>
          </a:xfrm>
          <a:prstGeom prst="ellipse">
            <a:avLst/>
          </a:prstGeom>
          <a:solidFill>
            <a:srgbClr val="C9C0E0"/>
          </a:solidFill>
          <a:ln w="12700">
            <a:solidFill>
              <a:srgbClr val="C9C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82000" y="1637014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48650" y="1874312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15350" y="1874312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282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Threat of Substitutes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1400" y="2796123"/>
            <a:ext cx="2171700" cy="96744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1400" y="3854838"/>
            <a:ext cx="21717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91400" y="4347688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10401300" y="1427096"/>
            <a:ext cx="914400" cy="876177"/>
          </a:xfrm>
          <a:prstGeom prst="ellipse">
            <a:avLst/>
          </a:prstGeom>
          <a:solidFill>
            <a:srgbClr val="BFDCEA"/>
          </a:solidFill>
          <a:ln w="12700">
            <a:solidFill>
              <a:srgbClr val="B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10850" y="1700902"/>
            <a:ext cx="114300" cy="109522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0563225" y="1837804"/>
            <a:ext cx="209550" cy="182537"/>
          </a:xfrm>
          <a:custGeom>
            <a:avLst/>
            <a:gdLst/>
            <a:ahLst/>
            <a:cxnLst/>
            <a:rect l="l" t="t" r="r" b="b"/>
            <a:pathLst>
              <a:path w="22" h="20">
                <a:moveTo>
                  <a:pt x="0" y="20"/>
                </a:moveTo>
                <a:lnTo>
                  <a:pt x="3" y="0"/>
                </a:lnTo>
                <a:lnTo>
                  <a:pt x="19" y="0"/>
                </a:lnTo>
                <a:lnTo>
                  <a:pt x="22" y="20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91850" y="1700902"/>
            <a:ext cx="114300" cy="109522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944225" y="1837804"/>
            <a:ext cx="209550" cy="182537"/>
          </a:xfrm>
          <a:custGeom>
            <a:avLst/>
            <a:gdLst/>
            <a:ahLst/>
            <a:cxnLst/>
            <a:rect l="l" t="t" r="r" b="b"/>
            <a:pathLst>
              <a:path w="22" h="20">
                <a:moveTo>
                  <a:pt x="0" y="20"/>
                </a:moveTo>
                <a:lnTo>
                  <a:pt x="3" y="0"/>
                </a:lnTo>
                <a:lnTo>
                  <a:pt x="19" y="0"/>
                </a:lnTo>
                <a:lnTo>
                  <a:pt x="22" y="20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82300" y="1609633"/>
            <a:ext cx="152400" cy="146030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0715625" y="1783043"/>
            <a:ext cx="285750" cy="255552"/>
          </a:xfrm>
          <a:custGeom>
            <a:avLst/>
            <a:gdLst/>
            <a:ahLst/>
            <a:cxnLst/>
            <a:rect l="l" t="t" r="r" b="b"/>
            <a:pathLst>
              <a:path w="30" h="28">
                <a:moveTo>
                  <a:pt x="0" y="28"/>
                </a:moveTo>
                <a:lnTo>
                  <a:pt x="4" y="0"/>
                </a:lnTo>
                <a:lnTo>
                  <a:pt x="26" y="0"/>
                </a:lnTo>
                <a:lnTo>
                  <a:pt x="30" y="28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440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Threat of New Entrants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2650" y="2796123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72650" y="3663174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2650" y="4347688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1450" y="1069470"/>
            <a:ext cx="99026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C7A89"/>
                </a:solidFill>
                <a:latin typeface="Calibri"/>
              </a:rPr>
              <a:t>Supplier power, buyer power, competitive intensity, substitution and entry barriers scored from the global dataset 2 product form lines, 4 application routes and 7 regions at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177" y="1059691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189673" y="1069470"/>
            <a:ext cx="4306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C7A89"/>
                </a:solidFill>
                <a:latin typeface="Calibri"/>
              </a:rPr>
              <a:t>CAGR.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6225" y="2848734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 'North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6225" y="3016374"/>
            <a:ext cx="10710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America' supplies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293" y="3006595"/>
            <a:ext cx="128699" cy="18719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462789" y="3016374"/>
            <a:ext cx="8445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6225" y="3184014"/>
            <a:ext cx="18420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across 7 regions, concentrating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6225" y="3351654"/>
            <a:ext cx="11736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upstream leverage.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6225" y="3799605"/>
            <a:ext cx="1676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Average realisation moves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439" y="3789826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2067935" y="3799605"/>
            <a:ext cx="1430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225" y="3967245"/>
            <a:ext cx="20311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year (2026–2036), indicating input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4134885"/>
            <a:ext cx="18742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costs are being passed through.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57475" y="2952014"/>
            <a:ext cx="17463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57475" y="3119654"/>
            <a:ext cx="1545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Demand routes through 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7475" y="3287294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application channels led by 'Medical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57475" y="3454934"/>
            <a:ext cx="16071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Biomedical Imaging' at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696" y="3445155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380192" y="3454934"/>
            <a:ext cx="1111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57475" y="3622574"/>
            <a:ext cx="14873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giving large buyers scale.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57475" y="4082537"/>
            <a:ext cx="20620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Price sensitivity tracks realisation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57475" y="4250177"/>
            <a:ext cx="4958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moving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372" y="4240398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268868" y="4250177"/>
            <a:ext cx="13165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 against volume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57475" y="4417817"/>
            <a:ext cx="6325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growth of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070" y="4408038"/>
            <a:ext cx="128699" cy="18719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405566" y="441781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38725" y="2841285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low. 2 product form lines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38725" y="3008925"/>
            <a:ext cx="19506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compete inside the segment; the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38725" y="3176565"/>
            <a:ext cx="7755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leader holds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295" y="3166786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929790" y="317656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38725" y="3525799"/>
            <a:ext cx="19340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Growth is unevenly distributed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38725" y="3693439"/>
            <a:ext cx="13154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'Gaseous Helium-3' at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68" y="3683660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469764" y="3693439"/>
            <a:ext cx="4827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38725" y="3861079"/>
            <a:ext cx="11779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'Liquid Helium-3' at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751" y="3851300"/>
            <a:ext cx="128699" cy="18719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332247" y="3861079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38725" y="4210313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4 of 7 regions grow at or above the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257" y="4368174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5192753" y="4377953"/>
            <a:ext cx="16431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pace, keeping share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38725" y="4545593"/>
            <a:ext cx="678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contested.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19975" y="2860746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 'Liquid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19975" y="3028386"/>
            <a:ext cx="9430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Helium-3' loses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076" y="3018607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478571" y="3028386"/>
            <a:ext cx="9337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of share to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19975" y="3196026"/>
            <a:ext cx="13135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'Gaseous Helium-3' (+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608" y="3186247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849104" y="3196026"/>
            <a:ext cx="4993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BPS) by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19975" y="3363666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 substitution is visible inside the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19975" y="3531306"/>
            <a:ext cx="3157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mix.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19975" y="3894694"/>
            <a:ext cx="155038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▸ The slowest line grows at</a:t>
            </a:r>
          </a:p>
        </p:txBody>
      </p:sp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440" y="3885306"/>
            <a:ext cx="123551" cy="17971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078236" y="3894694"/>
            <a:ext cx="18123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, -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555" y="3885306"/>
            <a:ext cx="123551" cy="17971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419975" y="4055628"/>
            <a:ext cx="136886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against the market.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19975" y="4392850"/>
            <a:ext cx="12543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Realisation moving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399" y="4383071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8789895" y="4392850"/>
            <a:ext cx="4232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19975" y="4560490"/>
            <a:ext cx="19113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widens the price gap substitutes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19975" y="4728130"/>
            <a:ext cx="7187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must close.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01225" y="2848734"/>
            <a:ext cx="19891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 The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801225" y="3016374"/>
            <a:ext cx="10033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grows at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626" y="3006595"/>
            <a:ext cx="128699" cy="18719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0920122" y="3016374"/>
            <a:ext cx="9405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and adds</a:t>
            </a:r>
          </a:p>
        </p:txBody>
      </p:sp>
      <p:pic>
        <p:nvPicPr>
          <p:cNvPr id="122" name="Picture 1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757" y="3174235"/>
            <a:ext cx="128699" cy="187198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9955253" y="3184014"/>
            <a:ext cx="16298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by 2036, attracting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801225" y="3351654"/>
            <a:ext cx="4134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entry.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801225" y="3708336"/>
            <a:ext cx="19714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Demand spreads over 7 regions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801225" y="3875976"/>
            <a:ext cx="14931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with no single one above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394" y="3866197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1409890" y="3875976"/>
            <a:ext cx="2710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 so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801225" y="4043616"/>
            <a:ext cx="14985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regional entry is feasible.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801225" y="4400299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Incumbent scale in 'North America'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801225" y="4567939"/>
            <a:ext cx="14892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'Gaseous Helium-3' (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8574" y="4558160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11406070" y="4567939"/>
            <a:ext cx="1924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801225" y="4735579"/>
            <a:ext cx="18434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segment) remains the principal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801225" y="4903219"/>
            <a:ext cx="4999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barrier.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MR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280" y="198120"/>
            <a:ext cx="1459992" cy="1127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03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Helium-3 Market</a:t>
            </a:r>
          </a:p>
        </p:txBody>
      </p:sp>
      <p:sp>
        <p:nvSpPr>
          <p:cNvPr id="6" name="TMR Breaker Title"/>
          <p:cNvSpPr txBox="1"/>
          <p:nvPr/>
        </p:nvSpPr>
        <p:spPr>
          <a:xfrm>
            <a:off x="914400" y="33051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Competition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10025"/>
            <a:ext cx="71247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Competitive Landscape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Share by Leading Players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Company Profiles &amp; Strategic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16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Competitive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Pipeline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Strategic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Competition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Competitive Landscape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Market concentration, segment leadership and the moves that will shift share, 2026–2036, in one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500" y="10477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765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share,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65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Calibri"/>
              </a:rPr>
              <a:t>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6687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2402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5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02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4325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0040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product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1962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7677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Largest end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677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5315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Named competitors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15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10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7237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2952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Moves tracked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952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4875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0590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Largest player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590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Air Liquide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2512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8227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227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0500" y="17335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0500" y="19240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500" y="19240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300" y="19050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Leadership is concentrated in value, spread in capability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300" y="21145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90500" y="30289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0500" y="30289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300" y="30099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The tier structure is steep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300" y="32194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90500" y="41338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0500" y="41338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300" y="41148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Growth is shifting inside the product mix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300" y="43243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6286500" y="19240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6500" y="19240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91300" y="19050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Reach divides the field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1300" y="21145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4 players compete globally, 2 regionally and 4 in one market or niche.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6500" y="30289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6500" y="30289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1300" y="30099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Consolidation is an active lever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1300" y="32194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is an active strategy at 5 of 10 named players; the independent target list is shrinking.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6500" y="41338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6500" y="41338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91300" y="41148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Success factors, in order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1300" y="43243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1 segment breadth, 2 scale and share, 3 geographic reach, 4 innovation pipeline, 5 strategic momentum.  Ranking leads: Linde, Air Liquide, Chemgas.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90500" y="5219700"/>
            <a:ext cx="11811000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0500" y="5276850"/>
            <a:ext cx="38100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THIS SECTION IS BUILT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0500" y="5448300"/>
            <a:ext cx="11811000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Pages 2 to 4 show where the market is and who plays.  Pages 5 to 7 rate every named company on twenty Ps (who they are, what they sell, how they win); a cell reads n/a where no evidence exists.  Page 8 turns the pattern into five success factors and a ranking.  Pages 9 and 10 list what each player is doing and what each of your departments should do about it.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63" y="1401826"/>
            <a:ext cx="128699" cy="187198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238" y="1401826"/>
            <a:ext cx="128699" cy="187198"/>
          </a:xfrm>
          <a:prstGeom prst="rect">
            <a:avLst/>
          </a:prstGeom>
        </p:spPr>
      </p:pic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613" y="1401826"/>
            <a:ext cx="128699" cy="187198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8488" y="1401826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705350" y="1304925"/>
            <a:ext cx="1323975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1">
                <a:solidFill>
                  <a:srgbClr val="0F2D52"/>
                </a:solidFill>
                <a:latin typeface="Calibri"/>
              </a:rPr>
              <a:t>Medical and Biomedical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5350" y="1459153"/>
            <a:ext cx="534568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1">
                <a:solidFill>
                  <a:srgbClr val="0F2D52"/>
                </a:solidFill>
                <a:latin typeface="Calibri"/>
              </a:rPr>
              <a:t>Imaging,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030" y="1450157"/>
            <a:ext cx="118403" cy="17222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23875" y="2124075"/>
            <a:ext cx="11373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The top three hold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246" y="2114296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776742" y="2124075"/>
            <a:ext cx="39493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of 2026 value, but 3 companies lead the 6 sub-segments tracked; 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875" y="2291715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one leads more than 3.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875" y="3228975"/>
            <a:ext cx="13640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Tier 1 (4 players) holds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985" y="3219196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003481" y="3228975"/>
            <a:ext cx="1875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; Tier 2 and Tier 3 together hold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189" y="3219196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994685" y="322897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875" y="4333875"/>
            <a:ext cx="45853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'Gaseous Helium-3' is the largest line; 'Gaseous Helium-3' compounds fastest at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271" y="4324096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224767" y="4333875"/>
            <a:ext cx="4306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CAGR.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Segment Leadership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Share by player group and which named player leads or is active in each sub-segment,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1047750"/>
            <a:ext cx="5715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holds the market,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500" y="1257300"/>
            <a:ext cx="4509884" cy="266700"/>
          </a:xfrm>
          <a:prstGeom prst="rect">
            <a:avLst/>
          </a:prstGeom>
          <a:solidFill>
            <a:srgbClr val="0F2D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650" y="1257300"/>
            <a:ext cx="4433684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700384" y="1257300"/>
            <a:ext cx="1536162" cy="266700"/>
          </a:xfrm>
          <a:prstGeom prst="rect">
            <a:avLst/>
          </a:prstGeom>
          <a:solidFill>
            <a:srgbClr val="1F6F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7534" y="1257300"/>
            <a:ext cx="1459962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236546" y="1257300"/>
            <a:ext cx="2242416" cy="266700"/>
          </a:xfrm>
          <a:prstGeom prst="rect">
            <a:avLst/>
          </a:prstGeom>
          <a:solidFill>
            <a:srgbClr val="6FA0C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3696" y="1257300"/>
            <a:ext cx="2166216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478962" y="1257300"/>
            <a:ext cx="3522538" cy="266700"/>
          </a:xfrm>
          <a:prstGeom prst="rect">
            <a:avLst/>
          </a:prstGeom>
          <a:solidFill>
            <a:srgbClr val="A9C6E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6112" y="1257300"/>
            <a:ext cx="3446338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90500" y="1600200"/>
            <a:ext cx="85725" cy="857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32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Air Liquide, Linde, Chemgas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43250" y="1600200"/>
            <a:ext cx="85725" cy="857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707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Airgas, Merck KGaA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0" y="1600200"/>
            <a:ext cx="85725" cy="85725"/>
          </a:xfrm>
          <a:prstGeom prst="rect">
            <a:avLst/>
          </a:prstGeom>
          <a:solidFill>
            <a:srgbClr val="6FA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982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Eurisotop, ISOFLEX USA, DWS Specialty Gas, Wuhan Baisida Gas, Shanghai Wechem Chemical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8750" y="1600200"/>
            <a:ext cx="85725" cy="8572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257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Long tail of regional and niche suppliers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500" y="19240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0500" y="1981200"/>
            <a:ext cx="8572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leads which sub-segment, 2026  (full = leader, half = active)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5" y="2114550"/>
            <a:ext cx="1582108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Gaseous Helium-3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9512" y="2114550"/>
            <a:ext cx="1582108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Liquid Helium-3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9720" y="2114550"/>
            <a:ext cx="1582108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927" y="2114550"/>
            <a:ext cx="1582108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Cryogenic Refrigeration and Ultra-Low-Temperature Cooling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0135" y="2114550"/>
            <a:ext cx="1582108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Neutron Detection and Radiation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0342" y="2114550"/>
            <a:ext cx="1582108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Nuclear Fusion Research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0500" y="2609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90500" y="2638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750" y="26289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 Liquide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" y="27908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6" name="Oval 35"/>
          <p:cNvSpPr/>
          <p:nvPr/>
        </p:nvSpPr>
        <p:spPr>
          <a:xfrm>
            <a:off x="3014158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086100" y="2705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34366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54574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74781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94989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115196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1191875" y="2705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90500" y="2952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90500" y="2981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750" y="29718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Linde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750" y="31337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8" name="Oval 47"/>
          <p:cNvSpPr/>
          <p:nvPr/>
        </p:nvSpPr>
        <p:spPr>
          <a:xfrm>
            <a:off x="3014158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086100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634366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714875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254574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6334125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874781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494989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572625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115196" y="3048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90500" y="3295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90500" y="3324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5750" y="33147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Chemgas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5750" y="34766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62" name="Oval 61"/>
          <p:cNvSpPr/>
          <p:nvPr/>
        </p:nvSpPr>
        <p:spPr>
          <a:xfrm>
            <a:off x="3014158" y="3390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634366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254574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874781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953375" y="3390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494989" y="3390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115196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1191875" y="3390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90500" y="3638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90500" y="3667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5750" y="36576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Airgas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5750" y="38195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74" name="Oval 73"/>
          <p:cNvSpPr/>
          <p:nvPr/>
        </p:nvSpPr>
        <p:spPr>
          <a:xfrm>
            <a:off x="3014158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634366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714875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254574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334125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874781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7953375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494989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115196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90500" y="3981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90500" y="4010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5750" y="40005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Merck KGaA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5750" y="41624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87" name="Oval 86"/>
          <p:cNvSpPr/>
          <p:nvPr/>
        </p:nvSpPr>
        <p:spPr>
          <a:xfrm>
            <a:off x="3014158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086100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634366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714875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254574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334125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874781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494989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9572625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115196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190500" y="4324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90500" y="4352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5750" y="43434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Eurisotop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5750" y="45053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101" name="Oval 100"/>
          <p:cNvSpPr/>
          <p:nvPr/>
        </p:nvSpPr>
        <p:spPr>
          <a:xfrm>
            <a:off x="3014158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3086100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634366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4714875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254574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874781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53375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494989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9572625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115196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90500" y="4667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190500" y="4695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85750" y="46863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ISOFLEX USA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5750" y="48482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15" name="Oval 114"/>
          <p:cNvSpPr/>
          <p:nvPr/>
        </p:nvSpPr>
        <p:spPr>
          <a:xfrm>
            <a:off x="3014158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086100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634366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254574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334125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874781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953375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494989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115196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190500" y="5010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190500" y="5038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85750" y="50292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DWS Specialty Gas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85750" y="51911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28" name="Oval 127"/>
          <p:cNvSpPr/>
          <p:nvPr/>
        </p:nvSpPr>
        <p:spPr>
          <a:xfrm>
            <a:off x="3014158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634366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4714875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254574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334125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874781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494989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9572625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115196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190500" y="5353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190500" y="53816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5750" y="53721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Wuhan Baisida Gas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5750" y="55340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41" name="Oval 140"/>
          <p:cNvSpPr/>
          <p:nvPr/>
        </p:nvSpPr>
        <p:spPr>
          <a:xfrm>
            <a:off x="3014158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3086100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634366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4714875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254574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874781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7953375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494989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9572625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1115196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>
            <a:off x="190500" y="5695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190500" y="57245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85750" y="57150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Shanghai Wechem Chemical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85750" y="58769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55" name="Oval 154"/>
          <p:cNvSpPr/>
          <p:nvPr/>
        </p:nvSpPr>
        <p:spPr>
          <a:xfrm>
            <a:off x="3014158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3086100" y="5791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634366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4714875" y="5791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254574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6334125" y="5791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874781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7953375" y="5791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494989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115196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>
            <a:off x="190500" y="6038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190500" y="6124575"/>
            <a:ext cx="85725" cy="857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14325" y="60769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47725" y="6124575"/>
            <a:ext cx="85725" cy="85725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71550" y="60769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504950" y="6124575"/>
            <a:ext cx="85725" cy="85725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628775" y="60769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90500" y="62865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90500" y="64008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Read across a row to see breadth; down a column to see contestability.  'Gaseous Helium-3' is the most contested column (8 players active); 'Nuclear Fusion Research' is the most open (3).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76225" y="1306830"/>
            <a:ext cx="39816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Top 3</a:t>
            </a:r>
          </a:p>
        </p:txBody>
      </p:sp>
      <p:pic>
        <p:nvPicPr>
          <p:cNvPr id="177" name="Picture 1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41" y="1297051"/>
            <a:ext cx="128699" cy="187198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4786109" y="1306830"/>
            <a:ext cx="8131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Rest of top 5</a:t>
            </a:r>
          </a:p>
        </p:txBody>
      </p:sp>
      <p:pic>
        <p:nvPicPr>
          <p:cNvPr id="179" name="Picture 1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332" y="1297051"/>
            <a:ext cx="128699" cy="187198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6322271" y="1306830"/>
            <a:ext cx="6202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Emerging</a:t>
            </a:r>
          </a:p>
        </p:txBody>
      </p:sp>
      <p:pic>
        <p:nvPicPr>
          <p:cNvPr id="181" name="Picture 1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588" y="1297051"/>
            <a:ext cx="128699" cy="187198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8564687" y="1306830"/>
            <a:ext cx="4699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F2D52"/>
                </a:solidFill>
                <a:latin typeface="Calibri"/>
              </a:rPr>
              <a:t>Others</a:t>
            </a:r>
          </a:p>
        </p:txBody>
      </p:sp>
      <p:pic>
        <p:nvPicPr>
          <p:cNvPr id="183" name="Picture 1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663" y="129705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Value Chain Positioning of Leading Players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How the market is organised by product type and end use, and who leads at each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650" y="1047750"/>
            <a:ext cx="2857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share,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50" y="1238250"/>
            <a:ext cx="28575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4325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0" y="1047750"/>
            <a:ext cx="2857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5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238250"/>
            <a:ext cx="28575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53150" y="1047750"/>
            <a:ext cx="2857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Gaseous Helium-3,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150" y="1238250"/>
            <a:ext cx="28575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4875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05900" y="1047750"/>
            <a:ext cx="2857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Liquid Helium-3,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5900" y="1238250"/>
            <a:ext cx="28575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500" y="1543050"/>
            <a:ext cx="11811000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0500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750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1. Gaseous Helium-3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192405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192405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of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" y="213360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213360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5750" y="236220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5750" y="241935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25908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●  Chemgas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28194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ALSO 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29908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Air Liquide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750" y="31623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Linde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750" y="33337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Merck KGaA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750" y="35052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Eurisotop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85750" y="443865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85750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750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95612" y="3495675"/>
            <a:ext cx="152400" cy="0"/>
          </a:xfrm>
          <a:prstGeom prst="line">
            <a:avLst/>
          </a:prstGeom>
          <a:ln w="254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3105150" y="3448050"/>
            <a:ext cx="57150" cy="9525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6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F2D52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5162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5162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00412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2. Liquid Helium-3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00412" y="192405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86212" y="192405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of market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0412" y="213360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86212" y="213360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00412" y="2362200"/>
            <a:ext cx="2576513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300412" y="241935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LEADS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0412" y="25908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●  Air Liquide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00412" y="28194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ALSO ACTIVE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00412" y="29908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Linde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00412" y="31623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Airgas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00412" y="33337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Merck KGaA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00412" y="35052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Eurisotop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300412" y="4438650"/>
            <a:ext cx="2576513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300412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0412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10275" y="3495675"/>
            <a:ext cx="152400" cy="0"/>
          </a:xfrm>
          <a:prstGeom prst="line">
            <a:avLst/>
          </a:prstGeom>
          <a:ln w="254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6115050" y="3448050"/>
            <a:ext cx="66675" cy="95250"/>
          </a:xfrm>
          <a:custGeom>
            <a:avLst/>
            <a:gdLst/>
            <a:ahLst/>
            <a:cxnLst/>
            <a:rect l="l" t="t" r="r" b="b"/>
            <a:pathLst>
              <a:path w="7" h="10">
                <a:moveTo>
                  <a:pt x="7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F2D52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34488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34488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9738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4. Application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9738" y="1924050"/>
            <a:ext cx="25765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By application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9738" y="2133600"/>
            <a:ext cx="25765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Who buys the output.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329738" y="236220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329738" y="241935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82288" y="2524125"/>
            <a:ext cx="766762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487150" y="248602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9738" y="274320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Cryogenic Refrigeration and Ultra-Low-Temperature Cooling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82288" y="2847975"/>
            <a:ext cx="324302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44689" y="280987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9738" y="306705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Neutron Detection and Radiation Monitoring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682288" y="3171825"/>
            <a:ext cx="170918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91305" y="313372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9738" y="339090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Nuclear Fusion Research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82288" y="3495675"/>
            <a:ext cx="159178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79565" y="345757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329738" y="443865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329738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9738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190500" y="5467350"/>
            <a:ext cx="11811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0500" y="5467350"/>
            <a:ext cx="47625" cy="4000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4800" y="5467350"/>
            <a:ext cx="104775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ENABLERS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28750" y="5467350"/>
            <a:ext cx="104775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Gaseous Helium-3 Compounds Fastest Across the Product Form Mix  |  South Asia &amp; Pacific Emerges as the Growth Engine Among Regions  |  Premiumisation Lifts Average Realisation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0500" y="5924550"/>
            <a:ext cx="11811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0500" y="5924550"/>
            <a:ext cx="47625" cy="400050"/>
          </a:xfrm>
          <a:prstGeom prst="rect">
            <a:avLst/>
          </a:prstGeom>
          <a:solidFill>
            <a:srgbClr val="8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800" y="5924550"/>
            <a:ext cx="104775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8B1E2D"/>
                </a:solidFill>
                <a:latin typeface="Calibri"/>
              </a:rPr>
              <a:t>CONSTRAINTS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28750" y="5924550"/>
            <a:ext cx="104775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Liquid Helium-3 Lags the Category and Dilutes Blended Growth  |  Uneven Region Performance Caps the Blended Rate  |  Concentration Risk Limits Pricing and Sourcing Flexibility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050" y="1258951"/>
            <a:ext cx="128699" cy="187198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800" y="1258951"/>
            <a:ext cx="128699" cy="187198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550" y="1258951"/>
            <a:ext cx="128699" cy="18719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0300" y="1258951"/>
            <a:ext cx="128699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75" y="1925701"/>
            <a:ext cx="128699" cy="187198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75" y="2135251"/>
            <a:ext cx="128699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437" y="1925701"/>
            <a:ext cx="128699" cy="187198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437" y="2135251"/>
            <a:ext cx="128699" cy="187198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0925" y="2487676"/>
            <a:ext cx="128699" cy="187198"/>
          </a:xfrm>
          <a:prstGeom prst="rect">
            <a:avLst/>
          </a:prstGeom>
        </p:spPr>
      </p:pic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8464" y="2811526"/>
            <a:ext cx="128699" cy="187198"/>
          </a:xfrm>
          <a:prstGeom prst="rect">
            <a:avLst/>
          </a:prstGeom>
        </p:spPr>
      </p:pic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080" y="3135376"/>
            <a:ext cx="128699" cy="187198"/>
          </a:xfrm>
          <a:prstGeom prst="rect">
            <a:avLst/>
          </a:prstGeom>
        </p:spPr>
      </p:pic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3340" y="3459226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314325" y="4676775"/>
            <a:ext cx="24232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5 named players compete here; 'Gaseous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4325" y="4844415"/>
            <a:ext cx="9266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Helium-3' adds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054" y="4834636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356550" y="4844415"/>
            <a:ext cx="10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US$ Mn by 2036.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28987" y="4676775"/>
            <a:ext cx="2285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5 named players compete here; 'Liquid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28987" y="4844415"/>
            <a:ext cx="9266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Helium-3' adds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16" y="4834636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371212" y="4844415"/>
            <a:ext cx="10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US$ Mn by 2036.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58313" y="4676775"/>
            <a:ext cx="17288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The top two end uses pay for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5226" y="4666996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1202722" y="4676775"/>
            <a:ext cx="4139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of the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58313" y="4844415"/>
            <a:ext cx="25193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market; vendors package for one vertical at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58313" y="5012055"/>
            <a:ext cx="4701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a time.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Player Landscape by Business Type and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Named players by business type and geographic reach, with how each group competes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38300" y="1047750"/>
            <a:ext cx="3422650" cy="2667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1450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1  (4)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9050" y="1047750"/>
            <a:ext cx="3422650" cy="2667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25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2  (2)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59800" y="1047750"/>
            <a:ext cx="3422650" cy="2667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3 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" y="14097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Global (4)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500" y="15811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Sells in most major regions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7825" y="13906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33550" y="14478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3550" y="14382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14287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 Liquide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3550" y="16383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3550" y="16287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4050" y="16192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Linde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3550" y="18288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3550" y="18192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4050" y="18097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Chemgas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3550" y="20193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3550" y="20097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50" y="20002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Airgas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08575" y="13906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69325" y="13906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0500" y="24384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Regional (2)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500" y="26098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Strong in one or two regions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0500" y="24003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47825" y="24193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08575" y="24193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194300" y="2476500"/>
            <a:ext cx="142875" cy="14287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94300" y="24669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84800" y="24574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Merck KGaA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94300" y="2667000"/>
            <a:ext cx="142875" cy="14287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4300" y="26574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4800" y="26479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Eurisotop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569325" y="24193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0500" y="34671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Local or niche (4)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500" y="36385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One market or one specialist use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90500" y="34290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47825" y="34480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108575" y="34480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69325" y="34480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655050" y="35052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5050" y="34956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5550" y="34861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ISOFLEX USA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55050" y="36957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5050" y="36861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45550" y="36766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DWS Specialty Gas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55050" y="38862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5050" y="38766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5550" y="38671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Wuhan Baisida Gas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55050" y="40767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55050" y="40671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45550" y="40576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Shanghai Wechem Chemical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0500" y="4524375"/>
            <a:ext cx="123825" cy="1238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95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915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4780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52750" y="4524375"/>
            <a:ext cx="123825" cy="1238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2420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140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1005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0" y="4524375"/>
            <a:ext cx="123825" cy="12382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8645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4365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230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" y="4705350"/>
            <a:ext cx="11811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BY TYPE   Tier 1 4   |   Tier 2 2   |   Tier 3 4      BY REACH   Global 4   |   Regional 2   |   Local or niche 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0500" y="4972050"/>
            <a:ext cx="2809875" cy="38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0500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500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500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accounts; premium / bundled positioning.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0500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0500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3190875" y="4972050"/>
            <a:ext cx="2809875" cy="38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90875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90875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90875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Distributors; mid / value-added positioning.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90875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90875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6191250" y="4972050"/>
            <a:ext cx="2809875" cy="38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1250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partners; value / entry positioning.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91250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91250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00" y="4487926"/>
            <a:ext cx="128699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850" y="4487926"/>
            <a:ext cx="128699" cy="187198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100" y="4487926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219075" y="5876925"/>
            <a:ext cx="7927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Buy to scale;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34" y="5867145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127330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19450" y="5876925"/>
            <a:ext cx="7927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Buy to scale;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209" y="5867145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4127705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9825" y="5876925"/>
            <a:ext cx="7927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Buy to scale;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584" y="5867145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128080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Corporate Scorecard: Who They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Eight corporate Ps for every named competitor: ownership, strategy, breadth, presence, scale and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1, CORPORATE: WHO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8355" y="1295400"/>
            <a:ext cx="22383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Parent and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8355" y="1657350"/>
            <a:ext cx="223838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From the company 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37" y="129540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Purpose (strategy)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37" y="1657350"/>
            <a:ext cx="115824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Dominant active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381" y="1295400"/>
            <a:ext cx="9525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Portfolio breadth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381" y="1657350"/>
            <a:ext cx="95250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Sub-segments: 6+ 3, 4+ 2, 2+ 1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084" y="1295400"/>
            <a:ext cx="9525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Presence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084" y="1657350"/>
            <a:ext cx="95250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Global 3, regional 2, local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87" y="1295400"/>
            <a:ext cx="9525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Power (scale)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787" y="1657350"/>
            <a:ext cx="95250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Tier 1 = 3, 2 = 2, 3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490" y="1295400"/>
            <a:ext cx="9525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490" y="1657350"/>
            <a:ext cx="95250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2194" y="1295400"/>
            <a:ext cx="9525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2194" y="1657350"/>
            <a:ext cx="95250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Talent; 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0897" y="1295400"/>
            <a:ext cx="9525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0897" y="1657350"/>
            <a:ext cx="95250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Named alliances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" y="22479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 Liquide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24098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0255" y="22288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2937" y="22288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31" name="Oval 30"/>
          <p:cNvSpPr/>
          <p:nvPr/>
        </p:nvSpPr>
        <p:spPr>
          <a:xfrm>
            <a:off x="6267432" y="2324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343650" y="2324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96136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24839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53542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44094" y="22288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797" y="22288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5750" y="25908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Linde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5750" y="27527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0255" y="25717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2937" y="25717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44" name="Oval 43"/>
          <p:cNvSpPr/>
          <p:nvPr/>
        </p:nvSpPr>
        <p:spPr>
          <a:xfrm>
            <a:off x="6267432" y="2667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343650" y="2667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96136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24839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53542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44094" y="25717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797" y="25717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5750" y="29337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Chemgas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750" y="30956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0255" y="29146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32937" y="29146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57" name="Oval 56"/>
          <p:cNvSpPr/>
          <p:nvPr/>
        </p:nvSpPr>
        <p:spPr>
          <a:xfrm>
            <a:off x="6267432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6343650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96136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324839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53542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429750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44094" y="29146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797" y="29146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5750" y="32766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Airgas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750" y="34385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0255" y="32575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32937" y="32575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71" name="Oval 70"/>
          <p:cNvSpPr/>
          <p:nvPr/>
        </p:nvSpPr>
        <p:spPr>
          <a:xfrm>
            <a:off x="6267432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343650" y="3352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296136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324839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42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9429750" y="3352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44094" y="32575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797" y="32575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5750" y="36195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Merck KGaA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750" y="37814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80255" y="36004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32937" y="36004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85" name="Oval 84"/>
          <p:cNvSpPr/>
          <p:nvPr/>
        </p:nvSpPr>
        <p:spPr>
          <a:xfrm>
            <a:off x="6267432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34365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296136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737235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324839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840105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353542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942975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44094" y="36004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72797" y="36004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5750" y="39624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Eurisotop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5750" y="41243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80255" y="39433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32937" y="39433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101" name="Oval 100"/>
          <p:cNvSpPr/>
          <p:nvPr/>
        </p:nvSpPr>
        <p:spPr>
          <a:xfrm>
            <a:off x="6267432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634365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296136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37235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324839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840105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353542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942975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944094" y="39433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797" y="39433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85750" y="43053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ISOFLEX USA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5750" y="44672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280255" y="42862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32937" y="42862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117" name="Oval 116"/>
          <p:cNvSpPr/>
          <p:nvPr/>
        </p:nvSpPr>
        <p:spPr>
          <a:xfrm>
            <a:off x="6267432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343650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296136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7372350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324839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401050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353542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9429750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44094" y="42862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72797" y="42862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85750" y="46482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DWS Specialty Gas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5750" y="48101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80255" y="46291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32937" y="46291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133" name="Oval 132"/>
          <p:cNvSpPr/>
          <p:nvPr/>
        </p:nvSpPr>
        <p:spPr>
          <a:xfrm>
            <a:off x="6267432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6343650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296136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7372350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324839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8401050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353542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9429750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944094" y="46291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72797" y="46291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190500" y="50006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85750" y="49911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Wuhan Baisida Gas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5750" y="51530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280255" y="49720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632937" y="49720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149" name="Oval 148"/>
          <p:cNvSpPr/>
          <p:nvPr/>
        </p:nvSpPr>
        <p:spPr>
          <a:xfrm>
            <a:off x="6267432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6343650" y="5067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296136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73723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324839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84010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353542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94297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944094" y="49720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972797" y="49720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190500" y="5314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190500" y="53435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85750" y="53340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Shanghai Wechem Chemical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5750" y="54959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0255" y="5314950"/>
            <a:ext cx="231458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632937" y="5314950"/>
            <a:ext cx="115824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165" name="Oval 164"/>
          <p:cNvSpPr/>
          <p:nvPr/>
        </p:nvSpPr>
        <p:spPr>
          <a:xfrm>
            <a:off x="6267432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6343650" y="5410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296136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7372350" y="541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324839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8401050" y="541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353542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9429750" y="541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944094" y="53149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972797" y="5314950"/>
            <a:ext cx="102870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190500" y="5657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200025" y="57340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8100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78" name="Oval 177"/>
          <p:cNvSpPr/>
          <p:nvPr/>
        </p:nvSpPr>
        <p:spPr>
          <a:xfrm>
            <a:off x="2065020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133600" y="57340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245995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81" name="Oval 180"/>
          <p:cNvSpPr/>
          <p:nvPr/>
        </p:nvSpPr>
        <p:spPr>
          <a:xfrm>
            <a:off x="367855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3743325" y="57340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85953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84" name="Oval 183"/>
          <p:cNvSpPr/>
          <p:nvPr/>
        </p:nvSpPr>
        <p:spPr>
          <a:xfrm>
            <a:off x="510349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28447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90500" y="59436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90500" y="60960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4 of 10 named players compete globally; scale and share follow the tier structure.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982065" y="1666875"/>
            <a:ext cx="38607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5F6B7A"/>
                </a:solidFill>
                <a:latin typeface="Calibri"/>
              </a:rPr>
              <a:t>Share</a:t>
            </a:r>
          </a:p>
        </p:txBody>
      </p:sp>
      <p:pic>
        <p:nvPicPr>
          <p:cNvPr id="191" name="Picture 1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218" y="1657487"/>
            <a:ext cx="123551" cy="179710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9476014" y="1666875"/>
            <a:ext cx="37218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5F6B7A"/>
                </a:solidFill>
                <a:latin typeface="Calibri"/>
              </a:rPr>
              <a:t>+ = 3,</a:t>
            </a:r>
          </a:p>
        </p:txBody>
      </p:sp>
      <p:pic>
        <p:nvPicPr>
          <p:cNvPr id="193" name="Picture 1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136" y="1818421"/>
            <a:ext cx="123551" cy="179710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9129932" y="1827809"/>
            <a:ext cx="62076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5F6B7A"/>
                </a:solidFill>
                <a:latin typeface="Calibri"/>
              </a:rPr>
              <a:t>= 2, else 1</a:t>
            </a:r>
          </a:p>
        </p:txBody>
      </p:sp>
      <p:pic>
        <p:nvPicPr>
          <p:cNvPr id="195" name="Picture 1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2306701"/>
            <a:ext cx="128699" cy="187198"/>
          </a:xfrm>
          <a:prstGeom prst="rect">
            <a:avLst/>
          </a:prstGeom>
        </p:spPr>
      </p:pic>
      <p:pic>
        <p:nvPicPr>
          <p:cNvPr id="196" name="Picture 1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2306701"/>
            <a:ext cx="128699" cy="187198"/>
          </a:xfrm>
          <a:prstGeom prst="rect">
            <a:avLst/>
          </a:prstGeom>
        </p:spPr>
      </p:pic>
      <p:pic>
        <p:nvPicPr>
          <p:cNvPr id="197" name="Picture 1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2306701"/>
            <a:ext cx="128699" cy="187198"/>
          </a:xfrm>
          <a:prstGeom prst="rect">
            <a:avLst/>
          </a:prstGeom>
        </p:spPr>
      </p:pic>
      <p:pic>
        <p:nvPicPr>
          <p:cNvPr id="198" name="Picture 1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2649601"/>
            <a:ext cx="128699" cy="187198"/>
          </a:xfrm>
          <a:prstGeom prst="rect">
            <a:avLst/>
          </a:prstGeom>
        </p:spPr>
      </p:pic>
      <p:pic>
        <p:nvPicPr>
          <p:cNvPr id="199" name="Picture 1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2649601"/>
            <a:ext cx="128699" cy="187198"/>
          </a:xfrm>
          <a:prstGeom prst="rect">
            <a:avLst/>
          </a:prstGeom>
        </p:spPr>
      </p:pic>
      <p:pic>
        <p:nvPicPr>
          <p:cNvPr id="200" name="Picture 1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2649601"/>
            <a:ext cx="128699" cy="187198"/>
          </a:xfrm>
          <a:prstGeom prst="rect">
            <a:avLst/>
          </a:prstGeom>
        </p:spPr>
      </p:pic>
      <p:pic>
        <p:nvPicPr>
          <p:cNvPr id="201" name="Picture 2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2992501"/>
            <a:ext cx="128699" cy="187198"/>
          </a:xfrm>
          <a:prstGeom prst="rect">
            <a:avLst/>
          </a:prstGeom>
        </p:spPr>
      </p:pic>
      <p:pic>
        <p:nvPicPr>
          <p:cNvPr id="202" name="Picture 2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2992501"/>
            <a:ext cx="128699" cy="187198"/>
          </a:xfrm>
          <a:prstGeom prst="rect">
            <a:avLst/>
          </a:prstGeom>
        </p:spPr>
      </p:pic>
      <p:pic>
        <p:nvPicPr>
          <p:cNvPr id="203" name="Picture 2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2992501"/>
            <a:ext cx="128699" cy="187198"/>
          </a:xfrm>
          <a:prstGeom prst="rect">
            <a:avLst/>
          </a:prstGeom>
        </p:spPr>
      </p:pic>
      <p:pic>
        <p:nvPicPr>
          <p:cNvPr id="204" name="Picture 2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3335401"/>
            <a:ext cx="128699" cy="187198"/>
          </a:xfrm>
          <a:prstGeom prst="rect">
            <a:avLst/>
          </a:prstGeom>
        </p:spPr>
      </p:pic>
      <p:pic>
        <p:nvPicPr>
          <p:cNvPr id="205" name="Picture 2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3335401"/>
            <a:ext cx="128699" cy="187198"/>
          </a:xfrm>
          <a:prstGeom prst="rect">
            <a:avLst/>
          </a:prstGeom>
        </p:spPr>
      </p:pic>
      <p:pic>
        <p:nvPicPr>
          <p:cNvPr id="206" name="Picture 20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3335401"/>
            <a:ext cx="128699" cy="187198"/>
          </a:xfrm>
          <a:prstGeom prst="rect">
            <a:avLst/>
          </a:prstGeom>
        </p:spPr>
      </p:pic>
      <p:pic>
        <p:nvPicPr>
          <p:cNvPr id="207" name="Picture 2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3678301"/>
            <a:ext cx="128699" cy="187198"/>
          </a:xfrm>
          <a:prstGeom prst="rect">
            <a:avLst/>
          </a:prstGeom>
        </p:spPr>
      </p:pic>
      <p:pic>
        <p:nvPicPr>
          <p:cNvPr id="208" name="Picture 2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3678301"/>
            <a:ext cx="128699" cy="187198"/>
          </a:xfrm>
          <a:prstGeom prst="rect">
            <a:avLst/>
          </a:prstGeom>
        </p:spPr>
      </p:pic>
      <p:pic>
        <p:nvPicPr>
          <p:cNvPr id="209" name="Picture 20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3678301"/>
            <a:ext cx="128699" cy="187198"/>
          </a:xfrm>
          <a:prstGeom prst="rect">
            <a:avLst/>
          </a:prstGeom>
        </p:spPr>
      </p:pic>
      <p:pic>
        <p:nvPicPr>
          <p:cNvPr id="210" name="Picture 2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4021201"/>
            <a:ext cx="128699" cy="187198"/>
          </a:xfrm>
          <a:prstGeom prst="rect">
            <a:avLst/>
          </a:prstGeom>
        </p:spPr>
      </p:pic>
      <p:pic>
        <p:nvPicPr>
          <p:cNvPr id="211" name="Picture 2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4021201"/>
            <a:ext cx="128699" cy="187198"/>
          </a:xfrm>
          <a:prstGeom prst="rect">
            <a:avLst/>
          </a:prstGeom>
        </p:spPr>
      </p:pic>
      <p:pic>
        <p:nvPicPr>
          <p:cNvPr id="212" name="Picture 2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4021201"/>
            <a:ext cx="128699" cy="187198"/>
          </a:xfrm>
          <a:prstGeom prst="rect">
            <a:avLst/>
          </a:prstGeom>
        </p:spPr>
      </p:pic>
      <p:pic>
        <p:nvPicPr>
          <p:cNvPr id="213" name="Picture 2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4364101"/>
            <a:ext cx="128699" cy="187198"/>
          </a:xfrm>
          <a:prstGeom prst="rect">
            <a:avLst/>
          </a:prstGeom>
        </p:spPr>
      </p:pic>
      <p:pic>
        <p:nvPicPr>
          <p:cNvPr id="214" name="Picture 2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4364101"/>
            <a:ext cx="128699" cy="187198"/>
          </a:xfrm>
          <a:prstGeom prst="rect">
            <a:avLst/>
          </a:prstGeom>
        </p:spPr>
      </p:pic>
      <p:pic>
        <p:nvPicPr>
          <p:cNvPr id="215" name="Picture 2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4364101"/>
            <a:ext cx="128699" cy="187198"/>
          </a:xfrm>
          <a:prstGeom prst="rect">
            <a:avLst/>
          </a:prstGeom>
        </p:spPr>
      </p:pic>
      <p:pic>
        <p:nvPicPr>
          <p:cNvPr id="216" name="Picture 2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4707001"/>
            <a:ext cx="128699" cy="187198"/>
          </a:xfrm>
          <a:prstGeom prst="rect">
            <a:avLst/>
          </a:prstGeom>
        </p:spPr>
      </p:pic>
      <p:pic>
        <p:nvPicPr>
          <p:cNvPr id="217" name="Picture 2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4707001"/>
            <a:ext cx="128699" cy="187198"/>
          </a:xfrm>
          <a:prstGeom prst="rect">
            <a:avLst/>
          </a:prstGeom>
        </p:spPr>
      </p:pic>
      <p:pic>
        <p:nvPicPr>
          <p:cNvPr id="218" name="Picture 2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4707001"/>
            <a:ext cx="128699" cy="187198"/>
          </a:xfrm>
          <a:prstGeom prst="rect">
            <a:avLst/>
          </a:prstGeom>
        </p:spPr>
      </p:pic>
      <p:pic>
        <p:nvPicPr>
          <p:cNvPr id="219" name="Picture 2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5049901"/>
            <a:ext cx="128699" cy="187198"/>
          </a:xfrm>
          <a:prstGeom prst="rect">
            <a:avLst/>
          </a:prstGeom>
        </p:spPr>
      </p:pic>
      <p:pic>
        <p:nvPicPr>
          <p:cNvPr id="220" name="Picture 2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5049901"/>
            <a:ext cx="128699" cy="187198"/>
          </a:xfrm>
          <a:prstGeom prst="rect">
            <a:avLst/>
          </a:prstGeom>
        </p:spPr>
      </p:pic>
      <p:pic>
        <p:nvPicPr>
          <p:cNvPr id="221" name="Picture 2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5049901"/>
            <a:ext cx="128699" cy="187198"/>
          </a:xfrm>
          <a:prstGeom prst="rect">
            <a:avLst/>
          </a:prstGeom>
        </p:spPr>
      </p:pic>
      <p:pic>
        <p:nvPicPr>
          <p:cNvPr id="222" name="Picture 2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96" y="5392801"/>
            <a:ext cx="128699" cy="187198"/>
          </a:xfrm>
          <a:prstGeom prst="rect">
            <a:avLst/>
          </a:prstGeom>
        </p:spPr>
      </p:pic>
      <p:pic>
        <p:nvPicPr>
          <p:cNvPr id="223" name="Picture 2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096" y="5392801"/>
            <a:ext cx="128699" cy="187198"/>
          </a:xfrm>
          <a:prstGeom prst="rect">
            <a:avLst/>
          </a:prstGeom>
        </p:spPr>
      </p:pic>
      <p:pic>
        <p:nvPicPr>
          <p:cNvPr id="224" name="Picture 2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99" y="53928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Offering Scorecard: What They Sell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Six offering Ps: product, technology, price and model, verticals, proof and IP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2, OFFERING: WHAT THEY SELL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8355" y="1295400"/>
            <a:ext cx="1353395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8355" y="1657350"/>
            <a:ext cx="1353395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Of the top three types offered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7950" y="1295400"/>
            <a:ext cx="1353395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Platform (technology)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7950" y="1657350"/>
            <a:ext cx="1353395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R&amp;D and development: both 3, one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7544" y="129540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Price and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7544" y="1657350"/>
            <a:ext cx="163931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Positioning by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3058" y="129540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Positioning (verticals)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3058" y="1657350"/>
            <a:ext cx="163931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End uses 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8572" y="129540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8572" y="1657350"/>
            <a:ext cx="163931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Named customer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4086" y="129540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Patents and 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24086" y="1657350"/>
            <a:ext cx="163931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Where the study covers patents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" y="22479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 Liquide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" y="24098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25" name="Oval 24"/>
          <p:cNvSpPr/>
          <p:nvPr/>
        </p:nvSpPr>
        <p:spPr>
          <a:xfrm>
            <a:off x="2918852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48447" y="2324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429125" y="2324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77544" y="22288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3058" y="22288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Cryogenic Refrigeration and Ultra-Low-Temperature Cooling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0472" y="22288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5986" y="22288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750" y="25908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Linde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" y="27527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6" name="Oval 35"/>
          <p:cNvSpPr/>
          <p:nvPr/>
        </p:nvSpPr>
        <p:spPr>
          <a:xfrm>
            <a:off x="2918852" y="2667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990850" y="2667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48447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7544" y="25717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3058" y="25717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Neutron Detection and Radiation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0472" y="25717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5986" y="25717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5750" y="29337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Chemgas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750" y="30956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7" name="Oval 46"/>
          <p:cNvSpPr/>
          <p:nvPr/>
        </p:nvSpPr>
        <p:spPr>
          <a:xfrm>
            <a:off x="2918852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990850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348447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429125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77544" y="29146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93058" y="29146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Cryogenic Refrigeration and Ultra-Low-Temperature Cooling, Neutron Detection and Radiation Monitoring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0472" y="29146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5986" y="29146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5750" y="32766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Airgas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750" y="34385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9" name="Oval 58"/>
          <p:cNvSpPr/>
          <p:nvPr/>
        </p:nvSpPr>
        <p:spPr>
          <a:xfrm>
            <a:off x="2918852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990850" y="3352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348447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77544" y="32575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93058" y="32575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Cryogenic Refrigeration and Ultra-Low-Temperature Cooling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70472" y="32575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85986" y="32575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5750" y="36195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Merck KGaA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750" y="37814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70" name="Oval 69"/>
          <p:cNvSpPr/>
          <p:nvPr/>
        </p:nvSpPr>
        <p:spPr>
          <a:xfrm>
            <a:off x="2918852" y="36957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348447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429125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77544" y="36004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Mid / value-added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93058" y="36004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Neutron Detection and Radiation Monitoring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70472" y="36004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85986" y="36004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5750" y="39624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Eurisotop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5750" y="41243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81" name="Oval 80"/>
          <p:cNvSpPr/>
          <p:nvPr/>
        </p:nvSpPr>
        <p:spPr>
          <a:xfrm>
            <a:off x="2918852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99085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348447" y="40386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77544" y="39433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Mid / value-added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93058" y="39433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Cryogenic Refrigeration and Ultra-Low-Temperature Cooling, Neutron Detection and Radiation Monitoring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70472" y="39433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85986" y="39433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85750" y="43053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ISOFLEX USA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5750" y="44672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92" name="Oval 91"/>
          <p:cNvSpPr/>
          <p:nvPr/>
        </p:nvSpPr>
        <p:spPr>
          <a:xfrm>
            <a:off x="2918852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990850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8447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4429125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77544" y="42862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93058" y="42862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Cryogenic Refrigeration and Ultra-Low-Temperature Cooling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70472" y="42862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85986" y="42862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5750" y="46482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DWS Specialty Gas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5750" y="48101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04" name="Oval 103"/>
          <p:cNvSpPr/>
          <p:nvPr/>
        </p:nvSpPr>
        <p:spPr>
          <a:xfrm>
            <a:off x="2918852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990850" y="4724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348447" y="47244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77544" y="46291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93058" y="46291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Neutron Detection and Radiation Monitoring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70472" y="46291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85986" y="46291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190500" y="50006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85750" y="49911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Wuhan Baisida Gas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5750" y="51530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15" name="Oval 114"/>
          <p:cNvSpPr/>
          <p:nvPr/>
        </p:nvSpPr>
        <p:spPr>
          <a:xfrm>
            <a:off x="2918852" y="50673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48447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429125" y="5067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177544" y="49720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93058" y="49720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Cryogenic Refrigeration and Ultra-Low-Temperature Cooling, Neutron Detection and Radiation Monitoring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70472" y="49720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85986" y="49720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90500" y="5314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190500" y="53435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85750" y="53340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Shanghai Wechem Chemical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85750" y="54959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26" name="Oval 125"/>
          <p:cNvSpPr/>
          <p:nvPr/>
        </p:nvSpPr>
        <p:spPr>
          <a:xfrm>
            <a:off x="2918852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990850" y="5410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348447" y="54102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177544" y="53149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93058" y="53149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Medical and Biomedical Imaging, Cryogenic Refrigeration and Ultra-Low-Temperature Cooling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570472" y="53149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85986" y="53149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90500" y="5657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200025" y="57340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8100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36" name="Oval 135"/>
          <p:cNvSpPr/>
          <p:nvPr/>
        </p:nvSpPr>
        <p:spPr>
          <a:xfrm>
            <a:off x="2065020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133600" y="57340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45995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39" name="Oval 138"/>
          <p:cNvSpPr/>
          <p:nvPr/>
        </p:nvSpPr>
        <p:spPr>
          <a:xfrm>
            <a:off x="367855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3743325" y="57340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85953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42" name="Oval 141"/>
          <p:cNvSpPr/>
          <p:nvPr/>
        </p:nvSpPr>
        <p:spPr>
          <a:xfrm>
            <a:off x="510349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28447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0500" y="59436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0500" y="60960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breadth and technology strength do not always go together; the end uses each player serves show where it competes head to head.  Proof needs customer research.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48" name="Picture 1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2306701"/>
            <a:ext cx="128699" cy="187198"/>
          </a:xfrm>
          <a:prstGeom prst="rect">
            <a:avLst/>
          </a:prstGeom>
        </p:spPr>
      </p:pic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2306701"/>
            <a:ext cx="128699" cy="187198"/>
          </a:xfrm>
          <a:prstGeom prst="rect">
            <a:avLst/>
          </a:prstGeom>
        </p:spPr>
      </p:pic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2649601"/>
            <a:ext cx="128699" cy="187198"/>
          </a:xfrm>
          <a:prstGeom prst="rect">
            <a:avLst/>
          </a:prstGeom>
        </p:spPr>
      </p:pic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2649601"/>
            <a:ext cx="128699" cy="187198"/>
          </a:xfrm>
          <a:prstGeom prst="rect">
            <a:avLst/>
          </a:prstGeom>
        </p:spPr>
      </p:pic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2992501"/>
            <a:ext cx="128699" cy="187198"/>
          </a:xfrm>
          <a:prstGeom prst="rect">
            <a:avLst/>
          </a:prstGeom>
        </p:spPr>
      </p:pic>
      <p:pic>
        <p:nvPicPr>
          <p:cNvPr id="153" name="Picture 1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2992501"/>
            <a:ext cx="128699" cy="187198"/>
          </a:xfrm>
          <a:prstGeom prst="rect">
            <a:avLst/>
          </a:prstGeom>
        </p:spPr>
      </p:pic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3335401"/>
            <a:ext cx="128699" cy="187198"/>
          </a:xfrm>
          <a:prstGeom prst="rect">
            <a:avLst/>
          </a:prstGeom>
        </p:spPr>
      </p:pic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3335401"/>
            <a:ext cx="128699" cy="187198"/>
          </a:xfrm>
          <a:prstGeom prst="rect">
            <a:avLst/>
          </a:prstGeom>
        </p:spPr>
      </p:pic>
      <p:pic>
        <p:nvPicPr>
          <p:cNvPr id="156" name="Picture 1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3678301"/>
            <a:ext cx="128699" cy="187198"/>
          </a:xfrm>
          <a:prstGeom prst="rect">
            <a:avLst/>
          </a:prstGeom>
        </p:spPr>
      </p:pic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3678301"/>
            <a:ext cx="128699" cy="187198"/>
          </a:xfrm>
          <a:prstGeom prst="rect">
            <a:avLst/>
          </a:prstGeom>
        </p:spPr>
      </p:pic>
      <p:pic>
        <p:nvPicPr>
          <p:cNvPr id="158" name="Picture 1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4021201"/>
            <a:ext cx="128699" cy="187198"/>
          </a:xfrm>
          <a:prstGeom prst="rect">
            <a:avLst/>
          </a:prstGeom>
        </p:spPr>
      </p:pic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4021201"/>
            <a:ext cx="128699" cy="187198"/>
          </a:xfrm>
          <a:prstGeom prst="rect">
            <a:avLst/>
          </a:prstGeom>
        </p:spPr>
      </p:pic>
      <p:pic>
        <p:nvPicPr>
          <p:cNvPr id="160" name="Picture 1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4364101"/>
            <a:ext cx="128699" cy="187198"/>
          </a:xfrm>
          <a:prstGeom prst="rect">
            <a:avLst/>
          </a:prstGeom>
        </p:spPr>
      </p:pic>
      <p:pic>
        <p:nvPicPr>
          <p:cNvPr id="161" name="Picture 1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4364101"/>
            <a:ext cx="128699" cy="187198"/>
          </a:xfrm>
          <a:prstGeom prst="rect">
            <a:avLst/>
          </a:prstGeom>
        </p:spPr>
      </p:pic>
      <p:pic>
        <p:nvPicPr>
          <p:cNvPr id="162" name="Picture 1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4707001"/>
            <a:ext cx="128699" cy="187198"/>
          </a:xfrm>
          <a:prstGeom prst="rect">
            <a:avLst/>
          </a:prstGeom>
        </p:spPr>
      </p:pic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4707001"/>
            <a:ext cx="128699" cy="187198"/>
          </a:xfrm>
          <a:prstGeom prst="rect">
            <a:avLst/>
          </a:prstGeom>
        </p:spPr>
      </p:pic>
      <p:pic>
        <p:nvPicPr>
          <p:cNvPr id="164" name="Picture 1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5049901"/>
            <a:ext cx="128699" cy="187198"/>
          </a:xfrm>
          <a:prstGeom prst="rect">
            <a:avLst/>
          </a:prstGeom>
        </p:spPr>
      </p:pic>
      <p:pic>
        <p:nvPicPr>
          <p:cNvPr id="165" name="Picture 1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5049901"/>
            <a:ext cx="128699" cy="187198"/>
          </a:xfrm>
          <a:prstGeom prst="rect">
            <a:avLst/>
          </a:prstGeom>
        </p:spPr>
      </p:pic>
      <p:pic>
        <p:nvPicPr>
          <p:cNvPr id="166" name="Picture 1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79" y="5392801"/>
            <a:ext cx="128699" cy="187198"/>
          </a:xfrm>
          <a:prstGeom prst="rect">
            <a:avLst/>
          </a:prstGeom>
        </p:spPr>
      </p:pic>
      <p:pic>
        <p:nvPicPr>
          <p:cNvPr id="167" name="Picture 1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93" y="53928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Execution Scorecard: How They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Six execution Ps: channel, promotion, momentum, pipeline, policy exposure and prospects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3, EXECUTION: HOW THEY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8355" y="129540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Place (channel)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8355" y="1657350"/>
            <a:ext cx="163931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Route to market by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3869" y="129540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869" y="1657350"/>
            <a:ext cx="163931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Go-to-market; 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9382" y="1295400"/>
            <a:ext cx="1353395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Pace (momentum)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9382" y="1657350"/>
            <a:ext cx="1353395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Active moves: 5+ = 3, 3-4 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977" y="129540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977" y="1657350"/>
            <a:ext cx="163931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Launch or development in 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4491" y="129540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Policy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4491" y="1657350"/>
            <a:ext cx="1639314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Regulation in its favour or against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0005" y="1295400"/>
            <a:ext cx="1353395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Prospects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0005" y="1657350"/>
            <a:ext cx="1353395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Gaining 3, holding 2, at risk 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" y="22479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 Liquide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" y="24098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8355" y="22288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5769" y="22288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6349880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40877" y="22288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6391" y="22288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11210503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5750" y="25908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Linde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750" y="27527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8355" y="25717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95769" y="25717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6349880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977" y="25717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6391" y="25717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11210503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750" y="29337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Chemgas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750" y="30956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8355" y="29146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95769" y="29146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6349880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40877" y="29146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6391" y="29146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11210503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5750" y="32766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Airgas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5750" y="34385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18355" y="32575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95769" y="32575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6349880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78977" y="32575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56391" y="32575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0" name="Oval 59"/>
          <p:cNvSpPr/>
          <p:nvPr/>
        </p:nvSpPr>
        <p:spPr>
          <a:xfrm>
            <a:off x="11210503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5750" y="36195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Merck KGaA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750" y="37814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18355" y="36004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95769" y="36004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7" name="Oval 66"/>
          <p:cNvSpPr/>
          <p:nvPr/>
        </p:nvSpPr>
        <p:spPr>
          <a:xfrm>
            <a:off x="6349880" y="36957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40877" y="36004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56391" y="36004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0" name="Oval 69"/>
          <p:cNvSpPr/>
          <p:nvPr/>
        </p:nvSpPr>
        <p:spPr>
          <a:xfrm>
            <a:off x="11210503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1287125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5750" y="39624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Eurisotop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750" y="41243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18355" y="39433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95769" y="39433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8" name="Oval 77"/>
          <p:cNvSpPr/>
          <p:nvPr/>
        </p:nvSpPr>
        <p:spPr>
          <a:xfrm>
            <a:off x="6349880" y="40386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78977" y="39433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56391" y="39433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1" name="Oval 80"/>
          <p:cNvSpPr/>
          <p:nvPr/>
        </p:nvSpPr>
        <p:spPr>
          <a:xfrm>
            <a:off x="11210503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128712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5750" y="43053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ISOFLEX USA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5750" y="44672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18355" y="42862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95769" y="42862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9" name="Oval 88"/>
          <p:cNvSpPr/>
          <p:nvPr/>
        </p:nvSpPr>
        <p:spPr>
          <a:xfrm>
            <a:off x="6349880" y="43815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40877" y="42862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56391" y="42862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2" name="Oval 91"/>
          <p:cNvSpPr/>
          <p:nvPr/>
        </p:nvSpPr>
        <p:spPr>
          <a:xfrm>
            <a:off x="11210503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1287125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85750" y="46482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DWS Specialty Gas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5750" y="48101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18355" y="46291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95769" y="46291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0" name="Oval 99"/>
          <p:cNvSpPr/>
          <p:nvPr/>
        </p:nvSpPr>
        <p:spPr>
          <a:xfrm>
            <a:off x="6349880" y="47244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78977" y="46291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56391" y="46291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3" name="Oval 102"/>
          <p:cNvSpPr/>
          <p:nvPr/>
        </p:nvSpPr>
        <p:spPr>
          <a:xfrm>
            <a:off x="11210503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11287125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190500" y="50006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85750" y="49911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Wuhan Baisida Gas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5750" y="51530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318355" y="49720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95769" y="49720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1" name="Oval 110"/>
          <p:cNvSpPr/>
          <p:nvPr/>
        </p:nvSpPr>
        <p:spPr>
          <a:xfrm>
            <a:off x="6349880" y="50673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140877" y="49720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56391" y="49720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4" name="Oval 113"/>
          <p:cNvSpPr/>
          <p:nvPr/>
        </p:nvSpPr>
        <p:spPr>
          <a:xfrm>
            <a:off x="11210503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1287125" y="5067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190500" y="5314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190500" y="53435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85750" y="5334000"/>
            <a:ext cx="197545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Shanghai Wechem Chemical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85750" y="5495925"/>
            <a:ext cx="197545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318355" y="53149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95769" y="53149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2" name="Oval 121"/>
          <p:cNvSpPr/>
          <p:nvPr/>
        </p:nvSpPr>
        <p:spPr>
          <a:xfrm>
            <a:off x="6349880" y="54102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178977" y="5314950"/>
            <a:ext cx="16393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856391" y="5314950"/>
            <a:ext cx="1715514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5" name="Oval 124"/>
          <p:cNvSpPr/>
          <p:nvPr/>
        </p:nvSpPr>
        <p:spPr>
          <a:xfrm>
            <a:off x="11210503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1287125" y="5410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190500" y="5657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200025" y="57340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8100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30" name="Oval 129"/>
          <p:cNvSpPr/>
          <p:nvPr/>
        </p:nvSpPr>
        <p:spPr>
          <a:xfrm>
            <a:off x="2065020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133600" y="57340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245995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33" name="Oval 132"/>
          <p:cNvSpPr/>
          <p:nvPr/>
        </p:nvSpPr>
        <p:spPr>
          <a:xfrm>
            <a:off x="367855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3743325" y="57340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85953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36" name="Oval 135"/>
          <p:cNvSpPr/>
          <p:nvPr/>
        </p:nvSpPr>
        <p:spPr>
          <a:xfrm>
            <a:off x="510349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28447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0500" y="59436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0500" y="60960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Momentum sits with the players running the most strategic moves; prospects combine breadth, reach, scale and pace.  Promotion and policy exposure need market and regulatory research.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2306701"/>
            <a:ext cx="128699" cy="187198"/>
          </a:xfrm>
          <a:prstGeom prst="rect">
            <a:avLst/>
          </a:prstGeom>
        </p:spPr>
      </p:pic>
      <p:pic>
        <p:nvPicPr>
          <p:cNvPr id="143" name="Picture 1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84" y="2306701"/>
            <a:ext cx="128699" cy="187198"/>
          </a:xfrm>
          <a:prstGeom prst="rect">
            <a:avLst/>
          </a:prstGeom>
        </p:spPr>
      </p:pic>
      <p:pic>
        <p:nvPicPr>
          <p:cNvPr id="144" name="Picture 1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2306701"/>
            <a:ext cx="128699" cy="187198"/>
          </a:xfrm>
          <a:prstGeom prst="rect">
            <a:avLst/>
          </a:prstGeom>
        </p:spPr>
      </p:pic>
      <p:pic>
        <p:nvPicPr>
          <p:cNvPr id="145" name="Picture 1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2649601"/>
            <a:ext cx="128699" cy="187198"/>
          </a:xfrm>
          <a:prstGeom prst="rect">
            <a:avLst/>
          </a:prstGeom>
        </p:spPr>
      </p:pic>
      <p:pic>
        <p:nvPicPr>
          <p:cNvPr id="146" name="Picture 1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2649601"/>
            <a:ext cx="128699" cy="187198"/>
          </a:xfrm>
          <a:prstGeom prst="rect">
            <a:avLst/>
          </a:prstGeom>
        </p:spPr>
      </p:pic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2992501"/>
            <a:ext cx="128699" cy="187198"/>
          </a:xfrm>
          <a:prstGeom prst="rect">
            <a:avLst/>
          </a:prstGeom>
        </p:spPr>
      </p:pic>
      <p:pic>
        <p:nvPicPr>
          <p:cNvPr id="148" name="Picture 1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84" y="2992501"/>
            <a:ext cx="128699" cy="187198"/>
          </a:xfrm>
          <a:prstGeom prst="rect">
            <a:avLst/>
          </a:prstGeom>
        </p:spPr>
      </p:pic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2992501"/>
            <a:ext cx="128699" cy="187198"/>
          </a:xfrm>
          <a:prstGeom prst="rect">
            <a:avLst/>
          </a:prstGeom>
        </p:spPr>
      </p:pic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3335401"/>
            <a:ext cx="128699" cy="187198"/>
          </a:xfrm>
          <a:prstGeom prst="rect">
            <a:avLst/>
          </a:prstGeom>
        </p:spPr>
      </p:pic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3335401"/>
            <a:ext cx="128699" cy="187198"/>
          </a:xfrm>
          <a:prstGeom prst="rect">
            <a:avLst/>
          </a:prstGeom>
        </p:spPr>
      </p:pic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3678301"/>
            <a:ext cx="128699" cy="187198"/>
          </a:xfrm>
          <a:prstGeom prst="rect">
            <a:avLst/>
          </a:prstGeom>
        </p:spPr>
      </p:pic>
      <p:pic>
        <p:nvPicPr>
          <p:cNvPr id="153" name="Picture 1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84" y="3678301"/>
            <a:ext cx="128699" cy="187198"/>
          </a:xfrm>
          <a:prstGeom prst="rect">
            <a:avLst/>
          </a:prstGeom>
        </p:spPr>
      </p:pic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3678301"/>
            <a:ext cx="128699" cy="187198"/>
          </a:xfrm>
          <a:prstGeom prst="rect">
            <a:avLst/>
          </a:prstGeom>
        </p:spPr>
      </p:pic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4021201"/>
            <a:ext cx="128699" cy="187198"/>
          </a:xfrm>
          <a:prstGeom prst="rect">
            <a:avLst/>
          </a:prstGeom>
        </p:spPr>
      </p:pic>
      <p:pic>
        <p:nvPicPr>
          <p:cNvPr id="156" name="Picture 1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4021201"/>
            <a:ext cx="128699" cy="187198"/>
          </a:xfrm>
          <a:prstGeom prst="rect">
            <a:avLst/>
          </a:prstGeom>
        </p:spPr>
      </p:pic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4364101"/>
            <a:ext cx="128699" cy="187198"/>
          </a:xfrm>
          <a:prstGeom prst="rect">
            <a:avLst/>
          </a:prstGeom>
        </p:spPr>
      </p:pic>
      <p:pic>
        <p:nvPicPr>
          <p:cNvPr id="158" name="Picture 1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84" y="4364101"/>
            <a:ext cx="128699" cy="187198"/>
          </a:xfrm>
          <a:prstGeom prst="rect">
            <a:avLst/>
          </a:prstGeom>
        </p:spPr>
      </p:pic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4364101"/>
            <a:ext cx="128699" cy="187198"/>
          </a:xfrm>
          <a:prstGeom prst="rect">
            <a:avLst/>
          </a:prstGeom>
        </p:spPr>
      </p:pic>
      <p:pic>
        <p:nvPicPr>
          <p:cNvPr id="160" name="Picture 1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4707001"/>
            <a:ext cx="128699" cy="187198"/>
          </a:xfrm>
          <a:prstGeom prst="rect">
            <a:avLst/>
          </a:prstGeom>
        </p:spPr>
      </p:pic>
      <p:pic>
        <p:nvPicPr>
          <p:cNvPr id="161" name="Picture 1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4707001"/>
            <a:ext cx="128699" cy="187198"/>
          </a:xfrm>
          <a:prstGeom prst="rect">
            <a:avLst/>
          </a:prstGeom>
        </p:spPr>
      </p:pic>
      <p:pic>
        <p:nvPicPr>
          <p:cNvPr id="162" name="Picture 1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5049901"/>
            <a:ext cx="128699" cy="187198"/>
          </a:xfrm>
          <a:prstGeom prst="rect">
            <a:avLst/>
          </a:prstGeom>
        </p:spPr>
      </p:pic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84" y="5049901"/>
            <a:ext cx="128699" cy="187198"/>
          </a:xfrm>
          <a:prstGeom prst="rect">
            <a:avLst/>
          </a:prstGeom>
        </p:spPr>
      </p:pic>
      <p:pic>
        <p:nvPicPr>
          <p:cNvPr id="164" name="Picture 1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5049901"/>
            <a:ext cx="128699" cy="187198"/>
          </a:xfrm>
          <a:prstGeom prst="rect">
            <a:avLst/>
          </a:prstGeom>
        </p:spPr>
      </p:pic>
      <p:pic>
        <p:nvPicPr>
          <p:cNvPr id="165" name="Picture 1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6" y="5392801"/>
            <a:ext cx="128699" cy="187198"/>
          </a:xfrm>
          <a:prstGeom prst="rect">
            <a:avLst/>
          </a:prstGeom>
        </p:spPr>
      </p:pic>
      <p:pic>
        <p:nvPicPr>
          <p:cNvPr id="166" name="Picture 1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98" y="53928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Success Factors and Composite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Five weighted success factors and the composite ranking they 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1. Segment breadth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36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Lead or be active in several sub-segments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2. Scale and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095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095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Tier position and share of market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83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3. Geographic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83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83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Global, regional or single-market footprint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565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4. Innovation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565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565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R&amp;D and product development in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5. Strategic momentum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Number of active strategic moves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0350" y="104775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Composite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0350" y="1219200"/>
            <a:ext cx="16192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weighted 0 to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500" y="17526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90500" y="18478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18097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Linde</a:t>
            </a:r>
          </a:p>
        </p:txBody>
      </p:sp>
      <p:sp>
        <p:nvSpPr>
          <p:cNvPr id="27" name="Oval 26"/>
          <p:cNvSpPr/>
          <p:nvPr/>
        </p:nvSpPr>
        <p:spPr>
          <a:xfrm>
            <a:off x="2847975" y="1885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924175" y="1885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532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6267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2002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7737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20350" y="1895475"/>
            <a:ext cx="10287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87150" y="18097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0500" y="2114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90500" y="21526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750" y="21145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 Liquide</a:t>
            </a:r>
          </a:p>
        </p:txBody>
      </p:sp>
      <p:sp>
        <p:nvSpPr>
          <p:cNvPr id="38" name="Oval 37"/>
          <p:cNvSpPr/>
          <p:nvPr/>
        </p:nvSpPr>
        <p:spPr>
          <a:xfrm>
            <a:off x="2847975" y="2190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924175" y="21907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532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6267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820025" y="2190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896225" y="21907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7737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20350" y="2200275"/>
            <a:ext cx="9715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0" y="21145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0500" y="2419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90500" y="24574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5750" y="24193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Chemgas</a:t>
            </a:r>
          </a:p>
        </p:txBody>
      </p:sp>
      <p:sp>
        <p:nvSpPr>
          <p:cNvPr id="50" name="Oval 49"/>
          <p:cNvSpPr/>
          <p:nvPr/>
        </p:nvSpPr>
        <p:spPr>
          <a:xfrm>
            <a:off x="2847975" y="2495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924175" y="2495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0532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16267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820025" y="2495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896225" y="2495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47737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20350" y="2505075"/>
            <a:ext cx="9715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0" y="24193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0500" y="2724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90500" y="27622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5750" y="27241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Airgas</a:t>
            </a:r>
          </a:p>
        </p:txBody>
      </p:sp>
      <p:sp>
        <p:nvSpPr>
          <p:cNvPr id="62" name="Oval 61"/>
          <p:cNvSpPr/>
          <p:nvPr/>
        </p:nvSpPr>
        <p:spPr>
          <a:xfrm>
            <a:off x="2847975" y="2800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24175" y="28003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50532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16267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82002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47737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0350" y="2809875"/>
            <a:ext cx="9144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372850" y="27241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90500" y="3028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90500" y="3067050"/>
            <a:ext cx="38100" cy="2286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5750" y="30289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Eurisotop</a:t>
            </a:r>
          </a:p>
        </p:txBody>
      </p:sp>
      <p:sp>
        <p:nvSpPr>
          <p:cNvPr id="73" name="Oval 72"/>
          <p:cNvSpPr/>
          <p:nvPr/>
        </p:nvSpPr>
        <p:spPr>
          <a:xfrm>
            <a:off x="284797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92417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50532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58152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16267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23887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820025" y="31051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477375" y="31051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420350" y="3114675"/>
            <a:ext cx="8763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334750" y="30289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90500" y="3333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90500" y="3371850"/>
            <a:ext cx="38100" cy="2286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5750" y="33337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Merck KGaA</a:t>
            </a:r>
          </a:p>
        </p:txBody>
      </p:sp>
      <p:sp>
        <p:nvSpPr>
          <p:cNvPr id="86" name="Oval 85"/>
          <p:cNvSpPr/>
          <p:nvPr/>
        </p:nvSpPr>
        <p:spPr>
          <a:xfrm>
            <a:off x="284797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92417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50532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458152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16267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623887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82002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789622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477375" y="3409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420350" y="3419475"/>
            <a:ext cx="8191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77600" y="33337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90500" y="3638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90500" y="36766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5750" y="36385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Shanghai Wechem Chemical</a:t>
            </a:r>
          </a:p>
        </p:txBody>
      </p:sp>
      <p:sp>
        <p:nvSpPr>
          <p:cNvPr id="100" name="Oval 99"/>
          <p:cNvSpPr/>
          <p:nvPr/>
        </p:nvSpPr>
        <p:spPr>
          <a:xfrm>
            <a:off x="284797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924175" y="37147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50532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4581525" y="3714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16267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6238875" y="3714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820025" y="3714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477375" y="3714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420350" y="3724275"/>
            <a:ext cx="7239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182350" y="36385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190500" y="39814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5750" y="39433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Wuhan Baisida Gas</a:t>
            </a:r>
          </a:p>
        </p:txBody>
      </p:sp>
      <p:sp>
        <p:nvSpPr>
          <p:cNvPr id="113" name="Oval 112"/>
          <p:cNvSpPr/>
          <p:nvPr/>
        </p:nvSpPr>
        <p:spPr>
          <a:xfrm>
            <a:off x="284797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924175" y="4019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50532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81525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16267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238875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82002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7896225" y="4019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77375" y="4019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420350" y="4029075"/>
            <a:ext cx="6667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125200" y="39433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90500" y="4248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190500" y="42862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85750" y="42481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DWS Specialty Gas</a:t>
            </a:r>
          </a:p>
        </p:txBody>
      </p:sp>
      <p:sp>
        <p:nvSpPr>
          <p:cNvPr id="127" name="Oval 126"/>
          <p:cNvSpPr/>
          <p:nvPr/>
        </p:nvSpPr>
        <p:spPr>
          <a:xfrm>
            <a:off x="2847975" y="4324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924175" y="43243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505325" y="4324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4581525" y="43243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162675" y="4324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238875" y="43243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820025" y="4324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477375" y="4324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420350" y="4333875"/>
            <a:ext cx="6096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068050" y="42481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90500" y="4552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190500" y="45910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5750" y="45529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ISOFLEX USA</a:t>
            </a:r>
          </a:p>
        </p:txBody>
      </p:sp>
      <p:sp>
        <p:nvSpPr>
          <p:cNvPr id="140" name="Oval 139"/>
          <p:cNvSpPr/>
          <p:nvPr/>
        </p:nvSpPr>
        <p:spPr>
          <a:xfrm>
            <a:off x="2847975" y="4629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924175" y="4629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505325" y="4629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4581525" y="4629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162675" y="4629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238875" y="4629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820025" y="4629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7896225" y="4629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477375" y="46291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420350" y="4638675"/>
            <a:ext cx="5524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010900" y="45529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90500" y="4857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200025" y="49339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81000" y="49149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54" name="Oval 153"/>
          <p:cNvSpPr/>
          <p:nvPr/>
        </p:nvSpPr>
        <p:spPr>
          <a:xfrm>
            <a:off x="2065020" y="49339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2133600" y="49339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245995" y="49149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57" name="Oval 156"/>
          <p:cNvSpPr/>
          <p:nvPr/>
        </p:nvSpPr>
        <p:spPr>
          <a:xfrm>
            <a:off x="3678555" y="49339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3743325" y="49339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859530" y="49149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60" name="Oval 159"/>
          <p:cNvSpPr/>
          <p:nvPr/>
        </p:nvSpPr>
        <p:spPr>
          <a:xfrm>
            <a:off x="5103495" y="49339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284470" y="49149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0500" y="51435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STRATEGIC GROUPS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90500" y="53340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90500" y="53911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90500" y="55626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Linde, Air Liquide, Chemgas, Airgas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90500" y="59245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scale and share; weakest on segment breadth.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191000" y="53340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191000" y="53911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191000" y="55626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Eurisotop, Merck KGaA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191000" y="59245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strategic momentum; weakest on segment breadth.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191500" y="53340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191500" y="53911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191500" y="55626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Shanghai Wechem Chemical, Wuhan Baisida Gas, DWS Specialty Gas, ISOFLEX USA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191500" y="59245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strategic momentum; weakest on scale and share.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7" name="Picture 1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350" y="1868551"/>
            <a:ext cx="128699" cy="187198"/>
          </a:xfrm>
          <a:prstGeom prst="rect">
            <a:avLst/>
          </a:prstGeom>
        </p:spPr>
      </p:pic>
      <p:pic>
        <p:nvPicPr>
          <p:cNvPr id="178" name="Picture 1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200" y="2173351"/>
            <a:ext cx="128699" cy="187198"/>
          </a:xfrm>
          <a:prstGeom prst="rect">
            <a:avLst/>
          </a:prstGeom>
        </p:spPr>
      </p:pic>
      <p:pic>
        <p:nvPicPr>
          <p:cNvPr id="179" name="Picture 1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200" y="2478151"/>
            <a:ext cx="128699" cy="187198"/>
          </a:xfrm>
          <a:prstGeom prst="rect">
            <a:avLst/>
          </a:prstGeom>
        </p:spPr>
      </p:pic>
      <p:pic>
        <p:nvPicPr>
          <p:cNvPr id="180" name="Picture 1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8050" y="2782951"/>
            <a:ext cx="128699" cy="187198"/>
          </a:xfrm>
          <a:prstGeom prst="rect">
            <a:avLst/>
          </a:prstGeom>
        </p:spPr>
      </p:pic>
      <p:pic>
        <p:nvPicPr>
          <p:cNvPr id="181" name="Picture 1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9950" y="3087751"/>
            <a:ext cx="128699" cy="187198"/>
          </a:xfrm>
          <a:prstGeom prst="rect">
            <a:avLst/>
          </a:prstGeom>
        </p:spPr>
      </p:pic>
      <p:pic>
        <p:nvPicPr>
          <p:cNvPr id="182" name="Picture 1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800" y="3392551"/>
            <a:ext cx="128699" cy="187198"/>
          </a:xfrm>
          <a:prstGeom prst="rect">
            <a:avLst/>
          </a:prstGeom>
        </p:spPr>
      </p:pic>
      <p:pic>
        <p:nvPicPr>
          <p:cNvPr id="183" name="Picture 1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7550" y="3697351"/>
            <a:ext cx="128699" cy="187198"/>
          </a:xfrm>
          <a:prstGeom prst="rect">
            <a:avLst/>
          </a:prstGeom>
        </p:spPr>
      </p:pic>
      <p:pic>
        <p:nvPicPr>
          <p:cNvPr id="184" name="Picture 1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400" y="4002151"/>
            <a:ext cx="128699" cy="187198"/>
          </a:xfrm>
          <a:prstGeom prst="rect">
            <a:avLst/>
          </a:prstGeom>
        </p:spPr>
      </p:pic>
      <p:pic>
        <p:nvPicPr>
          <p:cNvPr id="185" name="Picture 1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3250" y="4306951"/>
            <a:ext cx="128699" cy="187198"/>
          </a:xfrm>
          <a:prstGeom prst="rect">
            <a:avLst/>
          </a:prstGeom>
        </p:spPr>
      </p:pic>
      <p:pic>
        <p:nvPicPr>
          <p:cNvPr id="186" name="Picture 1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00" y="4611751"/>
            <a:ext cx="128699" cy="187198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21621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88" name="Picture 1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959" y="1212159"/>
            <a:ext cx="92663" cy="134782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381952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90" name="Picture 1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309" y="1212159"/>
            <a:ext cx="92663" cy="134782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54768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92" name="Picture 1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659" y="1212159"/>
            <a:ext cx="92663" cy="134782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713422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94" name="Picture 1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009" y="1212159"/>
            <a:ext cx="92663" cy="134782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87915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96" name="Picture 1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359" y="1212159"/>
            <a:ext cx="92663" cy="134782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Strategic Activity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Each player's active strategic moves: what, type, source department, signal and who should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550" y="1047750"/>
            <a:ext cx="12954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50" y="1047750"/>
            <a:ext cx="2343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DEVELOPMENT (WHAT IS HAPPENING)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4300" y="1047750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1047750"/>
            <a:ext cx="438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2050" y="10477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SOURCE DEPT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300" y="1047750"/>
            <a:ext cx="9144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2800" y="1047750"/>
            <a:ext cx="21526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SIGNAL (WHAT IT INDICATES)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3550" y="1047750"/>
            <a:ext cx="26289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SHOULD ACT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500" y="12382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90500" y="12954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700" y="12858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Air Liquide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3050" y="12858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North America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300" y="12858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514850" y="13144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4850" y="13144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2050" y="12858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300" y="12858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2800" y="12858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3550" y="12858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0500" y="17526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90500" y="17907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700" y="17811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Linde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3050" y="17811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Gaseous Helium-3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24300" y="17811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514850" y="18097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850" y="18097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2050" y="17811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0300" y="17811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2800" y="17811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3550" y="17811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0500" y="22479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90500" y="22860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6700" y="22764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Chemgas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3050" y="22764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East Asia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4300" y="22764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4514850" y="23050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14850" y="23050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2050" y="22764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0300" y="22764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2800" y="22764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53550" y="22764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90500" y="27432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90500" y="27813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6700" y="27717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Airgas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43050" y="27717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Liquid Helium-3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24300" y="27717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514850" y="28003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14850" y="28003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72050" y="27717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0300" y="27717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62800" y="27717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53550" y="27717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0500" y="32385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90500" y="3276600"/>
            <a:ext cx="38100" cy="419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6700" y="32670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Merck KGaA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43050" y="32670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Middle East &amp; Africa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24300" y="32670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514850" y="32956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14850" y="32956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72050" y="32670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0300" y="32670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62800" y="32670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53550" y="32670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90500" y="37338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90500" y="3771900"/>
            <a:ext cx="38100" cy="419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6700" y="37623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Eurisotop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43050" y="37623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Gaseous Helium-3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24300" y="37623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4514850" y="37909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14850" y="37909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72050" y="37623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0300" y="37623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62800" y="37623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53550" y="37623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90500" y="42291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90500" y="42672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6700" y="42576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ISOFLEX USA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43050" y="42576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Western Europe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24300" y="42576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4514850" y="42862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14850" y="42862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72050" y="42576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10300" y="42576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62800" y="42576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53550" y="42576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90500" y="47244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190500" y="47625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6700" y="47529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DWS Specialty Gas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43050" y="47529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Liquid Helium-3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24300" y="47529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4514850" y="47815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14850" y="47815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72050" y="47529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10300" y="47529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62800" y="47529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53550" y="47529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90500" y="52197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90500" y="52578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6700" y="52482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Wuhan Baisida Gas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43050" y="52482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South Asia &amp; Pacific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24300" y="52482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8" name="Rectangle 107"/>
          <p:cNvSpPr/>
          <p:nvPr/>
        </p:nvSpPr>
        <p:spPr>
          <a:xfrm>
            <a:off x="4514850" y="52768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14850" y="52768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72050" y="52482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10300" y="52482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62800" y="52482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53550" y="52482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90500" y="57150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190500" y="57531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6700" y="57435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Shanghai Wechem Chemical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43050" y="57435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Gaseous Helium-3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924300" y="57435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4514850" y="57721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14850" y="57721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972050" y="57435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10300" y="57435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TMR company profiling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162800" y="57435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53550" y="57435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90500" y="62103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190500" y="6276975"/>
            <a:ext cx="285750" cy="15240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90500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4350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M&amp;A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23925" y="6276975"/>
            <a:ext cx="285750" cy="1524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23925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47775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Product / portfolio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724150" y="6276975"/>
            <a:ext cx="285750" cy="1524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724150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048000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Expansion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857625" y="6276975"/>
            <a:ext cx="285750" cy="1524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857625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81475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R&amp;D / technology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57825" y="6276975"/>
            <a:ext cx="285750" cy="152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57825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RG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781675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Regulation / compliance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524750" y="6276975"/>
            <a:ext cx="285750" cy="152400"/>
          </a:xfrm>
          <a:prstGeom prst="rect">
            <a:avLst/>
          </a:prstGeom>
          <a:solidFill>
            <a:srgbClr val="17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524750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848600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Capital / funding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0500" y="6457950"/>
            <a:ext cx="11811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Dates, deal values and evidence sources populate from the research feed; until then each row reads the player's most telling active strategy.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1278001"/>
            <a:ext cx="128699" cy="187198"/>
          </a:xfrm>
          <a:prstGeom prst="rect">
            <a:avLst/>
          </a:prstGeom>
        </p:spPr>
      </p:pic>
      <p:pic>
        <p:nvPicPr>
          <p:cNvPr id="148" name="Picture 1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1773301"/>
            <a:ext cx="128699" cy="187198"/>
          </a:xfrm>
          <a:prstGeom prst="rect">
            <a:avLst/>
          </a:prstGeom>
        </p:spPr>
      </p:pic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2268601"/>
            <a:ext cx="128699" cy="187198"/>
          </a:xfrm>
          <a:prstGeom prst="rect">
            <a:avLst/>
          </a:prstGeom>
        </p:spPr>
      </p:pic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2763901"/>
            <a:ext cx="128699" cy="187198"/>
          </a:xfrm>
          <a:prstGeom prst="rect">
            <a:avLst/>
          </a:prstGeom>
        </p:spPr>
      </p:pic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3259201"/>
            <a:ext cx="128699" cy="187198"/>
          </a:xfrm>
          <a:prstGeom prst="rect">
            <a:avLst/>
          </a:prstGeom>
        </p:spPr>
      </p:pic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3754501"/>
            <a:ext cx="128699" cy="187198"/>
          </a:xfrm>
          <a:prstGeom prst="rect">
            <a:avLst/>
          </a:prstGeom>
        </p:spPr>
      </p:pic>
      <p:pic>
        <p:nvPicPr>
          <p:cNvPr id="153" name="Picture 1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4249801"/>
            <a:ext cx="128699" cy="187198"/>
          </a:xfrm>
          <a:prstGeom prst="rect">
            <a:avLst/>
          </a:prstGeom>
        </p:spPr>
      </p:pic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4745101"/>
            <a:ext cx="128699" cy="187198"/>
          </a:xfrm>
          <a:prstGeom prst="rect">
            <a:avLst/>
          </a:prstGeom>
        </p:spPr>
      </p:pic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5240401"/>
            <a:ext cx="128699" cy="187198"/>
          </a:xfrm>
          <a:prstGeom prst="rect">
            <a:avLst/>
          </a:prstGeom>
        </p:spPr>
      </p:pic>
      <p:pic>
        <p:nvPicPr>
          <p:cNvPr id="156" name="Picture 1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57357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Strategic Activity by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Where competitor activity concentrates by type and department, and what it means for each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63830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" y="16002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 Liquide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500" y="188595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18478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Linde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500" y="213360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50" y="20955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Chemgas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500" y="238125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3431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Airgas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500" y="2628900"/>
            <a:ext cx="38100" cy="1714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750" y="25908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Merck KGaA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" y="2876550"/>
            <a:ext cx="38100" cy="1714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750" y="28384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Eurisotop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" y="312420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750" y="30861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ISOFLEX USA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" y="337185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750" y="33337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DWS Specialty 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0500" y="361950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750" y="35814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Wuhan Baisida Gas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" y="386715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38290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Shanghai Wechem Chemical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45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Moves by type (count)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4500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4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PR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5167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5500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5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RG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6167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24025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14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74358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24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15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75025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65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25358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5833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75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6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4025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4358" y="18573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64833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24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15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75025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65500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25358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75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66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24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14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74358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24692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15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75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65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5358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15833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75692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66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24025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74358" y="23526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64833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24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15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75025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65500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25358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475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66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24025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714500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74358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824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15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75025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65500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25358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15833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475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66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24025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274358" y="28479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64833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24692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15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75025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365500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925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75692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66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724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714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74358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824692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815167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75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65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925358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915833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475692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66167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724025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274358" y="33432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264833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24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15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375025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365500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925358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475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466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24025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714500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74358" y="35909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824692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815167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375025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365500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925358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915833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475692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466167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724025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274358" y="38385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264833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824692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815167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375025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365500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925358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475692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466167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2070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By department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070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Product &amp; R&amp;D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325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Corp. dev.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8580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Operations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835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Legal &amp; reg.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2165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2070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0420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0325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8675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8580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6930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6835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216525" y="18573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207000" y="18573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042025" y="18573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867525" y="18573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858000" y="18573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693025" y="18573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2165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2070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0420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0325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8675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8580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6930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6835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216525" y="23526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207000" y="23526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042025" y="23526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867525" y="23526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858000" y="23526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693025" y="23526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2165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2070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0420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0325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8675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8580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6930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6835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216525" y="28479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207000" y="28479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042025" y="28479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867525" y="28479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58000" y="28479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693025" y="28479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2165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2070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0420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0325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8675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8580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76930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76835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216525" y="33432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207000" y="33432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042025" y="33432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867525" y="33432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858000" y="33432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693025" y="33432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16525" y="35909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207000" y="35909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042025" y="35909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032500" y="35909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867525" y="35909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858000" y="35909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693025" y="35909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683500" y="35909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216525" y="38385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207000" y="38385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042025" y="38385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867525" y="38385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858000" y="38385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693025" y="38385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6995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By region of activity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699500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N. America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9249833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S. Asia &amp; Pac.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800167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E. Asia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350500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LATAM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900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MEA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1451167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E. Europe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709025" y="16097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699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9259358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249833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9809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9800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360025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910358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1460692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09025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259358" y="18573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249833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9809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9800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360025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350500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0910358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1460692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8709025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259358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809692" y="21050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9800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0360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350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910358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900833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1460692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709025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259358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809692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360025" y="23526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0350500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0910358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0900833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1460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11451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709025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259358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809692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360025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910358" y="26003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900833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1460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1451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709025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8699500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9259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809692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360025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910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1460692" y="28479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1451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8709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8699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9259358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249833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09692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360025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910358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1460692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709025" y="33432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8699500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9259358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9249833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09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800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0360025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910358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1460692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8709025" y="35909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259358" y="35909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9249833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809692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9800167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0360025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0350500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0910358" y="35909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1460692" y="35909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709025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9259358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809692" y="38385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9800167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10360025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10350500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10358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0900833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1460692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90500" y="4171950"/>
            <a:ext cx="209550" cy="123825"/>
          </a:xfrm>
          <a:prstGeom prst="rect">
            <a:avLst/>
          </a:prstGeom>
          <a:solidFill>
            <a:srgbClr val="CF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438150" y="41338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1 move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238250" y="4171950"/>
            <a:ext cx="209550" cy="123825"/>
          </a:xfrm>
          <a:prstGeom prst="rect">
            <a:avLst/>
          </a:prstGeom>
          <a:solidFill>
            <a:srgbClr val="8FB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1485900" y="41338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2 moves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286000" y="4171950"/>
            <a:ext cx="209550" cy="123825"/>
          </a:xfrm>
          <a:prstGeom prst="rect">
            <a:avLst/>
          </a:prstGeom>
          <a:solidFill>
            <a:srgbClr val="3D7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2533650" y="41338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3+ moves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524250" y="4133850"/>
            <a:ext cx="84772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Type codes: MA M&amp;A, PR Product / portfolio, EX Expansion, RD R&amp;D / technology, RG Regulation / compliance, CP Capital / funding</a:t>
            </a:r>
          </a:p>
        </p:txBody>
      </p:sp>
      <p:cxnSp>
        <p:nvCxnSpPr>
          <p:cNvPr id="315" name="Connector 314"/>
          <p:cNvCxnSpPr/>
          <p:nvPr/>
        </p:nvCxnSpPr>
        <p:spPr>
          <a:xfrm>
            <a:off x="190500" y="44005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190500" y="4457700"/>
            <a:ext cx="5715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IT MEANS FOR EACH OF YOUR DEPARTMENTS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9050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26670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9050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10 expansion moves target new regions and volume tiers: defend key accounts where rivals expand.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217805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225425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217805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Certification and compliance are being used as trust signals; make your own credentials visible.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6560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424180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Product and R&amp;D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416560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20 product and R&amp;D moves: benchmark launches and the technology roadmap.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15315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622935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Corporate development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615315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5 players are acquiring; the independent target list is shrinking.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814070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821690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814070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Expansion moves add capacity in rivals' home regions; review supply and lead times.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012825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020445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Legal and regulatory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012825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5 players lean on certification; audit your own compliance position.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Industry Structure Landscape – Helium-3 Market, Global 2026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Tier ladder, market concentration and tier profile, and the structural shift 2026→2036 shaping the tier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47750"/>
            <a:ext cx="5810250" cy="400050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104900"/>
            <a:ext cx="5619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Tier Ladder – Share of Market Value,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125" y="1304925"/>
            <a:ext cx="56197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175" y="160020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175" y="180975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Top / global players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825" y="1581150"/>
            <a:ext cx="4533900" cy="476250"/>
          </a:xfrm>
          <a:prstGeom prst="rect">
            <a:avLst/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2075" y="160972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075" y="1809750"/>
            <a:ext cx="43815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825" y="206692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Air Liquide · Linde · Chemgas · Airgas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175" y="245745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175" y="266700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Mid-sized players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6825" y="2438400"/>
            <a:ext cx="3786554" cy="47625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2075" y="246697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075" y="2667000"/>
            <a:ext cx="3634154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6825" y="292417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Merck KGaA · Eurisotop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175" y="331470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175" y="352425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Emerging / local players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6825" y="3295650"/>
            <a:ext cx="3487615" cy="476250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62075" y="332422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2075" y="3524250"/>
            <a:ext cx="333521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6825" y="378142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ISOFLEX USA · DWS Specialty Gas · Wuhan Baisida Gas · Shanghai Wechem Chemical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175" y="417195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438150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Long tail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66825" y="4152900"/>
            <a:ext cx="3637085" cy="476250"/>
          </a:xfrm>
          <a:prstGeom prst="rect">
            <a:avLst/>
          </a:prstGeom>
          <a:solidFill>
            <a:srgbClr val="9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2075" y="418147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2075" y="4381500"/>
            <a:ext cx="348468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6825" y="463867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Regional &amp; niche suppliers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2875" y="5162550"/>
            <a:ext cx="5810250" cy="146685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8125" y="5219700"/>
            <a:ext cx="5619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Concentration Read-out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225" y="5505450"/>
            <a:ext cx="1847850" cy="247650"/>
          </a:xfrm>
          <a:prstGeom prst="rect">
            <a:avLst/>
          </a:prstGeom>
          <a:solidFill>
            <a:srgbClr val="C9DAF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22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Fragmented HHI &lt; 1,500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24075" y="5505450"/>
            <a:ext cx="1847850" cy="247650"/>
          </a:xfrm>
          <a:prstGeom prst="rect">
            <a:avLst/>
          </a:prstGeom>
          <a:solidFill>
            <a:srgbClr val="6FA8D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2407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Moderate 1,500–2,500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925" y="5505450"/>
            <a:ext cx="18478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7192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Concentrated &gt; 2,500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665" y="5762625"/>
            <a:ext cx="17145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8125" y="5981700"/>
            <a:ext cx="561975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0" y="1047750"/>
            <a:ext cx="5953125" cy="400050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1250" y="1104900"/>
            <a:ext cx="5762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Tier Profile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1250" y="1304925"/>
            <a:ext cx="576262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Size, growth and competitive characteristics of each tier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1250" y="1562100"/>
            <a:ext cx="16192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8400" y="1562100"/>
            <a:ext cx="15430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0500" y="1562100"/>
            <a:ext cx="828675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050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39175" y="1562100"/>
            <a:ext cx="828675" cy="247650"/>
          </a:xfrm>
          <a:prstGeom prst="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39175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67850" y="1562100"/>
            <a:ext cx="828675" cy="247650"/>
          </a:xfrm>
          <a:prstGeom prst="rect">
            <a:avLst/>
          </a:prstGeom>
          <a:solidFill>
            <a:srgbClr val="6FA8D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785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96525" y="1562100"/>
            <a:ext cx="828675" cy="247650"/>
          </a:xfrm>
          <a:prstGeom prst="rect">
            <a:avLst/>
          </a:prstGeom>
          <a:solidFill>
            <a:srgbClr val="9FC5E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96525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25200" y="1562100"/>
            <a:ext cx="828675" cy="247650"/>
          </a:xfrm>
          <a:prstGeom prst="rect">
            <a:avLst/>
          </a:prstGeom>
          <a:solidFill>
            <a:srgbClr val="10244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2520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1250" y="18097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48400" y="18097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Players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050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2955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39175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8225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785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8690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96525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15575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Long tail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2520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4425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91250" y="20383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48400" y="20383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Value 2026 (US$ Mn)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050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2955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39175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58225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46785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8690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96525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15575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2520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14425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91250" y="22669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8400" y="22669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of value 2026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050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76248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63902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39175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04922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92578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6785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733598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21252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296525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62272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49928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12520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144250" y="22669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91250" y="24955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48400" y="24955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of value 2036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1050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76248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63902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39175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04922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92578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46785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733598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21252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296525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62272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849928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12520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144250" y="24955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191250" y="27241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48400" y="27241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change (pp)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81050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975282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08632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639175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803958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37308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46785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32632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65982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296525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461308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−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594658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12520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144250" y="27241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191250" y="29527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48400" y="29527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CAGR 2026–2036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050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0863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3151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639175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37308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60192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46785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6598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8886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296525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594658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817542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12520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42333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64621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1250" y="31813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248400" y="31813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Avg / player (US$ Mn)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81050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82955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639175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58225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46785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8690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296525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315575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12520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14425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191250" y="34099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248400" y="34099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Installed base share (units)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81050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076248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363902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639175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904922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92578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46785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733598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021252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0296525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62272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849928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12520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1144250" y="34099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191250" y="373380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248400" y="373380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Price positioning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81050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82955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Premium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639175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658225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Mid / value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46785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48690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Value / entry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296525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315575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Mixed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12520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114425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1250" y="40576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248400" y="40576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Route-to-market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81050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82955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Direct / key accounts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639175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58225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Distributors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46785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48690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Regional partners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296525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315575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Local / online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112520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114425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191250" y="438150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248400" y="438150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Portfolio breadth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81050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82955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Full portfolio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8639175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58225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2–3 core lines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46785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48690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Single line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0296525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315575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Niche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112520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114425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191250" y="47053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248400" y="47053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Strategic posture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810500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82955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Defend &amp; bundle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639175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658225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Niche deepening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9467850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48690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Scale-up or exit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0296525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0315575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Long-tail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125200" y="47053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114425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6096000" y="5162550"/>
            <a:ext cx="5953125" cy="146685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91250" y="5219700"/>
            <a:ext cx="5762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Key Takeaways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210300" y="54673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343650" y="5467350"/>
            <a:ext cx="5591175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210300" y="58483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343650" y="5848350"/>
            <a:ext cx="5591175" cy="3714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210300" y="6067425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343650" y="6067425"/>
            <a:ext cx="5591175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32" name="Rectangle 23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4" name="Picture 2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1620901"/>
            <a:ext cx="128699" cy="187198"/>
          </a:xfrm>
          <a:prstGeom prst="rect">
            <a:avLst/>
          </a:prstGeom>
        </p:spPr>
      </p:pic>
      <p:pic>
        <p:nvPicPr>
          <p:cNvPr id="235" name="Picture 2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2478151"/>
            <a:ext cx="128699" cy="187198"/>
          </a:xfrm>
          <a:prstGeom prst="rect">
            <a:avLst/>
          </a:prstGeom>
        </p:spPr>
      </p:pic>
      <p:pic>
        <p:nvPicPr>
          <p:cNvPr id="236" name="Picture 2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3335401"/>
            <a:ext cx="128699" cy="187198"/>
          </a:xfrm>
          <a:prstGeom prst="rect">
            <a:avLst/>
          </a:prstGeom>
        </p:spPr>
      </p:pic>
      <p:pic>
        <p:nvPicPr>
          <p:cNvPr id="237" name="Picture 2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4192651"/>
            <a:ext cx="128699" cy="187198"/>
          </a:xfrm>
          <a:prstGeom prst="rect">
            <a:avLst/>
          </a:prstGeom>
        </p:spPr>
      </p:pic>
      <p:pic>
        <p:nvPicPr>
          <p:cNvPr id="238" name="Picture 2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8" y="1830451"/>
            <a:ext cx="128699" cy="187198"/>
          </a:xfrm>
          <a:prstGeom prst="rect">
            <a:avLst/>
          </a:prstGeom>
        </p:spPr>
      </p:pic>
      <p:pic>
        <p:nvPicPr>
          <p:cNvPr id="239" name="Picture 2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059051"/>
            <a:ext cx="128699" cy="187198"/>
          </a:xfrm>
          <a:prstGeom prst="rect">
            <a:avLst/>
          </a:prstGeom>
        </p:spPr>
      </p:pic>
      <p:pic>
        <p:nvPicPr>
          <p:cNvPr id="240" name="Picture 2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059051"/>
            <a:ext cx="128699" cy="187198"/>
          </a:xfrm>
          <a:prstGeom prst="rect">
            <a:avLst/>
          </a:prstGeom>
        </p:spPr>
      </p:pic>
      <p:pic>
        <p:nvPicPr>
          <p:cNvPr id="241" name="Picture 2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059051"/>
            <a:ext cx="128699" cy="187198"/>
          </a:xfrm>
          <a:prstGeom prst="rect">
            <a:avLst/>
          </a:prstGeom>
        </p:spPr>
      </p:pic>
      <p:pic>
        <p:nvPicPr>
          <p:cNvPr id="242" name="Picture 2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059051"/>
            <a:ext cx="128699" cy="187198"/>
          </a:xfrm>
          <a:prstGeom prst="rect">
            <a:avLst/>
          </a:prstGeom>
        </p:spPr>
      </p:pic>
      <p:pic>
        <p:nvPicPr>
          <p:cNvPr id="243" name="Picture 2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8" y="2059051"/>
            <a:ext cx="128699" cy="187198"/>
          </a:xfrm>
          <a:prstGeom prst="rect">
            <a:avLst/>
          </a:prstGeom>
        </p:spPr>
      </p:pic>
      <p:pic>
        <p:nvPicPr>
          <p:cNvPr id="244" name="Picture 2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287651"/>
            <a:ext cx="128699" cy="187198"/>
          </a:xfrm>
          <a:prstGeom prst="rect">
            <a:avLst/>
          </a:prstGeom>
        </p:spPr>
      </p:pic>
      <p:pic>
        <p:nvPicPr>
          <p:cNvPr id="245" name="Picture 2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2287651"/>
            <a:ext cx="128699" cy="187198"/>
          </a:xfrm>
          <a:prstGeom prst="rect">
            <a:avLst/>
          </a:prstGeom>
        </p:spPr>
      </p:pic>
      <p:pic>
        <p:nvPicPr>
          <p:cNvPr id="246" name="Picture 2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287651"/>
            <a:ext cx="128699" cy="187198"/>
          </a:xfrm>
          <a:prstGeom prst="rect">
            <a:avLst/>
          </a:prstGeom>
        </p:spPr>
      </p:pic>
      <p:pic>
        <p:nvPicPr>
          <p:cNvPr id="247" name="Picture 2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2287651"/>
            <a:ext cx="128699" cy="187198"/>
          </a:xfrm>
          <a:prstGeom prst="rect">
            <a:avLst/>
          </a:prstGeom>
        </p:spPr>
      </p:pic>
      <p:pic>
        <p:nvPicPr>
          <p:cNvPr id="248" name="Picture 2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516251"/>
            <a:ext cx="128699" cy="187198"/>
          </a:xfrm>
          <a:prstGeom prst="rect">
            <a:avLst/>
          </a:prstGeom>
        </p:spPr>
      </p:pic>
      <p:pic>
        <p:nvPicPr>
          <p:cNvPr id="249" name="Picture 2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2516251"/>
            <a:ext cx="128699" cy="187198"/>
          </a:xfrm>
          <a:prstGeom prst="rect">
            <a:avLst/>
          </a:prstGeom>
        </p:spPr>
      </p:pic>
      <p:pic>
        <p:nvPicPr>
          <p:cNvPr id="250" name="Picture 2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516251"/>
            <a:ext cx="128699" cy="187198"/>
          </a:xfrm>
          <a:prstGeom prst="rect">
            <a:avLst/>
          </a:prstGeom>
        </p:spPr>
      </p:pic>
      <p:pic>
        <p:nvPicPr>
          <p:cNvPr id="251" name="Picture 2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2516251"/>
            <a:ext cx="128699" cy="187198"/>
          </a:xfrm>
          <a:prstGeom prst="rect">
            <a:avLst/>
          </a:prstGeom>
        </p:spPr>
      </p:pic>
      <p:pic>
        <p:nvPicPr>
          <p:cNvPr id="252" name="Picture 2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7" y="2744851"/>
            <a:ext cx="128699" cy="187198"/>
          </a:xfrm>
          <a:prstGeom prst="rect">
            <a:avLst/>
          </a:prstGeom>
        </p:spPr>
      </p:pic>
      <p:pic>
        <p:nvPicPr>
          <p:cNvPr id="253" name="Picture 2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744851"/>
            <a:ext cx="128699" cy="187198"/>
          </a:xfrm>
          <a:prstGeom prst="rect">
            <a:avLst/>
          </a:prstGeom>
        </p:spPr>
      </p:pic>
      <p:pic>
        <p:nvPicPr>
          <p:cNvPr id="254" name="Picture 2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7" y="2744851"/>
            <a:ext cx="128699" cy="187198"/>
          </a:xfrm>
          <a:prstGeom prst="rect">
            <a:avLst/>
          </a:prstGeom>
        </p:spPr>
      </p:pic>
      <p:pic>
        <p:nvPicPr>
          <p:cNvPr id="255" name="Picture 2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744851"/>
            <a:ext cx="128699" cy="187198"/>
          </a:xfrm>
          <a:prstGeom prst="rect">
            <a:avLst/>
          </a:prstGeom>
        </p:spPr>
      </p:pic>
      <p:pic>
        <p:nvPicPr>
          <p:cNvPr id="256" name="Picture 2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7" y="2973451"/>
            <a:ext cx="128699" cy="187198"/>
          </a:xfrm>
          <a:prstGeom prst="rect">
            <a:avLst/>
          </a:prstGeom>
        </p:spPr>
      </p:pic>
      <p:pic>
        <p:nvPicPr>
          <p:cNvPr id="257" name="Picture 2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973451"/>
            <a:ext cx="128699" cy="187198"/>
          </a:xfrm>
          <a:prstGeom prst="rect">
            <a:avLst/>
          </a:prstGeom>
        </p:spPr>
      </p:pic>
      <p:pic>
        <p:nvPicPr>
          <p:cNvPr id="258" name="Picture 2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7" y="2973451"/>
            <a:ext cx="128699" cy="187198"/>
          </a:xfrm>
          <a:prstGeom prst="rect">
            <a:avLst/>
          </a:prstGeom>
        </p:spPr>
      </p:pic>
      <p:pic>
        <p:nvPicPr>
          <p:cNvPr id="259" name="Picture 2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973451"/>
            <a:ext cx="128699" cy="187198"/>
          </a:xfrm>
          <a:prstGeom prst="rect">
            <a:avLst/>
          </a:prstGeom>
        </p:spPr>
      </p:pic>
      <p:pic>
        <p:nvPicPr>
          <p:cNvPr id="260" name="Picture 2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7" y="2973451"/>
            <a:ext cx="128699" cy="187198"/>
          </a:xfrm>
          <a:prstGeom prst="rect">
            <a:avLst/>
          </a:prstGeom>
        </p:spPr>
      </p:pic>
      <p:pic>
        <p:nvPicPr>
          <p:cNvPr id="261" name="Picture 2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3202051"/>
            <a:ext cx="128699" cy="187198"/>
          </a:xfrm>
          <a:prstGeom prst="rect">
            <a:avLst/>
          </a:prstGeom>
        </p:spPr>
      </p:pic>
      <p:pic>
        <p:nvPicPr>
          <p:cNvPr id="262" name="Picture 2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3202051"/>
            <a:ext cx="128699" cy="187198"/>
          </a:xfrm>
          <a:prstGeom prst="rect">
            <a:avLst/>
          </a:prstGeom>
        </p:spPr>
      </p:pic>
      <p:pic>
        <p:nvPicPr>
          <p:cNvPr id="263" name="Picture 2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3202051"/>
            <a:ext cx="128699" cy="187198"/>
          </a:xfrm>
          <a:prstGeom prst="rect">
            <a:avLst/>
          </a:prstGeom>
        </p:spPr>
      </p:pic>
      <p:pic>
        <p:nvPicPr>
          <p:cNvPr id="264" name="Picture 2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3478276"/>
            <a:ext cx="128699" cy="187198"/>
          </a:xfrm>
          <a:prstGeom prst="rect">
            <a:avLst/>
          </a:prstGeom>
        </p:spPr>
      </p:pic>
      <p:pic>
        <p:nvPicPr>
          <p:cNvPr id="265" name="Picture 2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3478276"/>
            <a:ext cx="128699" cy="187198"/>
          </a:xfrm>
          <a:prstGeom prst="rect">
            <a:avLst/>
          </a:prstGeom>
        </p:spPr>
      </p:pic>
      <p:pic>
        <p:nvPicPr>
          <p:cNvPr id="266" name="Picture 2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3478276"/>
            <a:ext cx="128699" cy="187198"/>
          </a:xfrm>
          <a:prstGeom prst="rect">
            <a:avLst/>
          </a:prstGeom>
        </p:spPr>
      </p:pic>
      <p:pic>
        <p:nvPicPr>
          <p:cNvPr id="267" name="Picture 2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3478276"/>
            <a:ext cx="128699" cy="187198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266700" y="1344930"/>
            <a:ext cx="4914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Market</a:t>
            </a:r>
          </a:p>
        </p:txBody>
      </p:sp>
      <p:pic>
        <p:nvPicPr>
          <p:cNvPr id="269" name="Picture 2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31" y="1335151"/>
            <a:ext cx="128699" cy="187198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873727" y="1344930"/>
            <a:ext cx="12903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US$ Mn · Tier 1 share</a:t>
            </a:r>
          </a:p>
        </p:txBody>
      </p:sp>
      <p:pic>
        <p:nvPicPr>
          <p:cNvPr id="271" name="Picture 2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168" y="1335151"/>
            <a:ext cx="128699" cy="187198"/>
          </a:xfrm>
          <a:prstGeom prst="rect">
            <a:avLst/>
          </a:prstGeom>
        </p:spPr>
      </p:pic>
      <p:sp>
        <p:nvSpPr>
          <p:cNvPr id="272" name="TextBox 271"/>
          <p:cNvSpPr txBox="1"/>
          <p:nvPr/>
        </p:nvSpPr>
        <p:spPr>
          <a:xfrm>
            <a:off x="2279664" y="134493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pic>
        <p:nvPicPr>
          <p:cNvPr id="273" name="Picture 2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519" y="1335151"/>
            <a:ext cx="128699" cy="187198"/>
          </a:xfrm>
          <a:prstGeom prst="rect">
            <a:avLst/>
          </a:prstGeom>
        </p:spPr>
      </p:pic>
      <p:sp>
        <p:nvSpPr>
          <p:cNvPr id="274" name="TextBox 273"/>
          <p:cNvSpPr txBox="1"/>
          <p:nvPr/>
        </p:nvSpPr>
        <p:spPr>
          <a:xfrm>
            <a:off x="2598014" y="1344930"/>
            <a:ext cx="528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by 2036</a:t>
            </a:r>
          </a:p>
        </p:txBody>
      </p:sp>
      <p:pic>
        <p:nvPicPr>
          <p:cNvPr id="275" name="Picture 2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1839976"/>
            <a:ext cx="128699" cy="187198"/>
          </a:xfrm>
          <a:prstGeom prst="rect">
            <a:avLst/>
          </a:prstGeom>
        </p:spPr>
      </p:pic>
      <p:sp>
        <p:nvSpPr>
          <p:cNvPr id="276" name="TextBox 275"/>
          <p:cNvSpPr txBox="1"/>
          <p:nvPr/>
        </p:nvSpPr>
        <p:spPr>
          <a:xfrm>
            <a:off x="1544678" y="184975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4 players · avg</a:t>
            </a:r>
          </a:p>
        </p:txBody>
      </p:sp>
      <p:pic>
        <p:nvPicPr>
          <p:cNvPr id="277" name="Picture 2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1839976"/>
            <a:ext cx="128699" cy="187198"/>
          </a:xfrm>
          <a:prstGeom prst="rect">
            <a:avLst/>
          </a:prstGeom>
        </p:spPr>
      </p:pic>
      <p:sp>
        <p:nvSpPr>
          <p:cNvPr id="278" name="TextBox 277"/>
          <p:cNvSpPr txBox="1"/>
          <p:nvPr/>
        </p:nvSpPr>
        <p:spPr>
          <a:xfrm>
            <a:off x="3089769" y="184975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79" name="Picture 2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2697226"/>
            <a:ext cx="128699" cy="187198"/>
          </a:xfrm>
          <a:prstGeom prst="rect">
            <a:avLst/>
          </a:prstGeom>
        </p:spPr>
      </p:pic>
      <p:sp>
        <p:nvSpPr>
          <p:cNvPr id="280" name="TextBox 279"/>
          <p:cNvSpPr txBox="1"/>
          <p:nvPr/>
        </p:nvSpPr>
        <p:spPr>
          <a:xfrm>
            <a:off x="1544678" y="270700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2 players · avg</a:t>
            </a:r>
          </a:p>
        </p:txBody>
      </p:sp>
      <p:pic>
        <p:nvPicPr>
          <p:cNvPr id="281" name="Picture 2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2697226"/>
            <a:ext cx="128699" cy="187198"/>
          </a:xfrm>
          <a:prstGeom prst="rect">
            <a:avLst/>
          </a:prstGeom>
        </p:spPr>
      </p:pic>
      <p:sp>
        <p:nvSpPr>
          <p:cNvPr id="282" name="TextBox 281"/>
          <p:cNvSpPr txBox="1"/>
          <p:nvPr/>
        </p:nvSpPr>
        <p:spPr>
          <a:xfrm>
            <a:off x="3089769" y="270700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83" name="Picture 2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3554476"/>
            <a:ext cx="128699" cy="187198"/>
          </a:xfrm>
          <a:prstGeom prst="rect">
            <a:avLst/>
          </a:prstGeom>
        </p:spPr>
      </p:pic>
      <p:sp>
        <p:nvSpPr>
          <p:cNvPr id="284" name="TextBox 283"/>
          <p:cNvSpPr txBox="1"/>
          <p:nvPr/>
        </p:nvSpPr>
        <p:spPr>
          <a:xfrm>
            <a:off x="1544678" y="356425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4 players · avg</a:t>
            </a:r>
          </a:p>
        </p:txBody>
      </p:sp>
      <p:pic>
        <p:nvPicPr>
          <p:cNvPr id="285" name="Picture 2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3554476"/>
            <a:ext cx="128699" cy="187198"/>
          </a:xfrm>
          <a:prstGeom prst="rect">
            <a:avLst/>
          </a:prstGeom>
        </p:spPr>
      </p:pic>
      <p:sp>
        <p:nvSpPr>
          <p:cNvPr id="286" name="TextBox 285"/>
          <p:cNvSpPr txBox="1"/>
          <p:nvPr/>
        </p:nvSpPr>
        <p:spPr>
          <a:xfrm>
            <a:off x="3089769" y="356425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87" name="Picture 2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4411726"/>
            <a:ext cx="128699" cy="187198"/>
          </a:xfrm>
          <a:prstGeom prst="rect">
            <a:avLst/>
          </a:prstGeom>
        </p:spPr>
      </p:pic>
      <p:sp>
        <p:nvSpPr>
          <p:cNvPr id="288" name="TextBox 287"/>
          <p:cNvSpPr txBox="1"/>
          <p:nvPr/>
        </p:nvSpPr>
        <p:spPr>
          <a:xfrm>
            <a:off x="1544678" y="4421505"/>
            <a:ext cx="124700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US$ Mn · – · long tail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241169" y="5802630"/>
            <a:ext cx="4936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Calibri"/>
              </a:rPr>
              <a:t>▲</a:t>
            </a:r>
            <a:r>
              <a:rPr sz="1100" b="1">
                <a:solidFill>
                  <a:srgbClr val="14213D"/>
                </a:solidFill>
                <a:latin typeface="Calibri"/>
              </a:rPr>
              <a:t> HHI =</a:t>
            </a:r>
          </a:p>
        </p:txBody>
      </p:sp>
      <p:pic>
        <p:nvPicPr>
          <p:cNvPr id="290" name="Picture 2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883" y="5792851"/>
            <a:ext cx="128699" cy="187198"/>
          </a:xfrm>
          <a:prstGeom prst="rect">
            <a:avLst/>
          </a:prstGeom>
        </p:spPr>
      </p:pic>
      <p:sp>
        <p:nvSpPr>
          <p:cNvPr id="291" name="TextBox 290"/>
          <p:cNvSpPr txBox="1"/>
          <p:nvPr/>
        </p:nvSpPr>
        <p:spPr>
          <a:xfrm>
            <a:off x="876202" y="6107430"/>
            <a:ext cx="4008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CR4 =</a:t>
            </a:r>
          </a:p>
        </p:txBody>
      </p:sp>
      <p:pic>
        <p:nvPicPr>
          <p:cNvPr id="292" name="Picture 2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147" y="6097651"/>
            <a:ext cx="128699" cy="187198"/>
          </a:xfrm>
          <a:prstGeom prst="rect">
            <a:avLst/>
          </a:prstGeom>
        </p:spPr>
      </p:pic>
      <p:sp>
        <p:nvSpPr>
          <p:cNvPr id="293" name="TextBox 292"/>
          <p:cNvSpPr txBox="1"/>
          <p:nvPr/>
        </p:nvSpPr>
        <p:spPr>
          <a:xfrm>
            <a:off x="1392643" y="6107430"/>
            <a:ext cx="10682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· Tier 1 : Others =</a:t>
            </a:r>
          </a:p>
        </p:txBody>
      </p:sp>
      <p:pic>
        <p:nvPicPr>
          <p:cNvPr id="294" name="Picture 2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983" y="6097651"/>
            <a:ext cx="128699" cy="187198"/>
          </a:xfrm>
          <a:prstGeom prst="rect">
            <a:avLst/>
          </a:prstGeom>
        </p:spPr>
      </p:pic>
      <p:sp>
        <p:nvSpPr>
          <p:cNvPr id="295" name="TextBox 294"/>
          <p:cNvSpPr txBox="1"/>
          <p:nvPr/>
        </p:nvSpPr>
        <p:spPr>
          <a:xfrm>
            <a:off x="2576478" y="6107430"/>
            <a:ext cx="13976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: 1 · Top-player share =</a:t>
            </a:r>
          </a:p>
        </p:txBody>
      </p:sp>
      <p:pic>
        <p:nvPicPr>
          <p:cNvPr id="296" name="Picture 2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150" y="6097651"/>
            <a:ext cx="128699" cy="187198"/>
          </a:xfrm>
          <a:prstGeom prst="rect">
            <a:avLst/>
          </a:prstGeom>
        </p:spPr>
      </p:pic>
      <p:sp>
        <p:nvSpPr>
          <p:cNvPr id="297" name="TextBox 296"/>
          <p:cNvSpPr txBox="1"/>
          <p:nvPr/>
        </p:nvSpPr>
        <p:spPr>
          <a:xfrm>
            <a:off x="4089646" y="6107430"/>
            <a:ext cx="12063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· Class: Fragmented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372225" y="5476875"/>
            <a:ext cx="4715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1 (</a:t>
            </a:r>
          </a:p>
        </p:txBody>
      </p:sp>
      <p:pic>
        <p:nvPicPr>
          <p:cNvPr id="299" name="Picture 2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838" y="5467095"/>
            <a:ext cx="128699" cy="187198"/>
          </a:xfrm>
          <a:prstGeom prst="rect">
            <a:avLst/>
          </a:prstGeom>
        </p:spPr>
      </p:pic>
      <p:sp>
        <p:nvSpPr>
          <p:cNvPr id="300" name="TextBox 299"/>
          <p:cNvSpPr txBox="1"/>
          <p:nvPr/>
        </p:nvSpPr>
        <p:spPr>
          <a:xfrm>
            <a:off x="6959334" y="5476875"/>
            <a:ext cx="25501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) holds the largest single block of value on a</a:t>
            </a:r>
          </a:p>
        </p:txBody>
      </p:sp>
      <p:pic>
        <p:nvPicPr>
          <p:cNvPr id="301" name="Picture 3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531" y="5467095"/>
            <a:ext cx="128699" cy="187198"/>
          </a:xfrm>
          <a:prstGeom prst="rect">
            <a:avLst/>
          </a:prstGeom>
        </p:spPr>
      </p:pic>
      <p:sp>
        <p:nvSpPr>
          <p:cNvPr id="302" name="TextBox 301"/>
          <p:cNvSpPr txBox="1"/>
          <p:nvPr/>
        </p:nvSpPr>
        <p:spPr>
          <a:xfrm>
            <a:off x="9625026" y="5476875"/>
            <a:ext cx="12598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US$ Mn base; CR4 of</a:t>
            </a:r>
          </a:p>
        </p:txBody>
      </p:sp>
      <p:pic>
        <p:nvPicPr>
          <p:cNvPr id="303" name="Picture 3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2908" y="5467095"/>
            <a:ext cx="128699" cy="187198"/>
          </a:xfrm>
          <a:prstGeom prst="rect">
            <a:avLst/>
          </a:prstGeom>
        </p:spPr>
      </p:pic>
      <p:sp>
        <p:nvSpPr>
          <p:cNvPr id="304" name="TextBox 303"/>
          <p:cNvSpPr txBox="1"/>
          <p:nvPr/>
        </p:nvSpPr>
        <p:spPr>
          <a:xfrm>
            <a:off x="11000404" y="5476875"/>
            <a:ext cx="678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and HHI of</a:t>
            </a:r>
          </a:p>
        </p:txBody>
      </p:sp>
      <p:pic>
        <p:nvPicPr>
          <p:cNvPr id="305" name="Picture 3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757" y="5634735"/>
            <a:ext cx="128699" cy="187198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6526253" y="5644515"/>
            <a:ext cx="20306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classify the market as fragmented.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372225" y="5857875"/>
            <a:ext cx="1331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2 grows fastest at</a:t>
            </a:r>
          </a:p>
        </p:txBody>
      </p:sp>
      <p:pic>
        <p:nvPicPr>
          <p:cNvPr id="308" name="Picture 3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320" y="5848095"/>
            <a:ext cx="128699" cy="187198"/>
          </a:xfrm>
          <a:prstGeom prst="rect">
            <a:avLst/>
          </a:prstGeom>
        </p:spPr>
      </p:pic>
      <p:sp>
        <p:nvSpPr>
          <p:cNvPr id="309" name="TextBox 308"/>
          <p:cNvSpPr txBox="1"/>
          <p:nvPr/>
        </p:nvSpPr>
        <p:spPr>
          <a:xfrm>
            <a:off x="7818816" y="5857875"/>
            <a:ext cx="9828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CAGR, moving +</a:t>
            </a:r>
          </a:p>
        </p:txBody>
      </p:sp>
      <p:pic>
        <p:nvPicPr>
          <p:cNvPr id="310" name="Picture 3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737" y="5848095"/>
            <a:ext cx="128699" cy="187198"/>
          </a:xfrm>
          <a:prstGeom prst="rect">
            <a:avLst/>
          </a:prstGeom>
        </p:spPr>
      </p:pic>
      <p:sp>
        <p:nvSpPr>
          <p:cNvPr id="311" name="TextBox 310"/>
          <p:cNvSpPr txBox="1"/>
          <p:nvPr/>
        </p:nvSpPr>
        <p:spPr>
          <a:xfrm>
            <a:off x="8917232" y="5857875"/>
            <a:ext cx="12347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pp of share by 2036.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372225" y="6076950"/>
            <a:ext cx="21616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3 and the long tail together hold</a:t>
            </a:r>
          </a:p>
        </p:txBody>
      </p:sp>
      <p:pic>
        <p:nvPicPr>
          <p:cNvPr id="313" name="Picture 3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881" y="6067170"/>
            <a:ext cx="128699" cy="187198"/>
          </a:xfrm>
          <a:prstGeom prst="rect">
            <a:avLst/>
          </a:prstGeom>
        </p:spPr>
      </p:pic>
      <p:sp>
        <p:nvSpPr>
          <p:cNvPr id="314" name="TextBox 313"/>
          <p:cNvSpPr txBox="1"/>
          <p:nvPr/>
        </p:nvSpPr>
        <p:spPr>
          <a:xfrm>
            <a:off x="8649376" y="6076950"/>
            <a:ext cx="21274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of value; the average Tier 3 player is</a:t>
            </a:r>
          </a:p>
        </p:txBody>
      </p:sp>
      <p:pic>
        <p:nvPicPr>
          <p:cNvPr id="315" name="Picture 3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926" y="6067170"/>
            <a:ext cx="128699" cy="187198"/>
          </a:xfrm>
          <a:prstGeom prst="rect">
            <a:avLst/>
          </a:prstGeom>
        </p:spPr>
      </p:pic>
      <p:sp>
        <p:nvSpPr>
          <p:cNvPr id="316" name="TextBox 315"/>
          <p:cNvSpPr txBox="1"/>
          <p:nvPr/>
        </p:nvSpPr>
        <p:spPr>
          <a:xfrm>
            <a:off x="10892422" y="6076950"/>
            <a:ext cx="8764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x smaller than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372225" y="6244590"/>
            <a:ext cx="102053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a Tier 1 supplier.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Industry Structure Landscape – Helium-3 Market, Global 2026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Tier ladder, market concentration and tier profile, and the structural shift 2026→2036 shaping the tier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47750"/>
            <a:ext cx="11906250" cy="2381250"/>
          </a:xfrm>
          <a:prstGeom prst="roundRect">
            <a:avLst>
              <a:gd name="adj" fmla="val 64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" y="1104900"/>
            <a:ext cx="11715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Structural Shift, 2026 → 2036 – Tier Migration and Entry / Exit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17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17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17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Top / global players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7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837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1 up-tier (M&amp;A)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1457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23837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23837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334327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837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0 down / exit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472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472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Mid-sized players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282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592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1 up-tier (M&amp;A)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7212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549592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49592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660082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592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0 down / exit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227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7227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Emerging / local players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037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347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2 up-tier (M&amp;A)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82967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75347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75347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985837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347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1 down / exit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982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9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982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982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Long tail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6792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717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MR KPI Value"/>
          <p:cNvSpPr txBox="1"/>
          <p:nvPr/>
        </p:nvSpPr>
        <p:spPr>
          <a:xfrm>
            <a:off x="35242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9062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New entrants 2026–2036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062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scaling up from the long tail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992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MR KPI Value"/>
          <p:cNvSpPr txBox="1"/>
          <p:nvPr/>
        </p:nvSpPr>
        <p:spPr>
          <a:xfrm>
            <a:off x="330517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4337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Exits / acquisitions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4337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absorbed mainly by Tier 1–2 acquirers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267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MR KPI Value"/>
          <p:cNvSpPr txBox="1"/>
          <p:nvPr/>
        </p:nvSpPr>
        <p:spPr>
          <a:xfrm>
            <a:off x="625792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612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Net change in player count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9612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Between 2026 and 2036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1542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MR KPI Value"/>
          <p:cNvSpPr txBox="1"/>
          <p:nvPr/>
        </p:nvSpPr>
        <p:spPr>
          <a:xfrm>
            <a:off x="921067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4887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moving between tiers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887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largest transfer: Others → Tier 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2875" y="3543300"/>
            <a:ext cx="7096125" cy="3086100"/>
          </a:xfrm>
          <a:prstGeom prst="roundRect">
            <a:avLst>
              <a:gd name="adj" fmla="val 107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8125" y="3600450"/>
            <a:ext cx="6905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Structural Forces Shaping the Tier Structure (1 = weak, 5 = strong)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8125" y="3867150"/>
            <a:ext cx="14287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5275" y="3867150"/>
            <a:ext cx="13525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Force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66875" y="3867150"/>
            <a:ext cx="2333625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24025" y="3867150"/>
            <a:ext cx="225742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Drivers in the market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00500" y="3867150"/>
            <a:ext cx="6667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57650" y="3867150"/>
            <a:ext cx="5905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7250" y="3867150"/>
            <a:ext cx="2476500" cy="247650"/>
          </a:xfrm>
          <a:prstGeom prst="rect">
            <a:avLst/>
          </a:prstGeom>
          <a:solidFill>
            <a:srgbClr val="0E8C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24400" y="3867150"/>
            <a:ext cx="24003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Effect on tier structure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8125" y="411480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275" y="411480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Entry barriers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66875" y="411480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24025" y="411480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Certification, qualification, scale economics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00500" y="411480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57650" y="411480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7250" y="411480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24400" y="411480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Protects Tier 1–2; slows new entry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8125" y="452437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275" y="452437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Buyer power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66875" y="452437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24025" y="452437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Key-account purchasing, multi-year supply contracts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00500" y="452437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57650" y="452437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7250" y="452437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24400" y="452437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Compresses Tier 3 pricing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8125" y="493395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5275" y="493395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Switching costs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66875" y="493395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24025" y="493395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Requalification, integration and retraining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000500" y="493395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057650" y="493395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67250" y="493395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24400" y="493395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Locks in the installed base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8125" y="534352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5275" y="534352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Technology substitution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66875" y="534352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24025" y="534352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Alternative materials and next-generation formats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00500" y="534352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057650" y="534352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7250" y="534352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24400" y="534352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Opens demand to Tier 2–3 innovators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38125" y="575310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95275" y="575310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Supplier power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666875" y="575310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724025" y="575310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Few qualified input and component suppliers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00500" y="575310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57650" y="575310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67250" y="575310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24400" y="575310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Raises input cost for sub-scale players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38125" y="616267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5275" y="616267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Overall structural pressure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66875" y="616267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24025" y="616267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Average of the five forces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00500" y="616267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57650" y="616267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67250" y="616267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724400" y="616267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Consolidation towards Tier 1–2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381875" y="3543300"/>
            <a:ext cx="4667250" cy="308610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77125" y="3600450"/>
            <a:ext cx="447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Key Takeaways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6175" y="384810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29525" y="3848100"/>
            <a:ext cx="4305300" cy="69532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96175" y="4429125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29525" y="4429125"/>
            <a:ext cx="4305300" cy="69532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1 Tier 2 player is positioned to move up-tier by 2036 through M&amp;A and key-account wins – the main structural change of the decade.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96175" y="50101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29525" y="5010150"/>
            <a:ext cx="4305300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96175" y="54292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5F8F"/>
                </a:solidFill>
                <a:latin typeface="Calibri"/>
              </a:rPr>
              <a:t>•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29525" y="5429250"/>
            <a:ext cx="4305300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Switching costs (4 / 5) and technology substitution (4 / 5) are the dominant forces shaping the tier structure.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26" y="2545080"/>
            <a:ext cx="257397" cy="374396"/>
          </a:xfrm>
          <a:prstGeom prst="rect">
            <a:avLst/>
          </a:prstGeom>
        </p:spPr>
      </p:pic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476" y="2545080"/>
            <a:ext cx="257397" cy="374396"/>
          </a:xfrm>
          <a:prstGeom prst="rect">
            <a:avLst/>
          </a:prstGeom>
        </p:spPr>
      </p:pic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226" y="2545080"/>
            <a:ext cx="257397" cy="374396"/>
          </a:xfrm>
          <a:prstGeom prst="rect">
            <a:avLst/>
          </a:prstGeom>
        </p:spPr>
      </p:pic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976" y="2545080"/>
            <a:ext cx="257397" cy="374396"/>
          </a:xfrm>
          <a:prstGeom prst="rect">
            <a:avLst/>
          </a:prstGeom>
        </p:spPr>
      </p:pic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4225988"/>
            <a:ext cx="128699" cy="187198"/>
          </a:xfrm>
          <a:prstGeom prst="rect">
            <a:avLst/>
          </a:prstGeom>
        </p:spPr>
      </p:pic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4635563"/>
            <a:ext cx="128699" cy="187198"/>
          </a:xfrm>
          <a:prstGeom prst="rect">
            <a:avLst/>
          </a:prstGeom>
        </p:spPr>
      </p:pic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045138"/>
            <a:ext cx="128699" cy="187198"/>
          </a:xfrm>
          <a:prstGeom prst="rect">
            <a:avLst/>
          </a:prstGeom>
        </p:spPr>
      </p:pic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454713"/>
            <a:ext cx="128699" cy="187198"/>
          </a:xfrm>
          <a:prstGeom prst="rect">
            <a:avLst/>
          </a:prstGeom>
        </p:spPr>
      </p:pic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864288"/>
            <a:ext cx="128699" cy="187198"/>
          </a:xfrm>
          <a:prstGeom prst="rect">
            <a:avLst/>
          </a:prstGeom>
        </p:spPr>
      </p:pic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6273863"/>
            <a:ext cx="128699" cy="187198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54701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4 → 5 players ·</a:t>
            </a:r>
          </a:p>
        </p:txBody>
      </p:sp>
      <p:pic>
        <p:nvPicPr>
          <p:cNvPr id="140" name="Picture 1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204" y="1860931"/>
            <a:ext cx="128699" cy="18719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159169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554" y="1860931"/>
            <a:ext cx="128699" cy="18719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04978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0456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2 → 2 players ·</a:t>
            </a:r>
          </a:p>
        </p:txBody>
      </p:sp>
      <p:pic>
        <p:nvPicPr>
          <p:cNvPr id="145" name="Picture 1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54" y="1860931"/>
            <a:ext cx="128699" cy="187198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484924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104" y="1860931"/>
            <a:ext cx="128699" cy="18719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430733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06211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4 → 4 players ·</a:t>
            </a:r>
          </a:p>
        </p:txBody>
      </p:sp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304" y="1860931"/>
            <a:ext cx="128699" cy="187198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810679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654" y="1860931"/>
            <a:ext cx="128699" cy="18719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756488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6075" y="1954530"/>
            <a:ext cx="6388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Long tail ·</a:t>
            </a:r>
          </a:p>
        </p:txBody>
      </p:sp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946" y="1944751"/>
            <a:ext cx="128699" cy="187198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1040442" y="195453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→</a:t>
            </a:r>
          </a:p>
        </p:txBody>
      </p:sp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297" y="1944751"/>
            <a:ext cx="128699" cy="18719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1358792" y="195453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share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58100" y="3857625"/>
            <a:ext cx="18281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The market is fragmented (HHI</a:t>
            </a:r>
          </a:p>
        </p:txBody>
      </p:sp>
      <p:pic>
        <p:nvPicPr>
          <p:cNvPr id="160" name="Picture 1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331" y="3847846"/>
            <a:ext cx="128699" cy="187198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9601827" y="3857625"/>
            <a:ext cx="20685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); Tier 1 sets pricing and innovation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58100" y="4025265"/>
            <a:ext cx="21247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benchmarks and is expected to hold</a:t>
            </a:r>
          </a:p>
        </p:txBody>
      </p:sp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921" y="4015486"/>
            <a:ext cx="128699" cy="187198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9898416" y="4025265"/>
            <a:ext cx="10169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of value in 2036.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658100" y="5019675"/>
            <a:ext cx="34710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3 and the long tail face the highest structural pressure (</a:t>
            </a:r>
          </a:p>
        </p:txBody>
      </p:sp>
      <p:pic>
        <p:nvPicPr>
          <p:cNvPr id="166" name="Picture 1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170" y="5009895"/>
            <a:ext cx="128699" cy="1871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11244666" y="5019675"/>
            <a:ext cx="4150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/ 5); 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58100" y="5187315"/>
            <a:ext cx="25414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players are expected to exit or be acquired.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Competitive Dashboard View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companies on portfolio, coverage, revenue, share, regional presence and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970754"/>
            <a:ext cx="10477500" cy="164283"/>
          </a:xfrm>
          <a:prstGeom prst="rect">
            <a:avLst/>
          </a:prstGeom>
          <a:noFill/>
        </p:spPr>
        <p:txBody>
          <a:bodyPr wrap="square" lIns="0" rIns="19050" tIns="0" bIns="0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Intensified competition across the leading players portfolio, revenue, share, regional presence and strategy.  All figures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" y="1153291"/>
            <a:ext cx="11925300" cy="456342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3350" y="1171544"/>
            <a:ext cx="11925300" cy="365074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350" y="1171544"/>
            <a:ext cx="1143000" cy="4526917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33350" y="1536618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3350" y="1792170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3350" y="2631840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" y="2960407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3350" y="3288973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350" y="4055629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" y="5041328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33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0586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9540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7172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480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2437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0070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7702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33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2967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0600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98232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0586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3350" y="5698461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71450" y="1536618"/>
            <a:ext cx="1085850" cy="255552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Company / Brand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450" y="1792170"/>
            <a:ext cx="1085850" cy="839670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Product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450" y="2631840"/>
            <a:ext cx="1085850" cy="328567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Overall Rev (US$ Mn)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450" y="2960407"/>
            <a:ext cx="1085850" cy="328567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Target Rev (US$ Mn)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450" y="3288973"/>
            <a:ext cx="1085850" cy="766655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Market Share (%)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450" y="4055629"/>
            <a:ext cx="1085850" cy="985700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Regional Presence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450" y="5041328"/>
            <a:ext cx="1085850" cy="657133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5C"/>
                </a:solidFill>
                <a:latin typeface="Calibri"/>
              </a:rPr>
              <a:t>Strategies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397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Air Liquide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04962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2397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445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445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496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76412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4786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397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397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9" name="Oval 48"/>
          <p:cNvSpPr/>
          <p:nvPr/>
        </p:nvSpPr>
        <p:spPr>
          <a:xfrm>
            <a:off x="158591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828800" y="3416749"/>
            <a:ext cx="209550" cy="237298"/>
          </a:xfrm>
          <a:custGeom>
            <a:avLst/>
            <a:gdLst/>
            <a:ahLst/>
            <a:cxnLst/>
            <a:rect l="l" t="t" r="r" b="b"/>
            <a:pathLst>
              <a:path w="22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8" y="1"/>
                </a:lnTo>
                <a:lnTo>
                  <a:pt x="11" y="2"/>
                </a:lnTo>
                <a:lnTo>
                  <a:pt x="14" y="4"/>
                </a:lnTo>
                <a:lnTo>
                  <a:pt x="17" y="6"/>
                </a:lnTo>
                <a:lnTo>
                  <a:pt x="20" y="8"/>
                </a:lnTo>
                <a:lnTo>
                  <a:pt x="22" y="11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94878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5912" y="3590159"/>
            <a:ext cx="495300" cy="12777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4302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54" name="Oval 53"/>
          <p:cNvSpPr/>
          <p:nvPr/>
        </p:nvSpPr>
        <p:spPr>
          <a:xfrm>
            <a:off x="14287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287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56" name="Oval 55"/>
          <p:cNvSpPr/>
          <p:nvPr/>
        </p:nvSpPr>
        <p:spPr>
          <a:xfrm>
            <a:off x="16383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383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58" name="Oval 57"/>
          <p:cNvSpPr/>
          <p:nvPr/>
        </p:nvSpPr>
        <p:spPr>
          <a:xfrm>
            <a:off x="18478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478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60" name="Oval 59"/>
          <p:cNvSpPr/>
          <p:nvPr/>
        </p:nvSpPr>
        <p:spPr>
          <a:xfrm>
            <a:off x="205740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62" name="Oval 61"/>
          <p:cNvSpPr/>
          <p:nvPr/>
        </p:nvSpPr>
        <p:spPr>
          <a:xfrm>
            <a:off x="15335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335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4" name="Oval 63"/>
          <p:cNvSpPr/>
          <p:nvPr/>
        </p:nvSpPr>
        <p:spPr>
          <a:xfrm>
            <a:off x="174307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430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66" name="Oval 65"/>
          <p:cNvSpPr/>
          <p:nvPr/>
        </p:nvSpPr>
        <p:spPr>
          <a:xfrm>
            <a:off x="19526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526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0030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Linde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681288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40030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077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9077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81288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5273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2418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0030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0030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8" name="Oval 77"/>
          <p:cNvSpPr/>
          <p:nvPr/>
        </p:nvSpPr>
        <p:spPr>
          <a:xfrm>
            <a:off x="266223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914650" y="3416749"/>
            <a:ext cx="180975" cy="237298"/>
          </a:xfrm>
          <a:custGeom>
            <a:avLst/>
            <a:gdLst/>
            <a:ahLst/>
            <a:cxnLst/>
            <a:rect l="l" t="t" r="r" b="b"/>
            <a:pathLst>
              <a:path w="19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7" y="1"/>
                </a:lnTo>
                <a:lnTo>
                  <a:pt x="10" y="2"/>
                </a:lnTo>
                <a:lnTo>
                  <a:pt x="13" y="4"/>
                </a:lnTo>
                <a:lnTo>
                  <a:pt x="16" y="6"/>
                </a:lnTo>
                <a:lnTo>
                  <a:pt x="19" y="9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7120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62238" y="3590159"/>
            <a:ext cx="495300" cy="12777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1935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83" name="Oval 82"/>
          <p:cNvSpPr/>
          <p:nvPr/>
        </p:nvSpPr>
        <p:spPr>
          <a:xfrm>
            <a:off x="25050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050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85" name="Oval 84"/>
          <p:cNvSpPr/>
          <p:nvPr/>
        </p:nvSpPr>
        <p:spPr>
          <a:xfrm>
            <a:off x="27146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146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7" name="Oval 86"/>
          <p:cNvSpPr/>
          <p:nvPr/>
        </p:nvSpPr>
        <p:spPr>
          <a:xfrm>
            <a:off x="29241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241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89" name="Oval 88"/>
          <p:cNvSpPr/>
          <p:nvPr/>
        </p:nvSpPr>
        <p:spPr>
          <a:xfrm>
            <a:off x="31337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337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91" name="Oval 90"/>
          <p:cNvSpPr/>
          <p:nvPr/>
        </p:nvSpPr>
        <p:spPr>
          <a:xfrm>
            <a:off x="26098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098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3" name="Oval 92"/>
          <p:cNvSpPr/>
          <p:nvPr/>
        </p:nvSpPr>
        <p:spPr>
          <a:xfrm>
            <a:off x="281940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194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95" name="Oval 94"/>
          <p:cNvSpPr/>
          <p:nvPr/>
        </p:nvSpPr>
        <p:spPr>
          <a:xfrm>
            <a:off x="30289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0289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7662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Chemgas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757612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47662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6710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79C3EC"/>
                </a:solidFill>
                <a:latin typeface="Calibri"/>
              </a:rPr>
              <a:t>✦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6710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75761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929062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10051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7662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7662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07" name="Oval 106"/>
          <p:cNvSpPr/>
          <p:nvPr/>
        </p:nvSpPr>
        <p:spPr>
          <a:xfrm>
            <a:off x="373856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3981450" y="3416749"/>
            <a:ext cx="142875" cy="237298"/>
          </a:xfrm>
          <a:custGeom>
            <a:avLst/>
            <a:gdLst/>
            <a:ahLst/>
            <a:cxnLst/>
            <a:rect l="l" t="t" r="r" b="b"/>
            <a:pathLst>
              <a:path w="15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8" y="1"/>
                </a:lnTo>
                <a:lnTo>
                  <a:pt x="12" y="2"/>
                </a:lnTo>
                <a:lnTo>
                  <a:pt x="15" y="4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847528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73856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9567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12" name="Oval 111"/>
          <p:cNvSpPr/>
          <p:nvPr/>
        </p:nvSpPr>
        <p:spPr>
          <a:xfrm>
            <a:off x="35814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5814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14" name="Oval 113"/>
          <p:cNvSpPr/>
          <p:nvPr/>
        </p:nvSpPr>
        <p:spPr>
          <a:xfrm>
            <a:off x="37909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7909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16" name="Oval 115"/>
          <p:cNvSpPr/>
          <p:nvPr/>
        </p:nvSpPr>
        <p:spPr>
          <a:xfrm>
            <a:off x="40005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0005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18" name="Oval 117"/>
          <p:cNvSpPr/>
          <p:nvPr/>
        </p:nvSpPr>
        <p:spPr>
          <a:xfrm>
            <a:off x="421005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2100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20" name="Oval 119"/>
          <p:cNvSpPr/>
          <p:nvPr/>
        </p:nvSpPr>
        <p:spPr>
          <a:xfrm>
            <a:off x="368617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861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2" name="Oval 121"/>
          <p:cNvSpPr/>
          <p:nvPr/>
        </p:nvSpPr>
        <p:spPr>
          <a:xfrm>
            <a:off x="389572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8957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24" name="Oval 123"/>
          <p:cNvSpPr/>
          <p:nvPr/>
        </p:nvSpPr>
        <p:spPr>
          <a:xfrm>
            <a:off x="410527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1052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5295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Airgas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833938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5295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4342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4342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83393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00538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176838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5295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5295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36" name="Oval 135"/>
          <p:cNvSpPr/>
          <p:nvPr/>
        </p:nvSpPr>
        <p:spPr>
          <a:xfrm>
            <a:off x="481488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5067300" y="3416749"/>
            <a:ext cx="95250" cy="237298"/>
          </a:xfrm>
          <a:custGeom>
            <a:avLst/>
            <a:gdLst/>
            <a:ahLst/>
            <a:cxnLst/>
            <a:rect l="l" t="t" r="r" b="b"/>
            <a:pathLst>
              <a:path w="10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7" y="1"/>
                </a:lnTo>
                <a:lnTo>
                  <a:pt x="10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92385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81488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41" name="Oval 140"/>
          <p:cNvSpPr/>
          <p:nvPr/>
        </p:nvSpPr>
        <p:spPr>
          <a:xfrm>
            <a:off x="46577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577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43" name="Oval 142"/>
          <p:cNvSpPr/>
          <p:nvPr/>
        </p:nvSpPr>
        <p:spPr>
          <a:xfrm>
            <a:off x="48672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8672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5" name="Oval 144"/>
          <p:cNvSpPr/>
          <p:nvPr/>
        </p:nvSpPr>
        <p:spPr>
          <a:xfrm>
            <a:off x="50768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0768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47" name="Oval 146"/>
          <p:cNvSpPr/>
          <p:nvPr/>
        </p:nvSpPr>
        <p:spPr>
          <a:xfrm>
            <a:off x="52863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2863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49" name="Oval 148"/>
          <p:cNvSpPr/>
          <p:nvPr/>
        </p:nvSpPr>
        <p:spPr>
          <a:xfrm>
            <a:off x="476250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7625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51" name="Oval 150"/>
          <p:cNvSpPr/>
          <p:nvPr/>
        </p:nvSpPr>
        <p:spPr>
          <a:xfrm>
            <a:off x="497205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9720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53" name="Oval 152"/>
          <p:cNvSpPr/>
          <p:nvPr/>
        </p:nvSpPr>
        <p:spPr>
          <a:xfrm>
            <a:off x="518160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1816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2927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Merck KGaA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10262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562927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61975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1975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91026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081712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25316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62927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2927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65" name="Oval 164"/>
          <p:cNvSpPr/>
          <p:nvPr/>
        </p:nvSpPr>
        <p:spPr>
          <a:xfrm>
            <a:off x="589121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6134100" y="3416749"/>
            <a:ext cx="104775" cy="237298"/>
          </a:xfrm>
          <a:custGeom>
            <a:avLst/>
            <a:gdLst/>
            <a:ahLst/>
            <a:cxnLst/>
            <a:rect l="l" t="t" r="r" b="b"/>
            <a:pathLst>
              <a:path w="11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7" y="1"/>
                </a:lnTo>
                <a:lnTo>
                  <a:pt x="11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000179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89121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4832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70" name="Oval 169"/>
          <p:cNvSpPr/>
          <p:nvPr/>
        </p:nvSpPr>
        <p:spPr>
          <a:xfrm>
            <a:off x="57340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7340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2" name="Oval 171"/>
          <p:cNvSpPr/>
          <p:nvPr/>
        </p:nvSpPr>
        <p:spPr>
          <a:xfrm>
            <a:off x="59436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9436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74" name="Oval 173"/>
          <p:cNvSpPr/>
          <p:nvPr/>
        </p:nvSpPr>
        <p:spPr>
          <a:xfrm>
            <a:off x="61531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531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76" name="Oval 175"/>
          <p:cNvSpPr/>
          <p:nvPr/>
        </p:nvSpPr>
        <p:spPr>
          <a:xfrm>
            <a:off x="636270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3627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78" name="Oval 177"/>
          <p:cNvSpPr/>
          <p:nvPr/>
        </p:nvSpPr>
        <p:spPr>
          <a:xfrm>
            <a:off x="58388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8388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0" name="Oval 179"/>
          <p:cNvSpPr/>
          <p:nvPr/>
        </p:nvSpPr>
        <p:spPr>
          <a:xfrm>
            <a:off x="604837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0483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82" name="Oval 181"/>
          <p:cNvSpPr/>
          <p:nvPr/>
        </p:nvSpPr>
        <p:spPr>
          <a:xfrm>
            <a:off x="62579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2579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70560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Eurisotop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6986588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670560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F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69607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79C3EC"/>
                </a:solidFill>
                <a:latin typeface="Calibri"/>
              </a:rPr>
              <a:t>✦ 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69607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986588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15803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2948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70560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70560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94" name="Oval 193"/>
          <p:cNvSpPr/>
          <p:nvPr/>
        </p:nvSpPr>
        <p:spPr>
          <a:xfrm>
            <a:off x="696753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7219950" y="3416749"/>
            <a:ext cx="95250" cy="237298"/>
          </a:xfrm>
          <a:custGeom>
            <a:avLst/>
            <a:gdLst/>
            <a:ahLst/>
            <a:cxnLst/>
            <a:rect l="l" t="t" r="r" b="b"/>
            <a:pathLst>
              <a:path w="10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6" y="1"/>
                </a:lnTo>
                <a:lnTo>
                  <a:pt x="10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07650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96753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72465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99" name="Oval 198"/>
          <p:cNvSpPr/>
          <p:nvPr/>
        </p:nvSpPr>
        <p:spPr>
          <a:xfrm>
            <a:off x="68103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8103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01" name="Oval 200"/>
          <p:cNvSpPr/>
          <p:nvPr/>
        </p:nvSpPr>
        <p:spPr>
          <a:xfrm>
            <a:off x="70199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0199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03" name="Oval 202"/>
          <p:cNvSpPr/>
          <p:nvPr/>
        </p:nvSpPr>
        <p:spPr>
          <a:xfrm>
            <a:off x="72294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2294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05" name="Oval 204"/>
          <p:cNvSpPr/>
          <p:nvPr/>
        </p:nvSpPr>
        <p:spPr>
          <a:xfrm>
            <a:off x="74390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4390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07" name="Oval 206"/>
          <p:cNvSpPr/>
          <p:nvPr/>
        </p:nvSpPr>
        <p:spPr>
          <a:xfrm>
            <a:off x="69151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9151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9" name="Oval 208"/>
          <p:cNvSpPr/>
          <p:nvPr/>
        </p:nvSpPr>
        <p:spPr>
          <a:xfrm>
            <a:off x="712470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1247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11" name="Oval 210"/>
          <p:cNvSpPr/>
          <p:nvPr/>
        </p:nvSpPr>
        <p:spPr>
          <a:xfrm>
            <a:off x="73342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3342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78192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ISOFLEX USA</a:t>
            </a:r>
          </a:p>
        </p:txBody>
      </p:sp>
      <p:cxnSp>
        <p:nvCxnSpPr>
          <p:cNvPr id="214" name="Connector 213"/>
          <p:cNvCxnSpPr/>
          <p:nvPr/>
        </p:nvCxnSpPr>
        <p:spPr>
          <a:xfrm>
            <a:off x="8062912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8192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G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77240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06291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234362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40581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78192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78192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23" name="Oval 222"/>
          <p:cNvSpPr/>
          <p:nvPr/>
        </p:nvSpPr>
        <p:spPr>
          <a:xfrm>
            <a:off x="804386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8286750" y="3416749"/>
            <a:ext cx="85725" cy="237298"/>
          </a:xfrm>
          <a:custGeom>
            <a:avLst/>
            <a:gdLst/>
            <a:ahLst/>
            <a:cxnLst/>
            <a:rect l="l" t="t" r="r" b="b"/>
            <a:pathLst>
              <a:path w="9" h="26">
                <a:moveTo>
                  <a:pt x="0" y="26"/>
                </a:moveTo>
                <a:lnTo>
                  <a:pt x="0" y="0"/>
                </a:lnTo>
                <a:lnTo>
                  <a:pt x="5" y="0"/>
                </a:lnTo>
                <a:lnTo>
                  <a:pt x="9" y="1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152829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04386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80097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28" name="Oval 227"/>
          <p:cNvSpPr/>
          <p:nvPr/>
        </p:nvSpPr>
        <p:spPr>
          <a:xfrm>
            <a:off x="78867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8867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0" name="Oval 229"/>
          <p:cNvSpPr/>
          <p:nvPr/>
        </p:nvSpPr>
        <p:spPr>
          <a:xfrm>
            <a:off x="80962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0962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32" name="Oval 231"/>
          <p:cNvSpPr/>
          <p:nvPr/>
        </p:nvSpPr>
        <p:spPr>
          <a:xfrm>
            <a:off x="83058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3058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34" name="Oval 233"/>
          <p:cNvSpPr/>
          <p:nvPr/>
        </p:nvSpPr>
        <p:spPr>
          <a:xfrm>
            <a:off x="851535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5153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36" name="Oval 235"/>
          <p:cNvSpPr/>
          <p:nvPr/>
        </p:nvSpPr>
        <p:spPr>
          <a:xfrm>
            <a:off x="799147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9914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8" name="Oval 237"/>
          <p:cNvSpPr/>
          <p:nvPr/>
        </p:nvSpPr>
        <p:spPr>
          <a:xfrm>
            <a:off x="820102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2010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40" name="Oval 239"/>
          <p:cNvSpPr/>
          <p:nvPr/>
        </p:nvSpPr>
        <p:spPr>
          <a:xfrm>
            <a:off x="841057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4105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85825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DWS Specialty Gas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9139238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885825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H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884872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84872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13923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31068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482138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85825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85825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52" name="Oval 251"/>
          <p:cNvSpPr/>
          <p:nvPr/>
        </p:nvSpPr>
        <p:spPr>
          <a:xfrm>
            <a:off x="912018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9372600" y="3416749"/>
            <a:ext cx="47625" cy="237298"/>
          </a:xfrm>
          <a:custGeom>
            <a:avLst/>
            <a:gdLst/>
            <a:ahLst/>
            <a:cxnLst/>
            <a:rect l="l" t="t" r="r" b="b"/>
            <a:pathLst>
              <a:path w="5" h="26">
                <a:moveTo>
                  <a:pt x="0" y="26"/>
                </a:moveTo>
                <a:lnTo>
                  <a:pt x="0" y="0"/>
                </a:lnTo>
                <a:lnTo>
                  <a:pt x="2" y="0"/>
                </a:lnTo>
                <a:lnTo>
                  <a:pt x="5" y="0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922915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912018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87730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57" name="Oval 256"/>
          <p:cNvSpPr/>
          <p:nvPr/>
        </p:nvSpPr>
        <p:spPr>
          <a:xfrm>
            <a:off x="89630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9630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59" name="Oval 258"/>
          <p:cNvSpPr/>
          <p:nvPr/>
        </p:nvSpPr>
        <p:spPr>
          <a:xfrm>
            <a:off x="91725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1725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61" name="Oval 260"/>
          <p:cNvSpPr/>
          <p:nvPr/>
        </p:nvSpPr>
        <p:spPr>
          <a:xfrm>
            <a:off x="93821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93821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63" name="Oval 262"/>
          <p:cNvSpPr/>
          <p:nvPr/>
        </p:nvSpPr>
        <p:spPr>
          <a:xfrm>
            <a:off x="95916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95916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65" name="Oval 264"/>
          <p:cNvSpPr/>
          <p:nvPr/>
        </p:nvSpPr>
        <p:spPr>
          <a:xfrm>
            <a:off x="906780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0678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67" name="Oval 266"/>
          <p:cNvSpPr/>
          <p:nvPr/>
        </p:nvSpPr>
        <p:spPr>
          <a:xfrm>
            <a:off x="927735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92773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69" name="Oval 268"/>
          <p:cNvSpPr/>
          <p:nvPr/>
        </p:nvSpPr>
        <p:spPr>
          <a:xfrm>
            <a:off x="948690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94869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93457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Wuhan Baisida Gas</a:t>
            </a:r>
          </a:p>
        </p:txBody>
      </p:sp>
      <p:cxnSp>
        <p:nvCxnSpPr>
          <p:cNvPr id="272" name="Connector 271"/>
          <p:cNvCxnSpPr/>
          <p:nvPr/>
        </p:nvCxnSpPr>
        <p:spPr>
          <a:xfrm>
            <a:off x="10215562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993457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I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992505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79C3EC"/>
                </a:solidFill>
                <a:latin typeface="Calibri"/>
              </a:rPr>
              <a:t>✦ 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92505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021556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0387012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55846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93457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93457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81" name="Oval 280"/>
          <p:cNvSpPr/>
          <p:nvPr/>
        </p:nvSpPr>
        <p:spPr>
          <a:xfrm>
            <a:off x="1019651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0439400" y="3416749"/>
            <a:ext cx="38100" cy="237298"/>
          </a:xfrm>
          <a:custGeom>
            <a:avLst/>
            <a:gdLst/>
            <a:ahLst/>
            <a:cxnLst/>
            <a:rect l="l" t="t" r="r" b="b"/>
            <a:pathLst>
              <a:path w="4" h="26">
                <a:moveTo>
                  <a:pt x="0" y="26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0305478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019651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995362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86" name="Oval 285"/>
          <p:cNvSpPr/>
          <p:nvPr/>
        </p:nvSpPr>
        <p:spPr>
          <a:xfrm>
            <a:off x="100393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00393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88" name="Oval 287"/>
          <p:cNvSpPr/>
          <p:nvPr/>
        </p:nvSpPr>
        <p:spPr>
          <a:xfrm>
            <a:off x="102489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02489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90" name="Oval 289"/>
          <p:cNvSpPr/>
          <p:nvPr/>
        </p:nvSpPr>
        <p:spPr>
          <a:xfrm>
            <a:off x="104584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04584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92" name="Oval 291"/>
          <p:cNvSpPr/>
          <p:nvPr/>
        </p:nvSpPr>
        <p:spPr>
          <a:xfrm>
            <a:off x="1066800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6680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94" name="Oval 293"/>
          <p:cNvSpPr/>
          <p:nvPr/>
        </p:nvSpPr>
        <p:spPr>
          <a:xfrm>
            <a:off x="101441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01441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96" name="Oval 295"/>
          <p:cNvSpPr/>
          <p:nvPr/>
        </p:nvSpPr>
        <p:spPr>
          <a:xfrm>
            <a:off x="1035367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03536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98" name="Oval 297"/>
          <p:cNvSpPr/>
          <p:nvPr/>
        </p:nvSpPr>
        <p:spPr>
          <a:xfrm>
            <a:off x="105632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105632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101090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Shanghai Wechem Chemical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11291888" y="1509238"/>
            <a:ext cx="457200" cy="0"/>
          </a:xfrm>
          <a:prstGeom prst="line">
            <a:avLst/>
          </a:prstGeom>
          <a:ln w="19050">
            <a:solidFill>
              <a:srgbClr val="2A5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TextBox 301"/>
          <p:cNvSpPr txBox="1"/>
          <p:nvPr/>
        </p:nvSpPr>
        <p:spPr>
          <a:xfrm>
            <a:off x="1101090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J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100137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100137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1291888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146333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163478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101090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101090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310" name="Oval 309"/>
          <p:cNvSpPr/>
          <p:nvPr/>
        </p:nvSpPr>
        <p:spPr>
          <a:xfrm>
            <a:off x="1127283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11525250" y="3416749"/>
            <a:ext cx="28575" cy="237298"/>
          </a:xfrm>
          <a:custGeom>
            <a:avLst/>
            <a:gdLst/>
            <a:ahLst/>
            <a:cxnLst/>
            <a:rect l="l" t="t" r="r" b="b"/>
            <a:pathLst>
              <a:path w="3" h="26">
                <a:moveTo>
                  <a:pt x="0" y="26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138180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1127283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E2A5C"/>
                </a:solidFill>
                <a:latin typeface="Calibri"/>
              </a:rPr>
              <a:t> 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102995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315" name="Oval 314"/>
          <p:cNvSpPr/>
          <p:nvPr/>
        </p:nvSpPr>
        <p:spPr>
          <a:xfrm>
            <a:off x="111156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11156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17" name="Oval 316"/>
          <p:cNvSpPr/>
          <p:nvPr/>
        </p:nvSpPr>
        <p:spPr>
          <a:xfrm>
            <a:off x="113252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13252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19" name="Oval 318"/>
          <p:cNvSpPr/>
          <p:nvPr/>
        </p:nvSpPr>
        <p:spPr>
          <a:xfrm>
            <a:off x="115347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15347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21" name="Oval 320"/>
          <p:cNvSpPr/>
          <p:nvPr/>
        </p:nvSpPr>
        <p:spPr>
          <a:xfrm>
            <a:off x="117443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17443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23" name="Oval 322"/>
          <p:cNvSpPr/>
          <p:nvPr/>
        </p:nvSpPr>
        <p:spPr>
          <a:xfrm>
            <a:off x="112204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112204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25" name="Oval 324"/>
          <p:cNvSpPr/>
          <p:nvPr/>
        </p:nvSpPr>
        <p:spPr>
          <a:xfrm>
            <a:off x="1143000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14300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327" name="Oval 326"/>
          <p:cNvSpPr/>
          <p:nvPr/>
        </p:nvSpPr>
        <p:spPr>
          <a:xfrm>
            <a:off x="116395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16395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85750" y="5716715"/>
            <a:ext cx="1116806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Product Portfolio: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383506" y="5744096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1535906" y="5716715"/>
            <a:ext cx="1112044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705100" y="5744096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2857500" y="5716715"/>
            <a:ext cx="978694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893344" y="5744096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6C7A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4045744" y="5716715"/>
            <a:ext cx="740569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Not offered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28575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08189"/>
                </a:solidFill>
                <a:latin typeface="Calibri"/>
              </a:rPr>
              <a:t>✔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75615" y="5890125"/>
            <a:ext cx="457200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served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913765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44D3A"/>
                </a:solidFill>
                <a:latin typeface="Calibri"/>
              </a:rPr>
              <a:t>✘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103630" y="5890125"/>
            <a:ext cx="683419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not served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939449" y="5890125"/>
            <a:ext cx="1183481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Regional presence: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0388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3293745" y="5890125"/>
            <a:ext cx="338138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High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612832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3802698" y="5890125"/>
            <a:ext cx="576262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Medium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434086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4530725" y="5890125"/>
            <a:ext cx="309562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Low</a:t>
            </a:r>
          </a:p>
        </p:txBody>
      </p:sp>
      <p:sp>
        <p:nvSpPr>
          <p:cNvPr id="347" name="Oval 346"/>
          <p:cNvSpPr/>
          <p:nvPr/>
        </p:nvSpPr>
        <p:spPr>
          <a:xfrm>
            <a:off x="285750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285750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495300" y="6072662"/>
            <a:ext cx="657225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Expansion</a:t>
            </a:r>
          </a:p>
        </p:txBody>
      </p:sp>
      <p:sp>
        <p:nvSpPr>
          <p:cNvPr id="350" name="Oval 349"/>
          <p:cNvSpPr/>
          <p:nvPr/>
        </p:nvSpPr>
        <p:spPr>
          <a:xfrm>
            <a:off x="1247775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1247775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457325" y="6072662"/>
            <a:ext cx="1012031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R&amp;D Investment</a:t>
            </a:r>
          </a:p>
        </p:txBody>
      </p:sp>
      <p:sp>
        <p:nvSpPr>
          <p:cNvPr id="353" name="Oval 352"/>
          <p:cNvSpPr/>
          <p:nvPr/>
        </p:nvSpPr>
        <p:spPr>
          <a:xfrm>
            <a:off x="2564606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2564606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2774156" y="6072662"/>
            <a:ext cx="800100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Financial Aid</a:t>
            </a:r>
          </a:p>
        </p:txBody>
      </p:sp>
      <p:sp>
        <p:nvSpPr>
          <p:cNvPr id="356" name="Oval 355"/>
          <p:cNvSpPr/>
          <p:nvPr/>
        </p:nvSpPr>
        <p:spPr>
          <a:xfrm>
            <a:off x="3669506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3669506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3879056" y="6072662"/>
            <a:ext cx="1328738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Product Development</a:t>
            </a:r>
          </a:p>
        </p:txBody>
      </p:sp>
      <p:sp>
        <p:nvSpPr>
          <p:cNvPr id="359" name="Oval 358"/>
          <p:cNvSpPr/>
          <p:nvPr/>
        </p:nvSpPr>
        <p:spPr>
          <a:xfrm>
            <a:off x="5303044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5303044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5512594" y="6072662"/>
            <a:ext cx="714375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Acquisition</a:t>
            </a:r>
          </a:p>
        </p:txBody>
      </p:sp>
      <p:sp>
        <p:nvSpPr>
          <p:cNvPr id="362" name="Oval 361"/>
          <p:cNvSpPr/>
          <p:nvPr/>
        </p:nvSpPr>
        <p:spPr>
          <a:xfrm>
            <a:off x="6322219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6322219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531769" y="6072662"/>
            <a:ext cx="964406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Product Launch</a:t>
            </a:r>
          </a:p>
        </p:txBody>
      </p:sp>
      <p:sp>
        <p:nvSpPr>
          <p:cNvPr id="365" name="Oval 364"/>
          <p:cNvSpPr/>
          <p:nvPr/>
        </p:nvSpPr>
        <p:spPr>
          <a:xfrm>
            <a:off x="7591425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591425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800975" y="6072662"/>
            <a:ext cx="781050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Certification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285750" y="6273453"/>
            <a:ext cx="11620500" cy="15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Note: Market Share indicates the contribution of target revenue in Market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285750" y="6428609"/>
            <a:ext cx="11620500" cy="15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Revenue represents sales of the company from target market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372" name="Picture 3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13" y="2702524"/>
            <a:ext cx="128699" cy="187198"/>
          </a:xfrm>
          <a:prstGeom prst="rect">
            <a:avLst/>
          </a:prstGeom>
        </p:spPr>
      </p:pic>
      <p:pic>
        <p:nvPicPr>
          <p:cNvPr id="373" name="Picture 3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13" y="3031091"/>
            <a:ext cx="128699" cy="187198"/>
          </a:xfrm>
          <a:prstGeom prst="rect">
            <a:avLst/>
          </a:prstGeom>
        </p:spPr>
      </p:pic>
      <p:pic>
        <p:nvPicPr>
          <p:cNvPr id="374" name="Picture 3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12" y="3560448"/>
            <a:ext cx="128699" cy="187198"/>
          </a:xfrm>
          <a:prstGeom prst="rect">
            <a:avLst/>
          </a:prstGeom>
        </p:spPr>
      </p:pic>
      <p:pic>
        <p:nvPicPr>
          <p:cNvPr id="375" name="Picture 3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538" y="2702524"/>
            <a:ext cx="128699" cy="187198"/>
          </a:xfrm>
          <a:prstGeom prst="rect">
            <a:avLst/>
          </a:prstGeom>
        </p:spPr>
      </p:pic>
      <p:pic>
        <p:nvPicPr>
          <p:cNvPr id="376" name="Picture 3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538" y="3031091"/>
            <a:ext cx="128699" cy="187198"/>
          </a:xfrm>
          <a:prstGeom prst="rect">
            <a:avLst/>
          </a:prstGeom>
        </p:spPr>
      </p:pic>
      <p:pic>
        <p:nvPicPr>
          <p:cNvPr id="377" name="Picture 3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538" y="3560448"/>
            <a:ext cx="128699" cy="187198"/>
          </a:xfrm>
          <a:prstGeom prst="rect">
            <a:avLst/>
          </a:prstGeom>
        </p:spPr>
      </p:pic>
      <p:pic>
        <p:nvPicPr>
          <p:cNvPr id="378" name="Picture 3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863" y="2702524"/>
            <a:ext cx="128699" cy="187198"/>
          </a:xfrm>
          <a:prstGeom prst="rect">
            <a:avLst/>
          </a:prstGeom>
        </p:spPr>
      </p:pic>
      <p:pic>
        <p:nvPicPr>
          <p:cNvPr id="379" name="Picture 3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863" y="3031091"/>
            <a:ext cx="128699" cy="187198"/>
          </a:xfrm>
          <a:prstGeom prst="rect">
            <a:avLst/>
          </a:prstGeom>
        </p:spPr>
      </p:pic>
      <p:pic>
        <p:nvPicPr>
          <p:cNvPr id="380" name="Picture 3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862" y="3560448"/>
            <a:ext cx="128699" cy="187198"/>
          </a:xfrm>
          <a:prstGeom prst="rect">
            <a:avLst/>
          </a:prstGeom>
        </p:spPr>
      </p:pic>
      <p:pic>
        <p:nvPicPr>
          <p:cNvPr id="381" name="Picture 3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188" y="2702524"/>
            <a:ext cx="128699" cy="187198"/>
          </a:xfrm>
          <a:prstGeom prst="rect">
            <a:avLst/>
          </a:prstGeom>
        </p:spPr>
      </p:pic>
      <p:pic>
        <p:nvPicPr>
          <p:cNvPr id="382" name="Picture 3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188" y="3031091"/>
            <a:ext cx="128699" cy="187198"/>
          </a:xfrm>
          <a:prstGeom prst="rect">
            <a:avLst/>
          </a:prstGeom>
        </p:spPr>
      </p:pic>
      <p:pic>
        <p:nvPicPr>
          <p:cNvPr id="383" name="Picture 3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188" y="3560448"/>
            <a:ext cx="128699" cy="187198"/>
          </a:xfrm>
          <a:prstGeom prst="rect">
            <a:avLst/>
          </a:prstGeom>
        </p:spPr>
      </p:pic>
      <p:pic>
        <p:nvPicPr>
          <p:cNvPr id="384" name="Picture 3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13" y="2702524"/>
            <a:ext cx="128699" cy="187198"/>
          </a:xfrm>
          <a:prstGeom prst="rect">
            <a:avLst/>
          </a:prstGeom>
        </p:spPr>
      </p:pic>
      <p:pic>
        <p:nvPicPr>
          <p:cNvPr id="385" name="Picture 3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13" y="3031091"/>
            <a:ext cx="128699" cy="187198"/>
          </a:xfrm>
          <a:prstGeom prst="rect">
            <a:avLst/>
          </a:prstGeom>
        </p:spPr>
      </p:pic>
      <p:pic>
        <p:nvPicPr>
          <p:cNvPr id="386" name="Picture 3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12" y="3560448"/>
            <a:ext cx="128699" cy="187198"/>
          </a:xfrm>
          <a:prstGeom prst="rect">
            <a:avLst/>
          </a:prstGeom>
        </p:spPr>
      </p:pic>
      <p:pic>
        <p:nvPicPr>
          <p:cNvPr id="387" name="Picture 3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38" y="2702524"/>
            <a:ext cx="128699" cy="187198"/>
          </a:xfrm>
          <a:prstGeom prst="rect">
            <a:avLst/>
          </a:prstGeom>
        </p:spPr>
      </p:pic>
      <p:pic>
        <p:nvPicPr>
          <p:cNvPr id="388" name="Picture 3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38" y="3031091"/>
            <a:ext cx="128699" cy="187198"/>
          </a:xfrm>
          <a:prstGeom prst="rect">
            <a:avLst/>
          </a:prstGeom>
        </p:spPr>
      </p:pic>
      <p:pic>
        <p:nvPicPr>
          <p:cNvPr id="389" name="Picture 3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38" y="3560448"/>
            <a:ext cx="128699" cy="187198"/>
          </a:xfrm>
          <a:prstGeom prst="rect">
            <a:avLst/>
          </a:prstGeom>
        </p:spPr>
      </p:pic>
      <p:pic>
        <p:nvPicPr>
          <p:cNvPr id="390" name="Picture 3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163" y="2702524"/>
            <a:ext cx="128699" cy="187198"/>
          </a:xfrm>
          <a:prstGeom prst="rect">
            <a:avLst/>
          </a:prstGeom>
        </p:spPr>
      </p:pic>
      <p:pic>
        <p:nvPicPr>
          <p:cNvPr id="391" name="Picture 3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163" y="3031091"/>
            <a:ext cx="128699" cy="187198"/>
          </a:xfrm>
          <a:prstGeom prst="rect">
            <a:avLst/>
          </a:prstGeom>
        </p:spPr>
      </p:pic>
      <p:pic>
        <p:nvPicPr>
          <p:cNvPr id="392" name="Picture 3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162" y="3560448"/>
            <a:ext cx="128699" cy="187198"/>
          </a:xfrm>
          <a:prstGeom prst="rect">
            <a:avLst/>
          </a:prstGeom>
        </p:spPr>
      </p:pic>
      <p:pic>
        <p:nvPicPr>
          <p:cNvPr id="393" name="Picture 3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488" y="2702524"/>
            <a:ext cx="128699" cy="187198"/>
          </a:xfrm>
          <a:prstGeom prst="rect">
            <a:avLst/>
          </a:prstGeom>
        </p:spPr>
      </p:pic>
      <p:pic>
        <p:nvPicPr>
          <p:cNvPr id="394" name="Picture 3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488" y="3031091"/>
            <a:ext cx="128699" cy="187198"/>
          </a:xfrm>
          <a:prstGeom prst="rect">
            <a:avLst/>
          </a:prstGeom>
        </p:spPr>
      </p:pic>
      <p:pic>
        <p:nvPicPr>
          <p:cNvPr id="395" name="Picture 3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488" y="3560448"/>
            <a:ext cx="128699" cy="187198"/>
          </a:xfrm>
          <a:prstGeom prst="rect">
            <a:avLst/>
          </a:prstGeom>
        </p:spPr>
      </p:pic>
      <p:pic>
        <p:nvPicPr>
          <p:cNvPr id="396" name="Picture 3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813" y="2702524"/>
            <a:ext cx="128699" cy="187198"/>
          </a:xfrm>
          <a:prstGeom prst="rect">
            <a:avLst/>
          </a:prstGeom>
        </p:spPr>
      </p:pic>
      <p:pic>
        <p:nvPicPr>
          <p:cNvPr id="397" name="Picture 3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813" y="3031091"/>
            <a:ext cx="128699" cy="187198"/>
          </a:xfrm>
          <a:prstGeom prst="rect">
            <a:avLst/>
          </a:prstGeom>
        </p:spPr>
      </p:pic>
      <p:pic>
        <p:nvPicPr>
          <p:cNvPr id="398" name="Picture 3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812" y="3560448"/>
            <a:ext cx="128699" cy="187198"/>
          </a:xfrm>
          <a:prstGeom prst="rect">
            <a:avLst/>
          </a:prstGeom>
        </p:spPr>
      </p:pic>
      <p:pic>
        <p:nvPicPr>
          <p:cNvPr id="399" name="Picture 3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138" y="2702524"/>
            <a:ext cx="128699" cy="187198"/>
          </a:xfrm>
          <a:prstGeom prst="rect">
            <a:avLst/>
          </a:prstGeom>
        </p:spPr>
      </p:pic>
      <p:pic>
        <p:nvPicPr>
          <p:cNvPr id="400" name="Picture 3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138" y="3031091"/>
            <a:ext cx="128699" cy="187198"/>
          </a:xfrm>
          <a:prstGeom prst="rect">
            <a:avLst/>
          </a:prstGeom>
        </p:spPr>
      </p:pic>
      <p:pic>
        <p:nvPicPr>
          <p:cNvPr id="401" name="Picture 4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138" y="3560448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17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Market Share by Leading Players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Advice for Vendors &amp; Suppliers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Value Share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Share by Product Type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Share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Who Shaped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Advice for Market Vendors / Suppliers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Strategic advice for vendors and suppliers on pricing, product, geography, channel and competitive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Strategic advice for vendors and suppliers where to compete, how to price, and which risks to manage across the Helium-3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5857875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225" y="1439806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Pricing &amp; Margin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225" y="1677931"/>
            <a:ext cx="559117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763656"/>
            <a:ext cx="5591175" cy="2115377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0" y="1354081"/>
            <a:ext cx="5857875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600" y="1439806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Product &amp; Innovation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600" y="1677931"/>
            <a:ext cx="559117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0" y="1763656"/>
            <a:ext cx="5591175" cy="2115377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5" y="4046502"/>
            <a:ext cx="5857875" cy="2509883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132227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Geographic &amp; Channel Expansion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225" y="4370352"/>
            <a:ext cx="559117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4456077"/>
            <a:ext cx="5591175" cy="202410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Expand selectively into under-penetrated regions where the leaders are thin, rather than head-on in saturated markets.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Balance retail, hospital/clinic and online channels online is the fastest-shifting route to end customers.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Build reliable distribution and logistics partnerships to convert demand into fulfilled volume.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250" y="4046502"/>
            <a:ext cx="5857875" cy="2509883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600" y="4132227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&amp; Risk Positioning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600" y="4370352"/>
            <a:ext cx="5591175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0" y="4456077"/>
            <a:ext cx="5591175" cy="202410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1773181"/>
            <a:ext cx="32353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Hold price discipline: with the top three players at ~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65" y="1762957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35875" y="1773181"/>
            <a:ext cx="18598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share, avoid value-destructive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1948441"/>
            <a:ext cx="3646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discounting compete on mix and service, not headline price.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2176279"/>
            <a:ext cx="55470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Premiumise toward higher-value formulations (e.g. 'Gaseous Helium-3') to lift blended ASP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2351539"/>
            <a:ext cx="24460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defend margin as input costs move.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2579377"/>
            <a:ext cx="48162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Set transparent, corridor-based regional pricing to limit grey-market arbitrage.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1773181"/>
            <a:ext cx="54954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R&amp;D in the fastest-growing formulations a differentiated portfolio is the clearest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600" y="1948441"/>
            <a:ext cx="16605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route to out-growing the ~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54" y="1938217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09363" y="1948441"/>
            <a:ext cx="9057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CAGR.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4600" y="2176279"/>
            <a:ext cx="53839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Pursue certification and clinical validation to build switching costs and support premium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4600" y="2351539"/>
            <a:ext cx="7730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positioning.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4600" y="2579377"/>
            <a:ext cx="39314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Localise formats and pack sizes to each channel and geography.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4600" y="4465602"/>
            <a:ext cx="28816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Benchmark relentlessly against 'Air Liquide' (~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5426" y="4455378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30535" y="4465602"/>
            <a:ext cx="22195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share) match on service and lead 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4600" y="4640861"/>
            <a:ext cx="156037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innovation to take share.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4600" y="4868699"/>
            <a:ext cx="54555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Diversify the customer base to cut dependence on a few large accounts and single-region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600" y="5043959"/>
            <a:ext cx="6604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exposure.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4600" y="5271797"/>
            <a:ext cx="52301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Stress-test for regulatory, currency and supply shocks; keep flexible capacity and dual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600" y="5447057"/>
            <a:ext cx="6159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sourcing.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Company Value Share (Global)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company in the global market, 2025, highlighting leadership and the long 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Target market value share by key companies leadership, concentration and how the competitive mix shifts by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754380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411231"/>
            <a:ext cx="73533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Share by Key Company (US$ Mn, 2026)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38125" y="1639831"/>
          <a:ext cx="7353300" cy="487765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49780" y="3878635"/>
            <a:ext cx="15240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0975" y="1354081"/>
            <a:ext cx="4248150" cy="5220558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4325" y="1439806"/>
            <a:ext cx="39814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4325" y="1677931"/>
            <a:ext cx="39814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4325" y="1763656"/>
            <a:ext cx="3981450" cy="4734783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173" y="3678610"/>
            <a:ext cx="523875" cy="76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34865" y="3914616"/>
            <a:ext cx="430029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2E2E2E"/>
                </a:solidFill>
                <a:latin typeface="Calibri"/>
              </a:rPr>
              <a:t>100% =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344" y="4091735"/>
            <a:ext cx="109510" cy="159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82868" y="4100056"/>
            <a:ext cx="46508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4325" y="1773181"/>
            <a:ext cx="39545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Air Liquide accounted for the largest share of the global Helium-3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4325" y="1948441"/>
            <a:ext cx="38834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in 2026. The global Helium-3 market is fragmented, with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4325" y="2123701"/>
            <a:ext cx="30280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top three players accounting for an estimated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486" y="2113477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086595" y="2123701"/>
            <a:ext cx="5582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4325" y="2298961"/>
            <a:ext cx="12437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market in 2026.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4325" y="2526799"/>
            <a:ext cx="23819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Air Liquide accounted for an estimated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5386" y="2516575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40495" y="2526799"/>
            <a:ext cx="12853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of the market,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4325" y="2702058"/>
            <a:ext cx="142316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followed by Linde with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647" y="2691835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81757" y="2702058"/>
            <a:ext cx="22666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Key players are focusing on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4325" y="2877318"/>
            <a:ext cx="38198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innovation, geographic expansion and strategic partnerships 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4325" y="3052578"/>
            <a:ext cx="20530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strengthen their market position.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4325" y="3280416"/>
            <a:ext cx="36478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Regional share differs from the global picture use the region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4325" y="3455676"/>
            <a:ext cx="34447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selector to see how leadership shifts across geographies.</a:t>
            </a:r>
          </a:p>
        </p:txBody>
      </p:sp>
      <p:sp>
        <p:nvSpPr>
          <p:cNvPr id="38" name="lockshield_10"/>
          <p:cNvSpPr/>
          <p:nvPr/>
        </p:nvSpPr>
        <p:spPr>
          <a:xfrm>
            <a:off x="238125" y="1639831"/>
            <a:ext cx="7353300" cy="4877658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Company Share by Product Type (Top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company value share within each leading product form, highlighting where leadership differs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Company value share within each of the leading product types where each player concentrates, and how leadership varies by formulation.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Gaseous Helium-3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3812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2432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957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Liquid Helium-3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1957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42875" y="4603240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8896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Company Share Key Takeaways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2709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5012815"/>
            <a:ext cx="11639550" cy="1485624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011" y="2619895"/>
            <a:ext cx="523875" cy="762000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461" y="2619895"/>
            <a:ext cx="523875" cy="76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76225" y="5022340"/>
            <a:ext cx="26115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Gaseous Helium-3: 'Air Liquide' leads at ~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6915" y="5012116"/>
            <a:ext cx="134549" cy="1957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12024" y="5022340"/>
            <a:ext cx="12788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'Airgas' (~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0009" y="5012116"/>
            <a:ext cx="134549" cy="1957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15118" y="5022340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9787" y="5012116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24897" y="5022340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353" y="5012116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55462" y="5022340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5250177"/>
            <a:ext cx="23736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Liquid Helium-3: 'Chemgas' leads at ~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9013" y="523995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774123" y="5250177"/>
            <a:ext cx="12351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'Linde' (~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8463" y="523995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133572" y="5250177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242" y="5239954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43351" y="5250177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807" y="5239954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73916" y="525017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225" y="5478015"/>
            <a:ext cx="890851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Leadership shifts across formulations a strong position in one product type does not carry over to the others, so product-level targeting is essential.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225" y="5705853"/>
            <a:ext cx="72189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Note: competitor figures are indicative derived from market modelling and expert validation, not company disclosures.</a:t>
            </a:r>
          </a:p>
        </p:txBody>
      </p:sp>
      <p:sp>
        <p:nvSpPr>
          <p:cNvPr id="42" name="lockshield_10"/>
          <p:cNvSpPr/>
          <p:nvPr/>
        </p:nvSpPr>
        <p:spPr>
          <a:xfrm>
            <a:off x="23812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ockshield_13"/>
          <p:cNvSpPr/>
          <p:nvPr/>
        </p:nvSpPr>
        <p:spPr>
          <a:xfrm>
            <a:off x="421957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Company Share by Region (Top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Company value share within the largest regions, highlighting where leadership shifts across geographies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Company value share within each of the largest regions where each player concentrates, and how leadership varies by geography.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3812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2432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957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1957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105775" y="1299320"/>
            <a:ext cx="39433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25" y="1356470"/>
            <a:ext cx="3752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201025" y="1585070"/>
          <a:ext cx="3752850" cy="2869751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42875" y="4603240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68896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Company Share Key Takeaways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225" y="4927090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5012815"/>
            <a:ext cx="11639550" cy="1485624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011" y="2619895"/>
            <a:ext cx="523875" cy="76200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461" y="2619895"/>
            <a:ext cx="523875" cy="76200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916" y="2619895"/>
            <a:ext cx="523875" cy="76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76225" y="5022340"/>
            <a:ext cx="24041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North America: 'Air Liquide' leads at ~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9536" y="5012116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804645" y="5022340"/>
            <a:ext cx="12351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'Linde' (~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8985" y="5012116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164095" y="5022340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8764" y="5012116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73873" y="5022340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329" y="5012116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4438" y="5022340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225" y="5250177"/>
            <a:ext cx="27039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South Asia &amp; Pacific: 'Air Liquide' leads at ~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9337" y="5239954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104447" y="5250177"/>
            <a:ext cx="14536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'Chemgas' (~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292" y="5239954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682401" y="5250177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7070" y="5239954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92180" y="5250177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636" y="5239954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922745" y="525017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225" y="5478015"/>
            <a:ext cx="205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East Asia: 'Air Liquide' leads at ~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3202" y="5467792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458311" y="5478015"/>
            <a:ext cx="12788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'Airgas' (~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6295" y="5467792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861405" y="5478015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074" y="5467792"/>
            <a:ext cx="134549" cy="1957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371183" y="5478015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6639" y="5467792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101748" y="547801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705853"/>
            <a:ext cx="97058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Leadership is not uniform across geographies a strong position in one region does not carry over to the others, so region-level go-to-market planning is essential.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6225" y="5933691"/>
            <a:ext cx="72189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Note: competitor figures are indicative derived from market modelling and expert validation, not company disclosures.</a:t>
            </a:r>
          </a:p>
        </p:txBody>
      </p:sp>
      <p:sp>
        <p:nvSpPr>
          <p:cNvPr id="55" name="lockshield_10"/>
          <p:cNvSpPr/>
          <p:nvPr/>
        </p:nvSpPr>
        <p:spPr>
          <a:xfrm>
            <a:off x="23812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ockshield_13"/>
          <p:cNvSpPr/>
          <p:nvPr/>
        </p:nvSpPr>
        <p:spPr>
          <a:xfrm>
            <a:off x="421957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ockshield_16"/>
          <p:cNvSpPr/>
          <p:nvPr/>
        </p:nvSpPr>
        <p:spPr>
          <a:xfrm>
            <a:off x="8201025" y="1585070"/>
            <a:ext cx="37528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Helium-3 Market Who Shaped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Ranking of the players that shaped growth, by value share, growth role and signature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970754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A framework to identify the companies that most influenced annual Helium-3 Market growth, ranked by growth-shaping impact.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1189798"/>
            <a:ext cx="4953000" cy="419835"/>
          </a:xfrm>
          <a:prstGeom prst="roundRect">
            <a:avLst>
              <a:gd name="adj" fmla="val 1538"/>
            </a:avLst>
          </a:prstGeom>
          <a:solidFill>
            <a:srgbClr val="F4F8FB"/>
          </a:solidFill>
          <a:ln w="12700">
            <a:solidFill>
              <a:srgbClr val="CF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3800" y="1226305"/>
            <a:ext cx="47244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RANKED BY GROWTH-SHAPING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800" y="1399716"/>
            <a:ext cx="47244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Ranked by overall contribution to category growth, not share alone.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625" y="1399716"/>
            <a:ext cx="3019425" cy="0"/>
          </a:xfrm>
          <a:prstGeom prst="line">
            <a:avLst/>
          </a:prstGeom>
          <a:ln w="12700">
            <a:solidFill>
              <a:srgbClr val="C4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43950" y="1399716"/>
            <a:ext cx="3019425" cy="0"/>
          </a:xfrm>
          <a:prstGeom prst="line">
            <a:avLst/>
          </a:prstGeom>
          <a:ln w="12700">
            <a:solidFill>
              <a:srgbClr val="C4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3875" y="1792170"/>
            <a:ext cx="11106150" cy="0"/>
          </a:xfrm>
          <a:prstGeom prst="line">
            <a:avLst/>
          </a:prstGeom>
          <a:ln w="25400">
            <a:solidFill>
              <a:srgbClr val="0B2E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1630025" y="1728282"/>
            <a:ext cx="171450" cy="127776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0" y="0"/>
                </a:moveTo>
                <a:lnTo>
                  <a:pt x="18" y="7"/>
                </a:lnTo>
                <a:lnTo>
                  <a:pt x="0" y="14"/>
                </a:lnTo>
                <a:close/>
              </a:path>
            </a:pathLst>
          </a:cu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525" y="1655267"/>
            <a:ext cx="285750" cy="273805"/>
          </a:xfrm>
          <a:prstGeom prst="ellipse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5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28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1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1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Air Liquide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1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6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81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81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6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6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Market leader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81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381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6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6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Expanded reach across its core segment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81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381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6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6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New launch</a:t>
            </a:r>
          </a:p>
        </p:txBody>
      </p:sp>
      <p:sp>
        <p:nvSpPr>
          <p:cNvPr id="36" name="Oval 35"/>
          <p:cNvSpPr/>
          <p:nvPr/>
        </p:nvSpPr>
        <p:spPr>
          <a:xfrm>
            <a:off x="3552825" y="1655267"/>
            <a:ext cx="285750" cy="273805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28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431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431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A35313"/>
          </a:solidFill>
          <a:ln w="1270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574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74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41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Linde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84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289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6384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384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89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289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Portfolio expander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384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6384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289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289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Drove new customer adoption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6384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6384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89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289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Channel expansion</a:t>
            </a:r>
          </a:p>
        </p:txBody>
      </p:sp>
      <p:sp>
        <p:nvSpPr>
          <p:cNvPr id="57" name="Oval 56"/>
          <p:cNvSpPr/>
          <p:nvPr/>
        </p:nvSpPr>
        <p:spPr>
          <a:xfrm>
            <a:off x="5953125" y="1655267"/>
            <a:ext cx="285750" cy="273805"/>
          </a:xfrm>
          <a:prstGeom prst="ellipse">
            <a:avLst/>
          </a:prstGeom>
          <a:solidFill>
            <a:srgbClr val="69B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531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434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9434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69B1E0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0577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577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244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Chemgas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387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292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387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387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292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292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69B1E0"/>
                </a:solidFill>
                <a:latin typeface="Calibri"/>
              </a:rPr>
              <a:t>Access builder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0387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387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292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292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Won through wider channel availability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0387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387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292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292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Pricing strategy</a:t>
            </a:r>
          </a:p>
        </p:txBody>
      </p:sp>
      <p:sp>
        <p:nvSpPr>
          <p:cNvPr id="78" name="Oval 77"/>
          <p:cNvSpPr/>
          <p:nvPr/>
        </p:nvSpPr>
        <p:spPr>
          <a:xfrm>
            <a:off x="8353425" y="1655267"/>
            <a:ext cx="285750" cy="273805"/>
          </a:xfrm>
          <a:prstGeom prst="ellipse">
            <a:avLst/>
          </a:prstGeom>
          <a:solidFill>
            <a:srgbClr val="6F3CC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534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437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3437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6F3CC2"/>
          </a:solidFill>
          <a:ln w="1270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4580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580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247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Airgas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390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295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4390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4390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95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295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6F3CC2"/>
                </a:solidFill>
                <a:latin typeface="Calibri"/>
              </a:rPr>
              <a:t>Premiumiser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4390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4390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295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295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Supported premium SKU growth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4390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4390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95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295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Portfolio/brand investment</a:t>
            </a:r>
          </a:p>
        </p:txBody>
      </p:sp>
      <p:sp>
        <p:nvSpPr>
          <p:cNvPr id="99" name="Oval 98"/>
          <p:cNvSpPr/>
          <p:nvPr/>
        </p:nvSpPr>
        <p:spPr>
          <a:xfrm>
            <a:off x="10753725" y="1655267"/>
            <a:ext cx="285750" cy="273805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7537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7440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7440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A86F00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8583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8583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⚡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250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Merck KGaA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393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298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98393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8393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298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298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A86F00"/>
                </a:solidFill>
                <a:latin typeface="Calibri"/>
              </a:rPr>
              <a:t>Disruptor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8393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8393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298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298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Strengthened end-user and specifier pull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98393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98393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0298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298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Partnership / acquisition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42875" y="4238166"/>
            <a:ext cx="7886700" cy="2391234"/>
          </a:xfrm>
          <a:prstGeom prst="roundRect">
            <a:avLst>
              <a:gd name="adj" fmla="val 1086"/>
            </a:avLst>
          </a:prstGeom>
          <a:solidFill>
            <a:srgbClr val="F7FAFC"/>
          </a:solidFill>
          <a:ln w="12700">
            <a:solidFill>
              <a:srgbClr val="DC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2875" y="4311180"/>
            <a:ext cx="788670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HOW TO DECIDE WHO SHAPED GROWTH</a:t>
            </a:r>
          </a:p>
        </p:txBody>
      </p:sp>
      <p:sp>
        <p:nvSpPr>
          <p:cNvPr id="122" name="Oval 121"/>
          <p:cNvSpPr/>
          <p:nvPr/>
        </p:nvSpPr>
        <p:spPr>
          <a:xfrm>
            <a:off x="81534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534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622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72AE"/>
                </a:solidFill>
                <a:latin typeface="Calibri"/>
              </a:rPr>
              <a:t>1. SHARE GAIN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622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Company gained value or volume share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2006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2006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75450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29" name="Oval 128"/>
          <p:cNvSpPr/>
          <p:nvPr/>
        </p:nvSpPr>
        <p:spPr>
          <a:xfrm>
            <a:off x="235077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35077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🏪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1165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35313"/>
                </a:solidFill>
                <a:latin typeface="Calibri"/>
              </a:rPr>
              <a:t>2. DISTRIBUTION EXPANSION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1165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Expanded channel, retail or e-commerce reach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05549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05549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8993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36" name="Oval 135"/>
          <p:cNvSpPr/>
          <p:nvPr/>
        </p:nvSpPr>
        <p:spPr>
          <a:xfrm>
            <a:off x="388620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8620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💡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4708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9B1E0"/>
                </a:solidFill>
                <a:latin typeface="Calibri"/>
              </a:rPr>
              <a:t>3. INNOVATION / LAUNCHES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4708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New SKUs, pack sizes or product improvements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59092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59092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9B1E0"/>
                </a:solidFill>
                <a:latin typeface="Calibri"/>
              </a:rPr>
              <a:t> 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2536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43" name="Oval 142"/>
          <p:cNvSpPr/>
          <p:nvPr/>
        </p:nvSpPr>
        <p:spPr>
          <a:xfrm>
            <a:off x="542163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42163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🤝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88251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F3CC2"/>
                </a:solidFill>
                <a:latin typeface="Calibri"/>
              </a:rPr>
              <a:t>4. BUYER INFLUENCE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8251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Stronger specifier, channel or end-user pull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12635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12635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36079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50" name="Oval 149"/>
          <p:cNvSpPr/>
          <p:nvPr/>
        </p:nvSpPr>
        <p:spPr>
          <a:xfrm>
            <a:off x="695706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95706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41794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86F00"/>
                </a:solidFill>
                <a:latin typeface="Calibri"/>
              </a:rPr>
              <a:t>5. BRAND / PRICING POWER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1794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Premiumisation, positioning or pricing execution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66178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66178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191500" y="4238166"/>
            <a:ext cx="3857625" cy="2391234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 w="12700">
            <a:solidFill>
              <a:srgbClr val="CF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191500" y="4311180"/>
            <a:ext cx="38576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6F63"/>
                </a:solidFill>
                <a:latin typeface="Calibri"/>
              </a:rPr>
              <a:t>BEST WAY TO USE THIS SLIDE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8343900" y="4548478"/>
            <a:ext cx="3552825" cy="0"/>
          </a:xfrm>
          <a:prstGeom prst="line">
            <a:avLst/>
          </a:prstGeom>
          <a:ln w="12700">
            <a:solidFill>
              <a:srgbClr val="CFE3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8372475" y="4721889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372475" y="4767523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📈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43950" y="4694508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Rank companies by impact on category growth</a:t>
            </a:r>
          </a:p>
        </p:txBody>
      </p:sp>
      <p:sp>
        <p:nvSpPr>
          <p:cNvPr id="162" name="Oval 161"/>
          <p:cNvSpPr/>
          <p:nvPr/>
        </p:nvSpPr>
        <p:spPr>
          <a:xfrm>
            <a:off x="8372475" y="5360768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372475" y="5406402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📄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743950" y="5333387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Mention the one move that explains their impact</a:t>
            </a:r>
          </a:p>
        </p:txBody>
      </p:sp>
      <p:sp>
        <p:nvSpPr>
          <p:cNvPr id="165" name="Oval 164"/>
          <p:cNvSpPr/>
          <p:nvPr/>
        </p:nvSpPr>
        <p:spPr>
          <a:xfrm>
            <a:off x="8372475" y="5999647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372475" y="6045282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🚫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43950" y="5972267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Do not rely on market share alone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170" name="Picture 1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15" y="6052078"/>
            <a:ext cx="128699" cy="187198"/>
          </a:xfrm>
          <a:prstGeom prst="rect">
            <a:avLst/>
          </a:prstGeom>
        </p:spPr>
      </p:pic>
      <p:pic>
        <p:nvPicPr>
          <p:cNvPr id="171" name="Picture 1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445" y="6052078"/>
            <a:ext cx="128699" cy="187198"/>
          </a:xfrm>
          <a:prstGeom prst="rect">
            <a:avLst/>
          </a:prstGeom>
        </p:spPr>
      </p:pic>
      <p:pic>
        <p:nvPicPr>
          <p:cNvPr id="172" name="Picture 1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875" y="6052078"/>
            <a:ext cx="128699" cy="187198"/>
          </a:xfrm>
          <a:prstGeom prst="rect">
            <a:avLst/>
          </a:prstGeom>
        </p:spPr>
      </p:pic>
      <p:pic>
        <p:nvPicPr>
          <p:cNvPr id="173" name="Picture 1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305" y="6052078"/>
            <a:ext cx="128699" cy="187198"/>
          </a:xfrm>
          <a:prstGeom prst="rect">
            <a:avLst/>
          </a:prstGeom>
        </p:spPr>
      </p:pic>
      <p:pic>
        <p:nvPicPr>
          <p:cNvPr id="174" name="Picture 1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735" y="6052078"/>
            <a:ext cx="128699" cy="187198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4572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76" name="Picture 1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83" y="2391038"/>
            <a:ext cx="92663" cy="134782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28575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78" name="Picture 1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383" y="2391038"/>
            <a:ext cx="92663" cy="134782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52578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0" name="Picture 1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683" y="2391038"/>
            <a:ext cx="92663" cy="134782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76581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2" name="Picture 1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983" y="2391038"/>
            <a:ext cx="92663" cy="134782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100584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4" name="Picture 1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283" y="2391038"/>
            <a:ext cx="92663" cy="134782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3F8FD"/>
              </a:gs>
              <a:gs pos="100000">
                <a:srgbClr val="DCE9F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FE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9C8E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B7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A5F8F"/>
              </a:gs>
              <a:gs pos="100000">
                <a:srgbClr val="6FA6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MR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18</a:t>
            </a:r>
          </a:p>
        </p:txBody>
      </p:sp>
      <p:pic>
        <p:nvPicPr>
          <p:cNvPr id="8" name="Picture 7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975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2A5F8F"/>
                </a:solidFill>
                <a:latin typeface="Calibri"/>
              </a:rPr>
              <a:t>Helium-3 Market</a:t>
            </a:r>
          </a:p>
        </p:txBody>
      </p:sp>
      <p:sp>
        <p:nvSpPr>
          <p:cNvPr id="10" name="TMR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E2A5C"/>
                </a:solidFill>
                <a:latin typeface="Calibri"/>
              </a:rPr>
              <a:t>Company Profiles &amp; Strategic Benchmarking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Air Liquide Snapshot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Air Liquide Penetration &amp; Win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Air Liquide SWOT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Air Liquide Key Financials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Air Liquide Strategy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Air Liquide Executive Market Snapshot (1/5)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total market, addressable opportunity and share of market by end-market, region and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Executive snapshot and strategic positioning Air Liquide: market, addressable opportunity and SOM splits by end-market, region and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TAM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Total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317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SAM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Addressable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0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3300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BOOK-TO-BILL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Order momentum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6312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EBITDA MARGIN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Profitability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2065976"/>
            <a:ext cx="38290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2123126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End-Market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38125" y="2351726"/>
          <a:ext cx="3638550" cy="22673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124325" y="2065976"/>
            <a:ext cx="38290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9575" y="2123126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Region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219575" y="2351726"/>
          <a:ext cx="3638550" cy="226737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105775" y="2065976"/>
            <a:ext cx="39433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1025" y="2123126"/>
            <a:ext cx="3752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Product Line (US$ Mn)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8201025" y="2351726"/>
          <a:ext cx="3752850" cy="226737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42875" y="4785777"/>
            <a:ext cx="11906250" cy="1807116"/>
          </a:xfrm>
          <a:prstGeom prst="roundRect">
            <a:avLst>
              <a:gd name="adj" fmla="val 421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225" y="4871502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225" y="5109627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225" y="5195352"/>
            <a:ext cx="11639550" cy="132134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531" y="1522714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831" y="1522714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956" y="1522714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2781" y="1522714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4623" y="3299104"/>
            <a:ext cx="197242" cy="286897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073" y="3299104"/>
            <a:ext cx="197242" cy="286897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088" y="3145920"/>
            <a:ext cx="444576" cy="6466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58516" y="1377568"/>
            <a:ext cx="74164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1">
                <a:solidFill>
                  <a:srgbClr val="6C7A89"/>
                </a:solidFill>
                <a:latin typeface="Calibri"/>
              </a:rPr>
              <a:t>SOM (US$ MN)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7010" y="1533061"/>
            <a:ext cx="133378" cy="194005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05" y="1761621"/>
            <a:ext cx="97811" cy="14227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93102" y="1769053"/>
            <a:ext cx="38953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6C7A89"/>
                </a:solidFill>
                <a:latin typeface="Calibri"/>
              </a:rPr>
              <a:t>of SAM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5204877"/>
            <a:ext cx="24680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Market Position: Air Liquide captures ~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3432" y="5194653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868542" y="5204877"/>
            <a:ext cx="46750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a US$ Mn SAM, with its strongest end-market in 'Nuclear Fusion Research'.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5432715"/>
            <a:ext cx="73584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Geographic Balance: 'North America' is the largest SOM region; 'Rest of the World' shows the highest SAM penetration (~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825" y="5422491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758935" y="543271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225" y="5660552"/>
            <a:ext cx="13917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Growth Trajectory: a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169" y="5650329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279" y="5660552"/>
            <a:ext cx="1129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book-to-bill and ~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505" y="5650329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45614" y="5660552"/>
            <a:ext cx="45035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EBITDA margin point to a path to capture more of the addressable market.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5888390"/>
            <a:ext cx="13535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Competitive Edge: ~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914" y="5878167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54024" y="5888390"/>
            <a:ext cx="10725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5769" y="5878167"/>
            <a:ext cx="134549" cy="19570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950879" y="5888390"/>
            <a:ext cx="113705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ASP premium and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7092" y="5878167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212201" y="5888390"/>
            <a:ext cx="12591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pipeline coverage.</a:t>
            </a:r>
          </a:p>
        </p:txBody>
      </p:sp>
      <p:sp>
        <p:nvSpPr>
          <p:cNvPr id="57" name="lockshield_15"/>
          <p:cNvSpPr/>
          <p:nvPr/>
        </p:nvSpPr>
        <p:spPr>
          <a:xfrm>
            <a:off x="238125" y="2351726"/>
            <a:ext cx="36385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ockshield_18"/>
          <p:cNvSpPr/>
          <p:nvPr/>
        </p:nvSpPr>
        <p:spPr>
          <a:xfrm>
            <a:off x="4219575" y="2351726"/>
            <a:ext cx="36385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ockshield_21"/>
          <p:cNvSpPr/>
          <p:nvPr/>
        </p:nvSpPr>
        <p:spPr>
          <a:xfrm>
            <a:off x="8201025" y="2351726"/>
            <a:ext cx="37528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Air Liquide Regional Penetration &amp; Win Position (2/5)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penetration and competitive positioning highlighting growth potential, win rates and sales efficiency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penetration and competitive positioning Air Liquide: SOM vs SAM by region, win position, TAM/SAM/SOM and go-to-market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299320"/>
            <a:ext cx="5905500" cy="226345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356470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vs SAM Penetration by Region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38125" y="1585070"/>
          <a:ext cx="5715000" cy="192055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62675" y="1299320"/>
            <a:ext cx="5886450" cy="226345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7925" y="1356470"/>
            <a:ext cx="5695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Competitive Win Position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1775" y="3219879"/>
            <a:ext cx="5257800" cy="0"/>
          </a:xfrm>
          <a:prstGeom prst="line">
            <a:avLst/>
          </a:prstGeom>
          <a:ln w="12700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1775" y="1680320"/>
            <a:ext cx="0" cy="1539559"/>
          </a:xfrm>
          <a:prstGeom prst="line">
            <a:avLst/>
          </a:prstGeom>
          <a:ln w="12700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67475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9704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1932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4161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353229"/>
            <a:ext cx="52578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Win Rate %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6029325" y="2373900"/>
            <a:ext cx="571500" cy="1524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ASP vs Peer</a:t>
            </a:r>
          </a:p>
        </p:txBody>
      </p:sp>
      <p:sp>
        <p:nvSpPr>
          <p:cNvPr id="21" name="Oval 20"/>
          <p:cNvSpPr/>
          <p:nvPr/>
        </p:nvSpPr>
        <p:spPr>
          <a:xfrm>
            <a:off x="7359287" y="1979874"/>
            <a:ext cx="247650" cy="247650"/>
          </a:xfrm>
          <a:prstGeom prst="ellipse">
            <a:avLst/>
          </a:prstGeom>
          <a:solidFill>
            <a:srgbClr val="29ABE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5037" y="2017974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Air Liquide</a:t>
            </a:r>
          </a:p>
        </p:txBody>
      </p:sp>
      <p:sp>
        <p:nvSpPr>
          <p:cNvPr id="23" name="Oval 22"/>
          <p:cNvSpPr/>
          <p:nvPr/>
        </p:nvSpPr>
        <p:spPr>
          <a:xfrm>
            <a:off x="9283609" y="1912810"/>
            <a:ext cx="304800" cy="304800"/>
          </a:xfrm>
          <a:prstGeom prst="ellipse">
            <a:avLst/>
          </a:prstGeom>
          <a:solidFill>
            <a:srgbClr val="8C8C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6509" y="1979485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Industry Avg.</a:t>
            </a:r>
          </a:p>
        </p:txBody>
      </p:sp>
      <p:sp>
        <p:nvSpPr>
          <p:cNvPr id="25" name="Oval 24"/>
          <p:cNvSpPr/>
          <p:nvPr/>
        </p:nvSpPr>
        <p:spPr>
          <a:xfrm>
            <a:off x="10513967" y="2711164"/>
            <a:ext cx="247650" cy="247650"/>
          </a:xfrm>
          <a:prstGeom prst="ellipse">
            <a:avLst/>
          </a:prstGeom>
          <a:solidFill>
            <a:srgbClr val="0E72A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06100" y="2749264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Market Leader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2875" y="3635794"/>
            <a:ext cx="5905500" cy="1661086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369294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TAM · SAM · SOM (US$ Mn)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125" y="3921544"/>
            <a:ext cx="5715000" cy="363195"/>
          </a:xfrm>
          <a:prstGeom prst="rect">
            <a:avLst/>
          </a:prstGeom>
          <a:solidFill>
            <a:srgbClr val="0A2E4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238125" y="4399039"/>
            <a:ext cx="4400550" cy="363195"/>
          </a:xfrm>
          <a:prstGeom prst="rect">
            <a:avLst/>
          </a:prstGeom>
          <a:solidFill>
            <a:srgbClr val="1668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238125" y="4876535"/>
            <a:ext cx="3086100" cy="363195"/>
          </a:xfrm>
          <a:prstGeom prst="rect">
            <a:avLst/>
          </a:prstGeom>
          <a:solidFill>
            <a:srgbClr val="29ABE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2675" y="3635794"/>
            <a:ext cx="5886450" cy="1661086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7925" y="3692944"/>
            <a:ext cx="5695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Go-to-Market Benchmarks (Target vs Actual)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91775" y="3940594"/>
            <a:ext cx="95250" cy="95250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06075" y="3912019"/>
            <a:ext cx="571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Target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34725" y="3940594"/>
            <a:ext cx="95250" cy="95250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49025" y="3912019"/>
            <a:ext cx="571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6975" y="4153941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Conversion (%)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81875" y="4164998"/>
            <a:ext cx="1597914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81875" y="4277766"/>
            <a:ext cx="3018282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76975" y="4466337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Sales Cycle (Days)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81875" y="4477393"/>
            <a:ext cx="3817239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81875" y="4590162"/>
            <a:ext cx="2219325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6975" y="4778732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Pipeline Coverage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81875" y="4789789"/>
            <a:ext cx="2130552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81875" y="4902557"/>
            <a:ext cx="3906012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42875" y="5369895"/>
            <a:ext cx="11906250" cy="1259505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6225" y="545562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Key Takeaways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6225" y="5693745"/>
            <a:ext cx="116395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225" y="5779470"/>
            <a:ext cx="11639550" cy="77373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425" y="2314517"/>
            <a:ext cx="199521" cy="29021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52425" y="4015511"/>
            <a:ext cx="8712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TAM · 100% ·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781" y="4005288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347890" y="4015511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425" y="4493006"/>
            <a:ext cx="4336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SAM ·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02" y="4482783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10311" y="4493006"/>
            <a:ext cx="5947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of TAM ·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4256" y="4482783"/>
            <a:ext cx="134549" cy="19570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629366" y="4493006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2425" y="4970502"/>
            <a:ext cx="4438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SOM ·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71" y="4960279"/>
            <a:ext cx="134549" cy="19570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20580" y="4970502"/>
            <a:ext cx="59136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of SAM ·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102" y="496027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636212" y="4970502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225" y="5788995"/>
            <a:ext cx="7663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Regional Opportunity: 'Rest of the World' shows the highest SAM penetration; lower-penetration regions are the growth headroom.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6006927"/>
            <a:ext cx="12979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Competitive Edge: ~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276" y="5997147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689771" y="6006927"/>
            <a:ext cx="1029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93" y="5997147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834589" y="6006927"/>
            <a:ext cx="23114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ASP premium signals value recognition;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041" y="5997147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261537" y="6006927"/>
            <a:ext cx="22516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pipeline coverage underpins growth.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6225" y="6224859"/>
            <a:ext cx="26150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Sales Efficiency: a ~95-day sales cycle and ~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9292" y="6215079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3006787" y="6224859"/>
            <a:ext cx="23845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conversion support faster share capture.</a:t>
            </a:r>
          </a:p>
        </p:txBody>
      </p:sp>
      <p:sp>
        <p:nvSpPr>
          <p:cNvPr id="78" name="lockshield_10"/>
          <p:cNvSpPr/>
          <p:nvPr/>
        </p:nvSpPr>
        <p:spPr>
          <a:xfrm>
            <a:off x="238125" y="1585070"/>
            <a:ext cx="5715000" cy="192055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Air Liquide SWOT Analysis (3/5)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SWOT assessment of Air Liquide: strengths, weaknesses, opportunities and threats shaping its competitive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1007261"/>
            <a:ext cx="119062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SWOT assessment Air Liquide: strengths, weaknesses, opportunities and threats (indicative).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10000" y="3891345"/>
            <a:ext cx="4572000" cy="0"/>
          </a:xfrm>
          <a:prstGeom prst="line">
            <a:avLst/>
          </a:prstGeom>
          <a:ln w="17780">
            <a:solidFill>
              <a:srgbClr val="B9C4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000" y="1919946"/>
            <a:ext cx="0" cy="3942799"/>
          </a:xfrm>
          <a:prstGeom prst="line">
            <a:avLst/>
          </a:prstGeom>
          <a:ln w="17780">
            <a:solidFill>
              <a:srgbClr val="B9C4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757612" y="38411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9612" y="38411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43612" y="1869748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43612" y="58125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24400" y="2577079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69B1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0300" y="2577079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0B2E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24400" y="4000868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A3531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0300" y="4000868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A86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524500" y="2978660"/>
            <a:ext cx="1143000" cy="803163"/>
          </a:xfrm>
          <a:custGeom>
            <a:avLst/>
            <a:gdLst/>
            <a:ahLst/>
            <a:cxnLst/>
            <a:rect l="l" t="t" r="r" b="b"/>
            <a:pathLst>
              <a:path w="120" h="88">
                <a:moveTo>
                  <a:pt x="0" y="0"/>
                </a:moveTo>
                <a:lnTo>
                  <a:pt x="120" y="0"/>
                </a:lnTo>
                <a:lnTo>
                  <a:pt x="60" y="88"/>
                </a:lnTo>
                <a:close/>
              </a:path>
            </a:pathLst>
          </a:cu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524500" y="4000868"/>
            <a:ext cx="1143000" cy="803163"/>
          </a:xfrm>
          <a:custGeom>
            <a:avLst/>
            <a:gdLst/>
            <a:ahLst/>
            <a:cxnLst/>
            <a:rect l="l" t="t" r="r" b="b"/>
            <a:pathLst>
              <a:path w="120" h="88">
                <a:moveTo>
                  <a:pt x="0" y="88"/>
                </a:moveTo>
                <a:lnTo>
                  <a:pt x="120" y="88"/>
                </a:lnTo>
                <a:lnTo>
                  <a:pt x="60" y="0"/>
                </a:lnTo>
                <a:close/>
              </a:path>
            </a:pathLst>
          </a:cu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5143500" y="3343734"/>
            <a:ext cx="838200" cy="1095222"/>
          </a:xfrm>
          <a:custGeom>
            <a:avLst/>
            <a:gdLst/>
            <a:ahLst/>
            <a:cxnLst/>
            <a:rect l="l" t="t" r="r" b="b"/>
            <a:pathLst>
              <a:path w="88" h="120">
                <a:moveTo>
                  <a:pt x="0" y="0"/>
                </a:moveTo>
                <a:lnTo>
                  <a:pt x="0" y="120"/>
                </a:lnTo>
                <a:lnTo>
                  <a:pt x="88" y="60"/>
                </a:lnTo>
                <a:close/>
              </a:path>
            </a:pathLst>
          </a:cu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210300" y="3343734"/>
            <a:ext cx="838200" cy="1095222"/>
          </a:xfrm>
          <a:custGeom>
            <a:avLst/>
            <a:gdLst/>
            <a:ahLst/>
            <a:cxnLst/>
            <a:rect l="l" t="t" r="r" b="b"/>
            <a:pathLst>
              <a:path w="88" h="120">
                <a:moveTo>
                  <a:pt x="88" y="0"/>
                </a:moveTo>
                <a:lnTo>
                  <a:pt x="88" y="120"/>
                </a:lnTo>
                <a:lnTo>
                  <a:pt x="0" y="60"/>
                </a:lnTo>
                <a:close/>
              </a:path>
            </a:pathLst>
          </a:cu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6450" y="3243339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1F2933"/>
                </a:solidFill>
                <a:latin typeface="Calibri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6450" y="4265546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3050" y="3754443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3754443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500" y="1299320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0B2E4A"/>
                </a:solidFill>
                <a:latin typeface="Calibri"/>
              </a:rPr>
              <a:t>Strengths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500" y="1500111"/>
            <a:ext cx="1428750" cy="1825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4788" y="1605070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375" y="1573126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204788" y="2116174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375" y="2084229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Balanced SOM across regions and end-markets; strongest in 'North America'.</a:t>
            </a:r>
          </a:p>
        </p:txBody>
      </p:sp>
      <p:sp>
        <p:nvSpPr>
          <p:cNvPr id="32" name="Oval 31"/>
          <p:cNvSpPr/>
          <p:nvPr/>
        </p:nvSpPr>
        <p:spPr>
          <a:xfrm>
            <a:off x="204788" y="2627277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375" y="2595333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4375" y="1299320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082238"/>
                </a:solidFill>
                <a:latin typeface="Calibri"/>
              </a:rPr>
              <a:t>Weaknesses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4375" y="1500111"/>
            <a:ext cx="1428750" cy="18254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48662" y="1605070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7250" y="1573126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8348662" y="2116174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7250" y="2084229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Uneven SAM penetration strong in 'Rest of the World', thin elsewhere.</a:t>
            </a:r>
          </a:p>
        </p:txBody>
      </p:sp>
      <p:sp>
        <p:nvSpPr>
          <p:cNvPr id="40" name="Oval 39"/>
          <p:cNvSpPr/>
          <p:nvPr/>
        </p:nvSpPr>
        <p:spPr>
          <a:xfrm>
            <a:off x="8348662" y="2627277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7250" y="2595333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Reliance on a few large accounts/regions raises concentration risk.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0500" y="4055629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A35313"/>
                </a:solidFill>
                <a:latin typeface="Calibri"/>
              </a:rPr>
              <a:t>Threats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" y="4256419"/>
            <a:ext cx="1428750" cy="1825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04788" y="4361379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375" y="4329434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204788" y="4872482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375" y="4840538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Input-cost inflation and price pressure can squeeze margin.</a:t>
            </a:r>
          </a:p>
        </p:txBody>
      </p:sp>
      <p:sp>
        <p:nvSpPr>
          <p:cNvPr id="48" name="Oval 47"/>
          <p:cNvSpPr/>
          <p:nvPr/>
        </p:nvSpPr>
        <p:spPr>
          <a:xfrm>
            <a:off x="204788" y="5383586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375" y="5351641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Tier-1 incumbents and regulation raise barriers and switching friction.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4375" y="4055629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A86F00"/>
                </a:solidFill>
                <a:latin typeface="Calibri"/>
              </a:rPr>
              <a:t>Opportunities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4375" y="4256419"/>
            <a:ext cx="1428750" cy="1825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48662" y="4361379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77250" y="4329434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Premiumisation headroom in 'Gaseous Helium-3' and adjacent high-value lines.</a:t>
            </a:r>
          </a:p>
        </p:txBody>
      </p:sp>
      <p:sp>
        <p:nvSpPr>
          <p:cNvPr id="54" name="Oval 53"/>
          <p:cNvSpPr/>
          <p:nvPr/>
        </p:nvSpPr>
        <p:spPr>
          <a:xfrm>
            <a:off x="8348662" y="4872482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7250" y="4840538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Under-penetrated regions offer share-capture runway.</a:t>
            </a:r>
          </a:p>
        </p:txBody>
      </p:sp>
      <p:sp>
        <p:nvSpPr>
          <p:cNvPr id="56" name="Oval 55"/>
          <p:cNvSpPr/>
          <p:nvPr/>
        </p:nvSpPr>
        <p:spPr>
          <a:xfrm>
            <a:off x="8348662" y="5383586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7250" y="5351641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Channel shift to online and clinics opens new demand pools.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7500" y="6428609"/>
            <a:ext cx="91916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Calibri"/>
              </a:rPr>
              <a:t>Note: competitor figures are indicative derived from market modelling and expert validation, not company disclosures.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1950" y="1642784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~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78" y="1633005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23274" y="1642784"/>
            <a:ext cx="1029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596" y="1633005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68092" y="1642784"/>
            <a:ext cx="14906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ASP premium clear value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1950" y="1810424"/>
            <a:ext cx="7602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recognition.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82" y="2655212"/>
            <a:ext cx="128699" cy="18719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15978" y="2664991"/>
            <a:ext cx="10832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book-to-bill and ~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325" y="2655212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714820" y="2664991"/>
            <a:ext cx="13045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EBITDA signal healthy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1950" y="2832631"/>
            <a:ext cx="7831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momentum.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5825" y="1726603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~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653" y="1716825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767149" y="1726603"/>
            <a:ext cx="29105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leaves a scale gap versus the market leader.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1950" y="4482912"/>
            <a:ext cx="13244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Intense competition ~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7" y="4473133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801993" y="4482912"/>
            <a:ext cx="17386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pipeline needed to convert.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Air Liquide Key Financials (4/5)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Air Liquide's financial performance, key ratios and pricing, highlighting margin and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Key financials and pricing Air Liquide (all figures indicative, USD Mn unless noted).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5905500" cy="1916638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" y="1411231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Air Liquide Financial Performance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" y="1611256"/>
          <a:ext cx="5886449" cy="1449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6649"/>
                <a:gridCol w="687960"/>
                <a:gridCol w="687960"/>
                <a:gridCol w="687960"/>
                <a:gridCol w="687960"/>
                <a:gridCol w="68796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USD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Revenue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Gross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Pre-Tax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Profit After Tax / Net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075" y="3070695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3398495"/>
            <a:ext cx="5905500" cy="3194397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Air Liquide Key Ratios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3655670"/>
          <a:ext cx="5886450" cy="27276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260"/>
                <a:gridCol w="805438"/>
                <a:gridCol w="805438"/>
                <a:gridCol w="805438"/>
                <a:gridCol w="805438"/>
                <a:gridCol w="80543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Key Ratios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Gross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Pre-Tax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Net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Return on Equity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Return on Assets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9075" y="6392868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775" y="1354081"/>
            <a:ext cx="584835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6025" y="1411231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Air Liquide Pricing Analysis (US$/Litres)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0300" y="1611256"/>
          <a:ext cx="5829300" cy="47720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1930"/>
                <a:gridCol w="1308685"/>
                <a:gridCol w="130868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E2A5C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BF2F9"/>
                    </a:solidFill>
                  </a:tcPr>
                </a:tc>
              </a:tr>
              <a:tr h="226298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Gaseous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6298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Liquid Helium-3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76975" y="6392868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TMR Analysis,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927" y="2219246"/>
            <a:ext cx="330041" cy="48006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564" y="4875868"/>
            <a:ext cx="366712" cy="53340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4225" y="3853662"/>
            <a:ext cx="366712" cy="533399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386" y="114300"/>
            <a:ext cx="91926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19050"/>
            <a:ext cx="10896600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Air Liquide Strategy Analysis (5/5)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47700"/>
            <a:ext cx="10896600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Air Liquide's strategic priorities and the competitive moves that support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Strategy analysis Air Liquide: strategic priorities and the competitive moves that support them (indicative).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MARKET SHARE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of global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317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WIN RATE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deals won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0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ASP PREMIUM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vs peers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3300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BOOK-TO-BILL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order momentum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6312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EBITDA MARGIN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A5F8F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profitability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2084229"/>
            <a:ext cx="5905500" cy="4490410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2169954"/>
            <a:ext cx="56388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Strategic Priorities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225" y="2408079"/>
            <a:ext cx="563880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2493804"/>
            <a:ext cx="5638800" cy="40046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775" y="2084229"/>
            <a:ext cx="5848350" cy="4490410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4125" y="2169954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E2A5C"/>
                </a:solidFill>
                <a:latin typeface="Calibri"/>
              </a:rPr>
              <a:t>Competitive Moves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4125" y="2408079"/>
            <a:ext cx="5581650" cy="19050"/>
          </a:xfrm>
          <a:prstGeom prst="rect">
            <a:avLst/>
          </a:prstGeom>
          <a:solidFill>
            <a:srgbClr val="2A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2493804"/>
            <a:ext cx="5581650" cy="40046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A5F8F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" y="6667500"/>
            <a:ext cx="1188720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©2026 Transparency Market Research,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531" y="1540967"/>
            <a:ext cx="157162" cy="22860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831" y="1540967"/>
            <a:ext cx="157162" cy="22860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656" y="1540967"/>
            <a:ext cx="157162" cy="2286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956" y="1540967"/>
            <a:ext cx="157162" cy="2286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781" y="1540967"/>
            <a:ext cx="157162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6225" y="2503329"/>
            <a:ext cx="49942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and extend leadership in 'Nuclear Fusion Research' Air Liquide's strongest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2678589"/>
            <a:ext cx="31749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end-market while scaling the next-best applications.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" y="2906426"/>
            <a:ext cx="909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Convert its ~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76" y="2896203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10485" y="2906426"/>
            <a:ext cx="9291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win rate and +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748" y="289620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63857" y="2906426"/>
            <a:ext cx="31090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ASP premium into share gains through value-based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225" y="3081686"/>
            <a:ext cx="4892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selling.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225" y="3309524"/>
            <a:ext cx="32944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Raise SAM penetration beyond 'Rest of the World' (~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813" y="329930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694922" y="3309524"/>
            <a:ext cx="20190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into lower-penetration regions.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225" y="3537362"/>
            <a:ext cx="69405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Sustain a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38" y="3527139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94548" y="3537362"/>
            <a:ext cx="37505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book-to-bill with disciplined capacity and channel investment.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3765200"/>
            <a:ext cx="53211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Protect margin through corridor-based pricing and cost discipline as input prices move.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4125" y="2503329"/>
            <a:ext cx="54041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Premiumise the portfolio around 'Gaseous Helium-3' and adjacent high-value lines to lift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4125" y="2678589"/>
            <a:ext cx="10346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blended pricing.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4125" y="2906426"/>
            <a:ext cx="52196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Deepen presence in 'North America' (largest SOM region) and build out under-served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4125" y="3081686"/>
            <a:ext cx="8381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geographies.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4125" y="3309524"/>
            <a:ext cx="54711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Invest in R&amp;D, certification and selective M&amp;A to move up the price ladder and widen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4125" y="3484784"/>
            <a:ext cx="4256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moat.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4125" y="3712622"/>
            <a:ext cx="52675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Diversify the customer base and secure supply to de-risk concentration and input-cost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4125" y="3887882"/>
            <a:ext cx="5092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shocks.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4125" y="4115720"/>
            <a:ext cx="31021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Sharpen go-to-market a ~95-day sales cycle and ~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52" y="4105497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0561" y="4115720"/>
            <a:ext cx="20036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conversion speed share capture.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pic>
        <p:nvPicPr>
          <p:cNvPr id="3" name="Picture 5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88824" cy="6858001"/>
          </a:xfrm>
          <a:prstGeom prst="rect">
            <a:avLst/>
          </a:prstGeom>
        </p:spPr>
      </p:pic>
      <p:grpSp>
        <p:nvGrpSpPr>
          <p:cNvPr id="4" name="Group 54"/>
          <p:cNvGrpSpPr/>
          <p:nvPr/>
        </p:nvGrpSpPr>
        <p:grpSpPr>
          <a:xfrm>
            <a:off x="3791331" y="4349877"/>
            <a:ext cx="7897432" cy="1533454"/>
            <a:chOff x="3791331" y="4349877"/>
            <a:chExt cx="7897432" cy="1533454"/>
          </a:xfrm>
        </p:grpSpPr>
        <p:sp>
          <p:nvSpPr>
            <p:cNvPr id="5" name="TextBox 55"/>
            <p:cNvSpPr txBox="1"/>
            <p:nvPr/>
          </p:nvSpPr>
          <p:spPr>
            <a:xfrm>
              <a:off x="3791331" y="4349877"/>
              <a:ext cx="37391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To know more about us, please visit our website:</a:t>
              </a:r>
            </a:p>
          </p:txBody>
        </p:sp>
        <p:sp>
          <p:nvSpPr>
            <p:cNvPr id="6" name="TextBox 56"/>
            <p:cNvSpPr txBox="1"/>
            <p:nvPr/>
          </p:nvSpPr>
          <p:spPr>
            <a:xfrm>
              <a:off x="3791331" y="4660773"/>
              <a:ext cx="31214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www.transparencymarketresearch.com</a:t>
              </a:r>
            </a:p>
          </p:txBody>
        </p:sp>
        <p:sp>
          <p:nvSpPr>
            <p:cNvPr id="7" name="TextBox 57"/>
            <p:cNvSpPr txBox="1"/>
            <p:nvPr/>
          </p:nvSpPr>
          <p:spPr>
            <a:xfrm>
              <a:off x="3791331" y="5264658"/>
              <a:ext cx="33647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For Sales queries or new topics email us on:</a:t>
              </a:r>
            </a:p>
          </p:txBody>
        </p:sp>
        <p:sp>
          <p:nvSpPr>
            <p:cNvPr id="8" name="TextBox 59"/>
            <p:cNvSpPr txBox="1"/>
            <p:nvPr/>
          </p:nvSpPr>
          <p:spPr>
            <a:xfrm>
              <a:off x="3791331" y="5575554"/>
              <a:ext cx="3097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sales.transparencymarketresearch.com</a:t>
              </a:r>
            </a:p>
          </p:txBody>
        </p:sp>
        <p:sp>
          <p:nvSpPr>
            <p:cNvPr id="9" name="TextBox 60"/>
            <p:cNvSpPr txBox="1"/>
            <p:nvPr/>
          </p:nvSpPr>
          <p:spPr>
            <a:xfrm>
              <a:off x="9562732" y="4349877"/>
              <a:ext cx="2126031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IN" sz="1400" dirty="0"/>
                <a:t>For other Queries Contact: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90 State Street, Albany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NY – 12207, United States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Tel: +1-518-618-1030</a:t>
              </a:r>
            </a:p>
          </p:txBody>
        </p:sp>
      </p:grpSp>
      <p:pic>
        <p:nvPicPr>
          <p:cNvPr id="10" name="Picture 6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" y="123825"/>
            <a:ext cx="1492575" cy="1152525"/>
          </a:xfrm>
          <a:prstGeom prst="rect">
            <a:avLst/>
          </a:prstGeom>
        </p:spPr>
      </p:pic>
      <p:sp>
        <p:nvSpPr>
          <p:cNvPr id="11" name="TextBox 71"/>
          <p:cNvSpPr txBox="1"/>
          <p:nvPr/>
        </p:nvSpPr>
        <p:spPr>
          <a:xfrm>
            <a:off x="1431419" y="2409825"/>
            <a:ext cx="49648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600" dirty="0">
                <a:solidFill>
                  <a:srgbClr val="0070C0"/>
                </a:solidFill>
                <a:latin typeface="Aclonica" panose="02060503000000020004" pitchFamily="18" charset="0"/>
              </a:rPr>
              <a:t>Thank You</a:t>
            </a:r>
          </a:p>
        </p:txBody>
      </p:sp>
      <p:sp>
        <p:nvSpPr>
          <p:cNvPr id="12" name="Freeform 68"/>
          <p:cNvSpPr/>
          <p:nvPr userDrawn="1"/>
        </p:nvSpPr>
        <p:spPr bwMode="gray">
          <a:xfrm>
            <a:off x="152400" y="6386257"/>
            <a:ext cx="11887200" cy="0"/>
          </a:xfrm>
          <a:custGeom>
            <a:avLst/>
            <a:gdLst>
              <a:gd name="connsiteX0" fmla="*/ 12039600 w 12039600"/>
              <a:gd name="connsiteY0" fmla="*/ 0 h 0"/>
              <a:gd name="connsiteX1" fmla="*/ 0 w 12039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9600">
                <a:moveTo>
                  <a:pt x="1203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rgbClr val="2A5F8F">
              <a:shade val="50000"/>
            </a:srgbClr>
          </a:lnRef>
          <a:fillRef idx="1">
            <a:srgbClr val="2A5F8F"/>
          </a:fillRef>
          <a:effectRef idx="0">
            <a:srgbClr val="2A5F8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13"/>
          </a:p>
        </p:txBody>
      </p:sp>
      <p:sp>
        <p:nvSpPr>
          <p:cNvPr id="13" name="Rectangle 73"/>
          <p:cNvSpPr/>
          <p:nvPr/>
        </p:nvSpPr>
        <p:spPr bwMode="gray">
          <a:xfrm>
            <a:off x="4409641" y="6503175"/>
            <a:ext cx="337271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tabLst>
                <a:tab pos="931344" algn="l"/>
              </a:tabLst>
              <a:defRPr/>
            </a:pPr>
            <a:r>
              <a:rPr lang="en-US" sz="1100" dirty="0">
                <a:solidFill>
                  <a:srgbClr val="000000"/>
                </a:solidFill>
                <a:ea typeface="ＭＳ Ｐゴシック" charset="0"/>
              </a:rPr>
              <a:t>©2026 Transparency Market Research, All Rights Reserved</a:t>
            </a:r>
            <a:endParaRPr lang="en-GB" sz="1100" dirty="0">
              <a:solidFill>
                <a:srgbClr val="000000"/>
              </a:solidFill>
              <a:ea typeface="ＭＳ Ｐゴシック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3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5F8F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