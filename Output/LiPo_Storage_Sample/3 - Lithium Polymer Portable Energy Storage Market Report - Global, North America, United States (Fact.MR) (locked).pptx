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1.xml" ContentType="application/vnd.openxmlformats-officedocument.presentationml.notesSlide+xml"/>
  <Override PartName="/ppt/notesSlides/notesSlide173.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4.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43" r:id="rId295"/>
    <p:sldId id="536" r:id="rId288"/>
    <p:sldId id="537" r:id="rId289"/>
    <p:sldId id="538" r:id="rId290"/>
    <p:sldId id="539" r:id="rId291"/>
    <p:sldId id="540" r:id="rId292"/>
    <p:sldId id="541" r:id="rId293"/>
    <p:sldId id="542" r:id="rId294"/>
    <p:sldId id="552" r:id="rId304"/>
    <p:sldId id="544" r:id="rId296"/>
    <p:sldId id="545" r:id="rId297"/>
    <p:sldId id="546" r:id="rId298"/>
    <p:sldId id="547" r:id="rId299"/>
    <p:sldId id="548" r:id="rId300"/>
    <p:sldId id="549" r:id="rId301"/>
    <p:sldId id="550" r:id="rId302"/>
    <p:sldId id="551" r:id="rId303"/>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3"/>
    <p:sldId id="292" r:id="rId44"/>
    <p:sldId id="295" r:id="rId47"/>
    <p:sldId id="296" r:id="rId48"/>
    <p:sldId id="297" r:id="rId49"/>
    <p:sldId id="298" r:id="rId50"/>
    <p:sldId id="300" r:id="rId52"/>
    <p:sldId id="301" r:id="rId53"/>
    <p:sldId id="304" r:id="rId56"/>
    <p:sldId id="305" r:id="rId57"/>
    <p:sldId id="306" r:id="rId58"/>
    <p:sldId id="307" r:id="rId59"/>
    <p:sldId id="309" r:id="rId61"/>
    <p:sldId id="310" r:id="rId62"/>
    <p:sldId id="313" r:id="rId65"/>
    <p:sldId id="314" r:id="rId66"/>
    <p:sldId id="315" r:id="rId67"/>
    <p:sldId id="316" r:id="rId68"/>
    <p:sldId id="318" r:id="rId70"/>
    <p:sldId id="319" r:id="rId71"/>
    <p:sldId id="324" r:id="rId76"/>
    <p:sldId id="325" r:id="rId77"/>
    <p:sldId id="326" r:id="rId78"/>
    <p:sldId id="327" r:id="rId79"/>
    <p:sldId id="329" r:id="rId81"/>
    <p:sldId id="330" r:id="rId82"/>
    <p:sldId id="333" r:id="rId85"/>
    <p:sldId id="334" r:id="rId86"/>
    <p:sldId id="335" r:id="rId87"/>
    <p:sldId id="336" r:id="rId88"/>
    <p:sldId id="338" r:id="rId90"/>
    <p:sldId id="339" r:id="rId91"/>
    <p:sldId id="342" r:id="rId94"/>
    <p:sldId id="343" r:id="rId95"/>
    <p:sldId id="344" r:id="rId96"/>
    <p:sldId id="345" r:id="rId97"/>
    <p:sldId id="347" r:id="rId99"/>
    <p:sldId id="348" r:id="rId100"/>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6" r:id="rId128"/>
    <p:sldId id="377" r:id="rId129"/>
    <p:sldId id="380" r:id="rId132"/>
    <p:sldId id="381" r:id="rId133"/>
    <p:sldId id="382" r:id="rId134"/>
    <p:sldId id="383" r:id="rId135"/>
    <p:sldId id="385" r:id="rId137"/>
    <p:sldId id="386" r:id="rId138"/>
    <p:sldId id="389" r:id="rId141"/>
    <p:sldId id="390" r:id="rId142"/>
    <p:sldId id="391" r:id="rId143"/>
    <p:sldId id="392" r:id="rId144"/>
    <p:sldId id="394" r:id="rId146"/>
    <p:sldId id="395" r:id="rId147"/>
    <p:sldId id="398" r:id="rId150"/>
    <p:sldId id="399" r:id="rId151"/>
    <p:sldId id="400" r:id="rId152"/>
    <p:sldId id="401" r:id="rId153"/>
    <p:sldId id="403" r:id="rId155"/>
    <p:sldId id="404" r:id="rId156"/>
    <p:sldId id="409" r:id="rId161"/>
    <p:sldId id="410" r:id="rId162"/>
    <p:sldId id="411" r:id="rId163"/>
    <p:sldId id="412" r:id="rId164"/>
    <p:sldId id="414" r:id="rId166"/>
    <p:sldId id="415" r:id="rId167"/>
    <p:sldId id="418" r:id="rId170"/>
    <p:sldId id="419" r:id="rId171"/>
    <p:sldId id="420" r:id="rId172"/>
    <p:sldId id="421" r:id="rId173"/>
    <p:sldId id="423" r:id="rId175"/>
    <p:sldId id="424" r:id="rId176"/>
    <p:sldId id="427" r:id="rId179"/>
    <p:sldId id="428" r:id="rId180"/>
    <p:sldId id="429" r:id="rId181"/>
    <p:sldId id="430" r:id="rId182"/>
    <p:sldId id="432" r:id="rId184"/>
    <p:sldId id="433" r:id="rId185"/>
    <p:sldId id="436" r:id="rId188"/>
    <p:sldId id="437" r:id="rId189"/>
    <p:sldId id="438" r:id="rId190"/>
    <p:sldId id="439" r:id="rId191"/>
    <p:sldId id="440" r:id="rId192"/>
    <p:sldId id="441" r:id="rId193"/>
    <p:sldId id="442" r:id="rId194"/>
    <p:sldId id="443" r:id="rId195"/>
    <p:sldId id="444" r:id="rId196"/>
    <p:sldId id="445" r:id="rId197"/>
    <p:sldId id="447" r:id="rId199"/>
    <p:sldId id="448" r:id="rId200"/>
    <p:sldId id="449" r:id="rId201"/>
    <p:sldId id="451" r:id="rId203"/>
    <p:sldId id="452" r:id="rId204"/>
    <p:sldId id="453" r:id="rId205"/>
    <p:sldId id="455" r:id="rId207"/>
    <p:sldId id="456" r:id="rId208"/>
    <p:sldId id="458" r:id="rId210"/>
    <p:sldId id="461" r:id="rId213"/>
    <p:sldId id="462" r:id="rId214"/>
    <p:sldId id="463" r:id="rId215"/>
    <p:sldId id="465" r:id="rId217"/>
    <p:sldId id="466" r:id="rId218"/>
    <p:sldId id="467" r:id="rId219"/>
    <p:sldId id="469" r:id="rId221"/>
    <p:sldId id="470" r:id="rId222"/>
    <p:sldId id="471" r:id="rId223"/>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53" r:id="rId224"/>
    <p:sldId id="554" r:id="rId2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7.xml"/><Relationship Id="rId18" Type="http://schemas.openxmlformats.org/officeDocument/2006/relationships/slide" Target="slides/slide28.xml"/><Relationship Id="rId19" Type="http://schemas.openxmlformats.org/officeDocument/2006/relationships/slide" Target="slides/slide29.xml"/><Relationship Id="rId20" Type="http://schemas.openxmlformats.org/officeDocument/2006/relationships/slide" Target="slides/slide30.xml"/><Relationship Id="rId21" Type="http://schemas.openxmlformats.org/officeDocument/2006/relationships/slide" Target="slides/slide31.xml"/><Relationship Id="rId22" Type="http://schemas.openxmlformats.org/officeDocument/2006/relationships/slide" Target="slides/slide32.xml"/><Relationship Id="rId23" Type="http://schemas.openxmlformats.org/officeDocument/2006/relationships/slide" Target="slides/slide33.xml"/><Relationship Id="rId24" Type="http://schemas.openxmlformats.org/officeDocument/2006/relationships/slide" Target="slides/slide34.xml"/><Relationship Id="rId25" Type="http://schemas.openxmlformats.org/officeDocument/2006/relationships/slide" Target="slides/slide35.xml"/><Relationship Id="rId26" Type="http://schemas.openxmlformats.org/officeDocument/2006/relationships/slide" Target="slides/slide36.xml"/><Relationship Id="rId27" Type="http://schemas.openxmlformats.org/officeDocument/2006/relationships/slide" Target="slides/slide37.xml"/><Relationship Id="rId28" Type="http://schemas.openxmlformats.org/officeDocument/2006/relationships/slide" Target="slides/slide38.xml"/><Relationship Id="rId29" Type="http://schemas.openxmlformats.org/officeDocument/2006/relationships/slide" Target="slides/slide39.xml"/><Relationship Id="rId30" Type="http://schemas.openxmlformats.org/officeDocument/2006/relationships/slide" Target="slides/slide40.xml"/><Relationship Id="rId31" Type="http://schemas.openxmlformats.org/officeDocument/2006/relationships/slide" Target="slides/slide41.xml"/><Relationship Id="rId32" Type="http://schemas.openxmlformats.org/officeDocument/2006/relationships/slide" Target="slides/slide42.xml"/><Relationship Id="rId33" Type="http://schemas.openxmlformats.org/officeDocument/2006/relationships/slide" Target="slides/slide43.xml"/><Relationship Id="rId34" Type="http://schemas.openxmlformats.org/officeDocument/2006/relationships/slide" Target="slides/slide44.xml"/><Relationship Id="rId35" Type="http://schemas.openxmlformats.org/officeDocument/2006/relationships/slide" Target="slides/slide45.xml"/><Relationship Id="rId36" Type="http://schemas.openxmlformats.org/officeDocument/2006/relationships/slide" Target="slides/slide46.xml"/><Relationship Id="rId37" Type="http://schemas.openxmlformats.org/officeDocument/2006/relationships/slide" Target="slides/slide47.xml"/><Relationship Id="rId38" Type="http://schemas.openxmlformats.org/officeDocument/2006/relationships/slide" Target="slides/slide48.xml"/><Relationship Id="rId39" Type="http://schemas.openxmlformats.org/officeDocument/2006/relationships/slide" Target="slides/slide49.xml"/><Relationship Id="rId40" Type="http://schemas.openxmlformats.org/officeDocument/2006/relationships/slide" Target="slides/slide50.xml"/><Relationship Id="rId41" Type="http://schemas.openxmlformats.org/officeDocument/2006/relationships/slide" Target="slides/slide51.xml"/><Relationship Id="rId43" Type="http://schemas.openxmlformats.org/officeDocument/2006/relationships/slide" Target="slides/slide52.xml"/><Relationship Id="rId44" Type="http://schemas.openxmlformats.org/officeDocument/2006/relationships/slide" Target="slides/slide53.xml"/><Relationship Id="rId47" Type="http://schemas.openxmlformats.org/officeDocument/2006/relationships/slide" Target="slides/slide54.xml"/><Relationship Id="rId48" Type="http://schemas.openxmlformats.org/officeDocument/2006/relationships/slide" Target="slides/slide55.xml"/><Relationship Id="rId49" Type="http://schemas.openxmlformats.org/officeDocument/2006/relationships/slide" Target="slides/slide56.xml"/><Relationship Id="rId50" Type="http://schemas.openxmlformats.org/officeDocument/2006/relationships/slide" Target="slides/slide57.xml"/><Relationship Id="rId52" Type="http://schemas.openxmlformats.org/officeDocument/2006/relationships/slide" Target="slides/slide58.xml"/><Relationship Id="rId53" Type="http://schemas.openxmlformats.org/officeDocument/2006/relationships/slide" Target="slides/slide59.xml"/><Relationship Id="rId56" Type="http://schemas.openxmlformats.org/officeDocument/2006/relationships/slide" Target="slides/slide60.xml"/><Relationship Id="rId57" Type="http://schemas.openxmlformats.org/officeDocument/2006/relationships/slide" Target="slides/slide61.xml"/><Relationship Id="rId58" Type="http://schemas.openxmlformats.org/officeDocument/2006/relationships/slide" Target="slides/slide62.xml"/><Relationship Id="rId59"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8" Type="http://schemas.openxmlformats.org/officeDocument/2006/relationships/slide" Target="slides/slide114.xml"/><Relationship Id="rId129" Type="http://schemas.openxmlformats.org/officeDocument/2006/relationships/slide" Target="slides/slide115.xml"/><Relationship Id="rId132" Type="http://schemas.openxmlformats.org/officeDocument/2006/relationships/slide" Target="slides/slide116.xml"/><Relationship Id="rId133" Type="http://schemas.openxmlformats.org/officeDocument/2006/relationships/slide" Target="slides/slide117.xml"/><Relationship Id="rId134" Type="http://schemas.openxmlformats.org/officeDocument/2006/relationships/slide" Target="slides/slide118.xml"/><Relationship Id="rId135" Type="http://schemas.openxmlformats.org/officeDocument/2006/relationships/slide" Target="slides/slide119.xml"/><Relationship Id="rId137" Type="http://schemas.openxmlformats.org/officeDocument/2006/relationships/slide" Target="slides/slide120.xml"/><Relationship Id="rId138" Type="http://schemas.openxmlformats.org/officeDocument/2006/relationships/slide" Target="slides/slide121.xml"/><Relationship Id="rId141" Type="http://schemas.openxmlformats.org/officeDocument/2006/relationships/slide" Target="slides/slide122.xml"/><Relationship Id="rId142" Type="http://schemas.openxmlformats.org/officeDocument/2006/relationships/slide" Target="slides/slide123.xml"/><Relationship Id="rId143" Type="http://schemas.openxmlformats.org/officeDocument/2006/relationships/slide" Target="slides/slide124.xml"/><Relationship Id="rId144" Type="http://schemas.openxmlformats.org/officeDocument/2006/relationships/slide" Target="slides/slide125.xml"/><Relationship Id="rId146" Type="http://schemas.openxmlformats.org/officeDocument/2006/relationships/slide" Target="slides/slide126.xml"/><Relationship Id="rId147" Type="http://schemas.openxmlformats.org/officeDocument/2006/relationships/slide" Target="slides/slide127.xml"/><Relationship Id="rId150" Type="http://schemas.openxmlformats.org/officeDocument/2006/relationships/slide" Target="slides/slide128.xml"/><Relationship Id="rId151" Type="http://schemas.openxmlformats.org/officeDocument/2006/relationships/slide" Target="slides/slide129.xml"/><Relationship Id="rId152" Type="http://schemas.openxmlformats.org/officeDocument/2006/relationships/slide" Target="slides/slide130.xml"/><Relationship Id="rId153" Type="http://schemas.openxmlformats.org/officeDocument/2006/relationships/slide" Target="slides/slide131.xml"/><Relationship Id="rId155" Type="http://schemas.openxmlformats.org/officeDocument/2006/relationships/slide" Target="slides/slide132.xml"/><Relationship Id="rId156" Type="http://schemas.openxmlformats.org/officeDocument/2006/relationships/slide" Target="slides/slide133.xml"/><Relationship Id="rId161" Type="http://schemas.openxmlformats.org/officeDocument/2006/relationships/slide" Target="slides/slide134.xml"/><Relationship Id="rId162" Type="http://schemas.openxmlformats.org/officeDocument/2006/relationships/slide" Target="slides/slide135.xml"/><Relationship Id="rId163" Type="http://schemas.openxmlformats.org/officeDocument/2006/relationships/slide" Target="slides/slide136.xml"/><Relationship Id="rId164" Type="http://schemas.openxmlformats.org/officeDocument/2006/relationships/slide" Target="slides/slide137.xml"/><Relationship Id="rId166" Type="http://schemas.openxmlformats.org/officeDocument/2006/relationships/slide" Target="slides/slide138.xml"/><Relationship Id="rId167" Type="http://schemas.openxmlformats.org/officeDocument/2006/relationships/slide" Target="slides/slide139.xml"/><Relationship Id="rId170" Type="http://schemas.openxmlformats.org/officeDocument/2006/relationships/slide" Target="slides/slide140.xml"/><Relationship Id="rId171" Type="http://schemas.openxmlformats.org/officeDocument/2006/relationships/slide" Target="slides/slide141.xml"/><Relationship Id="rId172" Type="http://schemas.openxmlformats.org/officeDocument/2006/relationships/slide" Target="slides/slide142.xml"/><Relationship Id="rId173" Type="http://schemas.openxmlformats.org/officeDocument/2006/relationships/slide" Target="slides/slide143.xml"/><Relationship Id="rId175" Type="http://schemas.openxmlformats.org/officeDocument/2006/relationships/slide" Target="slides/slide144.xml"/><Relationship Id="rId176" Type="http://schemas.openxmlformats.org/officeDocument/2006/relationships/slide" Target="slides/slide145.xml"/><Relationship Id="rId179" Type="http://schemas.openxmlformats.org/officeDocument/2006/relationships/slide" Target="slides/slide146.xml"/><Relationship Id="rId180" Type="http://schemas.openxmlformats.org/officeDocument/2006/relationships/slide" Target="slides/slide147.xml"/><Relationship Id="rId181" Type="http://schemas.openxmlformats.org/officeDocument/2006/relationships/slide" Target="slides/slide148.xml"/><Relationship Id="rId182" Type="http://schemas.openxmlformats.org/officeDocument/2006/relationships/slide" Target="slides/slide149.xml"/><Relationship Id="rId184" Type="http://schemas.openxmlformats.org/officeDocument/2006/relationships/slide" Target="slides/slide150.xml"/><Relationship Id="rId185" Type="http://schemas.openxmlformats.org/officeDocument/2006/relationships/slide" Target="slides/slide151.xml"/><Relationship Id="rId188" Type="http://schemas.openxmlformats.org/officeDocument/2006/relationships/slide" Target="slides/slide152.xml"/><Relationship Id="rId189" Type="http://schemas.openxmlformats.org/officeDocument/2006/relationships/slide" Target="slides/slide153.xml"/><Relationship Id="rId190" Type="http://schemas.openxmlformats.org/officeDocument/2006/relationships/slide" Target="slides/slide154.xml"/><Relationship Id="rId191" Type="http://schemas.openxmlformats.org/officeDocument/2006/relationships/slide" Target="slides/slide155.xml"/><Relationship Id="rId192" Type="http://schemas.openxmlformats.org/officeDocument/2006/relationships/slide" Target="slides/slide156.xml"/><Relationship Id="rId193" Type="http://schemas.openxmlformats.org/officeDocument/2006/relationships/slide" Target="slides/slide157.xml"/><Relationship Id="rId194" Type="http://schemas.openxmlformats.org/officeDocument/2006/relationships/slide" Target="slides/slide158.xml"/><Relationship Id="rId195" Type="http://schemas.openxmlformats.org/officeDocument/2006/relationships/slide" Target="slides/slide159.xml"/><Relationship Id="rId196" Type="http://schemas.openxmlformats.org/officeDocument/2006/relationships/slide" Target="slides/slide160.xml"/><Relationship Id="rId197" Type="http://schemas.openxmlformats.org/officeDocument/2006/relationships/slide" Target="slides/slide161.xml"/><Relationship Id="rId199" Type="http://schemas.openxmlformats.org/officeDocument/2006/relationships/slide" Target="slides/slide162.xml"/><Relationship Id="rId200" Type="http://schemas.openxmlformats.org/officeDocument/2006/relationships/slide" Target="slides/slide163.xml"/><Relationship Id="rId201" Type="http://schemas.openxmlformats.org/officeDocument/2006/relationships/slide" Target="slides/slide164.xml"/><Relationship Id="rId203" Type="http://schemas.openxmlformats.org/officeDocument/2006/relationships/slide" Target="slides/slide165.xml"/><Relationship Id="rId204" Type="http://schemas.openxmlformats.org/officeDocument/2006/relationships/slide" Target="slides/slide166.xml"/><Relationship Id="rId205" Type="http://schemas.openxmlformats.org/officeDocument/2006/relationships/slide" Target="slides/slide167.xml"/><Relationship Id="rId207" Type="http://schemas.openxmlformats.org/officeDocument/2006/relationships/slide" Target="slides/slide168.xml"/><Relationship Id="rId208" Type="http://schemas.openxmlformats.org/officeDocument/2006/relationships/slide" Target="slides/slide169.xml"/><Relationship Id="rId210" Type="http://schemas.openxmlformats.org/officeDocument/2006/relationships/slide" Target="slides/slide170.xml"/><Relationship Id="rId213" Type="http://schemas.openxmlformats.org/officeDocument/2006/relationships/slide" Target="slides/slide171.xml"/><Relationship Id="rId214" Type="http://schemas.openxmlformats.org/officeDocument/2006/relationships/slide" Target="slides/slide172.xml"/><Relationship Id="rId215" Type="http://schemas.openxmlformats.org/officeDocument/2006/relationships/slide" Target="slides/slide173.xml"/><Relationship Id="rId217" Type="http://schemas.openxmlformats.org/officeDocument/2006/relationships/slide" Target="slides/slide174.xml"/><Relationship Id="rId218" Type="http://schemas.openxmlformats.org/officeDocument/2006/relationships/slide" Target="slides/slide175.xml"/><Relationship Id="rId219" Type="http://schemas.openxmlformats.org/officeDocument/2006/relationships/slide" Target="slides/slide176.xml"/><Relationship Id="rId220" Type="http://schemas.openxmlformats.org/officeDocument/2006/relationships/slide" Target="slides/slide234.xml"/><Relationship Id="rId221" Type="http://schemas.openxmlformats.org/officeDocument/2006/relationships/slide" Target="slides/slide177.xml"/><Relationship Id="rId222" Type="http://schemas.openxmlformats.org/officeDocument/2006/relationships/slide" Target="slides/slide178.xml"/><Relationship Id="rId223" Type="http://schemas.openxmlformats.org/officeDocument/2006/relationships/slide" Target="slides/slide179.xml"/><Relationship Id="rId224" Type="http://schemas.openxmlformats.org/officeDocument/2006/relationships/slide" Target="slides/slide233.xml"/><Relationship Id="rId225" Type="http://schemas.openxmlformats.org/officeDocument/2006/relationships/slide" Target="slides/slide180.xml"/><Relationship Id="rId226" Type="http://schemas.openxmlformats.org/officeDocument/2006/relationships/slide" Target="slides/slide181.xml"/><Relationship Id="rId227" Type="http://schemas.openxmlformats.org/officeDocument/2006/relationships/slide" Target="slides/slide182.xml"/><Relationship Id="rId228" Type="http://schemas.openxmlformats.org/officeDocument/2006/relationships/slide" Target="slides/slide183.xml"/><Relationship Id="rId229" Type="http://schemas.openxmlformats.org/officeDocument/2006/relationships/slide" Target="slides/slide184.xml"/><Relationship Id="rId230" Type="http://schemas.openxmlformats.org/officeDocument/2006/relationships/slide" Target="slides/slide185.xml"/><Relationship Id="rId231" Type="http://schemas.openxmlformats.org/officeDocument/2006/relationships/slide" Target="slides/slide186.xml"/><Relationship Id="rId232" Type="http://schemas.openxmlformats.org/officeDocument/2006/relationships/slide" Target="slides/slide187.xml"/><Relationship Id="rId233" Type="http://schemas.openxmlformats.org/officeDocument/2006/relationships/slide" Target="slides/slide188.xml"/><Relationship Id="rId234" Type="http://schemas.openxmlformats.org/officeDocument/2006/relationships/slide" Target="slides/slide189.xml"/><Relationship Id="rId235" Type="http://schemas.openxmlformats.org/officeDocument/2006/relationships/slide" Target="slides/slide190.xml"/><Relationship Id="rId236" Type="http://schemas.openxmlformats.org/officeDocument/2006/relationships/slide" Target="slides/slide191.xml"/><Relationship Id="rId237" Type="http://schemas.openxmlformats.org/officeDocument/2006/relationships/slide" Target="slides/slide192.xml"/><Relationship Id="rId238" Type="http://schemas.openxmlformats.org/officeDocument/2006/relationships/slide" Target="slides/slide193.xml"/><Relationship Id="rId239" Type="http://schemas.openxmlformats.org/officeDocument/2006/relationships/slide" Target="slides/slide194.xml"/><Relationship Id="rId240" Type="http://schemas.openxmlformats.org/officeDocument/2006/relationships/slide" Target="slides/slide195.xml"/><Relationship Id="rId241" Type="http://schemas.openxmlformats.org/officeDocument/2006/relationships/slide" Target="slides/slide196.xml"/><Relationship Id="rId242" Type="http://schemas.openxmlformats.org/officeDocument/2006/relationships/slide" Target="slides/slide197.xml"/><Relationship Id="rId243" Type="http://schemas.openxmlformats.org/officeDocument/2006/relationships/slide" Target="slides/slide198.xml"/><Relationship Id="rId244" Type="http://schemas.openxmlformats.org/officeDocument/2006/relationships/slide" Target="slides/slide199.xml"/><Relationship Id="rId245" Type="http://schemas.openxmlformats.org/officeDocument/2006/relationships/slide" Target="slides/slide200.xml"/><Relationship Id="rId246" Type="http://schemas.openxmlformats.org/officeDocument/2006/relationships/slide" Target="slides/slide201.xml"/><Relationship Id="rId247" Type="http://schemas.openxmlformats.org/officeDocument/2006/relationships/slide" Target="slides/slide202.xml"/><Relationship Id="rId248" Type="http://schemas.openxmlformats.org/officeDocument/2006/relationships/slide" Target="slides/slide203.xml"/><Relationship Id="rId249" Type="http://schemas.openxmlformats.org/officeDocument/2006/relationships/slide" Target="slides/slide204.xml"/><Relationship Id="rId250" Type="http://schemas.openxmlformats.org/officeDocument/2006/relationships/slide" Target="slides/slide205.xml"/><Relationship Id="rId251" Type="http://schemas.openxmlformats.org/officeDocument/2006/relationships/slide" Target="slides/slide206.xml"/><Relationship Id="rId252" Type="http://schemas.openxmlformats.org/officeDocument/2006/relationships/slide" Target="slides/slide219.xml"/><Relationship Id="rId253" Type="http://schemas.openxmlformats.org/officeDocument/2006/relationships/slide" Target="slides/slide220.xml"/><Relationship Id="rId254" Type="http://schemas.openxmlformats.org/officeDocument/2006/relationships/slide" Target="slides/slide221.xml"/><Relationship Id="rId255" Type="http://schemas.openxmlformats.org/officeDocument/2006/relationships/slide" Target="slides/slide222.xml"/><Relationship Id="rId256" Type="http://schemas.openxmlformats.org/officeDocument/2006/relationships/slide" Target="slides/slide223.xml"/><Relationship Id="rId257" Type="http://schemas.openxmlformats.org/officeDocument/2006/relationships/slide" Target="slides/slide224.xml"/><Relationship Id="rId258" Type="http://schemas.openxmlformats.org/officeDocument/2006/relationships/slide" Target="slides/slide225.xml"/><Relationship Id="rId259" Type="http://schemas.openxmlformats.org/officeDocument/2006/relationships/slide" Target="slides/slide226.xml"/><Relationship Id="rId260" Type="http://schemas.openxmlformats.org/officeDocument/2006/relationships/slide" Target="slides/slide227.xml"/><Relationship Id="rId261" Type="http://schemas.openxmlformats.org/officeDocument/2006/relationships/slide" Target="slides/slide228.xml"/><Relationship Id="rId262" Type="http://schemas.openxmlformats.org/officeDocument/2006/relationships/slide" Target="slides/slide229.xml"/><Relationship Id="rId263" Type="http://schemas.openxmlformats.org/officeDocument/2006/relationships/slide" Target="slides/slide230.xml"/><Relationship Id="rId264" Type="http://schemas.openxmlformats.org/officeDocument/2006/relationships/slide" Target="slides/slide231.xml"/><Relationship Id="rId265" Type="http://schemas.openxmlformats.org/officeDocument/2006/relationships/slide" Target="slides/slide232.xml"/><Relationship Id="rId266" Type="http://schemas.openxmlformats.org/officeDocument/2006/relationships/slide" Target="slides/slide207.xml"/><Relationship Id="rId267" Type="http://schemas.openxmlformats.org/officeDocument/2006/relationships/slide" Target="slides/slide208.xml"/><Relationship Id="rId268" Type="http://schemas.openxmlformats.org/officeDocument/2006/relationships/slide" Target="slides/slide209.xml"/><Relationship Id="rId269" Type="http://schemas.openxmlformats.org/officeDocument/2006/relationships/slide" Target="slides/slide210.xml"/><Relationship Id="rId270" Type="http://schemas.openxmlformats.org/officeDocument/2006/relationships/slide" Target="slides/slide211.xml"/><Relationship Id="rId271" Type="http://schemas.openxmlformats.org/officeDocument/2006/relationships/slide" Target="slides/slide212.xml"/><Relationship Id="rId272" Type="http://schemas.openxmlformats.org/officeDocument/2006/relationships/slide" Target="slides/slide213.xml"/><Relationship Id="rId273" Type="http://schemas.openxmlformats.org/officeDocument/2006/relationships/slide" Target="slides/slide214.xml"/><Relationship Id="rId274" Type="http://schemas.openxmlformats.org/officeDocument/2006/relationships/slide" Target="slides/slide215.xml"/><Relationship Id="rId275" Type="http://schemas.openxmlformats.org/officeDocument/2006/relationships/slide" Target="slides/slide216.xml"/><Relationship Id="rId276" Type="http://schemas.openxmlformats.org/officeDocument/2006/relationships/slide" Target="slides/slide217.xml"/><Relationship Id="rId277" Type="http://schemas.openxmlformats.org/officeDocument/2006/relationships/slide" Target="slides/slide218.xml"/><Relationship Id="rId288" Type="http://schemas.openxmlformats.org/officeDocument/2006/relationships/slide" Target="slides/slide11.xml"/><Relationship Id="rId289" Type="http://schemas.openxmlformats.org/officeDocument/2006/relationships/slide" Target="slides/slide12.xml"/><Relationship Id="rId290" Type="http://schemas.openxmlformats.org/officeDocument/2006/relationships/slide" Target="slides/slide13.xml"/><Relationship Id="rId291" Type="http://schemas.openxmlformats.org/officeDocument/2006/relationships/slide" Target="slides/slide14.xml"/><Relationship Id="rId292" Type="http://schemas.openxmlformats.org/officeDocument/2006/relationships/slide" Target="slides/slide15.xml"/><Relationship Id="rId293" Type="http://schemas.openxmlformats.org/officeDocument/2006/relationships/slide" Target="slides/slide16.xml"/><Relationship Id="rId294" Type="http://schemas.openxmlformats.org/officeDocument/2006/relationships/slide" Target="slides/slide17.xml"/><Relationship Id="rId295" Type="http://schemas.openxmlformats.org/officeDocument/2006/relationships/slide" Target="slides/slide10.xml"/><Relationship Id="rId296" Type="http://schemas.openxmlformats.org/officeDocument/2006/relationships/slide" Target="slides/slide19.xml"/><Relationship Id="rId297" Type="http://schemas.openxmlformats.org/officeDocument/2006/relationships/slide" Target="slides/slide20.xml"/><Relationship Id="rId298" Type="http://schemas.openxmlformats.org/officeDocument/2006/relationships/slide" Target="slides/slide21.xml"/><Relationship Id="rId299" Type="http://schemas.openxmlformats.org/officeDocument/2006/relationships/slide" Target="slides/slide22.xml"/><Relationship Id="rId300" Type="http://schemas.openxmlformats.org/officeDocument/2006/relationships/slide" Target="slides/slide23.xml"/><Relationship Id="rId301" Type="http://schemas.openxmlformats.org/officeDocument/2006/relationships/slide" Target="slides/slide24.xml"/><Relationship Id="rId302" Type="http://schemas.openxmlformats.org/officeDocument/2006/relationships/slide" Target="slides/slide25.xml"/><Relationship Id="rId303" Type="http://schemas.openxmlformats.org/officeDocument/2006/relationships/slide" Target="slides/slide26.xml"/><Relationship Id="rId304" Type="http://schemas.openxmlformats.org/officeDocument/2006/relationships/slide" Target="slides/slide18.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s>
</file>

<file path=ppt/charts/_rels/chart7.xml.rels><?xml version='1.0' encoding='UTF-8' standalone='yes'?>
<Relationships xmlns="http://schemas.openxmlformats.org/package/2006/relationships"><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s>
</file>

<file path=ppt/charts/_rels/chart8.xml.rels><?xml version='1.0' encoding='UTF-8' standalone='yes'?>
<Relationships xmlns="http://schemas.openxmlformats.org/package/2006/relationships"><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s>
</file>

<file path=ppt/charts/_rels/chart9.xml.rels><?xml version='1.0' encoding='UTF-8' standalone='yes'?>
<Relationships xmlns="http://schemas.openxmlformats.org/package/2006/relationships"><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s>
</file>

<file path=ppt/charts/_rels/chart11.xml.rels><?xml version='1.0' encoding='UTF-8' standalone='yes'?>
<Relationships xmlns="http://schemas.openxmlformats.org/package/2006/relationships"><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png"/><Relationship Id="rId15" Type="http://schemas.openxmlformats.org/officeDocument/2006/relationships/image" Target="../media/image88.png"/></Relationships>
</file>

<file path=ppt/charts/_rels/chart12.xml.rels><?xml version='1.0' encoding='UTF-8' standalone='yes'?>
<Relationships xmlns="http://schemas.openxmlformats.org/package/2006/relationships"><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 Id="rId9" Type="http://schemas.openxmlformats.org/officeDocument/2006/relationships/image" Target="../media/image96.png"/><Relationship Id="rId10" Type="http://schemas.openxmlformats.org/officeDocument/2006/relationships/image" Target="../media/image97.png"/><Relationship Id="rId11" Type="http://schemas.openxmlformats.org/officeDocument/2006/relationships/image" Target="../media/image98.png"/><Relationship Id="rId12" Type="http://schemas.openxmlformats.org/officeDocument/2006/relationships/image" Target="../media/image99.png"/><Relationship Id="rId13" Type="http://schemas.openxmlformats.org/officeDocument/2006/relationships/image" Target="../media/image100.png"/></Relationships>
</file>

<file path=ppt/charts/_rels/chart13.xml.rels><?xml version='1.0' encoding='UTF-8' standalone='yes'?>
<Relationships xmlns="http://schemas.openxmlformats.org/package/2006/relationships"><Relationship Id="rId2" Type="http://schemas.openxmlformats.org/officeDocument/2006/relationships/image" Target="../media/image101.png"/></Relationships>
</file>

<file path=ppt/charts/_rels/chart14.xml.rels><?xml version='1.0' encoding='UTF-8' standalone='yes'?>
<Relationships xmlns="http://schemas.openxmlformats.org/package/2006/relationships"><Relationship Id="rId2" Type="http://schemas.openxmlformats.org/officeDocument/2006/relationships/image" Target="../media/image102.png"/></Relationships>
</file>

<file path=ppt/charts/_rels/chart15.xml.rels><?xml version='1.0' encoding='UTF-8' standalone='yes'?>
<Relationships xmlns="http://schemas.openxmlformats.org/package/2006/relationships"><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2.pn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116.png"/><Relationship Id="rId12" Type="http://schemas.openxmlformats.org/officeDocument/2006/relationships/image" Target="../media/image117.png"/><Relationship Id="rId13" Type="http://schemas.openxmlformats.org/officeDocument/2006/relationships/image" Target="../media/image118.png"/><Relationship Id="rId14" Type="http://schemas.openxmlformats.org/officeDocument/2006/relationships/image" Target="../media/image119.png"/><Relationship Id="rId15" Type="http://schemas.openxmlformats.org/officeDocument/2006/relationships/image" Target="../media/image120.png"/><Relationship Id="rId16" Type="http://schemas.openxmlformats.org/officeDocument/2006/relationships/image" Target="../media/image121.png"/><Relationship Id="rId17" Type="http://schemas.openxmlformats.org/officeDocument/2006/relationships/image" Target="../media/image122.png"/><Relationship Id="rId18" Type="http://schemas.openxmlformats.org/officeDocument/2006/relationships/image" Target="../media/image123.png"/><Relationship Id="rId19" Type="http://schemas.openxmlformats.org/officeDocument/2006/relationships/image" Target="../media/image124.png"/><Relationship Id="rId20" Type="http://schemas.openxmlformats.org/officeDocument/2006/relationships/image" Target="../media/image125.png"/><Relationship Id="rId21" Type="http://schemas.openxmlformats.org/officeDocument/2006/relationships/image" Target="../media/image126.png"/><Relationship Id="rId22" Type="http://schemas.openxmlformats.org/officeDocument/2006/relationships/image" Target="../media/image127.png"/></Relationships>
</file>

<file path=ppt/charts/_rels/chart20.xml.rels><?xml version='1.0' encoding='UTF-8' standalone='yes'?>
<Relationships xmlns="http://schemas.openxmlformats.org/package/2006/relationships"><Relationship Id="rId2" Type="http://schemas.openxmlformats.org/officeDocument/2006/relationships/image" Target="../media/image128.png"/><Relationship Id="rId3" Type="http://schemas.openxmlformats.org/officeDocument/2006/relationships/image" Target="../media/image129.png"/><Relationship Id="rId4" Type="http://schemas.openxmlformats.org/officeDocument/2006/relationships/image" Target="../media/image130.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 Id="rId10" Type="http://schemas.openxmlformats.org/officeDocument/2006/relationships/image" Target="../media/image136.png"/></Relationships>
</file>

<file path=ppt/charts/_rels/chart21.xml.rels><?xml version='1.0' encoding='UTF-8' standalone='yes'?>
<Relationships xmlns="http://schemas.openxmlformats.org/package/2006/relationships"><Relationship Id="rId2" Type="http://schemas.openxmlformats.org/officeDocument/2006/relationships/image" Target="../media/image149.png"/><Relationship Id="rId3" Type="http://schemas.openxmlformats.org/officeDocument/2006/relationships/image" Target="../media/image150.png"/><Relationship Id="rId4" Type="http://schemas.openxmlformats.org/officeDocument/2006/relationships/image" Target="../media/image151.png"/><Relationship Id="rId5" Type="http://schemas.openxmlformats.org/officeDocument/2006/relationships/image" Target="../media/image152.png"/><Relationship Id="rId6" Type="http://schemas.openxmlformats.org/officeDocument/2006/relationships/image" Target="../media/image153.png"/><Relationship Id="rId7" Type="http://schemas.openxmlformats.org/officeDocument/2006/relationships/image" Target="../media/image154.png"/><Relationship Id="rId8" Type="http://schemas.openxmlformats.org/officeDocument/2006/relationships/image" Target="../media/image155.png"/><Relationship Id="rId9" Type="http://schemas.openxmlformats.org/officeDocument/2006/relationships/image" Target="../media/image156.png"/><Relationship Id="rId10" Type="http://schemas.openxmlformats.org/officeDocument/2006/relationships/image" Target="../media/image157.png"/><Relationship Id="rId11" Type="http://schemas.openxmlformats.org/officeDocument/2006/relationships/image" Target="../media/image158.png"/><Relationship Id="rId12" Type="http://schemas.openxmlformats.org/officeDocument/2006/relationships/image" Target="../media/image159.png"/><Relationship Id="rId13" Type="http://schemas.openxmlformats.org/officeDocument/2006/relationships/image" Target="../media/image160.png"/><Relationship Id="rId14" Type="http://schemas.openxmlformats.org/officeDocument/2006/relationships/image" Target="../media/image161.png"/><Relationship Id="rId15" Type="http://schemas.openxmlformats.org/officeDocument/2006/relationships/image" Target="../media/image162.png"/><Relationship Id="rId16" Type="http://schemas.openxmlformats.org/officeDocument/2006/relationships/image" Target="../media/image163.png"/><Relationship Id="rId17" Type="http://schemas.openxmlformats.org/officeDocument/2006/relationships/image" Target="../media/image164.png"/><Relationship Id="rId18" Type="http://schemas.openxmlformats.org/officeDocument/2006/relationships/image" Target="../media/image165.png"/><Relationship Id="rId19" Type="http://schemas.openxmlformats.org/officeDocument/2006/relationships/image" Target="../media/image166.png"/><Relationship Id="rId20" Type="http://schemas.openxmlformats.org/officeDocument/2006/relationships/image" Target="../media/image167.png"/><Relationship Id="rId21" Type="http://schemas.openxmlformats.org/officeDocument/2006/relationships/image" Target="../media/image168.png"/><Relationship Id="rId22" Type="http://schemas.openxmlformats.org/officeDocument/2006/relationships/image" Target="../media/image169.png"/><Relationship Id="rId23" Type="http://schemas.openxmlformats.org/officeDocument/2006/relationships/image" Target="../media/image170.png"/><Relationship Id="rId24" Type="http://schemas.openxmlformats.org/officeDocument/2006/relationships/image" Target="../media/image171.png"/><Relationship Id="rId25" Type="http://schemas.openxmlformats.org/officeDocument/2006/relationships/image" Target="../media/image172.png"/><Relationship Id="rId26" Type="http://schemas.openxmlformats.org/officeDocument/2006/relationships/image" Target="../media/image173.png"/><Relationship Id="rId27" Type="http://schemas.openxmlformats.org/officeDocument/2006/relationships/image" Target="../media/image174.png"/><Relationship Id="rId28" Type="http://schemas.openxmlformats.org/officeDocument/2006/relationships/image" Target="../media/image175.png"/></Relationships>
</file>

<file path=ppt/charts/_rels/chart27.xml.rels><?xml version='1.0' encoding='UTF-8' standalone='yes'?>
<Relationships xmlns="http://schemas.openxmlformats.org/package/2006/relationships"><Relationship Id="rId2" Type="http://schemas.openxmlformats.org/officeDocument/2006/relationships/image" Target="../media/image176.png"/><Relationship Id="rId3" Type="http://schemas.openxmlformats.org/officeDocument/2006/relationships/image" Target="../media/image177.png"/><Relationship Id="rId4" Type="http://schemas.openxmlformats.org/officeDocument/2006/relationships/image" Target="../media/image178.png"/><Relationship Id="rId5" Type="http://schemas.openxmlformats.org/officeDocument/2006/relationships/image" Target="../media/image179.png"/><Relationship Id="rId6" Type="http://schemas.openxmlformats.org/officeDocument/2006/relationships/image" Target="../media/image180.png"/><Relationship Id="rId7" Type="http://schemas.openxmlformats.org/officeDocument/2006/relationships/image" Target="../media/image181.png"/><Relationship Id="rId8" Type="http://schemas.openxmlformats.org/officeDocument/2006/relationships/image" Target="../media/image182.png"/><Relationship Id="rId9" Type="http://schemas.openxmlformats.org/officeDocument/2006/relationships/image" Target="../media/image183.png"/><Relationship Id="rId10" Type="http://schemas.openxmlformats.org/officeDocument/2006/relationships/image" Target="../media/image184.png"/><Relationship Id="rId11" Type="http://schemas.openxmlformats.org/officeDocument/2006/relationships/image" Target="../media/image185.png"/><Relationship Id="rId12" Type="http://schemas.openxmlformats.org/officeDocument/2006/relationships/image" Target="../media/image186.png"/><Relationship Id="rId13" Type="http://schemas.openxmlformats.org/officeDocument/2006/relationships/image" Target="../media/image187.png"/></Relationships>
</file>

<file path=ppt/charts/_rels/chart28.xml.rels><?xml version='1.0' encoding='UTF-8' standalone='yes'?>
<Relationships xmlns="http://schemas.openxmlformats.org/package/2006/relationships"><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5.png"/><Relationship Id="rId5" Type="http://schemas.openxmlformats.org/officeDocument/2006/relationships/image" Target="../media/image196.png"/><Relationship Id="rId6" Type="http://schemas.openxmlformats.org/officeDocument/2006/relationships/image" Target="../media/image197.png"/><Relationship Id="rId7" Type="http://schemas.openxmlformats.org/officeDocument/2006/relationships/image" Target="../media/image198.png"/><Relationship Id="rId8" Type="http://schemas.openxmlformats.org/officeDocument/2006/relationships/image" Target="../media/image199.png"/><Relationship Id="rId9" Type="http://schemas.openxmlformats.org/officeDocument/2006/relationships/image" Target="../media/image200.png"/><Relationship Id="rId10" Type="http://schemas.openxmlformats.org/officeDocument/2006/relationships/image" Target="../media/image201.png"/><Relationship Id="rId11" Type="http://schemas.openxmlformats.org/officeDocument/2006/relationships/image" Target="../media/image202.png"/><Relationship Id="rId12" Type="http://schemas.openxmlformats.org/officeDocument/2006/relationships/image" Target="../media/image203.png"/><Relationship Id="rId13" Type="http://schemas.openxmlformats.org/officeDocument/2006/relationships/image" Target="../media/image204.png"/><Relationship Id="rId14" Type="http://schemas.openxmlformats.org/officeDocument/2006/relationships/image" Target="../media/image205.png"/><Relationship Id="rId15" Type="http://schemas.openxmlformats.org/officeDocument/2006/relationships/image" Target="../media/image206.png"/></Relationships>
</file>

<file path=ppt/charts/_rels/chart32.xml.rels><?xml version='1.0' encoding='UTF-8' standalone='yes'?>
<Relationships xmlns="http://schemas.openxmlformats.org/package/2006/relationships"><Relationship Id="rId2" Type="http://schemas.openxmlformats.org/officeDocument/2006/relationships/image" Target="../media/image207.png"/><Relationship Id="rId3" Type="http://schemas.openxmlformats.org/officeDocument/2006/relationships/image" Target="../media/image208.png"/><Relationship Id="rId4" Type="http://schemas.openxmlformats.org/officeDocument/2006/relationships/image" Target="../media/image209.png"/><Relationship Id="rId5" Type="http://schemas.openxmlformats.org/officeDocument/2006/relationships/image" Target="../media/image210.png"/><Relationship Id="rId6" Type="http://schemas.openxmlformats.org/officeDocument/2006/relationships/image" Target="../media/image211.png"/><Relationship Id="rId7" Type="http://schemas.openxmlformats.org/officeDocument/2006/relationships/image" Target="../media/image212.png"/></Relationships>
</file>

<file path=ppt/charts/_rels/chart33.xml.rels><?xml version='1.0' encoding='UTF-8' standalone='yes'?>
<Relationships xmlns="http://schemas.openxmlformats.org/package/2006/relationships"><Relationship Id="rId2" Type="http://schemas.openxmlformats.org/officeDocument/2006/relationships/image" Target="../media/image224.png"/><Relationship Id="rId3" Type="http://schemas.openxmlformats.org/officeDocument/2006/relationships/image" Target="../media/image225.png"/><Relationship Id="rId4" Type="http://schemas.openxmlformats.org/officeDocument/2006/relationships/image" Target="../media/image226.png"/><Relationship Id="rId5" Type="http://schemas.openxmlformats.org/officeDocument/2006/relationships/image" Target="../media/image227.png"/><Relationship Id="rId6" Type="http://schemas.openxmlformats.org/officeDocument/2006/relationships/image" Target="../media/image228.png"/><Relationship Id="rId7" Type="http://schemas.openxmlformats.org/officeDocument/2006/relationships/image" Target="../media/image229.png"/><Relationship Id="rId8" Type="http://schemas.openxmlformats.org/officeDocument/2006/relationships/image" Target="../media/image230.png"/><Relationship Id="rId9" Type="http://schemas.openxmlformats.org/officeDocument/2006/relationships/image" Target="../media/image231.png"/><Relationship Id="rId10" Type="http://schemas.openxmlformats.org/officeDocument/2006/relationships/image" Target="../media/image232.png"/><Relationship Id="rId11" Type="http://schemas.openxmlformats.org/officeDocument/2006/relationships/image" Target="../media/image233.png"/><Relationship Id="rId12" Type="http://schemas.openxmlformats.org/officeDocument/2006/relationships/image" Target="../media/image234.png"/><Relationship Id="rId13" Type="http://schemas.openxmlformats.org/officeDocument/2006/relationships/image" Target="../media/image235.png"/><Relationship Id="rId14" Type="http://schemas.openxmlformats.org/officeDocument/2006/relationships/image" Target="../media/image236.png"/><Relationship Id="rId15" Type="http://schemas.openxmlformats.org/officeDocument/2006/relationships/image" Target="../media/image237.png"/><Relationship Id="rId16" Type="http://schemas.openxmlformats.org/officeDocument/2006/relationships/image" Target="../media/image238.png"/><Relationship Id="rId17" Type="http://schemas.openxmlformats.org/officeDocument/2006/relationships/image" Target="../media/image239.png"/><Relationship Id="rId18" Type="http://schemas.openxmlformats.org/officeDocument/2006/relationships/image" Target="../media/image240.png"/><Relationship Id="rId19" Type="http://schemas.openxmlformats.org/officeDocument/2006/relationships/image" Target="../media/image241.png"/><Relationship Id="rId20" Type="http://schemas.openxmlformats.org/officeDocument/2006/relationships/image" Target="../media/image242.png"/><Relationship Id="rId21" Type="http://schemas.openxmlformats.org/officeDocument/2006/relationships/image" Target="../media/image243.png"/><Relationship Id="rId22" Type="http://schemas.openxmlformats.org/officeDocument/2006/relationships/image" Target="../media/image244.png"/><Relationship Id="rId23" Type="http://schemas.openxmlformats.org/officeDocument/2006/relationships/image" Target="../media/image245.png"/><Relationship Id="rId24" Type="http://schemas.openxmlformats.org/officeDocument/2006/relationships/image" Target="../media/image246.png"/><Relationship Id="rId25" Type="http://schemas.openxmlformats.org/officeDocument/2006/relationships/image" Target="../media/image247.png"/><Relationship Id="rId26" Type="http://schemas.openxmlformats.org/officeDocument/2006/relationships/image" Target="../media/image248.png"/><Relationship Id="rId27" Type="http://schemas.openxmlformats.org/officeDocument/2006/relationships/image" Target="../media/image249.png"/></Relationships>
</file>

<file path=ppt/charts/_rels/chart39.xml.rels><?xml version='1.0' encoding='UTF-8' standalone='yes'?>
<Relationships xmlns="http://schemas.openxmlformats.org/package/2006/relationships"><Relationship Id="rId2" Type="http://schemas.openxmlformats.org/officeDocument/2006/relationships/image" Target="../media/image250.png"/><Relationship Id="rId3" Type="http://schemas.openxmlformats.org/officeDocument/2006/relationships/image" Target="../media/image251.png"/><Relationship Id="rId4" Type="http://schemas.openxmlformats.org/officeDocument/2006/relationships/image" Target="../media/image252.png"/><Relationship Id="rId5" Type="http://schemas.openxmlformats.org/officeDocument/2006/relationships/image" Target="../media/image253.png"/><Relationship Id="rId6" Type="http://schemas.openxmlformats.org/officeDocument/2006/relationships/image" Target="../media/image254.png"/><Relationship Id="rId7" Type="http://schemas.openxmlformats.org/officeDocument/2006/relationships/image" Target="../media/image255.png"/><Relationship Id="rId8" Type="http://schemas.openxmlformats.org/officeDocument/2006/relationships/image" Target="../media/image256.png"/><Relationship Id="rId9" Type="http://schemas.openxmlformats.org/officeDocument/2006/relationships/image" Target="../media/image257.png"/><Relationship Id="rId10" Type="http://schemas.openxmlformats.org/officeDocument/2006/relationships/image" Target="../media/image258.png"/><Relationship Id="rId11" Type="http://schemas.openxmlformats.org/officeDocument/2006/relationships/image" Target="../media/image259.png"/><Relationship Id="rId12" Type="http://schemas.openxmlformats.org/officeDocument/2006/relationships/image" Target="../media/image260.png"/><Relationship Id="rId13" Type="http://schemas.openxmlformats.org/officeDocument/2006/relationships/image" Target="../media/image261.png"/></Relationships>
</file>

<file path=ppt/charts/_rels/chart40.xml.rels><?xml version='1.0' encoding='UTF-8' standalone='yes'?>
<Relationships xmlns="http://schemas.openxmlformats.org/package/2006/relationships"><Relationship Id="rId2" Type="http://schemas.openxmlformats.org/officeDocument/2006/relationships/image" Target="../media/image273.png"/><Relationship Id="rId3" Type="http://schemas.openxmlformats.org/officeDocument/2006/relationships/image" Target="../media/image274.png"/><Relationship Id="rId4" Type="http://schemas.openxmlformats.org/officeDocument/2006/relationships/image" Target="../media/image275.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280.png"/><Relationship Id="rId10" Type="http://schemas.openxmlformats.org/officeDocument/2006/relationships/image" Target="../media/image281.png"/><Relationship Id="rId11" Type="http://schemas.openxmlformats.org/officeDocument/2006/relationships/image" Target="../media/image282.png"/><Relationship Id="rId12" Type="http://schemas.openxmlformats.org/officeDocument/2006/relationships/image" Target="../media/image283.png"/><Relationship Id="rId13" Type="http://schemas.openxmlformats.org/officeDocument/2006/relationships/image" Target="../media/image284.png"/><Relationship Id="rId14" Type="http://schemas.openxmlformats.org/officeDocument/2006/relationships/image" Target="../media/image285.png"/><Relationship Id="rId15" Type="http://schemas.openxmlformats.org/officeDocument/2006/relationships/image" Target="../media/image286.png"/><Relationship Id="rId16" Type="http://schemas.openxmlformats.org/officeDocument/2006/relationships/image" Target="../media/image287.png"/><Relationship Id="rId17" Type="http://schemas.openxmlformats.org/officeDocument/2006/relationships/image" Target="../media/image288.png"/><Relationship Id="rId18" Type="http://schemas.openxmlformats.org/officeDocument/2006/relationships/image" Target="../media/image289.png"/><Relationship Id="rId19" Type="http://schemas.openxmlformats.org/officeDocument/2006/relationships/image" Target="../media/image290.png"/><Relationship Id="rId20" Type="http://schemas.openxmlformats.org/officeDocument/2006/relationships/image" Target="../media/image291.png"/><Relationship Id="rId21" Type="http://schemas.openxmlformats.org/officeDocument/2006/relationships/image" Target="../media/image292.png"/><Relationship Id="rId22" Type="http://schemas.openxmlformats.org/officeDocument/2006/relationships/image" Target="../media/image293.png"/><Relationship Id="rId23" Type="http://schemas.openxmlformats.org/officeDocument/2006/relationships/image" Target="../media/image294.png"/><Relationship Id="rId24" Type="http://schemas.openxmlformats.org/officeDocument/2006/relationships/image" Target="../media/image295.png"/><Relationship Id="rId25" Type="http://schemas.openxmlformats.org/officeDocument/2006/relationships/image" Target="../media/image296.png"/><Relationship Id="rId26" Type="http://schemas.openxmlformats.org/officeDocument/2006/relationships/image" Target="../media/image297.png"/><Relationship Id="rId27" Type="http://schemas.openxmlformats.org/officeDocument/2006/relationships/image" Target="../media/image298.png"/><Relationship Id="rId28" Type="http://schemas.openxmlformats.org/officeDocument/2006/relationships/image" Target="../media/image299.png"/></Relationships>
</file>

<file path=ppt/charts/_rels/chart46.xml.rels><?xml version='1.0' encoding='UTF-8' standalone='yes'?>
<Relationships xmlns="http://schemas.openxmlformats.org/package/2006/relationships"><Relationship Id="rId2" Type="http://schemas.openxmlformats.org/officeDocument/2006/relationships/image" Target="../media/image300.png"/><Relationship Id="rId3" Type="http://schemas.openxmlformats.org/officeDocument/2006/relationships/image" Target="../media/image301.png"/><Relationship Id="rId4" Type="http://schemas.openxmlformats.org/officeDocument/2006/relationships/image" Target="../media/image302.png"/><Relationship Id="rId5" Type="http://schemas.openxmlformats.org/officeDocument/2006/relationships/image" Target="../media/image303.png"/><Relationship Id="rId6" Type="http://schemas.openxmlformats.org/officeDocument/2006/relationships/image" Target="../media/image304.png"/><Relationship Id="rId7" Type="http://schemas.openxmlformats.org/officeDocument/2006/relationships/image" Target="../media/image305.png"/><Relationship Id="rId8" Type="http://schemas.openxmlformats.org/officeDocument/2006/relationships/image" Target="../media/image306.png"/><Relationship Id="rId9" Type="http://schemas.openxmlformats.org/officeDocument/2006/relationships/image" Target="../media/image307.png"/><Relationship Id="rId10" Type="http://schemas.openxmlformats.org/officeDocument/2006/relationships/image" Target="../media/image308.png"/><Relationship Id="rId11" Type="http://schemas.openxmlformats.org/officeDocument/2006/relationships/image" Target="../media/image309.png"/><Relationship Id="rId12" Type="http://schemas.openxmlformats.org/officeDocument/2006/relationships/image" Target="../media/image310.png"/><Relationship Id="rId13" Type="http://schemas.openxmlformats.org/officeDocument/2006/relationships/image" Target="../media/image311.png"/></Relationships>
</file>

<file path=ppt/charts/_rels/chart47.xml.rels><?xml version='1.0' encoding='UTF-8' standalone='yes'?>
<Relationships xmlns="http://schemas.openxmlformats.org/package/2006/relationships"><Relationship Id="rId2" Type="http://schemas.openxmlformats.org/officeDocument/2006/relationships/image" Target="../media/image316.png"/><Relationship Id="rId3" Type="http://schemas.openxmlformats.org/officeDocument/2006/relationships/image" Target="../media/image317.png"/><Relationship Id="rId4" Type="http://schemas.openxmlformats.org/officeDocument/2006/relationships/image" Target="../media/image318.png"/><Relationship Id="rId5" Type="http://schemas.openxmlformats.org/officeDocument/2006/relationships/image" Target="../media/image319.png"/><Relationship Id="rId6" Type="http://schemas.openxmlformats.org/officeDocument/2006/relationships/image" Target="../media/image320.png"/><Relationship Id="rId7" Type="http://schemas.openxmlformats.org/officeDocument/2006/relationships/image" Target="../media/image321.png"/><Relationship Id="rId8" Type="http://schemas.openxmlformats.org/officeDocument/2006/relationships/image" Target="../media/image322.png"/><Relationship Id="rId9" Type="http://schemas.openxmlformats.org/officeDocument/2006/relationships/image" Target="../media/image323.png"/><Relationship Id="rId10" Type="http://schemas.openxmlformats.org/officeDocument/2006/relationships/image" Target="../media/image324.png"/><Relationship Id="rId11" Type="http://schemas.openxmlformats.org/officeDocument/2006/relationships/image" Target="../media/image325.png"/><Relationship Id="rId12" Type="http://schemas.openxmlformats.org/officeDocument/2006/relationships/image" Target="../media/image326.png"/><Relationship Id="rId13" Type="http://schemas.openxmlformats.org/officeDocument/2006/relationships/image" Target="../media/image327.png"/></Relationships>
</file>

<file path=ppt/charts/_rels/chart51.xml.rels><?xml version='1.0' encoding='UTF-8' standalone='yes'?>
<Relationships xmlns="http://schemas.openxmlformats.org/package/2006/relationships"><Relationship Id="rId2" Type="http://schemas.openxmlformats.org/officeDocument/2006/relationships/image" Target="../media/image328.png"/><Relationship Id="rId3" Type="http://schemas.openxmlformats.org/officeDocument/2006/relationships/image" Target="../media/image329.png"/><Relationship Id="rId4" Type="http://schemas.openxmlformats.org/officeDocument/2006/relationships/image" Target="../media/image330.png"/><Relationship Id="rId5" Type="http://schemas.openxmlformats.org/officeDocument/2006/relationships/image" Target="../media/image331.png"/><Relationship Id="rId6" Type="http://schemas.openxmlformats.org/officeDocument/2006/relationships/image" Target="../media/image332.png"/><Relationship Id="rId7" Type="http://schemas.openxmlformats.org/officeDocument/2006/relationships/image" Target="../media/image333.png"/></Relationships>
</file>

<file path=ppt/charts/_rels/chart52.xml.rels><?xml version='1.0' encoding='UTF-8' standalone='yes'?>
<Relationships xmlns="http://schemas.openxmlformats.org/package/2006/relationships"><Relationship Id="rId2" Type="http://schemas.openxmlformats.org/officeDocument/2006/relationships/image" Target="../media/image345.png"/><Relationship Id="rId3" Type="http://schemas.openxmlformats.org/officeDocument/2006/relationships/image" Target="../media/image346.png"/><Relationship Id="rId4" Type="http://schemas.openxmlformats.org/officeDocument/2006/relationships/image" Target="../media/image347.png"/><Relationship Id="rId5" Type="http://schemas.openxmlformats.org/officeDocument/2006/relationships/image" Target="../media/image348.png"/><Relationship Id="rId6" Type="http://schemas.openxmlformats.org/officeDocument/2006/relationships/image" Target="../media/image349.png"/><Relationship Id="rId7" Type="http://schemas.openxmlformats.org/officeDocument/2006/relationships/image" Target="../media/image350.png"/><Relationship Id="rId8" Type="http://schemas.openxmlformats.org/officeDocument/2006/relationships/image" Target="../media/image351.png"/><Relationship Id="rId9" Type="http://schemas.openxmlformats.org/officeDocument/2006/relationships/image" Target="../media/image352.png"/><Relationship Id="rId10" Type="http://schemas.openxmlformats.org/officeDocument/2006/relationships/image" Target="../media/image353.png"/><Relationship Id="rId11" Type="http://schemas.openxmlformats.org/officeDocument/2006/relationships/image" Target="../media/image354.png"/><Relationship Id="rId12" Type="http://schemas.openxmlformats.org/officeDocument/2006/relationships/image" Target="../media/image355.png"/><Relationship Id="rId13" Type="http://schemas.openxmlformats.org/officeDocument/2006/relationships/image" Target="../media/image356.png"/><Relationship Id="rId14" Type="http://schemas.openxmlformats.org/officeDocument/2006/relationships/image" Target="../media/image357.png"/><Relationship Id="rId15" Type="http://schemas.openxmlformats.org/officeDocument/2006/relationships/image" Target="../media/image358.png"/><Relationship Id="rId16" Type="http://schemas.openxmlformats.org/officeDocument/2006/relationships/image" Target="../media/image359.png"/><Relationship Id="rId17" Type="http://schemas.openxmlformats.org/officeDocument/2006/relationships/image" Target="../media/image360.png"/><Relationship Id="rId18" Type="http://schemas.openxmlformats.org/officeDocument/2006/relationships/image" Target="../media/image361.png"/><Relationship Id="rId19" Type="http://schemas.openxmlformats.org/officeDocument/2006/relationships/image" Target="../media/image362.png"/><Relationship Id="rId20" Type="http://schemas.openxmlformats.org/officeDocument/2006/relationships/image" Target="../media/image363.png"/><Relationship Id="rId21" Type="http://schemas.openxmlformats.org/officeDocument/2006/relationships/image" Target="../media/image364.png"/><Relationship Id="rId22" Type="http://schemas.openxmlformats.org/officeDocument/2006/relationships/image" Target="../media/image365.png"/><Relationship Id="rId23" Type="http://schemas.openxmlformats.org/officeDocument/2006/relationships/image" Target="../media/image366.png"/><Relationship Id="rId24" Type="http://schemas.openxmlformats.org/officeDocument/2006/relationships/image" Target="../media/image367.png"/><Relationship Id="rId25" Type="http://schemas.openxmlformats.org/officeDocument/2006/relationships/image" Target="../media/image368.png"/><Relationship Id="rId26" Type="http://schemas.openxmlformats.org/officeDocument/2006/relationships/image" Target="../media/image369.png"/><Relationship Id="rId27" Type="http://schemas.openxmlformats.org/officeDocument/2006/relationships/image" Target="../media/image370.png"/><Relationship Id="rId28" Type="http://schemas.openxmlformats.org/officeDocument/2006/relationships/image" Target="../media/image371.png"/><Relationship Id="rId29" Type="http://schemas.openxmlformats.org/officeDocument/2006/relationships/image" Target="../media/image372.png"/></Relationships>
</file>

<file path=ppt/charts/_rels/chart58.xml.rels><?xml version='1.0' encoding='UTF-8' standalone='yes'?>
<Relationships xmlns="http://schemas.openxmlformats.org/package/2006/relationships"><Relationship Id="rId2" Type="http://schemas.openxmlformats.org/officeDocument/2006/relationships/image" Target="../media/image373.png"/><Relationship Id="rId3" Type="http://schemas.openxmlformats.org/officeDocument/2006/relationships/image" Target="../media/image374.png"/><Relationship Id="rId4" Type="http://schemas.openxmlformats.org/officeDocument/2006/relationships/image" Target="../media/image375.png"/><Relationship Id="rId5" Type="http://schemas.openxmlformats.org/officeDocument/2006/relationships/image" Target="../media/image376.png"/><Relationship Id="rId6" Type="http://schemas.openxmlformats.org/officeDocument/2006/relationships/image" Target="../media/image377.png"/><Relationship Id="rId7" Type="http://schemas.openxmlformats.org/officeDocument/2006/relationships/image" Target="../media/image378.png"/><Relationship Id="rId8" Type="http://schemas.openxmlformats.org/officeDocument/2006/relationships/image" Target="../media/image379.png"/><Relationship Id="rId9" Type="http://schemas.openxmlformats.org/officeDocument/2006/relationships/image" Target="../media/image380.png"/><Relationship Id="rId10" Type="http://schemas.openxmlformats.org/officeDocument/2006/relationships/image" Target="../media/image381.png"/><Relationship Id="rId11" Type="http://schemas.openxmlformats.org/officeDocument/2006/relationships/image" Target="../media/image382.png"/><Relationship Id="rId12" Type="http://schemas.openxmlformats.org/officeDocument/2006/relationships/image" Target="../media/image383.png"/><Relationship Id="rId13" Type="http://schemas.openxmlformats.org/officeDocument/2006/relationships/image" Target="../media/image384.png"/></Relationships>
</file>

<file path=ppt/charts/_rels/chart59.xml.rels><?xml version='1.0' encoding='UTF-8' standalone='yes'?>
<Relationships xmlns="http://schemas.openxmlformats.org/package/2006/relationships"><Relationship Id="rId2" Type="http://schemas.openxmlformats.org/officeDocument/2006/relationships/image" Target="../media/image385.png"/></Relationships>
</file>

<file path=ppt/charts/_rels/chart61.xml.rels><?xml version='1.0' encoding='UTF-8' standalone='yes'?>
<Relationships xmlns="http://schemas.openxmlformats.org/package/2006/relationships"><Relationship Id="rId2" Type="http://schemas.openxmlformats.org/officeDocument/2006/relationships/image" Target="../media/image386.png"/></Relationships>
</file>

<file path=ppt/charts/_rels/chart63.xml.rels><?xml version='1.0' encoding='UTF-8' standalone='yes'?>
<Relationships xmlns="http://schemas.openxmlformats.org/package/2006/relationships"><Relationship Id="rId2" Type="http://schemas.openxmlformats.org/officeDocument/2006/relationships/image" Target="../media/image387.png"/><Relationship Id="rId3" Type="http://schemas.openxmlformats.org/officeDocument/2006/relationships/image" Target="../media/image388.png"/><Relationship Id="rId4" Type="http://schemas.openxmlformats.org/officeDocument/2006/relationships/image" Target="../media/image389.png"/><Relationship Id="rId5" Type="http://schemas.openxmlformats.org/officeDocument/2006/relationships/image" Target="../media/image390.png"/><Relationship Id="rId6" Type="http://schemas.openxmlformats.org/officeDocument/2006/relationships/image" Target="../media/image391.png"/><Relationship Id="rId7" Type="http://schemas.openxmlformats.org/officeDocument/2006/relationships/image" Target="../media/image392.png"/><Relationship Id="rId8" Type="http://schemas.openxmlformats.org/officeDocument/2006/relationships/image" Target="../media/image393.png"/><Relationship Id="rId9" Type="http://schemas.openxmlformats.org/officeDocument/2006/relationships/image" Target="../media/image394.png"/><Relationship Id="rId10" Type="http://schemas.openxmlformats.org/officeDocument/2006/relationships/image" Target="../media/image395.png"/><Relationship Id="rId11" Type="http://schemas.openxmlformats.org/officeDocument/2006/relationships/image" Target="../media/image396.png"/></Relationships>
</file>

<file path=ppt/charts/_rels/chart64.xml.rels><?xml version='1.0' encoding='UTF-8' standalone='yes'?>
<Relationships xmlns="http://schemas.openxmlformats.org/package/2006/relationships"><Relationship Id="rId2" Type="http://schemas.openxmlformats.org/officeDocument/2006/relationships/image" Target="../media/image397.png"/><Relationship Id="rId3" Type="http://schemas.openxmlformats.org/officeDocument/2006/relationships/image" Target="../media/image398.png"/><Relationship Id="rId4" Type="http://schemas.openxmlformats.org/officeDocument/2006/relationships/image" Target="../media/image399.png"/><Relationship Id="rId5" Type="http://schemas.openxmlformats.org/officeDocument/2006/relationships/image" Target="../media/image400.png"/><Relationship Id="rId6" Type="http://schemas.openxmlformats.org/officeDocument/2006/relationships/image" Target="../media/image401.png"/><Relationship Id="rId7" Type="http://schemas.openxmlformats.org/officeDocument/2006/relationships/image" Target="../media/image402.png"/><Relationship Id="rId8" Type="http://schemas.openxmlformats.org/officeDocument/2006/relationships/image" Target="../media/image403.png"/><Relationship Id="rId9" Type="http://schemas.openxmlformats.org/officeDocument/2006/relationships/image" Target="../media/image404.png"/><Relationship Id="rId10" Type="http://schemas.openxmlformats.org/officeDocument/2006/relationships/image" Target="../media/image405.png"/><Relationship Id="rId11" Type="http://schemas.openxmlformats.org/officeDocument/2006/relationships/image" Target="../media/image406.png"/><Relationship Id="rId12" Type="http://schemas.openxmlformats.org/officeDocument/2006/relationships/image" Target="../media/image407.png"/><Relationship Id="rId13" Type="http://schemas.openxmlformats.org/officeDocument/2006/relationships/image" Target="../media/image408.png"/><Relationship Id="rId14" Type="http://schemas.openxmlformats.org/officeDocument/2006/relationships/image" Target="../media/image409.png"/><Relationship Id="rId15" Type="http://schemas.openxmlformats.org/officeDocument/2006/relationships/image" Target="../media/image410.png"/><Relationship Id="rId16" Type="http://schemas.openxmlformats.org/officeDocument/2006/relationships/image" Target="../media/image411.png"/><Relationship Id="rId17" Type="http://schemas.openxmlformats.org/officeDocument/2006/relationships/image" Target="../media/image412.png"/><Relationship Id="rId18" Type="http://schemas.openxmlformats.org/officeDocument/2006/relationships/image" Target="../media/image413.png"/><Relationship Id="rId19" Type="http://schemas.openxmlformats.org/officeDocument/2006/relationships/image" Target="../media/image414.png"/><Relationship Id="rId20" Type="http://schemas.openxmlformats.org/officeDocument/2006/relationships/image" Target="../media/image415.png"/><Relationship Id="rId21" Type="http://schemas.openxmlformats.org/officeDocument/2006/relationships/image" Target="../media/image416.png"/><Relationship Id="rId22" Type="http://schemas.openxmlformats.org/officeDocument/2006/relationships/image" Target="../media/image417.png"/><Relationship Id="rId23" Type="http://schemas.openxmlformats.org/officeDocument/2006/relationships/image" Target="../media/image418.png"/></Relationships>
</file>

<file path=ppt/charts/_rels/chart65.xml.rels><?xml version='1.0' encoding='UTF-8' standalone='yes'?>
<Relationships xmlns="http://schemas.openxmlformats.org/package/2006/relationships"><Relationship Id="rId2" Type="http://schemas.openxmlformats.org/officeDocument/2006/relationships/image" Target="../media/image419.png"/><Relationship Id="rId3" Type="http://schemas.openxmlformats.org/officeDocument/2006/relationships/image" Target="../media/image420.png"/><Relationship Id="rId4" Type="http://schemas.openxmlformats.org/officeDocument/2006/relationships/image" Target="../media/image421.png"/></Relationships>
</file>

<file path=ppt/charts/_rels/chart66.xml.rels><?xml version='1.0' encoding='UTF-8' standalone='yes'?>
<Relationships xmlns="http://schemas.openxmlformats.org/package/2006/relationships"><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s>
</file>

<file path=ppt/charts/_rels/chart67.xml.rels><?xml version='1.0' encoding='UTF-8' standalone='yes'?>
<Relationships xmlns="http://schemas.openxmlformats.org/package/2006/relationships"><Relationship Id="rId2" Type="http://schemas.openxmlformats.org/officeDocument/2006/relationships/image" Target="../media/image425.png"/><Relationship Id="rId3" Type="http://schemas.openxmlformats.org/officeDocument/2006/relationships/image" Target="../media/image426.png"/><Relationship Id="rId4" Type="http://schemas.openxmlformats.org/officeDocument/2006/relationships/image" Target="../media/image427.png"/></Relationships>
</file>

<file path=ppt/charts/_rels/chart69.xml.rels><?xml version='1.0' encoding='UTF-8' standalone='yes'?>
<Relationships xmlns="http://schemas.openxmlformats.org/package/2006/relationships"><Relationship Id="rId2" Type="http://schemas.openxmlformats.org/officeDocument/2006/relationships/image" Target="../media/image428.png"/><Relationship Id="rId3" Type="http://schemas.openxmlformats.org/officeDocument/2006/relationships/image" Target="../media/image429.png"/><Relationship Id="rId4" Type="http://schemas.openxmlformats.org/officeDocument/2006/relationships/image" Target="../media/image430.png"/><Relationship Id="rId5" Type="http://schemas.openxmlformats.org/officeDocument/2006/relationships/image" Target="../media/image431.png"/><Relationship Id="rId6" Type="http://schemas.openxmlformats.org/officeDocument/2006/relationships/image" Target="../media/image432.png"/><Relationship Id="rId7" Type="http://schemas.openxmlformats.org/officeDocument/2006/relationships/image" Target="../media/image433.png"/></Relationships>
</file>

<file path=ppt/charts/_rels/chart70.xml.rels><?xml version='1.0' encoding='UTF-8' standalone='yes'?>
<Relationships xmlns="http://schemas.openxmlformats.org/package/2006/relationships"><Relationship Id="rId2" Type="http://schemas.openxmlformats.org/officeDocument/2006/relationships/image" Target="../media/image434.png"/><Relationship Id="rId3" Type="http://schemas.openxmlformats.org/officeDocument/2006/relationships/image" Target="../media/image435.png"/><Relationship Id="rId4" Type="http://schemas.openxmlformats.org/officeDocument/2006/relationships/image" Target="../media/image436.png"/><Relationship Id="rId5" Type="http://schemas.openxmlformats.org/officeDocument/2006/relationships/image" Target="../media/image437.png"/><Relationship Id="rId6" Type="http://schemas.openxmlformats.org/officeDocument/2006/relationships/image" Target="../media/image438.png"/><Relationship Id="rId7" Type="http://schemas.openxmlformats.org/officeDocument/2006/relationships/image" Target="../media/image439.png"/></Relationships>
</file>

<file path=ppt/charts/_rels/chart71.xml.rels><?xml version='1.0' encoding='UTF-8' standalone='yes'?>
<Relationships xmlns="http://schemas.openxmlformats.org/package/2006/relationships"><Relationship Id="rId2" Type="http://schemas.openxmlformats.org/officeDocument/2006/relationships/image" Target="../media/image440.png"/><Relationship Id="rId3" Type="http://schemas.openxmlformats.org/officeDocument/2006/relationships/image" Target="../media/image441.png"/><Relationship Id="rId4" Type="http://schemas.openxmlformats.org/officeDocument/2006/relationships/image" Target="../media/image442.png"/><Relationship Id="rId5" Type="http://schemas.openxmlformats.org/officeDocument/2006/relationships/image" Target="../media/image443.png"/><Relationship Id="rId6" Type="http://schemas.openxmlformats.org/officeDocument/2006/relationships/image" Target="../media/image444.png"/><Relationship Id="rId7" Type="http://schemas.openxmlformats.org/officeDocument/2006/relationships/image" Target="../media/image445.png"/><Relationship Id="rId8" Type="http://schemas.openxmlformats.org/officeDocument/2006/relationships/image" Target="../media/image446.png"/><Relationship Id="rId9" Type="http://schemas.openxmlformats.org/officeDocument/2006/relationships/image" Target="../media/image447.png"/><Relationship Id="rId10" Type="http://schemas.openxmlformats.org/officeDocument/2006/relationships/image" Target="../media/image448.png"/><Relationship Id="rId11" Type="http://schemas.openxmlformats.org/officeDocument/2006/relationships/image" Target="../media/image449.png"/><Relationship Id="rId12" Type="http://schemas.openxmlformats.org/officeDocument/2006/relationships/image" Target="../media/image450.png"/><Relationship Id="rId13" Type="http://schemas.openxmlformats.org/officeDocument/2006/relationships/image" Target="../media/image451.png"/><Relationship Id="rId14" Type="http://schemas.openxmlformats.org/officeDocument/2006/relationships/image" Target="../media/image452.png"/><Relationship Id="rId15" Type="http://schemas.openxmlformats.org/officeDocument/2006/relationships/image" Target="../media/image453.png"/><Relationship Id="rId16" Type="http://schemas.openxmlformats.org/officeDocument/2006/relationships/image" Target="../media/image454.png"/><Relationship Id="rId17" Type="http://schemas.openxmlformats.org/officeDocument/2006/relationships/image" Target="../media/image455.png"/><Relationship Id="rId18" Type="http://schemas.openxmlformats.org/officeDocument/2006/relationships/image" Target="../media/image456.png"/><Relationship Id="rId19" Type="http://schemas.openxmlformats.org/officeDocument/2006/relationships/image" Target="../media/image457.png"/><Relationship Id="rId20" Type="http://schemas.openxmlformats.org/officeDocument/2006/relationships/image" Target="../media/image458.png"/><Relationship Id="rId21" Type="http://schemas.openxmlformats.org/officeDocument/2006/relationships/image" Target="../media/image459.png"/><Relationship Id="rId22" Type="http://schemas.openxmlformats.org/officeDocument/2006/relationships/image" Target="../media/image460.png"/><Relationship Id="rId23" Type="http://schemas.openxmlformats.org/officeDocument/2006/relationships/image" Target="../media/image461.png"/><Relationship Id="rId24" Type="http://schemas.openxmlformats.org/officeDocument/2006/relationships/image" Target="../media/image462.png"/><Relationship Id="rId25" Type="http://schemas.openxmlformats.org/officeDocument/2006/relationships/image" Target="../media/image463.png"/><Relationship Id="rId26" Type="http://schemas.openxmlformats.org/officeDocument/2006/relationships/image" Target="../media/image464.png"/><Relationship Id="rId27" Type="http://schemas.openxmlformats.org/officeDocument/2006/relationships/image" Target="../media/image465.png"/><Relationship Id="rId28" Type="http://schemas.openxmlformats.org/officeDocument/2006/relationships/image" Target="../media/image466.png"/><Relationship Id="rId29" Type="http://schemas.openxmlformats.org/officeDocument/2006/relationships/image" Target="../media/image467.png"/><Relationship Id="rId30" Type="http://schemas.openxmlformats.org/officeDocument/2006/relationships/image" Target="../media/image468.png"/><Relationship Id="rId31" Type="http://schemas.openxmlformats.org/officeDocument/2006/relationships/image" Target="../media/image469.png"/><Relationship Id="rId32" Type="http://schemas.openxmlformats.org/officeDocument/2006/relationships/image" Target="../media/image470.png"/><Relationship Id="rId33" Type="http://schemas.openxmlformats.org/officeDocument/2006/relationships/image" Target="../media/image471.png"/><Relationship Id="rId34" Type="http://schemas.openxmlformats.org/officeDocument/2006/relationships/image" Target="../media/image472.png"/><Relationship Id="rId35" Type="http://schemas.openxmlformats.org/officeDocument/2006/relationships/image" Target="../media/image473.png"/><Relationship Id="rId36" Type="http://schemas.openxmlformats.org/officeDocument/2006/relationships/image" Target="../media/image474.png"/><Relationship Id="rId37" Type="http://schemas.openxmlformats.org/officeDocument/2006/relationships/image" Target="../media/image475.png"/><Relationship Id="rId38" Type="http://schemas.openxmlformats.org/officeDocument/2006/relationships/image" Target="../media/image476.png"/><Relationship Id="rId39" Type="http://schemas.openxmlformats.org/officeDocument/2006/relationships/image" Target="../media/image477.png"/><Relationship Id="rId40" Type="http://schemas.openxmlformats.org/officeDocument/2006/relationships/image" Target="../media/image478.png"/><Relationship Id="rId41" Type="http://schemas.openxmlformats.org/officeDocument/2006/relationships/image" Target="../media/image479.png"/><Relationship Id="rId42" Type="http://schemas.openxmlformats.org/officeDocument/2006/relationships/image" Target="../media/image480.png"/><Relationship Id="rId43" Type="http://schemas.openxmlformats.org/officeDocument/2006/relationships/image" Target="../media/image481.png"/><Relationship Id="rId44" Type="http://schemas.openxmlformats.org/officeDocument/2006/relationships/image" Target="../media/image482.png"/><Relationship Id="rId45" Type="http://schemas.openxmlformats.org/officeDocument/2006/relationships/image" Target="../media/image483.png"/><Relationship Id="rId46" Type="http://schemas.openxmlformats.org/officeDocument/2006/relationships/image" Target="../media/image484.png"/><Relationship Id="rId47" Type="http://schemas.openxmlformats.org/officeDocument/2006/relationships/image" Target="../media/image485.png"/><Relationship Id="rId48" Type="http://schemas.openxmlformats.org/officeDocument/2006/relationships/image" Target="../media/image486.png"/><Relationship Id="rId49" Type="http://schemas.openxmlformats.org/officeDocument/2006/relationships/image" Target="../media/image487.png"/></Relationships>
</file>

<file path=ppt/charts/_rels/chart72.xml.rels><?xml version='1.0' encoding='UTF-8' standalone='yes'?>
<Relationships xmlns="http://schemas.openxmlformats.org/package/2006/relationships"><Relationship Id="rId2" Type="http://schemas.openxmlformats.org/officeDocument/2006/relationships/image" Target="../media/image488.png"/><Relationship Id="rId3" Type="http://schemas.openxmlformats.org/officeDocument/2006/relationships/image" Target="../media/image489.png"/><Relationship Id="rId4" Type="http://schemas.openxmlformats.org/officeDocument/2006/relationships/image" Target="../media/image490.png"/><Relationship Id="rId5" Type="http://schemas.openxmlformats.org/officeDocument/2006/relationships/image" Target="../media/image491.png"/><Relationship Id="rId6" Type="http://schemas.openxmlformats.org/officeDocument/2006/relationships/image" Target="../media/image492.png"/><Relationship Id="rId7" Type="http://schemas.openxmlformats.org/officeDocument/2006/relationships/image" Target="../media/image493.png"/><Relationship Id="rId8" Type="http://schemas.openxmlformats.org/officeDocument/2006/relationships/image" Target="../media/image494.png"/><Relationship Id="rId9" Type="http://schemas.openxmlformats.org/officeDocument/2006/relationships/image" Target="../media/image495.png"/><Relationship Id="rId10" Type="http://schemas.openxmlformats.org/officeDocument/2006/relationships/image" Target="../media/image496.png"/><Relationship Id="rId11" Type="http://schemas.openxmlformats.org/officeDocument/2006/relationships/image" Target="../media/image497.png"/><Relationship Id="rId12" Type="http://schemas.openxmlformats.org/officeDocument/2006/relationships/image" Target="../media/image498.png"/><Relationship Id="rId13" Type="http://schemas.openxmlformats.org/officeDocument/2006/relationships/image" Target="../media/image499.png"/><Relationship Id="rId14" Type="http://schemas.openxmlformats.org/officeDocument/2006/relationships/image" Target="../media/image500.png"/><Relationship Id="rId15" Type="http://schemas.openxmlformats.org/officeDocument/2006/relationships/image" Target="../media/image501.png"/><Relationship Id="rId16" Type="http://schemas.openxmlformats.org/officeDocument/2006/relationships/image" Target="../media/image502.png"/><Relationship Id="rId17" Type="http://schemas.openxmlformats.org/officeDocument/2006/relationships/image" Target="../media/image503.png"/><Relationship Id="rId18" Type="http://schemas.openxmlformats.org/officeDocument/2006/relationships/image" Target="../media/image504.png"/><Relationship Id="rId19" Type="http://schemas.openxmlformats.org/officeDocument/2006/relationships/image" Target="../media/image505.png"/><Relationship Id="rId20" Type="http://schemas.openxmlformats.org/officeDocument/2006/relationships/image" Target="../media/image506.png"/><Relationship Id="rId21" Type="http://schemas.openxmlformats.org/officeDocument/2006/relationships/image" Target="../media/image507.png"/><Relationship Id="rId22" Type="http://schemas.openxmlformats.org/officeDocument/2006/relationships/image" Target="../media/image508.png"/><Relationship Id="rId23" Type="http://schemas.openxmlformats.org/officeDocument/2006/relationships/image" Target="../media/image509.png"/><Relationship Id="rId24" Type="http://schemas.openxmlformats.org/officeDocument/2006/relationships/image" Target="../media/image510.png"/><Relationship Id="rId25" Type="http://schemas.openxmlformats.org/officeDocument/2006/relationships/image" Target="../media/image511.png"/><Relationship Id="rId26" Type="http://schemas.openxmlformats.org/officeDocument/2006/relationships/image" Target="../media/image512.png"/><Relationship Id="rId27" Type="http://schemas.openxmlformats.org/officeDocument/2006/relationships/image" Target="../media/image513.png"/><Relationship Id="rId28" Type="http://schemas.openxmlformats.org/officeDocument/2006/relationships/image" Target="../media/image514.png"/><Relationship Id="rId29" Type="http://schemas.openxmlformats.org/officeDocument/2006/relationships/image" Target="../media/image515.png"/><Relationship Id="rId30" Type="http://schemas.openxmlformats.org/officeDocument/2006/relationships/image" Target="../media/image516.png"/><Relationship Id="rId31" Type="http://schemas.openxmlformats.org/officeDocument/2006/relationships/image" Target="../media/image517.png"/><Relationship Id="rId32" Type="http://schemas.openxmlformats.org/officeDocument/2006/relationships/image" Target="../media/image518.png"/><Relationship Id="rId33" Type="http://schemas.openxmlformats.org/officeDocument/2006/relationships/image" Target="../media/image519.png"/><Relationship Id="rId34" Type="http://schemas.openxmlformats.org/officeDocument/2006/relationships/image" Target="../media/image520.png"/><Relationship Id="rId35" Type="http://schemas.openxmlformats.org/officeDocument/2006/relationships/image" Target="../media/image521.png"/><Relationship Id="rId36" Type="http://schemas.openxmlformats.org/officeDocument/2006/relationships/image" Target="../media/image522.png"/><Relationship Id="rId37" Type="http://schemas.openxmlformats.org/officeDocument/2006/relationships/image" Target="../media/image523.png"/><Relationship Id="rId38" Type="http://schemas.openxmlformats.org/officeDocument/2006/relationships/image" Target="../media/image524.png"/><Relationship Id="rId39" Type="http://schemas.openxmlformats.org/officeDocument/2006/relationships/image" Target="../media/image525.png"/><Relationship Id="rId40" Type="http://schemas.openxmlformats.org/officeDocument/2006/relationships/image" Target="../media/image526.png"/><Relationship Id="rId41" Type="http://schemas.openxmlformats.org/officeDocument/2006/relationships/image" Target="../media/image527.png"/><Relationship Id="rId42" Type="http://schemas.openxmlformats.org/officeDocument/2006/relationships/image" Target="../media/image528.png"/><Relationship Id="rId43" Type="http://schemas.openxmlformats.org/officeDocument/2006/relationships/image" Target="../media/image529.png"/><Relationship Id="rId44" Type="http://schemas.openxmlformats.org/officeDocument/2006/relationships/image" Target="../media/image530.png"/><Relationship Id="rId45" Type="http://schemas.openxmlformats.org/officeDocument/2006/relationships/image" Target="../media/image531.png"/><Relationship Id="rId46" Type="http://schemas.openxmlformats.org/officeDocument/2006/relationships/image" Target="../media/image532.png"/><Relationship Id="rId47" Type="http://schemas.openxmlformats.org/officeDocument/2006/relationships/image" Target="../media/image533.png"/><Relationship Id="rId48" Type="http://schemas.openxmlformats.org/officeDocument/2006/relationships/image" Target="../media/image534.png"/><Relationship Id="rId49" Type="http://schemas.openxmlformats.org/officeDocument/2006/relationships/image" Target="../media/image535.png"/></Relationships>
</file>

<file path=ppt/charts/_rels/chart73.xml.rels><?xml version='1.0' encoding='UTF-8' standalone='yes'?>
<Relationships xmlns="http://schemas.openxmlformats.org/package/2006/relationships"><Relationship Id="rId2" Type="http://schemas.openxmlformats.org/officeDocument/2006/relationships/image" Target="../media/image541.png"/><Relationship Id="rId3" Type="http://schemas.openxmlformats.org/officeDocument/2006/relationships/image" Target="../media/image542.png"/><Relationship Id="rId4" Type="http://schemas.openxmlformats.org/officeDocument/2006/relationships/image" Target="../media/image543.png"/><Relationship Id="rId5" Type="http://schemas.openxmlformats.org/officeDocument/2006/relationships/image" Target="../media/image544.png"/><Relationship Id="rId6" Type="http://schemas.openxmlformats.org/officeDocument/2006/relationships/image" Target="../media/image545.png"/><Relationship Id="rId7" Type="http://schemas.openxmlformats.org/officeDocument/2006/relationships/image" Target="../media/image546.png"/><Relationship Id="rId8" Type="http://schemas.openxmlformats.org/officeDocument/2006/relationships/image" Target="../media/image547.png"/><Relationship Id="rId9" Type="http://schemas.openxmlformats.org/officeDocument/2006/relationships/image" Target="../media/image548.png"/><Relationship Id="rId10" Type="http://schemas.openxmlformats.org/officeDocument/2006/relationships/image" Target="../media/image549.png"/></Relationships>
</file>

<file path=ppt/charts/_rels/chart78.xml.rels><?xml version='1.0' encoding='UTF-8' standalone='yes'?>
<Relationships xmlns="http://schemas.openxmlformats.org/package/2006/relationships"><Relationship Id="rId2" Type="http://schemas.openxmlformats.org/officeDocument/2006/relationships/image" Target="../media/image550.png"/><Relationship Id="rId3" Type="http://schemas.openxmlformats.org/officeDocument/2006/relationships/image" Target="../media/image551.png"/><Relationship Id="rId4" Type="http://schemas.openxmlformats.org/officeDocument/2006/relationships/image" Target="../media/image552.png"/><Relationship Id="rId5" Type="http://schemas.openxmlformats.org/officeDocument/2006/relationships/image" Target="../media/image553.png"/><Relationship Id="rId6" Type="http://schemas.openxmlformats.org/officeDocument/2006/relationships/image" Target="../media/image554.png"/><Relationship Id="rId7" Type="http://schemas.openxmlformats.org/officeDocument/2006/relationships/image" Target="../media/image555.png"/><Relationship Id="rId8" Type="http://schemas.openxmlformats.org/officeDocument/2006/relationships/image" Target="../media/image556.png"/><Relationship Id="rId9" Type="http://schemas.openxmlformats.org/officeDocument/2006/relationships/image" Target="../media/image557.png"/><Relationship Id="rId10" Type="http://schemas.openxmlformats.org/officeDocument/2006/relationships/image" Target="../media/image558.png"/></Relationships>
</file>

<file path=ppt/charts/_rels/chart79.xml.rels><?xml version='1.0' encoding='UTF-8' standalone='yes'?>
<Relationships xmlns="http://schemas.openxmlformats.org/package/2006/relationships"><Relationship Id="rId2" Type="http://schemas.openxmlformats.org/officeDocument/2006/relationships/image" Target="../media/image566.png"/><Relationship Id="rId3" Type="http://schemas.openxmlformats.org/officeDocument/2006/relationships/image" Target="../media/image567.png"/><Relationship Id="rId4" Type="http://schemas.openxmlformats.org/officeDocument/2006/relationships/image" Target="../media/image568.png"/><Relationship Id="rId5" Type="http://schemas.openxmlformats.org/officeDocument/2006/relationships/image" Target="../media/image569.png"/><Relationship Id="rId6" Type="http://schemas.openxmlformats.org/officeDocument/2006/relationships/image" Target="../media/image570.png"/><Relationship Id="rId7" Type="http://schemas.openxmlformats.org/officeDocument/2006/relationships/image" Target="../media/image571.png"/><Relationship Id="rId8" Type="http://schemas.openxmlformats.org/officeDocument/2006/relationships/image" Target="../media/image572.png"/><Relationship Id="rId9" Type="http://schemas.openxmlformats.org/officeDocument/2006/relationships/image" Target="../media/image573.png"/><Relationship Id="rId10" Type="http://schemas.openxmlformats.org/officeDocument/2006/relationships/image" Target="../media/image574.png"/><Relationship Id="rId11" Type="http://schemas.openxmlformats.org/officeDocument/2006/relationships/image" Target="../media/image575.png"/><Relationship Id="rId12" Type="http://schemas.openxmlformats.org/officeDocument/2006/relationships/image" Target="../media/image576.png"/><Relationship Id="rId13" Type="http://schemas.openxmlformats.org/officeDocument/2006/relationships/image" Target="../media/image577.png"/></Relationships>
</file>

<file path=ppt/charts/_rels/chart85.xml.rels><?xml version='1.0' encoding='UTF-8' standalone='yes'?>
<Relationships xmlns="http://schemas.openxmlformats.org/package/2006/relationships"><Relationship Id="rId2" Type="http://schemas.openxmlformats.org/officeDocument/2006/relationships/image" Target="../media/image578.png"/><Relationship Id="rId3" Type="http://schemas.openxmlformats.org/officeDocument/2006/relationships/image" Target="../media/image579.png"/><Relationship Id="rId4" Type="http://schemas.openxmlformats.org/officeDocument/2006/relationships/image" Target="../media/image580.png"/><Relationship Id="rId5" Type="http://schemas.openxmlformats.org/officeDocument/2006/relationships/image" Target="../media/image581.png"/><Relationship Id="rId6" Type="http://schemas.openxmlformats.org/officeDocument/2006/relationships/image" Target="../media/image582.png"/><Relationship Id="rId7" Type="http://schemas.openxmlformats.org/officeDocument/2006/relationships/image" Target="../media/image583.png"/><Relationship Id="rId8" Type="http://schemas.openxmlformats.org/officeDocument/2006/relationships/image" Target="../media/image584.png"/><Relationship Id="rId9" Type="http://schemas.openxmlformats.org/officeDocument/2006/relationships/image" Target="../media/image585.png"/><Relationship Id="rId10" Type="http://schemas.openxmlformats.org/officeDocument/2006/relationships/image" Target="../media/image586.png"/><Relationship Id="rId11" Type="http://schemas.openxmlformats.org/officeDocument/2006/relationships/image" Target="../media/image587.png"/><Relationship Id="rId12" Type="http://schemas.openxmlformats.org/officeDocument/2006/relationships/image" Target="../media/image588.png"/><Relationship Id="rId13" Type="http://schemas.openxmlformats.org/officeDocument/2006/relationships/image" Target="../media/image589.png"/></Relationships>
</file>

<file path=ppt/charts/_rels/chart86.xml.rels><?xml version='1.0' encoding='UTF-8' standalone='yes'?>
<Relationships xmlns="http://schemas.openxmlformats.org/package/2006/relationships"><Relationship Id="rId2" Type="http://schemas.openxmlformats.org/officeDocument/2006/relationships/image" Target="../media/image595.png"/><Relationship Id="rId3" Type="http://schemas.openxmlformats.org/officeDocument/2006/relationships/image" Target="../media/image596.png"/><Relationship Id="rId4" Type="http://schemas.openxmlformats.org/officeDocument/2006/relationships/image" Target="../media/image597.png"/><Relationship Id="rId5" Type="http://schemas.openxmlformats.org/officeDocument/2006/relationships/image" Target="../media/image598.png"/><Relationship Id="rId6" Type="http://schemas.openxmlformats.org/officeDocument/2006/relationships/image" Target="../media/image599.png"/><Relationship Id="rId7" Type="http://schemas.openxmlformats.org/officeDocument/2006/relationships/image" Target="../media/image600.png"/></Relationships>
</file>

<file path=ppt/charts/_rels/chart90.xml.rels><?xml version='1.0' encoding='UTF-8' standalone='yes'?>
<Relationships xmlns="http://schemas.openxmlformats.org/package/2006/relationships"><Relationship Id="rId2" Type="http://schemas.openxmlformats.org/officeDocument/2006/relationships/image" Target="../media/image601.png"/><Relationship Id="rId3" Type="http://schemas.openxmlformats.org/officeDocument/2006/relationships/image" Target="../media/image602.png"/><Relationship Id="rId4" Type="http://schemas.openxmlformats.org/officeDocument/2006/relationships/image" Target="../media/image603.png"/><Relationship Id="rId5" Type="http://schemas.openxmlformats.org/officeDocument/2006/relationships/image" Target="../media/image604.png"/><Relationship Id="rId6" Type="http://schemas.openxmlformats.org/officeDocument/2006/relationships/image" Target="../media/image605.png"/><Relationship Id="rId7" Type="http://schemas.openxmlformats.org/officeDocument/2006/relationships/image" Target="../media/image606.png"/></Relationships>
</file>

<file path=ppt/charts/_rels/chart91.xml.rels><?xml version='1.0' encoding='UTF-8' standalone='yes'?>
<Relationships xmlns="http://schemas.openxmlformats.org/package/2006/relationships"><Relationship Id="rId2" Type="http://schemas.openxmlformats.org/officeDocument/2006/relationships/image" Target="../media/image616.png"/><Relationship Id="rId3" Type="http://schemas.openxmlformats.org/officeDocument/2006/relationships/image" Target="../media/image617.png"/><Relationship Id="rId4" Type="http://schemas.openxmlformats.org/officeDocument/2006/relationships/image" Target="../media/image618.png"/><Relationship Id="rId5" Type="http://schemas.openxmlformats.org/officeDocument/2006/relationships/image" Target="../media/image619.png"/><Relationship Id="rId6" Type="http://schemas.openxmlformats.org/officeDocument/2006/relationships/image" Target="../media/image620.png"/><Relationship Id="rId7" Type="http://schemas.openxmlformats.org/officeDocument/2006/relationships/image" Target="../media/image621.png"/><Relationship Id="rId8" Type="http://schemas.openxmlformats.org/officeDocument/2006/relationships/image" Target="../media/image622.png"/><Relationship Id="rId9" Type="http://schemas.openxmlformats.org/officeDocument/2006/relationships/image" Target="../media/image623.png"/><Relationship Id="rId10" Type="http://schemas.openxmlformats.org/officeDocument/2006/relationships/image" Target="../media/image624.png"/><Relationship Id="rId11" Type="http://schemas.openxmlformats.org/officeDocument/2006/relationships/image" Target="../media/image625.png"/><Relationship Id="rId12" Type="http://schemas.openxmlformats.org/officeDocument/2006/relationships/image" Target="../media/image626.png"/><Relationship Id="rId13" Type="http://schemas.openxmlformats.org/officeDocument/2006/relationships/image" Target="../media/image627.png"/></Relationships>
</file>

<file path=ppt/charts/_rels/chart97.xml.rels><?xml version='1.0' encoding='UTF-8' standalone='yes'?>
<Relationships xmlns="http://schemas.openxmlformats.org/package/2006/relationships"><Relationship Id="rId2" Type="http://schemas.openxmlformats.org/officeDocument/2006/relationships/image" Target="../media/image628.png"/><Relationship Id="rId3" Type="http://schemas.openxmlformats.org/officeDocument/2006/relationships/image" Target="../media/image629.png"/><Relationship Id="rId4" Type="http://schemas.openxmlformats.org/officeDocument/2006/relationships/image" Target="../media/image630.png"/><Relationship Id="rId5" Type="http://schemas.openxmlformats.org/officeDocument/2006/relationships/image" Target="../media/image631.png"/><Relationship Id="rId6" Type="http://schemas.openxmlformats.org/officeDocument/2006/relationships/image" Target="../media/image632.png"/><Relationship Id="rId7" Type="http://schemas.openxmlformats.org/officeDocument/2006/relationships/image" Target="../media/image633.png"/><Relationship Id="rId8" Type="http://schemas.openxmlformats.org/officeDocument/2006/relationships/image" Target="../media/image634.png"/><Relationship Id="rId9" Type="http://schemas.openxmlformats.org/officeDocument/2006/relationships/image" Target="../media/image635.png"/><Relationship Id="rId10" Type="http://schemas.openxmlformats.org/officeDocument/2006/relationships/image" Target="../media/image636.png"/><Relationship Id="rId11" Type="http://schemas.openxmlformats.org/officeDocument/2006/relationships/image" Target="../media/image637.png"/><Relationship Id="rId12" Type="http://schemas.openxmlformats.org/officeDocument/2006/relationships/image" Target="../media/image638.png"/><Relationship Id="rId13" Type="http://schemas.openxmlformats.org/officeDocument/2006/relationships/image" Target="../media/image639.png"/></Relationships>
</file>

<file path=ppt/charts/_rels/chart98.xml.rels><?xml version='1.0' encoding='UTF-8' standalone='yes'?>
<Relationships xmlns="http://schemas.openxmlformats.org/package/2006/relationships"><Relationship Id="rId2" Type="http://schemas.openxmlformats.org/officeDocument/2006/relationships/image" Target="../media/image647.png"/><Relationship Id="rId3" Type="http://schemas.openxmlformats.org/officeDocument/2006/relationships/image" Target="../media/image648.png"/><Relationship Id="rId4" Type="http://schemas.openxmlformats.org/officeDocument/2006/relationships/image" Target="../media/image649.png"/><Relationship Id="rId5" Type="http://schemas.openxmlformats.org/officeDocument/2006/relationships/image" Target="../media/image650.png"/><Relationship Id="rId6" Type="http://schemas.openxmlformats.org/officeDocument/2006/relationships/image" Target="../media/image651.png"/><Relationship Id="rId7" Type="http://schemas.openxmlformats.org/officeDocument/2006/relationships/image" Target="../media/image652.png"/><Relationship Id="rId8" Type="http://schemas.openxmlformats.org/officeDocument/2006/relationships/image" Target="../media/image653.png"/><Relationship Id="rId9" Type="http://schemas.openxmlformats.org/officeDocument/2006/relationships/image" Target="../media/image654.png"/><Relationship Id="rId10" Type="http://schemas.openxmlformats.org/officeDocument/2006/relationships/image" Target="../media/image655.png"/><Relationship Id="rId11" Type="http://schemas.openxmlformats.org/officeDocument/2006/relationships/image" Target="../media/image656.png"/><Relationship Id="rId12" Type="http://schemas.openxmlformats.org/officeDocument/2006/relationships/image" Target="../media/image657.png"/><Relationship Id="rId13" Type="http://schemas.openxmlformats.org/officeDocument/2006/relationships/image" Target="../media/image658.png"/></Relationships>
</file>

<file path=ppt/charts/_rels/chart104.xml.rels><?xml version='1.0' encoding='UTF-8' standalone='yes'?>
<Relationships xmlns="http://schemas.openxmlformats.org/package/2006/relationships"><Relationship Id="rId2" Type="http://schemas.openxmlformats.org/officeDocument/2006/relationships/image" Target="../media/image659.png"/><Relationship Id="rId3" Type="http://schemas.openxmlformats.org/officeDocument/2006/relationships/image" Target="../media/image660.png"/><Relationship Id="rId4" Type="http://schemas.openxmlformats.org/officeDocument/2006/relationships/image" Target="../media/image661.png"/><Relationship Id="rId5" Type="http://schemas.openxmlformats.org/officeDocument/2006/relationships/image" Target="../media/image662.png"/><Relationship Id="rId6" Type="http://schemas.openxmlformats.org/officeDocument/2006/relationships/image" Target="../media/image663.png"/><Relationship Id="rId7" Type="http://schemas.openxmlformats.org/officeDocument/2006/relationships/image" Target="../media/image664.png"/><Relationship Id="rId8" Type="http://schemas.openxmlformats.org/officeDocument/2006/relationships/image" Target="../media/image665.png"/><Relationship Id="rId9" Type="http://schemas.openxmlformats.org/officeDocument/2006/relationships/image" Target="../media/image666.png"/><Relationship Id="rId10" Type="http://schemas.openxmlformats.org/officeDocument/2006/relationships/image" Target="../media/image667.png"/><Relationship Id="rId11" Type="http://schemas.openxmlformats.org/officeDocument/2006/relationships/image" Target="../media/image668.png"/><Relationship Id="rId12" Type="http://schemas.openxmlformats.org/officeDocument/2006/relationships/image" Target="../media/image669.png"/><Relationship Id="rId13" Type="http://schemas.openxmlformats.org/officeDocument/2006/relationships/image" Target="../media/image670.png"/></Relationships>
</file>

<file path=ppt/charts/_rels/chart105.xml.rels><?xml version='1.0' encoding='UTF-8' standalone='yes'?>
<Relationships xmlns="http://schemas.openxmlformats.org/package/2006/relationships"><Relationship Id="rId2" Type="http://schemas.openxmlformats.org/officeDocument/2006/relationships/image" Target="../media/image675.png"/><Relationship Id="rId3" Type="http://schemas.openxmlformats.org/officeDocument/2006/relationships/image" Target="../media/image676.png"/><Relationship Id="rId4" Type="http://schemas.openxmlformats.org/officeDocument/2006/relationships/image" Target="../media/image677.png"/><Relationship Id="rId5" Type="http://schemas.openxmlformats.org/officeDocument/2006/relationships/image" Target="../media/image678.png"/><Relationship Id="rId6" Type="http://schemas.openxmlformats.org/officeDocument/2006/relationships/image" Target="../media/image679.png"/><Relationship Id="rId7" Type="http://schemas.openxmlformats.org/officeDocument/2006/relationships/image" Target="../media/image680.png"/></Relationships>
</file>

<file path=ppt/charts/_rels/chart109.xml.rels><?xml version='1.0' encoding='UTF-8' standalone='yes'?>
<Relationships xmlns="http://schemas.openxmlformats.org/package/2006/relationships"><Relationship Id="rId2" Type="http://schemas.openxmlformats.org/officeDocument/2006/relationships/image" Target="../media/image681.png"/><Relationship Id="rId3" Type="http://schemas.openxmlformats.org/officeDocument/2006/relationships/image" Target="../media/image682.png"/><Relationship Id="rId4" Type="http://schemas.openxmlformats.org/officeDocument/2006/relationships/image" Target="../media/image683.png"/><Relationship Id="rId5" Type="http://schemas.openxmlformats.org/officeDocument/2006/relationships/image" Target="../media/image684.png"/><Relationship Id="rId6" Type="http://schemas.openxmlformats.org/officeDocument/2006/relationships/image" Target="../media/image685.png"/><Relationship Id="rId7" Type="http://schemas.openxmlformats.org/officeDocument/2006/relationships/image" Target="../media/image686.png"/></Relationships>
</file>

<file path=ppt/charts/_rels/chart110.xml.rels><?xml version='1.0' encoding='UTF-8' standalone='yes'?>
<Relationships xmlns="http://schemas.openxmlformats.org/package/2006/relationships"><Relationship Id="rId2" Type="http://schemas.openxmlformats.org/officeDocument/2006/relationships/image" Target="../media/image696.png"/><Relationship Id="rId3" Type="http://schemas.openxmlformats.org/officeDocument/2006/relationships/image" Target="../media/image697.png"/><Relationship Id="rId4" Type="http://schemas.openxmlformats.org/officeDocument/2006/relationships/image" Target="../media/image698.png"/><Relationship Id="rId5" Type="http://schemas.openxmlformats.org/officeDocument/2006/relationships/image" Target="../media/image699.png"/><Relationship Id="rId6" Type="http://schemas.openxmlformats.org/officeDocument/2006/relationships/image" Target="../media/image700.png"/><Relationship Id="rId7" Type="http://schemas.openxmlformats.org/officeDocument/2006/relationships/image" Target="../media/image701.png"/><Relationship Id="rId8" Type="http://schemas.openxmlformats.org/officeDocument/2006/relationships/image" Target="../media/image702.png"/><Relationship Id="rId9" Type="http://schemas.openxmlformats.org/officeDocument/2006/relationships/image" Target="../media/image703.png"/><Relationship Id="rId10" Type="http://schemas.openxmlformats.org/officeDocument/2006/relationships/image" Target="../media/image704.png"/><Relationship Id="rId11" Type="http://schemas.openxmlformats.org/officeDocument/2006/relationships/image" Target="../media/image705.png"/></Relationships>
</file>

<file path=ppt/charts/_rels/chart116.xml.rels><?xml version='1.0' encoding='UTF-8' standalone='yes'?>
<Relationships xmlns="http://schemas.openxmlformats.org/package/2006/relationships"><Relationship Id="rId2" Type="http://schemas.openxmlformats.org/officeDocument/2006/relationships/image" Target="../media/image706.png"/><Relationship Id="rId3" Type="http://schemas.openxmlformats.org/officeDocument/2006/relationships/image" Target="../media/image707.png"/><Relationship Id="rId4" Type="http://schemas.openxmlformats.org/officeDocument/2006/relationships/image" Target="../media/image708.png"/><Relationship Id="rId5" Type="http://schemas.openxmlformats.org/officeDocument/2006/relationships/image" Target="../media/image709.png"/><Relationship Id="rId6" Type="http://schemas.openxmlformats.org/officeDocument/2006/relationships/image" Target="../media/image710.png"/><Relationship Id="rId7" Type="http://schemas.openxmlformats.org/officeDocument/2006/relationships/image" Target="../media/image711.png"/><Relationship Id="rId8" Type="http://schemas.openxmlformats.org/officeDocument/2006/relationships/image" Target="../media/image712.png"/><Relationship Id="rId9" Type="http://schemas.openxmlformats.org/officeDocument/2006/relationships/image" Target="../media/image713.png"/><Relationship Id="rId10" Type="http://schemas.openxmlformats.org/officeDocument/2006/relationships/image" Target="../media/image714.png"/><Relationship Id="rId11" Type="http://schemas.openxmlformats.org/officeDocument/2006/relationships/image" Target="../media/image715.png"/><Relationship Id="rId12" Type="http://schemas.openxmlformats.org/officeDocument/2006/relationships/image" Target="../media/image716.png"/><Relationship Id="rId13" Type="http://schemas.openxmlformats.org/officeDocument/2006/relationships/image" Target="../media/image717.png"/></Relationships>
</file>

<file path=ppt/charts/_rels/chart149.xml.rels><?xml version='1.0' encoding='UTF-8' standalone='yes'?>
<Relationships xmlns="http://schemas.openxmlformats.org/package/2006/relationships"><Relationship Id="rId2" Type="http://schemas.openxmlformats.org/officeDocument/2006/relationships/image" Target="../media/image718.png"/><Relationship Id="rId3" Type="http://schemas.openxmlformats.org/officeDocument/2006/relationships/image" Target="../media/image719.png"/><Relationship Id="rId4" Type="http://schemas.openxmlformats.org/officeDocument/2006/relationships/image" Target="../media/image720.png"/><Relationship Id="rId5" Type="http://schemas.openxmlformats.org/officeDocument/2006/relationships/image" Target="../media/image721.png"/><Relationship Id="rId6" Type="http://schemas.openxmlformats.org/officeDocument/2006/relationships/image" Target="../media/image722.png"/><Relationship Id="rId7" Type="http://schemas.openxmlformats.org/officeDocument/2006/relationships/image" Target="../media/image723.png"/><Relationship Id="rId8" Type="http://schemas.openxmlformats.org/officeDocument/2006/relationships/image" Target="../media/image724.png"/><Relationship Id="rId9" Type="http://schemas.openxmlformats.org/officeDocument/2006/relationships/image" Target="../media/image725.png"/><Relationship Id="rId10" Type="http://schemas.openxmlformats.org/officeDocument/2006/relationships/image" Target="../media/image726.png"/><Relationship Id="rId11" Type="http://schemas.openxmlformats.org/officeDocument/2006/relationships/image" Target="../media/image727.png"/></Relationships>
</file>

<file path=ppt/charts/_rels/chart150.xml.rels><?xml version='1.0' encoding='UTF-8' standalone='yes'?>
<Relationships xmlns="http://schemas.openxmlformats.org/package/2006/relationships"><Relationship Id="rId2" Type="http://schemas.openxmlformats.org/officeDocument/2006/relationships/image" Target="../media/image728.png"/><Relationship Id="rId3" Type="http://schemas.openxmlformats.org/officeDocument/2006/relationships/image" Target="../media/image729.png"/><Relationship Id="rId4" Type="http://schemas.openxmlformats.org/officeDocument/2006/relationships/image" Target="../media/image730.png"/><Relationship Id="rId5" Type="http://schemas.openxmlformats.org/officeDocument/2006/relationships/image" Target="../media/image731.png"/><Relationship Id="rId6" Type="http://schemas.openxmlformats.org/officeDocument/2006/relationships/image" Target="../media/image732.png"/><Relationship Id="rId7" Type="http://schemas.openxmlformats.org/officeDocument/2006/relationships/image" Target="../media/image733.png"/><Relationship Id="rId8" Type="http://schemas.openxmlformats.org/officeDocument/2006/relationships/image" Target="../media/image734.png"/><Relationship Id="rId9" Type="http://schemas.openxmlformats.org/officeDocument/2006/relationships/image" Target="../media/image735.png"/><Relationship Id="rId10" Type="http://schemas.openxmlformats.org/officeDocument/2006/relationships/image" Target="../media/image736.png"/><Relationship Id="rId11" Type="http://schemas.openxmlformats.org/officeDocument/2006/relationships/image" Target="../media/image737.png"/><Relationship Id="rId12" Type="http://schemas.openxmlformats.org/officeDocument/2006/relationships/image" Target="../media/image738.png"/></Relationships>
</file>

<file path=ppt/charts/_rels/chart151.xml.rels><?xml version='1.0' encoding='UTF-8' standalone='yes'?>
<Relationships xmlns="http://schemas.openxmlformats.org/package/2006/relationships"><Relationship Id="rId2" Type="http://schemas.openxmlformats.org/officeDocument/2006/relationships/image" Target="../media/image739.png"/><Relationship Id="rId3" Type="http://schemas.openxmlformats.org/officeDocument/2006/relationships/image" Target="../media/image740.png"/><Relationship Id="rId4" Type="http://schemas.openxmlformats.org/officeDocument/2006/relationships/image" Target="../media/image741.png"/><Relationship Id="rId5" Type="http://schemas.openxmlformats.org/officeDocument/2006/relationships/image" Target="../media/image742.png"/><Relationship Id="rId6" Type="http://schemas.openxmlformats.org/officeDocument/2006/relationships/image" Target="../media/image743.png"/><Relationship Id="rId7" Type="http://schemas.openxmlformats.org/officeDocument/2006/relationships/image" Target="../media/image744.png"/><Relationship Id="rId8" Type="http://schemas.openxmlformats.org/officeDocument/2006/relationships/image" Target="../media/image745.png"/><Relationship Id="rId9" Type="http://schemas.openxmlformats.org/officeDocument/2006/relationships/image" Target="../media/image746.png"/><Relationship Id="rId10" Type="http://schemas.openxmlformats.org/officeDocument/2006/relationships/image" Target="../media/image747.png"/><Relationship Id="rId11" Type="http://schemas.openxmlformats.org/officeDocument/2006/relationships/image" Target="../media/image748.png"/></Relationships>
</file>

<file path=ppt/charts/_rels/chart152.xml.rels><?xml version='1.0' encoding='UTF-8' standalone='yes'?>
<Relationships xmlns="http://schemas.openxmlformats.org/package/2006/relationships"><Relationship Id="rId2" Type="http://schemas.openxmlformats.org/officeDocument/2006/relationships/image" Target="../media/image749.png"/><Relationship Id="rId3" Type="http://schemas.openxmlformats.org/officeDocument/2006/relationships/image" Target="../media/image750.png"/><Relationship Id="rId4" Type="http://schemas.openxmlformats.org/officeDocument/2006/relationships/image" Target="../media/image751.png"/><Relationship Id="rId5" Type="http://schemas.openxmlformats.org/officeDocument/2006/relationships/image" Target="../media/image752.png"/><Relationship Id="rId6" Type="http://schemas.openxmlformats.org/officeDocument/2006/relationships/image" Target="../media/image753.png"/><Relationship Id="rId7" Type="http://schemas.openxmlformats.org/officeDocument/2006/relationships/image" Target="../media/image754.png"/><Relationship Id="rId8" Type="http://schemas.openxmlformats.org/officeDocument/2006/relationships/image" Target="../media/image755.png"/><Relationship Id="rId9" Type="http://schemas.openxmlformats.org/officeDocument/2006/relationships/image" Target="../media/image756.png"/><Relationship Id="rId10" Type="http://schemas.openxmlformats.org/officeDocument/2006/relationships/image" Target="../media/image757.png"/><Relationship Id="rId11" Type="http://schemas.openxmlformats.org/officeDocument/2006/relationships/image" Target="../media/image758.png"/><Relationship Id="rId12" Type="http://schemas.openxmlformats.org/officeDocument/2006/relationships/image" Target="../media/image759.png"/></Relationships>
</file>

<file path=ppt/charts/_rels/chart153.xml.rels><?xml version='1.0' encoding='UTF-8' standalone='yes'?>
<Relationships xmlns="http://schemas.openxmlformats.org/package/2006/relationships"><Relationship Id="rId2" Type="http://schemas.openxmlformats.org/officeDocument/2006/relationships/image" Target="../media/image760.png"/><Relationship Id="rId3" Type="http://schemas.openxmlformats.org/officeDocument/2006/relationships/image" Target="../media/image761.png"/><Relationship Id="rId4" Type="http://schemas.openxmlformats.org/officeDocument/2006/relationships/image" Target="../media/image762.png"/><Relationship Id="rId5" Type="http://schemas.openxmlformats.org/officeDocument/2006/relationships/image" Target="../media/image763.png"/><Relationship Id="rId6" Type="http://schemas.openxmlformats.org/officeDocument/2006/relationships/image" Target="../media/image764.png"/><Relationship Id="rId7" Type="http://schemas.openxmlformats.org/officeDocument/2006/relationships/image" Target="../media/image765.png"/><Relationship Id="rId8" Type="http://schemas.openxmlformats.org/officeDocument/2006/relationships/image" Target="../media/image766.png"/><Relationship Id="rId9" Type="http://schemas.openxmlformats.org/officeDocument/2006/relationships/image" Target="../media/image767.png"/><Relationship Id="rId10" Type="http://schemas.openxmlformats.org/officeDocument/2006/relationships/image" Target="../media/image768.png"/><Relationship Id="rId11" Type="http://schemas.openxmlformats.org/officeDocument/2006/relationships/image" Target="../media/image769.png"/></Relationships>
</file>

<file path=ppt/charts/_rels/chart154.xml.rels><?xml version='1.0' encoding='UTF-8' standalone='yes'?>
<Relationships xmlns="http://schemas.openxmlformats.org/package/2006/relationships"><Relationship Id="rId2" Type="http://schemas.openxmlformats.org/officeDocument/2006/relationships/image" Target="../media/image770.png"/><Relationship Id="rId3" Type="http://schemas.openxmlformats.org/officeDocument/2006/relationships/image" Target="../media/image771.png"/><Relationship Id="rId4" Type="http://schemas.openxmlformats.org/officeDocument/2006/relationships/image" Target="../media/image772.png"/><Relationship Id="rId5" Type="http://schemas.openxmlformats.org/officeDocument/2006/relationships/image" Target="../media/image773.png"/><Relationship Id="rId6" Type="http://schemas.openxmlformats.org/officeDocument/2006/relationships/image" Target="../media/image774.png"/><Relationship Id="rId7" Type="http://schemas.openxmlformats.org/officeDocument/2006/relationships/image" Target="../media/image775.png"/><Relationship Id="rId8" Type="http://schemas.openxmlformats.org/officeDocument/2006/relationships/image" Target="../media/image776.png"/><Relationship Id="rId9" Type="http://schemas.openxmlformats.org/officeDocument/2006/relationships/image" Target="../media/image777.png"/><Relationship Id="rId10" Type="http://schemas.openxmlformats.org/officeDocument/2006/relationships/image" Target="../media/image778.png"/><Relationship Id="rId11" Type="http://schemas.openxmlformats.org/officeDocument/2006/relationships/image" Target="../media/image779.png"/><Relationship Id="rId12" Type="http://schemas.openxmlformats.org/officeDocument/2006/relationships/image" Target="../media/image780.png"/></Relationships>
</file>

<file path=ppt/charts/_rels/chart155.xml.rels><?xml version='1.0' encoding='UTF-8' standalone='yes'?>
<Relationships xmlns="http://schemas.openxmlformats.org/package/2006/relationships"><Relationship Id="rId2" Type="http://schemas.openxmlformats.org/officeDocument/2006/relationships/image" Target="../media/image781.png"/><Relationship Id="rId3" Type="http://schemas.openxmlformats.org/officeDocument/2006/relationships/image" Target="../media/image782.png"/><Relationship Id="rId4" Type="http://schemas.openxmlformats.org/officeDocument/2006/relationships/image" Target="../media/image783.png"/><Relationship Id="rId5" Type="http://schemas.openxmlformats.org/officeDocument/2006/relationships/image" Target="../media/image784.png"/><Relationship Id="rId6" Type="http://schemas.openxmlformats.org/officeDocument/2006/relationships/image" Target="../media/image785.png"/><Relationship Id="rId7" Type="http://schemas.openxmlformats.org/officeDocument/2006/relationships/image" Target="../media/image786.png"/><Relationship Id="rId8" Type="http://schemas.openxmlformats.org/officeDocument/2006/relationships/image" Target="../media/image787.png"/><Relationship Id="rId9" Type="http://schemas.openxmlformats.org/officeDocument/2006/relationships/image" Target="../media/image788.png"/><Relationship Id="rId10" Type="http://schemas.openxmlformats.org/officeDocument/2006/relationships/image" Target="../media/image789.png"/><Relationship Id="rId11" Type="http://schemas.openxmlformats.org/officeDocument/2006/relationships/image" Target="../media/image790.png"/><Relationship Id="rId12" Type="http://schemas.openxmlformats.org/officeDocument/2006/relationships/image" Target="../media/image791.png"/></Relationships>
</file>

<file path=ppt/charts/_rels/chart156.xml.rels><?xml version='1.0' encoding='UTF-8' standalone='yes'?>
<Relationships xmlns="http://schemas.openxmlformats.org/package/2006/relationships"><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image" Target="../media/image795.png"/></Relationships>
</file>

<file path=ppt/charts/_rels/chart157.xml.rels><?xml version='1.0' encoding='UTF-8' standalone='yes'?>
<Relationships xmlns="http://schemas.openxmlformats.org/package/2006/relationships"><Relationship Id="rId2" Type="http://schemas.openxmlformats.org/officeDocument/2006/relationships/image" Target="../media/image796.png"/><Relationship Id="rId3" Type="http://schemas.openxmlformats.org/officeDocument/2006/relationships/image" Target="../media/image797.png"/><Relationship Id="rId4" Type="http://schemas.openxmlformats.org/officeDocument/2006/relationships/image" Target="../media/image798.png"/><Relationship Id="rId5" Type="http://schemas.openxmlformats.org/officeDocument/2006/relationships/image" Target="../media/image799.png"/><Relationship Id="rId6" Type="http://schemas.openxmlformats.org/officeDocument/2006/relationships/image" Target="../media/image800.png"/></Relationships>
</file>

<file path=ppt/charts/_rels/chart158.xml.rels><?xml version='1.0' encoding='UTF-8' standalone='yes'?>
<Relationships xmlns="http://schemas.openxmlformats.org/package/2006/relationships"><Relationship Id="rId2" Type="http://schemas.openxmlformats.org/officeDocument/2006/relationships/image" Target="../media/image801.png"/><Relationship Id="rId3" Type="http://schemas.openxmlformats.org/officeDocument/2006/relationships/image" Target="../media/image802.png"/><Relationship Id="rId4" Type="http://schemas.openxmlformats.org/officeDocument/2006/relationships/image" Target="../media/image803.png"/></Relationships>
</file>

<file path=ppt/charts/_rels/chart159.xml.rels><?xml version='1.0' encoding='UTF-8' standalone='yes'?>
<Relationships xmlns="http://schemas.openxmlformats.org/package/2006/relationships"><Relationship Id="rId2" Type="http://schemas.openxmlformats.org/officeDocument/2006/relationships/image" Target="../media/image804.png"/><Relationship Id="rId3" Type="http://schemas.openxmlformats.org/officeDocument/2006/relationships/image" Target="../media/image805.png"/><Relationship Id="rId4" Type="http://schemas.openxmlformats.org/officeDocument/2006/relationships/image" Target="../media/image806.png"/><Relationship Id="rId5" Type="http://schemas.openxmlformats.org/officeDocument/2006/relationships/image" Target="../media/image807.png"/><Relationship Id="rId6" Type="http://schemas.openxmlformats.org/officeDocument/2006/relationships/image" Target="../media/image808.png"/><Relationship Id="rId7" Type="http://schemas.openxmlformats.org/officeDocument/2006/relationships/image" Target="../media/image809.png"/><Relationship Id="rId8" Type="http://schemas.openxmlformats.org/officeDocument/2006/relationships/image" Target="../media/image810.png"/><Relationship Id="rId9" Type="http://schemas.openxmlformats.org/officeDocument/2006/relationships/image" Target="../media/image811.png"/><Relationship Id="rId10" Type="http://schemas.openxmlformats.org/officeDocument/2006/relationships/image" Target="../media/image812.png"/><Relationship Id="rId11" Type="http://schemas.openxmlformats.org/officeDocument/2006/relationships/image" Target="../media/image813.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5.40949221735989</c:v>
                </c:pt>
                <c:pt idx="1">
                  <c:v>10.9315944277099</c:v>
                </c:pt>
                <c:pt idx="2">
                  <c:v>9.05947696392262</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4.429704644577068"/>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121.82300000000001</c:v>
                </c:pt>
                <c:pt idx="2">
                  <c:v>0.0</c:v>
                </c:pt>
                <c:pt idx="3">
                  <c:v>158.536</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121.82300000000001</c:v>
                </c:pt>
                <c:pt idx="1">
                  <c:v>36.712999999999994</c:v>
                </c:pt>
                <c:pt idx="2">
                  <c:v>158.536</c:v>
                </c:pt>
                <c:pt idx="3">
                  <c:v>288.848</c:v>
                </c:pt>
                <c:pt idx="4">
                  <c:v>447.384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6.078851396743823</c:v>
                </c:pt>
                <c:pt idx="1">
                  <c:v>11.612317403390438</c:v>
                </c:pt>
                <c:pt idx="2">
                  <c:v>9.736478627501754</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5.32825897247538"/>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483.91600000000005</c:v>
                </c:pt>
                <c:pt idx="2">
                  <c:v>0.0</c:v>
                </c:pt>
                <c:pt idx="3">
                  <c:v>650.001</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483.91600000000005</c:v>
                </c:pt>
                <c:pt idx="1">
                  <c:v>166.08499999999992</c:v>
                </c:pt>
                <c:pt idx="2">
                  <c:v>650.001</c:v>
                </c:pt>
                <c:pt idx="3">
                  <c:v>1300.002</c:v>
                </c:pt>
                <c:pt idx="4">
                  <c:v>1950.003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483.91600000000005</c:v>
                </c:pt>
                <c:pt idx="1">
                  <c:v>506.79499999999996</c:v>
                </c:pt>
                <c:pt idx="2">
                  <c:v>530.7909999999999</c:v>
                </c:pt>
                <c:pt idx="3">
                  <c:v>555.963</c:v>
                </c:pt>
                <c:pt idx="4">
                  <c:v>582.3720000000001</c:v>
                </c:pt>
              </c:numCache>
            </c:numRef>
          </c:val>
        </c:ser>
        <c:gapWidth val="50"/>
        <c:axId val="-2068027336"/>
        <c:axId val="-2113994440"/>
      </c:barChart>
      <c:barChart>
        <c:barDir val="col"/>
        <c:grouping val="clustered"/>
        <c:varyColors val="0"/>
        <c:ser>
          <c:idx val="1"/>
          <c:order val="1"/>
          <c:tx>
            <c:strRef>
              <c:strCache>
                <c:ptCount val="1"/>
                <c:pt idx="0">
                  <c:v>Volume (Thousand Units)</c:v>
                </c:pt>
              </c:strCache>
            </c:strRef>
          </c:tx>
          <c:spPr>
            <a:solidFill>
              <a:srgbClr val="F1975A"/>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121.82300000000001</c:v>
                </c:pt>
                <c:pt idx="1">
                  <c:v>126.772</c:v>
                </c:pt>
                <c:pt idx="2">
                  <c:v>131.93200000000002</c:v>
                </c:pt>
                <c:pt idx="3">
                  <c:v>137.31799999999998</c:v>
                </c:pt>
                <c:pt idx="4">
                  <c:v>142.935</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687"/>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97"/>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1"/>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650.001</c:v>
                </c:pt>
                <c:pt idx="1">
                  <c:v>725.482</c:v>
                </c:pt>
                <c:pt idx="2">
                  <c:v>809.7249999999999</c:v>
                </c:pt>
                <c:pt idx="3">
                  <c:v>903.753</c:v>
                </c:pt>
                <c:pt idx="4">
                  <c:v>1008.7</c:v>
                </c:pt>
                <c:pt idx="5">
                  <c:v>1125.833</c:v>
                </c:pt>
                <c:pt idx="6">
                  <c:v>1256.567</c:v>
                </c:pt>
                <c:pt idx="7">
                  <c:v>1402.4850000000001</c:v>
                </c:pt>
                <c:pt idx="8">
                  <c:v>1565.345</c:v>
                </c:pt>
                <c:pt idx="9">
                  <c:v>1747.1190000000001</c:v>
                </c:pt>
                <c:pt idx="10">
                  <c:v>1950.003</c:v>
                </c:pt>
              </c:numCache>
            </c:numRef>
          </c:val>
        </c:ser>
        <c:gapWidth val="50"/>
        <c:axId val="-2068027336"/>
        <c:axId val="-2113994440"/>
      </c:barChart>
      <c:barChart>
        <c:barDir val="col"/>
        <c:grouping val="clustered"/>
        <c:varyColors val="0"/>
        <c:ser>
          <c:idx val="1"/>
          <c:order val="1"/>
          <c:tx>
            <c:strRef>
              <c:strCache>
                <c:ptCount val="1"/>
                <c:pt idx="0">
                  <c:v>Volume (Thousand Units)</c:v>
                </c:pt>
              </c:strCache>
            </c:strRef>
          </c:tx>
          <c:spPr>
            <a:solidFill>
              <a:srgbClr val="F1975A"/>
            </a:solidFill>
            <a:ln>
              <a:noFill/>
            </a:ln>
          </c:spPr>
          <c:dLbls>
            <c:dLbl>
              <c:idx val="0"/>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158.536</c:v>
                </c:pt>
                <c:pt idx="1">
                  <c:v>175.848</c:v>
                </c:pt>
                <c:pt idx="2">
                  <c:v>195.05</c:v>
                </c:pt>
                <c:pt idx="3">
                  <c:v>216.357</c:v>
                </c:pt>
                <c:pt idx="4">
                  <c:v>239.998</c:v>
                </c:pt>
                <c:pt idx="5">
                  <c:v>266.221</c:v>
                </c:pt>
                <c:pt idx="6">
                  <c:v>295.33299999999997</c:v>
                </c:pt>
                <c:pt idx="7">
                  <c:v>327.63</c:v>
                </c:pt>
                <c:pt idx="8">
                  <c:v>363.475</c:v>
                </c:pt>
                <c:pt idx="9">
                  <c:v>403.241</c:v>
                </c:pt>
                <c:pt idx="10">
                  <c:v>447.384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230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638"/>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9"/>
                <c:pt idx="0">
                  <c:v>Hungary</c:v>
                </c:pt>
                <c:pt idx="1">
                  <c:v>Russia</c:v>
                </c:pt>
                <c:pt idx="2">
                  <c:v>Brazil</c:v>
                </c:pt>
                <c:pt idx="3">
                  <c:v>Poland</c:v>
                </c:pt>
                <c:pt idx="4">
                  <c:v>France</c:v>
                </c:pt>
                <c:pt idx="5">
                  <c:v>Chile</c:v>
                </c:pt>
                <c:pt idx="6">
                  <c:v>United States</c:v>
                </c:pt>
                <c:pt idx="7">
                  <c:v>Germany</c:v>
                </c:pt>
                <c:pt idx="8">
                  <c:v>India</c:v>
                </c:pt>
              </c:strCache>
            </c:strRef>
          </c:cat>
          <c:val>
            <c:numRef>
              <c:numCache>
                <c:formatCode>General</c:formatCode>
                <c:ptCount val="9"/>
                <c:pt idx="0">
                  <c:v>101.9006254039281</c:v>
                </c:pt>
                <c:pt idx="1">
                  <c:v>102.81448426755813</c:v>
                </c:pt>
                <c:pt idx="2">
                  <c:v>102.90966290443623</c:v>
                </c:pt>
                <c:pt idx="3">
                  <c:v>103.22270871658958</c:v>
                </c:pt>
                <c:pt idx="4">
                  <c:v>104.91039488199809</c:v>
                </c:pt>
                <c:pt idx="5">
                  <c:v>106.64610175120019</c:v>
                </c:pt>
                <c:pt idx="6">
                  <c:v>108.05488435042764</c:v>
                </c:pt>
                <c:pt idx="7">
                  <c:v>108.58025255236579</c:v>
                </c:pt>
                <c:pt idx="8">
                  <c:v>110.57247289799233</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8"/>
                <c:pt idx="0">
                  <c:v>Japan</c:v>
                </c:pt>
                <c:pt idx="1">
                  <c:v>Russia</c:v>
                </c:pt>
                <c:pt idx="2">
                  <c:v>Mexico</c:v>
                </c:pt>
                <c:pt idx="3">
                  <c:v>Brazil</c:v>
                </c:pt>
                <c:pt idx="4">
                  <c:v>China</c:v>
                </c:pt>
                <c:pt idx="5">
                  <c:v>Canada</c:v>
                </c:pt>
                <c:pt idx="6">
                  <c:v>India</c:v>
                </c:pt>
                <c:pt idx="7">
                  <c:v>United States</c:v>
                </c:pt>
              </c:strCache>
            </c:strRef>
          </c:cat>
          <c:val>
            <c:numRef>
              <c:numCache>
                <c:formatCode>General</c:formatCode>
                <c:ptCount val="8"/>
                <c:pt idx="0">
                  <c:v>3.4939946246236553</c:v>
                </c:pt>
                <c:pt idx="1">
                  <c:v>3.807301834920254</c:v>
                </c:pt>
                <c:pt idx="2">
                  <c:v>5.966529282262643</c:v>
                </c:pt>
                <c:pt idx="3">
                  <c:v>6.252528842263319</c:v>
                </c:pt>
                <c:pt idx="4">
                  <c:v>8.341064090670631</c:v>
                </c:pt>
                <c:pt idx="5">
                  <c:v>8.82629411339367</c:v>
                </c:pt>
                <c:pt idx="6">
                  <c:v>9.158524371500967</c:v>
                </c:pt>
                <c:pt idx="7">
                  <c:v>25.829652569765276</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500 Wh to Below 1,000 Wh</c:v>
                </c:pt>
                <c:pt idx="1">
                  <c:v>1,000 Wh to Below 1,500 Wh</c:v>
                </c:pt>
                <c:pt idx="2">
                  <c:v>1,500 Wh to 2,000 Wh</c:v>
                </c:pt>
              </c:strCache>
            </c:strRef>
          </c:cat>
          <c:val>
            <c:numRef>
              <c:numCache>
                <c:formatCode>General</c:formatCode>
                <c:ptCount val="3"/>
                <c:pt idx="0">
                  <c:v>519.885</c:v>
                </c:pt>
                <c:pt idx="1">
                  <c:v>676.741</c:v>
                </c:pt>
                <c:pt idx="2">
                  <c:v>753.377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0.13516621934634182</c:v>
                </c:pt>
                <c:pt idx="1">
                  <c:v>0.13627621934634182</c:v>
                </c:pt>
                <c:pt idx="2">
                  <c:v>0.1386962193463418</c:v>
                </c:pt>
                <c:pt idx="3">
                  <c:v>0.1401162193463418</c:v>
                </c:pt>
                <c:pt idx="4">
                  <c:v>0.1425062193463418</c:v>
                </c:pt>
                <c:pt idx="5">
                  <c:v>0.1460662193463418</c:v>
                </c:pt>
                <c:pt idx="6">
                  <c:v>0.14754621934634182</c:v>
                </c:pt>
                <c:pt idx="7">
                  <c:v>0.1498062193463418</c:v>
                </c:pt>
                <c:pt idx="8">
                  <c:v>0.15131621934634182</c:v>
                </c:pt>
                <c:pt idx="9">
                  <c:v>0.15350621934634182</c:v>
                </c:pt>
                <c:pt idx="10">
                  <c:v>0.1559162193463418</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0.10312680566223299</c:v>
                </c:pt>
                <c:pt idx="1">
                  <c:v>0.10671680566223299</c:v>
                </c:pt>
                <c:pt idx="2">
                  <c:v>0.109286805662233</c:v>
                </c:pt>
                <c:pt idx="3">
                  <c:v>0.110526805662233</c:v>
                </c:pt>
                <c:pt idx="4">
                  <c:v>0.114056805662233</c:v>
                </c:pt>
                <c:pt idx="5">
                  <c:v>0.115196805662233</c:v>
                </c:pt>
                <c:pt idx="6">
                  <c:v>0.118446805662233</c:v>
                </c:pt>
                <c:pt idx="7">
                  <c:v>0.120966805662233</c:v>
                </c:pt>
                <c:pt idx="8">
                  <c:v>0.123406805662233</c:v>
                </c:pt>
                <c:pt idx="9">
                  <c:v>0.126736805662233</c:v>
                </c:pt>
                <c:pt idx="10">
                  <c:v>0.129206805662233</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0.07722789457996924</c:v>
                </c:pt>
                <c:pt idx="1">
                  <c:v>0.07922789457996925</c:v>
                </c:pt>
                <c:pt idx="2">
                  <c:v>0.08155789457996925</c:v>
                </c:pt>
                <c:pt idx="3">
                  <c:v>0.08389789457996924</c:v>
                </c:pt>
                <c:pt idx="4">
                  <c:v>0.08789789457996924</c:v>
                </c:pt>
                <c:pt idx="5">
                  <c:v>0.09222789457996924</c:v>
                </c:pt>
                <c:pt idx="6">
                  <c:v>0.09422789457996925</c:v>
                </c:pt>
                <c:pt idx="7">
                  <c:v>0.09322789457996924</c:v>
                </c:pt>
                <c:pt idx="8">
                  <c:v>0.09162789457996924</c:v>
                </c:pt>
                <c:pt idx="9">
                  <c:v>0.08966789457996924</c:v>
                </c:pt>
                <c:pt idx="10">
                  <c:v>0.08738789457996925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BFBFBF"/>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27.584901851945293</c:v>
                </c:pt>
                <c:pt idx="1">
                  <c:v>25.986624465783308</c:v>
                </c:pt>
              </c:numCache>
            </c:numRef>
          </c:val>
        </c:ser>
        <c:ser>
          <c:idx val="1"/>
          <c:order val="1"/>
          <c:tx>
            <c:strRef>
              <c:strCache>
                <c:ptCount val="1"/>
                <c:pt idx="0">
                  <c:v>South Asia &amp; Pacific</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22.03411212595246</c:v>
                </c:pt>
                <c:pt idx="1">
                  <c:v>24.59922572108077</c:v>
                </c:pt>
              </c:numCache>
            </c:numRef>
          </c:val>
        </c:ser>
        <c:ser>
          <c:idx val="2"/>
          <c:order val="2"/>
          <c:tx>
            <c:strRef>
              <c:strCache>
                <c:ptCount val="1"/>
                <c:pt idx="0">
                  <c:v>East Asia</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21.373063531311495</c:v>
                </c:pt>
                <c:pt idx="1">
                  <c:v>21.031373495699444</c:v>
                </c:pt>
              </c:numCache>
            </c:numRef>
          </c:val>
        </c:ser>
        <c:ser>
          <c:idx val="3"/>
          <c:order val="3"/>
          <c:tx>
            <c:strRef>
              <c:strCache>
                <c:ptCount val="1"/>
                <c:pt idx="0">
                  <c:v>Latin America</c:v>
                </c:pt>
              </c:strCache>
            </c:strRef>
          </c:tx>
          <c:spPr>
            <a:solidFill>
              <a:srgbClr val="EBC46B"/>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9.538527526870867</c:v>
                </c:pt>
                <c:pt idx="1">
                  <c:v>9.755154408740589</c:v>
                </c:pt>
              </c:numCache>
            </c:numRef>
          </c:val>
        </c:ser>
        <c:ser>
          <c:idx val="4"/>
          <c:order val="4"/>
          <c:tx>
            <c:strRef>
              <c:strCache>
                <c:ptCount val="1"/>
                <c:pt idx="0">
                  <c:v>Middle East &amp; Africa</c:v>
                </c:pt>
              </c:strCache>
            </c:strRef>
          </c:tx>
          <c:spPr>
            <a:solidFill>
              <a:srgbClr val="EDA28B"/>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8.840894181763131</c:v>
                </c:pt>
                <c:pt idx="1">
                  <c:v>8.483316345689609</c:v>
                </c:pt>
              </c:numCache>
            </c:numRef>
          </c:val>
        </c:ser>
        <c:ser>
          <c:idx val="5"/>
          <c:order val="5"/>
          <c:tx>
            <c:strRef>
              <c:strCache>
                <c:ptCount val="1"/>
                <c:pt idx="0">
                  <c:v>Eastern Europe</c:v>
                </c:pt>
              </c:strCache>
            </c:strRef>
          </c:tx>
          <c:spPr>
            <a:solidFill>
              <a:srgbClr val="C4E2F4"/>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6.789625069384869</c:v>
                </c:pt>
                <c:pt idx="1">
                  <c:v>6.521914060404485</c:v>
                </c:pt>
              </c:numCache>
            </c:numRef>
          </c:val>
        </c:ser>
        <c:ser>
          <c:idx val="6"/>
          <c:order val="6"/>
          <c:tx>
            <c:strRef>
              <c:strCache>
                <c:ptCount val="1"/>
                <c:pt idx="0">
                  <c:v>Western Europe</c:v>
                </c:pt>
              </c:strCache>
            </c:strRef>
          </c:tx>
          <c:spPr>
            <a:solidFill>
              <a:srgbClr val="9AB3C7"/>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3.8388757127718622</c:v>
                </c:pt>
                <c:pt idx="1">
                  <c:v>3.622391502601791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39.60086215251977</c:v>
                </c:pt>
                <c:pt idx="1">
                  <c:v>40.28193802778765</c:v>
                </c:pt>
              </c:numCache>
            </c:numRef>
          </c:val>
        </c:ser>
        <c:ser>
          <c:idx val="1"/>
          <c:order val="1"/>
          <c:tx>
            <c:strRef>
              <c:strCache>
                <c:ptCount val="1"/>
                <c:pt idx="0">
                  <c:v>South Asia &amp; Pacific</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14.400439383939409</c:v>
                </c:pt>
                <c:pt idx="1">
                  <c:v>14.973515425360883</c:v>
                </c:pt>
              </c:numCache>
            </c:numRef>
          </c:val>
        </c:ser>
        <c:ser>
          <c:idx val="2"/>
          <c:order val="2"/>
          <c:tx>
            <c:strRef>
              <c:strCache>
                <c:ptCount val="1"/>
                <c:pt idx="0">
                  <c:v>East Asia</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15.600283691871244</c:v>
                </c:pt>
                <c:pt idx="1">
                  <c:v>14.449157257706785</c:v>
                </c:pt>
              </c:numCache>
            </c:numRef>
          </c:val>
        </c:ser>
        <c:ser>
          <c:idx val="3"/>
          <c:order val="3"/>
          <c:tx>
            <c:strRef>
              <c:strCache>
                <c:ptCount val="1"/>
                <c:pt idx="0">
                  <c:v>Latin America</c:v>
                </c:pt>
              </c:strCache>
            </c:strRef>
          </c:tx>
          <c:spPr>
            <a:solidFill>
              <a:srgbClr val="EBC46B"/>
            </a:solidFill>
            <a:ln>
              <a:noFill/>
            </a:ln>
          </c:spPr>
          <c:dLbls>
            <c:dLbl>
              <c:idx val="0"/>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9.600292922626274</c:v>
                </c:pt>
                <c:pt idx="1">
                  <c:v>9.864036106611119</c:v>
                </c:pt>
              </c:numCache>
            </c:numRef>
          </c:val>
        </c:ser>
        <c:ser>
          <c:idx val="4"/>
          <c:order val="4"/>
          <c:tx>
            <c:strRef>
              <c:strCache>
                <c:ptCount val="1"/>
                <c:pt idx="0">
                  <c:v>Middle East &amp; Africa</c:v>
                </c:pt>
              </c:strCache>
            </c:strRef>
          </c:tx>
          <c:spPr>
            <a:solidFill>
              <a:srgbClr val="EDA28B"/>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8.40014092286012</c:v>
                </c:pt>
                <c:pt idx="1">
                  <c:v>7.910346804594661</c:v>
                </c:pt>
              </c:numCache>
            </c:numRef>
          </c:val>
        </c:ser>
        <c:ser>
          <c:idx val="5"/>
          <c:order val="5"/>
          <c:tx>
            <c:strRef>
              <c:strCache>
                <c:ptCount val="1"/>
                <c:pt idx="0">
                  <c:v>Eastern Europe</c:v>
                </c:pt>
              </c:strCache>
            </c:strRef>
          </c:tx>
          <c:spPr>
            <a:solidFill>
              <a:srgbClr val="C4E2F4"/>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7.373065579899107</c:v>
                </c:pt>
                <c:pt idx="1">
                  <c:v>7.44906546297621</c:v>
                </c:pt>
              </c:numCache>
            </c:numRef>
          </c:val>
        </c:ser>
        <c:ser>
          <c:idx val="6"/>
          <c:order val="6"/>
          <c:tx>
            <c:strRef>
              <c:strCache>
                <c:ptCount val="1"/>
                <c:pt idx="0">
                  <c:v>Western Europe</c:v>
                </c:pt>
              </c:strCache>
            </c:strRef>
          </c:tx>
          <c:spPr>
            <a:solidFill>
              <a:srgbClr val="9AB3C7"/>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5.024915346284082</c:v>
                </c:pt>
                <c:pt idx="1">
                  <c:v>5.0719409149626955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34.597</c:v>
                </c:pt>
                <c:pt idx="1">
                  <c:v>35.794</c:v>
                </c:pt>
                <c:pt idx="2">
                  <c:v>37.034</c:v>
                </c:pt>
                <c:pt idx="3">
                  <c:v>38.324</c:v>
                </c:pt>
                <c:pt idx="4">
                  <c:v>39.66</c:v>
                </c:pt>
                <c:pt idx="5">
                  <c:v>43.732</c:v>
                </c:pt>
                <c:pt idx="6">
                  <c:v>48.222</c:v>
                </c:pt>
                <c:pt idx="7">
                  <c:v>53.172</c:v>
                </c:pt>
                <c:pt idx="8">
                  <c:v>58.634</c:v>
                </c:pt>
                <c:pt idx="9">
                  <c:v>64.655</c:v>
                </c:pt>
                <c:pt idx="10">
                  <c:v>71.295</c:v>
                </c:pt>
                <c:pt idx="11">
                  <c:v>78.621</c:v>
                </c:pt>
                <c:pt idx="12">
                  <c:v>86.697</c:v>
                </c:pt>
                <c:pt idx="13">
                  <c:v>95.605</c:v>
                </c:pt>
                <c:pt idx="14">
                  <c:v>105.427</c:v>
                </c:pt>
                <c:pt idx="15">
                  <c:v>116.26</c:v>
                </c:pt>
              </c:numCache>
            </c:numRef>
          </c:val>
        </c:ser>
        <c:ser>
          <c:idx val="1"/>
          <c:order val="1"/>
          <c:tx>
            <c:strRef>
              <c:strCache>
                <c:ptCount val="1"/>
                <c:pt idx="0">
                  <c:v>East Asia</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26.173</c:v>
                </c:pt>
                <c:pt idx="1">
                  <c:v>27.213</c:v>
                </c:pt>
                <c:pt idx="2">
                  <c:v>28.294</c:v>
                </c:pt>
                <c:pt idx="3">
                  <c:v>29.418</c:v>
                </c:pt>
                <c:pt idx="4">
                  <c:v>30.586</c:v>
                </c:pt>
                <c:pt idx="5">
                  <c:v>33.884</c:v>
                </c:pt>
                <c:pt idx="6">
                  <c:v>37.538</c:v>
                </c:pt>
                <c:pt idx="7">
                  <c:v>41.582</c:v>
                </c:pt>
                <c:pt idx="8">
                  <c:v>46.059</c:v>
                </c:pt>
                <c:pt idx="9">
                  <c:v>51.015</c:v>
                </c:pt>
                <c:pt idx="10">
                  <c:v>56.501</c:v>
                </c:pt>
                <c:pt idx="11">
                  <c:v>62.575</c:v>
                </c:pt>
                <c:pt idx="12">
                  <c:v>69.298</c:v>
                </c:pt>
                <c:pt idx="13">
                  <c:v>76.741</c:v>
                </c:pt>
                <c:pt idx="14">
                  <c:v>84.977</c:v>
                </c:pt>
                <c:pt idx="15">
                  <c:v>94.091</c:v>
                </c:pt>
              </c:numCache>
            </c:numRef>
          </c:val>
        </c:ser>
        <c:ser>
          <c:idx val="2"/>
          <c:order val="2"/>
          <c:tx>
            <c:strRef>
              <c:strCache>
                <c:ptCount val="1"/>
                <c:pt idx="0">
                  <c:v>South Asia &amp; Pacific</c:v>
                </c:pt>
              </c:strCache>
            </c:strRef>
          </c:tx>
          <c:spPr>
            <a:solidFill>
              <a:srgbClr val="D6CA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25.372</c:v>
                </c:pt>
                <c:pt idx="1">
                  <c:v>26.704</c:v>
                </c:pt>
                <c:pt idx="2">
                  <c:v>28.108</c:v>
                </c:pt>
                <c:pt idx="3">
                  <c:v>29.585</c:v>
                </c:pt>
                <c:pt idx="4">
                  <c:v>31.144</c:v>
                </c:pt>
                <c:pt idx="5">
                  <c:v>34.932</c:v>
                </c:pt>
                <c:pt idx="6">
                  <c:v>39.18</c:v>
                </c:pt>
                <c:pt idx="7">
                  <c:v>43.944</c:v>
                </c:pt>
                <c:pt idx="8">
                  <c:v>49.289</c:v>
                </c:pt>
                <c:pt idx="9">
                  <c:v>55.283</c:v>
                </c:pt>
                <c:pt idx="10">
                  <c:v>62.003</c:v>
                </c:pt>
                <c:pt idx="11">
                  <c:v>69.544</c:v>
                </c:pt>
                <c:pt idx="12">
                  <c:v>78.002</c:v>
                </c:pt>
                <c:pt idx="13">
                  <c:v>87.487</c:v>
                </c:pt>
                <c:pt idx="14">
                  <c:v>98.122</c:v>
                </c:pt>
                <c:pt idx="15">
                  <c:v>110.053</c:v>
                </c:pt>
              </c:numCache>
            </c:numRef>
          </c:val>
        </c:ser>
        <c:ser>
          <c:idx val="3"/>
          <c:order val="3"/>
          <c:tx>
            <c:strRef>
              <c:strCache>
                <c:ptCount val="1"/>
                <c:pt idx="0">
                  <c:v>Latin America</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11.456</c:v>
                </c:pt>
                <c:pt idx="1">
                  <c:v>11.956</c:v>
                </c:pt>
                <c:pt idx="2">
                  <c:v>12.479</c:v>
                </c:pt>
                <c:pt idx="3">
                  <c:v>13.027</c:v>
                </c:pt>
                <c:pt idx="4">
                  <c:v>13.597</c:v>
                </c:pt>
                <c:pt idx="5">
                  <c:v>15.122</c:v>
                </c:pt>
                <c:pt idx="6">
                  <c:v>16.815</c:v>
                </c:pt>
                <c:pt idx="7">
                  <c:v>18.7</c:v>
                </c:pt>
                <c:pt idx="8">
                  <c:v>20.792</c:v>
                </c:pt>
                <c:pt idx="9">
                  <c:v>23.119</c:v>
                </c:pt>
                <c:pt idx="10">
                  <c:v>25.704</c:v>
                </c:pt>
                <c:pt idx="11">
                  <c:v>28.578</c:v>
                </c:pt>
                <c:pt idx="12">
                  <c:v>31.771</c:v>
                </c:pt>
                <c:pt idx="13">
                  <c:v>35.317</c:v>
                </c:pt>
                <c:pt idx="14">
                  <c:v>39.262</c:v>
                </c:pt>
                <c:pt idx="15">
                  <c:v>43.643</c:v>
                </c:pt>
              </c:numCache>
            </c:numRef>
          </c:val>
        </c:ser>
        <c:ser>
          <c:idx val="4"/>
          <c:order val="4"/>
          <c:tx>
            <c:strRef>
              <c:strCache>
                <c:ptCount val="1"/>
                <c:pt idx="0">
                  <c:v>Middle East &amp; Africa</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10.993</c:v>
                </c:pt>
                <c:pt idx="1">
                  <c:v>11.392</c:v>
                </c:pt>
                <c:pt idx="2">
                  <c:v>11.808</c:v>
                </c:pt>
                <c:pt idx="3">
                  <c:v>12.241</c:v>
                </c:pt>
                <c:pt idx="4">
                  <c:v>12.689</c:v>
                </c:pt>
                <c:pt idx="5">
                  <c:v>14.016</c:v>
                </c:pt>
                <c:pt idx="6">
                  <c:v>15.485</c:v>
                </c:pt>
                <c:pt idx="7">
                  <c:v>17.106</c:v>
                </c:pt>
                <c:pt idx="8">
                  <c:v>18.897</c:v>
                </c:pt>
                <c:pt idx="9">
                  <c:v>20.875</c:v>
                </c:pt>
                <c:pt idx="10">
                  <c:v>23.06</c:v>
                </c:pt>
                <c:pt idx="11">
                  <c:v>25.475</c:v>
                </c:pt>
                <c:pt idx="12">
                  <c:v>28.144</c:v>
                </c:pt>
                <c:pt idx="13">
                  <c:v>31.096</c:v>
                </c:pt>
                <c:pt idx="14">
                  <c:v>34.351</c:v>
                </c:pt>
                <c:pt idx="15">
                  <c:v>37.953</c:v>
                </c:pt>
              </c:numCache>
            </c:numRef>
          </c:val>
        </c:ser>
        <c:ser>
          <c:idx val="5"/>
          <c:order val="5"/>
          <c:tx>
            <c:strRef>
              <c:strCache>
                <c:ptCount val="1"/>
                <c:pt idx="0">
                  <c:v>Eastern Europe</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8.417</c:v>
                </c:pt>
                <c:pt idx="1">
                  <c:v>8.731</c:v>
                </c:pt>
                <c:pt idx="2">
                  <c:v>9.054</c:v>
                </c:pt>
                <c:pt idx="3">
                  <c:v>9.391</c:v>
                </c:pt>
                <c:pt idx="4">
                  <c:v>9.74</c:v>
                </c:pt>
                <c:pt idx="5">
                  <c:v>10.764</c:v>
                </c:pt>
                <c:pt idx="6">
                  <c:v>11.895</c:v>
                </c:pt>
                <c:pt idx="7">
                  <c:v>13.142</c:v>
                </c:pt>
                <c:pt idx="8">
                  <c:v>14.523</c:v>
                </c:pt>
                <c:pt idx="9">
                  <c:v>16.047</c:v>
                </c:pt>
                <c:pt idx="10">
                  <c:v>17.729</c:v>
                </c:pt>
                <c:pt idx="11">
                  <c:v>19.588</c:v>
                </c:pt>
                <c:pt idx="12">
                  <c:v>21.64</c:v>
                </c:pt>
                <c:pt idx="13">
                  <c:v>23.908</c:v>
                </c:pt>
                <c:pt idx="14">
                  <c:v>26.413</c:v>
                </c:pt>
                <c:pt idx="15">
                  <c:v>29.178</c:v>
                </c:pt>
              </c:numCache>
            </c:numRef>
          </c:val>
        </c:ser>
        <c:ser>
          <c:idx val="6"/>
          <c:order val="6"/>
          <c:tx>
            <c:strRef>
              <c:strCache>
                <c:ptCount val="1"/>
                <c:pt idx="0">
                  <c:v>Western Europe</c:v>
                </c:pt>
              </c:strCache>
            </c:strRef>
          </c:tx>
          <c:spPr>
            <a:solidFill>
              <a:srgbClr val="9AB3C7"/>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4.815</c:v>
                </c:pt>
                <c:pt idx="1">
                  <c:v>4.982</c:v>
                </c:pt>
                <c:pt idx="2">
                  <c:v>5.155</c:v>
                </c:pt>
                <c:pt idx="3">
                  <c:v>5.332</c:v>
                </c:pt>
                <c:pt idx="4">
                  <c:v>5.519</c:v>
                </c:pt>
                <c:pt idx="5">
                  <c:v>6.086</c:v>
                </c:pt>
                <c:pt idx="6">
                  <c:v>6.713</c:v>
                </c:pt>
                <c:pt idx="7">
                  <c:v>7.404</c:v>
                </c:pt>
                <c:pt idx="8">
                  <c:v>8.163</c:v>
                </c:pt>
                <c:pt idx="9">
                  <c:v>9.004</c:v>
                </c:pt>
                <c:pt idx="10">
                  <c:v>9.929</c:v>
                </c:pt>
                <c:pt idx="11">
                  <c:v>10.952</c:v>
                </c:pt>
                <c:pt idx="12">
                  <c:v>12.078</c:v>
                </c:pt>
                <c:pt idx="13">
                  <c:v>13.321</c:v>
                </c:pt>
                <c:pt idx="14">
                  <c:v>14.689</c:v>
                </c:pt>
                <c:pt idx="15">
                  <c:v>16.206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189.955</c:v>
                </c:pt>
                <c:pt idx="1">
                  <c:v>199.287</c:v>
                </c:pt>
                <c:pt idx="2">
                  <c:v>209.092</c:v>
                </c:pt>
                <c:pt idx="3">
                  <c:v>219.395</c:v>
                </c:pt>
                <c:pt idx="4">
                  <c:v>230.22</c:v>
                </c:pt>
                <c:pt idx="5">
                  <c:v>257.406</c:v>
                </c:pt>
                <c:pt idx="6">
                  <c:v>287.796</c:v>
                </c:pt>
                <c:pt idx="7">
                  <c:v>321.769</c:v>
                </c:pt>
                <c:pt idx="8">
                  <c:v>359.754</c:v>
                </c:pt>
                <c:pt idx="9">
                  <c:v>402.217</c:v>
                </c:pt>
                <c:pt idx="10">
                  <c:v>449.692</c:v>
                </c:pt>
                <c:pt idx="11">
                  <c:v>502.767</c:v>
                </c:pt>
                <c:pt idx="12">
                  <c:v>562.103</c:v>
                </c:pt>
                <c:pt idx="13">
                  <c:v>628.438</c:v>
                </c:pt>
                <c:pt idx="14">
                  <c:v>702.592</c:v>
                </c:pt>
                <c:pt idx="15">
                  <c:v>785.499</c:v>
                </c:pt>
              </c:numCache>
            </c:numRef>
          </c:val>
        </c:ser>
        <c:ser>
          <c:idx val="1"/>
          <c:order val="1"/>
          <c:tx>
            <c:strRef>
              <c:strCache>
                <c:ptCount val="1"/>
                <c:pt idx="0">
                  <c:v>East Asia</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78.281</c:v>
                </c:pt>
                <c:pt idx="1">
                  <c:v>81.4</c:v>
                </c:pt>
                <c:pt idx="2">
                  <c:v>84.643</c:v>
                </c:pt>
                <c:pt idx="3">
                  <c:v>88.016</c:v>
                </c:pt>
                <c:pt idx="4">
                  <c:v>91.525</c:v>
                </c:pt>
                <c:pt idx="5">
                  <c:v>101.402</c:v>
                </c:pt>
                <c:pt idx="6">
                  <c:v>112.345</c:v>
                </c:pt>
                <c:pt idx="7">
                  <c:v>124.461</c:v>
                </c:pt>
                <c:pt idx="8">
                  <c:v>137.874</c:v>
                </c:pt>
                <c:pt idx="9">
                  <c:v>152.722</c:v>
                </c:pt>
                <c:pt idx="10">
                  <c:v>169.159</c:v>
                </c:pt>
                <c:pt idx="11">
                  <c:v>187.355</c:v>
                </c:pt>
                <c:pt idx="12">
                  <c:v>207.495</c:v>
                </c:pt>
                <c:pt idx="13">
                  <c:v>229.785</c:v>
                </c:pt>
                <c:pt idx="14">
                  <c:v>254.458</c:v>
                </c:pt>
                <c:pt idx="15">
                  <c:v>281.759</c:v>
                </c:pt>
              </c:numCache>
            </c:numRef>
          </c:val>
        </c:ser>
        <c:ser>
          <c:idx val="2"/>
          <c:order val="2"/>
          <c:tx>
            <c:strRef>
              <c:strCache>
                <c:ptCount val="1"/>
                <c:pt idx="0">
                  <c:v>South Asia &amp; Pacific</c:v>
                </c:pt>
              </c:strCache>
            </c:strRef>
          </c:tx>
          <c:spPr>
            <a:solidFill>
              <a:srgbClr val="D6CA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68.356</c:v>
                </c:pt>
                <c:pt idx="1">
                  <c:v>71.863</c:v>
                </c:pt>
                <c:pt idx="2">
                  <c:v>75.555</c:v>
                </c:pt>
                <c:pt idx="3">
                  <c:v>79.444</c:v>
                </c:pt>
                <c:pt idx="4">
                  <c:v>83.54</c:v>
                </c:pt>
                <c:pt idx="5">
                  <c:v>93.603</c:v>
                </c:pt>
                <c:pt idx="6">
                  <c:v>104.876</c:v>
                </c:pt>
                <c:pt idx="7">
                  <c:v>117.507</c:v>
                </c:pt>
                <c:pt idx="8">
                  <c:v>131.662</c:v>
                </c:pt>
                <c:pt idx="9">
                  <c:v>147.525</c:v>
                </c:pt>
                <c:pt idx="10">
                  <c:v>165.301</c:v>
                </c:pt>
                <c:pt idx="11">
                  <c:v>185.218</c:v>
                </c:pt>
                <c:pt idx="12">
                  <c:v>207.537</c:v>
                </c:pt>
                <c:pt idx="13">
                  <c:v>232.549</c:v>
                </c:pt>
                <c:pt idx="14">
                  <c:v>260.578</c:v>
                </c:pt>
                <c:pt idx="15">
                  <c:v>291.984</c:v>
                </c:pt>
              </c:numCache>
            </c:numRef>
          </c:val>
        </c:ser>
        <c:ser>
          <c:idx val="3"/>
          <c:order val="3"/>
          <c:tx>
            <c:strRef>
              <c:strCache>
                <c:ptCount val="1"/>
                <c:pt idx="0">
                  <c:v>Latin America</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45.747</c:v>
                </c:pt>
                <c:pt idx="1">
                  <c:v>48.061</c:v>
                </c:pt>
                <c:pt idx="2">
                  <c:v>50.494</c:v>
                </c:pt>
                <c:pt idx="3">
                  <c:v>53.053</c:v>
                </c:pt>
                <c:pt idx="4">
                  <c:v>55.741</c:v>
                </c:pt>
                <c:pt idx="5">
                  <c:v>62.402</c:v>
                </c:pt>
                <c:pt idx="6">
                  <c:v>69.852</c:v>
                </c:pt>
                <c:pt idx="7">
                  <c:v>78.187</c:v>
                </c:pt>
                <c:pt idx="8">
                  <c:v>87.513</c:v>
                </c:pt>
                <c:pt idx="9">
                  <c:v>97.949</c:v>
                </c:pt>
                <c:pt idx="10">
                  <c:v>109.622</c:v>
                </c:pt>
                <c:pt idx="11">
                  <c:v>122.681</c:v>
                </c:pt>
                <c:pt idx="12">
                  <c:v>137.29</c:v>
                </c:pt>
                <c:pt idx="13">
                  <c:v>153.63</c:v>
                </c:pt>
                <c:pt idx="14">
                  <c:v>171.906</c:v>
                </c:pt>
                <c:pt idx="15">
                  <c:v>192.349</c:v>
                </c:pt>
              </c:numCache>
            </c:numRef>
          </c:val>
        </c:ser>
        <c:ser>
          <c:idx val="4"/>
          <c:order val="4"/>
          <c:tx>
            <c:strRef>
              <c:strCache>
                <c:ptCount val="1"/>
                <c:pt idx="0">
                  <c:v>Middle East &amp; Africa</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41.911</c:v>
                </c:pt>
                <c:pt idx="1">
                  <c:v>43.624</c:v>
                </c:pt>
                <c:pt idx="2">
                  <c:v>45.413</c:v>
                </c:pt>
                <c:pt idx="3">
                  <c:v>47.276</c:v>
                </c:pt>
                <c:pt idx="4">
                  <c:v>49.22</c:v>
                </c:pt>
                <c:pt idx="5">
                  <c:v>54.601</c:v>
                </c:pt>
                <c:pt idx="6">
                  <c:v>60.575</c:v>
                </c:pt>
                <c:pt idx="7">
                  <c:v>67.201</c:v>
                </c:pt>
                <c:pt idx="8">
                  <c:v>74.553</c:v>
                </c:pt>
                <c:pt idx="9">
                  <c:v>82.709</c:v>
                </c:pt>
                <c:pt idx="10">
                  <c:v>91.762</c:v>
                </c:pt>
                <c:pt idx="11">
                  <c:v>101.803</c:v>
                </c:pt>
                <c:pt idx="12">
                  <c:v>112.946</c:v>
                </c:pt>
                <c:pt idx="13">
                  <c:v>125.309</c:v>
                </c:pt>
                <c:pt idx="14">
                  <c:v>139.028</c:v>
                </c:pt>
                <c:pt idx="15">
                  <c:v>154.252</c:v>
                </c:pt>
              </c:numCache>
            </c:numRef>
          </c:val>
        </c:ser>
        <c:ser>
          <c:idx val="5"/>
          <c:order val="5"/>
          <c:tx>
            <c:strRef>
              <c:strCache>
                <c:ptCount val="1"/>
                <c:pt idx="0">
                  <c:v>Eastern Europe</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35.442</c:v>
                </c:pt>
                <c:pt idx="1">
                  <c:v>37.171</c:v>
                </c:pt>
                <c:pt idx="2">
                  <c:v>38.983</c:v>
                </c:pt>
                <c:pt idx="3">
                  <c:v>40.887</c:v>
                </c:pt>
                <c:pt idx="4">
                  <c:v>42.886</c:v>
                </c:pt>
                <c:pt idx="5">
                  <c:v>47.925</c:v>
                </c:pt>
                <c:pt idx="6">
                  <c:v>53.555</c:v>
                </c:pt>
                <c:pt idx="7">
                  <c:v>59.843</c:v>
                </c:pt>
                <c:pt idx="8">
                  <c:v>66.87</c:v>
                </c:pt>
                <c:pt idx="9">
                  <c:v>74.716</c:v>
                </c:pt>
                <c:pt idx="10">
                  <c:v>83.478</c:v>
                </c:pt>
                <c:pt idx="11">
                  <c:v>93.267</c:v>
                </c:pt>
                <c:pt idx="12">
                  <c:v>104.196</c:v>
                </c:pt>
                <c:pt idx="13">
                  <c:v>116.403</c:v>
                </c:pt>
                <c:pt idx="14">
                  <c:v>130.035</c:v>
                </c:pt>
                <c:pt idx="15">
                  <c:v>145.257</c:v>
                </c:pt>
              </c:numCache>
            </c:numRef>
          </c:val>
        </c:ser>
        <c:ser>
          <c:idx val="6"/>
          <c:order val="6"/>
          <c:tx>
            <c:strRef>
              <c:strCache>
                <c:ptCount val="1"/>
                <c:pt idx="0">
                  <c:v>Western Europe</c:v>
                </c:pt>
              </c:strCache>
            </c:strRef>
          </c:tx>
          <c:spPr>
            <a:solidFill>
              <a:srgbClr val="9AB3C7"/>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24.224</c:v>
                </c:pt>
                <c:pt idx="1">
                  <c:v>25.389</c:v>
                </c:pt>
                <c:pt idx="2">
                  <c:v>26.611</c:v>
                </c:pt>
                <c:pt idx="3">
                  <c:v>27.892</c:v>
                </c:pt>
                <c:pt idx="4">
                  <c:v>29.24</c:v>
                </c:pt>
                <c:pt idx="5">
                  <c:v>32.662</c:v>
                </c:pt>
                <c:pt idx="6">
                  <c:v>36.483</c:v>
                </c:pt>
                <c:pt idx="7">
                  <c:v>40.757</c:v>
                </c:pt>
                <c:pt idx="8">
                  <c:v>45.527</c:v>
                </c:pt>
                <c:pt idx="9">
                  <c:v>50.862</c:v>
                </c:pt>
                <c:pt idx="10">
                  <c:v>56.819</c:v>
                </c:pt>
                <c:pt idx="11">
                  <c:v>63.476</c:v>
                </c:pt>
                <c:pt idx="12">
                  <c:v>70.918</c:v>
                </c:pt>
                <c:pt idx="13">
                  <c:v>79.231</c:v>
                </c:pt>
                <c:pt idx="14">
                  <c:v>88.522</c:v>
                </c:pt>
                <c:pt idx="15">
                  <c:v>98.903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500 Wh to Below 1,000 Wh</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28.314611285805285</c:v>
                </c:pt>
                <c:pt idx="1">
                  <c:v>27.077524663183183</c:v>
                </c:pt>
                <c:pt idx="2">
                  <c:v>28.209682856624223</c:v>
                </c:pt>
                <c:pt idx="3">
                  <c:v>27.16468502565649</c:v>
                </c:pt>
                <c:pt idx="4">
                  <c:v>27.031612122416675</c:v>
                </c:pt>
                <c:pt idx="5">
                  <c:v>30.321524467094086</c:v>
                </c:pt>
                <c:pt idx="6">
                  <c:v>24.454009489509218</c:v>
                </c:pt>
              </c:numCache>
            </c:numRef>
          </c:val>
        </c:ser>
        <c:ser>
          <c:idx val="1"/>
          <c:order val="1"/>
          <c:tx>
            <c:strRef>
              <c:strCache>
                <c:ptCount val="1"/>
                <c:pt idx="0">
                  <c:v>1,000 Wh to Below 1,500 Wh</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34.10513331243744</c:v>
                </c:pt>
                <c:pt idx="1">
                  <c:v>37.79370357366599</c:v>
                </c:pt>
                <c:pt idx="2">
                  <c:v>34.450768871716406</c:v>
                </c:pt>
                <c:pt idx="3">
                  <c:v>32.97235753760092</c:v>
                </c:pt>
                <c:pt idx="4">
                  <c:v>35.97968476605894</c:v>
                </c:pt>
                <c:pt idx="5">
                  <c:v>30.353033042906457</c:v>
                </c:pt>
                <c:pt idx="6">
                  <c:v>35.843075548154744</c:v>
                </c:pt>
              </c:numCache>
            </c:numRef>
          </c:val>
        </c:ser>
        <c:ser>
          <c:idx val="2"/>
          <c:order val="2"/>
          <c:tx>
            <c:strRef>
              <c:strCache>
                <c:ptCount val="1"/>
                <c:pt idx="0">
                  <c:v>1,500 Wh to 2,000 Wh</c:v>
                </c:pt>
              </c:strCache>
            </c:strRef>
          </c:tx>
          <c:spPr>
            <a:solidFill>
              <a:srgbClr val="D6CAC4"/>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37.58025540175728</c:v>
                </c:pt>
                <c:pt idx="1">
                  <c:v>35.12877176315083</c:v>
                </c:pt>
                <c:pt idx="2">
                  <c:v>37.33954827165936</c:v>
                </c:pt>
                <c:pt idx="3">
                  <c:v>39.86295743674259</c:v>
                </c:pt>
                <c:pt idx="4">
                  <c:v>36.98870311152439</c:v>
                </c:pt>
                <c:pt idx="5">
                  <c:v>39.325442489999446</c:v>
                </c:pt>
                <c:pt idx="6">
                  <c:v>39.70291496233604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500 Wh to Below 1,000 Wh</c:v>
                </c:pt>
              </c:strCache>
            </c:strRef>
          </c:tx>
          <c:spPr>
            <a:solidFill>
              <a:srgbClr val="00A4DC"/>
            </a:solidFill>
          </c:spPr>
          <c:invertIfNegative val="0"/>
          <c:xVal>
            <c:numRef>
              <c:numCache>
                <c:formatCode>General</c:formatCode>
                <c:ptCount val="1"/>
                <c:pt idx="0">
                  <c:v>92.937861607405</c:v>
                </c:pt>
              </c:numCache>
            </c:numRef>
          </c:xVal>
          <c:yVal>
            <c:numRef>
              <c:numCache>
                <c:formatCode>General</c:formatCode>
                <c:ptCount val="1"/>
                <c:pt idx="0">
                  <c:v>86.10355984067716</c:v>
                </c:pt>
              </c:numCache>
            </c:numRef>
          </c:yVal>
          <c:bubbleSize>
            <c:numRef>
              <c:numCache>
                <c:formatCode>General</c:formatCode>
                <c:ptCount val="1"/>
                <c:pt idx="0">
                  <c:v>519.885</c:v>
                </c:pt>
              </c:numCache>
            </c:numRef>
          </c:bubbleSize>
          <c:bubble3D val="0"/>
        </c:ser>
        <c:ser>
          <c:idx val="1"/>
          <c:order val="1"/>
          <c:tx>
            <c:strRef>
              <c:strCache>
                <c:ptCount val="1"/>
                <c:pt idx="0">
                  <c:v>1,000 Wh to Below 1,500 Wh</c:v>
                </c:pt>
              </c:strCache>
            </c:strRef>
          </c:tx>
          <c:spPr>
            <a:solidFill>
              <a:srgbClr val="6ECFF2"/>
            </a:solidFill>
          </c:spPr>
          <c:invertIfNegative val="0"/>
          <c:xVal>
            <c:numRef>
              <c:numCache>
                <c:formatCode>General</c:formatCode>
                <c:ptCount val="1"/>
                <c:pt idx="0">
                  <c:v>113.1749156711683</c:v>
                </c:pt>
              </c:numCache>
            </c:numRef>
          </c:xVal>
          <c:yVal>
            <c:numRef>
              <c:numCache>
                <c:formatCode>General</c:formatCode>
                <c:ptCount val="1"/>
                <c:pt idx="0">
                  <c:v>90.86201405843991</c:v>
                </c:pt>
              </c:numCache>
            </c:numRef>
          </c:yVal>
          <c:bubbleSize>
            <c:numRef>
              <c:numCache>
                <c:formatCode>General</c:formatCode>
                <c:ptCount val="1"/>
                <c:pt idx="0">
                  <c:v>676.741</c:v>
                </c:pt>
              </c:numCache>
            </c:numRef>
          </c:bubbleSize>
          <c:bubble3D val="0"/>
        </c:ser>
        <c:ser>
          <c:idx val="2"/>
          <c:order val="2"/>
          <c:tx>
            <c:strRef>
              <c:strCache>
                <c:ptCount val="1"/>
                <c:pt idx="0">
                  <c:v>1,500 Wh to 2,000 Wh</c:v>
                </c:pt>
              </c:strCache>
            </c:strRef>
          </c:tx>
          <c:spPr>
            <a:solidFill>
              <a:srgbClr val="D6CAC4"/>
            </a:solidFill>
          </c:spPr>
          <c:invertIfNegative val="0"/>
          <c:xVal>
            <c:numRef>
              <c:numCache>
                <c:formatCode>General</c:formatCode>
                <c:ptCount val="1"/>
                <c:pt idx="0">
                  <c:v>94.27879587809458</c:v>
                </c:pt>
              </c:numCache>
            </c:numRef>
          </c:xVal>
          <c:yVal>
            <c:numRef>
              <c:numCache>
                <c:formatCode>General</c:formatCode>
                <c:ptCount val="1"/>
                <c:pt idx="0">
                  <c:v>123.03442610088294</c:v>
                </c:pt>
              </c:numCache>
            </c:numRef>
          </c:yVal>
          <c:bubbleSize>
            <c:numRef>
              <c:numCache>
                <c:formatCode>General</c:formatCode>
                <c:ptCount val="1"/>
                <c:pt idx="0">
                  <c:v>753.377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40.0"/>
          <c:min val="7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186.558</c:v>
                </c:pt>
                <c:pt idx="2">
                  <c:v>229.013</c:v>
                </c:pt>
                <c:pt idx="3">
                  <c:v>281.122</c:v>
                </c:pt>
                <c:pt idx="4">
                  <c:v>345.073</c:v>
                </c:pt>
                <c:pt idx="5">
                  <c:v>423.564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186.558</c:v>
                </c:pt>
                <c:pt idx="1">
                  <c:v>42.45500000000001</c:v>
                </c:pt>
                <c:pt idx="2">
                  <c:v>52.10900000000001</c:v>
                </c:pt>
                <c:pt idx="3">
                  <c:v>63.950999999999965</c:v>
                </c:pt>
                <c:pt idx="4">
                  <c:v>78.49100000000004</c:v>
                </c:pt>
                <c:pt idx="5">
                  <c:v>96.32099999999997</c:v>
                </c:pt>
                <c:pt idx="6">
                  <c:v>519.885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196.868</c:v>
                </c:pt>
                <c:pt idx="2">
                  <c:v>252.574</c:v>
                </c:pt>
                <c:pt idx="3">
                  <c:v>323.661</c:v>
                </c:pt>
                <c:pt idx="4">
                  <c:v>414.289</c:v>
                </c:pt>
                <c:pt idx="5">
                  <c:v>529.753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196.868</c:v>
                </c:pt>
                <c:pt idx="1">
                  <c:v>55.70600000000002</c:v>
                </c:pt>
                <c:pt idx="2">
                  <c:v>71.08699999999999</c:v>
                </c:pt>
                <c:pt idx="3">
                  <c:v>90.62799999999999</c:v>
                </c:pt>
                <c:pt idx="4">
                  <c:v>115.46400000000006</c:v>
                </c:pt>
                <c:pt idx="5">
                  <c:v>146.98799999999994</c:v>
                </c:pt>
                <c:pt idx="6">
                  <c:v>676.741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266.575</c:v>
                </c:pt>
                <c:pt idx="2">
                  <c:v>328.138</c:v>
                </c:pt>
                <c:pt idx="3">
                  <c:v>403.917</c:v>
                </c:pt>
                <c:pt idx="4">
                  <c:v>497.205</c:v>
                </c:pt>
                <c:pt idx="5">
                  <c:v>612.028</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266.575</c:v>
                </c:pt>
                <c:pt idx="1">
                  <c:v>61.56299999999999</c:v>
                </c:pt>
                <c:pt idx="2">
                  <c:v>75.779</c:v>
                </c:pt>
                <c:pt idx="3">
                  <c:v>93.28800000000001</c:v>
                </c:pt>
                <c:pt idx="4">
                  <c:v>114.82300000000004</c:v>
                </c:pt>
                <c:pt idx="5">
                  <c:v>141.34899999999993</c:v>
                </c:pt>
                <c:pt idx="6">
                  <c:v>753.377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1,500 Wh to 2,000 Wh</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42.255060795675284</c:v>
                </c:pt>
                <c:pt idx="1">
                  <c:v>41.01147536696097</c:v>
                </c:pt>
                <c:pt idx="2">
                  <c:v>38.634658510781776</c:v>
                </c:pt>
              </c:numCache>
            </c:numRef>
          </c:val>
        </c:ser>
        <c:ser>
          <c:idx val="1"/>
          <c:order val="1"/>
          <c:tx>
            <c:strRef>
              <c:strCache>
                <c:ptCount val="1"/>
                <c:pt idx="0">
                  <c:v>1,000 Wh to Below 1,500 Wh</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27.97386323246183</c:v>
                </c:pt>
                <c:pt idx="1">
                  <c:v>30.28733801947997</c:v>
                </c:pt>
                <c:pt idx="2">
                  <c:v>34.704613274953935</c:v>
                </c:pt>
              </c:numCache>
            </c:numRef>
          </c:val>
        </c:ser>
        <c:ser>
          <c:idx val="2"/>
          <c:order val="2"/>
          <c:tx>
            <c:strRef>
              <c:strCache>
                <c:ptCount val="1"/>
                <c:pt idx="0">
                  <c:v>500 Wh to Below 1,000 Wh</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29.77107597186288</c:v>
                </c:pt>
                <c:pt idx="1">
                  <c:v>28.701186613559056</c:v>
                </c:pt>
                <c:pt idx="2">
                  <c:v>26.660728214264285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Lithium Cobalt Oxide (LCO)</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28.36718805294076</c:v>
                </c:pt>
                <c:pt idx="1">
                  <c:v>27.316411601506296</c:v>
                </c:pt>
                <c:pt idx="2">
                  <c:v>24.98314446490159</c:v>
                </c:pt>
                <c:pt idx="3">
                  <c:v>23.924221077312595</c:v>
                </c:pt>
                <c:pt idx="4">
                  <c:v>29.628867223407234</c:v>
                </c:pt>
                <c:pt idx="5">
                  <c:v>24.977053537180122</c:v>
                </c:pt>
                <c:pt idx="6">
                  <c:v>29.23453753601214</c:v>
                </c:pt>
              </c:numCache>
            </c:numRef>
          </c:val>
        </c:ser>
        <c:ser>
          <c:idx val="1"/>
          <c:order val="1"/>
          <c:tx>
            <c:strRef>
              <c:strCache>
                <c:ptCount val="1"/>
                <c:pt idx="0">
                  <c:v>Lithium Nickel Manganese Cobalt Oxide (NMC)</c:v>
                </c:pt>
              </c:strCache>
            </c:strRef>
          </c:tx>
          <c:spPr>
            <a:solidFill>
              <a:srgbClr val="6ECFF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44.16448439379999</c:v>
                </c:pt>
                <c:pt idx="1">
                  <c:v>44.69939486565192</c:v>
                </c:pt>
                <c:pt idx="2">
                  <c:v>46.75336462412156</c:v>
                </c:pt>
                <c:pt idx="3">
                  <c:v>43.19284217750028</c:v>
                </c:pt>
                <c:pt idx="4">
                  <c:v>38.57552021408367</c:v>
                </c:pt>
                <c:pt idx="5">
                  <c:v>46.24945202476848</c:v>
                </c:pt>
                <c:pt idx="6">
                  <c:v>42.06077919895505</c:v>
                </c:pt>
              </c:numCache>
            </c:numRef>
          </c:val>
        </c:ser>
        <c:ser>
          <c:idx val="2"/>
          <c:order val="2"/>
          <c:tx>
            <c:strRef>
              <c:strCache>
                <c:ptCount val="1"/>
                <c:pt idx="0">
                  <c:v>Lithium Iron Phosphate (LFP)</c:v>
                </c:pt>
              </c:strCache>
            </c:strRef>
          </c:tx>
          <c:spPr>
            <a:solidFill>
              <a:srgbClr val="D6CAC4"/>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12.467771452837628</c:v>
                </c:pt>
                <c:pt idx="1">
                  <c:v>11.04800457120827</c:v>
                </c:pt>
                <c:pt idx="2">
                  <c:v>12.840028006119855</c:v>
                </c:pt>
                <c:pt idx="3">
                  <c:v>13.744287726996243</c:v>
                </c:pt>
                <c:pt idx="4">
                  <c:v>13.189285879066862</c:v>
                </c:pt>
                <c:pt idx="5">
                  <c:v>11.775302756315414</c:v>
                </c:pt>
                <c:pt idx="6">
                  <c:v>13.056923051461556</c:v>
                </c:pt>
              </c:numCache>
            </c:numRef>
          </c:val>
        </c:ser>
        <c:ser>
          <c:idx val="3"/>
          <c:order val="3"/>
          <c:tx>
            <c:strRef>
              <c:strCache>
                <c:ptCount val="1"/>
                <c:pt idx="0">
                  <c:v>Other Lithium-Ion Cathode Chemistries</c:v>
                </c:pt>
              </c:strCache>
            </c:strRef>
          </c:tx>
          <c:spPr>
            <a:solidFill>
              <a:srgbClr val="EBC46B"/>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15.000556100421624</c:v>
                </c:pt>
                <c:pt idx="1">
                  <c:v>16.936188961633516</c:v>
                </c:pt>
                <c:pt idx="2">
                  <c:v>15.423462904856985</c:v>
                </c:pt>
                <c:pt idx="3">
                  <c:v>19.138649018190897</c:v>
                </c:pt>
                <c:pt idx="4">
                  <c:v>18.60632668344223</c:v>
                </c:pt>
                <c:pt idx="5">
                  <c:v>16.998191681735985</c:v>
                </c:pt>
                <c:pt idx="6">
                  <c:v>15.647760213571246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Lithium Cobalt Oxide (LCO)</c:v>
                </c:pt>
              </c:strCache>
            </c:strRef>
          </c:tx>
          <c:spPr>
            <a:solidFill>
              <a:srgbClr val="00A4DC"/>
            </a:solidFill>
          </c:spPr>
          <c:invertIfNegative val="0"/>
          <c:xVal>
            <c:numRef>
              <c:numCache>
                <c:formatCode>General</c:formatCode>
                <c:ptCount val="1"/>
                <c:pt idx="0">
                  <c:v>95.09496112358423</c:v>
                </c:pt>
              </c:numCache>
            </c:numRef>
          </c:xVal>
          <c:yVal>
            <c:numRef>
              <c:numCache>
                <c:formatCode>General</c:formatCode>
                <c:ptCount val="1"/>
                <c:pt idx="0">
                  <c:v>116.22505196145853</c:v>
                </c:pt>
              </c:numCache>
            </c:numRef>
          </c:yVal>
          <c:bubbleSize>
            <c:numRef>
              <c:numCache>
                <c:formatCode>General</c:formatCode>
                <c:ptCount val="1"/>
                <c:pt idx="0">
                  <c:v>538.338</c:v>
                </c:pt>
              </c:numCache>
            </c:numRef>
          </c:bubbleSize>
          <c:bubble3D val="0"/>
        </c:ser>
        <c:ser>
          <c:idx val="1"/>
          <c:order val="1"/>
          <c:tx>
            <c:strRef>
              <c:strCache>
                <c:ptCount val="1"/>
                <c:pt idx="0">
                  <c:v>Lithium Nickel Manganese Cobalt Oxide (NMC)</c:v>
                </c:pt>
              </c:strCache>
            </c:strRef>
          </c:tx>
          <c:spPr>
            <a:solidFill>
              <a:srgbClr val="6ECFF2"/>
            </a:solidFill>
          </c:spPr>
          <c:invertIfNegative val="0"/>
          <c:xVal>
            <c:numRef>
              <c:numCache>
                <c:formatCode>General</c:formatCode>
                <c:ptCount val="1"/>
                <c:pt idx="0">
                  <c:v>104.71265946549559</c:v>
                </c:pt>
              </c:numCache>
            </c:numRef>
          </c:xVal>
          <c:yVal>
            <c:numRef>
              <c:numCache>
                <c:formatCode>General</c:formatCode>
                <c:ptCount val="1"/>
                <c:pt idx="0">
                  <c:v>163.67728665032823</c:v>
                </c:pt>
              </c:numCache>
            </c:numRef>
          </c:yVal>
          <c:bubbleSize>
            <c:numRef>
              <c:numCache>
                <c:formatCode>General</c:formatCode>
                <c:ptCount val="1"/>
                <c:pt idx="0">
                  <c:v>837.926</c:v>
                </c:pt>
              </c:numCache>
            </c:numRef>
          </c:bubbleSize>
          <c:bubble3D val="0"/>
        </c:ser>
        <c:ser>
          <c:idx val="2"/>
          <c:order val="2"/>
          <c:tx>
            <c:strRef>
              <c:strCache>
                <c:ptCount val="1"/>
                <c:pt idx="0">
                  <c:v>Lithium Iron Phosphate (LFP)</c:v>
                </c:pt>
              </c:strCache>
            </c:strRef>
          </c:tx>
          <c:spPr>
            <a:solidFill>
              <a:srgbClr val="D6CAC4"/>
            </a:solidFill>
          </c:spPr>
          <c:invertIfNegative val="0"/>
          <c:xVal>
            <c:numRef>
              <c:numCache>
                <c:formatCode>General</c:formatCode>
                <c:ptCount val="1"/>
                <c:pt idx="0">
                  <c:v>86.72850822597607</c:v>
                </c:pt>
              </c:numCache>
            </c:numRef>
          </c:xVal>
          <c:yVal>
            <c:numRef>
              <c:numCache>
                <c:formatCode>General</c:formatCode>
                <c:ptCount val="1"/>
                <c:pt idx="0">
                  <c:v>58.63190979706185</c:v>
                </c:pt>
              </c:numCache>
            </c:numRef>
          </c:yVal>
          <c:bubbleSize>
            <c:numRef>
              <c:numCache>
                <c:formatCode>General</c:formatCode>
                <c:ptCount val="1"/>
                <c:pt idx="0">
                  <c:v>248.728</c:v>
                </c:pt>
              </c:numCache>
            </c:numRef>
          </c:bubbleSize>
          <c:bubble3D val="0"/>
        </c:ser>
        <c:ser>
          <c:idx val="3"/>
          <c:order val="3"/>
          <c:tx>
            <c:strRef>
              <c:strCache>
                <c:ptCount val="1"/>
                <c:pt idx="0">
                  <c:v>Other Lithium-Ion Cathode Chemistries</c:v>
                </c:pt>
              </c:strCache>
            </c:strRef>
          </c:tx>
          <c:spPr>
            <a:solidFill>
              <a:srgbClr val="EBC46B"/>
            </a:solidFill>
          </c:spPr>
          <c:invertIfNegative val="0"/>
          <c:xVal>
            <c:numRef>
              <c:numCache>
                <c:formatCode>General</c:formatCode>
                <c:ptCount val="1"/>
                <c:pt idx="0">
                  <c:v>107.84189497119957</c:v>
                </c:pt>
              </c:numCache>
            </c:numRef>
          </c:xVal>
          <c:yVal>
            <c:numRef>
              <c:numCache>
                <c:formatCode>General</c:formatCode>
                <c:ptCount val="1"/>
                <c:pt idx="0">
                  <c:v>61.46575159115141</c:v>
                </c:pt>
              </c:numCache>
            </c:numRef>
          </c:yVal>
          <c:bubbleSize>
            <c:numRef>
              <c:numCache>
                <c:formatCode>General</c:formatCode>
                <c:ptCount val="1"/>
                <c:pt idx="0">
                  <c:v>325.011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188.866</c:v>
                </c:pt>
                <c:pt idx="2">
                  <c:v>233.039</c:v>
                </c:pt>
                <c:pt idx="3">
                  <c:v>287.447</c:v>
                </c:pt>
                <c:pt idx="4">
                  <c:v>354.445</c:v>
                </c:pt>
                <c:pt idx="5">
                  <c:v>436.895</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188.866</c:v>
                </c:pt>
                <c:pt idx="1">
                  <c:v>44.17299999999997</c:v>
                </c:pt>
                <c:pt idx="2">
                  <c:v>54.408000000000015</c:v>
                </c:pt>
                <c:pt idx="3">
                  <c:v>66.99799999999999</c:v>
                </c:pt>
                <c:pt idx="4">
                  <c:v>82.44999999999999</c:v>
                </c:pt>
                <c:pt idx="5">
                  <c:v>101.44299999999998</c:v>
                </c:pt>
                <c:pt idx="6">
                  <c:v>538.338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265.976</c:v>
                </c:pt>
                <c:pt idx="2">
                  <c:v>334.511</c:v>
                </c:pt>
                <c:pt idx="3">
                  <c:v>420.763</c:v>
                </c:pt>
                <c:pt idx="4">
                  <c:v>529.305</c:v>
                </c:pt>
                <c:pt idx="5">
                  <c:v>665.937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265.976</c:v>
                </c:pt>
                <c:pt idx="1">
                  <c:v>68.53500000000003</c:v>
                </c:pt>
                <c:pt idx="2">
                  <c:v>86.25199999999995</c:v>
                </c:pt>
                <c:pt idx="3">
                  <c:v>108.54199999999997</c:v>
                </c:pt>
                <c:pt idx="4">
                  <c:v>136.63200000000006</c:v>
                </c:pt>
                <c:pt idx="5">
                  <c:v>171.98900000000003</c:v>
                </c:pt>
                <c:pt idx="6">
                  <c:v>837.926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95.277</c:v>
                </c:pt>
                <c:pt idx="2">
                  <c:v>115.729</c:v>
                </c:pt>
                <c:pt idx="3">
                  <c:v>140.406</c:v>
                </c:pt>
                <c:pt idx="4">
                  <c:v>170.126</c:v>
                </c:pt>
                <c:pt idx="5">
                  <c:v>205.86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95.277</c:v>
                </c:pt>
                <c:pt idx="1">
                  <c:v>20.451999999999998</c:v>
                </c:pt>
                <c:pt idx="2">
                  <c:v>24.677000000000007</c:v>
                </c:pt>
                <c:pt idx="3">
                  <c:v>29.72</c:v>
                </c:pt>
                <c:pt idx="4">
                  <c:v>35.73400000000001</c:v>
                </c:pt>
                <c:pt idx="5">
                  <c:v>42.867999999999995</c:v>
                </c:pt>
                <c:pt idx="6">
                  <c:v>248.728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99.882</c:v>
                </c:pt>
                <c:pt idx="2">
                  <c:v>126.446</c:v>
                </c:pt>
                <c:pt idx="3">
                  <c:v>160.084</c:v>
                </c:pt>
                <c:pt idx="4">
                  <c:v>202.691</c:v>
                </c:pt>
                <c:pt idx="5">
                  <c:v>256.653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99.882</c:v>
                </c:pt>
                <c:pt idx="1">
                  <c:v>26.563999999999993</c:v>
                </c:pt>
                <c:pt idx="2">
                  <c:v>33.638000000000005</c:v>
                </c:pt>
                <c:pt idx="3">
                  <c:v>42.607</c:v>
                </c:pt>
                <c:pt idx="4">
                  <c:v>53.96200000000002</c:v>
                </c:pt>
                <c:pt idx="5">
                  <c:v>68.358</c:v>
                </c:pt>
                <c:pt idx="6">
                  <c:v>325.011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Nickel Manganese Cobalt Oxide</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39.97160664247514</c:v>
                </c:pt>
                <c:pt idx="1">
                  <c:v>40.91932166258206</c:v>
                </c:pt>
                <c:pt idx="2">
                  <c:v>42.97049799410565</c:v>
                </c:pt>
              </c:numCache>
            </c:numRef>
          </c:val>
        </c:ser>
        <c:ser>
          <c:idx val="1"/>
          <c:order val="1"/>
          <c:tx>
            <c:strRef>
              <c:strCache>
                <c:ptCount val="1"/>
                <c:pt idx="0">
                  <c:v>Cobalt Oxide</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29.721893882409343</c:v>
                </c:pt>
                <c:pt idx="1">
                  <c:v>29.056262990364633</c:v>
                </c:pt>
                <c:pt idx="2">
                  <c:v>27.607034450716228</c:v>
                </c:pt>
              </c:numCache>
            </c:numRef>
          </c:val>
        </c:ser>
        <c:ser>
          <c:idx val="2"/>
          <c:order val="2"/>
          <c:tx>
            <c:strRef>
              <c:strCache>
                <c:ptCount val="1"/>
                <c:pt idx="0">
                  <c:v>Other Lithium-Ion Cathode Chemistries</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14.76371932318832</c:v>
                </c:pt>
                <c:pt idx="1">
                  <c:v>15.366437897787852</c:v>
                </c:pt>
                <c:pt idx="2">
                  <c:v>16.66720512737673</c:v>
                </c:pt>
              </c:numCache>
            </c:numRef>
          </c:val>
        </c:ser>
        <c:ser>
          <c:idx val="3"/>
          <c:order val="3"/>
          <c:tx>
            <c:strRef>
              <c:strCache>
                <c:ptCount val="1"/>
                <c:pt idx="0">
                  <c:v>Iron Phosphate</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15.542780151927191</c:v>
                </c:pt>
                <c:pt idx="1">
                  <c:v>14.657977449265463</c:v>
                </c:pt>
                <c:pt idx="2">
                  <c:v>12.755262427801393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Standalone Battery Packs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41.09582115810441</c:v>
                </c:pt>
                <c:pt idx="1">
                  <c:v>37.20991070998299</c:v>
                </c:pt>
                <c:pt idx="2">
                  <c:v>41.347924176023646</c:v>
                </c:pt>
                <c:pt idx="3">
                  <c:v>38.832538770672066</c:v>
                </c:pt>
                <c:pt idx="4">
                  <c:v>49.69069311006925</c:v>
                </c:pt>
                <c:pt idx="5">
                  <c:v>47.73240999506822</c:v>
                </c:pt>
                <c:pt idx="6">
                  <c:v>37.685471273674445</c:v>
                </c:pt>
              </c:numCache>
            </c:numRef>
          </c:val>
        </c:ser>
        <c:ser>
          <c:idx val="1"/>
          <c:order val="1"/>
          <c:tx>
            <c:strRef>
              <c:strCache>
                <c:ptCount val="1"/>
                <c:pt idx="0">
                  <c:v>Integrated Portable Energy Storage Systems</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58.90417884189559</c:v>
                </c:pt>
                <c:pt idx="1">
                  <c:v>62.790089290016994</c:v>
                </c:pt>
                <c:pt idx="2">
                  <c:v>58.65207582397635</c:v>
                </c:pt>
                <c:pt idx="3">
                  <c:v>61.16746122932795</c:v>
                </c:pt>
                <c:pt idx="4">
                  <c:v>50.30930688993076</c:v>
                </c:pt>
                <c:pt idx="5">
                  <c:v>52.267590004931776</c:v>
                </c:pt>
                <c:pt idx="6">
                  <c:v>62.314528726325555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Standalone Battery Packs</c:v>
                </c:pt>
              </c:strCache>
            </c:strRef>
          </c:tx>
          <c:spPr>
            <a:solidFill>
              <a:srgbClr val="00A4DC"/>
            </a:solidFill>
          </c:spPr>
          <c:invertIfNegative val="0"/>
          <c:xVal>
            <c:numRef>
              <c:numCache>
                <c:formatCode>General</c:formatCode>
                <c:ptCount val="1"/>
                <c:pt idx="0">
                  <c:v>87.30493966531463</c:v>
                </c:pt>
              </c:numCache>
            </c:numRef>
          </c:xVal>
          <c:yVal>
            <c:numRef>
              <c:numCache>
                <c:formatCode>General</c:formatCode>
                <c:ptCount val="1"/>
                <c:pt idx="0">
                  <c:v>94.72293119549047</c:v>
                </c:pt>
              </c:numCache>
            </c:numRef>
          </c:yVal>
          <c:bubbleSize>
            <c:numRef>
              <c:numCache>
                <c:formatCode>General</c:formatCode>
                <c:ptCount val="1"/>
                <c:pt idx="0">
                  <c:v>808.567</c:v>
                </c:pt>
              </c:numCache>
            </c:numRef>
          </c:bubbleSize>
          <c:bubble3D val="0"/>
        </c:ser>
        <c:ser>
          <c:idx val="1"/>
          <c:order val="1"/>
          <c:tx>
            <c:strRef>
              <c:strCache>
                <c:ptCount val="1"/>
                <c:pt idx="0">
                  <c:v>Integrated Portable Energy Storage Systems</c:v>
                </c:pt>
              </c:strCache>
            </c:strRef>
          </c:tx>
          <c:spPr>
            <a:solidFill>
              <a:srgbClr val="6ECFF2"/>
            </a:solidFill>
          </c:spPr>
          <c:invertIfNegative val="0"/>
          <c:xVal>
            <c:numRef>
              <c:numCache>
                <c:formatCode>General</c:formatCode>
                <c:ptCount val="1"/>
                <c:pt idx="0">
                  <c:v>110.25971329235809</c:v>
                </c:pt>
              </c:numCache>
            </c:numRef>
          </c:xVal>
          <c:yVal>
            <c:numRef>
              <c:numCache>
                <c:formatCode>General</c:formatCode>
                <c:ptCount val="1"/>
                <c:pt idx="0">
                  <c:v>105.27706880450953</c:v>
                </c:pt>
              </c:numCache>
            </c:numRef>
          </c:yVal>
          <c:bubbleSize>
            <c:numRef>
              <c:numCache>
                <c:formatCode>General</c:formatCode>
                <c:ptCount val="1"/>
                <c:pt idx="0">
                  <c:v>1141.436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307.85</c:v>
                </c:pt>
                <c:pt idx="2">
                  <c:v>374.691</c:v>
                </c:pt>
                <c:pt idx="3">
                  <c:v>455.364</c:v>
                </c:pt>
                <c:pt idx="4">
                  <c:v>552.479</c:v>
                </c:pt>
                <c:pt idx="5">
                  <c:v>669.062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307.85</c:v>
                </c:pt>
                <c:pt idx="1">
                  <c:v>66.84099999999995</c:v>
                </c:pt>
                <c:pt idx="2">
                  <c:v>80.673</c:v>
                </c:pt>
                <c:pt idx="3">
                  <c:v>97.11500000000007</c:v>
                </c:pt>
                <c:pt idx="4">
                  <c:v>116.58299999999997</c:v>
                </c:pt>
                <c:pt idx="5">
                  <c:v>139.505</c:v>
                </c:pt>
                <c:pt idx="6">
                  <c:v>808.567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342.151</c:v>
                </c:pt>
                <c:pt idx="2">
                  <c:v>435.034</c:v>
                </c:pt>
                <c:pt idx="3">
                  <c:v>553.336</c:v>
                </c:pt>
                <c:pt idx="4">
                  <c:v>704.088</c:v>
                </c:pt>
                <c:pt idx="5">
                  <c:v>896.283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342.151</c:v>
                </c:pt>
                <c:pt idx="1">
                  <c:v>92.88299999999998</c:v>
                </c:pt>
                <c:pt idx="2">
                  <c:v>118.30200000000002</c:v>
                </c:pt>
                <c:pt idx="3">
                  <c:v>150.75199999999995</c:v>
                </c:pt>
                <c:pt idx="4">
                  <c:v>192.19500000000005</c:v>
                </c:pt>
                <c:pt idx="5">
                  <c:v>245.1529999999999</c:v>
                </c:pt>
                <c:pt idx="6">
                  <c:v>1141.436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Integrated Portable Energy Storage Systems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50.09361128790947</c:v>
                </c:pt>
                <c:pt idx="1">
                  <c:v>52.63853440225476</c:v>
                </c:pt>
                <c:pt idx="2">
                  <c:v>58.53508943319574</c:v>
                </c:pt>
              </c:numCache>
            </c:numRef>
          </c:val>
        </c:ser>
        <c:ser>
          <c:idx val="1"/>
          <c:order val="1"/>
          <c:tx>
            <c:strRef>
              <c:strCache>
                <c:ptCount val="1"/>
                <c:pt idx="0">
                  <c:v>Standalone Battery Packs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49.906388712090525</c:v>
                </c:pt>
                <c:pt idx="1">
                  <c:v>47.36146559774524</c:v>
                </c:pt>
                <c:pt idx="2">
                  <c:v>41.46491056680426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Portable Backup Power</c:v>
                </c:pt>
              </c:strCache>
            </c:strRef>
          </c:tx>
          <c:spPr>
            <a:solidFill>
              <a:srgbClr val="00A4DC"/>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3.0231641102898803</c:v>
                </c:pt>
                <c:pt idx="1">
                  <c:v>2.2635742167331006</c:v>
                </c:pt>
                <c:pt idx="2">
                  <c:v>2.7163343100899833</c:v>
                </c:pt>
                <c:pt idx="3">
                  <c:v>2.9680424644786303</c:v>
                </c:pt>
                <c:pt idx="4">
                  <c:v>2.1827164349674724</c:v>
                </c:pt>
                <c:pt idx="5">
                  <c:v>2.244301057592197</c:v>
                </c:pt>
                <c:pt idx="6">
                  <c:v>2.5807798609546286</c:v>
                </c:pt>
              </c:numCache>
            </c:numRef>
          </c:val>
        </c:ser>
        <c:ser>
          <c:idx val="1"/>
          <c:order val="1"/>
          <c:tx>
            <c:strRef>
              <c:strCache>
                <c:ptCount val="1"/>
                <c:pt idx="0">
                  <c:v>Outdoor &amp; Recreational Power</c:v>
                </c:pt>
              </c:strCache>
            </c:strRef>
          </c:tx>
          <c:spPr>
            <a:solidFill>
              <a:srgbClr val="6ECFF2"/>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27.469338644934936</c:v>
                </c:pt>
                <c:pt idx="1">
                  <c:v>26.17498640340913</c:v>
                </c:pt>
                <c:pt idx="2">
                  <c:v>23.147187718797813</c:v>
                </c:pt>
                <c:pt idx="3">
                  <c:v>20.719109535271826</c:v>
                </c:pt>
                <c:pt idx="4">
                  <c:v>24.478721176608378</c:v>
                </c:pt>
                <c:pt idx="5">
                  <c:v>26.882637404789307</c:v>
                </c:pt>
                <c:pt idx="6">
                  <c:v>25.56769645792038</c:v>
                </c:pt>
              </c:numCache>
            </c:numRef>
          </c:val>
        </c:ser>
        <c:ser>
          <c:idx val="2"/>
          <c:order val="2"/>
          <c:tx>
            <c:strRef>
              <c:strCache>
                <c:ptCount val="1"/>
                <c:pt idx="0">
                  <c:v>Off-Grid &amp; Remote Power</c:v>
                </c:pt>
              </c:strCache>
            </c:strRef>
          </c:tx>
          <c:spPr>
            <a:solidFill>
              <a:srgbClr val="D6CAC4"/>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19.016612236231463</c:v>
                </c:pt>
                <c:pt idx="1">
                  <c:v>18.425962259994357</c:v>
                </c:pt>
                <c:pt idx="2">
                  <c:v>20.807509789176155</c:v>
                </c:pt>
                <c:pt idx="3">
                  <c:v>23.898746549241228</c:v>
                </c:pt>
                <c:pt idx="4">
                  <c:v>18.683342856838646</c:v>
                </c:pt>
                <c:pt idx="5">
                  <c:v>18.63595265494</c:v>
                </c:pt>
                <c:pt idx="6">
                  <c:v>20.598625841662432</c:v>
                </c:pt>
              </c:numCache>
            </c:numRef>
          </c:val>
        </c:ser>
        <c:ser>
          <c:idx val="3"/>
          <c:order val="3"/>
          <c:tx>
            <c:strRef>
              <c:strCache>
                <c:ptCount val="1"/>
                <c:pt idx="0">
                  <c:v>Professional &amp; Specialized Portable Power</c:v>
                </c:pt>
              </c:strCache>
            </c:strRef>
          </c:tx>
          <c:spPr>
            <a:solidFill>
              <a:srgbClr val="EBC46B"/>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50.49088500854373</c:v>
                </c:pt>
                <c:pt idx="1">
                  <c:v>53.13547711986342</c:v>
                </c:pt>
                <c:pt idx="2">
                  <c:v>53.328968181936055</c:v>
                </c:pt>
                <c:pt idx="3">
                  <c:v>52.41410145100832</c:v>
                </c:pt>
                <c:pt idx="4">
                  <c:v>54.655219531585495</c:v>
                </c:pt>
                <c:pt idx="5">
                  <c:v>52.237108882678505</c:v>
                </c:pt>
                <c:pt idx="6">
                  <c:v>51.252897839462555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Portable Backup Power</c:v>
                </c:pt>
              </c:strCache>
            </c:strRef>
          </c:tx>
          <c:spPr>
            <a:solidFill>
              <a:srgbClr val="00A4DC"/>
            </a:solidFill>
          </c:spPr>
          <c:invertIfNegative val="0"/>
          <c:xVal>
            <c:numRef>
              <c:numCache>
                <c:formatCode>General</c:formatCode>
                <c:ptCount val="1"/>
                <c:pt idx="0">
                  <c:v>65.7090955885692</c:v>
                </c:pt>
              </c:numCache>
            </c:numRef>
          </c:xVal>
          <c:yVal>
            <c:numRef>
              <c:numCache>
                <c:formatCode>General</c:formatCode>
                <c:ptCount val="1"/>
                <c:pt idx="0">
                  <c:v>14.499054616839052</c:v>
                </c:pt>
              </c:numCache>
            </c:numRef>
          </c:yVal>
          <c:bubbleSize>
            <c:numRef>
              <c:numCache>
                <c:formatCode>General</c:formatCode>
                <c:ptCount val="1"/>
                <c:pt idx="0">
                  <c:v>49.152</c:v>
                </c:pt>
              </c:numCache>
            </c:numRef>
          </c:bubbleSize>
          <c:bubble3D val="0"/>
        </c:ser>
        <c:ser>
          <c:idx val="1"/>
          <c:order val="1"/>
          <c:tx>
            <c:strRef>
              <c:strCache>
                <c:ptCount val="1"/>
                <c:pt idx="0">
                  <c:v>Outdoor &amp; Recreational Power</c:v>
                </c:pt>
              </c:strCache>
            </c:strRef>
          </c:tx>
          <c:spPr>
            <a:solidFill>
              <a:srgbClr val="6ECFF2"/>
            </a:solidFill>
          </c:spPr>
          <c:invertIfNegative val="0"/>
          <c:xVal>
            <c:numRef>
              <c:numCache>
                <c:formatCode>General</c:formatCode>
                <c:ptCount val="1"/>
                <c:pt idx="0">
                  <c:v>107.07908805254165</c:v>
                </c:pt>
              </c:numCache>
            </c:numRef>
          </c:xVal>
          <c:yVal>
            <c:numRef>
              <c:numCache>
                <c:formatCode>General</c:formatCode>
                <c:ptCount val="1"/>
                <c:pt idx="0">
                  <c:v>93.21893350933306</c:v>
                </c:pt>
              </c:numCache>
            </c:numRef>
          </c:yVal>
          <c:bubbleSize>
            <c:numRef>
              <c:numCache>
                <c:formatCode>General</c:formatCode>
                <c:ptCount val="1"/>
                <c:pt idx="0">
                  <c:v>489.045</c:v>
                </c:pt>
              </c:numCache>
            </c:numRef>
          </c:bubbleSize>
          <c:bubble3D val="0"/>
        </c:ser>
        <c:ser>
          <c:idx val="2"/>
          <c:order val="2"/>
          <c:tx>
            <c:strRef>
              <c:strCache>
                <c:ptCount val="1"/>
                <c:pt idx="0">
                  <c:v>Off-Grid &amp; Remote Power</c:v>
                </c:pt>
              </c:strCache>
            </c:strRef>
          </c:tx>
          <c:spPr>
            <a:solidFill>
              <a:srgbClr val="D6CAC4"/>
            </a:solidFill>
          </c:spPr>
          <c:invertIfNegative val="0"/>
          <c:xVal>
            <c:numRef>
              <c:numCache>
                <c:formatCode>General</c:formatCode>
                <c:ptCount val="1"/>
                <c:pt idx="0">
                  <c:v>101.25045619715844</c:v>
                </c:pt>
              </c:numCache>
            </c:numRef>
          </c:xVal>
          <c:yVal>
            <c:numRef>
              <c:numCache>
                <c:formatCode>General</c:formatCode>
                <c:ptCount val="1"/>
                <c:pt idx="0">
                  <c:v>79.47187773557272</c:v>
                </c:pt>
              </c:numCache>
            </c:numRef>
          </c:yVal>
          <c:bubbleSize>
            <c:numRef>
              <c:numCache>
                <c:formatCode>General</c:formatCode>
                <c:ptCount val="1"/>
                <c:pt idx="0">
                  <c:v>392.496</c:v>
                </c:pt>
              </c:numCache>
            </c:numRef>
          </c:bubbleSize>
          <c:bubble3D val="0"/>
        </c:ser>
        <c:ser>
          <c:idx val="3"/>
          <c:order val="3"/>
          <c:tx>
            <c:strRef>
              <c:strCache>
                <c:ptCount val="1"/>
                <c:pt idx="0">
                  <c:v>Professional &amp; Specialized Portable Power</c:v>
                </c:pt>
              </c:strCache>
            </c:strRef>
          </c:tx>
          <c:spPr>
            <a:solidFill>
              <a:srgbClr val="EBC46B"/>
            </a:solidFill>
          </c:spPr>
          <c:invertIfNegative val="0"/>
          <c:xVal>
            <c:numRef>
              <c:numCache>
                <c:formatCode>General</c:formatCode>
                <c:ptCount val="1"/>
                <c:pt idx="0">
                  <c:v>98.3059396762399</c:v>
                </c:pt>
              </c:numCache>
            </c:numRef>
          </c:xVal>
          <c:yVal>
            <c:numRef>
              <c:numCache>
                <c:formatCode>General</c:formatCode>
                <c:ptCount val="1"/>
                <c:pt idx="0">
                  <c:v>212.8101341382552</c:v>
                </c:pt>
              </c:numCache>
            </c:numRef>
          </c:yVal>
          <c:bubbleSize>
            <c:numRef>
              <c:numCache>
                <c:formatCode>General</c:formatCode>
                <c:ptCount val="1"/>
                <c:pt idx="0">
                  <c:v>1019.3100000000001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5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23.561</c:v>
                </c:pt>
                <c:pt idx="2">
                  <c:v>27.379</c:v>
                </c:pt>
                <c:pt idx="3">
                  <c:v>31.773</c:v>
                </c:pt>
                <c:pt idx="4">
                  <c:v>36.817</c:v>
                </c:pt>
                <c:pt idx="5">
                  <c:v>42.583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23.561</c:v>
                </c:pt>
                <c:pt idx="1">
                  <c:v>3.8180000000000014</c:v>
                </c:pt>
                <c:pt idx="2">
                  <c:v>4.393999999999998</c:v>
                </c:pt>
                <c:pt idx="3">
                  <c:v>5.0440000000000005</c:v>
                </c:pt>
                <c:pt idx="4">
                  <c:v>5.765999999999998</c:v>
                </c:pt>
                <c:pt idx="5">
                  <c:v>6.569000000000003</c:v>
                </c:pt>
                <c:pt idx="6">
                  <c:v>49.152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151.481</c:v>
                </c:pt>
                <c:pt idx="2">
                  <c:v>191.841</c:v>
                </c:pt>
                <c:pt idx="3">
                  <c:v>242.718</c:v>
                </c:pt>
                <c:pt idx="4">
                  <c:v>306.805</c:v>
                </c:pt>
                <c:pt idx="5">
                  <c:v>387.496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151.481</c:v>
                </c:pt>
                <c:pt idx="1">
                  <c:v>40.360000000000014</c:v>
                </c:pt>
                <c:pt idx="2">
                  <c:v>50.87699999999998</c:v>
                </c:pt>
                <c:pt idx="3">
                  <c:v>64.08700000000002</c:v>
                </c:pt>
                <c:pt idx="4">
                  <c:v>80.69099999999997</c:v>
                </c:pt>
                <c:pt idx="5">
                  <c:v>101.54900000000004</c:v>
                </c:pt>
                <c:pt idx="6">
                  <c:v>489.045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129.142</c:v>
                </c:pt>
                <c:pt idx="2">
                  <c:v>161.343</c:v>
                </c:pt>
                <c:pt idx="3">
                  <c:v>201.542</c:v>
                </c:pt>
                <c:pt idx="4">
                  <c:v>251.716</c:v>
                </c:pt>
                <c:pt idx="5">
                  <c:v>314.342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129.142</c:v>
                </c:pt>
                <c:pt idx="1">
                  <c:v>32.20099999999999</c:v>
                </c:pt>
                <c:pt idx="2">
                  <c:v>40.19900000000001</c:v>
                </c:pt>
                <c:pt idx="3">
                  <c:v>50.17400000000001</c:v>
                </c:pt>
                <c:pt idx="4">
                  <c:v>62.625999999999976</c:v>
                </c:pt>
                <c:pt idx="5">
                  <c:v>78.154</c:v>
                </c:pt>
                <c:pt idx="6">
                  <c:v>392.496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345.817</c:v>
                </c:pt>
                <c:pt idx="2">
                  <c:v>429.162</c:v>
                </c:pt>
                <c:pt idx="3">
                  <c:v>532.6669999999999</c:v>
                </c:pt>
                <c:pt idx="4">
                  <c:v>661.229</c:v>
                </c:pt>
                <c:pt idx="5">
                  <c:v>820.924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345.817</c:v>
                </c:pt>
                <c:pt idx="1">
                  <c:v>83.34499999999997</c:v>
                </c:pt>
                <c:pt idx="2">
                  <c:v>103.50499999999994</c:v>
                </c:pt>
                <c:pt idx="3">
                  <c:v>128.56200000000013</c:v>
                </c:pt>
                <c:pt idx="4">
                  <c:v>159.69499999999994</c:v>
                </c:pt>
                <c:pt idx="5">
                  <c:v>198.38600000000008</c:v>
                </c:pt>
                <c:pt idx="6">
                  <c:v>1019.3100000000001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Professional &amp; Specialized Portable Power</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53.75065093941923</c:v>
                </c:pt>
                <c:pt idx="1">
                  <c:v>53.20253353456379</c:v>
                </c:pt>
                <c:pt idx="2">
                  <c:v>52.2722272734965</c:v>
                </c:pt>
              </c:numCache>
            </c:numRef>
          </c:val>
        </c:ser>
        <c:ser>
          <c:idx val="1"/>
          <c:order val="1"/>
          <c:tx>
            <c:strRef>
              <c:strCache>
                <c:ptCount val="1"/>
                <c:pt idx="0">
                  <c:v>Outdoor &amp; Recreational Power</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22.248282759817815</c:v>
                </c:pt>
                <c:pt idx="1">
                  <c:v>23.30473337733326</c:v>
                </c:pt>
                <c:pt idx="2">
                  <c:v>25.079192185858172</c:v>
                </c:pt>
              </c:numCache>
            </c:numRef>
          </c:val>
        </c:ser>
        <c:ser>
          <c:idx val="2"/>
          <c:order val="2"/>
          <c:tx>
            <c:strRef>
              <c:strCache>
                <c:ptCount val="1"/>
                <c:pt idx="0">
                  <c:v>Off-Grid &amp; Remote Power</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19.70837914018135</c:v>
                </c:pt>
                <c:pt idx="1">
                  <c:v>19.867969433893176</c:v>
                </c:pt>
                <c:pt idx="2">
                  <c:v>20.12796903389379</c:v>
                </c:pt>
              </c:numCache>
            </c:numRef>
          </c:val>
        </c:ser>
        <c:ser>
          <c:idx val="3"/>
          <c:order val="3"/>
          <c:tx>
            <c:strRef>
              <c:strCache>
                <c:ptCount val="1"/>
                <c:pt idx="0">
                  <c:v>Portable Backup Power</c:v>
                </c:pt>
              </c:strCache>
            </c:strRef>
          </c:tx>
          <c:spPr>
            <a:solidFill>
              <a:srgbClr val="EBC46B"/>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4.292687160581588</c:v>
                </c:pt>
                <c:pt idx="1">
                  <c:v>3.6247636542097625</c:v>
                </c:pt>
                <c:pt idx="2">
                  <c:v>2.520611506751528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Below 500 W</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13.247323134788633</c:v>
                </c:pt>
                <c:pt idx="1">
                  <c:v>14.23683540208045</c:v>
                </c:pt>
                <c:pt idx="2">
                  <c:v>11.938256878354899</c:v>
                </c:pt>
                <c:pt idx="3">
                  <c:v>11.696967491382852</c:v>
                </c:pt>
                <c:pt idx="4">
                  <c:v>13.512611842035213</c:v>
                </c:pt>
                <c:pt idx="5">
                  <c:v>12.34862184229273</c:v>
                </c:pt>
                <c:pt idx="6">
                  <c:v>14.675130076550063</c:v>
                </c:pt>
              </c:numCache>
            </c:numRef>
          </c:val>
        </c:ser>
        <c:ser>
          <c:idx val="1"/>
          <c:order val="1"/>
          <c:tx>
            <c:strRef>
              <c:strCache>
                <c:ptCount val="1"/>
                <c:pt idx="0">
                  <c:v>500 W to Below 1,000 W</c:v>
                </c:pt>
              </c:strCache>
            </c:strRef>
          </c:tx>
          <c:spPr>
            <a:solidFill>
              <a:srgbClr val="6ECFF2"/>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5.980607261660415</c:v>
                </c:pt>
                <c:pt idx="1">
                  <c:v>5.732598084773883</c:v>
                </c:pt>
                <c:pt idx="2">
                  <c:v>5.03915670461323</c:v>
                </c:pt>
                <c:pt idx="3">
                  <c:v>5.5472084596228735</c:v>
                </c:pt>
                <c:pt idx="4">
                  <c:v>5.872039579924688</c:v>
                </c:pt>
                <c:pt idx="5">
                  <c:v>6.169858622390269</c:v>
                </c:pt>
                <c:pt idx="6">
                  <c:v>5.741445883444791</c:v>
                </c:pt>
              </c:numCache>
            </c:numRef>
          </c:val>
        </c:ser>
        <c:ser>
          <c:idx val="2"/>
          <c:order val="2"/>
          <c:tx>
            <c:strRef>
              <c:strCache>
                <c:ptCount val="1"/>
                <c:pt idx="0">
                  <c:v>1,000 W to Below 2,000 W</c:v>
                </c:pt>
              </c:strCache>
            </c:strRef>
          </c:tx>
          <c:spPr>
            <a:solidFill>
              <a:srgbClr val="D6CAC4"/>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54.82442393051778</c:v>
                </c:pt>
                <c:pt idx="1">
                  <c:v>56.939080388552696</c:v>
                </c:pt>
                <c:pt idx="2">
                  <c:v>55.16298005860539</c:v>
                </c:pt>
                <c:pt idx="3">
                  <c:v>55.72682987694243</c:v>
                </c:pt>
                <c:pt idx="4">
                  <c:v>55.88179969406478</c:v>
                </c:pt>
                <c:pt idx="5">
                  <c:v>52.8282371636802</c:v>
                </c:pt>
                <c:pt idx="6">
                  <c:v>51.29236319842546</c:v>
                </c:pt>
              </c:numCache>
            </c:numRef>
          </c:val>
        </c:ser>
        <c:ser>
          <c:idx val="3"/>
          <c:order val="3"/>
          <c:tx>
            <c:strRef>
              <c:strCache>
                <c:ptCount val="1"/>
                <c:pt idx="0">
                  <c:v>2,000 W and Above</c:v>
                </c:pt>
              </c:strCache>
            </c:strRef>
          </c:tx>
          <c:spPr>
            <a:solidFill>
              <a:srgbClr val="EBC46B"/>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25.947645673033175</c:v>
                </c:pt>
                <c:pt idx="1">
                  <c:v>23.091486124592965</c:v>
                </c:pt>
                <c:pt idx="2">
                  <c:v>27.85960635842647</c:v>
                </c:pt>
                <c:pt idx="3">
                  <c:v>27.028994172051846</c:v>
                </c:pt>
                <c:pt idx="4">
                  <c:v>24.73354888397531</c:v>
                </c:pt>
                <c:pt idx="5">
                  <c:v>28.653282371636802</c:v>
                </c:pt>
                <c:pt idx="6">
                  <c:v>28.291060841579686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Below 500 W</c:v>
                </c:pt>
              </c:strCache>
            </c:strRef>
          </c:tx>
          <c:spPr>
            <a:solidFill>
              <a:srgbClr val="00A4DC"/>
            </a:solidFill>
          </c:spPr>
          <c:invertIfNegative val="0"/>
          <c:xVal>
            <c:numRef>
              <c:numCache>
                <c:formatCode>General</c:formatCode>
                <c:ptCount val="1"/>
                <c:pt idx="0">
                  <c:v>87.0726750596437</c:v>
                </c:pt>
              </c:numCache>
            </c:numRef>
          </c:xVal>
          <c:yVal>
            <c:numRef>
              <c:numCache>
                <c:formatCode>General</c:formatCode>
                <c:ptCount val="1"/>
                <c:pt idx="0">
                  <c:v>62.02944303162611</c:v>
                </c:pt>
              </c:numCache>
            </c:numRef>
          </c:yVal>
          <c:bubbleSize>
            <c:numRef>
              <c:numCache>
                <c:formatCode>General</c:formatCode>
                <c:ptCount val="1"/>
                <c:pt idx="0">
                  <c:v>264.098</c:v>
                </c:pt>
              </c:numCache>
            </c:numRef>
          </c:bubbleSize>
          <c:bubble3D val="0"/>
        </c:ser>
        <c:ser>
          <c:idx val="1"/>
          <c:order val="1"/>
          <c:tx>
            <c:strRef>
              <c:strCache>
                <c:ptCount val="1"/>
                <c:pt idx="0">
                  <c:v>500 W to Below 1,000 W</c:v>
                </c:pt>
              </c:strCache>
            </c:strRef>
          </c:tx>
          <c:spPr>
            <a:solidFill>
              <a:srgbClr val="6ECFF2"/>
            </a:solidFill>
          </c:spPr>
          <c:invertIfNegative val="0"/>
          <c:xVal>
            <c:numRef>
              <c:numCache>
                <c:formatCode>General</c:formatCode>
                <c:ptCount val="1"/>
                <c:pt idx="0">
                  <c:v>63.939685299648744</c:v>
                </c:pt>
              </c:numCache>
            </c:numRef>
          </c:xVal>
          <c:yVal>
            <c:numRef>
              <c:numCache>
                <c:formatCode>General</c:formatCode>
                <c:ptCount val="1"/>
                <c:pt idx="0">
                  <c:v>33.77902495534622</c:v>
                </c:pt>
              </c:numCache>
            </c:numRef>
          </c:yVal>
          <c:bubbleSize>
            <c:numRef>
              <c:numCache>
                <c:formatCode>General</c:formatCode>
                <c:ptCount val="1"/>
                <c:pt idx="0">
                  <c:v>112.344</c:v>
                </c:pt>
              </c:numCache>
            </c:numRef>
          </c:bubbleSize>
          <c:bubble3D val="0"/>
        </c:ser>
        <c:ser>
          <c:idx val="2"/>
          <c:order val="2"/>
          <c:tx>
            <c:strRef>
              <c:strCache>
                <c:ptCount val="1"/>
                <c:pt idx="0">
                  <c:v>1,000 W to Below 2,000 W</c:v>
                </c:pt>
              </c:strCache>
            </c:strRef>
          </c:tx>
          <c:spPr>
            <a:solidFill>
              <a:srgbClr val="D6CAC4"/>
            </a:solidFill>
          </c:spPr>
          <c:invertIfNegative val="0"/>
          <c:xVal>
            <c:numRef>
              <c:numCache>
                <c:formatCode>General</c:formatCode>
                <c:ptCount val="1"/>
                <c:pt idx="0">
                  <c:v>118.09248678780213</c:v>
                </c:pt>
              </c:numCache>
            </c:numRef>
          </c:xVal>
          <c:yVal>
            <c:numRef>
              <c:numCache>
                <c:formatCode>General</c:formatCode>
                <c:ptCount val="1"/>
                <c:pt idx="0">
                  <c:v>177.68772663426674</c:v>
                </c:pt>
              </c:numCache>
            </c:numRef>
          </c:yVal>
          <c:bubbleSize>
            <c:numRef>
              <c:numCache>
                <c:formatCode>General</c:formatCode>
                <c:ptCount val="1"/>
                <c:pt idx="0">
                  <c:v>1043.814</c:v>
                </c:pt>
              </c:numCache>
            </c:numRef>
          </c:bubbleSize>
          <c:bubble3D val="0"/>
        </c:ser>
        <c:ser>
          <c:idx val="3"/>
          <c:order val="3"/>
          <c:tx>
            <c:strRef>
              <c:strCache>
                <c:ptCount val="1"/>
                <c:pt idx="0">
                  <c:v>2,000 W and Above</c:v>
                </c:pt>
              </c:strCache>
            </c:strRef>
          </c:tx>
          <c:spPr>
            <a:solidFill>
              <a:srgbClr val="EBC46B"/>
            </a:solidFill>
          </c:spPr>
          <c:invertIfNegative val="0"/>
          <c:xVal>
            <c:numRef>
              <c:numCache>
                <c:formatCode>General</c:formatCode>
                <c:ptCount val="1"/>
                <c:pt idx="0">
                  <c:v>85.50144373264908</c:v>
                </c:pt>
              </c:numCache>
            </c:numRef>
          </c:xVal>
          <c:yVal>
            <c:numRef>
              <c:numCache>
                <c:formatCode>General</c:formatCode>
                <c:ptCount val="1"/>
                <c:pt idx="0">
                  <c:v>126.50380537876096</c:v>
                </c:pt>
              </c:numCache>
            </c:numRef>
          </c:yVal>
          <c:bubbleSize>
            <c:numRef>
              <c:numCache>
                <c:formatCode>General</c:formatCode>
                <c:ptCount val="1"/>
                <c:pt idx="0">
                  <c:v>529.747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5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100.798</c:v>
                </c:pt>
                <c:pt idx="2">
                  <c:v>122.244</c:v>
                </c:pt>
                <c:pt idx="3">
                  <c:v>148.238</c:v>
                </c:pt>
                <c:pt idx="4">
                  <c:v>179.731</c:v>
                </c:pt>
                <c:pt idx="5">
                  <c:v>217.886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100.798</c:v>
                </c:pt>
                <c:pt idx="1">
                  <c:v>21.445999999999998</c:v>
                </c:pt>
                <c:pt idx="2">
                  <c:v>25.994</c:v>
                </c:pt>
                <c:pt idx="3">
                  <c:v>31.492999999999995</c:v>
                </c:pt>
                <c:pt idx="4">
                  <c:v>38.155</c:v>
                </c:pt>
                <c:pt idx="5">
                  <c:v>46.21200000000002</c:v>
                </c:pt>
                <c:pt idx="6">
                  <c:v>264.098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54.891</c:v>
                </c:pt>
                <c:pt idx="2">
                  <c:v>63.854</c:v>
                </c:pt>
                <c:pt idx="3">
                  <c:v>74.025</c:v>
                </c:pt>
                <c:pt idx="4">
                  <c:v>85.472</c:v>
                </c:pt>
                <c:pt idx="5">
                  <c:v>98.251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54.891</c:v>
                </c:pt>
                <c:pt idx="1">
                  <c:v>8.963000000000001</c:v>
                </c:pt>
                <c:pt idx="2">
                  <c:v>10.171000000000006</c:v>
                </c:pt>
                <c:pt idx="3">
                  <c:v>11.446999999999989</c:v>
                </c:pt>
                <c:pt idx="4">
                  <c:v>12.77900000000001</c:v>
                </c:pt>
                <c:pt idx="5">
                  <c:v>14.09299999999999</c:v>
                </c:pt>
                <c:pt idx="6">
                  <c:v>112.344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288.743</c:v>
                </c:pt>
                <c:pt idx="2">
                  <c:v>375.072</c:v>
                </c:pt>
                <c:pt idx="3">
                  <c:v>485.987</c:v>
                </c:pt>
                <c:pt idx="4">
                  <c:v>628.28</c:v>
                </c:pt>
                <c:pt idx="5">
                  <c:v>810.567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288.743</c:v>
                </c:pt>
                <c:pt idx="1">
                  <c:v>86.32900000000001</c:v>
                </c:pt>
                <c:pt idx="2">
                  <c:v>110.91500000000002</c:v>
                </c:pt>
                <c:pt idx="3">
                  <c:v>142.29299999999995</c:v>
                </c:pt>
                <c:pt idx="4">
                  <c:v>182.28700000000003</c:v>
                </c:pt>
                <c:pt idx="5">
                  <c:v>233.24700000000007</c:v>
                </c:pt>
                <c:pt idx="6">
                  <c:v>1043.814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205.569</c:v>
                </c:pt>
                <c:pt idx="2">
                  <c:v>248.555</c:v>
                </c:pt>
                <c:pt idx="3">
                  <c:v>300.45</c:v>
                </c:pt>
                <c:pt idx="4">
                  <c:v>363.084</c:v>
                </c:pt>
                <c:pt idx="5">
                  <c:v>438.641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205.569</c:v>
                </c:pt>
                <c:pt idx="1">
                  <c:v>42.98600000000002</c:v>
                </c:pt>
                <c:pt idx="2">
                  <c:v>51.89499999999998</c:v>
                </c:pt>
                <c:pt idx="3">
                  <c:v>62.634000000000015</c:v>
                </c:pt>
                <c:pt idx="4">
                  <c:v>75.55700000000002</c:v>
                </c:pt>
                <c:pt idx="5">
                  <c:v>91.10599999999994</c:v>
                </c:pt>
                <c:pt idx="6">
                  <c:v>529.747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1,000 W to Below 2,000 W</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39.48577852354541</c:v>
                </c:pt>
                <c:pt idx="1">
                  <c:v>44.421931658566685</c:v>
                </c:pt>
                <c:pt idx="2">
                  <c:v>53.52884072486043</c:v>
                </c:pt>
              </c:numCache>
            </c:numRef>
          </c:val>
        </c:ser>
        <c:ser>
          <c:idx val="1"/>
          <c:order val="1"/>
          <c:tx>
            <c:strRef>
              <c:strCache>
                <c:ptCount val="1"/>
                <c:pt idx="0">
                  <c:v>2,000 W and Above</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34.04289174154192</c:v>
                </c:pt>
                <c:pt idx="1">
                  <c:v>31.62595134469024</c:v>
                </c:pt>
                <c:pt idx="2">
                  <c:v>27.16647102594201</c:v>
                </c:pt>
              </c:numCache>
            </c:numRef>
          </c:val>
        </c:ser>
        <c:ser>
          <c:idx val="2"/>
          <c:order val="2"/>
          <c:tx>
            <c:strRef>
              <c:strCache>
                <c:ptCount val="1"/>
                <c:pt idx="0">
                  <c:v>Below 500 W</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16.575190735582208</c:v>
                </c:pt>
                <c:pt idx="1">
                  <c:v>15.507360757906527</c:v>
                </c:pt>
                <c:pt idx="2">
                  <c:v>13.543466343385113</c:v>
                </c:pt>
              </c:numCache>
            </c:numRef>
          </c:val>
        </c:ser>
        <c:ser>
          <c:idx val="3"/>
          <c:order val="3"/>
          <c:tx>
            <c:strRef>
              <c:strCache>
                <c:ptCount val="1"/>
                <c:pt idx="0">
                  <c:v>500 W to Below 1,000 W</c:v>
                </c:pt>
              </c:strCache>
            </c:strRef>
          </c:tx>
          <c:spPr>
            <a:solidFill>
              <a:srgbClr val="EBC46B"/>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9.896138999330462</c:v>
                </c:pt>
                <c:pt idx="1">
                  <c:v>8.444756238836556</c:v>
                </c:pt>
                <c:pt idx="2">
                  <c:v>5.761221905812452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AC/DC Portable Power Stations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50.32203269870479</c:v>
                </c:pt>
                <c:pt idx="1">
                  <c:v>51.229889093124605</c:v>
                </c:pt>
                <c:pt idx="2">
                  <c:v>53.80351632393745</c:v>
                </c:pt>
                <c:pt idx="3">
                  <c:v>57.98366510873465</c:v>
                </c:pt>
                <c:pt idx="4">
                  <c:v>55.27773735710305</c:v>
                </c:pt>
                <c:pt idx="5">
                  <c:v>55.75168502383691</c:v>
                </c:pt>
                <c:pt idx="6">
                  <c:v>49.65798810692311</c:v>
                </c:pt>
              </c:numCache>
            </c:numRef>
          </c:val>
        </c:ser>
        <c:ser>
          <c:idx val="1"/>
          <c:order val="1"/>
          <c:tx>
            <c:strRef>
              <c:strCache>
                <c:ptCount val="1"/>
                <c:pt idx="0">
                  <c:v>DC-Only Portable Battery Systems</c:v>
                </c:pt>
              </c:strCache>
            </c:strRef>
          </c:tx>
          <c:spPr>
            <a:solidFill>
              <a:srgbClr val="6ECFF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49.677967301295205</c:v>
                </c:pt>
                <c:pt idx="1">
                  <c:v>48.770110906875395</c:v>
                </c:pt>
                <c:pt idx="2">
                  <c:v>46.19648367606254</c:v>
                </c:pt>
                <c:pt idx="3">
                  <c:v>42.01633489126536</c:v>
                </c:pt>
                <c:pt idx="4">
                  <c:v>44.72226264289694</c:v>
                </c:pt>
                <c:pt idx="5">
                  <c:v>44.24831497616307</c:v>
                </c:pt>
                <c:pt idx="6">
                  <c:v>50.34201189307688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AC/DC Portable Power Stations</c:v>
                </c:pt>
              </c:strCache>
            </c:strRef>
          </c:tx>
          <c:spPr>
            <a:solidFill>
              <a:srgbClr val="00A4DC"/>
            </a:solidFill>
          </c:spPr>
          <c:invertIfNegative val="0"/>
          <c:xVal>
            <c:numRef>
              <c:numCache>
                <c:formatCode>General</c:formatCode>
                <c:ptCount val="1"/>
                <c:pt idx="0">
                  <c:v>98.24717121414514</c:v>
                </c:pt>
              </c:numCache>
            </c:numRef>
          </c:xVal>
          <c:yVal>
            <c:numRef>
              <c:numCache>
                <c:formatCode>General</c:formatCode>
                <c:ptCount val="1"/>
                <c:pt idx="0">
                  <c:v>107.30568106818299</c:v>
                </c:pt>
              </c:numCache>
            </c:numRef>
          </c:yVal>
          <c:bubbleSize>
            <c:numRef>
              <c:numCache>
                <c:formatCode>General</c:formatCode>
                <c:ptCount val="1"/>
                <c:pt idx="0">
                  <c:v>1027.308</c:v>
                </c:pt>
              </c:numCache>
            </c:numRef>
          </c:bubbleSize>
          <c:bubble3D val="0"/>
        </c:ser>
        <c:ser>
          <c:idx val="1"/>
          <c:order val="1"/>
          <c:tx>
            <c:strRef>
              <c:strCache>
                <c:ptCount val="1"/>
                <c:pt idx="0">
                  <c:v>DC-Only Portable Battery Systems</c:v>
                </c:pt>
              </c:strCache>
            </c:strRef>
          </c:tx>
          <c:spPr>
            <a:solidFill>
              <a:srgbClr val="6ECFF2"/>
            </a:solidFill>
          </c:spPr>
          <c:invertIfNegative val="0"/>
          <c:xVal>
            <c:numRef>
              <c:numCache>
                <c:formatCode>General</c:formatCode>
                <c:ptCount val="1"/>
                <c:pt idx="0">
                  <c:v>101.99383941732233</c:v>
                </c:pt>
              </c:numCache>
            </c:numRef>
          </c:xVal>
          <c:yVal>
            <c:numRef>
              <c:numCache>
                <c:formatCode>General</c:formatCode>
                <c:ptCount val="1"/>
                <c:pt idx="0">
                  <c:v>92.69431893181704</c:v>
                </c:pt>
              </c:numCache>
            </c:numRef>
          </c:yVal>
          <c:bubbleSize>
            <c:numRef>
              <c:numCache>
                <c:formatCode>General</c:formatCode>
                <c:ptCount val="1"/>
                <c:pt idx="0">
                  <c:v>922.695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348.744</c:v>
                </c:pt>
                <c:pt idx="2">
                  <c:v>432.856</c:v>
                </c:pt>
                <c:pt idx="3">
                  <c:v>537.26</c:v>
                </c:pt>
                <c:pt idx="4">
                  <c:v>666.843</c:v>
                </c:pt>
                <c:pt idx="5">
                  <c:v>827.679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348.744</c:v>
                </c:pt>
                <c:pt idx="1">
                  <c:v>84.11199999999997</c:v>
                </c:pt>
                <c:pt idx="2">
                  <c:v>104.404</c:v>
                </c:pt>
                <c:pt idx="3">
                  <c:v>129.58299999999997</c:v>
                </c:pt>
                <c:pt idx="4">
                  <c:v>160.836</c:v>
                </c:pt>
                <c:pt idx="5">
                  <c:v>199.62900000000002</c:v>
                </c:pt>
                <c:pt idx="6">
                  <c:v>1027.308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301.257</c:v>
                </c:pt>
                <c:pt idx="2">
                  <c:v>376.869</c:v>
                </c:pt>
                <c:pt idx="3">
                  <c:v>471.44</c:v>
                </c:pt>
                <c:pt idx="4">
                  <c:v>589.724</c:v>
                </c:pt>
                <c:pt idx="5">
                  <c:v>737.666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301.257</c:v>
                </c:pt>
                <c:pt idx="1">
                  <c:v>75.61200000000002</c:v>
                </c:pt>
                <c:pt idx="2">
                  <c:v>94.57099999999997</c:v>
                </c:pt>
                <c:pt idx="3">
                  <c:v>118.28400000000005</c:v>
                </c:pt>
                <c:pt idx="4">
                  <c:v>147.942</c:v>
                </c:pt>
                <c:pt idx="5">
                  <c:v>185.029</c:v>
                </c:pt>
                <c:pt idx="6">
                  <c:v>922.695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AC/DC Portable Power Stations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54.14410765504757</c:v>
                </c:pt>
                <c:pt idx="1">
                  <c:v>53.652840534091496</c:v>
                </c:pt>
                <c:pt idx="2">
                  <c:v>52.6823804886454</c:v>
                </c:pt>
              </c:numCache>
            </c:numRef>
          </c:val>
        </c:ser>
        <c:ser>
          <c:idx val="1"/>
          <c:order val="1"/>
          <c:tx>
            <c:strRef>
              <c:strCache>
                <c:ptCount val="1"/>
                <c:pt idx="0">
                  <c:v>DC-Only Portable Battery Systems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45.85589234495243</c:v>
                </c:pt>
                <c:pt idx="1">
                  <c:v>46.34715946590852</c:v>
                </c:pt>
                <c:pt idx="2">
                  <c:v>47.3176195113546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Direct-to-Consumer / Manufacturer Direct</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29.456133787650522</c:v>
                </c:pt>
                <c:pt idx="1">
                  <c:v>35.02894869094088</c:v>
                </c:pt>
                <c:pt idx="2">
                  <c:v>33.2475429816145</c:v>
                </c:pt>
                <c:pt idx="3">
                  <c:v>33.521359611955354</c:v>
                </c:pt>
                <c:pt idx="4">
                  <c:v>33.66068164637154</c:v>
                </c:pt>
                <c:pt idx="5">
                  <c:v>28.033727875500027</c:v>
                </c:pt>
                <c:pt idx="6">
                  <c:v>32.44103429794309</c:v>
                </c:pt>
              </c:numCache>
            </c:numRef>
          </c:val>
        </c:ser>
        <c:ser>
          <c:idx val="1"/>
          <c:order val="1"/>
          <c:tx>
            <c:strRef>
              <c:strCache>
                <c:ptCount val="1"/>
                <c:pt idx="0">
                  <c:v>Online Third-Party Retail</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21.390655490733344</c:v>
                </c:pt>
                <c:pt idx="1">
                  <c:v>22.730746194675643</c:v>
                </c:pt>
                <c:pt idx="2">
                  <c:v>21.54915333350621</c:v>
                </c:pt>
                <c:pt idx="3">
                  <c:v>21.079912034894903</c:v>
                </c:pt>
                <c:pt idx="4">
                  <c:v>20.161201594270278</c:v>
                </c:pt>
                <c:pt idx="5">
                  <c:v>25.08219628472793</c:v>
                </c:pt>
                <c:pt idx="6">
                  <c:v>26.304934824869285</c:v>
                </c:pt>
              </c:numCache>
            </c:numRef>
          </c:val>
        </c:ser>
        <c:ser>
          <c:idx val="2"/>
          <c:order val="2"/>
          <c:tx>
            <c:strRef>
              <c:strCache>
                <c:ptCount val="1"/>
                <c:pt idx="0">
                  <c:v>Offline Retail &amp; Distributors</c:v>
                </c:pt>
              </c:strCache>
            </c:strRef>
          </c:tx>
          <c:spPr>
            <a:solidFill>
              <a:srgbClr val="D6CAC4"/>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10.162482432282134</c:v>
                </c:pt>
                <c:pt idx="1">
                  <c:v>10.353373675623205</c:v>
                </c:pt>
                <c:pt idx="2">
                  <c:v>11.262090604984051</c:v>
                </c:pt>
                <c:pt idx="3">
                  <c:v>9.623652839370104</c:v>
                </c:pt>
                <c:pt idx="4">
                  <c:v>8.47710277222733</c:v>
                </c:pt>
                <c:pt idx="5">
                  <c:v>9.948490328237162</c:v>
                </c:pt>
                <c:pt idx="6">
                  <c:v>9.269012436680377</c:v>
                </c:pt>
              </c:numCache>
            </c:numRef>
          </c:val>
        </c:ser>
        <c:ser>
          <c:idx val="3"/>
          <c:order val="3"/>
          <c:tx>
            <c:strRef>
              <c:strCache>
                <c:ptCount val="1"/>
                <c:pt idx="0">
                  <c:v>Direct B2B / Institutional Sales</c:v>
                </c:pt>
              </c:strCache>
            </c:strRef>
          </c:tx>
          <c:spPr>
            <a:solidFill>
              <a:srgbClr val="EBC46B"/>
            </a:solidFill>
            <a:ln>
              <a:noFill/>
            </a:ln>
          </c:spPr>
          <c:dLbls>
            <c:dLbl>
              <c:idx val="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38.990728289333994</c:v>
                </c:pt>
                <c:pt idx="1">
                  <c:v>31.886931438760264</c:v>
                </c:pt>
                <c:pt idx="2">
                  <c:v>33.941213079895235</c:v>
                </c:pt>
                <c:pt idx="3">
                  <c:v>35.77507551377964</c:v>
                </c:pt>
                <c:pt idx="4">
                  <c:v>37.70101398713084</c:v>
                </c:pt>
                <c:pt idx="5">
                  <c:v>36.935585511534875</c:v>
                </c:pt>
                <c:pt idx="6">
                  <c:v>31.98501844050724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Direct-to-Consumer / Manufacturer Direct</c:v>
                </c:pt>
              </c:strCache>
            </c:strRef>
          </c:tx>
          <c:spPr>
            <a:solidFill>
              <a:srgbClr val="00A4DC"/>
            </a:solidFill>
          </c:spPr>
          <c:invertIfNegative val="0"/>
          <c:xVal>
            <c:numRef>
              <c:numCache>
                <c:formatCode>General</c:formatCode>
                <c:ptCount val="1"/>
                <c:pt idx="0">
                  <c:v>120.47508922812582</c:v>
                </c:pt>
              </c:numCache>
            </c:numRef>
          </c:xVal>
          <c:yVal>
            <c:numRef>
              <c:numCache>
                <c:formatCode>General</c:formatCode>
                <c:ptCount val="1"/>
                <c:pt idx="0">
                  <c:v>104.22076273728811</c:v>
                </c:pt>
              </c:numCache>
            </c:numRef>
          </c:yVal>
          <c:bubbleSize>
            <c:numRef>
              <c:numCache>
                <c:formatCode>General</c:formatCode>
                <c:ptCount val="1"/>
                <c:pt idx="0">
                  <c:v>627.298</c:v>
                </c:pt>
              </c:numCache>
            </c:numRef>
          </c:bubbleSize>
          <c:bubble3D val="0"/>
        </c:ser>
        <c:ser>
          <c:idx val="1"/>
          <c:order val="1"/>
          <c:tx>
            <c:strRef>
              <c:strCache>
                <c:ptCount val="1"/>
                <c:pt idx="0">
                  <c:v>Online Third-Party Retail</c:v>
                </c:pt>
              </c:strCache>
            </c:strRef>
          </c:tx>
          <c:spPr>
            <a:solidFill>
              <a:srgbClr val="6ECFF2"/>
            </a:solidFill>
          </c:spPr>
          <c:invertIfNegative val="0"/>
          <c:xVal>
            <c:numRef>
              <c:numCache>
                <c:formatCode>General</c:formatCode>
                <c:ptCount val="1"/>
                <c:pt idx="0">
                  <c:v>78.36233695333658</c:v>
                </c:pt>
              </c:numCache>
            </c:numRef>
          </c:xVal>
          <c:yVal>
            <c:numRef>
              <c:numCache>
                <c:formatCode>General</c:formatCode>
                <c:ptCount val="1"/>
                <c:pt idx="0">
                  <c:v>119.67858510986906</c:v>
                </c:pt>
              </c:numCache>
            </c:numRef>
          </c:yVal>
          <c:bubbleSize>
            <c:numRef>
              <c:numCache>
                <c:formatCode>General</c:formatCode>
                <c:ptCount val="1"/>
                <c:pt idx="0">
                  <c:v>464.628</c:v>
                </c:pt>
              </c:numCache>
            </c:numRef>
          </c:bubbleSize>
          <c:bubble3D val="0"/>
        </c:ser>
        <c:ser>
          <c:idx val="2"/>
          <c:order val="2"/>
          <c:tx>
            <c:strRef>
              <c:strCache>
                <c:ptCount val="1"/>
                <c:pt idx="0">
                  <c:v>Offline Retail &amp; Distributors</c:v>
                </c:pt>
              </c:strCache>
            </c:strRef>
          </c:tx>
          <c:spPr>
            <a:solidFill>
              <a:srgbClr val="D6CAC4"/>
            </a:solidFill>
          </c:spPr>
          <c:invertIfNegative val="0"/>
          <c:xVal>
            <c:numRef>
              <c:numCache>
                <c:formatCode>General</c:formatCode>
                <c:ptCount val="1"/>
                <c:pt idx="0">
                  <c:v>86.68094779031922</c:v>
                </c:pt>
              </c:numCache>
            </c:numRef>
          </c:xVal>
          <c:yVal>
            <c:numRef>
              <c:numCache>
                <c:formatCode>General</c:formatCode>
                <c:ptCount val="1"/>
                <c:pt idx="0">
                  <c:v>44.03562456057761</c:v>
                </c:pt>
              </c:numCache>
            </c:numRef>
          </c:yVal>
          <c:bubbleSize>
            <c:numRef>
              <c:numCache>
                <c:formatCode>General</c:formatCode>
                <c:ptCount val="1"/>
                <c:pt idx="0">
                  <c:v>186.714</c:v>
                </c:pt>
              </c:numCache>
            </c:numRef>
          </c:bubbleSize>
          <c:bubble3D val="0"/>
        </c:ser>
        <c:ser>
          <c:idx val="3"/>
          <c:order val="3"/>
          <c:tx>
            <c:strRef>
              <c:strCache>
                <c:ptCount val="1"/>
                <c:pt idx="0">
                  <c:v>Direct B2B / Institutional Sales</c:v>
                </c:pt>
              </c:strCache>
            </c:strRef>
          </c:tx>
          <c:spPr>
            <a:solidFill>
              <a:srgbClr val="EBC46B"/>
            </a:solidFill>
          </c:spPr>
          <c:invertIfNegative val="0"/>
          <c:xVal>
            <c:numRef>
              <c:numCache>
                <c:formatCode>General</c:formatCode>
                <c:ptCount val="1"/>
                <c:pt idx="0">
                  <c:v>104.0350973632597</c:v>
                </c:pt>
              </c:numCache>
            </c:numRef>
          </c:xVal>
          <c:yVal>
            <c:numRef>
              <c:numCache>
                <c:formatCode>General</c:formatCode>
                <c:ptCount val="1"/>
                <c:pt idx="0">
                  <c:v>132.06502759226524</c:v>
                </c:pt>
              </c:numCache>
            </c:numRef>
          </c:yVal>
          <c:bubbleSize>
            <c:numRef>
              <c:numCache>
                <c:formatCode>General</c:formatCode>
                <c:ptCount val="1"/>
                <c:pt idx="0">
                  <c:v>671.363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169.359</c:v>
                </c:pt>
                <c:pt idx="2">
                  <c:v>220.286</c:v>
                </c:pt>
                <c:pt idx="3">
                  <c:v>286.359</c:v>
                </c:pt>
                <c:pt idx="4">
                  <c:v>372.066</c:v>
                </c:pt>
                <c:pt idx="5">
                  <c:v>483.206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169.359</c:v>
                </c:pt>
                <c:pt idx="1">
                  <c:v>50.92699999999999</c:v>
                </c:pt>
                <c:pt idx="2">
                  <c:v>66.07299999999998</c:v>
                </c:pt>
                <c:pt idx="3">
                  <c:v>85.707</c:v>
                </c:pt>
                <c:pt idx="4">
                  <c:v>111.14000000000004</c:v>
                </c:pt>
                <c:pt idx="5">
                  <c:v>144.09199999999998</c:v>
                </c:pt>
                <c:pt idx="6">
                  <c:v>627.298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194.478</c:v>
                </c:pt>
                <c:pt idx="2">
                  <c:v>233.051</c:v>
                </c:pt>
                <c:pt idx="3">
                  <c:v>278.451</c:v>
                </c:pt>
                <c:pt idx="4">
                  <c:v>331.594</c:v>
                </c:pt>
                <c:pt idx="5">
                  <c:v>393.374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194.478</c:v>
                </c:pt>
                <c:pt idx="1">
                  <c:v>38.57299999999998</c:v>
                </c:pt>
                <c:pt idx="2">
                  <c:v>45.400000000000034</c:v>
                </c:pt>
                <c:pt idx="3">
                  <c:v>53.14299999999997</c:v>
                </c:pt>
                <c:pt idx="4">
                  <c:v>61.78000000000003</c:v>
                </c:pt>
                <c:pt idx="5">
                  <c:v>71.25399999999996</c:v>
                </c:pt>
                <c:pt idx="6">
                  <c:v>464.628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71.558</c:v>
                </c:pt>
                <c:pt idx="2">
                  <c:v>86.939</c:v>
                </c:pt>
                <c:pt idx="3">
                  <c:v>105.492</c:v>
                </c:pt>
                <c:pt idx="4">
                  <c:v>127.817</c:v>
                </c:pt>
                <c:pt idx="5">
                  <c:v>154.619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71.558</c:v>
                </c:pt>
                <c:pt idx="1">
                  <c:v>15.380999999999986</c:v>
                </c:pt>
                <c:pt idx="2">
                  <c:v>18.55300000000001</c:v>
                </c:pt>
                <c:pt idx="3">
                  <c:v>22.32499999999999</c:v>
                </c:pt>
                <c:pt idx="4">
                  <c:v>26.802000000000007</c:v>
                </c:pt>
                <c:pt idx="5">
                  <c:v>32.095</c:v>
                </c:pt>
                <c:pt idx="6">
                  <c:v>186.714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214.606</c:v>
                </c:pt>
                <c:pt idx="2">
                  <c:v>269.449</c:v>
                </c:pt>
                <c:pt idx="3">
                  <c:v>338.398</c:v>
                </c:pt>
                <c:pt idx="4">
                  <c:v>425.09</c:v>
                </c:pt>
                <c:pt idx="5">
                  <c:v>534.146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214.606</c:v>
                </c:pt>
                <c:pt idx="1">
                  <c:v>54.84300000000002</c:v>
                </c:pt>
                <c:pt idx="2">
                  <c:v>68.94900000000001</c:v>
                </c:pt>
                <c:pt idx="3">
                  <c:v>86.69199999999995</c:v>
                </c:pt>
                <c:pt idx="4">
                  <c:v>109.05599999999998</c:v>
                </c:pt>
                <c:pt idx="5">
                  <c:v>137.2170000000001</c:v>
                </c:pt>
                <c:pt idx="6">
                  <c:v>671.363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B2B / Institutional Sales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32.407690590929</c:v>
                </c:pt>
                <c:pt idx="1">
                  <c:v>33.01625689806631</c:v>
                </c:pt>
                <c:pt idx="2">
                  <c:v>34.428818827458215</c:v>
                </c:pt>
              </c:numCache>
            </c:numRef>
          </c:val>
        </c:ser>
        <c:ser>
          <c:idx val="1"/>
          <c:order val="1"/>
          <c:tx>
            <c:strRef>
              <c:strCache>
                <c:ptCount val="1"/>
                <c:pt idx="0">
                  <c:v>Direct-to-Consumer / Manufacturer Direct</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23.321609535539224</c:v>
                </c:pt>
                <c:pt idx="1">
                  <c:v>26.055190684322028</c:v>
                </c:pt>
                <c:pt idx="2">
                  <c:v>32.16907871423788</c:v>
                </c:pt>
              </c:numCache>
            </c:numRef>
          </c:val>
        </c:ser>
        <c:ser>
          <c:idx val="2"/>
          <c:order val="2"/>
          <c:tx>
            <c:strRef>
              <c:strCache>
                <c:ptCount val="1"/>
                <c:pt idx="0">
                  <c:v>Online Third-Party Retail</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32.61206490382628</c:v>
                </c:pt>
                <c:pt idx="1">
                  <c:v>29.919646277467265</c:v>
                </c:pt>
                <c:pt idx="2">
                  <c:v>23.8270402660919</c:v>
                </c:pt>
              </c:numCache>
            </c:numRef>
          </c:val>
        </c:ser>
        <c:ser>
          <c:idx val="3"/>
          <c:order val="3"/>
          <c:tx>
            <c:strRef>
              <c:strCache>
                <c:ptCount val="1"/>
                <c:pt idx="0">
                  <c:v>Offline Retail &amp; Distributors</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11.658634969705487</c:v>
                </c:pt>
                <c:pt idx="1">
                  <c:v>11.008906140144402</c:v>
                </c:pt>
                <c:pt idx="2">
                  <c:v>9.575062192212012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4.797803351632979</c:v>
                </c:pt>
                <c:pt idx="1">
                  <c:v>10.271453201403236</c:v>
                </c:pt>
                <c:pt idx="2">
                  <c:v>8.41585316977589</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558318225852274"/>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34.597</c:v>
                </c:pt>
                <c:pt idx="2">
                  <c:v>0.0</c:v>
                </c:pt>
                <c:pt idx="3">
                  <c:v>43.732</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34.597</c:v>
                </c:pt>
                <c:pt idx="1">
                  <c:v>9.134999999999998</c:v>
                </c:pt>
                <c:pt idx="2">
                  <c:v>43.732</c:v>
                </c:pt>
                <c:pt idx="3">
                  <c:v>72.528</c:v>
                </c:pt>
                <c:pt idx="4">
                  <c:v>116.26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6.2658174210921125</c:v>
                </c:pt>
                <c:pt idx="1">
                  <c:v>11.802804341153017</c:v>
                </c:pt>
                <c:pt idx="2">
                  <c:v>9.925806459915743</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5.579701730321982"/>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189.95499999999998</c:v>
                </c:pt>
                <c:pt idx="2">
                  <c:v>0.0</c:v>
                </c:pt>
                <c:pt idx="3">
                  <c:v>257.40599999999995</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189.95499999999998</c:v>
                </c:pt>
                <c:pt idx="1">
                  <c:v>67.45099999999996</c:v>
                </c:pt>
                <c:pt idx="2">
                  <c:v>257.40599999999995</c:v>
                </c:pt>
                <c:pt idx="3">
                  <c:v>528.0930000000001</c:v>
                </c:pt>
                <c:pt idx="4">
                  <c:v>785.499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189.95499999999998</c:v>
                </c:pt>
                <c:pt idx="1">
                  <c:v>199.28699999999998</c:v>
                </c:pt>
                <c:pt idx="2">
                  <c:v>209.092</c:v>
                </c:pt>
                <c:pt idx="3">
                  <c:v>219.39499999999998</c:v>
                </c:pt>
                <c:pt idx="4">
                  <c:v>230.22</c:v>
                </c:pt>
              </c:numCache>
            </c:numRef>
          </c:val>
        </c:ser>
        <c:gapWidth val="50"/>
        <c:axId val="-2068027336"/>
        <c:axId val="-2113994440"/>
      </c:barChart>
      <c:barChart>
        <c:barDir val="col"/>
        <c:grouping val="clustered"/>
        <c:varyColors val="0"/>
        <c:ser>
          <c:idx val="1"/>
          <c:order val="1"/>
          <c:tx>
            <c:strRef>
              <c:strCache>
                <c:ptCount val="1"/>
                <c:pt idx="0">
                  <c:v>Volume (Thousand Units)</c:v>
                </c:pt>
              </c:strCache>
            </c:strRef>
          </c:tx>
          <c:spPr>
            <a:solidFill>
              <a:srgbClr val="F1975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34.597</c:v>
                </c:pt>
                <c:pt idx="1">
                  <c:v>35.794</c:v>
                </c:pt>
                <c:pt idx="2">
                  <c:v>37.034</c:v>
                </c:pt>
                <c:pt idx="3">
                  <c:v>38.324</c:v>
                </c:pt>
                <c:pt idx="4">
                  <c:v>39.66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272"/>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6"/>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257.40599999999995</c:v>
                </c:pt>
                <c:pt idx="1">
                  <c:v>287.796</c:v>
                </c:pt>
                <c:pt idx="2">
                  <c:v>321.769</c:v>
                </c:pt>
                <c:pt idx="3">
                  <c:v>359.754</c:v>
                </c:pt>
                <c:pt idx="4">
                  <c:v>402.217</c:v>
                </c:pt>
                <c:pt idx="5">
                  <c:v>449.692</c:v>
                </c:pt>
                <c:pt idx="6">
                  <c:v>502.76700000000005</c:v>
                </c:pt>
                <c:pt idx="7">
                  <c:v>562.1030000000001</c:v>
                </c:pt>
                <c:pt idx="8">
                  <c:v>628.4380000000001</c:v>
                </c:pt>
                <c:pt idx="9">
                  <c:v>702.5920000000001</c:v>
                </c:pt>
                <c:pt idx="10">
                  <c:v>785.499</c:v>
                </c:pt>
              </c:numCache>
            </c:numRef>
          </c:val>
        </c:ser>
        <c:gapWidth val="50"/>
        <c:axId val="-2068027336"/>
        <c:axId val="-2113994440"/>
      </c:barChart>
      <c:barChart>
        <c:barDir val="col"/>
        <c:grouping val="clustered"/>
        <c:varyColors val="0"/>
        <c:ser>
          <c:idx val="1"/>
          <c:order val="1"/>
          <c:tx>
            <c:strRef>
              <c:strCache>
                <c:ptCount val="1"/>
                <c:pt idx="0">
                  <c:v>Volume (Thousand Units)</c:v>
                </c:pt>
              </c:strCache>
            </c:strRef>
          </c:tx>
          <c:spPr>
            <a:solidFill>
              <a:srgbClr val="F1975A"/>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43.732</c:v>
                </c:pt>
                <c:pt idx="1">
                  <c:v>48.221999999999994</c:v>
                </c:pt>
                <c:pt idx="2">
                  <c:v>53.172</c:v>
                </c:pt>
                <c:pt idx="3">
                  <c:v>58.634</c:v>
                </c:pt>
                <c:pt idx="4">
                  <c:v>64.655</c:v>
                </c:pt>
                <c:pt idx="5">
                  <c:v>71.29499999999999</c:v>
                </c:pt>
                <c:pt idx="6">
                  <c:v>78.62100000000001</c:v>
                </c:pt>
                <c:pt idx="7">
                  <c:v>86.697</c:v>
                </c:pt>
                <c:pt idx="8">
                  <c:v>95.605</c:v>
                </c:pt>
                <c:pt idx="9">
                  <c:v>105.427</c:v>
                </c:pt>
                <c:pt idx="10">
                  <c:v>116.26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927"/>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79"/>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Canada</c:v>
                </c:pt>
                <c:pt idx="1">
                  <c:v>Mexico</c:v>
                </c:pt>
                <c:pt idx="2">
                  <c:v>United States</c:v>
                </c:pt>
              </c:strCache>
            </c:strRef>
          </c:cat>
          <c:val>
            <c:numRef>
              <c:numCache>
                <c:formatCode>General</c:formatCode>
                <c:ptCount val="3"/>
                <c:pt idx="0">
                  <c:v>88.98031397385935</c:v>
                </c:pt>
                <c:pt idx="1">
                  <c:v>93.46945100304409</c:v>
                </c:pt>
                <c:pt idx="2">
                  <c:v>106.3109730361957</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14.687753861535748</c:v>
                </c:pt>
                <c:pt idx="1">
                  <c:v>21.727612371305803</c:v>
                </c:pt>
                <c:pt idx="2">
                  <c:v>63.58463376715843</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500 Wh to Below 1,000 Wh</c:v>
                </c:pt>
                <c:pt idx="1">
                  <c:v>1,000 Wh to Below 1,500 Wh</c:v>
                </c:pt>
                <c:pt idx="2">
                  <c:v>1,500 Wh to 2,000 Wh</c:v>
                </c:pt>
              </c:strCache>
            </c:strRef>
          </c:cat>
          <c:val>
            <c:numRef>
              <c:numCache>
                <c:formatCode>General</c:formatCode>
                <c:ptCount val="3"/>
                <c:pt idx="0">
                  <c:v>192.086</c:v>
                </c:pt>
                <c:pt idx="1">
                  <c:v>281.547</c:v>
                </c:pt>
                <c:pt idx="2">
                  <c:v>311.866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0.13878643378238287</c:v>
                </c:pt>
                <c:pt idx="1">
                  <c:v>0.14608643378238287</c:v>
                </c:pt>
                <c:pt idx="2">
                  <c:v>0.15260643378238287</c:v>
                </c:pt>
                <c:pt idx="3">
                  <c:v>0.15710643378238287</c:v>
                </c:pt>
                <c:pt idx="4">
                  <c:v>0.15656643378238286</c:v>
                </c:pt>
                <c:pt idx="5">
                  <c:v>0.15387643378238286</c:v>
                </c:pt>
                <c:pt idx="6">
                  <c:v>0.14975643378238288</c:v>
                </c:pt>
                <c:pt idx="7">
                  <c:v>0.14534643378238288</c:v>
                </c:pt>
                <c:pt idx="8">
                  <c:v>0.14247643378238287</c:v>
                </c:pt>
                <c:pt idx="9">
                  <c:v>0.14169643378238286</c:v>
                </c:pt>
                <c:pt idx="10">
                  <c:v>0.13885643378238288</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0.11570596634358515</c:v>
                </c:pt>
                <c:pt idx="1">
                  <c:v>0.11570596634358515</c:v>
                </c:pt>
                <c:pt idx="2">
                  <c:v>0.11703596634358515</c:v>
                </c:pt>
                <c:pt idx="3">
                  <c:v>0.11937596634358516</c:v>
                </c:pt>
                <c:pt idx="4">
                  <c:v>0.12170596634358516</c:v>
                </c:pt>
                <c:pt idx="5">
                  <c:v>0.12192596634358516</c:v>
                </c:pt>
                <c:pt idx="6">
                  <c:v>0.12029596634358516</c:v>
                </c:pt>
                <c:pt idx="7">
                  <c:v>0.11837596634358516</c:v>
                </c:pt>
                <c:pt idx="8">
                  <c:v>0.11756596634358515</c:v>
                </c:pt>
                <c:pt idx="9">
                  <c:v>0.11600596634358515</c:v>
                </c:pt>
                <c:pt idx="10">
                  <c:v>0.11469596634358516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0.09136306029100644</c:v>
                </c:pt>
                <c:pt idx="1">
                  <c:v>0.09530306029100644</c:v>
                </c:pt>
                <c:pt idx="2">
                  <c:v>0.09534306029100643</c:v>
                </c:pt>
                <c:pt idx="3">
                  <c:v>0.09409306029100643</c:v>
                </c:pt>
                <c:pt idx="4">
                  <c:v>0.09051306029100643</c:v>
                </c:pt>
                <c:pt idx="5">
                  <c:v>0.08850306029100644</c:v>
                </c:pt>
                <c:pt idx="6">
                  <c:v>0.08554306029100645</c:v>
                </c:pt>
                <c:pt idx="7">
                  <c:v>0.08470306029100644</c:v>
                </c:pt>
                <c:pt idx="8">
                  <c:v>0.08320306029100644</c:v>
                </c:pt>
                <c:pt idx="9">
                  <c:v>0.08341306029100644</c:v>
                </c:pt>
                <c:pt idx="10">
                  <c:v>0.08191306029100644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BFBFBF"/>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United States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57.840940272569284</c:v>
                </c:pt>
                <c:pt idx="1">
                  <c:v>62.199380698434545</c:v>
                </c:pt>
              </c:numCache>
            </c:numRef>
          </c:val>
        </c:ser>
        <c:ser>
          <c:idx val="1"/>
          <c:order val="1"/>
          <c:tx>
            <c:strRef>
              <c:strCache>
                <c:ptCount val="1"/>
                <c:pt idx="0">
                  <c:v>Canada</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25.63340345742248</c:v>
                </c:pt>
                <c:pt idx="1">
                  <c:v>22.471185274384997</c:v>
                </c:pt>
              </c:numCache>
            </c:numRef>
          </c:val>
        </c:ser>
        <c:ser>
          <c:idx val="2"/>
          <c:order val="2"/>
          <c:tx>
            <c:strRef>
              <c:strCache>
                <c:ptCount val="1"/>
                <c:pt idx="0">
                  <c:v>Mexico</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16.52565627000823</c:v>
                </c:pt>
                <c:pt idx="1">
                  <c:v>15.329434027180454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United States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57.692905371281164</c:v>
                </c:pt>
                <c:pt idx="1">
                  <c:v>61.65392954033041</c:v>
                </c:pt>
              </c:numCache>
            </c:numRef>
          </c:val>
        </c:ser>
        <c:ser>
          <c:idx val="1"/>
          <c:order val="1"/>
          <c:tx>
            <c:strRef>
              <c:strCache>
                <c:ptCount val="1"/>
                <c:pt idx="0">
                  <c:v>Canada</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25.997839988189863</c:v>
                </c:pt>
                <c:pt idx="1">
                  <c:v>23.12695496747927</c:v>
                </c:pt>
              </c:numCache>
            </c:numRef>
          </c:val>
        </c:ser>
        <c:ser>
          <c:idx val="2"/>
          <c:order val="2"/>
          <c:tx>
            <c:strRef>
              <c:strCache>
                <c:ptCount val="1"/>
                <c:pt idx="0">
                  <c:v>Mexico</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16.30925464052897</c:v>
                </c:pt>
                <c:pt idx="1">
                  <c:v>15.219115492190316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United States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19.232</c:v>
                </c:pt>
                <c:pt idx="1">
                  <c:v>20.06</c:v>
                </c:pt>
                <c:pt idx="2">
                  <c:v>20.922</c:v>
                </c:pt>
                <c:pt idx="3">
                  <c:v>21.823</c:v>
                </c:pt>
                <c:pt idx="4">
                  <c:v>22.763</c:v>
                </c:pt>
                <c:pt idx="5">
                  <c:v>25.295</c:v>
                </c:pt>
                <c:pt idx="6">
                  <c:v>28.106</c:v>
                </c:pt>
                <c:pt idx="7">
                  <c:v>31.227</c:v>
                </c:pt>
                <c:pt idx="8">
                  <c:v>34.692</c:v>
                </c:pt>
                <c:pt idx="9">
                  <c:v>38.538</c:v>
                </c:pt>
                <c:pt idx="10">
                  <c:v>42.808</c:v>
                </c:pt>
                <c:pt idx="11">
                  <c:v>47.548</c:v>
                </c:pt>
                <c:pt idx="12">
                  <c:v>52.808</c:v>
                </c:pt>
                <c:pt idx="13">
                  <c:v>58.646</c:v>
                </c:pt>
                <c:pt idx="14">
                  <c:v>65.124</c:v>
                </c:pt>
                <c:pt idx="15">
                  <c:v>72.313</c:v>
                </c:pt>
              </c:numCache>
            </c:numRef>
          </c:val>
        </c:ser>
        <c:ser>
          <c:idx val="1"/>
          <c:order val="1"/>
          <c:tx>
            <c:strRef>
              <c:strCache>
                <c:ptCount val="1"/>
                <c:pt idx="0">
                  <c:v>Canada</c:v>
                </c:pt>
              </c:strCache>
            </c:strRef>
          </c:tx>
          <c:spPr>
            <a:solidFill>
              <a:srgbClr val="6ECFF2"/>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9.446</c:v>
                </c:pt>
                <c:pt idx="1">
                  <c:v>9.652</c:v>
                </c:pt>
                <c:pt idx="2">
                  <c:v>9.862</c:v>
                </c:pt>
                <c:pt idx="3">
                  <c:v>10.078</c:v>
                </c:pt>
                <c:pt idx="4">
                  <c:v>10.297</c:v>
                </c:pt>
                <c:pt idx="5">
                  <c:v>11.21</c:v>
                </c:pt>
                <c:pt idx="6">
                  <c:v>12.204</c:v>
                </c:pt>
                <c:pt idx="7">
                  <c:v>13.284</c:v>
                </c:pt>
                <c:pt idx="8">
                  <c:v>14.46</c:v>
                </c:pt>
                <c:pt idx="9">
                  <c:v>15.738</c:v>
                </c:pt>
                <c:pt idx="10">
                  <c:v>17.128</c:v>
                </c:pt>
                <c:pt idx="11">
                  <c:v>18.641</c:v>
                </c:pt>
                <c:pt idx="12">
                  <c:v>20.284</c:v>
                </c:pt>
                <c:pt idx="13">
                  <c:v>22.072</c:v>
                </c:pt>
                <c:pt idx="14">
                  <c:v>24.013</c:v>
                </c:pt>
                <c:pt idx="15">
                  <c:v>26.125</c:v>
                </c:pt>
              </c:numCache>
            </c:numRef>
          </c:val>
        </c:ser>
        <c:ser>
          <c:idx val="2"/>
          <c:order val="2"/>
          <c:tx>
            <c:strRef>
              <c:strCache>
                <c:ptCount val="1"/>
                <c:pt idx="0">
                  <c:v>Mexico</c:v>
                </c:pt>
              </c:strCache>
            </c:strRef>
          </c:tx>
          <c:spPr>
            <a:solidFill>
              <a:srgbClr val="D6CAC4"/>
            </a:solidFill>
            <a:ln>
              <a:noFill/>
            </a:ln>
          </c:spPr>
          <c:dLbls>
            <c:dLbl>
              <c:idx val="0"/>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quot;;&quot;MMM&quot;;&quot;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quot;;&quot;MMMM&quot;;&quot;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quot;;&quot;MMMM&quot;;&quot;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5.919</c:v>
                </c:pt>
                <c:pt idx="1">
                  <c:v>6.082</c:v>
                </c:pt>
                <c:pt idx="2">
                  <c:v>6.25</c:v>
                </c:pt>
                <c:pt idx="3">
                  <c:v>6.423</c:v>
                </c:pt>
                <c:pt idx="4">
                  <c:v>6.6</c:v>
                </c:pt>
                <c:pt idx="5">
                  <c:v>7.227</c:v>
                </c:pt>
                <c:pt idx="6">
                  <c:v>7.912</c:v>
                </c:pt>
                <c:pt idx="7">
                  <c:v>8.661</c:v>
                </c:pt>
                <c:pt idx="8">
                  <c:v>9.482</c:v>
                </c:pt>
                <c:pt idx="9">
                  <c:v>10.379</c:v>
                </c:pt>
                <c:pt idx="10">
                  <c:v>11.359</c:v>
                </c:pt>
                <c:pt idx="11">
                  <c:v>12.432</c:v>
                </c:pt>
                <c:pt idx="12">
                  <c:v>13.605</c:v>
                </c:pt>
                <c:pt idx="13">
                  <c:v>14.887</c:v>
                </c:pt>
                <c:pt idx="14">
                  <c:v>16.29</c:v>
                </c:pt>
                <c:pt idx="15">
                  <c:v>17.822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United States</c:v>
                </c:pt>
              </c:strCache>
            </c:strRef>
          </c:tx>
          <c:spPr>
            <a:solidFill>
              <a:srgbClr val="00A4DC"/>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105.711</c:v>
                </c:pt>
                <c:pt idx="1">
                  <c:v>111.722</c:v>
                </c:pt>
                <c:pt idx="2">
                  <c:v>118.075</c:v>
                </c:pt>
                <c:pt idx="3">
                  <c:v>124.79</c:v>
                </c:pt>
                <c:pt idx="4">
                  <c:v>131.886</c:v>
                </c:pt>
                <c:pt idx="5">
                  <c:v>148.505</c:v>
                </c:pt>
                <c:pt idx="6">
                  <c:v>167.195</c:v>
                </c:pt>
                <c:pt idx="7">
                  <c:v>188.222</c:v>
                </c:pt>
                <c:pt idx="8">
                  <c:v>211.879</c:v>
                </c:pt>
                <c:pt idx="9">
                  <c:v>238.491</c:v>
                </c:pt>
                <c:pt idx="10">
                  <c:v>268.424</c:v>
                </c:pt>
                <c:pt idx="11">
                  <c:v>302.095</c:v>
                </c:pt>
                <c:pt idx="12">
                  <c:v>339.962</c:v>
                </c:pt>
                <c:pt idx="13">
                  <c:v>382.55</c:v>
                </c:pt>
                <c:pt idx="14">
                  <c:v>430.439</c:v>
                </c:pt>
                <c:pt idx="15">
                  <c:v>484.291</c:v>
                </c:pt>
              </c:numCache>
            </c:numRef>
          </c:val>
        </c:ser>
        <c:ser>
          <c:idx val="1"/>
          <c:order val="1"/>
          <c:tx>
            <c:strRef>
              <c:strCache>
                <c:ptCount val="1"/>
                <c:pt idx="0">
                  <c:v>Canada</c:v>
                </c:pt>
              </c:strCache>
            </c:strRef>
          </c:tx>
          <c:spPr>
            <a:solidFill>
              <a:srgbClr val="6ECFF2"/>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52.248</c:v>
                </c:pt>
                <c:pt idx="1">
                  <c:v>54.208</c:v>
                </c:pt>
                <c:pt idx="2">
                  <c:v>56.242</c:v>
                </c:pt>
                <c:pt idx="3">
                  <c:v>58.351</c:v>
                </c:pt>
                <c:pt idx="4">
                  <c:v>60.539</c:v>
                </c:pt>
                <c:pt idx="5">
                  <c:v>66.92</c:v>
                </c:pt>
                <c:pt idx="6">
                  <c:v>73.973</c:v>
                </c:pt>
                <c:pt idx="7">
                  <c:v>81.762</c:v>
                </c:pt>
                <c:pt idx="8">
                  <c:v>90.367</c:v>
                </c:pt>
                <c:pt idx="9">
                  <c:v>99.867</c:v>
                </c:pt>
                <c:pt idx="10">
                  <c:v>110.36</c:v>
                </c:pt>
                <c:pt idx="11">
                  <c:v>121.945</c:v>
                </c:pt>
                <c:pt idx="12">
                  <c:v>134.738</c:v>
                </c:pt>
                <c:pt idx="13">
                  <c:v>148.861</c:v>
                </c:pt>
                <c:pt idx="14">
                  <c:v>164.451</c:v>
                </c:pt>
                <c:pt idx="15">
                  <c:v>181.662</c:v>
                </c:pt>
              </c:numCache>
            </c:numRef>
          </c:val>
        </c:ser>
        <c:ser>
          <c:idx val="2"/>
          <c:order val="2"/>
          <c:tx>
            <c:strRef>
              <c:strCache>
                <c:ptCount val="1"/>
                <c:pt idx="0">
                  <c:v>Mexico</c:v>
                </c:pt>
              </c:strCache>
            </c:strRef>
          </c:tx>
          <c:spPr>
            <a:solidFill>
              <a:srgbClr val="D6CAC4"/>
            </a:solidFill>
            <a:ln>
              <a:noFill/>
            </a:ln>
          </c:spPr>
          <c:dLbls>
            <c:dLbl>
              <c:idx val="0"/>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31.996</c:v>
                </c:pt>
                <c:pt idx="1">
                  <c:v>33.357</c:v>
                </c:pt>
                <c:pt idx="2">
                  <c:v>34.775</c:v>
                </c:pt>
                <c:pt idx="3">
                  <c:v>36.254</c:v>
                </c:pt>
                <c:pt idx="4">
                  <c:v>37.795</c:v>
                </c:pt>
                <c:pt idx="5">
                  <c:v>41.981</c:v>
                </c:pt>
                <c:pt idx="6">
                  <c:v>46.628</c:v>
                </c:pt>
                <c:pt idx="7">
                  <c:v>51.785</c:v>
                </c:pt>
                <c:pt idx="8">
                  <c:v>57.508</c:v>
                </c:pt>
                <c:pt idx="9">
                  <c:v>63.859</c:v>
                </c:pt>
                <c:pt idx="10">
                  <c:v>70.908</c:v>
                </c:pt>
                <c:pt idx="11">
                  <c:v>78.727</c:v>
                </c:pt>
                <c:pt idx="12">
                  <c:v>87.403</c:v>
                </c:pt>
                <c:pt idx="13">
                  <c:v>97.027</c:v>
                </c:pt>
                <c:pt idx="14">
                  <c:v>107.702</c:v>
                </c:pt>
                <c:pt idx="15">
                  <c:v>119.546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500 Wh to Below 1,000 Wh</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29.902297023739816</c:v>
                </c:pt>
                <c:pt idx="1">
                  <c:v>23.398949697790403</c:v>
                </c:pt>
                <c:pt idx="2">
                  <c:v>23.50487620046625</c:v>
                </c:pt>
              </c:numCache>
            </c:numRef>
          </c:val>
        </c:ser>
        <c:ser>
          <c:idx val="1"/>
          <c:order val="1"/>
          <c:tx>
            <c:strRef>
              <c:strCache>
                <c:ptCount val="1"/>
                <c:pt idx="0">
                  <c:v>1,000 Wh to Below 1,500 Wh</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35.71261271811687</c:v>
                </c:pt>
                <c:pt idx="1">
                  <c:v>42.13539430370689</c:v>
                </c:pt>
                <c:pt idx="2">
                  <c:v>33.51497343539319</c:v>
                </c:pt>
              </c:numCache>
            </c:numRef>
          </c:val>
        </c:ser>
        <c:ser>
          <c:idx val="2"/>
          <c:order val="2"/>
          <c:tx>
            <c:strRef>
              <c:strCache>
                <c:ptCount val="1"/>
                <c:pt idx="0">
                  <c:v>1,500 Wh to 2,000 Wh</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34.385090258143315</c:v>
                </c:pt>
                <c:pt idx="1">
                  <c:v>34.46565599850271</c:v>
                </c:pt>
                <c:pt idx="2">
                  <c:v>42.98015036414057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500 Wh to Below 1,000 Wh</c:v>
                </c:pt>
              </c:strCache>
            </c:strRef>
          </c:tx>
          <c:spPr>
            <a:solidFill>
              <a:srgbClr val="00A4DC"/>
            </a:solidFill>
          </c:spPr>
          <c:invertIfNegative val="0"/>
          <c:xVal>
            <c:numRef>
              <c:numCache>
                <c:formatCode>General</c:formatCode>
                <c:ptCount val="1"/>
                <c:pt idx="0">
                  <c:v>92.55792326518262</c:v>
                </c:pt>
              </c:numCache>
            </c:numRef>
          </c:xVal>
          <c:yVal>
            <c:numRef>
              <c:numCache>
                <c:formatCode>General</c:formatCode>
                <c:ptCount val="1"/>
                <c:pt idx="0">
                  <c:v>79.38276497051352</c:v>
                </c:pt>
              </c:numCache>
            </c:numRef>
          </c:yVal>
          <c:bubbleSize>
            <c:numRef>
              <c:numCache>
                <c:formatCode>General</c:formatCode>
                <c:ptCount val="1"/>
                <c:pt idx="0">
                  <c:v>192.086</c:v>
                </c:pt>
              </c:numCache>
            </c:numRef>
          </c:bubbleSize>
          <c:bubble3D val="0"/>
        </c:ser>
        <c:ser>
          <c:idx val="1"/>
          <c:order val="1"/>
          <c:tx>
            <c:strRef>
              <c:strCache>
                <c:ptCount val="1"/>
                <c:pt idx="0">
                  <c:v>1,000 Wh to Below 1,500 Wh</c:v>
                </c:pt>
              </c:strCache>
            </c:strRef>
          </c:tx>
          <c:spPr>
            <a:solidFill>
              <a:srgbClr val="6ECFF2"/>
            </a:solidFill>
          </c:spPr>
          <c:invertIfNegative val="0"/>
          <c:xVal>
            <c:numRef>
              <c:numCache>
                <c:formatCode>General</c:formatCode>
                <c:ptCount val="1"/>
                <c:pt idx="0">
                  <c:v>112.49314191330582</c:v>
                </c:pt>
              </c:numCache>
            </c:numRef>
          </c:xVal>
          <c:yVal>
            <c:numRef>
              <c:numCache>
                <c:formatCode>General</c:formatCode>
                <c:ptCount val="1"/>
                <c:pt idx="0">
                  <c:v>94.3241416284003</c:v>
                </c:pt>
              </c:numCache>
            </c:numRef>
          </c:yVal>
          <c:bubbleSize>
            <c:numRef>
              <c:numCache>
                <c:formatCode>General</c:formatCode>
                <c:ptCount val="1"/>
                <c:pt idx="0">
                  <c:v>281.547</c:v>
                </c:pt>
              </c:numCache>
            </c:numRef>
          </c:bubbleSize>
          <c:bubble3D val="0"/>
        </c:ser>
        <c:ser>
          <c:idx val="2"/>
          <c:order val="2"/>
          <c:tx>
            <c:strRef>
              <c:strCache>
                <c:ptCount val="1"/>
                <c:pt idx="0">
                  <c:v>1,500 Wh to 2,000 Wh</c:v>
                </c:pt>
              </c:strCache>
            </c:strRef>
          </c:tx>
          <c:spPr>
            <a:solidFill>
              <a:srgbClr val="D6CAC4"/>
            </a:solidFill>
          </c:spPr>
          <c:invertIfNegative val="0"/>
          <c:xVal>
            <c:numRef>
              <c:numCache>
                <c:formatCode>General</c:formatCode>
                <c:ptCount val="1"/>
                <c:pt idx="0">
                  <c:v>94.46828229836103</c:v>
                </c:pt>
              </c:numCache>
            </c:numRef>
          </c:xVal>
          <c:yVal>
            <c:numRef>
              <c:numCache>
                <c:formatCode>General</c:formatCode>
                <c:ptCount val="1"/>
                <c:pt idx="0">
                  <c:v>126.29309340108625</c:v>
                </c:pt>
              </c:numCache>
            </c:numRef>
          </c:yVal>
          <c:bubbleSize>
            <c:numRef>
              <c:numCache>
                <c:formatCode>General</c:formatCode>
                <c:ptCount val="1"/>
                <c:pt idx="0">
                  <c:v>311.866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40.0"/>
          <c:min val="6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68.112</c:v>
                </c:pt>
                <c:pt idx="2">
                  <c:v>83.813</c:v>
                </c:pt>
                <c:pt idx="3">
                  <c:v>103.129</c:v>
                </c:pt>
                <c:pt idx="4">
                  <c:v>126.894</c:v>
                </c:pt>
                <c:pt idx="5">
                  <c:v>156.127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68.112</c:v>
                </c:pt>
                <c:pt idx="1">
                  <c:v>15.701000000000008</c:v>
                </c:pt>
                <c:pt idx="2">
                  <c:v>19.316000000000003</c:v>
                </c:pt>
                <c:pt idx="3">
                  <c:v>23.765</c:v>
                </c:pt>
                <c:pt idx="4">
                  <c:v>29.233000000000004</c:v>
                </c:pt>
                <c:pt idx="5">
                  <c:v>35.959</c:v>
                </c:pt>
                <c:pt idx="6">
                  <c:v>192.086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80.932</c:v>
                </c:pt>
                <c:pt idx="2">
                  <c:v>104.077</c:v>
                </c:pt>
                <c:pt idx="3">
                  <c:v>133.685</c:v>
                </c:pt>
                <c:pt idx="4">
                  <c:v>171.528</c:v>
                </c:pt>
                <c:pt idx="5">
                  <c:v>219.862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80.932</c:v>
                </c:pt>
                <c:pt idx="1">
                  <c:v>23.144999999999996</c:v>
                </c:pt>
                <c:pt idx="2">
                  <c:v>29.608000000000004</c:v>
                </c:pt>
                <c:pt idx="3">
                  <c:v>37.84299999999999</c:v>
                </c:pt>
                <c:pt idx="4">
                  <c:v>48.334</c:v>
                </c:pt>
                <c:pt idx="5">
                  <c:v>61.68500000000003</c:v>
                </c:pt>
                <c:pt idx="6">
                  <c:v>281.547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108.362</c:v>
                </c:pt>
                <c:pt idx="2">
                  <c:v>133.879</c:v>
                </c:pt>
                <c:pt idx="3">
                  <c:v>165.403</c:v>
                </c:pt>
                <c:pt idx="4">
                  <c:v>204.345</c:v>
                </c:pt>
                <c:pt idx="5">
                  <c:v>252.449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108.362</c:v>
                </c:pt>
                <c:pt idx="1">
                  <c:v>25.516999999999996</c:v>
                </c:pt>
                <c:pt idx="2">
                  <c:v>31.524</c:v>
                </c:pt>
                <c:pt idx="3">
                  <c:v>38.94200000000001</c:v>
                </c:pt>
                <c:pt idx="4">
                  <c:v>48.10400000000001</c:v>
                </c:pt>
                <c:pt idx="5">
                  <c:v>59.41699999999997</c:v>
                </c:pt>
                <c:pt idx="6">
                  <c:v>311.866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1,500 Wh to 2,000 Wh</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43.350793609012655</c:v>
                </c:pt>
                <c:pt idx="1">
                  <c:v>42.097697800362084</c:v>
                </c:pt>
                <c:pt idx="2">
                  <c:v>39.70291496233604</c:v>
                </c:pt>
              </c:numCache>
            </c:numRef>
          </c:val>
        </c:ser>
        <c:ser>
          <c:idx val="1"/>
          <c:order val="1"/>
          <c:tx>
            <c:strRef>
              <c:strCache>
                <c:ptCount val="1"/>
                <c:pt idx="0">
                  <c:v>1,000 Wh to Below 1,500 Wh</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29.12689847595483</c:v>
                </c:pt>
                <c:pt idx="1">
                  <c:v>31.441380542800097</c:v>
                </c:pt>
                <c:pt idx="2">
                  <c:v>35.843075548154744</c:v>
                </c:pt>
              </c:numCache>
            </c:numRef>
          </c:val>
        </c:ser>
        <c:ser>
          <c:idx val="2"/>
          <c:order val="2"/>
          <c:tx>
            <c:strRef>
              <c:strCache>
                <c:ptCount val="1"/>
                <c:pt idx="0">
                  <c:v>500 Wh to Below 1,000 Wh</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27.522307915032506</c:v>
                </c:pt>
                <c:pt idx="1">
                  <c:v>26.460921656837836</c:v>
                </c:pt>
                <c:pt idx="2">
                  <c:v>24.454009489509218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Lithium Cobalt Oxide (LCO)</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24.634032088066515</c:v>
                </c:pt>
                <c:pt idx="1">
                  <c:v>31.953297882881397</c:v>
                </c:pt>
                <c:pt idx="2">
                  <c:v>29.350328624731826</c:v>
                </c:pt>
              </c:numCache>
            </c:numRef>
          </c:val>
        </c:ser>
        <c:ser>
          <c:idx val="1"/>
          <c:order val="1"/>
          <c:tx>
            <c:strRef>
              <c:strCache>
                <c:ptCount val="1"/>
                <c:pt idx="0">
                  <c:v>Lithium Nickel Manganese Cobalt Oxide (NMC)</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46.534388436250474</c:v>
                </c:pt>
                <c:pt idx="1">
                  <c:v>39.26467835871013</c:v>
                </c:pt>
                <c:pt idx="2">
                  <c:v>42.00532324573449</c:v>
                </c:pt>
              </c:numCache>
            </c:numRef>
          </c:val>
        </c:ser>
        <c:ser>
          <c:idx val="2"/>
          <c:order val="2"/>
          <c:tx>
            <c:strRef>
              <c:strCache>
                <c:ptCount val="1"/>
                <c:pt idx="0">
                  <c:v>Lithium Iron Phosphate (LFP)</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14.893848393087177</c:v>
                </c:pt>
                <c:pt idx="1">
                  <c:v>12.887120036111021</c:v>
                </c:pt>
                <c:pt idx="2">
                  <c:v>12.667177378889965</c:v>
                </c:pt>
              </c:numCache>
            </c:numRef>
          </c:val>
        </c:ser>
        <c:ser>
          <c:idx val="3"/>
          <c:order val="3"/>
          <c:tx>
            <c:strRef>
              <c:strCache>
                <c:ptCount val="1"/>
                <c:pt idx="0">
                  <c:v>Other Lithium-Ion Cathode Chemistries</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13.937731082595818</c:v>
                </c:pt>
                <c:pt idx="1">
                  <c:v>15.894903722297455</c:v>
                </c:pt>
                <c:pt idx="2">
                  <c:v>15.977170750643726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Lithium Cobalt Oxide (LCO)</c:v>
                </c:pt>
              </c:strCache>
            </c:strRef>
          </c:tx>
          <c:spPr>
            <a:solidFill>
              <a:srgbClr val="00A4DC"/>
            </a:solidFill>
          </c:spPr>
          <c:invertIfNegative val="0"/>
          <c:xVal>
            <c:numRef>
              <c:numCache>
                <c:formatCode>General</c:formatCode>
                <c:ptCount val="1"/>
                <c:pt idx="0">
                  <c:v>95.16799561197384</c:v>
                </c:pt>
              </c:numCache>
            </c:numRef>
          </c:xVal>
          <c:yVal>
            <c:numRef>
              <c:numCache>
                <c:formatCode>General</c:formatCode>
                <c:ptCount val="1"/>
                <c:pt idx="0">
                  <c:v>123.0740542178504</c:v>
                </c:pt>
              </c:numCache>
            </c:numRef>
          </c:yVal>
          <c:bubbleSize>
            <c:numRef>
              <c:numCache>
                <c:formatCode>General</c:formatCode>
                <c:ptCount val="1"/>
                <c:pt idx="0">
                  <c:v>229.637</c:v>
                </c:pt>
              </c:numCache>
            </c:numRef>
          </c:bubbleSize>
          <c:bubble3D val="0"/>
        </c:ser>
        <c:ser>
          <c:idx val="1"/>
          <c:order val="1"/>
          <c:tx>
            <c:strRef>
              <c:strCache>
                <c:ptCount val="1"/>
                <c:pt idx="0">
                  <c:v>Lithium Nickel Manganese Cobalt Oxide (NMC)</c:v>
                </c:pt>
              </c:strCache>
            </c:strRef>
          </c:tx>
          <c:spPr>
            <a:solidFill>
              <a:srgbClr val="6ECFF2"/>
            </a:solidFill>
          </c:spPr>
          <c:invertIfNegative val="0"/>
          <c:xVal>
            <c:numRef>
              <c:numCache>
                <c:formatCode>General</c:formatCode>
                <c:ptCount val="1"/>
                <c:pt idx="0">
                  <c:v>104.95427478208752</c:v>
                </c:pt>
              </c:numCache>
            </c:numRef>
          </c:xVal>
          <c:yVal>
            <c:numRef>
              <c:numCache>
                <c:formatCode>General</c:formatCode>
                <c:ptCount val="1"/>
                <c:pt idx="0">
                  <c:v>159.69169327832296</c:v>
                </c:pt>
              </c:numCache>
            </c:numRef>
          </c:yVal>
          <c:bubbleSize>
            <c:numRef>
              <c:numCache>
                <c:formatCode>General</c:formatCode>
                <c:ptCount val="1"/>
                <c:pt idx="0">
                  <c:v>330.387</c:v>
                </c:pt>
              </c:numCache>
            </c:numRef>
          </c:bubbleSize>
          <c:bubble3D val="0"/>
        </c:ser>
        <c:ser>
          <c:idx val="2"/>
          <c:order val="2"/>
          <c:tx>
            <c:strRef>
              <c:strCache>
                <c:ptCount val="1"/>
                <c:pt idx="0">
                  <c:v>Lithium Iron Phosphate (LFP)</c:v>
                </c:pt>
              </c:strCache>
            </c:strRef>
          </c:tx>
          <c:spPr>
            <a:solidFill>
              <a:srgbClr val="D6CAC4"/>
            </a:solidFill>
          </c:spPr>
          <c:invertIfNegative val="0"/>
          <c:xVal>
            <c:numRef>
              <c:numCache>
                <c:formatCode>General</c:formatCode>
                <c:ptCount val="1"/>
                <c:pt idx="0">
                  <c:v>87.281171190406</c:v>
                </c:pt>
              </c:numCache>
            </c:numRef>
          </c:xVal>
          <c:yVal>
            <c:numRef>
              <c:numCache>
                <c:formatCode>General</c:formatCode>
                <c:ptCount val="1"/>
                <c:pt idx="0">
                  <c:v>59.787262146181504</c:v>
                </c:pt>
              </c:numCache>
            </c:numRef>
          </c:yVal>
          <c:bubbleSize>
            <c:numRef>
              <c:numCache>
                <c:formatCode>General</c:formatCode>
                <c:ptCount val="1"/>
                <c:pt idx="0">
                  <c:v>102.562</c:v>
                </c:pt>
              </c:numCache>
            </c:numRef>
          </c:bubbleSize>
          <c:bubble3D val="0"/>
        </c:ser>
        <c:ser>
          <c:idx val="3"/>
          <c:order val="3"/>
          <c:tx>
            <c:strRef>
              <c:strCache>
                <c:ptCount val="1"/>
                <c:pt idx="0">
                  <c:v>Other Lithium-Ion Cathode Chemistries</c:v>
                </c:pt>
              </c:strCache>
            </c:strRef>
          </c:tx>
          <c:spPr>
            <a:solidFill>
              <a:srgbClr val="EBC46B"/>
            </a:solidFill>
          </c:spPr>
          <c:invertIfNegative val="0"/>
          <c:xVal>
            <c:numRef>
              <c:numCache>
                <c:formatCode>General</c:formatCode>
                <c:ptCount val="1"/>
                <c:pt idx="0">
                  <c:v>108.15855942448552</c:v>
                </c:pt>
              </c:numCache>
            </c:numRef>
          </c:xVal>
          <c:yVal>
            <c:numRef>
              <c:numCache>
                <c:formatCode>General</c:formatCode>
                <c:ptCount val="1"/>
                <c:pt idx="0">
                  <c:v>57.44699035764512</c:v>
                </c:pt>
              </c:numCache>
            </c:numRef>
          </c:yVal>
          <c:bubbleSize>
            <c:numRef>
              <c:numCache>
                <c:formatCode>General</c:formatCode>
                <c:ptCount val="1"/>
                <c:pt idx="0">
                  <c:v>122.913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79.2</c:v>
                </c:pt>
                <c:pt idx="2">
                  <c:v>98.06</c:v>
                </c:pt>
                <c:pt idx="3">
                  <c:v>121.369</c:v>
                </c:pt>
                <c:pt idx="4">
                  <c:v>150.17</c:v>
                </c:pt>
                <c:pt idx="5">
                  <c:v>185.735</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79.2</c:v>
                </c:pt>
                <c:pt idx="1">
                  <c:v>18.86</c:v>
                </c:pt>
                <c:pt idx="2">
                  <c:v>23.308999999999997</c:v>
                </c:pt>
                <c:pt idx="3">
                  <c:v>28.800999999999988</c:v>
                </c:pt>
                <c:pt idx="4">
                  <c:v>35.565000000000026</c:v>
                </c:pt>
                <c:pt idx="5">
                  <c:v>43.90199999999999</c:v>
                </c:pt>
                <c:pt idx="6">
                  <c:v>229.637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102.764</c:v>
                </c:pt>
                <c:pt idx="2">
                  <c:v>129.778</c:v>
                </c:pt>
                <c:pt idx="3">
                  <c:v>163.908</c:v>
                </c:pt>
                <c:pt idx="4">
                  <c:v>207.03</c:v>
                </c:pt>
                <c:pt idx="5">
                  <c:v>261.524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102.764</c:v>
                </c:pt>
                <c:pt idx="1">
                  <c:v>27.013999999999996</c:v>
                </c:pt>
                <c:pt idx="2">
                  <c:v>34.129999999999995</c:v>
                </c:pt>
                <c:pt idx="3">
                  <c:v>43.122000000000014</c:v>
                </c:pt>
                <c:pt idx="4">
                  <c:v>54.494</c:v>
                </c:pt>
                <c:pt idx="5">
                  <c:v>68.863</c:v>
                </c:pt>
                <c:pt idx="6">
                  <c:v>330.387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38.474</c:v>
                </c:pt>
                <c:pt idx="2">
                  <c:v>46.929</c:v>
                </c:pt>
                <c:pt idx="3">
                  <c:v>57.175</c:v>
                </c:pt>
                <c:pt idx="4">
                  <c:v>69.569</c:v>
                </c:pt>
                <c:pt idx="5">
                  <c:v>84.533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38.474</c:v>
                </c:pt>
                <c:pt idx="1">
                  <c:v>8.455000000000005</c:v>
                </c:pt>
                <c:pt idx="2">
                  <c:v>10.245999999999995</c:v>
                </c:pt>
                <c:pt idx="3">
                  <c:v>12.394000000000005</c:v>
                </c:pt>
                <c:pt idx="4">
                  <c:v>14.963999999999999</c:v>
                </c:pt>
                <c:pt idx="5">
                  <c:v>18.028999999999996</c:v>
                </c:pt>
                <c:pt idx="6">
                  <c:v>102.562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36.968</c:v>
                </c:pt>
                <c:pt idx="2">
                  <c:v>47.002</c:v>
                </c:pt>
                <c:pt idx="3">
                  <c:v>59.765</c:v>
                </c:pt>
                <c:pt idx="4">
                  <c:v>75.998</c:v>
                </c:pt>
                <c:pt idx="5">
                  <c:v>96.646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36.968</c:v>
                </c:pt>
                <c:pt idx="1">
                  <c:v>10.033999999999999</c:v>
                </c:pt>
                <c:pt idx="2">
                  <c:v>12.762999999999998</c:v>
                </c:pt>
                <c:pt idx="3">
                  <c:v>16.233000000000004</c:v>
                </c:pt>
                <c:pt idx="4">
                  <c:v>20.647999999999996</c:v>
                </c:pt>
                <c:pt idx="5">
                  <c:v>26.266999999999996</c:v>
                </c:pt>
                <c:pt idx="6">
                  <c:v>122.913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Nickel Manganese Cobalt Oxide</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38.93501092363981</c:v>
                </c:pt>
                <c:pt idx="1">
                  <c:v>39.92292331958074</c:v>
                </c:pt>
                <c:pt idx="2">
                  <c:v>42.06077919895505</c:v>
                </c:pt>
              </c:numCache>
            </c:numRef>
          </c:val>
        </c:ser>
        <c:ser>
          <c:idx val="1"/>
          <c:order val="1"/>
          <c:tx>
            <c:strRef>
              <c:strCache>
                <c:ptCount val="1"/>
                <c:pt idx="0">
                  <c:v>Cobalt Oxide</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31.476402305809266</c:v>
                </c:pt>
                <c:pt idx="1">
                  <c:v>30.7685135544626</c:v>
                </c:pt>
                <c:pt idx="2">
                  <c:v>29.23453753601214</c:v>
                </c:pt>
              </c:numCache>
            </c:numRef>
          </c:val>
        </c:ser>
        <c:ser>
          <c:idx val="2"/>
          <c:order val="2"/>
          <c:tx>
            <c:strRef>
              <c:strCache>
                <c:ptCount val="1"/>
                <c:pt idx="0">
                  <c:v>Other Lithium-Ion Cathode Chemistries</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13.769050564607408</c:v>
                </c:pt>
                <c:pt idx="1">
                  <c:v>14.36174758941128</c:v>
                </c:pt>
                <c:pt idx="2">
                  <c:v>15.647760213571246</c:v>
                </c:pt>
              </c:numCache>
            </c:numRef>
          </c:val>
        </c:ser>
        <c:ser>
          <c:idx val="3"/>
          <c:order val="3"/>
          <c:tx>
            <c:strRef>
              <c:strCache>
                <c:ptCount val="1"/>
                <c:pt idx="0">
                  <c:v>Iron Phosphate</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15.819536205943512</c:v>
                </c:pt>
                <c:pt idx="1">
                  <c:v>14.946815536545376</c:v>
                </c:pt>
                <c:pt idx="2">
                  <c:v>13.056923051461556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Standalone Battery Packs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43.25196995298881</c:v>
                </c:pt>
                <c:pt idx="1">
                  <c:v>37.62757208442052</c:v>
                </c:pt>
                <c:pt idx="2">
                  <c:v>36.333113768374794</c:v>
                </c:pt>
              </c:numCache>
            </c:numRef>
          </c:val>
        </c:ser>
        <c:ser>
          <c:idx val="1"/>
          <c:order val="1"/>
          <c:tx>
            <c:strRef>
              <c:strCache>
                <c:ptCount val="1"/>
                <c:pt idx="0">
                  <c:v>Integrated Portable Energy Storage Systems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56.74803004701119</c:v>
                </c:pt>
                <c:pt idx="1">
                  <c:v>62.372427915579486</c:v>
                </c:pt>
                <c:pt idx="2">
                  <c:v>63.6668862316252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Standalone Battery Packs</c:v>
                </c:pt>
              </c:strCache>
            </c:strRef>
          </c:tx>
          <c:spPr>
            <a:solidFill>
              <a:srgbClr val="00A4DC"/>
            </a:solidFill>
          </c:spPr>
          <c:invertIfNegative val="0"/>
          <c:xVal>
            <c:numRef>
              <c:numCache>
                <c:formatCode>General</c:formatCode>
                <c:ptCount val="1"/>
                <c:pt idx="0">
                  <c:v>86.37156975135765</c:v>
                </c:pt>
              </c:numCache>
            </c:numRef>
          </c:xVal>
          <c:yVal>
            <c:numRef>
              <c:numCache>
                <c:formatCode>General</c:formatCode>
                <c:ptCount val="1"/>
                <c:pt idx="0">
                  <c:v>87.12462024972223</c:v>
                </c:pt>
              </c:numCache>
            </c:numRef>
          </c:yVal>
          <c:bubbleSize>
            <c:numRef>
              <c:numCache>
                <c:formatCode>General</c:formatCode>
                <c:ptCount val="1"/>
                <c:pt idx="0">
                  <c:v>296.019</c:v>
                </c:pt>
              </c:numCache>
            </c:numRef>
          </c:bubbleSize>
          <c:bubble3D val="0"/>
        </c:ser>
        <c:ser>
          <c:idx val="1"/>
          <c:order val="1"/>
          <c:tx>
            <c:strRef>
              <c:strCache>
                <c:ptCount val="1"/>
                <c:pt idx="0">
                  <c:v>Integrated Portable Energy Storage Systems</c:v>
                </c:pt>
              </c:strCache>
            </c:strRef>
          </c:tx>
          <c:spPr>
            <a:solidFill>
              <a:srgbClr val="6ECFF2"/>
            </a:solidFill>
          </c:spPr>
          <c:invertIfNegative val="0"/>
          <c:xVal>
            <c:numRef>
              <c:numCache>
                <c:formatCode>General</c:formatCode>
                <c:ptCount val="1"/>
                <c:pt idx="0">
                  <c:v>109.4299031698914</c:v>
                </c:pt>
              </c:numCache>
            </c:numRef>
          </c:xVal>
          <c:yVal>
            <c:numRef>
              <c:numCache>
                <c:formatCode>General</c:formatCode>
                <c:ptCount val="1"/>
                <c:pt idx="0">
                  <c:v>112.87537975027777</c:v>
                </c:pt>
              </c:numCache>
            </c:numRef>
          </c:yVal>
          <c:bubbleSize>
            <c:numRef>
              <c:numCache>
                <c:formatCode>General</c:formatCode>
                <c:ptCount val="1"/>
                <c:pt idx="0">
                  <c:v>489.48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112.132</c:v>
                </c:pt>
                <c:pt idx="2">
                  <c:v>136.655</c:v>
                </c:pt>
                <c:pt idx="3">
                  <c:v>166.269</c:v>
                </c:pt>
                <c:pt idx="4">
                  <c:v>201.937</c:v>
                </c:pt>
                <c:pt idx="5">
                  <c:v>244.767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112.132</c:v>
                </c:pt>
                <c:pt idx="1">
                  <c:v>24.522999999999996</c:v>
                </c:pt>
                <c:pt idx="2">
                  <c:v>29.614000000000004</c:v>
                </c:pt>
                <c:pt idx="3">
                  <c:v>35.668000000000006</c:v>
                </c:pt>
                <c:pt idx="4">
                  <c:v>42.829999999999984</c:v>
                </c:pt>
                <c:pt idx="5">
                  <c:v>51.25200000000001</c:v>
                </c:pt>
                <c:pt idx="6">
                  <c:v>296.019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145.274</c:v>
                </c:pt>
                <c:pt idx="2">
                  <c:v>185.114</c:v>
                </c:pt>
                <c:pt idx="3">
                  <c:v>235.948</c:v>
                </c:pt>
                <c:pt idx="4">
                  <c:v>300.83</c:v>
                </c:pt>
                <c:pt idx="5">
                  <c:v>383.671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145.274</c:v>
                </c:pt>
                <c:pt idx="1">
                  <c:v>39.84</c:v>
                </c:pt>
                <c:pt idx="2">
                  <c:v>50.834</c:v>
                </c:pt>
                <c:pt idx="3">
                  <c:v>64.88199999999998</c:v>
                </c:pt>
                <c:pt idx="4">
                  <c:v>82.84100000000001</c:v>
                </c:pt>
                <c:pt idx="5">
                  <c:v>105.80900000000003</c:v>
                </c:pt>
                <c:pt idx="6">
                  <c:v>489.48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Integrated Portable Energy Storage Systems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53.86538917111948</c:v>
                </c:pt>
                <c:pt idx="1">
                  <c:v>56.43768987513889</c:v>
                </c:pt>
                <c:pt idx="2">
                  <c:v>62.314528726325555</c:v>
                </c:pt>
              </c:numCache>
            </c:numRef>
          </c:val>
        </c:ser>
        <c:ser>
          <c:idx val="1"/>
          <c:order val="1"/>
          <c:tx>
            <c:strRef>
              <c:strCache>
                <c:ptCount val="1"/>
                <c:pt idx="0">
                  <c:v>Standalone Battery Packs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46.134610828880525</c:v>
                </c:pt>
                <c:pt idx="1">
                  <c:v>43.56231012486111</c:v>
                </c:pt>
                <c:pt idx="2">
                  <c:v>37.685471273674445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Portable Backup Power</c:v>
                </c:pt>
              </c:strCache>
            </c:strRef>
          </c:tx>
          <c:spPr>
            <a:solidFill>
              <a:srgbClr val="00A4DC"/>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2.4459203988422864</c:v>
                </c:pt>
                <c:pt idx="1">
                  <c:v>2.4936420385110813</c:v>
                </c:pt>
                <c:pt idx="2">
                  <c:v>2.6467557728720954</c:v>
                </c:pt>
              </c:numCache>
            </c:numRef>
          </c:val>
        </c:ser>
        <c:ser>
          <c:idx val="1"/>
          <c:order val="1"/>
          <c:tx>
            <c:strRef>
              <c:strCache>
                <c:ptCount val="1"/>
                <c:pt idx="0">
                  <c:v>Outdoor &amp; Recreational Power</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20.62302377327556</c:v>
                </c:pt>
                <c:pt idx="1">
                  <c:v>23.800244409948146</c:v>
                </c:pt>
                <c:pt idx="2">
                  <c:v>27.451263806265242</c:v>
                </c:pt>
              </c:numCache>
            </c:numRef>
          </c:val>
        </c:ser>
        <c:ser>
          <c:idx val="2"/>
          <c:order val="2"/>
          <c:tx>
            <c:strRef>
              <c:strCache>
                <c:ptCount val="1"/>
                <c:pt idx="0">
                  <c:v>Off-Grid &amp; Remote Power</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22.55700734445318</c:v>
                </c:pt>
                <c:pt idx="1">
                  <c:v>19.04581035109159</c:v>
                </c:pt>
                <c:pt idx="2">
                  <c:v>20.697679700841025</c:v>
                </c:pt>
              </c:numCache>
            </c:numRef>
          </c:val>
        </c:ser>
        <c:ser>
          <c:idx val="3"/>
          <c:order val="3"/>
          <c:tx>
            <c:strRef>
              <c:strCache>
                <c:ptCount val="1"/>
                <c:pt idx="0">
                  <c:v>Professional &amp; Specialized Portable Power</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54.374048483428986</c:v>
                </c:pt>
                <c:pt idx="1">
                  <c:v>54.66030320044919</c:v>
                </c:pt>
                <c:pt idx="2">
                  <c:v>49.20430072002164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Portable Backup Power</c:v>
                </c:pt>
              </c:strCache>
            </c:strRef>
          </c:tx>
          <c:spPr>
            <a:solidFill>
              <a:srgbClr val="00A4DC"/>
            </a:solidFill>
          </c:spPr>
          <c:invertIfNegative val="0"/>
          <c:xVal>
            <c:numRef>
              <c:numCache>
                <c:formatCode>General</c:formatCode>
                <c:ptCount val="1"/>
                <c:pt idx="0">
                  <c:v>66.27266619893237</c:v>
                </c:pt>
              </c:numCache>
            </c:numRef>
          </c:xVal>
          <c:yVal>
            <c:numRef>
              <c:numCache>
                <c:formatCode>General</c:formatCode>
                <c:ptCount val="1"/>
                <c:pt idx="0">
                  <c:v>14.834153050045451</c:v>
                </c:pt>
              </c:numCache>
            </c:numRef>
          </c:yVal>
          <c:bubbleSize>
            <c:numRef>
              <c:numCache>
                <c:formatCode>General</c:formatCode>
                <c:ptCount val="1"/>
                <c:pt idx="0">
                  <c:v>20.272</c:v>
                </c:pt>
              </c:numCache>
            </c:numRef>
          </c:bubbleSize>
          <c:bubble3D val="0"/>
        </c:ser>
        <c:ser>
          <c:idx val="1"/>
          <c:order val="1"/>
          <c:tx>
            <c:strRef>
              <c:strCache>
                <c:ptCount val="1"/>
                <c:pt idx="0">
                  <c:v>Outdoor &amp; Recreational Power</c:v>
                </c:pt>
              </c:strCache>
            </c:strRef>
          </c:tx>
          <c:spPr>
            <a:solidFill>
              <a:srgbClr val="6ECFF2"/>
            </a:solidFill>
          </c:spPr>
          <c:invertIfNegative val="0"/>
          <c:xVal>
            <c:numRef>
              <c:numCache>
                <c:formatCode>General</c:formatCode>
                <c:ptCount val="1"/>
                <c:pt idx="0">
                  <c:v>107.17707005509072</c:v>
                </c:pt>
              </c:numCache>
            </c:numRef>
          </c:xVal>
          <c:yVal>
            <c:numRef>
              <c:numCache>
                <c:formatCode>General</c:formatCode>
                <c:ptCount val="1"/>
                <c:pt idx="0">
                  <c:v>94.83539622231028</c:v>
                </c:pt>
              </c:numCache>
            </c:numRef>
          </c:yVal>
          <c:bubbleSize>
            <c:numRef>
              <c:numCache>
                <c:formatCode>General</c:formatCode>
                <c:ptCount val="1"/>
                <c:pt idx="0">
                  <c:v>200.834</c:v>
                </c:pt>
              </c:numCache>
            </c:numRef>
          </c:bubbleSize>
          <c:bubble3D val="0"/>
        </c:ser>
        <c:ser>
          <c:idx val="2"/>
          <c:order val="2"/>
          <c:tx>
            <c:strRef>
              <c:strCache>
                <c:ptCount val="1"/>
                <c:pt idx="0">
                  <c:v>Off-Grid &amp; Remote Power</c:v>
                </c:pt>
              </c:strCache>
            </c:strRef>
          </c:tx>
          <c:spPr>
            <a:solidFill>
              <a:srgbClr val="D6CAC4"/>
            </a:solidFill>
          </c:spPr>
          <c:invertIfNegative val="0"/>
          <c:xVal>
            <c:numRef>
              <c:numCache>
                <c:formatCode>General</c:formatCode>
                <c:ptCount val="1"/>
                <c:pt idx="0">
                  <c:v>101.39053990731955</c:v>
                </c:pt>
              </c:numCache>
            </c:numRef>
          </c:xVal>
          <c:yVal>
            <c:numRef>
              <c:numCache>
                <c:formatCode>General</c:formatCode>
                <c:ptCount val="1"/>
                <c:pt idx="0">
                  <c:v>81.19468854649853</c:v>
                </c:pt>
              </c:numCache>
            </c:numRef>
          </c:yVal>
          <c:bubbleSize>
            <c:numRef>
              <c:numCache>
                <c:formatCode>General</c:formatCode>
                <c:ptCount val="1"/>
                <c:pt idx="0">
                  <c:v>161.802</c:v>
                </c:pt>
              </c:numCache>
            </c:numRef>
          </c:bubbleSize>
          <c:bubble3D val="0"/>
        </c:ser>
        <c:ser>
          <c:idx val="3"/>
          <c:order val="3"/>
          <c:tx>
            <c:strRef>
              <c:strCache>
                <c:ptCount val="1"/>
                <c:pt idx="0">
                  <c:v>Professional &amp; Specialized Portable Power</c:v>
                </c:pt>
              </c:strCache>
            </c:strRef>
          </c:tx>
          <c:spPr>
            <a:solidFill>
              <a:srgbClr val="EBC46B"/>
            </a:solidFill>
          </c:spPr>
          <c:invertIfNegative val="0"/>
          <c:xVal>
            <c:numRef>
              <c:numCache>
                <c:formatCode>General</c:formatCode>
                <c:ptCount val="1"/>
                <c:pt idx="0">
                  <c:v>98.11521779056972</c:v>
                </c:pt>
              </c:numCache>
            </c:numRef>
          </c:xVal>
          <c:yVal>
            <c:numRef>
              <c:numCache>
                <c:formatCode>General</c:formatCode>
                <c:ptCount val="1"/>
                <c:pt idx="0">
                  <c:v>209.13576218114574</c:v>
                </c:pt>
              </c:numCache>
            </c:numRef>
          </c:yVal>
          <c:bubbleSize>
            <c:numRef>
              <c:numCache>
                <c:formatCode>General</c:formatCode>
                <c:ptCount val="1"/>
                <c:pt idx="0">
                  <c:v>402.591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5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9.546</c:v>
                </c:pt>
                <c:pt idx="2">
                  <c:v>11.134</c:v>
                </c:pt>
                <c:pt idx="3">
                  <c:v>12.968</c:v>
                </c:pt>
                <c:pt idx="4">
                  <c:v>15.08</c:v>
                </c:pt>
                <c:pt idx="5">
                  <c:v>17.503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9.546</c:v>
                </c:pt>
                <c:pt idx="1">
                  <c:v>1.588000000000001</c:v>
                </c:pt>
                <c:pt idx="2">
                  <c:v>1.8339999999999996</c:v>
                </c:pt>
                <c:pt idx="3">
                  <c:v>2.112</c:v>
                </c:pt>
                <c:pt idx="4">
                  <c:v>2.423</c:v>
                </c:pt>
                <c:pt idx="5">
                  <c:v>2.7689999999999984</c:v>
                </c:pt>
                <c:pt idx="6">
                  <c:v>20.272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61.028</c:v>
                </c:pt>
                <c:pt idx="2">
                  <c:v>77.591</c:v>
                </c:pt>
                <c:pt idx="3">
                  <c:v>98.55</c:v>
                </c:pt>
                <c:pt idx="4">
                  <c:v>125.048</c:v>
                </c:pt>
                <c:pt idx="5">
                  <c:v>158.537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61.028</c:v>
                </c:pt>
                <c:pt idx="1">
                  <c:v>16.562999999999995</c:v>
                </c:pt>
                <c:pt idx="2">
                  <c:v>20.959000000000003</c:v>
                </c:pt>
                <c:pt idx="3">
                  <c:v>26.498000000000005</c:v>
                </c:pt>
                <c:pt idx="4">
                  <c:v>33.489000000000004</c:v>
                </c:pt>
                <c:pt idx="5">
                  <c:v>42.297</c:v>
                </c:pt>
                <c:pt idx="6">
                  <c:v>200.834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52.25</c:v>
                </c:pt>
                <c:pt idx="2">
                  <c:v>65.528</c:v>
                </c:pt>
                <c:pt idx="3">
                  <c:v>82.163</c:v>
                </c:pt>
                <c:pt idx="4">
                  <c:v>103.004</c:v>
                </c:pt>
                <c:pt idx="5">
                  <c:v>129.108</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52.25</c:v>
                </c:pt>
                <c:pt idx="1">
                  <c:v>13.278000000000006</c:v>
                </c:pt>
                <c:pt idx="2">
                  <c:v>16.63499999999999</c:v>
                </c:pt>
                <c:pt idx="3">
                  <c:v>20.841000000000008</c:v>
                </c:pt>
                <c:pt idx="4">
                  <c:v>26.104</c:v>
                </c:pt>
                <c:pt idx="5">
                  <c:v>32.69399999999999</c:v>
                </c:pt>
                <c:pt idx="6">
                  <c:v>161.802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134.582</c:v>
                </c:pt>
                <c:pt idx="2">
                  <c:v>167.516</c:v>
                </c:pt>
                <c:pt idx="3">
                  <c:v>208.536</c:v>
                </c:pt>
                <c:pt idx="4">
                  <c:v>259.635</c:v>
                </c:pt>
                <c:pt idx="5">
                  <c:v>323.29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134.582</c:v>
                </c:pt>
                <c:pt idx="1">
                  <c:v>32.934</c:v>
                </c:pt>
                <c:pt idx="2">
                  <c:v>41.02000000000001</c:v>
                </c:pt>
                <c:pt idx="3">
                  <c:v>51.09899999999999</c:v>
                </c:pt>
                <c:pt idx="4">
                  <c:v>63.65500000000003</c:v>
                </c:pt>
                <c:pt idx="5">
                  <c:v>79.30099999999999</c:v>
                </c:pt>
                <c:pt idx="6">
                  <c:v>402.591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Professional &amp; Specialized Portable Power</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52.885157010870984</c:v>
                </c:pt>
                <c:pt idx="1">
                  <c:v>52.283940545286434</c:v>
                </c:pt>
                <c:pt idx="2">
                  <c:v>51.252897839462555</c:v>
                </c:pt>
              </c:numCache>
            </c:numRef>
          </c:val>
        </c:ser>
        <c:ser>
          <c:idx val="1"/>
          <c:order val="1"/>
          <c:tx>
            <c:strRef>
              <c:strCache>
                <c:ptCount val="1"/>
                <c:pt idx="0">
                  <c:v>Outdoor &amp; Recreational Power</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22.60693322102603</c:v>
                </c:pt>
                <c:pt idx="1">
                  <c:v>23.70884905557757</c:v>
                </c:pt>
                <c:pt idx="2">
                  <c:v>25.56769645792038</c:v>
                </c:pt>
              </c:numCache>
            </c:numRef>
          </c:val>
        </c:ser>
        <c:ser>
          <c:idx val="2"/>
          <c:order val="2"/>
          <c:tx>
            <c:strRef>
              <c:strCache>
                <c:ptCount val="1"/>
                <c:pt idx="0">
                  <c:v>Off-Grid &amp; Remote Power</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20.116869784949067</c:v>
                </c:pt>
                <c:pt idx="1">
                  <c:v>20.29867213662463</c:v>
                </c:pt>
                <c:pt idx="2">
                  <c:v>20.598625841662432</c:v>
                </c:pt>
              </c:numCache>
            </c:numRef>
          </c:val>
        </c:ser>
        <c:ser>
          <c:idx val="3"/>
          <c:order val="3"/>
          <c:tx>
            <c:strRef>
              <c:strCache>
                <c:ptCount val="1"/>
                <c:pt idx="0">
                  <c:v>Portable Backup Power</c:v>
                </c:pt>
              </c:strCache>
            </c:strRef>
          </c:tx>
          <c:spPr>
            <a:solidFill>
              <a:srgbClr val="EBC46B"/>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4.391039983153904</c:v>
                </c:pt>
                <c:pt idx="1">
                  <c:v>3.7085382625113628</c:v>
                </c:pt>
                <c:pt idx="2">
                  <c:v>2.5807798609546286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Below 500 W</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14.126779649674603</c:v>
                </c:pt>
                <c:pt idx="1">
                  <c:v>13.908797657187524</c:v>
                </c:pt>
                <c:pt idx="2">
                  <c:v>15.0979473085397</c:v>
                </c:pt>
              </c:numCache>
            </c:numRef>
          </c:val>
        </c:ser>
        <c:ser>
          <c:idx val="1"/>
          <c:order val="1"/>
          <c:tx>
            <c:strRef>
              <c:strCache>
                <c:ptCount val="1"/>
                <c:pt idx="0">
                  <c:v>500 W to Below 1,000 W</c:v>
                </c:pt>
              </c:strCache>
            </c:strRef>
          </c:tx>
          <c:spPr>
            <a:solidFill>
              <a:srgbClr val="6ECFF2"/>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5.099292322620581</c:v>
                </c:pt>
                <c:pt idx="1">
                  <c:v>6.641455009853464</c:v>
                </c:pt>
                <c:pt idx="2">
                  <c:v>5.562358168952138</c:v>
                </c:pt>
              </c:numCache>
            </c:numRef>
          </c:val>
        </c:ser>
        <c:ser>
          <c:idx val="2"/>
          <c:order val="2"/>
          <c:tx>
            <c:strRef>
              <c:strCache>
                <c:ptCount val="1"/>
                <c:pt idx="0">
                  <c:v>1,000 W to Below 2,000 W</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60.10238736553293</c:v>
                </c:pt>
                <c:pt idx="1">
                  <c:v>54.436260747982516</c:v>
                </c:pt>
                <c:pt idx="2">
                  <c:v>47.93832633685119</c:v>
                </c:pt>
              </c:numCache>
            </c:numRef>
          </c:val>
        </c:ser>
        <c:ser>
          <c:idx val="3"/>
          <c:order val="3"/>
          <c:tx>
            <c:strRef>
              <c:strCache>
                <c:ptCount val="1"/>
                <c:pt idx="0">
                  <c:v>2,000 W and Above</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20.671540662171882</c:v>
                </c:pt>
                <c:pt idx="1">
                  <c:v>25.01348658497649</c:v>
                </c:pt>
                <c:pt idx="2">
                  <c:v>31.401368185656974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Below 500 W</c:v>
                </c:pt>
              </c:strCache>
            </c:strRef>
          </c:tx>
          <c:spPr>
            <a:solidFill>
              <a:srgbClr val="00A4DC"/>
            </a:solidFill>
          </c:spPr>
          <c:invertIfNegative val="0"/>
          <c:xVal>
            <c:numRef>
              <c:numCache>
                <c:formatCode>General</c:formatCode>
                <c:ptCount val="1"/>
                <c:pt idx="0">
                  <c:v>87.91516835959138</c:v>
                </c:pt>
              </c:numCache>
            </c:numRef>
          </c:xVal>
          <c:yVal>
            <c:numRef>
              <c:numCache>
                <c:formatCode>General</c:formatCode>
                <c:ptCount val="1"/>
                <c:pt idx="0">
                  <c:v>66.74281096788731</c:v>
                </c:pt>
              </c:numCache>
            </c:numRef>
          </c:yVal>
          <c:bubbleSize>
            <c:numRef>
              <c:numCache>
                <c:formatCode>General</c:formatCode>
                <c:ptCount val="1"/>
                <c:pt idx="0">
                  <c:v>115.273</c:v>
                </c:pt>
              </c:numCache>
            </c:numRef>
          </c:bubbleSize>
          <c:bubble3D val="0"/>
        </c:ser>
        <c:ser>
          <c:idx val="1"/>
          <c:order val="1"/>
          <c:tx>
            <c:strRef>
              <c:strCache>
                <c:ptCount val="1"/>
                <c:pt idx="0">
                  <c:v>500 W to Below 1,000 W</c:v>
                </c:pt>
              </c:strCache>
            </c:strRef>
          </c:tx>
          <c:spPr>
            <a:solidFill>
              <a:srgbClr val="6ECFF2"/>
            </a:solidFill>
          </c:spPr>
          <c:invertIfNegative val="0"/>
          <c:xVal>
            <c:numRef>
              <c:numCache>
                <c:formatCode>General</c:formatCode>
                <c:ptCount val="1"/>
                <c:pt idx="0">
                  <c:v>64.45141039747446</c:v>
                </c:pt>
              </c:numCache>
            </c:numRef>
          </c:xVal>
          <c:yVal>
            <c:numRef>
              <c:numCache>
                <c:formatCode>General</c:formatCode>
                <c:ptCount val="1"/>
                <c:pt idx="0">
                  <c:v>33.666658896840005</c:v>
                </c:pt>
              </c:numCache>
            </c:numRef>
          </c:yVal>
          <c:bubbleSize>
            <c:numRef>
              <c:numCache>
                <c:formatCode>General</c:formatCode>
                <c:ptCount val="1"/>
                <c:pt idx="0">
                  <c:v>45.099</c:v>
                </c:pt>
              </c:numCache>
            </c:numRef>
          </c:bubbleSize>
          <c:bubble3D val="0"/>
        </c:ser>
        <c:ser>
          <c:idx val="2"/>
          <c:order val="2"/>
          <c:tx>
            <c:strRef>
              <c:strCache>
                <c:ptCount val="1"/>
                <c:pt idx="0">
                  <c:v>1,000 W to Below 2,000 W</c:v>
                </c:pt>
              </c:strCache>
            </c:strRef>
          </c:tx>
          <c:spPr>
            <a:solidFill>
              <a:srgbClr val="D6CAC4"/>
            </a:solidFill>
          </c:spPr>
          <c:invertIfNegative val="0"/>
          <c:xVal>
            <c:numRef>
              <c:numCache>
                <c:formatCode>General</c:formatCode>
                <c:ptCount val="1"/>
                <c:pt idx="0">
                  <c:v>118.29301964619722</c:v>
                </c:pt>
              </c:numCache>
            </c:numRef>
          </c:xVal>
          <c:yVal>
            <c:numRef>
              <c:numCache>
                <c:formatCode>General</c:formatCode>
                <c:ptCount val="1"/>
                <c:pt idx="0">
                  <c:v>169.45059555721312</c:v>
                </c:pt>
              </c:numCache>
            </c:numRef>
          </c:yVal>
          <c:bubbleSize>
            <c:numRef>
              <c:numCache>
                <c:formatCode>General</c:formatCode>
                <c:ptCount val="1"/>
                <c:pt idx="0">
                  <c:v>402.901</c:v>
                </c:pt>
              </c:numCache>
            </c:numRef>
          </c:bubbleSize>
          <c:bubble3D val="0"/>
        </c:ser>
        <c:ser>
          <c:idx val="3"/>
          <c:order val="3"/>
          <c:tx>
            <c:strRef>
              <c:strCache>
                <c:ptCount val="1"/>
                <c:pt idx="0">
                  <c:v>2,000 W and Above</c:v>
                </c:pt>
              </c:strCache>
            </c:strRef>
          </c:tx>
          <c:spPr>
            <a:solidFill>
              <a:srgbClr val="EBC46B"/>
            </a:solidFill>
          </c:spPr>
          <c:invertIfNegative val="0"/>
          <c:xVal>
            <c:numRef>
              <c:numCache>
                <c:formatCode>General</c:formatCode>
                <c:ptCount val="1"/>
                <c:pt idx="0">
                  <c:v>86.85229149005265</c:v>
                </c:pt>
              </c:numCache>
            </c:numRef>
          </c:xVal>
          <c:yVal>
            <c:numRef>
              <c:numCache>
                <c:formatCode>General</c:formatCode>
                <c:ptCount val="1"/>
                <c:pt idx="0">
                  <c:v>130.13993457805958</c:v>
                </c:pt>
              </c:numCache>
            </c:numRef>
          </c:yVal>
          <c:bubbleSize>
            <c:numRef>
              <c:numCache>
                <c:formatCode>General</c:formatCode>
                <c:ptCount val="1"/>
                <c:pt idx="0">
                  <c:v>222.226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5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42.95</c:v>
                </c:pt>
                <c:pt idx="2">
                  <c:v>52.342</c:v>
                </c:pt>
                <c:pt idx="3">
                  <c:v>63.779</c:v>
                </c:pt>
                <c:pt idx="4">
                  <c:v>77.703</c:v>
                </c:pt>
                <c:pt idx="5">
                  <c:v>94.651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42.95</c:v>
                </c:pt>
                <c:pt idx="1">
                  <c:v>9.391999999999996</c:v>
                </c:pt>
                <c:pt idx="2">
                  <c:v>11.437000000000005</c:v>
                </c:pt>
                <c:pt idx="3">
                  <c:v>13.924</c:v>
                </c:pt>
                <c:pt idx="4">
                  <c:v>16.947999999999993</c:v>
                </c:pt>
                <c:pt idx="5">
                  <c:v>20.622</c:v>
                </c:pt>
                <c:pt idx="6">
                  <c:v>115.273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21.665</c:v>
                </c:pt>
                <c:pt idx="2">
                  <c:v>25.288</c:v>
                </c:pt>
                <c:pt idx="3">
                  <c:v>29.416</c:v>
                </c:pt>
                <c:pt idx="4">
                  <c:v>34.08</c:v>
                </c:pt>
                <c:pt idx="5">
                  <c:v>39.308</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21.665</c:v>
                </c:pt>
                <c:pt idx="1">
                  <c:v>3.623000000000001</c:v>
                </c:pt>
                <c:pt idx="2">
                  <c:v>4.128</c:v>
                </c:pt>
                <c:pt idx="3">
                  <c:v>4.663999999999998</c:v>
                </c:pt>
                <c:pt idx="4">
                  <c:v>5.2280000000000015</c:v>
                </c:pt>
                <c:pt idx="5">
                  <c:v>5.790999999999997</c:v>
                </c:pt>
                <c:pt idx="6">
                  <c:v>45.099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109.044</c:v>
                </c:pt>
                <c:pt idx="2">
                  <c:v>142.273</c:v>
                </c:pt>
                <c:pt idx="3">
                  <c:v>185.157</c:v>
                </c:pt>
                <c:pt idx="4">
                  <c:v>240.417</c:v>
                </c:pt>
                <c:pt idx="5">
                  <c:v>311.523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109.044</c:v>
                </c:pt>
                <c:pt idx="1">
                  <c:v>33.229</c:v>
                </c:pt>
                <c:pt idx="2">
                  <c:v>42.884000000000015</c:v>
                </c:pt>
                <c:pt idx="3">
                  <c:v>55.25999999999999</c:v>
                </c:pt>
                <c:pt idx="4">
                  <c:v>71.10600000000002</c:v>
                </c:pt>
                <c:pt idx="5">
                  <c:v>91.37799999999999</c:v>
                </c:pt>
                <c:pt idx="6">
                  <c:v>402.901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83.747</c:v>
                </c:pt>
                <c:pt idx="2">
                  <c:v>101.866</c:v>
                </c:pt>
                <c:pt idx="3">
                  <c:v>123.865</c:v>
                </c:pt>
                <c:pt idx="4">
                  <c:v>150.567</c:v>
                </c:pt>
                <c:pt idx="5">
                  <c:v>182.956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83.747</c:v>
                </c:pt>
                <c:pt idx="1">
                  <c:v>18.119</c:v>
                </c:pt>
                <c:pt idx="2">
                  <c:v>21.998999999999995</c:v>
                </c:pt>
                <c:pt idx="3">
                  <c:v>26.702000000000012</c:v>
                </c:pt>
                <c:pt idx="4">
                  <c:v>32.38899999999998</c:v>
                </c:pt>
                <c:pt idx="5">
                  <c:v>39.27000000000001</c:v>
                </c:pt>
                <c:pt idx="6">
                  <c:v>222.226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1,000 W to Below 2,000 W</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37.56573925403385</c:v>
                </c:pt>
                <c:pt idx="1">
                  <c:v>42.36264888930328</c:v>
                </c:pt>
                <c:pt idx="2">
                  <c:v>51.29236319842546</c:v>
                </c:pt>
              </c:numCache>
            </c:numRef>
          </c:val>
        </c:ser>
        <c:ser>
          <c:idx val="1"/>
          <c:order val="1"/>
          <c:tx>
            <c:strRef>
              <c:strCache>
                <c:ptCount val="1"/>
                <c:pt idx="0">
                  <c:v>2,000 W and Above</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34.79613592693006</c:v>
                </c:pt>
                <c:pt idx="1">
                  <c:v>32.534983644514895</c:v>
                </c:pt>
                <c:pt idx="2">
                  <c:v>28.291060841579686</c:v>
                </c:pt>
              </c:numCache>
            </c:numRef>
          </c:val>
        </c:ser>
        <c:ser>
          <c:idx val="2"/>
          <c:order val="2"/>
          <c:tx>
            <c:strRef>
              <c:strCache>
                <c:ptCount val="1"/>
                <c:pt idx="0">
                  <c:v>Below 500 W</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17.772630359822063</c:v>
                </c:pt>
                <c:pt idx="1">
                  <c:v>16.685702741971827</c:v>
                </c:pt>
                <c:pt idx="2">
                  <c:v>14.675130076550063</c:v>
                </c:pt>
              </c:numCache>
            </c:numRef>
          </c:val>
        </c:ser>
        <c:ser>
          <c:idx val="3"/>
          <c:order val="3"/>
          <c:tx>
            <c:strRef>
              <c:strCache>
                <c:ptCount val="1"/>
                <c:pt idx="0">
                  <c:v>500 W to Below 1,000 W</c:v>
                </c:pt>
              </c:strCache>
            </c:strRef>
          </c:tx>
          <c:spPr>
            <a:solidFill>
              <a:srgbClr val="EBC46B"/>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9.865494459214025</c:v>
                </c:pt>
                <c:pt idx="1">
                  <c:v>8.416664724210001</c:v>
                </c:pt>
                <c:pt idx="2">
                  <c:v>5.741445883444791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AC/DC Portable Power Stations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45.62427852040219</c:v>
                </c:pt>
                <c:pt idx="1">
                  <c:v>42.752474375488546</c:v>
                </c:pt>
                <c:pt idx="2">
                  <c:v>53.24402064048268</c:v>
                </c:pt>
              </c:numCache>
            </c:numRef>
          </c:val>
        </c:ser>
        <c:ser>
          <c:idx val="1"/>
          <c:order val="1"/>
          <c:tx>
            <c:strRef>
              <c:strCache>
                <c:ptCount val="1"/>
                <c:pt idx="0">
                  <c:v>DC-Only Portable Battery Systems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54.375721479597814</c:v>
                </c:pt>
                <c:pt idx="1">
                  <c:v>57.247525624511454</c:v>
                </c:pt>
                <c:pt idx="2">
                  <c:v>46.75597935951731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AC/DC Portable Power Stations</c:v>
                </c:pt>
              </c:strCache>
            </c:strRef>
          </c:tx>
          <c:spPr>
            <a:solidFill>
              <a:srgbClr val="00A4DC"/>
            </a:solidFill>
          </c:spPr>
          <c:invertIfNegative val="0"/>
          <c:xVal>
            <c:numRef>
              <c:numCache>
                <c:formatCode>General</c:formatCode>
                <c:ptCount val="1"/>
                <c:pt idx="0">
                  <c:v>98.54697115006645</c:v>
                </c:pt>
              </c:numCache>
            </c:numRef>
          </c:xVal>
          <c:yVal>
            <c:numRef>
              <c:numCache>
                <c:formatCode>General</c:formatCode>
                <c:ptCount val="1"/>
                <c:pt idx="0">
                  <c:v>100.85234998407186</c:v>
                </c:pt>
              </c:numCache>
            </c:numRef>
          </c:yVal>
          <c:bubbleSize>
            <c:numRef>
              <c:numCache>
                <c:formatCode>General</c:formatCode>
                <c:ptCount val="1"/>
                <c:pt idx="0">
                  <c:v>390.063</c:v>
                </c:pt>
              </c:numCache>
            </c:numRef>
          </c:bubbleSize>
          <c:bubble3D val="0"/>
        </c:ser>
        <c:ser>
          <c:idx val="1"/>
          <c:order val="1"/>
          <c:tx>
            <c:strRef>
              <c:strCache>
                <c:ptCount val="1"/>
                <c:pt idx="0">
                  <c:v>DC-Only Portable Battery Systems</c:v>
                </c:pt>
              </c:strCache>
            </c:strRef>
          </c:tx>
          <c:spPr>
            <a:solidFill>
              <a:srgbClr val="6ECFF2"/>
            </a:solidFill>
          </c:spPr>
          <c:invertIfNegative val="0"/>
          <c:xVal>
            <c:numRef>
              <c:numCache>
                <c:formatCode>General</c:formatCode>
                <c:ptCount val="1"/>
                <c:pt idx="0">
                  <c:v>101.45771475598056</c:v>
                </c:pt>
              </c:numCache>
            </c:numRef>
          </c:xVal>
          <c:yVal>
            <c:numRef>
              <c:numCache>
                <c:formatCode>General</c:formatCode>
                <c:ptCount val="1"/>
                <c:pt idx="0">
                  <c:v>99.14765001592814</c:v>
                </c:pt>
              </c:numCache>
            </c:numRef>
          </c:yVal>
          <c:bubbleSize>
            <c:numRef>
              <c:numCache>
                <c:formatCode>General</c:formatCode>
                <c:ptCount val="1"/>
                <c:pt idx="0">
                  <c:v>395.436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129.8</c:v>
                </c:pt>
                <c:pt idx="2">
                  <c:v>161.759</c:v>
                </c:pt>
                <c:pt idx="3">
                  <c:v>201.583</c:v>
                </c:pt>
                <c:pt idx="4">
                  <c:v>251.204</c:v>
                </c:pt>
                <c:pt idx="5">
                  <c:v>313.032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129.8</c:v>
                </c:pt>
                <c:pt idx="1">
                  <c:v>31.958999999999975</c:v>
                </c:pt>
                <c:pt idx="2">
                  <c:v>39.82400000000001</c:v>
                </c:pt>
                <c:pt idx="3">
                  <c:v>49.62100000000001</c:v>
                </c:pt>
                <c:pt idx="4">
                  <c:v>61.827999999999975</c:v>
                </c:pt>
                <c:pt idx="5">
                  <c:v>77.031</c:v>
                </c:pt>
                <c:pt idx="6">
                  <c:v>390.063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127.606</c:v>
                </c:pt>
                <c:pt idx="2">
                  <c:v>160.01</c:v>
                </c:pt>
                <c:pt idx="3">
                  <c:v>200.634</c:v>
                </c:pt>
                <c:pt idx="4">
                  <c:v>251.563</c:v>
                </c:pt>
                <c:pt idx="5">
                  <c:v>315.406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127.606</c:v>
                </c:pt>
                <c:pt idx="1">
                  <c:v>32.403999999999996</c:v>
                </c:pt>
                <c:pt idx="2">
                  <c:v>40.623999999999995</c:v>
                </c:pt>
                <c:pt idx="3">
                  <c:v>50.929</c:v>
                </c:pt>
                <c:pt idx="4">
                  <c:v>63.84300000000002</c:v>
                </c:pt>
                <c:pt idx="5">
                  <c:v>80.02999999999997</c:v>
                </c:pt>
                <c:pt idx="6">
                  <c:v>395.436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DC-Only Portable Battery Systems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49.18796557079308</c:v>
                </c:pt>
                <c:pt idx="1">
                  <c:v>49.57382500796407</c:v>
                </c:pt>
                <c:pt idx="2">
                  <c:v>50.34201189307688</c:v>
                </c:pt>
              </c:numCache>
            </c:numRef>
          </c:val>
        </c:ser>
        <c:ser>
          <c:idx val="1"/>
          <c:order val="1"/>
          <c:tx>
            <c:strRef>
              <c:strCache>
                <c:ptCount val="1"/>
                <c:pt idx="0">
                  <c:v>AC/DC Portable Power Stations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50.81203442920692</c:v>
                </c:pt>
                <c:pt idx="1">
                  <c:v>50.42617499203593</c:v>
                </c:pt>
                <c:pt idx="2">
                  <c:v>49.65798810692311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Direct-to-Consumer / Manufacturer Direct</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33.20060897060546</c:v>
                </c:pt>
                <c:pt idx="1">
                  <c:v>32.622122403144296</c:v>
                </c:pt>
                <c:pt idx="2">
                  <c:v>32.18560741372439</c:v>
                </c:pt>
              </c:numCache>
            </c:numRef>
          </c:val>
        </c:ser>
        <c:ser>
          <c:idx val="1"/>
          <c:order val="1"/>
          <c:tx>
            <c:strRef>
              <c:strCache>
                <c:ptCount val="1"/>
                <c:pt idx="0">
                  <c:v>Online Third-Party Retail</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23.908788248874913</c:v>
                </c:pt>
                <c:pt idx="1">
                  <c:v>24.453655690237913</c:v>
                </c:pt>
                <c:pt idx="2">
                  <c:v>27.590849303414682</c:v>
                </c:pt>
              </c:numCache>
            </c:numRef>
          </c:val>
        </c:ser>
        <c:ser>
          <c:idx val="2"/>
          <c:order val="2"/>
          <c:tx>
            <c:strRef>
              <c:strCache>
                <c:ptCount val="1"/>
                <c:pt idx="0">
                  <c:v>Offline Retail &amp; Distributors</c:v>
                </c:pt>
              </c:strCache>
            </c:strRef>
          </c:tx>
          <c:spPr>
            <a:solidFill>
              <a:srgbClr val="D6CAC4"/>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9.200642430528836</c:v>
                </c:pt>
                <c:pt idx="1">
                  <c:v>9.21216324823023</c:v>
                </c:pt>
                <c:pt idx="2">
                  <c:v>9.307214051056079</c:v>
                </c:pt>
              </c:numCache>
            </c:numRef>
          </c:val>
        </c:ser>
        <c:ser>
          <c:idx val="3"/>
          <c:order val="3"/>
          <c:tx>
            <c:strRef>
              <c:strCache>
                <c:ptCount val="1"/>
                <c:pt idx="0">
                  <c:v>Direct B2B / Institutional Sales</c:v>
                </c:pt>
              </c:strCache>
            </c:strRef>
          </c:tx>
          <c:spPr>
            <a:solidFill>
              <a:srgbClr val="EBC46B"/>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United States</c:v>
                </c:pt>
              </c:strCache>
            </c:strRef>
          </c:cat>
          <c:val>
            <c:numRef>
              <c:numCache>
                <c:formatCode>General</c:formatCode>
                <c:ptCount val="3"/>
                <c:pt idx="0">
                  <c:v>33.6899603499908</c:v>
                </c:pt>
                <c:pt idx="1">
                  <c:v>33.71205865838755</c:v>
                </c:pt>
                <c:pt idx="2">
                  <c:v>30.91632923180484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Direct-to-Consumer / Manufacturer Direct</c:v>
                </c:pt>
              </c:strCache>
            </c:strRef>
          </c:tx>
          <c:spPr>
            <a:solidFill>
              <a:srgbClr val="00A4DC"/>
            </a:solidFill>
          </c:spPr>
          <c:invertIfNegative val="0"/>
          <c:xVal>
            <c:numRef>
              <c:numCache>
                <c:formatCode>General</c:formatCode>
                <c:ptCount val="1"/>
                <c:pt idx="0">
                  <c:v>121.24191103564787</c:v>
                </c:pt>
              </c:numCache>
            </c:numRef>
          </c:xVal>
          <c:yVal>
            <c:numRef>
              <c:numCache>
                <c:formatCode>General</c:formatCode>
                <c:ptCount val="1"/>
                <c:pt idx="0">
                  <c:v>103.95406478481463</c:v>
                </c:pt>
              </c:numCache>
            </c:numRef>
          </c:yVal>
          <c:bubbleSize>
            <c:numRef>
              <c:numCache>
                <c:formatCode>General</c:formatCode>
                <c:ptCount val="1"/>
                <c:pt idx="0">
                  <c:v>254.824</c:v>
                </c:pt>
              </c:numCache>
            </c:numRef>
          </c:bubbleSize>
          <c:bubble3D val="0"/>
        </c:ser>
        <c:ser>
          <c:idx val="1"/>
          <c:order val="1"/>
          <c:tx>
            <c:strRef>
              <c:strCache>
                <c:ptCount val="1"/>
                <c:pt idx="0">
                  <c:v>Online Third-Party Retail</c:v>
                </c:pt>
              </c:strCache>
            </c:strRef>
          </c:tx>
          <c:spPr>
            <a:solidFill>
              <a:srgbClr val="6ECFF2"/>
            </a:solidFill>
          </c:spPr>
          <c:invertIfNegative val="0"/>
          <c:xVal>
            <c:numRef>
              <c:numCache>
                <c:formatCode>General</c:formatCode>
                <c:ptCount val="1"/>
                <c:pt idx="0">
                  <c:v>78.89564135653771</c:v>
                </c:pt>
              </c:numCache>
            </c:numRef>
          </c:xVal>
          <c:yVal>
            <c:numRef>
              <c:numCache>
                <c:formatCode>General</c:formatCode>
                <c:ptCount val="1"/>
                <c:pt idx="0">
                  <c:v>131.81044730892052</c:v>
                </c:pt>
              </c:numCache>
            </c:numRef>
          </c:yVal>
          <c:bubbleSize>
            <c:numRef>
              <c:numCache>
                <c:formatCode>General</c:formatCode>
                <c:ptCount val="1"/>
                <c:pt idx="0">
                  <c:v>206.625</c:v>
                </c:pt>
              </c:numCache>
            </c:numRef>
          </c:bubbleSize>
          <c:bubble3D val="0"/>
        </c:ser>
        <c:ser>
          <c:idx val="2"/>
          <c:order val="2"/>
          <c:tx>
            <c:strRef>
              <c:strCache>
                <c:ptCount val="1"/>
                <c:pt idx="0">
                  <c:v>Offline Retail &amp; Distributors</c:v>
                </c:pt>
              </c:strCache>
            </c:strRef>
          </c:tx>
          <c:spPr>
            <a:solidFill>
              <a:srgbClr val="D6CAC4"/>
            </a:solidFill>
          </c:spPr>
          <c:invertIfNegative val="0"/>
          <c:xVal>
            <c:numRef>
              <c:numCache>
                <c:formatCode>General</c:formatCode>
                <c:ptCount val="1"/>
                <c:pt idx="0">
                  <c:v>87.54644206831904</c:v>
                </c:pt>
              </c:numCache>
            </c:numRef>
          </c:xVal>
          <c:yVal>
            <c:numRef>
              <c:numCache>
                <c:formatCode>General</c:formatCode>
                <c:ptCount val="1"/>
                <c:pt idx="0">
                  <c:v>42.3222457906964</c:v>
                </c:pt>
              </c:numCache>
            </c:numRef>
          </c:yVal>
          <c:bubbleSize>
            <c:numRef>
              <c:numCache>
                <c:formatCode>General</c:formatCode>
                <c:ptCount val="1"/>
                <c:pt idx="0">
                  <c:v>72.808</c:v>
                </c:pt>
              </c:numCache>
            </c:numRef>
          </c:bubbleSize>
          <c:bubble3D val="0"/>
        </c:ser>
        <c:ser>
          <c:idx val="3"/>
          <c:order val="3"/>
          <c:tx>
            <c:strRef>
              <c:strCache>
                <c:ptCount val="1"/>
                <c:pt idx="0">
                  <c:v>Direct B2B / Institutional Sales</c:v>
                </c:pt>
              </c:strCache>
            </c:strRef>
          </c:tx>
          <c:spPr>
            <a:solidFill>
              <a:srgbClr val="EBC46B"/>
            </a:solidFill>
          </c:spPr>
          <c:invertIfNegative val="0"/>
          <c:xVal>
            <c:numRef>
              <c:numCache>
                <c:formatCode>General</c:formatCode>
                <c:ptCount val="1"/>
                <c:pt idx="0">
                  <c:v>104.58177635577582</c:v>
                </c:pt>
              </c:numCache>
            </c:numRef>
          </c:xVal>
          <c:yVal>
            <c:numRef>
              <c:numCache>
                <c:formatCode>General</c:formatCode>
                <c:ptCount val="1"/>
                <c:pt idx="0">
                  <c:v>121.91324211556838</c:v>
                </c:pt>
              </c:numCache>
            </c:numRef>
          </c:yVal>
          <c:bubbleSize>
            <c:numRef>
              <c:numCache>
                <c:formatCode>General</c:formatCode>
                <c:ptCount val="1"/>
                <c:pt idx="0">
                  <c:v>251.242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66.896</c:v>
                </c:pt>
                <c:pt idx="2">
                  <c:v>87.503</c:v>
                </c:pt>
                <c:pt idx="3">
                  <c:v>114.391</c:v>
                </c:pt>
                <c:pt idx="4">
                  <c:v>149.465</c:v>
                </c:pt>
                <c:pt idx="5">
                  <c:v>195.201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66.896</c:v>
                </c:pt>
                <c:pt idx="1">
                  <c:v>20.607</c:v>
                </c:pt>
                <c:pt idx="2">
                  <c:v>26.888000000000005</c:v>
                </c:pt>
                <c:pt idx="3">
                  <c:v>35.074</c:v>
                </c:pt>
                <c:pt idx="4">
                  <c:v>45.73599999999999</c:v>
                </c:pt>
                <c:pt idx="5">
                  <c:v>59.62300000000002</c:v>
                </c:pt>
                <c:pt idx="6">
                  <c:v>254.824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84.822</c:v>
                </c:pt>
                <c:pt idx="2">
                  <c:v>102.047</c:v>
                </c:pt>
                <c:pt idx="3">
                  <c:v>122.405</c:v>
                </c:pt>
                <c:pt idx="4">
                  <c:v>146.335</c:v>
                </c:pt>
                <c:pt idx="5">
                  <c:v>174.269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84.822</c:v>
                </c:pt>
                <c:pt idx="1">
                  <c:v>17.224999999999994</c:v>
                </c:pt>
                <c:pt idx="2">
                  <c:v>20.358000000000004</c:v>
                </c:pt>
                <c:pt idx="3">
                  <c:v>23.930000000000007</c:v>
                </c:pt>
                <c:pt idx="4">
                  <c:v>27.933999999999997</c:v>
                </c:pt>
                <c:pt idx="5">
                  <c:v>32.355999999999995</c:v>
                </c:pt>
                <c:pt idx="6">
                  <c:v>206.625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27.235</c:v>
                </c:pt>
                <c:pt idx="2">
                  <c:v>33.253</c:v>
                </c:pt>
                <c:pt idx="3">
                  <c:v>40.547</c:v>
                </c:pt>
                <c:pt idx="4">
                  <c:v>49.366</c:v>
                </c:pt>
                <c:pt idx="5">
                  <c:v>60.006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27.235</c:v>
                </c:pt>
                <c:pt idx="1">
                  <c:v>6.018000000000001</c:v>
                </c:pt>
                <c:pt idx="2">
                  <c:v>7.293999999999997</c:v>
                </c:pt>
                <c:pt idx="3">
                  <c:v>8.819000000000003</c:v>
                </c:pt>
                <c:pt idx="4">
                  <c:v>10.64</c:v>
                </c:pt>
                <c:pt idx="5">
                  <c:v>12.802000000000007</c:v>
                </c:pt>
                <c:pt idx="6">
                  <c:v>72.808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78.453</c:v>
                </c:pt>
                <c:pt idx="2">
                  <c:v>98.966</c:v>
                </c:pt>
                <c:pt idx="3">
                  <c:v>124.874</c:v>
                </c:pt>
                <c:pt idx="4">
                  <c:v>157.601</c:v>
                </c:pt>
                <c:pt idx="5">
                  <c:v>198.962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78.453</c:v>
                </c:pt>
                <c:pt idx="1">
                  <c:v>20.51299999999999</c:v>
                </c:pt>
                <c:pt idx="2">
                  <c:v>25.908</c:v>
                </c:pt>
                <c:pt idx="3">
                  <c:v>32.727000000000004</c:v>
                </c:pt>
                <c:pt idx="4">
                  <c:v>41.36099999999999</c:v>
                </c:pt>
                <c:pt idx="5">
                  <c:v>52.28</c:v>
                </c:pt>
                <c:pt idx="6">
                  <c:v>251.242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Direct-to-Consumer / Manufacturer Direct</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23.13705877707878</c:v>
                </c:pt>
                <c:pt idx="1">
                  <c:v>25.988516196203665</c:v>
                </c:pt>
                <c:pt idx="2">
                  <c:v>32.44103429794309</c:v>
                </c:pt>
              </c:numCache>
            </c:numRef>
          </c:val>
        </c:ser>
        <c:ser>
          <c:idx val="1"/>
          <c:order val="1"/>
          <c:tx>
            <c:strRef>
              <c:strCache>
                <c:ptCount val="1"/>
                <c:pt idx="0">
                  <c:v>Direct B2B / Institutional Sales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29.824958542812773</c:v>
                </c:pt>
                <c:pt idx="1">
                  <c:v>30.4783105288921</c:v>
                </c:pt>
                <c:pt idx="2">
                  <c:v>31.98501844050724</c:v>
                </c:pt>
              </c:numCache>
            </c:numRef>
          </c:val>
        </c:ser>
        <c:ser>
          <c:idx val="2"/>
          <c:order val="2"/>
          <c:tx>
            <c:strRef>
              <c:strCache>
                <c:ptCount val="1"/>
                <c:pt idx="0">
                  <c:v>Online Third-Party Retail</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35.87323313416335</c:v>
                </c:pt>
                <c:pt idx="1">
                  <c:v>32.952611827230136</c:v>
                </c:pt>
                <c:pt idx="2">
                  <c:v>26.304934824869285</c:v>
                </c:pt>
              </c:numCache>
            </c:numRef>
          </c:val>
        </c:ser>
        <c:ser>
          <c:idx val="3"/>
          <c:order val="3"/>
          <c:tx>
            <c:strRef>
              <c:strCache>
                <c:ptCount val="1"/>
                <c:pt idx="0">
                  <c:v>Offline Retail &amp; Distributors</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11.16474954594509</c:v>
                </c:pt>
                <c:pt idx="1">
                  <c:v>10.580561447674102</c:v>
                </c:pt>
                <c:pt idx="2">
                  <c:v>9.269012436680377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(Thousand Units)</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19.232</c:v>
                </c:pt>
                <c:pt idx="1">
                  <c:v>20.06</c:v>
                </c:pt>
                <c:pt idx="2">
                  <c:v>20.922</c:v>
                </c:pt>
                <c:pt idx="3">
                  <c:v>21.823</c:v>
                </c:pt>
                <c:pt idx="4">
                  <c:v>22.763</c:v>
                </c:pt>
                <c:pt idx="5">
                  <c:v>25.295</c:v>
                </c:pt>
                <c:pt idx="6">
                  <c:v>28.105999999999998</c:v>
                </c:pt>
                <c:pt idx="7">
                  <c:v>31.227</c:v>
                </c:pt>
                <c:pt idx="8">
                  <c:v>34.692</c:v>
                </c:pt>
                <c:pt idx="9">
                  <c:v>38.538</c:v>
                </c:pt>
                <c:pt idx="10">
                  <c:v>42.80800000000001</c:v>
                </c:pt>
                <c:pt idx="11">
                  <c:v>47.548</c:v>
                </c:pt>
                <c:pt idx="12">
                  <c:v>52.80799999999999</c:v>
                </c:pt>
                <c:pt idx="13">
                  <c:v>58.646</c:v>
                </c:pt>
                <c:pt idx="14">
                  <c:v>65.124</c:v>
                </c:pt>
                <c:pt idx="15">
                  <c:v>72.313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United States</c:v>
                </c:pt>
              </c:strCache>
            </c:strRef>
          </c:cat>
          <c:val>
            <c:numRef>
              <c:numCache>
                <c:formatCode>General</c:formatCode>
                <c:ptCount val="3"/>
                <c:pt idx="0">
                  <c:v>0.109315944277099</c:v>
                </c:pt>
                <c:pt idx="1">
                  <c:v>0.10271453201403237</c:v>
                </c:pt>
                <c:pt idx="2">
                  <c:v>0.1107547255050072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4951887943175973"/>
          <c:min val="0.0"/>
        </c:scaling>
        <c:delete/>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25.295</c:v>
                </c:pt>
                <c:pt idx="2">
                  <c:v>28.105999999999998</c:v>
                </c:pt>
                <c:pt idx="3">
                  <c:v>31.227</c:v>
                </c:pt>
                <c:pt idx="4">
                  <c:v>34.692</c:v>
                </c:pt>
                <c:pt idx="5">
                  <c:v>38.538</c:v>
                </c:pt>
                <c:pt idx="6">
                  <c:v>42.80800000000001</c:v>
                </c:pt>
                <c:pt idx="7">
                  <c:v>47.548</c:v>
                </c:pt>
                <c:pt idx="8">
                  <c:v>52.80799999999999</c:v>
                </c:pt>
                <c:pt idx="9">
                  <c:v>58.646</c:v>
                </c:pt>
                <c:pt idx="10">
                  <c:v>65.124</c:v>
                </c:pt>
                <c:pt idx="11">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25.295</c:v>
                </c:pt>
                <c:pt idx="1">
                  <c:v>2.8109999999999964</c:v>
                </c:pt>
                <c:pt idx="2">
                  <c:v>3.121000000000002</c:v>
                </c:pt>
                <c:pt idx="3">
                  <c:v>3.465</c:v>
                </c:pt>
                <c:pt idx="4">
                  <c:v>3.8459999999999965</c:v>
                </c:pt>
                <c:pt idx="5">
                  <c:v>4.27000000000001</c:v>
                </c:pt>
                <c:pt idx="6">
                  <c:v>4.739999999999995</c:v>
                </c:pt>
                <c:pt idx="7">
                  <c:v>5.259999999999991</c:v>
                </c:pt>
                <c:pt idx="8">
                  <c:v>5.838000000000008</c:v>
                </c:pt>
                <c:pt idx="9">
                  <c:v>6.477999999999994</c:v>
                </c:pt>
                <c:pt idx="10">
                  <c:v>7.189000000000007</c:v>
                </c:pt>
                <c:pt idx="11">
                  <c:v>72.313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United States</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57.840940272569284</c:v>
                </c:pt>
                <c:pt idx="1">
                  <c:v>15.955366604430543</c:v>
                </c:pt>
              </c:numCache>
            </c:numRef>
          </c:val>
        </c:ser>
        <c:ser>
          <c:idx val="1"/>
          <c:order val="1"/>
          <c:tx>
            <c:strRef>
              <c:strCache>
                <c:ptCount val="1"/>
                <c:pt idx="0">
                  <c:v>Rest of the market</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42.159059727430716</c:v>
                </c:pt>
                <c:pt idx="1">
                  <c:v>84.04463339556946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105.71100000000001</c:v>
                </c:pt>
                <c:pt idx="1">
                  <c:v>111.72200000000001</c:v>
                </c:pt>
                <c:pt idx="2">
                  <c:v>118.075</c:v>
                </c:pt>
                <c:pt idx="3">
                  <c:v>124.78999999999999</c:v>
                </c:pt>
                <c:pt idx="4">
                  <c:v>131.886</c:v>
                </c:pt>
                <c:pt idx="5">
                  <c:v>148.505</c:v>
                </c:pt>
                <c:pt idx="6">
                  <c:v>167.195</c:v>
                </c:pt>
                <c:pt idx="7">
                  <c:v>188.222</c:v>
                </c:pt>
                <c:pt idx="8">
                  <c:v>211.87900000000002</c:v>
                </c:pt>
                <c:pt idx="9">
                  <c:v>238.491</c:v>
                </c:pt>
                <c:pt idx="10">
                  <c:v>268.424</c:v>
                </c:pt>
                <c:pt idx="11">
                  <c:v>302.095</c:v>
                </c:pt>
                <c:pt idx="12">
                  <c:v>339.962</c:v>
                </c:pt>
                <c:pt idx="13">
                  <c:v>382.54999999999995</c:v>
                </c:pt>
                <c:pt idx="14">
                  <c:v>430.43899999999996</c:v>
                </c:pt>
                <c:pt idx="15">
                  <c:v>484.291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United States</c:v>
                </c:pt>
              </c:strCache>
            </c:strRef>
          </c:cat>
          <c:val>
            <c:numRef>
              <c:numCache>
                <c:formatCode>General</c:formatCode>
                <c:ptCount val="3"/>
                <c:pt idx="0">
                  <c:v>0.11612317403390439</c:v>
                </c:pt>
                <c:pt idx="1">
                  <c:v>0.11802804341153017</c:v>
                </c:pt>
                <c:pt idx="2">
                  <c:v>0.1254767614063812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6939362789861462"/>
          <c:min val="0.0"/>
        </c:scaling>
        <c:delete/>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148.505</c:v>
                </c:pt>
                <c:pt idx="2">
                  <c:v>167.195</c:v>
                </c:pt>
                <c:pt idx="3">
                  <c:v>188.222</c:v>
                </c:pt>
                <c:pt idx="4">
                  <c:v>211.87900000000002</c:v>
                </c:pt>
                <c:pt idx="5">
                  <c:v>238.491</c:v>
                </c:pt>
                <c:pt idx="6">
                  <c:v>268.424</c:v>
                </c:pt>
                <c:pt idx="7">
                  <c:v>302.095</c:v>
                </c:pt>
                <c:pt idx="8">
                  <c:v>339.962</c:v>
                </c:pt>
                <c:pt idx="9">
                  <c:v>382.54999999999995</c:v>
                </c:pt>
                <c:pt idx="10">
                  <c:v>430.43899999999996</c:v>
                </c:pt>
                <c:pt idx="11">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148.505</c:v>
                </c:pt>
                <c:pt idx="1">
                  <c:v>18.689999999999998</c:v>
                </c:pt>
                <c:pt idx="2">
                  <c:v>21.027000000000015</c:v>
                </c:pt>
                <c:pt idx="3">
                  <c:v>23.65700000000001</c:v>
                </c:pt>
                <c:pt idx="4">
                  <c:v>26.611999999999995</c:v>
                </c:pt>
                <c:pt idx="5">
                  <c:v>29.932999999999964</c:v>
                </c:pt>
                <c:pt idx="6">
                  <c:v>33.67100000000005</c:v>
                </c:pt>
                <c:pt idx="7">
                  <c:v>37.86699999999996</c:v>
                </c:pt>
                <c:pt idx="8">
                  <c:v>42.587999999999965</c:v>
                </c:pt>
                <c:pt idx="9">
                  <c:v>47.88900000000001</c:v>
                </c:pt>
                <c:pt idx="10">
                  <c:v>53.85200000000003</c:v>
                </c:pt>
                <c:pt idx="11">
                  <c:v>484.291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United States</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57.692905371281164</c:v>
                </c:pt>
                <c:pt idx="1">
                  <c:v>22.846887927864724</c:v>
                </c:pt>
              </c:numCache>
            </c:numRef>
          </c:val>
        </c:ser>
        <c:ser>
          <c:idx val="1"/>
          <c:order val="1"/>
          <c:tx>
            <c:strRef>
              <c:strCache>
                <c:ptCount val="1"/>
                <c:pt idx="0">
                  <c:v>Rest of the market</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42.307094628718836</c:v>
                </c:pt>
                <c:pt idx="1">
                  <c:v>77.15311207213527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A5C5DF"/>
              </a:solidFill>
            </c:spPr>
          </c:dPt>
          <c:dPt>
            <c:idx val="2"/>
            <c:spPr>
              <a:solidFill>
                <a:srgbClr val="629AC7"/>
              </a:solidFill>
            </c:spPr>
          </c:dPt>
          <c:dPt>
            <c:idx val="3"/>
            <c:spPr>
              <a:solidFill>
                <a:srgbClr val="1F6FB0"/>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 </c:v>
                </c:pt>
                <c:pt idx="1">
                  <c:v>500 Wh to Below 1,000…</c:v>
                </c:pt>
                <c:pt idx="2">
                  <c:v>1,000 Wh to Below 1,5…</c:v>
                </c:pt>
                <c:pt idx="3">
                  <c:v>1,500 Wh to 2,000 Wh</c:v>
                </c:pt>
              </c:strCache>
            </c:strRef>
          </c:cat>
          <c:val>
            <c:numRef>
              <c:numCache>
                <c:formatCode>General</c:formatCode>
                <c:ptCount val="4"/>
                <c:pt idx="1">
                  <c:v>37.477</c:v>
                </c:pt>
                <c:pt idx="2">
                  <c:v>43.076</c:v>
                </c:pt>
                <c:pt idx="3">
                  <c:v>67.952</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1.055680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9EB0BF"/>
              </a:solidFill>
            </c:spPr>
          </c:dPt>
          <c:dPt>
            <c:idx val="1"/>
            <c:spPr>
              <a:solidFill>
                <a:srgbClr val="6E889F"/>
              </a:solidFill>
            </c:spPr>
          </c:dPt>
          <c:dPt>
            <c:idx val="2"/>
            <c:spPr>
              <a:solidFill>
                <a:srgbClr val="3E617F"/>
              </a:solidFill>
            </c:spPr>
          </c:dPt>
          <c:dPt>
            <c:idx val="3"/>
            <c:spPr>
              <a:solidFill>
                <a:srgbClr val="0E3A5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Iron Phosphate</c:v>
                </c:pt>
                <c:pt idx="1">
                  <c:v>Other Lithium-Ion Cat…</c:v>
                </c:pt>
                <c:pt idx="2">
                  <c:v>Cobalt Oxide</c:v>
                </c:pt>
                <c:pt idx="3">
                  <c:v>Nickel Manganese Coba…</c:v>
                </c:pt>
              </c:strCache>
            </c:strRef>
          </c:cat>
          <c:val>
            <c:numRef>
              <c:numCache>
                <c:formatCode>General</c:formatCode>
                <c:ptCount val="4"/>
                <c:pt idx="0">
                  <c:v>21.501</c:v>
                </c:pt>
                <c:pt idx="1">
                  <c:v>21.829</c:v>
                </c:pt>
                <c:pt idx="2">
                  <c:v>45.878</c:v>
                </c:pt>
                <c:pt idx="3">
                  <c:v>59.297</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9.4579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FFFFFF"/>
              </a:solidFill>
            </c:spPr>
          </c:dPt>
          <c:dPt>
            <c:idx val="2"/>
            <c:spPr>
              <a:solidFill>
                <a:srgbClr val="C9B8DF"/>
              </a:solidFill>
            </c:spPr>
          </c:dPt>
          <c:dPt>
            <c:idx val="3"/>
            <c:spPr>
              <a:solidFill>
                <a:srgbClr val="7A4FB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 </c:v>
                </c:pt>
                <c:pt idx="1">
                  <c:v>  </c:v>
                </c:pt>
                <c:pt idx="2">
                  <c:v>Standalone Battery Pa…</c:v>
                </c:pt>
                <c:pt idx="3">
                  <c:v>Integrated Portable E…</c:v>
                </c:pt>
              </c:strCache>
            </c:strRef>
          </c:cat>
          <c:val>
            <c:numRef>
              <c:numCache>
                <c:formatCode>General</c:formatCode>
                <c:ptCount val="4"/>
                <c:pt idx="2">
                  <c:v>62.432</c:v>
                </c:pt>
                <c:pt idx="3">
                  <c:v>86.073</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15.3378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BDCAD6"/>
              </a:solidFill>
            </c:spPr>
          </c:dPt>
          <c:dPt>
            <c:idx val="1"/>
            <c:spPr>
              <a:solidFill>
                <a:srgbClr val="9CB0C1"/>
              </a:solidFill>
            </c:spPr>
          </c:dPt>
          <c:dPt>
            <c:idx val="2"/>
            <c:spPr>
              <a:solidFill>
                <a:srgbClr val="7B96AD"/>
              </a:solidFill>
            </c:spPr>
          </c:dPt>
          <c:dPt>
            <c:idx val="3"/>
            <c:spPr>
              <a:solidFill>
                <a:srgbClr val="5B7C99"/>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Portable Backup Power</c:v>
                </c:pt>
                <c:pt idx="1">
                  <c:v>Off-Grid &amp; Remote Pow…</c:v>
                </c:pt>
                <c:pt idx="2">
                  <c:v>Outdoor &amp; Recreationa…</c:v>
                </c:pt>
                <c:pt idx="3">
                  <c:v>Professional &amp; Specia…</c:v>
                </c:pt>
              </c:strCache>
            </c:strRef>
          </c:cat>
          <c:val>
            <c:numRef>
              <c:numCache>
                <c:formatCode>General</c:formatCode>
                <c:ptCount val="4"/>
                <c:pt idx="0">
                  <c:v>5.668</c:v>
                </c:pt>
                <c:pt idx="1">
                  <c:v>30.36</c:v>
                </c:pt>
                <c:pt idx="2">
                  <c:v>38.102</c:v>
                </c:pt>
                <c:pt idx="3">
                  <c:v>74.375</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9.662500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EFD0AA"/>
              </a:solidFill>
            </c:spPr>
          </c:dPt>
          <c:dPt>
            <c:idx val="1"/>
            <c:spPr>
              <a:solidFill>
                <a:srgbClr val="E8B87F"/>
              </a:solidFill>
            </c:spPr>
          </c:dPt>
          <c:dPt>
            <c:idx val="2"/>
            <c:spPr>
              <a:solidFill>
                <a:srgbClr val="E0A155"/>
              </a:solidFill>
            </c:spPr>
          </c:dPt>
          <c:dPt>
            <c:idx val="3"/>
            <c:spPr>
              <a:solidFill>
                <a:srgbClr val="D98A2B"/>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500 W to Below 1,000 W</c:v>
                </c:pt>
                <c:pt idx="1">
                  <c:v>Below 500 W</c:v>
                </c:pt>
                <c:pt idx="2">
                  <c:v>2,000 W and Above</c:v>
                </c:pt>
                <c:pt idx="3">
                  <c:v>1,000 W to Below 2,00…</c:v>
                </c:pt>
              </c:strCache>
            </c:strRef>
          </c:cat>
          <c:val>
            <c:numRef>
              <c:numCache>
                <c:formatCode>General</c:formatCode>
                <c:ptCount val="4"/>
                <c:pt idx="0">
                  <c:v>11.91</c:v>
                </c:pt>
                <c:pt idx="1">
                  <c:v>25.274</c:v>
                </c:pt>
                <c:pt idx="2">
                  <c:v>53.677</c:v>
                </c:pt>
                <c:pt idx="3">
                  <c:v>57.644</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7.24296"/>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FFFFFF"/>
              </a:solidFill>
            </c:spPr>
          </c:dPt>
          <c:dPt>
            <c:idx val="2"/>
            <c:spPr>
              <a:solidFill>
                <a:srgbClr val="E5B9B7"/>
              </a:solidFill>
            </c:spPr>
          </c:dPt>
          <c:dPt>
            <c:idx val="3"/>
            <c:spPr>
              <a:solidFill>
                <a:srgbClr val="C0504D"/>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 </c:v>
                </c:pt>
                <c:pt idx="1">
                  <c:v>  </c:v>
                </c:pt>
                <c:pt idx="2">
                  <c:v>DC-Only Portable Batt…</c:v>
                </c:pt>
                <c:pt idx="3">
                  <c:v>AC/DC Portable Power…</c:v>
                </c:pt>
              </c:strCache>
            </c:strRef>
          </c:cat>
          <c:val>
            <c:numRef>
              <c:numCache>
                <c:formatCode>General</c:formatCode>
                <c:ptCount val="4"/>
                <c:pt idx="2">
                  <c:v>67.718</c:v>
                </c:pt>
                <c:pt idx="3">
                  <c:v>80.787</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08.25458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AAC5CB"/>
              </a:solidFill>
            </c:spPr>
          </c:dPt>
          <c:dPt>
            <c:idx val="1"/>
            <c:spPr>
              <a:solidFill>
                <a:srgbClr val="80A8B2"/>
              </a:solidFill>
            </c:spPr>
          </c:dPt>
          <c:dPt>
            <c:idx val="2"/>
            <c:spPr>
              <a:solidFill>
                <a:srgbClr val="568B98"/>
              </a:solidFill>
            </c:spPr>
          </c:dPt>
          <c:dPt>
            <c:idx val="3"/>
            <c:spPr>
              <a:solidFill>
                <a:srgbClr val="2C6E7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Offline Retail &amp; Dist…</c:v>
                </c:pt>
                <c:pt idx="1">
                  <c:v>Direct-to-Consumer /…</c:v>
                </c:pt>
                <c:pt idx="2">
                  <c:v>Direct B2B / Institut…</c:v>
                </c:pt>
                <c:pt idx="3">
                  <c:v>Online Third-Party Re…</c:v>
                </c:pt>
              </c:strCache>
            </c:strRef>
          </c:cat>
          <c:val>
            <c:numRef>
              <c:numCache>
                <c:formatCode>General</c:formatCode>
                <c:ptCount val="4"/>
                <c:pt idx="0">
                  <c:v>15.707</c:v>
                </c:pt>
                <c:pt idx="1">
                  <c:v>38.073</c:v>
                </c:pt>
                <c:pt idx="2">
                  <c:v>43.375</c:v>
                </c:pt>
                <c:pt idx="3">
                  <c:v>51.35</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68.809000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500 Wh to Below 1,000 Wh</c:v>
                </c:pt>
                <c:pt idx="2">
                  <c:v>1,000 Wh to Below 1,500 Wh</c:v>
                </c:pt>
                <c:pt idx="3">
                  <c:v>1,500 Wh to 2,000 Wh</c:v>
                </c:pt>
                <c:pt idx="4">
                  <c:v>2036 Total</c:v>
                </c:pt>
              </c:strCache>
            </c:strRef>
          </c:cat>
          <c:val>
            <c:numRef>
              <c:numCache>
                <c:formatCode>General</c:formatCode>
                <c:ptCount val="5"/>
                <c:pt idx="0">
                  <c:v>0.0</c:v>
                </c:pt>
                <c:pt idx="1">
                  <c:v>148.505</c:v>
                </c:pt>
                <c:pt idx="2">
                  <c:v>224.85999999999999</c:v>
                </c:pt>
                <c:pt idx="3">
                  <c:v>344.094</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2026</c:v>
                </c:pt>
                <c:pt idx="1">
                  <c:v>500 Wh to Below 1,000 Wh</c:v>
                </c:pt>
                <c:pt idx="2">
                  <c:v>1,000 Wh to Below 1,500 Wh</c:v>
                </c:pt>
                <c:pt idx="3">
                  <c:v>1,500 Wh to 2,000 Wh</c:v>
                </c:pt>
                <c:pt idx="4">
                  <c:v>2036 Total</c:v>
                </c:pt>
              </c:strCache>
            </c:strRef>
          </c:cat>
          <c:val>
            <c:numRef>
              <c:numCache>
                <c:formatCode>General</c:formatCode>
                <c:ptCount val="5"/>
                <c:pt idx="0">
                  <c:v>148.505</c:v>
                </c:pt>
                <c:pt idx="1">
                  <c:v>76.35499999999999</c:v>
                </c:pt>
                <c:pt idx="2">
                  <c:v>119.23400000000001</c:v>
                </c:pt>
                <c:pt idx="3">
                  <c:v>140.197</c:v>
                </c:pt>
                <c:pt idx="4">
                  <c:v>484.291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500 Wh to Below 1,000 Wh</c:v>
                </c:pt>
                <c:pt idx="1">
                  <c:v>1,000 Wh to Below 1,500 Wh</c:v>
                </c:pt>
                <c:pt idx="2">
                  <c:v>1,500 Wh to 2,000 Wh</c:v>
                </c:pt>
                <c:pt idx="3">
                  <c:v>Total Absolute $ Opportunity</c:v>
                </c:pt>
              </c:strCache>
            </c:strRef>
          </c:cat>
          <c:val>
            <c:numRef>
              <c:numCache>
                <c:formatCode>General</c:formatCode>
                <c:ptCount val="4"/>
                <c:pt idx="0">
                  <c:v>0.0</c:v>
                </c:pt>
                <c:pt idx="1">
                  <c:v>76.35499999999999</c:v>
                </c:pt>
                <c:pt idx="2">
                  <c:v>195.589</c:v>
                </c:pt>
                <c:pt idx="3">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4"/>
                <c:pt idx="0">
                  <c:v>500 Wh to Below 1,000 Wh</c:v>
                </c:pt>
                <c:pt idx="1">
                  <c:v>1,000 Wh to Below 1,500 Wh</c:v>
                </c:pt>
                <c:pt idx="2">
                  <c:v>1,500 Wh to 2,000 Wh</c:v>
                </c:pt>
                <c:pt idx="3">
                  <c:v>Total Absolute $ Opportunity</c:v>
                </c:pt>
              </c:strCache>
            </c:strRef>
          </c:cat>
          <c:val>
            <c:numRef>
              <c:numCache>
                <c:formatCode>General</c:formatCode>
                <c:ptCount val="4"/>
                <c:pt idx="0">
                  <c:v>76.35499999999999</c:v>
                </c:pt>
                <c:pt idx="1">
                  <c:v>119.23400000000001</c:v>
                </c:pt>
                <c:pt idx="2">
                  <c:v>140.197</c:v>
                </c:pt>
                <c:pt idx="3">
                  <c:v>335.786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Lithium Cobalt Oxide (LCO)</c:v>
                </c:pt>
                <c:pt idx="2">
                  <c:v>Lithium Nickel Manganese Cobalt Oxide (NMC)</c:v>
                </c:pt>
                <c:pt idx="3">
                  <c:v>Lithium Iron Phosphate (LFP)</c:v>
                </c:pt>
                <c:pt idx="4">
                  <c:v>Other Lithium-Ion Cathode Chemistries</c:v>
                </c:pt>
                <c:pt idx="5">
                  <c:v>2036 Total</c:v>
                </c:pt>
              </c:strCache>
            </c:strRef>
          </c:cat>
          <c:val>
            <c:numRef>
              <c:numCache>
                <c:formatCode>General</c:formatCode>
                <c:ptCount val="6"/>
                <c:pt idx="0">
                  <c:v>0.0</c:v>
                </c:pt>
                <c:pt idx="1">
                  <c:v>148.505</c:v>
                </c:pt>
                <c:pt idx="2">
                  <c:v>244.76799999999997</c:v>
                </c:pt>
                <c:pt idx="3">
                  <c:v>388.899</c:v>
                </c:pt>
                <c:pt idx="4">
                  <c:v>428.744</c:v>
                </c:pt>
                <c:pt idx="5">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6"/>
                <c:pt idx="0">
                  <c:v>2026</c:v>
                </c:pt>
                <c:pt idx="1">
                  <c:v>Lithium Cobalt Oxide (LCO)</c:v>
                </c:pt>
                <c:pt idx="2">
                  <c:v>Lithium Nickel Manganese Cobalt Oxide (NMC)</c:v>
                </c:pt>
                <c:pt idx="3">
                  <c:v>Lithium Iron Phosphate (LFP)</c:v>
                </c:pt>
                <c:pt idx="4">
                  <c:v>Other Lithium-Ion Cathode Chemistries</c:v>
                </c:pt>
                <c:pt idx="5">
                  <c:v>2036 Total</c:v>
                </c:pt>
              </c:strCache>
            </c:strRef>
          </c:cat>
          <c:val>
            <c:numRef>
              <c:numCache>
                <c:formatCode>General</c:formatCode>
                <c:ptCount val="6"/>
                <c:pt idx="0">
                  <c:v>148.505</c:v>
                </c:pt>
                <c:pt idx="1">
                  <c:v>96.26299999999999</c:v>
                </c:pt>
                <c:pt idx="2">
                  <c:v>144.131</c:v>
                </c:pt>
                <c:pt idx="3">
                  <c:v>39.845</c:v>
                </c:pt>
                <c:pt idx="4">
                  <c:v>55.547000000000004</c:v>
                </c:pt>
                <c:pt idx="5">
                  <c:v>484.29099999999994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Lithium Cobalt Oxide (LCO)</c:v>
                </c:pt>
                <c:pt idx="1">
                  <c:v>Lithium Nickel Manganese Cobalt Oxide (NMC)</c:v>
                </c:pt>
                <c:pt idx="2">
                  <c:v>Lithium Iron Phosphate (LFP)</c:v>
                </c:pt>
                <c:pt idx="3">
                  <c:v>Other Lithium-Ion Cathode Chemistries</c:v>
                </c:pt>
                <c:pt idx="4">
                  <c:v>Total Absolute $ Opportunity</c:v>
                </c:pt>
              </c:strCache>
            </c:strRef>
          </c:cat>
          <c:val>
            <c:numRef>
              <c:numCache>
                <c:formatCode>General</c:formatCode>
                <c:ptCount val="5"/>
                <c:pt idx="0">
                  <c:v>0.0</c:v>
                </c:pt>
                <c:pt idx="1">
                  <c:v>96.26299999999999</c:v>
                </c:pt>
                <c:pt idx="2">
                  <c:v>240.394</c:v>
                </c:pt>
                <c:pt idx="3">
                  <c:v>280.23900000000003</c:v>
                </c:pt>
                <c:pt idx="4">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Lithium Cobalt Oxide (LCO)</c:v>
                </c:pt>
                <c:pt idx="1">
                  <c:v>Lithium Nickel Manganese Cobalt Oxide (NMC)</c:v>
                </c:pt>
                <c:pt idx="2">
                  <c:v>Lithium Iron Phosphate (LFP)</c:v>
                </c:pt>
                <c:pt idx="3">
                  <c:v>Other Lithium-Ion Cathode Chemistries</c:v>
                </c:pt>
                <c:pt idx="4">
                  <c:v>Total Absolute $ Opportunity</c:v>
                </c:pt>
              </c:strCache>
            </c:strRef>
          </c:cat>
          <c:val>
            <c:numRef>
              <c:numCache>
                <c:formatCode>General</c:formatCode>
                <c:ptCount val="5"/>
                <c:pt idx="0">
                  <c:v>96.26299999999999</c:v>
                </c:pt>
                <c:pt idx="1">
                  <c:v>144.131</c:v>
                </c:pt>
                <c:pt idx="2">
                  <c:v>39.845</c:v>
                </c:pt>
                <c:pt idx="3">
                  <c:v>55.547000000000004</c:v>
                </c:pt>
                <c:pt idx="4">
                  <c:v>335.78600000000006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Standalone Battery Packs</c:v>
                </c:pt>
                <c:pt idx="2">
                  <c:v>Integrated Portable Energy Storage Systems</c:v>
                </c:pt>
                <c:pt idx="3">
                  <c:v>2036 Total</c:v>
                </c:pt>
              </c:strCache>
            </c:strRef>
          </c:cat>
          <c:val>
            <c:numRef>
              <c:numCache>
                <c:formatCode>General</c:formatCode>
                <c:ptCount val="4"/>
                <c:pt idx="0">
                  <c:v>0.0</c:v>
                </c:pt>
                <c:pt idx="1">
                  <c:v>148.505</c:v>
                </c:pt>
                <c:pt idx="2">
                  <c:v>262.031</c:v>
                </c:pt>
                <c:pt idx="3">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4"/>
                <c:pt idx="0">
                  <c:v>2026</c:v>
                </c:pt>
                <c:pt idx="1">
                  <c:v>Standalone Battery Packs</c:v>
                </c:pt>
                <c:pt idx="2">
                  <c:v>Integrated Portable Energy Storage Systems</c:v>
                </c:pt>
                <c:pt idx="3">
                  <c:v>2036 Total</c:v>
                </c:pt>
              </c:strCache>
            </c:strRef>
          </c:cat>
          <c:val>
            <c:numRef>
              <c:numCache>
                <c:formatCode>General</c:formatCode>
                <c:ptCount val="4"/>
                <c:pt idx="0">
                  <c:v>148.505</c:v>
                </c:pt>
                <c:pt idx="1">
                  <c:v>113.526</c:v>
                </c:pt>
                <c:pt idx="2">
                  <c:v>222.26000000000005</c:v>
                </c:pt>
                <c:pt idx="3">
                  <c:v>484.29100000000005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Standalone Battery Packs</c:v>
                </c:pt>
                <c:pt idx="1">
                  <c:v>Integrated Portable Energy Storage Systems</c:v>
                </c:pt>
                <c:pt idx="2">
                  <c:v>Total Absolute $ Opportunity</c:v>
                </c:pt>
              </c:strCache>
            </c:strRef>
          </c:cat>
          <c:val>
            <c:numRef>
              <c:numCache>
                <c:formatCode>General</c:formatCode>
                <c:ptCount val="3"/>
                <c:pt idx="0">
                  <c:v>0.0</c:v>
                </c:pt>
                <c:pt idx="1">
                  <c:v>113.526</c:v>
                </c:pt>
                <c:pt idx="2">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3"/>
                <c:pt idx="0">
                  <c:v>Standalone Battery Packs</c:v>
                </c:pt>
                <c:pt idx="1">
                  <c:v>Integrated Portable Energy Storage Systems</c:v>
                </c:pt>
                <c:pt idx="2">
                  <c:v>Total Absolute $ Opportunity</c:v>
                </c:pt>
              </c:strCache>
            </c:strRef>
          </c:cat>
          <c:val>
            <c:numRef>
              <c:numCache>
                <c:formatCode>General</c:formatCode>
                <c:ptCount val="3"/>
                <c:pt idx="0">
                  <c:v>113.526</c:v>
                </c:pt>
                <c:pt idx="1">
                  <c:v>222.26000000000005</c:v>
                </c:pt>
                <c:pt idx="2">
                  <c:v>335.78600000000006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Portable Backup Power</c:v>
                </c:pt>
                <c:pt idx="2">
                  <c:v>Outdoor &amp; Recreational Power</c:v>
                </c:pt>
                <c:pt idx="3">
                  <c:v>Off-Grid &amp; Remote Power</c:v>
                </c:pt>
                <c:pt idx="4">
                  <c:v>Professional &amp; Specialized Portable Power</c:v>
                </c:pt>
                <c:pt idx="5">
                  <c:v>2036 Total</c:v>
                </c:pt>
              </c:strCache>
            </c:strRef>
          </c:cat>
          <c:val>
            <c:numRef>
              <c:numCache>
                <c:formatCode>General</c:formatCode>
                <c:ptCount val="6"/>
                <c:pt idx="0">
                  <c:v>0.0</c:v>
                </c:pt>
                <c:pt idx="1">
                  <c:v>148.505</c:v>
                </c:pt>
                <c:pt idx="2">
                  <c:v>155.655</c:v>
                </c:pt>
                <c:pt idx="3">
                  <c:v>250.49699999999999</c:v>
                </c:pt>
                <c:pt idx="4">
                  <c:v>320.37399999999997</c:v>
                </c:pt>
                <c:pt idx="5">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6"/>
                <c:pt idx="0">
                  <c:v>2026</c:v>
                </c:pt>
                <c:pt idx="1">
                  <c:v>Portable Backup Power</c:v>
                </c:pt>
                <c:pt idx="2">
                  <c:v>Outdoor &amp; Recreational Power</c:v>
                </c:pt>
                <c:pt idx="3">
                  <c:v>Off-Grid &amp; Remote Power</c:v>
                </c:pt>
                <c:pt idx="4">
                  <c:v>Professional &amp; Specialized Portable Power</c:v>
                </c:pt>
                <c:pt idx="5">
                  <c:v>2036 Total</c:v>
                </c:pt>
              </c:strCache>
            </c:strRef>
          </c:cat>
          <c:val>
            <c:numRef>
              <c:numCache>
                <c:formatCode>General</c:formatCode>
                <c:ptCount val="6"/>
                <c:pt idx="0">
                  <c:v>148.505</c:v>
                </c:pt>
                <c:pt idx="1">
                  <c:v>7.1499999999999995</c:v>
                </c:pt>
                <c:pt idx="2">
                  <c:v>94.84199999999998</c:v>
                </c:pt>
                <c:pt idx="3">
                  <c:v>69.877</c:v>
                </c:pt>
                <c:pt idx="4">
                  <c:v>163.917</c:v>
                </c:pt>
                <c:pt idx="5">
                  <c:v>484.291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Portable Backup Power</c:v>
                </c:pt>
                <c:pt idx="1">
                  <c:v>Outdoor &amp; Recreational Power</c:v>
                </c:pt>
                <c:pt idx="2">
                  <c:v>Off-Grid &amp; Remote Power</c:v>
                </c:pt>
                <c:pt idx="3">
                  <c:v>Professional &amp; Specialized Portable Power</c:v>
                </c:pt>
                <c:pt idx="4">
                  <c:v>Total Absolute $ Opportunity</c:v>
                </c:pt>
              </c:strCache>
            </c:strRef>
          </c:cat>
          <c:val>
            <c:numRef>
              <c:numCache>
                <c:formatCode>General</c:formatCode>
                <c:ptCount val="5"/>
                <c:pt idx="0">
                  <c:v>0.0</c:v>
                </c:pt>
                <c:pt idx="1">
                  <c:v>7.1499999999999995</c:v>
                </c:pt>
                <c:pt idx="2">
                  <c:v>101.99199999999999</c:v>
                </c:pt>
                <c:pt idx="3">
                  <c:v>171.86899999999997</c:v>
                </c:pt>
                <c:pt idx="4">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Portable Backup Power</c:v>
                </c:pt>
                <c:pt idx="1">
                  <c:v>Outdoor &amp; Recreational Power</c:v>
                </c:pt>
                <c:pt idx="2">
                  <c:v>Off-Grid &amp; Remote Power</c:v>
                </c:pt>
                <c:pt idx="3">
                  <c:v>Professional &amp; Specialized Portable Power</c:v>
                </c:pt>
                <c:pt idx="4">
                  <c:v>Total Absolute $ Opportunity</c:v>
                </c:pt>
              </c:strCache>
            </c:strRef>
          </c:cat>
          <c:val>
            <c:numRef>
              <c:numCache>
                <c:formatCode>General</c:formatCode>
                <c:ptCount val="5"/>
                <c:pt idx="0">
                  <c:v>7.1499999999999995</c:v>
                </c:pt>
                <c:pt idx="1">
                  <c:v>94.84199999999998</c:v>
                </c:pt>
                <c:pt idx="2">
                  <c:v>69.877</c:v>
                </c:pt>
                <c:pt idx="3">
                  <c:v>163.917</c:v>
                </c:pt>
                <c:pt idx="4">
                  <c:v>335.78599999999994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Below 500 W</c:v>
                </c:pt>
                <c:pt idx="2">
                  <c:v>500 W to Below 1,000 W</c:v>
                </c:pt>
                <c:pt idx="3">
                  <c:v>1,000 W to Below 2,000 W</c:v>
                </c:pt>
                <c:pt idx="4">
                  <c:v>2,000 W and Above</c:v>
                </c:pt>
                <c:pt idx="5">
                  <c:v>2036 Total</c:v>
                </c:pt>
              </c:strCache>
            </c:strRef>
          </c:cat>
          <c:val>
            <c:numRef>
              <c:numCache>
                <c:formatCode>General</c:formatCode>
                <c:ptCount val="6"/>
                <c:pt idx="0">
                  <c:v>0.0</c:v>
                </c:pt>
                <c:pt idx="1">
                  <c:v>148.505</c:v>
                </c:pt>
                <c:pt idx="2">
                  <c:v>196.349</c:v>
                </c:pt>
                <c:pt idx="3">
                  <c:v>211.37699999999998</c:v>
                </c:pt>
                <c:pt idx="4">
                  <c:v>385.894</c:v>
                </c:pt>
                <c:pt idx="5">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6"/>
                <c:pt idx="0">
                  <c:v>2026</c:v>
                </c:pt>
                <c:pt idx="1">
                  <c:v>Below 500 W</c:v>
                </c:pt>
                <c:pt idx="2">
                  <c:v>500 W to Below 1,000 W</c:v>
                </c:pt>
                <c:pt idx="3">
                  <c:v>1,000 W to Below 2,000 W</c:v>
                </c:pt>
                <c:pt idx="4">
                  <c:v>2,000 W and Above</c:v>
                </c:pt>
                <c:pt idx="5">
                  <c:v>2036 Total</c:v>
                </c:pt>
              </c:strCache>
            </c:strRef>
          </c:cat>
          <c:val>
            <c:numRef>
              <c:numCache>
                <c:formatCode>General</c:formatCode>
                <c:ptCount val="6"/>
                <c:pt idx="0">
                  <c:v>148.505</c:v>
                </c:pt>
                <c:pt idx="1">
                  <c:v>47.843999999999994</c:v>
                </c:pt>
                <c:pt idx="2">
                  <c:v>15.027999999999999</c:v>
                </c:pt>
                <c:pt idx="3">
                  <c:v>174.517</c:v>
                </c:pt>
                <c:pt idx="4">
                  <c:v>98.39700000000002</c:v>
                </c:pt>
                <c:pt idx="5">
                  <c:v>484.291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Below 500 W</c:v>
                </c:pt>
                <c:pt idx="1">
                  <c:v>500 W to Below 1,000 W</c:v>
                </c:pt>
                <c:pt idx="2">
                  <c:v>1,000 W to Below 2,000 W</c:v>
                </c:pt>
                <c:pt idx="3">
                  <c:v>2,000 W and Above</c:v>
                </c:pt>
                <c:pt idx="4">
                  <c:v>Total Absolute $ Opportunity</c:v>
                </c:pt>
              </c:strCache>
            </c:strRef>
          </c:cat>
          <c:val>
            <c:numRef>
              <c:numCache>
                <c:formatCode>General</c:formatCode>
                <c:ptCount val="5"/>
                <c:pt idx="0">
                  <c:v>0.0</c:v>
                </c:pt>
                <c:pt idx="1">
                  <c:v>47.843999999999994</c:v>
                </c:pt>
                <c:pt idx="2">
                  <c:v>62.87199999999999</c:v>
                </c:pt>
                <c:pt idx="3">
                  <c:v>237.38899999999998</c:v>
                </c:pt>
                <c:pt idx="4">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Below 500 W</c:v>
                </c:pt>
                <c:pt idx="1">
                  <c:v>500 W to Below 1,000 W</c:v>
                </c:pt>
                <c:pt idx="2">
                  <c:v>1,000 W to Below 2,000 W</c:v>
                </c:pt>
                <c:pt idx="3">
                  <c:v>2,000 W and Above</c:v>
                </c:pt>
                <c:pt idx="4">
                  <c:v>Total Absolute $ Opportunity</c:v>
                </c:pt>
              </c:strCache>
            </c:strRef>
          </c:cat>
          <c:val>
            <c:numRef>
              <c:numCache>
                <c:formatCode>General</c:formatCode>
                <c:ptCount val="5"/>
                <c:pt idx="0">
                  <c:v>47.843999999999994</c:v>
                </c:pt>
                <c:pt idx="1">
                  <c:v>15.027999999999999</c:v>
                </c:pt>
                <c:pt idx="2">
                  <c:v>174.517</c:v>
                </c:pt>
                <c:pt idx="3">
                  <c:v>98.39700000000002</c:v>
                </c:pt>
                <c:pt idx="4">
                  <c:v>335.786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AC/DC Portable Power Stations</c:v>
                </c:pt>
                <c:pt idx="2">
                  <c:v>DC-Only Portable Battery Systems</c:v>
                </c:pt>
                <c:pt idx="3">
                  <c:v>2036 Total</c:v>
                </c:pt>
              </c:strCache>
            </c:strRef>
          </c:cat>
          <c:val>
            <c:numRef>
              <c:numCache>
                <c:formatCode>General</c:formatCode>
                <c:ptCount val="4"/>
                <c:pt idx="0">
                  <c:v>0.0</c:v>
                </c:pt>
                <c:pt idx="1">
                  <c:v>148.505</c:v>
                </c:pt>
                <c:pt idx="2">
                  <c:v>325.57399999999996</c:v>
                </c:pt>
                <c:pt idx="3">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4"/>
                <c:pt idx="0">
                  <c:v>2026</c:v>
                </c:pt>
                <c:pt idx="1">
                  <c:v>AC/DC Portable Power Stations</c:v>
                </c:pt>
                <c:pt idx="2">
                  <c:v>DC-Only Portable Battery Systems</c:v>
                </c:pt>
                <c:pt idx="3">
                  <c:v>2036 Total</c:v>
                </c:pt>
              </c:strCache>
            </c:strRef>
          </c:cat>
          <c:val>
            <c:numRef>
              <c:numCache>
                <c:formatCode>General</c:formatCode>
                <c:ptCount val="4"/>
                <c:pt idx="0">
                  <c:v>148.505</c:v>
                </c:pt>
                <c:pt idx="1">
                  <c:v>177.069</c:v>
                </c:pt>
                <c:pt idx="2">
                  <c:v>158.71699999999998</c:v>
                </c:pt>
                <c:pt idx="3">
                  <c:v>484.291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AC/DC Portable Power Stations</c:v>
                </c:pt>
                <c:pt idx="1">
                  <c:v>DC-Only Portable Battery Systems</c:v>
                </c:pt>
                <c:pt idx="2">
                  <c:v>Total Absolute $ Opportunity</c:v>
                </c:pt>
              </c:strCache>
            </c:strRef>
          </c:cat>
          <c:val>
            <c:numRef>
              <c:numCache>
                <c:formatCode>General</c:formatCode>
                <c:ptCount val="3"/>
                <c:pt idx="0">
                  <c:v>0.0</c:v>
                </c:pt>
                <c:pt idx="1">
                  <c:v>177.069</c:v>
                </c:pt>
                <c:pt idx="2">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3"/>
                <c:pt idx="0">
                  <c:v>AC/DC Portable Power Stations</c:v>
                </c:pt>
                <c:pt idx="1">
                  <c:v>DC-Only Portable Battery Systems</c:v>
                </c:pt>
                <c:pt idx="2">
                  <c:v>Total Absolute $ Opportunity</c:v>
                </c:pt>
              </c:strCache>
            </c:strRef>
          </c:cat>
          <c:val>
            <c:numRef>
              <c:numCache>
                <c:formatCode>General</c:formatCode>
                <c:ptCount val="3"/>
                <c:pt idx="0">
                  <c:v>177.069</c:v>
                </c:pt>
                <c:pt idx="1">
                  <c:v>158.71699999999998</c:v>
                </c:pt>
                <c:pt idx="2">
                  <c:v>335.78599999999994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Direct-to-Consumer / Manufacturer Direct</c:v>
                </c:pt>
                <c:pt idx="2">
                  <c:v>Online Third-Party Retail</c:v>
                </c:pt>
                <c:pt idx="3">
                  <c:v>Offline Retail &amp; Distributors</c:v>
                </c:pt>
                <c:pt idx="4">
                  <c:v>Direct B2B / Institutional Sales</c:v>
                </c:pt>
                <c:pt idx="5">
                  <c:v>2036 Total</c:v>
                </c:pt>
              </c:strCache>
            </c:strRef>
          </c:cat>
          <c:val>
            <c:numRef>
              <c:numCache>
                <c:formatCode>General</c:formatCode>
                <c:ptCount val="6"/>
                <c:pt idx="0">
                  <c:v>0.0</c:v>
                </c:pt>
                <c:pt idx="1">
                  <c:v>148.505</c:v>
                </c:pt>
                <c:pt idx="2">
                  <c:v>266.304</c:v>
                </c:pt>
                <c:pt idx="3">
                  <c:v>348.57399999999996</c:v>
                </c:pt>
                <c:pt idx="4">
                  <c:v>377.941</c:v>
                </c:pt>
                <c:pt idx="5">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6"/>
                <c:pt idx="0">
                  <c:v>2026</c:v>
                </c:pt>
                <c:pt idx="1">
                  <c:v>Direct-to-Consumer / Manufacturer Direct</c:v>
                </c:pt>
                <c:pt idx="2">
                  <c:v>Online Third-Party Retail</c:v>
                </c:pt>
                <c:pt idx="3">
                  <c:v>Offline Retail &amp; Distributors</c:v>
                </c:pt>
                <c:pt idx="4">
                  <c:v>Direct B2B / Institutional Sales</c:v>
                </c:pt>
                <c:pt idx="5">
                  <c:v>2036 Total</c:v>
                </c:pt>
              </c:strCache>
            </c:strRef>
          </c:cat>
          <c:val>
            <c:numRef>
              <c:numCache>
                <c:formatCode>General</c:formatCode>
                <c:ptCount val="6"/>
                <c:pt idx="0">
                  <c:v>148.505</c:v>
                </c:pt>
                <c:pt idx="1">
                  <c:v>117.799</c:v>
                </c:pt>
                <c:pt idx="2">
                  <c:v>82.27000000000001</c:v>
                </c:pt>
                <c:pt idx="3">
                  <c:v>29.366999999999997</c:v>
                </c:pt>
                <c:pt idx="4">
                  <c:v>106.35</c:v>
                </c:pt>
                <c:pt idx="5">
                  <c:v>484.29100000000005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Direct-to-Consumer / Manufacturer Direct</c:v>
                </c:pt>
                <c:pt idx="1">
                  <c:v>Online Third-Party Retail</c:v>
                </c:pt>
                <c:pt idx="2">
                  <c:v>Offline Retail &amp; Distributors</c:v>
                </c:pt>
                <c:pt idx="3">
                  <c:v>Direct B2B / Institutional Sales</c:v>
                </c:pt>
                <c:pt idx="4">
                  <c:v>Total Absolute $ Opportunity</c:v>
                </c:pt>
              </c:strCache>
            </c:strRef>
          </c:cat>
          <c:val>
            <c:numRef>
              <c:numCache>
                <c:formatCode>General</c:formatCode>
                <c:ptCount val="5"/>
                <c:pt idx="0">
                  <c:v>0.0</c:v>
                </c:pt>
                <c:pt idx="1">
                  <c:v>117.799</c:v>
                </c:pt>
                <c:pt idx="2">
                  <c:v>200.06900000000002</c:v>
                </c:pt>
                <c:pt idx="3">
                  <c:v>229.436</c:v>
                </c:pt>
                <c:pt idx="4">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Direct-to-Consumer / Manufacturer Direct</c:v>
                </c:pt>
                <c:pt idx="1">
                  <c:v>Online Third-Party Retail</c:v>
                </c:pt>
                <c:pt idx="2">
                  <c:v>Offline Retail &amp; Distributors</c:v>
                </c:pt>
                <c:pt idx="3">
                  <c:v>Direct B2B / Institutional Sales</c:v>
                </c:pt>
                <c:pt idx="4">
                  <c:v>Total Absolute $ Opportunity</c:v>
                </c:pt>
              </c:strCache>
            </c:strRef>
          </c:cat>
          <c:val>
            <c:numRef>
              <c:numCache>
                <c:formatCode>General</c:formatCode>
                <c:ptCount val="5"/>
                <c:pt idx="0">
                  <c:v>117.799</c:v>
                </c:pt>
                <c:pt idx="1">
                  <c:v>82.27000000000001</c:v>
                </c:pt>
                <c:pt idx="2">
                  <c:v>29.366999999999997</c:v>
                </c:pt>
                <c:pt idx="3">
                  <c:v>106.35</c:v>
                </c:pt>
                <c:pt idx="4">
                  <c:v>335.786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1,000 Wh to Below 1,500 Wh</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4922.0</c:v>
                </c:pt>
                <c:pt idx="1">
                  <c:v>4956.0</c:v>
                </c:pt>
                <c:pt idx="2">
                  <c:v>4986.0</c:v>
                </c:pt>
                <c:pt idx="3">
                  <c:v>5013.0</c:v>
                </c:pt>
                <c:pt idx="4">
                  <c:v>5038.0</c:v>
                </c:pt>
                <c:pt idx="5">
                  <c:v>5059.0</c:v>
                </c:pt>
                <c:pt idx="6">
                  <c:v>5095.0</c:v>
                </c:pt>
                <c:pt idx="7">
                  <c:v>5125.0</c:v>
                </c:pt>
                <c:pt idx="8">
                  <c:v>5150.0</c:v>
                </c:pt>
                <c:pt idx="9">
                  <c:v>5172.0</c:v>
                </c:pt>
                <c:pt idx="10">
                  <c:v>5194.0</c:v>
                </c:pt>
                <c:pt idx="11">
                  <c:v>5222.0</c:v>
                </c:pt>
                <c:pt idx="12">
                  <c:v>5251.0</c:v>
                </c:pt>
                <c:pt idx="13">
                  <c:v>5281.0</c:v>
                </c:pt>
                <c:pt idx="14">
                  <c:v>5308.0</c:v>
                </c:pt>
                <c:pt idx="15">
                  <c:v>5334.0</c:v>
                </c:pt>
              </c:numCache>
            </c:numRef>
          </c:val>
          <c:smooth val="0"/>
        </c:ser>
        <c:ser>
          <c:idx val="1"/>
          <c:order val="1"/>
          <c:tx>
            <c:strRef>
              <c:strCache>
                <c:ptCount val="1"/>
                <c:pt idx="0">
                  <c:v>500 Wh to Below 1,000 Wh</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4877.0</c:v>
                </c:pt>
                <c:pt idx="1">
                  <c:v>4896.0</c:v>
                </c:pt>
                <c:pt idx="2">
                  <c:v>4917.0</c:v>
                </c:pt>
                <c:pt idx="3">
                  <c:v>4940.0</c:v>
                </c:pt>
                <c:pt idx="4">
                  <c:v>4966.0</c:v>
                </c:pt>
                <c:pt idx="5">
                  <c:v>4993.0</c:v>
                </c:pt>
                <c:pt idx="6">
                  <c:v>5029.0</c:v>
                </c:pt>
                <c:pt idx="7">
                  <c:v>5061.0</c:v>
                </c:pt>
                <c:pt idx="8">
                  <c:v>5091.0</c:v>
                </c:pt>
                <c:pt idx="9">
                  <c:v>5118.0</c:v>
                </c:pt>
                <c:pt idx="10">
                  <c:v>5142.0</c:v>
                </c:pt>
                <c:pt idx="11">
                  <c:v>5163.0</c:v>
                </c:pt>
                <c:pt idx="12">
                  <c:v>5180.0</c:v>
                </c:pt>
                <c:pt idx="13">
                  <c:v>5196.0</c:v>
                </c:pt>
                <c:pt idx="14">
                  <c:v>5210.0</c:v>
                </c:pt>
                <c:pt idx="15">
                  <c:v>5223.0</c:v>
                </c:pt>
              </c:numCache>
            </c:numRef>
          </c:val>
          <c:smooth val="0"/>
        </c:ser>
        <c:ser>
          <c:idx val="2"/>
          <c:order val="2"/>
          <c:tx>
            <c:strRef>
              <c:strCache>
                <c:ptCount val="1"/>
                <c:pt idx="0">
                  <c:v>1,500 Wh to 2,000 Wh</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3157.0</c:v>
                </c:pt>
                <c:pt idx="1">
                  <c:v>3168.0</c:v>
                </c:pt>
                <c:pt idx="2">
                  <c:v>3182.0</c:v>
                </c:pt>
                <c:pt idx="3">
                  <c:v>3198.0</c:v>
                </c:pt>
                <c:pt idx="4">
                  <c:v>3218.0</c:v>
                </c:pt>
                <c:pt idx="5">
                  <c:v>3241.0</c:v>
                </c:pt>
                <c:pt idx="6">
                  <c:v>3264.0</c:v>
                </c:pt>
                <c:pt idx="7">
                  <c:v>3287.0</c:v>
                </c:pt>
                <c:pt idx="8">
                  <c:v>3308.0</c:v>
                </c:pt>
                <c:pt idx="9">
                  <c:v>3326.0</c:v>
                </c:pt>
                <c:pt idx="10">
                  <c:v>3342.0</c:v>
                </c:pt>
                <c:pt idx="11">
                  <c:v>3359.0</c:v>
                </c:pt>
                <c:pt idx="12">
                  <c:v>3372.0</c:v>
                </c:pt>
                <c:pt idx="13">
                  <c:v>3387.0</c:v>
                </c:pt>
                <c:pt idx="14">
                  <c:v>3398.0</c:v>
                </c:pt>
                <c:pt idx="15">
                  <c:v>3409.0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500.0"/>
          <c:min val="30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C55A11"/>
              </a:solidFill>
            </c:spPr>
          </c:dPt>
          <c:dPt>
            <c:idx val="2"/>
            <c:spPr>
              <a:solidFill>
                <a:srgbClr val="C55A11"/>
              </a:solidFill>
            </c:spPr>
          </c:dPt>
          <c:cat>
            <c:strRef>
              <c:strCache>
                <c:ptCount val="3"/>
                <c:pt idx="0">
                  <c:v>1,500 Wh to 2,000 Wh</c:v>
                </c:pt>
                <c:pt idx="1">
                  <c:v>500 Wh to Below 1,000 Wh</c:v>
                </c:pt>
                <c:pt idx="2">
                  <c:v>1,000 Wh to Below 1,500 Wh</c:v>
                </c:pt>
              </c:strCache>
            </c:strRef>
          </c:cat>
          <c:val>
            <c:numRef>
              <c:numCache>
                <c:formatCode>General</c:formatCode>
                <c:ptCount val="3"/>
                <c:pt idx="0">
                  <c:v>79.0</c:v>
                </c:pt>
                <c:pt idx="1">
                  <c:v>121.8</c:v>
                </c:pt>
                <c:pt idx="2">
                  <c:v>123.4</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5.0"/>
          <c:min val="76.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113.7</c:v>
                </c:pt>
                <c:pt idx="1">
                  <c:v>102.6</c:v>
                </c:pt>
                <c:pt idx="2">
                  <c:v>84.3</c:v>
                </c:pt>
                <c:pt idx="3">
                  <c:v>79.7</c:v>
                </c:pt>
                <c:pt idx="4">
                  <c:v>74.5</c:v>
                </c:pt>
                <c:pt idx="5">
                  <c:v>57.2</c:v>
                </c:pt>
                <c:pt idx="6">
                  <c:v>51.5</c:v>
                </c:pt>
              </c:numCache>
            </c:numRef>
          </c:val>
        </c:ser>
        <c:ser>
          <c:idx val="1"/>
          <c:order val="1"/>
          <c:tx>
            <c:strRef>
              <c:strCache>
                <c:ptCount val="1"/>
                <c:pt idx="0">
                  <c:v>Range</c:v>
                </c:pt>
              </c:strCache>
            </c:strRef>
          </c:tx>
          <c:spPr>
            <a:solidFill>
              <a:srgbClr val="008189"/>
            </a:solidFill>
          </c:spPr>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65.6</c:v>
                </c:pt>
                <c:pt idx="1">
                  <c:v>59.8</c:v>
                </c:pt>
                <c:pt idx="2">
                  <c:v>48.4</c:v>
                </c:pt>
                <c:pt idx="3">
                  <c:v>46.2</c:v>
                </c:pt>
                <c:pt idx="4">
                  <c:v>43.2</c:v>
                </c:pt>
                <c:pt idx="5">
                  <c:v>32.6</c:v>
                </c:pt>
                <c:pt idx="6">
                  <c:v>30.0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80.0"/>
          <c:min val="5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16.616982878130067</c:v>
                </c:pt>
                <c:pt idx="1">
                  <c:v>15.838373751146179</c:v>
                </c:pt>
                <c:pt idx="2">
                  <c:v>12.226323321243271</c:v>
                </c:pt>
                <c:pt idx="3">
                  <c:v>7.956018792951126</c:v>
                </c:pt>
                <c:pt idx="4">
                  <c:v>5.814138033935408</c:v>
                </c:pt>
                <c:pt idx="5">
                  <c:v>5.618762435113716</c:v>
                </c:pt>
                <c:pt idx="6">
                  <c:v>5.851259038190951</c:v>
                </c:pt>
                <c:pt idx="7">
                  <c:v>4.7673503513720465</c:v>
                </c:pt>
                <c:pt idx="8">
                  <c:v>3.1905899020099824</c:v>
                </c:pt>
                <c:pt idx="9">
                  <c:v>1.9266097914653113</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12.277342054809253</c:v>
                </c:pt>
                <c:pt idx="1">
                  <c:v>13.690739899912854</c:v>
                </c:pt>
                <c:pt idx="2">
                  <c:v>12.746747202028219</c:v>
                </c:pt>
                <c:pt idx="3">
                  <c:v>8.828457775638867</c:v>
                </c:pt>
                <c:pt idx="4">
                  <c:v>5.797327124799776</c:v>
                </c:pt>
                <c:pt idx="5">
                  <c:v>5.233968424734535</c:v>
                </c:pt>
                <c:pt idx="6">
                  <c:v>5.52655704763196</c:v>
                </c:pt>
                <c:pt idx="7">
                  <c:v>4.3841208278942325</c:v>
                </c:pt>
                <c:pt idx="8">
                  <c:v>2.769789917176935</c:v>
                </c:pt>
                <c:pt idx="9">
                  <c:v>1.8123878782605</c:v>
                </c:pt>
                <c:pt idx="10">
                  <c:v>26.932561847112876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EcoFlow</c:v>
                </c:pt>
                <c:pt idx="1">
                  <c:v>Business Overview</c:v>
                </c:pt>
                <c:pt idx="2">
                  <c:v>Relevant Portfolio</c:v>
                </c:pt>
                <c:pt idx="3">
                  <c:v>Footprint</c:v>
                </c:pt>
                <c:pt idx="4">
                  <c:v>Pricing</c:v>
                </c:pt>
                <c:pt idx="5">
                  <c:v>SWOT</c:v>
                </c:pt>
                <c:pt idx="6">
                  <c:v>Developments</c:v>
                </c:pt>
                <c:pt idx="7">
                  <c:v>Jackery</c:v>
                </c:pt>
                <c:pt idx="8">
                  <c:v>BLUETTI</c:v>
                </c:pt>
                <c:pt idx="9">
                  <c:v>Goal Zero</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Portable Backup Power</c:v>
                </c:pt>
                <c:pt idx="1">
                  <c:v>Outdoor &amp; Recreational Power</c:v>
                </c:pt>
                <c:pt idx="2">
                  <c:v>Off-Grid &amp; Remote Power</c:v>
                </c:pt>
                <c:pt idx="3">
                  <c:v>Professional &amp; Specialized Portable Power</c:v>
                </c:pt>
              </c:strCache>
            </c:strRef>
          </c:cat>
          <c:val>
            <c:numRef>
              <c:numCache>
                <c:formatCode>General</c:formatCode>
                <c:ptCount val="4"/>
                <c:pt idx="0">
                  <c:v>83.90185778125964</c:v>
                </c:pt>
                <c:pt idx="1">
                  <c:v>46.677577072824086</c:v>
                </c:pt>
                <c:pt idx="2">
                  <c:v>58.75378174034912</c:v>
                </c:pt>
                <c:pt idx="3">
                  <c:v>110.99144084920528</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46.50870192095098"/>
          <c:min val="0.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99.7021728331371</c:v>
                </c:pt>
                <c:pt idx="1">
                  <c:v>60.68849061834336</c:v>
                </c:pt>
                <c:pt idx="2">
                  <c:v>32.72754365716388</c:v>
                </c:pt>
                <c:pt idx="3">
                  <c:v>36.97961916524462</c:v>
                </c:pt>
                <c:pt idx="4">
                  <c:v>70.22683116974915</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1.60686813974098"/>
          <c:min val="0.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1,500 Wh to 2,000 Wh</c:v>
                </c:pt>
                <c:pt idx="1">
                  <c:v>1,000 Wh to Below 1,500 Wh</c:v>
                </c:pt>
                <c:pt idx="2">
                  <c:v>500 Wh to Below 1,000 Wh</c:v>
                </c:pt>
              </c:strCache>
            </c:strRef>
          </c:cat>
          <c:val>
            <c:numRef>
              <c:numCache>
                <c:formatCode>General</c:formatCode>
                <c:ptCount val="3"/>
                <c:pt idx="0">
                  <c:v>60.27509030426803</c:v>
                </c:pt>
                <c:pt idx="1">
                  <c:v>83.79638407721222</c:v>
                </c:pt>
                <c:pt idx="2">
                  <c:v>156.25318306215783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304.200468</c:v>
                </c:pt>
                <c:pt idx="1">
                  <c:v>273.44648101404925</c:v>
                </c:pt>
                <c:pt idx="2">
                  <c:v>199.83947588352385</c:v>
                </c:pt>
                <c:pt idx="3">
                  <c:v>128.02847421069805</c:v>
                </c:pt>
                <c:pt idx="4">
                  <c:v>101.57306600042702</c:v>
                </c:pt>
              </c:numCache>
            </c:numRef>
          </c:val>
        </c:ser>
        <c:ser>
          <c:idx val="1"/>
          <c:order val="1"/>
          <c:tx>
            <c:strRef>
              <c:strCache>
                <c:ptCount val="1"/>
                <c:pt idx="0">
                  <c:v>SOM</c:v>
                </c:pt>
              </c:strCache>
            </c:strRef>
          </c:tx>
          <c:spPr>
            <a:solidFill>
              <a:srgbClr val="00A4DC"/>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99.7021728331371</c:v>
                </c:pt>
                <c:pt idx="1">
                  <c:v>60.68849061834336</c:v>
                </c:pt>
                <c:pt idx="2">
                  <c:v>32.72754365716388</c:v>
                </c:pt>
                <c:pt idx="3">
                  <c:v>36.97961916524462</c:v>
                </c:pt>
                <c:pt idx="4">
                  <c:v>70.22683116974915</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89.37659904000003"/>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Global Lithium Polymer Portable Energy Storage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By Energy Storage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By Battery Chemistry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By Battery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By System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By Output Power Rating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By System Architecture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North America Lithium Polymer Portable Energy Storage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By Energy Storage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Energy Storage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By Battery Chemistry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Chemistry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By Battery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Battery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By System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By Output Power Rating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Output Power Rating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By System Architecture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System Architecture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Overview Key Segments (Value)  (1/2)</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Overview Key Segments (Value)  (2/2)</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Energy Storage Capacity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Energy Storage Capacity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Battery Chemistry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Battery Chemistry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Battery Configuration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Battery Configuration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System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System Application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Output Power Rating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Output Power Rating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System Architecture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System Architecture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Country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Company Profiles &amp; Strategic Benchmarking EcoFlow Snapshot</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Company Profiles &amp; Strategic Benchmarking EcoFlow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Company Profiles &amp; Strategic Benchmarking EcoFlow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Company Profiles &amp; Strategic Benchmarking EcoFlow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Competitor Company Profiles &amp; Strategic Benchmarking EcoFlow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(1/7)</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(2/7)</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(3/7)</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(4/7)</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(5/7)</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(6/7)</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Table of Contents  (7/7)</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Lithium Polymer Portable Energy Storage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4.jpg"/><Relationship Id="rId3" Type="http://schemas.openxmlformats.org/officeDocument/2006/relationships/image" Target="../media/image815.png"/><Relationship Id="rId4" Type="http://schemas.openxmlformats.org/officeDocument/2006/relationships/image" Target="../media/image8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8.xml"/><Relationship Id="rId8" Type="http://schemas.openxmlformats.org/officeDocument/2006/relationships/slide" Target="slide27.xml"/><Relationship Id="rId9" Type="http://schemas.openxmlformats.org/officeDocument/2006/relationships/slide" Target="slide28.xml"/><Relationship Id="rId10" Type="http://schemas.openxmlformats.org/officeDocument/2006/relationships/slide" Target="slide39.xml"/><Relationship Id="rId11" Type="http://schemas.openxmlformats.org/officeDocument/2006/relationships/slide" Target="slide47.xml"/><Relationship Id="rId12" Type="http://schemas.openxmlformats.org/officeDocument/2006/relationships/slide" Target="slide90.xml"/><Relationship Id="rId13" Type="http://schemas.openxmlformats.org/officeDocument/2006/relationships/slide" Target="slide91.xml"/><Relationship Id="rId14" Type="http://schemas.openxmlformats.org/officeDocument/2006/relationships/slide" Target="slide101.xml"/><Relationship Id="rId15" Type="http://schemas.openxmlformats.org/officeDocument/2006/relationships/slide" Target="slide109.xml"/><Relationship Id="rId16" Type="http://schemas.openxmlformats.org/officeDocument/2006/relationships/slide" Target="slide152.xml"/><Relationship Id="rId17" Type="http://schemas.openxmlformats.org/officeDocument/2006/relationships/slide" Target="slide153.xml"/><Relationship Id="rId18" Type="http://schemas.openxmlformats.org/officeDocument/2006/relationships/slide" Target="slide158.xml"/><Relationship Id="rId19" Type="http://schemas.openxmlformats.org/officeDocument/2006/relationships/slide" Target="slide180.xml"/><Relationship Id="rId20" Type="http://schemas.openxmlformats.org/officeDocument/2006/relationships/slide" Target="slide181.xml"/><Relationship Id="rId21" Type="http://schemas.openxmlformats.org/officeDocument/2006/relationships/slide" Target="slide193.xml"/><Relationship Id="rId22" Type="http://schemas.openxmlformats.org/officeDocument/2006/relationships/slide" Target="slide197.xml"/><Relationship Id="rId23" Type="http://schemas.openxmlformats.org/officeDocument/2006/relationships/slide" Target="slide198.xml"/><Relationship Id="rId24" Type="http://schemas.openxmlformats.org/officeDocument/2006/relationships/slide" Target="slide206.xml"/><Relationship Id="rId25" Type="http://schemas.openxmlformats.org/officeDocument/2006/relationships/slide" Target="slide219.xml"/><Relationship Id="rId26" Type="http://schemas.openxmlformats.org/officeDocument/2006/relationships/slide" Target="slide207.xml"/><Relationship Id="rId27" Type="http://schemas.openxmlformats.org/officeDocument/2006/relationships/slide" Target="slide2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 Id="rId14" Type="http://schemas.openxmlformats.org/officeDocument/2006/relationships/image" Target="../media/image65.png"/><Relationship Id="rId15" Type="http://schemas.openxmlformats.org/officeDocument/2006/relationships/image" Target="../media/image66.png"/><Relationship Id="rId16" Type="http://schemas.openxmlformats.org/officeDocument/2006/relationships/image" Target="../media/image67.png"/><Relationship Id="rId17" Type="http://schemas.openxmlformats.org/officeDocument/2006/relationships/image" Target="../media/image68.png"/><Relationship Id="rId18" Type="http://schemas.openxmlformats.org/officeDocument/2006/relationships/image" Target="../media/image69.png"/><Relationship Id="rId19" Type="http://schemas.openxmlformats.org/officeDocument/2006/relationships/image" Target="../media/image70.png"/><Relationship Id="rId20" Type="http://schemas.openxmlformats.org/officeDocument/2006/relationships/image" Target="../media/image71.png"/><Relationship Id="rId21" Type="http://schemas.openxmlformats.org/officeDocument/2006/relationships/image" Target="../media/image72.png"/><Relationship Id="rId22" Type="http://schemas.openxmlformats.org/officeDocument/2006/relationships/image" Target="../media/image73.png"/><Relationship Id="rId23" Type="http://schemas.openxmlformats.org/officeDocument/2006/relationships/image" Target="../media/image74.png"/><Relationship Id="rId2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24.png"/><Relationship Id="rId7" Type="http://schemas.openxmlformats.org/officeDocument/2006/relationships/image" Target="../media/image34.png"/><Relationship Id="rId8" Type="http://schemas.openxmlformats.org/officeDocument/2006/relationships/image" Target="../media/image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3.png"/><Relationship Id="rId5" Type="http://schemas.openxmlformats.org/officeDocument/2006/relationships/image" Target="../media/image54.png"/><Relationship Id="rId6" Type="http://schemas.openxmlformats.org/officeDocument/2006/relationships/image" Target="../media/image69.png"/><Relationship Id="rId7" Type="http://schemas.openxmlformats.org/officeDocument/2006/relationships/image" Target="../media/image104.png"/><Relationship Id="rId8" Type="http://schemas.openxmlformats.org/officeDocument/2006/relationships/image" Target="../media/image53.png"/><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image" Target="../media/image52.png"/><Relationship Id="rId12" Type="http://schemas.openxmlformats.org/officeDocument/2006/relationships/image" Target="../media/image60.png"/><Relationship Id="rId1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notesSlide" Target="../notesSlides/notesSlide26.xml"/><Relationship Id="rId7"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notesSlide" Target="../notesSlides/notesSlide29.xml"/><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 Id="rId8" Type="http://schemas.openxmlformats.org/officeDocument/2006/relationships/image" Target="../media/image141.png"/><Relationship Id="rId9"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image" Target="../media/image145.png"/><Relationship Id="rId13" Type="http://schemas.openxmlformats.org/officeDocument/2006/relationships/image" Target="../media/image146.png"/><Relationship Id="rId14" Type="http://schemas.openxmlformats.org/officeDocument/2006/relationships/image" Target="../media/image147.png"/><Relationship Id="rId15" Type="http://schemas.openxmlformats.org/officeDocument/2006/relationships/image" Target="../media/image148.png"/><Relationship Id="rId16"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33.xml"/><Relationship Id="rId6"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chart" Target="../charts/chart25.xml"/><Relationship Id="rId6" Type="http://schemas.openxmlformats.org/officeDocument/2006/relationships/chart" Target="../charts/chart26.xml"/><Relationship Id="rId7" Type="http://schemas.openxmlformats.org/officeDocument/2006/relationships/notesSlide" Target="../notesSlides/notesSlide34.xml"/><Relationship Id="rId8"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notesSlide" Target="../notesSlides/notesSlide37.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188.png"/><Relationship Id="rId5" Type="http://schemas.openxmlformats.org/officeDocument/2006/relationships/image" Target="../media/image189.png"/><Relationship Id="rId6" Type="http://schemas.openxmlformats.org/officeDocument/2006/relationships/image" Target="../media/image190.png"/><Relationship Id="rId7" Type="http://schemas.openxmlformats.org/officeDocument/2006/relationships/image" Target="../media/image191.png"/><Relationship Id="rId8" Type="http://schemas.openxmlformats.org/officeDocument/2006/relationships/image" Target="../media/image192.png"/><Relationship Id="rId9" Type="http://schemas.openxmlformats.org/officeDocument/2006/relationships/image" Target="../media/image148.png"/><Relationship Id="rId10"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notesSlide" Target="../notesSlides/notesSlide41.xml"/><Relationship Id="rId6"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42.xml"/><Relationship Id="rId6"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45.xml"/><Relationship Id="rId5"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image" Target="../media/image216.png"/><Relationship Id="rId8" Type="http://schemas.openxmlformats.org/officeDocument/2006/relationships/image" Target="../media/image217.png"/><Relationship Id="rId9" Type="http://schemas.openxmlformats.org/officeDocument/2006/relationships/image" Target="../media/image218.png"/><Relationship Id="rId10" Type="http://schemas.openxmlformats.org/officeDocument/2006/relationships/image" Target="../media/image219.png"/><Relationship Id="rId11" Type="http://schemas.openxmlformats.org/officeDocument/2006/relationships/image" Target="../media/image220.png"/><Relationship Id="rId12" Type="http://schemas.openxmlformats.org/officeDocument/2006/relationships/image" Target="../media/image57.png"/><Relationship Id="rId13" Type="http://schemas.openxmlformats.org/officeDocument/2006/relationships/image" Target="../media/image221.png"/><Relationship Id="rId14" Type="http://schemas.openxmlformats.org/officeDocument/2006/relationships/image" Target="../media/image222.png"/><Relationship Id="rId15" Type="http://schemas.openxmlformats.org/officeDocument/2006/relationships/image" Target="../media/image223.png"/><Relationship Id="rId16"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49.xml"/><Relationship Id="rId6"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chart" Target="../charts/chart38.xml"/><Relationship Id="rId7" Type="http://schemas.openxmlformats.org/officeDocument/2006/relationships/notesSlide" Target="../notesSlides/notesSlide50.xml"/><Relationship Id="rId8"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53.xml"/><Relationship Id="rId5"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 Id="rId4" Type="http://schemas.openxmlformats.org/officeDocument/2006/relationships/image" Target="../media/image262.png"/><Relationship Id="rId5" Type="http://schemas.openxmlformats.org/officeDocument/2006/relationships/image" Target="../media/image263.png"/><Relationship Id="rId6" Type="http://schemas.openxmlformats.org/officeDocument/2006/relationships/image" Target="../media/image264.png"/><Relationship Id="rId7" Type="http://schemas.openxmlformats.org/officeDocument/2006/relationships/image" Target="../media/image265.png"/><Relationship Id="rId8" Type="http://schemas.openxmlformats.org/officeDocument/2006/relationships/image" Target="../media/image266.png"/><Relationship Id="rId9" Type="http://schemas.openxmlformats.org/officeDocument/2006/relationships/image" Target="../media/image267.png"/><Relationship Id="rId10" Type="http://schemas.openxmlformats.org/officeDocument/2006/relationships/image" Target="../media/image268.png"/><Relationship Id="rId11" Type="http://schemas.openxmlformats.org/officeDocument/2006/relationships/image" Target="../media/image269.png"/><Relationship Id="rId12" Type="http://schemas.openxmlformats.org/officeDocument/2006/relationships/image" Target="../media/image148.png"/><Relationship Id="rId13" Type="http://schemas.openxmlformats.org/officeDocument/2006/relationships/image" Target="../media/image270.png"/><Relationship Id="rId14" Type="http://schemas.openxmlformats.org/officeDocument/2006/relationships/image" Target="../media/image271.png"/><Relationship Id="rId15" Type="http://schemas.openxmlformats.org/officeDocument/2006/relationships/image" Target="../media/image272.png"/><Relationship Id="rId16"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59.xml"/><Relationship Id="rId6"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chart" Target="../charts/chart45.xml"/><Relationship Id="rId7" Type="http://schemas.openxmlformats.org/officeDocument/2006/relationships/notesSlide" Target="../notesSlides/notesSlide60.xml"/><Relationship Id="rId8"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notesSlide" Target="../notesSlides/notesSlide63.xml"/><Relationship Id="rId5"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 Id="rId4" Type="http://schemas.openxmlformats.org/officeDocument/2006/relationships/image" Target="../media/image312.png"/><Relationship Id="rId5" Type="http://schemas.openxmlformats.org/officeDocument/2006/relationships/image" Target="../media/image313.png"/><Relationship Id="rId6" Type="http://schemas.openxmlformats.org/officeDocument/2006/relationships/image" Target="../media/image215.png"/><Relationship Id="rId7" Type="http://schemas.openxmlformats.org/officeDocument/2006/relationships/image" Target="../media/image314.png"/><Relationship Id="rId8" Type="http://schemas.openxmlformats.org/officeDocument/2006/relationships/image" Target="../media/image315.png"/><Relationship Id="rId9" Type="http://schemas.openxmlformats.org/officeDocument/2006/relationships/image" Target="../media/image57.png"/><Relationship Id="rId10"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notesSlide" Target="../notesSlides/notesSlide67.xml"/><Relationship Id="rId6"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68.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71.xml"/><Relationship Id="rId5"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40.png"/><Relationship Id="rId11" Type="http://schemas.openxmlformats.org/officeDocument/2006/relationships/image" Target="../media/image341.png"/><Relationship Id="rId12" Type="http://schemas.openxmlformats.org/officeDocument/2006/relationships/image" Target="../media/image342.png"/><Relationship Id="rId13" Type="http://schemas.openxmlformats.org/officeDocument/2006/relationships/image" Target="../media/image343.png"/><Relationship Id="rId14" Type="http://schemas.openxmlformats.org/officeDocument/2006/relationships/image" Target="../media/image344.png"/><Relationship Id="rId15" Type="http://schemas.openxmlformats.org/officeDocument/2006/relationships/image" Target="../media/image148.png"/><Relationship Id="rId16"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notesSlide" Target="../notesSlides/notesSlide75.xml"/><Relationship Id="rId6"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chart" Target="../charts/chart56.xml"/><Relationship Id="rId6" Type="http://schemas.openxmlformats.org/officeDocument/2006/relationships/chart" Target="../charts/chart57.xml"/><Relationship Id="rId7" Type="http://schemas.openxmlformats.org/officeDocument/2006/relationships/notesSlide" Target="../notesSlides/notesSlide76.xml"/><Relationship Id="rId8"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notesSlide" Target="../notesSlides/notesSlide79.xml"/><Relationship Id="rId5"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notesSlide" Target="../notesSlides/notesSlide83.xml"/><Relationship Id="rId6"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notesSlide" Target="../notesSlides/notesSlide85.xml"/><Relationship Id="rId6"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chart" Target="../charts/chart64.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87.xml"/><Relationship Id="rId6"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notesSlide" Target="../notesSlides/notesSlide89.xml"/><Relationship Id="rId5"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notesSlide" Target="../notesSlides/notesSlide91.xml"/><Relationship Id="rId5"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93.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notesSlide" Target="../notesSlides/notesSlide94.xml"/><Relationship Id="rId5"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chart" Target="../charts/chart72.xml"/><Relationship Id="rId5" Type="http://schemas.openxmlformats.org/officeDocument/2006/relationships/notesSlide" Target="../notesSlides/notesSlide97.xml"/><Relationship Id="rId6"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536.png"/><Relationship Id="rId5" Type="http://schemas.openxmlformats.org/officeDocument/2006/relationships/image" Target="../media/image427.png"/><Relationship Id="rId6" Type="http://schemas.openxmlformats.org/officeDocument/2006/relationships/image" Target="../media/image537.png"/><Relationship Id="rId7" Type="http://schemas.openxmlformats.org/officeDocument/2006/relationships/image" Target="../media/image538.png"/><Relationship Id="rId8" Type="http://schemas.openxmlformats.org/officeDocument/2006/relationships/image" Target="../media/image426.png"/><Relationship Id="rId9" Type="http://schemas.openxmlformats.org/officeDocument/2006/relationships/image" Target="../media/image539.png"/><Relationship Id="rId10" Type="http://schemas.openxmlformats.org/officeDocument/2006/relationships/image" Target="../media/image540.png"/><Relationship Id="rId11" Type="http://schemas.openxmlformats.org/officeDocument/2006/relationships/image" Target="../media/image425.png"/><Relationship Id="rId12" Type="http://schemas.openxmlformats.org/officeDocument/2006/relationships/image" Target="../media/image69.png"/><Relationship Id="rId13"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chart" Target="../charts/chart77.xml"/><Relationship Id="rId6" Type="http://schemas.openxmlformats.org/officeDocument/2006/relationships/notesSlide" Target="../notesSlides/notesSlide101.xml"/><Relationship Id="rId7"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notesSlide" Target="../notesSlides/notesSlide104.xml"/><Relationship Id="rId5"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 Id="rId4" Type="http://schemas.openxmlformats.org/officeDocument/2006/relationships/image" Target="../media/image36.png"/><Relationship Id="rId5" Type="http://schemas.openxmlformats.org/officeDocument/2006/relationships/image" Target="../media/image559.png"/><Relationship Id="rId6" Type="http://schemas.openxmlformats.org/officeDocument/2006/relationships/image" Target="../media/image218.png"/><Relationship Id="rId7" Type="http://schemas.openxmlformats.org/officeDocument/2006/relationships/image" Target="../media/image560.png"/><Relationship Id="rId8" Type="http://schemas.openxmlformats.org/officeDocument/2006/relationships/image" Target="../media/image561.png"/><Relationship Id="rId9" Type="http://schemas.openxmlformats.org/officeDocument/2006/relationships/image" Target="../media/image562.png"/><Relationship Id="rId10" Type="http://schemas.openxmlformats.org/officeDocument/2006/relationships/image" Target="../media/image449.png"/><Relationship Id="rId11" Type="http://schemas.openxmlformats.org/officeDocument/2006/relationships/image" Target="../media/image563.png"/><Relationship Id="rId12" Type="http://schemas.openxmlformats.org/officeDocument/2006/relationships/image" Target="../media/image564.png"/><Relationship Id="rId13" Type="http://schemas.openxmlformats.org/officeDocument/2006/relationships/image" Target="../media/image125.png"/><Relationship Id="rId14" Type="http://schemas.openxmlformats.org/officeDocument/2006/relationships/image" Target="../media/image565.png"/><Relationship Id="rId15" Type="http://schemas.openxmlformats.org/officeDocument/2006/relationships/image" Target="../media/image190.png"/><Relationship Id="rId16"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notesSlide" Target="../notesSlides/notesSlide108.xml"/><Relationship Id="rId6"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chart" Target="../charts/chart83.xml"/><Relationship Id="rId6" Type="http://schemas.openxmlformats.org/officeDocument/2006/relationships/chart" Target="../charts/chart84.xml"/><Relationship Id="rId7" Type="http://schemas.openxmlformats.org/officeDocument/2006/relationships/notesSlide" Target="../notesSlides/notesSlide109.xml"/><Relationship Id="rId8"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notesSlide" Target="../notesSlides/notesSlide112.xml"/><Relationship Id="rId5"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 Id="rId4" Type="http://schemas.openxmlformats.org/officeDocument/2006/relationships/image" Target="../media/image71.png"/><Relationship Id="rId5" Type="http://schemas.openxmlformats.org/officeDocument/2006/relationships/image" Target="../media/image590.png"/><Relationship Id="rId6" Type="http://schemas.openxmlformats.org/officeDocument/2006/relationships/image" Target="../media/image591.png"/><Relationship Id="rId7" Type="http://schemas.openxmlformats.org/officeDocument/2006/relationships/image" Target="../media/image592.png"/><Relationship Id="rId8" Type="http://schemas.openxmlformats.org/officeDocument/2006/relationships/image" Target="../media/image593.png"/><Relationship Id="rId9" Type="http://schemas.openxmlformats.org/officeDocument/2006/relationships/image" Target="../media/image594.png"/><Relationship Id="rId10"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notesSlide" Target="../notesSlides/notesSlide116.xml"/><Relationship Id="rId6"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notesSlide" Target="../notesSlides/notesSlide117.xml"/><Relationship Id="rId6"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notesSlide" Target="../notesSlides/notesSlide120.xml"/><Relationship Id="rId5"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image" Target="../media/image607.png"/><Relationship Id="rId5" Type="http://schemas.openxmlformats.org/officeDocument/2006/relationships/image" Target="../media/image608.png"/><Relationship Id="rId6" Type="http://schemas.openxmlformats.org/officeDocument/2006/relationships/image" Target="../media/image609.png"/><Relationship Id="rId7" Type="http://schemas.openxmlformats.org/officeDocument/2006/relationships/image" Target="../media/image610.png"/><Relationship Id="rId8" Type="http://schemas.openxmlformats.org/officeDocument/2006/relationships/image" Target="../media/image611.png"/><Relationship Id="rId9" Type="http://schemas.openxmlformats.org/officeDocument/2006/relationships/image" Target="../media/image612.png"/><Relationship Id="rId10" Type="http://schemas.openxmlformats.org/officeDocument/2006/relationships/image" Target="../media/image248.png"/><Relationship Id="rId11" Type="http://schemas.openxmlformats.org/officeDocument/2006/relationships/image" Target="../media/image613.png"/><Relationship Id="rId12" Type="http://schemas.openxmlformats.org/officeDocument/2006/relationships/image" Target="../media/image63.png"/><Relationship Id="rId13" Type="http://schemas.openxmlformats.org/officeDocument/2006/relationships/image" Target="../media/image614.png"/><Relationship Id="rId14" Type="http://schemas.openxmlformats.org/officeDocument/2006/relationships/image" Target="../media/image468.png"/><Relationship Id="rId15" Type="http://schemas.openxmlformats.org/officeDocument/2006/relationships/image" Target="../media/image615.png"/><Relationship Id="rId16"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notesSlide" Target="../notesSlides/notesSlide124.xml"/><Relationship Id="rId6"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chart" Target="../charts/chart95.xml"/><Relationship Id="rId6" Type="http://schemas.openxmlformats.org/officeDocument/2006/relationships/chart" Target="../charts/chart96.xml"/><Relationship Id="rId7" Type="http://schemas.openxmlformats.org/officeDocument/2006/relationships/notesSlide" Target="../notesSlides/notesSlide125.xml"/><Relationship Id="rId8"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notesSlide" Target="../notesSlides/notesSlide128.xml"/><Relationship Id="rId5"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image" Target="../media/image640.png"/><Relationship Id="rId5" Type="http://schemas.openxmlformats.org/officeDocument/2006/relationships/image" Target="../media/image641.png"/><Relationship Id="rId6" Type="http://schemas.openxmlformats.org/officeDocument/2006/relationships/image" Target="../media/image342.png"/><Relationship Id="rId7" Type="http://schemas.openxmlformats.org/officeDocument/2006/relationships/image" Target="../media/image642.png"/><Relationship Id="rId8" Type="http://schemas.openxmlformats.org/officeDocument/2006/relationships/image" Target="../media/image643.png"/><Relationship Id="rId9" Type="http://schemas.openxmlformats.org/officeDocument/2006/relationships/image" Target="../media/image564.png"/><Relationship Id="rId10" Type="http://schemas.openxmlformats.org/officeDocument/2006/relationships/image" Target="../media/image178.png"/><Relationship Id="rId11" Type="http://schemas.openxmlformats.org/officeDocument/2006/relationships/image" Target="../media/image644.png"/><Relationship Id="rId12" Type="http://schemas.openxmlformats.org/officeDocument/2006/relationships/image" Target="../media/image645.png"/><Relationship Id="rId13" Type="http://schemas.openxmlformats.org/officeDocument/2006/relationships/image" Target="../media/image423.png"/><Relationship Id="rId14" Type="http://schemas.openxmlformats.org/officeDocument/2006/relationships/image" Target="../media/image646.png"/><Relationship Id="rId15" Type="http://schemas.openxmlformats.org/officeDocument/2006/relationships/image" Target="../media/image223.png"/><Relationship Id="rId1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chart" Target="../charts/chart99.xml"/><Relationship Id="rId5" Type="http://schemas.openxmlformats.org/officeDocument/2006/relationships/notesSlide" Target="../notesSlides/notesSlide134.xml"/><Relationship Id="rId6"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chart" Target="../charts/chart102.xml"/><Relationship Id="rId6" Type="http://schemas.openxmlformats.org/officeDocument/2006/relationships/chart" Target="../charts/chart103.xml"/><Relationship Id="rId7" Type="http://schemas.openxmlformats.org/officeDocument/2006/relationships/notesSlide" Target="../notesSlides/notesSlide135.xml"/><Relationship Id="rId8"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 Id="rId4"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notesSlide" Target="../notesSlides/notesSlide138.xml"/><Relationship Id="rId5"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 Id="rId4" Type="http://schemas.openxmlformats.org/officeDocument/2006/relationships/image" Target="../media/image671.png"/><Relationship Id="rId5" Type="http://schemas.openxmlformats.org/officeDocument/2006/relationships/image" Target="../media/image672.png"/><Relationship Id="rId6" Type="http://schemas.openxmlformats.org/officeDocument/2006/relationships/image" Target="../media/image609.png"/><Relationship Id="rId7" Type="http://schemas.openxmlformats.org/officeDocument/2006/relationships/image" Target="../media/image673.png"/><Relationship Id="rId8" Type="http://schemas.openxmlformats.org/officeDocument/2006/relationships/image" Target="../media/image674.png"/><Relationship Id="rId9" Type="http://schemas.openxmlformats.org/officeDocument/2006/relationships/image" Target="../media/image63.png"/><Relationship Id="rId10"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chart" Target="../charts/chart106.xml"/><Relationship Id="rId5" Type="http://schemas.openxmlformats.org/officeDocument/2006/relationships/notesSlide" Target="../notesSlides/notesSlide142.xml"/><Relationship Id="rId6"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notesSlide" Target="../notesSlides/notesSlide143.xml"/><Relationship Id="rId6"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notesSlide" Target="../notesSlides/notesSlide146.xml"/><Relationship Id="rId5"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687.png"/><Relationship Id="rId5" Type="http://schemas.openxmlformats.org/officeDocument/2006/relationships/image" Target="../media/image688.png"/><Relationship Id="rId6" Type="http://schemas.openxmlformats.org/officeDocument/2006/relationships/image" Target="../media/image689.png"/><Relationship Id="rId7" Type="http://schemas.openxmlformats.org/officeDocument/2006/relationships/image" Target="../media/image690.png"/><Relationship Id="rId8" Type="http://schemas.openxmlformats.org/officeDocument/2006/relationships/image" Target="../media/image691.png"/><Relationship Id="rId9" Type="http://schemas.openxmlformats.org/officeDocument/2006/relationships/image" Target="../media/image692.png"/><Relationship Id="rId10" Type="http://schemas.openxmlformats.org/officeDocument/2006/relationships/image" Target="../media/image509.png"/><Relationship Id="rId11" Type="http://schemas.openxmlformats.org/officeDocument/2006/relationships/image" Target="../media/image693.png"/><Relationship Id="rId12" Type="http://schemas.openxmlformats.org/officeDocument/2006/relationships/image" Target="../media/image694.png"/><Relationship Id="rId13" Type="http://schemas.openxmlformats.org/officeDocument/2006/relationships/image" Target="../media/image110.png"/><Relationship Id="rId14" Type="http://schemas.openxmlformats.org/officeDocument/2006/relationships/image" Target="../media/image695.png"/><Relationship Id="rId15" Type="http://schemas.openxmlformats.org/officeDocument/2006/relationships/image" Target="../media/image564.png"/><Relationship Id="rId16"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notesSlide" Target="../notesSlides/notesSlide150.xml"/><Relationship Id="rId6"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chart" Target="../charts/chart113.xml"/><Relationship Id="rId5" Type="http://schemas.openxmlformats.org/officeDocument/2006/relationships/chart" Target="../charts/chart114.xml"/><Relationship Id="rId6" Type="http://schemas.openxmlformats.org/officeDocument/2006/relationships/chart" Target="../charts/chart115.xml"/><Relationship Id="rId7" Type="http://schemas.openxmlformats.org/officeDocument/2006/relationships/notesSlide" Target="../notesSlides/notesSlide151.xml"/><Relationship Id="rId8"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notesSlide" Target="../notesSlides/notesSlide154.xml"/><Relationship Id="rId5"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chart" Target="../charts/chart119.xml"/><Relationship Id="rId6" Type="http://schemas.openxmlformats.org/officeDocument/2006/relationships/chart" Target="../charts/chart120.xml"/><Relationship Id="rId7" Type="http://schemas.openxmlformats.org/officeDocument/2006/relationships/notesSlide" Target="../notesSlides/notesSlide158.xml"/><Relationship Id="rId8"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chart" Target="../charts/chart123.xml"/><Relationship Id="rId6" Type="http://schemas.openxmlformats.org/officeDocument/2006/relationships/chart" Target="../charts/chart124.xml"/><Relationship Id="rId7" Type="http://schemas.openxmlformats.org/officeDocument/2006/relationships/notesSlide" Target="../notesSlides/notesSlide159.xml"/><Relationship Id="rId8"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chart" Target="../charts/chart127.xml"/><Relationship Id="rId6" Type="http://schemas.openxmlformats.org/officeDocument/2006/relationships/chart" Target="../charts/chart128.xml"/><Relationship Id="rId7" Type="http://schemas.openxmlformats.org/officeDocument/2006/relationships/chart" Target="../charts/chart129.xml"/><Relationship Id="rId8" Type="http://schemas.openxmlformats.org/officeDocument/2006/relationships/chart" Target="../charts/chart130.xml"/><Relationship Id="rId9" Type="http://schemas.openxmlformats.org/officeDocument/2006/relationships/chart" Target="../charts/chart131.xml"/><Relationship Id="rId10" Type="http://schemas.openxmlformats.org/officeDocument/2006/relationships/notesSlide" Target="../notesSlides/notesSlide160.xml"/><Relationship Id="rId11"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xml"/><Relationship Id="rId4" Type="http://schemas.openxmlformats.org/officeDocument/2006/relationships/chart" Target="../charts/chart133.xml"/><Relationship Id="rId5" Type="http://schemas.openxmlformats.org/officeDocument/2006/relationships/notesSlide" Target="../notesSlides/notesSlide162.xml"/><Relationship Id="rId6"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chart" Target="../charts/chart135.xml"/><Relationship Id="rId5" Type="http://schemas.openxmlformats.org/officeDocument/2006/relationships/notesSlide" Target="../notesSlides/notesSlide165.xml"/><Relationship Id="rId6"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notesSlide" Target="../notesSlides/notesSlide168.xml"/><Relationship Id="rId6"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notesSlide" Target="../notesSlides/notesSlide171.xml"/><Relationship Id="rId6"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chart" Target="../charts/chart141.xml"/><Relationship Id="rId5" Type="http://schemas.openxmlformats.org/officeDocument/2006/relationships/notesSlide" Target="../notesSlides/notesSlide176.xml"/><Relationship Id="rId6"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chart" Target="../charts/chart143.xml"/><Relationship Id="rId5" Type="http://schemas.openxmlformats.org/officeDocument/2006/relationships/notesSlide" Target="../notesSlides/notesSlide179.xml"/><Relationship Id="rId6"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chart" Target="../charts/chart145.xml"/><Relationship Id="rId5" Type="http://schemas.openxmlformats.org/officeDocument/2006/relationships/notesSlide" Target="../notesSlides/notesSlide182.xml"/><Relationship Id="rId6"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6.xml"/><Relationship Id="rId4" Type="http://schemas.openxmlformats.org/officeDocument/2006/relationships/chart" Target="../charts/chart147.xml"/><Relationship Id="rId5" Type="http://schemas.openxmlformats.org/officeDocument/2006/relationships/notesSlide" Target="../notesSlides/notesSlide187.xml"/><Relationship Id="rId6"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8.xml"/><Relationship Id="rId4" Type="http://schemas.openxmlformats.org/officeDocument/2006/relationships/notesSlide" Target="../notesSlides/notesSlide188.xml"/><Relationship Id="rId5"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9.xml"/><Relationship Id="rId4" Type="http://schemas.openxmlformats.org/officeDocument/2006/relationships/notesSlide" Target="../notesSlides/notesSlide223.xml"/><Relationship Id="rId5"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0.xml"/><Relationship Id="rId4" Type="http://schemas.openxmlformats.org/officeDocument/2006/relationships/chart" Target="../charts/chart151.xml"/><Relationship Id="rId5" Type="http://schemas.openxmlformats.org/officeDocument/2006/relationships/chart" Target="../charts/chart152.xml"/><Relationship Id="rId6" Type="http://schemas.openxmlformats.org/officeDocument/2006/relationships/notesSlide" Target="../notesSlides/notesSlide224.xml"/><Relationship Id="rId7"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3.xml"/><Relationship Id="rId4" Type="http://schemas.openxmlformats.org/officeDocument/2006/relationships/chart" Target="../charts/chart154.xml"/><Relationship Id="rId5" Type="http://schemas.openxmlformats.org/officeDocument/2006/relationships/chart" Target="../charts/chart155.xml"/><Relationship Id="rId6" Type="http://schemas.openxmlformats.org/officeDocument/2006/relationships/notesSlide" Target="../notesSlides/notesSlide225.xml"/><Relationship Id="rId7"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 Id="rId4"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6.xml"/><Relationship Id="rId4" Type="http://schemas.openxmlformats.org/officeDocument/2006/relationships/chart" Target="../charts/chart157.xml"/><Relationship Id="rId5" Type="http://schemas.openxmlformats.org/officeDocument/2006/relationships/chart" Target="../charts/chart158.xml"/><Relationship Id="rId6" Type="http://schemas.openxmlformats.org/officeDocument/2006/relationships/notesSlide" Target="../notesSlides/notesSlide227.xml"/><Relationship Id="rId7"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9.xml"/><Relationship Id="rId4" Type="http://schemas.openxmlformats.org/officeDocument/2006/relationships/notesSlide" Target="../notesSlides/notesSlide228.xml"/><Relationship Id="rId5"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 Id="rId4" Type="http://schemas.openxmlformats.org/officeDocument/2006/relationships/image" Target="../media/image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4.jpg"/><Relationship Id="rId3" Type="http://schemas.openxmlformats.org/officeDocument/2006/relationships/image" Target="../media/image817.jpg"/><Relationship Id="rId4" Type="http://schemas.openxmlformats.org/officeDocument/2006/relationships/image" Target="../media/image818.png"/><Relationship Id="rId5" Type="http://schemas.openxmlformats.org/officeDocument/2006/relationships/image" Target="../media/image819.png"/><Relationship Id="rId6" Type="http://schemas.openxmlformats.org/officeDocument/2006/relationships/image" Target="../media/image820.png"/><Relationship Id="rId7" Type="http://schemas.openxmlformats.org/officeDocument/2006/relationships/image" Target="../media/image821.png"/><Relationship Id="rId8" Type="http://schemas.openxmlformats.org/officeDocument/2006/relationships/image" Target="../media/image82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4.jpg"/><Relationship Id="rId3" Type="http://schemas.openxmlformats.org/officeDocument/2006/relationships/image" Target="../media/image82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1">
            <a:extLst>
              <a:ext uri="{FF2B5EF4-FFF2-40B4-BE49-F238E27FC236}">
                <a16:creationId xmlns:a16="http://schemas.microsoft.com/office/drawing/2014/main" id="{55F53C7E-56C6-0F7B-0EF0-5B8F37D19E78}"/>
              </a:ext>
            </a:extLst>
          </p:cNvPr>
          <p:cNvSpPr/>
          <p:nvPr userDrawn="1"/>
        </p:nvSpPr>
        <p:spPr>
          <a:xfrm>
            <a:off x="-441466" y="-305555"/>
            <a:ext cx="13274958" cy="7469109"/>
          </a:xfrm>
          <a:prstGeom prst="rect">
            <a:avLst/>
          </a:prstGeom>
          <a:solidFill>
            <a:srgbClr val="FFFFFF"/>
          </a:solidFill>
          <a:ln>
            <a:noFill/>
          </a:ln>
        </p:spPr>
        <p:style>
          <a:lnRef idx="2">
            <a:srgbClr val="92278F">
              <a:shade val="15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4">
            <a:extLst>
              <a:ext uri="{FF2B5EF4-FFF2-40B4-BE49-F238E27FC236}">
                <a16:creationId xmlns:a16="http://schemas.microsoft.com/office/drawing/2014/main" id="{940A6342-3830-1E2E-1724-6D3D7768626F}"/>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9887447" y="276521"/>
            <a:ext cx="1991485" cy="498500"/>
          </a:xfrm>
          <a:prstGeom prst="rect">
            <a:avLst/>
          </a:prstGeom>
          <a:effectLst>
            <a:outerShdw blurRad="63500" sx="102000" sy="102000" algn="ctr" rotWithShape="0">
              <a:prstClr val="black">
                <a:alpha val="40000"/>
              </a:prstClr>
            </a:outerShdw>
          </a:effectLst>
        </p:spPr>
      </p:pic>
      <p:grpSp>
        <p:nvGrpSpPr>
          <p:cNvPr id="29" name="Group 29">
            <a:extLst>
              <a:ext uri="{FF2B5EF4-FFF2-40B4-BE49-F238E27FC236}">
                <a16:creationId xmlns:a16="http://schemas.microsoft.com/office/drawing/2014/main" id="{D5C8EA58-0CBB-BB7A-EFA8-69EB33BEFCE1}"/>
              </a:ext>
            </a:extLst>
          </p:cNvPr>
          <p:cNvGrpSpPr/>
          <p:nvPr userDrawn="1"/>
        </p:nvGrpSpPr>
        <p:grpSpPr>
          <a:xfrm>
            <a:off x="-2267497" y="-431245"/>
            <a:ext cx="7003897" cy="7821407"/>
            <a:chOff x="-2144946" y="-431245"/>
            <a:chExt cx="7003897" cy="7821407"/>
          </a:xfrm>
          <a:blipFill dpi="0" rotWithShape="1">
            <a:blip r:embed="rId4"/>
            <a:srcRect/>
            <a:stretch>
              <a:fillRect l="-75000" r="-33000"/>
            </a:stretch>
          </a:blipFill>
        </p:grpSpPr>
        <p:sp>
          <p:nvSpPr>
            <p:cNvPr id="30" name="Free-form: Shape 25">
              <a:extLst>
                <a:ext uri="{FF2B5EF4-FFF2-40B4-BE49-F238E27FC236}">
                  <a16:creationId xmlns:a16="http://schemas.microsoft.com/office/drawing/2014/main" id="{D25E30EA-85F9-3626-40A9-4C5EB97C8212}"/>
                </a:ext>
              </a:extLst>
            </p:cNvPr>
            <p:cNvSpPr/>
            <p:nvPr userDrawn="1"/>
          </p:nvSpPr>
          <p:spPr>
            <a:xfrm rot="19729671">
              <a:off x="1145403" y="-431242"/>
              <a:ext cx="3713548" cy="7729997"/>
            </a:xfrm>
            <a:custGeom>
              <a:avLst/>
              <a:gdLst>
                <a:gd name="connsiteX0" fmla="*/ 2692070 w 3713548"/>
                <a:gd name="connsiteY0" fmla="*/ 0 h 7729997"/>
                <a:gd name="connsiteX1" fmla="*/ 3713548 w 3713548"/>
                <a:gd name="connsiteY1" fmla="*/ 617951 h 7729997"/>
                <a:gd name="connsiteX2" fmla="*/ 3713548 w 3713548"/>
                <a:gd name="connsiteY2" fmla="*/ 6829513 h 7729997"/>
                <a:gd name="connsiteX3" fmla="*/ 3706238 w 3713548"/>
                <a:gd name="connsiteY3" fmla="*/ 6829513 h 7729997"/>
                <a:gd name="connsiteX4" fmla="*/ 3708841 w 3713548"/>
                <a:gd name="connsiteY4" fmla="*/ 6837294 h 7729997"/>
                <a:gd name="connsiteX5" fmla="*/ 1039864 w 3713548"/>
                <a:gd name="connsiteY5" fmla="*/ 7729997 h 7729997"/>
                <a:gd name="connsiteX6" fmla="*/ 0 w 3713548"/>
                <a:gd name="connsiteY6" fmla="*/ 7100924 h 7729997"/>
                <a:gd name="connsiteX7" fmla="*/ 2692070 w 3713548"/>
                <a:gd name="connsiteY7" fmla="*/ 6200497 h 772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8" h="7729997">
                  <a:moveTo>
                    <a:pt x="2692070" y="0"/>
                  </a:moveTo>
                  <a:lnTo>
                    <a:pt x="3713548" y="617951"/>
                  </a:lnTo>
                  <a:lnTo>
                    <a:pt x="3713548" y="6829513"/>
                  </a:lnTo>
                  <a:lnTo>
                    <a:pt x="3706238" y="6829513"/>
                  </a:lnTo>
                  <a:lnTo>
                    <a:pt x="3708841" y="6837294"/>
                  </a:lnTo>
                  <a:lnTo>
                    <a:pt x="1039864" y="7729997"/>
                  </a:lnTo>
                  <a:lnTo>
                    <a:pt x="0" y="7100924"/>
                  </a:lnTo>
                  <a:lnTo>
                    <a:pt x="2692070" y="6200497"/>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sp>
          <p:nvSpPr>
            <p:cNvPr id="31" name="Free-form: Shape 27">
              <a:extLst>
                <a:ext uri="{FF2B5EF4-FFF2-40B4-BE49-F238E27FC236}">
                  <a16:creationId xmlns:a16="http://schemas.microsoft.com/office/drawing/2014/main" id="{411A5C5C-B5BE-309D-6D6D-46909D3518D5}"/>
                </a:ext>
              </a:extLst>
            </p:cNvPr>
            <p:cNvSpPr/>
            <p:nvPr userDrawn="1"/>
          </p:nvSpPr>
          <p:spPr>
            <a:xfrm rot="19729671">
              <a:off x="-334175" y="-431245"/>
              <a:ext cx="3713547" cy="7730002"/>
            </a:xfrm>
            <a:custGeom>
              <a:avLst/>
              <a:gdLst>
                <a:gd name="connsiteX0" fmla="*/ 2692069 w 3713547"/>
                <a:gd name="connsiteY0" fmla="*/ 0 h 7730002"/>
                <a:gd name="connsiteX1" fmla="*/ 3713547 w 3713547"/>
                <a:gd name="connsiteY1" fmla="*/ 617951 h 7730002"/>
                <a:gd name="connsiteX2" fmla="*/ 3713547 w 3713547"/>
                <a:gd name="connsiteY2" fmla="*/ 6829519 h 7730002"/>
                <a:gd name="connsiteX3" fmla="*/ 3706237 w 3713547"/>
                <a:gd name="connsiteY3" fmla="*/ 6829519 h 7730002"/>
                <a:gd name="connsiteX4" fmla="*/ 3708840 w 3713547"/>
                <a:gd name="connsiteY4" fmla="*/ 6837300 h 7730002"/>
                <a:gd name="connsiteX5" fmla="*/ 1039864 w 3713547"/>
                <a:gd name="connsiteY5" fmla="*/ 7730002 h 7730002"/>
                <a:gd name="connsiteX6" fmla="*/ 0 w 3713547"/>
                <a:gd name="connsiteY6" fmla="*/ 7100929 h 7730002"/>
                <a:gd name="connsiteX7" fmla="*/ 2692069 w 3713547"/>
                <a:gd name="connsiteY7" fmla="*/ 6200503 h 773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7" h="7730002">
                  <a:moveTo>
                    <a:pt x="2692069" y="0"/>
                  </a:moveTo>
                  <a:lnTo>
                    <a:pt x="3713547" y="617951"/>
                  </a:lnTo>
                  <a:lnTo>
                    <a:pt x="3713547" y="6829519"/>
                  </a:lnTo>
                  <a:lnTo>
                    <a:pt x="3706237" y="6829519"/>
                  </a:lnTo>
                  <a:lnTo>
                    <a:pt x="3708840" y="6837300"/>
                  </a:lnTo>
                  <a:lnTo>
                    <a:pt x="1039864" y="7730002"/>
                  </a:lnTo>
                  <a:lnTo>
                    <a:pt x="0" y="7100929"/>
                  </a:lnTo>
                  <a:lnTo>
                    <a:pt x="2692069" y="6200503"/>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sp>
          <p:nvSpPr>
            <p:cNvPr id="32" name="Free-form: Shape 28">
              <a:extLst>
                <a:ext uri="{FF2B5EF4-FFF2-40B4-BE49-F238E27FC236}">
                  <a16:creationId xmlns:a16="http://schemas.microsoft.com/office/drawing/2014/main" id="{83B63AAB-2135-DDBB-A5A0-2D3342DB8BE0}"/>
                </a:ext>
              </a:extLst>
            </p:cNvPr>
            <p:cNvSpPr/>
            <p:nvPr userDrawn="1"/>
          </p:nvSpPr>
          <p:spPr>
            <a:xfrm rot="3539777">
              <a:off x="-3712637" y="1682414"/>
              <a:ext cx="7275439" cy="4140057"/>
            </a:xfrm>
            <a:custGeom>
              <a:avLst/>
              <a:gdLst>
                <a:gd name="connsiteX0" fmla="*/ 0 w 7275439"/>
                <a:gd name="connsiteY0" fmla="*/ 311590 h 4140057"/>
                <a:gd name="connsiteX1" fmla="*/ 187250 w 7275439"/>
                <a:gd name="connsiteY1" fmla="*/ 0 h 4140057"/>
                <a:gd name="connsiteX2" fmla="*/ 6370703 w 7275439"/>
                <a:gd name="connsiteY2" fmla="*/ 0 h 4140057"/>
                <a:gd name="connsiteX3" fmla="*/ 6370703 w 7275439"/>
                <a:gd name="connsiteY3" fmla="*/ 10427 h 4140057"/>
                <a:gd name="connsiteX4" fmla="*/ 6381792 w 7275439"/>
                <a:gd name="connsiteY4" fmla="*/ 6663 h 4140057"/>
                <a:gd name="connsiteX5" fmla="*/ 7275439 w 7275439"/>
                <a:gd name="connsiteY5" fmla="*/ 2639049 h 4140057"/>
                <a:gd name="connsiteX6" fmla="*/ 6679803 w 7275439"/>
                <a:gd name="connsiteY6" fmla="*/ 3630209 h 4140057"/>
                <a:gd name="connsiteX7" fmla="*/ 6370703 w 7275439"/>
                <a:gd name="connsiteY7" fmla="*/ 3735143 h 4140057"/>
                <a:gd name="connsiteX8" fmla="*/ 6370703 w 7275439"/>
                <a:gd name="connsiteY8" fmla="*/ 4140057 h 41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75439" h="4140057">
                  <a:moveTo>
                    <a:pt x="0" y="311590"/>
                  </a:moveTo>
                  <a:lnTo>
                    <a:pt x="187250" y="0"/>
                  </a:lnTo>
                  <a:lnTo>
                    <a:pt x="6370703" y="0"/>
                  </a:lnTo>
                  <a:lnTo>
                    <a:pt x="6370703" y="10427"/>
                  </a:lnTo>
                  <a:lnTo>
                    <a:pt x="6381792" y="6663"/>
                  </a:lnTo>
                  <a:lnTo>
                    <a:pt x="7275439" y="2639049"/>
                  </a:lnTo>
                  <a:lnTo>
                    <a:pt x="6679803" y="3630209"/>
                  </a:lnTo>
                  <a:lnTo>
                    <a:pt x="6370703" y="3735143"/>
                  </a:lnTo>
                  <a:lnTo>
                    <a:pt x="6370703" y="4140057"/>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grpSp>
      <p:sp>
        <p:nvSpPr>
          <p:cNvPr id="33" name="Text Placeholder 7"/>
          <p:cNvSpPr>
            <a:spLocks noGrp="1"/>
          </p:cNvSpPr>
          <p:nvPr/>
        </p:nvSpPr>
        <p:spPr>
          <a:xfrm>
            <a:off x="5949415" y="1693544"/>
            <a:ext cx="6028353" cy="1135380"/>
          </a:xfrm>
        </p:spPr>
        <p:txBody>
          <a:bodyPr lIns="0" anchor="b"/>
          <a:lstStyle>
            <a:lvl1pPr marL="0" indent="0">
              <a:buNone/>
              <a:defRPr sz="3600" b="1">
                <a:solidFill>
                  <a:srgbClr val="002060"/>
                </a:solidFill>
              </a:defRPr>
            </a:lvl1pPr>
          </a:lstStyle>
          <a:p>
            <a:r>
              <a:rPr lang="en-US" sz="2400" dirty="0" b="1">
                <a:latin typeface="Aptos Display" panose="020B0004020202020204" pitchFamily="34" charset="0"/>
              </a:rPr>
              <a:t>Lithium Polymer Portable Energy Storage Market</a:t>
            </a:r>
            <a:endParaRPr lang="en-IN" sz="2800" dirty="0">
              <a:latin typeface="Aptos Display" panose="020B0004020202020204" pitchFamily="34" charset="0"/>
            </a:endParaRPr>
          </a:p>
        </p:txBody>
      </p:sp>
      <p:sp>
        <p:nvSpPr>
          <p:cNvPr id="33" name="Front Page Subtitle"/>
          <p:cNvSpPr>
            <a:spLocks noGrp="1"/>
          </p:cNvSpPr>
          <p:nvPr/>
        </p:nvSpPr>
        <p:spPr>
          <a:xfrm>
            <a:off x="5949415" y="3150000"/>
            <a:ext cx="6028353" cy="700000"/>
          </a:xfrm>
        </p:spPr>
        <p:txBody>
          <a:bodyPr lIns="0" anchor="b"/>
          <a:lstStyle>
            <a:lvl1pPr marL="0" indent="0">
              <a:buNone/>
              <a:defRPr sz="3600" b="1">
                <a:solidFill>
                  <a:srgbClr val="002060"/>
                </a:solidFill>
              </a:defRPr>
            </a:lvl1pPr>
          </a:lstStyle>
          <a:p>
            <a:r>
              <a:rPr lang="en-US" sz="1800" dirty="0" b="0">
                <a:latin typeface="Aptos Display" panose="020B0004020202020204" pitchFamily="34" charset="0"/>
              </a:rPr>
              <a:t>Global Industry Analysis 2021–2025 and Opportunity Assessment, 2026–2036</a:t>
            </a:r>
            <a:endParaRPr lang="en-IN" sz="2800" dirty="0">
              <a:latin typeface="Aptos Display" panose="020B0004020202020204" pitchFamily="34" charset="0"/>
            </a:endParaRPr>
          </a:p>
        </p:txBody>
      </p:sp>
      <p:grpSp>
        <p:nvGrpSpPr>
          <p:cNvPr id="34" name="Group 9"/>
          <p:cNvGrpSpPr/>
          <p:nvPr/>
        </p:nvGrpSpPr>
        <p:grpSpPr>
          <a:xfrm>
            <a:off x="5949416" y="2963228"/>
            <a:ext cx="6036689" cy="45720"/>
            <a:chOff x="838200" y="3714750"/>
            <a:chExt cx="6652260" cy="27432"/>
          </a:xfrm>
          <a:solidFill>
            <a:srgbClr val="EAE5EB">
              <a:lumMod val="50000"/>
            </a:srgbClr>
          </a:solidFill>
        </p:grpSpPr>
        <p:sp>
          <p:nvSpPr>
            <p:cNvPr id="35" name="Rectangle 10"/>
            <p:cNvSpPr/>
            <p:nvPr userDrawn="1"/>
          </p:nvSpPr>
          <p:spPr>
            <a:xfrm>
              <a:off x="83820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36" name="Rectangle 11"/>
            <p:cNvSpPr/>
            <p:nvPr userDrawn="1"/>
          </p:nvSpPr>
          <p:spPr>
            <a:xfrm>
              <a:off x="306705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37" name="Rectangle 12"/>
            <p:cNvSpPr/>
            <p:nvPr userDrawn="1"/>
          </p:nvSpPr>
          <p:spPr>
            <a:xfrm>
              <a:off x="529590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grpSp>
      <p:sp>
        <p:nvSpPr>
          <p:cNvPr id="38" name="Footer Placeholder 1">
            <a:extLst>
              <a:ext uri="{FF2B5EF4-FFF2-40B4-BE49-F238E27FC236}">
                <a16:creationId xmlns:a16="http://schemas.microsoft.com/office/drawing/2014/main" id="{7B717881-4573-0FDD-568A-2957EB8BEB84}"/>
              </a:ext>
            </a:extLst>
          </p:cNvPr>
          <p:cNvSpPr txBox="1">
            <a:spLocks/>
          </p:cNvSpPr>
          <p:nvPr/>
        </p:nvSpPr>
        <p:spPr bwMode="gray">
          <a:xfrm>
            <a:off x="5949415" y="1991358"/>
            <a:ext cx="4497605" cy="269876"/>
          </a:xfrm>
          <a:prstGeom prst="rect">
            <a:avLst/>
          </a:prstGeom>
        </p:spPr>
        <p:txBody>
          <a:bodyPr lIns="0" rIns="0" anchor="ctr">
            <a:noAutofit/>
          </a:bodyPr>
          <a:lstStyle>
            <a:defPPr>
              <a:defRPr lang="en-US"/>
            </a:defPPr>
            <a:lvl1pPr marL="0" algn="l" defTabSz="914400" rtl="0" eaLnBrk="1" latinLnBrk="0" hangingPunct="1">
              <a:defRPr sz="11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1400" dirty="0">
                <a:solidFill>
                  <a:srgbClr val="461E96"/>
                </a:solidFill>
                <a:latin typeface="+mj-lt"/>
              </a:rPr>
              <a:t>SAMPLE REPORT  |  2026</a:t>
            </a:r>
          </a:p>
        </p:txBody>
      </p:sp>
      <p:sp>
        <p:nvSpPr>
          <p:cNvPr id="39" name="TextBox 4">
            <a:extLst>
              <a:ext uri="{FF2B5EF4-FFF2-40B4-BE49-F238E27FC236}">
                <a16:creationId xmlns:a16="http://schemas.microsoft.com/office/drawing/2014/main" id="{4FF7E7D1-13C0-09F6-FE4F-3E29CF81B660}"/>
              </a:ext>
            </a:extLst>
          </p:cNvPr>
          <p:cNvSpPr txBox="1"/>
          <p:nvPr/>
        </p:nvSpPr>
        <p:spPr>
          <a:xfrm>
            <a:off x="5851673" y="6468102"/>
            <a:ext cx="6364445" cy="246221"/>
          </a:xfrm>
          <a:prstGeom prst="rect">
            <a:avLst/>
          </a:prstGeom>
          <a:noFill/>
        </p:spPr>
        <p:txBody>
          <a:bodyPr wrap="square" rtlCol="0">
            <a:spAutoFit/>
          </a:bodyPr>
          <a:lstStyle/>
          <a:p>
            <a:r>
              <a:rPr lang="en-US" sz="1000" dirty="0">
                <a:solidFill>
                  <a:srgbClr val="461E96"/>
                </a:solidFill>
              </a:rPr>
              <a:t>MARKET STATISTICS | DEMAND FORECASTING | COMPETITION EVALUATION | TRENDS &amp; DYNAMICS | ADVISORY</a:t>
            </a:r>
            <a:endParaRPr lang="en-IN" sz="1000" dirty="0">
              <a:solidFill>
                <a:srgbClr val="461E96"/>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Agenda</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Storyline of the report by section · click a section card to jump to it</a:t>
            </a:r>
          </a:p>
        </p:txBody>
      </p:sp>
      <p:sp>
        <p:nvSpPr>
          <p:cNvPr id="8" name="Rounded Rectangle 7">
            <a:hlinkClick action="ppaction://hlinksldjump" r:id="rId3"/>
          </p:cNvPr>
          <p:cNvSpPr/>
          <p:nvPr/>
        </p:nvSpPr>
        <p:spPr>
          <a:xfrm>
            <a:off x="314325" y="113503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 Market Signals</a:t>
            </a:r>
          </a:p>
        </p:txBody>
      </p:sp>
      <p:sp>
        <p:nvSpPr>
          <p:cNvPr id="9" name="Rounded Rectangle 8">
            <a:hlinkClick action="ppaction://hlinksldjump" r:id="rId4"/>
          </p:cNvPr>
          <p:cNvSpPr/>
          <p:nvPr/>
        </p:nvSpPr>
        <p:spPr>
          <a:xfrm>
            <a:off x="142875" y="1559435"/>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Market Overview</a:t>
            </a:r>
          </a:p>
        </p:txBody>
      </p:sp>
      <p:sp>
        <p:nvSpPr>
          <p:cNvPr id="10" name="Rounded Rectangle 9">
            <a:hlinkClick action="ppaction://hlinksldjump" r:id="rId5"/>
          </p:cNvPr>
          <p:cNvSpPr/>
          <p:nvPr/>
        </p:nvSpPr>
        <p:spPr>
          <a:xfrm>
            <a:off x="314325" y="198383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2. Market Taxonomy</a:t>
            </a:r>
          </a:p>
        </p:txBody>
      </p:sp>
      <p:sp>
        <p:nvSpPr>
          <p:cNvPr id="11" name="Rounded Rectangle 10">
            <a:hlinkClick action="ppaction://hlinksldjump" r:id="rId6"/>
          </p:cNvPr>
          <p:cNvSpPr/>
          <p:nvPr/>
        </p:nvSpPr>
        <p:spPr>
          <a:xfrm>
            <a:off x="314325" y="2408231"/>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3. Table of Contents</a:t>
            </a:r>
          </a:p>
        </p:txBody>
      </p:sp>
      <p:sp>
        <p:nvSpPr>
          <p:cNvPr id="12" name="Rounded Rectangle 11">
            <a:hlinkClick action="ppaction://hlinksldjump" r:id="rId7"/>
          </p:cNvPr>
          <p:cNvSpPr/>
          <p:nvPr/>
        </p:nvSpPr>
        <p:spPr>
          <a:xfrm>
            <a:off x="314325" y="283262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4. List of Figures, List of Tables</a:t>
            </a:r>
          </a:p>
        </p:txBody>
      </p:sp>
      <p:sp>
        <p:nvSpPr>
          <p:cNvPr id="13" name="Rounded Rectangle 12">
            <a:hlinkClick action="ppaction://hlinksldjump" r:id="rId8"/>
          </p:cNvPr>
          <p:cNvSpPr/>
          <p:nvPr/>
        </p:nvSpPr>
        <p:spPr>
          <a:xfrm>
            <a:off x="142875" y="3257027"/>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Global Market Outlook</a:t>
            </a:r>
          </a:p>
        </p:txBody>
      </p:sp>
      <p:sp>
        <p:nvSpPr>
          <p:cNvPr id="14" name="Rounded Rectangle 13">
            <a:hlinkClick action="ppaction://hlinksldjump" r:id="rId9"/>
          </p:cNvPr>
          <p:cNvSpPr/>
          <p:nvPr/>
        </p:nvSpPr>
        <p:spPr>
          <a:xfrm>
            <a:off x="314325" y="3681425"/>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5. Lithium Polymer Portable Energy Storage Market Global Overview</a:t>
            </a:r>
          </a:p>
        </p:txBody>
      </p:sp>
      <p:sp>
        <p:nvSpPr>
          <p:cNvPr id="15" name="Rounded Rectangle 14">
            <a:hlinkClick action="ppaction://hlinksldjump" r:id="rId10"/>
          </p:cNvPr>
          <p:cNvSpPr/>
          <p:nvPr/>
        </p:nvSpPr>
        <p:spPr>
          <a:xfrm>
            <a:off x="314325" y="410582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6. Global Market Analysis By Region</a:t>
            </a:r>
          </a:p>
        </p:txBody>
      </p:sp>
      <p:sp>
        <p:nvSpPr>
          <p:cNvPr id="16" name="Rounded Rectangle 15">
            <a:hlinkClick action="ppaction://hlinksldjump" r:id="rId11"/>
          </p:cNvPr>
          <p:cNvSpPr/>
          <p:nvPr/>
        </p:nvSpPr>
        <p:spPr>
          <a:xfrm>
            <a:off x="314325" y="4530221"/>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7. Global Market Analysis By Segments</a:t>
            </a:r>
          </a:p>
        </p:txBody>
      </p:sp>
      <p:sp>
        <p:nvSpPr>
          <p:cNvPr id="17" name="Rounded Rectangle 16">
            <a:hlinkClick action="ppaction://hlinksldjump" r:id="rId12"/>
          </p:cNvPr>
          <p:cNvSpPr/>
          <p:nvPr/>
        </p:nvSpPr>
        <p:spPr>
          <a:xfrm>
            <a:off x="142875" y="4954619"/>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North America Market Outlook</a:t>
            </a:r>
          </a:p>
        </p:txBody>
      </p:sp>
      <p:sp>
        <p:nvSpPr>
          <p:cNvPr id="18" name="Rounded Rectangle 17">
            <a:hlinkClick action="ppaction://hlinksldjump" r:id="rId13"/>
          </p:cNvPr>
          <p:cNvSpPr/>
          <p:nvPr/>
        </p:nvSpPr>
        <p:spPr>
          <a:xfrm>
            <a:off x="314325" y="537901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8. North America Overview</a:t>
            </a:r>
          </a:p>
        </p:txBody>
      </p:sp>
      <p:sp>
        <p:nvSpPr>
          <p:cNvPr id="19" name="Rounded Rectangle 18">
            <a:hlinkClick action="ppaction://hlinksldjump" r:id="rId14"/>
          </p:cNvPr>
          <p:cNvSpPr/>
          <p:nvPr/>
        </p:nvSpPr>
        <p:spPr>
          <a:xfrm>
            <a:off x="314325" y="5803415"/>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9. North America Market Analysis By Country</a:t>
            </a:r>
          </a:p>
        </p:txBody>
      </p:sp>
      <p:sp>
        <p:nvSpPr>
          <p:cNvPr id="20" name="Rounded Rectangle 19">
            <a:hlinkClick action="ppaction://hlinksldjump" r:id="rId15"/>
          </p:cNvPr>
          <p:cNvSpPr/>
          <p:nvPr/>
        </p:nvSpPr>
        <p:spPr>
          <a:xfrm>
            <a:off x="314325" y="622781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10. North America Market Analysis By Segments</a:t>
            </a:r>
          </a:p>
        </p:txBody>
      </p:sp>
      <p:sp>
        <p:nvSpPr>
          <p:cNvPr id="21" name="Rounded Rectangle 20">
            <a:hlinkClick action="ppaction://hlinksldjump" r:id="rId16"/>
          </p:cNvPr>
          <p:cNvSpPr/>
          <p:nvPr/>
        </p:nvSpPr>
        <p:spPr>
          <a:xfrm>
            <a:off x="6219825" y="1135037"/>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Country Market Outlook</a:t>
            </a:r>
          </a:p>
        </p:txBody>
      </p:sp>
      <p:sp>
        <p:nvSpPr>
          <p:cNvPr id="22" name="Rounded Rectangle 21">
            <a:hlinkClick action="ppaction://hlinksldjump" r:id="rId17"/>
          </p:cNvPr>
          <p:cNvSpPr/>
          <p:nvPr/>
        </p:nvSpPr>
        <p:spPr>
          <a:xfrm>
            <a:off x="6391275" y="1559435"/>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11. Lithium Polymer Portable Energy Storage Market Overview (Volume &amp; Value)</a:t>
            </a:r>
          </a:p>
        </p:txBody>
      </p:sp>
      <p:sp>
        <p:nvSpPr>
          <p:cNvPr id="23" name="Rounded Rectangle 22">
            <a:hlinkClick action="ppaction://hlinksldjump" r:id="rId18"/>
          </p:cNvPr>
          <p:cNvSpPr/>
          <p:nvPr/>
        </p:nvSpPr>
        <p:spPr>
          <a:xfrm>
            <a:off x="6391275" y="198383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12. Segment Overview (Volume &amp; Value)</a:t>
            </a:r>
          </a:p>
        </p:txBody>
      </p:sp>
      <p:sp>
        <p:nvSpPr>
          <p:cNvPr id="24" name="Rounded Rectangle 23">
            <a:hlinkClick action="ppaction://hlinksldjump" r:id="rId19"/>
          </p:cNvPr>
          <p:cNvSpPr/>
          <p:nvPr/>
        </p:nvSpPr>
        <p:spPr>
          <a:xfrm>
            <a:off x="6219825" y="2408231"/>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Pricing Assessment</a:t>
            </a:r>
          </a:p>
        </p:txBody>
      </p:sp>
      <p:sp>
        <p:nvSpPr>
          <p:cNvPr id="25" name="Rounded Rectangle 24">
            <a:hlinkClick action="ppaction://hlinksldjump" r:id="rId20"/>
          </p:cNvPr>
          <p:cNvSpPr/>
          <p:nvPr/>
        </p:nvSpPr>
        <p:spPr>
          <a:xfrm>
            <a:off x="6391275" y="283262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13. Lithium Polymer Portable Energy Storage Market Pricing Analysis</a:t>
            </a:r>
          </a:p>
        </p:txBody>
      </p:sp>
      <p:sp>
        <p:nvSpPr>
          <p:cNvPr id="26" name="Rounded Rectangle 25">
            <a:hlinkClick action="ppaction://hlinksldjump" r:id="rId21"/>
          </p:cNvPr>
          <p:cNvSpPr/>
          <p:nvPr/>
        </p:nvSpPr>
        <p:spPr>
          <a:xfrm>
            <a:off x="6391275" y="325702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14. Supply Chain Analysis</a:t>
            </a:r>
          </a:p>
        </p:txBody>
      </p:sp>
      <p:sp>
        <p:nvSpPr>
          <p:cNvPr id="27" name="Rounded Rectangle 26">
            <a:hlinkClick action="ppaction://hlinksldjump" r:id="rId22"/>
          </p:cNvPr>
          <p:cNvSpPr/>
          <p:nvPr/>
        </p:nvSpPr>
        <p:spPr>
          <a:xfrm>
            <a:off x="6219825" y="3681425"/>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Market Dynamics</a:t>
            </a:r>
          </a:p>
        </p:txBody>
      </p:sp>
      <p:sp>
        <p:nvSpPr>
          <p:cNvPr id="28" name="Rounded Rectangle 27">
            <a:hlinkClick action="ppaction://hlinksldjump" r:id="rId23"/>
          </p:cNvPr>
          <p:cNvSpPr/>
          <p:nvPr/>
        </p:nvSpPr>
        <p:spPr>
          <a:xfrm>
            <a:off x="6391275" y="410582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15. Market Dynamics &amp; Forces</a:t>
            </a:r>
          </a:p>
        </p:txBody>
      </p:sp>
      <p:sp>
        <p:nvSpPr>
          <p:cNvPr id="29" name="Rounded Rectangle 28">
            <a:hlinkClick action="ppaction://hlinksldjump" r:id="rId24"/>
          </p:cNvPr>
          <p:cNvSpPr/>
          <p:nvPr/>
        </p:nvSpPr>
        <p:spPr>
          <a:xfrm>
            <a:off x="6219825" y="4530221"/>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Competition Assessment</a:t>
            </a:r>
          </a:p>
        </p:txBody>
      </p:sp>
      <p:sp>
        <p:nvSpPr>
          <p:cNvPr id="30" name="Rounded Rectangle 29">
            <a:hlinkClick action="ppaction://hlinksldjump" r:id="rId25"/>
          </p:cNvPr>
          <p:cNvSpPr/>
          <p:nvPr/>
        </p:nvSpPr>
        <p:spPr>
          <a:xfrm>
            <a:off x="6391275" y="5803415"/>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18. Competitive Landscape</a:t>
            </a:r>
          </a:p>
        </p:txBody>
      </p:sp>
      <p:sp>
        <p:nvSpPr>
          <p:cNvPr id="31" name="Rounded Rectangle 30">
            <a:hlinkClick action="ppaction://hlinksldjump" r:id="rId26"/>
          </p:cNvPr>
          <p:cNvSpPr/>
          <p:nvPr/>
        </p:nvSpPr>
        <p:spPr>
          <a:xfrm>
            <a:off x="6391275" y="495461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16. Market Share by Leading Players</a:t>
            </a:r>
          </a:p>
        </p:txBody>
      </p:sp>
      <p:sp>
        <p:nvSpPr>
          <p:cNvPr id="32" name="Rounded Rectangle 31">
            <a:hlinkClick action="ppaction://hlinksldjump" r:id="rId27"/>
          </p:cNvPr>
          <p:cNvSpPr/>
          <p:nvPr/>
        </p:nvSpPr>
        <p:spPr>
          <a:xfrm>
            <a:off x="6391275" y="537901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17. Company Profiles &amp; Strategic Benchmarking</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0526E"/>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Signals Reshaping Lithium Polymer Portable Energy Storage Demand</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Signals reshaping Lithium Polymer Portable Energy Storage demand, the evidence behind each and what it implies for the…</a:t>
            </a:r>
          </a:p>
        </p:txBody>
      </p:sp>
      <p:graphicFrame>
        <p:nvGraphicFramePr>
          <p:cNvPr id="8" name="Table 7"/>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07BA5"/>
                          </a:solidFill>
                          <a:latin typeface="Segoe UI"/>
                        </a:rPr>
                        <a:t>QUESTIONS WE'RE HEARING</a:t>
                      </a:r>
                    </a:p>
                  </a:txBody>
                  <a:tcPr marL="70000" marR="70000" marT="45000" marB="45000" anchor="ctr">
                    <a:solidFill>
                      <a:srgbClr val="CFEEFA"/>
                    </a:solidFill>
                  </a:tcPr>
                </a:tc>
                <a:tc>
                  <a:txBody>
                    <a:bodyPr wrap="square"/>
                    <a:lstStyle/>
                    <a:p>
                      <a:pPr algn="l"/>
                      <a:r>
                        <a:rPr sz="1100" b="1">
                          <a:solidFill>
                            <a:srgbClr val="007BA5"/>
                          </a:solidFill>
                          <a:latin typeface="Segoe UI"/>
                        </a:rPr>
                        <a:t>WHAT WE'RE OBSERVING</a:t>
                      </a:r>
                    </a:p>
                  </a:txBody>
                  <a:tcPr marL="70000" marR="70000" marT="45000" marB="45000" anchor="ctr">
                    <a:solidFill>
                      <a:srgbClr val="CFEEFA"/>
                    </a:solidFill>
                  </a:tcPr>
                </a:tc>
                <a:tc>
                  <a:txBody>
                    <a:bodyPr wrap="square"/>
                    <a:lstStyle/>
                    <a:p>
                      <a:pPr algn="l"/>
                      <a:r>
                        <a:rPr sz="1100" b="1">
                          <a:solidFill>
                            <a:srgbClr val="007BA5"/>
                          </a:solidFill>
                          <a:latin typeface="Segoe UI"/>
                        </a:rPr>
                        <a:t>SELECT DATA POINTS</a:t>
                      </a:r>
                    </a:p>
                  </a:txBody>
                  <a:tcPr marL="70000" marR="70000" marT="45000" marB="45000" anchor="ctr">
                    <a:solidFill>
                      <a:srgbClr val="CFEEFA"/>
                    </a:solidFill>
                  </a:tcPr>
                </a:tc>
              </a:tr>
              <a:tr h="1040461">
                <a:tc>
                  <a:txBody>
                    <a:bodyPr wrap="square"/>
                    <a:lstStyle/>
                    <a:p>
                      <a:pPr algn="l"/>
                      <a:r>
                        <a:rPr sz="1100" b="1">
                          <a:solidFill>
                            <a:srgbClr val="007BA5"/>
                          </a:solidFill>
                          <a:latin typeface="Segoe UI"/>
                        </a:rPr>
                        <a:t>How fast is Lithium Polymer Portable Energy Storage demand set to grow through 2036?</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07BA5"/>
                          </a:solidFill>
                          <a:latin typeface="Segoe UI"/>
                        </a:rPr>
                        <a:t>Which energy storage capacity categories are buyers prioritising?</a:t>
                      </a:r>
                    </a:p>
                  </a:txBody>
                  <a:tcPr marL="70000" marR="70000" marT="45000" marB="45000" anchor="ctr">
                    <a:solidFill>
                      <a:srgbClr val="F3FAFD"/>
                    </a:solidFill>
                  </a:tcPr>
                </a:tc>
                <a:tc>
                  <a:txBody>
                    <a:bodyPr wrap="square"/>
                    <a:lstStyle/>
                    <a:p>
                      <a:pPr algn="l"/>
                      <a:r>
                        <a:rPr sz="1100"/>
                        <a:t> </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r>
              <a:tr h="1040461">
                <a:tc>
                  <a:txBody>
                    <a:bodyPr wrap="square"/>
                    <a:lstStyle/>
                    <a:p>
                      <a:pPr algn="l"/>
                      <a:r>
                        <a:rPr sz="1100" b="1">
                          <a:solidFill>
                            <a:srgbClr val="007BA5"/>
                          </a:solidFill>
                          <a:latin typeface="Segoe UI"/>
                        </a:rPr>
                        <a:t>Where is incremental demand concentrating?</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r>
              <a:tr h="1040461">
                <a:tc>
                  <a:txBody>
                    <a:bodyPr wrap="square"/>
                    <a:lstStyle/>
                    <a:p>
                      <a:pPr algn="l"/>
                      <a:r>
                        <a:rPr sz="1100" b="1">
                          <a:solidFill>
                            <a:srgbClr val="007BA5"/>
                          </a:solidFill>
                          <a:latin typeface="Segoe UI"/>
                        </a:rPr>
                        <a:t>Which regions will drive the next wave of Lithium Polymer Portable Energy Storage demand?</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r>
              <a:tr h="1040461">
                <a:tc>
                  <a:txBody>
                    <a:bodyPr wrap="square"/>
                    <a:lstStyle/>
                    <a:p>
                      <a:pPr algn="l"/>
                      <a:r>
                        <a:rPr sz="1100" b="1">
                          <a:solidFill>
                            <a:srgbClr val="007BA5"/>
                          </a:solidFill>
                          <a:latin typeface="Segoe UI"/>
                        </a:rPr>
                        <a:t>Where should suppliers focus investment?</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0" name="TextBox 9"/>
          <p:cNvSpPr txBox="1"/>
          <p:nvPr/>
        </p:nvSpPr>
        <p:spPr>
          <a:xfrm>
            <a:off x="3784750" y="1761432"/>
            <a:ext cx="4774857" cy="186689"/>
          </a:xfrm>
          <a:prstGeom prst="rect">
            <a:avLst/>
          </a:prstGeom>
          <a:noFill/>
        </p:spPr>
        <p:txBody>
          <a:bodyPr wrap="none" lIns="0" rIns="0" tIns="0" bIns="0">
            <a:spAutoFit/>
          </a:bodyPr>
          <a:lstStyle/>
          <a:p>
            <a:r>
              <a:rPr sz="1100" b="0">
                <a:solidFill>
                  <a:srgbClr val="252423"/>
                </a:solidFill>
                <a:latin typeface="Segoe UI"/>
              </a:rPr>
              <a:t>Global demand expands at a 11.6% forecast CAGR (2026–2036), accelerating</a:t>
            </a:r>
          </a:p>
        </p:txBody>
      </p:sp>
      <p:sp>
        <p:nvSpPr>
          <p:cNvPr id="11" name="TextBox 10"/>
          <p:cNvSpPr txBox="1"/>
          <p:nvPr/>
        </p:nvSpPr>
        <p:spPr>
          <a:xfrm>
            <a:off x="3784750" y="1929072"/>
            <a:ext cx="370576" cy="186689"/>
          </a:xfrm>
          <a:prstGeom prst="rect">
            <a:avLst/>
          </a:prstGeom>
          <a:noFill/>
        </p:spPr>
        <p:txBody>
          <a:bodyPr wrap="none" lIns="0" rIns="0" tIns="0" bIns="0">
            <a:spAutoFit/>
          </a:bodyPr>
          <a:lstStyle/>
          <a:p>
            <a:r>
              <a:rPr sz="1100" b="0">
                <a:solidFill>
                  <a:srgbClr val="252423"/>
                </a:solidFill>
                <a:latin typeface="Segoe UI"/>
              </a:rPr>
              <a:t>from</a:t>
            </a:r>
          </a:p>
        </p:txBody>
      </p:sp>
      <p:pic>
        <p:nvPicPr>
          <p:cNvPr id="12" name="Picture 11" descr="lock.png"/>
          <p:cNvPicPr>
            <a:picLocks noChangeAspect="1"/>
          </p:cNvPicPr>
          <p:nvPr/>
        </p:nvPicPr>
        <p:blipFill>
          <a:blip r:embed="rId4"/>
          <a:stretch>
            <a:fillRect/>
          </a:stretch>
        </p:blipFill>
        <p:spPr>
          <a:xfrm>
            <a:off x="4103378" y="1919293"/>
            <a:ext cx="128699" cy="187198"/>
          </a:xfrm>
          <a:prstGeom prst="rect">
            <a:avLst/>
          </a:prstGeom>
        </p:spPr>
      </p:pic>
      <p:sp>
        <p:nvSpPr>
          <p:cNvPr id="13" name="TextBox 12"/>
          <p:cNvSpPr txBox="1"/>
          <p:nvPr/>
        </p:nvSpPr>
        <p:spPr>
          <a:xfrm>
            <a:off x="4270874" y="1929072"/>
            <a:ext cx="1201682" cy="186689"/>
          </a:xfrm>
          <a:prstGeom prst="rect">
            <a:avLst/>
          </a:prstGeom>
          <a:noFill/>
        </p:spPr>
        <p:txBody>
          <a:bodyPr wrap="none" lIns="0" rIns="0" tIns="0" bIns="0">
            <a:spAutoFit/>
          </a:bodyPr>
          <a:lstStyle/>
          <a:p>
            <a:r>
              <a:rPr sz="1100" b="0">
                <a:solidFill>
                  <a:srgbClr val="252423"/>
                </a:solidFill>
                <a:latin typeface="Segoe UI"/>
              </a:rPr>
              <a:t>across 2021–2025.</a:t>
            </a:r>
          </a:p>
        </p:txBody>
      </p:sp>
      <p:pic>
        <p:nvPicPr>
          <p:cNvPr id="14" name="Picture 13" descr="lock.png"/>
          <p:cNvPicPr>
            <a:picLocks noChangeAspect="1"/>
          </p:cNvPicPr>
          <p:nvPr/>
        </p:nvPicPr>
        <p:blipFill>
          <a:blip r:embed="rId4"/>
          <a:stretch>
            <a:fillRect/>
          </a:stretch>
        </p:blipFill>
        <p:spPr>
          <a:xfrm>
            <a:off x="7695247" y="2182603"/>
            <a:ext cx="366712" cy="533400"/>
          </a:xfrm>
          <a:prstGeom prst="rect">
            <a:avLst/>
          </a:prstGeom>
        </p:spPr>
      </p:pic>
      <p:sp>
        <p:nvSpPr>
          <p:cNvPr id="15" name="TextBox 14"/>
          <p:cNvSpPr txBox="1"/>
          <p:nvPr/>
        </p:nvSpPr>
        <p:spPr>
          <a:xfrm>
            <a:off x="8785375" y="2885713"/>
            <a:ext cx="1869909" cy="186689"/>
          </a:xfrm>
          <a:prstGeom prst="rect">
            <a:avLst/>
          </a:prstGeom>
          <a:noFill/>
        </p:spPr>
        <p:txBody>
          <a:bodyPr wrap="none" lIns="0" rIns="0" tIns="0" bIns="0">
            <a:spAutoFit/>
          </a:bodyPr>
          <a:lstStyle/>
          <a:p>
            <a:r>
              <a:rPr sz="1100" b="0">
                <a:solidFill>
                  <a:srgbClr val="252423"/>
                </a:solidFill>
                <a:latin typeface="Segoe UI"/>
              </a:rPr>
              <a:t>Lead: 1,500 Wh to 2,000 Wh ·</a:t>
            </a:r>
          </a:p>
        </p:txBody>
      </p:sp>
      <p:pic>
        <p:nvPicPr>
          <p:cNvPr id="16" name="Picture 15" descr="lock.png"/>
          <p:cNvPicPr>
            <a:picLocks noChangeAspect="1"/>
          </p:cNvPicPr>
          <p:nvPr/>
        </p:nvPicPr>
        <p:blipFill>
          <a:blip r:embed="rId4"/>
          <a:stretch>
            <a:fillRect/>
          </a:stretch>
        </p:blipFill>
        <p:spPr>
          <a:xfrm>
            <a:off x="10603335" y="2875934"/>
            <a:ext cx="128699" cy="187198"/>
          </a:xfrm>
          <a:prstGeom prst="rect">
            <a:avLst/>
          </a:prstGeom>
        </p:spPr>
      </p:pic>
      <p:sp>
        <p:nvSpPr>
          <p:cNvPr id="17" name="TextBox 16"/>
          <p:cNvSpPr txBox="1"/>
          <p:nvPr/>
        </p:nvSpPr>
        <p:spPr>
          <a:xfrm>
            <a:off x="10770831" y="2885713"/>
            <a:ext cx="831423" cy="186689"/>
          </a:xfrm>
          <a:prstGeom prst="rect">
            <a:avLst/>
          </a:prstGeom>
          <a:noFill/>
        </p:spPr>
        <p:txBody>
          <a:bodyPr wrap="none" lIns="0" rIns="0" tIns="0" bIns="0">
            <a:spAutoFit/>
          </a:bodyPr>
          <a:lstStyle/>
          <a:p>
            <a:r>
              <a:rPr sz="1100" b="0">
                <a:solidFill>
                  <a:srgbClr val="252423"/>
                </a:solidFill>
                <a:latin typeface="Segoe UI"/>
              </a:rPr>
              <a:t>share (2036)</a:t>
            </a:r>
          </a:p>
        </p:txBody>
      </p:sp>
      <p:sp>
        <p:nvSpPr>
          <p:cNvPr id="18" name="TextBox 17"/>
          <p:cNvSpPr txBox="1"/>
          <p:nvPr/>
        </p:nvSpPr>
        <p:spPr>
          <a:xfrm>
            <a:off x="3784750" y="3842354"/>
            <a:ext cx="4278484" cy="186689"/>
          </a:xfrm>
          <a:prstGeom prst="rect">
            <a:avLst/>
          </a:prstGeom>
          <a:noFill/>
        </p:spPr>
        <p:txBody>
          <a:bodyPr wrap="none" lIns="0" rIns="0" tIns="0" bIns="0">
            <a:spAutoFit/>
          </a:bodyPr>
          <a:lstStyle/>
          <a:p>
            <a:r>
              <a:rPr sz="1100" b="0">
                <a:solidFill>
                  <a:srgbClr val="252423"/>
                </a:solidFill>
                <a:latin typeface="Segoe UI"/>
              </a:rPr>
              <a:t>Outdoor &amp; Recreational Power is the fastest-growing part of System</a:t>
            </a:r>
          </a:p>
        </p:txBody>
      </p:sp>
      <p:sp>
        <p:nvSpPr>
          <p:cNvPr id="19" name="TextBox 18"/>
          <p:cNvSpPr txBox="1"/>
          <p:nvPr/>
        </p:nvSpPr>
        <p:spPr>
          <a:xfrm>
            <a:off x="3784750" y="4009994"/>
            <a:ext cx="1072926" cy="186689"/>
          </a:xfrm>
          <a:prstGeom prst="rect">
            <a:avLst/>
          </a:prstGeom>
          <a:noFill/>
        </p:spPr>
        <p:txBody>
          <a:bodyPr wrap="none" lIns="0" rIns="0" tIns="0" bIns="0">
            <a:spAutoFit/>
          </a:bodyPr>
          <a:lstStyle/>
          <a:p>
            <a:r>
              <a:rPr sz="1100" b="0">
                <a:solidFill>
                  <a:srgbClr val="252423"/>
                </a:solidFill>
                <a:latin typeface="Segoe UI"/>
              </a:rPr>
              <a:t>Application, at a</a:t>
            </a:r>
          </a:p>
        </p:txBody>
      </p:sp>
      <p:pic>
        <p:nvPicPr>
          <p:cNvPr id="20" name="Picture 19" descr="lock.png"/>
          <p:cNvPicPr>
            <a:picLocks noChangeAspect="1"/>
          </p:cNvPicPr>
          <p:nvPr/>
        </p:nvPicPr>
        <p:blipFill>
          <a:blip r:embed="rId4"/>
          <a:stretch>
            <a:fillRect/>
          </a:stretch>
        </p:blipFill>
        <p:spPr>
          <a:xfrm>
            <a:off x="4805728" y="4000215"/>
            <a:ext cx="128699" cy="187198"/>
          </a:xfrm>
          <a:prstGeom prst="rect">
            <a:avLst/>
          </a:prstGeom>
        </p:spPr>
      </p:pic>
      <p:sp>
        <p:nvSpPr>
          <p:cNvPr id="21" name="TextBox 20"/>
          <p:cNvSpPr txBox="1"/>
          <p:nvPr/>
        </p:nvSpPr>
        <p:spPr>
          <a:xfrm>
            <a:off x="4973224" y="4009994"/>
            <a:ext cx="2733642" cy="186689"/>
          </a:xfrm>
          <a:prstGeom prst="rect">
            <a:avLst/>
          </a:prstGeom>
          <a:noFill/>
        </p:spPr>
        <p:txBody>
          <a:bodyPr wrap="none" lIns="0" rIns="0" tIns="0" bIns="0">
            <a:spAutoFit/>
          </a:bodyPr>
          <a:lstStyle/>
          <a:p>
            <a:r>
              <a:rPr sz="1100" b="0">
                <a:solidFill>
                  <a:srgbClr val="252423"/>
                </a:solidFill>
                <a:latin typeface="Segoe UI"/>
              </a:rPr>
              <a:t>forecast CAGR outpacing the wider market.</a:t>
            </a:r>
          </a:p>
        </p:txBody>
      </p:sp>
      <p:sp>
        <p:nvSpPr>
          <p:cNvPr id="22" name="TextBox 21"/>
          <p:cNvSpPr txBox="1"/>
          <p:nvPr/>
        </p:nvSpPr>
        <p:spPr>
          <a:xfrm>
            <a:off x="8785375" y="3842354"/>
            <a:ext cx="2536195" cy="186689"/>
          </a:xfrm>
          <a:prstGeom prst="rect">
            <a:avLst/>
          </a:prstGeom>
          <a:noFill/>
        </p:spPr>
        <p:txBody>
          <a:bodyPr wrap="none" lIns="0" rIns="0" tIns="0" bIns="0">
            <a:spAutoFit/>
          </a:bodyPr>
          <a:lstStyle/>
          <a:p>
            <a:r>
              <a:rPr sz="1100" b="0">
                <a:solidFill>
                  <a:srgbClr val="252423"/>
                </a:solidFill>
                <a:latin typeface="Segoe UI"/>
              </a:rPr>
              <a:t>Fastest: Outdoor &amp; Recreational Power ·</a:t>
            </a:r>
          </a:p>
        </p:txBody>
      </p:sp>
      <p:pic>
        <p:nvPicPr>
          <p:cNvPr id="23" name="Picture 22" descr="lock.png"/>
          <p:cNvPicPr>
            <a:picLocks noChangeAspect="1"/>
          </p:cNvPicPr>
          <p:nvPr/>
        </p:nvPicPr>
        <p:blipFill>
          <a:blip r:embed="rId4"/>
          <a:stretch>
            <a:fillRect/>
          </a:stretch>
        </p:blipFill>
        <p:spPr>
          <a:xfrm>
            <a:off x="11269622" y="3832575"/>
            <a:ext cx="128699" cy="187198"/>
          </a:xfrm>
          <a:prstGeom prst="rect">
            <a:avLst/>
          </a:prstGeom>
        </p:spPr>
      </p:pic>
      <p:sp>
        <p:nvSpPr>
          <p:cNvPr id="24" name="TextBox 23"/>
          <p:cNvSpPr txBox="1"/>
          <p:nvPr/>
        </p:nvSpPr>
        <p:spPr>
          <a:xfrm>
            <a:off x="8785375" y="4009994"/>
            <a:ext cx="556116" cy="186689"/>
          </a:xfrm>
          <a:prstGeom prst="rect">
            <a:avLst/>
          </a:prstGeom>
          <a:noFill/>
        </p:spPr>
        <p:txBody>
          <a:bodyPr wrap="none" lIns="0" rIns="0" tIns="0" bIns="0">
            <a:spAutoFit/>
          </a:bodyPr>
          <a:lstStyle/>
          <a:p>
            <a:r>
              <a:rPr sz="1100" b="0">
                <a:solidFill>
                  <a:srgbClr val="252423"/>
                </a:solidFill>
                <a:latin typeface="Segoe UI"/>
              </a:rPr>
              <a:t>F-CAGR</a:t>
            </a:r>
          </a:p>
        </p:txBody>
      </p:sp>
      <p:sp>
        <p:nvSpPr>
          <p:cNvPr id="25" name="TextBox 24"/>
          <p:cNvSpPr txBox="1"/>
          <p:nvPr/>
        </p:nvSpPr>
        <p:spPr>
          <a:xfrm>
            <a:off x="3784750" y="4882815"/>
            <a:ext cx="2891989" cy="186689"/>
          </a:xfrm>
          <a:prstGeom prst="rect">
            <a:avLst/>
          </a:prstGeom>
          <a:noFill/>
        </p:spPr>
        <p:txBody>
          <a:bodyPr wrap="none" lIns="0" rIns="0" tIns="0" bIns="0">
            <a:spAutoFit/>
          </a:bodyPr>
          <a:lstStyle/>
          <a:p>
            <a:r>
              <a:rPr sz="1100" b="0">
                <a:solidFill>
                  <a:srgbClr val="252423"/>
                </a:solidFill>
                <a:latin typeface="Segoe UI"/>
              </a:rPr>
              <a:t>North America is the largest regional market (</a:t>
            </a:r>
          </a:p>
        </p:txBody>
      </p:sp>
      <p:pic>
        <p:nvPicPr>
          <p:cNvPr id="26" name="Picture 25" descr="lock.png"/>
          <p:cNvPicPr>
            <a:picLocks noChangeAspect="1"/>
          </p:cNvPicPr>
          <p:nvPr/>
        </p:nvPicPr>
        <p:blipFill>
          <a:blip r:embed="rId4"/>
          <a:stretch>
            <a:fillRect/>
          </a:stretch>
        </p:blipFill>
        <p:spPr>
          <a:xfrm>
            <a:off x="6624791" y="4873036"/>
            <a:ext cx="128699" cy="187198"/>
          </a:xfrm>
          <a:prstGeom prst="rect">
            <a:avLst/>
          </a:prstGeom>
        </p:spPr>
      </p:pic>
      <p:sp>
        <p:nvSpPr>
          <p:cNvPr id="27" name="TextBox 26"/>
          <p:cNvSpPr txBox="1"/>
          <p:nvPr/>
        </p:nvSpPr>
        <p:spPr>
          <a:xfrm>
            <a:off x="6792287" y="4882815"/>
            <a:ext cx="1735060" cy="186689"/>
          </a:xfrm>
          <a:prstGeom prst="rect">
            <a:avLst/>
          </a:prstGeom>
          <a:noFill/>
        </p:spPr>
        <p:txBody>
          <a:bodyPr wrap="none" lIns="0" rIns="0" tIns="0" bIns="0">
            <a:spAutoFit/>
          </a:bodyPr>
          <a:lstStyle/>
          <a:p>
            <a:r>
              <a:rPr sz="1100" b="0">
                <a:solidFill>
                  <a:srgbClr val="252423"/>
                </a:solidFill>
                <a:latin typeface="Segoe UI"/>
              </a:rPr>
              <a:t>of 2036 value), while South</a:t>
            </a:r>
          </a:p>
        </p:txBody>
      </p:sp>
      <p:sp>
        <p:nvSpPr>
          <p:cNvPr id="28" name="TextBox 27"/>
          <p:cNvSpPr txBox="1"/>
          <p:nvPr/>
        </p:nvSpPr>
        <p:spPr>
          <a:xfrm>
            <a:off x="3784750" y="5050455"/>
            <a:ext cx="1916468" cy="186689"/>
          </a:xfrm>
          <a:prstGeom prst="rect">
            <a:avLst/>
          </a:prstGeom>
          <a:noFill/>
        </p:spPr>
        <p:txBody>
          <a:bodyPr wrap="none" lIns="0" rIns="0" tIns="0" bIns="0">
            <a:spAutoFit/>
          </a:bodyPr>
          <a:lstStyle/>
          <a:p>
            <a:r>
              <a:rPr sz="1100" b="0">
                <a:solidFill>
                  <a:srgbClr val="252423"/>
                </a:solidFill>
                <a:latin typeface="Segoe UI"/>
              </a:rPr>
              <a:t>Asia &amp; Pacific grows fastest at</a:t>
            </a:r>
          </a:p>
        </p:txBody>
      </p:sp>
      <p:pic>
        <p:nvPicPr>
          <p:cNvPr id="29" name="Picture 28" descr="lock.png"/>
          <p:cNvPicPr>
            <a:picLocks noChangeAspect="1"/>
          </p:cNvPicPr>
          <p:nvPr/>
        </p:nvPicPr>
        <p:blipFill>
          <a:blip r:embed="rId4"/>
          <a:stretch>
            <a:fillRect/>
          </a:stretch>
        </p:blipFill>
        <p:spPr>
          <a:xfrm>
            <a:off x="5649270" y="5040676"/>
            <a:ext cx="128699" cy="187198"/>
          </a:xfrm>
          <a:prstGeom prst="rect">
            <a:avLst/>
          </a:prstGeom>
        </p:spPr>
      </p:pic>
      <p:sp>
        <p:nvSpPr>
          <p:cNvPr id="30" name="TextBox 29"/>
          <p:cNvSpPr txBox="1"/>
          <p:nvPr/>
        </p:nvSpPr>
        <p:spPr>
          <a:xfrm>
            <a:off x="5816766" y="5050455"/>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31" name="TextBox 30"/>
          <p:cNvSpPr txBox="1"/>
          <p:nvPr/>
        </p:nvSpPr>
        <p:spPr>
          <a:xfrm>
            <a:off x="8785375" y="4882815"/>
            <a:ext cx="1574462" cy="186689"/>
          </a:xfrm>
          <a:prstGeom prst="rect">
            <a:avLst/>
          </a:prstGeom>
          <a:noFill/>
        </p:spPr>
        <p:txBody>
          <a:bodyPr wrap="none" lIns="0" rIns="0" tIns="0" bIns="0">
            <a:spAutoFit/>
          </a:bodyPr>
          <a:lstStyle/>
          <a:p>
            <a:r>
              <a:rPr sz="1100" b="0">
                <a:solidFill>
                  <a:srgbClr val="252423"/>
                </a:solidFill>
                <a:latin typeface="Segoe UI"/>
              </a:rPr>
              <a:t>Largest: North America (</a:t>
            </a:r>
          </a:p>
        </p:txBody>
      </p:sp>
      <p:pic>
        <p:nvPicPr>
          <p:cNvPr id="32" name="Picture 31" descr="lock.png"/>
          <p:cNvPicPr>
            <a:picLocks noChangeAspect="1"/>
          </p:cNvPicPr>
          <p:nvPr/>
        </p:nvPicPr>
        <p:blipFill>
          <a:blip r:embed="rId4"/>
          <a:stretch>
            <a:fillRect/>
          </a:stretch>
        </p:blipFill>
        <p:spPr>
          <a:xfrm>
            <a:off x="10307888" y="4873036"/>
            <a:ext cx="128699" cy="187198"/>
          </a:xfrm>
          <a:prstGeom prst="rect">
            <a:avLst/>
          </a:prstGeom>
        </p:spPr>
      </p:pic>
      <p:sp>
        <p:nvSpPr>
          <p:cNvPr id="33" name="TextBox 32"/>
          <p:cNvSpPr txBox="1"/>
          <p:nvPr/>
        </p:nvSpPr>
        <p:spPr>
          <a:xfrm>
            <a:off x="10475384" y="4882815"/>
            <a:ext cx="1373783" cy="186689"/>
          </a:xfrm>
          <a:prstGeom prst="rect">
            <a:avLst/>
          </a:prstGeom>
          <a:noFill/>
        </p:spPr>
        <p:txBody>
          <a:bodyPr wrap="none" lIns="0" rIns="0" tIns="0" bIns="0">
            <a:spAutoFit/>
          </a:bodyPr>
          <a:lstStyle/>
          <a:p>
            <a:r>
              <a:rPr sz="1100" b="0">
                <a:solidFill>
                  <a:srgbClr val="252423"/>
                </a:solidFill>
                <a:latin typeface="Segoe UI"/>
              </a:rPr>
              <a:t>) · Fastest: South Asia</a:t>
            </a:r>
          </a:p>
        </p:txBody>
      </p:sp>
      <p:sp>
        <p:nvSpPr>
          <p:cNvPr id="34" name="TextBox 33"/>
          <p:cNvSpPr txBox="1"/>
          <p:nvPr/>
        </p:nvSpPr>
        <p:spPr>
          <a:xfrm>
            <a:off x="8785375" y="5050455"/>
            <a:ext cx="696869" cy="186689"/>
          </a:xfrm>
          <a:prstGeom prst="rect">
            <a:avLst/>
          </a:prstGeom>
          <a:noFill/>
        </p:spPr>
        <p:txBody>
          <a:bodyPr wrap="none" lIns="0" rIns="0" tIns="0" bIns="0">
            <a:spAutoFit/>
          </a:bodyPr>
          <a:lstStyle/>
          <a:p>
            <a:r>
              <a:rPr sz="1100" b="0">
                <a:solidFill>
                  <a:srgbClr val="252423"/>
                </a:solidFill>
                <a:latin typeface="Segoe UI"/>
              </a:rPr>
              <a:t>&amp; Pacific (</a:t>
            </a:r>
          </a:p>
        </p:txBody>
      </p:sp>
      <p:pic>
        <p:nvPicPr>
          <p:cNvPr id="35" name="Picture 34" descr="lock.png"/>
          <p:cNvPicPr>
            <a:picLocks noChangeAspect="1"/>
          </p:cNvPicPr>
          <p:nvPr/>
        </p:nvPicPr>
        <p:blipFill>
          <a:blip r:embed="rId4"/>
          <a:stretch>
            <a:fillRect/>
          </a:stretch>
        </p:blipFill>
        <p:spPr>
          <a:xfrm>
            <a:off x="9430295" y="5040676"/>
            <a:ext cx="128699" cy="187198"/>
          </a:xfrm>
          <a:prstGeom prst="rect">
            <a:avLst/>
          </a:prstGeom>
        </p:spPr>
      </p:pic>
      <p:sp>
        <p:nvSpPr>
          <p:cNvPr id="36" name="TextBox 35"/>
          <p:cNvSpPr txBox="1"/>
          <p:nvPr/>
        </p:nvSpPr>
        <p:spPr>
          <a:xfrm>
            <a:off x="9597791" y="5050455"/>
            <a:ext cx="118491" cy="186689"/>
          </a:xfrm>
          <a:prstGeom prst="rect">
            <a:avLst/>
          </a:prstGeom>
          <a:noFill/>
        </p:spPr>
        <p:txBody>
          <a:bodyPr wrap="none" lIns="0" rIns="0" tIns="0" bIns="0">
            <a:spAutoFit/>
          </a:bodyPr>
          <a:lstStyle/>
          <a:p>
            <a:r>
              <a:rPr sz="1100" b="0">
                <a:solidFill>
                  <a:srgbClr val="252423"/>
                </a:solidFill>
                <a:latin typeface="Segoe UI"/>
              </a:rPr>
              <a:t>)</a:t>
            </a:r>
          </a:p>
        </p:txBody>
      </p:sp>
      <p:sp>
        <p:nvSpPr>
          <p:cNvPr id="37" name="TextBox 36"/>
          <p:cNvSpPr txBox="1"/>
          <p:nvPr/>
        </p:nvSpPr>
        <p:spPr>
          <a:xfrm>
            <a:off x="3784750" y="5923276"/>
            <a:ext cx="1007958" cy="186689"/>
          </a:xfrm>
          <a:prstGeom prst="rect">
            <a:avLst/>
          </a:prstGeom>
          <a:noFill/>
        </p:spPr>
        <p:txBody>
          <a:bodyPr wrap="none" lIns="0" rIns="0" tIns="0" bIns="0">
            <a:spAutoFit/>
          </a:bodyPr>
          <a:lstStyle/>
          <a:p>
            <a:r>
              <a:rPr sz="1100" b="0">
                <a:solidFill>
                  <a:srgbClr val="252423"/>
                </a:solidFill>
                <a:latin typeface="Segoe UI"/>
              </a:rPr>
              <a:t>An incremental</a:t>
            </a:r>
          </a:p>
        </p:txBody>
      </p:sp>
      <p:pic>
        <p:nvPicPr>
          <p:cNvPr id="38" name="Picture 37" descr="lock.png"/>
          <p:cNvPicPr>
            <a:picLocks noChangeAspect="1"/>
          </p:cNvPicPr>
          <p:nvPr/>
        </p:nvPicPr>
        <p:blipFill>
          <a:blip r:embed="rId4"/>
          <a:stretch>
            <a:fillRect/>
          </a:stretch>
        </p:blipFill>
        <p:spPr>
          <a:xfrm>
            <a:off x="4740759" y="5913497"/>
            <a:ext cx="128699" cy="187198"/>
          </a:xfrm>
          <a:prstGeom prst="rect">
            <a:avLst/>
          </a:prstGeom>
        </p:spPr>
      </p:pic>
      <p:sp>
        <p:nvSpPr>
          <p:cNvPr id="39" name="TextBox 38"/>
          <p:cNvSpPr txBox="1"/>
          <p:nvPr/>
        </p:nvSpPr>
        <p:spPr>
          <a:xfrm>
            <a:off x="4908255" y="5923276"/>
            <a:ext cx="3383386" cy="186689"/>
          </a:xfrm>
          <a:prstGeom prst="rect">
            <a:avLst/>
          </a:prstGeom>
          <a:noFill/>
        </p:spPr>
        <p:txBody>
          <a:bodyPr wrap="none" lIns="0" rIns="0" tIns="0" bIns="0">
            <a:spAutoFit/>
          </a:bodyPr>
          <a:lstStyle/>
          <a:p>
            <a:r>
              <a:rPr sz="1100" b="0">
                <a:solidFill>
                  <a:srgbClr val="252423"/>
                </a:solidFill>
                <a:latin typeface="Segoe UI"/>
              </a:rPr>
              <a:t>US$ Mn of demand is added between 2026 and 2036,</a:t>
            </a:r>
          </a:p>
        </p:txBody>
      </p:sp>
      <p:sp>
        <p:nvSpPr>
          <p:cNvPr id="40" name="TextBox 39"/>
          <p:cNvSpPr txBox="1"/>
          <p:nvPr/>
        </p:nvSpPr>
        <p:spPr>
          <a:xfrm>
            <a:off x="3784750" y="6090916"/>
            <a:ext cx="3625214" cy="186689"/>
          </a:xfrm>
          <a:prstGeom prst="rect">
            <a:avLst/>
          </a:prstGeom>
          <a:noFill/>
        </p:spPr>
        <p:txBody>
          <a:bodyPr wrap="none" lIns="0" rIns="0" tIns="0" bIns="0">
            <a:spAutoFit/>
          </a:bodyPr>
          <a:lstStyle/>
          <a:p>
            <a:r>
              <a:rPr sz="1100" b="0">
                <a:solidFill>
                  <a:srgbClr val="252423"/>
                </a:solidFill>
                <a:latin typeface="Segoe UI"/>
              </a:rPr>
              <a:t>front-loaded in the leading categories and regions above.</a:t>
            </a:r>
          </a:p>
        </p:txBody>
      </p:sp>
      <p:sp>
        <p:nvSpPr>
          <p:cNvPr id="41" name="TextBox 40"/>
          <p:cNvSpPr txBox="1"/>
          <p:nvPr/>
        </p:nvSpPr>
        <p:spPr>
          <a:xfrm>
            <a:off x="8785375" y="5923276"/>
            <a:ext cx="921012" cy="186689"/>
          </a:xfrm>
          <a:prstGeom prst="rect">
            <a:avLst/>
          </a:prstGeom>
          <a:noFill/>
        </p:spPr>
        <p:txBody>
          <a:bodyPr wrap="none" lIns="0" rIns="0" tIns="0" bIns="0">
            <a:spAutoFit/>
          </a:bodyPr>
          <a:lstStyle/>
          <a:p>
            <a:r>
              <a:rPr sz="1100" b="0">
                <a:solidFill>
                  <a:srgbClr val="252423"/>
                </a:solidFill>
                <a:latin typeface="Segoe UI"/>
              </a:rPr>
              <a:t>$ opportunity</a:t>
            </a:r>
          </a:p>
        </p:txBody>
      </p:sp>
      <p:pic>
        <p:nvPicPr>
          <p:cNvPr id="42" name="Picture 41" descr="lock.png"/>
          <p:cNvPicPr>
            <a:picLocks noChangeAspect="1"/>
          </p:cNvPicPr>
          <p:nvPr/>
        </p:nvPicPr>
        <p:blipFill>
          <a:blip r:embed="rId4"/>
          <a:stretch>
            <a:fillRect/>
          </a:stretch>
        </p:blipFill>
        <p:spPr>
          <a:xfrm>
            <a:off x="9654438" y="5913497"/>
            <a:ext cx="128699" cy="187198"/>
          </a:xfrm>
          <a:prstGeom prst="rect">
            <a:avLst/>
          </a:prstGeom>
        </p:spPr>
      </p:pic>
      <p:sp>
        <p:nvSpPr>
          <p:cNvPr id="43" name="TextBox 42"/>
          <p:cNvSpPr txBox="1"/>
          <p:nvPr/>
        </p:nvSpPr>
        <p:spPr>
          <a:xfrm>
            <a:off x="9821934" y="5923276"/>
            <a:ext cx="1428179" cy="186689"/>
          </a:xfrm>
          <a:prstGeom prst="rect">
            <a:avLst/>
          </a:prstGeom>
          <a:noFill/>
        </p:spPr>
        <p:txBody>
          <a:bodyPr wrap="none" lIns="0" rIns="0" tIns="0" bIns="0">
            <a:spAutoFit/>
          </a:bodyPr>
          <a:lstStyle/>
          <a:p>
            <a:r>
              <a:rPr sz="1100" b="0">
                <a:solidFill>
                  <a:srgbClr val="252423"/>
                </a:solidFill>
                <a:latin typeface="Segoe UI"/>
              </a:rPr>
              <a:t>US$ Mn (2026–2036) ·</a:t>
            </a:r>
          </a:p>
        </p:txBody>
      </p:sp>
      <p:pic>
        <p:nvPicPr>
          <p:cNvPr id="44" name="Picture 43" descr="lock.png"/>
          <p:cNvPicPr>
            <a:picLocks noChangeAspect="1"/>
          </p:cNvPicPr>
          <p:nvPr/>
        </p:nvPicPr>
        <p:blipFill>
          <a:blip r:embed="rId4"/>
          <a:stretch>
            <a:fillRect/>
          </a:stretch>
        </p:blipFill>
        <p:spPr>
          <a:xfrm>
            <a:off x="11198165" y="5913497"/>
            <a:ext cx="128699" cy="187198"/>
          </a:xfrm>
          <a:prstGeom prst="rect">
            <a:avLst/>
          </a:prstGeom>
        </p:spPr>
      </p:pic>
      <p:sp>
        <p:nvSpPr>
          <p:cNvPr id="45" name="TextBox 44"/>
          <p:cNvSpPr txBox="1"/>
          <p:nvPr/>
        </p:nvSpPr>
        <p:spPr>
          <a:xfrm>
            <a:off x="11365661" y="5923276"/>
            <a:ext cx="225995" cy="186689"/>
          </a:xfrm>
          <a:prstGeom prst="rect">
            <a:avLst/>
          </a:prstGeom>
          <a:noFill/>
        </p:spPr>
        <p:txBody>
          <a:bodyPr wrap="none" lIns="0" rIns="0" tIns="0" bIns="0">
            <a:spAutoFit/>
          </a:bodyPr>
          <a:lstStyle/>
          <a:p>
            <a:r>
              <a:rPr sz="1100" b="0">
                <a:solidFill>
                  <a:srgbClr val="252423"/>
                </a:solidFill>
                <a:latin typeface="Segoe UI"/>
              </a:rPr>
              <a:t>by</a:t>
            </a:r>
          </a:p>
        </p:txBody>
      </p:sp>
      <p:sp>
        <p:nvSpPr>
          <p:cNvPr id="46" name="TextBox 45"/>
          <p:cNvSpPr txBox="1"/>
          <p:nvPr/>
        </p:nvSpPr>
        <p:spPr>
          <a:xfrm>
            <a:off x="8785375" y="6090916"/>
            <a:ext cx="377428" cy="186689"/>
          </a:xfrm>
          <a:prstGeom prst="rect">
            <a:avLst/>
          </a:prstGeom>
          <a:noFill/>
        </p:spPr>
        <p:txBody>
          <a:bodyPr wrap="none" lIns="0" rIns="0" tIns="0" bIns="0">
            <a:spAutoFit/>
          </a:bodyPr>
          <a:lstStyle/>
          <a:p>
            <a:r>
              <a:rPr sz="1100" b="0">
                <a:solidFill>
                  <a:srgbClr val="252423"/>
                </a:solidFill>
                <a:latin typeface="Segoe UI"/>
              </a:rPr>
              <a:t>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Taxonomy</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Table of Contents</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Taxonomy Regions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Geographic scope of the study: the global market broken into 7 regions and the countries assessed under each</a:t>
            </a:r>
          </a:p>
        </p:txBody>
      </p:sp>
      <p:cxnSp>
        <p:nvCxnSpPr>
          <p:cNvPr id="8" name="Connector 7"/>
          <p:cNvCxnSpPr/>
          <p:nvPr/>
        </p:nvCxnSpPr>
        <p:spPr>
          <a:xfrm>
            <a:off x="6096000" y="1618760"/>
            <a:ext cx="0" cy="173410"/>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2975" y="1792170"/>
            <a:ext cx="10296525" cy="0"/>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2975"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657475"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71975"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86475"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10500"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25000"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239500" y="1792170"/>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9650"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9650" y="270485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9650" y="322508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24150"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24150" y="270485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24150" y="3225085"/>
            <a:ext cx="0" cy="209918"/>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38650"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38650" y="270485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38650" y="3234212"/>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8650" y="3763569"/>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38650" y="4292927"/>
            <a:ext cx="0" cy="237298"/>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38650" y="4831411"/>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38650" y="5360768"/>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38650" y="589012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53150"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53150" y="270485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53150" y="322508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53150" y="3754443"/>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53150" y="4457210"/>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77175" y="270485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77175" y="322508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91675"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270485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3225085"/>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91675" y="3918726"/>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306175" y="223938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306175" y="2878265"/>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3407622"/>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3927853"/>
            <a:ext cx="0" cy="219044"/>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4448083"/>
            <a:ext cx="0" cy="228171"/>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495800" y="1080276"/>
            <a:ext cx="3190875" cy="538484"/>
          </a:xfrm>
          <a:prstGeom prst="roundRect">
            <a:avLst>
              <a:gd name="adj" fmla="val 11864"/>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300" b="1">
                <a:solidFill>
                  <a:srgbClr val="FFFFFF"/>
                </a:solidFill>
                <a:latin typeface="Segoe UI"/>
              </a:rPr>
              <a:t>Lithium Polymer Portable Energy Storage Market</a:t>
            </a:r>
          </a:p>
        </p:txBody>
      </p:sp>
      <p:sp>
        <p:nvSpPr>
          <p:cNvPr id="49" name="Rounded Rectangle 48"/>
          <p:cNvSpPr/>
          <p:nvPr/>
        </p:nvSpPr>
        <p:spPr>
          <a:xfrm>
            <a:off x="142875"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North America</a:t>
            </a:r>
          </a:p>
        </p:txBody>
      </p:sp>
      <p:sp>
        <p:nvSpPr>
          <p:cNvPr id="50" name="Rounded Rectangle 49"/>
          <p:cNvSpPr/>
          <p:nvPr/>
        </p:nvSpPr>
        <p:spPr>
          <a:xfrm>
            <a:off x="276225"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United States</a:t>
            </a:r>
          </a:p>
        </p:txBody>
      </p:sp>
      <p:sp>
        <p:nvSpPr>
          <p:cNvPr id="51" name="Rounded Rectangle 50"/>
          <p:cNvSpPr/>
          <p:nvPr/>
        </p:nvSpPr>
        <p:spPr>
          <a:xfrm>
            <a:off x="276225" y="29238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Canada</a:t>
            </a:r>
          </a:p>
        </p:txBody>
      </p:sp>
      <p:sp>
        <p:nvSpPr>
          <p:cNvPr id="52" name="Rounded Rectangle 51"/>
          <p:cNvSpPr/>
          <p:nvPr/>
        </p:nvSpPr>
        <p:spPr>
          <a:xfrm>
            <a:off x="276225" y="345325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Mexico</a:t>
            </a:r>
          </a:p>
        </p:txBody>
      </p:sp>
      <p:sp>
        <p:nvSpPr>
          <p:cNvPr id="53" name="Rounded Rectangle 52"/>
          <p:cNvSpPr/>
          <p:nvPr/>
        </p:nvSpPr>
        <p:spPr>
          <a:xfrm>
            <a:off x="1857375"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Latin America</a:t>
            </a:r>
          </a:p>
        </p:txBody>
      </p:sp>
      <p:sp>
        <p:nvSpPr>
          <p:cNvPr id="54" name="Rounded Rectangle 53"/>
          <p:cNvSpPr/>
          <p:nvPr/>
        </p:nvSpPr>
        <p:spPr>
          <a:xfrm>
            <a:off x="1990725"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Brazil</a:t>
            </a:r>
          </a:p>
        </p:txBody>
      </p:sp>
      <p:sp>
        <p:nvSpPr>
          <p:cNvPr id="55" name="Rounded Rectangle 54"/>
          <p:cNvSpPr/>
          <p:nvPr/>
        </p:nvSpPr>
        <p:spPr>
          <a:xfrm>
            <a:off x="1990725" y="29238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Chile</a:t>
            </a:r>
          </a:p>
        </p:txBody>
      </p:sp>
      <p:sp>
        <p:nvSpPr>
          <p:cNvPr id="56" name="Rounded Rectangle 55"/>
          <p:cNvSpPr/>
          <p:nvPr/>
        </p:nvSpPr>
        <p:spPr>
          <a:xfrm>
            <a:off x="1990725" y="3435003"/>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Latin America</a:t>
            </a:r>
          </a:p>
        </p:txBody>
      </p:sp>
      <p:sp>
        <p:nvSpPr>
          <p:cNvPr id="57" name="Rounded Rectangle 56"/>
          <p:cNvSpPr/>
          <p:nvPr/>
        </p:nvSpPr>
        <p:spPr>
          <a:xfrm>
            <a:off x="3571875"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Western Europe</a:t>
            </a:r>
          </a:p>
        </p:txBody>
      </p:sp>
      <p:sp>
        <p:nvSpPr>
          <p:cNvPr id="58" name="Rounded Rectangle 57"/>
          <p:cNvSpPr/>
          <p:nvPr/>
        </p:nvSpPr>
        <p:spPr>
          <a:xfrm>
            <a:off x="3705225"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Germany</a:t>
            </a:r>
          </a:p>
        </p:txBody>
      </p:sp>
      <p:sp>
        <p:nvSpPr>
          <p:cNvPr id="59" name="Rounded Rectangle 58"/>
          <p:cNvSpPr/>
          <p:nvPr/>
        </p:nvSpPr>
        <p:spPr>
          <a:xfrm>
            <a:off x="3705225" y="2933026"/>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Italy</a:t>
            </a:r>
          </a:p>
        </p:txBody>
      </p:sp>
      <p:sp>
        <p:nvSpPr>
          <p:cNvPr id="60" name="Rounded Rectangle 59"/>
          <p:cNvSpPr/>
          <p:nvPr/>
        </p:nvSpPr>
        <p:spPr>
          <a:xfrm>
            <a:off x="3705225" y="3462383"/>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France</a:t>
            </a:r>
          </a:p>
        </p:txBody>
      </p:sp>
      <p:sp>
        <p:nvSpPr>
          <p:cNvPr id="61" name="Rounded Rectangle 60"/>
          <p:cNvSpPr/>
          <p:nvPr/>
        </p:nvSpPr>
        <p:spPr>
          <a:xfrm>
            <a:off x="3705225" y="3991741"/>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United Kingdom</a:t>
            </a:r>
          </a:p>
        </p:txBody>
      </p:sp>
      <p:sp>
        <p:nvSpPr>
          <p:cNvPr id="62" name="Rounded Rectangle 61"/>
          <p:cNvSpPr/>
          <p:nvPr/>
        </p:nvSpPr>
        <p:spPr>
          <a:xfrm>
            <a:off x="3705225" y="4530225"/>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Spain</a:t>
            </a:r>
          </a:p>
        </p:txBody>
      </p:sp>
      <p:sp>
        <p:nvSpPr>
          <p:cNvPr id="63" name="Rounded Rectangle 62"/>
          <p:cNvSpPr/>
          <p:nvPr/>
        </p:nvSpPr>
        <p:spPr>
          <a:xfrm>
            <a:off x="3705225" y="5059582"/>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BENELUX</a:t>
            </a:r>
          </a:p>
        </p:txBody>
      </p:sp>
      <p:sp>
        <p:nvSpPr>
          <p:cNvPr id="64" name="Rounded Rectangle 63"/>
          <p:cNvSpPr/>
          <p:nvPr/>
        </p:nvSpPr>
        <p:spPr>
          <a:xfrm>
            <a:off x="3705225" y="55889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Nordic Countries</a:t>
            </a:r>
          </a:p>
        </p:txBody>
      </p:sp>
      <p:sp>
        <p:nvSpPr>
          <p:cNvPr id="65" name="Rounded Rectangle 64"/>
          <p:cNvSpPr/>
          <p:nvPr/>
        </p:nvSpPr>
        <p:spPr>
          <a:xfrm>
            <a:off x="3705225" y="6118296"/>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Western Europe</a:t>
            </a:r>
          </a:p>
        </p:txBody>
      </p:sp>
      <p:sp>
        <p:nvSpPr>
          <p:cNvPr id="66" name="Rounded Rectangle 65"/>
          <p:cNvSpPr/>
          <p:nvPr/>
        </p:nvSpPr>
        <p:spPr>
          <a:xfrm>
            <a:off x="5286375"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Eastern Europe</a:t>
            </a:r>
          </a:p>
        </p:txBody>
      </p:sp>
      <p:sp>
        <p:nvSpPr>
          <p:cNvPr id="67" name="Rounded Rectangle 66"/>
          <p:cNvSpPr/>
          <p:nvPr/>
        </p:nvSpPr>
        <p:spPr>
          <a:xfrm>
            <a:off x="5419725"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Russia</a:t>
            </a:r>
          </a:p>
        </p:txBody>
      </p:sp>
      <p:sp>
        <p:nvSpPr>
          <p:cNvPr id="68" name="Rounded Rectangle 67"/>
          <p:cNvSpPr/>
          <p:nvPr/>
        </p:nvSpPr>
        <p:spPr>
          <a:xfrm>
            <a:off x="5419725" y="29238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Hungary</a:t>
            </a:r>
          </a:p>
        </p:txBody>
      </p:sp>
      <p:sp>
        <p:nvSpPr>
          <p:cNvPr id="69" name="Rounded Rectangle 68"/>
          <p:cNvSpPr/>
          <p:nvPr/>
        </p:nvSpPr>
        <p:spPr>
          <a:xfrm>
            <a:off x="5419725" y="345325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Poland</a:t>
            </a:r>
          </a:p>
        </p:txBody>
      </p:sp>
      <p:sp>
        <p:nvSpPr>
          <p:cNvPr id="70" name="Rounded Rectangle 69"/>
          <p:cNvSpPr/>
          <p:nvPr/>
        </p:nvSpPr>
        <p:spPr>
          <a:xfrm>
            <a:off x="5419725" y="3982614"/>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Balkan &amp; Baltic Countries</a:t>
            </a:r>
          </a:p>
        </p:txBody>
      </p:sp>
      <p:sp>
        <p:nvSpPr>
          <p:cNvPr id="71" name="Rounded Rectangle 70"/>
          <p:cNvSpPr/>
          <p:nvPr/>
        </p:nvSpPr>
        <p:spPr>
          <a:xfrm>
            <a:off x="5419725" y="4676254"/>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Eastern Europe</a:t>
            </a:r>
          </a:p>
        </p:txBody>
      </p:sp>
      <p:sp>
        <p:nvSpPr>
          <p:cNvPr id="72" name="Rounded Rectangle 71"/>
          <p:cNvSpPr/>
          <p:nvPr/>
        </p:nvSpPr>
        <p:spPr>
          <a:xfrm>
            <a:off x="7010400"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East Asia</a:t>
            </a:r>
          </a:p>
        </p:txBody>
      </p:sp>
      <p:sp>
        <p:nvSpPr>
          <p:cNvPr id="73" name="Rounded Rectangle 72"/>
          <p:cNvSpPr/>
          <p:nvPr/>
        </p:nvSpPr>
        <p:spPr>
          <a:xfrm>
            <a:off x="7143750"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China</a:t>
            </a:r>
          </a:p>
        </p:txBody>
      </p:sp>
      <p:sp>
        <p:nvSpPr>
          <p:cNvPr id="74" name="Rounded Rectangle 73"/>
          <p:cNvSpPr/>
          <p:nvPr/>
        </p:nvSpPr>
        <p:spPr>
          <a:xfrm>
            <a:off x="7143750" y="29238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Japan</a:t>
            </a:r>
          </a:p>
        </p:txBody>
      </p:sp>
      <p:sp>
        <p:nvSpPr>
          <p:cNvPr id="75" name="Rounded Rectangle 74"/>
          <p:cNvSpPr/>
          <p:nvPr/>
        </p:nvSpPr>
        <p:spPr>
          <a:xfrm>
            <a:off x="7143750" y="345325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South Korea</a:t>
            </a:r>
          </a:p>
        </p:txBody>
      </p:sp>
      <p:sp>
        <p:nvSpPr>
          <p:cNvPr id="76" name="Rounded Rectangle 75"/>
          <p:cNvSpPr/>
          <p:nvPr/>
        </p:nvSpPr>
        <p:spPr>
          <a:xfrm>
            <a:off x="8724900"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South Asia &amp; Pacific</a:t>
            </a:r>
          </a:p>
        </p:txBody>
      </p:sp>
      <p:sp>
        <p:nvSpPr>
          <p:cNvPr id="77" name="Rounded Rectangle 76"/>
          <p:cNvSpPr/>
          <p:nvPr/>
        </p:nvSpPr>
        <p:spPr>
          <a:xfrm>
            <a:off x="8858250" y="240366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India</a:t>
            </a:r>
          </a:p>
        </p:txBody>
      </p:sp>
      <p:sp>
        <p:nvSpPr>
          <p:cNvPr id="78" name="Rounded Rectangle 77"/>
          <p:cNvSpPr/>
          <p:nvPr/>
        </p:nvSpPr>
        <p:spPr>
          <a:xfrm>
            <a:off x="8858250" y="29238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ASEAN</a:t>
            </a:r>
          </a:p>
        </p:txBody>
      </p:sp>
      <p:sp>
        <p:nvSpPr>
          <p:cNvPr id="79" name="Rounded Rectangle 78"/>
          <p:cNvSpPr/>
          <p:nvPr/>
        </p:nvSpPr>
        <p:spPr>
          <a:xfrm>
            <a:off x="8858250" y="3444130"/>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Australia &amp; New Zealand</a:t>
            </a:r>
          </a:p>
        </p:txBody>
      </p:sp>
      <p:sp>
        <p:nvSpPr>
          <p:cNvPr id="80" name="Rounded Rectangle 79"/>
          <p:cNvSpPr/>
          <p:nvPr/>
        </p:nvSpPr>
        <p:spPr>
          <a:xfrm>
            <a:off x="8858250" y="4137770"/>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South Asia &amp; Pacific</a:t>
            </a:r>
          </a:p>
        </p:txBody>
      </p:sp>
      <p:sp>
        <p:nvSpPr>
          <p:cNvPr id="81" name="Rounded Rectangle 80"/>
          <p:cNvSpPr/>
          <p:nvPr/>
        </p:nvSpPr>
        <p:spPr>
          <a:xfrm>
            <a:off x="10439400" y="1956453"/>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Middle East &amp; Africa</a:t>
            </a:r>
          </a:p>
        </p:txBody>
      </p:sp>
      <p:sp>
        <p:nvSpPr>
          <p:cNvPr id="82" name="Rounded Rectangle 81"/>
          <p:cNvSpPr/>
          <p:nvPr/>
        </p:nvSpPr>
        <p:spPr>
          <a:xfrm>
            <a:off x="10572750" y="2403669"/>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Kingdom of Saudi Arabia</a:t>
            </a:r>
          </a:p>
        </p:txBody>
      </p:sp>
      <p:sp>
        <p:nvSpPr>
          <p:cNvPr id="83" name="Rounded Rectangle 82"/>
          <p:cNvSpPr/>
          <p:nvPr/>
        </p:nvSpPr>
        <p:spPr>
          <a:xfrm>
            <a:off x="10572750" y="3106436"/>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Other GCC Countries</a:t>
            </a:r>
          </a:p>
        </p:txBody>
      </p:sp>
      <p:sp>
        <p:nvSpPr>
          <p:cNvPr id="84" name="Rounded Rectangle 83"/>
          <p:cNvSpPr/>
          <p:nvPr/>
        </p:nvSpPr>
        <p:spPr>
          <a:xfrm>
            <a:off x="10572750" y="362666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Türkiye</a:t>
            </a:r>
          </a:p>
        </p:txBody>
      </p:sp>
      <p:sp>
        <p:nvSpPr>
          <p:cNvPr id="85" name="Rounded Rectangle 84"/>
          <p:cNvSpPr/>
          <p:nvPr/>
        </p:nvSpPr>
        <p:spPr>
          <a:xfrm>
            <a:off x="10572750" y="414689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South Africa</a:t>
            </a:r>
          </a:p>
        </p:txBody>
      </p:sp>
      <p:sp>
        <p:nvSpPr>
          <p:cNvPr id="86" name="Rounded Rectangle 85"/>
          <p:cNvSpPr/>
          <p:nvPr/>
        </p:nvSpPr>
        <p:spPr>
          <a:xfrm>
            <a:off x="10572750" y="4676254"/>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Other African Countries</a:t>
            </a:r>
          </a:p>
        </p:txBody>
      </p:sp>
      <p:sp>
        <p:nvSpPr>
          <p:cNvPr id="87" name="TextBox 8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Taxonomy Segments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Segmentation framework of the study: 7 axes and the sub-segments sized under each</a:t>
            </a:r>
          </a:p>
        </p:txBody>
      </p:sp>
      <p:sp>
        <p:nvSpPr>
          <p:cNvPr id="8" name="Rectangle 7"/>
          <p:cNvSpPr/>
          <p:nvPr/>
        </p:nvSpPr>
        <p:spPr>
          <a:xfrm>
            <a:off x="1428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Energy Storage Capacity</a:t>
            </a:r>
          </a:p>
        </p:txBody>
      </p:sp>
      <p:sp>
        <p:nvSpPr>
          <p:cNvPr id="11" name="TextBox 10"/>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2" name="TextBox 11"/>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500 Wh to Below 1,000 Wh</a:t>
            </a:r>
          </a:p>
        </p:txBody>
      </p:sp>
      <p:cxnSp>
        <p:nvCxnSpPr>
          <p:cNvPr id="13" name="Connector 12"/>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5" name="TextBox 14"/>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1,000 Wh to Below 1,500 Wh</a:t>
            </a:r>
          </a:p>
        </p:txBody>
      </p:sp>
      <p:cxnSp>
        <p:nvCxnSpPr>
          <p:cNvPr id="16" name="Connector 15"/>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8" name="TextBox 17"/>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1,500 Wh to 2,000 Wh</a:t>
            </a:r>
          </a:p>
        </p:txBody>
      </p:sp>
      <p:sp>
        <p:nvSpPr>
          <p:cNvPr id="19" name="Rectangle 18"/>
          <p:cNvSpPr/>
          <p:nvPr/>
        </p:nvSpPr>
        <p:spPr>
          <a:xfrm>
            <a:off x="142875" y="1903095"/>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2875" y="1903095"/>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0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Output Power Rating</a:t>
            </a:r>
          </a:p>
        </p:txBody>
      </p:sp>
      <p:sp>
        <p:nvSpPr>
          <p:cNvPr id="22" name="TextBox 21"/>
          <p:cNvSpPr txBox="1"/>
          <p:nvPr/>
        </p:nvSpPr>
        <p:spPr>
          <a:xfrm>
            <a:off x="200025" y="213169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3" name="TextBox 22"/>
          <p:cNvSpPr txBox="1"/>
          <p:nvPr/>
        </p:nvSpPr>
        <p:spPr>
          <a:xfrm>
            <a:off x="390525" y="213169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Below 500 W</a:t>
            </a:r>
          </a:p>
        </p:txBody>
      </p:sp>
      <p:cxnSp>
        <p:nvCxnSpPr>
          <p:cNvPr id="24" name="Connector 23"/>
          <p:cNvCxnSpPr/>
          <p:nvPr/>
        </p:nvCxnSpPr>
        <p:spPr>
          <a:xfrm>
            <a:off x="1524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230886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6" name="TextBox 25"/>
          <p:cNvSpPr txBox="1"/>
          <p:nvPr/>
        </p:nvSpPr>
        <p:spPr>
          <a:xfrm>
            <a:off x="390525" y="230886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500 W to Below 1,000 W</a:t>
            </a:r>
          </a:p>
        </p:txBody>
      </p:sp>
      <p:cxnSp>
        <p:nvCxnSpPr>
          <p:cNvPr id="27" name="Connector 26"/>
          <p:cNvCxnSpPr/>
          <p:nvPr/>
        </p:nvCxnSpPr>
        <p:spPr>
          <a:xfrm>
            <a:off x="1524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48602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9" name="TextBox 28"/>
          <p:cNvSpPr txBox="1"/>
          <p:nvPr/>
        </p:nvSpPr>
        <p:spPr>
          <a:xfrm>
            <a:off x="390525" y="248602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1,000 W to Below 2,000 W</a:t>
            </a:r>
          </a:p>
        </p:txBody>
      </p:sp>
      <p:cxnSp>
        <p:nvCxnSpPr>
          <p:cNvPr id="30" name="Connector 29"/>
          <p:cNvCxnSpPr/>
          <p:nvPr/>
        </p:nvCxnSpPr>
        <p:spPr>
          <a:xfrm>
            <a:off x="1524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66319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2" name="TextBox 31"/>
          <p:cNvSpPr txBox="1"/>
          <p:nvPr/>
        </p:nvSpPr>
        <p:spPr>
          <a:xfrm>
            <a:off x="390525" y="266319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2,000 W and Above</a:t>
            </a:r>
          </a:p>
        </p:txBody>
      </p:sp>
      <p:sp>
        <p:nvSpPr>
          <p:cNvPr id="33" name="Rectangle 32"/>
          <p:cNvSpPr/>
          <p:nvPr/>
        </p:nvSpPr>
        <p:spPr>
          <a:xfrm>
            <a:off x="3152775" y="1028700"/>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527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Battery Chemistry</a:t>
            </a:r>
          </a:p>
        </p:txBody>
      </p:sp>
      <p:sp>
        <p:nvSpPr>
          <p:cNvPr id="36" name="TextBox 35"/>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7" name="TextBox 36"/>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Lithium Cobalt Oxide (LCO)</a:t>
            </a:r>
          </a:p>
        </p:txBody>
      </p:sp>
      <p:cxnSp>
        <p:nvCxnSpPr>
          <p:cNvPr id="38" name="Connector 37"/>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0" name="TextBox 39"/>
          <p:cNvSpPr txBox="1"/>
          <p:nvPr/>
        </p:nvSpPr>
        <p:spPr>
          <a:xfrm>
            <a:off x="3400425" y="1434465"/>
            <a:ext cx="259080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Lithium Nickel Manganese Cobalt Oxide (NMC)</a:t>
            </a:r>
          </a:p>
        </p:txBody>
      </p:sp>
      <p:cxnSp>
        <p:nvCxnSpPr>
          <p:cNvPr id="41" name="Connector 40"/>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3" name="TextBox 42"/>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Lithium Iron Phosphate (LFP)</a:t>
            </a:r>
          </a:p>
        </p:txBody>
      </p:sp>
      <p:cxnSp>
        <p:nvCxnSpPr>
          <p:cNvPr id="44" name="Connector 43"/>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9925" y="196596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6" name="TextBox 45"/>
          <p:cNvSpPr txBox="1"/>
          <p:nvPr/>
        </p:nvSpPr>
        <p:spPr>
          <a:xfrm>
            <a:off x="3400425" y="196596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Other Lithium-Ion Cathode Chemistries</a:t>
            </a:r>
          </a:p>
        </p:txBody>
      </p:sp>
      <p:sp>
        <p:nvSpPr>
          <p:cNvPr id="47" name="Rectangle 46"/>
          <p:cNvSpPr/>
          <p:nvPr/>
        </p:nvSpPr>
        <p:spPr>
          <a:xfrm>
            <a:off x="3152775" y="2257425"/>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152775" y="2257425"/>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8975" y="2257425"/>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Distribution Channel</a:t>
            </a:r>
          </a:p>
        </p:txBody>
      </p:sp>
      <p:sp>
        <p:nvSpPr>
          <p:cNvPr id="50" name="TextBox 49"/>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1" name="TextBox 50"/>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Direct-to-Consumer / Manufacturer Direct</a:t>
            </a:r>
          </a:p>
        </p:txBody>
      </p:sp>
      <p:cxnSp>
        <p:nvCxnSpPr>
          <p:cNvPr id="52" name="Connector 51"/>
          <p:cNvCxnSpPr/>
          <p:nvPr/>
        </p:nvCxnSpPr>
        <p:spPr>
          <a:xfrm>
            <a:off x="31623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209925" y="266319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4" name="TextBox 53"/>
          <p:cNvSpPr txBox="1"/>
          <p:nvPr/>
        </p:nvSpPr>
        <p:spPr>
          <a:xfrm>
            <a:off x="3400425" y="266319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Online Third-Party Retail</a:t>
            </a:r>
          </a:p>
        </p:txBody>
      </p:sp>
      <p:cxnSp>
        <p:nvCxnSpPr>
          <p:cNvPr id="55" name="Connector 54"/>
          <p:cNvCxnSpPr/>
          <p:nvPr/>
        </p:nvCxnSpPr>
        <p:spPr>
          <a:xfrm>
            <a:off x="31623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209925" y="284035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7" name="TextBox 56"/>
          <p:cNvSpPr txBox="1"/>
          <p:nvPr/>
        </p:nvSpPr>
        <p:spPr>
          <a:xfrm>
            <a:off x="3400425" y="284035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Offline Retail &amp; Distributors</a:t>
            </a:r>
          </a:p>
        </p:txBody>
      </p:sp>
      <p:cxnSp>
        <p:nvCxnSpPr>
          <p:cNvPr id="58" name="Connector 57"/>
          <p:cNvCxnSpPr/>
          <p:nvPr/>
        </p:nvCxnSpPr>
        <p:spPr>
          <a:xfrm>
            <a:off x="31623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09925" y="301752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0" name="TextBox 59"/>
          <p:cNvSpPr txBox="1"/>
          <p:nvPr/>
        </p:nvSpPr>
        <p:spPr>
          <a:xfrm>
            <a:off x="3400425" y="301752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Direct B2B / Institutional Sales</a:t>
            </a:r>
          </a:p>
        </p:txBody>
      </p:sp>
      <p:sp>
        <p:nvSpPr>
          <p:cNvPr id="61" name="Rectangle 60"/>
          <p:cNvSpPr/>
          <p:nvPr/>
        </p:nvSpPr>
        <p:spPr>
          <a:xfrm>
            <a:off x="61626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626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Battery Configuration</a:t>
            </a:r>
          </a:p>
        </p:txBody>
      </p:sp>
      <p:sp>
        <p:nvSpPr>
          <p:cNvPr id="64" name="TextBox 63"/>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5" name="TextBox 64"/>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Standalone Battery Packs</a:t>
            </a:r>
          </a:p>
        </p:txBody>
      </p:sp>
      <p:cxnSp>
        <p:nvCxnSpPr>
          <p:cNvPr id="66" name="Connector 65"/>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8" name="TextBox 67"/>
          <p:cNvSpPr txBox="1"/>
          <p:nvPr/>
        </p:nvSpPr>
        <p:spPr>
          <a:xfrm>
            <a:off x="6410325" y="1434465"/>
            <a:ext cx="259080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Integrated Portable Energy Storage Systems</a:t>
            </a:r>
          </a:p>
        </p:txBody>
      </p:sp>
      <p:sp>
        <p:nvSpPr>
          <p:cNvPr id="69" name="Rectangle 68"/>
          <p:cNvSpPr/>
          <p:nvPr/>
        </p:nvSpPr>
        <p:spPr>
          <a:xfrm>
            <a:off x="6162675" y="1903095"/>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62675" y="1903095"/>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388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System Architecture</a:t>
            </a:r>
          </a:p>
        </p:txBody>
      </p:sp>
      <p:sp>
        <p:nvSpPr>
          <p:cNvPr id="72" name="TextBox 71"/>
          <p:cNvSpPr txBox="1"/>
          <p:nvPr/>
        </p:nvSpPr>
        <p:spPr>
          <a:xfrm>
            <a:off x="6219825" y="213169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3" name="TextBox 72"/>
          <p:cNvSpPr txBox="1"/>
          <p:nvPr/>
        </p:nvSpPr>
        <p:spPr>
          <a:xfrm>
            <a:off x="6410325" y="213169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AC/DC Portable Power Stations</a:t>
            </a:r>
          </a:p>
        </p:txBody>
      </p:sp>
      <p:cxnSp>
        <p:nvCxnSpPr>
          <p:cNvPr id="74" name="Connector 73"/>
          <p:cNvCxnSpPr/>
          <p:nvPr/>
        </p:nvCxnSpPr>
        <p:spPr>
          <a:xfrm>
            <a:off x="61722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6" name="TextBox 75"/>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DC-Only Portable Battery Systems</a:t>
            </a:r>
          </a:p>
        </p:txBody>
      </p:sp>
      <p:sp>
        <p:nvSpPr>
          <p:cNvPr id="77" name="Rectangle 76"/>
          <p:cNvSpPr/>
          <p:nvPr/>
        </p:nvSpPr>
        <p:spPr>
          <a:xfrm>
            <a:off x="9172575" y="1028700"/>
            <a:ext cx="2876550" cy="20002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1725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System Application</a:t>
            </a:r>
          </a:p>
        </p:txBody>
      </p:sp>
      <p:sp>
        <p:nvSpPr>
          <p:cNvPr id="80" name="TextBox 79"/>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81" name="TextBox 80"/>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52423"/>
                </a:solidFill>
                <a:latin typeface="Segoe UI"/>
              </a:rPr>
              <a:t>Portable Backup Power</a:t>
            </a:r>
          </a:p>
        </p:txBody>
      </p:sp>
      <p:cxnSp>
        <p:nvCxnSpPr>
          <p:cNvPr id="82" name="Connector 81"/>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84" name="TextBox 83"/>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1">
                <a:solidFill>
                  <a:srgbClr val="252423"/>
                </a:solidFill>
                <a:latin typeface="Segoe UI"/>
              </a:rPr>
              <a:t>Outdoor &amp; Recreational Power</a:t>
            </a:r>
          </a:p>
        </p:txBody>
      </p:sp>
      <p:cxnSp>
        <p:nvCxnSpPr>
          <p:cNvPr id="85" name="Connector 84"/>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87" name="TextBox 86"/>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1">
                <a:solidFill>
                  <a:srgbClr val="252423"/>
                </a:solidFill>
                <a:latin typeface="Segoe UI"/>
              </a:rPr>
              <a:t>Off-Grid &amp; Remote Power</a:t>
            </a:r>
          </a:p>
        </p:txBody>
      </p:sp>
      <p:cxnSp>
        <p:nvCxnSpPr>
          <p:cNvPr id="88" name="Connector 87"/>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0" name="TextBox 89"/>
          <p:cNvSpPr txBox="1"/>
          <p:nvPr/>
        </p:nvSpPr>
        <p:spPr>
          <a:xfrm>
            <a:off x="9420225" y="1788795"/>
            <a:ext cx="2590800" cy="354330"/>
          </a:xfrm>
          <a:prstGeom prst="rect">
            <a:avLst/>
          </a:prstGeom>
          <a:noFill/>
        </p:spPr>
        <p:txBody>
          <a:bodyPr wrap="square" lIns="28575" rIns="28575" tIns="9525" bIns="9525" anchor="t">
            <a:spAutoFit/>
          </a:bodyPr>
          <a:lstStyle/>
          <a:p>
            <a:pPr algn="l">
              <a:lnSpc>
                <a:spcPct val="100000"/>
              </a:lnSpc>
            </a:pPr>
            <a:r>
              <a:rPr sz="1100" b="1">
                <a:solidFill>
                  <a:srgbClr val="252423"/>
                </a:solidFill>
                <a:latin typeface="Segoe UI"/>
              </a:rPr>
              <a:t>Professional &amp; Specialized Portable Power</a:t>
            </a:r>
          </a:p>
        </p:txBody>
      </p:sp>
      <p:cxnSp>
        <p:nvCxnSpPr>
          <p:cNvPr id="91" name="Connector 90"/>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401175" y="214312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3" name="TextBox 92"/>
          <p:cNvSpPr txBox="1"/>
          <p:nvPr/>
        </p:nvSpPr>
        <p:spPr>
          <a:xfrm>
            <a:off x="9591675" y="2143125"/>
            <a:ext cx="241935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Construction &amp; Maintenance Equipment</a:t>
            </a:r>
          </a:p>
        </p:txBody>
      </p:sp>
      <p:cxnSp>
        <p:nvCxnSpPr>
          <p:cNvPr id="94" name="Connector 93"/>
          <p:cNvCxnSpPr/>
          <p:nvPr/>
        </p:nvCxnSpPr>
        <p:spPr>
          <a:xfrm>
            <a:off x="91821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401175" y="249745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6" name="TextBox 95"/>
          <p:cNvSpPr txBox="1"/>
          <p:nvPr/>
        </p:nvSpPr>
        <p:spPr>
          <a:xfrm>
            <a:off x="9591675" y="2497455"/>
            <a:ext cx="2419350" cy="177165"/>
          </a:xfrm>
          <a:prstGeom prst="rect">
            <a:avLst/>
          </a:prstGeom>
          <a:noFill/>
        </p:spPr>
        <p:txBody>
          <a:bodyPr wrap="square" lIns="28575" rIns="28575" tIns="9525" bIns="9525" anchor="ctr">
            <a:spAutoFit/>
          </a:bodyPr>
          <a:lstStyle/>
          <a:p>
            <a:pPr algn="l"/>
            <a:r>
              <a:rPr sz="1100" b="0">
                <a:solidFill>
                  <a:srgbClr val="252423"/>
                </a:solidFill>
                <a:latin typeface="Segoe UI"/>
              </a:rPr>
              <a:t>Emergency Response &amp; Disaster Relief</a:t>
            </a:r>
          </a:p>
        </p:txBody>
      </p:sp>
      <p:cxnSp>
        <p:nvCxnSpPr>
          <p:cNvPr id="97" name="Connector 96"/>
          <p:cNvCxnSpPr/>
          <p:nvPr/>
        </p:nvCxnSpPr>
        <p:spPr>
          <a:xfrm>
            <a:off x="91821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401175" y="267462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9" name="TextBox 98"/>
          <p:cNvSpPr txBox="1"/>
          <p:nvPr/>
        </p:nvSpPr>
        <p:spPr>
          <a:xfrm>
            <a:off x="9591675" y="2674620"/>
            <a:ext cx="241935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Mobile Medical &amp; Communication Equipment</a:t>
            </a:r>
          </a:p>
        </p:txBody>
      </p:sp>
      <p:sp>
        <p:nvSpPr>
          <p:cNvPr id="100" name="TextBox 9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Company Coverage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Companies profiled and benchmarked across the competition assessment</a:t>
            </a:r>
          </a:p>
        </p:txBody>
      </p:sp>
      <p:sp>
        <p:nvSpPr>
          <p:cNvPr id="8" name="TextBox 7"/>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05E5C"/>
                </a:solidFill>
                <a:latin typeface="Segoe UI"/>
              </a:rPr>
              <a:t>Companies covered in this study of the Lithium Polymer Portable Energy Storage Market profiled and benchmarked in the Competition Assessment section.</a:t>
            </a:r>
          </a:p>
        </p:txBody>
      </p:sp>
      <p:sp>
        <p:nvSpPr>
          <p:cNvPr id="9" name="Rectangle 8"/>
          <p:cNvSpPr/>
          <p:nvPr/>
        </p:nvSpPr>
        <p:spPr>
          <a:xfrm>
            <a:off x="142875" y="1573126"/>
            <a:ext cx="3841750" cy="4618186"/>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2875" y="1573126"/>
            <a:ext cx="3841750" cy="273805"/>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637014"/>
            <a:ext cx="3841750" cy="164283"/>
          </a:xfrm>
          <a:prstGeom prst="rect">
            <a:avLst/>
          </a:prstGeom>
          <a:noFill/>
        </p:spPr>
        <p:txBody>
          <a:bodyPr wrap="square" lIns="28575" rIns="28575" tIns="9525" bIns="9525" anchor="ctr">
            <a:spAutoFit/>
          </a:bodyPr>
          <a:lstStyle/>
          <a:p>
            <a:pPr algn="ctr"/>
            <a:r>
              <a:rPr sz="1100" b="1">
                <a:solidFill>
                  <a:srgbClr val="FFFFFF"/>
                </a:solidFill>
                <a:latin typeface="Segoe UI"/>
              </a:rPr>
              <a:t>List Companies</a:t>
            </a:r>
          </a:p>
        </p:txBody>
      </p:sp>
      <p:sp>
        <p:nvSpPr>
          <p:cNvPr id="12" name="TextBox 11"/>
          <p:cNvSpPr txBox="1"/>
          <p:nvPr/>
        </p:nvSpPr>
        <p:spPr>
          <a:xfrm>
            <a:off x="333375" y="184693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3" name="TextBox 12"/>
          <p:cNvSpPr txBox="1"/>
          <p:nvPr/>
        </p:nvSpPr>
        <p:spPr>
          <a:xfrm>
            <a:off x="581025" y="184693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EcoFlow</a:t>
            </a:r>
          </a:p>
        </p:txBody>
      </p:sp>
      <p:sp>
        <p:nvSpPr>
          <p:cNvPr id="14" name="Rectangle 13"/>
          <p:cNvSpPr/>
          <p:nvPr/>
        </p:nvSpPr>
        <p:spPr>
          <a:xfrm>
            <a:off x="152400" y="2102483"/>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52400" y="210248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3375" y="2102483"/>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7" name="TextBox 16"/>
          <p:cNvSpPr txBox="1"/>
          <p:nvPr/>
        </p:nvSpPr>
        <p:spPr>
          <a:xfrm>
            <a:off x="581025" y="2102483"/>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Business Overview</a:t>
            </a:r>
          </a:p>
        </p:txBody>
      </p:sp>
      <p:cxnSp>
        <p:nvCxnSpPr>
          <p:cNvPr id="18" name="Connector 17"/>
          <p:cNvCxnSpPr/>
          <p:nvPr/>
        </p:nvCxnSpPr>
        <p:spPr>
          <a:xfrm>
            <a:off x="152400" y="235803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3375" y="235803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0" name="TextBox 19"/>
          <p:cNvSpPr txBox="1"/>
          <p:nvPr/>
        </p:nvSpPr>
        <p:spPr>
          <a:xfrm>
            <a:off x="581025" y="235803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Relevant Portfolio</a:t>
            </a:r>
          </a:p>
        </p:txBody>
      </p:sp>
      <p:sp>
        <p:nvSpPr>
          <p:cNvPr id="21" name="Rectangle 20"/>
          <p:cNvSpPr/>
          <p:nvPr/>
        </p:nvSpPr>
        <p:spPr>
          <a:xfrm>
            <a:off x="152400" y="2613586"/>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152400" y="261358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3375" y="261358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4" name="TextBox 23"/>
          <p:cNvSpPr txBox="1"/>
          <p:nvPr/>
        </p:nvSpPr>
        <p:spPr>
          <a:xfrm>
            <a:off x="581025" y="261358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Footprint</a:t>
            </a:r>
          </a:p>
        </p:txBody>
      </p:sp>
      <p:cxnSp>
        <p:nvCxnSpPr>
          <p:cNvPr id="25" name="Connector 24"/>
          <p:cNvCxnSpPr/>
          <p:nvPr/>
        </p:nvCxnSpPr>
        <p:spPr>
          <a:xfrm>
            <a:off x="152400" y="286913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33375" y="286913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7" name="TextBox 26"/>
          <p:cNvSpPr txBox="1"/>
          <p:nvPr/>
        </p:nvSpPr>
        <p:spPr>
          <a:xfrm>
            <a:off x="581025" y="286913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Pricing</a:t>
            </a:r>
          </a:p>
        </p:txBody>
      </p:sp>
      <p:sp>
        <p:nvSpPr>
          <p:cNvPr id="28" name="Rectangle 27"/>
          <p:cNvSpPr/>
          <p:nvPr/>
        </p:nvSpPr>
        <p:spPr>
          <a:xfrm>
            <a:off x="152400" y="3124690"/>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52400" y="312469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33375" y="3124690"/>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1" name="TextBox 30"/>
          <p:cNvSpPr txBox="1"/>
          <p:nvPr/>
        </p:nvSpPr>
        <p:spPr>
          <a:xfrm>
            <a:off x="581025" y="3124690"/>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SWOT</a:t>
            </a:r>
          </a:p>
        </p:txBody>
      </p:sp>
      <p:cxnSp>
        <p:nvCxnSpPr>
          <p:cNvPr id="32" name="Connector 31"/>
          <p:cNvCxnSpPr/>
          <p:nvPr/>
        </p:nvCxnSpPr>
        <p:spPr>
          <a:xfrm>
            <a:off x="152400" y="338024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33375" y="338024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4" name="TextBox 33"/>
          <p:cNvSpPr txBox="1"/>
          <p:nvPr/>
        </p:nvSpPr>
        <p:spPr>
          <a:xfrm>
            <a:off x="581025" y="338024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Developments</a:t>
            </a:r>
          </a:p>
        </p:txBody>
      </p:sp>
      <p:sp>
        <p:nvSpPr>
          <p:cNvPr id="35" name="Rectangle 34"/>
          <p:cNvSpPr/>
          <p:nvPr/>
        </p:nvSpPr>
        <p:spPr>
          <a:xfrm>
            <a:off x="152400" y="363579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52400" y="363579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33375" y="363579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8" name="TextBox 37"/>
          <p:cNvSpPr txBox="1"/>
          <p:nvPr/>
        </p:nvSpPr>
        <p:spPr>
          <a:xfrm>
            <a:off x="581025" y="363579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Jackery</a:t>
            </a:r>
          </a:p>
        </p:txBody>
      </p:sp>
      <p:cxnSp>
        <p:nvCxnSpPr>
          <p:cNvPr id="39" name="Connector 38"/>
          <p:cNvCxnSpPr/>
          <p:nvPr/>
        </p:nvCxnSpPr>
        <p:spPr>
          <a:xfrm>
            <a:off x="152400" y="389134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33375" y="389134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41" name="TextBox 40"/>
          <p:cNvSpPr txBox="1"/>
          <p:nvPr/>
        </p:nvSpPr>
        <p:spPr>
          <a:xfrm>
            <a:off x="581025" y="389134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BLUETTI</a:t>
            </a:r>
          </a:p>
        </p:txBody>
      </p:sp>
      <p:sp>
        <p:nvSpPr>
          <p:cNvPr id="42" name="Rectangle 41"/>
          <p:cNvSpPr/>
          <p:nvPr/>
        </p:nvSpPr>
        <p:spPr>
          <a:xfrm>
            <a:off x="152400" y="4146897"/>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152400" y="414689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33375" y="4146897"/>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45" name="TextBox 44"/>
          <p:cNvSpPr txBox="1"/>
          <p:nvPr/>
        </p:nvSpPr>
        <p:spPr>
          <a:xfrm>
            <a:off x="581025" y="4146897"/>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Goal Zero</a:t>
            </a:r>
          </a:p>
        </p:txBody>
      </p:sp>
      <p:cxnSp>
        <p:nvCxnSpPr>
          <p:cNvPr id="46" name="Connector 45"/>
          <p:cNvCxnSpPr/>
          <p:nvPr/>
        </p:nvCxnSpPr>
        <p:spPr>
          <a:xfrm>
            <a:off x="152400" y="440244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33375" y="440244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48" name="TextBox 47"/>
          <p:cNvSpPr txBox="1"/>
          <p:nvPr/>
        </p:nvSpPr>
        <p:spPr>
          <a:xfrm>
            <a:off x="581025" y="440244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Zendure</a:t>
            </a:r>
          </a:p>
        </p:txBody>
      </p:sp>
      <p:sp>
        <p:nvSpPr>
          <p:cNvPr id="49" name="Rectangle 48"/>
          <p:cNvSpPr/>
          <p:nvPr/>
        </p:nvSpPr>
        <p:spPr>
          <a:xfrm>
            <a:off x="152400" y="4658001"/>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152400" y="465800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33375" y="465800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2" name="TextBox 51"/>
          <p:cNvSpPr txBox="1"/>
          <p:nvPr/>
        </p:nvSpPr>
        <p:spPr>
          <a:xfrm>
            <a:off x="581025" y="465800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ALLPOWERS</a:t>
            </a:r>
          </a:p>
        </p:txBody>
      </p:sp>
      <p:cxnSp>
        <p:nvCxnSpPr>
          <p:cNvPr id="53" name="Connector 52"/>
          <p:cNvCxnSpPr/>
          <p:nvPr/>
        </p:nvCxnSpPr>
        <p:spPr>
          <a:xfrm>
            <a:off x="152400" y="491355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33375" y="491355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5" name="TextBox 54"/>
          <p:cNvSpPr txBox="1"/>
          <p:nvPr/>
        </p:nvSpPr>
        <p:spPr>
          <a:xfrm>
            <a:off x="581025" y="491355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Pecron</a:t>
            </a:r>
          </a:p>
        </p:txBody>
      </p:sp>
      <p:sp>
        <p:nvSpPr>
          <p:cNvPr id="56" name="Rectangle 55"/>
          <p:cNvSpPr/>
          <p:nvPr/>
        </p:nvSpPr>
        <p:spPr>
          <a:xfrm>
            <a:off x="152400" y="516910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152400" y="516910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3375" y="516910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9" name="TextBox 58"/>
          <p:cNvSpPr txBox="1"/>
          <p:nvPr/>
        </p:nvSpPr>
        <p:spPr>
          <a:xfrm>
            <a:off x="581025" y="516910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OUPES</a:t>
            </a:r>
          </a:p>
        </p:txBody>
      </p:sp>
      <p:cxnSp>
        <p:nvCxnSpPr>
          <p:cNvPr id="60" name="Connector 59"/>
          <p:cNvCxnSpPr/>
          <p:nvPr/>
        </p:nvCxnSpPr>
        <p:spPr>
          <a:xfrm>
            <a:off x="152400" y="542465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3375" y="542465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62" name="TextBox 61"/>
          <p:cNvSpPr txBox="1"/>
          <p:nvPr/>
        </p:nvSpPr>
        <p:spPr>
          <a:xfrm>
            <a:off x="581025" y="542465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VTOMAN</a:t>
            </a:r>
          </a:p>
        </p:txBody>
      </p:sp>
      <p:sp>
        <p:nvSpPr>
          <p:cNvPr id="63" name="Rectangle 62"/>
          <p:cNvSpPr/>
          <p:nvPr/>
        </p:nvSpPr>
        <p:spPr>
          <a:xfrm>
            <a:off x="152400" y="5680208"/>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52400" y="568020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333375" y="568020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66" name="TextBox 65"/>
          <p:cNvSpPr txBox="1"/>
          <p:nvPr/>
        </p:nvSpPr>
        <p:spPr>
          <a:xfrm>
            <a:off x="581025" y="568020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Yoshino Power</a:t>
            </a:r>
          </a:p>
        </p:txBody>
      </p:sp>
      <p:cxnSp>
        <p:nvCxnSpPr>
          <p:cNvPr id="67" name="Connector 66"/>
          <p:cNvCxnSpPr/>
          <p:nvPr/>
        </p:nvCxnSpPr>
        <p:spPr>
          <a:xfrm>
            <a:off x="152400" y="593575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33375" y="593575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69" name="TextBox 68"/>
          <p:cNvSpPr txBox="1"/>
          <p:nvPr/>
        </p:nvSpPr>
        <p:spPr>
          <a:xfrm>
            <a:off x="581025" y="593575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Lion Energy</a:t>
            </a:r>
          </a:p>
        </p:txBody>
      </p:sp>
      <p:sp>
        <p:nvSpPr>
          <p:cNvPr id="70" name="Rectangle 69"/>
          <p:cNvSpPr/>
          <p:nvPr/>
        </p:nvSpPr>
        <p:spPr>
          <a:xfrm>
            <a:off x="4175125" y="1573126"/>
            <a:ext cx="3841750" cy="4618186"/>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175125" y="1573126"/>
            <a:ext cx="3841750" cy="273805"/>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75125" y="1637014"/>
            <a:ext cx="3841750" cy="164283"/>
          </a:xfrm>
          <a:prstGeom prst="rect">
            <a:avLst/>
          </a:prstGeom>
          <a:noFill/>
        </p:spPr>
        <p:txBody>
          <a:bodyPr wrap="square" lIns="28575" rIns="28575" tIns="9525" bIns="9525" anchor="ctr">
            <a:spAutoFit/>
          </a:bodyPr>
          <a:lstStyle/>
          <a:p>
            <a:pPr algn="ctr"/>
            <a:r>
              <a:rPr sz="1100" b="1">
                <a:solidFill>
                  <a:srgbClr val="FFFFFF"/>
                </a:solidFill>
                <a:latin typeface="Segoe UI"/>
              </a:rPr>
              <a:t>List Companies</a:t>
            </a:r>
          </a:p>
        </p:txBody>
      </p:sp>
      <p:sp>
        <p:nvSpPr>
          <p:cNvPr id="73" name="TextBox 72"/>
          <p:cNvSpPr txBox="1"/>
          <p:nvPr/>
        </p:nvSpPr>
        <p:spPr>
          <a:xfrm>
            <a:off x="4365625" y="184693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74" name="TextBox 73"/>
          <p:cNvSpPr txBox="1"/>
          <p:nvPr/>
        </p:nvSpPr>
        <p:spPr>
          <a:xfrm>
            <a:off x="4613275" y="184693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BougeRV</a:t>
            </a:r>
          </a:p>
        </p:txBody>
      </p:sp>
      <p:sp>
        <p:nvSpPr>
          <p:cNvPr id="75" name="Rectangle 74"/>
          <p:cNvSpPr/>
          <p:nvPr/>
        </p:nvSpPr>
        <p:spPr>
          <a:xfrm>
            <a:off x="4184650" y="2102483"/>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4184650" y="210248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365625" y="2102483"/>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78" name="TextBox 77"/>
          <p:cNvSpPr txBox="1"/>
          <p:nvPr/>
        </p:nvSpPr>
        <p:spPr>
          <a:xfrm>
            <a:off x="4613275" y="2102483"/>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Anker Innovations</a:t>
            </a:r>
          </a:p>
        </p:txBody>
      </p:sp>
      <p:cxnSp>
        <p:nvCxnSpPr>
          <p:cNvPr id="79" name="Connector 78"/>
          <p:cNvCxnSpPr/>
          <p:nvPr/>
        </p:nvCxnSpPr>
        <p:spPr>
          <a:xfrm>
            <a:off x="4184650" y="235803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365625" y="235803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81" name="TextBox 80"/>
          <p:cNvSpPr txBox="1"/>
          <p:nvPr/>
        </p:nvSpPr>
        <p:spPr>
          <a:xfrm>
            <a:off x="4613275" y="235803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DJI</a:t>
            </a:r>
          </a:p>
        </p:txBody>
      </p:sp>
      <p:sp>
        <p:nvSpPr>
          <p:cNvPr id="82" name="Rectangle 81"/>
          <p:cNvSpPr/>
          <p:nvPr/>
        </p:nvSpPr>
        <p:spPr>
          <a:xfrm>
            <a:off x="4184650" y="2613586"/>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4184650" y="261358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365625" y="261358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85" name="TextBox 84"/>
          <p:cNvSpPr txBox="1"/>
          <p:nvPr/>
        </p:nvSpPr>
        <p:spPr>
          <a:xfrm>
            <a:off x="4613275" y="261358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Generac Power Systems</a:t>
            </a:r>
          </a:p>
        </p:txBody>
      </p:sp>
      <p:cxnSp>
        <p:nvCxnSpPr>
          <p:cNvPr id="86" name="Connector 85"/>
          <p:cNvCxnSpPr/>
          <p:nvPr/>
        </p:nvCxnSpPr>
        <p:spPr>
          <a:xfrm>
            <a:off x="4184650" y="286913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4365625" y="286913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88" name="TextBox 87"/>
          <p:cNvSpPr txBox="1"/>
          <p:nvPr/>
        </p:nvSpPr>
        <p:spPr>
          <a:xfrm>
            <a:off x="4613275" y="286913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Westinghouse Outdoor Power Equipment</a:t>
            </a:r>
          </a:p>
        </p:txBody>
      </p:sp>
      <p:sp>
        <p:nvSpPr>
          <p:cNvPr id="89" name="Rectangle 88"/>
          <p:cNvSpPr/>
          <p:nvPr/>
        </p:nvSpPr>
        <p:spPr>
          <a:xfrm>
            <a:off x="4184650" y="3124690"/>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a:off x="4184650" y="312469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4365625" y="3124690"/>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92" name="TextBox 91"/>
          <p:cNvSpPr txBox="1"/>
          <p:nvPr/>
        </p:nvSpPr>
        <p:spPr>
          <a:xfrm>
            <a:off x="4613275" y="3124690"/>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UGREEN</a:t>
            </a:r>
          </a:p>
        </p:txBody>
      </p:sp>
      <p:cxnSp>
        <p:nvCxnSpPr>
          <p:cNvPr id="93" name="Connector 92"/>
          <p:cNvCxnSpPr/>
          <p:nvPr/>
        </p:nvCxnSpPr>
        <p:spPr>
          <a:xfrm>
            <a:off x="4184650" y="338024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4365625" y="338024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95" name="TextBox 94"/>
          <p:cNvSpPr txBox="1"/>
          <p:nvPr/>
        </p:nvSpPr>
        <p:spPr>
          <a:xfrm>
            <a:off x="4613275" y="338024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Renogy</a:t>
            </a:r>
          </a:p>
        </p:txBody>
      </p:sp>
      <p:sp>
        <p:nvSpPr>
          <p:cNvPr id="96" name="Rectangle 95"/>
          <p:cNvSpPr/>
          <p:nvPr/>
        </p:nvSpPr>
        <p:spPr>
          <a:xfrm>
            <a:off x="4184650" y="363579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4184650" y="363579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365625" y="363579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99" name="TextBox 98"/>
          <p:cNvSpPr txBox="1"/>
          <p:nvPr/>
        </p:nvSpPr>
        <p:spPr>
          <a:xfrm>
            <a:off x="4613275" y="363579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Duracell</a:t>
            </a:r>
          </a:p>
        </p:txBody>
      </p:sp>
      <p:cxnSp>
        <p:nvCxnSpPr>
          <p:cNvPr id="100" name="Connector 99"/>
          <p:cNvCxnSpPr/>
          <p:nvPr/>
        </p:nvCxnSpPr>
        <p:spPr>
          <a:xfrm>
            <a:off x="4184650" y="389134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4365625" y="389134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02" name="TextBox 101"/>
          <p:cNvSpPr txBox="1"/>
          <p:nvPr/>
        </p:nvSpPr>
        <p:spPr>
          <a:xfrm>
            <a:off x="4613275" y="389134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Contemporary Amperex Technology Co., Limited (CATL)</a:t>
            </a:r>
          </a:p>
        </p:txBody>
      </p:sp>
      <p:sp>
        <p:nvSpPr>
          <p:cNvPr id="103" name="Rectangle 102"/>
          <p:cNvSpPr/>
          <p:nvPr/>
        </p:nvSpPr>
        <p:spPr>
          <a:xfrm>
            <a:off x="4184650" y="4146897"/>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Connector 103"/>
          <p:cNvCxnSpPr/>
          <p:nvPr/>
        </p:nvCxnSpPr>
        <p:spPr>
          <a:xfrm>
            <a:off x="4184650" y="414689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4365625" y="4146897"/>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06" name="TextBox 105"/>
          <p:cNvSpPr txBox="1"/>
          <p:nvPr/>
        </p:nvSpPr>
        <p:spPr>
          <a:xfrm>
            <a:off x="4613275" y="4146897"/>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EVE Energy</a:t>
            </a:r>
          </a:p>
        </p:txBody>
      </p:sp>
      <p:cxnSp>
        <p:nvCxnSpPr>
          <p:cNvPr id="107" name="Connector 106"/>
          <p:cNvCxnSpPr/>
          <p:nvPr/>
        </p:nvCxnSpPr>
        <p:spPr>
          <a:xfrm>
            <a:off x="4184650" y="440244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4365625" y="440244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09" name="TextBox 108"/>
          <p:cNvSpPr txBox="1"/>
          <p:nvPr/>
        </p:nvSpPr>
        <p:spPr>
          <a:xfrm>
            <a:off x="4613275" y="440244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BYD</a:t>
            </a:r>
          </a:p>
        </p:txBody>
      </p:sp>
      <p:sp>
        <p:nvSpPr>
          <p:cNvPr id="110" name="Rectangle 109"/>
          <p:cNvSpPr/>
          <p:nvPr/>
        </p:nvSpPr>
        <p:spPr>
          <a:xfrm>
            <a:off x="4184650" y="4658001"/>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a:off x="4184650" y="465800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4365625" y="465800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13" name="TextBox 112"/>
          <p:cNvSpPr txBox="1"/>
          <p:nvPr/>
        </p:nvSpPr>
        <p:spPr>
          <a:xfrm>
            <a:off x="4613275" y="465800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LG Energy Solution</a:t>
            </a:r>
          </a:p>
        </p:txBody>
      </p:sp>
      <p:cxnSp>
        <p:nvCxnSpPr>
          <p:cNvPr id="114" name="Connector 113"/>
          <p:cNvCxnSpPr/>
          <p:nvPr/>
        </p:nvCxnSpPr>
        <p:spPr>
          <a:xfrm>
            <a:off x="4184650" y="491355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365625" y="491355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16" name="TextBox 115"/>
          <p:cNvSpPr txBox="1"/>
          <p:nvPr/>
        </p:nvSpPr>
        <p:spPr>
          <a:xfrm>
            <a:off x="4613275" y="491355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Samsung SDI</a:t>
            </a:r>
          </a:p>
        </p:txBody>
      </p:sp>
      <p:sp>
        <p:nvSpPr>
          <p:cNvPr id="117" name="Rectangle 116"/>
          <p:cNvSpPr/>
          <p:nvPr/>
        </p:nvSpPr>
        <p:spPr>
          <a:xfrm>
            <a:off x="4184650" y="516910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a:off x="4184650" y="516910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4365625" y="516910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20" name="TextBox 119"/>
          <p:cNvSpPr txBox="1"/>
          <p:nvPr/>
        </p:nvSpPr>
        <p:spPr>
          <a:xfrm>
            <a:off x="4613275" y="516910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Panasonic Energy</a:t>
            </a:r>
          </a:p>
        </p:txBody>
      </p:sp>
      <p:cxnSp>
        <p:nvCxnSpPr>
          <p:cNvPr id="121" name="Connector 120"/>
          <p:cNvCxnSpPr/>
          <p:nvPr/>
        </p:nvCxnSpPr>
        <p:spPr>
          <a:xfrm>
            <a:off x="4184650" y="542465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4365625" y="542465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23" name="TextBox 122"/>
          <p:cNvSpPr txBox="1"/>
          <p:nvPr/>
        </p:nvSpPr>
        <p:spPr>
          <a:xfrm>
            <a:off x="4613275" y="542465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Sunwoda Electronic</a:t>
            </a:r>
          </a:p>
        </p:txBody>
      </p:sp>
      <p:sp>
        <p:nvSpPr>
          <p:cNvPr id="124" name="Rectangle 123"/>
          <p:cNvSpPr/>
          <p:nvPr/>
        </p:nvSpPr>
        <p:spPr>
          <a:xfrm>
            <a:off x="4184650" y="5680208"/>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5" name="Connector 124"/>
          <p:cNvCxnSpPr/>
          <p:nvPr/>
        </p:nvCxnSpPr>
        <p:spPr>
          <a:xfrm>
            <a:off x="4184650" y="568020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4365625" y="568020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27" name="TextBox 126"/>
          <p:cNvSpPr txBox="1"/>
          <p:nvPr/>
        </p:nvSpPr>
        <p:spPr>
          <a:xfrm>
            <a:off x="4613275" y="568020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Amperex Technology Limited (ATL)</a:t>
            </a:r>
          </a:p>
        </p:txBody>
      </p:sp>
      <p:cxnSp>
        <p:nvCxnSpPr>
          <p:cNvPr id="128" name="Connector 127"/>
          <p:cNvCxnSpPr/>
          <p:nvPr/>
        </p:nvCxnSpPr>
        <p:spPr>
          <a:xfrm>
            <a:off x="4184650" y="593575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4365625" y="593575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30" name="TextBox 129"/>
          <p:cNvSpPr txBox="1"/>
          <p:nvPr/>
        </p:nvSpPr>
        <p:spPr>
          <a:xfrm>
            <a:off x="4613275" y="593575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Grepow Battery</a:t>
            </a:r>
          </a:p>
        </p:txBody>
      </p:sp>
      <p:sp>
        <p:nvSpPr>
          <p:cNvPr id="131" name="Rectangle 130"/>
          <p:cNvSpPr/>
          <p:nvPr/>
        </p:nvSpPr>
        <p:spPr>
          <a:xfrm>
            <a:off x="8207375" y="1573126"/>
            <a:ext cx="3841750" cy="4618186"/>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8207375" y="1573126"/>
            <a:ext cx="3841750" cy="273805"/>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207375" y="1637014"/>
            <a:ext cx="3841750" cy="164283"/>
          </a:xfrm>
          <a:prstGeom prst="rect">
            <a:avLst/>
          </a:prstGeom>
          <a:noFill/>
        </p:spPr>
        <p:txBody>
          <a:bodyPr wrap="square" lIns="28575" rIns="28575" tIns="9525" bIns="9525" anchor="ctr">
            <a:spAutoFit/>
          </a:bodyPr>
          <a:lstStyle/>
          <a:p>
            <a:pPr algn="ctr"/>
            <a:r>
              <a:rPr sz="1100" b="1">
                <a:solidFill>
                  <a:srgbClr val="FFFFFF"/>
                </a:solidFill>
                <a:latin typeface="Segoe UI"/>
              </a:rPr>
              <a:t>List Companies</a:t>
            </a:r>
          </a:p>
        </p:txBody>
      </p:sp>
      <p:sp>
        <p:nvSpPr>
          <p:cNvPr id="134" name="TextBox 133"/>
          <p:cNvSpPr txBox="1"/>
          <p:nvPr/>
        </p:nvSpPr>
        <p:spPr>
          <a:xfrm>
            <a:off x="8397875" y="184693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35" name="TextBox 134"/>
          <p:cNvSpPr txBox="1"/>
          <p:nvPr/>
        </p:nvSpPr>
        <p:spPr>
          <a:xfrm>
            <a:off x="8645525" y="184693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Gotion High-Tech</a:t>
            </a:r>
          </a:p>
        </p:txBody>
      </p:sp>
      <p:sp>
        <p:nvSpPr>
          <p:cNvPr id="136" name="Rectangle 135"/>
          <p:cNvSpPr/>
          <p:nvPr/>
        </p:nvSpPr>
        <p:spPr>
          <a:xfrm>
            <a:off x="8216900" y="2102483"/>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8216900" y="210248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397875" y="2102483"/>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39" name="TextBox 138"/>
          <p:cNvSpPr txBox="1"/>
          <p:nvPr/>
        </p:nvSpPr>
        <p:spPr>
          <a:xfrm>
            <a:off x="8645525" y="2102483"/>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REPT BATTERO</a:t>
            </a:r>
          </a:p>
        </p:txBody>
      </p:sp>
      <p:cxnSp>
        <p:nvCxnSpPr>
          <p:cNvPr id="140" name="Connector 139"/>
          <p:cNvCxnSpPr/>
          <p:nvPr/>
        </p:nvCxnSpPr>
        <p:spPr>
          <a:xfrm>
            <a:off x="8216900" y="235803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8397875" y="235803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42" name="TextBox 141"/>
          <p:cNvSpPr txBox="1"/>
          <p:nvPr/>
        </p:nvSpPr>
        <p:spPr>
          <a:xfrm>
            <a:off x="8645525" y="235803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Great Power Energy &amp; Technology</a:t>
            </a:r>
          </a:p>
        </p:txBody>
      </p:sp>
      <p:sp>
        <p:nvSpPr>
          <p:cNvPr id="143" name="Rectangle 142"/>
          <p:cNvSpPr/>
          <p:nvPr/>
        </p:nvSpPr>
        <p:spPr>
          <a:xfrm>
            <a:off x="8216900" y="2613586"/>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4" name="Connector 143"/>
          <p:cNvCxnSpPr/>
          <p:nvPr/>
        </p:nvCxnSpPr>
        <p:spPr>
          <a:xfrm>
            <a:off x="8216900" y="261358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8397875" y="261358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46" name="TextBox 145"/>
          <p:cNvSpPr txBox="1"/>
          <p:nvPr/>
        </p:nvSpPr>
        <p:spPr>
          <a:xfrm>
            <a:off x="8645525" y="261358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BAK Battery</a:t>
            </a:r>
          </a:p>
        </p:txBody>
      </p:sp>
      <p:cxnSp>
        <p:nvCxnSpPr>
          <p:cNvPr id="147" name="Connector 146"/>
          <p:cNvCxnSpPr/>
          <p:nvPr/>
        </p:nvCxnSpPr>
        <p:spPr>
          <a:xfrm>
            <a:off x="8216900" y="286913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8397875" y="286913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49" name="TextBox 148"/>
          <p:cNvSpPr txBox="1"/>
          <p:nvPr/>
        </p:nvSpPr>
        <p:spPr>
          <a:xfrm>
            <a:off x="8645525" y="286913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Farasis Energy</a:t>
            </a:r>
          </a:p>
        </p:txBody>
      </p:sp>
      <p:sp>
        <p:nvSpPr>
          <p:cNvPr id="150" name="Rectangle 149"/>
          <p:cNvSpPr/>
          <p:nvPr/>
        </p:nvSpPr>
        <p:spPr>
          <a:xfrm>
            <a:off x="8216900" y="3124690"/>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8216900" y="312469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8397875" y="3124690"/>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53" name="TextBox 152"/>
          <p:cNvSpPr txBox="1"/>
          <p:nvPr/>
        </p:nvSpPr>
        <p:spPr>
          <a:xfrm>
            <a:off x="8645525" y="3124690"/>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Tianjin Lishen Battery</a:t>
            </a:r>
          </a:p>
        </p:txBody>
      </p:sp>
      <p:cxnSp>
        <p:nvCxnSpPr>
          <p:cNvPr id="154" name="Connector 153"/>
          <p:cNvCxnSpPr/>
          <p:nvPr/>
        </p:nvCxnSpPr>
        <p:spPr>
          <a:xfrm>
            <a:off x="8216900" y="338024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8397875" y="338024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56" name="TextBox 155"/>
          <p:cNvSpPr txBox="1"/>
          <p:nvPr/>
        </p:nvSpPr>
        <p:spPr>
          <a:xfrm>
            <a:off x="8645525" y="338024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SVOLT Energy Technology</a:t>
            </a:r>
          </a:p>
        </p:txBody>
      </p:sp>
      <p:sp>
        <p:nvSpPr>
          <p:cNvPr id="157" name="Rectangle 156"/>
          <p:cNvSpPr/>
          <p:nvPr/>
        </p:nvSpPr>
        <p:spPr>
          <a:xfrm>
            <a:off x="8216900" y="363579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8" name="Connector 157"/>
          <p:cNvCxnSpPr/>
          <p:nvPr/>
        </p:nvCxnSpPr>
        <p:spPr>
          <a:xfrm>
            <a:off x="8216900" y="363579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8397875" y="363579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60" name="TextBox 159"/>
          <p:cNvSpPr txBox="1"/>
          <p:nvPr/>
        </p:nvSpPr>
        <p:spPr>
          <a:xfrm>
            <a:off x="8645525" y="363579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Sunbeam New Energy</a:t>
            </a:r>
          </a:p>
        </p:txBody>
      </p:sp>
      <p:cxnSp>
        <p:nvCxnSpPr>
          <p:cNvPr id="161" name="Connector 160"/>
          <p:cNvCxnSpPr/>
          <p:nvPr/>
        </p:nvCxnSpPr>
        <p:spPr>
          <a:xfrm>
            <a:off x="8216900" y="389134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8397875" y="3891345"/>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63" name="TextBox 162"/>
          <p:cNvSpPr txBox="1"/>
          <p:nvPr/>
        </p:nvSpPr>
        <p:spPr>
          <a:xfrm>
            <a:off x="8645525" y="3891345"/>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OVYTE Energy</a:t>
            </a:r>
          </a:p>
        </p:txBody>
      </p:sp>
      <p:sp>
        <p:nvSpPr>
          <p:cNvPr id="164" name="Rectangle 163"/>
          <p:cNvSpPr/>
          <p:nvPr/>
        </p:nvSpPr>
        <p:spPr>
          <a:xfrm>
            <a:off x="8216900" y="4146897"/>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8216900" y="414689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8397875" y="4146897"/>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67" name="TextBox 166"/>
          <p:cNvSpPr txBox="1"/>
          <p:nvPr/>
        </p:nvSpPr>
        <p:spPr>
          <a:xfrm>
            <a:off x="8645525" y="4146897"/>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Data Power Technology</a:t>
            </a:r>
          </a:p>
        </p:txBody>
      </p:sp>
      <p:cxnSp>
        <p:nvCxnSpPr>
          <p:cNvPr id="168" name="Connector 167"/>
          <p:cNvCxnSpPr/>
          <p:nvPr/>
        </p:nvCxnSpPr>
        <p:spPr>
          <a:xfrm>
            <a:off x="8216900" y="440244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8397875" y="440244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70" name="TextBox 169"/>
          <p:cNvSpPr txBox="1"/>
          <p:nvPr/>
        </p:nvSpPr>
        <p:spPr>
          <a:xfrm>
            <a:off x="8645525" y="440244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Topband</a:t>
            </a:r>
          </a:p>
        </p:txBody>
      </p:sp>
      <p:sp>
        <p:nvSpPr>
          <p:cNvPr id="171" name="Rectangle 170"/>
          <p:cNvSpPr/>
          <p:nvPr/>
        </p:nvSpPr>
        <p:spPr>
          <a:xfrm>
            <a:off x="8216900" y="4658001"/>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2" name="Connector 171"/>
          <p:cNvCxnSpPr/>
          <p:nvPr/>
        </p:nvCxnSpPr>
        <p:spPr>
          <a:xfrm>
            <a:off x="8216900" y="465800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8397875" y="4658001"/>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74" name="TextBox 173"/>
          <p:cNvSpPr txBox="1"/>
          <p:nvPr/>
        </p:nvSpPr>
        <p:spPr>
          <a:xfrm>
            <a:off x="8645525" y="4658001"/>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BPI</a:t>
            </a:r>
          </a:p>
        </p:txBody>
      </p:sp>
      <p:cxnSp>
        <p:nvCxnSpPr>
          <p:cNvPr id="175" name="Connector 174"/>
          <p:cNvCxnSpPr/>
          <p:nvPr/>
        </p:nvCxnSpPr>
        <p:spPr>
          <a:xfrm>
            <a:off x="8216900" y="491355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8397875" y="4913552"/>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77" name="TextBox 176"/>
          <p:cNvSpPr txBox="1"/>
          <p:nvPr/>
        </p:nvSpPr>
        <p:spPr>
          <a:xfrm>
            <a:off x="8645525" y="4913552"/>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Guangdong KAYO Battery</a:t>
            </a:r>
          </a:p>
        </p:txBody>
      </p:sp>
      <p:sp>
        <p:nvSpPr>
          <p:cNvPr id="178" name="Rectangle 177"/>
          <p:cNvSpPr/>
          <p:nvPr/>
        </p:nvSpPr>
        <p:spPr>
          <a:xfrm>
            <a:off x="8216900" y="5169104"/>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9" name="Connector 178"/>
          <p:cNvCxnSpPr/>
          <p:nvPr/>
        </p:nvCxnSpPr>
        <p:spPr>
          <a:xfrm>
            <a:off x="8216900" y="516910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8397875" y="5169104"/>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81" name="TextBox 180"/>
          <p:cNvSpPr txBox="1"/>
          <p:nvPr/>
        </p:nvSpPr>
        <p:spPr>
          <a:xfrm>
            <a:off x="8645525" y="5169104"/>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A&amp;S Power Technology</a:t>
            </a:r>
          </a:p>
        </p:txBody>
      </p:sp>
      <p:cxnSp>
        <p:nvCxnSpPr>
          <p:cNvPr id="182" name="Connector 181"/>
          <p:cNvCxnSpPr/>
          <p:nvPr/>
        </p:nvCxnSpPr>
        <p:spPr>
          <a:xfrm>
            <a:off x="8216900" y="542465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8397875" y="5424656"/>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84" name="TextBox 183"/>
          <p:cNvSpPr txBox="1"/>
          <p:nvPr/>
        </p:nvSpPr>
        <p:spPr>
          <a:xfrm>
            <a:off x="8645525" y="5424656"/>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Tritek</a:t>
            </a:r>
          </a:p>
        </p:txBody>
      </p:sp>
      <p:sp>
        <p:nvSpPr>
          <p:cNvPr id="185" name="Rectangle 184"/>
          <p:cNvSpPr/>
          <p:nvPr/>
        </p:nvSpPr>
        <p:spPr>
          <a:xfrm>
            <a:off x="8216900" y="5680208"/>
            <a:ext cx="3822700" cy="255552"/>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6" name="Connector 185"/>
          <p:cNvCxnSpPr/>
          <p:nvPr/>
        </p:nvCxnSpPr>
        <p:spPr>
          <a:xfrm>
            <a:off x="8216900" y="568020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8397875" y="5680208"/>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88" name="TextBox 187"/>
          <p:cNvSpPr txBox="1"/>
          <p:nvPr/>
        </p:nvSpPr>
        <p:spPr>
          <a:xfrm>
            <a:off x="8645525" y="5680208"/>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Shenzhen Bixell Technology</a:t>
            </a:r>
          </a:p>
        </p:txBody>
      </p:sp>
      <p:cxnSp>
        <p:nvCxnSpPr>
          <p:cNvPr id="189" name="Connector 188"/>
          <p:cNvCxnSpPr/>
          <p:nvPr/>
        </p:nvCxnSpPr>
        <p:spPr>
          <a:xfrm>
            <a:off x="8216900" y="593575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8397875" y="5935759"/>
            <a:ext cx="190500" cy="255552"/>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91" name="TextBox 190"/>
          <p:cNvSpPr txBox="1"/>
          <p:nvPr/>
        </p:nvSpPr>
        <p:spPr>
          <a:xfrm>
            <a:off x="8645525" y="5935759"/>
            <a:ext cx="3308350" cy="255552"/>
          </a:xfrm>
          <a:prstGeom prst="rect">
            <a:avLst/>
          </a:prstGeom>
          <a:noFill/>
        </p:spPr>
        <p:txBody>
          <a:bodyPr wrap="square" lIns="28575" rIns="28575" tIns="9525" bIns="9525" anchor="ctr">
            <a:spAutoFit/>
          </a:bodyPr>
          <a:lstStyle/>
          <a:p>
            <a:pPr algn="l"/>
            <a:r>
              <a:rPr sz="1100" b="0">
                <a:solidFill>
                  <a:srgbClr val="252423"/>
                </a:solidFill>
                <a:latin typeface="Segoe UI"/>
              </a:rPr>
              <a:t>Other Prominent Players</a:t>
            </a:r>
          </a:p>
        </p:txBody>
      </p:sp>
      <p:sp>
        <p:nvSpPr>
          <p:cNvPr id="192" name="TextBox 191"/>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Segoe UI"/>
              </a:rPr>
              <a:t>Note: the list of companies is indicative and can be customised on request.</a:t>
            </a:r>
          </a:p>
        </p:txBody>
      </p:sp>
      <p:sp>
        <p:nvSpPr>
          <p:cNvPr id="193" name="TextBox 19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0526E"/>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(1/7)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 and Revenue Prospects</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and Business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Competitive Landscape and Supplier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Key Opportunities in 500 Wh–2 kWh Portable Energy Storage</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Strategic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Definition of Lithium-Polymer Cell Construction and Battery System Boundary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Taxonomy and Measurement Units</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Research Scope, Value Chain Coverage and Exclusions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Cathode Chemistry versus Polymer Electrolyte / Pouch Format Distinction</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Analysis and Forecast</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Historical Market Value (US$ Mn), 2021–2025</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Market Value Forecast (US$ Mn), 2026–2036</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Year-on-Year Value Growth (%)</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Absolute Dollar Opportunity (US$ Mn)</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Incremental Opportunity by Capacity Band (US$ Mn)</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Product Shipment Volume and Energy Capacity Analysis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Historical System and Battery Pack Shipment Volume (Thousand Units)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Forecast System and Battery Pack Shipments (Thousand Units)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Cumulative Battery Energy Shipped (MWh)</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Average Energy Capacity per System (Wh)</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Value Growth versus Unit Shipment Growth</a:t>
                      </a:r>
                      <a:endParaRPr sz="1100"/>
                    </a:p>
                  </a:txBody>
                  <a:tcPr marL="4286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Portable Power Station ASP by Storage Capacity (US$/Unit)</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Standalone Battery Pack Pricing (US$/Pack)</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Battery Pack Energy-Normalized Pricing (US$/kWh)</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Inverter / Output Power Premium across AC/DC Systems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LFP versus NMC versus LCO Pricing Differentials</a:t>
                      </a:r>
                      <a:endParaRPr sz="1100"/>
                    </a:p>
                  </a:txBody>
                  <a:tcPr marL="428625" marR="9525" marT="9525" marB="0" anchor="ctr"/>
                </a:tc>
              </a:tr>
              <a:tr h="175260">
                <a:tc>
                  <a:txBody>
                    <a:bodyPr wrap="square"/>
                    <a:lstStyle/>
                    <a:p>
                      <a:pPr algn="l"/>
                      <a:r>
                        <a:rPr sz="1100" b="0" i="0">
                          <a:solidFill>
                            <a:srgbClr val="0070C0"/>
                          </a:solidFill>
                          <a:latin typeface="Calibri"/>
                        </a:rPr>
                        <a:t>5.6.</a:t>
                      </a:r>
                      <a:r>
                        <a:rPr sz="700" b="0" i="0">
                          <a:solidFill>
                            <a:srgbClr val="0070C0"/>
                          </a:solidFill>
                          <a:latin typeface="Times New Roman"/>
                        </a:rPr>
                        <a:t> </a:t>
                      </a:r>
                      <a:r>
                        <a:rPr sz="1100" b="0" i="0">
                          <a:solidFill>
                            <a:srgbClr val="0070C0"/>
                          </a:solidFill>
                          <a:latin typeface="Calibri"/>
                        </a:rPr>
                        <a:t>Regional and Country-Level Price Benchmarking</a:t>
                      </a:r>
                      <a:endParaRPr sz="1100"/>
                    </a:p>
                  </a:txBody>
                  <a:tcPr marL="4286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5.7.</a:t>
                      </a:r>
                      <a:r>
                        <a:rPr sz="700" b="0" i="0">
                          <a:solidFill>
                            <a:srgbClr val="0070C0"/>
                          </a:solidFill>
                          <a:latin typeface="Times New Roman"/>
                        </a:rPr>
                        <a:t> </a:t>
                      </a:r>
                      <a:r>
                        <a:rPr sz="1100" b="0" i="0">
                          <a:solidFill>
                            <a:srgbClr val="0070C0"/>
                          </a:solidFill>
                          <a:latin typeface="Calibri"/>
                        </a:rPr>
                        <a:t>Direct-to-Consumer versus Retail and B2B Channel Pricing</a:t>
                      </a:r>
                      <a:endParaRPr sz="1100"/>
                    </a:p>
                  </a:txBody>
                  <a:tcPr marL="428625" marR="9525" marT="9525" marB="0" anchor="ctr"/>
                </a:tc>
              </a:tr>
              <a:tr h="175260">
                <a:tc>
                  <a:txBody>
                    <a:bodyPr wrap="square"/>
                    <a:lstStyle/>
                    <a:p>
                      <a:pPr algn="l"/>
                      <a:r>
                        <a:rPr sz="1100" b="0" i="0">
                          <a:solidFill>
                            <a:srgbClr val="0070C0"/>
                          </a:solidFill>
                          <a:latin typeface="Calibri"/>
                        </a:rPr>
                        <a:t>5.8.</a:t>
                      </a:r>
                      <a:r>
                        <a:rPr sz="700" b="0" i="0">
                          <a:solidFill>
                            <a:srgbClr val="0070C0"/>
                          </a:solidFill>
                          <a:latin typeface="Times New Roman"/>
                        </a:rPr>
                        <a:t> </a:t>
                      </a:r>
                      <a:r>
                        <a:rPr sz="1100" b="0" i="0">
                          <a:solidFill>
                            <a:srgbClr val="0070C0"/>
                          </a:solidFill>
                          <a:latin typeface="Calibri"/>
                        </a:rPr>
                        <a:t>Bill of Materials: Cells, BMS, Inverter, Charger, Enclosure and Assembly</a:t>
                      </a:r>
                      <a:endParaRPr sz="1100"/>
                    </a:p>
                  </a:txBody>
                  <a:tcPr marL="428625" marR="9525" marT="9525" marB="0" anchor="ctr"/>
                </a:tc>
              </a:tr>
              <a:tr h="175260">
                <a:tc>
                  <a:txBody>
                    <a:bodyPr wrap="square"/>
                    <a:lstStyle/>
                    <a:p>
                      <a:pPr algn="l"/>
                      <a:r>
                        <a:rPr sz="1100" b="0" i="0">
                          <a:solidFill>
                            <a:srgbClr val="0070C0"/>
                          </a:solidFill>
                          <a:latin typeface="Calibri"/>
                        </a:rPr>
                        <a:t>5.9.</a:t>
                      </a:r>
                      <a:r>
                        <a:rPr sz="700" b="0" i="0">
                          <a:solidFill>
                            <a:srgbClr val="0070C0"/>
                          </a:solidFill>
                          <a:latin typeface="Times New Roman"/>
                        </a:rPr>
                        <a:t> </a:t>
                      </a:r>
                      <a:r>
                        <a:rPr sz="1100" b="0" i="0">
                          <a:solidFill>
                            <a:srgbClr val="0070C0"/>
                          </a:solidFill>
                          <a:latin typeface="Calibri"/>
                        </a:rPr>
                        <a:t>Manufacturer and Retailer Gross Margin Benchmarks (%)</a:t>
                      </a:r>
                      <a:endParaRPr sz="1100"/>
                    </a:p>
                  </a:txBody>
                  <a:tcPr marL="428625" marR="9525" marT="9525" marB="0" anchor="ctr"/>
                </a:tc>
              </a:tr>
              <a:tr h="175260">
                <a:tc>
                  <a:txBody>
                    <a:bodyPr wrap="square"/>
                    <a:lstStyle/>
                    <a:p>
                      <a:pPr algn="l"/>
                      <a:r>
                        <a:rPr sz="1100" b="0" i="0">
                          <a:solidFill>
                            <a:srgbClr val="0070C0"/>
                          </a:solidFill>
                          <a:latin typeface="Calibri"/>
                        </a:rPr>
                        <a:t>5.10.</a:t>
                      </a:r>
                      <a:r>
                        <a:rPr sz="700" b="0" i="0">
                          <a:solidFill>
                            <a:srgbClr val="0070C0"/>
                          </a:solidFill>
                          <a:latin typeface="Times New Roman"/>
                        </a:rPr>
                        <a:t> </a:t>
                      </a:r>
                      <a:r>
                        <a:rPr sz="1100" b="0" i="0">
                          <a:solidFill>
                            <a:srgbClr val="0070C0"/>
                          </a:solidFill>
                          <a:latin typeface="Calibri"/>
                        </a:rPr>
                        <a:t>Historical Price Trends and Forecast</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Market Background and Foundation Data</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Addressable Buyer Base</a:t>
                      </a:r>
                      <a:endParaRPr sz="1100"/>
                    </a:p>
                  </a:txBody>
                  <a:tcPr marL="428625" marR="9525" marT="9525" marB="0" anchor="ctr"/>
                </a:tc>
              </a:tr>
              <a:tr h="175260">
                <a:tc>
                  <a:txBody>
                    <a:bodyPr wrap="square"/>
                    <a:lstStyle/>
                    <a:p>
                      <a:pPr algn="l"/>
                      <a:r>
                        <a:rPr sz="1100" b="0" i="0">
                          <a:solidFill>
                            <a:srgbClr val="000000"/>
                          </a:solidFill>
                          <a:latin typeface="Calibri"/>
                        </a:rPr>
                        <a:t>6.1.1.</a:t>
                      </a:r>
                      <a:r>
                        <a:rPr sz="700" b="0" i="0">
                          <a:solidFill>
                            <a:srgbClr val="000000"/>
                          </a:solidFill>
                          <a:latin typeface="Times New Roman"/>
                        </a:rPr>
                        <a:t> </a:t>
                      </a:r>
                      <a:r>
                        <a:rPr sz="1100" b="0" i="0">
                          <a:solidFill>
                            <a:srgbClr val="000000"/>
                          </a:solidFill>
                          <a:latin typeface="Calibri"/>
                        </a:rPr>
                        <a:t>Households with Portable Backup Power Needs (Mn)</a:t>
                      </a:r>
                      <a:endParaRPr sz="1100"/>
                    </a:p>
                  </a:txBody>
                  <a:tcPr marL="771525" marR="9525" marT="9525" marB="0" anchor="ctr"/>
                </a:tc>
              </a:tr>
              <a:tr h="175260">
                <a:tc>
                  <a:txBody>
                    <a:bodyPr wrap="square"/>
                    <a:lstStyle/>
                    <a:p>
                      <a:pPr algn="l"/>
                      <a:r>
                        <a:rPr sz="1100" b="0" i="0">
                          <a:solidFill>
                            <a:srgbClr val="000000"/>
                          </a:solidFill>
                          <a:latin typeface="Calibri"/>
                        </a:rPr>
                        <a:t>6.1.2.</a:t>
                      </a:r>
                      <a:r>
                        <a:rPr sz="700" b="0" i="0">
                          <a:solidFill>
                            <a:srgbClr val="000000"/>
                          </a:solidFill>
                          <a:latin typeface="Times New Roman"/>
                        </a:rPr>
                        <a:t> </a:t>
                      </a:r>
                      <a:r>
                        <a:rPr sz="1100" b="0" i="0">
                          <a:solidFill>
                            <a:srgbClr val="000000"/>
                          </a:solidFill>
                          <a:latin typeface="Calibri"/>
                        </a:rPr>
                        <a:t>Outdoor Recreation / Camping Addressable Consumers (Mn)</a:t>
                      </a:r>
                      <a:endParaRPr sz="1100"/>
                    </a:p>
                  </a:txBody>
                  <a:tcPr marL="771525" marR="9525" marT="9525" marB="0" anchor="ctr"/>
                </a:tc>
              </a:tr>
              <a:tr h="175260">
                <a:tc>
                  <a:txBody>
                    <a:bodyPr wrap="square"/>
                    <a:lstStyle/>
                    <a:p>
                      <a:pPr algn="l"/>
                      <a:r>
                        <a:rPr sz="1100" b="0" i="0">
                          <a:solidFill>
                            <a:srgbClr val="000000"/>
                          </a:solidFill>
                          <a:latin typeface="Calibri"/>
                        </a:rPr>
                        <a:t>6.1.3.</a:t>
                      </a:r>
                      <a:r>
                        <a:rPr sz="700" b="0" i="0">
                          <a:solidFill>
                            <a:srgbClr val="000000"/>
                          </a:solidFill>
                          <a:latin typeface="Times New Roman"/>
                        </a:rPr>
                        <a:t> </a:t>
                      </a:r>
                      <a:r>
                        <a:rPr sz="1100" b="0" i="0">
                          <a:solidFill>
                            <a:srgbClr val="000000"/>
                          </a:solidFill>
                          <a:latin typeface="Calibri"/>
                        </a:rPr>
                        <a:t>Addressable Remote Worksites and Small Businesses (Th Sites)</a:t>
                      </a:r>
                      <a:endParaRPr sz="1100"/>
                    </a:p>
                  </a:txBody>
                  <a:tcPr marL="7715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Customer Adoption and Penetration</a:t>
                      </a:r>
                      <a:endParaRPr sz="1100"/>
                    </a:p>
                  </a:txBody>
                  <a:tcPr marL="428625" marR="9525" marT="9525" marB="0" anchor="ctr"/>
                </a:tc>
              </a:tr>
              <a:tr h="175260">
                <a:tc>
                  <a:txBody>
                    <a:bodyPr wrap="square"/>
                    <a:lstStyle/>
                    <a:p>
                      <a:pPr algn="l"/>
                      <a:r>
                        <a:rPr sz="1100" b="0" i="0">
                          <a:solidFill>
                            <a:srgbClr val="000000"/>
                          </a:solidFill>
                          <a:latin typeface="Calibri"/>
                        </a:rPr>
                        <a:t>6.2.1.</a:t>
                      </a:r>
                      <a:r>
                        <a:rPr sz="700" b="0" i="0">
                          <a:solidFill>
                            <a:srgbClr val="000000"/>
                          </a:solidFill>
                          <a:latin typeface="Times New Roman"/>
                        </a:rPr>
                        <a:t> </a:t>
                      </a:r>
                      <a:r>
                        <a:rPr sz="1100" b="0" i="0">
                          <a:solidFill>
                            <a:srgbClr val="000000"/>
                          </a:solidFill>
                          <a:latin typeface="Calibri"/>
                        </a:rPr>
                        <a:t>Portable Power Station Household Penetration (%)</a:t>
                      </a:r>
                      <a:endParaRPr sz="1100"/>
                    </a:p>
                  </a:txBody>
                  <a:tcPr marL="771525" marR="9525" marT="9525" marB="0" anchor="ctr"/>
                </a:tc>
              </a:tr>
              <a:tr h="175260">
                <a:tc>
                  <a:txBody>
                    <a:bodyPr wrap="square"/>
                    <a:lstStyle/>
                    <a:p>
                      <a:pPr algn="l"/>
                      <a:r>
                        <a:rPr sz="1100" b="0" i="0">
                          <a:solidFill>
                            <a:srgbClr val="000000"/>
                          </a:solidFill>
                          <a:latin typeface="Calibri"/>
                        </a:rPr>
                        <a:t>6.2.2.</a:t>
                      </a:r>
                      <a:r>
                        <a:rPr sz="700" b="0" i="0">
                          <a:solidFill>
                            <a:srgbClr val="000000"/>
                          </a:solidFill>
                          <a:latin typeface="Times New Roman"/>
                        </a:rPr>
                        <a:t> </a:t>
                      </a:r>
                      <a:r>
                        <a:rPr sz="1100" b="0" i="0">
                          <a:solidFill>
                            <a:srgbClr val="000000"/>
                          </a:solidFill>
                          <a:latin typeface="Calibri"/>
                        </a:rPr>
                        <a:t>Outdoor / Recreational User Adoption (%)</a:t>
                      </a:r>
                      <a:endParaRPr sz="1100"/>
                    </a:p>
                  </a:txBody>
                  <a:tcPr marL="771525" marR="9525" marT="9525" marB="0" anchor="ctr"/>
                </a:tc>
              </a:tr>
              <a:tr h="175260">
                <a:tc>
                  <a:txBody>
                    <a:bodyPr wrap="square"/>
                    <a:lstStyle/>
                    <a:p>
                      <a:pPr algn="l"/>
                      <a:r>
                        <a:rPr sz="1100" b="0" i="0">
                          <a:solidFill>
                            <a:srgbClr val="000000"/>
                          </a:solidFill>
                          <a:latin typeface="Calibri"/>
                        </a:rPr>
                        <a:t>6.2.3.</a:t>
                      </a:r>
                      <a:r>
                        <a:rPr sz="700" b="0" i="0">
                          <a:solidFill>
                            <a:srgbClr val="000000"/>
                          </a:solidFill>
                          <a:latin typeface="Times New Roman"/>
                        </a:rPr>
                        <a:t> </a:t>
                      </a:r>
                      <a:r>
                        <a:rPr sz="1100" b="0" i="0">
                          <a:solidFill>
                            <a:srgbClr val="000000"/>
                          </a:solidFill>
                          <a:latin typeface="Calibri"/>
                        </a:rPr>
                        <a:t>Institutional and Professional Buyer Adoption (%)</a:t>
                      </a:r>
                      <a:endParaRPr sz="1100"/>
                    </a:p>
                  </a:txBody>
                  <a:tcPr marL="7715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Annual Purchase and Replacement Intensity</a:t>
                      </a:r>
                      <a:endParaRPr sz="1100"/>
                    </a:p>
                  </a:txBody>
                  <a:tcPr marL="428625" marR="9525" marT="9525" marB="0" anchor="ctr"/>
                </a:tc>
              </a:tr>
              <a:tr h="175260">
                <a:tc>
                  <a:txBody>
                    <a:bodyPr wrap="square"/>
                    <a:lstStyle/>
                    <a:p>
                      <a:pPr algn="l"/>
                      <a:r>
                        <a:rPr sz="1100" b="0" i="0">
                          <a:solidFill>
                            <a:srgbClr val="000000"/>
                          </a:solidFill>
                          <a:latin typeface="Calibri"/>
                        </a:rPr>
                        <a:t>6.3.1.</a:t>
                      </a:r>
                      <a:r>
                        <a:rPr sz="700" b="0" i="0">
                          <a:solidFill>
                            <a:srgbClr val="000000"/>
                          </a:solidFill>
                          <a:latin typeface="Times New Roman"/>
                        </a:rPr>
                        <a:t> </a:t>
                      </a:r>
                      <a:r>
                        <a:rPr sz="1100" b="0" i="0">
                          <a:solidFill>
                            <a:srgbClr val="000000"/>
                          </a:solidFill>
                          <a:latin typeface="Calibri"/>
                        </a:rPr>
                        <a:t>Annual Units Purchased per Active Buyer (Units/Year)</a:t>
                      </a:r>
                      <a:endParaRPr sz="1100"/>
                    </a:p>
                  </a:txBody>
                  <a:tcPr marL="771525" marR="9525" marT="9525" marB="0" anchor="ctr"/>
                </a:tc>
              </a:tr>
              <a:tr h="175260">
                <a:tc>
                  <a:txBody>
                    <a:bodyPr wrap="square"/>
                    <a:lstStyle/>
                    <a:p>
                      <a:pPr algn="l"/>
                      <a:r>
                        <a:rPr sz="1100" b="0" i="0">
                          <a:solidFill>
                            <a:srgbClr val="000000"/>
                          </a:solidFill>
                          <a:latin typeface="Calibri"/>
                        </a:rPr>
                        <a:t>6.3.2.</a:t>
                      </a:r>
                      <a:r>
                        <a:rPr sz="700" b="0" i="0">
                          <a:solidFill>
                            <a:srgbClr val="000000"/>
                          </a:solidFill>
                          <a:latin typeface="Times New Roman"/>
                        </a:rPr>
                        <a:t> </a:t>
                      </a:r>
                      <a:r>
                        <a:rPr sz="1100" b="0" i="0">
                          <a:solidFill>
                            <a:srgbClr val="000000"/>
                          </a:solidFill>
                          <a:latin typeface="Calibri"/>
                        </a:rPr>
                        <a:t>Replacement Cycle (Years)</a:t>
                      </a:r>
                      <a:endParaRPr sz="1100"/>
                    </a:p>
                  </a:txBody>
                  <a:tcPr marL="771525" marR="9525" marT="9525" marB="0" anchor="ctr"/>
                </a:tc>
              </a:tr>
              <a:tr h="175260">
                <a:tc>
                  <a:txBody>
                    <a:bodyPr wrap="square"/>
                    <a:lstStyle/>
                    <a:p>
                      <a:pPr algn="l"/>
                      <a:r>
                        <a:rPr sz="1100" b="0" i="0">
                          <a:solidFill>
                            <a:srgbClr val="000000"/>
                          </a:solidFill>
                          <a:latin typeface="Calibri"/>
                        </a:rPr>
                        <a:t>6.3.3.</a:t>
                      </a:r>
                      <a:r>
                        <a:rPr sz="700" b="0" i="0">
                          <a:solidFill>
                            <a:srgbClr val="000000"/>
                          </a:solidFill>
                          <a:latin typeface="Times New Roman"/>
                        </a:rPr>
                        <a:t> </a:t>
                      </a:r>
                      <a:r>
                        <a:rPr sz="1100" b="0" i="0">
                          <a:solidFill>
                            <a:srgbClr val="000000"/>
                          </a:solidFill>
                          <a:latin typeface="Calibri"/>
                        </a:rPr>
                        <a:t>Average Fleet / Household Unit Ownership (Units)</a:t>
                      </a:r>
                      <a:endParaRPr sz="1100"/>
                    </a:p>
                  </a:txBody>
                  <a:tcPr marL="7715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Energy and Usage Drivers</a:t>
                      </a:r>
                      <a:endParaRPr sz="1100"/>
                    </a:p>
                  </a:txBody>
                  <a:tcPr marL="428625" marR="9525" marT="9525" marB="0" anchor="ctr"/>
                </a:tc>
              </a:tr>
              <a:tr h="175260">
                <a:tc>
                  <a:txBody>
                    <a:bodyPr wrap="square"/>
                    <a:lstStyle/>
                    <a:p>
                      <a:pPr algn="l"/>
                      <a:r>
                        <a:rPr sz="1100" b="0" i="0">
                          <a:solidFill>
                            <a:srgbClr val="000000"/>
                          </a:solidFill>
                          <a:latin typeface="Calibri"/>
                        </a:rPr>
                        <a:t>6.4.1.</a:t>
                      </a:r>
                      <a:r>
                        <a:rPr sz="700" b="0" i="0">
                          <a:solidFill>
                            <a:srgbClr val="000000"/>
                          </a:solidFill>
                          <a:latin typeface="Times New Roman"/>
                        </a:rPr>
                        <a:t> </a:t>
                      </a:r>
                      <a:r>
                        <a:rPr sz="1100" b="0" i="0">
                          <a:solidFill>
                            <a:srgbClr val="000000"/>
                          </a:solidFill>
                          <a:latin typeface="Calibri"/>
                        </a:rPr>
                        <a:t>Average Rated Battery Capacity (Wh)</a:t>
                      </a:r>
                      <a:endParaRPr sz="1100"/>
                    </a:p>
                  </a:txBody>
                  <a:tcPr marL="771525" marR="9525" marT="9525" marB="0" anchor="ctr"/>
                </a:tc>
              </a:tr>
              <a:tr h="175260">
                <a:tc>
                  <a:txBody>
                    <a:bodyPr wrap="square"/>
                    <a:lstStyle/>
                    <a:p>
                      <a:pPr algn="l"/>
                      <a:r>
                        <a:rPr sz="1100" b="0" i="0">
                          <a:solidFill>
                            <a:srgbClr val="000000"/>
                          </a:solidFill>
                          <a:latin typeface="Calibri"/>
                        </a:rPr>
                        <a:t>6.4.2.</a:t>
                      </a:r>
                      <a:r>
                        <a:rPr sz="700" b="0" i="0">
                          <a:solidFill>
                            <a:srgbClr val="000000"/>
                          </a:solidFill>
                          <a:latin typeface="Times New Roman"/>
                        </a:rPr>
                        <a:t> </a:t>
                      </a:r>
                      <a:r>
                        <a:rPr sz="1100" b="0" i="0">
                          <a:solidFill>
                            <a:srgbClr val="000000"/>
                          </a:solidFill>
                          <a:latin typeface="Calibri"/>
                        </a:rPr>
                        <a:t>Annual Charge / Discharge Cycles (Cycles)</a:t>
                      </a:r>
                      <a:endParaRPr sz="1100"/>
                    </a:p>
                  </a:txBody>
                  <a:tcPr marL="771525" marR="9525" marT="9525" marB="0" anchor="ctr"/>
                </a:tc>
              </a:tr>
              <a:tr h="175260">
                <a:tc>
                  <a:txBody>
                    <a:bodyPr wrap="square"/>
                    <a:lstStyle/>
                    <a:p>
                      <a:pPr algn="l"/>
                      <a:r>
                        <a:rPr sz="1100" b="0" i="0">
                          <a:solidFill>
                            <a:srgbClr val="000000"/>
                          </a:solidFill>
                          <a:latin typeface="Calibri"/>
                        </a:rPr>
                        <a:t>6.4.3.</a:t>
                      </a:r>
                      <a:r>
                        <a:rPr sz="700" b="0" i="0">
                          <a:solidFill>
                            <a:srgbClr val="000000"/>
                          </a:solidFill>
                          <a:latin typeface="Times New Roman"/>
                        </a:rPr>
                        <a:t> </a:t>
                      </a:r>
                      <a:r>
                        <a:rPr sz="1100" b="0" i="0">
                          <a:solidFill>
                            <a:srgbClr val="000000"/>
                          </a:solidFill>
                          <a:latin typeface="Calibri"/>
                        </a:rPr>
                        <a:t>Average AC Load Power (W)</a:t>
                      </a:r>
                      <a:endParaRPr sz="1100"/>
                    </a:p>
                  </a:txBody>
                  <a:tcPr marL="771525" marR="9525" marT="9525" marB="0" anchor="ctr"/>
                </a:tc>
              </a:tr>
              <a:tr h="175260">
                <a:tc>
                  <a:txBody>
                    <a:bodyPr wrap="square"/>
                    <a:lstStyle/>
                    <a:p>
                      <a:pPr algn="l"/>
                      <a:r>
                        <a:rPr sz="1100" b="0" i="0">
                          <a:solidFill>
                            <a:srgbClr val="000000"/>
                          </a:solidFill>
                          <a:latin typeface="Calibri"/>
                        </a:rPr>
                        <a:t>6.4.4.</a:t>
                      </a:r>
                      <a:r>
                        <a:rPr sz="700" b="0" i="0">
                          <a:solidFill>
                            <a:srgbClr val="000000"/>
                          </a:solidFill>
                          <a:latin typeface="Times New Roman"/>
                        </a:rPr>
                        <a:t> </a:t>
                      </a:r>
                      <a:r>
                        <a:rPr sz="1100" b="0" i="0">
                          <a:solidFill>
                            <a:srgbClr val="000000"/>
                          </a:solidFill>
                          <a:latin typeface="Calibri"/>
                        </a:rPr>
                        <a:t>Share of Solar-Charging-Capable Products (%)</a:t>
                      </a:r>
                      <a:endParaRPr sz="1100"/>
                    </a:p>
                  </a:txBody>
                  <a:tcPr marL="7715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Supply and Manufacturing</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Lithium Cell Available Production Capacity (GWh/Year)</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Portable Battery Pack Assembly Output (Th Units)</a:t>
                      </a:r>
                      <a:endParaRPr sz="1100"/>
                    </a:p>
                  </a:txBody>
                  <a:tcPr marL="771525"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System Integration Capacity (Th Units/Year)</a:t>
                      </a:r>
                      <a:endParaRPr sz="1100"/>
                    </a:p>
                  </a:txBody>
                  <a:tcPr marL="771525" marR="9525" marT="9525" marB="0" anchor="ctr"/>
                </a:tc>
              </a:tr>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Production Utilization (%)</a:t>
                      </a:r>
                      <a:endParaRPr sz="1100"/>
                    </a:p>
                  </a:txBody>
                  <a:tcPr marL="771525" marR="9525" marT="9525" marB="0" anchor="ctr"/>
                </a:tc>
              </a:tr>
              <a:tr h="175260">
                <a:tc>
                  <a:txBody>
                    <a:bodyPr wrap="square"/>
                    <a:lstStyle/>
                    <a:p>
                      <a:pPr algn="l"/>
                      <a:r>
                        <a:rPr sz="1100" b="0" i="0">
                          <a:solidFill>
                            <a:srgbClr val="0070C0"/>
                          </a:solidFill>
                          <a:latin typeface="Calibri"/>
                        </a:rPr>
                        <a:t>6.6.</a:t>
                      </a:r>
                      <a:r>
                        <a:rPr sz="700" b="0" i="0">
                          <a:solidFill>
                            <a:srgbClr val="0070C0"/>
                          </a:solidFill>
                          <a:latin typeface="Times New Roman"/>
                        </a:rPr>
                        <a:t> </a:t>
                      </a:r>
                      <a:r>
                        <a:rPr sz="1100" b="0" i="0">
                          <a:solidFill>
                            <a:srgbClr val="0070C0"/>
                          </a:solidFill>
                          <a:latin typeface="Calibri"/>
                        </a:rPr>
                        <a:t>Market Opportunity and Investment Assessment</a:t>
                      </a:r>
                      <a:endParaRPr sz="1100"/>
                    </a:p>
                  </a:txBody>
                  <a:tcPr marL="428625" marR="9525" marT="9525" marB="0" anchor="ctr"/>
                </a:tc>
              </a:tr>
              <a:tr h="175260">
                <a:tc>
                  <a:txBody>
                    <a:bodyPr wrap="square"/>
                    <a:lstStyle/>
                    <a:p>
                      <a:pPr algn="l"/>
                      <a:r>
                        <a:rPr sz="1100" b="0" i="0">
                          <a:solidFill>
                            <a:srgbClr val="000000"/>
                          </a:solidFill>
                          <a:latin typeface="Calibri"/>
                        </a:rPr>
                        <a:t>6.6.1.</a:t>
                      </a:r>
                      <a:r>
                        <a:rPr sz="700" b="0" i="0">
                          <a:solidFill>
                            <a:srgbClr val="000000"/>
                          </a:solidFill>
                          <a:latin typeface="Times New Roman"/>
                        </a:rPr>
                        <a:t> </a:t>
                      </a:r>
                      <a:r>
                        <a:rPr sz="1100" b="0" i="0">
                          <a:solidFill>
                            <a:srgbClr val="000000"/>
                          </a:solidFill>
                          <a:latin typeface="Calibri"/>
                        </a:rPr>
                        <a:t>Total Addressable Market (TAM) (US$ Mn)</a:t>
                      </a:r>
                      <a:endParaRPr sz="1100"/>
                    </a:p>
                  </a:txBody>
                  <a:tcPr marL="771525" marR="9525" marT="9525" marB="0" anchor="ctr"/>
                </a:tc>
              </a:tr>
              <a:tr h="175260">
                <a:tc>
                  <a:txBody>
                    <a:bodyPr wrap="square"/>
                    <a:lstStyle/>
                    <a:p>
                      <a:pPr algn="l"/>
                      <a:r>
                        <a:rPr sz="1100" b="0" i="0">
                          <a:solidFill>
                            <a:srgbClr val="000000"/>
                          </a:solidFill>
                          <a:latin typeface="Calibri"/>
                        </a:rPr>
                        <a:t>6.6.2.</a:t>
                      </a:r>
                      <a:r>
                        <a:rPr sz="700" b="0" i="0">
                          <a:solidFill>
                            <a:srgbClr val="000000"/>
                          </a:solidFill>
                          <a:latin typeface="Times New Roman"/>
                        </a:rPr>
                        <a:t> </a:t>
                      </a:r>
                      <a:r>
                        <a:rPr sz="1100" b="0" i="0">
                          <a:solidFill>
                            <a:srgbClr val="000000"/>
                          </a:solidFill>
                          <a:latin typeface="Calibri"/>
                        </a:rPr>
                        <a:t>Serviceable Addressable Market (SAM) (US$ Mn)</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(2/7)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6.6.3.</a:t>
                      </a:r>
                      <a:r>
                        <a:rPr sz="700" b="0" i="0">
                          <a:solidFill>
                            <a:srgbClr val="000000"/>
                          </a:solidFill>
                          <a:latin typeface="Times New Roman"/>
                        </a:rPr>
                        <a:t> </a:t>
                      </a:r>
                      <a:r>
                        <a:rPr sz="1100" b="0" i="0">
                          <a:solidFill>
                            <a:srgbClr val="000000"/>
                          </a:solidFill>
                          <a:latin typeface="Calibri"/>
                        </a:rPr>
                        <a:t>Serviceable Obtainable Market (SOM) (US$ Mn)</a:t>
                      </a:r>
                      <a:endParaRPr sz="1100"/>
                    </a:p>
                  </a:txBody>
                  <a:tcPr marL="771525" marR="9525" marT="9525" marB="0" anchor="ctr"/>
                </a:tc>
              </a:tr>
              <a:tr h="175260">
                <a:tc>
                  <a:txBody>
                    <a:bodyPr wrap="square"/>
                    <a:lstStyle/>
                    <a:p>
                      <a:pPr algn="l"/>
                      <a:r>
                        <a:rPr sz="1100" b="0" i="0">
                          <a:solidFill>
                            <a:srgbClr val="000000"/>
                          </a:solidFill>
                          <a:latin typeface="Calibri"/>
                        </a:rPr>
                        <a:t>6.6.4.</a:t>
                      </a:r>
                      <a:r>
                        <a:rPr sz="700" b="0" i="0">
                          <a:solidFill>
                            <a:srgbClr val="000000"/>
                          </a:solidFill>
                          <a:latin typeface="Times New Roman"/>
                        </a:rPr>
                        <a:t> </a:t>
                      </a:r>
                      <a:r>
                        <a:rPr sz="1100" b="0" i="0">
                          <a:solidFill>
                            <a:srgbClr val="000000"/>
                          </a:solidFill>
                          <a:latin typeface="Calibri"/>
                        </a:rPr>
                        <a:t>Investment Feasibility and Returns Drivers</a:t>
                      </a:r>
                      <a:endParaRPr sz="1100"/>
                    </a:p>
                  </a:txBody>
                  <a:tcPr marL="771525" marR="9525" marT="9525" marB="0" anchor="ctr"/>
                </a:tc>
              </a:tr>
              <a:tr h="175260">
                <a:tc>
                  <a:txBody>
                    <a:bodyPr wrap="square"/>
                    <a:lstStyle/>
                    <a:p>
                      <a:pPr algn="l"/>
                      <a:r>
                        <a:rPr sz="1100" b="0" i="0">
                          <a:solidFill>
                            <a:srgbClr val="0070C0"/>
                          </a:solidFill>
                          <a:latin typeface="Calibri"/>
                        </a:rPr>
                        <a:t>6.7.</a:t>
                      </a:r>
                      <a:r>
                        <a:rPr sz="700" b="0" i="0">
                          <a:solidFill>
                            <a:srgbClr val="0070C0"/>
                          </a:solidFill>
                          <a:latin typeface="Times New Roman"/>
                        </a:rPr>
                        <a:t> </a:t>
                      </a:r>
                      <a:r>
                        <a:rPr sz="1100" b="0" i="0">
                          <a:solidFill>
                            <a:srgbClr val="0070C0"/>
                          </a:solidFill>
                          <a:latin typeface="Calibri"/>
                        </a:rPr>
                        <a:t>Industry and Macro Foundation</a:t>
                      </a:r>
                      <a:endParaRPr sz="1100"/>
                    </a:p>
                  </a:txBody>
                  <a:tcPr marL="428625" marR="9525" marT="9525" marB="0" anchor="ctr"/>
                </a:tc>
              </a:tr>
              <a:tr h="175260">
                <a:tc>
                  <a:txBody>
                    <a:bodyPr wrap="square"/>
                    <a:lstStyle/>
                    <a:p>
                      <a:pPr algn="l"/>
                      <a:r>
                        <a:rPr sz="1100" b="0" i="0">
                          <a:solidFill>
                            <a:srgbClr val="000000"/>
                          </a:solidFill>
                          <a:latin typeface="Calibri"/>
                        </a:rPr>
                        <a:t>6.7.1.</a:t>
                      </a:r>
                      <a:r>
                        <a:rPr sz="700" b="0" i="0">
                          <a:solidFill>
                            <a:srgbClr val="000000"/>
                          </a:solidFill>
                          <a:latin typeface="Times New Roman"/>
                        </a:rPr>
                        <a:t> </a:t>
                      </a:r>
                      <a:r>
                        <a:rPr sz="1100" b="0" i="0">
                          <a:solidFill>
                            <a:srgbClr val="000000"/>
                          </a:solidFill>
                          <a:latin typeface="Calibri"/>
                        </a:rPr>
                        <a:t>Porter's Five Forces Analysis</a:t>
                      </a:r>
                      <a:endParaRPr sz="1100"/>
                    </a:p>
                  </a:txBody>
                  <a:tcPr marL="771525" marR="9525" marT="9525" marB="0" anchor="ctr"/>
                </a:tc>
              </a:tr>
              <a:tr h="175260">
                <a:tc>
                  <a:txBody>
                    <a:bodyPr wrap="square"/>
                    <a:lstStyle/>
                    <a:p>
                      <a:pPr algn="l"/>
                      <a:r>
                        <a:rPr sz="1100" b="0" i="0">
                          <a:solidFill>
                            <a:srgbClr val="000000"/>
                          </a:solidFill>
                          <a:latin typeface="Calibri"/>
                        </a:rPr>
                        <a:t>6.7.2.</a:t>
                      </a:r>
                      <a:r>
                        <a:rPr sz="700" b="0" i="0">
                          <a:solidFill>
                            <a:srgbClr val="000000"/>
                          </a:solidFill>
                          <a:latin typeface="Times New Roman"/>
                        </a:rPr>
                        <a:t> </a:t>
                      </a:r>
                      <a:r>
                        <a:rPr sz="1100" b="0" i="0">
                          <a:solidFill>
                            <a:srgbClr val="000000"/>
                          </a:solidFill>
                          <a:latin typeface="Calibri"/>
                        </a:rPr>
                        <a:t>PESTEL Analysis</a:t>
                      </a:r>
                      <a:endParaRPr sz="1100"/>
                    </a:p>
                  </a:txBody>
                  <a:tcPr marL="771525" marR="9525" marT="9525" marB="0" anchor="ctr"/>
                </a:tc>
              </a:tr>
              <a:tr h="175260">
                <a:tc>
                  <a:txBody>
                    <a:bodyPr wrap="square"/>
                    <a:lstStyle/>
                    <a:p>
                      <a:pPr algn="l"/>
                      <a:r>
                        <a:rPr sz="1100" b="0" i="0">
                          <a:solidFill>
                            <a:srgbClr val="000000"/>
                          </a:solidFill>
                          <a:latin typeface="Calibri"/>
                        </a:rPr>
                        <a:t>6.7.3.</a:t>
                      </a:r>
                      <a:r>
                        <a:rPr sz="700" b="0" i="0">
                          <a:solidFill>
                            <a:srgbClr val="000000"/>
                          </a:solidFill>
                          <a:latin typeface="Times New Roman"/>
                        </a:rPr>
                        <a:t> </a:t>
                      </a:r>
                      <a:r>
                        <a:rPr sz="1100" b="0" i="0">
                          <a:solidFill>
                            <a:srgbClr val="000000"/>
                          </a:solidFill>
                          <a:latin typeface="Calibri"/>
                        </a:rPr>
                        <a:t>Macro-Economic Demand Factors</a:t>
                      </a:r>
                      <a:endParaRPr sz="1100"/>
                    </a:p>
                  </a:txBody>
                  <a:tcPr marL="771525" marR="9525" marT="9525" marB="0" anchor="ctr"/>
                </a:tc>
              </a:tr>
              <a:tr h="175260">
                <a:tc>
                  <a:txBody>
                    <a:bodyPr wrap="square"/>
                    <a:lstStyle/>
                    <a:p>
                      <a:pPr algn="l"/>
                      <a:r>
                        <a:rPr sz="1100" b="0" i="0">
                          <a:solidFill>
                            <a:srgbClr val="000000"/>
                          </a:solidFill>
                          <a:latin typeface="Calibri"/>
                        </a:rPr>
                        <a:t>6.7.4.</a:t>
                      </a:r>
                      <a:r>
                        <a:rPr sz="700" b="0" i="0">
                          <a:solidFill>
                            <a:srgbClr val="000000"/>
                          </a:solidFill>
                          <a:latin typeface="Times New Roman"/>
                        </a:rPr>
                        <a:t> </a:t>
                      </a:r>
                      <a:r>
                        <a:rPr sz="1100" b="0" i="0">
                          <a:solidFill>
                            <a:srgbClr val="000000"/>
                          </a:solidFill>
                          <a:latin typeface="Calibri"/>
                        </a:rPr>
                        <a:t>Forecast Factors and Relative Impact</a:t>
                      </a:r>
                      <a:endParaRPr sz="1100"/>
                    </a:p>
                  </a:txBody>
                  <a:tcPr marL="771525" marR="9525" marT="9525" marB="0" anchor="ctr"/>
                </a:tc>
              </a:tr>
              <a:tr h="175260">
                <a:tc>
                  <a:txBody>
                    <a:bodyPr wrap="square"/>
                    <a:lstStyle/>
                    <a:p>
                      <a:pPr algn="l"/>
                      <a:r>
                        <a:rPr sz="1100" b="0" i="0">
                          <a:solidFill>
                            <a:srgbClr val="0070C0"/>
                          </a:solidFill>
                          <a:latin typeface="Calibri"/>
                        </a:rPr>
                        <a:t>6.8.</a:t>
                      </a:r>
                      <a:r>
                        <a:rPr sz="700" b="0" i="0">
                          <a:solidFill>
                            <a:srgbClr val="0070C0"/>
                          </a:solidFill>
                          <a:latin typeface="Times New Roman"/>
                        </a:rPr>
                        <a:t> </a:t>
                      </a:r>
                      <a:r>
                        <a:rPr sz="1100" b="0" i="0">
                          <a:solidFill>
                            <a:srgbClr val="0070C0"/>
                          </a:solidFill>
                          <a:latin typeface="Calibri"/>
                        </a:rPr>
                        <a:t>Industry Value Chain and Supply Chain</a:t>
                      </a:r>
                      <a:endParaRPr sz="1100"/>
                    </a:p>
                  </a:txBody>
                  <a:tcPr marL="428625" marR="9525" marT="9525" marB="0" anchor="ctr"/>
                </a:tc>
              </a:tr>
              <a:tr h="175260">
                <a:tc>
                  <a:txBody>
                    <a:bodyPr wrap="square"/>
                    <a:lstStyle/>
                    <a:p>
                      <a:pPr algn="l"/>
                      <a:r>
                        <a:rPr sz="1100" b="0" i="0">
                          <a:solidFill>
                            <a:srgbClr val="000000"/>
                          </a:solidFill>
                          <a:latin typeface="Calibri"/>
                        </a:rPr>
                        <a:t>6.8.1.</a:t>
                      </a:r>
                      <a:r>
                        <a:rPr sz="700" b="0" i="0">
                          <a:solidFill>
                            <a:srgbClr val="000000"/>
                          </a:solidFill>
                          <a:latin typeface="Times New Roman"/>
                        </a:rPr>
                        <a:t> </a:t>
                      </a:r>
                      <a:r>
                        <a:rPr sz="1100" b="0" i="0">
                          <a:solidFill>
                            <a:srgbClr val="000000"/>
                          </a:solidFill>
                          <a:latin typeface="Calibri"/>
                        </a:rPr>
                        <a:t>Cathode, Electrolyte and Cell Material Suppliers</a:t>
                      </a:r>
                      <a:endParaRPr sz="1100"/>
                    </a:p>
                  </a:txBody>
                  <a:tcPr marL="771525" marR="9525" marT="9525" marB="0" anchor="ctr"/>
                </a:tc>
              </a:tr>
              <a:tr h="175260">
                <a:tc>
                  <a:txBody>
                    <a:bodyPr wrap="square"/>
                    <a:lstStyle/>
                    <a:p>
                      <a:pPr algn="l"/>
                      <a:r>
                        <a:rPr sz="1100" b="0" i="0">
                          <a:solidFill>
                            <a:srgbClr val="000000"/>
                          </a:solidFill>
                          <a:latin typeface="Calibri"/>
                        </a:rPr>
                        <a:t>6.8.2.</a:t>
                      </a:r>
                      <a:r>
                        <a:rPr sz="700" b="0" i="0">
                          <a:solidFill>
                            <a:srgbClr val="000000"/>
                          </a:solidFill>
                          <a:latin typeface="Times New Roman"/>
                        </a:rPr>
                        <a:t> </a:t>
                      </a:r>
                      <a:r>
                        <a:rPr sz="1100" b="0" i="0">
                          <a:solidFill>
                            <a:srgbClr val="000000"/>
                          </a:solidFill>
                          <a:latin typeface="Calibri"/>
                        </a:rPr>
                        <a:t>Cell Manufacturers and Cell Format / Packaging Specialists</a:t>
                      </a:r>
                      <a:endParaRPr sz="1100"/>
                    </a:p>
                  </a:txBody>
                  <a:tcPr marL="771525" marR="9525" marT="9525" marB="0" anchor="ctr"/>
                </a:tc>
              </a:tr>
              <a:tr h="175260">
                <a:tc>
                  <a:txBody>
                    <a:bodyPr wrap="square"/>
                    <a:lstStyle/>
                    <a:p>
                      <a:pPr algn="l"/>
                      <a:r>
                        <a:rPr sz="1100" b="0" i="0">
                          <a:solidFill>
                            <a:srgbClr val="000000"/>
                          </a:solidFill>
                          <a:latin typeface="Calibri"/>
                        </a:rPr>
                        <a:t>6.8.3.</a:t>
                      </a:r>
                      <a:r>
                        <a:rPr sz="700" b="0" i="0">
                          <a:solidFill>
                            <a:srgbClr val="000000"/>
                          </a:solidFill>
                          <a:latin typeface="Times New Roman"/>
                        </a:rPr>
                        <a:t> </a:t>
                      </a:r>
                      <a:r>
                        <a:rPr sz="1100" b="0" i="0">
                          <a:solidFill>
                            <a:srgbClr val="000000"/>
                          </a:solidFill>
                          <a:latin typeface="Calibri"/>
                        </a:rPr>
                        <a:t>Battery Pack Integrators and Battery Management Systems</a:t>
                      </a:r>
                      <a:endParaRPr sz="1100"/>
                    </a:p>
                  </a:txBody>
                  <a:tcPr marL="771525" marR="9525" marT="9525" marB="0" anchor="ctr"/>
                </a:tc>
              </a:tr>
              <a:tr h="175260">
                <a:tc>
                  <a:txBody>
                    <a:bodyPr wrap="square"/>
                    <a:lstStyle/>
                    <a:p>
                      <a:pPr algn="l"/>
                      <a:r>
                        <a:rPr sz="1100" b="0" i="0">
                          <a:solidFill>
                            <a:srgbClr val="000000"/>
                          </a:solidFill>
                          <a:latin typeface="Calibri"/>
                        </a:rPr>
                        <a:t>6.8.4.</a:t>
                      </a:r>
                      <a:r>
                        <a:rPr sz="700" b="0" i="0">
                          <a:solidFill>
                            <a:srgbClr val="000000"/>
                          </a:solidFill>
                          <a:latin typeface="Times New Roman"/>
                        </a:rPr>
                        <a:t> </a:t>
                      </a:r>
                      <a:r>
                        <a:rPr sz="1100" b="0" i="0">
                          <a:solidFill>
                            <a:srgbClr val="000000"/>
                          </a:solidFill>
                          <a:latin typeface="Calibri"/>
                        </a:rPr>
                        <a:t>Inverters, Chargers, and Integrated Power Station Assemblers</a:t>
                      </a:r>
                      <a:endParaRPr sz="1100"/>
                    </a:p>
                  </a:txBody>
                  <a:tcPr marL="771525" marR="9525" marT="9525" marB="0" anchor="ctr"/>
                </a:tc>
              </a:tr>
              <a:tr h="175260">
                <a:tc>
                  <a:txBody>
                    <a:bodyPr wrap="square"/>
                    <a:lstStyle/>
                    <a:p>
                      <a:pPr algn="l"/>
                      <a:r>
                        <a:rPr sz="1100" b="0" i="0">
                          <a:solidFill>
                            <a:srgbClr val="000000"/>
                          </a:solidFill>
                          <a:latin typeface="Calibri"/>
                        </a:rPr>
                        <a:t>6.8.5.</a:t>
                      </a:r>
                      <a:r>
                        <a:rPr sz="700" b="0" i="0">
                          <a:solidFill>
                            <a:srgbClr val="000000"/>
                          </a:solidFill>
                          <a:latin typeface="Times New Roman"/>
                        </a:rPr>
                        <a:t> </a:t>
                      </a:r>
                      <a:r>
                        <a:rPr sz="1100" b="0" i="0">
                          <a:solidFill>
                            <a:srgbClr val="000000"/>
                          </a:solidFill>
                          <a:latin typeface="Calibri"/>
                        </a:rPr>
                        <a:t>Brand Owners, OEM/ODM Manufacturers and Distribution Partners</a:t>
                      </a:r>
                      <a:endParaRPr sz="1100"/>
                    </a:p>
                  </a:txBody>
                  <a:tcPr marL="771525" marR="9525" marT="9525" marB="0" anchor="ctr"/>
                </a:tc>
              </a:tr>
              <a:tr h="175260">
                <a:tc>
                  <a:txBody>
                    <a:bodyPr wrap="square"/>
                    <a:lstStyle/>
                    <a:p>
                      <a:pPr algn="l"/>
                      <a:r>
                        <a:rPr sz="1100" b="0" i="0">
                          <a:solidFill>
                            <a:srgbClr val="000000"/>
                          </a:solidFill>
                          <a:latin typeface="Calibri"/>
                        </a:rPr>
                        <a:t>6.8.6.</a:t>
                      </a:r>
                      <a:r>
                        <a:rPr sz="700" b="0" i="0">
                          <a:solidFill>
                            <a:srgbClr val="000000"/>
                          </a:solidFill>
                          <a:latin typeface="Times New Roman"/>
                        </a:rPr>
                        <a:t> </a:t>
                      </a:r>
                      <a:r>
                        <a:rPr sz="1100" b="0" i="0">
                          <a:solidFill>
                            <a:srgbClr val="000000"/>
                          </a:solidFill>
                          <a:latin typeface="Calibri"/>
                        </a:rPr>
                        <a:t>Profit Pool and Margin Analysis by Value-Chain Stage (%)</a:t>
                      </a:r>
                      <a:endParaRPr sz="1100"/>
                    </a:p>
                  </a:txBody>
                  <a:tcPr marL="771525" marR="9525" marT="9525" marB="0" anchor="ctr"/>
                </a:tc>
              </a:tr>
              <a:tr h="175260">
                <a:tc>
                  <a:txBody>
                    <a:bodyPr wrap="square"/>
                    <a:lstStyle/>
                    <a:p>
                      <a:pPr algn="l"/>
                      <a:r>
                        <a:rPr sz="1100" b="0" i="0">
                          <a:solidFill>
                            <a:srgbClr val="0070C0"/>
                          </a:solidFill>
                          <a:latin typeface="Calibri"/>
                        </a:rPr>
                        <a:t>6.9.</a:t>
                      </a:r>
                      <a:r>
                        <a:rPr sz="700" b="0" i="0">
                          <a:solidFill>
                            <a:srgbClr val="0070C0"/>
                          </a:solidFill>
                          <a:latin typeface="Times New Roman"/>
                        </a:rPr>
                        <a:t> </a:t>
                      </a:r>
                      <a:r>
                        <a:rPr sz="1100" b="0" i="0">
                          <a:solidFill>
                            <a:srgbClr val="0070C0"/>
                          </a:solidFill>
                          <a:latin typeface="Calibri"/>
                        </a:rPr>
                        <a:t>Market Dynamics and Regulatory Landscape</a:t>
                      </a:r>
                      <a:endParaRPr sz="1100"/>
                    </a:p>
                  </a:txBody>
                  <a:tcPr marL="428625" marR="9525" marT="9525" marB="0" anchor="ctr"/>
                </a:tc>
              </a:tr>
              <a:tr h="175260">
                <a:tc>
                  <a:txBody>
                    <a:bodyPr wrap="square"/>
                    <a:lstStyle/>
                    <a:p>
                      <a:pPr algn="l"/>
                      <a:r>
                        <a:rPr sz="1100" b="0" i="0">
                          <a:solidFill>
                            <a:srgbClr val="000000"/>
                          </a:solidFill>
                          <a:latin typeface="Calibri"/>
                        </a:rPr>
                        <a:t>6.9.1.</a:t>
                      </a:r>
                      <a:r>
                        <a:rPr sz="700" b="0" i="0">
                          <a:solidFill>
                            <a:srgbClr val="000000"/>
                          </a:solidFill>
                          <a:latin typeface="Times New Roman"/>
                        </a:rPr>
                        <a:t> </a:t>
                      </a:r>
                      <a:r>
                        <a:rPr sz="1100" b="0" i="0">
                          <a:solidFill>
                            <a:srgbClr val="000000"/>
                          </a:solidFill>
                          <a:latin typeface="Calibri"/>
                        </a:rPr>
                        <a:t>Market Growth Drivers</a:t>
                      </a:r>
                      <a:endParaRPr sz="1100"/>
                    </a:p>
                  </a:txBody>
                  <a:tcPr marL="771525" marR="9525" marT="9525" marB="0" anchor="ctr"/>
                </a:tc>
              </a:tr>
              <a:tr h="175260">
                <a:tc>
                  <a:txBody>
                    <a:bodyPr wrap="square"/>
                    <a:lstStyle/>
                    <a:p>
                      <a:pPr algn="l"/>
                      <a:r>
                        <a:rPr sz="1100" b="0" i="0">
                          <a:solidFill>
                            <a:srgbClr val="000000"/>
                          </a:solidFill>
                          <a:latin typeface="Calibri"/>
                        </a:rPr>
                        <a:t>6.9.2.</a:t>
                      </a:r>
                      <a:r>
                        <a:rPr sz="700" b="0" i="0">
                          <a:solidFill>
                            <a:srgbClr val="000000"/>
                          </a:solidFill>
                          <a:latin typeface="Times New Roman"/>
                        </a:rPr>
                        <a:t> </a:t>
                      </a:r>
                      <a:r>
                        <a:rPr sz="1100" b="0" i="0">
                          <a:solidFill>
                            <a:srgbClr val="000000"/>
                          </a:solidFill>
                          <a:latin typeface="Calibri"/>
                        </a:rPr>
                        <a:t>Demand and Supply Restraints</a:t>
                      </a:r>
                      <a:endParaRPr sz="1100"/>
                    </a:p>
                  </a:txBody>
                  <a:tcPr marL="771525" marR="9525" marT="9525" marB="0" anchor="ctr"/>
                </a:tc>
              </a:tr>
              <a:tr h="175260">
                <a:tc>
                  <a:txBody>
                    <a:bodyPr wrap="square"/>
                    <a:lstStyle/>
                    <a:p>
                      <a:pPr algn="l"/>
                      <a:r>
                        <a:rPr sz="1100" b="0" i="0">
                          <a:solidFill>
                            <a:srgbClr val="000000"/>
                          </a:solidFill>
                          <a:latin typeface="Calibri"/>
                        </a:rPr>
                        <a:t>6.9.3.</a:t>
                      </a:r>
                      <a:r>
                        <a:rPr sz="700" b="0" i="0">
                          <a:solidFill>
                            <a:srgbClr val="000000"/>
                          </a:solidFill>
                          <a:latin typeface="Times New Roman"/>
                        </a:rPr>
                        <a:t> </a:t>
                      </a:r>
                      <a:r>
                        <a:rPr sz="1100" b="0" i="0">
                          <a:solidFill>
                            <a:srgbClr val="000000"/>
                          </a:solidFill>
                          <a:latin typeface="Calibri"/>
                        </a:rPr>
                        <a:t>Product Innovation and Emerging Technologies</a:t>
                      </a:r>
                      <a:endParaRPr sz="1100"/>
                    </a:p>
                  </a:txBody>
                  <a:tcPr marL="771525" marR="9525" marT="9525" marB="0" anchor="ctr"/>
                </a:tc>
              </a:tr>
              <a:tr h="175260">
                <a:tc>
                  <a:txBody>
                    <a:bodyPr wrap="square"/>
                    <a:lstStyle/>
                    <a:p>
                      <a:pPr algn="l"/>
                      <a:r>
                        <a:rPr sz="1100" b="0" i="0">
                          <a:solidFill>
                            <a:srgbClr val="000000"/>
                          </a:solidFill>
                          <a:latin typeface="Calibri"/>
                        </a:rPr>
                        <a:t>6.9.4.</a:t>
                      </a:r>
                      <a:r>
                        <a:rPr sz="700" b="0" i="0">
                          <a:solidFill>
                            <a:srgbClr val="000000"/>
                          </a:solidFill>
                          <a:latin typeface="Times New Roman"/>
                        </a:rPr>
                        <a:t> </a:t>
                      </a:r>
                      <a:r>
                        <a:rPr sz="1100" b="0" i="0">
                          <a:solidFill>
                            <a:srgbClr val="000000"/>
                          </a:solidFill>
                          <a:latin typeface="Calibri"/>
                        </a:rPr>
                        <a:t>Transport Testing and Safety: UN 38.3, Applicable IEC Standards</a:t>
                      </a:r>
                      <a:endParaRPr sz="1100"/>
                    </a:p>
                  </a:txBody>
                  <a:tcPr marL="771525" marR="9525" marT="9525" marB="0" anchor="ctr"/>
                </a:tc>
              </a:tr>
              <a:tr h="175260">
                <a:tc>
                  <a:txBody>
                    <a:bodyPr wrap="square"/>
                    <a:lstStyle/>
                    <a:p>
                      <a:pPr algn="l"/>
                      <a:r>
                        <a:rPr sz="1100" b="0" i="0">
                          <a:solidFill>
                            <a:srgbClr val="000000"/>
                          </a:solidFill>
                          <a:latin typeface="Calibri"/>
                        </a:rPr>
                        <a:t>6.9.5.</a:t>
                      </a:r>
                      <a:r>
                        <a:rPr sz="700" b="0" i="0">
                          <a:solidFill>
                            <a:srgbClr val="000000"/>
                          </a:solidFill>
                          <a:latin typeface="Times New Roman"/>
                        </a:rPr>
                        <a:t> </a:t>
                      </a:r>
                      <a:r>
                        <a:rPr sz="1100" b="0" i="0">
                          <a:solidFill>
                            <a:srgbClr val="000000"/>
                          </a:solidFill>
                          <a:latin typeface="Calibri"/>
                        </a:rPr>
                        <a:t>Country-Level Electrical, EMC and Battery Recycling Requirements</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Analysis and Forecast, by Energy Storage Capacity</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Market Size in Value (US$ Mn) and Shipments (Thousand Units) by Energy Storage Capacity, 2021–2036</a:t>
                      </a:r>
                      <a:endParaRPr sz="1100"/>
                    </a:p>
                  </a:txBody>
                  <a:tcPr marL="428625" marR="9525" marT="9525" marB="0" anchor="ctr"/>
                </a:tc>
              </a:tr>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500 Wh to Below 1,000 Wh</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1,000 Wh to Below 1,500 Wh</a:t>
                      </a:r>
                      <a:endParaRPr sz="1100"/>
                    </a:p>
                  </a:txBody>
                  <a:tcPr marL="771525" marR="9525" marT="9525" marB="0" anchor="ctr"/>
                </a:tc>
              </a:tr>
              <a:tr h="175260">
                <a:tc>
                  <a:txBody>
                    <a:bodyPr wrap="square"/>
                    <a:lstStyle/>
                    <a:p>
                      <a:pPr algn="l"/>
                      <a:r>
                        <a:rPr sz="1100" b="0" i="0">
                          <a:solidFill>
                            <a:srgbClr val="000000"/>
                          </a:solidFill>
                          <a:latin typeface="Calibri"/>
                        </a:rPr>
                        <a:t>7.2.3.</a:t>
                      </a:r>
                      <a:r>
                        <a:rPr sz="700" b="0" i="0">
                          <a:solidFill>
                            <a:srgbClr val="000000"/>
                          </a:solidFill>
                          <a:latin typeface="Times New Roman"/>
                        </a:rPr>
                        <a:t> </a:t>
                      </a:r>
                      <a:r>
                        <a:rPr sz="1100" b="0" i="0">
                          <a:solidFill>
                            <a:srgbClr val="000000"/>
                          </a:solidFill>
                          <a:latin typeface="Calibri"/>
                        </a:rPr>
                        <a:t>1,500 Wh to 2,000 Wh</a:t>
                      </a:r>
                      <a:endParaRPr sz="1100"/>
                    </a:p>
                  </a:txBody>
                  <a:tcPr marL="7715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Market Share and Growth Comparison by Energy Storage Capacity (%)</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Market Attractiveness and Incremental Opportunity by Energy Storage Capacity</a:t>
                      </a:r>
                      <a:endParaRPr sz="1100"/>
                    </a:p>
                  </a:txBody>
                  <a:tcPr marL="4286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Analysis and Forecast, by Battery Chemistry</a:t>
                      </a:r>
                      <a:endParaRPr sz="1100"/>
                    </a:p>
                  </a:txBody>
                  <a:tcPr marL="171450"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Market Size in Value (US$ Mn) and Shipments (Thousand Units) by Battery Chemistry, 2021–2036</a:t>
                      </a:r>
                      <a:endParaRPr sz="1100"/>
                    </a:p>
                  </a:txBody>
                  <a:tcPr marL="428625" marR="9525" marT="9525" marB="0" anchor="ctr"/>
                </a:tc>
              </a:tr>
              <a:tr h="175260">
                <a:tc>
                  <a:txBody>
                    <a:bodyPr wrap="square"/>
                    <a:lstStyle/>
                    <a:p>
                      <a:pPr algn="l"/>
                      <a:r>
                        <a:rPr sz="1100" b="0" i="0">
                          <a:solidFill>
                            <a:srgbClr val="000000"/>
                          </a:solidFill>
                          <a:latin typeface="Calibri"/>
                        </a:rPr>
                        <a:t>8.2.1.</a:t>
                      </a:r>
                      <a:r>
                        <a:rPr sz="700" b="0" i="0">
                          <a:solidFill>
                            <a:srgbClr val="000000"/>
                          </a:solidFill>
                          <a:latin typeface="Times New Roman"/>
                        </a:rPr>
                        <a:t> </a:t>
                      </a:r>
                      <a:r>
                        <a:rPr sz="1100" b="0" i="0">
                          <a:solidFill>
                            <a:srgbClr val="000000"/>
                          </a:solidFill>
                          <a:latin typeface="Calibri"/>
                        </a:rPr>
                        <a:t>Lithium Cobalt Oxide (LCO)</a:t>
                      </a:r>
                      <a:endParaRPr sz="1100"/>
                    </a:p>
                  </a:txBody>
                  <a:tcPr marL="771525" marR="9525" marT="9525" marB="0" anchor="ctr"/>
                </a:tc>
              </a:tr>
              <a:tr h="175260">
                <a:tc>
                  <a:txBody>
                    <a:bodyPr wrap="square"/>
                    <a:lstStyle/>
                    <a:p>
                      <a:pPr algn="l"/>
                      <a:r>
                        <a:rPr sz="1100" b="0" i="0">
                          <a:solidFill>
                            <a:srgbClr val="000000"/>
                          </a:solidFill>
                          <a:latin typeface="Calibri"/>
                        </a:rPr>
                        <a:t>8.2.2.</a:t>
                      </a:r>
                      <a:r>
                        <a:rPr sz="700" b="0" i="0">
                          <a:solidFill>
                            <a:srgbClr val="000000"/>
                          </a:solidFill>
                          <a:latin typeface="Times New Roman"/>
                        </a:rPr>
                        <a:t> </a:t>
                      </a:r>
                      <a:r>
                        <a:rPr sz="1100" b="0" i="0">
                          <a:solidFill>
                            <a:srgbClr val="000000"/>
                          </a:solidFill>
                          <a:latin typeface="Calibri"/>
                        </a:rPr>
                        <a:t>Lithium Nickel Manganese Cobalt Oxide (NMC)</a:t>
                      </a:r>
                      <a:endParaRPr sz="1100"/>
                    </a:p>
                  </a:txBody>
                  <a:tcPr marL="771525" marR="9525" marT="9525" marB="0" anchor="ctr"/>
                </a:tc>
              </a:tr>
              <a:tr h="175260">
                <a:tc>
                  <a:txBody>
                    <a:bodyPr wrap="square"/>
                    <a:lstStyle/>
                    <a:p>
                      <a:pPr algn="l"/>
                      <a:r>
                        <a:rPr sz="1100" b="0" i="0">
                          <a:solidFill>
                            <a:srgbClr val="000000"/>
                          </a:solidFill>
                          <a:latin typeface="Calibri"/>
                        </a:rPr>
                        <a:t>8.2.3.</a:t>
                      </a:r>
                      <a:r>
                        <a:rPr sz="700" b="0" i="0">
                          <a:solidFill>
                            <a:srgbClr val="000000"/>
                          </a:solidFill>
                          <a:latin typeface="Times New Roman"/>
                        </a:rPr>
                        <a:t> </a:t>
                      </a:r>
                      <a:r>
                        <a:rPr sz="1100" b="0" i="0">
                          <a:solidFill>
                            <a:srgbClr val="000000"/>
                          </a:solidFill>
                          <a:latin typeface="Calibri"/>
                        </a:rPr>
                        <a:t>Lithium Iron Phosphate (LFP)</a:t>
                      </a:r>
                      <a:endParaRPr sz="1100"/>
                    </a:p>
                  </a:txBody>
                  <a:tcPr marL="771525" marR="9525" marT="9525" marB="0" anchor="ctr"/>
                </a:tc>
              </a:tr>
              <a:tr h="175260">
                <a:tc>
                  <a:txBody>
                    <a:bodyPr wrap="square"/>
                    <a:lstStyle/>
                    <a:p>
                      <a:pPr algn="l"/>
                      <a:r>
                        <a:rPr sz="1100" b="0" i="0">
                          <a:solidFill>
                            <a:srgbClr val="000000"/>
                          </a:solidFill>
                          <a:latin typeface="Calibri"/>
                        </a:rPr>
                        <a:t>8.2.4.</a:t>
                      </a:r>
                      <a:r>
                        <a:rPr sz="700" b="0" i="0">
                          <a:solidFill>
                            <a:srgbClr val="000000"/>
                          </a:solidFill>
                          <a:latin typeface="Times New Roman"/>
                        </a:rPr>
                        <a:t> </a:t>
                      </a:r>
                      <a:r>
                        <a:rPr sz="1100" b="0" i="0">
                          <a:solidFill>
                            <a:srgbClr val="000000"/>
                          </a:solidFill>
                          <a:latin typeface="Calibri"/>
                        </a:rPr>
                        <a:t>Other Lithium-Ion Cathode Chemistries</a:t>
                      </a:r>
                      <a:endParaRPr sz="1100"/>
                    </a:p>
                  </a:txBody>
                  <a:tcPr marL="7715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Market Share and Growth Comparison by Battery Chemistry (%)</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Attractiveness and Incremental Opportunity by Battery Chemistry</a:t>
                      </a:r>
                      <a:endParaRPr sz="1100"/>
                    </a:p>
                  </a:txBody>
                  <a:tcPr marL="4286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Market Analysis and Forecast, by Battery Configuration</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Market Size in Value (US$ Mn) and Shipments (Thousand Units) by Battery Configuration, 2021–2036</a:t>
                      </a:r>
                      <a:endParaRPr sz="1100"/>
                    </a:p>
                  </a:txBody>
                  <a:tcPr marL="428625" marR="9525" marT="9525" marB="0" anchor="ctr"/>
                </a:tc>
              </a:tr>
              <a:tr h="175260">
                <a:tc>
                  <a:txBody>
                    <a:bodyPr wrap="square"/>
                    <a:lstStyle/>
                    <a:p>
                      <a:pPr algn="l"/>
                      <a:r>
                        <a:rPr sz="1100" b="0" i="0">
                          <a:solidFill>
                            <a:srgbClr val="000000"/>
                          </a:solidFill>
                          <a:latin typeface="Calibri"/>
                        </a:rPr>
                        <a:t>9.2.1.</a:t>
                      </a:r>
                      <a:r>
                        <a:rPr sz="700" b="0" i="0">
                          <a:solidFill>
                            <a:srgbClr val="000000"/>
                          </a:solidFill>
                          <a:latin typeface="Times New Roman"/>
                        </a:rPr>
                        <a:t> </a:t>
                      </a:r>
                      <a:r>
                        <a:rPr sz="1100" b="0" i="0">
                          <a:solidFill>
                            <a:srgbClr val="000000"/>
                          </a:solidFill>
                          <a:latin typeface="Calibri"/>
                        </a:rPr>
                        <a:t>Standalone Battery Packs</a:t>
                      </a:r>
                      <a:endParaRPr sz="1100"/>
                    </a:p>
                  </a:txBody>
                  <a:tcPr marL="771525" marR="9525" marT="9525" marB="0" anchor="ctr"/>
                </a:tc>
              </a:tr>
              <a:tr h="175260">
                <a:tc>
                  <a:txBody>
                    <a:bodyPr wrap="square"/>
                    <a:lstStyle/>
                    <a:p>
                      <a:pPr algn="l"/>
                      <a:r>
                        <a:rPr sz="1100" b="0" i="0">
                          <a:solidFill>
                            <a:srgbClr val="000000"/>
                          </a:solidFill>
                          <a:latin typeface="Calibri"/>
                        </a:rPr>
                        <a:t>9.2.2.</a:t>
                      </a:r>
                      <a:r>
                        <a:rPr sz="700" b="0" i="0">
                          <a:solidFill>
                            <a:srgbClr val="000000"/>
                          </a:solidFill>
                          <a:latin typeface="Times New Roman"/>
                        </a:rPr>
                        <a:t> </a:t>
                      </a:r>
                      <a:r>
                        <a:rPr sz="1100" b="0" i="0">
                          <a:solidFill>
                            <a:srgbClr val="000000"/>
                          </a:solidFill>
                          <a:latin typeface="Calibri"/>
                        </a:rPr>
                        <a:t>Integrated Portable Energy Storage Systems</a:t>
                      </a:r>
                      <a:endParaRPr sz="1100"/>
                    </a:p>
                  </a:txBody>
                  <a:tcPr marL="7715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Share and Growth Comparison by Battery Configuration (%)</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Market Attractiveness and Incremental Opportunity by Battery Configuration</a:t>
                      </a:r>
                      <a:endParaRPr sz="1100"/>
                    </a:p>
                  </a:txBody>
                  <a:tcPr marL="4286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Market Analysis and Forecast, by System Application</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Market Size in Value (US$ Mn) and Shipments (Thousand Units) by System Application, 2021–2036</a:t>
                      </a:r>
                      <a:endParaRPr sz="1100"/>
                    </a:p>
                  </a:txBody>
                  <a:tcPr marL="428625" marR="9525" marT="9525" marB="0" anchor="ctr"/>
                </a:tc>
              </a:tr>
              <a:tr h="175260">
                <a:tc>
                  <a:txBody>
                    <a:bodyPr wrap="square"/>
                    <a:lstStyle/>
                    <a:p>
                      <a:pPr algn="l"/>
                      <a:r>
                        <a:rPr sz="1100" b="0" i="0">
                          <a:solidFill>
                            <a:srgbClr val="000000"/>
                          </a:solidFill>
                          <a:latin typeface="Calibri"/>
                        </a:rPr>
                        <a:t>10.2.1.</a:t>
                      </a:r>
                      <a:r>
                        <a:rPr sz="700" b="0" i="0">
                          <a:solidFill>
                            <a:srgbClr val="000000"/>
                          </a:solidFill>
                          <a:latin typeface="Times New Roman"/>
                        </a:rPr>
                        <a:t> </a:t>
                      </a:r>
                      <a:r>
                        <a:rPr sz="1100" b="0" i="0">
                          <a:solidFill>
                            <a:srgbClr val="000000"/>
                          </a:solidFill>
                          <a:latin typeface="Calibri"/>
                        </a:rPr>
                        <a:t>Portable Backup Power</a:t>
                      </a:r>
                      <a:endParaRPr sz="1100"/>
                    </a:p>
                  </a:txBody>
                  <a:tcPr marL="771525" marR="9525" marT="9525" marB="0" anchor="ctr"/>
                </a:tc>
              </a:tr>
              <a:tr h="175260">
                <a:tc>
                  <a:txBody>
                    <a:bodyPr wrap="square"/>
                    <a:lstStyle/>
                    <a:p>
                      <a:pPr algn="l"/>
                      <a:r>
                        <a:rPr sz="1100" b="0" i="0">
                          <a:solidFill>
                            <a:srgbClr val="000000"/>
                          </a:solidFill>
                          <a:latin typeface="Calibri"/>
                        </a:rPr>
                        <a:t>10.2.2.</a:t>
                      </a:r>
                      <a:r>
                        <a:rPr sz="700" b="0" i="0">
                          <a:solidFill>
                            <a:srgbClr val="000000"/>
                          </a:solidFill>
                          <a:latin typeface="Times New Roman"/>
                        </a:rPr>
                        <a:t> </a:t>
                      </a:r>
                      <a:r>
                        <a:rPr sz="1100" b="0" i="0">
                          <a:solidFill>
                            <a:srgbClr val="000000"/>
                          </a:solidFill>
                          <a:latin typeface="Calibri"/>
                        </a:rPr>
                        <a:t>Outdoor &amp; Recreational Power</a:t>
                      </a:r>
                      <a:endParaRPr sz="1100"/>
                    </a:p>
                  </a:txBody>
                  <a:tcPr marL="771525" marR="9525" marT="9525" marB="0" anchor="ctr"/>
                </a:tc>
              </a:tr>
              <a:tr h="175260">
                <a:tc>
                  <a:txBody>
                    <a:bodyPr wrap="square"/>
                    <a:lstStyle/>
                    <a:p>
                      <a:pPr algn="l"/>
                      <a:r>
                        <a:rPr sz="1100" b="0" i="0">
                          <a:solidFill>
                            <a:srgbClr val="000000"/>
                          </a:solidFill>
                          <a:latin typeface="Calibri"/>
                        </a:rPr>
                        <a:t>10.2.3.</a:t>
                      </a:r>
                      <a:r>
                        <a:rPr sz="700" b="0" i="0">
                          <a:solidFill>
                            <a:srgbClr val="000000"/>
                          </a:solidFill>
                          <a:latin typeface="Times New Roman"/>
                        </a:rPr>
                        <a:t> </a:t>
                      </a:r>
                      <a:r>
                        <a:rPr sz="1100" b="0" i="0">
                          <a:solidFill>
                            <a:srgbClr val="000000"/>
                          </a:solidFill>
                          <a:latin typeface="Calibri"/>
                        </a:rPr>
                        <a:t>Off-Grid &amp; Remote Power</a:t>
                      </a:r>
                      <a:endParaRPr sz="1100"/>
                    </a:p>
                  </a:txBody>
                  <a:tcPr marL="771525" marR="9525" marT="9525" marB="0" anchor="ctr"/>
                </a:tc>
              </a:tr>
              <a:tr h="175260">
                <a:tc>
                  <a:txBody>
                    <a:bodyPr wrap="square"/>
                    <a:lstStyle/>
                    <a:p>
                      <a:pPr algn="l"/>
                      <a:r>
                        <a:rPr sz="1100" b="0" i="0">
                          <a:solidFill>
                            <a:srgbClr val="000000"/>
                          </a:solidFill>
                          <a:latin typeface="Calibri"/>
                        </a:rPr>
                        <a:t>10.2.4.</a:t>
                      </a:r>
                      <a:r>
                        <a:rPr sz="700" b="0" i="0">
                          <a:solidFill>
                            <a:srgbClr val="000000"/>
                          </a:solidFill>
                          <a:latin typeface="Times New Roman"/>
                        </a:rPr>
                        <a:t> </a:t>
                      </a:r>
                      <a:r>
                        <a:rPr sz="1100" b="0" i="0">
                          <a:solidFill>
                            <a:srgbClr val="000000"/>
                          </a:solidFill>
                          <a:latin typeface="Calibri"/>
                        </a:rPr>
                        <a:t>Professional &amp; Specialized Portable Power</a:t>
                      </a:r>
                      <a:endParaRPr sz="1100"/>
                    </a:p>
                  </a:txBody>
                  <a:tcPr marL="771525" marR="9525" marT="9525" marB="0" anchor="ctr"/>
                </a:tc>
              </a:tr>
              <a:tr h="175260">
                <a:tc>
                  <a:txBody>
                    <a:bodyPr wrap="square"/>
                    <a:lstStyle/>
                    <a:p>
                      <a:pPr algn="l"/>
                      <a:r>
                        <a:rPr sz="1100" b="0" i="1">
                          <a:solidFill>
                            <a:srgbClr val="000000"/>
                          </a:solidFill>
                          <a:latin typeface="Calibri"/>
                        </a:rPr>
                        <a:t>10.2.4.1.</a:t>
                      </a:r>
                      <a:r>
                        <a:rPr sz="700" b="0" i="1">
                          <a:solidFill>
                            <a:srgbClr val="000000"/>
                          </a:solidFill>
                          <a:latin typeface="Times New Roman"/>
                        </a:rPr>
                        <a:t> </a:t>
                      </a:r>
                      <a:r>
                        <a:rPr sz="1100" b="0" i="1">
                          <a:solidFill>
                            <a:srgbClr val="000000"/>
                          </a:solidFill>
                          <a:latin typeface="Calibri"/>
                        </a:rPr>
                        <a:t>Construction &amp; Maintenance Equipment</a:t>
                      </a:r>
                      <a:endParaRPr sz="1100"/>
                    </a:p>
                  </a:txBody>
                  <a:tcPr marL="1028700" marR="9525" marT="9525" marB="0" anchor="ctr"/>
                </a:tc>
              </a:tr>
              <a:tr h="175260">
                <a:tc>
                  <a:txBody>
                    <a:bodyPr wrap="square"/>
                    <a:lstStyle/>
                    <a:p>
                      <a:pPr algn="l"/>
                      <a:r>
                        <a:rPr sz="1100" b="0" i="1">
                          <a:solidFill>
                            <a:srgbClr val="000000"/>
                          </a:solidFill>
                          <a:latin typeface="Calibri"/>
                        </a:rPr>
                        <a:t>10.2.4.2.</a:t>
                      </a:r>
                      <a:r>
                        <a:rPr sz="700" b="0" i="1">
                          <a:solidFill>
                            <a:srgbClr val="000000"/>
                          </a:solidFill>
                          <a:latin typeface="Times New Roman"/>
                        </a:rPr>
                        <a:t> </a:t>
                      </a:r>
                      <a:r>
                        <a:rPr sz="1100" b="0" i="1">
                          <a:solidFill>
                            <a:srgbClr val="000000"/>
                          </a:solidFill>
                          <a:latin typeface="Calibri"/>
                        </a:rPr>
                        <a:t>Emergency Response &amp; Disaster Relief</a:t>
                      </a:r>
                      <a:endParaRPr sz="1100"/>
                    </a:p>
                  </a:txBody>
                  <a:tcPr marL="1028700" marR="9525" marT="9525" marB="0" anchor="ctr"/>
                </a:tc>
              </a:tr>
              <a:tr h="175260">
                <a:tc>
                  <a:txBody>
                    <a:bodyPr wrap="square"/>
                    <a:lstStyle/>
                    <a:p>
                      <a:pPr algn="l"/>
                      <a:r>
                        <a:rPr sz="1100" b="0" i="1">
                          <a:solidFill>
                            <a:srgbClr val="000000"/>
                          </a:solidFill>
                          <a:latin typeface="Calibri"/>
                        </a:rPr>
                        <a:t>10.2.4.3.</a:t>
                      </a:r>
                      <a:r>
                        <a:rPr sz="700" b="0" i="1">
                          <a:solidFill>
                            <a:srgbClr val="000000"/>
                          </a:solidFill>
                          <a:latin typeface="Times New Roman"/>
                        </a:rPr>
                        <a:t> </a:t>
                      </a:r>
                      <a:r>
                        <a:rPr sz="1100" b="0" i="1">
                          <a:solidFill>
                            <a:srgbClr val="000000"/>
                          </a:solidFill>
                          <a:latin typeface="Calibri"/>
                        </a:rPr>
                        <a:t>Mobile Medical &amp; Communication Equipment</a:t>
                      </a:r>
                      <a:endParaRPr sz="1100"/>
                    </a:p>
                  </a:txBody>
                  <a:tcPr marL="1028700"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Share and Growth Comparison by System Application (%)</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Attractiveness and Incremental Opportunity by System Application</a:t>
                      </a:r>
                      <a:endParaRPr sz="1100"/>
                    </a:p>
                  </a:txBody>
                  <a:tcPr marL="4286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(3/7)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Market Analysis and Forecast, by Output Power Rating</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Market Size in Value (US$ Mn) and Shipments (Thousand Units) by Output Power Rating, 2021–2036</a:t>
                      </a:r>
                      <a:endParaRPr sz="1100"/>
                    </a:p>
                  </a:txBody>
                  <a:tcPr marL="428625" marR="9525" marT="9525" marB="0" anchor="ctr"/>
                </a:tc>
              </a:tr>
              <a:tr h="175260">
                <a:tc>
                  <a:txBody>
                    <a:bodyPr wrap="square"/>
                    <a:lstStyle/>
                    <a:p>
                      <a:pPr algn="l"/>
                      <a:r>
                        <a:rPr sz="1100" b="0" i="0">
                          <a:solidFill>
                            <a:srgbClr val="000000"/>
                          </a:solidFill>
                          <a:latin typeface="Calibri"/>
                        </a:rPr>
                        <a:t>11.2.1.</a:t>
                      </a:r>
                      <a:r>
                        <a:rPr sz="700" b="0" i="0">
                          <a:solidFill>
                            <a:srgbClr val="000000"/>
                          </a:solidFill>
                          <a:latin typeface="Times New Roman"/>
                        </a:rPr>
                        <a:t> </a:t>
                      </a:r>
                      <a:r>
                        <a:rPr sz="1100" b="0" i="0">
                          <a:solidFill>
                            <a:srgbClr val="000000"/>
                          </a:solidFill>
                          <a:latin typeface="Calibri"/>
                        </a:rPr>
                        <a:t>Below 500 W</a:t>
                      </a:r>
                      <a:endParaRPr sz="1100"/>
                    </a:p>
                  </a:txBody>
                  <a:tcPr marL="771525" marR="9525" marT="9525" marB="0" anchor="ctr"/>
                </a:tc>
              </a:tr>
              <a:tr h="175260">
                <a:tc>
                  <a:txBody>
                    <a:bodyPr wrap="square"/>
                    <a:lstStyle/>
                    <a:p>
                      <a:pPr algn="l"/>
                      <a:r>
                        <a:rPr sz="1100" b="0" i="0">
                          <a:solidFill>
                            <a:srgbClr val="000000"/>
                          </a:solidFill>
                          <a:latin typeface="Calibri"/>
                        </a:rPr>
                        <a:t>11.2.2.</a:t>
                      </a:r>
                      <a:r>
                        <a:rPr sz="700" b="0" i="0">
                          <a:solidFill>
                            <a:srgbClr val="000000"/>
                          </a:solidFill>
                          <a:latin typeface="Times New Roman"/>
                        </a:rPr>
                        <a:t> </a:t>
                      </a:r>
                      <a:r>
                        <a:rPr sz="1100" b="0" i="0">
                          <a:solidFill>
                            <a:srgbClr val="000000"/>
                          </a:solidFill>
                          <a:latin typeface="Calibri"/>
                        </a:rPr>
                        <a:t>500 W to Below 1,000 W</a:t>
                      </a:r>
                      <a:endParaRPr sz="1100"/>
                    </a:p>
                  </a:txBody>
                  <a:tcPr marL="771525" marR="9525" marT="9525" marB="0" anchor="ctr"/>
                </a:tc>
              </a:tr>
              <a:tr h="175260">
                <a:tc>
                  <a:txBody>
                    <a:bodyPr wrap="square"/>
                    <a:lstStyle/>
                    <a:p>
                      <a:pPr algn="l"/>
                      <a:r>
                        <a:rPr sz="1100" b="0" i="0">
                          <a:solidFill>
                            <a:srgbClr val="000000"/>
                          </a:solidFill>
                          <a:latin typeface="Calibri"/>
                        </a:rPr>
                        <a:t>11.2.3.</a:t>
                      </a:r>
                      <a:r>
                        <a:rPr sz="700" b="0" i="0">
                          <a:solidFill>
                            <a:srgbClr val="000000"/>
                          </a:solidFill>
                          <a:latin typeface="Times New Roman"/>
                        </a:rPr>
                        <a:t> </a:t>
                      </a:r>
                      <a:r>
                        <a:rPr sz="1100" b="0" i="0">
                          <a:solidFill>
                            <a:srgbClr val="000000"/>
                          </a:solidFill>
                          <a:latin typeface="Calibri"/>
                        </a:rPr>
                        <a:t>1,000 W to Below 2,000 W</a:t>
                      </a:r>
                      <a:endParaRPr sz="1100"/>
                    </a:p>
                  </a:txBody>
                  <a:tcPr marL="771525" marR="9525" marT="9525" marB="0" anchor="ctr"/>
                </a:tc>
              </a:tr>
              <a:tr h="175260">
                <a:tc>
                  <a:txBody>
                    <a:bodyPr wrap="square"/>
                    <a:lstStyle/>
                    <a:p>
                      <a:pPr algn="l"/>
                      <a:r>
                        <a:rPr sz="1100" b="0" i="0">
                          <a:solidFill>
                            <a:srgbClr val="000000"/>
                          </a:solidFill>
                          <a:latin typeface="Calibri"/>
                        </a:rPr>
                        <a:t>11.2.4.</a:t>
                      </a:r>
                      <a:r>
                        <a:rPr sz="700" b="0" i="0">
                          <a:solidFill>
                            <a:srgbClr val="000000"/>
                          </a:solidFill>
                          <a:latin typeface="Times New Roman"/>
                        </a:rPr>
                        <a:t> </a:t>
                      </a:r>
                      <a:r>
                        <a:rPr sz="1100" b="0" i="0">
                          <a:solidFill>
                            <a:srgbClr val="000000"/>
                          </a:solidFill>
                          <a:latin typeface="Calibri"/>
                        </a:rPr>
                        <a:t>2,000 W and Above</a:t>
                      </a:r>
                      <a:endParaRPr sz="1100"/>
                    </a:p>
                  </a:txBody>
                  <a:tcPr marL="7715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Share and Growth Comparison by Output Power Rating (%)</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and Incremental Opportunity by Output Power Rating</a:t>
                      </a:r>
                      <a:endParaRPr sz="1100"/>
                    </a:p>
                  </a:txBody>
                  <a:tcPr marL="4286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Market Analysis and Forecast, by System Architecture</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Market Size in Value (US$ Mn) and Shipments (Thousand Units) by System Architecture, 2021–2036</a:t>
                      </a:r>
                      <a:endParaRPr sz="1100"/>
                    </a:p>
                  </a:txBody>
                  <a:tcPr marL="428625" marR="9525" marT="9525" marB="0" anchor="ctr"/>
                </a:tc>
              </a:tr>
              <a:tr h="175260">
                <a:tc>
                  <a:txBody>
                    <a:bodyPr wrap="square"/>
                    <a:lstStyle/>
                    <a:p>
                      <a:pPr algn="l"/>
                      <a:r>
                        <a:rPr sz="1100" b="0" i="0">
                          <a:solidFill>
                            <a:srgbClr val="000000"/>
                          </a:solidFill>
                          <a:latin typeface="Calibri"/>
                        </a:rPr>
                        <a:t>12.2.1.</a:t>
                      </a:r>
                      <a:r>
                        <a:rPr sz="700" b="0" i="0">
                          <a:solidFill>
                            <a:srgbClr val="000000"/>
                          </a:solidFill>
                          <a:latin typeface="Times New Roman"/>
                        </a:rPr>
                        <a:t> </a:t>
                      </a:r>
                      <a:r>
                        <a:rPr sz="1100" b="0" i="0">
                          <a:solidFill>
                            <a:srgbClr val="000000"/>
                          </a:solidFill>
                          <a:latin typeface="Calibri"/>
                        </a:rPr>
                        <a:t>AC/DC Portable Power Stations</a:t>
                      </a:r>
                      <a:endParaRPr sz="1100"/>
                    </a:p>
                  </a:txBody>
                  <a:tcPr marL="771525" marR="9525" marT="9525" marB="0" anchor="ctr"/>
                </a:tc>
              </a:tr>
              <a:tr h="175260">
                <a:tc>
                  <a:txBody>
                    <a:bodyPr wrap="square"/>
                    <a:lstStyle/>
                    <a:p>
                      <a:pPr algn="l"/>
                      <a:r>
                        <a:rPr sz="1100" b="0" i="0">
                          <a:solidFill>
                            <a:srgbClr val="000000"/>
                          </a:solidFill>
                          <a:latin typeface="Calibri"/>
                        </a:rPr>
                        <a:t>12.2.2.</a:t>
                      </a:r>
                      <a:r>
                        <a:rPr sz="700" b="0" i="0">
                          <a:solidFill>
                            <a:srgbClr val="000000"/>
                          </a:solidFill>
                          <a:latin typeface="Times New Roman"/>
                        </a:rPr>
                        <a:t> </a:t>
                      </a:r>
                      <a:r>
                        <a:rPr sz="1100" b="0" i="0">
                          <a:solidFill>
                            <a:srgbClr val="000000"/>
                          </a:solidFill>
                          <a:latin typeface="Calibri"/>
                        </a:rPr>
                        <a:t>DC-Only Portable Battery Systems</a:t>
                      </a:r>
                      <a:endParaRPr sz="1100"/>
                    </a:p>
                  </a:txBody>
                  <a:tcPr marL="7715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Share and Growth Comparison by System Architecture (%)</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and Incremental Opportunity by System Architecture</a:t>
                      </a:r>
                      <a:endParaRPr sz="1100"/>
                    </a:p>
                  </a:txBody>
                  <a:tcPr marL="4286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Market Analysis and Forecast, by Distribution Channel</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and Key Findings</a:t>
                      </a:r>
                      <a:endParaRPr sz="1100"/>
                    </a:p>
                  </a:txBody>
                  <a:tcPr marL="428625" marR="9525" marT="9525" marB="0" anchor="ctr"/>
                </a:tc>
              </a:tr>
              <a:tr h="35052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Market Size in Value (US$ Mn) and Shipments (Thousand Units) by Distribution Channel, 2021–2036</a:t>
                      </a:r>
                      <a:endParaRPr sz="1100"/>
                    </a:p>
                  </a:txBody>
                  <a:tcPr marL="428625" marR="9525" marT="9525" marB="0" anchor="ctr"/>
                </a:tc>
              </a:tr>
              <a:tr h="175260">
                <a:tc>
                  <a:txBody>
                    <a:bodyPr wrap="square"/>
                    <a:lstStyle/>
                    <a:p>
                      <a:pPr algn="l"/>
                      <a:r>
                        <a:rPr sz="1100" b="0" i="0">
                          <a:solidFill>
                            <a:srgbClr val="000000"/>
                          </a:solidFill>
                          <a:latin typeface="Calibri"/>
                        </a:rPr>
                        <a:t>13.2.1.</a:t>
                      </a:r>
                      <a:r>
                        <a:rPr sz="700" b="0" i="0">
                          <a:solidFill>
                            <a:srgbClr val="000000"/>
                          </a:solidFill>
                          <a:latin typeface="Times New Roman"/>
                        </a:rPr>
                        <a:t> </a:t>
                      </a:r>
                      <a:r>
                        <a:rPr sz="1100" b="0" i="0">
                          <a:solidFill>
                            <a:srgbClr val="000000"/>
                          </a:solidFill>
                          <a:latin typeface="Calibri"/>
                        </a:rPr>
                        <a:t>Direct-to-Consumer / Manufacturer Direct</a:t>
                      </a:r>
                      <a:endParaRPr sz="1100"/>
                    </a:p>
                  </a:txBody>
                  <a:tcPr marL="771525" marR="9525" marT="9525" marB="0" anchor="ctr"/>
                </a:tc>
              </a:tr>
              <a:tr h="175260">
                <a:tc>
                  <a:txBody>
                    <a:bodyPr wrap="square"/>
                    <a:lstStyle/>
                    <a:p>
                      <a:pPr algn="l"/>
                      <a:r>
                        <a:rPr sz="1100" b="0" i="0">
                          <a:solidFill>
                            <a:srgbClr val="000000"/>
                          </a:solidFill>
                          <a:latin typeface="Calibri"/>
                        </a:rPr>
                        <a:t>13.2.2.</a:t>
                      </a:r>
                      <a:r>
                        <a:rPr sz="700" b="0" i="0">
                          <a:solidFill>
                            <a:srgbClr val="000000"/>
                          </a:solidFill>
                          <a:latin typeface="Times New Roman"/>
                        </a:rPr>
                        <a:t> </a:t>
                      </a:r>
                      <a:r>
                        <a:rPr sz="1100" b="0" i="0">
                          <a:solidFill>
                            <a:srgbClr val="000000"/>
                          </a:solidFill>
                          <a:latin typeface="Calibri"/>
                        </a:rPr>
                        <a:t>Online Third-Party Retail</a:t>
                      </a:r>
                      <a:endParaRPr sz="1100"/>
                    </a:p>
                  </a:txBody>
                  <a:tcPr marL="771525" marR="9525" marT="9525" marB="0" anchor="ctr"/>
                </a:tc>
              </a:tr>
              <a:tr h="175260">
                <a:tc>
                  <a:txBody>
                    <a:bodyPr wrap="square"/>
                    <a:lstStyle/>
                    <a:p>
                      <a:pPr algn="l"/>
                      <a:r>
                        <a:rPr sz="1100" b="0" i="0">
                          <a:solidFill>
                            <a:srgbClr val="000000"/>
                          </a:solidFill>
                          <a:latin typeface="Calibri"/>
                        </a:rPr>
                        <a:t>13.2.3.</a:t>
                      </a:r>
                      <a:r>
                        <a:rPr sz="700" b="0" i="0">
                          <a:solidFill>
                            <a:srgbClr val="000000"/>
                          </a:solidFill>
                          <a:latin typeface="Times New Roman"/>
                        </a:rPr>
                        <a:t> </a:t>
                      </a:r>
                      <a:r>
                        <a:rPr sz="1100" b="0" i="0">
                          <a:solidFill>
                            <a:srgbClr val="000000"/>
                          </a:solidFill>
                          <a:latin typeface="Calibri"/>
                        </a:rPr>
                        <a:t>Offline Retail &amp; Distributors</a:t>
                      </a:r>
                      <a:endParaRPr sz="1100"/>
                    </a:p>
                  </a:txBody>
                  <a:tcPr marL="771525" marR="9525" marT="9525" marB="0" anchor="ctr"/>
                </a:tc>
              </a:tr>
              <a:tr h="175260">
                <a:tc>
                  <a:txBody>
                    <a:bodyPr wrap="square"/>
                    <a:lstStyle/>
                    <a:p>
                      <a:pPr algn="l"/>
                      <a:r>
                        <a:rPr sz="1100" b="0" i="0">
                          <a:solidFill>
                            <a:srgbClr val="000000"/>
                          </a:solidFill>
                          <a:latin typeface="Calibri"/>
                        </a:rPr>
                        <a:t>13.2.4.</a:t>
                      </a:r>
                      <a:r>
                        <a:rPr sz="700" b="0" i="0">
                          <a:solidFill>
                            <a:srgbClr val="000000"/>
                          </a:solidFill>
                          <a:latin typeface="Times New Roman"/>
                        </a:rPr>
                        <a:t> </a:t>
                      </a:r>
                      <a:r>
                        <a:rPr sz="1100" b="0" i="0">
                          <a:solidFill>
                            <a:srgbClr val="000000"/>
                          </a:solidFill>
                          <a:latin typeface="Calibri"/>
                        </a:rPr>
                        <a:t>Direct B2B / Institutional Sales</a:t>
                      </a:r>
                      <a:endParaRPr sz="1100"/>
                    </a:p>
                  </a:txBody>
                  <a:tcPr marL="7715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Market Share and Growth Comparison by Distribution Channel (%)</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and Incremental Opportunity by Distribution Channel</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Market Analysis and Forecast by Region</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Regional Market Value (US$ Mn) and Volume (Thousand Units)</a:t>
                      </a:r>
                      <a:endParaRPr sz="1100"/>
                    </a:p>
                  </a:txBody>
                  <a:tcPr marL="4286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Regional Market Share and Growth Comparison</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Regional Market Attractiveness and Opportunity Priorities</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North America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15.2.1.</a:t>
                      </a:r>
                      <a:r>
                        <a:rPr sz="700" b="0" i="0">
                          <a:solidFill>
                            <a:srgbClr val="000000"/>
                          </a:solidFill>
                          <a:latin typeface="Times New Roman"/>
                        </a:rPr>
                        <a:t> </a:t>
                      </a:r>
                      <a:r>
                        <a:rPr sz="1100" b="0" i="0">
                          <a:solidFill>
                            <a:srgbClr val="000000"/>
                          </a:solidFill>
                          <a:latin typeface="Calibri"/>
                        </a:rPr>
                        <a:t>United States</a:t>
                      </a:r>
                      <a:endParaRPr sz="1100"/>
                    </a:p>
                  </a:txBody>
                  <a:tcPr marL="771525" marR="9525" marT="9525" marB="0" anchor="ctr"/>
                </a:tc>
              </a:tr>
              <a:tr h="175260">
                <a:tc>
                  <a:txBody>
                    <a:bodyPr wrap="square"/>
                    <a:lstStyle/>
                    <a:p>
                      <a:pPr algn="l"/>
                      <a:r>
                        <a:rPr sz="1100" b="0" i="0">
                          <a:solidFill>
                            <a:srgbClr val="000000"/>
                          </a:solidFill>
                          <a:latin typeface="Calibri"/>
                        </a:rPr>
                        <a:t>15.2.2.</a:t>
                      </a:r>
                      <a:r>
                        <a:rPr sz="700" b="0" i="0">
                          <a:solidFill>
                            <a:srgbClr val="000000"/>
                          </a:solidFill>
                          <a:latin typeface="Times New Roman"/>
                        </a:rPr>
                        <a:t> </a:t>
                      </a:r>
                      <a:r>
                        <a:rPr sz="1100" b="0" i="0">
                          <a:solidFill>
                            <a:srgbClr val="000000"/>
                          </a:solidFill>
                          <a:latin typeface="Calibri"/>
                        </a:rPr>
                        <a:t>Canada</a:t>
                      </a:r>
                      <a:endParaRPr sz="1100"/>
                    </a:p>
                  </a:txBody>
                  <a:tcPr marL="771525" marR="9525" marT="9525" marB="0" anchor="ctr"/>
                </a:tc>
              </a:tr>
              <a:tr h="175260">
                <a:tc>
                  <a:txBody>
                    <a:bodyPr wrap="square"/>
                    <a:lstStyle/>
                    <a:p>
                      <a:pPr algn="l"/>
                      <a:r>
                        <a:rPr sz="1100" b="0" i="0">
                          <a:solidFill>
                            <a:srgbClr val="000000"/>
                          </a:solidFill>
                          <a:latin typeface="Calibri"/>
                        </a:rPr>
                        <a:t>15.2.3.</a:t>
                      </a:r>
                      <a:r>
                        <a:rPr sz="700" b="0" i="0">
                          <a:solidFill>
                            <a:srgbClr val="000000"/>
                          </a:solidFill>
                          <a:latin typeface="Times New Roman"/>
                        </a:rPr>
                        <a:t> </a:t>
                      </a:r>
                      <a:r>
                        <a:rPr sz="1100" b="0" i="0">
                          <a:solidFill>
                            <a:srgbClr val="000000"/>
                          </a:solidFill>
                          <a:latin typeface="Calibri"/>
                        </a:rPr>
                        <a:t>Mexico</a:t>
                      </a:r>
                      <a:endParaRPr sz="1100"/>
                    </a:p>
                  </a:txBody>
                  <a:tcPr marL="7715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15.3.1.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15.3.2.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15.3.3.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15.3.4.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15.3.5.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15.3.6.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15.3.7.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Latin America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16.2.1.</a:t>
                      </a:r>
                      <a:r>
                        <a:rPr sz="700" b="0" i="0">
                          <a:solidFill>
                            <a:srgbClr val="000000"/>
                          </a:solidFill>
                          <a:latin typeface="Times New Roman"/>
                        </a:rPr>
                        <a:t> </a:t>
                      </a:r>
                      <a:r>
                        <a:rPr sz="1100" b="0" i="0">
                          <a:solidFill>
                            <a:srgbClr val="000000"/>
                          </a:solidFill>
                          <a:latin typeface="Calibri"/>
                        </a:rPr>
                        <a:t>Brazil</a:t>
                      </a:r>
                      <a:endParaRPr sz="1100"/>
                    </a:p>
                  </a:txBody>
                  <a:tcPr marL="771525" marR="9525" marT="9525" marB="0" anchor="ctr"/>
                </a:tc>
              </a:tr>
              <a:tr h="175260">
                <a:tc>
                  <a:txBody>
                    <a:bodyPr wrap="square"/>
                    <a:lstStyle/>
                    <a:p>
                      <a:pPr algn="l"/>
                      <a:r>
                        <a:rPr sz="1100" b="0" i="0">
                          <a:solidFill>
                            <a:srgbClr val="000000"/>
                          </a:solidFill>
                          <a:latin typeface="Calibri"/>
                        </a:rPr>
                        <a:t>16.2.2.</a:t>
                      </a:r>
                      <a:r>
                        <a:rPr sz="700" b="0" i="0">
                          <a:solidFill>
                            <a:srgbClr val="000000"/>
                          </a:solidFill>
                          <a:latin typeface="Times New Roman"/>
                        </a:rPr>
                        <a:t> </a:t>
                      </a:r>
                      <a:r>
                        <a:rPr sz="1100" b="0" i="0">
                          <a:solidFill>
                            <a:srgbClr val="000000"/>
                          </a:solidFill>
                          <a:latin typeface="Calibri"/>
                        </a:rPr>
                        <a:t>Chile</a:t>
                      </a:r>
                      <a:endParaRPr sz="1100"/>
                    </a:p>
                  </a:txBody>
                  <a:tcPr marL="771525" marR="9525" marT="9525" marB="0" anchor="ctr"/>
                </a:tc>
              </a:tr>
              <a:tr h="175260">
                <a:tc>
                  <a:txBody>
                    <a:bodyPr wrap="square"/>
                    <a:lstStyle/>
                    <a:p>
                      <a:pPr algn="l"/>
                      <a:r>
                        <a:rPr sz="1100" b="0" i="0">
                          <a:solidFill>
                            <a:srgbClr val="000000"/>
                          </a:solidFill>
                          <a:latin typeface="Calibri"/>
                        </a:rPr>
                        <a:t>16.2.3.</a:t>
                      </a:r>
                      <a:r>
                        <a:rPr sz="700" b="0" i="0">
                          <a:solidFill>
                            <a:srgbClr val="000000"/>
                          </a:solidFill>
                          <a:latin typeface="Times New Roman"/>
                        </a:rPr>
                        <a:t> </a:t>
                      </a:r>
                      <a:r>
                        <a:rPr sz="1100" b="0" i="0">
                          <a:solidFill>
                            <a:srgbClr val="000000"/>
                          </a:solidFill>
                          <a:latin typeface="Calibri"/>
                        </a:rPr>
                        <a:t>Rest of Latin America</a:t>
                      </a:r>
                      <a:endParaRPr sz="1100"/>
                    </a:p>
                  </a:txBody>
                  <a:tcPr marL="7715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16.3.1.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16.3.2.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16.3.3.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16.3.4.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16.3.5.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16.3.6.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(4/7)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16.3.7.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Western Europe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17.2.1.</a:t>
                      </a:r>
                      <a:r>
                        <a:rPr sz="700" b="0" i="0">
                          <a:solidFill>
                            <a:srgbClr val="000000"/>
                          </a:solidFill>
                          <a:latin typeface="Times New Roman"/>
                        </a:rPr>
                        <a:t> </a:t>
                      </a:r>
                      <a:r>
                        <a:rPr sz="1100" b="0" i="0">
                          <a:solidFill>
                            <a:srgbClr val="000000"/>
                          </a:solidFill>
                          <a:latin typeface="Calibri"/>
                        </a:rPr>
                        <a:t>Germany</a:t>
                      </a:r>
                      <a:endParaRPr sz="1100"/>
                    </a:p>
                  </a:txBody>
                  <a:tcPr marL="771525" marR="9525" marT="9525" marB="0" anchor="ctr"/>
                </a:tc>
              </a:tr>
              <a:tr h="175260">
                <a:tc>
                  <a:txBody>
                    <a:bodyPr wrap="square"/>
                    <a:lstStyle/>
                    <a:p>
                      <a:pPr algn="l"/>
                      <a:r>
                        <a:rPr sz="1100" b="0" i="0">
                          <a:solidFill>
                            <a:srgbClr val="000000"/>
                          </a:solidFill>
                          <a:latin typeface="Calibri"/>
                        </a:rPr>
                        <a:t>17.2.2.</a:t>
                      </a:r>
                      <a:r>
                        <a:rPr sz="700" b="0" i="0">
                          <a:solidFill>
                            <a:srgbClr val="000000"/>
                          </a:solidFill>
                          <a:latin typeface="Times New Roman"/>
                        </a:rPr>
                        <a:t> </a:t>
                      </a:r>
                      <a:r>
                        <a:rPr sz="1100" b="0" i="0">
                          <a:solidFill>
                            <a:srgbClr val="000000"/>
                          </a:solidFill>
                          <a:latin typeface="Calibri"/>
                        </a:rPr>
                        <a:t>Italy</a:t>
                      </a:r>
                      <a:endParaRPr sz="1100"/>
                    </a:p>
                  </a:txBody>
                  <a:tcPr marL="771525" marR="9525" marT="9525" marB="0" anchor="ctr"/>
                </a:tc>
              </a:tr>
              <a:tr h="175260">
                <a:tc>
                  <a:txBody>
                    <a:bodyPr wrap="square"/>
                    <a:lstStyle/>
                    <a:p>
                      <a:pPr algn="l"/>
                      <a:r>
                        <a:rPr sz="1100" b="0" i="0">
                          <a:solidFill>
                            <a:srgbClr val="000000"/>
                          </a:solidFill>
                          <a:latin typeface="Calibri"/>
                        </a:rPr>
                        <a:t>17.2.3.</a:t>
                      </a:r>
                      <a:r>
                        <a:rPr sz="700" b="0" i="0">
                          <a:solidFill>
                            <a:srgbClr val="000000"/>
                          </a:solidFill>
                          <a:latin typeface="Times New Roman"/>
                        </a:rPr>
                        <a:t> </a:t>
                      </a:r>
                      <a:r>
                        <a:rPr sz="1100" b="0" i="0">
                          <a:solidFill>
                            <a:srgbClr val="000000"/>
                          </a:solidFill>
                          <a:latin typeface="Calibri"/>
                        </a:rPr>
                        <a:t>France</a:t>
                      </a:r>
                      <a:endParaRPr sz="1100"/>
                    </a:p>
                  </a:txBody>
                  <a:tcPr marL="771525" marR="9525" marT="9525" marB="0" anchor="ctr"/>
                </a:tc>
              </a:tr>
              <a:tr h="175260">
                <a:tc>
                  <a:txBody>
                    <a:bodyPr wrap="square"/>
                    <a:lstStyle/>
                    <a:p>
                      <a:pPr algn="l"/>
                      <a:r>
                        <a:rPr sz="1100" b="0" i="0">
                          <a:solidFill>
                            <a:srgbClr val="000000"/>
                          </a:solidFill>
                          <a:latin typeface="Calibri"/>
                        </a:rPr>
                        <a:t>17.2.4.</a:t>
                      </a:r>
                      <a:r>
                        <a:rPr sz="700" b="0" i="0">
                          <a:solidFill>
                            <a:srgbClr val="000000"/>
                          </a:solidFill>
                          <a:latin typeface="Times New Roman"/>
                        </a:rPr>
                        <a:t> </a:t>
                      </a:r>
                      <a:r>
                        <a:rPr sz="1100" b="0" i="0">
                          <a:solidFill>
                            <a:srgbClr val="000000"/>
                          </a:solidFill>
                          <a:latin typeface="Calibri"/>
                        </a:rPr>
                        <a:t>United Kingdom</a:t>
                      </a:r>
                      <a:endParaRPr sz="1100"/>
                    </a:p>
                  </a:txBody>
                  <a:tcPr marL="771525" marR="9525" marT="9525" marB="0" anchor="ctr"/>
                </a:tc>
              </a:tr>
              <a:tr h="175260">
                <a:tc>
                  <a:txBody>
                    <a:bodyPr wrap="square"/>
                    <a:lstStyle/>
                    <a:p>
                      <a:pPr algn="l"/>
                      <a:r>
                        <a:rPr sz="1100" b="0" i="0">
                          <a:solidFill>
                            <a:srgbClr val="000000"/>
                          </a:solidFill>
                          <a:latin typeface="Calibri"/>
                        </a:rPr>
                        <a:t>17.2.5.</a:t>
                      </a:r>
                      <a:r>
                        <a:rPr sz="700" b="0" i="0">
                          <a:solidFill>
                            <a:srgbClr val="000000"/>
                          </a:solidFill>
                          <a:latin typeface="Times New Roman"/>
                        </a:rPr>
                        <a:t> </a:t>
                      </a:r>
                      <a:r>
                        <a:rPr sz="1100" b="0" i="0">
                          <a:solidFill>
                            <a:srgbClr val="000000"/>
                          </a:solidFill>
                          <a:latin typeface="Calibri"/>
                        </a:rPr>
                        <a:t>Spain</a:t>
                      </a:r>
                      <a:endParaRPr sz="1100"/>
                    </a:p>
                  </a:txBody>
                  <a:tcPr marL="771525" marR="9525" marT="9525" marB="0" anchor="ctr"/>
                </a:tc>
              </a:tr>
              <a:tr h="175260">
                <a:tc>
                  <a:txBody>
                    <a:bodyPr wrap="square"/>
                    <a:lstStyle/>
                    <a:p>
                      <a:pPr algn="l"/>
                      <a:r>
                        <a:rPr sz="1100" b="0" i="0">
                          <a:solidFill>
                            <a:srgbClr val="000000"/>
                          </a:solidFill>
                          <a:latin typeface="Calibri"/>
                        </a:rPr>
                        <a:t>17.2.6.</a:t>
                      </a:r>
                      <a:r>
                        <a:rPr sz="700" b="0" i="0">
                          <a:solidFill>
                            <a:srgbClr val="000000"/>
                          </a:solidFill>
                          <a:latin typeface="Times New Roman"/>
                        </a:rPr>
                        <a:t> </a:t>
                      </a:r>
                      <a:r>
                        <a:rPr sz="1100" b="0" i="0">
                          <a:solidFill>
                            <a:srgbClr val="000000"/>
                          </a:solidFill>
                          <a:latin typeface="Calibri"/>
                        </a:rPr>
                        <a:t>BENELUX</a:t>
                      </a:r>
                      <a:endParaRPr sz="1100"/>
                    </a:p>
                  </a:txBody>
                  <a:tcPr marL="771525" marR="9525" marT="9525" marB="0" anchor="ctr"/>
                </a:tc>
              </a:tr>
              <a:tr h="175260">
                <a:tc>
                  <a:txBody>
                    <a:bodyPr wrap="square"/>
                    <a:lstStyle/>
                    <a:p>
                      <a:pPr algn="l"/>
                      <a:r>
                        <a:rPr sz="1100" b="0" i="0">
                          <a:solidFill>
                            <a:srgbClr val="000000"/>
                          </a:solidFill>
                          <a:latin typeface="Calibri"/>
                        </a:rPr>
                        <a:t>17.2.7.</a:t>
                      </a:r>
                      <a:r>
                        <a:rPr sz="700" b="0" i="0">
                          <a:solidFill>
                            <a:srgbClr val="000000"/>
                          </a:solidFill>
                          <a:latin typeface="Times New Roman"/>
                        </a:rPr>
                        <a:t> </a:t>
                      </a:r>
                      <a:r>
                        <a:rPr sz="1100" b="0" i="0">
                          <a:solidFill>
                            <a:srgbClr val="000000"/>
                          </a:solidFill>
                          <a:latin typeface="Calibri"/>
                        </a:rPr>
                        <a:t>Nordic Countries</a:t>
                      </a:r>
                      <a:endParaRPr sz="1100"/>
                    </a:p>
                  </a:txBody>
                  <a:tcPr marL="771525" marR="9525" marT="9525" marB="0" anchor="ctr"/>
                </a:tc>
              </a:tr>
              <a:tr h="175260">
                <a:tc>
                  <a:txBody>
                    <a:bodyPr wrap="square"/>
                    <a:lstStyle/>
                    <a:p>
                      <a:pPr algn="l"/>
                      <a:r>
                        <a:rPr sz="1100" b="0" i="0">
                          <a:solidFill>
                            <a:srgbClr val="000000"/>
                          </a:solidFill>
                          <a:latin typeface="Calibri"/>
                        </a:rPr>
                        <a:t>17.2.8.</a:t>
                      </a:r>
                      <a:r>
                        <a:rPr sz="700" b="0" i="0">
                          <a:solidFill>
                            <a:srgbClr val="000000"/>
                          </a:solidFill>
                          <a:latin typeface="Times New Roman"/>
                        </a:rPr>
                        <a:t> </a:t>
                      </a:r>
                      <a:r>
                        <a:rPr sz="1100" b="0" i="0">
                          <a:solidFill>
                            <a:srgbClr val="000000"/>
                          </a:solidFill>
                          <a:latin typeface="Calibri"/>
                        </a:rPr>
                        <a:t>Rest of Western Europe</a:t>
                      </a:r>
                      <a:endParaRPr sz="1100"/>
                    </a:p>
                  </a:txBody>
                  <a:tcPr marL="7715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17.3.1.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17.3.2.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17.3.3.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17.3.4.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17.3.5.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17.3.6.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17.3.7.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Eastern Europe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18.2.1.</a:t>
                      </a:r>
                      <a:r>
                        <a:rPr sz="700" b="0" i="0">
                          <a:solidFill>
                            <a:srgbClr val="000000"/>
                          </a:solidFill>
                          <a:latin typeface="Times New Roman"/>
                        </a:rPr>
                        <a:t> </a:t>
                      </a:r>
                      <a:r>
                        <a:rPr sz="1100" b="0" i="0">
                          <a:solidFill>
                            <a:srgbClr val="000000"/>
                          </a:solidFill>
                          <a:latin typeface="Calibri"/>
                        </a:rPr>
                        <a:t>Russia</a:t>
                      </a:r>
                      <a:endParaRPr sz="1100"/>
                    </a:p>
                  </a:txBody>
                  <a:tcPr marL="771525" marR="9525" marT="9525" marB="0" anchor="ctr"/>
                </a:tc>
              </a:tr>
              <a:tr h="175260">
                <a:tc>
                  <a:txBody>
                    <a:bodyPr wrap="square"/>
                    <a:lstStyle/>
                    <a:p>
                      <a:pPr algn="l"/>
                      <a:r>
                        <a:rPr sz="1100" b="0" i="0">
                          <a:solidFill>
                            <a:srgbClr val="000000"/>
                          </a:solidFill>
                          <a:latin typeface="Calibri"/>
                        </a:rPr>
                        <a:t>18.2.2.</a:t>
                      </a:r>
                      <a:r>
                        <a:rPr sz="700" b="0" i="0">
                          <a:solidFill>
                            <a:srgbClr val="000000"/>
                          </a:solidFill>
                          <a:latin typeface="Times New Roman"/>
                        </a:rPr>
                        <a:t> </a:t>
                      </a:r>
                      <a:r>
                        <a:rPr sz="1100" b="0" i="0">
                          <a:solidFill>
                            <a:srgbClr val="000000"/>
                          </a:solidFill>
                          <a:latin typeface="Calibri"/>
                        </a:rPr>
                        <a:t>Hungary</a:t>
                      </a:r>
                      <a:endParaRPr sz="1100"/>
                    </a:p>
                  </a:txBody>
                  <a:tcPr marL="771525" marR="9525" marT="9525" marB="0" anchor="ctr"/>
                </a:tc>
              </a:tr>
              <a:tr h="175260">
                <a:tc>
                  <a:txBody>
                    <a:bodyPr wrap="square"/>
                    <a:lstStyle/>
                    <a:p>
                      <a:pPr algn="l"/>
                      <a:r>
                        <a:rPr sz="1100" b="0" i="0">
                          <a:solidFill>
                            <a:srgbClr val="000000"/>
                          </a:solidFill>
                          <a:latin typeface="Calibri"/>
                        </a:rPr>
                        <a:t>18.2.3.</a:t>
                      </a:r>
                      <a:r>
                        <a:rPr sz="700" b="0" i="0">
                          <a:solidFill>
                            <a:srgbClr val="000000"/>
                          </a:solidFill>
                          <a:latin typeface="Times New Roman"/>
                        </a:rPr>
                        <a:t> </a:t>
                      </a:r>
                      <a:r>
                        <a:rPr sz="1100" b="0" i="0">
                          <a:solidFill>
                            <a:srgbClr val="000000"/>
                          </a:solidFill>
                          <a:latin typeface="Calibri"/>
                        </a:rPr>
                        <a:t>Poland</a:t>
                      </a:r>
                      <a:endParaRPr sz="1100"/>
                    </a:p>
                  </a:txBody>
                  <a:tcPr marL="771525" marR="9525" marT="9525" marB="0" anchor="ctr"/>
                </a:tc>
              </a:tr>
              <a:tr h="175260">
                <a:tc>
                  <a:txBody>
                    <a:bodyPr wrap="square"/>
                    <a:lstStyle/>
                    <a:p>
                      <a:pPr algn="l"/>
                      <a:r>
                        <a:rPr sz="1100" b="0" i="0">
                          <a:solidFill>
                            <a:srgbClr val="000000"/>
                          </a:solidFill>
                          <a:latin typeface="Calibri"/>
                        </a:rPr>
                        <a:t>18.2.4.</a:t>
                      </a:r>
                      <a:r>
                        <a:rPr sz="700" b="0" i="0">
                          <a:solidFill>
                            <a:srgbClr val="000000"/>
                          </a:solidFill>
                          <a:latin typeface="Times New Roman"/>
                        </a:rPr>
                        <a:t> </a:t>
                      </a:r>
                      <a:r>
                        <a:rPr sz="1100" b="0" i="0">
                          <a:solidFill>
                            <a:srgbClr val="000000"/>
                          </a:solidFill>
                          <a:latin typeface="Calibri"/>
                        </a:rPr>
                        <a:t>Balkan &amp; Baltic Countries</a:t>
                      </a:r>
                      <a:endParaRPr sz="1100"/>
                    </a:p>
                  </a:txBody>
                  <a:tcPr marL="771525" marR="9525" marT="9525" marB="0" anchor="ctr"/>
                </a:tc>
              </a:tr>
              <a:tr h="175260">
                <a:tc>
                  <a:txBody>
                    <a:bodyPr wrap="square"/>
                    <a:lstStyle/>
                    <a:p>
                      <a:pPr algn="l"/>
                      <a:r>
                        <a:rPr sz="1100" b="0" i="0">
                          <a:solidFill>
                            <a:srgbClr val="000000"/>
                          </a:solidFill>
                          <a:latin typeface="Calibri"/>
                        </a:rPr>
                        <a:t>18.2.5.</a:t>
                      </a:r>
                      <a:r>
                        <a:rPr sz="700" b="0" i="0">
                          <a:solidFill>
                            <a:srgbClr val="000000"/>
                          </a:solidFill>
                          <a:latin typeface="Times New Roman"/>
                        </a:rPr>
                        <a:t> </a:t>
                      </a:r>
                      <a:r>
                        <a:rPr sz="1100" b="0" i="0">
                          <a:solidFill>
                            <a:srgbClr val="000000"/>
                          </a:solidFill>
                          <a:latin typeface="Calibri"/>
                        </a:rPr>
                        <a:t>Rest of Eastern Europe</a:t>
                      </a:r>
                      <a:endParaRPr sz="1100"/>
                    </a:p>
                  </a:txBody>
                  <a:tcPr marL="771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18.3.1.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18.3.2.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18.3.3.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18.3.4.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18.3.5.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18.3.6.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18.3.7.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East Asia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19.2.1.</a:t>
                      </a:r>
                      <a:r>
                        <a:rPr sz="700" b="0" i="0">
                          <a:solidFill>
                            <a:srgbClr val="000000"/>
                          </a:solidFill>
                          <a:latin typeface="Times New Roman"/>
                        </a:rPr>
                        <a:t> </a:t>
                      </a:r>
                      <a:r>
                        <a:rPr sz="1100" b="0" i="0">
                          <a:solidFill>
                            <a:srgbClr val="000000"/>
                          </a:solidFill>
                          <a:latin typeface="Calibri"/>
                        </a:rPr>
                        <a:t>China</a:t>
                      </a:r>
                      <a:endParaRPr sz="1100"/>
                    </a:p>
                  </a:txBody>
                  <a:tcPr marL="771525" marR="9525" marT="9525" marB="0" anchor="ctr"/>
                </a:tc>
              </a:tr>
              <a:tr h="175260">
                <a:tc>
                  <a:txBody>
                    <a:bodyPr wrap="square"/>
                    <a:lstStyle/>
                    <a:p>
                      <a:pPr algn="l"/>
                      <a:r>
                        <a:rPr sz="1100" b="0" i="0">
                          <a:solidFill>
                            <a:srgbClr val="000000"/>
                          </a:solidFill>
                          <a:latin typeface="Calibri"/>
                        </a:rPr>
                        <a:t>19.2.2.</a:t>
                      </a:r>
                      <a:r>
                        <a:rPr sz="700" b="0" i="0">
                          <a:solidFill>
                            <a:srgbClr val="000000"/>
                          </a:solidFill>
                          <a:latin typeface="Times New Roman"/>
                        </a:rPr>
                        <a:t> </a:t>
                      </a:r>
                      <a:r>
                        <a:rPr sz="1100" b="0" i="0">
                          <a:solidFill>
                            <a:srgbClr val="000000"/>
                          </a:solidFill>
                          <a:latin typeface="Calibri"/>
                        </a:rPr>
                        <a:t>Japan</a:t>
                      </a:r>
                      <a:endParaRPr sz="1100"/>
                    </a:p>
                  </a:txBody>
                  <a:tcPr marL="771525" marR="9525" marT="9525" marB="0" anchor="ctr"/>
                </a:tc>
              </a:tr>
              <a:tr h="175260">
                <a:tc>
                  <a:txBody>
                    <a:bodyPr wrap="square"/>
                    <a:lstStyle/>
                    <a:p>
                      <a:pPr algn="l"/>
                      <a:r>
                        <a:rPr sz="1100" b="0" i="0">
                          <a:solidFill>
                            <a:srgbClr val="000000"/>
                          </a:solidFill>
                          <a:latin typeface="Calibri"/>
                        </a:rPr>
                        <a:t>19.2.3.</a:t>
                      </a:r>
                      <a:r>
                        <a:rPr sz="700" b="0" i="0">
                          <a:solidFill>
                            <a:srgbClr val="000000"/>
                          </a:solidFill>
                          <a:latin typeface="Times New Roman"/>
                        </a:rPr>
                        <a:t> </a:t>
                      </a:r>
                      <a:r>
                        <a:rPr sz="1100" b="0" i="0">
                          <a:solidFill>
                            <a:srgbClr val="000000"/>
                          </a:solidFill>
                          <a:latin typeface="Calibri"/>
                        </a:rPr>
                        <a:t>South Korea</a:t>
                      </a:r>
                      <a:endParaRPr sz="1100"/>
                    </a:p>
                  </a:txBody>
                  <a:tcPr marL="7715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19.3.1.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19.3.2.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19.3.3.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19.3.4.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19.3.5.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19.3.6.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19.3.7.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South Asia &amp; Pacific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20.2.1.</a:t>
                      </a:r>
                      <a:r>
                        <a:rPr sz="700" b="0" i="0">
                          <a:solidFill>
                            <a:srgbClr val="000000"/>
                          </a:solidFill>
                          <a:latin typeface="Times New Roman"/>
                        </a:rPr>
                        <a:t> </a:t>
                      </a:r>
                      <a:r>
                        <a:rPr sz="1100" b="0" i="0">
                          <a:solidFill>
                            <a:srgbClr val="000000"/>
                          </a:solidFill>
                          <a:latin typeface="Calibri"/>
                        </a:rPr>
                        <a:t>India</a:t>
                      </a:r>
                      <a:endParaRPr sz="1100"/>
                    </a:p>
                  </a:txBody>
                  <a:tcPr marL="771525" marR="9525" marT="9525" marB="0" anchor="ctr"/>
                </a:tc>
              </a:tr>
              <a:tr h="175260">
                <a:tc>
                  <a:txBody>
                    <a:bodyPr wrap="square"/>
                    <a:lstStyle/>
                    <a:p>
                      <a:pPr algn="l"/>
                      <a:r>
                        <a:rPr sz="1100" b="0" i="0">
                          <a:solidFill>
                            <a:srgbClr val="000000"/>
                          </a:solidFill>
                          <a:latin typeface="Calibri"/>
                        </a:rPr>
                        <a:t>20.2.2.</a:t>
                      </a:r>
                      <a:r>
                        <a:rPr sz="700" b="0" i="0">
                          <a:solidFill>
                            <a:srgbClr val="000000"/>
                          </a:solidFill>
                          <a:latin typeface="Times New Roman"/>
                        </a:rPr>
                        <a:t> </a:t>
                      </a:r>
                      <a:r>
                        <a:rPr sz="1100" b="0" i="0">
                          <a:solidFill>
                            <a:srgbClr val="000000"/>
                          </a:solidFill>
                          <a:latin typeface="Calibri"/>
                        </a:rPr>
                        <a:t>ASEAN</a:t>
                      </a:r>
                      <a:endParaRPr sz="1100"/>
                    </a:p>
                  </a:txBody>
                  <a:tcPr marL="771525" marR="9525" marT="9525" marB="0" anchor="ctr"/>
                </a:tc>
              </a:tr>
              <a:tr h="175260">
                <a:tc>
                  <a:txBody>
                    <a:bodyPr wrap="square"/>
                    <a:lstStyle/>
                    <a:p>
                      <a:pPr algn="l"/>
                      <a:r>
                        <a:rPr sz="1100" b="0" i="0">
                          <a:solidFill>
                            <a:srgbClr val="000000"/>
                          </a:solidFill>
                          <a:latin typeface="Calibri"/>
                        </a:rPr>
                        <a:t>20.2.3.</a:t>
                      </a:r>
                      <a:r>
                        <a:rPr sz="700" b="0" i="0">
                          <a:solidFill>
                            <a:srgbClr val="000000"/>
                          </a:solidFill>
                          <a:latin typeface="Times New Roman"/>
                        </a:rPr>
                        <a:t> </a:t>
                      </a:r>
                      <a:r>
                        <a:rPr sz="1100" b="0" i="0">
                          <a:solidFill>
                            <a:srgbClr val="000000"/>
                          </a:solidFill>
                          <a:latin typeface="Calibri"/>
                        </a:rPr>
                        <a:t>Australia &amp; New Zealand</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(5/7)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20.2.4.</a:t>
                      </a:r>
                      <a:r>
                        <a:rPr sz="700" b="0" i="0">
                          <a:solidFill>
                            <a:srgbClr val="000000"/>
                          </a:solidFill>
                          <a:latin typeface="Times New Roman"/>
                        </a:rPr>
                        <a:t> </a:t>
                      </a:r>
                      <a:r>
                        <a:rPr sz="1100" b="0" i="0">
                          <a:solidFill>
                            <a:srgbClr val="000000"/>
                          </a:solidFill>
                          <a:latin typeface="Calibri"/>
                        </a:rPr>
                        <a:t>Rest of South Asia &amp; Pacific</a:t>
                      </a:r>
                      <a:endParaRPr sz="1100"/>
                    </a:p>
                  </a:txBody>
                  <a:tcPr marL="7715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20.3.1.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20.3.2.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20.3.3.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20.3.4.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20.3.5.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20.3.6.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20.3.7.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Middle East &amp; Africa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Regional Market Outlook and Key Findings</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Market Size by Country</a:t>
                      </a:r>
                      <a:endParaRPr sz="1100"/>
                    </a:p>
                  </a:txBody>
                  <a:tcPr marL="428625" marR="9525" marT="9525" marB="0" anchor="ctr"/>
                </a:tc>
              </a:tr>
              <a:tr h="175260">
                <a:tc>
                  <a:txBody>
                    <a:bodyPr wrap="square"/>
                    <a:lstStyle/>
                    <a:p>
                      <a:pPr algn="l"/>
                      <a:r>
                        <a:rPr sz="1100" b="0" i="0">
                          <a:solidFill>
                            <a:srgbClr val="000000"/>
                          </a:solidFill>
                          <a:latin typeface="Calibri"/>
                        </a:rPr>
                        <a:t>21.2.1.</a:t>
                      </a:r>
                      <a:r>
                        <a:rPr sz="700" b="0" i="0">
                          <a:solidFill>
                            <a:srgbClr val="000000"/>
                          </a:solidFill>
                          <a:latin typeface="Times New Roman"/>
                        </a:rPr>
                        <a:t> </a:t>
                      </a:r>
                      <a:r>
                        <a:rPr sz="1100" b="0" i="0">
                          <a:solidFill>
                            <a:srgbClr val="000000"/>
                          </a:solidFill>
                          <a:latin typeface="Calibri"/>
                        </a:rPr>
                        <a:t>Kingdom of Saudi Arabia</a:t>
                      </a:r>
                      <a:endParaRPr sz="1100"/>
                    </a:p>
                  </a:txBody>
                  <a:tcPr marL="771525" marR="9525" marT="9525" marB="0" anchor="ctr"/>
                </a:tc>
              </a:tr>
              <a:tr h="175260">
                <a:tc>
                  <a:txBody>
                    <a:bodyPr wrap="square"/>
                    <a:lstStyle/>
                    <a:p>
                      <a:pPr algn="l"/>
                      <a:r>
                        <a:rPr sz="1100" b="0" i="0">
                          <a:solidFill>
                            <a:srgbClr val="000000"/>
                          </a:solidFill>
                          <a:latin typeface="Calibri"/>
                        </a:rPr>
                        <a:t>21.2.2.</a:t>
                      </a:r>
                      <a:r>
                        <a:rPr sz="700" b="0" i="0">
                          <a:solidFill>
                            <a:srgbClr val="000000"/>
                          </a:solidFill>
                          <a:latin typeface="Times New Roman"/>
                        </a:rPr>
                        <a:t> </a:t>
                      </a:r>
                      <a:r>
                        <a:rPr sz="1100" b="0" i="0">
                          <a:solidFill>
                            <a:srgbClr val="000000"/>
                          </a:solidFill>
                          <a:latin typeface="Calibri"/>
                        </a:rPr>
                        <a:t>Other GCC Countries</a:t>
                      </a:r>
                      <a:endParaRPr sz="1100"/>
                    </a:p>
                  </a:txBody>
                  <a:tcPr marL="771525" marR="9525" marT="9525" marB="0" anchor="ctr"/>
                </a:tc>
              </a:tr>
              <a:tr h="175260">
                <a:tc>
                  <a:txBody>
                    <a:bodyPr wrap="square"/>
                    <a:lstStyle/>
                    <a:p>
                      <a:pPr algn="l"/>
                      <a:r>
                        <a:rPr sz="1100" b="0" i="0">
                          <a:solidFill>
                            <a:srgbClr val="000000"/>
                          </a:solidFill>
                          <a:latin typeface="Calibri"/>
                        </a:rPr>
                        <a:t>21.2.3.</a:t>
                      </a:r>
                      <a:r>
                        <a:rPr sz="700" b="0" i="0">
                          <a:solidFill>
                            <a:srgbClr val="000000"/>
                          </a:solidFill>
                          <a:latin typeface="Times New Roman"/>
                        </a:rPr>
                        <a:t> </a:t>
                      </a:r>
                      <a:r>
                        <a:rPr sz="1100" b="0" i="0">
                          <a:solidFill>
                            <a:srgbClr val="000000"/>
                          </a:solidFill>
                          <a:latin typeface="Calibri"/>
                        </a:rPr>
                        <a:t>Türkiye</a:t>
                      </a:r>
                      <a:endParaRPr sz="1100"/>
                    </a:p>
                  </a:txBody>
                  <a:tcPr marL="771525" marR="9525" marT="9525" marB="0" anchor="ctr"/>
                </a:tc>
              </a:tr>
              <a:tr h="175260">
                <a:tc>
                  <a:txBody>
                    <a:bodyPr wrap="square"/>
                    <a:lstStyle/>
                    <a:p>
                      <a:pPr algn="l"/>
                      <a:r>
                        <a:rPr sz="1100" b="0" i="0">
                          <a:solidFill>
                            <a:srgbClr val="000000"/>
                          </a:solidFill>
                          <a:latin typeface="Calibri"/>
                        </a:rPr>
                        <a:t>21.2.4.</a:t>
                      </a:r>
                      <a:r>
                        <a:rPr sz="700" b="0" i="0">
                          <a:solidFill>
                            <a:srgbClr val="000000"/>
                          </a:solidFill>
                          <a:latin typeface="Times New Roman"/>
                        </a:rPr>
                        <a:t> </a:t>
                      </a:r>
                      <a:r>
                        <a:rPr sz="1100" b="0" i="0">
                          <a:solidFill>
                            <a:srgbClr val="000000"/>
                          </a:solidFill>
                          <a:latin typeface="Calibri"/>
                        </a:rPr>
                        <a:t>South Africa</a:t>
                      </a:r>
                      <a:endParaRPr sz="1100"/>
                    </a:p>
                  </a:txBody>
                  <a:tcPr marL="771525" marR="9525" marT="9525" marB="0" anchor="ctr"/>
                </a:tc>
              </a:tr>
              <a:tr h="175260">
                <a:tc>
                  <a:txBody>
                    <a:bodyPr wrap="square"/>
                    <a:lstStyle/>
                    <a:p>
                      <a:pPr algn="l"/>
                      <a:r>
                        <a:rPr sz="1100" b="0" i="0">
                          <a:solidFill>
                            <a:srgbClr val="000000"/>
                          </a:solidFill>
                          <a:latin typeface="Calibri"/>
                        </a:rPr>
                        <a:t>21.2.5.</a:t>
                      </a:r>
                      <a:r>
                        <a:rPr sz="700" b="0" i="0">
                          <a:solidFill>
                            <a:srgbClr val="000000"/>
                          </a:solidFill>
                          <a:latin typeface="Times New Roman"/>
                        </a:rPr>
                        <a:t> </a:t>
                      </a:r>
                      <a:r>
                        <a:rPr sz="1100" b="0" i="0">
                          <a:solidFill>
                            <a:srgbClr val="000000"/>
                          </a:solidFill>
                          <a:latin typeface="Calibri"/>
                        </a:rPr>
                        <a:t>Other African Countries</a:t>
                      </a:r>
                      <a:endParaRPr sz="1100"/>
                    </a:p>
                  </a:txBody>
                  <a:tcPr marL="7715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Market Size by Segmentation Dimension</a:t>
                      </a:r>
                      <a:endParaRPr sz="1100"/>
                    </a:p>
                  </a:txBody>
                  <a:tcPr marL="428625" marR="9525" marT="9525" marB="0" anchor="ctr"/>
                </a:tc>
              </a:tr>
              <a:tr h="175260">
                <a:tc>
                  <a:txBody>
                    <a:bodyPr wrap="square"/>
                    <a:lstStyle/>
                    <a:p>
                      <a:pPr algn="l"/>
                      <a:r>
                        <a:rPr sz="1100" b="0" i="0">
                          <a:solidFill>
                            <a:srgbClr val="000000"/>
                          </a:solidFill>
                          <a:latin typeface="Calibri"/>
                        </a:rPr>
                        <a:t>21.3.1.</a:t>
                      </a:r>
                      <a:r>
                        <a:rPr sz="700" b="0" i="0">
                          <a:solidFill>
                            <a:srgbClr val="000000"/>
                          </a:solidFill>
                          <a:latin typeface="Times New Roman"/>
                        </a:rPr>
                        <a:t> </a:t>
                      </a:r>
                      <a:r>
                        <a:rPr sz="1100" b="0" i="0">
                          <a:solidFill>
                            <a:srgbClr val="000000"/>
                          </a:solidFill>
                          <a:latin typeface="Calibri"/>
                        </a:rPr>
                        <a:t>By Energy Storage Capacity</a:t>
                      </a:r>
                      <a:endParaRPr sz="1100"/>
                    </a:p>
                  </a:txBody>
                  <a:tcPr marL="771525" marR="9525" marT="9525" marB="0" anchor="ctr"/>
                </a:tc>
              </a:tr>
              <a:tr h="175260">
                <a:tc>
                  <a:txBody>
                    <a:bodyPr wrap="square"/>
                    <a:lstStyle/>
                    <a:p>
                      <a:pPr algn="l"/>
                      <a:r>
                        <a:rPr sz="1100" b="0" i="0">
                          <a:solidFill>
                            <a:srgbClr val="000000"/>
                          </a:solidFill>
                          <a:latin typeface="Calibri"/>
                        </a:rPr>
                        <a:t>21.3.2.</a:t>
                      </a:r>
                      <a:r>
                        <a:rPr sz="700" b="0" i="0">
                          <a:solidFill>
                            <a:srgbClr val="000000"/>
                          </a:solidFill>
                          <a:latin typeface="Times New Roman"/>
                        </a:rPr>
                        <a:t> </a:t>
                      </a:r>
                      <a:r>
                        <a:rPr sz="1100" b="0" i="0">
                          <a:solidFill>
                            <a:srgbClr val="000000"/>
                          </a:solidFill>
                          <a:latin typeface="Calibri"/>
                        </a:rPr>
                        <a:t>By Battery Chemistry</a:t>
                      </a:r>
                      <a:endParaRPr sz="1100"/>
                    </a:p>
                  </a:txBody>
                  <a:tcPr marL="771525" marR="9525" marT="9525" marB="0" anchor="ctr"/>
                </a:tc>
              </a:tr>
              <a:tr h="175260">
                <a:tc>
                  <a:txBody>
                    <a:bodyPr wrap="square"/>
                    <a:lstStyle/>
                    <a:p>
                      <a:pPr algn="l"/>
                      <a:r>
                        <a:rPr sz="1100" b="0" i="0">
                          <a:solidFill>
                            <a:srgbClr val="000000"/>
                          </a:solidFill>
                          <a:latin typeface="Calibri"/>
                        </a:rPr>
                        <a:t>21.3.3.</a:t>
                      </a:r>
                      <a:r>
                        <a:rPr sz="700" b="0" i="0">
                          <a:solidFill>
                            <a:srgbClr val="000000"/>
                          </a:solidFill>
                          <a:latin typeface="Times New Roman"/>
                        </a:rPr>
                        <a:t> </a:t>
                      </a:r>
                      <a:r>
                        <a:rPr sz="1100" b="0" i="0">
                          <a:solidFill>
                            <a:srgbClr val="000000"/>
                          </a:solidFill>
                          <a:latin typeface="Calibri"/>
                        </a:rPr>
                        <a:t>By Battery Configuration</a:t>
                      </a:r>
                      <a:endParaRPr sz="1100"/>
                    </a:p>
                  </a:txBody>
                  <a:tcPr marL="771525" marR="9525" marT="9525" marB="0" anchor="ctr"/>
                </a:tc>
              </a:tr>
              <a:tr h="175260">
                <a:tc>
                  <a:txBody>
                    <a:bodyPr wrap="square"/>
                    <a:lstStyle/>
                    <a:p>
                      <a:pPr algn="l"/>
                      <a:r>
                        <a:rPr sz="1100" b="0" i="0">
                          <a:solidFill>
                            <a:srgbClr val="000000"/>
                          </a:solidFill>
                          <a:latin typeface="Calibri"/>
                        </a:rPr>
                        <a:t>21.3.4.</a:t>
                      </a:r>
                      <a:r>
                        <a:rPr sz="700" b="0" i="0">
                          <a:solidFill>
                            <a:srgbClr val="000000"/>
                          </a:solidFill>
                          <a:latin typeface="Times New Roman"/>
                        </a:rPr>
                        <a:t> </a:t>
                      </a:r>
                      <a:r>
                        <a:rPr sz="1100" b="0" i="0">
                          <a:solidFill>
                            <a:srgbClr val="000000"/>
                          </a:solidFill>
                          <a:latin typeface="Calibri"/>
                        </a:rPr>
                        <a:t>By System Application</a:t>
                      </a:r>
                      <a:endParaRPr sz="1100"/>
                    </a:p>
                  </a:txBody>
                  <a:tcPr marL="771525" marR="9525" marT="9525" marB="0" anchor="ctr"/>
                </a:tc>
              </a:tr>
              <a:tr h="175260">
                <a:tc>
                  <a:txBody>
                    <a:bodyPr wrap="square"/>
                    <a:lstStyle/>
                    <a:p>
                      <a:pPr algn="l"/>
                      <a:r>
                        <a:rPr sz="1100" b="0" i="0">
                          <a:solidFill>
                            <a:srgbClr val="000000"/>
                          </a:solidFill>
                          <a:latin typeface="Calibri"/>
                        </a:rPr>
                        <a:t>21.3.5.</a:t>
                      </a:r>
                      <a:r>
                        <a:rPr sz="700" b="0" i="0">
                          <a:solidFill>
                            <a:srgbClr val="000000"/>
                          </a:solidFill>
                          <a:latin typeface="Times New Roman"/>
                        </a:rPr>
                        <a:t> </a:t>
                      </a:r>
                      <a:r>
                        <a:rPr sz="1100" b="0" i="0">
                          <a:solidFill>
                            <a:srgbClr val="000000"/>
                          </a:solidFill>
                          <a:latin typeface="Calibri"/>
                        </a:rPr>
                        <a:t>By Output Power Rating</a:t>
                      </a:r>
                      <a:endParaRPr sz="1100"/>
                    </a:p>
                  </a:txBody>
                  <a:tcPr marL="771525" marR="9525" marT="9525" marB="0" anchor="ctr"/>
                </a:tc>
              </a:tr>
              <a:tr h="175260">
                <a:tc>
                  <a:txBody>
                    <a:bodyPr wrap="square"/>
                    <a:lstStyle/>
                    <a:p>
                      <a:pPr algn="l"/>
                      <a:r>
                        <a:rPr sz="1100" b="0" i="0">
                          <a:solidFill>
                            <a:srgbClr val="000000"/>
                          </a:solidFill>
                          <a:latin typeface="Calibri"/>
                        </a:rPr>
                        <a:t>21.3.6.</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21.3.7.</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Country and Segment Market Attractiveness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Country-Level Market Analysis and Forecast</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Country Share of Global Market Value (%)</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Country Growth and Opportunity Comparison</a:t>
                      </a:r>
                      <a:endParaRPr sz="1100"/>
                    </a:p>
                  </a:txBody>
                  <a:tcPr marL="4286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United States Deep Dive: Capacity, Chemistry, Application, Architecture and Distribution</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Same analysis will be provided for each of the countries mentioned below.</a:t>
                      </a:r>
                      <a:endParaRPr sz="1100"/>
                    </a:p>
                  </a:txBody>
                  <a:tcPr marL="4286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Canada Market Analysis</a:t>
                      </a:r>
                      <a:endParaRPr sz="1100"/>
                    </a:p>
                  </a:txBody>
                  <a:tcPr marL="4286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Mexico Market Analysis</a:t>
                      </a:r>
                      <a:endParaRPr sz="1100"/>
                    </a:p>
                  </a:txBody>
                  <a:tcPr marL="4286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Brazil Market Analysis</a:t>
                      </a:r>
                      <a:endParaRPr sz="1100"/>
                    </a:p>
                  </a:txBody>
                  <a:tcPr marL="4286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Chile Market Analysis</a:t>
                      </a:r>
                      <a:endParaRPr sz="1100"/>
                    </a:p>
                  </a:txBody>
                  <a:tcPr marL="428625" marR="9525" marT="9525" marB="0" anchor="ctr"/>
                </a:tc>
              </a:tr>
              <a:tr h="175260">
                <a:tc>
                  <a:txBody>
                    <a:bodyPr wrap="square"/>
                    <a:lstStyle/>
                    <a:p>
                      <a:pPr algn="l"/>
                      <a:r>
                        <a:rPr sz="1100" b="0" i="0">
                          <a:solidFill>
                            <a:srgbClr val="0070C0"/>
                          </a:solidFill>
                          <a:latin typeface="Calibri"/>
                        </a:rPr>
                        <a:t>22.9.</a:t>
                      </a:r>
                      <a:r>
                        <a:rPr sz="700" b="0" i="0">
                          <a:solidFill>
                            <a:srgbClr val="0070C0"/>
                          </a:solidFill>
                          <a:latin typeface="Times New Roman"/>
                        </a:rPr>
                        <a:t> </a:t>
                      </a:r>
                      <a:r>
                        <a:rPr sz="1100" b="0" i="0">
                          <a:solidFill>
                            <a:srgbClr val="0070C0"/>
                          </a:solidFill>
                          <a:latin typeface="Calibri"/>
                        </a:rPr>
                        <a:t>Rest of Latin America Market Analysis</a:t>
                      </a:r>
                      <a:endParaRPr sz="1100"/>
                    </a:p>
                  </a:txBody>
                  <a:tcPr marL="428625" marR="9525" marT="9525" marB="0" anchor="ctr"/>
                </a:tc>
              </a:tr>
              <a:tr h="175260">
                <a:tc>
                  <a:txBody>
                    <a:bodyPr wrap="square"/>
                    <a:lstStyle/>
                    <a:p>
                      <a:pPr algn="l"/>
                      <a:r>
                        <a:rPr sz="1100" b="0" i="0">
                          <a:solidFill>
                            <a:srgbClr val="0070C0"/>
                          </a:solidFill>
                          <a:latin typeface="Calibri"/>
                        </a:rPr>
                        <a:t>22.10.</a:t>
                      </a:r>
                      <a:r>
                        <a:rPr sz="700" b="0" i="0">
                          <a:solidFill>
                            <a:srgbClr val="0070C0"/>
                          </a:solidFill>
                          <a:latin typeface="Times New Roman"/>
                        </a:rPr>
                        <a:t> </a:t>
                      </a:r>
                      <a:r>
                        <a:rPr sz="1100" b="0" i="0">
                          <a:solidFill>
                            <a:srgbClr val="0070C0"/>
                          </a:solidFill>
                          <a:latin typeface="Calibri"/>
                        </a:rPr>
                        <a:t>Germany Market Analysis</a:t>
                      </a:r>
                      <a:endParaRPr sz="1100"/>
                    </a:p>
                  </a:txBody>
                  <a:tcPr marL="428625" marR="9525" marT="9525" marB="0" anchor="ctr"/>
                </a:tc>
              </a:tr>
              <a:tr h="175260">
                <a:tc>
                  <a:txBody>
                    <a:bodyPr wrap="square"/>
                    <a:lstStyle/>
                    <a:p>
                      <a:pPr algn="l"/>
                      <a:r>
                        <a:rPr sz="1100" b="0" i="0">
                          <a:solidFill>
                            <a:srgbClr val="0070C0"/>
                          </a:solidFill>
                          <a:latin typeface="Calibri"/>
                        </a:rPr>
                        <a:t>22.11.</a:t>
                      </a:r>
                      <a:r>
                        <a:rPr sz="700" b="0" i="0">
                          <a:solidFill>
                            <a:srgbClr val="0070C0"/>
                          </a:solidFill>
                          <a:latin typeface="Times New Roman"/>
                        </a:rPr>
                        <a:t> </a:t>
                      </a:r>
                      <a:r>
                        <a:rPr sz="1100" b="0" i="0">
                          <a:solidFill>
                            <a:srgbClr val="0070C0"/>
                          </a:solidFill>
                          <a:latin typeface="Calibri"/>
                        </a:rPr>
                        <a:t>Italy Market Analysis</a:t>
                      </a:r>
                      <a:endParaRPr sz="1100"/>
                    </a:p>
                  </a:txBody>
                  <a:tcPr marL="428625" marR="9525" marT="9525" marB="0" anchor="ctr"/>
                </a:tc>
              </a:tr>
              <a:tr h="175260">
                <a:tc>
                  <a:txBody>
                    <a:bodyPr wrap="square"/>
                    <a:lstStyle/>
                    <a:p>
                      <a:pPr algn="l"/>
                      <a:r>
                        <a:rPr sz="1100" b="0" i="0">
                          <a:solidFill>
                            <a:srgbClr val="0070C0"/>
                          </a:solidFill>
                          <a:latin typeface="Calibri"/>
                        </a:rPr>
                        <a:t>22.12.</a:t>
                      </a:r>
                      <a:r>
                        <a:rPr sz="700" b="0" i="0">
                          <a:solidFill>
                            <a:srgbClr val="0070C0"/>
                          </a:solidFill>
                          <a:latin typeface="Times New Roman"/>
                        </a:rPr>
                        <a:t> </a:t>
                      </a:r>
                      <a:r>
                        <a:rPr sz="1100" b="0" i="0">
                          <a:solidFill>
                            <a:srgbClr val="0070C0"/>
                          </a:solidFill>
                          <a:latin typeface="Calibri"/>
                        </a:rPr>
                        <a:t>France Market Analysis</a:t>
                      </a:r>
                      <a:endParaRPr sz="1100"/>
                    </a:p>
                  </a:txBody>
                  <a:tcPr marL="428625" marR="9525" marT="9525" marB="0" anchor="ctr"/>
                </a:tc>
              </a:tr>
              <a:tr h="175260">
                <a:tc>
                  <a:txBody>
                    <a:bodyPr wrap="square"/>
                    <a:lstStyle/>
                    <a:p>
                      <a:pPr algn="l"/>
                      <a:r>
                        <a:rPr sz="1100" b="0" i="0">
                          <a:solidFill>
                            <a:srgbClr val="0070C0"/>
                          </a:solidFill>
                          <a:latin typeface="Calibri"/>
                        </a:rPr>
                        <a:t>22.13.</a:t>
                      </a:r>
                      <a:r>
                        <a:rPr sz="700" b="0" i="0">
                          <a:solidFill>
                            <a:srgbClr val="0070C0"/>
                          </a:solidFill>
                          <a:latin typeface="Times New Roman"/>
                        </a:rPr>
                        <a:t> </a:t>
                      </a:r>
                      <a:r>
                        <a:rPr sz="1100" b="0" i="0">
                          <a:solidFill>
                            <a:srgbClr val="0070C0"/>
                          </a:solidFill>
                          <a:latin typeface="Calibri"/>
                        </a:rPr>
                        <a:t>United Kingdom Market Analysis</a:t>
                      </a:r>
                      <a:endParaRPr sz="1100"/>
                    </a:p>
                  </a:txBody>
                  <a:tcPr marL="428625" marR="9525" marT="9525" marB="0" anchor="ctr"/>
                </a:tc>
              </a:tr>
              <a:tr h="175260">
                <a:tc>
                  <a:txBody>
                    <a:bodyPr wrap="square"/>
                    <a:lstStyle/>
                    <a:p>
                      <a:pPr algn="l"/>
                      <a:r>
                        <a:rPr sz="1100" b="0" i="0">
                          <a:solidFill>
                            <a:srgbClr val="0070C0"/>
                          </a:solidFill>
                          <a:latin typeface="Calibri"/>
                        </a:rPr>
                        <a:t>22.14.</a:t>
                      </a:r>
                      <a:r>
                        <a:rPr sz="700" b="0" i="0">
                          <a:solidFill>
                            <a:srgbClr val="0070C0"/>
                          </a:solidFill>
                          <a:latin typeface="Times New Roman"/>
                        </a:rPr>
                        <a:t> </a:t>
                      </a:r>
                      <a:r>
                        <a:rPr sz="1100" b="0" i="0">
                          <a:solidFill>
                            <a:srgbClr val="0070C0"/>
                          </a:solidFill>
                          <a:latin typeface="Calibri"/>
                        </a:rPr>
                        <a:t>Spain Market Analysis</a:t>
                      </a:r>
                      <a:endParaRPr sz="1100"/>
                    </a:p>
                  </a:txBody>
                  <a:tcPr marL="428625" marR="9525" marT="9525" marB="0" anchor="ctr"/>
                </a:tc>
              </a:tr>
              <a:tr h="175260">
                <a:tc>
                  <a:txBody>
                    <a:bodyPr wrap="square"/>
                    <a:lstStyle/>
                    <a:p>
                      <a:pPr algn="l"/>
                      <a:r>
                        <a:rPr sz="1100" b="0" i="0">
                          <a:solidFill>
                            <a:srgbClr val="0070C0"/>
                          </a:solidFill>
                          <a:latin typeface="Calibri"/>
                        </a:rPr>
                        <a:t>22.15.</a:t>
                      </a:r>
                      <a:r>
                        <a:rPr sz="700" b="0" i="0">
                          <a:solidFill>
                            <a:srgbClr val="0070C0"/>
                          </a:solidFill>
                          <a:latin typeface="Times New Roman"/>
                        </a:rPr>
                        <a:t> </a:t>
                      </a:r>
                      <a:r>
                        <a:rPr sz="1100" b="0" i="0">
                          <a:solidFill>
                            <a:srgbClr val="0070C0"/>
                          </a:solidFill>
                          <a:latin typeface="Calibri"/>
                        </a:rPr>
                        <a:t>BENELUX Market Analysis</a:t>
                      </a:r>
                      <a:endParaRPr sz="1100"/>
                    </a:p>
                  </a:txBody>
                  <a:tcPr marL="428625" marR="9525" marT="9525" marB="0" anchor="ctr"/>
                </a:tc>
              </a:tr>
              <a:tr h="175260">
                <a:tc>
                  <a:txBody>
                    <a:bodyPr wrap="square"/>
                    <a:lstStyle/>
                    <a:p>
                      <a:pPr algn="l"/>
                      <a:r>
                        <a:rPr sz="1100" b="0" i="0">
                          <a:solidFill>
                            <a:srgbClr val="0070C0"/>
                          </a:solidFill>
                          <a:latin typeface="Calibri"/>
                        </a:rPr>
                        <a:t>22.16.</a:t>
                      </a:r>
                      <a:r>
                        <a:rPr sz="700" b="0" i="0">
                          <a:solidFill>
                            <a:srgbClr val="0070C0"/>
                          </a:solidFill>
                          <a:latin typeface="Times New Roman"/>
                        </a:rPr>
                        <a:t> </a:t>
                      </a:r>
                      <a:r>
                        <a:rPr sz="1100" b="0" i="0">
                          <a:solidFill>
                            <a:srgbClr val="0070C0"/>
                          </a:solidFill>
                          <a:latin typeface="Calibri"/>
                        </a:rPr>
                        <a:t>Nordic Countries Market Analysis</a:t>
                      </a:r>
                      <a:endParaRPr sz="1100"/>
                    </a:p>
                  </a:txBody>
                  <a:tcPr marL="428625" marR="9525" marT="9525" marB="0" anchor="ctr"/>
                </a:tc>
              </a:tr>
              <a:tr h="175260">
                <a:tc>
                  <a:txBody>
                    <a:bodyPr wrap="square"/>
                    <a:lstStyle/>
                    <a:p>
                      <a:pPr algn="l"/>
                      <a:r>
                        <a:rPr sz="1100" b="0" i="0">
                          <a:solidFill>
                            <a:srgbClr val="0070C0"/>
                          </a:solidFill>
                          <a:latin typeface="Calibri"/>
                        </a:rPr>
                        <a:t>22.17.</a:t>
                      </a:r>
                      <a:r>
                        <a:rPr sz="700" b="0" i="0">
                          <a:solidFill>
                            <a:srgbClr val="0070C0"/>
                          </a:solidFill>
                          <a:latin typeface="Times New Roman"/>
                        </a:rPr>
                        <a:t> </a:t>
                      </a:r>
                      <a:r>
                        <a:rPr sz="1100" b="0" i="0">
                          <a:solidFill>
                            <a:srgbClr val="0070C0"/>
                          </a:solidFill>
                          <a:latin typeface="Calibri"/>
                        </a:rPr>
                        <a:t>Rest of Western Europe Market Analysis</a:t>
                      </a:r>
                      <a:endParaRPr sz="1100"/>
                    </a:p>
                  </a:txBody>
                  <a:tcPr marL="428625" marR="9525" marT="9525" marB="0" anchor="ctr"/>
                </a:tc>
              </a:tr>
              <a:tr h="175260">
                <a:tc>
                  <a:txBody>
                    <a:bodyPr wrap="square"/>
                    <a:lstStyle/>
                    <a:p>
                      <a:pPr algn="l"/>
                      <a:r>
                        <a:rPr sz="1100" b="0" i="0">
                          <a:solidFill>
                            <a:srgbClr val="0070C0"/>
                          </a:solidFill>
                          <a:latin typeface="Calibri"/>
                        </a:rPr>
                        <a:t>22.18.</a:t>
                      </a:r>
                      <a:r>
                        <a:rPr sz="700" b="0" i="0">
                          <a:solidFill>
                            <a:srgbClr val="0070C0"/>
                          </a:solidFill>
                          <a:latin typeface="Times New Roman"/>
                        </a:rPr>
                        <a:t> </a:t>
                      </a:r>
                      <a:r>
                        <a:rPr sz="1100" b="0" i="0">
                          <a:solidFill>
                            <a:srgbClr val="0070C0"/>
                          </a:solidFill>
                          <a:latin typeface="Calibri"/>
                        </a:rPr>
                        <a:t>Russia Market Analysis</a:t>
                      </a:r>
                      <a:endParaRPr sz="1100"/>
                    </a:p>
                  </a:txBody>
                  <a:tcPr marL="428625" marR="9525" marT="9525" marB="0" anchor="ctr"/>
                </a:tc>
              </a:tr>
              <a:tr h="175260">
                <a:tc>
                  <a:txBody>
                    <a:bodyPr wrap="square"/>
                    <a:lstStyle/>
                    <a:p>
                      <a:pPr algn="l"/>
                      <a:r>
                        <a:rPr sz="1100" b="0" i="0">
                          <a:solidFill>
                            <a:srgbClr val="0070C0"/>
                          </a:solidFill>
                          <a:latin typeface="Calibri"/>
                        </a:rPr>
                        <a:t>22.19.</a:t>
                      </a:r>
                      <a:r>
                        <a:rPr sz="700" b="0" i="0">
                          <a:solidFill>
                            <a:srgbClr val="0070C0"/>
                          </a:solidFill>
                          <a:latin typeface="Times New Roman"/>
                        </a:rPr>
                        <a:t> </a:t>
                      </a:r>
                      <a:r>
                        <a:rPr sz="1100" b="0" i="0">
                          <a:solidFill>
                            <a:srgbClr val="0070C0"/>
                          </a:solidFill>
                          <a:latin typeface="Calibri"/>
                        </a:rPr>
                        <a:t>Hungary Market Analysis</a:t>
                      </a:r>
                      <a:endParaRPr sz="1100"/>
                    </a:p>
                  </a:txBody>
                  <a:tcPr marL="428625" marR="9525" marT="9525" marB="0" anchor="ctr"/>
                </a:tc>
              </a:tr>
              <a:tr h="175260">
                <a:tc>
                  <a:txBody>
                    <a:bodyPr wrap="square"/>
                    <a:lstStyle/>
                    <a:p>
                      <a:pPr algn="l"/>
                      <a:r>
                        <a:rPr sz="1100" b="0" i="0">
                          <a:solidFill>
                            <a:srgbClr val="0070C0"/>
                          </a:solidFill>
                          <a:latin typeface="Calibri"/>
                        </a:rPr>
                        <a:t>22.20.</a:t>
                      </a:r>
                      <a:r>
                        <a:rPr sz="700" b="0" i="0">
                          <a:solidFill>
                            <a:srgbClr val="0070C0"/>
                          </a:solidFill>
                          <a:latin typeface="Times New Roman"/>
                        </a:rPr>
                        <a:t> </a:t>
                      </a:r>
                      <a:r>
                        <a:rPr sz="1100" b="0" i="0">
                          <a:solidFill>
                            <a:srgbClr val="0070C0"/>
                          </a:solidFill>
                          <a:latin typeface="Calibri"/>
                        </a:rPr>
                        <a:t>Poland Market Analysis</a:t>
                      </a:r>
                      <a:endParaRPr sz="1100"/>
                    </a:p>
                  </a:txBody>
                  <a:tcPr marL="428625" marR="9525" marT="9525" marB="0" anchor="ctr"/>
                </a:tc>
              </a:tr>
              <a:tr h="175260">
                <a:tc>
                  <a:txBody>
                    <a:bodyPr wrap="square"/>
                    <a:lstStyle/>
                    <a:p>
                      <a:pPr algn="l"/>
                      <a:r>
                        <a:rPr sz="1100" b="0" i="0">
                          <a:solidFill>
                            <a:srgbClr val="0070C0"/>
                          </a:solidFill>
                          <a:latin typeface="Calibri"/>
                        </a:rPr>
                        <a:t>22.21.</a:t>
                      </a:r>
                      <a:r>
                        <a:rPr sz="700" b="0" i="0">
                          <a:solidFill>
                            <a:srgbClr val="0070C0"/>
                          </a:solidFill>
                          <a:latin typeface="Times New Roman"/>
                        </a:rPr>
                        <a:t> </a:t>
                      </a:r>
                      <a:r>
                        <a:rPr sz="1100" b="0" i="0">
                          <a:solidFill>
                            <a:srgbClr val="0070C0"/>
                          </a:solidFill>
                          <a:latin typeface="Calibri"/>
                        </a:rPr>
                        <a:t>Balkan &amp; Baltic Countries Market Analysis</a:t>
                      </a:r>
                      <a:endParaRPr sz="1100"/>
                    </a:p>
                  </a:txBody>
                  <a:tcPr marL="428625" marR="9525" marT="9525" marB="0" anchor="ctr"/>
                </a:tc>
              </a:tr>
              <a:tr h="175260">
                <a:tc>
                  <a:txBody>
                    <a:bodyPr wrap="square"/>
                    <a:lstStyle/>
                    <a:p>
                      <a:pPr algn="l"/>
                      <a:r>
                        <a:rPr sz="1100" b="0" i="0">
                          <a:solidFill>
                            <a:srgbClr val="0070C0"/>
                          </a:solidFill>
                          <a:latin typeface="Calibri"/>
                        </a:rPr>
                        <a:t>22.22.</a:t>
                      </a:r>
                      <a:r>
                        <a:rPr sz="700" b="0" i="0">
                          <a:solidFill>
                            <a:srgbClr val="0070C0"/>
                          </a:solidFill>
                          <a:latin typeface="Times New Roman"/>
                        </a:rPr>
                        <a:t> </a:t>
                      </a:r>
                      <a:r>
                        <a:rPr sz="1100" b="0" i="0">
                          <a:solidFill>
                            <a:srgbClr val="0070C0"/>
                          </a:solidFill>
                          <a:latin typeface="Calibri"/>
                        </a:rPr>
                        <a:t>Rest of Eastern Europe Market Analysis</a:t>
                      </a:r>
                      <a:endParaRPr sz="1100"/>
                    </a:p>
                  </a:txBody>
                  <a:tcPr marL="428625" marR="9525" marT="9525" marB="0" anchor="ctr"/>
                </a:tc>
              </a:tr>
              <a:tr h="175260">
                <a:tc>
                  <a:txBody>
                    <a:bodyPr wrap="square"/>
                    <a:lstStyle/>
                    <a:p>
                      <a:pPr algn="l"/>
                      <a:r>
                        <a:rPr sz="1100" b="0" i="0">
                          <a:solidFill>
                            <a:srgbClr val="0070C0"/>
                          </a:solidFill>
                          <a:latin typeface="Calibri"/>
                        </a:rPr>
                        <a:t>22.23.</a:t>
                      </a:r>
                      <a:r>
                        <a:rPr sz="700" b="0" i="0">
                          <a:solidFill>
                            <a:srgbClr val="0070C0"/>
                          </a:solidFill>
                          <a:latin typeface="Times New Roman"/>
                        </a:rPr>
                        <a:t> </a:t>
                      </a:r>
                      <a:r>
                        <a:rPr sz="1100" b="0" i="0">
                          <a:solidFill>
                            <a:srgbClr val="0070C0"/>
                          </a:solidFill>
                          <a:latin typeface="Calibri"/>
                        </a:rPr>
                        <a:t>China Market Analysis</a:t>
                      </a:r>
                      <a:endParaRPr sz="1100"/>
                    </a:p>
                  </a:txBody>
                  <a:tcPr marL="428625" marR="9525" marT="9525" marB="0" anchor="ctr"/>
                </a:tc>
              </a:tr>
              <a:tr h="175260">
                <a:tc>
                  <a:txBody>
                    <a:bodyPr wrap="square"/>
                    <a:lstStyle/>
                    <a:p>
                      <a:pPr algn="l"/>
                      <a:r>
                        <a:rPr sz="1100" b="0" i="0">
                          <a:solidFill>
                            <a:srgbClr val="0070C0"/>
                          </a:solidFill>
                          <a:latin typeface="Calibri"/>
                        </a:rPr>
                        <a:t>22.24.</a:t>
                      </a:r>
                      <a:r>
                        <a:rPr sz="700" b="0" i="0">
                          <a:solidFill>
                            <a:srgbClr val="0070C0"/>
                          </a:solidFill>
                          <a:latin typeface="Times New Roman"/>
                        </a:rPr>
                        <a:t> </a:t>
                      </a:r>
                      <a:r>
                        <a:rPr sz="1100" b="0" i="0">
                          <a:solidFill>
                            <a:srgbClr val="0070C0"/>
                          </a:solidFill>
                          <a:latin typeface="Calibri"/>
                        </a:rPr>
                        <a:t>Japan Market Analysis</a:t>
                      </a:r>
                      <a:endParaRPr sz="1100"/>
                    </a:p>
                  </a:txBody>
                  <a:tcPr marL="428625" marR="9525" marT="9525" marB="0" anchor="ctr"/>
                </a:tc>
              </a:tr>
              <a:tr h="175260">
                <a:tc>
                  <a:txBody>
                    <a:bodyPr wrap="square"/>
                    <a:lstStyle/>
                    <a:p>
                      <a:pPr algn="l"/>
                      <a:r>
                        <a:rPr sz="1100" b="0" i="0">
                          <a:solidFill>
                            <a:srgbClr val="0070C0"/>
                          </a:solidFill>
                          <a:latin typeface="Calibri"/>
                        </a:rPr>
                        <a:t>22.25.</a:t>
                      </a:r>
                      <a:r>
                        <a:rPr sz="700" b="0" i="0">
                          <a:solidFill>
                            <a:srgbClr val="0070C0"/>
                          </a:solidFill>
                          <a:latin typeface="Times New Roman"/>
                        </a:rPr>
                        <a:t> </a:t>
                      </a:r>
                      <a:r>
                        <a:rPr sz="1100" b="0" i="0">
                          <a:solidFill>
                            <a:srgbClr val="0070C0"/>
                          </a:solidFill>
                          <a:latin typeface="Calibri"/>
                        </a:rPr>
                        <a:t>South Korea Market Analysis</a:t>
                      </a:r>
                      <a:endParaRPr sz="1100"/>
                    </a:p>
                  </a:txBody>
                  <a:tcPr marL="428625" marR="9525" marT="9525" marB="0" anchor="ctr"/>
                </a:tc>
              </a:tr>
              <a:tr h="175260">
                <a:tc>
                  <a:txBody>
                    <a:bodyPr wrap="square"/>
                    <a:lstStyle/>
                    <a:p>
                      <a:pPr algn="l"/>
                      <a:r>
                        <a:rPr sz="1100" b="0" i="0">
                          <a:solidFill>
                            <a:srgbClr val="0070C0"/>
                          </a:solidFill>
                          <a:latin typeface="Calibri"/>
                        </a:rPr>
                        <a:t>22.26.</a:t>
                      </a:r>
                      <a:r>
                        <a:rPr sz="700" b="0" i="0">
                          <a:solidFill>
                            <a:srgbClr val="0070C0"/>
                          </a:solidFill>
                          <a:latin typeface="Times New Roman"/>
                        </a:rPr>
                        <a:t> </a:t>
                      </a:r>
                      <a:r>
                        <a:rPr sz="1100" b="0" i="0">
                          <a:solidFill>
                            <a:srgbClr val="0070C0"/>
                          </a:solidFill>
                          <a:latin typeface="Calibri"/>
                        </a:rPr>
                        <a:t>India Market Analysis</a:t>
                      </a:r>
                      <a:endParaRPr sz="1100"/>
                    </a:p>
                  </a:txBody>
                  <a:tcPr marL="428625" marR="9525" marT="9525" marB="0" anchor="ctr"/>
                </a:tc>
              </a:tr>
              <a:tr h="175260">
                <a:tc>
                  <a:txBody>
                    <a:bodyPr wrap="square"/>
                    <a:lstStyle/>
                    <a:p>
                      <a:pPr algn="l"/>
                      <a:r>
                        <a:rPr sz="1100" b="0" i="0">
                          <a:solidFill>
                            <a:srgbClr val="0070C0"/>
                          </a:solidFill>
                          <a:latin typeface="Calibri"/>
                        </a:rPr>
                        <a:t>22.27.</a:t>
                      </a:r>
                      <a:r>
                        <a:rPr sz="700" b="0" i="0">
                          <a:solidFill>
                            <a:srgbClr val="0070C0"/>
                          </a:solidFill>
                          <a:latin typeface="Times New Roman"/>
                        </a:rPr>
                        <a:t> </a:t>
                      </a:r>
                      <a:r>
                        <a:rPr sz="1100" b="0" i="0">
                          <a:solidFill>
                            <a:srgbClr val="0070C0"/>
                          </a:solidFill>
                          <a:latin typeface="Calibri"/>
                        </a:rPr>
                        <a:t>ASEAN Market Analysis</a:t>
                      </a:r>
                      <a:endParaRPr sz="1100"/>
                    </a:p>
                  </a:txBody>
                  <a:tcPr marL="428625" marR="9525" marT="9525" marB="0" anchor="ctr"/>
                </a:tc>
              </a:tr>
              <a:tr h="175260">
                <a:tc>
                  <a:txBody>
                    <a:bodyPr wrap="square"/>
                    <a:lstStyle/>
                    <a:p>
                      <a:pPr algn="l"/>
                      <a:r>
                        <a:rPr sz="1100" b="0" i="0">
                          <a:solidFill>
                            <a:srgbClr val="0070C0"/>
                          </a:solidFill>
                          <a:latin typeface="Calibri"/>
                        </a:rPr>
                        <a:t>22.28.</a:t>
                      </a:r>
                      <a:r>
                        <a:rPr sz="700" b="0" i="0">
                          <a:solidFill>
                            <a:srgbClr val="0070C0"/>
                          </a:solidFill>
                          <a:latin typeface="Times New Roman"/>
                        </a:rPr>
                        <a:t> </a:t>
                      </a:r>
                      <a:r>
                        <a:rPr sz="1100" b="0" i="0">
                          <a:solidFill>
                            <a:srgbClr val="0070C0"/>
                          </a:solidFill>
                          <a:latin typeface="Calibri"/>
                        </a:rPr>
                        <a:t>Australia &amp; New Zealand Market Analysis</a:t>
                      </a:r>
                      <a:endParaRPr sz="1100"/>
                    </a:p>
                  </a:txBody>
                  <a:tcPr marL="428625" marR="9525" marT="9525" marB="0" anchor="ctr"/>
                </a:tc>
              </a:tr>
              <a:tr h="175260">
                <a:tc>
                  <a:txBody>
                    <a:bodyPr wrap="square"/>
                    <a:lstStyle/>
                    <a:p>
                      <a:pPr algn="l"/>
                      <a:r>
                        <a:rPr sz="1100" b="0" i="0">
                          <a:solidFill>
                            <a:srgbClr val="0070C0"/>
                          </a:solidFill>
                          <a:latin typeface="Calibri"/>
                        </a:rPr>
                        <a:t>22.29.</a:t>
                      </a:r>
                      <a:r>
                        <a:rPr sz="700" b="0" i="0">
                          <a:solidFill>
                            <a:srgbClr val="0070C0"/>
                          </a:solidFill>
                          <a:latin typeface="Times New Roman"/>
                        </a:rPr>
                        <a:t> </a:t>
                      </a:r>
                      <a:r>
                        <a:rPr sz="1100" b="0" i="0">
                          <a:solidFill>
                            <a:srgbClr val="0070C0"/>
                          </a:solidFill>
                          <a:latin typeface="Calibri"/>
                        </a:rPr>
                        <a:t>Rest of South Asia &amp; Pacific Market Analysis</a:t>
                      </a:r>
                      <a:endParaRPr sz="1100"/>
                    </a:p>
                  </a:txBody>
                  <a:tcPr marL="428625" marR="9525" marT="9525" marB="0" anchor="ctr"/>
                </a:tc>
              </a:tr>
              <a:tr h="175260">
                <a:tc>
                  <a:txBody>
                    <a:bodyPr wrap="square"/>
                    <a:lstStyle/>
                    <a:p>
                      <a:pPr algn="l"/>
                      <a:r>
                        <a:rPr sz="1100" b="0" i="0">
                          <a:solidFill>
                            <a:srgbClr val="0070C0"/>
                          </a:solidFill>
                          <a:latin typeface="Calibri"/>
                        </a:rPr>
                        <a:t>22.30.</a:t>
                      </a:r>
                      <a:r>
                        <a:rPr sz="700" b="0" i="0">
                          <a:solidFill>
                            <a:srgbClr val="0070C0"/>
                          </a:solidFill>
                          <a:latin typeface="Times New Roman"/>
                        </a:rPr>
                        <a:t> </a:t>
                      </a:r>
                      <a:r>
                        <a:rPr sz="1100" b="0" i="0">
                          <a:solidFill>
                            <a:srgbClr val="0070C0"/>
                          </a:solidFill>
                          <a:latin typeface="Calibri"/>
                        </a:rPr>
                        <a:t>Kingdom of Saudi Arabia Market Analysis</a:t>
                      </a:r>
                      <a:endParaRPr sz="1100"/>
                    </a:p>
                  </a:txBody>
                  <a:tcPr marL="428625" marR="9525" marT="9525" marB="0" anchor="ctr"/>
                </a:tc>
              </a:tr>
              <a:tr h="175260">
                <a:tc>
                  <a:txBody>
                    <a:bodyPr wrap="square"/>
                    <a:lstStyle/>
                    <a:p>
                      <a:pPr algn="l"/>
                      <a:r>
                        <a:rPr sz="1100" b="0" i="0">
                          <a:solidFill>
                            <a:srgbClr val="0070C0"/>
                          </a:solidFill>
                          <a:latin typeface="Calibri"/>
                        </a:rPr>
                        <a:t>22.31.</a:t>
                      </a:r>
                      <a:r>
                        <a:rPr sz="700" b="0" i="0">
                          <a:solidFill>
                            <a:srgbClr val="0070C0"/>
                          </a:solidFill>
                          <a:latin typeface="Times New Roman"/>
                        </a:rPr>
                        <a:t> </a:t>
                      </a:r>
                      <a:r>
                        <a:rPr sz="1100" b="0" i="0">
                          <a:solidFill>
                            <a:srgbClr val="0070C0"/>
                          </a:solidFill>
                          <a:latin typeface="Calibri"/>
                        </a:rPr>
                        <a:t>Other GCC Countries Market Analysis</a:t>
                      </a:r>
                      <a:endParaRPr sz="1100"/>
                    </a:p>
                  </a:txBody>
                  <a:tcPr marL="4286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(6/7)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22.32.</a:t>
                      </a:r>
                      <a:r>
                        <a:rPr sz="700" b="0" i="0">
                          <a:solidFill>
                            <a:srgbClr val="0070C0"/>
                          </a:solidFill>
                          <a:latin typeface="Times New Roman"/>
                        </a:rPr>
                        <a:t> </a:t>
                      </a:r>
                      <a:r>
                        <a:rPr sz="1100" b="0" i="0">
                          <a:solidFill>
                            <a:srgbClr val="0070C0"/>
                          </a:solidFill>
                          <a:latin typeface="Calibri"/>
                        </a:rPr>
                        <a:t>Türkiye Market Analysis</a:t>
                      </a:r>
                      <a:endParaRPr sz="1100"/>
                    </a:p>
                  </a:txBody>
                  <a:tcPr marL="428625" marR="9525" marT="9525" marB="0" anchor="ctr"/>
                </a:tc>
              </a:tr>
              <a:tr h="175260">
                <a:tc>
                  <a:txBody>
                    <a:bodyPr wrap="square"/>
                    <a:lstStyle/>
                    <a:p>
                      <a:pPr algn="l"/>
                      <a:r>
                        <a:rPr sz="1100" b="0" i="0">
                          <a:solidFill>
                            <a:srgbClr val="0070C0"/>
                          </a:solidFill>
                          <a:latin typeface="Calibri"/>
                        </a:rPr>
                        <a:t>22.33.</a:t>
                      </a:r>
                      <a:r>
                        <a:rPr sz="700" b="0" i="0">
                          <a:solidFill>
                            <a:srgbClr val="0070C0"/>
                          </a:solidFill>
                          <a:latin typeface="Times New Roman"/>
                        </a:rPr>
                        <a:t> </a:t>
                      </a:r>
                      <a:r>
                        <a:rPr sz="1100" b="0" i="0">
                          <a:solidFill>
                            <a:srgbClr val="0070C0"/>
                          </a:solidFill>
                          <a:latin typeface="Calibri"/>
                        </a:rPr>
                        <a:t>South Africa Market Analysis</a:t>
                      </a:r>
                      <a:endParaRPr sz="1100"/>
                    </a:p>
                  </a:txBody>
                  <a:tcPr marL="428625" marR="9525" marT="9525" marB="0" anchor="ctr"/>
                </a:tc>
              </a:tr>
              <a:tr h="175260">
                <a:tc>
                  <a:txBody>
                    <a:bodyPr wrap="square"/>
                    <a:lstStyle/>
                    <a:p>
                      <a:pPr algn="l"/>
                      <a:r>
                        <a:rPr sz="1100" b="0" i="0">
                          <a:solidFill>
                            <a:srgbClr val="0070C0"/>
                          </a:solidFill>
                          <a:latin typeface="Calibri"/>
                        </a:rPr>
                        <a:t>22.34.</a:t>
                      </a:r>
                      <a:r>
                        <a:rPr sz="700" b="0" i="0">
                          <a:solidFill>
                            <a:srgbClr val="0070C0"/>
                          </a:solidFill>
                          <a:latin typeface="Times New Roman"/>
                        </a:rPr>
                        <a:t> </a:t>
                      </a:r>
                      <a:r>
                        <a:rPr sz="1100" b="0" i="0">
                          <a:solidFill>
                            <a:srgbClr val="0070C0"/>
                          </a:solidFill>
                          <a:latin typeface="Calibri"/>
                        </a:rPr>
                        <a:t>Other African Countries Market Analysis</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Market Tier and Competitor Category Structure</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Concentration: Top 3, Top 5 and Top 10 Share (%)</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Branded Versus OEM/ODM Competitive Concentration (%)</a:t>
                      </a:r>
                      <a:endParaRPr sz="1100"/>
                    </a:p>
                  </a:txBody>
                  <a:tcPr marL="428625" marR="9525" marT="9525" marB="0" anchor="ctr"/>
                </a:tc>
              </a:tr>
              <a:tr h="17526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Regional Supplier Footprint</a:t>
                      </a:r>
                      <a:endParaRPr sz="1100"/>
                    </a:p>
                  </a:txBody>
                  <a:tcPr marL="428625" marR="9525" marT="9525" marB="0" anchor="ctr"/>
                </a:tc>
              </a:tr>
              <a:tr h="17526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Scope for New Entrants and Market White Space</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Competitive Landscape and Producer Ecosystem</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Competitive Ecosystem by Player Archetype</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Dedicated Portable Energy Storage System Manufacturers</a:t>
                      </a:r>
                      <a:endParaRPr sz="1100"/>
                    </a:p>
                  </a:txBody>
                  <a:tcPr marL="771525"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Diversified Power Electronics &amp; Equipment Manufacturers</a:t>
                      </a:r>
                      <a:endParaRPr sz="1100"/>
                    </a:p>
                  </a:txBody>
                  <a:tcPr marL="771525" marR="9525" marT="9525" marB="0" anchor="ctr"/>
                </a:tc>
              </a:tr>
              <a:tr h="175260">
                <a:tc>
                  <a:txBody>
                    <a:bodyPr wrap="square"/>
                    <a:lstStyle/>
                    <a:p>
                      <a:pPr algn="l"/>
                      <a:r>
                        <a:rPr sz="1100" b="0" i="0">
                          <a:solidFill>
                            <a:srgbClr val="000000"/>
                          </a:solidFill>
                          <a:latin typeface="Calibri"/>
                        </a:rPr>
                        <a:t>24.1.3.</a:t>
                      </a:r>
                      <a:r>
                        <a:rPr sz="700" b="0" i="0">
                          <a:solidFill>
                            <a:srgbClr val="000000"/>
                          </a:solidFill>
                          <a:latin typeface="Times New Roman"/>
                        </a:rPr>
                        <a:t> </a:t>
                      </a:r>
                      <a:r>
                        <a:rPr sz="1100" b="0" i="0">
                          <a:solidFill>
                            <a:srgbClr val="000000"/>
                          </a:solidFill>
                          <a:latin typeface="Calibri"/>
                        </a:rPr>
                        <a:t>Lithium-Ion / Lithium Polymer Battery Cell &amp; Pack Manufacturers</a:t>
                      </a:r>
                      <a:endParaRPr sz="1100"/>
                    </a:p>
                  </a:txBody>
                  <a:tcPr marL="771525" marR="9525" marT="9525" marB="0" anchor="ctr"/>
                </a:tc>
              </a:tr>
              <a:tr h="175260">
                <a:tc>
                  <a:txBody>
                    <a:bodyPr wrap="square"/>
                    <a:lstStyle/>
                    <a:p>
                      <a:pPr algn="l"/>
                      <a:r>
                        <a:rPr sz="1100" b="0" i="0">
                          <a:solidFill>
                            <a:srgbClr val="000000"/>
                          </a:solidFill>
                          <a:latin typeface="Calibri"/>
                        </a:rPr>
                        <a:t>24.1.4.</a:t>
                      </a:r>
                      <a:r>
                        <a:rPr sz="700" b="0" i="0">
                          <a:solidFill>
                            <a:srgbClr val="000000"/>
                          </a:solidFill>
                          <a:latin typeface="Times New Roman"/>
                        </a:rPr>
                        <a:t> </a:t>
                      </a:r>
                      <a:r>
                        <a:rPr sz="1100" b="0" i="0">
                          <a:solidFill>
                            <a:srgbClr val="000000"/>
                          </a:solidFill>
                          <a:latin typeface="Calibri"/>
                        </a:rPr>
                        <a:t>OEM/ODM Portable Energy Storage &amp; Battery Pack Manufacturers</a:t>
                      </a:r>
                      <a:endParaRPr sz="1100"/>
                    </a:p>
                  </a:txBody>
                  <a:tcPr marL="7715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Company-Level Share and Revenue Exposure</a:t>
                      </a:r>
                      <a:endParaRPr sz="1100"/>
                    </a:p>
                  </a:txBody>
                  <a:tcPr marL="428625" marR="9525" marT="9525" marB="0" anchor="ctr"/>
                </a:tc>
              </a:tr>
              <a:tr h="175260">
                <a:tc>
                  <a:txBody>
                    <a:bodyPr wrap="square"/>
                    <a:lstStyle/>
                    <a:p>
                      <a:pPr algn="l"/>
                      <a:r>
                        <a:rPr sz="1100" b="0" i="0">
                          <a:solidFill>
                            <a:srgbClr val="000000"/>
                          </a:solidFill>
                          <a:latin typeface="Calibri"/>
                        </a:rPr>
                        <a:t>24.2.1.</a:t>
                      </a:r>
                      <a:r>
                        <a:rPr sz="700" b="0" i="0">
                          <a:solidFill>
                            <a:srgbClr val="000000"/>
                          </a:solidFill>
                          <a:latin typeface="Times New Roman"/>
                        </a:rPr>
                        <a:t> </a:t>
                      </a:r>
                      <a:r>
                        <a:rPr sz="1100" b="0" i="0">
                          <a:solidFill>
                            <a:srgbClr val="000000"/>
                          </a:solidFill>
                          <a:latin typeface="Calibri"/>
                        </a:rPr>
                        <a:t>Company Share of Addressable Portable Energy Storage Product Sales (%)</a:t>
                      </a:r>
                      <a:endParaRPr sz="1100"/>
                    </a:p>
                  </a:txBody>
                  <a:tcPr marL="771525" marR="9525" marT="9525" marB="0" anchor="ctr"/>
                </a:tc>
              </a:tr>
              <a:tr h="175260">
                <a:tc>
                  <a:txBody>
                    <a:bodyPr wrap="square"/>
                    <a:lstStyle/>
                    <a:p>
                      <a:pPr algn="l"/>
                      <a:r>
                        <a:rPr sz="1100" b="0" i="0">
                          <a:solidFill>
                            <a:srgbClr val="000000"/>
                          </a:solidFill>
                          <a:latin typeface="Calibri"/>
                        </a:rPr>
                        <a:t>24.2.2.</a:t>
                      </a:r>
                      <a:r>
                        <a:rPr sz="700" b="0" i="0">
                          <a:solidFill>
                            <a:srgbClr val="000000"/>
                          </a:solidFill>
                          <a:latin typeface="Times New Roman"/>
                        </a:rPr>
                        <a:t> </a:t>
                      </a:r>
                      <a:r>
                        <a:rPr sz="1100" b="0" i="0">
                          <a:solidFill>
                            <a:srgbClr val="000000"/>
                          </a:solidFill>
                          <a:latin typeface="Calibri"/>
                        </a:rPr>
                        <a:t>Company-Level Revenue Contribution (US$ Mn)</a:t>
                      </a:r>
                      <a:endParaRPr sz="1100"/>
                    </a:p>
                  </a:txBody>
                  <a:tcPr marL="771525" marR="9525" marT="9525" marB="0" anchor="ctr"/>
                </a:tc>
              </a:tr>
              <a:tr h="175260">
                <a:tc>
                  <a:txBody>
                    <a:bodyPr wrap="square"/>
                    <a:lstStyle/>
                    <a:p>
                      <a:pPr algn="l"/>
                      <a:r>
                        <a:rPr sz="1100" b="0" i="0">
                          <a:solidFill>
                            <a:srgbClr val="000000"/>
                          </a:solidFill>
                          <a:latin typeface="Calibri"/>
                        </a:rPr>
                        <a:t>24.2.3.</a:t>
                      </a:r>
                      <a:r>
                        <a:rPr sz="700" b="0" i="0">
                          <a:solidFill>
                            <a:srgbClr val="000000"/>
                          </a:solidFill>
                          <a:latin typeface="Times New Roman"/>
                        </a:rPr>
                        <a:t> </a:t>
                      </a:r>
                      <a:r>
                        <a:rPr sz="1100" b="0" i="0">
                          <a:solidFill>
                            <a:srgbClr val="000000"/>
                          </a:solidFill>
                          <a:latin typeface="Calibri"/>
                        </a:rPr>
                        <a:t>Company-Level Unit Shipments (Thousand Units)</a:t>
                      </a:r>
                      <a:endParaRPr sz="1100"/>
                    </a:p>
                  </a:txBody>
                  <a:tcPr marL="771525" marR="9525" marT="9525" marB="0" anchor="ctr"/>
                </a:tc>
              </a:tr>
              <a:tr h="175260">
                <a:tc>
                  <a:txBody>
                    <a:bodyPr wrap="square"/>
                    <a:lstStyle/>
                    <a:p>
                      <a:pPr algn="l"/>
                      <a:r>
                        <a:rPr sz="1100" b="0" i="0">
                          <a:solidFill>
                            <a:srgbClr val="000000"/>
                          </a:solidFill>
                          <a:latin typeface="Calibri"/>
                        </a:rPr>
                        <a:t>24.2.4.</a:t>
                      </a:r>
                      <a:r>
                        <a:rPr sz="700" b="0" i="0">
                          <a:solidFill>
                            <a:srgbClr val="000000"/>
                          </a:solidFill>
                          <a:latin typeface="Times New Roman"/>
                        </a:rPr>
                        <a:t> </a:t>
                      </a:r>
                      <a:r>
                        <a:rPr sz="1100" b="0" i="0">
                          <a:solidFill>
                            <a:srgbClr val="000000"/>
                          </a:solidFill>
                          <a:latin typeface="Calibri"/>
                        </a:rPr>
                        <a:t>Global versus Regional Brand Share Comparison</a:t>
                      </a:r>
                      <a:endParaRPr sz="1100"/>
                    </a:p>
                  </a:txBody>
                  <a:tcPr marL="771525" marR="9525" marT="9525" marB="0" anchor="ctr"/>
                </a:tc>
              </a:tr>
              <a:tr h="175260">
                <a:tc>
                  <a:txBody>
                    <a:bodyPr wrap="square"/>
                    <a:lstStyle/>
                    <a:p>
                      <a:pPr algn="l"/>
                      <a:r>
                        <a:rPr sz="1100" b="0" i="0">
                          <a:solidFill>
                            <a:srgbClr val="000000"/>
                          </a:solidFill>
                          <a:latin typeface="Calibri"/>
                        </a:rPr>
                        <a:t>24.2.5.</a:t>
                      </a:r>
                      <a:r>
                        <a:rPr sz="700" b="0" i="0">
                          <a:solidFill>
                            <a:srgbClr val="000000"/>
                          </a:solidFill>
                          <a:latin typeface="Times New Roman"/>
                        </a:rPr>
                        <a:t> </a:t>
                      </a:r>
                      <a:r>
                        <a:rPr sz="1100" b="0" i="0">
                          <a:solidFill>
                            <a:srgbClr val="000000"/>
                          </a:solidFill>
                          <a:latin typeface="Calibri"/>
                        </a:rPr>
                        <a:t>OEM/ODM Sales Versus Branded Product Sales Classification</a:t>
                      </a:r>
                      <a:endParaRPr sz="1100"/>
                    </a:p>
                  </a:txBody>
                  <a:tcPr marL="7715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Competitive Product and Capability Benchmarking</a:t>
                      </a:r>
                      <a:endParaRPr sz="1100"/>
                    </a:p>
                  </a:txBody>
                  <a:tcPr marL="428625" marR="9525" marT="9525" marB="0" anchor="ctr"/>
                </a:tc>
              </a:tr>
              <a:tr h="17526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Competitive Positioning Matrices</a:t>
                      </a:r>
                      <a:endParaRPr sz="1100"/>
                    </a:p>
                  </a:txBody>
                  <a:tcPr marL="428625" marR="9525" marT="9525" marB="0" anchor="ctr"/>
                </a:tc>
              </a:tr>
              <a:tr h="17526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Competitive Strategy and Market Development</a:t>
                      </a:r>
                      <a:endParaRPr sz="1100"/>
                    </a:p>
                  </a:txBody>
                  <a:tcPr marL="428625" marR="9525" marT="9525" marB="0" anchor="ctr"/>
                </a:tc>
              </a:tr>
              <a:tr h="175260">
                <a:tc>
                  <a:txBody>
                    <a:bodyPr wrap="square"/>
                    <a:lstStyle/>
                    <a:p>
                      <a:pPr algn="l"/>
                      <a:r>
                        <a:rPr sz="1100" b="0" i="0">
                          <a:solidFill>
                            <a:srgbClr val="000000"/>
                          </a:solidFill>
                          <a:latin typeface="Calibri"/>
                        </a:rPr>
                        <a:t>24.5.1.</a:t>
                      </a:r>
                      <a:r>
                        <a:rPr sz="700" b="0" i="0">
                          <a:solidFill>
                            <a:srgbClr val="000000"/>
                          </a:solidFill>
                          <a:latin typeface="Times New Roman"/>
                        </a:rPr>
                        <a:t> </a:t>
                      </a:r>
                      <a:r>
                        <a:rPr sz="1100" b="0" i="0">
                          <a:solidFill>
                            <a:srgbClr val="000000"/>
                          </a:solidFill>
                          <a:latin typeface="Calibri"/>
                        </a:rPr>
                        <a:t>Capacity Expansion and Contract Manufacturing</a:t>
                      </a:r>
                      <a:endParaRPr sz="1100"/>
                    </a:p>
                  </a:txBody>
                  <a:tcPr marL="771525" marR="9525" marT="9525" marB="0" anchor="ctr"/>
                </a:tc>
              </a:tr>
              <a:tr h="175260">
                <a:tc>
                  <a:txBody>
                    <a:bodyPr wrap="square"/>
                    <a:lstStyle/>
                    <a:p>
                      <a:pPr algn="l"/>
                      <a:r>
                        <a:rPr sz="1100" b="0" i="0">
                          <a:solidFill>
                            <a:srgbClr val="000000"/>
                          </a:solidFill>
                          <a:latin typeface="Calibri"/>
                        </a:rPr>
                        <a:t>24.5.2.</a:t>
                      </a:r>
                      <a:r>
                        <a:rPr sz="700" b="0" i="0">
                          <a:solidFill>
                            <a:srgbClr val="000000"/>
                          </a:solidFill>
                          <a:latin typeface="Times New Roman"/>
                        </a:rPr>
                        <a:t> </a:t>
                      </a:r>
                      <a:r>
                        <a:rPr sz="1100" b="0" i="0">
                          <a:solidFill>
                            <a:srgbClr val="000000"/>
                          </a:solidFill>
                          <a:latin typeface="Calibri"/>
                        </a:rPr>
                        <a:t>New Product and Chemistry Development</a:t>
                      </a:r>
                      <a:endParaRPr sz="1100"/>
                    </a:p>
                  </a:txBody>
                  <a:tcPr marL="771525" marR="9525" marT="9525" marB="0" anchor="ctr"/>
                </a:tc>
              </a:tr>
              <a:tr h="175260">
                <a:tc>
                  <a:txBody>
                    <a:bodyPr wrap="square"/>
                    <a:lstStyle/>
                    <a:p>
                      <a:pPr algn="l"/>
                      <a:r>
                        <a:rPr sz="1100" b="0" i="0">
                          <a:solidFill>
                            <a:srgbClr val="000000"/>
                          </a:solidFill>
                          <a:latin typeface="Calibri"/>
                        </a:rPr>
                        <a:t>24.5.3.</a:t>
                      </a:r>
                      <a:r>
                        <a:rPr sz="700" b="0" i="0">
                          <a:solidFill>
                            <a:srgbClr val="000000"/>
                          </a:solidFill>
                          <a:latin typeface="Times New Roman"/>
                        </a:rPr>
                        <a:t> </a:t>
                      </a:r>
                      <a:r>
                        <a:rPr sz="1100" b="0" i="0">
                          <a:solidFill>
                            <a:srgbClr val="000000"/>
                          </a:solidFill>
                          <a:latin typeface="Calibri"/>
                        </a:rPr>
                        <a:t>Distributor Partnerships and Geographic Expansion</a:t>
                      </a:r>
                      <a:endParaRPr sz="1100"/>
                    </a:p>
                  </a:txBody>
                  <a:tcPr marL="771525" marR="9525" marT="9525" marB="0" anchor="ctr"/>
                </a:tc>
              </a:tr>
              <a:tr h="175260">
                <a:tc>
                  <a:txBody>
                    <a:bodyPr wrap="square"/>
                    <a:lstStyle/>
                    <a:p>
                      <a:pPr algn="l"/>
                      <a:r>
                        <a:rPr sz="1100" b="0" i="0">
                          <a:solidFill>
                            <a:srgbClr val="000000"/>
                          </a:solidFill>
                          <a:latin typeface="Calibri"/>
                        </a:rPr>
                        <a:t>24.5.4.</a:t>
                      </a:r>
                      <a:r>
                        <a:rPr sz="700" b="0" i="0">
                          <a:solidFill>
                            <a:srgbClr val="000000"/>
                          </a:solidFill>
                          <a:latin typeface="Times New Roman"/>
                        </a:rPr>
                        <a:t> </a:t>
                      </a:r>
                      <a:r>
                        <a:rPr sz="1100" b="0" i="0">
                          <a:solidFill>
                            <a:srgbClr val="000000"/>
                          </a:solidFill>
                          <a:latin typeface="Calibri"/>
                        </a:rPr>
                        <a:t>Vertical Integration and Strategic Acquisitions</a:t>
                      </a:r>
                      <a:endParaRPr sz="1100"/>
                    </a:p>
                  </a:txBody>
                  <a:tcPr marL="771525" marR="9525" marT="9525" marB="0" anchor="ctr"/>
                </a:tc>
              </a:tr>
              <a:tr h="17526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Competitive White-Space Assessment</a:t>
                      </a:r>
                      <a:endParaRPr sz="1100"/>
                    </a:p>
                  </a:txBody>
                  <a:tcPr marL="428625" marR="9525" marT="9525" marB="0" anchor="ctr"/>
                </a:tc>
              </a:tr>
              <a:tr h="175260">
                <a:tc>
                  <a:txBody>
                    <a:bodyPr wrap="square"/>
                    <a:lstStyle/>
                    <a:p>
                      <a:pPr algn="l"/>
                      <a:r>
                        <a:rPr sz="1100" b="0" i="0">
                          <a:solidFill>
                            <a:srgbClr val="000000"/>
                          </a:solidFill>
                          <a:latin typeface="Calibri"/>
                        </a:rPr>
                        <a:t>24.6.1.</a:t>
                      </a:r>
                      <a:r>
                        <a:rPr sz="700" b="0" i="0">
                          <a:solidFill>
                            <a:srgbClr val="000000"/>
                          </a:solidFill>
                          <a:latin typeface="Times New Roman"/>
                        </a:rPr>
                        <a:t> </a:t>
                      </a:r>
                      <a:r>
                        <a:rPr sz="1100" b="0" i="0">
                          <a:solidFill>
                            <a:srgbClr val="000000"/>
                          </a:solidFill>
                          <a:latin typeface="Calibri"/>
                        </a:rPr>
                        <a:t>Underserved Application and Output-Rating Niches</a:t>
                      </a:r>
                      <a:endParaRPr sz="1100"/>
                    </a:p>
                  </a:txBody>
                  <a:tcPr marL="771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24.6.2.</a:t>
                      </a:r>
                      <a:r>
                        <a:rPr sz="700" b="0" i="0">
                          <a:solidFill>
                            <a:srgbClr val="000000"/>
                          </a:solidFill>
                          <a:latin typeface="Times New Roman"/>
                        </a:rPr>
                        <a:t> </a:t>
                      </a:r>
                      <a:r>
                        <a:rPr sz="1100" b="0" i="0">
                          <a:solidFill>
                            <a:srgbClr val="000000"/>
                          </a:solidFill>
                          <a:latin typeface="Calibri"/>
                        </a:rPr>
                        <a:t>Regional Availability and After-Sales Service Gaps</a:t>
                      </a:r>
                      <a:endParaRPr sz="1100"/>
                    </a:p>
                  </a:txBody>
                  <a:tcPr marL="771525" marR="9525" marT="9525" marB="0" anchor="ctr"/>
                </a:tc>
              </a:tr>
              <a:tr h="175260">
                <a:tc>
                  <a:txBody>
                    <a:bodyPr wrap="square"/>
                    <a:lstStyle/>
                    <a:p>
                      <a:pPr algn="l"/>
                      <a:r>
                        <a:rPr sz="1100" b="0" i="0">
                          <a:solidFill>
                            <a:srgbClr val="000000"/>
                          </a:solidFill>
                          <a:latin typeface="Calibri"/>
                        </a:rPr>
                        <a:t>24.6.3.</a:t>
                      </a:r>
                      <a:r>
                        <a:rPr sz="700" b="0" i="0">
                          <a:solidFill>
                            <a:srgbClr val="000000"/>
                          </a:solidFill>
                          <a:latin typeface="Times New Roman"/>
                        </a:rPr>
                        <a:t> </a:t>
                      </a:r>
                      <a:r>
                        <a:rPr sz="1100" b="0" i="0">
                          <a:solidFill>
                            <a:srgbClr val="000000"/>
                          </a:solidFill>
                          <a:latin typeface="Calibri"/>
                        </a:rPr>
                        <a:t>OEM/ODM Partnership and Private-Label Opportunities</a:t>
                      </a:r>
                      <a:endParaRPr sz="1100"/>
                    </a:p>
                  </a:txBody>
                  <a:tcPr marL="771525" marR="9525" marT="9525" marB="0" anchor="ctr"/>
                </a:tc>
              </a:tr>
              <a:tr h="175260">
                <a:tc>
                  <a:txBody>
                    <a:bodyPr wrap="square"/>
                    <a:lstStyle/>
                    <a:p>
                      <a:pPr algn="l"/>
                      <a:r>
                        <a:rPr sz="1100" b="0" i="0">
                          <a:solidFill>
                            <a:srgbClr val="000000"/>
                          </a:solidFill>
                          <a:latin typeface="Calibri"/>
                        </a:rPr>
                        <a:t>24.6.4.</a:t>
                      </a:r>
                      <a:r>
                        <a:rPr sz="700" b="0" i="0">
                          <a:solidFill>
                            <a:srgbClr val="000000"/>
                          </a:solidFill>
                          <a:latin typeface="Times New Roman"/>
                        </a:rPr>
                        <a:t> </a:t>
                      </a:r>
                      <a:r>
                        <a:rPr sz="1100" b="0" i="0">
                          <a:solidFill>
                            <a:srgbClr val="000000"/>
                          </a:solidFill>
                          <a:latin typeface="Calibri"/>
                        </a:rPr>
                        <a:t>Localized Cell Sourcing and Pack Integration Opportunities</a:t>
                      </a:r>
                      <a:endParaRPr sz="1100"/>
                    </a:p>
                  </a:txBody>
                  <a:tcPr marL="771525" marR="9525" marT="9525" marB="0" anchor="ctr"/>
                </a:tc>
              </a:tr>
              <a:tr h="175260">
                <a:tc>
                  <a:txBody>
                    <a:bodyPr wrap="square"/>
                    <a:lstStyle/>
                    <a:p>
                      <a:pPr algn="l"/>
                      <a:r>
                        <a:rPr sz="1100" b="0" i="0">
                          <a:solidFill>
                            <a:srgbClr val="0070C0"/>
                          </a:solidFill>
                          <a:latin typeface="Calibri"/>
                        </a:rPr>
                        <a:t>24.7.</a:t>
                      </a:r>
                      <a:r>
                        <a:rPr sz="700" b="0" i="0">
                          <a:solidFill>
                            <a:srgbClr val="0070C0"/>
                          </a:solidFill>
                          <a:latin typeface="Times New Roman"/>
                        </a:rPr>
                        <a:t> </a:t>
                      </a:r>
                      <a:r>
                        <a:rPr sz="1100" b="0" i="0">
                          <a:solidFill>
                            <a:srgbClr val="0070C0"/>
                          </a:solidFill>
                          <a:latin typeface="Calibri"/>
                        </a:rPr>
                        <a:t>Competitive Dashboard</a:t>
                      </a:r>
                      <a:endParaRPr sz="1100"/>
                    </a:p>
                  </a:txBody>
                  <a:tcPr marL="428625" marR="9525" marT="9525" marB="0" anchor="ctr"/>
                </a:tc>
              </a:tr>
              <a:tr h="175260">
                <a:tc>
                  <a:txBody>
                    <a:bodyPr wrap="square"/>
                    <a:lstStyle/>
                    <a:p>
                      <a:pPr algn="l"/>
                      <a:r>
                        <a:rPr sz="1100" b="0" i="0">
                          <a:solidFill>
                            <a:srgbClr val="0070C0"/>
                          </a:solidFill>
                          <a:latin typeface="Calibri"/>
                        </a:rPr>
                        <a:t>24.8.</a:t>
                      </a:r>
                      <a:r>
                        <a:rPr sz="700" b="0" i="0">
                          <a:solidFill>
                            <a:srgbClr val="0070C0"/>
                          </a:solidFill>
                          <a:latin typeface="Times New Roman"/>
                        </a:rPr>
                        <a:t> </a:t>
                      </a:r>
                      <a:r>
                        <a:rPr sz="1100" b="0" i="0">
                          <a:solidFill>
                            <a:srgbClr val="0070C0"/>
                          </a:solidFill>
                          <a:latin typeface="Calibri"/>
                        </a:rPr>
                        <a:t>Company Deep Dive</a:t>
                      </a:r>
                      <a:endParaRPr sz="1100"/>
                    </a:p>
                  </a:txBody>
                  <a:tcPr marL="428625" marR="9525" marT="9525" marB="0" anchor="ctr"/>
                </a:tc>
              </a:tr>
              <a:tr h="175260">
                <a:tc>
                  <a:txBody>
                    <a:bodyPr wrap="square"/>
                    <a:lstStyle/>
                    <a:p>
                      <a:pPr algn="l"/>
                      <a:r>
                        <a:rPr sz="1100" b="0" i="0">
                          <a:solidFill>
                            <a:srgbClr val="000000"/>
                          </a:solidFill>
                          <a:latin typeface="Calibri"/>
                        </a:rPr>
                        <a:t>24.8.1.</a:t>
                      </a:r>
                      <a:r>
                        <a:rPr sz="700" b="0" i="0">
                          <a:solidFill>
                            <a:srgbClr val="000000"/>
                          </a:solidFill>
                          <a:latin typeface="Times New Roman"/>
                        </a:rPr>
                        <a:t> </a:t>
                      </a:r>
                      <a:r>
                        <a:rPr sz="1100" b="0" i="0">
                          <a:solidFill>
                            <a:srgbClr val="000000"/>
                          </a:solidFill>
                          <a:latin typeface="Calibri"/>
                        </a:rPr>
                        <a:t>Dedicated Portable Energy Storage System Manufacturers</a:t>
                      </a:r>
                      <a:endParaRPr sz="1100"/>
                    </a:p>
                  </a:txBody>
                  <a:tcPr marL="771525" marR="9525" marT="9525" marB="0" anchor="ctr"/>
                </a:tc>
              </a:tr>
              <a:tr h="175260">
                <a:tc>
                  <a:txBody>
                    <a:bodyPr wrap="square"/>
                    <a:lstStyle/>
                    <a:p>
                      <a:pPr algn="l"/>
                      <a:r>
                        <a:rPr sz="1100" b="0" i="1">
                          <a:solidFill>
                            <a:srgbClr val="000000"/>
                          </a:solidFill>
                          <a:latin typeface="Calibri"/>
                        </a:rPr>
                        <a:t>24.8.1.1.</a:t>
                      </a:r>
                      <a:r>
                        <a:rPr sz="700" b="0" i="1">
                          <a:solidFill>
                            <a:srgbClr val="000000"/>
                          </a:solidFill>
                          <a:latin typeface="Times New Roman"/>
                        </a:rPr>
                        <a:t> </a:t>
                      </a:r>
                      <a:r>
                        <a:rPr sz="1100" b="0" i="1">
                          <a:solidFill>
                            <a:srgbClr val="000000"/>
                          </a:solidFill>
                          <a:latin typeface="Calibri"/>
                        </a:rPr>
                        <a:t>EcoFlow</a:t>
                      </a:r>
                      <a:endParaRPr sz="1100"/>
                    </a:p>
                  </a:txBody>
                  <a:tcPr marL="10287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Business Overview</a:t>
                      </a:r>
                      <a:endParaRPr sz="1100"/>
                    </a:p>
                  </a:txBody>
                  <a:tcPr marL="12573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Relevant Portfolio</a:t>
                      </a:r>
                      <a:endParaRPr sz="1100"/>
                    </a:p>
                  </a:txBody>
                  <a:tcPr marL="12573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Footprint</a:t>
                      </a:r>
                      <a:endParaRPr sz="1100"/>
                    </a:p>
                  </a:txBody>
                  <a:tcPr marL="12573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Pricing</a:t>
                      </a:r>
                      <a:endParaRPr sz="1100"/>
                    </a:p>
                  </a:txBody>
                  <a:tcPr marL="12573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SWOT</a:t>
                      </a:r>
                      <a:endParaRPr sz="1100"/>
                    </a:p>
                  </a:txBody>
                  <a:tcPr marL="1257300" marR="9525" marT="9525" marB="0" anchor="ctr"/>
                </a:tc>
              </a:tr>
              <a:tr h="175260">
                <a:tc>
                  <a:txBody>
                    <a:bodyPr wrap="square"/>
                    <a:lstStyle/>
                    <a:p>
                      <a:pPr algn="l"/>
                      <a:r>
                        <a:rPr sz="1100" b="0" i="1">
                          <a:solidFill>
                            <a:srgbClr val="000000"/>
                          </a:solidFill>
                          <a:latin typeface="Symbol"/>
                        </a:rPr>
                        <a:t></a:t>
                      </a:r>
                      <a:r>
                        <a:rPr sz="700" b="0" i="1">
                          <a:solidFill>
                            <a:srgbClr val="000000"/>
                          </a:solidFill>
                          <a:latin typeface="Times New Roman"/>
                        </a:rPr>
                        <a:t>         </a:t>
                      </a:r>
                      <a:r>
                        <a:rPr sz="1100" b="0" i="1">
                          <a:solidFill>
                            <a:srgbClr val="000000"/>
                          </a:solidFill>
                          <a:latin typeface="Calibri"/>
                        </a:rPr>
                        <a:t>Developments</a:t>
                      </a:r>
                      <a:endParaRPr sz="1100"/>
                    </a:p>
                  </a:txBody>
                  <a:tcPr marL="1257300" marR="9525" marT="9525" marB="0" anchor="ctr"/>
                </a:tc>
              </a:tr>
              <a:tr h="175260">
                <a:tc>
                  <a:txBody>
                    <a:bodyPr wrap="square"/>
                    <a:lstStyle/>
                    <a:p>
                      <a:pPr algn="l"/>
                      <a:r>
                        <a:rPr sz="1100" b="0" i="1">
                          <a:solidFill>
                            <a:srgbClr val="000000"/>
                          </a:solidFill>
                          <a:latin typeface="Calibri"/>
                        </a:rPr>
                        <a:t>24.8.1.2.</a:t>
                      </a:r>
                      <a:r>
                        <a:rPr sz="700" b="0" i="1">
                          <a:solidFill>
                            <a:srgbClr val="000000"/>
                          </a:solidFill>
                          <a:latin typeface="Times New Roman"/>
                        </a:rPr>
                        <a:t> </a:t>
                      </a:r>
                      <a:r>
                        <a:rPr sz="1100" b="0" i="1">
                          <a:solidFill>
                            <a:srgbClr val="000000"/>
                          </a:solidFill>
                          <a:latin typeface="Calibri"/>
                        </a:rPr>
                        <a:t>Jackery</a:t>
                      </a:r>
                      <a:endParaRPr sz="1100"/>
                    </a:p>
                  </a:txBody>
                  <a:tcPr marL="1028700" marR="9525" marT="9525" marB="0" anchor="ctr"/>
                </a:tc>
              </a:tr>
              <a:tr h="175260">
                <a:tc>
                  <a:txBody>
                    <a:bodyPr wrap="square"/>
                    <a:lstStyle/>
                    <a:p>
                      <a:pPr algn="l"/>
                      <a:r>
                        <a:rPr sz="1100" b="0" i="1">
                          <a:solidFill>
                            <a:srgbClr val="000000"/>
                          </a:solidFill>
                          <a:latin typeface="Calibri"/>
                        </a:rPr>
                        <a:t>24.8.1.3.</a:t>
                      </a:r>
                      <a:r>
                        <a:rPr sz="700" b="0" i="1">
                          <a:solidFill>
                            <a:srgbClr val="000000"/>
                          </a:solidFill>
                          <a:latin typeface="Times New Roman"/>
                        </a:rPr>
                        <a:t> </a:t>
                      </a:r>
                      <a:r>
                        <a:rPr sz="1100" b="0" i="1">
                          <a:solidFill>
                            <a:srgbClr val="000000"/>
                          </a:solidFill>
                          <a:latin typeface="Calibri"/>
                        </a:rPr>
                        <a:t>BLUETTI (POWEROAK)</a:t>
                      </a:r>
                      <a:endParaRPr sz="1100"/>
                    </a:p>
                  </a:txBody>
                  <a:tcPr marL="1028700" marR="9525" marT="9525" marB="0" anchor="ctr"/>
                </a:tc>
              </a:tr>
              <a:tr h="175260">
                <a:tc>
                  <a:txBody>
                    <a:bodyPr wrap="square"/>
                    <a:lstStyle/>
                    <a:p>
                      <a:pPr algn="l"/>
                      <a:r>
                        <a:rPr sz="1100" b="0" i="1">
                          <a:solidFill>
                            <a:srgbClr val="000000"/>
                          </a:solidFill>
                          <a:latin typeface="Calibri"/>
                        </a:rPr>
                        <a:t>24.8.1.4.</a:t>
                      </a:r>
                      <a:r>
                        <a:rPr sz="700" b="0" i="1">
                          <a:solidFill>
                            <a:srgbClr val="000000"/>
                          </a:solidFill>
                          <a:latin typeface="Times New Roman"/>
                        </a:rPr>
                        <a:t> </a:t>
                      </a:r>
                      <a:r>
                        <a:rPr sz="1100" b="0" i="1">
                          <a:solidFill>
                            <a:srgbClr val="000000"/>
                          </a:solidFill>
                          <a:latin typeface="Calibri"/>
                        </a:rPr>
                        <a:t>Goal Zero</a:t>
                      </a:r>
                      <a:endParaRPr sz="1100"/>
                    </a:p>
                  </a:txBody>
                  <a:tcPr marL="1028700" marR="9525" marT="9525" marB="0" anchor="ctr"/>
                </a:tc>
              </a:tr>
              <a:tr h="175260">
                <a:tc>
                  <a:txBody>
                    <a:bodyPr wrap="square"/>
                    <a:lstStyle/>
                    <a:p>
                      <a:pPr algn="l"/>
                      <a:r>
                        <a:rPr sz="1100" b="0" i="1">
                          <a:solidFill>
                            <a:srgbClr val="000000"/>
                          </a:solidFill>
                          <a:latin typeface="Calibri"/>
                        </a:rPr>
                        <a:t>24.8.1.5.</a:t>
                      </a:r>
                      <a:r>
                        <a:rPr sz="700" b="0" i="1">
                          <a:solidFill>
                            <a:srgbClr val="000000"/>
                          </a:solidFill>
                          <a:latin typeface="Times New Roman"/>
                        </a:rPr>
                        <a:t> </a:t>
                      </a:r>
                      <a:r>
                        <a:rPr sz="1100" b="0" i="1">
                          <a:solidFill>
                            <a:srgbClr val="000000"/>
                          </a:solidFill>
                          <a:latin typeface="Calibri"/>
                        </a:rPr>
                        <a:t>Zendure</a:t>
                      </a:r>
                      <a:endParaRPr sz="1100"/>
                    </a:p>
                  </a:txBody>
                  <a:tcPr marL="1028700" marR="9525" marT="9525" marB="0" anchor="ctr"/>
                </a:tc>
              </a:tr>
              <a:tr h="175260">
                <a:tc>
                  <a:txBody>
                    <a:bodyPr wrap="square"/>
                    <a:lstStyle/>
                    <a:p>
                      <a:pPr algn="l"/>
                      <a:r>
                        <a:rPr sz="1100" b="0" i="1">
                          <a:solidFill>
                            <a:srgbClr val="000000"/>
                          </a:solidFill>
                          <a:latin typeface="Calibri"/>
                        </a:rPr>
                        <a:t>24.8.1.6.</a:t>
                      </a:r>
                      <a:r>
                        <a:rPr sz="700" b="0" i="1">
                          <a:solidFill>
                            <a:srgbClr val="000000"/>
                          </a:solidFill>
                          <a:latin typeface="Times New Roman"/>
                        </a:rPr>
                        <a:t> </a:t>
                      </a:r>
                      <a:r>
                        <a:rPr sz="1100" b="0" i="1">
                          <a:solidFill>
                            <a:srgbClr val="000000"/>
                          </a:solidFill>
                          <a:latin typeface="Calibri"/>
                        </a:rPr>
                        <a:t>ALLPOWERS</a:t>
                      </a:r>
                      <a:endParaRPr sz="1100"/>
                    </a:p>
                  </a:txBody>
                  <a:tcPr marL="1028700" marR="9525" marT="9525" marB="0" anchor="ctr"/>
                </a:tc>
              </a:tr>
              <a:tr h="175260">
                <a:tc>
                  <a:txBody>
                    <a:bodyPr wrap="square"/>
                    <a:lstStyle/>
                    <a:p>
                      <a:pPr algn="l"/>
                      <a:r>
                        <a:rPr sz="1100" b="0" i="1">
                          <a:solidFill>
                            <a:srgbClr val="000000"/>
                          </a:solidFill>
                          <a:latin typeface="Calibri"/>
                        </a:rPr>
                        <a:t>24.8.1.7.</a:t>
                      </a:r>
                      <a:r>
                        <a:rPr sz="700" b="0" i="1">
                          <a:solidFill>
                            <a:srgbClr val="000000"/>
                          </a:solidFill>
                          <a:latin typeface="Times New Roman"/>
                        </a:rPr>
                        <a:t> </a:t>
                      </a:r>
                      <a:r>
                        <a:rPr sz="1100" b="0" i="1">
                          <a:solidFill>
                            <a:srgbClr val="000000"/>
                          </a:solidFill>
                          <a:latin typeface="Calibri"/>
                        </a:rPr>
                        <a:t>Pecron</a:t>
                      </a:r>
                      <a:endParaRPr sz="1100"/>
                    </a:p>
                  </a:txBody>
                  <a:tcPr marL="1028700" marR="9525" marT="9525" marB="0" anchor="ctr"/>
                </a:tc>
              </a:tr>
              <a:tr h="175260">
                <a:tc>
                  <a:txBody>
                    <a:bodyPr wrap="square"/>
                    <a:lstStyle/>
                    <a:p>
                      <a:pPr algn="l"/>
                      <a:r>
                        <a:rPr sz="1100" b="0" i="1">
                          <a:solidFill>
                            <a:srgbClr val="000000"/>
                          </a:solidFill>
                          <a:latin typeface="Calibri"/>
                        </a:rPr>
                        <a:t>24.8.1.8.</a:t>
                      </a:r>
                      <a:r>
                        <a:rPr sz="700" b="0" i="1">
                          <a:solidFill>
                            <a:srgbClr val="000000"/>
                          </a:solidFill>
                          <a:latin typeface="Times New Roman"/>
                        </a:rPr>
                        <a:t> </a:t>
                      </a:r>
                      <a:r>
                        <a:rPr sz="1100" b="0" i="1">
                          <a:solidFill>
                            <a:srgbClr val="000000"/>
                          </a:solidFill>
                          <a:latin typeface="Calibri"/>
                        </a:rPr>
                        <a:t>OUPES</a:t>
                      </a:r>
                      <a:endParaRPr sz="1100"/>
                    </a:p>
                  </a:txBody>
                  <a:tcPr marL="1028700" marR="9525" marT="9525" marB="0" anchor="ctr"/>
                </a:tc>
              </a:tr>
              <a:tr h="175260">
                <a:tc>
                  <a:txBody>
                    <a:bodyPr wrap="square"/>
                    <a:lstStyle/>
                    <a:p>
                      <a:pPr algn="l"/>
                      <a:r>
                        <a:rPr sz="1100" b="0" i="1">
                          <a:solidFill>
                            <a:srgbClr val="000000"/>
                          </a:solidFill>
                          <a:latin typeface="Calibri"/>
                        </a:rPr>
                        <a:t>24.8.1.9.</a:t>
                      </a:r>
                      <a:r>
                        <a:rPr sz="700" b="0" i="1">
                          <a:solidFill>
                            <a:srgbClr val="000000"/>
                          </a:solidFill>
                          <a:latin typeface="Times New Roman"/>
                        </a:rPr>
                        <a:t> </a:t>
                      </a:r>
                      <a:r>
                        <a:rPr sz="1100" b="0" i="1">
                          <a:solidFill>
                            <a:srgbClr val="000000"/>
                          </a:solidFill>
                          <a:latin typeface="Calibri"/>
                        </a:rPr>
                        <a:t>VTOMAN</a:t>
                      </a:r>
                      <a:endParaRPr sz="1100"/>
                    </a:p>
                  </a:txBody>
                  <a:tcPr marL="1028700" marR="9525" marT="9525" marB="0" anchor="ctr"/>
                </a:tc>
              </a:tr>
              <a:tr h="175260">
                <a:tc>
                  <a:txBody>
                    <a:bodyPr wrap="square"/>
                    <a:lstStyle/>
                    <a:p>
                      <a:pPr algn="l"/>
                      <a:r>
                        <a:rPr sz="1100" b="0" i="1">
                          <a:solidFill>
                            <a:srgbClr val="000000"/>
                          </a:solidFill>
                          <a:latin typeface="Calibri"/>
                        </a:rPr>
                        <a:t>24.8.1.10.</a:t>
                      </a:r>
                      <a:r>
                        <a:rPr sz="700" b="0" i="1">
                          <a:solidFill>
                            <a:srgbClr val="000000"/>
                          </a:solidFill>
                          <a:latin typeface="Times New Roman"/>
                        </a:rPr>
                        <a:t> </a:t>
                      </a:r>
                      <a:r>
                        <a:rPr sz="1100" b="0" i="1">
                          <a:solidFill>
                            <a:srgbClr val="000000"/>
                          </a:solidFill>
                          <a:latin typeface="Calibri"/>
                        </a:rPr>
                        <a:t>Yoshino Power</a:t>
                      </a:r>
                      <a:endParaRPr sz="1100"/>
                    </a:p>
                  </a:txBody>
                  <a:tcPr marL="1028700" marR="9525" marT="9525" marB="0" anchor="ctr"/>
                </a:tc>
              </a:tr>
              <a:tr h="175260">
                <a:tc>
                  <a:txBody>
                    <a:bodyPr wrap="square"/>
                    <a:lstStyle/>
                    <a:p>
                      <a:pPr algn="l"/>
                      <a:r>
                        <a:rPr sz="1100" b="0" i="1">
                          <a:solidFill>
                            <a:srgbClr val="000000"/>
                          </a:solidFill>
                          <a:latin typeface="Calibri"/>
                        </a:rPr>
                        <a:t>24.8.1.11.</a:t>
                      </a:r>
                      <a:r>
                        <a:rPr sz="700" b="0" i="1">
                          <a:solidFill>
                            <a:srgbClr val="000000"/>
                          </a:solidFill>
                          <a:latin typeface="Times New Roman"/>
                        </a:rPr>
                        <a:t> </a:t>
                      </a:r>
                      <a:r>
                        <a:rPr sz="1100" b="0" i="1">
                          <a:solidFill>
                            <a:srgbClr val="000000"/>
                          </a:solidFill>
                          <a:latin typeface="Calibri"/>
                        </a:rPr>
                        <a:t>Lion Energy</a:t>
                      </a:r>
                      <a:endParaRPr sz="1100"/>
                    </a:p>
                  </a:txBody>
                  <a:tcPr marL="1028700" marR="9525" marT="9525" marB="0" anchor="ctr"/>
                </a:tc>
              </a:tr>
              <a:tr h="175260">
                <a:tc>
                  <a:txBody>
                    <a:bodyPr wrap="square"/>
                    <a:lstStyle/>
                    <a:p>
                      <a:pPr algn="l"/>
                      <a:r>
                        <a:rPr sz="1100" b="0" i="1">
                          <a:solidFill>
                            <a:srgbClr val="000000"/>
                          </a:solidFill>
                          <a:latin typeface="Calibri"/>
                        </a:rPr>
                        <a:t>24.8.1.12.</a:t>
                      </a:r>
                      <a:r>
                        <a:rPr sz="700" b="0" i="1">
                          <a:solidFill>
                            <a:srgbClr val="000000"/>
                          </a:solidFill>
                          <a:latin typeface="Times New Roman"/>
                        </a:rPr>
                        <a:t> </a:t>
                      </a:r>
                      <a:r>
                        <a:rPr sz="1100" b="0" i="1">
                          <a:solidFill>
                            <a:srgbClr val="000000"/>
                          </a:solidFill>
                          <a:latin typeface="Calibri"/>
                        </a:rPr>
                        <a:t>BougeRV</a:t>
                      </a:r>
                      <a:endParaRPr sz="1100"/>
                    </a:p>
                  </a:txBody>
                  <a:tcPr marL="1028700" marR="9525" marT="9525" marB="0" anchor="ctr"/>
                </a:tc>
              </a:tr>
              <a:tr h="175260">
                <a:tc>
                  <a:txBody>
                    <a:bodyPr wrap="square"/>
                    <a:lstStyle/>
                    <a:p>
                      <a:pPr algn="l"/>
                      <a:r>
                        <a:rPr sz="1100" b="0" i="0">
                          <a:solidFill>
                            <a:srgbClr val="000000"/>
                          </a:solidFill>
                          <a:latin typeface="Calibri"/>
                        </a:rPr>
                        <a:t>24.8.2.</a:t>
                      </a:r>
                      <a:r>
                        <a:rPr sz="700" b="0" i="0">
                          <a:solidFill>
                            <a:srgbClr val="000000"/>
                          </a:solidFill>
                          <a:latin typeface="Times New Roman"/>
                        </a:rPr>
                        <a:t> </a:t>
                      </a:r>
                      <a:r>
                        <a:rPr sz="1100" b="0" i="0">
                          <a:solidFill>
                            <a:srgbClr val="000000"/>
                          </a:solidFill>
                          <a:latin typeface="Calibri"/>
                        </a:rPr>
                        <a:t>Diversified Power Electronics &amp; Equipment Manufacturers</a:t>
                      </a:r>
                      <a:endParaRPr sz="1100"/>
                    </a:p>
                  </a:txBody>
                  <a:tcPr marL="771525" marR="9525" marT="9525" marB="0" anchor="ctr"/>
                </a:tc>
              </a:tr>
              <a:tr h="175260">
                <a:tc>
                  <a:txBody>
                    <a:bodyPr wrap="square"/>
                    <a:lstStyle/>
                    <a:p>
                      <a:pPr algn="l"/>
                      <a:r>
                        <a:rPr sz="1100" b="0" i="1">
                          <a:solidFill>
                            <a:srgbClr val="000000"/>
                          </a:solidFill>
                          <a:latin typeface="Calibri"/>
                        </a:rPr>
                        <a:t>24.8.2.1.</a:t>
                      </a:r>
                      <a:r>
                        <a:rPr sz="700" b="0" i="1">
                          <a:solidFill>
                            <a:srgbClr val="000000"/>
                          </a:solidFill>
                          <a:latin typeface="Times New Roman"/>
                        </a:rPr>
                        <a:t> </a:t>
                      </a:r>
                      <a:r>
                        <a:rPr sz="1100" b="0" i="1">
                          <a:solidFill>
                            <a:srgbClr val="000000"/>
                          </a:solidFill>
                          <a:latin typeface="Calibri"/>
                        </a:rPr>
                        <a:t>Anker Innovations (Anker SOLIX)</a:t>
                      </a:r>
                      <a:endParaRPr sz="1100"/>
                    </a:p>
                  </a:txBody>
                  <a:tcPr marL="1028700" marR="9525" marT="9525" marB="0" anchor="ctr"/>
                </a:tc>
              </a:tr>
              <a:tr h="175260">
                <a:tc>
                  <a:txBody>
                    <a:bodyPr wrap="square"/>
                    <a:lstStyle/>
                    <a:p>
                      <a:pPr algn="l"/>
                      <a:r>
                        <a:rPr sz="1100" b="0" i="1">
                          <a:solidFill>
                            <a:srgbClr val="000000"/>
                          </a:solidFill>
                          <a:latin typeface="Calibri"/>
                        </a:rPr>
                        <a:t>24.8.2.2.</a:t>
                      </a:r>
                      <a:r>
                        <a:rPr sz="700" b="0" i="1">
                          <a:solidFill>
                            <a:srgbClr val="000000"/>
                          </a:solidFill>
                          <a:latin typeface="Times New Roman"/>
                        </a:rPr>
                        <a:t> </a:t>
                      </a:r>
                      <a:r>
                        <a:rPr sz="1100" b="0" i="1">
                          <a:solidFill>
                            <a:srgbClr val="000000"/>
                          </a:solidFill>
                          <a:latin typeface="Calibri"/>
                        </a:rPr>
                        <a:t>DJI (DJI Power)</a:t>
                      </a:r>
                      <a:endParaRPr sz="1100"/>
                    </a:p>
                  </a:txBody>
                  <a:tcPr marL="1028700" marR="9525" marT="9525" marB="0" anchor="ctr"/>
                </a:tc>
              </a:tr>
              <a:tr h="175260">
                <a:tc>
                  <a:txBody>
                    <a:bodyPr wrap="square"/>
                    <a:lstStyle/>
                    <a:p>
                      <a:pPr algn="l"/>
                      <a:r>
                        <a:rPr sz="1100" b="0" i="1">
                          <a:solidFill>
                            <a:srgbClr val="000000"/>
                          </a:solidFill>
                          <a:latin typeface="Calibri"/>
                        </a:rPr>
                        <a:t>24.8.2.3.</a:t>
                      </a:r>
                      <a:r>
                        <a:rPr sz="700" b="0" i="1">
                          <a:solidFill>
                            <a:srgbClr val="000000"/>
                          </a:solidFill>
                          <a:latin typeface="Times New Roman"/>
                        </a:rPr>
                        <a:t> </a:t>
                      </a:r>
                      <a:r>
                        <a:rPr sz="1100" b="0" i="1">
                          <a:solidFill>
                            <a:srgbClr val="000000"/>
                          </a:solidFill>
                          <a:latin typeface="Calibri"/>
                        </a:rPr>
                        <a:t>Generac Power Systems</a:t>
                      </a:r>
                      <a:endParaRPr sz="1100"/>
                    </a:p>
                  </a:txBody>
                  <a:tcPr marL="1028700" marR="9525" marT="9525" marB="0" anchor="ctr"/>
                </a:tc>
              </a:tr>
              <a:tr h="175260">
                <a:tc>
                  <a:txBody>
                    <a:bodyPr wrap="square"/>
                    <a:lstStyle/>
                    <a:p>
                      <a:pPr algn="l"/>
                      <a:r>
                        <a:rPr sz="1100" b="0" i="1">
                          <a:solidFill>
                            <a:srgbClr val="000000"/>
                          </a:solidFill>
                          <a:latin typeface="Calibri"/>
                        </a:rPr>
                        <a:t>24.8.2.4.</a:t>
                      </a:r>
                      <a:r>
                        <a:rPr sz="700" b="0" i="1">
                          <a:solidFill>
                            <a:srgbClr val="000000"/>
                          </a:solidFill>
                          <a:latin typeface="Times New Roman"/>
                        </a:rPr>
                        <a:t> </a:t>
                      </a:r>
                      <a:r>
                        <a:rPr sz="1100" b="0" i="1">
                          <a:solidFill>
                            <a:srgbClr val="000000"/>
                          </a:solidFill>
                          <a:latin typeface="Calibri"/>
                        </a:rPr>
                        <a:t>Westinghouse Outdoor Power Equipment</a:t>
                      </a:r>
                      <a:endParaRPr sz="1100"/>
                    </a:p>
                  </a:txBody>
                  <a:tcPr marL="1028700" marR="9525" marT="9525" marB="0" anchor="ctr"/>
                </a:tc>
              </a:tr>
              <a:tr h="175260">
                <a:tc>
                  <a:txBody>
                    <a:bodyPr wrap="square"/>
                    <a:lstStyle/>
                    <a:p>
                      <a:pPr algn="l"/>
                      <a:r>
                        <a:rPr sz="1100" b="0" i="1">
                          <a:solidFill>
                            <a:srgbClr val="000000"/>
                          </a:solidFill>
                          <a:latin typeface="Calibri"/>
                        </a:rPr>
                        <a:t>24.8.2.5.</a:t>
                      </a:r>
                      <a:r>
                        <a:rPr sz="700" b="0" i="1">
                          <a:solidFill>
                            <a:srgbClr val="000000"/>
                          </a:solidFill>
                          <a:latin typeface="Times New Roman"/>
                        </a:rPr>
                        <a:t> </a:t>
                      </a:r>
                      <a:r>
                        <a:rPr sz="1100" b="0" i="1">
                          <a:solidFill>
                            <a:srgbClr val="000000"/>
                          </a:solidFill>
                          <a:latin typeface="Calibri"/>
                        </a:rPr>
                        <a:t>UGREEN (PowerRoam)</a:t>
                      </a:r>
                      <a:endParaRPr sz="1100"/>
                    </a:p>
                  </a:txBody>
                  <a:tcPr marL="1028700"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(7/7)</a:t>
            </a:r>
          </a:p>
        </p:txBody>
      </p:sp>
      <p:graphicFrame>
        <p:nvGraphicFramePr>
          <p:cNvPr id="7" name="Fac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24.8.2.6.</a:t>
                      </a:r>
                      <a:r>
                        <a:rPr sz="700" b="0" i="1">
                          <a:solidFill>
                            <a:srgbClr val="000000"/>
                          </a:solidFill>
                          <a:latin typeface="Times New Roman"/>
                        </a:rPr>
                        <a:t> </a:t>
                      </a:r>
                      <a:r>
                        <a:rPr sz="1100" b="0" i="1">
                          <a:solidFill>
                            <a:srgbClr val="000000"/>
                          </a:solidFill>
                          <a:latin typeface="Calibri"/>
                        </a:rPr>
                        <a:t>Renogy</a:t>
                      </a:r>
                      <a:endParaRPr sz="1100"/>
                    </a:p>
                  </a:txBody>
                  <a:tcPr marL="1028700" marR="9525" marT="9525" marB="0" anchor="ctr"/>
                </a:tc>
              </a:tr>
              <a:tr h="175260">
                <a:tc>
                  <a:txBody>
                    <a:bodyPr wrap="square"/>
                    <a:lstStyle/>
                    <a:p>
                      <a:pPr algn="l"/>
                      <a:r>
                        <a:rPr sz="1100" b="0" i="1">
                          <a:solidFill>
                            <a:srgbClr val="000000"/>
                          </a:solidFill>
                          <a:latin typeface="Calibri"/>
                        </a:rPr>
                        <a:t>24.8.2.7.</a:t>
                      </a:r>
                      <a:r>
                        <a:rPr sz="700" b="0" i="1">
                          <a:solidFill>
                            <a:srgbClr val="000000"/>
                          </a:solidFill>
                          <a:latin typeface="Times New Roman"/>
                        </a:rPr>
                        <a:t> </a:t>
                      </a:r>
                      <a:r>
                        <a:rPr sz="1100" b="0" i="1">
                          <a:solidFill>
                            <a:srgbClr val="000000"/>
                          </a:solidFill>
                          <a:latin typeface="Calibri"/>
                        </a:rPr>
                        <a:t>Duracell</a:t>
                      </a:r>
                      <a:endParaRPr sz="1100"/>
                    </a:p>
                  </a:txBody>
                  <a:tcPr marL="1028700" marR="9525" marT="9525" marB="0" anchor="ctr"/>
                </a:tc>
              </a:tr>
              <a:tr h="175260">
                <a:tc>
                  <a:txBody>
                    <a:bodyPr wrap="square"/>
                    <a:lstStyle/>
                    <a:p>
                      <a:pPr algn="l"/>
                      <a:r>
                        <a:rPr sz="1100" b="0" i="0">
                          <a:solidFill>
                            <a:srgbClr val="000000"/>
                          </a:solidFill>
                          <a:latin typeface="Calibri"/>
                        </a:rPr>
                        <a:t>24.8.3.</a:t>
                      </a:r>
                      <a:r>
                        <a:rPr sz="700" b="0" i="0">
                          <a:solidFill>
                            <a:srgbClr val="000000"/>
                          </a:solidFill>
                          <a:latin typeface="Times New Roman"/>
                        </a:rPr>
                        <a:t> </a:t>
                      </a:r>
                      <a:r>
                        <a:rPr sz="1100" b="0" i="0">
                          <a:solidFill>
                            <a:srgbClr val="000000"/>
                          </a:solidFill>
                          <a:latin typeface="Calibri"/>
                        </a:rPr>
                        <a:t>Lithium-Ion / Lithium Polymer Battery Cell &amp; Pack Manufacturers</a:t>
                      </a:r>
                      <a:endParaRPr sz="1100"/>
                    </a:p>
                  </a:txBody>
                  <a:tcPr marL="771525" marR="9525" marT="9525" marB="0" anchor="ctr"/>
                </a:tc>
              </a:tr>
              <a:tr h="175260">
                <a:tc>
                  <a:txBody>
                    <a:bodyPr wrap="square"/>
                    <a:lstStyle/>
                    <a:p>
                      <a:pPr algn="l"/>
                      <a:r>
                        <a:rPr sz="1100" b="0" i="1">
                          <a:solidFill>
                            <a:srgbClr val="000000"/>
                          </a:solidFill>
                          <a:latin typeface="Calibri"/>
                        </a:rPr>
                        <a:t>24.8.3.1.</a:t>
                      </a:r>
                      <a:r>
                        <a:rPr sz="700" b="0" i="1">
                          <a:solidFill>
                            <a:srgbClr val="000000"/>
                          </a:solidFill>
                          <a:latin typeface="Times New Roman"/>
                        </a:rPr>
                        <a:t> </a:t>
                      </a:r>
                      <a:r>
                        <a:rPr sz="1100" b="0" i="1">
                          <a:solidFill>
                            <a:srgbClr val="000000"/>
                          </a:solidFill>
                          <a:latin typeface="Calibri"/>
                        </a:rPr>
                        <a:t>Contemporary Amperex Technology Co., Limited (CATL)</a:t>
                      </a:r>
                      <a:endParaRPr sz="1100"/>
                    </a:p>
                  </a:txBody>
                  <a:tcPr marL="1028700" marR="9525" marT="9525" marB="0" anchor="ctr"/>
                </a:tc>
              </a:tr>
              <a:tr h="175260">
                <a:tc>
                  <a:txBody>
                    <a:bodyPr wrap="square"/>
                    <a:lstStyle/>
                    <a:p>
                      <a:pPr algn="l"/>
                      <a:r>
                        <a:rPr sz="1100" b="0" i="1">
                          <a:solidFill>
                            <a:srgbClr val="000000"/>
                          </a:solidFill>
                          <a:latin typeface="Calibri"/>
                        </a:rPr>
                        <a:t>24.8.3.2.</a:t>
                      </a:r>
                      <a:r>
                        <a:rPr sz="700" b="0" i="1">
                          <a:solidFill>
                            <a:srgbClr val="000000"/>
                          </a:solidFill>
                          <a:latin typeface="Times New Roman"/>
                        </a:rPr>
                        <a:t> </a:t>
                      </a:r>
                      <a:r>
                        <a:rPr sz="1100" b="0" i="1">
                          <a:solidFill>
                            <a:srgbClr val="000000"/>
                          </a:solidFill>
                          <a:latin typeface="Calibri"/>
                        </a:rPr>
                        <a:t>EVE Energy</a:t>
                      </a:r>
                      <a:endParaRPr sz="1100"/>
                    </a:p>
                  </a:txBody>
                  <a:tcPr marL="1028700" marR="9525" marT="9525" marB="0" anchor="ctr"/>
                </a:tc>
              </a:tr>
              <a:tr h="175260">
                <a:tc>
                  <a:txBody>
                    <a:bodyPr wrap="square"/>
                    <a:lstStyle/>
                    <a:p>
                      <a:pPr algn="l"/>
                      <a:r>
                        <a:rPr sz="1100" b="0" i="1">
                          <a:solidFill>
                            <a:srgbClr val="000000"/>
                          </a:solidFill>
                          <a:latin typeface="Calibri"/>
                        </a:rPr>
                        <a:t>24.8.3.3.</a:t>
                      </a:r>
                      <a:r>
                        <a:rPr sz="700" b="0" i="1">
                          <a:solidFill>
                            <a:srgbClr val="000000"/>
                          </a:solidFill>
                          <a:latin typeface="Times New Roman"/>
                        </a:rPr>
                        <a:t> </a:t>
                      </a:r>
                      <a:r>
                        <a:rPr sz="1100" b="0" i="1">
                          <a:solidFill>
                            <a:srgbClr val="000000"/>
                          </a:solidFill>
                          <a:latin typeface="Calibri"/>
                        </a:rPr>
                        <a:t>BYD</a:t>
                      </a:r>
                      <a:endParaRPr sz="1100"/>
                    </a:p>
                  </a:txBody>
                  <a:tcPr marL="1028700" marR="9525" marT="9525" marB="0" anchor="ctr"/>
                </a:tc>
              </a:tr>
              <a:tr h="175260">
                <a:tc>
                  <a:txBody>
                    <a:bodyPr wrap="square"/>
                    <a:lstStyle/>
                    <a:p>
                      <a:pPr algn="l"/>
                      <a:r>
                        <a:rPr sz="1100" b="0" i="1">
                          <a:solidFill>
                            <a:srgbClr val="000000"/>
                          </a:solidFill>
                          <a:latin typeface="Calibri"/>
                        </a:rPr>
                        <a:t>24.8.3.4.</a:t>
                      </a:r>
                      <a:r>
                        <a:rPr sz="700" b="0" i="1">
                          <a:solidFill>
                            <a:srgbClr val="000000"/>
                          </a:solidFill>
                          <a:latin typeface="Times New Roman"/>
                        </a:rPr>
                        <a:t> </a:t>
                      </a:r>
                      <a:r>
                        <a:rPr sz="1100" b="0" i="1">
                          <a:solidFill>
                            <a:srgbClr val="000000"/>
                          </a:solidFill>
                          <a:latin typeface="Calibri"/>
                        </a:rPr>
                        <a:t>LG Energy Solution</a:t>
                      </a:r>
                      <a:endParaRPr sz="1100"/>
                    </a:p>
                  </a:txBody>
                  <a:tcPr marL="1028700" marR="9525" marT="9525" marB="0" anchor="ctr"/>
                </a:tc>
              </a:tr>
              <a:tr h="175260">
                <a:tc>
                  <a:txBody>
                    <a:bodyPr wrap="square"/>
                    <a:lstStyle/>
                    <a:p>
                      <a:pPr algn="l"/>
                      <a:r>
                        <a:rPr sz="1100" b="0" i="1">
                          <a:solidFill>
                            <a:srgbClr val="000000"/>
                          </a:solidFill>
                          <a:latin typeface="Calibri"/>
                        </a:rPr>
                        <a:t>24.8.3.5.</a:t>
                      </a:r>
                      <a:r>
                        <a:rPr sz="700" b="0" i="1">
                          <a:solidFill>
                            <a:srgbClr val="000000"/>
                          </a:solidFill>
                          <a:latin typeface="Times New Roman"/>
                        </a:rPr>
                        <a:t> </a:t>
                      </a:r>
                      <a:r>
                        <a:rPr sz="1100" b="0" i="1">
                          <a:solidFill>
                            <a:srgbClr val="000000"/>
                          </a:solidFill>
                          <a:latin typeface="Calibri"/>
                        </a:rPr>
                        <a:t>Samsung SDI</a:t>
                      </a:r>
                      <a:endParaRPr sz="1100"/>
                    </a:p>
                  </a:txBody>
                  <a:tcPr marL="1028700" marR="9525" marT="9525" marB="0" anchor="ctr"/>
                </a:tc>
              </a:tr>
              <a:tr h="175260">
                <a:tc>
                  <a:txBody>
                    <a:bodyPr wrap="square"/>
                    <a:lstStyle/>
                    <a:p>
                      <a:pPr algn="l"/>
                      <a:r>
                        <a:rPr sz="1100" b="0" i="1">
                          <a:solidFill>
                            <a:srgbClr val="000000"/>
                          </a:solidFill>
                          <a:latin typeface="Calibri"/>
                        </a:rPr>
                        <a:t>24.8.3.6.</a:t>
                      </a:r>
                      <a:r>
                        <a:rPr sz="700" b="0" i="1">
                          <a:solidFill>
                            <a:srgbClr val="000000"/>
                          </a:solidFill>
                          <a:latin typeface="Times New Roman"/>
                        </a:rPr>
                        <a:t> </a:t>
                      </a:r>
                      <a:r>
                        <a:rPr sz="1100" b="0" i="1">
                          <a:solidFill>
                            <a:srgbClr val="000000"/>
                          </a:solidFill>
                          <a:latin typeface="Calibri"/>
                        </a:rPr>
                        <a:t>Panasonic Energy</a:t>
                      </a:r>
                      <a:endParaRPr sz="1100"/>
                    </a:p>
                  </a:txBody>
                  <a:tcPr marL="1028700" marR="9525" marT="9525" marB="0" anchor="ctr"/>
                </a:tc>
              </a:tr>
              <a:tr h="175260">
                <a:tc>
                  <a:txBody>
                    <a:bodyPr wrap="square"/>
                    <a:lstStyle/>
                    <a:p>
                      <a:pPr algn="l"/>
                      <a:r>
                        <a:rPr sz="1100" b="0" i="1">
                          <a:solidFill>
                            <a:srgbClr val="000000"/>
                          </a:solidFill>
                          <a:latin typeface="Calibri"/>
                        </a:rPr>
                        <a:t>24.8.3.7.</a:t>
                      </a:r>
                      <a:r>
                        <a:rPr sz="700" b="0" i="1">
                          <a:solidFill>
                            <a:srgbClr val="000000"/>
                          </a:solidFill>
                          <a:latin typeface="Times New Roman"/>
                        </a:rPr>
                        <a:t> </a:t>
                      </a:r>
                      <a:r>
                        <a:rPr sz="1100" b="0" i="1">
                          <a:solidFill>
                            <a:srgbClr val="000000"/>
                          </a:solidFill>
                          <a:latin typeface="Calibri"/>
                        </a:rPr>
                        <a:t>Sunwoda Electronic</a:t>
                      </a:r>
                      <a:endParaRPr sz="1100"/>
                    </a:p>
                  </a:txBody>
                  <a:tcPr marL="1028700" marR="9525" marT="9525" marB="0" anchor="ctr"/>
                </a:tc>
              </a:tr>
              <a:tr h="175260">
                <a:tc>
                  <a:txBody>
                    <a:bodyPr wrap="square"/>
                    <a:lstStyle/>
                    <a:p>
                      <a:pPr algn="l"/>
                      <a:r>
                        <a:rPr sz="1100" b="0" i="1">
                          <a:solidFill>
                            <a:srgbClr val="000000"/>
                          </a:solidFill>
                          <a:latin typeface="Calibri"/>
                        </a:rPr>
                        <a:t>24.8.3.8.</a:t>
                      </a:r>
                      <a:r>
                        <a:rPr sz="700" b="0" i="1">
                          <a:solidFill>
                            <a:srgbClr val="000000"/>
                          </a:solidFill>
                          <a:latin typeface="Times New Roman"/>
                        </a:rPr>
                        <a:t> </a:t>
                      </a:r>
                      <a:r>
                        <a:rPr sz="1100" b="0" i="1">
                          <a:solidFill>
                            <a:srgbClr val="000000"/>
                          </a:solidFill>
                          <a:latin typeface="Calibri"/>
                        </a:rPr>
                        <a:t>Amperex Technology Limited (ATL)</a:t>
                      </a:r>
                      <a:endParaRPr sz="1100"/>
                    </a:p>
                  </a:txBody>
                  <a:tcPr marL="1028700" marR="9525" marT="9525" marB="0" anchor="ctr"/>
                </a:tc>
              </a:tr>
              <a:tr h="175260">
                <a:tc>
                  <a:txBody>
                    <a:bodyPr wrap="square"/>
                    <a:lstStyle/>
                    <a:p>
                      <a:pPr algn="l"/>
                      <a:r>
                        <a:rPr sz="1100" b="0" i="1">
                          <a:solidFill>
                            <a:srgbClr val="000000"/>
                          </a:solidFill>
                          <a:latin typeface="Calibri"/>
                        </a:rPr>
                        <a:t>24.8.3.9.</a:t>
                      </a:r>
                      <a:r>
                        <a:rPr sz="700" b="0" i="1">
                          <a:solidFill>
                            <a:srgbClr val="000000"/>
                          </a:solidFill>
                          <a:latin typeface="Times New Roman"/>
                        </a:rPr>
                        <a:t> </a:t>
                      </a:r>
                      <a:r>
                        <a:rPr sz="1100" b="0" i="1">
                          <a:solidFill>
                            <a:srgbClr val="000000"/>
                          </a:solidFill>
                          <a:latin typeface="Calibri"/>
                        </a:rPr>
                        <a:t>Shenzhen Grepow Battery</a:t>
                      </a:r>
                      <a:endParaRPr sz="1100"/>
                    </a:p>
                  </a:txBody>
                  <a:tcPr marL="1028700" marR="9525" marT="9525" marB="0" anchor="ctr"/>
                </a:tc>
              </a:tr>
              <a:tr h="175260">
                <a:tc>
                  <a:txBody>
                    <a:bodyPr wrap="square"/>
                    <a:lstStyle/>
                    <a:p>
                      <a:pPr algn="l"/>
                      <a:r>
                        <a:rPr sz="1100" b="0" i="1">
                          <a:solidFill>
                            <a:srgbClr val="000000"/>
                          </a:solidFill>
                          <a:latin typeface="Calibri"/>
                        </a:rPr>
                        <a:t>24.8.3.10.</a:t>
                      </a:r>
                      <a:r>
                        <a:rPr sz="700" b="0" i="1">
                          <a:solidFill>
                            <a:srgbClr val="000000"/>
                          </a:solidFill>
                          <a:latin typeface="Times New Roman"/>
                        </a:rPr>
                        <a:t> </a:t>
                      </a:r>
                      <a:r>
                        <a:rPr sz="1100" b="0" i="1">
                          <a:solidFill>
                            <a:srgbClr val="000000"/>
                          </a:solidFill>
                          <a:latin typeface="Calibri"/>
                        </a:rPr>
                        <a:t>Gotion High-Tech</a:t>
                      </a:r>
                      <a:endParaRPr sz="1100"/>
                    </a:p>
                  </a:txBody>
                  <a:tcPr marL="1028700" marR="9525" marT="9525" marB="0" anchor="ctr"/>
                </a:tc>
              </a:tr>
              <a:tr h="175260">
                <a:tc>
                  <a:txBody>
                    <a:bodyPr wrap="square"/>
                    <a:lstStyle/>
                    <a:p>
                      <a:pPr algn="l"/>
                      <a:r>
                        <a:rPr sz="1100" b="0" i="1">
                          <a:solidFill>
                            <a:srgbClr val="000000"/>
                          </a:solidFill>
                          <a:latin typeface="Calibri"/>
                        </a:rPr>
                        <a:t>24.8.3.11.</a:t>
                      </a:r>
                      <a:r>
                        <a:rPr sz="700" b="0" i="1">
                          <a:solidFill>
                            <a:srgbClr val="000000"/>
                          </a:solidFill>
                          <a:latin typeface="Times New Roman"/>
                        </a:rPr>
                        <a:t> </a:t>
                      </a:r>
                      <a:r>
                        <a:rPr sz="1100" b="0" i="1">
                          <a:solidFill>
                            <a:srgbClr val="000000"/>
                          </a:solidFill>
                          <a:latin typeface="Calibri"/>
                        </a:rPr>
                        <a:t>REPT BATTERO</a:t>
                      </a:r>
                      <a:endParaRPr sz="1100"/>
                    </a:p>
                  </a:txBody>
                  <a:tcPr marL="1028700" marR="9525" marT="9525" marB="0" anchor="ctr"/>
                </a:tc>
              </a:tr>
              <a:tr h="175260">
                <a:tc>
                  <a:txBody>
                    <a:bodyPr wrap="square"/>
                    <a:lstStyle/>
                    <a:p>
                      <a:pPr algn="l"/>
                      <a:r>
                        <a:rPr sz="1100" b="0" i="1">
                          <a:solidFill>
                            <a:srgbClr val="000000"/>
                          </a:solidFill>
                          <a:latin typeface="Calibri"/>
                        </a:rPr>
                        <a:t>24.8.3.12.</a:t>
                      </a:r>
                      <a:r>
                        <a:rPr sz="700" b="0" i="1">
                          <a:solidFill>
                            <a:srgbClr val="000000"/>
                          </a:solidFill>
                          <a:latin typeface="Times New Roman"/>
                        </a:rPr>
                        <a:t> </a:t>
                      </a:r>
                      <a:r>
                        <a:rPr sz="1100" b="0" i="1">
                          <a:solidFill>
                            <a:srgbClr val="000000"/>
                          </a:solidFill>
                          <a:latin typeface="Calibri"/>
                        </a:rPr>
                        <a:t>Great Power Energy &amp; Technology</a:t>
                      </a:r>
                      <a:endParaRPr sz="1100"/>
                    </a:p>
                  </a:txBody>
                  <a:tcPr marL="1028700" marR="9525" marT="9525" marB="0" anchor="ctr"/>
                </a:tc>
              </a:tr>
              <a:tr h="175260">
                <a:tc>
                  <a:txBody>
                    <a:bodyPr wrap="square"/>
                    <a:lstStyle/>
                    <a:p>
                      <a:pPr algn="l"/>
                      <a:r>
                        <a:rPr sz="1100" b="0" i="1">
                          <a:solidFill>
                            <a:srgbClr val="000000"/>
                          </a:solidFill>
                          <a:latin typeface="Calibri"/>
                        </a:rPr>
                        <a:t>24.8.3.13.</a:t>
                      </a:r>
                      <a:r>
                        <a:rPr sz="700" b="0" i="1">
                          <a:solidFill>
                            <a:srgbClr val="000000"/>
                          </a:solidFill>
                          <a:latin typeface="Times New Roman"/>
                        </a:rPr>
                        <a:t> </a:t>
                      </a:r>
                      <a:r>
                        <a:rPr sz="1100" b="0" i="1">
                          <a:solidFill>
                            <a:srgbClr val="000000"/>
                          </a:solidFill>
                          <a:latin typeface="Calibri"/>
                        </a:rPr>
                        <a:t>BAK Battery</a:t>
                      </a:r>
                      <a:endParaRPr sz="1100"/>
                    </a:p>
                  </a:txBody>
                  <a:tcPr marL="1028700" marR="9525" marT="9525" marB="0" anchor="ctr"/>
                </a:tc>
              </a:tr>
              <a:tr h="175260">
                <a:tc>
                  <a:txBody>
                    <a:bodyPr wrap="square"/>
                    <a:lstStyle/>
                    <a:p>
                      <a:pPr algn="l"/>
                      <a:r>
                        <a:rPr sz="1100" b="0" i="1">
                          <a:solidFill>
                            <a:srgbClr val="000000"/>
                          </a:solidFill>
                          <a:latin typeface="Calibri"/>
                        </a:rPr>
                        <a:t>24.8.3.14.</a:t>
                      </a:r>
                      <a:r>
                        <a:rPr sz="700" b="0" i="1">
                          <a:solidFill>
                            <a:srgbClr val="000000"/>
                          </a:solidFill>
                          <a:latin typeface="Times New Roman"/>
                        </a:rPr>
                        <a:t> </a:t>
                      </a:r>
                      <a:r>
                        <a:rPr sz="1100" b="0" i="1">
                          <a:solidFill>
                            <a:srgbClr val="000000"/>
                          </a:solidFill>
                          <a:latin typeface="Calibri"/>
                        </a:rPr>
                        <a:t>Farasis Energy</a:t>
                      </a:r>
                      <a:endParaRPr sz="1100"/>
                    </a:p>
                  </a:txBody>
                  <a:tcPr marL="1028700" marR="9525" marT="9525" marB="0" anchor="ctr"/>
                </a:tc>
              </a:tr>
              <a:tr h="175260">
                <a:tc>
                  <a:txBody>
                    <a:bodyPr wrap="square"/>
                    <a:lstStyle/>
                    <a:p>
                      <a:pPr algn="l"/>
                      <a:r>
                        <a:rPr sz="1100" b="0" i="1">
                          <a:solidFill>
                            <a:srgbClr val="000000"/>
                          </a:solidFill>
                          <a:latin typeface="Calibri"/>
                        </a:rPr>
                        <a:t>24.8.3.15.</a:t>
                      </a:r>
                      <a:r>
                        <a:rPr sz="700" b="0" i="1">
                          <a:solidFill>
                            <a:srgbClr val="000000"/>
                          </a:solidFill>
                          <a:latin typeface="Times New Roman"/>
                        </a:rPr>
                        <a:t> </a:t>
                      </a:r>
                      <a:r>
                        <a:rPr sz="1100" b="0" i="1">
                          <a:solidFill>
                            <a:srgbClr val="000000"/>
                          </a:solidFill>
                          <a:latin typeface="Calibri"/>
                        </a:rPr>
                        <a:t>Tianjin Lishen Battery</a:t>
                      </a:r>
                      <a:endParaRPr sz="1100"/>
                    </a:p>
                  </a:txBody>
                  <a:tcPr marL="1028700" marR="9525" marT="9525" marB="0" anchor="ctr"/>
                </a:tc>
              </a:tr>
              <a:tr h="175260">
                <a:tc>
                  <a:txBody>
                    <a:bodyPr wrap="square"/>
                    <a:lstStyle/>
                    <a:p>
                      <a:pPr algn="l"/>
                      <a:r>
                        <a:rPr sz="1100" b="0" i="1">
                          <a:solidFill>
                            <a:srgbClr val="000000"/>
                          </a:solidFill>
                          <a:latin typeface="Calibri"/>
                        </a:rPr>
                        <a:t>24.8.3.16.</a:t>
                      </a:r>
                      <a:r>
                        <a:rPr sz="700" b="0" i="1">
                          <a:solidFill>
                            <a:srgbClr val="000000"/>
                          </a:solidFill>
                          <a:latin typeface="Times New Roman"/>
                        </a:rPr>
                        <a:t> </a:t>
                      </a:r>
                      <a:r>
                        <a:rPr sz="1100" b="0" i="1">
                          <a:solidFill>
                            <a:srgbClr val="000000"/>
                          </a:solidFill>
                          <a:latin typeface="Calibri"/>
                        </a:rPr>
                        <a:t>SVOLT Energy Technology</a:t>
                      </a:r>
                      <a:endParaRPr sz="1100"/>
                    </a:p>
                  </a:txBody>
                  <a:tcPr marL="1028700" marR="9525" marT="9525" marB="0" anchor="ctr"/>
                </a:tc>
              </a:tr>
              <a:tr h="175260">
                <a:tc>
                  <a:txBody>
                    <a:bodyPr wrap="square"/>
                    <a:lstStyle/>
                    <a:p>
                      <a:pPr algn="l"/>
                      <a:r>
                        <a:rPr sz="1100" b="0" i="0">
                          <a:solidFill>
                            <a:srgbClr val="000000"/>
                          </a:solidFill>
                          <a:latin typeface="Calibri"/>
                        </a:rPr>
                        <a:t>24.8.4.</a:t>
                      </a:r>
                      <a:r>
                        <a:rPr sz="700" b="0" i="0">
                          <a:solidFill>
                            <a:srgbClr val="000000"/>
                          </a:solidFill>
                          <a:latin typeface="Times New Roman"/>
                        </a:rPr>
                        <a:t> </a:t>
                      </a:r>
                      <a:r>
                        <a:rPr sz="1100" b="0" i="0">
                          <a:solidFill>
                            <a:srgbClr val="000000"/>
                          </a:solidFill>
                          <a:latin typeface="Calibri"/>
                        </a:rPr>
                        <a:t>OEM/ODM Portable Energy Storage &amp; Battery Pack Manufacturers</a:t>
                      </a:r>
                      <a:endParaRPr sz="1100"/>
                    </a:p>
                  </a:txBody>
                  <a:tcPr marL="771525" marR="9525" marT="9525" marB="0" anchor="ctr"/>
                </a:tc>
              </a:tr>
              <a:tr h="175260">
                <a:tc>
                  <a:txBody>
                    <a:bodyPr wrap="square"/>
                    <a:lstStyle/>
                    <a:p>
                      <a:pPr algn="l"/>
                      <a:r>
                        <a:rPr sz="1100" b="0" i="1">
                          <a:solidFill>
                            <a:srgbClr val="000000"/>
                          </a:solidFill>
                          <a:latin typeface="Calibri"/>
                        </a:rPr>
                        <a:t>24.8.4.1.</a:t>
                      </a:r>
                      <a:r>
                        <a:rPr sz="700" b="0" i="1">
                          <a:solidFill>
                            <a:srgbClr val="000000"/>
                          </a:solidFill>
                          <a:latin typeface="Times New Roman"/>
                        </a:rPr>
                        <a:t> </a:t>
                      </a:r>
                      <a:r>
                        <a:rPr sz="1100" b="0" i="1">
                          <a:solidFill>
                            <a:srgbClr val="000000"/>
                          </a:solidFill>
                          <a:latin typeface="Calibri"/>
                        </a:rPr>
                        <a:t>Shenzhen Sunbeam New Energy</a:t>
                      </a:r>
                      <a:endParaRPr sz="1100"/>
                    </a:p>
                  </a:txBody>
                  <a:tcPr marL="1028700" marR="9525" marT="9525" marB="0" anchor="ctr"/>
                </a:tc>
              </a:tr>
              <a:tr h="175260">
                <a:tc>
                  <a:txBody>
                    <a:bodyPr wrap="square"/>
                    <a:lstStyle/>
                    <a:p>
                      <a:pPr algn="l"/>
                      <a:r>
                        <a:rPr sz="1100" b="0" i="1">
                          <a:solidFill>
                            <a:srgbClr val="000000"/>
                          </a:solidFill>
                          <a:latin typeface="Calibri"/>
                        </a:rPr>
                        <a:t>24.8.4.2.</a:t>
                      </a:r>
                      <a:r>
                        <a:rPr sz="700" b="0" i="1">
                          <a:solidFill>
                            <a:srgbClr val="000000"/>
                          </a:solidFill>
                          <a:latin typeface="Times New Roman"/>
                        </a:rPr>
                        <a:t> </a:t>
                      </a:r>
                      <a:r>
                        <a:rPr sz="1100" b="0" i="1">
                          <a:solidFill>
                            <a:srgbClr val="000000"/>
                          </a:solidFill>
                          <a:latin typeface="Calibri"/>
                        </a:rPr>
                        <a:t>OVYTE Energy</a:t>
                      </a:r>
                      <a:endParaRPr sz="1100"/>
                    </a:p>
                  </a:txBody>
                  <a:tcPr marL="1028700" marR="9525" marT="9525" marB="0" anchor="ctr"/>
                </a:tc>
              </a:tr>
              <a:tr h="175260">
                <a:tc>
                  <a:txBody>
                    <a:bodyPr wrap="square"/>
                    <a:lstStyle/>
                    <a:p>
                      <a:pPr algn="l"/>
                      <a:r>
                        <a:rPr sz="1100" b="0" i="1">
                          <a:solidFill>
                            <a:srgbClr val="000000"/>
                          </a:solidFill>
                          <a:latin typeface="Calibri"/>
                        </a:rPr>
                        <a:t>24.8.4.3.</a:t>
                      </a:r>
                      <a:r>
                        <a:rPr sz="700" b="0" i="1">
                          <a:solidFill>
                            <a:srgbClr val="000000"/>
                          </a:solidFill>
                          <a:latin typeface="Times New Roman"/>
                        </a:rPr>
                        <a:t> </a:t>
                      </a:r>
                      <a:r>
                        <a:rPr sz="1100" b="0" i="1">
                          <a:solidFill>
                            <a:srgbClr val="000000"/>
                          </a:solidFill>
                          <a:latin typeface="Calibri"/>
                        </a:rPr>
                        <a:t>Shenzhen Data Power Technology</a:t>
                      </a:r>
                      <a:endParaRPr sz="1100"/>
                    </a:p>
                  </a:txBody>
                  <a:tcPr marL="1028700" marR="9525" marT="9525" marB="0" anchor="ctr"/>
                </a:tc>
              </a:tr>
              <a:tr h="175260">
                <a:tc>
                  <a:txBody>
                    <a:bodyPr wrap="square"/>
                    <a:lstStyle/>
                    <a:p>
                      <a:pPr algn="l"/>
                      <a:r>
                        <a:rPr sz="1100" b="0" i="1">
                          <a:solidFill>
                            <a:srgbClr val="000000"/>
                          </a:solidFill>
                          <a:latin typeface="Calibri"/>
                        </a:rPr>
                        <a:t>24.8.4.4.</a:t>
                      </a:r>
                      <a:r>
                        <a:rPr sz="700" b="0" i="1">
                          <a:solidFill>
                            <a:srgbClr val="000000"/>
                          </a:solidFill>
                          <a:latin typeface="Times New Roman"/>
                        </a:rPr>
                        <a:t> </a:t>
                      </a:r>
                      <a:r>
                        <a:rPr sz="1100" b="0" i="1">
                          <a:solidFill>
                            <a:srgbClr val="000000"/>
                          </a:solidFill>
                          <a:latin typeface="Calibri"/>
                        </a:rPr>
                        <a:t>Shenzhen Topband</a:t>
                      </a:r>
                      <a:endParaRPr sz="1100"/>
                    </a:p>
                  </a:txBody>
                  <a:tcPr marL="1028700" marR="9525" marT="9525" marB="0" anchor="ctr"/>
                </a:tc>
              </a:tr>
              <a:tr h="175260">
                <a:tc>
                  <a:txBody>
                    <a:bodyPr wrap="square"/>
                    <a:lstStyle/>
                    <a:p>
                      <a:pPr algn="l"/>
                      <a:r>
                        <a:rPr sz="1100" b="0" i="1">
                          <a:solidFill>
                            <a:srgbClr val="000000"/>
                          </a:solidFill>
                          <a:latin typeface="Calibri"/>
                        </a:rPr>
                        <a:t>24.8.4.5.</a:t>
                      </a:r>
                      <a:r>
                        <a:rPr sz="700" b="0" i="1">
                          <a:solidFill>
                            <a:srgbClr val="000000"/>
                          </a:solidFill>
                          <a:latin typeface="Times New Roman"/>
                        </a:rPr>
                        <a:t> </a:t>
                      </a:r>
                      <a:r>
                        <a:rPr sz="1100" b="0" i="1">
                          <a:solidFill>
                            <a:srgbClr val="000000"/>
                          </a:solidFill>
                          <a:latin typeface="Calibri"/>
                        </a:rPr>
                        <a:t>Shenzhen BPI</a:t>
                      </a:r>
                      <a:endParaRPr sz="1100"/>
                    </a:p>
                  </a:txBody>
                  <a:tcPr marL="1028700" marR="9525" marT="9525" marB="0" anchor="ctr"/>
                </a:tc>
              </a:tr>
              <a:tr h="175260">
                <a:tc>
                  <a:txBody>
                    <a:bodyPr wrap="square"/>
                    <a:lstStyle/>
                    <a:p>
                      <a:pPr algn="l"/>
                      <a:r>
                        <a:rPr sz="1100" b="0" i="1">
                          <a:solidFill>
                            <a:srgbClr val="000000"/>
                          </a:solidFill>
                          <a:latin typeface="Calibri"/>
                        </a:rPr>
                        <a:t>24.8.4.6.</a:t>
                      </a:r>
                      <a:r>
                        <a:rPr sz="700" b="0" i="1">
                          <a:solidFill>
                            <a:srgbClr val="000000"/>
                          </a:solidFill>
                          <a:latin typeface="Times New Roman"/>
                        </a:rPr>
                        <a:t> </a:t>
                      </a:r>
                      <a:r>
                        <a:rPr sz="1100" b="0" i="1">
                          <a:solidFill>
                            <a:srgbClr val="000000"/>
                          </a:solidFill>
                          <a:latin typeface="Calibri"/>
                        </a:rPr>
                        <a:t>Guangdong KAYO Battery</a:t>
                      </a:r>
                      <a:endParaRPr sz="1100"/>
                    </a:p>
                  </a:txBody>
                  <a:tcPr marL="1028700" marR="9525" marT="9525" marB="0" anchor="ctr"/>
                </a:tc>
              </a:tr>
              <a:tr h="175260">
                <a:tc>
                  <a:txBody>
                    <a:bodyPr wrap="square"/>
                    <a:lstStyle/>
                    <a:p>
                      <a:pPr algn="l"/>
                      <a:r>
                        <a:rPr sz="1100" b="0" i="1">
                          <a:solidFill>
                            <a:srgbClr val="000000"/>
                          </a:solidFill>
                          <a:latin typeface="Calibri"/>
                        </a:rPr>
                        <a:t>24.8.4.7.</a:t>
                      </a:r>
                      <a:r>
                        <a:rPr sz="700" b="0" i="1">
                          <a:solidFill>
                            <a:srgbClr val="000000"/>
                          </a:solidFill>
                          <a:latin typeface="Times New Roman"/>
                        </a:rPr>
                        <a:t> </a:t>
                      </a:r>
                      <a:r>
                        <a:rPr sz="1100" b="0" i="1">
                          <a:solidFill>
                            <a:srgbClr val="000000"/>
                          </a:solidFill>
                          <a:latin typeface="Calibri"/>
                        </a:rPr>
                        <a:t>Shenzhen A&amp;S Power Technology</a:t>
                      </a:r>
                      <a:endParaRPr sz="1100"/>
                    </a:p>
                  </a:txBody>
                  <a:tcPr marL="1028700" marR="9525" marT="9525" marB="0" anchor="ctr"/>
                </a:tc>
              </a:tr>
              <a:tr h="175260">
                <a:tc>
                  <a:txBody>
                    <a:bodyPr wrap="square"/>
                    <a:lstStyle/>
                    <a:p>
                      <a:pPr algn="l"/>
                      <a:r>
                        <a:rPr sz="1100" b="0" i="1">
                          <a:solidFill>
                            <a:srgbClr val="000000"/>
                          </a:solidFill>
                          <a:latin typeface="Calibri"/>
                        </a:rPr>
                        <a:t>24.8.4.8.</a:t>
                      </a:r>
                      <a:r>
                        <a:rPr sz="700" b="0" i="1">
                          <a:solidFill>
                            <a:srgbClr val="000000"/>
                          </a:solidFill>
                          <a:latin typeface="Times New Roman"/>
                        </a:rPr>
                        <a:t> </a:t>
                      </a:r>
                      <a:r>
                        <a:rPr sz="1100" b="0" i="1">
                          <a:solidFill>
                            <a:srgbClr val="000000"/>
                          </a:solidFill>
                          <a:latin typeface="Calibri"/>
                        </a:rPr>
                        <a:t>Shenzhen Tritek</a:t>
                      </a:r>
                      <a:endParaRPr sz="1100"/>
                    </a:p>
                  </a:txBody>
                  <a:tcPr marL="1028700" marR="9525" marT="9525" marB="0" anchor="ctr"/>
                </a:tc>
              </a:tr>
              <a:tr h="175260">
                <a:tc>
                  <a:txBody>
                    <a:bodyPr wrap="square"/>
                    <a:lstStyle/>
                    <a:p>
                      <a:pPr algn="l"/>
                      <a:r>
                        <a:rPr sz="1100" b="0" i="1">
                          <a:solidFill>
                            <a:srgbClr val="000000"/>
                          </a:solidFill>
                          <a:latin typeface="Calibri"/>
                        </a:rPr>
                        <a:t>24.8.4.9.</a:t>
                      </a:r>
                      <a:r>
                        <a:rPr sz="700" b="0" i="1">
                          <a:solidFill>
                            <a:srgbClr val="000000"/>
                          </a:solidFill>
                          <a:latin typeface="Times New Roman"/>
                        </a:rPr>
                        <a:t> </a:t>
                      </a:r>
                      <a:r>
                        <a:rPr sz="1100" b="0" i="1">
                          <a:solidFill>
                            <a:srgbClr val="000000"/>
                          </a:solidFill>
                          <a:latin typeface="Calibri"/>
                        </a:rPr>
                        <a:t>Shenzhen Bixell Technology</a:t>
                      </a:r>
                      <a:endParaRPr sz="1100"/>
                    </a:p>
                  </a:txBody>
                  <a:tcPr marL="1028700" marR="9525" marT="9525" marB="0" anchor="ctr"/>
                </a:tc>
              </a:tr>
              <a:tr h="175260">
                <a:tc>
                  <a:txBody>
                    <a:bodyPr wrap="square"/>
                    <a:lstStyle/>
                    <a:p>
                      <a:pPr algn="l"/>
                      <a:r>
                        <a:rPr sz="1100" b="0" i="0">
                          <a:solidFill>
                            <a:srgbClr val="000000"/>
                          </a:solidFill>
                          <a:latin typeface="Calibri"/>
                        </a:rPr>
                        <a:t>24.8.5.</a:t>
                      </a:r>
                      <a:r>
                        <a:rPr sz="700" b="0" i="0">
                          <a:solidFill>
                            <a:srgbClr val="000000"/>
                          </a:solidFill>
                          <a:latin typeface="Times New Roman"/>
                        </a:rPr>
                        <a:t> </a:t>
                      </a:r>
                      <a:r>
                        <a:rPr sz="1100" b="0" i="0">
                          <a:solidFill>
                            <a:srgbClr val="000000"/>
                          </a:solidFill>
                          <a:latin typeface="Calibri"/>
                        </a:rPr>
                        <a:t>Other Prominent Players (On Request)</a:t>
                      </a:r>
                      <a:endParaRPr sz="1100"/>
                    </a:p>
                  </a:txBody>
                  <a:tcPr marL="771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Primary Research Insights</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Assumptions and Acronyms</a:t>
                      </a:r>
                      <a:endParaRPr sz="1100"/>
                    </a:p>
                  </a:txBody>
                  <a:tcPr marL="171450"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Research Methodology and Data Sources</a:t>
                      </a:r>
                      <a:endParaRPr sz="1100"/>
                    </a:p>
                  </a:txBody>
                  <a:tcPr marL="171450"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0526E"/>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(1/4)</a:t>
            </a:r>
          </a:p>
        </p:txBody>
      </p:sp>
      <p:graphicFrame>
        <p:nvGraphicFramePr>
          <p:cNvPr id="7" name="Fac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Energy Storage Capacity,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Battery Chemistry,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Battery Configuration,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System Application,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Output Power Rating,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System Architecture,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Thousand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Energy Storage Capacity,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Battery Chemistry,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Battery Configuration,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System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Output Power Rating,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System Architecture,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Energy Storage Capacity,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Battery Chemistry,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Battery Configuration,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System Application, %, 2026 and 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Output Power Rating,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Share by System Architecture, %, 2026 and 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Share by Distribution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Energy Storage Capacity,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Battery Chemistry,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Battery Configuration,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System Application,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Absolute $ Opportunity by Output Power Rating, US$ Mn,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Absolute $ Opportunity by System Architecture, US$ Mn,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Absolute $ Opportunity by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BPS Share Change by Energy Storage Capacity,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BPS Share Change by Battery Chemistry,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Battery Configuration,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BPS Share Change by System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BPS Share Change by Output Power Rating,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BPS Share Change by System Architecture,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BPS Share Change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YoY Growth by Energy Storage Capacity, %,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YoY Growth by Battery Chemistry, %,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YoY Growth by Battery Configuration, %,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YoY Growth by System Application, %,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YoY Growth by Output Power Rating, %,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YoY Growth by System Architecture, %,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YoY Growth by Distribution Channel, %,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Attractiveness by Energy Storage Capacity,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Attractiveness by Battery Chemistry, 2026–2036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Attractiveness by Battery Configuration, 2026–2036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Attractiveness by System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Attractiveness by Output Power Rating, 2026–2036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Attractiveness by System Architecture, 2026–2036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Attractiveness by Distribution Channel, 2026–2036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(2/4)</a:t>
            </a:r>
          </a:p>
        </p:txBody>
      </p:sp>
      <p:graphicFrame>
        <p:nvGraphicFramePr>
          <p:cNvPr id="7" name="Fac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Volume by Energy Storage Capacity, Thousand Units, 2021–2036</a:t>
                      </a:r>
                      <a:endParaRPr sz="1050"/>
                    </a:p>
                  </a:txBody>
                  <a:tcPr marL="9525" marR="9525" marT="9525" marB="0" anchor="ctr"/>
                </a:tc>
              </a:tr>
              <a:tr h="169606">
                <a:tc>
                  <a:txBody>
                    <a:bodyPr wrap="square"/>
                    <a:lstStyle/>
                    <a:p>
                      <a:pPr algn="l"/>
                      <a:r>
                        <a:rPr sz="1050" b="0" i="0">
                          <a:solidFill>
                            <a:srgbClr val="000000"/>
                          </a:solidFill>
                          <a:latin typeface="Calibri"/>
                        </a:rPr>
                        <a:t>Figure 64: Global Market Volume by Battery Chemistry, Thousand Units, 2021–2036</a:t>
                      </a:r>
                      <a:endParaRPr sz="1050"/>
                    </a:p>
                  </a:txBody>
                  <a:tcPr marL="9525" marR="9525" marT="9525" marB="0" anchor="ctr"/>
                </a:tc>
              </a:tr>
              <a:tr h="169606">
                <a:tc>
                  <a:txBody>
                    <a:bodyPr wrap="square"/>
                    <a:lstStyle/>
                    <a:p>
                      <a:pPr algn="l"/>
                      <a:r>
                        <a:rPr sz="1050" b="0" i="0">
                          <a:solidFill>
                            <a:srgbClr val="000000"/>
                          </a:solidFill>
                          <a:latin typeface="Calibri"/>
                        </a:rPr>
                        <a:t>Figure 65: Global Market Volume by Battery Configuration, Thousand Units, 2021–2036</a:t>
                      </a:r>
                      <a:endParaRPr sz="1050"/>
                    </a:p>
                  </a:txBody>
                  <a:tcPr marL="9525" marR="9525" marT="9525" marB="0" anchor="ctr"/>
                </a:tc>
              </a:tr>
              <a:tr h="169606">
                <a:tc>
                  <a:txBody>
                    <a:bodyPr wrap="square"/>
                    <a:lstStyle/>
                    <a:p>
                      <a:pPr algn="l"/>
                      <a:r>
                        <a:rPr sz="1050" b="0" i="0">
                          <a:solidFill>
                            <a:srgbClr val="000000"/>
                          </a:solidFill>
                          <a:latin typeface="Calibri"/>
                        </a:rPr>
                        <a:t>Figure 66: Global Market Volume by System Application, Thousand Units, 2021–2036</a:t>
                      </a:r>
                      <a:endParaRPr sz="1050"/>
                    </a:p>
                  </a:txBody>
                  <a:tcPr marL="9525" marR="9525" marT="9525" marB="0" anchor="ctr"/>
                </a:tc>
              </a:tr>
              <a:tr h="169606">
                <a:tc>
                  <a:txBody>
                    <a:bodyPr wrap="square"/>
                    <a:lstStyle/>
                    <a:p>
                      <a:pPr algn="l"/>
                      <a:r>
                        <a:rPr sz="1050" b="0" i="0">
                          <a:solidFill>
                            <a:srgbClr val="000000"/>
                          </a:solidFill>
                          <a:latin typeface="Calibri"/>
                        </a:rPr>
                        <a:t>Figure 67: Global Market Volume by Output Power Rating, Thousand Units, 2021–2036</a:t>
                      </a:r>
                      <a:endParaRPr sz="1050"/>
                    </a:p>
                  </a:txBody>
                  <a:tcPr marL="9525" marR="9525" marT="9525" marB="0" anchor="ctr"/>
                </a:tc>
              </a:tr>
              <a:tr h="169606">
                <a:tc>
                  <a:txBody>
                    <a:bodyPr wrap="square"/>
                    <a:lstStyle/>
                    <a:p>
                      <a:pPr algn="l"/>
                      <a:r>
                        <a:rPr sz="1050" b="0" i="0">
                          <a:solidFill>
                            <a:srgbClr val="000000"/>
                          </a:solidFill>
                          <a:latin typeface="Calibri"/>
                        </a:rPr>
                        <a:t>Figure 68: Energy Storage Capacity × Battery Chemistry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Energy Storage Capacity × Battery Configuration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Energy Storage Capacity × System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Energy Storage Capacity × Output Power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Energy Storage Capacity × System Architecture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Energy Storage Capacity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Battery Chemistry × Battery Configuration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Battery Chemistry × System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Battery Chemistry × Output Power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Battery Chemistry × System Architecture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Battery Chemistry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Battery Configuration × System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Battery Configuration × Output Power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Battery Configuration × System Architecture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Battery Configuration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System Application × Output Power Rating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System Application × System Architecture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System Application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86: Output Power Rating × System Architecture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87: Output Power Rating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88: System Architecture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89: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91: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92: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93: Global Market Attractiveness by Region, 2026–2036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95: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Western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98: Eastern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99: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100: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101: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102: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104: Western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105: Eastern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106: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107: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108: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109: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110: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Western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Eastern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113: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United States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116: United States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United States Market Value by System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United States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119: United States Market Value by Battery Chemistry,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United States Market Value by Battery Configuration,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United States Market Value by Output Power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United States Market Value by System Architecture,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124: Canada Market Value by Energy Storage Capacity, US$ Mn, 2026 and 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(3/4)</a:t>
            </a:r>
          </a:p>
        </p:txBody>
      </p:sp>
      <p:graphicFrame>
        <p:nvGraphicFramePr>
          <p:cNvPr id="7" name="Fac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Canada Market Value by System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127: Canada Market Value by Battery Chemistry,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Value by Battery Configuration,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Canada Market Value by Output Power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Canada Market Value by System Architecture,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132: India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India Market Value by System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India Market Share within South Asia &amp; Pacific, %, 2026 and 2036</a:t>
                      </a:r>
                      <a:endParaRPr sz="1050"/>
                    </a:p>
                  </a:txBody>
                  <a:tcPr marL="9525" marR="9525" marT="9525" marB="0" anchor="ctr"/>
                </a:tc>
              </a:tr>
              <a:tr h="169606">
                <a:tc>
                  <a:txBody>
                    <a:bodyPr wrap="square"/>
                    <a:lstStyle/>
                    <a:p>
                      <a:pPr algn="l"/>
                      <a:r>
                        <a:rPr sz="1050" b="0" i="0">
                          <a:solidFill>
                            <a:srgbClr val="000000"/>
                          </a:solidFill>
                          <a:latin typeface="Calibri"/>
                        </a:rPr>
                        <a:t>Figure 135: India Market Value by Battery Chemistry,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India Market Value by Battery Configuration,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India Market Value by Output Power Rating,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by System Architecture,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140: China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China Market Value by System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Brazil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Mexico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Mexico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Kingdom of Saudi Arabia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Kingdom of Saudi Arabia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Russia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149: Russia Market Value by Energy Storage Capacity,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Energy Storage Capacity,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Battery Chemistry,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Battery Configuration,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System Application, US$/Units, 2026 and 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Figure 156: Global Market Average Selling Price by Output Power Rating, US$/Units, 2026 and 2036</a:t>
                      </a:r>
                      <a:endParaRPr sz="1050"/>
                    </a:p>
                  </a:txBody>
                  <a:tcPr marL="9525" marR="9525" marT="9525" marB="0" anchor="ctr"/>
                </a:tc>
              </a:tr>
              <a:tr h="169826">
                <a:tc>
                  <a:txBody>
                    <a:bodyPr wrap="square"/>
                    <a:lstStyle/>
                    <a:p>
                      <a:pPr algn="l"/>
                      <a:r>
                        <a:rPr sz="1050" b="0" i="0">
                          <a:solidFill>
                            <a:srgbClr val="000000"/>
                          </a:solidFill>
                          <a:latin typeface="Calibri"/>
                        </a:rPr>
                        <a:t>Figure 157: Global Market Average Selling Price by System Architecture, US$/Units, 2026 and 2036</a:t>
                      </a:r>
                      <a:endParaRPr sz="1050"/>
                    </a:p>
                  </a:txBody>
                  <a:tcPr marL="9525" marR="9525" marT="9525" marB="0" anchor="ctr"/>
                </a:tc>
              </a:tr>
              <a:tr h="169826">
                <a:tc>
                  <a:txBody>
                    <a:bodyPr wrap="square"/>
                    <a:lstStyle/>
                    <a:p>
                      <a:pPr algn="l"/>
                      <a:r>
                        <a:rPr sz="1050" b="0" i="0">
                          <a:solidFill>
                            <a:srgbClr val="000000"/>
                          </a:solidFill>
                          <a:latin typeface="Calibri"/>
                        </a:rPr>
                        <a:t>Figure 158: Global Market Average Selling Price by Distribution Channel, US$/Units, 2026 and 2036</a:t>
                      </a:r>
                      <a:endParaRPr sz="1050"/>
                    </a:p>
                  </a:txBody>
                  <a:tcPr marL="9525" marR="9525" marT="9525" marB="0" anchor="ctr"/>
                </a:tc>
              </a:tr>
              <a:tr h="169826">
                <a:tc>
                  <a:txBody>
                    <a:bodyPr wrap="square"/>
                    <a:lstStyle/>
                    <a:p>
                      <a:pPr algn="l"/>
                      <a:r>
                        <a:rPr sz="1050" b="0" i="0">
                          <a:solidFill>
                            <a:srgbClr val="000000"/>
                          </a:solidFill>
                          <a:latin typeface="Calibri"/>
                        </a:rPr>
                        <a:t>Figure 159: Global Market Value Chain Structure, 2026</a:t>
                      </a:r>
                      <a:endParaRPr sz="1050"/>
                    </a:p>
                  </a:txBody>
                  <a:tcPr marL="9525" marR="9525" marT="9525" marB="0" anchor="ctr"/>
                </a:tc>
              </a:tr>
              <a:tr h="169826">
                <a:tc>
                  <a:txBody>
                    <a:bodyPr wrap="square"/>
                    <a:lstStyle/>
                    <a:p>
                      <a:pPr algn="l"/>
                      <a:r>
                        <a:rPr sz="1050" b="0" i="0">
                          <a:solidFill>
                            <a:srgbClr val="000000"/>
                          </a:solidFill>
                          <a:latin typeface="Calibri"/>
                        </a:rPr>
                        <a:t>Figure 160: Global Market Margin Distribution across the Value Chain, %, 2026</a:t>
                      </a:r>
                      <a:endParaRPr sz="1050"/>
                    </a:p>
                  </a:txBody>
                  <a:tcPr marL="9525" marR="9525" marT="9525" marB="0" anchor="ctr"/>
                </a:tc>
              </a:tr>
              <a:tr h="169826">
                <a:tc>
                  <a:txBody>
                    <a:bodyPr wrap="square"/>
                    <a:lstStyle/>
                    <a:p>
                      <a:pPr algn="l"/>
                      <a:r>
                        <a:rPr sz="1050" b="0" i="0">
                          <a:solidFill>
                            <a:srgbClr val="000000"/>
                          </a:solidFill>
                          <a:latin typeface="Calibri"/>
                        </a:rPr>
                        <a:t>Figure 161: Global Market Cost Structure Breakdown, %, 2026</a:t>
                      </a:r>
                      <a:endParaRPr sz="1050"/>
                    </a:p>
                  </a:txBody>
                  <a:tcPr marL="9525" marR="9525" marT="9525" marB="0" anchor="ctr"/>
                </a:tc>
              </a:tr>
              <a:tr h="169826">
                <a:tc>
                  <a:txBody>
                    <a:bodyPr wrap="square"/>
                    <a:lstStyle/>
                    <a:p>
                      <a:pPr algn="l"/>
                      <a:r>
                        <a:rPr sz="1050" b="0" i="0">
                          <a:solidFill>
                            <a:srgbClr val="000000"/>
                          </a:solidFill>
                          <a:latin typeface="Calibri"/>
                        </a:rPr>
                        <a:t>Figure 162: Global Market Pricing Pressure Assessment by Energy Storage Capacity, 2026–2036</a:t>
                      </a:r>
                      <a:endParaRPr sz="1050"/>
                    </a:p>
                  </a:txBody>
                  <a:tcPr marL="9525" marR="9525" marT="9525" marB="0" anchor="ctr"/>
                </a:tc>
              </a:tr>
              <a:tr h="169826">
                <a:tc>
                  <a:txBody>
                    <a:bodyPr wrap="square"/>
                    <a:lstStyle/>
                    <a:p>
                      <a:pPr algn="l"/>
                      <a:r>
                        <a:rPr sz="1050" b="0" i="0">
                          <a:solidFill>
                            <a:srgbClr val="000000"/>
                          </a:solidFill>
                          <a:latin typeface="Calibri"/>
                        </a:rPr>
                        <a:t>Figure 163: Company Market Share in the Global Market, %, 2026</a:t>
                      </a:r>
                      <a:endParaRPr sz="1050"/>
                    </a:p>
                  </a:txBody>
                  <a:tcPr marL="9525" marR="9525" marT="9525" marB="0" anchor="ctr"/>
                </a:tc>
              </a:tr>
              <a:tr h="332858">
                <a:tc>
                  <a:txBody>
                    <a:bodyPr wrap="square"/>
                    <a:lstStyle/>
                    <a:p>
                      <a:pPr algn="l"/>
                      <a:r>
                        <a:rPr sz="1050" b="0" i="0">
                          <a:solidFill>
                            <a:srgbClr val="000000"/>
                          </a:solidFill>
                          <a:latin typeface="Calibri"/>
                        </a:rPr>
                        <a:t>Figure 164: Competitive Positioning of Leading Lithium Polymer Portable Energy Storage Manufacturers, 2026</a:t>
                      </a:r>
                      <a:endParaRPr sz="1050"/>
                    </a:p>
                  </a:txBody>
                  <a:tcPr marL="9525" marR="9525" marT="9525" marB="0" anchor="ctr"/>
                </a:tc>
              </a:tr>
              <a:tr h="169826">
                <a:tc>
                  <a:txBody>
                    <a:bodyPr wrap="square"/>
                    <a:lstStyle/>
                    <a:p>
                      <a:pPr algn="l"/>
                      <a:r>
                        <a:rPr sz="1050" b="0" i="0">
                          <a:solidFill>
                            <a:srgbClr val="000000"/>
                          </a:solidFill>
                          <a:latin typeface="Calibri"/>
                        </a:rPr>
                        <a:t>Figure 165: Company Revenue from the Global Market, US$ Mn, 2026</a:t>
                      </a:r>
                      <a:endParaRPr sz="1050"/>
                    </a:p>
                  </a:txBody>
                  <a:tcPr marL="9525" marR="9525" marT="9525" marB="0" anchor="ctr"/>
                </a:tc>
              </a:tr>
              <a:tr h="169826">
                <a:tc>
                  <a:txBody>
                    <a:bodyPr wrap="square"/>
                    <a:lstStyle/>
                    <a:p>
                      <a:pPr algn="l"/>
                      <a:r>
                        <a:rPr sz="1050" b="0" i="0">
                          <a:solidFill>
                            <a:srgbClr val="000000"/>
                          </a:solidFill>
                          <a:latin typeface="Calibri"/>
                        </a:rPr>
                        <a:t>Figure 166: Global Market Concentration by Company Tier, %, 2026</a:t>
                      </a:r>
                      <a:endParaRPr sz="1050"/>
                    </a:p>
                  </a:txBody>
                  <a:tcPr marL="9525" marR="9525" marT="9525" marB="0" anchor="ctr"/>
                </a:tc>
              </a:tr>
              <a:tr h="169826">
                <a:tc>
                  <a:txBody>
                    <a:bodyPr wrap="square"/>
                    <a:lstStyle/>
                    <a:p>
                      <a:pPr algn="l"/>
                      <a:r>
                        <a:rPr sz="1050" b="0" i="0">
                          <a:solidFill>
                            <a:srgbClr val="000000"/>
                          </a:solidFill>
                          <a:latin typeface="Calibri"/>
                        </a:rPr>
                        <a:t>Figure 167: Global Market Competitive Intensity Assessment, 2026</a:t>
                      </a:r>
                      <a:endParaRPr sz="1050"/>
                    </a:p>
                  </a:txBody>
                  <a:tcPr marL="9525" marR="9525" marT="9525" marB="0" anchor="ctr"/>
                </a:tc>
              </a:tr>
              <a:tr h="169826">
                <a:tc>
                  <a:txBody>
                    <a:bodyPr wrap="square"/>
                    <a:lstStyle/>
                    <a:p>
                      <a:pPr algn="l"/>
                      <a:r>
                        <a:rPr sz="1050" b="0" i="0">
                          <a:solidFill>
                            <a:srgbClr val="000000"/>
                          </a:solidFill>
                          <a:latin typeface="Calibri"/>
                        </a:rPr>
                        <a:t>Figure 168: Company Market Share in the North America Market, %, 2026</a:t>
                      </a:r>
                      <a:endParaRPr sz="1050"/>
                    </a:p>
                  </a:txBody>
                  <a:tcPr marL="9525" marR="9525" marT="9525" marB="0" anchor="ctr"/>
                </a:tc>
              </a:tr>
              <a:tr h="169826">
                <a:tc>
                  <a:txBody>
                    <a:bodyPr wrap="square"/>
                    <a:lstStyle/>
                    <a:p>
                      <a:pPr algn="l"/>
                      <a:r>
                        <a:rPr sz="1050" b="0" i="0">
                          <a:solidFill>
                            <a:srgbClr val="000000"/>
                          </a:solidFill>
                          <a:latin typeface="Calibri"/>
                        </a:rPr>
                        <a:t>Figure 169: Company Market Share in the Latin America Market, %, 2026</a:t>
                      </a:r>
                      <a:endParaRPr sz="1050"/>
                    </a:p>
                  </a:txBody>
                  <a:tcPr marL="9525" marR="9525" marT="9525" marB="0" anchor="ctr"/>
                </a:tc>
              </a:tr>
              <a:tr h="169826">
                <a:tc>
                  <a:txBody>
                    <a:bodyPr wrap="square"/>
                    <a:lstStyle/>
                    <a:p>
                      <a:pPr algn="l"/>
                      <a:r>
                        <a:rPr sz="1050" b="0" i="0">
                          <a:solidFill>
                            <a:srgbClr val="000000"/>
                          </a:solidFill>
                          <a:latin typeface="Calibri"/>
                        </a:rPr>
                        <a:t>Figure 170: Company Market Share in the Western Europe Market, %, 2026</a:t>
                      </a:r>
                      <a:endParaRPr sz="1050"/>
                    </a:p>
                  </a:txBody>
                  <a:tcPr marL="9525" marR="9525" marT="9525" marB="0" anchor="ctr"/>
                </a:tc>
              </a:tr>
              <a:tr h="169826">
                <a:tc>
                  <a:txBody>
                    <a:bodyPr wrap="square"/>
                    <a:lstStyle/>
                    <a:p>
                      <a:pPr algn="l"/>
                      <a:r>
                        <a:rPr sz="1050" b="0" i="0">
                          <a:solidFill>
                            <a:srgbClr val="000000"/>
                          </a:solidFill>
                          <a:latin typeface="Calibri"/>
                        </a:rPr>
                        <a:t>Figure 171: Company Market Share in the Eastern Europe Market, %, 2026</a:t>
                      </a:r>
                      <a:endParaRPr sz="1050"/>
                    </a:p>
                  </a:txBody>
                  <a:tcPr marL="9525" marR="9525" marT="9525" marB="0" anchor="ctr"/>
                </a:tc>
              </a:tr>
              <a:tr h="169826">
                <a:tc>
                  <a:txBody>
                    <a:bodyPr wrap="square"/>
                    <a:lstStyle/>
                    <a:p>
                      <a:pPr algn="l"/>
                      <a:r>
                        <a:rPr sz="1050" b="0" i="0">
                          <a:solidFill>
                            <a:srgbClr val="000000"/>
                          </a:solidFill>
                          <a:latin typeface="Calibri"/>
                        </a:rPr>
                        <a:t>Figure 172: Company Market Share in the East Asia Market, %, 2026</a:t>
                      </a:r>
                      <a:endParaRPr sz="1050"/>
                    </a:p>
                  </a:txBody>
                  <a:tcPr marL="9525" marR="9525" marT="9525" marB="0" anchor="ctr"/>
                </a:tc>
              </a:tr>
              <a:tr h="169826">
                <a:tc>
                  <a:txBody>
                    <a:bodyPr wrap="square"/>
                    <a:lstStyle/>
                    <a:p>
                      <a:pPr algn="l"/>
                      <a:r>
                        <a:rPr sz="1050" b="0" i="0">
                          <a:solidFill>
                            <a:srgbClr val="000000"/>
                          </a:solidFill>
                          <a:latin typeface="Calibri"/>
                        </a:rPr>
                        <a:t>Figure 173: Company Market Share in the South Asia &amp; Pacific Market, %, 2026</a:t>
                      </a:r>
                      <a:endParaRPr sz="1050"/>
                    </a:p>
                  </a:txBody>
                  <a:tcPr marL="9525" marR="9525" marT="9525" marB="0" anchor="ctr"/>
                </a:tc>
              </a:tr>
              <a:tr h="169826">
                <a:tc>
                  <a:txBody>
                    <a:bodyPr wrap="square"/>
                    <a:lstStyle/>
                    <a:p>
                      <a:pPr algn="l"/>
                      <a:r>
                        <a:rPr sz="1050" b="0" i="0">
                          <a:solidFill>
                            <a:srgbClr val="000000"/>
                          </a:solidFill>
                          <a:latin typeface="Calibri"/>
                        </a:rPr>
                        <a:t>Figure 174: Company Market Share in the Middle East &amp; Africa Market, %, 2026</a:t>
                      </a:r>
                      <a:endParaRPr sz="1050"/>
                    </a:p>
                  </a:txBody>
                  <a:tcPr marL="9525" marR="9525" marT="9525" marB="0" anchor="ctr"/>
                </a:tc>
              </a:tr>
              <a:tr h="169826">
                <a:tc>
                  <a:txBody>
                    <a:bodyPr wrap="square"/>
                    <a:lstStyle/>
                    <a:p>
                      <a:pPr algn="l"/>
                      <a:r>
                        <a:rPr sz="1050" b="0" i="0">
                          <a:solidFill>
                            <a:srgbClr val="000000"/>
                          </a:solidFill>
                          <a:latin typeface="Calibri"/>
                        </a:rPr>
                        <a:t>Figure 175: EcoFlow: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176: Business Overview: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177: Relevant Portfolio: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178: Footprint: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179: Pricing: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180: SWOT: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181: Developments: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182: Jackery: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183: BLUETTI: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184: Goal Zero: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(4/4)</a:t>
            </a:r>
          </a:p>
        </p:txBody>
      </p:sp>
      <p:graphicFrame>
        <p:nvGraphicFramePr>
          <p:cNvPr id="7" name="FactMR Contents Table"/>
          <p:cNvGraphicFramePr>
            <a:graphicFrameLocks noGrp="1"/>
          </p:cNvGraphicFramePr>
          <p:nvPr/>
        </p:nvGraphicFramePr>
        <p:xfrm>
          <a:off x="142875" y="981075"/>
          <a:ext cx="5876925" cy="266034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Energy Storage Capacity,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326708">
                <a:tc>
                  <a:txBody>
                    <a:bodyPr wrap="square"/>
                    <a:lstStyle/>
                    <a:p>
                      <a:pPr algn="l"/>
                      <a:r>
                        <a:rPr sz="1050" b="0" i="0">
                          <a:solidFill>
                            <a:srgbClr val="000000"/>
                          </a:solidFill>
                          <a:latin typeface="Calibri"/>
                        </a:rPr>
                        <a:t>Figure 191: Global Market Emerging Opportunity Pockets by Energy Storage Capacity,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Energy Storage Capacity,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(1/4)</a:t>
            </a:r>
          </a:p>
        </p:txBody>
      </p:sp>
      <p:graphicFrame>
        <p:nvGraphicFramePr>
          <p:cNvPr id="7" name="FactMR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0045">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0045">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0045">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0045">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0045">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0045">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0045">
                <a:tc>
                  <a:txBody>
                    <a:bodyPr wrap="square"/>
                    <a:lstStyle/>
                    <a:p>
                      <a:pPr algn="l"/>
                      <a:r>
                        <a:rPr sz="1050" b="0" i="0">
                          <a:solidFill>
                            <a:srgbClr val="000000"/>
                          </a:solidFill>
                          <a:latin typeface="Calibri"/>
                        </a:rPr>
                        <a:t>Table 11: Global Market Volume and YoY Growth, Thousand Units and %, 2021–2036</a:t>
                      </a:r>
                      <a:endParaRPr sz="1050"/>
                    </a:p>
                  </a:txBody>
                  <a:tcPr marL="9525" marR="9525" marT="9525" marB="0" anchor="ctr"/>
                </a:tc>
              </a:tr>
              <a:tr h="170045">
                <a:tc>
                  <a:txBody>
                    <a:bodyPr wrap="square"/>
                    <a:lstStyle/>
                    <a:p>
                      <a:pPr algn="l"/>
                      <a:r>
                        <a:rPr sz="1050" b="0" i="0">
                          <a:solidFill>
                            <a:srgbClr val="000000"/>
                          </a:solidFill>
                          <a:latin typeface="Calibri"/>
                        </a:rPr>
                        <a:t>Table 12: Global Market Volume Forecast, Thousand Units, 2026–2036</a:t>
                      </a:r>
                      <a:endParaRPr sz="1050"/>
                    </a:p>
                  </a:txBody>
                  <a:tcPr marL="9525" marR="9525" marT="9525" marB="0" anchor="ctr"/>
                </a:tc>
              </a:tr>
              <a:tr h="170045">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70045">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0045">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0045">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0045">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0045">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0045">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0045">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0045">
                <a:tc>
                  <a:txBody>
                    <a:bodyPr wrap="square"/>
                    <a:lstStyle/>
                    <a:p>
                      <a:pPr algn="l"/>
                      <a:r>
                        <a:rPr sz="1050" b="0" i="0">
                          <a:solidFill>
                            <a:srgbClr val="000000"/>
                          </a:solidFill>
                          <a:latin typeface="Calibri"/>
                        </a:rPr>
                        <a:t>Table 21: Global Market Value by Energy Storage Capacity, US$ Mn, 2021–2036</a:t>
                      </a:r>
                      <a:endParaRPr sz="1050"/>
                    </a:p>
                  </a:txBody>
                  <a:tcPr marL="9525" marR="9525" marT="9525" marB="0" anchor="ctr"/>
                </a:tc>
              </a:tr>
              <a:tr h="170045">
                <a:tc>
                  <a:txBody>
                    <a:bodyPr wrap="square"/>
                    <a:lstStyle/>
                    <a:p>
                      <a:pPr algn="l"/>
                      <a:r>
                        <a:rPr sz="1050" b="0" i="0">
                          <a:solidFill>
                            <a:srgbClr val="000000"/>
                          </a:solidFill>
                          <a:latin typeface="Calibri"/>
                        </a:rPr>
                        <a:t>Table 22: Global Market Value by Battery Chemistry, US$ Mn, 2021–2036</a:t>
                      </a:r>
                      <a:endParaRPr sz="1050"/>
                    </a:p>
                  </a:txBody>
                  <a:tcPr marL="9525" marR="9525" marT="9525" marB="0" anchor="ctr"/>
                </a:tc>
              </a:tr>
              <a:tr h="170045">
                <a:tc>
                  <a:txBody>
                    <a:bodyPr wrap="square"/>
                    <a:lstStyle/>
                    <a:p>
                      <a:pPr algn="l"/>
                      <a:r>
                        <a:rPr sz="1050" b="0" i="0">
                          <a:solidFill>
                            <a:srgbClr val="000000"/>
                          </a:solidFill>
                          <a:latin typeface="Calibri"/>
                        </a:rPr>
                        <a:t>Table 23: Global Market Value by Battery Configuration, US$ Mn, 2021–2036</a:t>
                      </a:r>
                      <a:endParaRPr sz="1050"/>
                    </a:p>
                  </a:txBody>
                  <a:tcPr marL="9525" marR="9525" marT="9525" marB="0" anchor="ctr"/>
                </a:tc>
              </a:tr>
              <a:tr h="170045">
                <a:tc>
                  <a:txBody>
                    <a:bodyPr wrap="square"/>
                    <a:lstStyle/>
                    <a:p>
                      <a:pPr algn="l"/>
                      <a:r>
                        <a:rPr sz="1050" b="0" i="0">
                          <a:solidFill>
                            <a:srgbClr val="000000"/>
                          </a:solidFill>
                          <a:latin typeface="Calibri"/>
                        </a:rPr>
                        <a:t>Table 24: Global Market Value by System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25: Global Market Value by Output Power Rating, US$ Mn, 2021–2036</a:t>
                      </a:r>
                      <a:endParaRPr sz="1050"/>
                    </a:p>
                  </a:txBody>
                  <a:tcPr marL="9525" marR="9525" marT="9525" marB="0" anchor="ctr"/>
                </a:tc>
              </a:tr>
              <a:tr h="170045">
                <a:tc>
                  <a:txBody>
                    <a:bodyPr wrap="square"/>
                    <a:lstStyle/>
                    <a:p>
                      <a:pPr algn="l"/>
                      <a:r>
                        <a:rPr sz="1050" b="0" i="0">
                          <a:solidFill>
                            <a:srgbClr val="000000"/>
                          </a:solidFill>
                          <a:latin typeface="Calibri"/>
                        </a:rPr>
                        <a:t>Table 26: Global Market Value by System Architecture, US$ Mn, 2021–2036</a:t>
                      </a:r>
                      <a:endParaRPr sz="1050"/>
                    </a:p>
                  </a:txBody>
                  <a:tcPr marL="9525" marR="9525" marT="9525" marB="0" anchor="ctr"/>
                </a:tc>
              </a:tr>
              <a:tr h="170045">
                <a:tc>
                  <a:txBody>
                    <a:bodyPr wrap="square"/>
                    <a:lstStyle/>
                    <a:p>
                      <a:pPr algn="l"/>
                      <a:r>
                        <a:rPr sz="1050" b="0" i="0">
                          <a:solidFill>
                            <a:srgbClr val="000000"/>
                          </a:solidFill>
                          <a:latin typeface="Calibri"/>
                        </a:rPr>
                        <a:t>Table 27: Global Market Value by Distribution Channel, US$ Mn, 2021–2036</a:t>
                      </a:r>
                      <a:endParaRPr sz="1050"/>
                    </a:p>
                  </a:txBody>
                  <a:tcPr marL="9525" marR="9525" marT="9525" marB="0" anchor="ctr"/>
                </a:tc>
              </a:tr>
              <a:tr h="333289">
                <a:tc>
                  <a:txBody>
                    <a:bodyPr wrap="square"/>
                    <a:lstStyle/>
                    <a:p>
                      <a:pPr algn="l"/>
                      <a:r>
                        <a:rPr sz="1050" b="0" i="0">
                          <a:solidFill>
                            <a:srgbClr val="000000"/>
                          </a:solidFill>
                          <a:latin typeface="Calibri"/>
                        </a:rPr>
                        <a:t>Table 28: Global Market CAGR and Absolute $ Opportunity by Energy Storage Capacity, %, US$ Mn, 2026–2036</a:t>
                      </a:r>
                      <a:endParaRPr sz="1050"/>
                    </a:p>
                  </a:txBody>
                  <a:tcPr marL="9525" marR="9525" marT="9525" marB="0" anchor="ctr"/>
                </a:tc>
              </a:tr>
              <a:tr h="333289">
                <a:tc>
                  <a:txBody>
                    <a:bodyPr wrap="square"/>
                    <a:lstStyle/>
                    <a:p>
                      <a:pPr algn="l"/>
                      <a:r>
                        <a:rPr sz="1050" b="0" i="0">
                          <a:solidFill>
                            <a:srgbClr val="000000"/>
                          </a:solidFill>
                          <a:latin typeface="Calibri"/>
                        </a:rPr>
                        <a:t>Table 29: Global Market CAGR and Absolute $ Opportunity by Battery Chemistry, %, US$ Mn, 2026–2036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03"/>
        </p:xfrm>
        <a:graphic>
          <a:graphicData uri="http://schemas.openxmlformats.org/drawingml/2006/table">
            <a:tbl>
              <a:tblPr>
                <a:tableStyleId>{3B4B98B0-60AC-42C2-AFA5-B58CD77FA1E5}</a:tableStyleId>
              </a:tblPr>
              <a:tblGrid>
                <a:gridCol w="5876925"/>
              </a:tblGrid>
              <a:tr h="334587">
                <a:tc>
                  <a:txBody>
                    <a:bodyPr wrap="square"/>
                    <a:lstStyle/>
                    <a:p>
                      <a:pPr algn="l"/>
                      <a:r>
                        <a:rPr sz="1050" b="0" i="0">
                          <a:solidFill>
                            <a:srgbClr val="000000"/>
                          </a:solidFill>
                          <a:latin typeface="Calibri"/>
                        </a:rPr>
                        <a:t>Table 30: Global Market CAGR and Absolute $ Opportunity by Battery Configuration, %, US$ Mn, 2026–2036</a:t>
                      </a:r>
                      <a:endParaRPr sz="1050"/>
                    </a:p>
                  </a:txBody>
                  <a:tcPr marL="9525" marR="9525" marT="9525" marB="0" anchor="ctr"/>
                </a:tc>
              </a:tr>
              <a:tr h="334587">
                <a:tc>
                  <a:txBody>
                    <a:bodyPr wrap="square"/>
                    <a:lstStyle/>
                    <a:p>
                      <a:pPr algn="l"/>
                      <a:r>
                        <a:rPr sz="1050" b="0" i="0">
                          <a:solidFill>
                            <a:srgbClr val="000000"/>
                          </a:solidFill>
                          <a:latin typeface="Calibri"/>
                        </a:rPr>
                        <a:t>Table 31: Global Market CAGR and Absolute $ Opportunity by System Application, %, US$ Mn, 2026–2036</a:t>
                      </a:r>
                      <a:endParaRPr sz="1050"/>
                    </a:p>
                  </a:txBody>
                  <a:tcPr marL="9525" marR="9525" marT="9525" marB="0" anchor="ctr"/>
                </a:tc>
              </a:tr>
              <a:tr h="334587">
                <a:tc>
                  <a:txBody>
                    <a:bodyPr wrap="square"/>
                    <a:lstStyle/>
                    <a:p>
                      <a:pPr algn="l"/>
                      <a:r>
                        <a:rPr sz="1050" b="0" i="0">
                          <a:solidFill>
                            <a:srgbClr val="000000"/>
                          </a:solidFill>
                          <a:latin typeface="Calibri"/>
                        </a:rPr>
                        <a:t>Table 32: Global Market CAGR and Absolute $ Opportunity by Output Power Rating, %, US$ Mn, 2026–2036</a:t>
                      </a:r>
                      <a:endParaRPr sz="1050"/>
                    </a:p>
                  </a:txBody>
                  <a:tcPr marL="9525" marR="9525" marT="9525" marB="0" anchor="ctr"/>
                </a:tc>
              </a:tr>
              <a:tr h="334587">
                <a:tc>
                  <a:txBody>
                    <a:bodyPr wrap="square"/>
                    <a:lstStyle/>
                    <a:p>
                      <a:pPr algn="l"/>
                      <a:r>
                        <a:rPr sz="1050" b="0" i="0">
                          <a:solidFill>
                            <a:srgbClr val="000000"/>
                          </a:solidFill>
                          <a:latin typeface="Calibri"/>
                        </a:rPr>
                        <a:t>Table 33: Global Market CAGR and Absolute $ Opportunity by System Architecture, %, US$ Mn, 2026–2036</a:t>
                      </a:r>
                      <a:endParaRPr sz="1050"/>
                    </a:p>
                  </a:txBody>
                  <a:tcPr marL="9525" marR="9525" marT="9525" marB="0" anchor="ctr"/>
                </a:tc>
              </a:tr>
              <a:tr h="334587">
                <a:tc>
                  <a:txBody>
                    <a:bodyPr wrap="square"/>
                    <a:lstStyle/>
                    <a:p>
                      <a:pPr algn="l"/>
                      <a:r>
                        <a:rPr sz="1050" b="0" i="0">
                          <a:solidFill>
                            <a:srgbClr val="000000"/>
                          </a:solidFill>
                          <a:latin typeface="Calibri"/>
                        </a:rPr>
                        <a:t>Table 34: Global Market CAGR and Absolute $ Opportunity by Distribution Channel, %, US$ Mn, 2026–2036</a:t>
                      </a:r>
                      <a:endParaRPr sz="1050"/>
                    </a:p>
                  </a:txBody>
                  <a:tcPr marL="9525" marR="9525" marT="9525" marB="0" anchor="ctr"/>
                </a:tc>
              </a:tr>
              <a:tr h="170708">
                <a:tc>
                  <a:txBody>
                    <a:bodyPr wrap="square"/>
                    <a:lstStyle/>
                    <a:p>
                      <a:pPr algn="l"/>
                      <a:r>
                        <a:rPr sz="1050" b="0" i="0">
                          <a:solidFill>
                            <a:srgbClr val="000000"/>
                          </a:solidFill>
                          <a:latin typeface="Calibri"/>
                        </a:rPr>
                        <a:t>Table 35: Global Market Share and BPS Change by Energy Storage Capacity, %, 2025, 2026 and 2036</a:t>
                      </a:r>
                      <a:endParaRPr sz="1050"/>
                    </a:p>
                  </a:txBody>
                  <a:tcPr marL="9525" marR="9525" marT="9525" marB="0" anchor="ctr"/>
                </a:tc>
              </a:tr>
              <a:tr h="170708">
                <a:tc>
                  <a:txBody>
                    <a:bodyPr wrap="square"/>
                    <a:lstStyle/>
                    <a:p>
                      <a:pPr algn="l"/>
                      <a:r>
                        <a:rPr sz="1050" b="0" i="0">
                          <a:solidFill>
                            <a:srgbClr val="000000"/>
                          </a:solidFill>
                          <a:latin typeface="Calibri"/>
                        </a:rPr>
                        <a:t>Table 36: Global Market Share and BPS Change by Battery Chemistry, %, 2025, 2026 and 2036</a:t>
                      </a:r>
                      <a:endParaRPr sz="1050"/>
                    </a:p>
                  </a:txBody>
                  <a:tcPr marL="9525" marR="9525" marT="9525" marB="0" anchor="ctr"/>
                </a:tc>
              </a:tr>
              <a:tr h="170708">
                <a:tc>
                  <a:txBody>
                    <a:bodyPr wrap="square"/>
                    <a:lstStyle/>
                    <a:p>
                      <a:pPr algn="l"/>
                      <a:r>
                        <a:rPr sz="1050" b="0" i="0">
                          <a:solidFill>
                            <a:srgbClr val="000000"/>
                          </a:solidFill>
                          <a:latin typeface="Calibri"/>
                        </a:rPr>
                        <a:t>Table 37: Global Market Share and BPS Change by Battery Configuration, %, 2025, 2026 and 2036</a:t>
                      </a:r>
                      <a:endParaRPr sz="1050"/>
                    </a:p>
                  </a:txBody>
                  <a:tcPr marL="9525" marR="9525" marT="9525" marB="0" anchor="ctr"/>
                </a:tc>
              </a:tr>
              <a:tr h="170708">
                <a:tc>
                  <a:txBody>
                    <a:bodyPr wrap="square"/>
                    <a:lstStyle/>
                    <a:p>
                      <a:pPr algn="l"/>
                      <a:r>
                        <a:rPr sz="1050" b="0" i="0">
                          <a:solidFill>
                            <a:srgbClr val="000000"/>
                          </a:solidFill>
                          <a:latin typeface="Calibri"/>
                        </a:rPr>
                        <a:t>Table 38: Global Market Share and BPS Change by System Application, %, 2025, 2026 and 2036</a:t>
                      </a:r>
                      <a:endParaRPr sz="1050"/>
                    </a:p>
                  </a:txBody>
                  <a:tcPr marL="9525" marR="9525" marT="9525" marB="0" anchor="ctr"/>
                </a:tc>
              </a:tr>
              <a:tr h="170708">
                <a:tc>
                  <a:txBody>
                    <a:bodyPr wrap="square"/>
                    <a:lstStyle/>
                    <a:p>
                      <a:pPr algn="l"/>
                      <a:r>
                        <a:rPr sz="1050" b="0" i="0">
                          <a:solidFill>
                            <a:srgbClr val="000000"/>
                          </a:solidFill>
                          <a:latin typeface="Calibri"/>
                        </a:rPr>
                        <a:t>Table 39: Global Market Share and BPS Change by Output Power Rating, %, 2025, 2026 and 2036</a:t>
                      </a:r>
                      <a:endParaRPr sz="1050"/>
                    </a:p>
                  </a:txBody>
                  <a:tcPr marL="9525" marR="9525" marT="9525" marB="0" anchor="ctr"/>
                </a:tc>
              </a:tr>
              <a:tr h="170708">
                <a:tc>
                  <a:txBody>
                    <a:bodyPr wrap="square"/>
                    <a:lstStyle/>
                    <a:p>
                      <a:pPr algn="l"/>
                      <a:r>
                        <a:rPr sz="1050" b="0" i="0">
                          <a:solidFill>
                            <a:srgbClr val="000000"/>
                          </a:solidFill>
                          <a:latin typeface="Calibri"/>
                        </a:rPr>
                        <a:t>Table 40: Global Market Share and BPS Change by System Architecture, %, 2025, 2026 and 2036</a:t>
                      </a:r>
                      <a:endParaRPr sz="1050"/>
                    </a:p>
                  </a:txBody>
                  <a:tcPr marL="9525" marR="9525" marT="9525" marB="0" anchor="ctr"/>
                </a:tc>
              </a:tr>
              <a:tr h="170708">
                <a:tc>
                  <a:txBody>
                    <a:bodyPr wrap="square"/>
                    <a:lstStyle/>
                    <a:p>
                      <a:pPr algn="l"/>
                      <a:r>
                        <a:rPr sz="1050" b="0" i="0">
                          <a:solidFill>
                            <a:srgbClr val="000000"/>
                          </a:solidFill>
                          <a:latin typeface="Calibri"/>
                        </a:rPr>
                        <a:t>Table 41: Global Market Share and BPS Change by Distribution Channel, %, 2025, 2026 and 2036</a:t>
                      </a:r>
                      <a:endParaRPr sz="1050"/>
                    </a:p>
                  </a:txBody>
                  <a:tcPr marL="9525" marR="9525" marT="9525" marB="0" anchor="ctr"/>
                </a:tc>
              </a:tr>
              <a:tr h="170708">
                <a:tc>
                  <a:txBody>
                    <a:bodyPr wrap="square"/>
                    <a:lstStyle/>
                    <a:p>
                      <a:pPr algn="l"/>
                      <a:r>
                        <a:rPr sz="1050" b="0" i="0">
                          <a:solidFill>
                            <a:srgbClr val="000000"/>
                          </a:solidFill>
                          <a:latin typeface="Calibri"/>
                        </a:rPr>
                        <a:t>Table 42: Global Market YoY Growth by Energy Storage Capacity, %, 2026–2036</a:t>
                      </a:r>
                      <a:endParaRPr sz="1050"/>
                    </a:p>
                  </a:txBody>
                  <a:tcPr marL="9525" marR="9525" marT="9525" marB="0" anchor="ctr"/>
                </a:tc>
              </a:tr>
              <a:tr h="170708">
                <a:tc>
                  <a:txBody>
                    <a:bodyPr wrap="square"/>
                    <a:lstStyle/>
                    <a:p>
                      <a:pPr algn="l"/>
                      <a:r>
                        <a:rPr sz="1050" b="0" i="0">
                          <a:solidFill>
                            <a:srgbClr val="000000"/>
                          </a:solidFill>
                          <a:latin typeface="Calibri"/>
                        </a:rPr>
                        <a:t>Table 43: Global Market YoY Growth by Battery Chemistry, %, 2026–2036</a:t>
                      </a:r>
                      <a:endParaRPr sz="1050"/>
                    </a:p>
                  </a:txBody>
                  <a:tcPr marL="9525" marR="9525" marT="9525" marB="0" anchor="ctr"/>
                </a:tc>
              </a:tr>
              <a:tr h="170708">
                <a:tc>
                  <a:txBody>
                    <a:bodyPr wrap="square"/>
                    <a:lstStyle/>
                    <a:p>
                      <a:pPr algn="l"/>
                      <a:r>
                        <a:rPr sz="1050" b="0" i="0">
                          <a:solidFill>
                            <a:srgbClr val="000000"/>
                          </a:solidFill>
                          <a:latin typeface="Calibri"/>
                        </a:rPr>
                        <a:t>Table 44: Global Market YoY Growth by Battery Configuration, %, 2026–2036</a:t>
                      </a:r>
                      <a:endParaRPr sz="1050"/>
                    </a:p>
                  </a:txBody>
                  <a:tcPr marL="9525" marR="9525" marT="9525" marB="0" anchor="ctr"/>
                </a:tc>
              </a:tr>
              <a:tr h="170708">
                <a:tc>
                  <a:txBody>
                    <a:bodyPr wrap="square"/>
                    <a:lstStyle/>
                    <a:p>
                      <a:pPr algn="l"/>
                      <a:r>
                        <a:rPr sz="1050" b="0" i="0">
                          <a:solidFill>
                            <a:srgbClr val="000000"/>
                          </a:solidFill>
                          <a:latin typeface="Calibri"/>
                        </a:rPr>
                        <a:t>Table 45: Global Market YoY Growth by System Application, %, 2026–2036</a:t>
                      </a:r>
                      <a:endParaRPr sz="1050"/>
                    </a:p>
                  </a:txBody>
                  <a:tcPr marL="9525" marR="9525" marT="9525" marB="0" anchor="ctr"/>
                </a:tc>
              </a:tr>
              <a:tr h="170708">
                <a:tc>
                  <a:txBody>
                    <a:bodyPr wrap="square"/>
                    <a:lstStyle/>
                    <a:p>
                      <a:pPr algn="l"/>
                      <a:r>
                        <a:rPr sz="1050" b="0" i="0">
                          <a:solidFill>
                            <a:srgbClr val="000000"/>
                          </a:solidFill>
                          <a:latin typeface="Calibri"/>
                        </a:rPr>
                        <a:t>Table 46: Global Market YoY Growth by Output Power Rating, %, 2026–2036</a:t>
                      </a:r>
                      <a:endParaRPr sz="1050"/>
                    </a:p>
                  </a:txBody>
                  <a:tcPr marL="9525" marR="9525" marT="9525" marB="0" anchor="ctr"/>
                </a:tc>
              </a:tr>
              <a:tr h="170708">
                <a:tc>
                  <a:txBody>
                    <a:bodyPr wrap="square"/>
                    <a:lstStyle/>
                    <a:p>
                      <a:pPr algn="l"/>
                      <a:r>
                        <a:rPr sz="1050" b="0" i="0">
                          <a:solidFill>
                            <a:srgbClr val="000000"/>
                          </a:solidFill>
                          <a:latin typeface="Calibri"/>
                        </a:rPr>
                        <a:t>Table 47: Global Market YoY Growth by System Architecture, %, 2026–2036</a:t>
                      </a:r>
                      <a:endParaRPr sz="1050"/>
                    </a:p>
                  </a:txBody>
                  <a:tcPr marL="9525" marR="9525" marT="9525" marB="0" anchor="ctr"/>
                </a:tc>
              </a:tr>
              <a:tr h="170708">
                <a:tc>
                  <a:txBody>
                    <a:bodyPr wrap="square"/>
                    <a:lstStyle/>
                    <a:p>
                      <a:pPr algn="l"/>
                      <a:r>
                        <a:rPr sz="1050" b="0" i="0">
                          <a:solidFill>
                            <a:srgbClr val="000000"/>
                          </a:solidFill>
                          <a:latin typeface="Calibri"/>
                        </a:rPr>
                        <a:t>Table 48: Global Market YoY Growth by Distribution Channel, %, 2026–2036</a:t>
                      </a:r>
                      <a:endParaRPr sz="1050"/>
                    </a:p>
                  </a:txBody>
                  <a:tcPr marL="9525" marR="9525" marT="9525" marB="0" anchor="ctr"/>
                </a:tc>
              </a:tr>
              <a:tr h="170708">
                <a:tc>
                  <a:txBody>
                    <a:bodyPr wrap="square"/>
                    <a:lstStyle/>
                    <a:p>
                      <a:pPr algn="l"/>
                      <a:r>
                        <a:rPr sz="1050" b="0" i="0">
                          <a:solidFill>
                            <a:srgbClr val="000000"/>
                          </a:solidFill>
                          <a:latin typeface="Calibri"/>
                        </a:rPr>
                        <a:t>Table 49: Global Market Volume by Energy Storage Capacity,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50: Global Market Volume by Battery Chemistry,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51: Global Market Volume by Battery Configuration,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52: Global Market Volume by System Application,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53: Global Market Volume by Output Power Rating,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54: Global Market Volume by System Architecture,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55: Global Market Volume by Distribution Channel, Thousand Units, 2021–2036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(2/4)</a:t>
            </a:r>
          </a:p>
        </p:txBody>
      </p:sp>
      <p:graphicFrame>
        <p:nvGraphicFramePr>
          <p:cNvPr id="7" name="FactMR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176200">
                <a:tc>
                  <a:txBody>
                    <a:bodyPr wrap="square"/>
                    <a:lstStyle/>
                    <a:p>
                      <a:pPr algn="l"/>
                      <a:r>
                        <a:rPr sz="1050" b="0" i="0">
                          <a:solidFill>
                            <a:srgbClr val="000000"/>
                          </a:solidFill>
                          <a:latin typeface="Calibri"/>
                        </a:rPr>
                        <a:t>Table 56: Global Market Average Selling Price by Energy Storage Capacity, US$/Units, 2021–2036</a:t>
                      </a:r>
                      <a:endParaRPr sz="1050"/>
                    </a:p>
                  </a:txBody>
                  <a:tcPr marL="9525" marR="9525" marT="9525" marB="0" anchor="ctr"/>
                </a:tc>
              </a:tr>
              <a:tr h="176200">
                <a:tc>
                  <a:txBody>
                    <a:bodyPr wrap="square"/>
                    <a:lstStyle/>
                    <a:p>
                      <a:pPr algn="l"/>
                      <a:r>
                        <a:rPr sz="1050" b="0" i="0">
                          <a:solidFill>
                            <a:srgbClr val="000000"/>
                          </a:solidFill>
                          <a:latin typeface="Calibri"/>
                        </a:rPr>
                        <a:t>Table 57: Global Market Average Selling Price by Battery Chemistry, US$/Units, 2021–2036</a:t>
                      </a:r>
                      <a:endParaRPr sz="1050"/>
                    </a:p>
                  </a:txBody>
                  <a:tcPr marL="9525" marR="9525" marT="9525" marB="0" anchor="ctr"/>
                </a:tc>
              </a:tr>
              <a:tr h="176200">
                <a:tc>
                  <a:txBody>
                    <a:bodyPr wrap="square"/>
                    <a:lstStyle/>
                    <a:p>
                      <a:pPr algn="l"/>
                      <a:r>
                        <a:rPr sz="1050" b="0" i="0">
                          <a:solidFill>
                            <a:srgbClr val="000000"/>
                          </a:solidFill>
                          <a:latin typeface="Calibri"/>
                        </a:rPr>
                        <a:t>Table 58: Global Market Average Selling Price by Battery Configuration, US$/Units, 2021–2036</a:t>
                      </a:r>
                      <a:endParaRPr sz="1050"/>
                    </a:p>
                  </a:txBody>
                  <a:tcPr marL="9525" marR="9525" marT="9525" marB="0" anchor="ctr"/>
                </a:tc>
              </a:tr>
              <a:tr h="176200">
                <a:tc>
                  <a:txBody>
                    <a:bodyPr wrap="square"/>
                    <a:lstStyle/>
                    <a:p>
                      <a:pPr algn="l"/>
                      <a:r>
                        <a:rPr sz="1050" b="0" i="0">
                          <a:solidFill>
                            <a:srgbClr val="000000"/>
                          </a:solidFill>
                          <a:latin typeface="Calibri"/>
                        </a:rPr>
                        <a:t>Table 59: Global Market Average Selling Price by System Application, US$/Units, 2021–2036</a:t>
                      </a:r>
                      <a:endParaRPr sz="1050"/>
                    </a:p>
                  </a:txBody>
                  <a:tcPr marL="9525" marR="9525" marT="9525" marB="0" anchor="ctr"/>
                </a:tc>
              </a:tr>
              <a:tr h="176200">
                <a:tc>
                  <a:txBody>
                    <a:bodyPr wrap="square"/>
                    <a:lstStyle/>
                    <a:p>
                      <a:pPr algn="l"/>
                      <a:r>
                        <a:rPr sz="1050" b="0" i="0">
                          <a:solidFill>
                            <a:srgbClr val="000000"/>
                          </a:solidFill>
                          <a:latin typeface="Calibri"/>
                        </a:rPr>
                        <a:t>Table 60: Global Market Average Selling Price by Output Power Rating, US$/Units, 2021–2036</a:t>
                      </a:r>
                      <a:endParaRPr sz="1050"/>
                    </a:p>
                  </a:txBody>
                  <a:tcPr marL="9525" marR="9525" marT="9525" marB="0" anchor="ctr"/>
                </a:tc>
              </a:tr>
              <a:tr h="176200">
                <a:tc>
                  <a:txBody>
                    <a:bodyPr wrap="square"/>
                    <a:lstStyle/>
                    <a:p>
                      <a:pPr algn="l"/>
                      <a:r>
                        <a:rPr sz="1050" b="0" i="0">
                          <a:solidFill>
                            <a:srgbClr val="000000"/>
                          </a:solidFill>
                          <a:latin typeface="Calibri"/>
                        </a:rPr>
                        <a:t>Table 61: Global Market Average Selling Price by System Architecture, US$/Units, 2021–2036</a:t>
                      </a:r>
                      <a:endParaRPr sz="1050"/>
                    </a:p>
                  </a:txBody>
                  <a:tcPr marL="9525" marR="9525" marT="9525" marB="0" anchor="ctr"/>
                </a:tc>
              </a:tr>
              <a:tr h="176200">
                <a:tc>
                  <a:txBody>
                    <a:bodyPr wrap="square"/>
                    <a:lstStyle/>
                    <a:p>
                      <a:pPr algn="l"/>
                      <a:r>
                        <a:rPr sz="1050" b="0" i="0">
                          <a:solidFill>
                            <a:srgbClr val="000000"/>
                          </a:solidFill>
                          <a:latin typeface="Calibri"/>
                        </a:rPr>
                        <a:t>Table 62: Global Market Average Selling Price by Distribution Channel, US$/Units, 2021–2036</a:t>
                      </a:r>
                      <a:endParaRPr sz="1050"/>
                    </a:p>
                  </a:txBody>
                  <a:tcPr marL="9525" marR="9525" marT="9525" marB="0" anchor="ctr"/>
                </a:tc>
              </a:tr>
              <a:tr h="176200">
                <a:tc>
                  <a:txBody>
                    <a:bodyPr wrap="square"/>
                    <a:lstStyle/>
                    <a:p>
                      <a:pPr algn="l"/>
                      <a:r>
                        <a:rPr sz="1050" b="0" i="0">
                          <a:solidFill>
                            <a:srgbClr val="000000"/>
                          </a:solidFill>
                          <a:latin typeface="Calibri"/>
                        </a:rPr>
                        <a:t>Table 63: Global Market Attractiveness Index by Energy Storage Capacity, 2026–2036</a:t>
                      </a:r>
                      <a:endParaRPr sz="1050"/>
                    </a:p>
                  </a:txBody>
                  <a:tcPr marL="9525" marR="9525" marT="9525" marB="0" anchor="ctr"/>
                </a:tc>
              </a:tr>
              <a:tr h="176200">
                <a:tc>
                  <a:txBody>
                    <a:bodyPr wrap="square"/>
                    <a:lstStyle/>
                    <a:p>
                      <a:pPr algn="l"/>
                      <a:r>
                        <a:rPr sz="1050" b="0" i="0">
                          <a:solidFill>
                            <a:srgbClr val="000000"/>
                          </a:solidFill>
                          <a:latin typeface="Calibri"/>
                        </a:rPr>
                        <a:t>Table 64: Global Market Attractiveness Index by Battery Chemistry, 2026–2036</a:t>
                      </a:r>
                      <a:endParaRPr sz="1050"/>
                    </a:p>
                  </a:txBody>
                  <a:tcPr marL="9525" marR="9525" marT="9525" marB="0" anchor="ctr"/>
                </a:tc>
              </a:tr>
              <a:tr h="176200">
                <a:tc>
                  <a:txBody>
                    <a:bodyPr wrap="square"/>
                    <a:lstStyle/>
                    <a:p>
                      <a:pPr algn="l"/>
                      <a:r>
                        <a:rPr sz="1050" b="0" i="0">
                          <a:solidFill>
                            <a:srgbClr val="000000"/>
                          </a:solidFill>
                          <a:latin typeface="Calibri"/>
                        </a:rPr>
                        <a:t>Table 65: Global Market Attractiveness Index by Battery Configuration, 2026–2036</a:t>
                      </a:r>
                      <a:endParaRPr sz="1050"/>
                    </a:p>
                  </a:txBody>
                  <a:tcPr marL="9525" marR="9525" marT="9525" marB="0" anchor="ctr"/>
                </a:tc>
              </a:tr>
              <a:tr h="176200">
                <a:tc>
                  <a:txBody>
                    <a:bodyPr wrap="square"/>
                    <a:lstStyle/>
                    <a:p>
                      <a:pPr algn="l"/>
                      <a:r>
                        <a:rPr sz="1050" b="0" i="0">
                          <a:solidFill>
                            <a:srgbClr val="000000"/>
                          </a:solidFill>
                          <a:latin typeface="Calibri"/>
                        </a:rPr>
                        <a:t>Table 66: Global Market Attractiveness Index by System Application, 2026–2036</a:t>
                      </a:r>
                      <a:endParaRPr sz="1050"/>
                    </a:p>
                  </a:txBody>
                  <a:tcPr marL="9525" marR="9525" marT="9525" marB="0" anchor="ctr"/>
                </a:tc>
              </a:tr>
              <a:tr h="176200">
                <a:tc>
                  <a:txBody>
                    <a:bodyPr wrap="square"/>
                    <a:lstStyle/>
                    <a:p>
                      <a:pPr algn="l"/>
                      <a:r>
                        <a:rPr sz="1050" b="0" i="0">
                          <a:solidFill>
                            <a:srgbClr val="000000"/>
                          </a:solidFill>
                          <a:latin typeface="Calibri"/>
                        </a:rPr>
                        <a:t>Table 67: Global Market Attractiveness Index by Output Power Rating, 2026–2036</a:t>
                      </a:r>
                      <a:endParaRPr sz="1050"/>
                    </a:p>
                  </a:txBody>
                  <a:tcPr marL="9525" marR="9525" marT="9525" marB="0" anchor="ctr"/>
                </a:tc>
              </a:tr>
              <a:tr h="176200">
                <a:tc>
                  <a:txBody>
                    <a:bodyPr wrap="square"/>
                    <a:lstStyle/>
                    <a:p>
                      <a:pPr algn="l"/>
                      <a:r>
                        <a:rPr sz="1050" b="0" i="0">
                          <a:solidFill>
                            <a:srgbClr val="000000"/>
                          </a:solidFill>
                          <a:latin typeface="Calibri"/>
                        </a:rPr>
                        <a:t>Table 68: Global Market Attractiveness Index by System Architecture, 2026–2036</a:t>
                      </a:r>
                      <a:endParaRPr sz="1050"/>
                    </a:p>
                  </a:txBody>
                  <a:tcPr marL="9525" marR="9525" marT="9525" marB="0" anchor="ctr"/>
                </a:tc>
              </a:tr>
              <a:tr h="176200">
                <a:tc>
                  <a:txBody>
                    <a:bodyPr wrap="square"/>
                    <a:lstStyle/>
                    <a:p>
                      <a:pPr algn="l"/>
                      <a:r>
                        <a:rPr sz="1050" b="0" i="0">
                          <a:solidFill>
                            <a:srgbClr val="000000"/>
                          </a:solidFill>
                          <a:latin typeface="Calibri"/>
                        </a:rPr>
                        <a:t>Table 69: Global Market Attractiveness Index by Distribution Channel, 2026–2036</a:t>
                      </a:r>
                      <a:endParaRPr sz="1050"/>
                    </a:p>
                  </a:txBody>
                  <a:tcPr marL="9525" marR="9525" marT="9525" marB="0" anchor="ctr"/>
                </a:tc>
              </a:tr>
              <a:tr h="176200">
                <a:tc>
                  <a:txBody>
                    <a:bodyPr wrap="square"/>
                    <a:lstStyle/>
                    <a:p>
                      <a:pPr algn="l"/>
                      <a:r>
                        <a:rPr sz="1050" b="0" i="0">
                          <a:solidFill>
                            <a:srgbClr val="000000"/>
                          </a:solidFill>
                          <a:latin typeface="Calibri"/>
                        </a:rPr>
                        <a:t>Table 70: Global Market Value of 500 Wh to Below 1,000 Wh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71: Global Market Value of Lithium Cobalt Oxide (LCO)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72: Global Market Value of Standalone Battery Packs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73: Global Market Value of Portable Backup Power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74: Global Market Value of Below 500 W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75: Global Market Value of AC/DC Portable Power Stations by Region, US$ Mn, 2021–2036</a:t>
                      </a:r>
                      <a:endParaRPr sz="1050"/>
                    </a:p>
                  </a:txBody>
                  <a:tcPr marL="9525" marR="9525" marT="9525" marB="0" anchor="ctr"/>
                </a:tc>
              </a:tr>
              <a:tr h="345351">
                <a:tc>
                  <a:txBody>
                    <a:bodyPr wrap="square"/>
                    <a:lstStyle/>
                    <a:p>
                      <a:pPr algn="l"/>
                      <a:r>
                        <a:rPr sz="1050" b="0" i="0">
                          <a:solidFill>
                            <a:srgbClr val="000000"/>
                          </a:solidFill>
                          <a:latin typeface="Calibri"/>
                        </a:rPr>
                        <a:t>Table 76: Global Market Value of Direct-to-Consumer / Manufacturer Direct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77: Global Market Value of 1,000 Wh to Below 1,500 Wh by Region, US$ Mn, 2021–2036</a:t>
                      </a:r>
                      <a:endParaRPr sz="1050"/>
                    </a:p>
                  </a:txBody>
                  <a:tcPr marL="9525" marR="9525" marT="9525" marB="0" anchor="ctr"/>
                </a:tc>
              </a:tr>
              <a:tr h="345351">
                <a:tc>
                  <a:txBody>
                    <a:bodyPr wrap="square"/>
                    <a:lstStyle/>
                    <a:p>
                      <a:pPr algn="l"/>
                      <a:r>
                        <a:rPr sz="1050" b="0" i="0">
                          <a:solidFill>
                            <a:srgbClr val="000000"/>
                          </a:solidFill>
                          <a:latin typeface="Calibri"/>
                        </a:rPr>
                        <a:t>Table 78: Global Market Value of Lithium Nickel Manganese Cobalt Oxide (NMC) by Region, US$ Mn, 2021–2036</a:t>
                      </a:r>
                      <a:endParaRPr sz="1050"/>
                    </a:p>
                  </a:txBody>
                  <a:tcPr marL="9525" marR="9525" marT="9525" marB="0" anchor="ctr"/>
                </a:tc>
              </a:tr>
              <a:tr h="345351">
                <a:tc>
                  <a:txBody>
                    <a:bodyPr wrap="square"/>
                    <a:lstStyle/>
                    <a:p>
                      <a:pPr algn="l"/>
                      <a:r>
                        <a:rPr sz="1050" b="0" i="0">
                          <a:solidFill>
                            <a:srgbClr val="000000"/>
                          </a:solidFill>
                          <a:latin typeface="Calibri"/>
                        </a:rPr>
                        <a:t>Table 79: Global Market Value of Integrated Portable Energy Storage Systems by Region, US$ Mn, 2021–2036</a:t>
                      </a:r>
                      <a:endParaRPr sz="1050"/>
                    </a:p>
                  </a:txBody>
                  <a:tcPr marL="9525" marR="9525" marT="9525" marB="0" anchor="ctr"/>
                </a:tc>
              </a:tr>
              <a:tr h="176200">
                <a:tc>
                  <a:txBody>
                    <a:bodyPr wrap="square"/>
                    <a:lstStyle/>
                    <a:p>
                      <a:pPr algn="l"/>
                      <a:r>
                        <a:rPr sz="1050" b="0" i="0">
                          <a:solidFill>
                            <a:srgbClr val="000000"/>
                          </a:solidFill>
                          <a:latin typeface="Calibri"/>
                        </a:rPr>
                        <a:t>Table 80: Global Market Value by Energy Storage Capacity and Battery Chemistry, US$ Mn, 2026–2036</a:t>
                      </a:r>
                      <a:endParaRPr sz="1050"/>
                    </a:p>
                  </a:txBody>
                  <a:tcPr marL="9525" marR="9525" marT="9525" marB="0" anchor="ctr"/>
                </a:tc>
              </a:tr>
              <a:tr h="345351">
                <a:tc>
                  <a:txBody>
                    <a:bodyPr wrap="square"/>
                    <a:lstStyle/>
                    <a:p>
                      <a:pPr algn="l"/>
                      <a:r>
                        <a:rPr sz="1050" b="0" i="0">
                          <a:solidFill>
                            <a:srgbClr val="000000"/>
                          </a:solidFill>
                          <a:latin typeface="Calibri"/>
                        </a:rPr>
                        <a:t>Table 81: Global Market Value by Energy Storage Capacity and Battery Configuration, US$ Mn, 2026–2036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790"/>
        </p:xfrm>
        <a:graphic>
          <a:graphicData uri="http://schemas.openxmlformats.org/drawingml/2006/table">
            <a:tbl>
              <a:tblPr>
                <a:tableStyleId>{3B4B98B0-60AC-42C2-AFA5-B58CD77FA1E5}</a:tableStyleId>
              </a:tblPr>
              <a:tblGrid>
                <a:gridCol w="5876925"/>
              </a:tblGrid>
              <a:tr h="334153">
                <a:tc>
                  <a:txBody>
                    <a:bodyPr wrap="square"/>
                    <a:lstStyle/>
                    <a:p>
                      <a:pPr algn="l"/>
                      <a:r>
                        <a:rPr sz="1050" b="0" i="0">
                          <a:solidFill>
                            <a:srgbClr val="000000"/>
                          </a:solidFill>
                          <a:latin typeface="Calibri"/>
                        </a:rPr>
                        <a:t>Table 82: Global Market Value by Energy Storage Capacity and System Application, US$ Mn, 2026–2036</a:t>
                      </a:r>
                      <a:endParaRPr sz="1050"/>
                    </a:p>
                  </a:txBody>
                  <a:tcPr marL="9525" marR="9525" marT="9525" marB="0" anchor="ctr"/>
                </a:tc>
              </a:tr>
              <a:tr h="334153">
                <a:tc>
                  <a:txBody>
                    <a:bodyPr wrap="square"/>
                    <a:lstStyle/>
                    <a:p>
                      <a:pPr algn="l"/>
                      <a:r>
                        <a:rPr sz="1050" b="0" i="0">
                          <a:solidFill>
                            <a:srgbClr val="000000"/>
                          </a:solidFill>
                          <a:latin typeface="Calibri"/>
                        </a:rPr>
                        <a:t>Table 83: Global Market Value by Energy Storage Capacity and Output Power Rating, US$ Mn, 2026–2036</a:t>
                      </a:r>
                      <a:endParaRPr sz="1050"/>
                    </a:p>
                  </a:txBody>
                  <a:tcPr marL="9525" marR="9525" marT="9525" marB="0" anchor="ctr"/>
                </a:tc>
              </a:tr>
              <a:tr h="334153">
                <a:tc>
                  <a:txBody>
                    <a:bodyPr wrap="square"/>
                    <a:lstStyle/>
                    <a:p>
                      <a:pPr algn="l"/>
                      <a:r>
                        <a:rPr sz="1050" b="0" i="0">
                          <a:solidFill>
                            <a:srgbClr val="000000"/>
                          </a:solidFill>
                          <a:latin typeface="Calibri"/>
                        </a:rPr>
                        <a:t>Table 84: Global Market Value by Energy Storage Capacity and System Architecture, US$ Mn, 2026–2036</a:t>
                      </a:r>
                      <a:endParaRPr sz="1050"/>
                    </a:p>
                  </a:txBody>
                  <a:tcPr marL="9525" marR="9525" marT="9525" marB="0" anchor="ctr"/>
                </a:tc>
              </a:tr>
              <a:tr h="334153">
                <a:tc>
                  <a:txBody>
                    <a:bodyPr wrap="square"/>
                    <a:lstStyle/>
                    <a:p>
                      <a:pPr algn="l"/>
                      <a:r>
                        <a:rPr sz="1050" b="0" i="0">
                          <a:solidFill>
                            <a:srgbClr val="000000"/>
                          </a:solidFill>
                          <a:latin typeface="Calibri"/>
                        </a:rPr>
                        <a:t>Table 85: Global Market Value by Energy Storage Capacity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86: Global Market Value by Battery Chemistry and Battery Configuration, US$ Mn, 2026–2036</a:t>
                      </a:r>
                      <a:endParaRPr sz="1050"/>
                    </a:p>
                  </a:txBody>
                  <a:tcPr marL="9525" marR="9525" marT="9525" marB="0" anchor="ctr"/>
                </a:tc>
              </a:tr>
              <a:tr h="170486">
                <a:tc>
                  <a:txBody>
                    <a:bodyPr wrap="square"/>
                    <a:lstStyle/>
                    <a:p>
                      <a:pPr algn="l"/>
                      <a:r>
                        <a:rPr sz="1050" b="0" i="0">
                          <a:solidFill>
                            <a:srgbClr val="000000"/>
                          </a:solidFill>
                          <a:latin typeface="Calibri"/>
                        </a:rPr>
                        <a:t>Table 87: Global Market Value by Battery Chemistry and System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88: Global Market Value by Battery Chemistry and Output Power Rating, US$ Mn, 2026–2036</a:t>
                      </a:r>
                      <a:endParaRPr sz="1050"/>
                    </a:p>
                  </a:txBody>
                  <a:tcPr marL="9525" marR="9525" marT="9525" marB="0" anchor="ctr"/>
                </a:tc>
              </a:tr>
              <a:tr h="170486">
                <a:tc>
                  <a:txBody>
                    <a:bodyPr wrap="square"/>
                    <a:lstStyle/>
                    <a:p>
                      <a:pPr algn="l"/>
                      <a:r>
                        <a:rPr sz="1050" b="0" i="0">
                          <a:solidFill>
                            <a:srgbClr val="000000"/>
                          </a:solidFill>
                          <a:latin typeface="Calibri"/>
                        </a:rPr>
                        <a:t>Table 89: Global Market Value by Battery Chemistry and System Architecture, US$ Mn, 2026–2036</a:t>
                      </a:r>
                      <a:endParaRPr sz="1050"/>
                    </a:p>
                  </a:txBody>
                  <a:tcPr marL="9525" marR="9525" marT="9525" marB="0" anchor="ctr"/>
                </a:tc>
              </a:tr>
              <a:tr h="170486">
                <a:tc>
                  <a:txBody>
                    <a:bodyPr wrap="square"/>
                    <a:lstStyle/>
                    <a:p>
                      <a:pPr algn="l"/>
                      <a:r>
                        <a:rPr sz="1050" b="0" i="0">
                          <a:solidFill>
                            <a:srgbClr val="000000"/>
                          </a:solidFill>
                          <a:latin typeface="Calibri"/>
                        </a:rPr>
                        <a:t>Table 90: Global Market Value by Battery Chemistry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91: Global Market Value by Battery Configuration and System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92: Global Market Value by Battery Configuration and Output Power Rating, US$ Mn, 2026–2036</a:t>
                      </a:r>
                      <a:endParaRPr sz="1050"/>
                    </a:p>
                  </a:txBody>
                  <a:tcPr marL="9525" marR="9525" marT="9525" marB="0" anchor="ctr"/>
                </a:tc>
              </a:tr>
              <a:tr h="170486">
                <a:tc>
                  <a:txBody>
                    <a:bodyPr wrap="square"/>
                    <a:lstStyle/>
                    <a:p>
                      <a:pPr algn="l"/>
                      <a:r>
                        <a:rPr sz="1050" b="0" i="0">
                          <a:solidFill>
                            <a:srgbClr val="000000"/>
                          </a:solidFill>
                          <a:latin typeface="Calibri"/>
                        </a:rPr>
                        <a:t>Table 93: Global Market Value by Battery Configuration and System Architecture, US$ Mn, 2026–2036</a:t>
                      </a:r>
                      <a:endParaRPr sz="1050"/>
                    </a:p>
                  </a:txBody>
                  <a:tcPr marL="9525" marR="9525" marT="9525" marB="0" anchor="ctr"/>
                </a:tc>
              </a:tr>
              <a:tr h="170486">
                <a:tc>
                  <a:txBody>
                    <a:bodyPr wrap="square"/>
                    <a:lstStyle/>
                    <a:p>
                      <a:pPr algn="l"/>
                      <a:r>
                        <a:rPr sz="1050" b="0" i="0">
                          <a:solidFill>
                            <a:srgbClr val="000000"/>
                          </a:solidFill>
                          <a:latin typeface="Calibri"/>
                        </a:rPr>
                        <a:t>Table 94: Global Market Value by Battery Configuration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95: Global Market Value by System Application and Output Power Rating, US$ Mn, 2026–2036</a:t>
                      </a:r>
                      <a:endParaRPr sz="1050"/>
                    </a:p>
                  </a:txBody>
                  <a:tcPr marL="9525" marR="9525" marT="9525" marB="0" anchor="ctr"/>
                </a:tc>
              </a:tr>
              <a:tr h="170486">
                <a:tc>
                  <a:txBody>
                    <a:bodyPr wrap="square"/>
                    <a:lstStyle/>
                    <a:p>
                      <a:pPr algn="l"/>
                      <a:r>
                        <a:rPr sz="1050" b="0" i="0">
                          <a:solidFill>
                            <a:srgbClr val="000000"/>
                          </a:solidFill>
                          <a:latin typeface="Calibri"/>
                        </a:rPr>
                        <a:t>Table 96: Global Market Value by System Application and System Architecture, US$ Mn, 2026–2036</a:t>
                      </a:r>
                      <a:endParaRPr sz="1050"/>
                    </a:p>
                  </a:txBody>
                  <a:tcPr marL="9525" marR="9525" marT="9525" marB="0" anchor="ctr"/>
                </a:tc>
              </a:tr>
              <a:tr h="170486">
                <a:tc>
                  <a:txBody>
                    <a:bodyPr wrap="square"/>
                    <a:lstStyle/>
                    <a:p>
                      <a:pPr algn="l"/>
                      <a:r>
                        <a:rPr sz="1050" b="0" i="0">
                          <a:solidFill>
                            <a:srgbClr val="000000"/>
                          </a:solidFill>
                          <a:latin typeface="Calibri"/>
                        </a:rPr>
                        <a:t>Table 97: Global Market Value by System Application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98: Global Market Value by Output Power Rating and System Architecture, US$ Mn, 2026–2036</a:t>
                      </a:r>
                      <a:endParaRPr sz="1050"/>
                    </a:p>
                  </a:txBody>
                  <a:tcPr marL="9525" marR="9525" marT="9525" marB="0" anchor="ctr"/>
                </a:tc>
              </a:tr>
              <a:tr h="170486">
                <a:tc>
                  <a:txBody>
                    <a:bodyPr wrap="square"/>
                    <a:lstStyle/>
                    <a:p>
                      <a:pPr algn="l"/>
                      <a:r>
                        <a:rPr sz="1050" b="0" i="0">
                          <a:solidFill>
                            <a:srgbClr val="000000"/>
                          </a:solidFill>
                          <a:latin typeface="Calibri"/>
                        </a:rPr>
                        <a:t>Table 99: Global Market Value by Output Power Rating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100: Global Market Value by System Architecture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101: Global Market Value by Region and Energy Storage Capacity, US$ Mn, 2026–2036</a:t>
                      </a:r>
                      <a:endParaRPr sz="1050"/>
                    </a:p>
                  </a:txBody>
                  <a:tcPr marL="9525" marR="9525" marT="9525" marB="0" anchor="ctr"/>
                </a:tc>
              </a:tr>
              <a:tr h="170486">
                <a:tc>
                  <a:txBody>
                    <a:bodyPr wrap="square"/>
                    <a:lstStyle/>
                    <a:p>
                      <a:pPr algn="l"/>
                      <a:r>
                        <a:rPr sz="1050" b="0" i="0">
                          <a:solidFill>
                            <a:srgbClr val="000000"/>
                          </a:solidFill>
                          <a:latin typeface="Calibri"/>
                        </a:rPr>
                        <a:t>Table 102: Global Market Value by Region and Battery Chemistry, US$ Mn, 2026–2036</a:t>
                      </a:r>
                      <a:endParaRPr sz="1050"/>
                    </a:p>
                  </a:txBody>
                  <a:tcPr marL="9525" marR="9525" marT="9525" marB="0" anchor="ctr"/>
                </a:tc>
              </a:tr>
              <a:tr h="170486">
                <a:tc>
                  <a:txBody>
                    <a:bodyPr wrap="square"/>
                    <a:lstStyle/>
                    <a:p>
                      <a:pPr algn="l"/>
                      <a:r>
                        <a:rPr sz="1050" b="0" i="0">
                          <a:solidFill>
                            <a:srgbClr val="000000"/>
                          </a:solidFill>
                          <a:latin typeface="Calibri"/>
                        </a:rPr>
                        <a:t>Table 103: Global Market Value by Region and Battery Configuration, US$ Mn, 2026–2036</a:t>
                      </a:r>
                      <a:endParaRPr sz="1050"/>
                    </a:p>
                  </a:txBody>
                  <a:tcPr marL="9525" marR="9525" marT="9525" marB="0" anchor="ctr"/>
                </a:tc>
              </a:tr>
              <a:tr h="170486">
                <a:tc>
                  <a:txBody>
                    <a:bodyPr wrap="square"/>
                    <a:lstStyle/>
                    <a:p>
                      <a:pPr algn="l"/>
                      <a:r>
                        <a:rPr sz="1050" b="0" i="0">
                          <a:solidFill>
                            <a:srgbClr val="000000"/>
                          </a:solidFill>
                          <a:latin typeface="Calibri"/>
                        </a:rPr>
                        <a:t>Table 104: Global Market Value by Region and System Application, US$ Mn, 2026–2036</a:t>
                      </a:r>
                      <a:endParaRPr sz="1050"/>
                    </a:p>
                  </a:txBody>
                  <a:tcPr marL="9525" marR="9525" marT="9525" marB="0" anchor="ctr"/>
                </a:tc>
              </a:tr>
              <a:tr h="170486">
                <a:tc>
                  <a:txBody>
                    <a:bodyPr wrap="square"/>
                    <a:lstStyle/>
                    <a:p>
                      <a:pPr algn="l"/>
                      <a:r>
                        <a:rPr sz="1050" b="0" i="0">
                          <a:solidFill>
                            <a:srgbClr val="000000"/>
                          </a:solidFill>
                          <a:latin typeface="Calibri"/>
                        </a:rPr>
                        <a:t>Table 105: Global Market Value by Region and Output Power Rating, US$ Mn, 2026–2036</a:t>
                      </a:r>
                      <a:endParaRPr sz="1050"/>
                    </a:p>
                  </a:txBody>
                  <a:tcPr marL="9525" marR="9525" marT="9525" marB="0" anchor="ctr"/>
                </a:tc>
              </a:tr>
              <a:tr h="170486">
                <a:tc>
                  <a:txBody>
                    <a:bodyPr wrap="square"/>
                    <a:lstStyle/>
                    <a:p>
                      <a:pPr algn="l"/>
                      <a:r>
                        <a:rPr sz="1050" b="0" i="0">
                          <a:solidFill>
                            <a:srgbClr val="000000"/>
                          </a:solidFill>
                          <a:latin typeface="Calibri"/>
                        </a:rPr>
                        <a:t>Table 106: Global Market Value by Region and System Architecture, US$ Mn, 2026–2036</a:t>
                      </a:r>
                      <a:endParaRPr sz="1050"/>
                    </a:p>
                  </a:txBody>
                  <a:tcPr marL="9525" marR="9525" marT="9525" marB="0" anchor="ctr"/>
                </a:tc>
              </a:tr>
              <a:tr h="170486">
                <a:tc>
                  <a:txBody>
                    <a:bodyPr wrap="square"/>
                    <a:lstStyle/>
                    <a:p>
                      <a:pPr algn="l"/>
                      <a:r>
                        <a:rPr sz="1050" b="0" i="0">
                          <a:solidFill>
                            <a:srgbClr val="000000"/>
                          </a:solidFill>
                          <a:latin typeface="Calibri"/>
                        </a:rPr>
                        <a:t>Table 107: Global Market Value by Region and Distribution Channel, US$ Mn, 2026–2036</a:t>
                      </a:r>
                      <a:endParaRPr sz="1050"/>
                    </a:p>
                  </a:txBody>
                  <a:tcPr marL="9525" marR="9525" marT="9525" marB="0" anchor="ctr"/>
                </a:tc>
              </a:tr>
              <a:tr h="170486">
                <a:tc>
                  <a:txBody>
                    <a:bodyPr wrap="square"/>
                    <a:lstStyle/>
                    <a:p>
                      <a:pPr algn="l"/>
                      <a:r>
                        <a:rPr sz="1050" b="0" i="0">
                          <a:solidFill>
                            <a:srgbClr val="000000"/>
                          </a:solidFill>
                          <a:latin typeface="Calibri"/>
                        </a:rPr>
                        <a:t>Table 108: Global Market Value by Region, US$ Mn, 2021–2036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(3/4)</a:t>
            </a:r>
          </a:p>
        </p:txBody>
      </p:sp>
      <p:graphicFrame>
        <p:nvGraphicFramePr>
          <p:cNvPr id="7" name="FactMR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tblGrid>
              <a:tr h="170708">
                <a:tc>
                  <a:txBody>
                    <a:bodyPr wrap="square"/>
                    <a:lstStyle/>
                    <a:p>
                      <a:pPr algn="l"/>
                      <a:r>
                        <a:rPr sz="1050" b="0" i="0">
                          <a:solidFill>
                            <a:srgbClr val="000000"/>
                          </a:solidFill>
                          <a:latin typeface="Calibri"/>
                        </a:rPr>
                        <a:t>Table 109: Global Market CAGR and Absolute $ Opportunity by Region, %, US$ Mn, 2026–2036</a:t>
                      </a:r>
                      <a:endParaRPr sz="1050"/>
                    </a:p>
                  </a:txBody>
                  <a:tcPr marL="9525" marR="9525" marT="9525" marB="0" anchor="ctr"/>
                </a:tc>
              </a:tr>
              <a:tr h="170708">
                <a:tc>
                  <a:txBody>
                    <a:bodyPr wrap="square"/>
                    <a:lstStyle/>
                    <a:p>
                      <a:pPr algn="l"/>
                      <a:r>
                        <a:rPr sz="1050" b="0" i="0">
                          <a:solidFill>
                            <a:srgbClr val="000000"/>
                          </a:solidFill>
                          <a:latin typeface="Calibri"/>
                        </a:rPr>
                        <a:t>Table 110: Global Market Share and BPS Change by Region, %, 2026 and 2036</a:t>
                      </a:r>
                      <a:endParaRPr sz="1050"/>
                    </a:p>
                  </a:txBody>
                  <a:tcPr marL="9525" marR="9525" marT="9525" marB="0" anchor="ctr"/>
                </a:tc>
              </a:tr>
              <a:tr h="170708">
                <a:tc>
                  <a:txBody>
                    <a:bodyPr wrap="square"/>
                    <a:lstStyle/>
                    <a:p>
                      <a:pPr algn="l"/>
                      <a:r>
                        <a:rPr sz="1050" b="0" i="0">
                          <a:solidFill>
                            <a:srgbClr val="000000"/>
                          </a:solidFill>
                          <a:latin typeface="Calibri"/>
                        </a:rPr>
                        <a:t>Table 111: Global Market Volume by Region, Thousand Units, 2021–2036</a:t>
                      </a:r>
                      <a:endParaRPr sz="1050"/>
                    </a:p>
                  </a:txBody>
                  <a:tcPr marL="9525" marR="9525" marT="9525" marB="0" anchor="ctr"/>
                </a:tc>
              </a:tr>
              <a:tr h="170708">
                <a:tc>
                  <a:txBody>
                    <a:bodyPr wrap="square"/>
                    <a:lstStyle/>
                    <a:p>
                      <a:pPr algn="l"/>
                      <a:r>
                        <a:rPr sz="1050" b="0" i="0">
                          <a:solidFill>
                            <a:srgbClr val="000000"/>
                          </a:solidFill>
                          <a:latin typeface="Calibri"/>
                        </a:rPr>
                        <a:t>Table 112: North America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113: Latin America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114: Western Europe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115: Eastern Europe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116: East Asia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117: South Asia &amp; Pacific Market Value by Country, US$ Mn, 2021–2036</a:t>
                      </a:r>
                      <a:endParaRPr sz="1050"/>
                    </a:p>
                  </a:txBody>
                  <a:tcPr marL="9525" marR="9525" marT="9525" marB="0" anchor="ctr"/>
                </a:tc>
              </a:tr>
              <a:tr h="170708">
                <a:tc>
                  <a:txBody>
                    <a:bodyPr wrap="square"/>
                    <a:lstStyle/>
                    <a:p>
                      <a:pPr algn="l"/>
                      <a:r>
                        <a:rPr sz="1050" b="0" i="0">
                          <a:solidFill>
                            <a:srgbClr val="000000"/>
                          </a:solidFill>
                          <a:latin typeface="Calibri"/>
                        </a:rPr>
                        <a:t>Table 118: Middle East &amp; Africa Market Value by Country, US$ Mn, 2021–2036</a:t>
                      </a:r>
                      <a:endParaRPr sz="1050"/>
                    </a:p>
                  </a:txBody>
                  <a:tcPr marL="9525" marR="9525" marT="9525" marB="0" anchor="ctr"/>
                </a:tc>
              </a:tr>
              <a:tr h="334587">
                <a:tc>
                  <a:txBody>
                    <a:bodyPr wrap="square"/>
                    <a:lstStyle/>
                    <a:p>
                      <a:pPr algn="l"/>
                      <a:r>
                        <a:rPr sz="1050" b="0" i="0">
                          <a:solidFill>
                            <a:srgbClr val="000000"/>
                          </a:solidFill>
                          <a:latin typeface="Calibri"/>
                        </a:rPr>
                        <a:t>Table 119: North America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120: Latin America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121: Western Europe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122: Eastern Europe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123: East Asia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124: South Asia &amp; Pacific Market CAGR and Absolute $ Opportunity by Country, %, US$ Mn, 2026–2036</a:t>
                      </a:r>
                      <a:endParaRPr sz="1050"/>
                    </a:p>
                  </a:txBody>
                  <a:tcPr marL="9525" marR="9525" marT="9525" marB="0" anchor="ctr"/>
                </a:tc>
              </a:tr>
              <a:tr h="334587">
                <a:tc>
                  <a:txBody>
                    <a:bodyPr wrap="square"/>
                    <a:lstStyle/>
                    <a:p>
                      <a:pPr algn="l"/>
                      <a:r>
                        <a:rPr sz="1050" b="0" i="0">
                          <a:solidFill>
                            <a:srgbClr val="000000"/>
                          </a:solidFill>
                          <a:latin typeface="Calibri"/>
                        </a:rPr>
                        <a:t>Table 125: Middle East &amp; Africa Market CAGR and Absolute $ Opportunity by Country, %, US$ Mn, 2026–2036</a:t>
                      </a:r>
                      <a:endParaRPr sz="1050"/>
                    </a:p>
                  </a:txBody>
                  <a:tcPr marL="9525" marR="9525" marT="9525" marB="0" anchor="ctr"/>
                </a:tc>
              </a:tr>
              <a:tr h="170708">
                <a:tc>
                  <a:txBody>
                    <a:bodyPr wrap="square"/>
                    <a:lstStyle/>
                    <a:p>
                      <a:pPr algn="l"/>
                      <a:r>
                        <a:rPr sz="1050" b="0" i="0">
                          <a:solidFill>
                            <a:srgbClr val="000000"/>
                          </a:solidFill>
                          <a:latin typeface="Calibri"/>
                        </a:rPr>
                        <a:t>Table 126: North America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127: Latin America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128: Western Europe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129: Eastern Europe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130: East Asia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131: South Asia &amp; Pacific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132: United States Market Value by Energy Storage Capacity, US$ Mn, 2021–2036</a:t>
                      </a:r>
                      <a:endParaRPr sz="1050"/>
                    </a:p>
                  </a:txBody>
                  <a:tcPr marL="9525" marR="9525" marT="9525" marB="0" anchor="ctr"/>
                </a:tc>
              </a:tr>
              <a:tr h="170708">
                <a:tc>
                  <a:txBody>
                    <a:bodyPr wrap="square"/>
                    <a:lstStyle/>
                    <a:p>
                      <a:pPr algn="l"/>
                      <a:r>
                        <a:rPr sz="1050" b="0" i="0">
                          <a:solidFill>
                            <a:srgbClr val="000000"/>
                          </a:solidFill>
                          <a:latin typeface="Calibri"/>
                        </a:rPr>
                        <a:t>Table 133: United States Market Historical and Forecast Growth, %, 2021–2036</a:t>
                      </a:r>
                      <a:endParaRPr sz="1050"/>
                    </a:p>
                  </a:txBody>
                  <a:tcPr marL="9525" marR="9525" marT="9525" marB="0" anchor="ctr"/>
                </a:tc>
              </a:tr>
              <a:tr h="170708">
                <a:tc>
                  <a:txBody>
                    <a:bodyPr wrap="square"/>
                    <a:lstStyle/>
                    <a:p>
                      <a:pPr algn="l"/>
                      <a:r>
                        <a:rPr sz="1050" b="0" i="0">
                          <a:solidFill>
                            <a:srgbClr val="000000"/>
                          </a:solidFill>
                          <a:latin typeface="Calibri"/>
                        </a:rPr>
                        <a:t>Table 134: United States Market Value by System Application, US$ Mn, 2021–2036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135: United States Market Share within North America, %, 2025, 2026 and 2036</a:t>
                      </a:r>
                      <a:endParaRPr sz="1050"/>
                    </a:p>
                  </a:txBody>
                  <a:tcPr marL="9525" marR="9525" marT="9525" marB="0" anchor="ctr"/>
                </a:tc>
              </a:tr>
              <a:tr h="169826">
                <a:tc>
                  <a:txBody>
                    <a:bodyPr wrap="square"/>
                    <a:lstStyle/>
                    <a:p>
                      <a:pPr algn="l"/>
                      <a:r>
                        <a:rPr sz="1050" b="0" i="0">
                          <a:solidFill>
                            <a:srgbClr val="000000"/>
                          </a:solidFill>
                          <a:latin typeface="Calibri"/>
                        </a:rPr>
                        <a:t>Table 136: United States Market Value by Battery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137: United States Market Value by Battery Configuration, US$ Mn, 2021–2036</a:t>
                      </a:r>
                      <a:endParaRPr sz="1050"/>
                    </a:p>
                  </a:txBody>
                  <a:tcPr marL="9525" marR="9525" marT="9525" marB="0" anchor="ctr"/>
                </a:tc>
              </a:tr>
              <a:tr h="169826">
                <a:tc>
                  <a:txBody>
                    <a:bodyPr wrap="square"/>
                    <a:lstStyle/>
                    <a:p>
                      <a:pPr algn="l"/>
                      <a:r>
                        <a:rPr sz="1050" b="0" i="0">
                          <a:solidFill>
                            <a:srgbClr val="000000"/>
                          </a:solidFill>
                          <a:latin typeface="Calibri"/>
                        </a:rPr>
                        <a:t>Table 138: United States Market Value by Output Power Rating, US$ Mn, 2021–2036</a:t>
                      </a:r>
                      <a:endParaRPr sz="1050"/>
                    </a:p>
                  </a:txBody>
                  <a:tcPr marL="9525" marR="9525" marT="9525" marB="0" anchor="ctr"/>
                </a:tc>
              </a:tr>
              <a:tr h="169826">
                <a:tc>
                  <a:txBody>
                    <a:bodyPr wrap="square"/>
                    <a:lstStyle/>
                    <a:p>
                      <a:pPr algn="l"/>
                      <a:r>
                        <a:rPr sz="1050" b="0" i="0">
                          <a:solidFill>
                            <a:srgbClr val="000000"/>
                          </a:solidFill>
                          <a:latin typeface="Calibri"/>
                        </a:rPr>
                        <a:t>Table 139: United States Market Value by System Architecture, US$ Mn, 2021–2036</a:t>
                      </a:r>
                      <a:endParaRPr sz="1050"/>
                    </a:p>
                  </a:txBody>
                  <a:tcPr marL="9525" marR="9525" marT="9525" marB="0" anchor="ctr"/>
                </a:tc>
              </a:tr>
              <a:tr h="169826">
                <a:tc>
                  <a:txBody>
                    <a:bodyPr wrap="square"/>
                    <a:lstStyle/>
                    <a:p>
                      <a:pPr algn="l"/>
                      <a:r>
                        <a:rPr sz="1050" b="0" i="0">
                          <a:solidFill>
                            <a:srgbClr val="000000"/>
                          </a:solidFill>
                          <a:latin typeface="Calibri"/>
                        </a:rPr>
                        <a:t>Table 140: Canada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141: Canada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142: Canada Market Value by System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143: Canada Market Share within North America, %, 2025, 2026 and 2036</a:t>
                      </a:r>
                      <a:endParaRPr sz="1050"/>
                    </a:p>
                  </a:txBody>
                  <a:tcPr marL="9525" marR="9525" marT="9525" marB="0" anchor="ctr"/>
                </a:tc>
              </a:tr>
              <a:tr h="169826">
                <a:tc>
                  <a:txBody>
                    <a:bodyPr wrap="square"/>
                    <a:lstStyle/>
                    <a:p>
                      <a:pPr algn="l"/>
                      <a:r>
                        <a:rPr sz="1050" b="0" i="0">
                          <a:solidFill>
                            <a:srgbClr val="000000"/>
                          </a:solidFill>
                          <a:latin typeface="Calibri"/>
                        </a:rPr>
                        <a:t>Table 144: Canada Market Value by Battery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145: Canada Market Value by Battery Configuration, US$ Mn, 2021–2036</a:t>
                      </a:r>
                      <a:endParaRPr sz="1050"/>
                    </a:p>
                  </a:txBody>
                  <a:tcPr marL="9525" marR="9525" marT="9525" marB="0" anchor="ctr"/>
                </a:tc>
              </a:tr>
              <a:tr h="169826">
                <a:tc>
                  <a:txBody>
                    <a:bodyPr wrap="square"/>
                    <a:lstStyle/>
                    <a:p>
                      <a:pPr algn="l"/>
                      <a:r>
                        <a:rPr sz="1050" b="0" i="0">
                          <a:solidFill>
                            <a:srgbClr val="000000"/>
                          </a:solidFill>
                          <a:latin typeface="Calibri"/>
                        </a:rPr>
                        <a:t>Table 146: Canada Market Value by Output Power Rating, US$ Mn, 2021–2036</a:t>
                      </a:r>
                      <a:endParaRPr sz="1050"/>
                    </a:p>
                  </a:txBody>
                  <a:tcPr marL="9525" marR="9525" marT="9525" marB="0" anchor="ctr"/>
                </a:tc>
              </a:tr>
              <a:tr h="169826">
                <a:tc>
                  <a:txBody>
                    <a:bodyPr wrap="square"/>
                    <a:lstStyle/>
                    <a:p>
                      <a:pPr algn="l"/>
                      <a:r>
                        <a:rPr sz="1050" b="0" i="0">
                          <a:solidFill>
                            <a:srgbClr val="000000"/>
                          </a:solidFill>
                          <a:latin typeface="Calibri"/>
                        </a:rPr>
                        <a:t>Table 147: Canada Market Value by System Architecture, US$ Mn, 2021–2036</a:t>
                      </a:r>
                      <a:endParaRPr sz="1050"/>
                    </a:p>
                  </a:txBody>
                  <a:tcPr marL="9525" marR="9525" marT="9525" marB="0" anchor="ctr"/>
                </a:tc>
              </a:tr>
              <a:tr h="169826">
                <a:tc>
                  <a:txBody>
                    <a:bodyPr wrap="square"/>
                    <a:lstStyle/>
                    <a:p>
                      <a:pPr algn="l"/>
                      <a:r>
                        <a:rPr sz="1050" b="0" i="0">
                          <a:solidFill>
                            <a:srgbClr val="000000"/>
                          </a:solidFill>
                          <a:latin typeface="Calibri"/>
                        </a:rPr>
                        <a:t>Table 148: India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149: India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150: India Market Value by System Application, US$ Mn, 2021–2036</a:t>
                      </a:r>
                      <a:endParaRPr sz="1050"/>
                    </a:p>
                  </a:txBody>
                  <a:tcPr marL="9525" marR="9525" marT="9525" marB="0" anchor="ctr"/>
                </a:tc>
              </a:tr>
              <a:tr h="169826">
                <a:tc>
                  <a:txBody>
                    <a:bodyPr wrap="square"/>
                    <a:lstStyle/>
                    <a:p>
                      <a:pPr algn="l"/>
                      <a:r>
                        <a:rPr sz="1050" b="0" i="0">
                          <a:solidFill>
                            <a:srgbClr val="000000"/>
                          </a:solidFill>
                          <a:latin typeface="Calibri"/>
                        </a:rPr>
                        <a:t>Table 151: India Market Share within South Asia &amp; Pacific, %, 2025, 2026 and 2036</a:t>
                      </a:r>
                      <a:endParaRPr sz="1050"/>
                    </a:p>
                  </a:txBody>
                  <a:tcPr marL="9525" marR="9525" marT="9525" marB="0" anchor="ctr"/>
                </a:tc>
              </a:tr>
              <a:tr h="169826">
                <a:tc>
                  <a:txBody>
                    <a:bodyPr wrap="square"/>
                    <a:lstStyle/>
                    <a:p>
                      <a:pPr algn="l"/>
                      <a:r>
                        <a:rPr sz="1050" b="0" i="0">
                          <a:solidFill>
                            <a:srgbClr val="000000"/>
                          </a:solidFill>
                          <a:latin typeface="Calibri"/>
                        </a:rPr>
                        <a:t>Table 152: India Market Value by Battery Chemistry, US$ Mn, 2021–2036</a:t>
                      </a:r>
                      <a:endParaRPr sz="1050"/>
                    </a:p>
                  </a:txBody>
                  <a:tcPr marL="9525" marR="9525" marT="9525" marB="0" anchor="ctr"/>
                </a:tc>
              </a:tr>
              <a:tr h="169826">
                <a:tc>
                  <a:txBody>
                    <a:bodyPr wrap="square"/>
                    <a:lstStyle/>
                    <a:p>
                      <a:pPr algn="l"/>
                      <a:r>
                        <a:rPr sz="1050" b="0" i="0">
                          <a:solidFill>
                            <a:srgbClr val="000000"/>
                          </a:solidFill>
                          <a:latin typeface="Calibri"/>
                        </a:rPr>
                        <a:t>Table 153: India Market Value by Battery Configuration, US$ Mn, 2021–2036</a:t>
                      </a:r>
                      <a:endParaRPr sz="1050"/>
                    </a:p>
                  </a:txBody>
                  <a:tcPr marL="9525" marR="9525" marT="9525" marB="0" anchor="ctr"/>
                </a:tc>
              </a:tr>
              <a:tr h="169826">
                <a:tc>
                  <a:txBody>
                    <a:bodyPr wrap="square"/>
                    <a:lstStyle/>
                    <a:p>
                      <a:pPr algn="l"/>
                      <a:r>
                        <a:rPr sz="1050" b="0" i="0">
                          <a:solidFill>
                            <a:srgbClr val="000000"/>
                          </a:solidFill>
                          <a:latin typeface="Calibri"/>
                        </a:rPr>
                        <a:t>Table 154: India Market Value by Output Power Rating, US$ Mn, 2021–2036</a:t>
                      </a:r>
                      <a:endParaRPr sz="1050"/>
                    </a:p>
                  </a:txBody>
                  <a:tcPr marL="9525" marR="9525" marT="9525" marB="0" anchor="ctr"/>
                </a:tc>
              </a:tr>
              <a:tr h="169826">
                <a:tc>
                  <a:txBody>
                    <a:bodyPr wrap="square"/>
                    <a:lstStyle/>
                    <a:p>
                      <a:pPr algn="l"/>
                      <a:r>
                        <a:rPr sz="1050" b="0" i="0">
                          <a:solidFill>
                            <a:srgbClr val="000000"/>
                          </a:solidFill>
                          <a:latin typeface="Calibri"/>
                        </a:rPr>
                        <a:t>Table 155: India Market Value by System Architecture, US$ Mn, 2021–2036</a:t>
                      </a:r>
                      <a:endParaRPr sz="1050"/>
                    </a:p>
                  </a:txBody>
                  <a:tcPr marL="9525" marR="9525" marT="9525" marB="0" anchor="ctr"/>
                </a:tc>
              </a:tr>
              <a:tr h="169826">
                <a:tc>
                  <a:txBody>
                    <a:bodyPr wrap="square"/>
                    <a:lstStyle/>
                    <a:p>
                      <a:pPr algn="l"/>
                      <a:r>
                        <a:rPr sz="1050" b="0" i="0">
                          <a:solidFill>
                            <a:srgbClr val="000000"/>
                          </a:solidFill>
                          <a:latin typeface="Calibri"/>
                        </a:rPr>
                        <a:t>Table 156: China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157: China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158: Brazil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159: Brazil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160: Mexico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161: Mexico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162: Kingdom of Saudi Arabia Market Value by Energy Storage Capacity, US$ Mn, 2021–2036</a:t>
                      </a:r>
                      <a:endParaRPr sz="1050"/>
                    </a:p>
                  </a:txBody>
                  <a:tcPr marL="9525" marR="9525" marT="9525" marB="0" anchor="ctr"/>
                </a:tc>
              </a:tr>
              <a:tr h="169826">
                <a:tc>
                  <a:txBody>
                    <a:bodyPr wrap="square"/>
                    <a:lstStyle/>
                    <a:p>
                      <a:pPr algn="l"/>
                      <a:r>
                        <a:rPr sz="1050" b="0" i="0">
                          <a:solidFill>
                            <a:srgbClr val="000000"/>
                          </a:solidFill>
                          <a:latin typeface="Calibri"/>
                        </a:rPr>
                        <a:t>Table 163: Kingdom of Saudi Arabia Market Historical and Forecast Growth, %, 2021–2036</a:t>
                      </a:r>
                      <a:endParaRPr sz="1050"/>
                    </a:p>
                  </a:txBody>
                  <a:tcPr marL="9525" marR="9525" marT="9525" marB="0" anchor="ctr"/>
                </a:tc>
              </a:tr>
              <a:tr h="332858">
                <a:tc>
                  <a:txBody>
                    <a:bodyPr wrap="square"/>
                    <a:lstStyle/>
                    <a:p>
                      <a:pPr algn="l"/>
                      <a:r>
                        <a:rPr sz="1050" b="0" i="0">
                          <a:solidFill>
                            <a:srgbClr val="000000"/>
                          </a:solidFill>
                          <a:latin typeface="Calibri"/>
                        </a:rPr>
                        <a:t>Table 164: Market Product Price Comparison by Company and Energy Storage Capacity, US$/Units, 2026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(4/4)</a:t>
            </a:r>
          </a:p>
        </p:txBody>
      </p:sp>
      <p:graphicFrame>
        <p:nvGraphicFramePr>
          <p:cNvPr id="7" name="FactMR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165: Global Market Average Selling Price by Region,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166: Global Market Average Selling Price by Energy Storage Capacity, US$/Units, 2021–2036</a:t>
                      </a:r>
                      <a:endParaRPr sz="1050"/>
                    </a:p>
                  </a:txBody>
                  <a:tcPr marL="9525" marR="9525" marT="9525" marB="0" anchor="ctr"/>
                </a:tc>
              </a:tr>
              <a:tr h="169826">
                <a:tc>
                  <a:txBody>
                    <a:bodyPr wrap="square"/>
                    <a:lstStyle/>
                    <a:p>
                      <a:pPr algn="l"/>
                      <a:r>
                        <a:rPr sz="1050" b="0" i="0">
                          <a:solidFill>
                            <a:srgbClr val="000000"/>
                          </a:solidFill>
                          <a:latin typeface="Calibri"/>
                        </a:rPr>
                        <a:t>Table 167: Global Market Average Selling Price by Battery Chemistry, US$/Units, 2021–2036</a:t>
                      </a:r>
                      <a:endParaRPr sz="1050"/>
                    </a:p>
                  </a:txBody>
                  <a:tcPr marL="9525" marR="9525" marT="9525" marB="0" anchor="ctr"/>
                </a:tc>
              </a:tr>
              <a:tr h="169826">
                <a:tc>
                  <a:txBody>
                    <a:bodyPr wrap="square"/>
                    <a:lstStyle/>
                    <a:p>
                      <a:pPr algn="l"/>
                      <a:r>
                        <a:rPr sz="1050" b="0" i="0">
                          <a:solidFill>
                            <a:srgbClr val="000000"/>
                          </a:solidFill>
                          <a:latin typeface="Calibri"/>
                        </a:rPr>
                        <a:t>Table 168: Global Market Average Selling Price by Battery Configuration, US$/Units, 2021–2036</a:t>
                      </a:r>
                      <a:endParaRPr sz="1050"/>
                    </a:p>
                  </a:txBody>
                  <a:tcPr marL="9525" marR="9525" marT="9525" marB="0" anchor="ctr"/>
                </a:tc>
              </a:tr>
              <a:tr h="169826">
                <a:tc>
                  <a:txBody>
                    <a:bodyPr wrap="square"/>
                    <a:lstStyle/>
                    <a:p>
                      <a:pPr algn="l"/>
                      <a:r>
                        <a:rPr sz="1050" b="0" i="0">
                          <a:solidFill>
                            <a:srgbClr val="000000"/>
                          </a:solidFill>
                          <a:latin typeface="Calibri"/>
                        </a:rPr>
                        <a:t>Table 169: Global Market Average Selling Price by System Application, US$/Units, 2021–2036</a:t>
                      </a:r>
                      <a:endParaRPr sz="1050"/>
                    </a:p>
                  </a:txBody>
                  <a:tcPr marL="9525" marR="9525" marT="9525" marB="0" anchor="ctr"/>
                </a:tc>
              </a:tr>
              <a:tr h="169826">
                <a:tc>
                  <a:txBody>
                    <a:bodyPr wrap="square"/>
                    <a:lstStyle/>
                    <a:p>
                      <a:pPr algn="l"/>
                      <a:r>
                        <a:rPr sz="1050" b="0" i="0">
                          <a:solidFill>
                            <a:srgbClr val="000000"/>
                          </a:solidFill>
                          <a:latin typeface="Calibri"/>
                        </a:rPr>
                        <a:t>Table 170: Global Market Average Selling Price by Output Power Rating, US$/Units, 2021–2036</a:t>
                      </a:r>
                      <a:endParaRPr sz="1050"/>
                    </a:p>
                  </a:txBody>
                  <a:tcPr marL="9525" marR="9525" marT="9525" marB="0" anchor="ctr"/>
                </a:tc>
              </a:tr>
              <a:tr h="169826">
                <a:tc>
                  <a:txBody>
                    <a:bodyPr wrap="square"/>
                    <a:lstStyle/>
                    <a:p>
                      <a:pPr algn="l"/>
                      <a:r>
                        <a:rPr sz="1050" b="0" i="0">
                          <a:solidFill>
                            <a:srgbClr val="000000"/>
                          </a:solidFill>
                          <a:latin typeface="Calibri"/>
                        </a:rPr>
                        <a:t>Table 171: Global Market Average Selling Price by System Architecture, US$/Units, 2021–2036</a:t>
                      </a:r>
                      <a:endParaRPr sz="1050"/>
                    </a:p>
                  </a:txBody>
                  <a:tcPr marL="9525" marR="9525" marT="9525" marB="0" anchor="ctr"/>
                </a:tc>
              </a:tr>
              <a:tr h="169826">
                <a:tc>
                  <a:txBody>
                    <a:bodyPr wrap="square"/>
                    <a:lstStyle/>
                    <a:p>
                      <a:pPr algn="l"/>
                      <a:r>
                        <a:rPr sz="1050" b="0" i="0">
                          <a:solidFill>
                            <a:srgbClr val="000000"/>
                          </a:solidFill>
                          <a:latin typeface="Calibri"/>
                        </a:rPr>
                        <a:t>Table 172: Global Market Average Selling Price by Distribution Channel, US$/Units, 2021–2036</a:t>
                      </a:r>
                      <a:endParaRPr sz="1050"/>
                    </a:p>
                  </a:txBody>
                  <a:tcPr marL="9525" marR="9525" marT="9525" marB="0" anchor="ctr"/>
                </a:tc>
              </a:tr>
              <a:tr h="169826">
                <a:tc>
                  <a:txBody>
                    <a:bodyPr wrap="square"/>
                    <a:lstStyle/>
                    <a:p>
                      <a:pPr algn="l"/>
                      <a:r>
                        <a:rPr sz="1050" b="0" i="0">
                          <a:solidFill>
                            <a:srgbClr val="000000"/>
                          </a:solidFill>
                          <a:latin typeface="Calibri"/>
                        </a:rPr>
                        <a:t>Table 173: Supplier-to-Customer Relationship Mapping in United States, 2026</a:t>
                      </a:r>
                      <a:endParaRPr sz="1050"/>
                    </a:p>
                  </a:txBody>
                  <a:tcPr marL="9525" marR="9525" marT="9525" marB="0" anchor="ctr"/>
                </a:tc>
              </a:tr>
              <a:tr h="169826">
                <a:tc>
                  <a:txBody>
                    <a:bodyPr wrap="square"/>
                    <a:lstStyle/>
                    <a:p>
                      <a:pPr algn="l"/>
                      <a:r>
                        <a:rPr sz="1050" b="0" i="0">
                          <a:solidFill>
                            <a:srgbClr val="000000"/>
                          </a:solidFill>
                          <a:latin typeface="Calibri"/>
                        </a:rPr>
                        <a:t>Table 174: Global Market Value Chain Participants by Stage, 2026</a:t>
                      </a:r>
                      <a:endParaRPr sz="1050"/>
                    </a:p>
                  </a:txBody>
                  <a:tcPr marL="9525" marR="9525" marT="9525" marB="0" anchor="ctr"/>
                </a:tc>
              </a:tr>
              <a:tr h="169826">
                <a:tc>
                  <a:txBody>
                    <a:bodyPr wrap="square"/>
                    <a:lstStyle/>
                    <a:p>
                      <a:pPr algn="l"/>
                      <a:r>
                        <a:rPr sz="1050" b="0" i="0">
                          <a:solidFill>
                            <a:srgbClr val="000000"/>
                          </a:solidFill>
                          <a:latin typeface="Calibri"/>
                        </a:rPr>
                        <a:t>Table 175: Global Market Margin Analysis by Value Chain Stage, %, 2026</a:t>
                      </a:r>
                      <a:endParaRPr sz="1050"/>
                    </a:p>
                  </a:txBody>
                  <a:tcPr marL="9525" marR="9525" marT="9525" marB="0" anchor="ctr"/>
                </a:tc>
              </a:tr>
              <a:tr h="169826">
                <a:tc>
                  <a:txBody>
                    <a:bodyPr wrap="square"/>
                    <a:lstStyle/>
                    <a:p>
                      <a:pPr algn="l"/>
                      <a:r>
                        <a:rPr sz="1050" b="0" i="0">
                          <a:solidFill>
                            <a:srgbClr val="000000"/>
                          </a:solidFill>
                          <a:latin typeface="Calibri"/>
                        </a:rPr>
                        <a:t>Table 176: Global Market Cost Structure by Component, %, 2026</a:t>
                      </a:r>
                      <a:endParaRPr sz="1050"/>
                    </a:p>
                  </a:txBody>
                  <a:tcPr marL="9525" marR="9525" marT="9525" marB="0" anchor="ctr"/>
                </a:tc>
              </a:tr>
              <a:tr h="169826">
                <a:tc>
                  <a:txBody>
                    <a:bodyPr wrap="square"/>
                    <a:lstStyle/>
                    <a:p>
                      <a:pPr algn="l"/>
                      <a:r>
                        <a:rPr sz="1050" b="0" i="0">
                          <a:solidFill>
                            <a:srgbClr val="000000"/>
                          </a:solidFill>
                          <a:latin typeface="Calibri"/>
                        </a:rPr>
                        <a:t>Table 177: Global Market Import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178: Global Market Export Value by Leading Country, US$ Mn, 2021–2025</a:t>
                      </a:r>
                      <a:endParaRPr sz="1050"/>
                    </a:p>
                  </a:txBody>
                  <a:tcPr marL="9525" marR="9525" marT="9525" marB="0" anchor="ctr"/>
                </a:tc>
              </a:tr>
              <a:tr h="332858">
                <a:tc>
                  <a:txBody>
                    <a:bodyPr wrap="square"/>
                    <a:lstStyle/>
                    <a:p>
                      <a:pPr algn="l"/>
                      <a:r>
                        <a:rPr sz="1050" b="0" i="0">
                          <a:solidFill>
                            <a:srgbClr val="000000"/>
                          </a:solidFill>
                          <a:latin typeface="Calibri"/>
                        </a:rPr>
                        <a:t>Table 179: Leading Lithium Polymer Portable Energy Storage Manufacturers: Product Portfolio and Geographic Presence, 2026</a:t>
                      </a:r>
                      <a:endParaRPr sz="1050"/>
                    </a:p>
                  </a:txBody>
                  <a:tcPr marL="9525" marR="9525" marT="9525" marB="0" anchor="ctr"/>
                </a:tc>
              </a:tr>
              <a:tr h="169826">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r h="169826">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r h="169826">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9826">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9826">
                <a:tc>
                  <a:txBody>
                    <a:bodyPr wrap="square"/>
                    <a:lstStyle/>
                    <a:p>
                      <a:pPr algn="l"/>
                      <a:r>
                        <a:rPr sz="1050" b="0" i="0">
                          <a:solidFill>
                            <a:srgbClr val="000000"/>
                          </a:solidFill>
                          <a:latin typeface="Calibri"/>
                        </a:rPr>
                        <a:t>Table 184: EcoFlow: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185: Business Overview: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186: Relevant Portfolio: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187: Footprint: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188: Pricing: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189: SWOT: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190: Developments: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191: Jackery: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192: BLUETTI: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193: Goal Zero: Company Overview, Products and Strategy, 2026</a:t>
                      </a:r>
                      <a:endParaRPr sz="1050"/>
                    </a:p>
                  </a:txBody>
                  <a:tcPr marL="9525" marR="9525" marT="9525" marB="0" anchor="ctr"/>
                </a:tc>
              </a:tr>
              <a:tr h="169826">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bl>
          </a:graphicData>
        </a:graphic>
      </p:graphicFrame>
      <p:graphicFrame>
        <p:nvGraphicFramePr>
          <p:cNvPr id="8" name="FactMR Contents Table"/>
          <p:cNvGraphicFramePr>
            <a:graphicFrameLocks noGrp="1"/>
          </p:cNvGraphicFramePr>
          <p:nvPr/>
        </p:nvGraphicFramePr>
        <p:xfrm>
          <a:off x="6172200" y="981075"/>
          <a:ext cx="5876925" cy="100012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Energy Storage Capacity,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Energy Storage Capacity,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Energy Storage Capacity,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1807210"/>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2112010"/>
            <a:ext cx="7239000" cy="9715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274060"/>
            <a:ext cx="7124700" cy="32054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Overview</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Market Analysis By Region</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Market Analysis By Segments</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Energy Storage Capacity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Battery Chemistry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Battery Configuration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System 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Output Power Rating</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System Architecture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Summary, By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volume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(THOUSAND UNITS)</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(THOUSAND UNITS)</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(Thousand Units)</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608753" cy="186689"/>
          </a:xfrm>
          <a:prstGeom prst="rect">
            <a:avLst/>
          </a:prstGeom>
          <a:noFill/>
        </p:spPr>
        <p:txBody>
          <a:bodyPr wrap="none" lIns="0" rIns="0" tIns="0" bIns="0">
            <a:spAutoFit/>
          </a:bodyPr>
          <a:lstStyle/>
          <a:p>
            <a:r>
              <a:rPr sz="1100" b="0">
                <a:solidFill>
                  <a:srgbClr val="252423"/>
                </a:solidFill>
                <a:latin typeface="Segoe UI"/>
              </a:rPr>
              <a:t>Global lithium polymer portable energy storage market is</a:t>
            </a:r>
          </a:p>
        </p:txBody>
      </p:sp>
      <p:sp>
        <p:nvSpPr>
          <p:cNvPr id="33" name="TextBox 32"/>
          <p:cNvSpPr txBox="1"/>
          <p:nvPr/>
        </p:nvSpPr>
        <p:spPr>
          <a:xfrm>
            <a:off x="8048625" y="2214627"/>
            <a:ext cx="1335299" cy="186689"/>
          </a:xfrm>
          <a:prstGeom prst="rect">
            <a:avLst/>
          </a:prstGeom>
          <a:noFill/>
        </p:spPr>
        <p:txBody>
          <a:bodyPr wrap="none" lIns="0" rIns="0" tIns="0" bIns="0">
            <a:spAutoFit/>
          </a:bodyPr>
          <a:lstStyle/>
          <a:p>
            <a:r>
              <a:rPr sz="1100" b="0">
                <a:solidFill>
                  <a:srgbClr val="252423"/>
                </a:solidFill>
                <a:latin typeface="Segoe UI"/>
              </a:rPr>
              <a:t>projected to register</a:t>
            </a:r>
          </a:p>
        </p:txBody>
      </p:sp>
      <p:pic>
        <p:nvPicPr>
          <p:cNvPr id="34" name="Picture 33" descr="lock.png"/>
          <p:cNvPicPr>
            <a:picLocks noChangeAspect="1"/>
          </p:cNvPicPr>
          <p:nvPr/>
        </p:nvPicPr>
        <p:blipFill>
          <a:blip r:embed="rId6"/>
          <a:stretch>
            <a:fillRect/>
          </a:stretch>
        </p:blipFill>
        <p:spPr>
          <a:xfrm>
            <a:off x="9331975" y="2204848"/>
            <a:ext cx="128699" cy="187198"/>
          </a:xfrm>
          <a:prstGeom prst="rect">
            <a:avLst/>
          </a:prstGeom>
        </p:spPr>
      </p:pic>
      <p:sp>
        <p:nvSpPr>
          <p:cNvPr id="35" name="TextBox 34"/>
          <p:cNvSpPr txBox="1"/>
          <p:nvPr/>
        </p:nvSpPr>
        <p:spPr>
          <a:xfrm>
            <a:off x="9499471" y="2214627"/>
            <a:ext cx="2206543" cy="186689"/>
          </a:xfrm>
          <a:prstGeom prst="rect">
            <a:avLst/>
          </a:prstGeom>
          <a:noFill/>
        </p:spPr>
        <p:txBody>
          <a:bodyPr wrap="none" lIns="0" rIns="0" tIns="0" bIns="0">
            <a:spAutoFit/>
          </a:bodyPr>
          <a:lstStyle/>
          <a:p>
            <a:r>
              <a:rPr sz="1100" b="0">
                <a:solidFill>
                  <a:srgbClr val="252423"/>
                </a:solidFill>
                <a:latin typeface="Segoe UI"/>
              </a:rPr>
              <a:t>X increase in volume by the end of</a:t>
            </a:r>
          </a:p>
        </p:txBody>
      </p:sp>
      <p:sp>
        <p:nvSpPr>
          <p:cNvPr id="36" name="TextBox 35"/>
          <p:cNvSpPr txBox="1"/>
          <p:nvPr/>
        </p:nvSpPr>
        <p:spPr>
          <a:xfrm>
            <a:off x="8048625" y="2382267"/>
            <a:ext cx="3848100" cy="186689"/>
          </a:xfrm>
          <a:prstGeom prst="rect">
            <a:avLst/>
          </a:prstGeom>
          <a:noFill/>
        </p:spPr>
        <p:txBody>
          <a:bodyPr wrap="none" lIns="0" rIns="0" tIns="0" bIns="0">
            <a:spAutoFit/>
          </a:bodyPr>
          <a:lstStyle/>
          <a:p>
            <a:r>
              <a:rPr sz="1100" b="0">
                <a:solidFill>
                  <a:srgbClr val="252423"/>
                </a:solidFill>
                <a:latin typeface="Segoe UI"/>
              </a:rPr>
              <a:t>forecast period, 2036. Global lithium polymer portable energy</a:t>
            </a:r>
          </a:p>
        </p:txBody>
      </p:sp>
      <p:sp>
        <p:nvSpPr>
          <p:cNvPr id="37" name="TextBox 36"/>
          <p:cNvSpPr txBox="1"/>
          <p:nvPr/>
        </p:nvSpPr>
        <p:spPr>
          <a:xfrm>
            <a:off x="8048625" y="2549907"/>
            <a:ext cx="2049645" cy="186689"/>
          </a:xfrm>
          <a:prstGeom prst="rect">
            <a:avLst/>
          </a:prstGeom>
          <a:noFill/>
        </p:spPr>
        <p:txBody>
          <a:bodyPr wrap="none" lIns="0" rIns="0" tIns="0" bIns="0">
            <a:spAutoFit/>
          </a:bodyPr>
          <a:lstStyle/>
          <a:p>
            <a:r>
              <a:rPr sz="1100" b="0">
                <a:solidFill>
                  <a:srgbClr val="252423"/>
                </a:solidFill>
                <a:latin typeface="Segoe UI"/>
              </a:rPr>
              <a:t>storage market volume stood at</a:t>
            </a:r>
          </a:p>
        </p:txBody>
      </p:sp>
      <p:pic>
        <p:nvPicPr>
          <p:cNvPr id="38" name="Picture 37" descr="lock.png"/>
          <p:cNvPicPr>
            <a:picLocks noChangeAspect="1"/>
          </p:cNvPicPr>
          <p:nvPr/>
        </p:nvPicPr>
        <p:blipFill>
          <a:blip r:embed="rId6"/>
          <a:stretch>
            <a:fillRect/>
          </a:stretch>
        </p:blipFill>
        <p:spPr>
          <a:xfrm>
            <a:off x="10046322" y="2540128"/>
            <a:ext cx="128699" cy="187198"/>
          </a:xfrm>
          <a:prstGeom prst="rect">
            <a:avLst/>
          </a:prstGeom>
        </p:spPr>
      </p:pic>
      <p:sp>
        <p:nvSpPr>
          <p:cNvPr id="39" name="TextBox 38"/>
          <p:cNvSpPr txBox="1"/>
          <p:nvPr/>
        </p:nvSpPr>
        <p:spPr>
          <a:xfrm>
            <a:off x="10213818" y="2549907"/>
            <a:ext cx="1525860" cy="186689"/>
          </a:xfrm>
          <a:prstGeom prst="rect">
            <a:avLst/>
          </a:prstGeom>
          <a:noFill/>
        </p:spPr>
        <p:txBody>
          <a:bodyPr wrap="none" lIns="0" rIns="0" tIns="0" bIns="0">
            <a:spAutoFit/>
          </a:bodyPr>
          <a:lstStyle/>
          <a:p>
            <a:r>
              <a:rPr sz="1100" b="0">
                <a:solidFill>
                  <a:srgbClr val="252423"/>
                </a:solidFill>
                <a:latin typeface="Segoe UI"/>
              </a:rPr>
              <a:t>Thousand Units in 2025</a:t>
            </a:r>
          </a:p>
        </p:txBody>
      </p:sp>
      <p:sp>
        <p:nvSpPr>
          <p:cNvPr id="40" name="TextBox 39"/>
          <p:cNvSpPr txBox="1"/>
          <p:nvPr/>
        </p:nvSpPr>
        <p:spPr>
          <a:xfrm>
            <a:off x="8048625" y="2717547"/>
            <a:ext cx="1580912" cy="186689"/>
          </a:xfrm>
          <a:prstGeom prst="rect">
            <a:avLst/>
          </a:prstGeom>
          <a:noFill/>
        </p:spPr>
        <p:txBody>
          <a:bodyPr wrap="none" lIns="0" rIns="0" tIns="0" bIns="0">
            <a:spAutoFit/>
          </a:bodyPr>
          <a:lstStyle/>
          <a:p>
            <a:r>
              <a:rPr sz="1100" b="0">
                <a:solidFill>
                  <a:srgbClr val="252423"/>
                </a:solidFill>
                <a:latin typeface="Segoe UI"/>
              </a:rPr>
              <a:t>and is expected to reach</a:t>
            </a:r>
          </a:p>
        </p:txBody>
      </p:sp>
      <p:pic>
        <p:nvPicPr>
          <p:cNvPr id="41" name="Picture 40" descr="lock.png"/>
          <p:cNvPicPr>
            <a:picLocks noChangeAspect="1"/>
          </p:cNvPicPr>
          <p:nvPr/>
        </p:nvPicPr>
        <p:blipFill>
          <a:blip r:embed="rId6"/>
          <a:stretch>
            <a:fillRect/>
          </a:stretch>
        </p:blipFill>
        <p:spPr>
          <a:xfrm>
            <a:off x="9577589" y="2707768"/>
            <a:ext cx="128699" cy="187198"/>
          </a:xfrm>
          <a:prstGeom prst="rect">
            <a:avLst/>
          </a:prstGeom>
        </p:spPr>
      </p:pic>
      <p:sp>
        <p:nvSpPr>
          <p:cNvPr id="42" name="TextBox 41"/>
          <p:cNvSpPr txBox="1"/>
          <p:nvPr/>
        </p:nvSpPr>
        <p:spPr>
          <a:xfrm>
            <a:off x="9745084" y="2717547"/>
            <a:ext cx="2022723" cy="186689"/>
          </a:xfrm>
          <a:prstGeom prst="rect">
            <a:avLst/>
          </a:prstGeom>
          <a:noFill/>
        </p:spPr>
        <p:txBody>
          <a:bodyPr wrap="none" lIns="0" rIns="0" tIns="0" bIns="0">
            <a:spAutoFit/>
          </a:bodyPr>
          <a:lstStyle/>
          <a:p>
            <a:r>
              <a:rPr sz="1100" b="0">
                <a:solidFill>
                  <a:srgbClr val="252423"/>
                </a:solidFill>
                <a:latin typeface="Segoe UI"/>
              </a:rPr>
              <a:t>Thousand Units by 2036 end, at</a:t>
            </a:r>
          </a:p>
        </p:txBody>
      </p:sp>
      <p:sp>
        <p:nvSpPr>
          <p:cNvPr id="43" name="TextBox 42"/>
          <p:cNvSpPr txBox="1"/>
          <p:nvPr/>
        </p:nvSpPr>
        <p:spPr>
          <a:xfrm>
            <a:off x="8048625" y="2885187"/>
            <a:ext cx="705054" cy="186689"/>
          </a:xfrm>
          <a:prstGeom prst="rect">
            <a:avLst/>
          </a:prstGeom>
          <a:noFill/>
        </p:spPr>
        <p:txBody>
          <a:bodyPr wrap="none" lIns="0" rIns="0" tIns="0" bIns="0">
            <a:spAutoFit/>
          </a:bodyPr>
          <a:lstStyle/>
          <a:p>
            <a:r>
              <a:rPr sz="1100" b="0">
                <a:solidFill>
                  <a:srgbClr val="252423"/>
                </a:solidFill>
                <a:latin typeface="Segoe UI"/>
              </a:rPr>
              <a:t>a CAGR of</a:t>
            </a:r>
          </a:p>
        </p:txBody>
      </p:sp>
      <p:pic>
        <p:nvPicPr>
          <p:cNvPr id="44" name="Picture 43" descr="lock.png"/>
          <p:cNvPicPr>
            <a:picLocks noChangeAspect="1"/>
          </p:cNvPicPr>
          <p:nvPr/>
        </p:nvPicPr>
        <p:blipFill>
          <a:blip r:embed="rId6"/>
          <a:stretch>
            <a:fillRect/>
          </a:stretch>
        </p:blipFill>
        <p:spPr>
          <a:xfrm>
            <a:off x="8701731" y="2875408"/>
            <a:ext cx="128699" cy="187198"/>
          </a:xfrm>
          <a:prstGeom prst="rect">
            <a:avLst/>
          </a:prstGeom>
        </p:spPr>
      </p:pic>
      <p:sp>
        <p:nvSpPr>
          <p:cNvPr id="45" name="TextBox 44"/>
          <p:cNvSpPr txBox="1"/>
          <p:nvPr/>
        </p:nvSpPr>
        <p:spPr>
          <a:xfrm>
            <a:off x="8869227" y="288518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6" name="TextBox 45"/>
          <p:cNvSpPr txBox="1"/>
          <p:nvPr/>
        </p:nvSpPr>
        <p:spPr>
          <a:xfrm>
            <a:off x="8048625" y="3103119"/>
            <a:ext cx="3432525" cy="186689"/>
          </a:xfrm>
          <a:prstGeom prst="rect">
            <a:avLst/>
          </a:prstGeom>
          <a:noFill/>
        </p:spPr>
        <p:txBody>
          <a:bodyPr wrap="none" lIns="0" rIns="0" tIns="0" bIns="0">
            <a:spAutoFit/>
          </a:bodyPr>
          <a:lstStyle/>
          <a:p>
            <a:r>
              <a:rPr sz="1100" b="0">
                <a:solidFill>
                  <a:srgbClr val="252423"/>
                </a:solidFill>
                <a:latin typeface="Segoe UI"/>
              </a:rPr>
              <a:t>Value is projected to grow faster than volume over the</a:t>
            </a:r>
          </a:p>
        </p:txBody>
      </p:sp>
      <p:sp>
        <p:nvSpPr>
          <p:cNvPr id="47" name="TextBox 46"/>
          <p:cNvSpPr txBox="1"/>
          <p:nvPr/>
        </p:nvSpPr>
        <p:spPr>
          <a:xfrm>
            <a:off x="8048625" y="3270759"/>
            <a:ext cx="3830002" cy="186689"/>
          </a:xfrm>
          <a:prstGeom prst="rect">
            <a:avLst/>
          </a:prstGeom>
          <a:noFill/>
        </p:spPr>
        <p:txBody>
          <a:bodyPr wrap="none" lIns="0" rIns="0" tIns="0" bIns="0">
            <a:spAutoFit/>
          </a:bodyPr>
          <a:lstStyle/>
          <a:p>
            <a:r>
              <a:rPr sz="1100" b="0">
                <a:solidFill>
                  <a:srgbClr val="252423"/>
                </a:solidFill>
                <a:latin typeface="Segoe UI"/>
              </a:rPr>
              <a:t>forecast period, owing to an increase in average selling price.</a:t>
            </a:r>
          </a:p>
        </p:txBody>
      </p:sp>
      <p:sp>
        <p:nvSpPr>
          <p:cNvPr id="48" name="TextBox 47"/>
          <p:cNvSpPr txBox="1"/>
          <p:nvPr/>
        </p:nvSpPr>
        <p:spPr>
          <a:xfrm>
            <a:off x="8048625" y="4456475"/>
            <a:ext cx="3129138" cy="194310"/>
          </a:xfrm>
          <a:prstGeom prst="rect">
            <a:avLst/>
          </a:prstGeom>
          <a:noFill/>
        </p:spPr>
        <p:txBody>
          <a:bodyPr wrap="none" lIns="0" rIns="0" tIns="0" bIns="0">
            <a:spAutoFit/>
          </a:bodyPr>
          <a:lstStyle/>
          <a:p>
            <a:r>
              <a:rPr sz="1150" b="0">
                <a:solidFill>
                  <a:srgbClr val="252423"/>
                </a:solidFill>
                <a:latin typeface="Segoe UI"/>
              </a:rPr>
              <a:t>▪ 'South Asia &amp; Pacific' leads regional growth at</a:t>
            </a:r>
          </a:p>
        </p:txBody>
      </p:sp>
      <p:pic>
        <p:nvPicPr>
          <p:cNvPr id="49" name="Picture 48" descr="lock.png"/>
          <p:cNvPicPr>
            <a:picLocks noChangeAspect="1"/>
          </p:cNvPicPr>
          <p:nvPr/>
        </p:nvPicPr>
        <p:blipFill>
          <a:blip r:embed="rId6"/>
          <a:stretch>
            <a:fillRect/>
          </a:stretch>
        </p:blipFill>
        <p:spPr>
          <a:xfrm>
            <a:off x="11126917" y="4446251"/>
            <a:ext cx="134549" cy="195707"/>
          </a:xfrm>
          <a:prstGeom prst="rect">
            <a:avLst/>
          </a:prstGeom>
        </p:spPr>
      </p:pic>
      <p:sp>
        <p:nvSpPr>
          <p:cNvPr id="50" name="TextBox 49"/>
          <p:cNvSpPr txBox="1"/>
          <p:nvPr/>
        </p:nvSpPr>
        <p:spPr>
          <a:xfrm>
            <a:off x="11302027"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1" name="TextBox 50"/>
          <p:cNvSpPr txBox="1"/>
          <p:nvPr/>
        </p:nvSpPr>
        <p:spPr>
          <a:xfrm>
            <a:off x="8048625" y="4684312"/>
            <a:ext cx="3704023" cy="194310"/>
          </a:xfrm>
          <a:prstGeom prst="rect">
            <a:avLst/>
          </a:prstGeom>
          <a:noFill/>
        </p:spPr>
        <p:txBody>
          <a:bodyPr wrap="none" lIns="0" rIns="0" tIns="0" bIns="0">
            <a:spAutoFit/>
          </a:bodyPr>
          <a:lstStyle/>
          <a:p>
            <a:r>
              <a:rPr sz="1150" b="0">
                <a:solidFill>
                  <a:srgbClr val="252423"/>
                </a:solidFill>
                <a:latin typeface="Segoe UI"/>
              </a:rPr>
              <a:t>▪ Demand concentrates in '1,500 Wh to 2,000 Wh' within</a:t>
            </a:r>
          </a:p>
        </p:txBody>
      </p:sp>
      <p:sp>
        <p:nvSpPr>
          <p:cNvPr id="52" name="TextBox 51"/>
          <p:cNvSpPr txBox="1"/>
          <p:nvPr/>
        </p:nvSpPr>
        <p:spPr>
          <a:xfrm>
            <a:off x="8048625" y="4859572"/>
            <a:ext cx="1677321" cy="194310"/>
          </a:xfrm>
          <a:prstGeom prst="rect">
            <a:avLst/>
          </a:prstGeom>
          <a:noFill/>
        </p:spPr>
        <p:txBody>
          <a:bodyPr wrap="none" lIns="0" rIns="0" tIns="0" bIns="0">
            <a:spAutoFit/>
          </a:bodyPr>
          <a:lstStyle/>
          <a:p>
            <a:r>
              <a:rPr sz="1150" b="0">
                <a:solidFill>
                  <a:srgbClr val="252423"/>
                </a:solidFill>
                <a:latin typeface="Segoe UI"/>
              </a:rPr>
              <a:t>Energy Storage Capacity.</a:t>
            </a:r>
          </a:p>
        </p:txBody>
      </p:sp>
      <p:sp>
        <p:nvSpPr>
          <p:cNvPr id="53" name="TextBox 52"/>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54" name="TextBox 53"/>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55"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region, highlighting where pricing power sits</a:t>
            </a:r>
          </a:p>
        </p:txBody>
      </p:sp>
      <p:sp>
        <p:nvSpPr>
          <p:cNvPr id="8" name="Rectangle 7"/>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Energy Storage Capacity  ·  range across 2021–2036 (US$/Units)</a:t>
            </a:r>
          </a:p>
        </p:txBody>
      </p:sp>
      <p:cxnSp>
        <p:nvCxnSpPr>
          <p:cNvPr id="10" name="Connector 9"/>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1" name="FactMR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2" name="FactMR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3" name="Fac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cxnSp>
        <p:nvCxnSpPr>
          <p:cNvPr id="24" name="Connector 23"/>
          <p:cNvCxnSpPr/>
          <p:nvPr/>
        </p:nvCxnSpPr>
        <p:spPr>
          <a:xfrm flipV="1">
            <a:off x="1825625" y="1744555"/>
            <a:ext cx="0" cy="23025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94180" y="197480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94180" y="174455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606550" y="1801557"/>
            <a:ext cx="438150" cy="115165"/>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606550" y="185886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7225" y="1592155"/>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0" name="Connector 29"/>
          <p:cNvCxnSpPr/>
          <p:nvPr/>
        </p:nvCxnSpPr>
        <p:spPr>
          <a:xfrm flipV="1">
            <a:off x="4162425" y="1670329"/>
            <a:ext cx="0" cy="27431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30980" y="19446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0309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943350" y="1739243"/>
            <a:ext cx="438150" cy="137317"/>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943350" y="1807911"/>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994025" y="1517929"/>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6" name="Connector 35"/>
          <p:cNvCxnSpPr/>
          <p:nvPr/>
        </p:nvCxnSpPr>
        <p:spPr>
          <a:xfrm flipV="1">
            <a:off x="6499225" y="2951384"/>
            <a:ext cx="0" cy="16816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3677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367780" y="29513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280150" y="2993414"/>
            <a:ext cx="438150" cy="8409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80150" y="303559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330825" y="2798984"/>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42" name="TextBox 41"/>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sp>
        <p:nvSpPr>
          <p:cNvPr id="43" name="TextBox 42"/>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sp>
        <p:nvSpPr>
          <p:cNvPr id="44" name="TextBox 43"/>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1,500 Wh to 2,000 Wh</a:t>
            </a:r>
          </a:p>
        </p:txBody>
      </p:sp>
      <p:sp>
        <p:nvSpPr>
          <p:cNvPr id="45" name="Rectangle 44"/>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Region vs Global  ·  2026–2036</a:t>
            </a:r>
          </a:p>
        </p:txBody>
      </p:sp>
      <p:cxnSp>
        <p:nvCxnSpPr>
          <p:cNvPr id="47" name="Connector 46"/>
          <p:cNvCxnSpPr/>
          <p:nvPr/>
        </p:nvCxnSpPr>
        <p:spPr>
          <a:xfrm>
            <a:off x="619125" y="431839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472908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555046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596116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4318390"/>
            <a:ext cx="0" cy="1642771"/>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31839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472908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13977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5550469"/>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596116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8" name="FactMR Scale tick"/>
          <p:cNvSpPr txBox="1"/>
          <p:nvPr/>
        </p:nvSpPr>
        <p:spPr>
          <a:xfrm>
            <a:off x="219075" y="4251715"/>
            <a:ext cx="361950" cy="133350"/>
          </a:xfrm>
          <a:prstGeom prst="rect">
            <a:avLst/>
          </a:prstGeom>
          <a:noFill/>
        </p:spPr>
        <p:txBody>
          <a:bodyPr wrap="none" lIns="0" rIns="0" tIns="0" bIns="0" anchor="ctr">
            <a:spAutoFit/>
          </a:bodyPr>
          <a:lstStyle/>
          <a:p>
            <a:pPr algn="r"/>
            <a:r>
              <a:rPr sz="1100" b="0">
                <a:solidFill>
                  <a:srgbClr val="605E5C"/>
                </a:solidFill>
                <a:latin typeface="Segoe UI"/>
              </a:rPr>
              <a:t>+58%</a:t>
            </a:r>
          </a:p>
        </p:txBody>
      </p:sp>
      <p:sp>
        <p:nvSpPr>
          <p:cNvPr id="59" name="FactMR Scale tick"/>
          <p:cNvSpPr txBox="1"/>
          <p:nvPr/>
        </p:nvSpPr>
        <p:spPr>
          <a:xfrm>
            <a:off x="219075" y="4662408"/>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sp>
        <p:nvSpPr>
          <p:cNvPr id="60" name="FactMR Scale tick"/>
          <p:cNvSpPr txBox="1"/>
          <p:nvPr/>
        </p:nvSpPr>
        <p:spPr>
          <a:xfrm>
            <a:off x="57150" y="5073101"/>
            <a:ext cx="526219" cy="133350"/>
          </a:xfrm>
          <a:prstGeom prst="rect">
            <a:avLst/>
          </a:prstGeom>
          <a:noFill/>
        </p:spPr>
        <p:txBody>
          <a:bodyPr wrap="square" lIns="28575" rIns="28575" tIns="9525" bIns="9525" anchor="ctr">
            <a:spAutoFit/>
          </a:bodyPr>
          <a:lstStyle/>
          <a:p>
            <a:pPr algn="r"/>
            <a:r>
              <a:rPr sz="1100" b="1">
                <a:solidFill>
                  <a:srgbClr val="605E5C"/>
                </a:solidFill>
                <a:latin typeface="Segoe UI"/>
              </a:rPr>
              <a:t>Global</a:t>
            </a:r>
          </a:p>
        </p:txBody>
      </p:sp>
      <p:sp>
        <p:nvSpPr>
          <p:cNvPr id="61" name="FactMR Scale tick"/>
          <p:cNvSpPr txBox="1"/>
          <p:nvPr/>
        </p:nvSpPr>
        <p:spPr>
          <a:xfrm>
            <a:off x="219075" y="5483794"/>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sp>
        <p:nvSpPr>
          <p:cNvPr id="62" name="FactMR Scale tick"/>
          <p:cNvSpPr txBox="1"/>
          <p:nvPr/>
        </p:nvSpPr>
        <p:spPr>
          <a:xfrm>
            <a:off x="219075" y="5894486"/>
            <a:ext cx="361950" cy="133350"/>
          </a:xfrm>
          <a:prstGeom prst="rect">
            <a:avLst/>
          </a:prstGeom>
          <a:noFill/>
        </p:spPr>
        <p:txBody>
          <a:bodyPr wrap="none" lIns="0" rIns="0" tIns="0" bIns="0" anchor="ctr">
            <a:spAutoFit/>
          </a:bodyPr>
          <a:lstStyle/>
          <a:p>
            <a:pPr algn="r"/>
            <a:r>
              <a:rPr sz="1100" b="0">
                <a:solidFill>
                  <a:srgbClr val="605E5C"/>
                </a:solidFill>
                <a:latin typeface="Segoe UI"/>
              </a:rPr>
              <a:t>-58%</a:t>
            </a:r>
          </a:p>
        </p:txBody>
      </p:sp>
      <p:cxnSp>
        <p:nvCxnSpPr>
          <p:cNvPr id="63" name="Connector 62"/>
          <p:cNvCxnSpPr/>
          <p:nvPr/>
        </p:nvCxnSpPr>
        <p:spPr>
          <a:xfrm>
            <a:off x="619125" y="513977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893989" y="4423458"/>
            <a:ext cx="457200" cy="71631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actMR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6" name="Rectangle 65"/>
          <p:cNvSpPr/>
          <p:nvPr/>
        </p:nvSpPr>
        <p:spPr>
          <a:xfrm>
            <a:off x="1900918" y="5126575"/>
            <a:ext cx="457200" cy="13201"/>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actMR Data Label"/>
          <p:cNvSpPr txBox="1"/>
          <p:nvPr/>
        </p:nvSpPr>
        <p:spPr>
          <a:xfrm>
            <a:off x="1626054" y="4983700"/>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8" name="Rectangle 67"/>
          <p:cNvSpPr/>
          <p:nvPr/>
        </p:nvSpPr>
        <p:spPr>
          <a:xfrm>
            <a:off x="2907846" y="4623619"/>
            <a:ext cx="457200" cy="516157"/>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actMR Data Label"/>
          <p:cNvSpPr txBox="1"/>
          <p:nvPr/>
        </p:nvSpPr>
        <p:spPr>
          <a:xfrm>
            <a:off x="2632982" y="4480744"/>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0" name="Rectangle 69"/>
          <p:cNvSpPr/>
          <p:nvPr/>
        </p:nvSpPr>
        <p:spPr>
          <a:xfrm>
            <a:off x="3914775" y="4970017"/>
            <a:ext cx="457200" cy="16975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actMR Data Label"/>
          <p:cNvSpPr txBox="1"/>
          <p:nvPr/>
        </p:nvSpPr>
        <p:spPr>
          <a:xfrm>
            <a:off x="3639911" y="482714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2" name="Rectangle 71"/>
          <p:cNvSpPr/>
          <p:nvPr/>
        </p:nvSpPr>
        <p:spPr>
          <a:xfrm>
            <a:off x="4921704" y="5139776"/>
            <a:ext cx="457200" cy="42197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actMR Data Label"/>
          <p:cNvSpPr txBox="1"/>
          <p:nvPr/>
        </p:nvSpPr>
        <p:spPr>
          <a:xfrm>
            <a:off x="4646839" y="5571277"/>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4" name="Rectangle 73"/>
          <p:cNvSpPr/>
          <p:nvPr/>
        </p:nvSpPr>
        <p:spPr>
          <a:xfrm>
            <a:off x="5928632" y="5139776"/>
            <a:ext cx="457200" cy="532637"/>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actMR Data Label"/>
          <p:cNvSpPr txBox="1"/>
          <p:nvPr/>
        </p:nvSpPr>
        <p:spPr>
          <a:xfrm>
            <a:off x="5653768" y="5681938"/>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6" name="Rectangle 75"/>
          <p:cNvSpPr/>
          <p:nvPr/>
        </p:nvSpPr>
        <p:spPr>
          <a:xfrm>
            <a:off x="6935561" y="5139776"/>
            <a:ext cx="457200" cy="86787"/>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actMR Data Label"/>
          <p:cNvSpPr txBox="1"/>
          <p:nvPr/>
        </p:nvSpPr>
        <p:spPr>
          <a:xfrm>
            <a:off x="6660696" y="5236088"/>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8" name="TextBox 77"/>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North America</a:t>
            </a:r>
          </a:p>
        </p:txBody>
      </p:sp>
      <p:sp>
        <p:nvSpPr>
          <p:cNvPr id="79" name="TextBox 78"/>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Latin America</a:t>
            </a:r>
          </a:p>
        </p:txBody>
      </p:sp>
      <p:sp>
        <p:nvSpPr>
          <p:cNvPr id="80" name="TextBox 79"/>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Western Europe</a:t>
            </a:r>
          </a:p>
        </p:txBody>
      </p:sp>
      <p:sp>
        <p:nvSpPr>
          <p:cNvPr id="81" name="TextBox 80"/>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Eastern Europe</a:t>
            </a:r>
          </a:p>
        </p:txBody>
      </p:sp>
      <p:sp>
        <p:nvSpPr>
          <p:cNvPr id="82" name="TextBox 81"/>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 Asia</a:t>
            </a:r>
          </a:p>
        </p:txBody>
      </p:sp>
      <p:sp>
        <p:nvSpPr>
          <p:cNvPr id="83" name="TextBox 82"/>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South Asia &amp; Pacific</a:t>
            </a:r>
          </a:p>
        </p:txBody>
      </p:sp>
      <p:sp>
        <p:nvSpPr>
          <p:cNvPr id="84" name="TextBox 83"/>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Middle East &amp; Africa</a:t>
            </a:r>
          </a:p>
        </p:txBody>
      </p:sp>
      <p:sp>
        <p:nvSpPr>
          <p:cNvPr id="85" name="Rectangle 84"/>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87" name="Rectangle 86"/>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89" name="TextBox 8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90" name="Picture 89" descr="lock.png"/>
          <p:cNvPicPr>
            <a:picLocks noChangeAspect="1"/>
          </p:cNvPicPr>
          <p:nvPr/>
        </p:nvPicPr>
        <p:blipFill>
          <a:blip r:embed="rId4"/>
          <a:stretch>
            <a:fillRect/>
          </a:stretch>
        </p:blipFill>
        <p:spPr>
          <a:xfrm>
            <a:off x="1761275" y="1565231"/>
            <a:ext cx="128699" cy="187198"/>
          </a:xfrm>
          <a:prstGeom prst="rect">
            <a:avLst/>
          </a:prstGeom>
        </p:spPr>
      </p:pic>
      <p:pic>
        <p:nvPicPr>
          <p:cNvPr id="91" name="Picture 90" descr="lock.png"/>
          <p:cNvPicPr>
            <a:picLocks noChangeAspect="1"/>
          </p:cNvPicPr>
          <p:nvPr/>
        </p:nvPicPr>
        <p:blipFill>
          <a:blip r:embed="rId4"/>
          <a:stretch>
            <a:fillRect/>
          </a:stretch>
        </p:blipFill>
        <p:spPr>
          <a:xfrm>
            <a:off x="4098075" y="1491005"/>
            <a:ext cx="128699" cy="187198"/>
          </a:xfrm>
          <a:prstGeom prst="rect">
            <a:avLst/>
          </a:prstGeom>
        </p:spPr>
      </p:pic>
      <p:pic>
        <p:nvPicPr>
          <p:cNvPr id="92" name="Picture 91" descr="lock.png"/>
          <p:cNvPicPr>
            <a:picLocks noChangeAspect="1"/>
          </p:cNvPicPr>
          <p:nvPr/>
        </p:nvPicPr>
        <p:blipFill>
          <a:blip r:embed="rId4"/>
          <a:stretch>
            <a:fillRect/>
          </a:stretch>
        </p:blipFill>
        <p:spPr>
          <a:xfrm>
            <a:off x="6434875" y="2772060"/>
            <a:ext cx="128699" cy="187198"/>
          </a:xfrm>
          <a:prstGeom prst="rect">
            <a:avLst/>
          </a:prstGeom>
        </p:spPr>
      </p:pic>
      <p:pic>
        <p:nvPicPr>
          <p:cNvPr id="93" name="Picture 92" descr="lock.png"/>
          <p:cNvPicPr>
            <a:picLocks noChangeAspect="1"/>
          </p:cNvPicPr>
          <p:nvPr/>
        </p:nvPicPr>
        <p:blipFill>
          <a:blip r:embed="rId4"/>
          <a:stretch>
            <a:fillRect/>
          </a:stretch>
        </p:blipFill>
        <p:spPr>
          <a:xfrm>
            <a:off x="1058240" y="4253659"/>
            <a:ext cx="128699" cy="187198"/>
          </a:xfrm>
          <a:prstGeom prst="rect">
            <a:avLst/>
          </a:prstGeom>
        </p:spPr>
      </p:pic>
      <p:pic>
        <p:nvPicPr>
          <p:cNvPr id="94" name="Picture 93" descr="lock.png"/>
          <p:cNvPicPr>
            <a:picLocks noChangeAspect="1"/>
          </p:cNvPicPr>
          <p:nvPr/>
        </p:nvPicPr>
        <p:blipFill>
          <a:blip r:embed="rId4"/>
          <a:stretch>
            <a:fillRect/>
          </a:stretch>
        </p:blipFill>
        <p:spPr>
          <a:xfrm>
            <a:off x="2065168" y="4956775"/>
            <a:ext cx="128699" cy="187198"/>
          </a:xfrm>
          <a:prstGeom prst="rect">
            <a:avLst/>
          </a:prstGeom>
        </p:spPr>
      </p:pic>
      <p:pic>
        <p:nvPicPr>
          <p:cNvPr id="95" name="Picture 94" descr="lock.png"/>
          <p:cNvPicPr>
            <a:picLocks noChangeAspect="1"/>
          </p:cNvPicPr>
          <p:nvPr/>
        </p:nvPicPr>
        <p:blipFill>
          <a:blip r:embed="rId4"/>
          <a:stretch>
            <a:fillRect/>
          </a:stretch>
        </p:blipFill>
        <p:spPr>
          <a:xfrm>
            <a:off x="3072097" y="4453820"/>
            <a:ext cx="128699" cy="187198"/>
          </a:xfrm>
          <a:prstGeom prst="rect">
            <a:avLst/>
          </a:prstGeom>
        </p:spPr>
      </p:pic>
      <p:pic>
        <p:nvPicPr>
          <p:cNvPr id="96" name="Picture 95" descr="lock.png"/>
          <p:cNvPicPr>
            <a:picLocks noChangeAspect="1"/>
          </p:cNvPicPr>
          <p:nvPr/>
        </p:nvPicPr>
        <p:blipFill>
          <a:blip r:embed="rId4"/>
          <a:stretch>
            <a:fillRect/>
          </a:stretch>
        </p:blipFill>
        <p:spPr>
          <a:xfrm>
            <a:off x="4079026" y="4800218"/>
            <a:ext cx="128699" cy="187198"/>
          </a:xfrm>
          <a:prstGeom prst="rect">
            <a:avLst/>
          </a:prstGeom>
        </p:spPr>
      </p:pic>
      <p:pic>
        <p:nvPicPr>
          <p:cNvPr id="97" name="Picture 96" descr="lock.png"/>
          <p:cNvPicPr>
            <a:picLocks noChangeAspect="1"/>
          </p:cNvPicPr>
          <p:nvPr/>
        </p:nvPicPr>
        <p:blipFill>
          <a:blip r:embed="rId4"/>
          <a:stretch>
            <a:fillRect/>
          </a:stretch>
        </p:blipFill>
        <p:spPr>
          <a:xfrm>
            <a:off x="5085954" y="5544353"/>
            <a:ext cx="128699" cy="187198"/>
          </a:xfrm>
          <a:prstGeom prst="rect">
            <a:avLst/>
          </a:prstGeom>
        </p:spPr>
      </p:pic>
      <p:pic>
        <p:nvPicPr>
          <p:cNvPr id="98" name="Picture 97" descr="lock.png"/>
          <p:cNvPicPr>
            <a:picLocks noChangeAspect="1"/>
          </p:cNvPicPr>
          <p:nvPr/>
        </p:nvPicPr>
        <p:blipFill>
          <a:blip r:embed="rId4"/>
          <a:stretch>
            <a:fillRect/>
          </a:stretch>
        </p:blipFill>
        <p:spPr>
          <a:xfrm>
            <a:off x="6092883" y="5655014"/>
            <a:ext cx="128699" cy="187198"/>
          </a:xfrm>
          <a:prstGeom prst="rect">
            <a:avLst/>
          </a:prstGeom>
        </p:spPr>
      </p:pic>
      <p:pic>
        <p:nvPicPr>
          <p:cNvPr id="99" name="Picture 98" descr="lock.png"/>
          <p:cNvPicPr>
            <a:picLocks noChangeAspect="1"/>
          </p:cNvPicPr>
          <p:nvPr/>
        </p:nvPicPr>
        <p:blipFill>
          <a:blip r:embed="rId4"/>
          <a:stretch>
            <a:fillRect/>
          </a:stretch>
        </p:blipFill>
        <p:spPr>
          <a:xfrm>
            <a:off x="7099811" y="5209164"/>
            <a:ext cx="128699" cy="187198"/>
          </a:xfrm>
          <a:prstGeom prst="rect">
            <a:avLst/>
          </a:prstGeom>
        </p:spPr>
      </p:pic>
      <p:pic>
        <p:nvPicPr>
          <p:cNvPr id="100" name="Picture 99" descr="lock.png"/>
          <p:cNvPicPr>
            <a:picLocks noChangeAspect="1"/>
          </p:cNvPicPr>
          <p:nvPr/>
        </p:nvPicPr>
        <p:blipFill>
          <a:blip r:embed="rId4"/>
          <a:stretch>
            <a:fillRect/>
          </a:stretch>
        </p:blipFill>
        <p:spPr>
          <a:xfrm>
            <a:off x="1195485" y="3365256"/>
            <a:ext cx="128699" cy="187198"/>
          </a:xfrm>
          <a:prstGeom prst="rect">
            <a:avLst/>
          </a:prstGeom>
        </p:spPr>
      </p:pic>
      <p:sp>
        <p:nvSpPr>
          <p:cNvPr id="101" name="TextBox 100"/>
          <p:cNvSpPr txBox="1"/>
          <p:nvPr/>
        </p:nvSpPr>
        <p:spPr>
          <a:xfrm>
            <a:off x="1362980" y="3375035"/>
            <a:ext cx="861449" cy="186689"/>
          </a:xfrm>
          <a:prstGeom prst="rect">
            <a:avLst/>
          </a:prstGeom>
          <a:noFill/>
        </p:spPr>
        <p:txBody>
          <a:bodyPr wrap="none" lIns="0" rIns="0" tIns="0" bIns="0">
            <a:spAutoFit/>
          </a:bodyPr>
          <a:lstStyle/>
          <a:p>
            <a:r>
              <a:rPr sz="1100" b="0">
                <a:solidFill>
                  <a:srgbClr val="252423"/>
                </a:solidFill>
                <a:latin typeface="Segoe UI"/>
              </a:rPr>
              <a:t>Wh to Below</a:t>
            </a:r>
          </a:p>
        </p:txBody>
      </p:sp>
      <p:pic>
        <p:nvPicPr>
          <p:cNvPr id="102" name="Picture 101" descr="lock.png"/>
          <p:cNvPicPr>
            <a:picLocks noChangeAspect="1"/>
          </p:cNvPicPr>
          <p:nvPr/>
        </p:nvPicPr>
        <p:blipFill>
          <a:blip r:embed="rId4"/>
          <a:stretch>
            <a:fillRect/>
          </a:stretch>
        </p:blipFill>
        <p:spPr>
          <a:xfrm>
            <a:off x="2172482" y="3365256"/>
            <a:ext cx="128699" cy="187198"/>
          </a:xfrm>
          <a:prstGeom prst="rect">
            <a:avLst/>
          </a:prstGeom>
        </p:spPr>
      </p:pic>
      <p:sp>
        <p:nvSpPr>
          <p:cNvPr id="103" name="TextBox 102"/>
          <p:cNvSpPr txBox="1"/>
          <p:nvPr/>
        </p:nvSpPr>
        <p:spPr>
          <a:xfrm>
            <a:off x="2339978" y="3375035"/>
            <a:ext cx="178519"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04" name="Picture 103" descr="lock.png"/>
          <p:cNvPicPr>
            <a:picLocks noChangeAspect="1"/>
          </p:cNvPicPr>
          <p:nvPr/>
        </p:nvPicPr>
        <p:blipFill>
          <a:blip r:embed="rId4"/>
          <a:stretch>
            <a:fillRect/>
          </a:stretch>
        </p:blipFill>
        <p:spPr>
          <a:xfrm>
            <a:off x="3518608" y="3365256"/>
            <a:ext cx="128699" cy="187198"/>
          </a:xfrm>
          <a:prstGeom prst="rect">
            <a:avLst/>
          </a:prstGeom>
        </p:spPr>
      </p:pic>
      <p:sp>
        <p:nvSpPr>
          <p:cNvPr id="105" name="TextBox 104"/>
          <p:cNvSpPr txBox="1"/>
          <p:nvPr/>
        </p:nvSpPr>
        <p:spPr>
          <a:xfrm>
            <a:off x="3686104" y="3375035"/>
            <a:ext cx="1182868" cy="186689"/>
          </a:xfrm>
          <a:prstGeom prst="rect">
            <a:avLst/>
          </a:prstGeom>
          <a:noFill/>
        </p:spPr>
        <p:txBody>
          <a:bodyPr wrap="none" lIns="0" rIns="0" tIns="0" bIns="0">
            <a:spAutoFit/>
          </a:bodyPr>
          <a:lstStyle/>
          <a:p>
            <a:r>
              <a:rPr sz="1100" b="0">
                <a:solidFill>
                  <a:srgbClr val="252423"/>
                </a:solidFill>
                <a:latin typeface="Segoe UI"/>
              </a:rPr>
              <a:t>Wh to Below 1,5…</a:t>
            </a:r>
          </a:p>
        </p:txBody>
      </p:sp>
      <p:sp>
        <p:nvSpPr>
          <p:cNvPr id="106" name="TextBox 105"/>
          <p:cNvSpPr txBox="1"/>
          <p:nvPr/>
        </p:nvSpPr>
        <p:spPr>
          <a:xfrm>
            <a:off x="8048625" y="1471995"/>
            <a:ext cx="3406485" cy="194310"/>
          </a:xfrm>
          <a:prstGeom prst="rect">
            <a:avLst/>
          </a:prstGeom>
          <a:noFill/>
        </p:spPr>
        <p:txBody>
          <a:bodyPr wrap="none" lIns="0" rIns="0" tIns="0" bIns="0">
            <a:spAutoFit/>
          </a:bodyPr>
          <a:lstStyle/>
          <a:p>
            <a:r>
              <a:rPr sz="1150" b="0">
                <a:solidFill>
                  <a:srgbClr val="252423"/>
                </a:solidFill>
                <a:latin typeface="Segoe UI"/>
              </a:rPr>
              <a:t>1,000 wh to below 1,500 wh segment is expected to</a:t>
            </a:r>
          </a:p>
        </p:txBody>
      </p:sp>
      <p:sp>
        <p:nvSpPr>
          <p:cNvPr id="107" name="TextBox 106"/>
          <p:cNvSpPr txBox="1"/>
          <p:nvPr/>
        </p:nvSpPr>
        <p:spPr>
          <a:xfrm>
            <a:off x="8048625" y="1647255"/>
            <a:ext cx="2860224" cy="194310"/>
          </a:xfrm>
          <a:prstGeom prst="rect">
            <a:avLst/>
          </a:prstGeom>
          <a:noFill/>
        </p:spPr>
        <p:txBody>
          <a:bodyPr wrap="none" lIns="0" rIns="0" tIns="0" bIns="0">
            <a:spAutoFit/>
          </a:bodyPr>
          <a:lstStyle/>
          <a:p>
            <a:r>
              <a:rPr sz="1150" b="0">
                <a:solidFill>
                  <a:srgbClr val="252423"/>
                </a:solidFill>
                <a:latin typeface="Segoe UI"/>
              </a:rPr>
              <a:t>command the highest average price of US$</a:t>
            </a:r>
          </a:p>
        </p:txBody>
      </p:sp>
      <p:pic>
        <p:nvPicPr>
          <p:cNvPr id="108" name="Picture 107" descr="lock.png"/>
          <p:cNvPicPr>
            <a:picLocks noChangeAspect="1"/>
          </p:cNvPicPr>
          <p:nvPr/>
        </p:nvPicPr>
        <p:blipFill>
          <a:blip r:embed="rId4"/>
          <a:stretch>
            <a:fillRect/>
          </a:stretch>
        </p:blipFill>
        <p:spPr>
          <a:xfrm>
            <a:off x="10858003" y="1637031"/>
            <a:ext cx="134549" cy="195707"/>
          </a:xfrm>
          <a:prstGeom prst="rect">
            <a:avLst/>
          </a:prstGeom>
        </p:spPr>
      </p:pic>
      <p:sp>
        <p:nvSpPr>
          <p:cNvPr id="109" name="TextBox 108"/>
          <p:cNvSpPr txBox="1"/>
          <p:nvPr/>
        </p:nvSpPr>
        <p:spPr>
          <a:xfrm>
            <a:off x="11033112" y="1647255"/>
            <a:ext cx="755389" cy="194310"/>
          </a:xfrm>
          <a:prstGeom prst="rect">
            <a:avLst/>
          </a:prstGeom>
          <a:noFill/>
        </p:spPr>
        <p:txBody>
          <a:bodyPr wrap="none" lIns="0" rIns="0" tIns="0" bIns="0">
            <a:spAutoFit/>
          </a:bodyPr>
          <a:lstStyle/>
          <a:p>
            <a:r>
              <a:rPr sz="1150" b="0">
                <a:solidFill>
                  <a:srgbClr val="252423"/>
                </a:solidFill>
                <a:latin typeface="Segoe UI"/>
              </a:rPr>
              <a:t>per Unit in</a:t>
            </a:r>
          </a:p>
        </p:txBody>
      </p:sp>
      <p:sp>
        <p:nvSpPr>
          <p:cNvPr id="110" name="TextBox 109"/>
          <p:cNvSpPr txBox="1"/>
          <p:nvPr/>
        </p:nvSpPr>
        <p:spPr>
          <a:xfrm>
            <a:off x="8048625" y="1822515"/>
            <a:ext cx="3612742" cy="194310"/>
          </a:xfrm>
          <a:prstGeom prst="rect">
            <a:avLst/>
          </a:prstGeom>
          <a:noFill/>
        </p:spPr>
        <p:txBody>
          <a:bodyPr wrap="none" lIns="0" rIns="0" tIns="0" bIns="0">
            <a:spAutoFit/>
          </a:bodyPr>
          <a:lstStyle/>
          <a:p>
            <a:r>
              <a:rPr sz="1150" b="0">
                <a:solidFill>
                  <a:srgbClr val="252423"/>
                </a:solidFill>
                <a:latin typeface="Segoe UI"/>
              </a:rPr>
              <a:t>2036. Average selling price of lithium polymer portable</a:t>
            </a:r>
          </a:p>
        </p:txBody>
      </p:sp>
      <p:sp>
        <p:nvSpPr>
          <p:cNvPr id="111" name="TextBox 110"/>
          <p:cNvSpPr txBox="1"/>
          <p:nvPr/>
        </p:nvSpPr>
        <p:spPr>
          <a:xfrm>
            <a:off x="8048625" y="1997775"/>
            <a:ext cx="2317943" cy="194310"/>
          </a:xfrm>
          <a:prstGeom prst="rect">
            <a:avLst/>
          </a:prstGeom>
          <a:noFill/>
        </p:spPr>
        <p:txBody>
          <a:bodyPr wrap="none" lIns="0" rIns="0" tIns="0" bIns="0">
            <a:spAutoFit/>
          </a:bodyPr>
          <a:lstStyle/>
          <a:p>
            <a:r>
              <a:rPr sz="1150" b="0">
                <a:solidFill>
                  <a:srgbClr val="252423"/>
                </a:solidFill>
                <a:latin typeface="Segoe UI"/>
              </a:rPr>
              <a:t>energy storage is estimated at US$</a:t>
            </a:r>
          </a:p>
        </p:txBody>
      </p:sp>
      <p:pic>
        <p:nvPicPr>
          <p:cNvPr id="112" name="Picture 111" descr="lock.png"/>
          <p:cNvPicPr>
            <a:picLocks noChangeAspect="1"/>
          </p:cNvPicPr>
          <p:nvPr/>
        </p:nvPicPr>
        <p:blipFill>
          <a:blip r:embed="rId4"/>
          <a:stretch>
            <a:fillRect/>
          </a:stretch>
        </p:blipFill>
        <p:spPr>
          <a:xfrm>
            <a:off x="10315722" y="1987551"/>
            <a:ext cx="134549" cy="195707"/>
          </a:xfrm>
          <a:prstGeom prst="rect">
            <a:avLst/>
          </a:prstGeom>
        </p:spPr>
      </p:pic>
      <p:sp>
        <p:nvSpPr>
          <p:cNvPr id="113" name="TextBox 112"/>
          <p:cNvSpPr txBox="1"/>
          <p:nvPr/>
        </p:nvSpPr>
        <p:spPr>
          <a:xfrm>
            <a:off x="10490831" y="1997775"/>
            <a:ext cx="1110245" cy="194310"/>
          </a:xfrm>
          <a:prstGeom prst="rect">
            <a:avLst/>
          </a:prstGeom>
          <a:noFill/>
        </p:spPr>
        <p:txBody>
          <a:bodyPr wrap="none" lIns="0" rIns="0" tIns="0" bIns="0">
            <a:spAutoFit/>
          </a:bodyPr>
          <a:lstStyle/>
          <a:p>
            <a:r>
              <a:rPr sz="1150" b="0">
                <a:solidFill>
                  <a:srgbClr val="252423"/>
                </a:solidFill>
                <a:latin typeface="Segoe UI"/>
              </a:rPr>
              <a:t>per Unit in 2025</a:t>
            </a:r>
          </a:p>
        </p:txBody>
      </p:sp>
      <p:sp>
        <p:nvSpPr>
          <p:cNvPr id="114" name="TextBox 113"/>
          <p:cNvSpPr txBox="1"/>
          <p:nvPr/>
        </p:nvSpPr>
        <p:spPr>
          <a:xfrm>
            <a:off x="8048625" y="2173035"/>
            <a:ext cx="2323029" cy="194310"/>
          </a:xfrm>
          <a:prstGeom prst="rect">
            <a:avLst/>
          </a:prstGeom>
          <a:noFill/>
        </p:spPr>
        <p:txBody>
          <a:bodyPr wrap="none" lIns="0" rIns="0" tIns="0" bIns="0">
            <a:spAutoFit/>
          </a:bodyPr>
          <a:lstStyle/>
          <a:p>
            <a:r>
              <a:rPr sz="1150" b="0">
                <a:solidFill>
                  <a:srgbClr val="252423"/>
                </a:solidFill>
                <a:latin typeface="Segoe UI"/>
              </a:rPr>
              <a:t>and is projected to increase to US$</a:t>
            </a:r>
          </a:p>
        </p:txBody>
      </p:sp>
      <p:pic>
        <p:nvPicPr>
          <p:cNvPr id="115" name="Picture 114" descr="lock.png"/>
          <p:cNvPicPr>
            <a:picLocks noChangeAspect="1"/>
          </p:cNvPicPr>
          <p:nvPr/>
        </p:nvPicPr>
        <p:blipFill>
          <a:blip r:embed="rId4"/>
          <a:stretch>
            <a:fillRect/>
          </a:stretch>
        </p:blipFill>
        <p:spPr>
          <a:xfrm>
            <a:off x="10320808" y="2162811"/>
            <a:ext cx="134549" cy="195707"/>
          </a:xfrm>
          <a:prstGeom prst="rect">
            <a:avLst/>
          </a:prstGeom>
        </p:spPr>
      </p:pic>
      <p:sp>
        <p:nvSpPr>
          <p:cNvPr id="116" name="TextBox 115"/>
          <p:cNvSpPr txBox="1"/>
          <p:nvPr/>
        </p:nvSpPr>
        <p:spPr>
          <a:xfrm>
            <a:off x="10495917" y="2173035"/>
            <a:ext cx="1180417" cy="194310"/>
          </a:xfrm>
          <a:prstGeom prst="rect">
            <a:avLst/>
          </a:prstGeom>
          <a:noFill/>
        </p:spPr>
        <p:txBody>
          <a:bodyPr wrap="none" lIns="0" rIns="0" tIns="0" bIns="0">
            <a:spAutoFit/>
          </a:bodyPr>
          <a:lstStyle/>
          <a:p>
            <a:r>
              <a:rPr sz="1150" b="0">
                <a:solidFill>
                  <a:srgbClr val="252423"/>
                </a:solidFill>
                <a:latin typeface="Segoe UI"/>
              </a:rPr>
              <a:t>per Unit by 2036.</a:t>
            </a:r>
          </a:p>
        </p:txBody>
      </p:sp>
      <p:sp>
        <p:nvSpPr>
          <p:cNvPr id="117" name="TextBox 116"/>
          <p:cNvSpPr txBox="1"/>
          <p:nvPr/>
        </p:nvSpPr>
        <p:spPr>
          <a:xfrm>
            <a:off x="8048625" y="2400873"/>
            <a:ext cx="3662322" cy="194310"/>
          </a:xfrm>
          <a:prstGeom prst="rect">
            <a:avLst/>
          </a:prstGeom>
          <a:noFill/>
        </p:spPr>
        <p:txBody>
          <a:bodyPr wrap="none" lIns="0" rIns="0" tIns="0" bIns="0">
            <a:spAutoFit/>
          </a:bodyPr>
          <a:lstStyle/>
          <a:p>
            <a:r>
              <a:rPr sz="1150" b="0">
                <a:solidFill>
                  <a:srgbClr val="252423"/>
                </a:solidFill>
                <a:latin typeface="Segoe UI"/>
              </a:rPr>
              <a:t>North America is the highest-priced region, while South</a:t>
            </a:r>
          </a:p>
        </p:txBody>
      </p:sp>
      <p:sp>
        <p:nvSpPr>
          <p:cNvPr id="118" name="TextBox 117"/>
          <p:cNvSpPr txBox="1"/>
          <p:nvPr/>
        </p:nvSpPr>
        <p:spPr>
          <a:xfrm>
            <a:off x="8048625" y="2576133"/>
            <a:ext cx="3848100" cy="194310"/>
          </a:xfrm>
          <a:prstGeom prst="rect">
            <a:avLst/>
          </a:prstGeom>
          <a:noFill/>
        </p:spPr>
        <p:txBody>
          <a:bodyPr wrap="none" lIns="0" rIns="0" tIns="0" bIns="0">
            <a:spAutoFit/>
          </a:bodyPr>
          <a:lstStyle/>
          <a:p>
            <a:r>
              <a:rPr sz="1150" b="0">
                <a:solidFill>
                  <a:srgbClr val="252423"/>
                </a:solidFill>
                <a:latin typeface="Segoe UI"/>
              </a:rPr>
              <a:t>Asia &amp; Pacific is the most price-competitive market. Against</a:t>
            </a:r>
          </a:p>
        </p:txBody>
      </p:sp>
      <p:sp>
        <p:nvSpPr>
          <p:cNvPr id="119" name="TextBox 118"/>
          <p:cNvSpPr txBox="1"/>
          <p:nvPr/>
        </p:nvSpPr>
        <p:spPr>
          <a:xfrm>
            <a:off x="8048625" y="2751393"/>
            <a:ext cx="1254797" cy="194310"/>
          </a:xfrm>
          <a:prstGeom prst="rect">
            <a:avLst/>
          </a:prstGeom>
          <a:noFill/>
        </p:spPr>
        <p:txBody>
          <a:bodyPr wrap="none" lIns="0" rIns="0" tIns="0" bIns="0">
            <a:spAutoFit/>
          </a:bodyPr>
          <a:lstStyle/>
          <a:p>
            <a:r>
              <a:rPr sz="1150" b="0">
                <a:solidFill>
                  <a:srgbClr val="252423"/>
                </a:solidFill>
                <a:latin typeface="Segoe UI"/>
              </a:rPr>
              <a:t>the global price of</a:t>
            </a:r>
          </a:p>
        </p:txBody>
      </p:sp>
      <p:pic>
        <p:nvPicPr>
          <p:cNvPr id="120" name="Picture 119" descr="lock.png"/>
          <p:cNvPicPr>
            <a:picLocks noChangeAspect="1"/>
          </p:cNvPicPr>
          <p:nvPr/>
        </p:nvPicPr>
        <p:blipFill>
          <a:blip r:embed="rId4"/>
          <a:stretch>
            <a:fillRect/>
          </a:stretch>
        </p:blipFill>
        <p:spPr>
          <a:xfrm>
            <a:off x="9252576" y="2741169"/>
            <a:ext cx="134549" cy="195707"/>
          </a:xfrm>
          <a:prstGeom prst="rect">
            <a:avLst/>
          </a:prstGeom>
        </p:spPr>
      </p:pic>
      <p:sp>
        <p:nvSpPr>
          <p:cNvPr id="121" name="TextBox 120"/>
          <p:cNvSpPr txBox="1"/>
          <p:nvPr/>
        </p:nvSpPr>
        <p:spPr>
          <a:xfrm>
            <a:off x="9427686" y="2751393"/>
            <a:ext cx="2034967" cy="194310"/>
          </a:xfrm>
          <a:prstGeom prst="rect">
            <a:avLst/>
          </a:prstGeom>
          <a:noFill/>
        </p:spPr>
        <p:txBody>
          <a:bodyPr wrap="none" lIns="0" rIns="0" tIns="0" bIns="0">
            <a:spAutoFit/>
          </a:bodyPr>
          <a:lstStyle/>
          <a:p>
            <a:r>
              <a:rPr sz="1150" b="0">
                <a:solidFill>
                  <a:srgbClr val="252423"/>
                </a:solidFill>
                <a:latin typeface="Segoe UI"/>
              </a:rPr>
              <a:t>US$/Units, 4 of 7 regions price</a:t>
            </a:r>
          </a:p>
        </p:txBody>
      </p:sp>
      <p:sp>
        <p:nvSpPr>
          <p:cNvPr id="122" name="TextBox 121"/>
          <p:cNvSpPr txBox="1"/>
          <p:nvPr/>
        </p:nvSpPr>
        <p:spPr>
          <a:xfrm>
            <a:off x="8048625" y="2926653"/>
            <a:ext cx="1330621" cy="194310"/>
          </a:xfrm>
          <a:prstGeom prst="rect">
            <a:avLst/>
          </a:prstGeom>
          <a:noFill/>
        </p:spPr>
        <p:txBody>
          <a:bodyPr wrap="none" lIns="0" rIns="0" tIns="0" bIns="0">
            <a:spAutoFit/>
          </a:bodyPr>
          <a:lstStyle/>
          <a:p>
            <a:r>
              <a:rPr sz="1150" b="0">
                <a:solidFill>
                  <a:srgbClr val="252423"/>
                </a:solidFill>
                <a:latin typeface="Segoe UI"/>
              </a:rPr>
              <a:t>above and 3 below.</a:t>
            </a:r>
          </a:p>
        </p:txBody>
      </p:sp>
      <p:sp>
        <p:nvSpPr>
          <p:cNvPr id="123" name="TextBox 122"/>
          <p:cNvSpPr txBox="1"/>
          <p:nvPr/>
        </p:nvSpPr>
        <p:spPr>
          <a:xfrm>
            <a:off x="8048625" y="3154490"/>
            <a:ext cx="2291517" cy="194310"/>
          </a:xfrm>
          <a:prstGeom prst="rect">
            <a:avLst/>
          </a:prstGeom>
          <a:noFill/>
        </p:spPr>
        <p:txBody>
          <a:bodyPr wrap="none" lIns="0" rIns="0" tIns="0" bIns="0">
            <a:spAutoFit/>
          </a:bodyPr>
          <a:lstStyle/>
          <a:p>
            <a:r>
              <a:rPr sz="1150" b="0">
                <a:solidFill>
                  <a:srgbClr val="252423"/>
                </a:solidFill>
                <a:latin typeface="Segoe UI"/>
              </a:rPr>
              <a:t>'North America' is the dearest at +</a:t>
            </a:r>
          </a:p>
        </p:txBody>
      </p:sp>
      <p:pic>
        <p:nvPicPr>
          <p:cNvPr id="124" name="Picture 123" descr="lock.png"/>
          <p:cNvPicPr>
            <a:picLocks noChangeAspect="1"/>
          </p:cNvPicPr>
          <p:nvPr/>
        </p:nvPicPr>
        <p:blipFill>
          <a:blip r:embed="rId4"/>
          <a:stretch>
            <a:fillRect/>
          </a:stretch>
        </p:blipFill>
        <p:spPr>
          <a:xfrm>
            <a:off x="10289296" y="3144267"/>
            <a:ext cx="134549" cy="195707"/>
          </a:xfrm>
          <a:prstGeom prst="rect">
            <a:avLst/>
          </a:prstGeom>
        </p:spPr>
      </p:pic>
      <p:sp>
        <p:nvSpPr>
          <p:cNvPr id="125" name="TextBox 124"/>
          <p:cNvSpPr txBox="1"/>
          <p:nvPr/>
        </p:nvSpPr>
        <p:spPr>
          <a:xfrm>
            <a:off x="10464405" y="3154490"/>
            <a:ext cx="968162" cy="194310"/>
          </a:xfrm>
          <a:prstGeom prst="rect">
            <a:avLst/>
          </a:prstGeom>
          <a:noFill/>
        </p:spPr>
        <p:txBody>
          <a:bodyPr wrap="none" lIns="0" rIns="0" tIns="0" bIns="0">
            <a:spAutoFit/>
          </a:bodyPr>
          <a:lstStyle/>
          <a:p>
            <a:r>
              <a:rPr sz="1150" b="0">
                <a:solidFill>
                  <a:srgbClr val="252423"/>
                </a:solidFill>
                <a:latin typeface="Segoe UI"/>
              </a:rPr>
              <a:t>versus Global,</a:t>
            </a:r>
          </a:p>
        </p:txBody>
      </p:sp>
      <p:sp>
        <p:nvSpPr>
          <p:cNvPr id="126" name="TextBox 125"/>
          <p:cNvSpPr txBox="1"/>
          <p:nvPr/>
        </p:nvSpPr>
        <p:spPr>
          <a:xfrm>
            <a:off x="8048625" y="3329750"/>
            <a:ext cx="2558408" cy="194310"/>
          </a:xfrm>
          <a:prstGeom prst="rect">
            <a:avLst/>
          </a:prstGeom>
          <a:noFill/>
        </p:spPr>
        <p:txBody>
          <a:bodyPr wrap="none" lIns="0" rIns="0" tIns="0" bIns="0">
            <a:spAutoFit/>
          </a:bodyPr>
          <a:lstStyle/>
          <a:p>
            <a:r>
              <a:rPr sz="1150" b="0">
                <a:solidFill>
                  <a:srgbClr val="252423"/>
                </a:solidFill>
                <a:latin typeface="Segoe UI"/>
              </a:rPr>
              <a:t>'South Asia &amp; Pacific' the cheapest at -</a:t>
            </a:r>
          </a:p>
        </p:txBody>
      </p:sp>
      <p:pic>
        <p:nvPicPr>
          <p:cNvPr id="127" name="Picture 126" descr="lock.png"/>
          <p:cNvPicPr>
            <a:picLocks noChangeAspect="1"/>
          </p:cNvPicPr>
          <p:nvPr/>
        </p:nvPicPr>
        <p:blipFill>
          <a:blip r:embed="rId4"/>
          <a:stretch>
            <a:fillRect/>
          </a:stretch>
        </p:blipFill>
        <p:spPr>
          <a:xfrm>
            <a:off x="10556187" y="3319527"/>
            <a:ext cx="134549" cy="195707"/>
          </a:xfrm>
          <a:prstGeom prst="rect">
            <a:avLst/>
          </a:prstGeom>
        </p:spPr>
      </p:pic>
      <p:sp>
        <p:nvSpPr>
          <p:cNvPr id="128" name="TextBox 127"/>
          <p:cNvSpPr txBox="1"/>
          <p:nvPr/>
        </p:nvSpPr>
        <p:spPr>
          <a:xfrm>
            <a:off x="10731296" y="3329750"/>
            <a:ext cx="794736" cy="194310"/>
          </a:xfrm>
          <a:prstGeom prst="rect">
            <a:avLst/>
          </a:prstGeom>
          <a:noFill/>
        </p:spPr>
        <p:txBody>
          <a:bodyPr wrap="none" lIns="0" rIns="0" tIns="0" bIns="0">
            <a:spAutoFit/>
          </a:bodyPr>
          <a:lstStyle/>
          <a:p>
            <a:r>
              <a:rPr sz="1150" b="0">
                <a:solidFill>
                  <a:srgbClr val="252423"/>
                </a:solidFill>
                <a:latin typeface="Segoe UI"/>
              </a:rPr>
              <a:t>pointing to</a:t>
            </a:r>
          </a:p>
        </p:txBody>
      </p:sp>
      <p:sp>
        <p:nvSpPr>
          <p:cNvPr id="129" name="TextBox 128"/>
          <p:cNvSpPr txBox="1"/>
          <p:nvPr/>
        </p:nvSpPr>
        <p:spPr>
          <a:xfrm>
            <a:off x="8048625" y="3505010"/>
            <a:ext cx="3602834" cy="194310"/>
          </a:xfrm>
          <a:prstGeom prst="rect">
            <a:avLst/>
          </a:prstGeom>
          <a:noFill/>
        </p:spPr>
        <p:txBody>
          <a:bodyPr wrap="none" lIns="0" rIns="0" tIns="0" bIns="0">
            <a:spAutoFit/>
          </a:bodyPr>
          <a:lstStyle/>
          <a:p>
            <a:r>
              <a:rPr sz="1150" b="0">
                <a:solidFill>
                  <a:srgbClr val="252423"/>
                </a:solidFill>
                <a:latin typeface="Segoe UI"/>
              </a:rPr>
              <a:t>premiumisation headroom in the lower-priced regions.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value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650.0</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1,950</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11.6%</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7512844"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3991062" y="5157531"/>
            <a:ext cx="289830" cy="421571"/>
          </a:xfrm>
          <a:prstGeom prst="rect">
            <a:avLst/>
          </a:prstGeom>
        </p:spPr>
      </p:pic>
      <p:sp>
        <p:nvSpPr>
          <p:cNvPr id="29" name="TextBox 28"/>
          <p:cNvSpPr txBox="1"/>
          <p:nvPr/>
        </p:nvSpPr>
        <p:spPr>
          <a:xfrm>
            <a:off x="8048625" y="2046987"/>
            <a:ext cx="3346038" cy="194310"/>
          </a:xfrm>
          <a:prstGeom prst="rect">
            <a:avLst/>
          </a:prstGeom>
          <a:noFill/>
        </p:spPr>
        <p:txBody>
          <a:bodyPr wrap="none" lIns="0" rIns="0" tIns="0" bIns="0">
            <a:spAutoFit/>
          </a:bodyPr>
          <a:lstStyle/>
          <a:p>
            <a:r>
              <a:rPr sz="1150" b="0">
                <a:solidFill>
                  <a:srgbClr val="252423"/>
                </a:solidFill>
                <a:latin typeface="Segoe UI"/>
              </a:rPr>
              <a:t>Lithium polymer portable energy storage market is</a:t>
            </a:r>
          </a:p>
        </p:txBody>
      </p:sp>
      <p:sp>
        <p:nvSpPr>
          <p:cNvPr id="30" name="TextBox 29"/>
          <p:cNvSpPr txBox="1"/>
          <p:nvPr/>
        </p:nvSpPr>
        <p:spPr>
          <a:xfrm>
            <a:off x="8048625" y="2222247"/>
            <a:ext cx="1392530" cy="194310"/>
          </a:xfrm>
          <a:prstGeom prst="rect">
            <a:avLst/>
          </a:prstGeom>
          <a:noFill/>
        </p:spPr>
        <p:txBody>
          <a:bodyPr wrap="none" lIns="0" rIns="0" tIns="0" bIns="0">
            <a:spAutoFit/>
          </a:bodyPr>
          <a:lstStyle/>
          <a:p>
            <a:r>
              <a:rPr sz="1150" b="0">
                <a:solidFill>
                  <a:srgbClr val="252423"/>
                </a:solidFill>
                <a:latin typeface="Segoe UI"/>
              </a:rPr>
              <a:t>projected to register</a:t>
            </a:r>
          </a:p>
        </p:txBody>
      </p:sp>
      <p:pic>
        <p:nvPicPr>
          <p:cNvPr id="31" name="Picture 30" descr="lock.png"/>
          <p:cNvPicPr>
            <a:picLocks noChangeAspect="1"/>
          </p:cNvPicPr>
          <p:nvPr/>
        </p:nvPicPr>
        <p:blipFill>
          <a:blip r:embed="rId6"/>
          <a:stretch>
            <a:fillRect/>
          </a:stretch>
        </p:blipFill>
        <p:spPr>
          <a:xfrm>
            <a:off x="9390309" y="2212023"/>
            <a:ext cx="134549" cy="195707"/>
          </a:xfrm>
          <a:prstGeom prst="rect">
            <a:avLst/>
          </a:prstGeom>
        </p:spPr>
      </p:pic>
      <p:sp>
        <p:nvSpPr>
          <p:cNvPr id="32" name="TextBox 31"/>
          <p:cNvSpPr txBox="1"/>
          <p:nvPr/>
        </p:nvSpPr>
        <p:spPr>
          <a:xfrm>
            <a:off x="9565419" y="2222247"/>
            <a:ext cx="2073472" cy="194310"/>
          </a:xfrm>
          <a:prstGeom prst="rect">
            <a:avLst/>
          </a:prstGeom>
          <a:noFill/>
        </p:spPr>
        <p:txBody>
          <a:bodyPr wrap="none" lIns="0" rIns="0" tIns="0" bIns="0">
            <a:spAutoFit/>
          </a:bodyPr>
          <a:lstStyle/>
          <a:p>
            <a:r>
              <a:rPr sz="1150" b="0">
                <a:solidFill>
                  <a:srgbClr val="252423"/>
                </a:solidFill>
                <a:latin typeface="Segoe UI"/>
              </a:rPr>
              <a:t>X increase in its revenue by the</a:t>
            </a:r>
          </a:p>
        </p:txBody>
      </p:sp>
      <p:sp>
        <p:nvSpPr>
          <p:cNvPr id="33" name="TextBox 32"/>
          <p:cNvSpPr txBox="1"/>
          <p:nvPr/>
        </p:nvSpPr>
        <p:spPr>
          <a:xfrm>
            <a:off x="8048625" y="2397507"/>
            <a:ext cx="3436959" cy="194310"/>
          </a:xfrm>
          <a:prstGeom prst="rect">
            <a:avLst/>
          </a:prstGeom>
          <a:noFill/>
        </p:spPr>
        <p:txBody>
          <a:bodyPr wrap="none" lIns="0" rIns="0" tIns="0" bIns="0">
            <a:spAutoFit/>
          </a:bodyPr>
          <a:lstStyle/>
          <a:p>
            <a:r>
              <a:rPr sz="1150" b="0">
                <a:solidFill>
                  <a:srgbClr val="252423"/>
                </a:solidFill>
                <a:latin typeface="Segoe UI"/>
              </a:rPr>
              <a:t>end of forecast period, 2036. Global lithium polymer</a:t>
            </a:r>
          </a:p>
        </p:txBody>
      </p:sp>
      <p:sp>
        <p:nvSpPr>
          <p:cNvPr id="34" name="TextBox 33"/>
          <p:cNvSpPr txBox="1"/>
          <p:nvPr/>
        </p:nvSpPr>
        <p:spPr>
          <a:xfrm>
            <a:off x="8048625" y="2572767"/>
            <a:ext cx="3848100" cy="194310"/>
          </a:xfrm>
          <a:prstGeom prst="rect">
            <a:avLst/>
          </a:prstGeom>
          <a:noFill/>
        </p:spPr>
        <p:txBody>
          <a:bodyPr wrap="none" lIns="0" rIns="0" tIns="0" bIns="0">
            <a:spAutoFit/>
          </a:bodyPr>
          <a:lstStyle/>
          <a:p>
            <a:r>
              <a:rPr sz="1150" b="0">
                <a:solidFill>
                  <a:srgbClr val="252423"/>
                </a:solidFill>
                <a:latin typeface="Segoe UI"/>
              </a:rPr>
              <a:t>portable energy storage market is expected to be valued at</a:t>
            </a:r>
          </a:p>
        </p:txBody>
      </p:sp>
      <p:sp>
        <p:nvSpPr>
          <p:cNvPr id="35" name="TextBox 34"/>
          <p:cNvSpPr txBox="1"/>
          <p:nvPr/>
        </p:nvSpPr>
        <p:spPr>
          <a:xfrm>
            <a:off x="8048625" y="2748027"/>
            <a:ext cx="1841636" cy="194310"/>
          </a:xfrm>
          <a:prstGeom prst="rect">
            <a:avLst/>
          </a:prstGeom>
          <a:noFill/>
        </p:spPr>
        <p:txBody>
          <a:bodyPr wrap="none" lIns="0" rIns="0" tIns="0" bIns="0">
            <a:spAutoFit/>
          </a:bodyPr>
          <a:lstStyle/>
          <a:p>
            <a:r>
              <a:rPr sz="1150" b="0">
                <a:solidFill>
                  <a:srgbClr val="252423"/>
                </a:solidFill>
                <a:latin typeface="Segoe UI"/>
              </a:rPr>
              <a:t>US$ 1,950 Mn by 2036 end.</a:t>
            </a:r>
          </a:p>
        </p:txBody>
      </p:sp>
      <p:sp>
        <p:nvSpPr>
          <p:cNvPr id="36" name="TextBox 35"/>
          <p:cNvSpPr txBox="1"/>
          <p:nvPr/>
        </p:nvSpPr>
        <p:spPr>
          <a:xfrm>
            <a:off x="8048625" y="2975864"/>
            <a:ext cx="3806616" cy="194310"/>
          </a:xfrm>
          <a:prstGeom prst="rect">
            <a:avLst/>
          </a:prstGeom>
          <a:noFill/>
        </p:spPr>
        <p:txBody>
          <a:bodyPr wrap="none" lIns="0" rIns="0" tIns="0" bIns="0">
            <a:spAutoFit/>
          </a:bodyPr>
          <a:lstStyle/>
          <a:p>
            <a:r>
              <a:rPr sz="1150" b="0">
                <a:solidFill>
                  <a:srgbClr val="252423"/>
                </a:solidFill>
                <a:latin typeface="Segoe UI"/>
              </a:rPr>
              <a:t>It is projected to create overall incremental opportunity of</a:t>
            </a:r>
          </a:p>
        </p:txBody>
      </p:sp>
      <p:sp>
        <p:nvSpPr>
          <p:cNvPr id="37" name="TextBox 36"/>
          <p:cNvSpPr txBox="1"/>
          <p:nvPr/>
        </p:nvSpPr>
        <p:spPr>
          <a:xfrm>
            <a:off x="8048625" y="3151124"/>
            <a:ext cx="332928" cy="194310"/>
          </a:xfrm>
          <a:prstGeom prst="rect">
            <a:avLst/>
          </a:prstGeom>
          <a:noFill/>
        </p:spPr>
        <p:txBody>
          <a:bodyPr wrap="none" lIns="0" rIns="0" tIns="0" bIns="0">
            <a:spAutoFit/>
          </a:bodyPr>
          <a:lstStyle/>
          <a:p>
            <a:r>
              <a:rPr sz="1150" b="0">
                <a:solidFill>
                  <a:srgbClr val="252423"/>
                </a:solidFill>
                <a:latin typeface="Segoe UI"/>
              </a:rPr>
              <a:t>US$</a:t>
            </a:r>
          </a:p>
        </p:txBody>
      </p:sp>
      <p:pic>
        <p:nvPicPr>
          <p:cNvPr id="38" name="Picture 37" descr="lock.png"/>
          <p:cNvPicPr>
            <a:picLocks noChangeAspect="1"/>
          </p:cNvPicPr>
          <p:nvPr/>
        </p:nvPicPr>
        <p:blipFill>
          <a:blip r:embed="rId6"/>
          <a:stretch>
            <a:fillRect/>
          </a:stretch>
        </p:blipFill>
        <p:spPr>
          <a:xfrm>
            <a:off x="8330707" y="3140901"/>
            <a:ext cx="134549" cy="195707"/>
          </a:xfrm>
          <a:prstGeom prst="rect">
            <a:avLst/>
          </a:prstGeom>
        </p:spPr>
      </p:pic>
      <p:sp>
        <p:nvSpPr>
          <p:cNvPr id="39" name="TextBox 38"/>
          <p:cNvSpPr txBox="1"/>
          <p:nvPr/>
        </p:nvSpPr>
        <p:spPr>
          <a:xfrm>
            <a:off x="8505816" y="3151124"/>
            <a:ext cx="1554336" cy="194310"/>
          </a:xfrm>
          <a:prstGeom prst="rect">
            <a:avLst/>
          </a:prstGeom>
          <a:noFill/>
        </p:spPr>
        <p:txBody>
          <a:bodyPr wrap="none" lIns="0" rIns="0" tIns="0" bIns="0">
            <a:spAutoFit/>
          </a:bodyPr>
          <a:lstStyle/>
          <a:p>
            <a:r>
              <a:rPr sz="1150" b="0">
                <a:solidFill>
                  <a:srgbClr val="252423"/>
                </a:solidFill>
                <a:latin typeface="Segoe UI"/>
              </a:rPr>
              <a:t>Mn from 2025 to 2036.</a:t>
            </a:r>
          </a:p>
        </p:txBody>
      </p:sp>
      <p:sp>
        <p:nvSpPr>
          <p:cNvPr id="40" name="TextBox 39"/>
          <p:cNvSpPr txBox="1"/>
          <p:nvPr/>
        </p:nvSpPr>
        <p:spPr>
          <a:xfrm>
            <a:off x="8048625" y="4456475"/>
            <a:ext cx="3129138" cy="194310"/>
          </a:xfrm>
          <a:prstGeom prst="rect">
            <a:avLst/>
          </a:prstGeom>
          <a:noFill/>
        </p:spPr>
        <p:txBody>
          <a:bodyPr wrap="none" lIns="0" rIns="0" tIns="0" bIns="0">
            <a:spAutoFit/>
          </a:bodyPr>
          <a:lstStyle/>
          <a:p>
            <a:r>
              <a:rPr sz="1150" b="0">
                <a:solidFill>
                  <a:srgbClr val="252423"/>
                </a:solidFill>
                <a:latin typeface="Segoe UI"/>
              </a:rPr>
              <a:t>▪ 'South Asia &amp; Pacific' leads regional growth at</a:t>
            </a:r>
          </a:p>
        </p:txBody>
      </p:sp>
      <p:pic>
        <p:nvPicPr>
          <p:cNvPr id="41" name="Picture 40" descr="lock.png"/>
          <p:cNvPicPr>
            <a:picLocks noChangeAspect="1"/>
          </p:cNvPicPr>
          <p:nvPr/>
        </p:nvPicPr>
        <p:blipFill>
          <a:blip r:embed="rId6"/>
          <a:stretch>
            <a:fillRect/>
          </a:stretch>
        </p:blipFill>
        <p:spPr>
          <a:xfrm>
            <a:off x="11126917" y="4446251"/>
            <a:ext cx="134549" cy="195707"/>
          </a:xfrm>
          <a:prstGeom prst="rect">
            <a:avLst/>
          </a:prstGeom>
        </p:spPr>
      </p:pic>
      <p:sp>
        <p:nvSpPr>
          <p:cNvPr id="42" name="TextBox 41"/>
          <p:cNvSpPr txBox="1"/>
          <p:nvPr/>
        </p:nvSpPr>
        <p:spPr>
          <a:xfrm>
            <a:off x="11302027"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43" name="TextBox 42"/>
          <p:cNvSpPr txBox="1"/>
          <p:nvPr/>
        </p:nvSpPr>
        <p:spPr>
          <a:xfrm>
            <a:off x="8048625" y="4684312"/>
            <a:ext cx="3704023" cy="194310"/>
          </a:xfrm>
          <a:prstGeom prst="rect">
            <a:avLst/>
          </a:prstGeom>
          <a:noFill/>
        </p:spPr>
        <p:txBody>
          <a:bodyPr wrap="none" lIns="0" rIns="0" tIns="0" bIns="0">
            <a:spAutoFit/>
          </a:bodyPr>
          <a:lstStyle/>
          <a:p>
            <a:r>
              <a:rPr sz="1150" b="0">
                <a:solidFill>
                  <a:srgbClr val="252423"/>
                </a:solidFill>
                <a:latin typeface="Segoe UI"/>
              </a:rPr>
              <a:t>▪ Demand concentrates in '1,500 Wh to 2,000 Wh' within</a:t>
            </a:r>
          </a:p>
        </p:txBody>
      </p:sp>
      <p:sp>
        <p:nvSpPr>
          <p:cNvPr id="44" name="TextBox 43"/>
          <p:cNvSpPr txBox="1"/>
          <p:nvPr/>
        </p:nvSpPr>
        <p:spPr>
          <a:xfrm>
            <a:off x="8048625" y="4859572"/>
            <a:ext cx="1677321" cy="194310"/>
          </a:xfrm>
          <a:prstGeom prst="rect">
            <a:avLst/>
          </a:prstGeom>
          <a:noFill/>
        </p:spPr>
        <p:txBody>
          <a:bodyPr wrap="none" lIns="0" rIns="0" tIns="0" bIns="0">
            <a:spAutoFit/>
          </a:bodyPr>
          <a:lstStyle/>
          <a:p>
            <a:r>
              <a:rPr sz="1150" b="0">
                <a:solidFill>
                  <a:srgbClr val="252423"/>
                </a:solidFill>
                <a:latin typeface="Segoe UI"/>
              </a:rPr>
              <a:t>Energy Storage Capacity.</a:t>
            </a:r>
          </a:p>
        </p:txBody>
      </p:sp>
      <p:sp>
        <p:nvSpPr>
          <p:cNvPr id="45" name="TextBox 44"/>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46" name="TextBox 45"/>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47"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global market and the incremental $ opportunity it creates, 2021–2036</a:t>
            </a:r>
          </a:p>
        </p:txBody>
      </p:sp>
      <p:sp>
        <p:nvSpPr>
          <p:cNvPr id="8" name="Rectangle 7"/>
          <p:cNvSpPr/>
          <p:nvPr/>
        </p:nvSpPr>
        <p:spPr>
          <a:xfrm>
            <a:off x="142875" y="981075"/>
            <a:ext cx="4695825"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2021–2025 (Historical)</a:t>
            </a:r>
          </a:p>
        </p:txBody>
      </p:sp>
      <p:graphicFrame>
        <p:nvGraphicFramePr>
          <p:cNvPr id="10" name="Chart 9"/>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1" name="Rectangle 10"/>
          <p:cNvSpPr/>
          <p:nvPr/>
        </p:nvSpPr>
        <p:spPr>
          <a:xfrm>
            <a:off x="4991100" y="981075"/>
            <a:ext cx="7048500"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2026–2036 (Forecast)</a:t>
            </a:r>
          </a:p>
        </p:txBody>
      </p:sp>
      <p:graphicFrame>
        <p:nvGraphicFramePr>
          <p:cNvPr id="13" name="Chart 12"/>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4" name="Rounded Rectangle 13"/>
          <p:cNvSpPr/>
          <p:nvPr/>
        </p:nvSpPr>
        <p:spPr>
          <a:xfrm>
            <a:off x="142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 </a:t>
            </a:r>
          </a:p>
        </p:txBody>
      </p:sp>
      <p:sp>
        <p:nvSpPr>
          <p:cNvPr id="15" name="Rounded Rectangle 14"/>
          <p:cNvSpPr/>
          <p:nvPr/>
        </p:nvSpPr>
        <p:spPr>
          <a:xfrm>
            <a:off x="2809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11.6%</a:t>
            </a:r>
          </a:p>
        </p:txBody>
      </p:sp>
      <p:sp>
        <p:nvSpPr>
          <p:cNvPr id="16" name="Rounded Rectangle 15"/>
          <p:cNvSpPr/>
          <p:nvPr/>
        </p:nvSpPr>
        <p:spPr>
          <a:xfrm>
            <a:off x="54768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 </a:t>
            </a:r>
          </a:p>
        </p:txBody>
      </p:sp>
      <p:sp>
        <p:nvSpPr>
          <p:cNvPr id="17" name="Rounded Rectangle 16"/>
          <p:cNvSpPr/>
          <p:nvPr/>
        </p:nvSpPr>
        <p:spPr>
          <a:xfrm>
            <a:off x="88296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 </a:t>
            </a:r>
          </a:p>
        </p:txBody>
      </p:sp>
      <p:sp>
        <p:nvSpPr>
          <p:cNvPr id="18" name="Rectangle 17"/>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&amp; Value Analysis</a:t>
            </a:r>
          </a:p>
        </p:txBody>
      </p:sp>
      <p:sp>
        <p:nvSpPr>
          <p:cNvPr id="20" name="Rectangle 19"/>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69984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10351294" y="4022407"/>
            <a:ext cx="157162" cy="228600"/>
          </a:xfrm>
          <a:prstGeom prst="rect">
            <a:avLst/>
          </a:prstGeom>
        </p:spPr>
      </p:pic>
      <p:sp>
        <p:nvSpPr>
          <p:cNvPr id="28" name="TextBox 27"/>
          <p:cNvSpPr txBox="1"/>
          <p:nvPr/>
        </p:nvSpPr>
        <p:spPr>
          <a:xfrm>
            <a:off x="276225" y="4972050"/>
            <a:ext cx="4702305" cy="194310"/>
          </a:xfrm>
          <a:prstGeom prst="rect">
            <a:avLst/>
          </a:prstGeom>
          <a:noFill/>
        </p:spPr>
        <p:txBody>
          <a:bodyPr wrap="none" lIns="0" rIns="0" tIns="0" bIns="0">
            <a:spAutoFit/>
          </a:bodyPr>
          <a:lstStyle/>
          <a:p>
            <a:r>
              <a:rPr sz="1150" b="0">
                <a:solidFill>
                  <a:srgbClr val="252423"/>
                </a:solidFill>
                <a:latin typeface="Segoe UI"/>
              </a:rPr>
              <a:t>Lithium polymer portable energy storage market is projected to register</a:t>
            </a:r>
          </a:p>
        </p:txBody>
      </p:sp>
      <p:pic>
        <p:nvPicPr>
          <p:cNvPr id="29" name="Picture 28" descr="lock.png"/>
          <p:cNvPicPr>
            <a:picLocks noChangeAspect="1"/>
          </p:cNvPicPr>
          <p:nvPr/>
        </p:nvPicPr>
        <p:blipFill>
          <a:blip r:embed="rId6"/>
          <a:stretch>
            <a:fillRect/>
          </a:stretch>
        </p:blipFill>
        <p:spPr>
          <a:xfrm>
            <a:off x="4927684" y="4961826"/>
            <a:ext cx="134549" cy="195707"/>
          </a:xfrm>
          <a:prstGeom prst="rect">
            <a:avLst/>
          </a:prstGeom>
        </p:spPr>
      </p:pic>
      <p:sp>
        <p:nvSpPr>
          <p:cNvPr id="30" name="TextBox 29"/>
          <p:cNvSpPr txBox="1"/>
          <p:nvPr/>
        </p:nvSpPr>
        <p:spPr>
          <a:xfrm>
            <a:off x="5102793" y="4972050"/>
            <a:ext cx="6541337" cy="194310"/>
          </a:xfrm>
          <a:prstGeom prst="rect">
            <a:avLst/>
          </a:prstGeom>
          <a:noFill/>
        </p:spPr>
        <p:txBody>
          <a:bodyPr wrap="none" lIns="0" rIns="0" tIns="0" bIns="0">
            <a:spAutoFit/>
          </a:bodyPr>
          <a:lstStyle/>
          <a:p>
            <a:r>
              <a:rPr sz="1150" b="0">
                <a:solidFill>
                  <a:srgbClr val="252423"/>
                </a:solidFill>
                <a:latin typeface="Segoe UI"/>
              </a:rPr>
              <a:t>X increase in its revenue by the end of forecast period, 2036. Global lithium polymer portable energy</a:t>
            </a:r>
          </a:p>
        </p:txBody>
      </p:sp>
      <p:sp>
        <p:nvSpPr>
          <p:cNvPr id="31" name="TextBox 30"/>
          <p:cNvSpPr txBox="1"/>
          <p:nvPr/>
        </p:nvSpPr>
        <p:spPr>
          <a:xfrm>
            <a:off x="276225" y="5147310"/>
            <a:ext cx="4625291" cy="194310"/>
          </a:xfrm>
          <a:prstGeom prst="rect">
            <a:avLst/>
          </a:prstGeom>
          <a:noFill/>
        </p:spPr>
        <p:txBody>
          <a:bodyPr wrap="none" lIns="0" rIns="0" tIns="0" bIns="0">
            <a:spAutoFit/>
          </a:bodyPr>
          <a:lstStyle/>
          <a:p>
            <a:r>
              <a:rPr sz="1150" b="0">
                <a:solidFill>
                  <a:srgbClr val="252423"/>
                </a:solidFill>
                <a:latin typeface="Segoe UI"/>
              </a:rPr>
              <a:t>storage market is expected to be valued at US$ 1,950 Mn by 2036 end.</a:t>
            </a:r>
          </a:p>
        </p:txBody>
      </p:sp>
      <p:sp>
        <p:nvSpPr>
          <p:cNvPr id="32" name="TextBox 31"/>
          <p:cNvSpPr txBox="1"/>
          <p:nvPr/>
        </p:nvSpPr>
        <p:spPr>
          <a:xfrm>
            <a:off x="276225" y="5375147"/>
            <a:ext cx="4103280" cy="194310"/>
          </a:xfrm>
          <a:prstGeom prst="rect">
            <a:avLst/>
          </a:prstGeom>
          <a:noFill/>
        </p:spPr>
        <p:txBody>
          <a:bodyPr wrap="none" lIns="0" rIns="0" tIns="0" bIns="0">
            <a:spAutoFit/>
          </a:bodyPr>
          <a:lstStyle/>
          <a:p>
            <a:r>
              <a:rPr sz="1150" b="0">
                <a:solidFill>
                  <a:srgbClr val="252423"/>
                </a:solidFill>
                <a:latin typeface="Segoe UI"/>
              </a:rPr>
              <a:t>It is projected to create overall incremental opportunity of US$</a:t>
            </a:r>
          </a:p>
        </p:txBody>
      </p:sp>
      <p:pic>
        <p:nvPicPr>
          <p:cNvPr id="33" name="Picture 32" descr="lock.png"/>
          <p:cNvPicPr>
            <a:picLocks noChangeAspect="1"/>
          </p:cNvPicPr>
          <p:nvPr/>
        </p:nvPicPr>
        <p:blipFill>
          <a:blip r:embed="rId6"/>
          <a:stretch>
            <a:fillRect/>
          </a:stretch>
        </p:blipFill>
        <p:spPr>
          <a:xfrm>
            <a:off x="4328659" y="5364924"/>
            <a:ext cx="134549" cy="195707"/>
          </a:xfrm>
          <a:prstGeom prst="rect">
            <a:avLst/>
          </a:prstGeom>
        </p:spPr>
      </p:pic>
      <p:sp>
        <p:nvSpPr>
          <p:cNvPr id="34" name="TextBox 33"/>
          <p:cNvSpPr txBox="1"/>
          <p:nvPr/>
        </p:nvSpPr>
        <p:spPr>
          <a:xfrm>
            <a:off x="4503769" y="5375147"/>
            <a:ext cx="6643663" cy="194310"/>
          </a:xfrm>
          <a:prstGeom prst="rect">
            <a:avLst/>
          </a:prstGeom>
          <a:noFill/>
        </p:spPr>
        <p:txBody>
          <a:bodyPr wrap="none" lIns="0" rIns="0" tIns="0" bIns="0">
            <a:spAutoFit/>
          </a:bodyPr>
          <a:lstStyle/>
          <a:p>
            <a:r>
              <a:rPr sz="1150" b="0">
                <a:solidFill>
                  <a:srgbClr val="252423"/>
                </a:solidFill>
                <a:latin typeface="Segoe UI"/>
              </a:rPr>
              <a:t>Mn from 2025 to 2036. Global lithium polymer portable energy storage market is projected to register</a:t>
            </a:r>
          </a:p>
        </p:txBody>
      </p:sp>
      <p:pic>
        <p:nvPicPr>
          <p:cNvPr id="35" name="Picture 34" descr="lock.png"/>
          <p:cNvPicPr>
            <a:picLocks noChangeAspect="1"/>
          </p:cNvPicPr>
          <p:nvPr/>
        </p:nvPicPr>
        <p:blipFill>
          <a:blip r:embed="rId6"/>
          <a:stretch>
            <a:fillRect/>
          </a:stretch>
        </p:blipFill>
        <p:spPr>
          <a:xfrm>
            <a:off x="11096586" y="5364924"/>
            <a:ext cx="134549" cy="195707"/>
          </a:xfrm>
          <a:prstGeom prst="rect">
            <a:avLst/>
          </a:prstGeom>
        </p:spPr>
      </p:pic>
      <p:sp>
        <p:nvSpPr>
          <p:cNvPr id="36" name="TextBox 35"/>
          <p:cNvSpPr txBox="1"/>
          <p:nvPr/>
        </p:nvSpPr>
        <p:spPr>
          <a:xfrm>
            <a:off x="11271695" y="5375147"/>
            <a:ext cx="162346" cy="194310"/>
          </a:xfrm>
          <a:prstGeom prst="rect">
            <a:avLst/>
          </a:prstGeom>
          <a:noFill/>
        </p:spPr>
        <p:txBody>
          <a:bodyPr wrap="none" lIns="0" rIns="0" tIns="0" bIns="0">
            <a:spAutoFit/>
          </a:bodyPr>
          <a:lstStyle/>
          <a:p>
            <a:r>
              <a:rPr sz="1150" b="0">
                <a:solidFill>
                  <a:srgbClr val="252423"/>
                </a:solidFill>
                <a:latin typeface="Segoe UI"/>
              </a:rPr>
              <a:t>X</a:t>
            </a:r>
          </a:p>
        </p:txBody>
      </p:sp>
      <p:sp>
        <p:nvSpPr>
          <p:cNvPr id="37" name="TextBox 36"/>
          <p:cNvSpPr txBox="1"/>
          <p:nvPr/>
        </p:nvSpPr>
        <p:spPr>
          <a:xfrm>
            <a:off x="276225" y="5550407"/>
            <a:ext cx="3607527" cy="194310"/>
          </a:xfrm>
          <a:prstGeom prst="rect">
            <a:avLst/>
          </a:prstGeom>
          <a:noFill/>
        </p:spPr>
        <p:txBody>
          <a:bodyPr wrap="none" lIns="0" rIns="0" tIns="0" bIns="0">
            <a:spAutoFit/>
          </a:bodyPr>
          <a:lstStyle/>
          <a:p>
            <a:r>
              <a:rPr sz="1150" b="0">
                <a:solidFill>
                  <a:srgbClr val="252423"/>
                </a:solidFill>
                <a:latin typeface="Segoe UI"/>
              </a:rPr>
              <a:t>increase in volume by the end of forecast period, 2036.</a:t>
            </a:r>
          </a:p>
        </p:txBody>
      </p:sp>
      <p:sp>
        <p:nvSpPr>
          <p:cNvPr id="38" name="TextBox 37"/>
          <p:cNvSpPr txBox="1"/>
          <p:nvPr/>
        </p:nvSpPr>
        <p:spPr>
          <a:xfrm>
            <a:off x="276225" y="5778245"/>
            <a:ext cx="4720614" cy="194310"/>
          </a:xfrm>
          <a:prstGeom prst="rect">
            <a:avLst/>
          </a:prstGeom>
          <a:noFill/>
        </p:spPr>
        <p:txBody>
          <a:bodyPr wrap="none" lIns="0" rIns="0" tIns="0" bIns="0">
            <a:spAutoFit/>
          </a:bodyPr>
          <a:lstStyle/>
          <a:p>
            <a:r>
              <a:rPr sz="1150" b="0">
                <a:solidFill>
                  <a:srgbClr val="252423"/>
                </a:solidFill>
                <a:latin typeface="Segoe UI"/>
              </a:rPr>
              <a:t>Global lithium polymer portable energy storage market volume stood at</a:t>
            </a:r>
          </a:p>
        </p:txBody>
      </p:sp>
      <p:pic>
        <p:nvPicPr>
          <p:cNvPr id="39" name="Picture 38" descr="lock.png"/>
          <p:cNvPicPr>
            <a:picLocks noChangeAspect="1"/>
          </p:cNvPicPr>
          <p:nvPr/>
        </p:nvPicPr>
        <p:blipFill>
          <a:blip r:embed="rId6"/>
          <a:stretch>
            <a:fillRect/>
          </a:stretch>
        </p:blipFill>
        <p:spPr>
          <a:xfrm>
            <a:off x="4945993" y="5768022"/>
            <a:ext cx="134549" cy="195707"/>
          </a:xfrm>
          <a:prstGeom prst="rect">
            <a:avLst/>
          </a:prstGeom>
        </p:spPr>
      </p:pic>
      <p:sp>
        <p:nvSpPr>
          <p:cNvPr id="40" name="TextBox 39"/>
          <p:cNvSpPr txBox="1"/>
          <p:nvPr/>
        </p:nvSpPr>
        <p:spPr>
          <a:xfrm>
            <a:off x="5121103" y="5778245"/>
            <a:ext cx="3204797" cy="194310"/>
          </a:xfrm>
          <a:prstGeom prst="rect">
            <a:avLst/>
          </a:prstGeom>
          <a:noFill/>
        </p:spPr>
        <p:txBody>
          <a:bodyPr wrap="none" lIns="0" rIns="0" tIns="0" bIns="0">
            <a:spAutoFit/>
          </a:bodyPr>
          <a:lstStyle/>
          <a:p>
            <a:r>
              <a:rPr sz="1150" b="0">
                <a:solidFill>
                  <a:srgbClr val="252423"/>
                </a:solidFill>
                <a:latin typeface="Segoe UI"/>
              </a:rPr>
              <a:t>Thousand Units in 2025 and is expected to reach</a:t>
            </a:r>
          </a:p>
        </p:txBody>
      </p:sp>
      <p:pic>
        <p:nvPicPr>
          <p:cNvPr id="41" name="Picture 40" descr="lock.png"/>
          <p:cNvPicPr>
            <a:picLocks noChangeAspect="1"/>
          </p:cNvPicPr>
          <p:nvPr/>
        </p:nvPicPr>
        <p:blipFill>
          <a:blip r:embed="rId6"/>
          <a:stretch>
            <a:fillRect/>
          </a:stretch>
        </p:blipFill>
        <p:spPr>
          <a:xfrm>
            <a:off x="8275055" y="5768022"/>
            <a:ext cx="134549" cy="195707"/>
          </a:xfrm>
          <a:prstGeom prst="rect">
            <a:avLst/>
          </a:prstGeom>
        </p:spPr>
      </p:pic>
      <p:sp>
        <p:nvSpPr>
          <p:cNvPr id="42" name="TextBox 41"/>
          <p:cNvSpPr txBox="1"/>
          <p:nvPr/>
        </p:nvSpPr>
        <p:spPr>
          <a:xfrm>
            <a:off x="8450164" y="5778245"/>
            <a:ext cx="2808575" cy="194310"/>
          </a:xfrm>
          <a:prstGeom prst="rect">
            <a:avLst/>
          </a:prstGeom>
          <a:noFill/>
        </p:spPr>
        <p:txBody>
          <a:bodyPr wrap="none" lIns="0" rIns="0" tIns="0" bIns="0">
            <a:spAutoFit/>
          </a:bodyPr>
          <a:lstStyle/>
          <a:p>
            <a:r>
              <a:rPr sz="1150" b="0">
                <a:solidFill>
                  <a:srgbClr val="252423"/>
                </a:solidFill>
                <a:latin typeface="Segoe UI"/>
              </a:rPr>
              <a:t>Thousand Units by 2036 end, at a CAGR of</a:t>
            </a:r>
          </a:p>
        </p:txBody>
      </p:sp>
      <p:pic>
        <p:nvPicPr>
          <p:cNvPr id="43" name="Picture 42" descr="lock.png"/>
          <p:cNvPicPr>
            <a:picLocks noChangeAspect="1"/>
          </p:cNvPicPr>
          <p:nvPr/>
        </p:nvPicPr>
        <p:blipFill>
          <a:blip r:embed="rId6"/>
          <a:stretch>
            <a:fillRect/>
          </a:stretch>
        </p:blipFill>
        <p:spPr>
          <a:xfrm>
            <a:off x="11207894" y="5768022"/>
            <a:ext cx="134549" cy="195707"/>
          </a:xfrm>
          <a:prstGeom prst="rect">
            <a:avLst/>
          </a:prstGeom>
        </p:spPr>
      </p:pic>
      <p:sp>
        <p:nvSpPr>
          <p:cNvPr id="44" name="TextBox 43"/>
          <p:cNvSpPr txBox="1"/>
          <p:nvPr/>
        </p:nvSpPr>
        <p:spPr>
          <a:xfrm>
            <a:off x="11383003" y="577824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5" name="TextBox 44"/>
          <p:cNvSpPr txBox="1"/>
          <p:nvPr/>
        </p:nvSpPr>
        <p:spPr>
          <a:xfrm>
            <a:off x="276225" y="5953505"/>
            <a:ext cx="7549451" cy="194310"/>
          </a:xfrm>
          <a:prstGeom prst="rect">
            <a:avLst/>
          </a:prstGeom>
          <a:noFill/>
        </p:spPr>
        <p:txBody>
          <a:bodyPr wrap="none" lIns="0" rIns="0" tIns="0" bIns="0">
            <a:spAutoFit/>
          </a:bodyPr>
          <a:lstStyle/>
          <a:p>
            <a:r>
              <a:rPr sz="1150" b="0">
                <a:solidFill>
                  <a:srgbClr val="252423"/>
                </a:solidFill>
                <a:latin typeface="Segoe UI"/>
              </a:rPr>
              <a:t>Value is projected to grow faster than volume over the forecast period, owing to an increase in average selling price.</a:t>
            </a:r>
          </a:p>
        </p:txBody>
      </p:sp>
      <p:sp>
        <p:nvSpPr>
          <p:cNvPr id="46" name="lockshield_10"/>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13"/>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Summary Country Indices (Value)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1"/>
        </p:xfrm>
        <a:graphic>
          <a:graphicData uri="http://schemas.openxmlformats.org/drawingml/2006/table">
            <a:tbl>
              <a:tblPr>
                <a:tableStyleId>{5C22544A-7EE6-4342-B048-85BDC9FD1C3A}</a:tableStyleId>
              </a:tblPr>
              <a:tblGrid>
                <a:gridCol w="1058924"/>
                <a:gridCol w="954484"/>
                <a:gridCol w="653902"/>
                <a:gridCol w="1247465"/>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377189">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52423"/>
                          </a:solidFill>
                          <a:latin typeface="Segoe UI"/>
                        </a:rPr>
                        <a:t>Türkiye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77189">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52423"/>
                          </a:solidFill>
                          <a:latin typeface="Segoe UI"/>
                        </a:rPr>
                        <a:t>United States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77189">
                <a:tc>
                  <a:txBody>
                    <a:bodyPr wrap="none"/>
                    <a:lstStyle/>
                    <a:p>
                      <a:pPr algn="l"/>
                      <a:r>
                        <a:rPr sz="1100" b="1">
                          <a:solidFill>
                            <a:srgbClr val="252423"/>
                          </a:solidFill>
                          <a:latin typeface="Segoe U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2722202" cy="1987298"/>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United States</a:t>
            </a:r>
          </a:p>
          <a:p>
            <a:pPr algn="ctr"/>
            <a:r>
              <a:rPr sz="1100" b="0">
                <a:solidFill>
                  <a:srgbClr val="FFFFFF"/>
                </a:solidFill>
                <a:latin typeface="Segoe UI"/>
              </a:rPr>
              <a:t> </a:t>
            </a:r>
          </a:p>
        </p:txBody>
      </p:sp>
      <p:sp>
        <p:nvSpPr>
          <p:cNvPr id="17" name="Rectangle 16"/>
          <p:cNvSpPr/>
          <p:nvPr/>
        </p:nvSpPr>
        <p:spPr>
          <a:xfrm>
            <a:off x="6932252" y="1293011"/>
            <a:ext cx="1021123" cy="1987298"/>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8" name="Rectangle 17"/>
          <p:cNvSpPr/>
          <p:nvPr/>
        </p:nvSpPr>
        <p:spPr>
          <a:xfrm>
            <a:off x="4210050" y="3280309"/>
            <a:ext cx="1447669" cy="1310177"/>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 </a:t>
            </a:r>
          </a:p>
        </p:txBody>
      </p:sp>
      <p:sp>
        <p:nvSpPr>
          <p:cNvPr id="19" name="Rectangle 18"/>
          <p:cNvSpPr/>
          <p:nvPr/>
        </p:nvSpPr>
        <p:spPr>
          <a:xfrm>
            <a:off x="4210050" y="4590486"/>
            <a:ext cx="1447669" cy="1288124"/>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 </a:t>
            </a:r>
          </a:p>
        </p:txBody>
      </p:sp>
      <p:sp>
        <p:nvSpPr>
          <p:cNvPr id="20" name="Rectangle 19"/>
          <p:cNvSpPr/>
          <p:nvPr/>
        </p:nvSpPr>
        <p:spPr>
          <a:xfrm>
            <a:off x="5657719" y="3280309"/>
            <a:ext cx="1150653" cy="1166287"/>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Brazil</a:t>
            </a:r>
          </a:p>
          <a:p>
            <a:pPr algn="ctr"/>
            <a:r>
              <a:rPr sz="1100" b="0">
                <a:solidFill>
                  <a:srgbClr val="252423"/>
                </a:solidFill>
                <a:latin typeface="Segoe UI"/>
              </a:rPr>
              <a:t> </a:t>
            </a:r>
          </a:p>
        </p:txBody>
      </p:sp>
      <p:sp>
        <p:nvSpPr>
          <p:cNvPr id="21" name="Rectangle 20"/>
          <p:cNvSpPr/>
          <p:nvPr/>
        </p:nvSpPr>
        <p:spPr>
          <a:xfrm>
            <a:off x="6808373" y="3280309"/>
            <a:ext cx="1145002" cy="1166287"/>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22" name="Rectangle 21"/>
          <p:cNvSpPr/>
          <p:nvPr/>
        </p:nvSpPr>
        <p:spPr>
          <a:xfrm>
            <a:off x="5657719" y="4446596"/>
            <a:ext cx="1196399" cy="748667"/>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Kingdom of Saudi Arabia</a:t>
            </a:r>
          </a:p>
          <a:p>
            <a:pPr algn="ctr"/>
            <a:r>
              <a:rPr sz="1100" b="0">
                <a:solidFill>
                  <a:srgbClr val="252423"/>
                </a:solidFill>
                <a:latin typeface="Segoe UI"/>
              </a:rPr>
              <a:t> </a:t>
            </a:r>
          </a:p>
        </p:txBody>
      </p:sp>
      <p:sp>
        <p:nvSpPr>
          <p:cNvPr id="23" name="Rectangle 22"/>
          <p:cNvSpPr/>
          <p:nvPr/>
        </p:nvSpPr>
        <p:spPr>
          <a:xfrm>
            <a:off x="5657719" y="5195263"/>
            <a:ext cx="1196399" cy="683346"/>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 </a:t>
            </a:r>
          </a:p>
        </p:txBody>
      </p:sp>
      <p:sp>
        <p:nvSpPr>
          <p:cNvPr id="24" name="Rectangle 23"/>
          <p:cNvSpPr/>
          <p:nvPr/>
        </p:nvSpPr>
        <p:spPr>
          <a:xfrm>
            <a:off x="6854118" y="4446596"/>
            <a:ext cx="1099257" cy="729466"/>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 </a:t>
            </a:r>
          </a:p>
        </p:txBody>
      </p:sp>
      <p:sp>
        <p:nvSpPr>
          <p:cNvPr id="25" name="Rectangle 24"/>
          <p:cNvSpPr/>
          <p:nvPr/>
        </p:nvSpPr>
        <p:spPr>
          <a:xfrm>
            <a:off x="6854118" y="5176062"/>
            <a:ext cx="1099257" cy="702547"/>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 </a:t>
            </a:r>
          </a:p>
        </p:txBody>
      </p:sp>
      <p:sp>
        <p:nvSpPr>
          <p:cNvPr id="26" name="Rectangle 25"/>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8" name="Chart 27"/>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9" name="Rectangle 28"/>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8096250" y="3547710"/>
          <a:ext cx="3914774" cy="2159447"/>
        </p:xfrm>
        <a:graphic>
          <a:graphicData uri="http://schemas.openxmlformats.org/drawingml/2006/table">
            <a:tbl>
              <a:tblPr>
                <a:tableStyleId>{5C22544A-7EE6-4342-B048-85BDC9FD1C3A}</a:tableStyleId>
              </a:tblPr>
              <a:tblGrid>
                <a:gridCol w="1019589"/>
                <a:gridCol w="1113736"/>
                <a:gridCol w="622102"/>
                <a:gridCol w="1159347"/>
              </a:tblGrid>
              <a:tr h="438912">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344107">
                <a:tc>
                  <a:txBody>
                    <a:bodyPr wrap="none"/>
                    <a:lstStyle/>
                    <a:p>
                      <a:pPr algn="l"/>
                      <a:r>
                        <a:rPr sz="1100" b="1">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107">
                <a:tc>
                  <a:txBody>
                    <a:bodyPr wrap="none"/>
                    <a:lstStyle/>
                    <a:p>
                      <a:pPr algn="l"/>
                      <a:r>
                        <a:rPr sz="1100" b="1">
                          <a:solidFill>
                            <a:srgbClr val="252423"/>
                          </a:solidFill>
                          <a:latin typeface="Segoe UI"/>
                        </a:rPr>
                        <a:t>India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44107">
                <a:tc>
                  <a:txBody>
                    <a:bodyPr wrap="none"/>
                    <a:lstStyle/>
                    <a:p>
                      <a:pPr algn="l"/>
                      <a:r>
                        <a:rPr sz="1100" b="1">
                          <a:solidFill>
                            <a:srgbClr val="252423"/>
                          </a:solidFill>
                          <a:latin typeface="Segoe U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107">
                <a:tc>
                  <a:txBody>
                    <a:bodyPr wrap="none"/>
                    <a:lstStyle/>
                    <a:p>
                      <a:pPr algn="l"/>
                      <a:r>
                        <a:rPr sz="1100" b="1">
                          <a:solidFill>
                            <a:srgbClr val="252423"/>
                          </a:solidFill>
                          <a:latin typeface="Segoe UI"/>
                        </a:rPr>
                        <a:t>China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44107">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1" name="TextBox 30"/>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32" name="Rectangle 31"/>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471109" y="4514862"/>
            <a:ext cx="330274" cy="480399"/>
          </a:xfrm>
          <a:prstGeom prst="rect">
            <a:avLst/>
          </a:prstGeom>
        </p:spPr>
      </p:pic>
      <p:pic>
        <p:nvPicPr>
          <p:cNvPr id="36" name="Picture 35" descr="lock.png"/>
          <p:cNvPicPr>
            <a:picLocks noChangeAspect="1"/>
          </p:cNvPicPr>
          <p:nvPr/>
        </p:nvPicPr>
        <p:blipFill>
          <a:blip r:embed="rId6"/>
          <a:stretch>
            <a:fillRect/>
          </a:stretch>
        </p:blipFill>
        <p:spPr>
          <a:xfrm>
            <a:off x="5513525" y="2286660"/>
            <a:ext cx="115252" cy="167639"/>
          </a:xfrm>
          <a:prstGeom prst="rect">
            <a:avLst/>
          </a:prstGeom>
        </p:spPr>
      </p:pic>
      <p:pic>
        <p:nvPicPr>
          <p:cNvPr id="37" name="Picture 36" descr="lock.png"/>
          <p:cNvPicPr>
            <a:picLocks noChangeAspect="1"/>
          </p:cNvPicPr>
          <p:nvPr/>
        </p:nvPicPr>
        <p:blipFill>
          <a:blip r:embed="rId6"/>
          <a:stretch>
            <a:fillRect/>
          </a:stretch>
        </p:blipFill>
        <p:spPr>
          <a:xfrm>
            <a:off x="7385187" y="2286660"/>
            <a:ext cx="115252" cy="167639"/>
          </a:xfrm>
          <a:prstGeom prst="rect">
            <a:avLst/>
          </a:prstGeom>
        </p:spPr>
      </p:pic>
      <p:pic>
        <p:nvPicPr>
          <p:cNvPr id="38" name="Picture 37" descr="lock.png"/>
          <p:cNvPicPr>
            <a:picLocks noChangeAspect="1"/>
          </p:cNvPicPr>
          <p:nvPr/>
        </p:nvPicPr>
        <p:blipFill>
          <a:blip r:embed="rId6"/>
          <a:stretch>
            <a:fillRect/>
          </a:stretch>
        </p:blipFill>
        <p:spPr>
          <a:xfrm>
            <a:off x="4876258" y="3935397"/>
            <a:ext cx="115252" cy="167639"/>
          </a:xfrm>
          <a:prstGeom prst="rect">
            <a:avLst/>
          </a:prstGeom>
        </p:spPr>
      </p:pic>
      <p:pic>
        <p:nvPicPr>
          <p:cNvPr id="39" name="Picture 38" descr="lock.png"/>
          <p:cNvPicPr>
            <a:picLocks noChangeAspect="1"/>
          </p:cNvPicPr>
          <p:nvPr/>
        </p:nvPicPr>
        <p:blipFill>
          <a:blip r:embed="rId6"/>
          <a:stretch>
            <a:fillRect/>
          </a:stretch>
        </p:blipFill>
        <p:spPr>
          <a:xfrm>
            <a:off x="4876258" y="5234548"/>
            <a:ext cx="115252" cy="167639"/>
          </a:xfrm>
          <a:prstGeom prst="rect">
            <a:avLst/>
          </a:prstGeom>
        </p:spPr>
      </p:pic>
      <p:pic>
        <p:nvPicPr>
          <p:cNvPr id="40" name="Picture 39" descr="lock.png"/>
          <p:cNvPicPr>
            <a:picLocks noChangeAspect="1"/>
          </p:cNvPicPr>
          <p:nvPr/>
        </p:nvPicPr>
        <p:blipFill>
          <a:blip r:embed="rId6"/>
          <a:stretch>
            <a:fillRect/>
          </a:stretch>
        </p:blipFill>
        <p:spPr>
          <a:xfrm>
            <a:off x="6175419" y="3863452"/>
            <a:ext cx="115252" cy="167639"/>
          </a:xfrm>
          <a:prstGeom prst="rect">
            <a:avLst/>
          </a:prstGeom>
        </p:spPr>
      </p:pic>
      <p:pic>
        <p:nvPicPr>
          <p:cNvPr id="41" name="Picture 40" descr="lock.png"/>
          <p:cNvPicPr>
            <a:picLocks noChangeAspect="1"/>
          </p:cNvPicPr>
          <p:nvPr/>
        </p:nvPicPr>
        <p:blipFill>
          <a:blip r:embed="rId6"/>
          <a:stretch>
            <a:fillRect/>
          </a:stretch>
        </p:blipFill>
        <p:spPr>
          <a:xfrm>
            <a:off x="7323247" y="3863452"/>
            <a:ext cx="115252" cy="167639"/>
          </a:xfrm>
          <a:prstGeom prst="rect">
            <a:avLst/>
          </a:prstGeom>
        </p:spPr>
      </p:pic>
      <p:pic>
        <p:nvPicPr>
          <p:cNvPr id="42" name="Picture 41" descr="lock.png"/>
          <p:cNvPicPr>
            <a:picLocks noChangeAspect="1"/>
          </p:cNvPicPr>
          <p:nvPr/>
        </p:nvPicPr>
        <p:blipFill>
          <a:blip r:embed="rId6"/>
          <a:stretch>
            <a:fillRect/>
          </a:stretch>
        </p:blipFill>
        <p:spPr>
          <a:xfrm>
            <a:off x="6198292" y="4820929"/>
            <a:ext cx="115252" cy="167639"/>
          </a:xfrm>
          <a:prstGeom prst="rect">
            <a:avLst/>
          </a:prstGeom>
        </p:spPr>
      </p:pic>
      <p:pic>
        <p:nvPicPr>
          <p:cNvPr id="43" name="Picture 42" descr="lock.png"/>
          <p:cNvPicPr>
            <a:picLocks noChangeAspect="1"/>
          </p:cNvPicPr>
          <p:nvPr/>
        </p:nvPicPr>
        <p:blipFill>
          <a:blip r:embed="rId6"/>
          <a:stretch>
            <a:fillRect/>
          </a:stretch>
        </p:blipFill>
        <p:spPr>
          <a:xfrm>
            <a:off x="6198292" y="5536936"/>
            <a:ext cx="115252" cy="167639"/>
          </a:xfrm>
          <a:prstGeom prst="rect">
            <a:avLst/>
          </a:prstGeom>
        </p:spPr>
      </p:pic>
      <p:pic>
        <p:nvPicPr>
          <p:cNvPr id="44" name="Picture 43" descr="lock.png"/>
          <p:cNvPicPr>
            <a:picLocks noChangeAspect="1"/>
          </p:cNvPicPr>
          <p:nvPr/>
        </p:nvPicPr>
        <p:blipFill>
          <a:blip r:embed="rId6"/>
          <a:stretch>
            <a:fillRect/>
          </a:stretch>
        </p:blipFill>
        <p:spPr>
          <a:xfrm>
            <a:off x="7346120" y="4811329"/>
            <a:ext cx="115252" cy="167639"/>
          </a:xfrm>
          <a:prstGeom prst="rect">
            <a:avLst/>
          </a:prstGeom>
        </p:spPr>
      </p:pic>
      <p:pic>
        <p:nvPicPr>
          <p:cNvPr id="45" name="Picture 44" descr="lock.png"/>
          <p:cNvPicPr>
            <a:picLocks noChangeAspect="1"/>
          </p:cNvPicPr>
          <p:nvPr/>
        </p:nvPicPr>
        <p:blipFill>
          <a:blip r:embed="rId6"/>
          <a:stretch>
            <a:fillRect/>
          </a:stretch>
        </p:blipFill>
        <p:spPr>
          <a:xfrm>
            <a:off x="7346120" y="5527335"/>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395410" y="4606859"/>
            <a:ext cx="330041" cy="480060"/>
          </a:xfrm>
          <a:prstGeom prst="rect">
            <a:avLst/>
          </a:prstGeom>
        </p:spPr>
      </p:pic>
      <p:sp>
        <p:nvSpPr>
          <p:cNvPr id="48" name="TextBox 47"/>
          <p:cNvSpPr txBox="1"/>
          <p:nvPr/>
        </p:nvSpPr>
        <p:spPr>
          <a:xfrm>
            <a:off x="257175" y="6173985"/>
            <a:ext cx="5152427" cy="173278"/>
          </a:xfrm>
          <a:prstGeom prst="rect">
            <a:avLst/>
          </a:prstGeom>
          <a:noFill/>
        </p:spPr>
        <p:txBody>
          <a:bodyPr wrap="none" lIns="0" rIns="0" tIns="0" bIns="0">
            <a:spAutoFit/>
          </a:bodyPr>
          <a:lstStyle/>
          <a:p>
            <a:r>
              <a:rPr sz="1011" b="0">
                <a:solidFill>
                  <a:srgbClr val="252423"/>
                </a:solidFill>
                <a:latin typeface="Segoe UI"/>
              </a:rPr>
              <a:t>The United States lithium polymer portable energy storage market is projected to register</a:t>
            </a:r>
          </a:p>
        </p:txBody>
      </p:sp>
      <p:pic>
        <p:nvPicPr>
          <p:cNvPr id="49" name="Picture 48" descr="lock.png"/>
          <p:cNvPicPr>
            <a:picLocks noChangeAspect="1"/>
          </p:cNvPicPr>
          <p:nvPr/>
        </p:nvPicPr>
        <p:blipFill>
          <a:blip r:embed="rId6"/>
          <a:stretch>
            <a:fillRect/>
          </a:stretch>
        </p:blipFill>
        <p:spPr>
          <a:xfrm>
            <a:off x="5355713" y="6164988"/>
            <a:ext cx="118403" cy="172222"/>
          </a:xfrm>
          <a:prstGeom prst="rect">
            <a:avLst/>
          </a:prstGeom>
        </p:spPr>
      </p:pic>
      <p:sp>
        <p:nvSpPr>
          <p:cNvPr id="50" name="TextBox 49"/>
          <p:cNvSpPr txBox="1"/>
          <p:nvPr/>
        </p:nvSpPr>
        <p:spPr>
          <a:xfrm>
            <a:off x="5509809" y="6173985"/>
            <a:ext cx="4219781" cy="173278"/>
          </a:xfrm>
          <a:prstGeom prst="rect">
            <a:avLst/>
          </a:prstGeom>
          <a:noFill/>
        </p:spPr>
        <p:txBody>
          <a:bodyPr wrap="none" lIns="0" rIns="0" tIns="0" bIns="0">
            <a:spAutoFit/>
          </a:bodyPr>
          <a:lstStyle/>
          <a:p>
            <a:r>
              <a:rPr sz="1011" b="0">
                <a:solidFill>
                  <a:srgbClr val="252423"/>
                </a:solidFill>
                <a:latin typeface="Segoe UI"/>
              </a:rPr>
              <a:t>X higher value than Canada in 2036. India posts the highest CAGR Index (</a:t>
            </a:r>
          </a:p>
        </p:txBody>
      </p:sp>
      <p:pic>
        <p:nvPicPr>
          <p:cNvPr id="51" name="Picture 50" descr="lock.png"/>
          <p:cNvPicPr>
            <a:picLocks noChangeAspect="1"/>
          </p:cNvPicPr>
          <p:nvPr/>
        </p:nvPicPr>
        <p:blipFill>
          <a:blip r:embed="rId6"/>
          <a:stretch>
            <a:fillRect/>
          </a:stretch>
        </p:blipFill>
        <p:spPr>
          <a:xfrm>
            <a:off x="9675702" y="6164988"/>
            <a:ext cx="118403" cy="172222"/>
          </a:xfrm>
          <a:prstGeom prst="rect">
            <a:avLst/>
          </a:prstGeom>
        </p:spPr>
      </p:pic>
      <p:sp>
        <p:nvSpPr>
          <p:cNvPr id="52" name="TextBox 51"/>
          <p:cNvSpPr txBox="1"/>
          <p:nvPr/>
        </p:nvSpPr>
        <p:spPr>
          <a:xfrm>
            <a:off x="9829798" y="6173985"/>
            <a:ext cx="790836" cy="173278"/>
          </a:xfrm>
          <a:prstGeom prst="rect">
            <a:avLst/>
          </a:prstGeom>
          <a:noFill/>
        </p:spPr>
        <p:txBody>
          <a:bodyPr wrap="none" lIns="0" rIns="0" tIns="0" bIns="0">
            <a:spAutoFit/>
          </a:bodyPr>
          <a:lstStyle/>
          <a:p>
            <a:r>
              <a:rPr sz="1011" b="0">
                <a:solidFill>
                  <a:srgbClr val="252423"/>
                </a:solidFill>
                <a:latin typeface="Segoe UI"/>
              </a:rPr>
              <a:t>), growing at</a:t>
            </a:r>
          </a:p>
        </p:txBody>
      </p:sp>
      <p:pic>
        <p:nvPicPr>
          <p:cNvPr id="53" name="Picture 52" descr="lock.png"/>
          <p:cNvPicPr>
            <a:picLocks noChangeAspect="1"/>
          </p:cNvPicPr>
          <p:nvPr/>
        </p:nvPicPr>
        <p:blipFill>
          <a:blip r:embed="rId6"/>
          <a:stretch>
            <a:fillRect/>
          </a:stretch>
        </p:blipFill>
        <p:spPr>
          <a:xfrm>
            <a:off x="244784" y="6319217"/>
            <a:ext cx="118403" cy="172222"/>
          </a:xfrm>
          <a:prstGeom prst="rect">
            <a:avLst/>
          </a:prstGeom>
        </p:spPr>
      </p:pic>
      <p:sp>
        <p:nvSpPr>
          <p:cNvPr id="54" name="TextBox 53"/>
          <p:cNvSpPr txBox="1"/>
          <p:nvPr/>
        </p:nvSpPr>
        <p:spPr>
          <a:xfrm>
            <a:off x="398881" y="6328214"/>
            <a:ext cx="5134530" cy="173278"/>
          </a:xfrm>
          <a:prstGeom prst="rect">
            <a:avLst/>
          </a:prstGeom>
          <a:noFill/>
        </p:spPr>
        <p:txBody>
          <a:bodyPr wrap="none" lIns="0" rIns="0" tIns="0" bIns="0">
            <a:spAutoFit/>
          </a:bodyPr>
          <a:lstStyle/>
          <a:p>
            <a:r>
              <a:rPr sz="1011" b="0">
                <a:solidFill>
                  <a:srgbClr val="252423"/>
                </a:solidFill>
                <a:latin typeface="Segoe UI"/>
              </a:rPr>
              <a:t>against the global benchmark, while United States offers the largest absolute opportunity</a:t>
            </a:r>
          </a:p>
        </p:txBody>
      </p:sp>
      <p:pic>
        <p:nvPicPr>
          <p:cNvPr id="55" name="Picture 54" descr="lock.png"/>
          <p:cNvPicPr>
            <a:picLocks noChangeAspect="1"/>
          </p:cNvPicPr>
          <p:nvPr/>
        </p:nvPicPr>
        <p:blipFill>
          <a:blip r:embed="rId6"/>
          <a:stretch>
            <a:fillRect/>
          </a:stretch>
        </p:blipFill>
        <p:spPr>
          <a:xfrm>
            <a:off x="5479522" y="6319217"/>
            <a:ext cx="118403" cy="172222"/>
          </a:xfrm>
          <a:prstGeom prst="rect">
            <a:avLst/>
          </a:prstGeom>
        </p:spPr>
      </p:pic>
      <p:sp>
        <p:nvSpPr>
          <p:cNvPr id="56" name="TextBox 55"/>
          <p:cNvSpPr txBox="1"/>
          <p:nvPr/>
        </p:nvSpPr>
        <p:spPr>
          <a:xfrm>
            <a:off x="5633618" y="6328214"/>
            <a:ext cx="3278396" cy="173278"/>
          </a:xfrm>
          <a:prstGeom prst="rect">
            <a:avLst/>
          </a:prstGeom>
          <a:noFill/>
        </p:spPr>
        <p:txBody>
          <a:bodyPr wrap="none" lIns="0" rIns="0" tIns="0" bIns="0">
            <a:spAutoFit/>
          </a:bodyPr>
          <a:lstStyle/>
          <a:p>
            <a:r>
              <a:rPr sz="1011" b="0">
                <a:solidFill>
                  <a:srgbClr val="252423"/>
                </a:solidFill>
                <a:latin typeface="Segoe UI"/>
              </a:rPr>
              <a:t>US$ Mn of incremental market between 2026 and 2036 (</a:t>
            </a:r>
          </a:p>
        </p:txBody>
      </p:sp>
      <p:pic>
        <p:nvPicPr>
          <p:cNvPr id="57" name="Picture 56" descr="lock.png"/>
          <p:cNvPicPr>
            <a:picLocks noChangeAspect="1"/>
          </p:cNvPicPr>
          <p:nvPr/>
        </p:nvPicPr>
        <p:blipFill>
          <a:blip r:embed="rId6"/>
          <a:stretch>
            <a:fillRect/>
          </a:stretch>
        </p:blipFill>
        <p:spPr>
          <a:xfrm>
            <a:off x="8858126" y="6319217"/>
            <a:ext cx="118403" cy="172222"/>
          </a:xfrm>
          <a:prstGeom prst="rect">
            <a:avLst/>
          </a:prstGeom>
        </p:spPr>
      </p:pic>
      <p:sp>
        <p:nvSpPr>
          <p:cNvPr id="58" name="TextBox 57"/>
          <p:cNvSpPr txBox="1"/>
          <p:nvPr/>
        </p:nvSpPr>
        <p:spPr>
          <a:xfrm>
            <a:off x="9012222" y="6328214"/>
            <a:ext cx="1471800" cy="173278"/>
          </a:xfrm>
          <a:prstGeom prst="rect">
            <a:avLst/>
          </a:prstGeom>
          <a:noFill/>
        </p:spPr>
        <p:txBody>
          <a:bodyPr wrap="none" lIns="0" rIns="0" tIns="0" bIns="0">
            <a:spAutoFit/>
          </a:bodyPr>
          <a:lstStyle/>
          <a:p>
            <a:r>
              <a:rPr sz="1011" b="0">
                <a:solidFill>
                  <a:srgbClr val="252423"/>
                </a:solidFill>
                <a:latin typeface="Segoe UI"/>
              </a:rPr>
              <a:t>of the global increment).</a:t>
            </a:r>
          </a:p>
        </p:txBody>
      </p:sp>
      <p:sp>
        <p:nvSpPr>
          <p:cNvPr id="59" name="lockshield_10"/>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8"/>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Summary Country Indices (Value)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98107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057275"/>
          <a:ext cx="11887201" cy="1485896"/>
        </p:xfrm>
        <a:graphic>
          <a:graphicData uri="http://schemas.openxmlformats.org/drawingml/2006/table">
            <a:tbl>
              <a:tblPr>
                <a:tableStyleId>{5C22544A-7EE6-4342-B048-85BDC9FD1C3A}</a:tableStyleId>
              </a:tblPr>
              <a:tblGrid>
                <a:gridCol w="1924228"/>
                <a:gridCol w="3320991"/>
                <a:gridCol w="3320991"/>
                <a:gridCol w="3320991"/>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Poland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Russia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0" name="TextBox 9"/>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1" name="Rectangle 10"/>
          <p:cNvSpPr/>
          <p:nvPr/>
        </p:nvSpPr>
        <p:spPr>
          <a:xfrm>
            <a:off x="142875" y="290512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3987940"/>
                <a:gridCol w="2633087"/>
                <a:gridCol w="2633087"/>
                <a:gridCol w="2633087"/>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Kingdom of Saudi Arabia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Russia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4"/>
          <a:stretch>
            <a:fillRect/>
          </a:stretch>
        </p:blipFill>
        <p:spPr>
          <a:xfrm>
            <a:off x="6871424"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7903280" y="3580638"/>
            <a:ext cx="366712" cy="5334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Overview (1/4)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market size, competitive landscape and the drivers, restraints and trends shaping demand</a:t>
            </a:r>
          </a:p>
        </p:txBody>
      </p:sp>
      <p:sp>
        <p:nvSpPr>
          <p:cNvPr id="8" name="Rectangle 7"/>
          <p:cNvSpPr/>
          <p:nvPr/>
        </p:nvSpPr>
        <p:spPr>
          <a:xfrm>
            <a:off x="142875" y="981075"/>
            <a:ext cx="11906250" cy="1809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Market Overview</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3239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2" name="Rectangle 11"/>
          <p:cNvSpPr/>
          <p:nvPr/>
        </p:nvSpPr>
        <p:spPr>
          <a:xfrm>
            <a:off x="142875" y="2924175"/>
            <a:ext cx="11906250" cy="1504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009900"/>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Competitive Landscape</a:t>
            </a:r>
          </a:p>
        </p:txBody>
      </p:sp>
      <p:sp>
        <p:nvSpPr>
          <p:cNvPr id="14" name="Rectangle 13"/>
          <p:cNvSpPr/>
          <p:nvPr/>
        </p:nvSpPr>
        <p:spPr>
          <a:xfrm>
            <a:off x="276225" y="32480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33750"/>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Rectangle 15"/>
          <p:cNvSpPr/>
          <p:nvPr/>
        </p:nvSpPr>
        <p:spPr>
          <a:xfrm>
            <a:off x="142875" y="4562475"/>
            <a:ext cx="39433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648200"/>
            <a:ext cx="3676650" cy="209550"/>
          </a:xfrm>
          <a:prstGeom prst="rect">
            <a:avLst/>
          </a:prstGeom>
          <a:noFill/>
        </p:spPr>
        <p:txBody>
          <a:bodyPr wrap="square" lIns="0" rIns="19050" tIns="9525" bIns="9525">
            <a:spAutoFit/>
          </a:bodyPr>
          <a:lstStyle/>
          <a:p>
            <a:pPr algn="l"/>
            <a:r>
              <a:rPr sz="1300" b="1">
                <a:solidFill>
                  <a:srgbClr val="007BA5"/>
                </a:solidFill>
                <a:latin typeface="Segoe UI"/>
              </a:rPr>
              <a:t>Drivers</a:t>
            </a:r>
          </a:p>
        </p:txBody>
      </p:sp>
      <p:sp>
        <p:nvSpPr>
          <p:cNvPr id="18" name="Rectangle 17"/>
          <p:cNvSpPr/>
          <p:nvPr/>
        </p:nvSpPr>
        <p:spPr>
          <a:xfrm>
            <a:off x="276225" y="4886325"/>
            <a:ext cx="3676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972050"/>
            <a:ext cx="36766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4238625" y="4562475"/>
            <a:ext cx="3819525"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1975" y="4648200"/>
            <a:ext cx="3552825" cy="209550"/>
          </a:xfrm>
          <a:prstGeom prst="rect">
            <a:avLst/>
          </a:prstGeom>
          <a:noFill/>
        </p:spPr>
        <p:txBody>
          <a:bodyPr wrap="square" lIns="0" rIns="19050" tIns="9525" bIns="9525">
            <a:spAutoFit/>
          </a:bodyPr>
          <a:lstStyle/>
          <a:p>
            <a:pPr algn="l"/>
            <a:r>
              <a:rPr sz="1300" b="1">
                <a:solidFill>
                  <a:srgbClr val="007BA5"/>
                </a:solidFill>
                <a:latin typeface="Segoe UI"/>
              </a:rPr>
              <a:t>Restraints</a:t>
            </a:r>
          </a:p>
        </p:txBody>
      </p:sp>
      <p:sp>
        <p:nvSpPr>
          <p:cNvPr id="22" name="Rectangle 21"/>
          <p:cNvSpPr/>
          <p:nvPr/>
        </p:nvSpPr>
        <p:spPr>
          <a:xfrm>
            <a:off x="4371975" y="488632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8210550" y="4562475"/>
            <a:ext cx="3819525"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3900" y="4648200"/>
            <a:ext cx="3552825" cy="209550"/>
          </a:xfrm>
          <a:prstGeom prst="rect">
            <a:avLst/>
          </a:prstGeom>
          <a:noFill/>
        </p:spPr>
        <p:txBody>
          <a:bodyPr wrap="square" lIns="0" rIns="19050" tIns="9525" bIns="9525">
            <a:spAutoFit/>
          </a:bodyPr>
          <a:lstStyle/>
          <a:p>
            <a:pPr algn="l"/>
            <a:r>
              <a:rPr sz="1300" b="1">
                <a:solidFill>
                  <a:srgbClr val="007BA5"/>
                </a:solidFill>
                <a:latin typeface="Segoe UI"/>
              </a:rPr>
              <a:t>Trends</a:t>
            </a:r>
          </a:p>
        </p:txBody>
      </p:sp>
      <p:sp>
        <p:nvSpPr>
          <p:cNvPr id="26" name="Rectangle 25"/>
          <p:cNvSpPr/>
          <p:nvPr/>
        </p:nvSpPr>
        <p:spPr>
          <a:xfrm>
            <a:off x="8343900" y="488632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Mix shifting toward '1,000 Wh to Below 1,500 Wh' and higher-growth tiers.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South Asia &amp; Pacific outpacing the global average.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broadening across 3 energy storage capacity categories.</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083453" cy="194310"/>
          </a:xfrm>
          <a:prstGeom prst="rect">
            <a:avLst/>
          </a:prstGeom>
          <a:noFill/>
        </p:spPr>
        <p:txBody>
          <a:bodyPr wrap="none" lIns="0" rIns="0" tIns="0" bIns="0">
            <a:spAutoFit/>
          </a:bodyPr>
          <a:lstStyle/>
          <a:p>
            <a:r>
              <a:rPr sz="1150" b="0">
                <a:solidFill>
                  <a:srgbClr val="252423"/>
                </a:solidFill>
                <a:latin typeface="Segoe UI"/>
              </a:rPr>
              <a:t>Global lithium polymer portable energy storage market is expected to witness</a:t>
            </a:r>
          </a:p>
        </p:txBody>
      </p:sp>
      <p:pic>
        <p:nvPicPr>
          <p:cNvPr id="30" name="Picture 29" descr="lock.png"/>
          <p:cNvPicPr>
            <a:picLocks noChangeAspect="1"/>
          </p:cNvPicPr>
          <p:nvPr/>
        </p:nvPicPr>
        <p:blipFill>
          <a:blip r:embed="rId4"/>
          <a:stretch>
            <a:fillRect/>
          </a:stretch>
        </p:blipFill>
        <p:spPr>
          <a:xfrm>
            <a:off x="5308832" y="1389951"/>
            <a:ext cx="134549" cy="195707"/>
          </a:xfrm>
          <a:prstGeom prst="rect">
            <a:avLst/>
          </a:prstGeom>
        </p:spPr>
      </p:pic>
      <p:sp>
        <p:nvSpPr>
          <p:cNvPr id="31" name="TextBox 30"/>
          <p:cNvSpPr txBox="1"/>
          <p:nvPr/>
        </p:nvSpPr>
        <p:spPr>
          <a:xfrm>
            <a:off x="5483941" y="1400175"/>
            <a:ext cx="5905515" cy="194310"/>
          </a:xfrm>
          <a:prstGeom prst="rect">
            <a:avLst/>
          </a:prstGeom>
          <a:noFill/>
        </p:spPr>
        <p:txBody>
          <a:bodyPr wrap="none" lIns="0" rIns="0" tIns="0" bIns="0">
            <a:spAutoFit/>
          </a:bodyPr>
          <a:lstStyle/>
          <a:p>
            <a:r>
              <a:rPr sz="1150" b="0">
                <a:solidFill>
                  <a:srgbClr val="252423"/>
                </a:solidFill>
                <a:latin typeface="Segoe UI"/>
              </a:rPr>
              <a:t>X increase in revenue by 2036 end. Global lithium polymer portable energy storage market</a:t>
            </a:r>
          </a:p>
        </p:txBody>
      </p:sp>
      <p:sp>
        <p:nvSpPr>
          <p:cNvPr id="32" name="TextBox 31"/>
          <p:cNvSpPr txBox="1"/>
          <p:nvPr/>
        </p:nvSpPr>
        <p:spPr>
          <a:xfrm>
            <a:off x="276225" y="1575435"/>
            <a:ext cx="1267687" cy="194310"/>
          </a:xfrm>
          <a:prstGeom prst="rect">
            <a:avLst/>
          </a:prstGeom>
          <a:noFill/>
        </p:spPr>
        <p:txBody>
          <a:bodyPr wrap="none" lIns="0" rIns="0" tIns="0" bIns="0">
            <a:spAutoFit/>
          </a:bodyPr>
          <a:lstStyle/>
          <a:p>
            <a:r>
              <a:rPr sz="1150" b="0">
                <a:solidFill>
                  <a:srgbClr val="252423"/>
                </a:solidFill>
                <a:latin typeface="Segoe UI"/>
              </a:rPr>
              <a:t>accounted for US$</a:t>
            </a:r>
          </a:p>
        </p:txBody>
      </p:sp>
      <p:pic>
        <p:nvPicPr>
          <p:cNvPr id="33" name="Picture 32" descr="lock.png"/>
          <p:cNvPicPr>
            <a:picLocks noChangeAspect="1"/>
          </p:cNvPicPr>
          <p:nvPr/>
        </p:nvPicPr>
        <p:blipFill>
          <a:blip r:embed="rId4"/>
          <a:stretch>
            <a:fillRect/>
          </a:stretch>
        </p:blipFill>
        <p:spPr>
          <a:xfrm>
            <a:off x="1493066" y="1565211"/>
            <a:ext cx="134549" cy="195707"/>
          </a:xfrm>
          <a:prstGeom prst="rect">
            <a:avLst/>
          </a:prstGeom>
        </p:spPr>
      </p:pic>
      <p:sp>
        <p:nvSpPr>
          <p:cNvPr id="34" name="TextBox 33"/>
          <p:cNvSpPr txBox="1"/>
          <p:nvPr/>
        </p:nvSpPr>
        <p:spPr>
          <a:xfrm>
            <a:off x="1668175" y="1575435"/>
            <a:ext cx="5697542" cy="194310"/>
          </a:xfrm>
          <a:prstGeom prst="rect">
            <a:avLst/>
          </a:prstGeom>
          <a:noFill/>
        </p:spPr>
        <p:txBody>
          <a:bodyPr wrap="none" lIns="0" rIns="0" tIns="0" bIns="0">
            <a:spAutoFit/>
          </a:bodyPr>
          <a:lstStyle/>
          <a:p>
            <a:r>
              <a:rPr sz="1150" b="0">
                <a:solidFill>
                  <a:srgbClr val="252423"/>
                </a:solidFill>
                <a:latin typeface="Segoe UI"/>
              </a:rPr>
              <a:t>Mn in 2025, which is expected to increase to US$ 1,950 Mn in 2036 at a CAGR of 11.6%.</a:t>
            </a:r>
          </a:p>
        </p:txBody>
      </p:sp>
      <p:sp>
        <p:nvSpPr>
          <p:cNvPr id="35" name="TextBox 34"/>
          <p:cNvSpPr txBox="1"/>
          <p:nvPr/>
        </p:nvSpPr>
        <p:spPr>
          <a:xfrm>
            <a:off x="276225" y="1803273"/>
            <a:ext cx="11070473" cy="194310"/>
          </a:xfrm>
          <a:prstGeom prst="rect">
            <a:avLst/>
          </a:prstGeom>
          <a:noFill/>
        </p:spPr>
        <p:txBody>
          <a:bodyPr wrap="none" lIns="0" rIns="0" tIns="0" bIns="0">
            <a:spAutoFit/>
          </a:bodyPr>
          <a:lstStyle/>
          <a:p>
            <a:r>
              <a:rPr sz="1150" b="0">
                <a:solidFill>
                  <a:srgbClr val="252423"/>
                </a:solidFill>
                <a:latin typeface="Segoe UI"/>
              </a:rPr>
              <a:t>The global lithium polymer portable energy storage market has been analysed on the basis of energy storage capacity, battery chemistry, battery configuration and system</a:t>
            </a:r>
          </a:p>
        </p:txBody>
      </p:sp>
      <p:sp>
        <p:nvSpPr>
          <p:cNvPr id="36" name="TextBox 35"/>
          <p:cNvSpPr txBox="1"/>
          <p:nvPr/>
        </p:nvSpPr>
        <p:spPr>
          <a:xfrm>
            <a:off x="276225" y="1978533"/>
            <a:ext cx="11620500" cy="194310"/>
          </a:xfrm>
          <a:prstGeom prst="rect">
            <a:avLst/>
          </a:prstGeom>
          <a:noFill/>
        </p:spPr>
        <p:txBody>
          <a:bodyPr wrap="none" lIns="0" rIns="0" tIns="0" bIns="0">
            <a:spAutoFit/>
          </a:bodyPr>
          <a:lstStyle/>
          <a:p>
            <a:r>
              <a:rPr sz="1150" b="0">
                <a:solidFill>
                  <a:srgbClr val="252423"/>
                </a:solidFill>
                <a:latin typeface="Segoe UI"/>
              </a:rPr>
              <a:t>application across the globe. North America is expected to remain the largest market for lithium polymer portable energy storage, while demand in South Asia &amp; Pacific is projected</a:t>
            </a:r>
          </a:p>
        </p:txBody>
      </p:sp>
      <p:sp>
        <p:nvSpPr>
          <p:cNvPr id="37" name="TextBox 36"/>
          <p:cNvSpPr txBox="1"/>
          <p:nvPr/>
        </p:nvSpPr>
        <p:spPr>
          <a:xfrm>
            <a:off x="276225" y="2153793"/>
            <a:ext cx="2287653" cy="194310"/>
          </a:xfrm>
          <a:prstGeom prst="rect">
            <a:avLst/>
          </a:prstGeom>
          <a:noFill/>
        </p:spPr>
        <p:txBody>
          <a:bodyPr wrap="none" lIns="0" rIns="0" tIns="0" bIns="0">
            <a:spAutoFit/>
          </a:bodyPr>
          <a:lstStyle/>
          <a:p>
            <a:r>
              <a:rPr sz="1150" b="0">
                <a:solidFill>
                  <a:srgbClr val="252423"/>
                </a:solidFill>
                <a:latin typeface="Segoe UI"/>
              </a:rPr>
              <a:t>to increase at the highest CAGR of</a:t>
            </a:r>
          </a:p>
        </p:txBody>
      </p:sp>
      <p:pic>
        <p:nvPicPr>
          <p:cNvPr id="38" name="Picture 37" descr="lock.png"/>
          <p:cNvPicPr>
            <a:picLocks noChangeAspect="1"/>
          </p:cNvPicPr>
          <p:nvPr/>
        </p:nvPicPr>
        <p:blipFill>
          <a:blip r:embed="rId4"/>
          <a:stretch>
            <a:fillRect/>
          </a:stretch>
        </p:blipFill>
        <p:spPr>
          <a:xfrm>
            <a:off x="2513032" y="2143569"/>
            <a:ext cx="134549" cy="195707"/>
          </a:xfrm>
          <a:prstGeom prst="rect">
            <a:avLst/>
          </a:prstGeom>
        </p:spPr>
      </p:pic>
      <p:sp>
        <p:nvSpPr>
          <p:cNvPr id="39" name="TextBox 38"/>
          <p:cNvSpPr txBox="1"/>
          <p:nvPr/>
        </p:nvSpPr>
        <p:spPr>
          <a:xfrm>
            <a:off x="2688141" y="2153793"/>
            <a:ext cx="2106860" cy="194310"/>
          </a:xfrm>
          <a:prstGeom prst="rect">
            <a:avLst/>
          </a:prstGeom>
          <a:noFill/>
        </p:spPr>
        <p:txBody>
          <a:bodyPr wrap="none" lIns="0" rIns="0" tIns="0" bIns="0">
            <a:spAutoFit/>
          </a:bodyPr>
          <a:lstStyle/>
          <a:p>
            <a:r>
              <a:rPr sz="1150" b="0">
                <a:solidFill>
                  <a:srgbClr val="252423"/>
                </a:solidFill>
                <a:latin typeface="Segoe UI"/>
              </a:rPr>
              <a:t>throughout the forecast period.</a:t>
            </a:r>
          </a:p>
        </p:txBody>
      </p:sp>
      <p:sp>
        <p:nvSpPr>
          <p:cNvPr id="40" name="TextBox 39"/>
          <p:cNvSpPr txBox="1"/>
          <p:nvPr/>
        </p:nvSpPr>
        <p:spPr>
          <a:xfrm>
            <a:off x="276225" y="3343275"/>
            <a:ext cx="7492984" cy="194310"/>
          </a:xfrm>
          <a:prstGeom prst="rect">
            <a:avLst/>
          </a:prstGeom>
          <a:noFill/>
        </p:spPr>
        <p:txBody>
          <a:bodyPr wrap="none" lIns="0" rIns="0" tIns="0" bIns="0">
            <a:spAutoFit/>
          </a:bodyPr>
          <a:lstStyle/>
          <a:p>
            <a:r>
              <a:rPr sz="1150" b="0">
                <a:solidFill>
                  <a:srgbClr val="252423"/>
                </a:solidFill>
                <a:latin typeface="Segoe UI"/>
              </a:rPr>
              <a:t>▪ The market is moderately fragmented: the leading energy storage capacity category '1,500 Wh to 2,000 Wh' holds</a:t>
            </a:r>
          </a:p>
        </p:txBody>
      </p:sp>
      <p:pic>
        <p:nvPicPr>
          <p:cNvPr id="41" name="Picture 40" descr="lock.png"/>
          <p:cNvPicPr>
            <a:picLocks noChangeAspect="1"/>
          </p:cNvPicPr>
          <p:nvPr/>
        </p:nvPicPr>
        <p:blipFill>
          <a:blip r:embed="rId4"/>
          <a:stretch>
            <a:fillRect/>
          </a:stretch>
        </p:blipFill>
        <p:spPr>
          <a:xfrm>
            <a:off x="7718363" y="3333051"/>
            <a:ext cx="134549" cy="195707"/>
          </a:xfrm>
          <a:prstGeom prst="rect">
            <a:avLst/>
          </a:prstGeom>
        </p:spPr>
      </p:pic>
      <p:sp>
        <p:nvSpPr>
          <p:cNvPr id="42" name="TextBox 41"/>
          <p:cNvSpPr txBox="1"/>
          <p:nvPr/>
        </p:nvSpPr>
        <p:spPr>
          <a:xfrm>
            <a:off x="7893472" y="3343275"/>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43" name="TextBox 42"/>
          <p:cNvSpPr txBox="1"/>
          <p:nvPr/>
        </p:nvSpPr>
        <p:spPr>
          <a:xfrm>
            <a:off x="276225" y="3571112"/>
            <a:ext cx="6040128" cy="194310"/>
          </a:xfrm>
          <a:prstGeom prst="rect">
            <a:avLst/>
          </a:prstGeom>
          <a:noFill/>
        </p:spPr>
        <p:txBody>
          <a:bodyPr wrap="none" lIns="0" rIns="0" tIns="0" bIns="0">
            <a:spAutoFit/>
          </a:bodyPr>
          <a:lstStyle/>
          <a:p>
            <a:r>
              <a:rPr sz="1150" b="0">
                <a:solidFill>
                  <a:srgbClr val="252423"/>
                </a:solidFill>
                <a:latin typeface="Segoe UI"/>
              </a:rPr>
              <a:t>▪ Demand spans 7 regions and 7 segmentation lenses (3 energy storage capacity categories).</a:t>
            </a:r>
          </a:p>
        </p:txBody>
      </p:sp>
      <p:sp>
        <p:nvSpPr>
          <p:cNvPr id="44" name="TextBox 43"/>
          <p:cNvSpPr txBox="1"/>
          <p:nvPr/>
        </p:nvSpPr>
        <p:spPr>
          <a:xfrm>
            <a:off x="276225" y="3798950"/>
            <a:ext cx="3191417" cy="194310"/>
          </a:xfrm>
          <a:prstGeom prst="rect">
            <a:avLst/>
          </a:prstGeom>
          <a:noFill/>
        </p:spPr>
        <p:txBody>
          <a:bodyPr wrap="none" lIns="0" rIns="0" tIns="0" bIns="0">
            <a:spAutoFit/>
          </a:bodyPr>
          <a:lstStyle/>
          <a:p>
            <a:r>
              <a:rPr sz="1150" b="0">
                <a:solidFill>
                  <a:srgbClr val="252423"/>
                </a:solidFill>
                <a:latin typeface="Segoe UI"/>
              </a:rPr>
              <a:t>▪ North America is the largest regional market at</a:t>
            </a:r>
          </a:p>
        </p:txBody>
      </p:sp>
      <p:pic>
        <p:nvPicPr>
          <p:cNvPr id="45" name="Picture 44" descr="lock.png"/>
          <p:cNvPicPr>
            <a:picLocks noChangeAspect="1"/>
          </p:cNvPicPr>
          <p:nvPr/>
        </p:nvPicPr>
        <p:blipFill>
          <a:blip r:embed="rId4"/>
          <a:stretch>
            <a:fillRect/>
          </a:stretch>
        </p:blipFill>
        <p:spPr>
          <a:xfrm>
            <a:off x="3416796" y="3788727"/>
            <a:ext cx="134549" cy="195707"/>
          </a:xfrm>
          <a:prstGeom prst="rect">
            <a:avLst/>
          </a:prstGeom>
        </p:spPr>
      </p:pic>
      <p:sp>
        <p:nvSpPr>
          <p:cNvPr id="46" name="TextBox 45"/>
          <p:cNvSpPr txBox="1"/>
          <p:nvPr/>
        </p:nvSpPr>
        <p:spPr>
          <a:xfrm>
            <a:off x="3591906" y="3798950"/>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47" name="TextBox 46"/>
          <p:cNvSpPr txBox="1"/>
          <p:nvPr/>
        </p:nvSpPr>
        <p:spPr>
          <a:xfrm>
            <a:off x="276225" y="4981575"/>
            <a:ext cx="3577589" cy="194310"/>
          </a:xfrm>
          <a:prstGeom prst="rect">
            <a:avLst/>
          </a:prstGeom>
          <a:noFill/>
        </p:spPr>
        <p:txBody>
          <a:bodyPr wrap="none" lIns="0" rIns="0" tIns="0" bIns="0">
            <a:spAutoFit/>
          </a:bodyPr>
          <a:lstStyle/>
          <a:p>
            <a:r>
              <a:rPr sz="1150" b="0">
                <a:solidFill>
                  <a:srgbClr val="252423"/>
                </a:solidFill>
                <a:latin typeface="Segoe UI"/>
              </a:rPr>
              <a:t>▪ Accelerating uptake of '1,000 Wh to Below 1,500 Wh'</a:t>
            </a:r>
          </a:p>
        </p:txBody>
      </p:sp>
      <p:sp>
        <p:nvSpPr>
          <p:cNvPr id="48" name="TextBox 47"/>
          <p:cNvSpPr txBox="1"/>
          <p:nvPr/>
        </p:nvSpPr>
        <p:spPr>
          <a:xfrm>
            <a:off x="276225" y="515683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49" name="Picture 48" descr="lock.png"/>
          <p:cNvPicPr>
            <a:picLocks noChangeAspect="1"/>
          </p:cNvPicPr>
          <p:nvPr/>
        </p:nvPicPr>
        <p:blipFill>
          <a:blip r:embed="rId4"/>
          <a:stretch>
            <a:fillRect/>
          </a:stretch>
        </p:blipFill>
        <p:spPr>
          <a:xfrm>
            <a:off x="345793" y="5146611"/>
            <a:ext cx="134549" cy="195707"/>
          </a:xfrm>
          <a:prstGeom prst="rect">
            <a:avLst/>
          </a:prstGeom>
        </p:spPr>
      </p:pic>
      <p:sp>
        <p:nvSpPr>
          <p:cNvPr id="50" name="TextBox 49"/>
          <p:cNvSpPr txBox="1"/>
          <p:nvPr/>
        </p:nvSpPr>
        <p:spPr>
          <a:xfrm>
            <a:off x="520902" y="5156835"/>
            <a:ext cx="524017"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1" name="TextBox 50"/>
          <p:cNvSpPr txBox="1"/>
          <p:nvPr/>
        </p:nvSpPr>
        <p:spPr>
          <a:xfrm>
            <a:off x="276225" y="5384672"/>
            <a:ext cx="3158056" cy="194310"/>
          </a:xfrm>
          <a:prstGeom prst="rect">
            <a:avLst/>
          </a:prstGeom>
          <a:noFill/>
        </p:spPr>
        <p:txBody>
          <a:bodyPr wrap="none" lIns="0" rIns="0" tIns="0" bIns="0">
            <a:spAutoFit/>
          </a:bodyPr>
          <a:lstStyle/>
          <a:p>
            <a:r>
              <a:rPr sz="1150" b="0">
                <a:solidFill>
                  <a:srgbClr val="252423"/>
                </a:solidFill>
                <a:latin typeface="Segoe UI"/>
              </a:rPr>
              <a:t>▪ Fast-growing demand in South Asia &amp; Pacific (</a:t>
            </a:r>
          </a:p>
        </p:txBody>
      </p:sp>
      <p:pic>
        <p:nvPicPr>
          <p:cNvPr id="52" name="Picture 51" descr="lock.png"/>
          <p:cNvPicPr>
            <a:picLocks noChangeAspect="1"/>
          </p:cNvPicPr>
          <p:nvPr/>
        </p:nvPicPr>
        <p:blipFill>
          <a:blip r:embed="rId4"/>
          <a:stretch>
            <a:fillRect/>
          </a:stretch>
        </p:blipFill>
        <p:spPr>
          <a:xfrm>
            <a:off x="3383435" y="5374449"/>
            <a:ext cx="134549" cy="195707"/>
          </a:xfrm>
          <a:prstGeom prst="rect">
            <a:avLst/>
          </a:prstGeom>
        </p:spPr>
      </p:pic>
      <p:sp>
        <p:nvSpPr>
          <p:cNvPr id="53" name="TextBox 52"/>
          <p:cNvSpPr txBox="1"/>
          <p:nvPr/>
        </p:nvSpPr>
        <p:spPr>
          <a:xfrm>
            <a:off x="3558544" y="5384672"/>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4" name="TextBox 53"/>
          <p:cNvSpPr txBox="1"/>
          <p:nvPr/>
        </p:nvSpPr>
        <p:spPr>
          <a:xfrm>
            <a:off x="276225" y="5612510"/>
            <a:ext cx="3540390" cy="194310"/>
          </a:xfrm>
          <a:prstGeom prst="rect">
            <a:avLst/>
          </a:prstGeom>
          <a:noFill/>
        </p:spPr>
        <p:txBody>
          <a:bodyPr wrap="none" lIns="0" rIns="0" tIns="0" bIns="0">
            <a:spAutoFit/>
          </a:bodyPr>
          <a:lstStyle/>
          <a:p>
            <a:r>
              <a:rPr sz="1150" b="0">
                <a:solidFill>
                  <a:srgbClr val="252423"/>
                </a:solidFill>
                <a:latin typeface="Segoe UI"/>
              </a:rPr>
              <a:t>▪ Momentum in Outdoor &amp; Recreational Power within</a:t>
            </a:r>
          </a:p>
        </p:txBody>
      </p:sp>
      <p:sp>
        <p:nvSpPr>
          <p:cNvPr id="55" name="TextBox 54"/>
          <p:cNvSpPr txBox="1"/>
          <p:nvPr/>
        </p:nvSpPr>
        <p:spPr>
          <a:xfrm>
            <a:off x="276225" y="5787770"/>
            <a:ext cx="1358968" cy="194310"/>
          </a:xfrm>
          <a:prstGeom prst="rect">
            <a:avLst/>
          </a:prstGeom>
          <a:noFill/>
        </p:spPr>
        <p:txBody>
          <a:bodyPr wrap="none" lIns="0" rIns="0" tIns="0" bIns="0">
            <a:spAutoFit/>
          </a:bodyPr>
          <a:lstStyle/>
          <a:p>
            <a:r>
              <a:rPr sz="1150" b="0">
                <a:solidFill>
                  <a:srgbClr val="252423"/>
                </a:solidFill>
                <a:latin typeface="Segoe UI"/>
              </a:rPr>
              <a:t>system application (</a:t>
            </a:r>
          </a:p>
        </p:txBody>
      </p:sp>
      <p:pic>
        <p:nvPicPr>
          <p:cNvPr id="56" name="Picture 55" descr="lock.png"/>
          <p:cNvPicPr>
            <a:picLocks noChangeAspect="1"/>
          </p:cNvPicPr>
          <p:nvPr/>
        </p:nvPicPr>
        <p:blipFill>
          <a:blip r:embed="rId4"/>
          <a:stretch>
            <a:fillRect/>
          </a:stretch>
        </p:blipFill>
        <p:spPr>
          <a:xfrm>
            <a:off x="1584347" y="5777547"/>
            <a:ext cx="134549" cy="195707"/>
          </a:xfrm>
          <a:prstGeom prst="rect">
            <a:avLst/>
          </a:prstGeom>
        </p:spPr>
      </p:pic>
      <p:sp>
        <p:nvSpPr>
          <p:cNvPr id="57" name="TextBox 56"/>
          <p:cNvSpPr txBox="1"/>
          <p:nvPr/>
        </p:nvSpPr>
        <p:spPr>
          <a:xfrm>
            <a:off x="1759457" y="578777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8" name="TextBox 57"/>
          <p:cNvSpPr txBox="1"/>
          <p:nvPr/>
        </p:nvSpPr>
        <p:spPr>
          <a:xfrm>
            <a:off x="4371975" y="4981575"/>
            <a:ext cx="3401378" cy="194310"/>
          </a:xfrm>
          <a:prstGeom prst="rect">
            <a:avLst/>
          </a:prstGeom>
          <a:noFill/>
        </p:spPr>
        <p:txBody>
          <a:bodyPr wrap="none" lIns="0" rIns="0" tIns="0" bIns="0">
            <a:spAutoFit/>
          </a:bodyPr>
          <a:lstStyle/>
          <a:p>
            <a:r>
              <a:rPr sz="1150" b="0">
                <a:solidFill>
                  <a:srgbClr val="252423"/>
                </a:solidFill>
                <a:latin typeface="Segoe UI"/>
              </a:rPr>
              <a:t>▪ Slower momentum in '500 Wh to Below 1,000 Wh'</a:t>
            </a:r>
          </a:p>
        </p:txBody>
      </p:sp>
      <p:sp>
        <p:nvSpPr>
          <p:cNvPr id="59" name="TextBox 58"/>
          <p:cNvSpPr txBox="1"/>
          <p:nvPr/>
        </p:nvSpPr>
        <p:spPr>
          <a:xfrm>
            <a:off x="4371975" y="515683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60" name="Picture 59" descr="lock.png"/>
          <p:cNvPicPr>
            <a:picLocks noChangeAspect="1"/>
          </p:cNvPicPr>
          <p:nvPr/>
        </p:nvPicPr>
        <p:blipFill>
          <a:blip r:embed="rId4"/>
          <a:stretch>
            <a:fillRect/>
          </a:stretch>
        </p:blipFill>
        <p:spPr>
          <a:xfrm>
            <a:off x="4441543" y="5146611"/>
            <a:ext cx="134549" cy="195707"/>
          </a:xfrm>
          <a:prstGeom prst="rect">
            <a:avLst/>
          </a:prstGeom>
        </p:spPr>
      </p:pic>
      <p:sp>
        <p:nvSpPr>
          <p:cNvPr id="61" name="TextBox 60"/>
          <p:cNvSpPr txBox="1"/>
          <p:nvPr/>
        </p:nvSpPr>
        <p:spPr>
          <a:xfrm>
            <a:off x="4616652" y="515683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2" name="TextBox 61"/>
          <p:cNvSpPr txBox="1"/>
          <p:nvPr/>
        </p:nvSpPr>
        <p:spPr>
          <a:xfrm>
            <a:off x="4371975" y="5384672"/>
            <a:ext cx="3533775" cy="194310"/>
          </a:xfrm>
          <a:prstGeom prst="rect">
            <a:avLst/>
          </a:prstGeom>
          <a:noFill/>
        </p:spPr>
        <p:txBody>
          <a:bodyPr wrap="none" lIns="0" rIns="0" tIns="0" bIns="0">
            <a:spAutoFit/>
          </a:bodyPr>
          <a:lstStyle/>
          <a:p>
            <a:r>
              <a:rPr sz="1150" b="0">
                <a:solidFill>
                  <a:srgbClr val="252423"/>
                </a:solidFill>
                <a:latin typeface="Segoe UI"/>
              </a:rPr>
              <a:t>▪ Maturing demand in established categories caps the</a:t>
            </a:r>
          </a:p>
        </p:txBody>
      </p:sp>
      <p:sp>
        <p:nvSpPr>
          <p:cNvPr id="63" name="TextBox 62"/>
          <p:cNvSpPr txBox="1"/>
          <p:nvPr/>
        </p:nvSpPr>
        <p:spPr>
          <a:xfrm>
            <a:off x="4371975" y="5559932"/>
            <a:ext cx="605345" cy="194310"/>
          </a:xfrm>
          <a:prstGeom prst="rect">
            <a:avLst/>
          </a:prstGeom>
          <a:noFill/>
        </p:spPr>
        <p:txBody>
          <a:bodyPr wrap="none" lIns="0" rIns="0" tIns="0" bIns="0">
            <a:spAutoFit/>
          </a:bodyPr>
          <a:lstStyle/>
          <a:p>
            <a:r>
              <a:rPr sz="1150" b="0">
                <a:solidFill>
                  <a:srgbClr val="252423"/>
                </a:solidFill>
                <a:latin typeface="Segoe UI"/>
              </a:rPr>
              <a:t>blended</a:t>
            </a:r>
          </a:p>
        </p:txBody>
      </p:sp>
      <p:pic>
        <p:nvPicPr>
          <p:cNvPr id="64" name="Picture 63" descr="lock.png"/>
          <p:cNvPicPr>
            <a:picLocks noChangeAspect="1"/>
          </p:cNvPicPr>
          <p:nvPr/>
        </p:nvPicPr>
        <p:blipFill>
          <a:blip r:embed="rId4"/>
          <a:stretch>
            <a:fillRect/>
          </a:stretch>
        </p:blipFill>
        <p:spPr>
          <a:xfrm>
            <a:off x="4926474" y="5549709"/>
            <a:ext cx="134549" cy="195707"/>
          </a:xfrm>
          <a:prstGeom prst="rect">
            <a:avLst/>
          </a:prstGeom>
        </p:spPr>
      </p:pic>
      <p:sp>
        <p:nvSpPr>
          <p:cNvPr id="65" name="TextBox 64"/>
          <p:cNvSpPr txBox="1"/>
          <p:nvPr/>
        </p:nvSpPr>
        <p:spPr>
          <a:xfrm>
            <a:off x="5101584" y="5559932"/>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6" name="TextBox 65"/>
          <p:cNvSpPr txBox="1"/>
          <p:nvPr/>
        </p:nvSpPr>
        <p:spPr>
          <a:xfrm>
            <a:off x="4371975" y="5787770"/>
            <a:ext cx="3533775" cy="194310"/>
          </a:xfrm>
          <a:prstGeom prst="rect">
            <a:avLst/>
          </a:prstGeom>
          <a:noFill/>
        </p:spPr>
        <p:txBody>
          <a:bodyPr wrap="none" lIns="0" rIns="0" tIns="0" bIns="0">
            <a:spAutoFit/>
          </a:bodyPr>
          <a:lstStyle/>
          <a:p>
            <a:r>
              <a:rPr sz="1150" b="0">
                <a:solidFill>
                  <a:srgbClr val="252423"/>
                </a:solidFill>
                <a:latin typeface="Segoe UI"/>
              </a:rPr>
              <a:t>▪ Value concentration in '1,500 Wh to 2,000 Wh' raises</a:t>
            </a:r>
          </a:p>
        </p:txBody>
      </p:sp>
      <p:sp>
        <p:nvSpPr>
          <p:cNvPr id="67" name="TextBox 66"/>
          <p:cNvSpPr txBox="1"/>
          <p:nvPr/>
        </p:nvSpPr>
        <p:spPr>
          <a:xfrm>
            <a:off x="4371975" y="5963030"/>
            <a:ext cx="1689012" cy="194310"/>
          </a:xfrm>
          <a:prstGeom prst="rect">
            <a:avLst/>
          </a:prstGeom>
          <a:noFill/>
        </p:spPr>
        <p:txBody>
          <a:bodyPr wrap="none" lIns="0" rIns="0" tIns="0" bIns="0">
            <a:spAutoFit/>
          </a:bodyPr>
          <a:lstStyle/>
          <a:p>
            <a:r>
              <a:rPr sz="1150" b="0">
                <a:solidFill>
                  <a:srgbClr val="252423"/>
                </a:solidFill>
                <a:latin typeface="Segoe UI"/>
              </a:rPr>
              <a:t>barriers for new entrants.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'1,000 Wh to Below 1,500 Wh' and South Asia &amp; Pacific.</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energy storage capacity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North America and South Asia &amp; Pacific.</a:t>
            </a:r>
          </a:p>
        </p:txBody>
      </p:sp>
      <p:sp>
        <p:nvSpPr>
          <p:cNvPr id="12" name="Rectangle 11"/>
          <p:cNvSpPr/>
          <p:nvPr/>
        </p:nvSpPr>
        <p:spPr>
          <a:xfrm>
            <a:off x="6172200" y="981075"/>
            <a:ext cx="5876925"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16" name="Rectangle 15"/>
          <p:cNvSpPr/>
          <p:nvPr/>
        </p:nvSpPr>
        <p:spPr>
          <a:xfrm>
            <a:off x="142875" y="2790825"/>
            <a:ext cx="5876925" cy="1571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876550"/>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11467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00400"/>
            <a:ext cx="5610225"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790825"/>
            <a:ext cx="5876925" cy="1571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876550"/>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11467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R&amp;D aligns with the migration to '1,000 Wh to Below 1,500 Wh' and adjacent premium tiers.</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Development spend targets energy storage capacity categories gaining share to 2036.</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Innovation underpins the 11.6% forecast CAGR.</a:t>
            </a:r>
          </a:p>
        </p:txBody>
      </p:sp>
      <p:sp>
        <p:nvSpPr>
          <p:cNvPr id="24" name="Rectangle 23"/>
          <p:cNvSpPr/>
          <p:nvPr/>
        </p:nvSpPr>
        <p:spPr>
          <a:xfrm>
            <a:off x="142875" y="4495800"/>
            <a:ext cx="11906250" cy="2114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55295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energy storage capacity share (2036)</a:t>
            </a:r>
          </a:p>
        </p:txBody>
      </p:sp>
      <p:graphicFrame>
        <p:nvGraphicFramePr>
          <p:cNvPr id="26" name="Chart 25"/>
          <p:cNvGraphicFramePr>
            <a:graphicFrameLocks noGrp="1"/>
          </p:cNvGraphicFramePr>
          <p:nvPr/>
        </p:nvGraphicFramePr>
        <p:xfrm>
          <a:off x="238125" y="4781550"/>
          <a:ext cx="11715750" cy="1771650"/>
        </p:xfrm>
        <a:graphic>
          <a:graphicData uri="http://schemas.openxmlformats.org/drawingml/2006/chart">
            <c:chart xmlns:c="http://schemas.openxmlformats.org/drawingml/2006/chart" r:id="rId3"/>
          </a:graphicData>
        </a:graphic>
      </p:graphicFrame>
      <p:sp>
        <p:nvSpPr>
          <p:cNvPr id="27" name="TextBox 26"/>
          <p:cNvSpPr txBox="1"/>
          <p:nvPr/>
        </p:nvSpPr>
        <p:spPr>
          <a:xfrm>
            <a:off x="3914859" y="5553075"/>
            <a:ext cx="847557" cy="228600"/>
          </a:xfrm>
          <a:prstGeom prst="rect">
            <a:avLst/>
          </a:prstGeom>
          <a:noFill/>
        </p:spPr>
        <p:txBody>
          <a:bodyPr wrap="square" lIns="28575" rIns="28575" tIns="9525" bIns="9525" anchor="ctr">
            <a:spAutoFit/>
          </a:bodyPr>
          <a:lstStyle/>
          <a:p>
            <a:pPr algn="ctr"/>
            <a:r>
              <a:rPr sz="1300" b="1">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5"/>
          <a:stretch>
            <a:fillRect/>
          </a:stretch>
        </p:blipFill>
        <p:spPr>
          <a:xfrm>
            <a:off x="4153896" y="5402105"/>
            <a:ext cx="347376" cy="505274"/>
          </a:xfrm>
          <a:prstGeom prst="rect">
            <a:avLst/>
          </a:prstGeom>
        </p:spPr>
      </p:pic>
      <p:sp>
        <p:nvSpPr>
          <p:cNvPr id="30" name="TextBox 29"/>
          <p:cNvSpPr txBox="1"/>
          <p:nvPr/>
        </p:nvSpPr>
        <p:spPr>
          <a:xfrm>
            <a:off x="6305550" y="1400175"/>
            <a:ext cx="2925316" cy="186689"/>
          </a:xfrm>
          <a:prstGeom prst="rect">
            <a:avLst/>
          </a:prstGeom>
          <a:noFill/>
        </p:spPr>
        <p:txBody>
          <a:bodyPr wrap="none" lIns="0" rIns="0" tIns="0" bIns="0">
            <a:spAutoFit/>
          </a:bodyPr>
          <a:lstStyle/>
          <a:p>
            <a:r>
              <a:rPr sz="1100" b="0">
                <a:solidFill>
                  <a:srgbClr val="252423"/>
                </a:solidFill>
                <a:latin typeface="Segoe UI"/>
              </a:rPr>
              <a:t>▪ 2026 size 650.0 US$ Mn; 2036 1,950 US$ Mn.</a:t>
            </a:r>
          </a:p>
        </p:txBody>
      </p:sp>
      <p:sp>
        <p:nvSpPr>
          <p:cNvPr id="31" name="TextBox 30"/>
          <p:cNvSpPr txBox="1"/>
          <p:nvPr/>
        </p:nvSpPr>
        <p:spPr>
          <a:xfrm>
            <a:off x="6305550" y="1618107"/>
            <a:ext cx="2306156" cy="186689"/>
          </a:xfrm>
          <a:prstGeom prst="rect">
            <a:avLst/>
          </a:prstGeom>
          <a:noFill/>
        </p:spPr>
        <p:txBody>
          <a:bodyPr wrap="none" lIns="0" rIns="0" tIns="0" bIns="0">
            <a:spAutoFit/>
          </a:bodyPr>
          <a:lstStyle/>
          <a:p>
            <a:r>
              <a:rPr sz="1100" b="0">
                <a:solidFill>
                  <a:srgbClr val="252423"/>
                </a:solidFill>
                <a:latin typeface="Segoe UI"/>
              </a:rPr>
              <a:t>▪ Forecast CAGR 11.6% (2026–2036).</a:t>
            </a:r>
          </a:p>
        </p:txBody>
      </p:sp>
      <p:sp>
        <p:nvSpPr>
          <p:cNvPr id="32" name="TextBox 31"/>
          <p:cNvSpPr txBox="1"/>
          <p:nvPr/>
        </p:nvSpPr>
        <p:spPr>
          <a:xfrm>
            <a:off x="6305550" y="1836039"/>
            <a:ext cx="2498358" cy="186689"/>
          </a:xfrm>
          <a:prstGeom prst="rect">
            <a:avLst/>
          </a:prstGeom>
          <a:noFill/>
        </p:spPr>
        <p:txBody>
          <a:bodyPr wrap="none" lIns="0" rIns="0" tIns="0" bIns="0">
            <a:spAutoFit/>
          </a:bodyPr>
          <a:lstStyle/>
          <a:p>
            <a:r>
              <a:rPr sz="1100" b="0">
                <a:solidFill>
                  <a:srgbClr val="252423"/>
                </a:solidFill>
                <a:latin typeface="Segoe UI"/>
              </a:rPr>
              <a:t>▪ Lead category '1,500 Wh to 2,000 Wh'</a:t>
            </a:r>
          </a:p>
        </p:txBody>
      </p:sp>
      <p:pic>
        <p:nvPicPr>
          <p:cNvPr id="33" name="Picture 32" descr="lock.png"/>
          <p:cNvPicPr>
            <a:picLocks noChangeAspect="1"/>
          </p:cNvPicPr>
          <p:nvPr/>
        </p:nvPicPr>
        <p:blipFill>
          <a:blip r:embed="rId5"/>
          <a:stretch>
            <a:fillRect/>
          </a:stretch>
        </p:blipFill>
        <p:spPr>
          <a:xfrm>
            <a:off x="8751960" y="1826260"/>
            <a:ext cx="128699" cy="187198"/>
          </a:xfrm>
          <a:prstGeom prst="rect">
            <a:avLst/>
          </a:prstGeom>
        </p:spPr>
      </p:pic>
      <p:sp>
        <p:nvSpPr>
          <p:cNvPr id="34" name="TextBox 33"/>
          <p:cNvSpPr txBox="1"/>
          <p:nvPr/>
        </p:nvSpPr>
        <p:spPr>
          <a:xfrm>
            <a:off x="8919456" y="1836039"/>
            <a:ext cx="571387" cy="186689"/>
          </a:xfrm>
          <a:prstGeom prst="rect">
            <a:avLst/>
          </a:prstGeom>
          <a:noFill/>
        </p:spPr>
        <p:txBody>
          <a:bodyPr wrap="none" lIns="0" rIns="0" tIns="0" bIns="0">
            <a:spAutoFit/>
          </a:bodyPr>
          <a:lstStyle/>
          <a:p>
            <a:r>
              <a:rPr sz="1100" b="0">
                <a:solidFill>
                  <a:srgbClr val="252423"/>
                </a:solidFill>
                <a:latin typeface="Segoe UI"/>
              </a:rPr>
              <a:t>of 2036.</a:t>
            </a:r>
          </a:p>
        </p:txBody>
      </p:sp>
      <p:sp>
        <p:nvSpPr>
          <p:cNvPr id="35" name="TextBox 34"/>
          <p:cNvSpPr txBox="1"/>
          <p:nvPr/>
        </p:nvSpPr>
        <p:spPr>
          <a:xfrm>
            <a:off x="6305550" y="2053970"/>
            <a:ext cx="1833125" cy="186689"/>
          </a:xfrm>
          <a:prstGeom prst="rect">
            <a:avLst/>
          </a:prstGeom>
          <a:noFill/>
        </p:spPr>
        <p:txBody>
          <a:bodyPr wrap="none" lIns="0" rIns="0" tIns="0" bIns="0">
            <a:spAutoFit/>
          </a:bodyPr>
          <a:lstStyle/>
          <a:p>
            <a:r>
              <a:rPr sz="1100" b="0">
                <a:solidFill>
                  <a:srgbClr val="252423"/>
                </a:solidFill>
                <a:latin typeface="Segoe UI"/>
              </a:rPr>
              <a:t>▪ Lead region North America</a:t>
            </a:r>
          </a:p>
        </p:txBody>
      </p:sp>
      <p:pic>
        <p:nvPicPr>
          <p:cNvPr id="36" name="Picture 35" descr="lock.png"/>
          <p:cNvPicPr>
            <a:picLocks noChangeAspect="1"/>
          </p:cNvPicPr>
          <p:nvPr/>
        </p:nvPicPr>
        <p:blipFill>
          <a:blip r:embed="rId5"/>
          <a:stretch>
            <a:fillRect/>
          </a:stretch>
        </p:blipFill>
        <p:spPr>
          <a:xfrm>
            <a:off x="8086726" y="2044192"/>
            <a:ext cx="128699" cy="187198"/>
          </a:xfrm>
          <a:prstGeom prst="rect">
            <a:avLst/>
          </a:prstGeom>
        </p:spPr>
      </p:pic>
      <p:sp>
        <p:nvSpPr>
          <p:cNvPr id="37" name="TextBox 36"/>
          <p:cNvSpPr txBox="1"/>
          <p:nvPr/>
        </p:nvSpPr>
        <p:spPr>
          <a:xfrm>
            <a:off x="8254222" y="2053970"/>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38" name="TextBox 37"/>
          <p:cNvSpPr txBox="1"/>
          <p:nvPr/>
        </p:nvSpPr>
        <p:spPr>
          <a:xfrm>
            <a:off x="6305550" y="2271903"/>
            <a:ext cx="1660955" cy="186689"/>
          </a:xfrm>
          <a:prstGeom prst="rect">
            <a:avLst/>
          </a:prstGeom>
          <a:noFill/>
        </p:spPr>
        <p:txBody>
          <a:bodyPr wrap="none" lIns="0" rIns="0" tIns="0" bIns="0">
            <a:spAutoFit/>
          </a:bodyPr>
          <a:lstStyle/>
          <a:p>
            <a:r>
              <a:rPr sz="1100" b="0">
                <a:solidFill>
                  <a:srgbClr val="252423"/>
                </a:solidFill>
                <a:latin typeface="Segoe UI"/>
              </a:rPr>
              <a:t>▪ Incremental opportunity</a:t>
            </a:r>
          </a:p>
        </p:txBody>
      </p:sp>
      <p:pic>
        <p:nvPicPr>
          <p:cNvPr id="39" name="Picture 38" descr="lock.png"/>
          <p:cNvPicPr>
            <a:picLocks noChangeAspect="1"/>
          </p:cNvPicPr>
          <p:nvPr/>
        </p:nvPicPr>
        <p:blipFill>
          <a:blip r:embed="rId5"/>
          <a:stretch>
            <a:fillRect/>
          </a:stretch>
        </p:blipFill>
        <p:spPr>
          <a:xfrm>
            <a:off x="7914557" y="2262124"/>
            <a:ext cx="128699" cy="187198"/>
          </a:xfrm>
          <a:prstGeom prst="rect">
            <a:avLst/>
          </a:prstGeom>
        </p:spPr>
      </p:pic>
      <p:sp>
        <p:nvSpPr>
          <p:cNvPr id="40" name="TextBox 39"/>
          <p:cNvSpPr txBox="1"/>
          <p:nvPr/>
        </p:nvSpPr>
        <p:spPr>
          <a:xfrm>
            <a:off x="8082053" y="2271903"/>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1" name="TextBox 40"/>
          <p:cNvSpPr txBox="1"/>
          <p:nvPr/>
        </p:nvSpPr>
        <p:spPr>
          <a:xfrm>
            <a:off x="276225" y="3209925"/>
            <a:ext cx="5538558" cy="194310"/>
          </a:xfrm>
          <a:prstGeom prst="rect">
            <a:avLst/>
          </a:prstGeom>
          <a:noFill/>
        </p:spPr>
        <p:txBody>
          <a:bodyPr wrap="none" lIns="0" rIns="0" tIns="0" bIns="0">
            <a:spAutoFit/>
          </a:bodyPr>
          <a:lstStyle/>
          <a:p>
            <a:r>
              <a:rPr sz="1150" b="0">
                <a:solidFill>
                  <a:srgbClr val="252423"/>
                </a:solidFill>
                <a:latin typeface="Segoe UI"/>
              </a:rPr>
              <a:t>▪ Investment is flowing toward the fastest-growing tier '1,000 Wh to Below 1,500 Wh'</a:t>
            </a:r>
          </a:p>
        </p:txBody>
      </p:sp>
      <p:sp>
        <p:nvSpPr>
          <p:cNvPr id="42" name="TextBox 41"/>
          <p:cNvSpPr txBox="1"/>
          <p:nvPr/>
        </p:nvSpPr>
        <p:spPr>
          <a:xfrm>
            <a:off x="276225" y="338518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43" name="Picture 42" descr="lock.png"/>
          <p:cNvPicPr>
            <a:picLocks noChangeAspect="1"/>
          </p:cNvPicPr>
          <p:nvPr/>
        </p:nvPicPr>
        <p:blipFill>
          <a:blip r:embed="rId5"/>
          <a:stretch>
            <a:fillRect/>
          </a:stretch>
        </p:blipFill>
        <p:spPr>
          <a:xfrm>
            <a:off x="345793" y="3374961"/>
            <a:ext cx="134549" cy="195707"/>
          </a:xfrm>
          <a:prstGeom prst="rect">
            <a:avLst/>
          </a:prstGeom>
        </p:spPr>
      </p:pic>
      <p:sp>
        <p:nvSpPr>
          <p:cNvPr id="44" name="TextBox 43"/>
          <p:cNvSpPr txBox="1"/>
          <p:nvPr/>
        </p:nvSpPr>
        <p:spPr>
          <a:xfrm>
            <a:off x="520902" y="338518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5" name="TextBox 44"/>
          <p:cNvSpPr txBox="1"/>
          <p:nvPr/>
        </p:nvSpPr>
        <p:spPr>
          <a:xfrm>
            <a:off x="276225" y="3613022"/>
            <a:ext cx="1540622" cy="194310"/>
          </a:xfrm>
          <a:prstGeom prst="rect">
            <a:avLst/>
          </a:prstGeom>
          <a:noFill/>
        </p:spPr>
        <p:txBody>
          <a:bodyPr wrap="none" lIns="0" rIns="0" tIns="0" bIns="0">
            <a:spAutoFit/>
          </a:bodyPr>
          <a:lstStyle/>
          <a:p>
            <a:r>
              <a:rPr sz="1150" b="0">
                <a:solidFill>
                  <a:srgbClr val="252423"/>
                </a:solidFill>
                <a:latin typeface="Segoe UI"/>
              </a:rPr>
              <a:t>▪ South Asia &amp; Pacific (</a:t>
            </a:r>
          </a:p>
        </p:txBody>
      </p:sp>
      <p:pic>
        <p:nvPicPr>
          <p:cNvPr id="46" name="Picture 45" descr="lock.png"/>
          <p:cNvPicPr>
            <a:picLocks noChangeAspect="1"/>
          </p:cNvPicPr>
          <p:nvPr/>
        </p:nvPicPr>
        <p:blipFill>
          <a:blip r:embed="rId5"/>
          <a:stretch>
            <a:fillRect/>
          </a:stretch>
        </p:blipFill>
        <p:spPr>
          <a:xfrm>
            <a:off x="1766001" y="3602799"/>
            <a:ext cx="134549" cy="195707"/>
          </a:xfrm>
          <a:prstGeom prst="rect">
            <a:avLst/>
          </a:prstGeom>
        </p:spPr>
      </p:pic>
      <p:sp>
        <p:nvSpPr>
          <p:cNvPr id="47" name="TextBox 46"/>
          <p:cNvSpPr txBox="1"/>
          <p:nvPr/>
        </p:nvSpPr>
        <p:spPr>
          <a:xfrm>
            <a:off x="1941110" y="3613022"/>
            <a:ext cx="2456724" cy="194310"/>
          </a:xfrm>
          <a:prstGeom prst="rect">
            <a:avLst/>
          </a:prstGeom>
          <a:noFill/>
        </p:spPr>
        <p:txBody>
          <a:bodyPr wrap="none" lIns="0" rIns="0" tIns="0" bIns="0">
            <a:spAutoFit/>
          </a:bodyPr>
          <a:lstStyle/>
          <a:p>
            <a:r>
              <a:rPr sz="1150" b="0">
                <a:solidFill>
                  <a:srgbClr val="252423"/>
                </a:solidFill>
                <a:latin typeface="Segoe UI"/>
              </a:rPr>
              <a:t>) is a priority region for new capacity.</a:t>
            </a:r>
          </a:p>
        </p:txBody>
      </p:sp>
      <p:sp>
        <p:nvSpPr>
          <p:cNvPr id="48" name="TextBox 47"/>
          <p:cNvSpPr txBox="1"/>
          <p:nvPr/>
        </p:nvSpPr>
        <p:spPr>
          <a:xfrm>
            <a:off x="276225" y="3840860"/>
            <a:ext cx="3598475" cy="194310"/>
          </a:xfrm>
          <a:prstGeom prst="rect">
            <a:avLst/>
          </a:prstGeom>
          <a:noFill/>
        </p:spPr>
        <p:txBody>
          <a:bodyPr wrap="none" lIns="0" rIns="0" tIns="0" bIns="0">
            <a:spAutoFit/>
          </a:bodyPr>
          <a:lstStyle/>
          <a:p>
            <a:r>
              <a:rPr sz="1150" b="0">
                <a:solidFill>
                  <a:srgbClr val="252423"/>
                </a:solidFill>
                <a:latin typeface="Segoe UI"/>
              </a:rPr>
              <a:t>▪ Scale players anchor around '1,500 Wh to 2,000 Wh' (</a:t>
            </a:r>
          </a:p>
        </p:txBody>
      </p:sp>
      <p:pic>
        <p:nvPicPr>
          <p:cNvPr id="49" name="Picture 48" descr="lock.png"/>
          <p:cNvPicPr>
            <a:picLocks noChangeAspect="1"/>
          </p:cNvPicPr>
          <p:nvPr/>
        </p:nvPicPr>
        <p:blipFill>
          <a:blip r:embed="rId5"/>
          <a:stretch>
            <a:fillRect/>
          </a:stretch>
        </p:blipFill>
        <p:spPr>
          <a:xfrm>
            <a:off x="3823854" y="3830637"/>
            <a:ext cx="134549" cy="195707"/>
          </a:xfrm>
          <a:prstGeom prst="rect">
            <a:avLst/>
          </a:prstGeom>
        </p:spPr>
      </p:pic>
      <p:sp>
        <p:nvSpPr>
          <p:cNvPr id="50" name="TextBox 49"/>
          <p:cNvSpPr txBox="1"/>
          <p:nvPr/>
        </p:nvSpPr>
        <p:spPr>
          <a:xfrm>
            <a:off x="3998963" y="3840860"/>
            <a:ext cx="498344" cy="194310"/>
          </a:xfrm>
          <a:prstGeom prst="rect">
            <a:avLst/>
          </a:prstGeom>
          <a:noFill/>
        </p:spPr>
        <p:txBody>
          <a:bodyPr wrap="none" lIns="0" rIns="0" tIns="0" bIns="0">
            <a:spAutoFit/>
          </a:bodyPr>
          <a:lstStyle/>
          <a:p>
            <a:r>
              <a:rPr sz="1150" b="0">
                <a:solidFill>
                  <a:srgbClr val="252423"/>
                </a:solidFill>
                <a:latin typeface="Segoe UI"/>
              </a:rPr>
              <a:t>share).</a:t>
            </a:r>
          </a:p>
        </p:txBody>
      </p:sp>
      <p:sp>
        <p:nvSpPr>
          <p:cNvPr id="51" name="lockshield_26"/>
          <p:cNvSpPr/>
          <p:nvPr/>
        </p:nvSpPr>
        <p:spPr>
          <a:xfrm>
            <a:off x="238125" y="4781550"/>
            <a:ext cx="11715750" cy="17716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2" name="Rectangle 11"/>
          <p:cNvSpPr/>
          <p:nvPr/>
        </p:nvSpPr>
        <p:spPr>
          <a:xfrm>
            <a:off x="6172200"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'1,000 Wh to Below 1,500 Wh' tier and Outdoor &amp; Recreational Power within system application.</a:t>
            </a:r>
          </a:p>
        </p:txBody>
      </p:sp>
      <p:sp>
        <p:nvSpPr>
          <p:cNvPr id="16" name="Rectangle 15"/>
          <p:cNvSpPr/>
          <p:nvPr/>
        </p:nvSpPr>
        <p:spPr>
          <a:xfrm>
            <a:off x="142875"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Region</a:t>
            </a:r>
          </a:p>
        </p:txBody>
      </p:sp>
      <p:sp>
        <p:nvSpPr>
          <p:cNvPr id="22" name="Rectangle 21"/>
          <p:cNvSpPr/>
          <p:nvPr/>
        </p:nvSpPr>
        <p:spPr>
          <a:xfrm>
            <a:off x="6305550"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142875" y="4619625"/>
            <a:ext cx="11906250" cy="20002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943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552103" cy="194310"/>
          </a:xfrm>
          <a:prstGeom prst="rect">
            <a:avLst/>
          </a:prstGeom>
          <a:noFill/>
        </p:spPr>
        <p:txBody>
          <a:bodyPr wrap="none" lIns="0" rIns="0" tIns="0" bIns="0">
            <a:spAutoFit/>
          </a:bodyPr>
          <a:lstStyle/>
          <a:p>
            <a:r>
              <a:rPr sz="1150" b="0">
                <a:solidFill>
                  <a:srgbClr val="252423"/>
                </a:solidFill>
                <a:latin typeface="Segoe UI"/>
              </a:rPr>
              <a:t>▪ Balance scale in '1,500 Wh to 2,000 Wh' with targeted growth in '1,000 Wh to Below</a:t>
            </a:r>
          </a:p>
        </p:txBody>
      </p:sp>
      <p:sp>
        <p:nvSpPr>
          <p:cNvPr id="30" name="TextBox 29"/>
          <p:cNvSpPr txBox="1"/>
          <p:nvPr/>
        </p:nvSpPr>
        <p:spPr>
          <a:xfrm>
            <a:off x="276225" y="1575435"/>
            <a:ext cx="1604037" cy="194310"/>
          </a:xfrm>
          <a:prstGeom prst="rect">
            <a:avLst/>
          </a:prstGeom>
          <a:noFill/>
        </p:spPr>
        <p:txBody>
          <a:bodyPr wrap="none" lIns="0" rIns="0" tIns="0" bIns="0">
            <a:spAutoFit/>
          </a:bodyPr>
          <a:lstStyle/>
          <a:p>
            <a:r>
              <a:rPr sz="1150" b="0">
                <a:solidFill>
                  <a:srgbClr val="252423"/>
                </a:solidFill>
                <a:latin typeface="Segoe UI"/>
              </a:rPr>
              <a:t>1,500 Wh', pursuing the</a:t>
            </a:r>
          </a:p>
        </p:txBody>
      </p:sp>
      <p:pic>
        <p:nvPicPr>
          <p:cNvPr id="31" name="Picture 30" descr="lock.png"/>
          <p:cNvPicPr>
            <a:picLocks noChangeAspect="1"/>
          </p:cNvPicPr>
          <p:nvPr/>
        </p:nvPicPr>
        <p:blipFill>
          <a:blip r:embed="rId4"/>
          <a:stretch>
            <a:fillRect/>
          </a:stretch>
        </p:blipFill>
        <p:spPr>
          <a:xfrm>
            <a:off x="1829416" y="1565211"/>
            <a:ext cx="134549" cy="195707"/>
          </a:xfrm>
          <a:prstGeom prst="rect">
            <a:avLst/>
          </a:prstGeom>
        </p:spPr>
      </p:pic>
      <p:sp>
        <p:nvSpPr>
          <p:cNvPr id="32" name="TextBox 31"/>
          <p:cNvSpPr txBox="1"/>
          <p:nvPr/>
        </p:nvSpPr>
        <p:spPr>
          <a:xfrm>
            <a:off x="2004525" y="1575435"/>
            <a:ext cx="1660812" cy="194310"/>
          </a:xfrm>
          <a:prstGeom prst="rect">
            <a:avLst/>
          </a:prstGeom>
          <a:noFill/>
        </p:spPr>
        <p:txBody>
          <a:bodyPr wrap="none" lIns="0" rIns="0" tIns="0" bIns="0">
            <a:spAutoFit/>
          </a:bodyPr>
          <a:lstStyle/>
          <a:p>
            <a:r>
              <a:rPr sz="1150" b="0">
                <a:solidFill>
                  <a:srgbClr val="252423"/>
                </a:solidFill>
                <a:latin typeface="Segoe UI"/>
              </a:rPr>
              <a:t>CAGR trajectory to 2036.</a:t>
            </a:r>
          </a:p>
        </p:txBody>
      </p:sp>
      <p:sp>
        <p:nvSpPr>
          <p:cNvPr id="33" name="TextBox 32"/>
          <p:cNvSpPr txBox="1"/>
          <p:nvPr/>
        </p:nvSpPr>
        <p:spPr>
          <a:xfrm>
            <a:off x="276225" y="3219450"/>
            <a:ext cx="2775254" cy="194310"/>
          </a:xfrm>
          <a:prstGeom prst="rect">
            <a:avLst/>
          </a:prstGeom>
          <a:noFill/>
        </p:spPr>
        <p:txBody>
          <a:bodyPr wrap="none" lIns="0" rIns="0" tIns="0" bIns="0">
            <a:spAutoFit/>
          </a:bodyPr>
          <a:lstStyle/>
          <a:p>
            <a:r>
              <a:rPr sz="1150" b="0">
                <a:solidFill>
                  <a:srgbClr val="252423"/>
                </a:solidFill>
                <a:latin typeface="Segoe UI"/>
              </a:rPr>
              <a:t>▪ Prioritise '1,000 Wh to Below 1,500 Wh' (</a:t>
            </a:r>
          </a:p>
        </p:txBody>
      </p:sp>
      <p:pic>
        <p:nvPicPr>
          <p:cNvPr id="34" name="Picture 33" descr="lock.png"/>
          <p:cNvPicPr>
            <a:picLocks noChangeAspect="1"/>
          </p:cNvPicPr>
          <p:nvPr/>
        </p:nvPicPr>
        <p:blipFill>
          <a:blip r:embed="rId4"/>
          <a:stretch>
            <a:fillRect/>
          </a:stretch>
        </p:blipFill>
        <p:spPr>
          <a:xfrm>
            <a:off x="3000633" y="3209226"/>
            <a:ext cx="134549" cy="195707"/>
          </a:xfrm>
          <a:prstGeom prst="rect">
            <a:avLst/>
          </a:prstGeom>
        </p:spPr>
      </p:pic>
      <p:sp>
        <p:nvSpPr>
          <p:cNvPr id="35" name="TextBox 34"/>
          <p:cNvSpPr txBox="1"/>
          <p:nvPr/>
        </p:nvSpPr>
        <p:spPr>
          <a:xfrm>
            <a:off x="3175742" y="3219450"/>
            <a:ext cx="2231293" cy="194310"/>
          </a:xfrm>
          <a:prstGeom prst="rect">
            <a:avLst/>
          </a:prstGeom>
          <a:noFill/>
        </p:spPr>
        <p:txBody>
          <a:bodyPr wrap="none" lIns="0" rIns="0" tIns="0" bIns="0">
            <a:spAutoFit/>
          </a:bodyPr>
          <a:lstStyle/>
          <a:p>
            <a:r>
              <a:rPr sz="1150" b="0">
                <a:solidFill>
                  <a:srgbClr val="252423"/>
                </a:solidFill>
                <a:latin typeface="Segoe UI"/>
              </a:rPr>
              <a:t>); '1,500 Wh to 2,000 Wh' anchors</a:t>
            </a:r>
          </a:p>
        </p:txBody>
      </p:sp>
      <p:pic>
        <p:nvPicPr>
          <p:cNvPr id="36" name="Picture 35" descr="lock.png"/>
          <p:cNvPicPr>
            <a:picLocks noChangeAspect="1"/>
          </p:cNvPicPr>
          <p:nvPr/>
        </p:nvPicPr>
        <p:blipFill>
          <a:blip r:embed="rId4"/>
          <a:stretch>
            <a:fillRect/>
          </a:stretch>
        </p:blipFill>
        <p:spPr>
          <a:xfrm>
            <a:off x="5356190" y="3209226"/>
            <a:ext cx="134549" cy="195707"/>
          </a:xfrm>
          <a:prstGeom prst="rect">
            <a:avLst/>
          </a:prstGeom>
        </p:spPr>
      </p:pic>
      <p:sp>
        <p:nvSpPr>
          <p:cNvPr id="37" name="TextBox 36"/>
          <p:cNvSpPr txBox="1"/>
          <p:nvPr/>
        </p:nvSpPr>
        <p:spPr>
          <a:xfrm>
            <a:off x="5531299" y="3219450"/>
            <a:ext cx="207376" cy="194310"/>
          </a:xfrm>
          <a:prstGeom prst="rect">
            <a:avLst/>
          </a:prstGeom>
          <a:noFill/>
        </p:spPr>
        <p:txBody>
          <a:bodyPr wrap="none" lIns="0" rIns="0" tIns="0" bIns="0">
            <a:spAutoFit/>
          </a:bodyPr>
          <a:lstStyle/>
          <a:p>
            <a:r>
              <a:rPr sz="1150" b="0">
                <a:solidFill>
                  <a:srgbClr val="252423"/>
                </a:solidFill>
                <a:latin typeface="Segoe UI"/>
              </a:rPr>
              <a:t>of</a:t>
            </a:r>
          </a:p>
        </p:txBody>
      </p:sp>
      <p:sp>
        <p:nvSpPr>
          <p:cNvPr id="38" name="TextBox 37"/>
          <p:cNvSpPr txBox="1"/>
          <p:nvPr/>
        </p:nvSpPr>
        <p:spPr>
          <a:xfrm>
            <a:off x="276225" y="3394710"/>
            <a:ext cx="446704" cy="194310"/>
          </a:xfrm>
          <a:prstGeom prst="rect">
            <a:avLst/>
          </a:prstGeom>
          <a:noFill/>
        </p:spPr>
        <p:txBody>
          <a:bodyPr wrap="none" lIns="0" rIns="0" tIns="0" bIns="0">
            <a:spAutoFit/>
          </a:bodyPr>
          <a:lstStyle/>
          <a:p>
            <a:r>
              <a:rPr sz="1150" b="0">
                <a:solidFill>
                  <a:srgbClr val="252423"/>
                </a:solidFill>
                <a:latin typeface="Segoe UI"/>
              </a:rPr>
              <a:t>value.</a:t>
            </a:r>
          </a:p>
        </p:txBody>
      </p:sp>
      <p:sp>
        <p:nvSpPr>
          <p:cNvPr id="39" name="TextBox 38"/>
          <p:cNvSpPr txBox="1"/>
          <p:nvPr/>
        </p:nvSpPr>
        <p:spPr>
          <a:xfrm>
            <a:off x="6305550" y="3219450"/>
            <a:ext cx="1853398" cy="194310"/>
          </a:xfrm>
          <a:prstGeom prst="rect">
            <a:avLst/>
          </a:prstGeom>
          <a:noFill/>
        </p:spPr>
        <p:txBody>
          <a:bodyPr wrap="none" lIns="0" rIns="0" tIns="0" bIns="0">
            <a:spAutoFit/>
          </a:bodyPr>
          <a:lstStyle/>
          <a:p>
            <a:r>
              <a:rPr sz="1150" b="0">
                <a:solidFill>
                  <a:srgbClr val="252423"/>
                </a:solidFill>
                <a:latin typeface="Segoe UI"/>
              </a:rPr>
              <a:t>▪ Lead with North America (</a:t>
            </a:r>
          </a:p>
        </p:txBody>
      </p:sp>
      <p:pic>
        <p:nvPicPr>
          <p:cNvPr id="40" name="Picture 39" descr="lock.png"/>
          <p:cNvPicPr>
            <a:picLocks noChangeAspect="1"/>
          </p:cNvPicPr>
          <p:nvPr/>
        </p:nvPicPr>
        <p:blipFill>
          <a:blip r:embed="rId4"/>
          <a:stretch>
            <a:fillRect/>
          </a:stretch>
        </p:blipFill>
        <p:spPr>
          <a:xfrm>
            <a:off x="8108102" y="3209226"/>
            <a:ext cx="134549" cy="195707"/>
          </a:xfrm>
          <a:prstGeom prst="rect">
            <a:avLst/>
          </a:prstGeom>
        </p:spPr>
      </p:pic>
      <p:sp>
        <p:nvSpPr>
          <p:cNvPr id="41" name="TextBox 40"/>
          <p:cNvSpPr txBox="1"/>
          <p:nvPr/>
        </p:nvSpPr>
        <p:spPr>
          <a:xfrm>
            <a:off x="8283211" y="3219450"/>
            <a:ext cx="2718689" cy="194310"/>
          </a:xfrm>
          <a:prstGeom prst="rect">
            <a:avLst/>
          </a:prstGeom>
          <a:noFill/>
        </p:spPr>
        <p:txBody>
          <a:bodyPr wrap="none" lIns="0" rIns="0" tIns="0" bIns="0">
            <a:spAutoFit/>
          </a:bodyPr>
          <a:lstStyle/>
          <a:p>
            <a:r>
              <a:rPr sz="1150" b="0">
                <a:solidFill>
                  <a:srgbClr val="252423"/>
                </a:solidFill>
                <a:latin typeface="Segoe UI"/>
              </a:rPr>
              <a:t>); capture upside in South Asia &amp; Pacific (</a:t>
            </a:r>
          </a:p>
        </p:txBody>
      </p:sp>
      <p:pic>
        <p:nvPicPr>
          <p:cNvPr id="42" name="Picture 41" descr="lock.png"/>
          <p:cNvPicPr>
            <a:picLocks noChangeAspect="1"/>
          </p:cNvPicPr>
          <p:nvPr/>
        </p:nvPicPr>
        <p:blipFill>
          <a:blip r:embed="rId4"/>
          <a:stretch>
            <a:fillRect/>
          </a:stretch>
        </p:blipFill>
        <p:spPr>
          <a:xfrm>
            <a:off x="10951055" y="3209226"/>
            <a:ext cx="134549" cy="195707"/>
          </a:xfrm>
          <a:prstGeom prst="rect">
            <a:avLst/>
          </a:prstGeom>
        </p:spPr>
      </p:pic>
      <p:sp>
        <p:nvSpPr>
          <p:cNvPr id="43" name="TextBox 42"/>
          <p:cNvSpPr txBox="1"/>
          <p:nvPr/>
        </p:nvSpPr>
        <p:spPr>
          <a:xfrm>
            <a:off x="11126164" y="321945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038725"/>
            <a:ext cx="3164135" cy="194310"/>
          </a:xfrm>
          <a:prstGeom prst="rect">
            <a:avLst/>
          </a:prstGeom>
          <a:noFill/>
        </p:spPr>
        <p:txBody>
          <a:bodyPr wrap="none" lIns="0" rIns="0" tIns="0" bIns="0">
            <a:spAutoFit/>
          </a:bodyPr>
          <a:lstStyle/>
          <a:p>
            <a:r>
              <a:rPr sz="1150" b="0">
                <a:solidFill>
                  <a:srgbClr val="252423"/>
                </a:solidFill>
                <a:latin typeface="Segoe UI"/>
              </a:rPr>
              <a:t>▪ Lithium Polymer Portable Energy Storage adds</a:t>
            </a:r>
          </a:p>
        </p:txBody>
      </p:sp>
      <p:pic>
        <p:nvPicPr>
          <p:cNvPr id="45" name="Picture 44" descr="lock.png"/>
          <p:cNvPicPr>
            <a:picLocks noChangeAspect="1"/>
          </p:cNvPicPr>
          <p:nvPr/>
        </p:nvPicPr>
        <p:blipFill>
          <a:blip r:embed="rId4"/>
          <a:stretch>
            <a:fillRect/>
          </a:stretch>
        </p:blipFill>
        <p:spPr>
          <a:xfrm>
            <a:off x="3389514" y="5028501"/>
            <a:ext cx="134549" cy="195707"/>
          </a:xfrm>
          <a:prstGeom prst="rect">
            <a:avLst/>
          </a:prstGeom>
        </p:spPr>
      </p:pic>
      <p:sp>
        <p:nvSpPr>
          <p:cNvPr id="46" name="TextBox 45"/>
          <p:cNvSpPr txBox="1"/>
          <p:nvPr/>
        </p:nvSpPr>
        <p:spPr>
          <a:xfrm>
            <a:off x="3564624" y="5038725"/>
            <a:ext cx="1973936" cy="194310"/>
          </a:xfrm>
          <a:prstGeom prst="rect">
            <a:avLst/>
          </a:prstGeom>
          <a:noFill/>
        </p:spPr>
        <p:txBody>
          <a:bodyPr wrap="none" lIns="0" rIns="0" tIns="0" bIns="0">
            <a:spAutoFit/>
          </a:bodyPr>
          <a:lstStyle/>
          <a:p>
            <a:r>
              <a:rPr sz="1150" b="0">
                <a:solidFill>
                  <a:srgbClr val="252423"/>
                </a:solidFill>
                <a:latin typeface="Segoe UI"/>
              </a:rPr>
              <a:t>US$ Mn of demand to 2036 a</a:t>
            </a:r>
          </a:p>
        </p:txBody>
      </p:sp>
      <p:pic>
        <p:nvPicPr>
          <p:cNvPr id="47" name="Picture 46" descr="lock.png"/>
          <p:cNvPicPr>
            <a:picLocks noChangeAspect="1"/>
          </p:cNvPicPr>
          <p:nvPr/>
        </p:nvPicPr>
        <p:blipFill>
          <a:blip r:embed="rId4"/>
          <a:stretch>
            <a:fillRect/>
          </a:stretch>
        </p:blipFill>
        <p:spPr>
          <a:xfrm>
            <a:off x="5487714" y="5028501"/>
            <a:ext cx="134549" cy="195707"/>
          </a:xfrm>
          <a:prstGeom prst="rect">
            <a:avLst/>
          </a:prstGeom>
        </p:spPr>
      </p:pic>
      <p:sp>
        <p:nvSpPr>
          <p:cNvPr id="48" name="TextBox 47"/>
          <p:cNvSpPr txBox="1"/>
          <p:nvPr/>
        </p:nvSpPr>
        <p:spPr>
          <a:xfrm>
            <a:off x="5662823" y="5038725"/>
            <a:ext cx="899696" cy="194310"/>
          </a:xfrm>
          <a:prstGeom prst="rect">
            <a:avLst/>
          </a:prstGeom>
          <a:noFill/>
        </p:spPr>
        <p:txBody>
          <a:bodyPr wrap="none" lIns="0" rIns="0" tIns="0" bIns="0">
            <a:spAutoFit/>
          </a:bodyPr>
          <a:lstStyle/>
          <a:p>
            <a:r>
              <a:rPr sz="1150" b="0">
                <a:solidFill>
                  <a:srgbClr val="252423"/>
                </a:solidFill>
                <a:latin typeface="Segoe UI"/>
              </a:rPr>
              <a:t>× expansion.</a:t>
            </a:r>
          </a:p>
        </p:txBody>
      </p:sp>
      <p:sp>
        <p:nvSpPr>
          <p:cNvPr id="49" name="TextBox 48"/>
          <p:cNvSpPr txBox="1"/>
          <p:nvPr/>
        </p:nvSpPr>
        <p:spPr>
          <a:xfrm>
            <a:off x="276225" y="5266563"/>
            <a:ext cx="6793171" cy="194310"/>
          </a:xfrm>
          <a:prstGeom prst="rect">
            <a:avLst/>
          </a:prstGeom>
          <a:noFill/>
        </p:spPr>
        <p:txBody>
          <a:bodyPr wrap="none" lIns="0" rIns="0" tIns="0" bIns="0">
            <a:spAutoFit/>
          </a:bodyPr>
          <a:lstStyle/>
          <a:p>
            <a:r>
              <a:rPr sz="1150" b="0">
                <a:solidFill>
                  <a:srgbClr val="252423"/>
                </a:solidFill>
                <a:latin typeface="Segoe UI"/>
              </a:rPr>
              <a:t>▪ Concentrate resources on the leading segment/region while seeding the fastest-growing pockets early.</a:t>
            </a:r>
          </a:p>
        </p:txBody>
      </p:sp>
      <p:sp>
        <p:nvSpPr>
          <p:cNvPr id="50" name="TextBox 49"/>
          <p:cNvSpPr txBox="1"/>
          <p:nvPr/>
        </p:nvSpPr>
        <p:spPr>
          <a:xfrm>
            <a:off x="276225" y="5494400"/>
            <a:ext cx="5053818" cy="194310"/>
          </a:xfrm>
          <a:prstGeom prst="rect">
            <a:avLst/>
          </a:prstGeom>
          <a:noFill/>
        </p:spPr>
        <p:txBody>
          <a:bodyPr wrap="none" lIns="0" rIns="0" tIns="0" bIns="0">
            <a:spAutoFit/>
          </a:bodyPr>
          <a:lstStyle/>
          <a:p>
            <a:r>
              <a:rPr sz="1150" b="0">
                <a:solidFill>
                  <a:srgbClr val="252423"/>
                </a:solidFill>
                <a:latin typeface="Segoe UI"/>
              </a:rPr>
              <a:t>▪ Defend share in '1,500 Wh to 2,000 Wh' as the value anchor of the portfolio.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Scenario Outlook (4/4)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Scenario outlook comparing optimistic, likely and conservative outcomes for 2036 and the CAGR behind each</a:t>
            </a:r>
          </a:p>
        </p:txBody>
      </p:sp>
      <p:sp>
        <p:nvSpPr>
          <p:cNvPr id="8" name="Rounded Rectangle 7"/>
          <p:cNvSpPr/>
          <p:nvPr/>
        </p:nvSpPr>
        <p:spPr>
          <a:xfrm>
            <a:off x="142875" y="981075"/>
            <a:ext cx="3943350"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9" name="Rounded Rectangle 8"/>
          <p:cNvSpPr/>
          <p:nvPr/>
        </p:nvSpPr>
        <p:spPr>
          <a:xfrm>
            <a:off x="4238625"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0" name="Rounded Rectangle 9"/>
          <p:cNvSpPr/>
          <p:nvPr/>
        </p:nvSpPr>
        <p:spPr>
          <a:xfrm>
            <a:off x="8210550"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1" name="Rectangle 10"/>
          <p:cNvSpPr/>
          <p:nvPr/>
        </p:nvSpPr>
        <p:spPr>
          <a:xfrm>
            <a:off x="142875"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Lithium Polymer Portable Energy Storage Market Value (US$ Mn) Scenario Forecast, 2025 &amp; 2036</a:t>
            </a:r>
          </a:p>
        </p:txBody>
      </p:sp>
      <p:cxnSp>
        <p:nvCxnSpPr>
          <p:cNvPr id="13" name="Connector 12"/>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06342" y="3922476"/>
            <a:ext cx="635826" cy="38282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3936" y="3346052"/>
            <a:ext cx="635826" cy="959248"/>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5725" y="3023461"/>
            <a:ext cx="635826" cy="1281839"/>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456468" y="3212702"/>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70768" y="3107927"/>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0" name="Connector 19"/>
          <p:cNvCxnSpPr/>
          <p:nvPr/>
        </p:nvCxnSpPr>
        <p:spPr>
          <a:xfrm>
            <a:off x="1456468" y="2890111"/>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85336"/>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2" name="Connector 21"/>
          <p:cNvCxnSpPr/>
          <p:nvPr/>
        </p:nvCxnSpPr>
        <p:spPr>
          <a:xfrm>
            <a:off x="1456468" y="2471738"/>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36696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sp>
        <p:nvSpPr>
          <p:cNvPr id="24" name="TextBox 23"/>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2025</a:t>
            </a:r>
          </a:p>
        </p:txBody>
      </p:sp>
      <p:sp>
        <p:nvSpPr>
          <p:cNvPr id="25" name="TextBox 24"/>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2036</a:t>
            </a:r>
          </a:p>
        </p:txBody>
      </p:sp>
      <p:sp>
        <p:nvSpPr>
          <p:cNvPr id="26" name="Oval 25"/>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Conservative Scenario</a:t>
            </a:r>
          </a:p>
        </p:txBody>
      </p:sp>
      <p:sp>
        <p:nvSpPr>
          <p:cNvPr id="28" name="Oval 27"/>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Likely Scenario</a:t>
            </a:r>
          </a:p>
        </p:txBody>
      </p:sp>
      <p:sp>
        <p:nvSpPr>
          <p:cNvPr id="30" name="Oval 29"/>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Optimistic Scenario</a:t>
            </a:r>
          </a:p>
        </p:txBody>
      </p:sp>
      <p:sp>
        <p:nvSpPr>
          <p:cNvPr id="32" name="Rectangle 31"/>
          <p:cNvSpPr/>
          <p:nvPr/>
        </p:nvSpPr>
        <p:spPr>
          <a:xfrm>
            <a:off x="6172200"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Lithium Polymer Portable Energy Storage Market Attractiveness Analysis By Region, 2026–2036</a:t>
            </a:r>
          </a:p>
        </p:txBody>
      </p:sp>
      <p:graphicFrame>
        <p:nvGraphicFramePr>
          <p:cNvPr id="34" name="Chart 33"/>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5" name="Rectangle 34"/>
          <p:cNvSpPr/>
          <p:nvPr/>
        </p:nvSpPr>
        <p:spPr>
          <a:xfrm>
            <a:off x="142875" y="4953000"/>
            <a:ext cx="11906250"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07BA5"/>
                </a:solidFill>
                <a:latin typeface="Segoe UI"/>
              </a:rPr>
              <a:t>Scenario Assumptions &amp; Outlook</a:t>
            </a:r>
          </a:p>
        </p:txBody>
      </p:sp>
      <p:sp>
        <p:nvSpPr>
          <p:cNvPr id="37" name="Rectangle 36"/>
          <p:cNvSpPr/>
          <p:nvPr/>
        </p:nvSpPr>
        <p:spPr>
          <a:xfrm>
            <a:off x="276225" y="52768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39" name="TextBox 3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564099" y="1028326"/>
            <a:ext cx="1177101" cy="166573"/>
          </a:xfrm>
          <a:prstGeom prst="rect">
            <a:avLst/>
          </a:prstGeom>
          <a:noFill/>
        </p:spPr>
        <p:txBody>
          <a:bodyPr wrap="none" lIns="0" rIns="0" tIns="0" bIns="0">
            <a:spAutoFit/>
          </a:bodyPr>
          <a:lstStyle/>
          <a:p>
            <a:r>
              <a:rPr sz="968" b="1">
                <a:solidFill>
                  <a:srgbClr val="605E5C"/>
                </a:solidFill>
                <a:latin typeface="Segoe UI"/>
              </a:rPr>
              <a:t>OPTIMISTIC (2036)</a:t>
            </a:r>
          </a:p>
        </p:txBody>
      </p:sp>
      <p:sp>
        <p:nvSpPr>
          <p:cNvPr id="44" name="TextBox 43"/>
          <p:cNvSpPr txBox="1"/>
          <p:nvPr/>
        </p:nvSpPr>
        <p:spPr>
          <a:xfrm>
            <a:off x="1890239"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5" name="Picture 44" descr="lock.png"/>
          <p:cNvPicPr>
            <a:picLocks noChangeAspect="1"/>
          </p:cNvPicPr>
          <p:nvPr/>
        </p:nvPicPr>
        <p:blipFill>
          <a:blip r:embed="rId5"/>
          <a:stretch>
            <a:fillRect/>
          </a:stretch>
        </p:blipFill>
        <p:spPr>
          <a:xfrm>
            <a:off x="2224657" y="1473019"/>
            <a:ext cx="113255" cy="164734"/>
          </a:xfrm>
          <a:prstGeom prst="rect">
            <a:avLst/>
          </a:prstGeom>
        </p:spPr>
      </p:pic>
      <p:sp>
        <p:nvSpPr>
          <p:cNvPr id="46" name="TextBox 45"/>
          <p:cNvSpPr txBox="1"/>
          <p:nvPr/>
        </p:nvSpPr>
        <p:spPr>
          <a:xfrm>
            <a:off x="5752154" y="1028326"/>
            <a:ext cx="868665" cy="166573"/>
          </a:xfrm>
          <a:prstGeom prst="rect">
            <a:avLst/>
          </a:prstGeom>
          <a:noFill/>
        </p:spPr>
        <p:txBody>
          <a:bodyPr wrap="none" lIns="0" rIns="0" tIns="0" bIns="0">
            <a:spAutoFit/>
          </a:bodyPr>
          <a:lstStyle/>
          <a:p>
            <a:r>
              <a:rPr sz="968" b="1">
                <a:solidFill>
                  <a:srgbClr val="605E5C"/>
                </a:solidFill>
                <a:latin typeface="Segoe UI"/>
              </a:rPr>
              <a:t>LIKELY (2036)</a:t>
            </a:r>
          </a:p>
        </p:txBody>
      </p:sp>
      <p:sp>
        <p:nvSpPr>
          <p:cNvPr id="47" name="TextBox 46"/>
          <p:cNvSpPr txBox="1"/>
          <p:nvPr/>
        </p:nvSpPr>
        <p:spPr>
          <a:xfrm>
            <a:off x="5924076"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8" name="Picture 47" descr="lock.png"/>
          <p:cNvPicPr>
            <a:picLocks noChangeAspect="1"/>
          </p:cNvPicPr>
          <p:nvPr/>
        </p:nvPicPr>
        <p:blipFill>
          <a:blip r:embed="rId5"/>
          <a:stretch>
            <a:fillRect/>
          </a:stretch>
        </p:blipFill>
        <p:spPr>
          <a:xfrm>
            <a:off x="6258494" y="1473019"/>
            <a:ext cx="113255" cy="164734"/>
          </a:xfrm>
          <a:prstGeom prst="rect">
            <a:avLst/>
          </a:prstGeom>
        </p:spPr>
      </p:pic>
      <p:sp>
        <p:nvSpPr>
          <p:cNvPr id="49" name="TextBox 48"/>
          <p:cNvSpPr txBox="1"/>
          <p:nvPr/>
        </p:nvSpPr>
        <p:spPr>
          <a:xfrm>
            <a:off x="9461940" y="1028326"/>
            <a:ext cx="1392944" cy="166573"/>
          </a:xfrm>
          <a:prstGeom prst="rect">
            <a:avLst/>
          </a:prstGeom>
          <a:noFill/>
        </p:spPr>
        <p:txBody>
          <a:bodyPr wrap="none" lIns="0" rIns="0" tIns="0" bIns="0">
            <a:spAutoFit/>
          </a:bodyPr>
          <a:lstStyle/>
          <a:p>
            <a:r>
              <a:rPr sz="968" b="1">
                <a:solidFill>
                  <a:srgbClr val="605E5C"/>
                </a:solidFill>
                <a:latin typeface="Segoe UI"/>
              </a:rPr>
              <a:t>CONSERVATIVE (2036)</a:t>
            </a:r>
          </a:p>
        </p:txBody>
      </p:sp>
      <p:sp>
        <p:nvSpPr>
          <p:cNvPr id="50" name="TextBox 49"/>
          <p:cNvSpPr txBox="1"/>
          <p:nvPr/>
        </p:nvSpPr>
        <p:spPr>
          <a:xfrm>
            <a:off x="9896001"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51" name="Picture 50" descr="lock.png"/>
          <p:cNvPicPr>
            <a:picLocks noChangeAspect="1"/>
          </p:cNvPicPr>
          <p:nvPr/>
        </p:nvPicPr>
        <p:blipFill>
          <a:blip r:embed="rId5"/>
          <a:stretch>
            <a:fillRect/>
          </a:stretch>
        </p:blipFill>
        <p:spPr>
          <a:xfrm>
            <a:off x="10230419" y="1473019"/>
            <a:ext cx="113255" cy="164734"/>
          </a:xfrm>
          <a:prstGeom prst="rect">
            <a:avLst/>
          </a:prstGeom>
        </p:spPr>
      </p:pic>
      <p:sp>
        <p:nvSpPr>
          <p:cNvPr id="52" name="TextBox 51"/>
          <p:cNvSpPr txBox="1"/>
          <p:nvPr/>
        </p:nvSpPr>
        <p:spPr>
          <a:xfrm>
            <a:off x="2011674" y="3142293"/>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3" name="Picture 52" descr="lock.png"/>
          <p:cNvPicPr>
            <a:picLocks noChangeAspect="1"/>
          </p:cNvPicPr>
          <p:nvPr/>
        </p:nvPicPr>
        <p:blipFill>
          <a:blip r:embed="rId5"/>
          <a:stretch>
            <a:fillRect/>
          </a:stretch>
        </p:blipFill>
        <p:spPr>
          <a:xfrm>
            <a:off x="2379717" y="3134078"/>
            <a:ext cx="108107" cy="157246"/>
          </a:xfrm>
          <a:prstGeom prst="rect">
            <a:avLst/>
          </a:prstGeom>
        </p:spPr>
      </p:pic>
      <p:sp>
        <p:nvSpPr>
          <p:cNvPr id="54" name="TextBox 53"/>
          <p:cNvSpPr txBox="1"/>
          <p:nvPr/>
        </p:nvSpPr>
        <p:spPr>
          <a:xfrm>
            <a:off x="2011674" y="2819702"/>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5" name="Picture 54" descr="lock.png"/>
          <p:cNvPicPr>
            <a:picLocks noChangeAspect="1"/>
          </p:cNvPicPr>
          <p:nvPr/>
        </p:nvPicPr>
        <p:blipFill>
          <a:blip r:embed="rId5"/>
          <a:stretch>
            <a:fillRect/>
          </a:stretch>
        </p:blipFill>
        <p:spPr>
          <a:xfrm>
            <a:off x="2379717" y="2811487"/>
            <a:ext cx="108107" cy="157246"/>
          </a:xfrm>
          <a:prstGeom prst="rect">
            <a:avLst/>
          </a:prstGeom>
        </p:spPr>
      </p:pic>
      <p:sp>
        <p:nvSpPr>
          <p:cNvPr id="56" name="TextBox 55"/>
          <p:cNvSpPr txBox="1"/>
          <p:nvPr/>
        </p:nvSpPr>
        <p:spPr>
          <a:xfrm>
            <a:off x="2011674" y="2401328"/>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7" name="Picture 56" descr="lock.png"/>
          <p:cNvPicPr>
            <a:picLocks noChangeAspect="1"/>
          </p:cNvPicPr>
          <p:nvPr/>
        </p:nvPicPr>
        <p:blipFill>
          <a:blip r:embed="rId5"/>
          <a:stretch>
            <a:fillRect/>
          </a:stretch>
        </p:blipFill>
        <p:spPr>
          <a:xfrm>
            <a:off x="2379717" y="2393113"/>
            <a:ext cx="108107" cy="157246"/>
          </a:xfrm>
          <a:prstGeom prst="rect">
            <a:avLst/>
          </a:prstGeom>
        </p:spPr>
      </p:pic>
      <p:sp>
        <p:nvSpPr>
          <p:cNvPr id="58" name="TextBox 57"/>
          <p:cNvSpPr txBox="1"/>
          <p:nvPr/>
        </p:nvSpPr>
        <p:spPr>
          <a:xfrm>
            <a:off x="276225" y="5372100"/>
            <a:ext cx="856084" cy="194310"/>
          </a:xfrm>
          <a:prstGeom prst="rect">
            <a:avLst/>
          </a:prstGeom>
          <a:noFill/>
        </p:spPr>
        <p:txBody>
          <a:bodyPr wrap="none" lIns="0" rIns="0" tIns="0" bIns="0">
            <a:spAutoFit/>
          </a:bodyPr>
          <a:lstStyle/>
          <a:p>
            <a:r>
              <a:rPr sz="1150" b="0">
                <a:solidFill>
                  <a:srgbClr val="252423"/>
                </a:solidFill>
                <a:latin typeface="Segoe UI"/>
              </a:rPr>
              <a:t>▪ Optimistic:</a:t>
            </a:r>
          </a:p>
        </p:txBody>
      </p:sp>
      <p:pic>
        <p:nvPicPr>
          <p:cNvPr id="59" name="Picture 58" descr="lock.png"/>
          <p:cNvPicPr>
            <a:picLocks noChangeAspect="1"/>
          </p:cNvPicPr>
          <p:nvPr/>
        </p:nvPicPr>
        <p:blipFill>
          <a:blip r:embed="rId5"/>
          <a:stretch>
            <a:fillRect/>
          </a:stretch>
        </p:blipFill>
        <p:spPr>
          <a:xfrm>
            <a:off x="1081463" y="5361876"/>
            <a:ext cx="134549" cy="195707"/>
          </a:xfrm>
          <a:prstGeom prst="rect">
            <a:avLst/>
          </a:prstGeom>
        </p:spPr>
      </p:pic>
      <p:sp>
        <p:nvSpPr>
          <p:cNvPr id="60" name="TextBox 59"/>
          <p:cNvSpPr txBox="1"/>
          <p:nvPr/>
        </p:nvSpPr>
        <p:spPr>
          <a:xfrm>
            <a:off x="1256572" y="5372100"/>
            <a:ext cx="1302221" cy="194310"/>
          </a:xfrm>
          <a:prstGeom prst="rect">
            <a:avLst/>
          </a:prstGeom>
          <a:noFill/>
        </p:spPr>
        <p:txBody>
          <a:bodyPr wrap="none" lIns="0" rIns="0" tIns="0" bIns="0">
            <a:spAutoFit/>
          </a:bodyPr>
          <a:lstStyle/>
          <a:p>
            <a:r>
              <a:rPr sz="1150" b="0">
                <a:solidFill>
                  <a:srgbClr val="252423"/>
                </a:solidFill>
                <a:latin typeface="Segoe UI"/>
              </a:rPr>
              <a:t>US$ Mn by 2036 at</a:t>
            </a:r>
          </a:p>
        </p:txBody>
      </p:sp>
      <p:pic>
        <p:nvPicPr>
          <p:cNvPr id="61" name="Picture 60" descr="lock.png"/>
          <p:cNvPicPr>
            <a:picLocks noChangeAspect="1"/>
          </p:cNvPicPr>
          <p:nvPr/>
        </p:nvPicPr>
        <p:blipFill>
          <a:blip r:embed="rId5"/>
          <a:stretch>
            <a:fillRect/>
          </a:stretch>
        </p:blipFill>
        <p:spPr>
          <a:xfrm>
            <a:off x="2507947" y="5361876"/>
            <a:ext cx="134549" cy="195707"/>
          </a:xfrm>
          <a:prstGeom prst="rect">
            <a:avLst/>
          </a:prstGeom>
        </p:spPr>
      </p:pic>
      <p:sp>
        <p:nvSpPr>
          <p:cNvPr id="62" name="TextBox 61"/>
          <p:cNvSpPr txBox="1"/>
          <p:nvPr/>
        </p:nvSpPr>
        <p:spPr>
          <a:xfrm>
            <a:off x="2683056" y="5372100"/>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3" name="TextBox 62"/>
          <p:cNvSpPr txBox="1"/>
          <p:nvPr/>
        </p:nvSpPr>
        <p:spPr>
          <a:xfrm>
            <a:off x="276225" y="5599938"/>
            <a:ext cx="2638814" cy="194310"/>
          </a:xfrm>
          <a:prstGeom prst="rect">
            <a:avLst/>
          </a:prstGeom>
          <a:noFill/>
        </p:spPr>
        <p:txBody>
          <a:bodyPr wrap="none" lIns="0" rIns="0" tIns="0" bIns="0">
            <a:spAutoFit/>
          </a:bodyPr>
          <a:lstStyle/>
          <a:p>
            <a:r>
              <a:rPr sz="1150" b="0">
                <a:solidFill>
                  <a:srgbClr val="252423"/>
                </a:solidFill>
                <a:latin typeface="Segoe UI"/>
              </a:rPr>
              <a:t>▪ Likely (base forecast): 1,950 US$ Mn at</a:t>
            </a:r>
          </a:p>
        </p:txBody>
      </p:sp>
      <p:pic>
        <p:nvPicPr>
          <p:cNvPr id="64" name="Picture 63" descr="lock.png"/>
          <p:cNvPicPr>
            <a:picLocks noChangeAspect="1"/>
          </p:cNvPicPr>
          <p:nvPr/>
        </p:nvPicPr>
        <p:blipFill>
          <a:blip r:embed="rId5"/>
          <a:stretch>
            <a:fillRect/>
          </a:stretch>
        </p:blipFill>
        <p:spPr>
          <a:xfrm>
            <a:off x="2864193" y="5589714"/>
            <a:ext cx="134549" cy="195707"/>
          </a:xfrm>
          <a:prstGeom prst="rect">
            <a:avLst/>
          </a:prstGeom>
        </p:spPr>
      </p:pic>
      <p:sp>
        <p:nvSpPr>
          <p:cNvPr id="65" name="TextBox 64"/>
          <p:cNvSpPr txBox="1"/>
          <p:nvPr/>
        </p:nvSpPr>
        <p:spPr>
          <a:xfrm>
            <a:off x="3039302" y="5599938"/>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6" name="TextBox 65"/>
          <p:cNvSpPr txBox="1"/>
          <p:nvPr/>
        </p:nvSpPr>
        <p:spPr>
          <a:xfrm>
            <a:off x="276225" y="5827775"/>
            <a:ext cx="1022997" cy="194310"/>
          </a:xfrm>
          <a:prstGeom prst="rect">
            <a:avLst/>
          </a:prstGeom>
          <a:noFill/>
        </p:spPr>
        <p:txBody>
          <a:bodyPr wrap="none" lIns="0" rIns="0" tIns="0" bIns="0">
            <a:spAutoFit/>
          </a:bodyPr>
          <a:lstStyle/>
          <a:p>
            <a:r>
              <a:rPr sz="1150" b="0">
                <a:solidFill>
                  <a:srgbClr val="252423"/>
                </a:solidFill>
                <a:latin typeface="Segoe UI"/>
              </a:rPr>
              <a:t>▪ Conservative:</a:t>
            </a:r>
          </a:p>
        </p:txBody>
      </p:sp>
      <p:pic>
        <p:nvPicPr>
          <p:cNvPr id="67" name="Picture 66" descr="lock.png"/>
          <p:cNvPicPr>
            <a:picLocks noChangeAspect="1"/>
          </p:cNvPicPr>
          <p:nvPr/>
        </p:nvPicPr>
        <p:blipFill>
          <a:blip r:embed="rId5"/>
          <a:stretch>
            <a:fillRect/>
          </a:stretch>
        </p:blipFill>
        <p:spPr>
          <a:xfrm>
            <a:off x="1248376" y="5817552"/>
            <a:ext cx="134549" cy="195707"/>
          </a:xfrm>
          <a:prstGeom prst="rect">
            <a:avLst/>
          </a:prstGeom>
        </p:spPr>
      </p:pic>
      <p:sp>
        <p:nvSpPr>
          <p:cNvPr id="68" name="TextBox 67"/>
          <p:cNvSpPr txBox="1"/>
          <p:nvPr/>
        </p:nvSpPr>
        <p:spPr>
          <a:xfrm>
            <a:off x="1423486" y="5827775"/>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69" name="Picture 68" descr="lock.png"/>
          <p:cNvPicPr>
            <a:picLocks noChangeAspect="1"/>
          </p:cNvPicPr>
          <p:nvPr/>
        </p:nvPicPr>
        <p:blipFill>
          <a:blip r:embed="rId5"/>
          <a:stretch>
            <a:fillRect/>
          </a:stretch>
        </p:blipFill>
        <p:spPr>
          <a:xfrm>
            <a:off x="2123465" y="5817552"/>
            <a:ext cx="134549" cy="195707"/>
          </a:xfrm>
          <a:prstGeom prst="rect">
            <a:avLst/>
          </a:prstGeom>
        </p:spPr>
      </p:pic>
      <p:sp>
        <p:nvSpPr>
          <p:cNvPr id="70" name="TextBox 69"/>
          <p:cNvSpPr txBox="1"/>
          <p:nvPr/>
        </p:nvSpPr>
        <p:spPr>
          <a:xfrm>
            <a:off x="2298574" y="58277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71" name="TextBox 70"/>
          <p:cNvSpPr txBox="1"/>
          <p:nvPr/>
        </p:nvSpPr>
        <p:spPr>
          <a:xfrm>
            <a:off x="276225" y="6055613"/>
            <a:ext cx="3985849" cy="194310"/>
          </a:xfrm>
          <a:prstGeom prst="rect">
            <a:avLst/>
          </a:prstGeom>
          <a:noFill/>
        </p:spPr>
        <p:txBody>
          <a:bodyPr wrap="none" lIns="0" rIns="0" tIns="0" bIns="0">
            <a:spAutoFit/>
          </a:bodyPr>
          <a:lstStyle/>
          <a:p>
            <a:r>
              <a:rPr sz="1150" b="0">
                <a:solidFill>
                  <a:srgbClr val="252423"/>
                </a:solidFill>
                <a:latin typeface="Segoe UI"/>
              </a:rPr>
              <a:t>▪ Scenarios flex the base forecast's year-on-year growth by ±</a:t>
            </a:r>
          </a:p>
        </p:txBody>
      </p:sp>
      <p:pic>
        <p:nvPicPr>
          <p:cNvPr id="72" name="Picture 71" descr="lock.png"/>
          <p:cNvPicPr>
            <a:picLocks noChangeAspect="1"/>
          </p:cNvPicPr>
          <p:nvPr/>
        </p:nvPicPr>
        <p:blipFill>
          <a:blip r:embed="rId5"/>
          <a:stretch>
            <a:fillRect/>
          </a:stretch>
        </p:blipFill>
        <p:spPr>
          <a:xfrm>
            <a:off x="4211228" y="6045390"/>
            <a:ext cx="134549" cy="195707"/>
          </a:xfrm>
          <a:prstGeom prst="rect">
            <a:avLst/>
          </a:prstGeom>
        </p:spPr>
      </p:pic>
      <p:sp>
        <p:nvSpPr>
          <p:cNvPr id="73" name="TextBox 72"/>
          <p:cNvSpPr txBox="1"/>
          <p:nvPr/>
        </p:nvSpPr>
        <p:spPr>
          <a:xfrm>
            <a:off x="4386338" y="6055613"/>
            <a:ext cx="2030443" cy="194310"/>
          </a:xfrm>
          <a:prstGeom prst="rect">
            <a:avLst/>
          </a:prstGeom>
          <a:noFill/>
        </p:spPr>
        <p:txBody>
          <a:bodyPr wrap="none" lIns="0" rIns="0" tIns="0" bIns="0">
            <a:spAutoFit/>
          </a:bodyPr>
          <a:lstStyle/>
          <a:p>
            <a:r>
              <a:rPr sz="1150" b="0">
                <a:solidFill>
                  <a:srgbClr val="252423"/>
                </a:solidFill>
                <a:latin typeface="Segoe UI"/>
              </a:rPr>
              <a:t>across the 2026–2036 horizon.</a:t>
            </a:r>
          </a:p>
        </p:txBody>
      </p:sp>
      <p:sp>
        <p:nvSpPr>
          <p:cNvPr id="74" name="lockshield_34"/>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Lithium Polymer Portable Energy Storage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 Regional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7 regions,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Region view breaks the Global market down geographically. Each region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Region</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330779"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330779"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North America</a:t>
            </a:r>
          </a:p>
        </p:txBody>
      </p:sp>
      <p:sp>
        <p:nvSpPr>
          <p:cNvPr id="20" name="Rectangle 19"/>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370364"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3311979" y="1773916"/>
            <a:ext cx="1330779"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11979" y="1992961"/>
            <a:ext cx="1330779"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 Asia</a:t>
            </a:r>
          </a:p>
        </p:txBody>
      </p:sp>
      <p:sp>
        <p:nvSpPr>
          <p:cNvPr id="27" name="Rectangle 26"/>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3815443"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4757057" y="1773916"/>
            <a:ext cx="1330779"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7057" y="1992961"/>
            <a:ext cx="1330779"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South Asia &amp; Pacific</a:t>
            </a:r>
          </a:p>
        </p:txBody>
      </p:sp>
      <p:sp>
        <p:nvSpPr>
          <p:cNvPr id="34" name="Rectangle 33"/>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5260521"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6202136" y="1773916"/>
            <a:ext cx="1330779"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02136" y="1992961"/>
            <a:ext cx="1330779"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Latin America</a:t>
            </a:r>
          </a:p>
        </p:txBody>
      </p:sp>
      <p:sp>
        <p:nvSpPr>
          <p:cNvPr id="41" name="Rectangle 40"/>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670560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7647214" y="1773916"/>
            <a:ext cx="1330779"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647214" y="1992961"/>
            <a:ext cx="1330779"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Middle East &amp; Africa</a:t>
            </a:r>
          </a:p>
        </p:txBody>
      </p:sp>
      <p:sp>
        <p:nvSpPr>
          <p:cNvPr id="48" name="Rectangle 47"/>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49" name="Rectangle 48"/>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0" name="Rectangle 49"/>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1" name="Oval 50"/>
          <p:cNvSpPr/>
          <p:nvPr/>
        </p:nvSpPr>
        <p:spPr>
          <a:xfrm>
            <a:off x="8150679"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2" name="Rounded Rectangle 51"/>
          <p:cNvSpPr/>
          <p:nvPr/>
        </p:nvSpPr>
        <p:spPr>
          <a:xfrm>
            <a:off x="9092293" y="1773916"/>
            <a:ext cx="1330779"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92293" y="1992961"/>
            <a:ext cx="1330779"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Eastern Europe</a:t>
            </a:r>
          </a:p>
        </p:txBody>
      </p:sp>
      <p:sp>
        <p:nvSpPr>
          <p:cNvPr id="55" name="Rectangle 54"/>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6" name="Rectangle 55"/>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7" name="Rectangle 56"/>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8" name="Oval 57"/>
          <p:cNvSpPr/>
          <p:nvPr/>
        </p:nvSpPr>
        <p:spPr>
          <a:xfrm>
            <a:off x="9595757"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59" name="Rounded Rectangle 58"/>
          <p:cNvSpPr/>
          <p:nvPr/>
        </p:nvSpPr>
        <p:spPr>
          <a:xfrm>
            <a:off x="10537371" y="1773916"/>
            <a:ext cx="1330779"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537371" y="1992961"/>
            <a:ext cx="1330779"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Western Europe</a:t>
            </a:r>
          </a:p>
        </p:txBody>
      </p:sp>
      <p:sp>
        <p:nvSpPr>
          <p:cNvPr id="62" name="Rectangle 61"/>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3" name="Rectangle 62"/>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4" name="Rectangle 63"/>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5" name="Oval 64"/>
          <p:cNvSpPr/>
          <p:nvPr/>
        </p:nvSpPr>
        <p:spPr>
          <a:xfrm>
            <a:off x="11040836"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66" name="Rounded Rectangle 6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8" name="Rectangle 6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70" name="Rounded Rectangle 6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Region Insights</a:t>
            </a:r>
          </a:p>
        </p:txBody>
      </p:sp>
      <p:sp>
        <p:nvSpPr>
          <p:cNvPr id="72" name="Rectangle 7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C58A21"/>
                </a:solidFill>
                <a:latin typeface="Segoe UI"/>
              </a:rPr>
              <a:t/>
            </a:r>
            <a:r>
              <a:rPr sz="1100" b="1">
                <a:solidFill>
                  <a:srgbClr val="C58A21"/>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B5532F"/>
                </a:solidFill>
                <a:latin typeface="Segoe UI"/>
              </a:rPr>
              <a:t/>
            </a:r>
            <a:r>
              <a:rPr sz="1100" b="1">
                <a:solidFill>
                  <a:srgbClr val="B5532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2C6E7F"/>
                </a:solidFill>
                <a:latin typeface="Segoe UI"/>
              </a:rPr>
              <a:t/>
            </a:r>
            <a:r>
              <a:rPr sz="1100" b="1">
                <a:solidFill>
                  <a:srgbClr val="2C6E7F"/>
                </a:solidFill>
                <a:latin typeface="Segoe UI"/>
              </a:rPr>
              <a:t/>
            </a:r>
            <a:r>
              <a:rPr sz="1100" b="0">
                <a:solidFill>
                  <a:srgbClr val="252423"/>
                </a:solidFill>
                <a:latin typeface="Segoe UI"/>
              </a:rPr>
              <a:t/>
            </a:r>
          </a:p>
        </p:txBody>
      </p:sp>
      <p:sp>
        <p:nvSpPr>
          <p:cNvPr id="74" name="Rounded Rectangle 7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Region Overview</a:t>
            </a:r>
          </a:p>
        </p:txBody>
      </p:sp>
      <p:sp>
        <p:nvSpPr>
          <p:cNvPr id="76" name="Rectangle 7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Region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78" name="Rectangle 7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Global market is projected to grow at a CAGR of 11.6% from 2026 to 2036.</a:t>
            </a:r>
          </a:p>
        </p:txBody>
      </p:sp>
      <p:sp>
        <p:nvSpPr>
          <p:cNvPr id="80" name="TextBox 7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81" name="TextBox 8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82" name="Picture 81" descr="257_4_605E5C.png"/>
          <p:cNvPicPr>
            <a:picLocks noChangeAspect="1"/>
          </p:cNvPicPr>
          <p:nvPr/>
        </p:nvPicPr>
        <p:blipFill>
          <a:blip r:embed="rId4"/>
          <a:stretch>
            <a:fillRect/>
          </a:stretch>
        </p:blipFill>
        <p:spPr>
          <a:xfrm>
            <a:off x="1934425" y="2286582"/>
            <a:ext cx="1195728" cy="361950"/>
          </a:xfrm>
          <a:prstGeom prst="rect">
            <a:avLst/>
          </a:prstGeom>
        </p:spPr>
      </p:pic>
      <p:pic>
        <p:nvPicPr>
          <p:cNvPr id="83" name="Picture 82" descr="785_5_605E5C.png"/>
          <p:cNvPicPr>
            <a:picLocks noChangeAspect="1"/>
          </p:cNvPicPr>
          <p:nvPr/>
        </p:nvPicPr>
        <p:blipFill>
          <a:blip r:embed="rId5"/>
          <a:stretch>
            <a:fillRect/>
          </a:stretch>
        </p:blipFill>
        <p:spPr>
          <a:xfrm>
            <a:off x="1934425" y="2779432"/>
            <a:ext cx="1195728" cy="361950"/>
          </a:xfrm>
          <a:prstGeom prst="rect">
            <a:avLst/>
          </a:prstGeom>
        </p:spPr>
      </p:pic>
      <p:pic>
        <p:nvPicPr>
          <p:cNvPr id="84" name="Picture 83" descr="11_8__605E5C.png"/>
          <p:cNvPicPr>
            <a:picLocks noChangeAspect="1"/>
          </p:cNvPicPr>
          <p:nvPr/>
        </p:nvPicPr>
        <p:blipFill>
          <a:blip r:embed="rId6"/>
          <a:stretch>
            <a:fillRect/>
          </a:stretch>
        </p:blipFill>
        <p:spPr>
          <a:xfrm>
            <a:off x="1934425" y="3272281"/>
            <a:ext cx="1195728" cy="361950"/>
          </a:xfrm>
          <a:prstGeom prst="rect">
            <a:avLst/>
          </a:prstGeom>
        </p:spPr>
      </p:pic>
      <p:pic>
        <p:nvPicPr>
          <p:cNvPr id="85" name="Picture 84" descr="101_4_605E5C.png"/>
          <p:cNvPicPr>
            <a:picLocks noChangeAspect="1"/>
          </p:cNvPicPr>
          <p:nvPr/>
        </p:nvPicPr>
        <p:blipFill>
          <a:blip r:embed="rId7"/>
          <a:stretch>
            <a:fillRect/>
          </a:stretch>
        </p:blipFill>
        <p:spPr>
          <a:xfrm>
            <a:off x="3379504" y="2286582"/>
            <a:ext cx="1195728" cy="361950"/>
          </a:xfrm>
          <a:prstGeom prst="rect">
            <a:avLst/>
          </a:prstGeom>
        </p:spPr>
      </p:pic>
      <p:pic>
        <p:nvPicPr>
          <p:cNvPr id="86" name="Picture 85" descr="281_8_605E5C.png"/>
          <p:cNvPicPr>
            <a:picLocks noChangeAspect="1"/>
          </p:cNvPicPr>
          <p:nvPr/>
        </p:nvPicPr>
        <p:blipFill>
          <a:blip r:embed="rId8"/>
          <a:stretch>
            <a:fillRect/>
          </a:stretch>
        </p:blipFill>
        <p:spPr>
          <a:xfrm>
            <a:off x="3379504" y="2779432"/>
            <a:ext cx="1195728" cy="361950"/>
          </a:xfrm>
          <a:prstGeom prst="rect">
            <a:avLst/>
          </a:prstGeom>
        </p:spPr>
      </p:pic>
      <p:pic>
        <p:nvPicPr>
          <p:cNvPr id="87" name="Picture 86" descr="10_8__605E5C.png"/>
          <p:cNvPicPr>
            <a:picLocks noChangeAspect="1"/>
          </p:cNvPicPr>
          <p:nvPr/>
        </p:nvPicPr>
        <p:blipFill>
          <a:blip r:embed="rId9"/>
          <a:stretch>
            <a:fillRect/>
          </a:stretch>
        </p:blipFill>
        <p:spPr>
          <a:xfrm>
            <a:off x="3379504" y="3272281"/>
            <a:ext cx="1195728" cy="361950"/>
          </a:xfrm>
          <a:prstGeom prst="rect">
            <a:avLst/>
          </a:prstGeom>
        </p:spPr>
      </p:pic>
      <p:pic>
        <p:nvPicPr>
          <p:cNvPr id="88" name="Picture 87" descr="93_6_605E5C.png"/>
          <p:cNvPicPr>
            <a:picLocks noChangeAspect="1"/>
          </p:cNvPicPr>
          <p:nvPr/>
        </p:nvPicPr>
        <p:blipFill>
          <a:blip r:embed="rId10"/>
          <a:stretch>
            <a:fillRect/>
          </a:stretch>
        </p:blipFill>
        <p:spPr>
          <a:xfrm>
            <a:off x="4931228" y="2286582"/>
            <a:ext cx="982436" cy="361950"/>
          </a:xfrm>
          <a:prstGeom prst="rect">
            <a:avLst/>
          </a:prstGeom>
        </p:spPr>
      </p:pic>
      <p:pic>
        <p:nvPicPr>
          <p:cNvPr id="89" name="Picture 88" descr="292_0_605E5C.png"/>
          <p:cNvPicPr>
            <a:picLocks noChangeAspect="1"/>
          </p:cNvPicPr>
          <p:nvPr/>
        </p:nvPicPr>
        <p:blipFill>
          <a:blip r:embed="rId11"/>
          <a:stretch>
            <a:fillRect/>
          </a:stretch>
        </p:blipFill>
        <p:spPr>
          <a:xfrm>
            <a:off x="4824582" y="2779432"/>
            <a:ext cx="1195728" cy="361950"/>
          </a:xfrm>
          <a:prstGeom prst="rect">
            <a:avLst/>
          </a:prstGeom>
        </p:spPr>
      </p:pic>
      <p:pic>
        <p:nvPicPr>
          <p:cNvPr id="90" name="Picture 89" descr="12_0__605E5C.png"/>
          <p:cNvPicPr>
            <a:picLocks noChangeAspect="1"/>
          </p:cNvPicPr>
          <p:nvPr/>
        </p:nvPicPr>
        <p:blipFill>
          <a:blip r:embed="rId12"/>
          <a:stretch>
            <a:fillRect/>
          </a:stretch>
        </p:blipFill>
        <p:spPr>
          <a:xfrm>
            <a:off x="4824582" y="3272281"/>
            <a:ext cx="1195728" cy="361950"/>
          </a:xfrm>
          <a:prstGeom prst="rect">
            <a:avLst/>
          </a:prstGeom>
        </p:spPr>
      </p:pic>
      <p:pic>
        <p:nvPicPr>
          <p:cNvPr id="91" name="Picture 90" descr="62_4_605E5C.png"/>
          <p:cNvPicPr>
            <a:picLocks noChangeAspect="1"/>
          </p:cNvPicPr>
          <p:nvPr/>
        </p:nvPicPr>
        <p:blipFill>
          <a:blip r:embed="rId13"/>
          <a:stretch>
            <a:fillRect/>
          </a:stretch>
        </p:blipFill>
        <p:spPr>
          <a:xfrm>
            <a:off x="6376307" y="2286582"/>
            <a:ext cx="982436" cy="361950"/>
          </a:xfrm>
          <a:prstGeom prst="rect">
            <a:avLst/>
          </a:prstGeom>
        </p:spPr>
      </p:pic>
      <p:pic>
        <p:nvPicPr>
          <p:cNvPr id="92" name="Picture 91" descr="192_3_605E5C.png"/>
          <p:cNvPicPr>
            <a:picLocks noChangeAspect="1"/>
          </p:cNvPicPr>
          <p:nvPr/>
        </p:nvPicPr>
        <p:blipFill>
          <a:blip r:embed="rId14"/>
          <a:stretch>
            <a:fillRect/>
          </a:stretch>
        </p:blipFill>
        <p:spPr>
          <a:xfrm>
            <a:off x="6269661" y="2779432"/>
            <a:ext cx="1195728" cy="361950"/>
          </a:xfrm>
          <a:prstGeom prst="rect">
            <a:avLst/>
          </a:prstGeom>
        </p:spPr>
      </p:pic>
      <p:pic>
        <p:nvPicPr>
          <p:cNvPr id="93" name="Picture 92" descr="11_9__605E5C.png"/>
          <p:cNvPicPr>
            <a:picLocks noChangeAspect="1"/>
          </p:cNvPicPr>
          <p:nvPr/>
        </p:nvPicPr>
        <p:blipFill>
          <a:blip r:embed="rId15"/>
          <a:stretch>
            <a:fillRect/>
          </a:stretch>
        </p:blipFill>
        <p:spPr>
          <a:xfrm>
            <a:off x="6269661" y="3272281"/>
            <a:ext cx="1195728" cy="361950"/>
          </a:xfrm>
          <a:prstGeom prst="rect">
            <a:avLst/>
          </a:prstGeom>
        </p:spPr>
      </p:pic>
      <p:pic>
        <p:nvPicPr>
          <p:cNvPr id="94" name="Picture 93" descr="54_6_605E5C.png"/>
          <p:cNvPicPr>
            <a:picLocks noChangeAspect="1"/>
          </p:cNvPicPr>
          <p:nvPr/>
        </p:nvPicPr>
        <p:blipFill>
          <a:blip r:embed="rId16"/>
          <a:stretch>
            <a:fillRect/>
          </a:stretch>
        </p:blipFill>
        <p:spPr>
          <a:xfrm>
            <a:off x="7821385" y="2286582"/>
            <a:ext cx="982436" cy="361950"/>
          </a:xfrm>
          <a:prstGeom prst="rect">
            <a:avLst/>
          </a:prstGeom>
        </p:spPr>
      </p:pic>
      <p:pic>
        <p:nvPicPr>
          <p:cNvPr id="95" name="Picture 94" descr="154_3_605E5C.png"/>
          <p:cNvPicPr>
            <a:picLocks noChangeAspect="1"/>
          </p:cNvPicPr>
          <p:nvPr/>
        </p:nvPicPr>
        <p:blipFill>
          <a:blip r:embed="rId17"/>
          <a:stretch>
            <a:fillRect/>
          </a:stretch>
        </p:blipFill>
        <p:spPr>
          <a:xfrm>
            <a:off x="7714739" y="2779432"/>
            <a:ext cx="1195728" cy="361950"/>
          </a:xfrm>
          <a:prstGeom prst="rect">
            <a:avLst/>
          </a:prstGeom>
        </p:spPr>
      </p:pic>
      <p:pic>
        <p:nvPicPr>
          <p:cNvPr id="96" name="Picture 95" descr="10_9__605E5C.png"/>
          <p:cNvPicPr>
            <a:picLocks noChangeAspect="1"/>
          </p:cNvPicPr>
          <p:nvPr/>
        </p:nvPicPr>
        <p:blipFill>
          <a:blip r:embed="rId18"/>
          <a:stretch>
            <a:fillRect/>
          </a:stretch>
        </p:blipFill>
        <p:spPr>
          <a:xfrm>
            <a:off x="7714739" y="3272281"/>
            <a:ext cx="1195728" cy="361950"/>
          </a:xfrm>
          <a:prstGeom prst="rect">
            <a:avLst/>
          </a:prstGeom>
        </p:spPr>
      </p:pic>
      <p:pic>
        <p:nvPicPr>
          <p:cNvPr id="97" name="Picture 96" descr="47_9_605E5C.png"/>
          <p:cNvPicPr>
            <a:picLocks noChangeAspect="1"/>
          </p:cNvPicPr>
          <p:nvPr/>
        </p:nvPicPr>
        <p:blipFill>
          <a:blip r:embed="rId19"/>
          <a:stretch>
            <a:fillRect/>
          </a:stretch>
        </p:blipFill>
        <p:spPr>
          <a:xfrm>
            <a:off x="9266464" y="2286582"/>
            <a:ext cx="982436" cy="361950"/>
          </a:xfrm>
          <a:prstGeom prst="rect">
            <a:avLst/>
          </a:prstGeom>
        </p:spPr>
      </p:pic>
      <p:pic>
        <p:nvPicPr>
          <p:cNvPr id="98" name="Picture 97" descr="145_3_605E5C.png"/>
          <p:cNvPicPr>
            <a:picLocks noChangeAspect="1"/>
          </p:cNvPicPr>
          <p:nvPr/>
        </p:nvPicPr>
        <p:blipFill>
          <a:blip r:embed="rId20"/>
          <a:stretch>
            <a:fillRect/>
          </a:stretch>
        </p:blipFill>
        <p:spPr>
          <a:xfrm>
            <a:off x="9159818" y="2779432"/>
            <a:ext cx="1195728" cy="361950"/>
          </a:xfrm>
          <a:prstGeom prst="rect">
            <a:avLst/>
          </a:prstGeom>
        </p:spPr>
      </p:pic>
      <p:pic>
        <p:nvPicPr>
          <p:cNvPr id="99" name="Picture 98" descr="11_7__605E5C.png"/>
          <p:cNvPicPr>
            <a:picLocks noChangeAspect="1"/>
          </p:cNvPicPr>
          <p:nvPr/>
        </p:nvPicPr>
        <p:blipFill>
          <a:blip r:embed="rId21"/>
          <a:stretch>
            <a:fillRect/>
          </a:stretch>
        </p:blipFill>
        <p:spPr>
          <a:xfrm>
            <a:off x="9159818" y="3272281"/>
            <a:ext cx="1195728" cy="361950"/>
          </a:xfrm>
          <a:prstGeom prst="rect">
            <a:avLst/>
          </a:prstGeom>
        </p:spPr>
      </p:pic>
      <p:pic>
        <p:nvPicPr>
          <p:cNvPr id="100" name="Picture 99" descr="32_7_605E5C.png"/>
          <p:cNvPicPr>
            <a:picLocks noChangeAspect="1"/>
          </p:cNvPicPr>
          <p:nvPr/>
        </p:nvPicPr>
        <p:blipFill>
          <a:blip r:embed="rId22"/>
          <a:stretch>
            <a:fillRect/>
          </a:stretch>
        </p:blipFill>
        <p:spPr>
          <a:xfrm>
            <a:off x="10711542" y="2286582"/>
            <a:ext cx="982436" cy="361950"/>
          </a:xfrm>
          <a:prstGeom prst="rect">
            <a:avLst/>
          </a:prstGeom>
        </p:spPr>
      </p:pic>
      <p:pic>
        <p:nvPicPr>
          <p:cNvPr id="101" name="Picture 100" descr="98_9_605E5C.png"/>
          <p:cNvPicPr>
            <a:picLocks noChangeAspect="1"/>
          </p:cNvPicPr>
          <p:nvPr/>
        </p:nvPicPr>
        <p:blipFill>
          <a:blip r:embed="rId23"/>
          <a:stretch>
            <a:fillRect/>
          </a:stretch>
        </p:blipFill>
        <p:spPr>
          <a:xfrm>
            <a:off x="10711542" y="2779432"/>
            <a:ext cx="982436" cy="361950"/>
          </a:xfrm>
          <a:prstGeom prst="rect">
            <a:avLst/>
          </a:prstGeom>
        </p:spPr>
      </p:pic>
      <p:pic>
        <p:nvPicPr>
          <p:cNvPr id="102" name="Picture 101" descr="11_7__605E5C.png"/>
          <p:cNvPicPr>
            <a:picLocks noChangeAspect="1"/>
          </p:cNvPicPr>
          <p:nvPr/>
        </p:nvPicPr>
        <p:blipFill>
          <a:blip r:embed="rId21"/>
          <a:stretch>
            <a:fillRect/>
          </a:stretch>
        </p:blipFill>
        <p:spPr>
          <a:xfrm>
            <a:off x="10604896" y="3272281"/>
            <a:ext cx="1195728" cy="361950"/>
          </a:xfrm>
          <a:prstGeom prst="rect">
            <a:avLst/>
          </a:prstGeom>
        </p:spPr>
      </p:pic>
      <p:pic>
        <p:nvPicPr>
          <p:cNvPr id="103" name="Picture 102" descr="lock.png"/>
          <p:cNvPicPr>
            <a:picLocks noChangeAspect="1"/>
          </p:cNvPicPr>
          <p:nvPr/>
        </p:nvPicPr>
        <p:blipFill>
          <a:blip r:embed="rId24"/>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4"/>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4"/>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4"/>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4"/>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4"/>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4"/>
          <a:stretch>
            <a:fillRect/>
          </a:stretch>
        </p:blipFill>
        <p:spPr>
          <a:xfrm>
            <a:off x="11109415" y="2827057"/>
            <a:ext cx="183356" cy="266700"/>
          </a:xfrm>
          <a:prstGeom prst="rect">
            <a:avLst/>
          </a:prstGeom>
        </p:spPr>
      </p:pic>
      <p:sp>
        <p:nvSpPr>
          <p:cNvPr id="110" name="TextBox 109"/>
          <p:cNvSpPr txBox="1"/>
          <p:nvPr/>
        </p:nvSpPr>
        <p:spPr>
          <a:xfrm>
            <a:off x="485775" y="4229437"/>
            <a:ext cx="2775294" cy="173278"/>
          </a:xfrm>
          <a:prstGeom prst="rect">
            <a:avLst/>
          </a:prstGeom>
          <a:noFill/>
        </p:spPr>
        <p:txBody>
          <a:bodyPr wrap="none" lIns="0" rIns="0" tIns="0" bIns="0">
            <a:spAutoFit/>
          </a:bodyPr>
          <a:lstStyle/>
          <a:p>
            <a:r>
              <a:rPr sz="1011" b="0">
                <a:solidFill>
                  <a:srgbClr val="252423"/>
                </a:solidFill>
                <a:latin typeface="Segoe UI"/>
              </a:rPr>
              <a:t>North America lithium polymer portable energy</a:t>
            </a:r>
          </a:p>
        </p:txBody>
      </p:sp>
      <p:sp>
        <p:nvSpPr>
          <p:cNvPr id="111" name="TextBox 110"/>
          <p:cNvSpPr txBox="1"/>
          <p:nvPr/>
        </p:nvSpPr>
        <p:spPr>
          <a:xfrm>
            <a:off x="485775" y="4383665"/>
            <a:ext cx="2248148" cy="173278"/>
          </a:xfrm>
          <a:prstGeom prst="rect">
            <a:avLst/>
          </a:prstGeom>
          <a:noFill/>
        </p:spPr>
        <p:txBody>
          <a:bodyPr wrap="none" lIns="0" rIns="0" tIns="0" bIns="0">
            <a:spAutoFit/>
          </a:bodyPr>
          <a:lstStyle/>
          <a:p>
            <a:r>
              <a:rPr sz="1011" b="0">
                <a:solidFill>
                  <a:srgbClr val="252423"/>
                </a:solidFill>
                <a:latin typeface="Segoe UI"/>
              </a:rPr>
              <a:t>storage market is projected to register</a:t>
            </a:r>
          </a:p>
        </p:txBody>
      </p:sp>
      <p:pic>
        <p:nvPicPr>
          <p:cNvPr id="112" name="Picture 111" descr="lock.png"/>
          <p:cNvPicPr>
            <a:picLocks noChangeAspect="1"/>
          </p:cNvPicPr>
          <p:nvPr/>
        </p:nvPicPr>
        <p:blipFill>
          <a:blip r:embed="rId24"/>
          <a:stretch>
            <a:fillRect/>
          </a:stretch>
        </p:blipFill>
        <p:spPr>
          <a:xfrm>
            <a:off x="2680035" y="4374669"/>
            <a:ext cx="118403" cy="172222"/>
          </a:xfrm>
          <a:prstGeom prst="rect">
            <a:avLst/>
          </a:prstGeom>
        </p:spPr>
      </p:pic>
      <p:sp>
        <p:nvSpPr>
          <p:cNvPr id="113" name="TextBox 112"/>
          <p:cNvSpPr txBox="1"/>
          <p:nvPr/>
        </p:nvSpPr>
        <p:spPr>
          <a:xfrm>
            <a:off x="2834131" y="4383665"/>
            <a:ext cx="551638" cy="173278"/>
          </a:xfrm>
          <a:prstGeom prst="rect">
            <a:avLst/>
          </a:prstGeom>
          <a:noFill/>
        </p:spPr>
        <p:txBody>
          <a:bodyPr wrap="none" lIns="0" rIns="0" tIns="0" bIns="0">
            <a:spAutoFit/>
          </a:bodyPr>
          <a:lstStyle/>
          <a:p>
            <a:r>
              <a:rPr sz="1011" b="0">
                <a:solidFill>
                  <a:srgbClr val="252423"/>
                </a:solidFill>
                <a:latin typeface="Segoe UI"/>
              </a:rPr>
              <a:t>X higher</a:t>
            </a:r>
          </a:p>
        </p:txBody>
      </p:sp>
      <p:sp>
        <p:nvSpPr>
          <p:cNvPr id="114" name="TextBox 113"/>
          <p:cNvSpPr txBox="1"/>
          <p:nvPr/>
        </p:nvSpPr>
        <p:spPr>
          <a:xfrm>
            <a:off x="485775" y="4537894"/>
            <a:ext cx="2765316" cy="173278"/>
          </a:xfrm>
          <a:prstGeom prst="rect">
            <a:avLst/>
          </a:prstGeom>
          <a:noFill/>
        </p:spPr>
        <p:txBody>
          <a:bodyPr wrap="none" lIns="0" rIns="0" tIns="0" bIns="0">
            <a:spAutoFit/>
          </a:bodyPr>
          <a:lstStyle/>
          <a:p>
            <a:r>
              <a:rPr sz="1011" b="0">
                <a:solidFill>
                  <a:srgbClr val="252423"/>
                </a:solidFill>
                <a:latin typeface="Segoe UI"/>
              </a:rPr>
              <a:t>value than South Asia &amp; Pacific in 2036. Among</a:t>
            </a:r>
          </a:p>
        </p:txBody>
      </p:sp>
      <p:sp>
        <p:nvSpPr>
          <p:cNvPr id="115" name="TextBox 114"/>
          <p:cNvSpPr txBox="1"/>
          <p:nvPr/>
        </p:nvSpPr>
        <p:spPr>
          <a:xfrm>
            <a:off x="485775" y="4692123"/>
            <a:ext cx="2914650" cy="173278"/>
          </a:xfrm>
          <a:prstGeom prst="rect">
            <a:avLst/>
          </a:prstGeom>
          <a:noFill/>
        </p:spPr>
        <p:txBody>
          <a:bodyPr wrap="none" lIns="0" rIns="0" tIns="0" bIns="0">
            <a:spAutoFit/>
          </a:bodyPr>
          <a:lstStyle/>
          <a:p>
            <a:r>
              <a:rPr sz="1011" b="0">
                <a:solidFill>
                  <a:srgbClr val="252423"/>
                </a:solidFill>
                <a:latin typeface="Segoe UI"/>
              </a:rPr>
              <a:t>lithium polymer portable energy storage by region,</a:t>
            </a:r>
          </a:p>
        </p:txBody>
      </p:sp>
      <p:sp>
        <p:nvSpPr>
          <p:cNvPr id="116" name="TextBox 115"/>
          <p:cNvSpPr txBox="1"/>
          <p:nvPr/>
        </p:nvSpPr>
        <p:spPr>
          <a:xfrm>
            <a:off x="485775" y="4846352"/>
            <a:ext cx="2706329" cy="173278"/>
          </a:xfrm>
          <a:prstGeom prst="rect">
            <a:avLst/>
          </a:prstGeom>
          <a:noFill/>
        </p:spPr>
        <p:txBody>
          <a:bodyPr wrap="none" lIns="0" rIns="0" tIns="0" bIns="0">
            <a:spAutoFit/>
          </a:bodyPr>
          <a:lstStyle/>
          <a:p>
            <a:r>
              <a:rPr sz="1011" b="0">
                <a:solidFill>
                  <a:srgbClr val="252423"/>
                </a:solidFill>
                <a:latin typeface="Segoe UI"/>
              </a:rPr>
              <a:t>South Asia &amp; Pacific is expected to witness the</a:t>
            </a:r>
          </a:p>
        </p:txBody>
      </p:sp>
      <p:sp>
        <p:nvSpPr>
          <p:cNvPr id="117" name="TextBox 116"/>
          <p:cNvSpPr txBox="1"/>
          <p:nvPr/>
        </p:nvSpPr>
        <p:spPr>
          <a:xfrm>
            <a:off x="485775" y="5000581"/>
            <a:ext cx="1007183" cy="173278"/>
          </a:xfrm>
          <a:prstGeom prst="rect">
            <a:avLst/>
          </a:prstGeom>
          <a:noFill/>
        </p:spPr>
        <p:txBody>
          <a:bodyPr wrap="none" lIns="0" rIns="0" tIns="0" bIns="0">
            <a:spAutoFit/>
          </a:bodyPr>
          <a:lstStyle/>
          <a:p>
            <a:r>
              <a:rPr sz="1011" b="0">
                <a:solidFill>
                  <a:srgbClr val="252423"/>
                </a:solidFill>
                <a:latin typeface="Segoe UI"/>
              </a:rPr>
              <a:t>highest CAGR of</a:t>
            </a:r>
          </a:p>
        </p:txBody>
      </p:sp>
      <p:pic>
        <p:nvPicPr>
          <p:cNvPr id="118" name="Picture 117" descr="lock.png"/>
          <p:cNvPicPr>
            <a:picLocks noChangeAspect="1"/>
          </p:cNvPicPr>
          <p:nvPr/>
        </p:nvPicPr>
        <p:blipFill>
          <a:blip r:embed="rId24"/>
          <a:stretch>
            <a:fillRect/>
          </a:stretch>
        </p:blipFill>
        <p:spPr>
          <a:xfrm>
            <a:off x="1439069" y="4991584"/>
            <a:ext cx="118403" cy="172222"/>
          </a:xfrm>
          <a:prstGeom prst="rect">
            <a:avLst/>
          </a:prstGeom>
        </p:spPr>
      </p:pic>
      <p:sp>
        <p:nvSpPr>
          <p:cNvPr id="119" name="TextBox 118"/>
          <p:cNvSpPr txBox="1"/>
          <p:nvPr/>
        </p:nvSpPr>
        <p:spPr>
          <a:xfrm>
            <a:off x="1593165" y="5000581"/>
            <a:ext cx="1462312" cy="173278"/>
          </a:xfrm>
          <a:prstGeom prst="rect">
            <a:avLst/>
          </a:prstGeom>
          <a:noFill/>
        </p:spPr>
        <p:txBody>
          <a:bodyPr wrap="none" lIns="0" rIns="0" tIns="0" bIns="0">
            <a:spAutoFit/>
          </a:bodyPr>
          <a:lstStyle/>
          <a:p>
            <a:r>
              <a:rPr sz="1011" b="0">
                <a:solidFill>
                  <a:srgbClr val="252423"/>
                </a:solidFill>
                <a:latin typeface="Segoe UI"/>
              </a:rPr>
              <a:t>over the forecast period.</a:t>
            </a:r>
          </a:p>
        </p:txBody>
      </p:sp>
      <p:sp>
        <p:nvSpPr>
          <p:cNvPr id="120" name="TextBox 119"/>
          <p:cNvSpPr txBox="1"/>
          <p:nvPr/>
        </p:nvSpPr>
        <p:spPr>
          <a:xfrm>
            <a:off x="485775" y="5201078"/>
            <a:ext cx="2914650" cy="173278"/>
          </a:xfrm>
          <a:prstGeom prst="rect">
            <a:avLst/>
          </a:prstGeom>
          <a:noFill/>
        </p:spPr>
        <p:txBody>
          <a:bodyPr wrap="none" lIns="0" rIns="0" tIns="0" bIns="0">
            <a:spAutoFit/>
          </a:bodyPr>
          <a:lstStyle/>
          <a:p>
            <a:r>
              <a:rPr sz="1011" b="0">
                <a:solidFill>
                  <a:srgbClr val="252423"/>
                </a:solidFill>
                <a:latin typeface="Segoe UI"/>
              </a:rPr>
              <a:t>In terms of value share by region, North America is</a:t>
            </a:r>
          </a:p>
        </p:txBody>
      </p:sp>
      <p:sp>
        <p:nvSpPr>
          <p:cNvPr id="121" name="TextBox 120"/>
          <p:cNvSpPr txBox="1"/>
          <p:nvPr/>
        </p:nvSpPr>
        <p:spPr>
          <a:xfrm>
            <a:off x="485775" y="5355307"/>
            <a:ext cx="2460836" cy="173278"/>
          </a:xfrm>
          <a:prstGeom prst="rect">
            <a:avLst/>
          </a:prstGeom>
          <a:noFill/>
        </p:spPr>
        <p:txBody>
          <a:bodyPr wrap="none" lIns="0" rIns="0" tIns="0" bIns="0">
            <a:spAutoFit/>
          </a:bodyPr>
          <a:lstStyle/>
          <a:p>
            <a:r>
              <a:rPr sz="1011" b="0">
                <a:solidFill>
                  <a:srgbClr val="252423"/>
                </a:solidFill>
                <a:latin typeface="Segoe UI"/>
              </a:rPr>
              <a:t>expected to dominate the market, gaining</a:t>
            </a:r>
          </a:p>
        </p:txBody>
      </p:sp>
      <p:pic>
        <p:nvPicPr>
          <p:cNvPr id="122" name="Picture 121" descr="lock.png"/>
          <p:cNvPicPr>
            <a:picLocks noChangeAspect="1"/>
          </p:cNvPicPr>
          <p:nvPr/>
        </p:nvPicPr>
        <p:blipFill>
          <a:blip r:embed="rId24"/>
          <a:stretch>
            <a:fillRect/>
          </a:stretch>
        </p:blipFill>
        <p:spPr>
          <a:xfrm>
            <a:off x="2892722" y="5346310"/>
            <a:ext cx="118403" cy="172222"/>
          </a:xfrm>
          <a:prstGeom prst="rect">
            <a:avLst/>
          </a:prstGeom>
        </p:spPr>
      </p:pic>
      <p:sp>
        <p:nvSpPr>
          <p:cNvPr id="123" name="TextBox 122"/>
          <p:cNvSpPr txBox="1"/>
          <p:nvPr/>
        </p:nvSpPr>
        <p:spPr>
          <a:xfrm>
            <a:off x="3046818" y="5355307"/>
            <a:ext cx="290322" cy="173278"/>
          </a:xfrm>
          <a:prstGeom prst="rect">
            <a:avLst/>
          </a:prstGeom>
          <a:noFill/>
        </p:spPr>
        <p:txBody>
          <a:bodyPr wrap="none" lIns="0" rIns="0" tIns="0" bIns="0">
            <a:spAutoFit/>
          </a:bodyPr>
          <a:lstStyle/>
          <a:p>
            <a:r>
              <a:rPr sz="1011" b="0">
                <a:solidFill>
                  <a:srgbClr val="252423"/>
                </a:solidFill>
                <a:latin typeface="Segoe UI"/>
              </a:rPr>
              <a:t>BPS</a:t>
            </a:r>
          </a:p>
        </p:txBody>
      </p:sp>
      <p:sp>
        <p:nvSpPr>
          <p:cNvPr id="124" name="TextBox 123"/>
          <p:cNvSpPr txBox="1"/>
          <p:nvPr/>
        </p:nvSpPr>
        <p:spPr>
          <a:xfrm>
            <a:off x="485775" y="5509536"/>
            <a:ext cx="1149576" cy="173278"/>
          </a:xfrm>
          <a:prstGeom prst="rect">
            <a:avLst/>
          </a:prstGeom>
          <a:noFill/>
        </p:spPr>
        <p:txBody>
          <a:bodyPr wrap="none" lIns="0" rIns="0" tIns="0" bIns="0">
            <a:spAutoFit/>
          </a:bodyPr>
          <a:lstStyle/>
          <a:p>
            <a:r>
              <a:rPr sz="1011" b="0">
                <a:solidFill>
                  <a:srgbClr val="252423"/>
                </a:solidFill>
                <a:latin typeface="Segoe UI"/>
              </a:rPr>
              <a:t>and accounting for</a:t>
            </a:r>
          </a:p>
        </p:txBody>
      </p:sp>
      <p:pic>
        <p:nvPicPr>
          <p:cNvPr id="125" name="Picture 124" descr="lock.png"/>
          <p:cNvPicPr>
            <a:picLocks noChangeAspect="1"/>
          </p:cNvPicPr>
          <p:nvPr/>
        </p:nvPicPr>
        <p:blipFill>
          <a:blip r:embed="rId24"/>
          <a:stretch>
            <a:fillRect/>
          </a:stretch>
        </p:blipFill>
        <p:spPr>
          <a:xfrm>
            <a:off x="1581462" y="5500539"/>
            <a:ext cx="118403" cy="172222"/>
          </a:xfrm>
          <a:prstGeom prst="rect">
            <a:avLst/>
          </a:prstGeom>
        </p:spPr>
      </p:pic>
      <p:sp>
        <p:nvSpPr>
          <p:cNvPr id="126" name="TextBox 125"/>
          <p:cNvSpPr txBox="1"/>
          <p:nvPr/>
        </p:nvSpPr>
        <p:spPr>
          <a:xfrm>
            <a:off x="1735558" y="5509536"/>
            <a:ext cx="1547671" cy="173278"/>
          </a:xfrm>
          <a:prstGeom prst="rect">
            <a:avLst/>
          </a:prstGeom>
          <a:noFill/>
        </p:spPr>
        <p:txBody>
          <a:bodyPr wrap="none" lIns="0" rIns="0" tIns="0" bIns="0">
            <a:spAutoFit/>
          </a:bodyPr>
          <a:lstStyle/>
          <a:p>
            <a:r>
              <a:rPr sz="1011" b="0">
                <a:solidFill>
                  <a:srgbClr val="252423"/>
                </a:solidFill>
                <a:latin typeface="Segoe UI"/>
              </a:rPr>
              <a:t>share by 2036. East Asia is</a:t>
            </a:r>
          </a:p>
        </p:txBody>
      </p:sp>
      <p:sp>
        <p:nvSpPr>
          <p:cNvPr id="127" name="TextBox 126"/>
          <p:cNvSpPr txBox="1"/>
          <p:nvPr/>
        </p:nvSpPr>
        <p:spPr>
          <a:xfrm>
            <a:off x="485775" y="5663764"/>
            <a:ext cx="1008971" cy="173278"/>
          </a:xfrm>
          <a:prstGeom prst="rect">
            <a:avLst/>
          </a:prstGeom>
          <a:noFill/>
        </p:spPr>
        <p:txBody>
          <a:bodyPr wrap="none" lIns="0" rIns="0" tIns="0" bIns="0">
            <a:spAutoFit/>
          </a:bodyPr>
          <a:lstStyle/>
          <a:p>
            <a:r>
              <a:rPr sz="1011" b="0">
                <a:solidFill>
                  <a:srgbClr val="252423"/>
                </a:solidFill>
                <a:latin typeface="Segoe UI"/>
              </a:rPr>
              <a:t>expected to lose</a:t>
            </a:r>
          </a:p>
        </p:txBody>
      </p:sp>
      <p:pic>
        <p:nvPicPr>
          <p:cNvPr id="128" name="Picture 127" descr="lock.png"/>
          <p:cNvPicPr>
            <a:picLocks noChangeAspect="1"/>
          </p:cNvPicPr>
          <p:nvPr/>
        </p:nvPicPr>
        <p:blipFill>
          <a:blip r:embed="rId24"/>
          <a:stretch>
            <a:fillRect/>
          </a:stretch>
        </p:blipFill>
        <p:spPr>
          <a:xfrm>
            <a:off x="1440858" y="5654768"/>
            <a:ext cx="118403" cy="172222"/>
          </a:xfrm>
          <a:prstGeom prst="rect">
            <a:avLst/>
          </a:prstGeom>
        </p:spPr>
      </p:pic>
      <p:sp>
        <p:nvSpPr>
          <p:cNvPr id="129" name="TextBox 128"/>
          <p:cNvSpPr txBox="1"/>
          <p:nvPr/>
        </p:nvSpPr>
        <p:spPr>
          <a:xfrm>
            <a:off x="1594954" y="5663764"/>
            <a:ext cx="1683714" cy="173278"/>
          </a:xfrm>
          <a:prstGeom prst="rect">
            <a:avLst/>
          </a:prstGeom>
          <a:noFill/>
        </p:spPr>
        <p:txBody>
          <a:bodyPr wrap="none" lIns="0" rIns="0" tIns="0" bIns="0">
            <a:spAutoFit/>
          </a:bodyPr>
          <a:lstStyle/>
          <a:p>
            <a:r>
              <a:rPr sz="1011" b="0">
                <a:solidFill>
                  <a:srgbClr val="252423"/>
                </a:solidFill>
                <a:latin typeface="Segoe UI"/>
              </a:rPr>
              <a:t>BPS over the forecast period</a:t>
            </a:r>
          </a:p>
        </p:txBody>
      </p:sp>
      <p:sp>
        <p:nvSpPr>
          <p:cNvPr id="130" name="TextBox 129"/>
          <p:cNvSpPr txBox="1"/>
          <p:nvPr/>
        </p:nvSpPr>
        <p:spPr>
          <a:xfrm>
            <a:off x="485775" y="5817993"/>
            <a:ext cx="874689" cy="173278"/>
          </a:xfrm>
          <a:prstGeom prst="rect">
            <a:avLst/>
          </a:prstGeom>
          <a:noFill/>
        </p:spPr>
        <p:txBody>
          <a:bodyPr wrap="none" lIns="0" rIns="0" tIns="0" bIns="0">
            <a:spAutoFit/>
          </a:bodyPr>
          <a:lstStyle/>
          <a:p>
            <a:r>
              <a:rPr sz="1011" b="0">
                <a:solidFill>
                  <a:srgbClr val="252423"/>
                </a:solidFill>
                <a:latin typeface="Segoe UI"/>
              </a:rPr>
              <a:t>to account for</a:t>
            </a:r>
          </a:p>
        </p:txBody>
      </p:sp>
      <p:pic>
        <p:nvPicPr>
          <p:cNvPr id="131" name="Picture 130" descr="lock.png"/>
          <p:cNvPicPr>
            <a:picLocks noChangeAspect="1"/>
          </p:cNvPicPr>
          <p:nvPr/>
        </p:nvPicPr>
        <p:blipFill>
          <a:blip r:embed="rId24"/>
          <a:stretch>
            <a:fillRect/>
          </a:stretch>
        </p:blipFill>
        <p:spPr>
          <a:xfrm>
            <a:off x="1306576" y="5808996"/>
            <a:ext cx="118403" cy="172222"/>
          </a:xfrm>
          <a:prstGeom prst="rect">
            <a:avLst/>
          </a:prstGeom>
        </p:spPr>
      </p:pic>
      <p:sp>
        <p:nvSpPr>
          <p:cNvPr id="132" name="TextBox 131"/>
          <p:cNvSpPr txBox="1"/>
          <p:nvPr/>
        </p:nvSpPr>
        <p:spPr>
          <a:xfrm>
            <a:off x="1460672" y="5817993"/>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133" name="TextBox 132"/>
          <p:cNvSpPr txBox="1"/>
          <p:nvPr/>
        </p:nvSpPr>
        <p:spPr>
          <a:xfrm>
            <a:off x="3838575" y="4229437"/>
            <a:ext cx="1130562" cy="186689"/>
          </a:xfrm>
          <a:prstGeom prst="rect">
            <a:avLst/>
          </a:prstGeom>
          <a:noFill/>
        </p:spPr>
        <p:txBody>
          <a:bodyPr wrap="none" lIns="0" rIns="0" tIns="0" bIns="0">
            <a:spAutoFit/>
          </a:bodyPr>
          <a:lstStyle/>
          <a:p>
            <a:r>
              <a:rPr sz="1100" b="0">
                <a:solidFill>
                  <a:srgbClr val="252423"/>
                </a:solidFill>
                <a:latin typeface="Segoe UI"/>
              </a:rPr>
              <a:t>● North America:</a:t>
            </a:r>
          </a:p>
        </p:txBody>
      </p:sp>
      <p:pic>
        <p:nvPicPr>
          <p:cNvPr id="134" name="Picture 133" descr="lock.png"/>
          <p:cNvPicPr>
            <a:picLocks noChangeAspect="1"/>
          </p:cNvPicPr>
          <p:nvPr/>
        </p:nvPicPr>
        <p:blipFill>
          <a:blip r:embed="rId24"/>
          <a:stretch>
            <a:fillRect/>
          </a:stretch>
        </p:blipFill>
        <p:spPr>
          <a:xfrm>
            <a:off x="4917188" y="4219658"/>
            <a:ext cx="128699" cy="187198"/>
          </a:xfrm>
          <a:prstGeom prst="rect">
            <a:avLst/>
          </a:prstGeom>
        </p:spPr>
      </p:pic>
      <p:sp>
        <p:nvSpPr>
          <p:cNvPr id="135" name="TextBox 134"/>
          <p:cNvSpPr txBox="1"/>
          <p:nvPr/>
        </p:nvSpPr>
        <p:spPr>
          <a:xfrm>
            <a:off x="5084684"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36" name="Picture 135" descr="lock.png"/>
          <p:cNvPicPr>
            <a:picLocks noChangeAspect="1"/>
          </p:cNvPicPr>
          <p:nvPr/>
        </p:nvPicPr>
        <p:blipFill>
          <a:blip r:embed="rId24"/>
          <a:stretch>
            <a:fillRect/>
          </a:stretch>
        </p:blipFill>
        <p:spPr>
          <a:xfrm>
            <a:off x="6004631" y="4219658"/>
            <a:ext cx="128699" cy="187198"/>
          </a:xfrm>
          <a:prstGeom prst="rect">
            <a:avLst/>
          </a:prstGeom>
        </p:spPr>
      </p:pic>
      <p:sp>
        <p:nvSpPr>
          <p:cNvPr id="137" name="TextBox 136"/>
          <p:cNvSpPr txBox="1"/>
          <p:nvPr/>
        </p:nvSpPr>
        <p:spPr>
          <a:xfrm>
            <a:off x="6172127" y="4229437"/>
            <a:ext cx="1526606" cy="186689"/>
          </a:xfrm>
          <a:prstGeom prst="rect">
            <a:avLst/>
          </a:prstGeom>
          <a:noFill/>
        </p:spPr>
        <p:txBody>
          <a:bodyPr wrap="none" lIns="0" rIns="0" tIns="0" bIns="0">
            <a:spAutoFit/>
          </a:bodyPr>
          <a:lstStyle/>
          <a:p>
            <a:r>
              <a:rPr sz="1100" b="0">
                <a:solidFill>
                  <a:srgbClr val="252423"/>
                </a:solidFill>
                <a:latin typeface="Segoe UI"/>
              </a:rPr>
              <a:t>CAGR leads the market.</a:t>
            </a:r>
          </a:p>
        </p:txBody>
      </p:sp>
      <p:sp>
        <p:nvSpPr>
          <p:cNvPr id="138" name="TextBox 137"/>
          <p:cNvSpPr txBox="1"/>
          <p:nvPr/>
        </p:nvSpPr>
        <p:spPr>
          <a:xfrm>
            <a:off x="3838575" y="4447369"/>
            <a:ext cx="770061" cy="186689"/>
          </a:xfrm>
          <a:prstGeom prst="rect">
            <a:avLst/>
          </a:prstGeom>
          <a:noFill/>
        </p:spPr>
        <p:txBody>
          <a:bodyPr wrap="none" lIns="0" rIns="0" tIns="0" bIns="0">
            <a:spAutoFit/>
          </a:bodyPr>
          <a:lstStyle/>
          <a:p>
            <a:r>
              <a:rPr sz="1100" b="0">
                <a:solidFill>
                  <a:srgbClr val="252423"/>
                </a:solidFill>
                <a:latin typeface="Segoe UI"/>
              </a:rPr>
              <a:t>● East Asia:</a:t>
            </a:r>
          </a:p>
        </p:txBody>
      </p:sp>
      <p:pic>
        <p:nvPicPr>
          <p:cNvPr id="139" name="Picture 138" descr="lock.png"/>
          <p:cNvPicPr>
            <a:picLocks noChangeAspect="1"/>
          </p:cNvPicPr>
          <p:nvPr/>
        </p:nvPicPr>
        <p:blipFill>
          <a:blip r:embed="rId24"/>
          <a:stretch>
            <a:fillRect/>
          </a:stretch>
        </p:blipFill>
        <p:spPr>
          <a:xfrm>
            <a:off x="4556688" y="4437590"/>
            <a:ext cx="128699" cy="187198"/>
          </a:xfrm>
          <a:prstGeom prst="rect">
            <a:avLst/>
          </a:prstGeom>
        </p:spPr>
      </p:pic>
      <p:sp>
        <p:nvSpPr>
          <p:cNvPr id="140" name="TextBox 139"/>
          <p:cNvSpPr txBox="1"/>
          <p:nvPr/>
        </p:nvSpPr>
        <p:spPr>
          <a:xfrm>
            <a:off x="4724183" y="444736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41" name="Picture 140" descr="lock.png"/>
          <p:cNvPicPr>
            <a:picLocks noChangeAspect="1"/>
          </p:cNvPicPr>
          <p:nvPr/>
        </p:nvPicPr>
        <p:blipFill>
          <a:blip r:embed="rId24"/>
          <a:stretch>
            <a:fillRect/>
          </a:stretch>
        </p:blipFill>
        <p:spPr>
          <a:xfrm>
            <a:off x="5644130" y="4437590"/>
            <a:ext cx="128699" cy="187198"/>
          </a:xfrm>
          <a:prstGeom prst="rect">
            <a:avLst/>
          </a:prstGeom>
        </p:spPr>
      </p:pic>
      <p:sp>
        <p:nvSpPr>
          <p:cNvPr id="142" name="TextBox 141"/>
          <p:cNvSpPr txBox="1"/>
          <p:nvPr/>
        </p:nvSpPr>
        <p:spPr>
          <a:xfrm>
            <a:off x="5811626" y="444736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43" name="TextBox 142"/>
          <p:cNvSpPr txBox="1"/>
          <p:nvPr/>
        </p:nvSpPr>
        <p:spPr>
          <a:xfrm>
            <a:off x="3838575" y="4665301"/>
            <a:ext cx="1461672" cy="186689"/>
          </a:xfrm>
          <a:prstGeom prst="rect">
            <a:avLst/>
          </a:prstGeom>
          <a:noFill/>
        </p:spPr>
        <p:txBody>
          <a:bodyPr wrap="none" lIns="0" rIns="0" tIns="0" bIns="0">
            <a:spAutoFit/>
          </a:bodyPr>
          <a:lstStyle/>
          <a:p>
            <a:r>
              <a:rPr sz="1100" b="0">
                <a:solidFill>
                  <a:srgbClr val="252423"/>
                </a:solidFill>
                <a:latin typeface="Segoe UI"/>
              </a:rPr>
              <a:t>● South Asia &amp; Pacific:</a:t>
            </a:r>
          </a:p>
        </p:txBody>
      </p:sp>
      <p:pic>
        <p:nvPicPr>
          <p:cNvPr id="144" name="Picture 143" descr="lock.png"/>
          <p:cNvPicPr>
            <a:picLocks noChangeAspect="1"/>
          </p:cNvPicPr>
          <p:nvPr/>
        </p:nvPicPr>
        <p:blipFill>
          <a:blip r:embed="rId24"/>
          <a:stretch>
            <a:fillRect/>
          </a:stretch>
        </p:blipFill>
        <p:spPr>
          <a:xfrm>
            <a:off x="5248298" y="4655522"/>
            <a:ext cx="128699" cy="187198"/>
          </a:xfrm>
          <a:prstGeom prst="rect">
            <a:avLst/>
          </a:prstGeom>
        </p:spPr>
      </p:pic>
      <p:sp>
        <p:nvSpPr>
          <p:cNvPr id="145" name="TextBox 144"/>
          <p:cNvSpPr txBox="1"/>
          <p:nvPr/>
        </p:nvSpPr>
        <p:spPr>
          <a:xfrm>
            <a:off x="5415794" y="466530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46" name="Picture 145" descr="lock.png"/>
          <p:cNvPicPr>
            <a:picLocks noChangeAspect="1"/>
          </p:cNvPicPr>
          <p:nvPr/>
        </p:nvPicPr>
        <p:blipFill>
          <a:blip r:embed="rId24"/>
          <a:stretch>
            <a:fillRect/>
          </a:stretch>
        </p:blipFill>
        <p:spPr>
          <a:xfrm>
            <a:off x="6335740" y="4655522"/>
            <a:ext cx="128699" cy="187198"/>
          </a:xfrm>
          <a:prstGeom prst="rect">
            <a:avLst/>
          </a:prstGeom>
        </p:spPr>
      </p:pic>
      <p:sp>
        <p:nvSpPr>
          <p:cNvPr id="147" name="TextBox 146"/>
          <p:cNvSpPr txBox="1"/>
          <p:nvPr/>
        </p:nvSpPr>
        <p:spPr>
          <a:xfrm>
            <a:off x="6503236" y="4665301"/>
            <a:ext cx="843126" cy="186689"/>
          </a:xfrm>
          <a:prstGeom prst="rect">
            <a:avLst/>
          </a:prstGeom>
          <a:noFill/>
        </p:spPr>
        <p:txBody>
          <a:bodyPr wrap="none" lIns="0" rIns="0" tIns="0" bIns="0">
            <a:spAutoFit/>
          </a:bodyPr>
          <a:lstStyle/>
          <a:p>
            <a:r>
              <a:rPr sz="1100" b="0">
                <a:solidFill>
                  <a:srgbClr val="252423"/>
                </a:solidFill>
                <a:latin typeface="Segoe UI"/>
              </a:rPr>
              <a:t>CAGR grows</a:t>
            </a:r>
          </a:p>
        </p:txBody>
      </p:sp>
      <p:sp>
        <p:nvSpPr>
          <p:cNvPr id="148" name="TextBox 147"/>
          <p:cNvSpPr txBox="1"/>
          <p:nvPr/>
        </p:nvSpPr>
        <p:spPr>
          <a:xfrm>
            <a:off x="3838575" y="4832941"/>
            <a:ext cx="507834" cy="186689"/>
          </a:xfrm>
          <a:prstGeom prst="rect">
            <a:avLst/>
          </a:prstGeom>
          <a:noFill/>
        </p:spPr>
        <p:txBody>
          <a:bodyPr wrap="none" lIns="0" rIns="0" tIns="0" bIns="0">
            <a:spAutoFit/>
          </a:bodyPr>
          <a:lstStyle/>
          <a:p>
            <a:r>
              <a:rPr sz="1100" b="0">
                <a:solidFill>
                  <a:srgbClr val="252423"/>
                </a:solidFill>
                <a:latin typeface="Segoe UI"/>
              </a:rPr>
              <a:t>fastest.</a:t>
            </a:r>
          </a:p>
        </p:txBody>
      </p:sp>
      <p:sp>
        <p:nvSpPr>
          <p:cNvPr id="149" name="TextBox 148"/>
          <p:cNvSpPr txBox="1"/>
          <p:nvPr/>
        </p:nvSpPr>
        <p:spPr>
          <a:xfrm>
            <a:off x="3838575" y="5050872"/>
            <a:ext cx="1066378" cy="186689"/>
          </a:xfrm>
          <a:prstGeom prst="rect">
            <a:avLst/>
          </a:prstGeom>
          <a:noFill/>
        </p:spPr>
        <p:txBody>
          <a:bodyPr wrap="none" lIns="0" rIns="0" tIns="0" bIns="0">
            <a:spAutoFit/>
          </a:bodyPr>
          <a:lstStyle/>
          <a:p>
            <a:r>
              <a:rPr sz="1100" b="0">
                <a:solidFill>
                  <a:srgbClr val="252423"/>
                </a:solidFill>
                <a:latin typeface="Segoe UI"/>
              </a:rPr>
              <a:t>● Latin America:</a:t>
            </a:r>
          </a:p>
        </p:txBody>
      </p:sp>
      <p:pic>
        <p:nvPicPr>
          <p:cNvPr id="150" name="Picture 149" descr="lock.png"/>
          <p:cNvPicPr>
            <a:picLocks noChangeAspect="1"/>
          </p:cNvPicPr>
          <p:nvPr/>
        </p:nvPicPr>
        <p:blipFill>
          <a:blip r:embed="rId24"/>
          <a:stretch>
            <a:fillRect/>
          </a:stretch>
        </p:blipFill>
        <p:spPr>
          <a:xfrm>
            <a:off x="4853004" y="5041093"/>
            <a:ext cx="128699" cy="187198"/>
          </a:xfrm>
          <a:prstGeom prst="rect">
            <a:avLst/>
          </a:prstGeom>
        </p:spPr>
      </p:pic>
      <p:sp>
        <p:nvSpPr>
          <p:cNvPr id="151" name="TextBox 150"/>
          <p:cNvSpPr txBox="1"/>
          <p:nvPr/>
        </p:nvSpPr>
        <p:spPr>
          <a:xfrm>
            <a:off x="5020500" y="5050872"/>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52" name="Picture 151" descr="lock.png"/>
          <p:cNvPicPr>
            <a:picLocks noChangeAspect="1"/>
          </p:cNvPicPr>
          <p:nvPr/>
        </p:nvPicPr>
        <p:blipFill>
          <a:blip r:embed="rId24"/>
          <a:stretch>
            <a:fillRect/>
          </a:stretch>
        </p:blipFill>
        <p:spPr>
          <a:xfrm>
            <a:off x="5940447" y="5041093"/>
            <a:ext cx="128699" cy="187198"/>
          </a:xfrm>
          <a:prstGeom prst="rect">
            <a:avLst/>
          </a:prstGeom>
        </p:spPr>
      </p:pic>
      <p:sp>
        <p:nvSpPr>
          <p:cNvPr id="153" name="TextBox 152"/>
          <p:cNvSpPr txBox="1"/>
          <p:nvPr/>
        </p:nvSpPr>
        <p:spPr>
          <a:xfrm>
            <a:off x="6107943" y="5050872"/>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54" name="TextBox 153"/>
          <p:cNvSpPr txBox="1"/>
          <p:nvPr/>
        </p:nvSpPr>
        <p:spPr>
          <a:xfrm>
            <a:off x="3838575" y="5268804"/>
            <a:ext cx="1487115" cy="186689"/>
          </a:xfrm>
          <a:prstGeom prst="rect">
            <a:avLst/>
          </a:prstGeom>
          <a:noFill/>
        </p:spPr>
        <p:txBody>
          <a:bodyPr wrap="none" lIns="0" rIns="0" tIns="0" bIns="0">
            <a:spAutoFit/>
          </a:bodyPr>
          <a:lstStyle/>
          <a:p>
            <a:r>
              <a:rPr sz="1100" b="0">
                <a:solidFill>
                  <a:srgbClr val="252423"/>
                </a:solidFill>
                <a:latin typeface="Segoe UI"/>
              </a:rPr>
              <a:t>● Middle East &amp; Africa:</a:t>
            </a:r>
          </a:p>
        </p:txBody>
      </p:sp>
      <p:pic>
        <p:nvPicPr>
          <p:cNvPr id="155" name="Picture 154" descr="lock.png"/>
          <p:cNvPicPr>
            <a:picLocks noChangeAspect="1"/>
          </p:cNvPicPr>
          <p:nvPr/>
        </p:nvPicPr>
        <p:blipFill>
          <a:blip r:embed="rId24"/>
          <a:stretch>
            <a:fillRect/>
          </a:stretch>
        </p:blipFill>
        <p:spPr>
          <a:xfrm>
            <a:off x="5273742" y="5259025"/>
            <a:ext cx="128699" cy="187198"/>
          </a:xfrm>
          <a:prstGeom prst="rect">
            <a:avLst/>
          </a:prstGeom>
        </p:spPr>
      </p:pic>
      <p:sp>
        <p:nvSpPr>
          <p:cNvPr id="156" name="TextBox 155"/>
          <p:cNvSpPr txBox="1"/>
          <p:nvPr/>
        </p:nvSpPr>
        <p:spPr>
          <a:xfrm>
            <a:off x="5441237" y="5268804"/>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57" name="Picture 156" descr="lock.png"/>
          <p:cNvPicPr>
            <a:picLocks noChangeAspect="1"/>
          </p:cNvPicPr>
          <p:nvPr/>
        </p:nvPicPr>
        <p:blipFill>
          <a:blip r:embed="rId24"/>
          <a:stretch>
            <a:fillRect/>
          </a:stretch>
        </p:blipFill>
        <p:spPr>
          <a:xfrm>
            <a:off x="6361184" y="5259025"/>
            <a:ext cx="128699" cy="187198"/>
          </a:xfrm>
          <a:prstGeom prst="rect">
            <a:avLst/>
          </a:prstGeom>
        </p:spPr>
      </p:pic>
      <p:sp>
        <p:nvSpPr>
          <p:cNvPr id="158" name="TextBox 157"/>
          <p:cNvSpPr txBox="1"/>
          <p:nvPr/>
        </p:nvSpPr>
        <p:spPr>
          <a:xfrm>
            <a:off x="6528680" y="5268804"/>
            <a:ext cx="1019690" cy="186689"/>
          </a:xfrm>
          <a:prstGeom prst="rect">
            <a:avLst/>
          </a:prstGeom>
          <a:noFill/>
        </p:spPr>
        <p:txBody>
          <a:bodyPr wrap="none" lIns="0" rIns="0" tIns="0" bIns="0">
            <a:spAutoFit/>
          </a:bodyPr>
          <a:lstStyle/>
          <a:p>
            <a:r>
              <a:rPr sz="1100" b="0">
                <a:solidFill>
                  <a:srgbClr val="252423"/>
                </a:solidFill>
                <a:latin typeface="Segoe UI"/>
              </a:rPr>
              <a:t>CAGR a smaller</a:t>
            </a:r>
          </a:p>
        </p:txBody>
      </p:sp>
      <p:sp>
        <p:nvSpPr>
          <p:cNvPr id="159" name="TextBox 158"/>
          <p:cNvSpPr txBox="1"/>
          <p:nvPr/>
        </p:nvSpPr>
        <p:spPr>
          <a:xfrm>
            <a:off x="3838575" y="5436445"/>
            <a:ext cx="536730" cy="186689"/>
          </a:xfrm>
          <a:prstGeom prst="rect">
            <a:avLst/>
          </a:prstGeom>
          <a:noFill/>
        </p:spPr>
        <p:txBody>
          <a:bodyPr wrap="none" lIns="0" rIns="0" tIns="0" bIns="0">
            <a:spAutoFit/>
          </a:bodyPr>
          <a:lstStyle/>
          <a:p>
            <a:r>
              <a:rPr sz="1100" b="0">
                <a:solidFill>
                  <a:srgbClr val="252423"/>
                </a:solidFill>
                <a:latin typeface="Segoe UI"/>
              </a:rPr>
              <a:t>market.</a:t>
            </a:r>
          </a:p>
        </p:txBody>
      </p:sp>
      <p:sp>
        <p:nvSpPr>
          <p:cNvPr id="160" name="TextBox 159"/>
          <p:cNvSpPr txBox="1"/>
          <p:nvPr/>
        </p:nvSpPr>
        <p:spPr>
          <a:xfrm>
            <a:off x="3838575" y="5654377"/>
            <a:ext cx="1152002" cy="186689"/>
          </a:xfrm>
          <a:prstGeom prst="rect">
            <a:avLst/>
          </a:prstGeom>
          <a:noFill/>
        </p:spPr>
        <p:txBody>
          <a:bodyPr wrap="none" lIns="0" rIns="0" tIns="0" bIns="0">
            <a:spAutoFit/>
          </a:bodyPr>
          <a:lstStyle/>
          <a:p>
            <a:r>
              <a:rPr sz="1100" b="0">
                <a:solidFill>
                  <a:srgbClr val="252423"/>
                </a:solidFill>
                <a:latin typeface="Segoe UI"/>
              </a:rPr>
              <a:t>● Eastern Europe:</a:t>
            </a:r>
          </a:p>
        </p:txBody>
      </p:sp>
      <p:pic>
        <p:nvPicPr>
          <p:cNvPr id="161" name="Picture 160" descr="lock.png"/>
          <p:cNvPicPr>
            <a:picLocks noChangeAspect="1"/>
          </p:cNvPicPr>
          <p:nvPr/>
        </p:nvPicPr>
        <p:blipFill>
          <a:blip r:embed="rId24"/>
          <a:stretch>
            <a:fillRect/>
          </a:stretch>
        </p:blipFill>
        <p:spPr>
          <a:xfrm>
            <a:off x="4938629" y="5644597"/>
            <a:ext cx="128699" cy="187198"/>
          </a:xfrm>
          <a:prstGeom prst="rect">
            <a:avLst/>
          </a:prstGeom>
        </p:spPr>
      </p:pic>
      <p:sp>
        <p:nvSpPr>
          <p:cNvPr id="162" name="TextBox 161"/>
          <p:cNvSpPr txBox="1"/>
          <p:nvPr/>
        </p:nvSpPr>
        <p:spPr>
          <a:xfrm>
            <a:off x="5106124" y="565437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63" name="Picture 162" descr="lock.png"/>
          <p:cNvPicPr>
            <a:picLocks noChangeAspect="1"/>
          </p:cNvPicPr>
          <p:nvPr/>
        </p:nvPicPr>
        <p:blipFill>
          <a:blip r:embed="rId24"/>
          <a:stretch>
            <a:fillRect/>
          </a:stretch>
        </p:blipFill>
        <p:spPr>
          <a:xfrm>
            <a:off x="6026071" y="5644597"/>
            <a:ext cx="128699" cy="187198"/>
          </a:xfrm>
          <a:prstGeom prst="rect">
            <a:avLst/>
          </a:prstGeom>
        </p:spPr>
      </p:pic>
      <p:sp>
        <p:nvSpPr>
          <p:cNvPr id="164" name="TextBox 163"/>
          <p:cNvSpPr txBox="1"/>
          <p:nvPr/>
        </p:nvSpPr>
        <p:spPr>
          <a:xfrm>
            <a:off x="6193567" y="5654377"/>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65" name="TextBox 164"/>
          <p:cNvSpPr txBox="1"/>
          <p:nvPr/>
        </p:nvSpPr>
        <p:spPr>
          <a:xfrm>
            <a:off x="3838575" y="5872309"/>
            <a:ext cx="1213615" cy="186689"/>
          </a:xfrm>
          <a:prstGeom prst="rect">
            <a:avLst/>
          </a:prstGeom>
          <a:noFill/>
        </p:spPr>
        <p:txBody>
          <a:bodyPr wrap="none" lIns="0" rIns="0" tIns="0" bIns="0">
            <a:spAutoFit/>
          </a:bodyPr>
          <a:lstStyle/>
          <a:p>
            <a:r>
              <a:rPr sz="1100" b="0">
                <a:solidFill>
                  <a:srgbClr val="252423"/>
                </a:solidFill>
                <a:latin typeface="Segoe UI"/>
              </a:rPr>
              <a:t>● Western Europe:</a:t>
            </a:r>
          </a:p>
        </p:txBody>
      </p:sp>
      <p:pic>
        <p:nvPicPr>
          <p:cNvPr id="166" name="Picture 165" descr="lock.png"/>
          <p:cNvPicPr>
            <a:picLocks noChangeAspect="1"/>
          </p:cNvPicPr>
          <p:nvPr/>
        </p:nvPicPr>
        <p:blipFill>
          <a:blip r:embed="rId24"/>
          <a:stretch>
            <a:fillRect/>
          </a:stretch>
        </p:blipFill>
        <p:spPr>
          <a:xfrm>
            <a:off x="5000242" y="5862529"/>
            <a:ext cx="128699" cy="187198"/>
          </a:xfrm>
          <a:prstGeom prst="rect">
            <a:avLst/>
          </a:prstGeom>
        </p:spPr>
      </p:pic>
      <p:sp>
        <p:nvSpPr>
          <p:cNvPr id="167" name="TextBox 166"/>
          <p:cNvSpPr txBox="1"/>
          <p:nvPr/>
        </p:nvSpPr>
        <p:spPr>
          <a:xfrm>
            <a:off x="5167738" y="58723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68" name="Picture 167" descr="lock.png"/>
          <p:cNvPicPr>
            <a:picLocks noChangeAspect="1"/>
          </p:cNvPicPr>
          <p:nvPr/>
        </p:nvPicPr>
        <p:blipFill>
          <a:blip r:embed="rId24"/>
          <a:stretch>
            <a:fillRect/>
          </a:stretch>
        </p:blipFill>
        <p:spPr>
          <a:xfrm>
            <a:off x="6087684" y="5862529"/>
            <a:ext cx="128699" cy="187198"/>
          </a:xfrm>
          <a:prstGeom prst="rect">
            <a:avLst/>
          </a:prstGeom>
        </p:spPr>
      </p:pic>
      <p:sp>
        <p:nvSpPr>
          <p:cNvPr id="169" name="TextBox 168"/>
          <p:cNvSpPr txBox="1"/>
          <p:nvPr/>
        </p:nvSpPr>
        <p:spPr>
          <a:xfrm>
            <a:off x="6255180" y="587230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Analysis, By Region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region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actMR Lock Anchor"/>
          <p:cNvSpPr txBox="1"/>
          <p:nvPr/>
        </p:nvSpPr>
        <p:spPr>
          <a:xfrm>
            <a:off x="2489835" y="3352800"/>
            <a:ext cx="38100" cy="38100"/>
          </a:xfrm>
          <a:prstGeom prst="rect">
            <a:avLst/>
          </a:prstGeom>
          <a:noFill/>
        </p:spPr>
        <p:txBody>
          <a:bodyPr wrap="none">
            <a:spAutoFit/>
          </a:bodyPr>
          <a:lstStyle/>
          <a:p/>
        </p:txBody>
      </p:sp>
      <p:sp>
        <p:nvSpPr>
          <p:cNvPr id="13" name="FactMR Legend Chip"/>
          <p:cNvSpPr/>
          <p:nvPr/>
        </p:nvSpPr>
        <p:spPr>
          <a:xfrm>
            <a:off x="4551045" y="1528506"/>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4712970" y="15237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4754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16" name="BPS Value 1"/>
          <p:cNvSpPr txBox="1"/>
          <p:nvPr/>
        </p:nvSpPr>
        <p:spPr>
          <a:xfrm>
            <a:off x="6305550" y="150945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551045" y="1714508"/>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712970" y="170974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63354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0" name="BPS Value 2"/>
          <p:cNvSpPr txBox="1"/>
          <p:nvPr/>
        </p:nvSpPr>
        <p:spPr>
          <a:xfrm>
            <a:off x="6305550" y="169545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551045" y="1989639"/>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19848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190867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24" name="BPS Value 3"/>
          <p:cNvSpPr txBox="1"/>
          <p:nvPr/>
        </p:nvSpPr>
        <p:spPr>
          <a:xfrm>
            <a:off x="6305550" y="197058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551045" y="232405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31929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224309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8" name="BPS Value 4"/>
          <p:cNvSpPr txBox="1"/>
          <p:nvPr/>
        </p:nvSpPr>
        <p:spPr>
          <a:xfrm>
            <a:off x="6305550" y="230500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actMR Legend Chip"/>
          <p:cNvSpPr/>
          <p:nvPr/>
        </p:nvSpPr>
        <p:spPr>
          <a:xfrm>
            <a:off x="4551045" y="288854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0800000">
            <a:off x="4712970" y="28837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80758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32" name="BPS Value 5"/>
          <p:cNvSpPr txBox="1"/>
          <p:nvPr/>
        </p:nvSpPr>
        <p:spPr>
          <a:xfrm>
            <a:off x="6305550" y="286949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3" name="FactMR Legend Chip"/>
          <p:cNvSpPr/>
          <p:nvPr/>
        </p:nvSpPr>
        <p:spPr>
          <a:xfrm>
            <a:off x="4551045" y="372520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4712970" y="372044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364424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&amp; Pacific</a:t>
            </a:r>
          </a:p>
        </p:txBody>
      </p:sp>
      <p:sp>
        <p:nvSpPr>
          <p:cNvPr id="36" name="BPS Value 6"/>
          <p:cNvSpPr txBox="1"/>
          <p:nvPr/>
        </p:nvSpPr>
        <p:spPr>
          <a:xfrm>
            <a:off x="6305550" y="370615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7" name="FactMR Legend Chip"/>
          <p:cNvSpPr/>
          <p:nvPr/>
        </p:nvSpPr>
        <p:spPr>
          <a:xfrm>
            <a:off x="4551045" y="465273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rot="10800000">
            <a:off x="4712970" y="464796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457176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40" name="BPS Value 7"/>
          <p:cNvSpPr txBox="1"/>
          <p:nvPr/>
        </p:nvSpPr>
        <p:spPr>
          <a:xfrm>
            <a:off x="6305550" y="463368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41" name="Rectangle 40"/>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3" name="Rectangle 42"/>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5" name="Rounded Rectangle 44"/>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(THOUSAND UNITS)</a:t>
            </a:r>
          </a:p>
          <a:p>
            <a:pPr algn="ctr">
              <a:lnSpc>
                <a:spcPct val="95000"/>
              </a:lnSpc>
            </a:pPr>
            <a:r>
              <a:rPr sz="2000" b="1">
                <a:solidFill>
                  <a:srgbClr val="00A4DC"/>
                </a:solidFill>
                <a:latin typeface="Segoe UI"/>
              </a:rPr>
              <a:t/>
            </a:r>
          </a:p>
        </p:txBody>
      </p:sp>
      <p:sp>
        <p:nvSpPr>
          <p:cNvPr id="46" name="Rounded Rectangle 45"/>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(THOUSAND UNITS)</a:t>
            </a:r>
          </a:p>
          <a:p>
            <a:pPr algn="ctr">
              <a:lnSpc>
                <a:spcPct val="95000"/>
              </a:lnSpc>
            </a:pPr>
            <a:r>
              <a:rPr sz="2000" b="1">
                <a:solidFill>
                  <a:srgbClr val="00A4DC"/>
                </a:solidFill>
                <a:latin typeface="Segoe UI"/>
              </a:rPr>
              <a:t/>
            </a:r>
          </a:p>
        </p:txBody>
      </p:sp>
      <p:sp>
        <p:nvSpPr>
          <p:cNvPr id="47" name="Rounded Rectangle 46"/>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r>
          </a:p>
        </p:txBody>
      </p:sp>
      <p:sp>
        <p:nvSpPr>
          <p:cNvPr id="48" name="TextBox 4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158_5_605E5C.png"/>
          <p:cNvPicPr>
            <a:picLocks noChangeAspect="1"/>
          </p:cNvPicPr>
          <p:nvPr/>
        </p:nvPicPr>
        <p:blipFill>
          <a:blip r:embed="rId6"/>
          <a:stretch>
            <a:fillRect/>
          </a:stretch>
        </p:blipFill>
        <p:spPr>
          <a:xfrm>
            <a:off x="1317398" y="5897562"/>
            <a:ext cx="1594300" cy="482599"/>
          </a:xfrm>
          <a:prstGeom prst="rect">
            <a:avLst/>
          </a:prstGeom>
        </p:spPr>
      </p:pic>
      <p:pic>
        <p:nvPicPr>
          <p:cNvPr id="51" name="Picture 50" descr="447_4_605E5C.png"/>
          <p:cNvPicPr>
            <a:picLocks noChangeAspect="1"/>
          </p:cNvPicPr>
          <p:nvPr/>
        </p:nvPicPr>
        <p:blipFill>
          <a:blip r:embed="rId7"/>
          <a:stretch>
            <a:fillRect/>
          </a:stretch>
        </p:blipFill>
        <p:spPr>
          <a:xfrm>
            <a:off x="5351235" y="5897562"/>
            <a:ext cx="1594300" cy="482599"/>
          </a:xfrm>
          <a:prstGeom prst="rect">
            <a:avLst/>
          </a:prstGeom>
        </p:spPr>
      </p:pic>
      <p:pic>
        <p:nvPicPr>
          <p:cNvPr id="52" name="Picture 51" descr="10_9__605E5C.png"/>
          <p:cNvPicPr>
            <a:picLocks noChangeAspect="1"/>
          </p:cNvPicPr>
          <p:nvPr/>
        </p:nvPicPr>
        <p:blipFill>
          <a:blip r:embed="rId8"/>
          <a:stretch>
            <a:fillRect/>
          </a:stretch>
        </p:blipFill>
        <p:spPr>
          <a:xfrm>
            <a:off x="9323160" y="5897562"/>
            <a:ext cx="1594300"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4295145" cy="194310"/>
          </a:xfrm>
          <a:prstGeom prst="rect">
            <a:avLst/>
          </a:prstGeom>
          <a:noFill/>
        </p:spPr>
        <p:txBody>
          <a:bodyPr wrap="none" lIns="0" rIns="0" tIns="0" bIns="0">
            <a:spAutoFit/>
          </a:bodyPr>
          <a:lstStyle/>
          <a:p>
            <a:r>
              <a:rPr sz="1150" b="0">
                <a:solidFill>
                  <a:srgbClr val="252423"/>
                </a:solidFill>
                <a:latin typeface="Segoe UI"/>
              </a:rPr>
              <a:t>North America lithium polymer portable energy storage market is</a:t>
            </a:r>
          </a:p>
        </p:txBody>
      </p:sp>
      <p:sp>
        <p:nvSpPr>
          <p:cNvPr id="55" name="TextBox 54"/>
          <p:cNvSpPr txBox="1"/>
          <p:nvPr/>
        </p:nvSpPr>
        <p:spPr>
          <a:xfrm>
            <a:off x="7239000" y="1575435"/>
            <a:ext cx="1392530" cy="194310"/>
          </a:xfrm>
          <a:prstGeom prst="rect">
            <a:avLst/>
          </a:prstGeom>
          <a:noFill/>
        </p:spPr>
        <p:txBody>
          <a:bodyPr wrap="none" lIns="0" rIns="0" tIns="0" bIns="0">
            <a:spAutoFit/>
          </a:bodyPr>
          <a:lstStyle/>
          <a:p>
            <a:r>
              <a:rPr sz="1150" b="0">
                <a:solidFill>
                  <a:srgbClr val="252423"/>
                </a:solidFill>
                <a:latin typeface="Segoe UI"/>
              </a:rPr>
              <a:t>projected to register</a:t>
            </a:r>
          </a:p>
        </p:txBody>
      </p:sp>
      <p:pic>
        <p:nvPicPr>
          <p:cNvPr id="56" name="Picture 55" descr="lock.png"/>
          <p:cNvPicPr>
            <a:picLocks noChangeAspect="1"/>
          </p:cNvPicPr>
          <p:nvPr/>
        </p:nvPicPr>
        <p:blipFill>
          <a:blip r:embed="rId5"/>
          <a:stretch>
            <a:fillRect/>
          </a:stretch>
        </p:blipFill>
        <p:spPr>
          <a:xfrm>
            <a:off x="8580684" y="1565211"/>
            <a:ext cx="134549" cy="195707"/>
          </a:xfrm>
          <a:prstGeom prst="rect">
            <a:avLst/>
          </a:prstGeom>
        </p:spPr>
      </p:pic>
      <p:sp>
        <p:nvSpPr>
          <p:cNvPr id="57" name="TextBox 56"/>
          <p:cNvSpPr txBox="1"/>
          <p:nvPr/>
        </p:nvSpPr>
        <p:spPr>
          <a:xfrm>
            <a:off x="8755794" y="1575435"/>
            <a:ext cx="2948336" cy="194310"/>
          </a:xfrm>
          <a:prstGeom prst="rect">
            <a:avLst/>
          </a:prstGeom>
          <a:noFill/>
        </p:spPr>
        <p:txBody>
          <a:bodyPr wrap="none" lIns="0" rIns="0" tIns="0" bIns="0">
            <a:spAutoFit/>
          </a:bodyPr>
          <a:lstStyle/>
          <a:p>
            <a:r>
              <a:rPr sz="1150" b="0">
                <a:solidFill>
                  <a:srgbClr val="252423"/>
                </a:solidFill>
                <a:latin typeface="Segoe UI"/>
              </a:rPr>
              <a:t>X higher volume than South Asia &amp; Pacific in</a:t>
            </a:r>
          </a:p>
        </p:txBody>
      </p:sp>
      <p:sp>
        <p:nvSpPr>
          <p:cNvPr id="58" name="TextBox 57"/>
          <p:cNvSpPr txBox="1"/>
          <p:nvPr/>
        </p:nvSpPr>
        <p:spPr>
          <a:xfrm>
            <a:off x="7239000" y="1750695"/>
            <a:ext cx="4648200" cy="194310"/>
          </a:xfrm>
          <a:prstGeom prst="rect">
            <a:avLst/>
          </a:prstGeom>
          <a:noFill/>
        </p:spPr>
        <p:txBody>
          <a:bodyPr wrap="none" lIns="0" rIns="0" tIns="0" bIns="0">
            <a:spAutoFit/>
          </a:bodyPr>
          <a:lstStyle/>
          <a:p>
            <a:r>
              <a:rPr sz="1150" b="0">
                <a:solidFill>
                  <a:srgbClr val="252423"/>
                </a:solidFill>
                <a:latin typeface="Segoe UI"/>
              </a:rPr>
              <a:t>2036. Among lithium polymer portable energy storage by region, South</a:t>
            </a:r>
          </a:p>
        </p:txBody>
      </p:sp>
      <p:sp>
        <p:nvSpPr>
          <p:cNvPr id="59" name="TextBox 58"/>
          <p:cNvSpPr txBox="1"/>
          <p:nvPr/>
        </p:nvSpPr>
        <p:spPr>
          <a:xfrm>
            <a:off x="7239000" y="1925955"/>
            <a:ext cx="3744672" cy="194310"/>
          </a:xfrm>
          <a:prstGeom prst="rect">
            <a:avLst/>
          </a:prstGeom>
          <a:noFill/>
        </p:spPr>
        <p:txBody>
          <a:bodyPr wrap="none" lIns="0" rIns="0" tIns="0" bIns="0">
            <a:spAutoFit/>
          </a:bodyPr>
          <a:lstStyle/>
          <a:p>
            <a:r>
              <a:rPr sz="1150" b="0">
                <a:solidFill>
                  <a:srgbClr val="252423"/>
                </a:solidFill>
                <a:latin typeface="Segoe UI"/>
              </a:rPr>
              <a:t>Asia &amp; Pacific is expected to witness the highest CAGR of</a:t>
            </a:r>
          </a:p>
        </p:txBody>
      </p:sp>
      <p:pic>
        <p:nvPicPr>
          <p:cNvPr id="60" name="Picture 59" descr="lock.png"/>
          <p:cNvPicPr>
            <a:picLocks noChangeAspect="1"/>
          </p:cNvPicPr>
          <p:nvPr/>
        </p:nvPicPr>
        <p:blipFill>
          <a:blip r:embed="rId5"/>
          <a:stretch>
            <a:fillRect/>
          </a:stretch>
        </p:blipFill>
        <p:spPr>
          <a:xfrm>
            <a:off x="10932826" y="1915731"/>
            <a:ext cx="134549" cy="195707"/>
          </a:xfrm>
          <a:prstGeom prst="rect">
            <a:avLst/>
          </a:prstGeom>
        </p:spPr>
      </p:pic>
      <p:sp>
        <p:nvSpPr>
          <p:cNvPr id="61" name="TextBox 60"/>
          <p:cNvSpPr txBox="1"/>
          <p:nvPr/>
        </p:nvSpPr>
        <p:spPr>
          <a:xfrm>
            <a:off x="11107935" y="1925955"/>
            <a:ext cx="607614" cy="194310"/>
          </a:xfrm>
          <a:prstGeom prst="rect">
            <a:avLst/>
          </a:prstGeom>
          <a:noFill/>
        </p:spPr>
        <p:txBody>
          <a:bodyPr wrap="none" lIns="0" rIns="0" tIns="0" bIns="0">
            <a:spAutoFit/>
          </a:bodyPr>
          <a:lstStyle/>
          <a:p>
            <a:r>
              <a:rPr sz="1150" b="0">
                <a:solidFill>
                  <a:srgbClr val="252423"/>
                </a:solidFill>
                <a:latin typeface="Segoe UI"/>
              </a:rPr>
              <a:t>over the</a:t>
            </a:r>
          </a:p>
        </p:txBody>
      </p:sp>
      <p:sp>
        <p:nvSpPr>
          <p:cNvPr id="62" name="TextBox 61"/>
          <p:cNvSpPr txBox="1"/>
          <p:nvPr/>
        </p:nvSpPr>
        <p:spPr>
          <a:xfrm>
            <a:off x="7239000" y="2101215"/>
            <a:ext cx="1079977" cy="194310"/>
          </a:xfrm>
          <a:prstGeom prst="rect">
            <a:avLst/>
          </a:prstGeom>
          <a:noFill/>
        </p:spPr>
        <p:txBody>
          <a:bodyPr wrap="none" lIns="0" rIns="0" tIns="0" bIns="0">
            <a:spAutoFit/>
          </a:bodyPr>
          <a:lstStyle/>
          <a:p>
            <a:r>
              <a:rPr sz="1150" b="0">
                <a:solidFill>
                  <a:srgbClr val="252423"/>
                </a:solidFill>
                <a:latin typeface="Segoe UI"/>
              </a:rPr>
              <a:t>forecast period.</a:t>
            </a:r>
          </a:p>
        </p:txBody>
      </p:sp>
      <p:sp>
        <p:nvSpPr>
          <p:cNvPr id="63" name="TextBox 62"/>
          <p:cNvSpPr txBox="1"/>
          <p:nvPr/>
        </p:nvSpPr>
        <p:spPr>
          <a:xfrm>
            <a:off x="7239000" y="2329053"/>
            <a:ext cx="4280735" cy="194310"/>
          </a:xfrm>
          <a:prstGeom prst="rect">
            <a:avLst/>
          </a:prstGeom>
          <a:noFill/>
        </p:spPr>
        <p:txBody>
          <a:bodyPr wrap="none" lIns="0" rIns="0" tIns="0" bIns="0">
            <a:spAutoFit/>
          </a:bodyPr>
          <a:lstStyle/>
          <a:p>
            <a:r>
              <a:rPr sz="1150" b="0">
                <a:solidFill>
                  <a:srgbClr val="252423"/>
                </a:solidFill>
                <a:latin typeface="Segoe UI"/>
              </a:rPr>
              <a:t>In terms of volume share by region, North America is expected to</a:t>
            </a:r>
          </a:p>
        </p:txBody>
      </p:sp>
      <p:sp>
        <p:nvSpPr>
          <p:cNvPr id="64" name="TextBox 63"/>
          <p:cNvSpPr txBox="1"/>
          <p:nvPr/>
        </p:nvSpPr>
        <p:spPr>
          <a:xfrm>
            <a:off x="7239000" y="2504313"/>
            <a:ext cx="1889496" cy="194310"/>
          </a:xfrm>
          <a:prstGeom prst="rect">
            <a:avLst/>
          </a:prstGeom>
          <a:noFill/>
        </p:spPr>
        <p:txBody>
          <a:bodyPr wrap="none" lIns="0" rIns="0" tIns="0" bIns="0">
            <a:spAutoFit/>
          </a:bodyPr>
          <a:lstStyle/>
          <a:p>
            <a:r>
              <a:rPr sz="1150" b="0">
                <a:solidFill>
                  <a:srgbClr val="252423"/>
                </a:solidFill>
                <a:latin typeface="Segoe UI"/>
              </a:rPr>
              <a:t>dominate the market, losing</a:t>
            </a:r>
          </a:p>
        </p:txBody>
      </p:sp>
      <p:pic>
        <p:nvPicPr>
          <p:cNvPr id="65" name="Picture 64" descr="lock.png"/>
          <p:cNvPicPr>
            <a:picLocks noChangeAspect="1"/>
          </p:cNvPicPr>
          <p:nvPr/>
        </p:nvPicPr>
        <p:blipFill>
          <a:blip r:embed="rId5"/>
          <a:stretch>
            <a:fillRect/>
          </a:stretch>
        </p:blipFill>
        <p:spPr>
          <a:xfrm>
            <a:off x="9077650" y="2494089"/>
            <a:ext cx="134549" cy="195707"/>
          </a:xfrm>
          <a:prstGeom prst="rect">
            <a:avLst/>
          </a:prstGeom>
        </p:spPr>
      </p:pic>
      <p:sp>
        <p:nvSpPr>
          <p:cNvPr id="66" name="TextBox 65"/>
          <p:cNvSpPr txBox="1"/>
          <p:nvPr/>
        </p:nvSpPr>
        <p:spPr>
          <a:xfrm>
            <a:off x="9252759" y="250431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7" name="Picture 66" descr="lock.png"/>
          <p:cNvPicPr>
            <a:picLocks noChangeAspect="1"/>
          </p:cNvPicPr>
          <p:nvPr/>
        </p:nvPicPr>
        <p:blipFill>
          <a:blip r:embed="rId5"/>
          <a:stretch>
            <a:fillRect/>
          </a:stretch>
        </p:blipFill>
        <p:spPr>
          <a:xfrm>
            <a:off x="10781116" y="2494089"/>
            <a:ext cx="134549" cy="195707"/>
          </a:xfrm>
          <a:prstGeom prst="rect">
            <a:avLst/>
          </a:prstGeom>
        </p:spPr>
      </p:pic>
      <p:sp>
        <p:nvSpPr>
          <p:cNvPr id="68" name="TextBox 67"/>
          <p:cNvSpPr txBox="1"/>
          <p:nvPr/>
        </p:nvSpPr>
        <p:spPr>
          <a:xfrm>
            <a:off x="10956225" y="250431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69" name="TextBox 68"/>
          <p:cNvSpPr txBox="1"/>
          <p:nvPr/>
        </p:nvSpPr>
        <p:spPr>
          <a:xfrm>
            <a:off x="7239000" y="2679573"/>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70"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region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actMR Lock Anchor"/>
          <p:cNvSpPr txBox="1"/>
          <p:nvPr/>
        </p:nvSpPr>
        <p:spPr>
          <a:xfrm>
            <a:off x="2489835" y="3352800"/>
            <a:ext cx="38100" cy="38100"/>
          </a:xfrm>
          <a:prstGeom prst="rect">
            <a:avLst/>
          </a:prstGeom>
          <a:noFill/>
        </p:spPr>
        <p:txBody>
          <a:bodyPr wrap="none">
            <a:spAutoFit/>
          </a:bodyPr>
          <a:lstStyle/>
          <a:p/>
        </p:txBody>
      </p:sp>
      <p:sp>
        <p:nvSpPr>
          <p:cNvPr id="13" name="FactMR Legend Chip"/>
          <p:cNvSpPr/>
          <p:nvPr/>
        </p:nvSpPr>
        <p:spPr>
          <a:xfrm>
            <a:off x="4551045" y="155508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4712970" y="155032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7412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16" name="BPS Value 1"/>
          <p:cNvSpPr txBox="1"/>
          <p:nvPr/>
        </p:nvSpPr>
        <p:spPr>
          <a:xfrm>
            <a:off x="6305550" y="1536035"/>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17" name="FactMR Legend Chip"/>
          <p:cNvSpPr/>
          <p:nvPr/>
        </p:nvSpPr>
        <p:spPr>
          <a:xfrm>
            <a:off x="4551045" y="178466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4712970" y="177990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703703"/>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0" name="BPS Value 2"/>
          <p:cNvSpPr txBox="1"/>
          <p:nvPr/>
        </p:nvSpPr>
        <p:spPr>
          <a:xfrm>
            <a:off x="6305550" y="1765615"/>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551045" y="206629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206152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198532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24" name="BPS Value 3"/>
          <p:cNvSpPr txBox="1"/>
          <p:nvPr/>
        </p:nvSpPr>
        <p:spPr>
          <a:xfrm>
            <a:off x="6305550" y="2047240"/>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551045" y="239219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38743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231123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8" name="BPS Value 4"/>
          <p:cNvSpPr txBox="1"/>
          <p:nvPr/>
        </p:nvSpPr>
        <p:spPr>
          <a:xfrm>
            <a:off x="6305550" y="237314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actMR Legend Chip"/>
          <p:cNvSpPr/>
          <p:nvPr/>
        </p:nvSpPr>
        <p:spPr>
          <a:xfrm>
            <a:off x="4551045" y="283799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0800000">
            <a:off x="4712970" y="283322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75702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32" name="BPS Value 5"/>
          <p:cNvSpPr txBox="1"/>
          <p:nvPr/>
        </p:nvSpPr>
        <p:spPr>
          <a:xfrm>
            <a:off x="6305550" y="281894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3" name="FactMR Legend Chip"/>
          <p:cNvSpPr/>
          <p:nvPr/>
        </p:nvSpPr>
        <p:spPr>
          <a:xfrm>
            <a:off x="4551045" y="337747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4712970" y="33727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329651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&amp; Pacific</a:t>
            </a:r>
          </a:p>
        </p:txBody>
      </p:sp>
      <p:sp>
        <p:nvSpPr>
          <p:cNvPr id="36" name="BPS Value 6"/>
          <p:cNvSpPr txBox="1"/>
          <p:nvPr/>
        </p:nvSpPr>
        <p:spPr>
          <a:xfrm>
            <a:off x="6305550" y="3358425"/>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7" name="FactMR Legend Chip"/>
          <p:cNvSpPr/>
          <p:nvPr/>
        </p:nvSpPr>
        <p:spPr>
          <a:xfrm>
            <a:off x="4551045" y="439061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a:off x="4712970" y="43858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430965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40" name="BPS Value 7"/>
          <p:cNvSpPr txBox="1"/>
          <p:nvPr/>
        </p:nvSpPr>
        <p:spPr>
          <a:xfrm>
            <a:off x="6305550" y="437156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41" name="Rectangle 40"/>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3" name="Rectangle 42"/>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5" name="Rounded Rectangle 44"/>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650.0</a:t>
            </a:r>
          </a:p>
        </p:txBody>
      </p:sp>
      <p:sp>
        <p:nvSpPr>
          <p:cNvPr id="46" name="Rounded Rectangle 45"/>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1,950</a:t>
            </a:r>
          </a:p>
        </p:txBody>
      </p:sp>
      <p:sp>
        <p:nvSpPr>
          <p:cNvPr id="47" name="Rounded Rectangle 46"/>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11.6%</a:t>
            </a:r>
          </a:p>
        </p:txBody>
      </p:sp>
      <p:sp>
        <p:nvSpPr>
          <p:cNvPr id="48" name="TextBox 4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sp>
        <p:nvSpPr>
          <p:cNvPr id="50" name="TextBox 49"/>
          <p:cNvSpPr txBox="1"/>
          <p:nvPr/>
        </p:nvSpPr>
        <p:spPr>
          <a:xfrm>
            <a:off x="7239000" y="1400175"/>
            <a:ext cx="4295145" cy="194310"/>
          </a:xfrm>
          <a:prstGeom prst="rect">
            <a:avLst/>
          </a:prstGeom>
          <a:noFill/>
        </p:spPr>
        <p:txBody>
          <a:bodyPr wrap="none" lIns="0" rIns="0" tIns="0" bIns="0">
            <a:spAutoFit/>
          </a:bodyPr>
          <a:lstStyle/>
          <a:p>
            <a:r>
              <a:rPr sz="1150" b="0">
                <a:solidFill>
                  <a:srgbClr val="252423"/>
                </a:solidFill>
                <a:latin typeface="Segoe UI"/>
              </a:rPr>
              <a:t>North America lithium polymer portable energy storage market is</a:t>
            </a:r>
          </a:p>
        </p:txBody>
      </p:sp>
      <p:sp>
        <p:nvSpPr>
          <p:cNvPr id="51" name="TextBox 50"/>
          <p:cNvSpPr txBox="1"/>
          <p:nvPr/>
        </p:nvSpPr>
        <p:spPr>
          <a:xfrm>
            <a:off x="7239000" y="1575435"/>
            <a:ext cx="1392530" cy="194310"/>
          </a:xfrm>
          <a:prstGeom prst="rect">
            <a:avLst/>
          </a:prstGeom>
          <a:noFill/>
        </p:spPr>
        <p:txBody>
          <a:bodyPr wrap="none" lIns="0" rIns="0" tIns="0" bIns="0">
            <a:spAutoFit/>
          </a:bodyPr>
          <a:lstStyle/>
          <a:p>
            <a:r>
              <a:rPr sz="1150" b="0">
                <a:solidFill>
                  <a:srgbClr val="252423"/>
                </a:solidFill>
                <a:latin typeface="Segoe UI"/>
              </a:rPr>
              <a:t>projected to register</a:t>
            </a:r>
          </a:p>
        </p:txBody>
      </p:sp>
      <p:pic>
        <p:nvPicPr>
          <p:cNvPr id="52" name="Picture 51" descr="lock.png"/>
          <p:cNvPicPr>
            <a:picLocks noChangeAspect="1"/>
          </p:cNvPicPr>
          <p:nvPr/>
        </p:nvPicPr>
        <p:blipFill>
          <a:blip r:embed="rId5"/>
          <a:stretch>
            <a:fillRect/>
          </a:stretch>
        </p:blipFill>
        <p:spPr>
          <a:xfrm>
            <a:off x="8580684" y="1565211"/>
            <a:ext cx="134549" cy="195707"/>
          </a:xfrm>
          <a:prstGeom prst="rect">
            <a:avLst/>
          </a:prstGeom>
        </p:spPr>
      </p:pic>
      <p:sp>
        <p:nvSpPr>
          <p:cNvPr id="53" name="TextBox 52"/>
          <p:cNvSpPr txBox="1"/>
          <p:nvPr/>
        </p:nvSpPr>
        <p:spPr>
          <a:xfrm>
            <a:off x="8755794" y="1575435"/>
            <a:ext cx="2811388" cy="194310"/>
          </a:xfrm>
          <a:prstGeom prst="rect">
            <a:avLst/>
          </a:prstGeom>
          <a:noFill/>
        </p:spPr>
        <p:txBody>
          <a:bodyPr wrap="none" lIns="0" rIns="0" tIns="0" bIns="0">
            <a:spAutoFit/>
          </a:bodyPr>
          <a:lstStyle/>
          <a:p>
            <a:r>
              <a:rPr sz="1150" b="0">
                <a:solidFill>
                  <a:srgbClr val="252423"/>
                </a:solidFill>
                <a:latin typeface="Segoe UI"/>
              </a:rPr>
              <a:t>X higher value than South Asia &amp; Pacific in</a:t>
            </a:r>
          </a:p>
        </p:txBody>
      </p:sp>
      <p:sp>
        <p:nvSpPr>
          <p:cNvPr id="54" name="TextBox 53"/>
          <p:cNvSpPr txBox="1"/>
          <p:nvPr/>
        </p:nvSpPr>
        <p:spPr>
          <a:xfrm>
            <a:off x="7239000" y="1750695"/>
            <a:ext cx="4648200" cy="194310"/>
          </a:xfrm>
          <a:prstGeom prst="rect">
            <a:avLst/>
          </a:prstGeom>
          <a:noFill/>
        </p:spPr>
        <p:txBody>
          <a:bodyPr wrap="none" lIns="0" rIns="0" tIns="0" bIns="0">
            <a:spAutoFit/>
          </a:bodyPr>
          <a:lstStyle/>
          <a:p>
            <a:r>
              <a:rPr sz="1150" b="0">
                <a:solidFill>
                  <a:srgbClr val="252423"/>
                </a:solidFill>
                <a:latin typeface="Segoe UI"/>
              </a:rPr>
              <a:t>2036. Among lithium polymer portable energy storage by region, South</a:t>
            </a:r>
          </a:p>
        </p:txBody>
      </p:sp>
      <p:sp>
        <p:nvSpPr>
          <p:cNvPr id="55" name="TextBox 54"/>
          <p:cNvSpPr txBox="1"/>
          <p:nvPr/>
        </p:nvSpPr>
        <p:spPr>
          <a:xfrm>
            <a:off x="7239000" y="1925955"/>
            <a:ext cx="3744672" cy="194310"/>
          </a:xfrm>
          <a:prstGeom prst="rect">
            <a:avLst/>
          </a:prstGeom>
          <a:noFill/>
        </p:spPr>
        <p:txBody>
          <a:bodyPr wrap="none" lIns="0" rIns="0" tIns="0" bIns="0">
            <a:spAutoFit/>
          </a:bodyPr>
          <a:lstStyle/>
          <a:p>
            <a:r>
              <a:rPr sz="1150" b="0">
                <a:solidFill>
                  <a:srgbClr val="252423"/>
                </a:solidFill>
                <a:latin typeface="Segoe UI"/>
              </a:rPr>
              <a:t>Asia &amp; Pacific is expected to witness the highest CAGR of</a:t>
            </a:r>
          </a:p>
        </p:txBody>
      </p:sp>
      <p:pic>
        <p:nvPicPr>
          <p:cNvPr id="56" name="Picture 55" descr="lock.png"/>
          <p:cNvPicPr>
            <a:picLocks noChangeAspect="1"/>
          </p:cNvPicPr>
          <p:nvPr/>
        </p:nvPicPr>
        <p:blipFill>
          <a:blip r:embed="rId5"/>
          <a:stretch>
            <a:fillRect/>
          </a:stretch>
        </p:blipFill>
        <p:spPr>
          <a:xfrm>
            <a:off x="10932826" y="1915731"/>
            <a:ext cx="134549" cy="195707"/>
          </a:xfrm>
          <a:prstGeom prst="rect">
            <a:avLst/>
          </a:prstGeom>
        </p:spPr>
      </p:pic>
      <p:sp>
        <p:nvSpPr>
          <p:cNvPr id="57" name="TextBox 56"/>
          <p:cNvSpPr txBox="1"/>
          <p:nvPr/>
        </p:nvSpPr>
        <p:spPr>
          <a:xfrm>
            <a:off x="11107935" y="1925955"/>
            <a:ext cx="607614" cy="194310"/>
          </a:xfrm>
          <a:prstGeom prst="rect">
            <a:avLst/>
          </a:prstGeom>
          <a:noFill/>
        </p:spPr>
        <p:txBody>
          <a:bodyPr wrap="none" lIns="0" rIns="0" tIns="0" bIns="0">
            <a:spAutoFit/>
          </a:bodyPr>
          <a:lstStyle/>
          <a:p>
            <a:r>
              <a:rPr sz="1150" b="0">
                <a:solidFill>
                  <a:srgbClr val="252423"/>
                </a:solidFill>
                <a:latin typeface="Segoe UI"/>
              </a:rPr>
              <a:t>over the</a:t>
            </a:r>
          </a:p>
        </p:txBody>
      </p:sp>
      <p:sp>
        <p:nvSpPr>
          <p:cNvPr id="58" name="TextBox 57"/>
          <p:cNvSpPr txBox="1"/>
          <p:nvPr/>
        </p:nvSpPr>
        <p:spPr>
          <a:xfrm>
            <a:off x="7239000" y="2101215"/>
            <a:ext cx="1079977" cy="194310"/>
          </a:xfrm>
          <a:prstGeom prst="rect">
            <a:avLst/>
          </a:prstGeom>
          <a:noFill/>
        </p:spPr>
        <p:txBody>
          <a:bodyPr wrap="none" lIns="0" rIns="0" tIns="0" bIns="0">
            <a:spAutoFit/>
          </a:bodyPr>
          <a:lstStyle/>
          <a:p>
            <a:r>
              <a:rPr sz="1150" b="0">
                <a:solidFill>
                  <a:srgbClr val="252423"/>
                </a:solidFill>
                <a:latin typeface="Segoe UI"/>
              </a:rPr>
              <a:t>forecast period.</a:t>
            </a:r>
          </a:p>
        </p:txBody>
      </p:sp>
      <p:sp>
        <p:nvSpPr>
          <p:cNvPr id="59" name="TextBox 58"/>
          <p:cNvSpPr txBox="1"/>
          <p:nvPr/>
        </p:nvSpPr>
        <p:spPr>
          <a:xfrm>
            <a:off x="7239000" y="2329053"/>
            <a:ext cx="4143786" cy="194310"/>
          </a:xfrm>
          <a:prstGeom prst="rect">
            <a:avLst/>
          </a:prstGeom>
          <a:noFill/>
        </p:spPr>
        <p:txBody>
          <a:bodyPr wrap="none" lIns="0" rIns="0" tIns="0" bIns="0">
            <a:spAutoFit/>
          </a:bodyPr>
          <a:lstStyle/>
          <a:p>
            <a:r>
              <a:rPr sz="1150" b="0">
                <a:solidFill>
                  <a:srgbClr val="252423"/>
                </a:solidFill>
                <a:latin typeface="Segoe UI"/>
              </a:rPr>
              <a:t>In terms of value share by region, North America is expected to</a:t>
            </a:r>
          </a:p>
        </p:txBody>
      </p:sp>
      <p:sp>
        <p:nvSpPr>
          <p:cNvPr id="60" name="TextBox 59"/>
          <p:cNvSpPr txBox="1"/>
          <p:nvPr/>
        </p:nvSpPr>
        <p:spPr>
          <a:xfrm>
            <a:off x="7239000" y="2504313"/>
            <a:ext cx="1985341" cy="194310"/>
          </a:xfrm>
          <a:prstGeom prst="rect">
            <a:avLst/>
          </a:prstGeom>
          <a:noFill/>
        </p:spPr>
        <p:txBody>
          <a:bodyPr wrap="none" lIns="0" rIns="0" tIns="0" bIns="0">
            <a:spAutoFit/>
          </a:bodyPr>
          <a:lstStyle/>
          <a:p>
            <a:r>
              <a:rPr sz="1150" b="0">
                <a:solidFill>
                  <a:srgbClr val="252423"/>
                </a:solidFill>
                <a:latin typeface="Segoe UI"/>
              </a:rPr>
              <a:t>dominate the market, gaining</a:t>
            </a:r>
          </a:p>
        </p:txBody>
      </p:sp>
      <p:pic>
        <p:nvPicPr>
          <p:cNvPr id="61" name="Picture 60" descr="lock.png"/>
          <p:cNvPicPr>
            <a:picLocks noChangeAspect="1"/>
          </p:cNvPicPr>
          <p:nvPr/>
        </p:nvPicPr>
        <p:blipFill>
          <a:blip r:embed="rId5"/>
          <a:stretch>
            <a:fillRect/>
          </a:stretch>
        </p:blipFill>
        <p:spPr>
          <a:xfrm>
            <a:off x="9173495" y="2494089"/>
            <a:ext cx="134549" cy="195707"/>
          </a:xfrm>
          <a:prstGeom prst="rect">
            <a:avLst/>
          </a:prstGeom>
        </p:spPr>
      </p:pic>
      <p:sp>
        <p:nvSpPr>
          <p:cNvPr id="62" name="TextBox 61"/>
          <p:cNvSpPr txBox="1"/>
          <p:nvPr/>
        </p:nvSpPr>
        <p:spPr>
          <a:xfrm>
            <a:off x="9348605" y="250431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3" name="Picture 62" descr="lock.png"/>
          <p:cNvPicPr>
            <a:picLocks noChangeAspect="1"/>
          </p:cNvPicPr>
          <p:nvPr/>
        </p:nvPicPr>
        <p:blipFill>
          <a:blip r:embed="rId5"/>
          <a:stretch>
            <a:fillRect/>
          </a:stretch>
        </p:blipFill>
        <p:spPr>
          <a:xfrm>
            <a:off x="10876961" y="2494089"/>
            <a:ext cx="134549" cy="195707"/>
          </a:xfrm>
          <a:prstGeom prst="rect">
            <a:avLst/>
          </a:prstGeom>
        </p:spPr>
      </p:pic>
      <p:sp>
        <p:nvSpPr>
          <p:cNvPr id="64" name="TextBox 63"/>
          <p:cNvSpPr txBox="1"/>
          <p:nvPr/>
        </p:nvSpPr>
        <p:spPr>
          <a:xfrm>
            <a:off x="11052071" y="250431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65" name="TextBox 64"/>
          <p:cNvSpPr txBox="1"/>
          <p:nvPr/>
        </p:nvSpPr>
        <p:spPr>
          <a:xfrm>
            <a:off x="7239000" y="2679573"/>
            <a:ext cx="2265488" cy="194310"/>
          </a:xfrm>
          <a:prstGeom prst="rect">
            <a:avLst/>
          </a:prstGeom>
          <a:noFill/>
        </p:spPr>
        <p:txBody>
          <a:bodyPr wrap="none" lIns="0" rIns="0" tIns="0" bIns="0">
            <a:spAutoFit/>
          </a:bodyPr>
          <a:lstStyle/>
          <a:p>
            <a:r>
              <a:rPr sz="1150" b="0">
                <a:solidFill>
                  <a:srgbClr val="252423"/>
                </a:solidFill>
                <a:latin typeface="Segoe UI"/>
              </a:rPr>
              <a:t>2036. East Asia is expected to lose</a:t>
            </a:r>
          </a:p>
        </p:txBody>
      </p:sp>
      <p:pic>
        <p:nvPicPr>
          <p:cNvPr id="66" name="Picture 65" descr="lock.png"/>
          <p:cNvPicPr>
            <a:picLocks noChangeAspect="1"/>
          </p:cNvPicPr>
          <p:nvPr/>
        </p:nvPicPr>
        <p:blipFill>
          <a:blip r:embed="rId5"/>
          <a:stretch>
            <a:fillRect/>
          </a:stretch>
        </p:blipFill>
        <p:spPr>
          <a:xfrm>
            <a:off x="9453642" y="2669349"/>
            <a:ext cx="134549" cy="195707"/>
          </a:xfrm>
          <a:prstGeom prst="rect">
            <a:avLst/>
          </a:prstGeom>
        </p:spPr>
      </p:pic>
      <p:sp>
        <p:nvSpPr>
          <p:cNvPr id="67" name="TextBox 66"/>
          <p:cNvSpPr txBox="1"/>
          <p:nvPr/>
        </p:nvSpPr>
        <p:spPr>
          <a:xfrm>
            <a:off x="9628751" y="2679573"/>
            <a:ext cx="2078049" cy="194310"/>
          </a:xfrm>
          <a:prstGeom prst="rect">
            <a:avLst/>
          </a:prstGeom>
          <a:noFill/>
        </p:spPr>
        <p:txBody>
          <a:bodyPr wrap="none" lIns="0" rIns="0" tIns="0" bIns="0">
            <a:spAutoFit/>
          </a:bodyPr>
          <a:lstStyle/>
          <a:p>
            <a:r>
              <a:rPr sz="1150" b="0">
                <a:solidFill>
                  <a:srgbClr val="252423"/>
                </a:solidFill>
                <a:latin typeface="Segoe UI"/>
              </a:rPr>
              <a:t>BPS over the forecast period to</a:t>
            </a:r>
          </a:p>
        </p:txBody>
      </p:sp>
      <p:sp>
        <p:nvSpPr>
          <p:cNvPr id="68" name="TextBox 67"/>
          <p:cNvSpPr txBox="1"/>
          <p:nvPr/>
        </p:nvSpPr>
        <p:spPr>
          <a:xfrm>
            <a:off x="7239000" y="2854832"/>
            <a:ext cx="808446" cy="194310"/>
          </a:xfrm>
          <a:prstGeom prst="rect">
            <a:avLst/>
          </a:prstGeom>
          <a:noFill/>
        </p:spPr>
        <p:txBody>
          <a:bodyPr wrap="none" lIns="0" rIns="0" tIns="0" bIns="0">
            <a:spAutoFit/>
          </a:bodyPr>
          <a:lstStyle/>
          <a:p>
            <a:r>
              <a:rPr sz="1150" b="0">
                <a:solidFill>
                  <a:srgbClr val="252423"/>
                </a:solidFill>
                <a:latin typeface="Segoe UI"/>
              </a:rPr>
              <a:t>account for</a:t>
            </a:r>
          </a:p>
        </p:txBody>
      </p:sp>
      <p:pic>
        <p:nvPicPr>
          <p:cNvPr id="69" name="Picture 68" descr="lock.png"/>
          <p:cNvPicPr>
            <a:picLocks noChangeAspect="1"/>
          </p:cNvPicPr>
          <p:nvPr/>
        </p:nvPicPr>
        <p:blipFill>
          <a:blip r:embed="rId5"/>
          <a:stretch>
            <a:fillRect/>
          </a:stretch>
        </p:blipFill>
        <p:spPr>
          <a:xfrm>
            <a:off x="7996600" y="2844609"/>
            <a:ext cx="134549" cy="195707"/>
          </a:xfrm>
          <a:prstGeom prst="rect">
            <a:avLst/>
          </a:prstGeom>
        </p:spPr>
      </p:pic>
      <p:sp>
        <p:nvSpPr>
          <p:cNvPr id="70" name="TextBox 69"/>
          <p:cNvSpPr txBox="1"/>
          <p:nvPr/>
        </p:nvSpPr>
        <p:spPr>
          <a:xfrm>
            <a:off x="8171709"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1"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Share Analysis, By Region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region, 2021–2036, highlighting the geographies gaining and ceding ground</a:t>
            </a:r>
          </a:p>
        </p:txBody>
      </p:sp>
      <p:sp>
        <p:nvSpPr>
          <p:cNvPr id="8" name="Rectangle 7"/>
          <p:cNvSpPr/>
          <p:nvPr/>
        </p:nvSpPr>
        <p:spPr>
          <a:xfrm>
            <a:off x="142875" y="981075"/>
            <a:ext cx="11906250" cy="2686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(Thousand Units)</a:t>
            </a:r>
          </a:p>
        </p:txBody>
      </p:sp>
      <p:graphicFrame>
        <p:nvGraphicFramePr>
          <p:cNvPr id="10" name="Table 9"/>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1703778"/>
                <a:gridCol w="610968"/>
                <a:gridCol w="610968"/>
                <a:gridCol w="610968"/>
                <a:gridCol w="610968"/>
                <a:gridCol w="610968"/>
                <a:gridCol w="583161"/>
                <a:gridCol w="583161"/>
                <a:gridCol w="583161"/>
                <a:gridCol w="583161"/>
                <a:gridCol w="583161"/>
                <a:gridCol w="583161"/>
                <a:gridCol w="583161"/>
                <a:gridCol w="583161"/>
                <a:gridCol w="583161"/>
                <a:gridCol w="583161"/>
                <a:gridCol w="583161"/>
                <a:gridCol w="713810"/>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6650">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800475"/>
            <a:ext cx="11906250" cy="2828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Share Read-out, By Region</a:t>
            </a:r>
          </a:p>
        </p:txBody>
      </p:sp>
      <p:sp>
        <p:nvSpPr>
          <p:cNvPr id="14" name="Rectangle 13"/>
          <p:cNvSpPr/>
          <p:nvPr/>
        </p:nvSpPr>
        <p:spPr>
          <a:xfrm>
            <a:off x="276225" y="4124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761198" y="2204276"/>
            <a:ext cx="366712" cy="533400"/>
          </a:xfrm>
          <a:prstGeom prst="rect">
            <a:avLst/>
          </a:prstGeom>
        </p:spPr>
      </p:pic>
      <p:sp>
        <p:nvSpPr>
          <p:cNvPr id="18" name="TextBox 17"/>
          <p:cNvSpPr txBox="1"/>
          <p:nvPr/>
        </p:nvSpPr>
        <p:spPr>
          <a:xfrm>
            <a:off x="276225" y="4219575"/>
            <a:ext cx="5651411" cy="194310"/>
          </a:xfrm>
          <a:prstGeom prst="rect">
            <a:avLst/>
          </a:prstGeom>
          <a:noFill/>
        </p:spPr>
        <p:txBody>
          <a:bodyPr wrap="none" lIns="0" rIns="0" tIns="0" bIns="0">
            <a:spAutoFit/>
          </a:bodyPr>
          <a:lstStyle/>
          <a:p>
            <a:r>
              <a:rPr sz="1150" b="0">
                <a:solidFill>
                  <a:srgbClr val="252423"/>
                </a:solidFill>
                <a:latin typeface="Segoe UI"/>
              </a:rPr>
              <a:t>North America lithium polymer portable energy storage market is projected to register</a:t>
            </a:r>
          </a:p>
        </p:txBody>
      </p:sp>
      <p:pic>
        <p:nvPicPr>
          <p:cNvPr id="19" name="Picture 18" descr="lock.png"/>
          <p:cNvPicPr>
            <a:picLocks noChangeAspect="1"/>
          </p:cNvPicPr>
          <p:nvPr/>
        </p:nvPicPr>
        <p:blipFill>
          <a:blip r:embed="rId4"/>
          <a:stretch>
            <a:fillRect/>
          </a:stretch>
        </p:blipFill>
        <p:spPr>
          <a:xfrm>
            <a:off x="5876790" y="4209351"/>
            <a:ext cx="134549" cy="195707"/>
          </a:xfrm>
          <a:prstGeom prst="rect">
            <a:avLst/>
          </a:prstGeom>
        </p:spPr>
      </p:pic>
      <p:sp>
        <p:nvSpPr>
          <p:cNvPr id="20" name="TextBox 19"/>
          <p:cNvSpPr txBox="1"/>
          <p:nvPr/>
        </p:nvSpPr>
        <p:spPr>
          <a:xfrm>
            <a:off x="6051900" y="4219575"/>
            <a:ext cx="5490586" cy="194310"/>
          </a:xfrm>
          <a:prstGeom prst="rect">
            <a:avLst/>
          </a:prstGeom>
          <a:noFill/>
        </p:spPr>
        <p:txBody>
          <a:bodyPr wrap="none" lIns="0" rIns="0" tIns="0" bIns="0">
            <a:spAutoFit/>
          </a:bodyPr>
          <a:lstStyle/>
          <a:p>
            <a:r>
              <a:rPr sz="1150" b="0">
                <a:solidFill>
                  <a:srgbClr val="252423"/>
                </a:solidFill>
                <a:latin typeface="Segoe UI"/>
              </a:rPr>
              <a:t>X higher volume than South Asia &amp; Pacific in 2036. Among lithium polymer portable</a:t>
            </a:r>
          </a:p>
        </p:txBody>
      </p:sp>
      <p:sp>
        <p:nvSpPr>
          <p:cNvPr id="21" name="TextBox 20"/>
          <p:cNvSpPr txBox="1"/>
          <p:nvPr/>
        </p:nvSpPr>
        <p:spPr>
          <a:xfrm>
            <a:off x="276225" y="4394835"/>
            <a:ext cx="5856041" cy="194310"/>
          </a:xfrm>
          <a:prstGeom prst="rect">
            <a:avLst/>
          </a:prstGeom>
          <a:noFill/>
        </p:spPr>
        <p:txBody>
          <a:bodyPr wrap="none" lIns="0" rIns="0" tIns="0" bIns="0">
            <a:spAutoFit/>
          </a:bodyPr>
          <a:lstStyle/>
          <a:p>
            <a:r>
              <a:rPr sz="1150" b="0">
                <a:solidFill>
                  <a:srgbClr val="252423"/>
                </a:solidFill>
                <a:latin typeface="Segoe UI"/>
              </a:rPr>
              <a:t>energy storage by region, South Asia &amp; Pacific is expected to witness the highest CAGR of</a:t>
            </a:r>
          </a:p>
        </p:txBody>
      </p:sp>
      <p:pic>
        <p:nvPicPr>
          <p:cNvPr id="22" name="Picture 21" descr="lock.png"/>
          <p:cNvPicPr>
            <a:picLocks noChangeAspect="1"/>
          </p:cNvPicPr>
          <p:nvPr/>
        </p:nvPicPr>
        <p:blipFill>
          <a:blip r:embed="rId4"/>
          <a:stretch>
            <a:fillRect/>
          </a:stretch>
        </p:blipFill>
        <p:spPr>
          <a:xfrm>
            <a:off x="6081420" y="4384611"/>
            <a:ext cx="134549" cy="195707"/>
          </a:xfrm>
          <a:prstGeom prst="rect">
            <a:avLst/>
          </a:prstGeom>
        </p:spPr>
      </p:pic>
      <p:sp>
        <p:nvSpPr>
          <p:cNvPr id="23" name="TextBox 22"/>
          <p:cNvSpPr txBox="1"/>
          <p:nvPr/>
        </p:nvSpPr>
        <p:spPr>
          <a:xfrm>
            <a:off x="6256529" y="43948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622672"/>
            <a:ext cx="6133967" cy="194310"/>
          </a:xfrm>
          <a:prstGeom prst="rect">
            <a:avLst/>
          </a:prstGeom>
          <a:noFill/>
        </p:spPr>
        <p:txBody>
          <a:bodyPr wrap="none" lIns="0" rIns="0" tIns="0" bIns="0">
            <a:spAutoFit/>
          </a:bodyPr>
          <a:lstStyle/>
          <a:p>
            <a:r>
              <a:rPr sz="1150" b="0">
                <a:solidFill>
                  <a:srgbClr val="252423"/>
                </a:solidFill>
                <a:latin typeface="Segoe UI"/>
              </a:rPr>
              <a:t>In terms of volume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6359346" y="4612449"/>
            <a:ext cx="134549" cy="195707"/>
          </a:xfrm>
          <a:prstGeom prst="rect">
            <a:avLst/>
          </a:prstGeom>
        </p:spPr>
      </p:pic>
      <p:sp>
        <p:nvSpPr>
          <p:cNvPr id="26" name="TextBox 25"/>
          <p:cNvSpPr txBox="1"/>
          <p:nvPr/>
        </p:nvSpPr>
        <p:spPr>
          <a:xfrm>
            <a:off x="6534456" y="462267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8062812" y="4612449"/>
            <a:ext cx="134549" cy="195707"/>
          </a:xfrm>
          <a:prstGeom prst="rect">
            <a:avLst/>
          </a:prstGeom>
        </p:spPr>
      </p:pic>
      <p:sp>
        <p:nvSpPr>
          <p:cNvPr id="28" name="TextBox 27"/>
          <p:cNvSpPr txBox="1"/>
          <p:nvPr/>
        </p:nvSpPr>
        <p:spPr>
          <a:xfrm>
            <a:off x="8237922" y="462267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Share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region, 2021–2036, highlighting the geographies gaining and ceding ground</a:t>
            </a:r>
          </a:p>
        </p:txBody>
      </p:sp>
      <p:sp>
        <p:nvSpPr>
          <p:cNvPr id="8" name="Rectangle 7"/>
          <p:cNvSpPr/>
          <p:nvPr/>
        </p:nvSpPr>
        <p:spPr>
          <a:xfrm>
            <a:off x="142875" y="981075"/>
            <a:ext cx="11906250" cy="2686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(US$ Mn)</a:t>
            </a:r>
          </a:p>
        </p:txBody>
      </p:sp>
      <p:graphicFrame>
        <p:nvGraphicFramePr>
          <p:cNvPr id="10" name="Table 9"/>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1703778"/>
                <a:gridCol w="610968"/>
                <a:gridCol w="610968"/>
                <a:gridCol w="610968"/>
                <a:gridCol w="610968"/>
                <a:gridCol w="610968"/>
                <a:gridCol w="583161"/>
                <a:gridCol w="583161"/>
                <a:gridCol w="583161"/>
                <a:gridCol w="583161"/>
                <a:gridCol w="583161"/>
                <a:gridCol w="583161"/>
                <a:gridCol w="583161"/>
                <a:gridCol w="583161"/>
                <a:gridCol w="583161"/>
                <a:gridCol w="583161"/>
                <a:gridCol w="583161"/>
                <a:gridCol w="713810"/>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6650">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800475"/>
            <a:ext cx="11906250" cy="2828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Share Read-out, By Region</a:t>
            </a:r>
          </a:p>
        </p:txBody>
      </p:sp>
      <p:sp>
        <p:nvSpPr>
          <p:cNvPr id="14" name="Rectangle 13"/>
          <p:cNvSpPr/>
          <p:nvPr/>
        </p:nvSpPr>
        <p:spPr>
          <a:xfrm>
            <a:off x="276225" y="4124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761198" y="2204276"/>
            <a:ext cx="366712" cy="533400"/>
          </a:xfrm>
          <a:prstGeom prst="rect">
            <a:avLst/>
          </a:prstGeom>
        </p:spPr>
      </p:pic>
      <p:sp>
        <p:nvSpPr>
          <p:cNvPr id="18" name="TextBox 17"/>
          <p:cNvSpPr txBox="1"/>
          <p:nvPr/>
        </p:nvSpPr>
        <p:spPr>
          <a:xfrm>
            <a:off x="276225" y="4219575"/>
            <a:ext cx="5651411" cy="194310"/>
          </a:xfrm>
          <a:prstGeom prst="rect">
            <a:avLst/>
          </a:prstGeom>
          <a:noFill/>
        </p:spPr>
        <p:txBody>
          <a:bodyPr wrap="none" lIns="0" rIns="0" tIns="0" bIns="0">
            <a:spAutoFit/>
          </a:bodyPr>
          <a:lstStyle/>
          <a:p>
            <a:r>
              <a:rPr sz="1150" b="0">
                <a:solidFill>
                  <a:srgbClr val="252423"/>
                </a:solidFill>
                <a:latin typeface="Segoe UI"/>
              </a:rPr>
              <a:t>North America lithium polymer portable energy storage market is projected to register</a:t>
            </a:r>
          </a:p>
        </p:txBody>
      </p:sp>
      <p:pic>
        <p:nvPicPr>
          <p:cNvPr id="19" name="Picture 18" descr="lock.png"/>
          <p:cNvPicPr>
            <a:picLocks noChangeAspect="1"/>
          </p:cNvPicPr>
          <p:nvPr/>
        </p:nvPicPr>
        <p:blipFill>
          <a:blip r:embed="rId4"/>
          <a:stretch>
            <a:fillRect/>
          </a:stretch>
        </p:blipFill>
        <p:spPr>
          <a:xfrm>
            <a:off x="5876790" y="4209351"/>
            <a:ext cx="134549" cy="195707"/>
          </a:xfrm>
          <a:prstGeom prst="rect">
            <a:avLst/>
          </a:prstGeom>
        </p:spPr>
      </p:pic>
      <p:sp>
        <p:nvSpPr>
          <p:cNvPr id="20" name="TextBox 19"/>
          <p:cNvSpPr txBox="1"/>
          <p:nvPr/>
        </p:nvSpPr>
        <p:spPr>
          <a:xfrm>
            <a:off x="6051900" y="4219575"/>
            <a:ext cx="5353637" cy="194310"/>
          </a:xfrm>
          <a:prstGeom prst="rect">
            <a:avLst/>
          </a:prstGeom>
          <a:noFill/>
        </p:spPr>
        <p:txBody>
          <a:bodyPr wrap="none" lIns="0" rIns="0" tIns="0" bIns="0">
            <a:spAutoFit/>
          </a:bodyPr>
          <a:lstStyle/>
          <a:p>
            <a:r>
              <a:rPr sz="1150" b="0">
                <a:solidFill>
                  <a:srgbClr val="252423"/>
                </a:solidFill>
                <a:latin typeface="Segoe UI"/>
              </a:rPr>
              <a:t>X higher value than South Asia &amp; Pacific in 2036. Among lithium polymer portable</a:t>
            </a:r>
          </a:p>
        </p:txBody>
      </p:sp>
      <p:sp>
        <p:nvSpPr>
          <p:cNvPr id="21" name="TextBox 20"/>
          <p:cNvSpPr txBox="1"/>
          <p:nvPr/>
        </p:nvSpPr>
        <p:spPr>
          <a:xfrm>
            <a:off x="276225" y="4394835"/>
            <a:ext cx="5856041" cy="194310"/>
          </a:xfrm>
          <a:prstGeom prst="rect">
            <a:avLst/>
          </a:prstGeom>
          <a:noFill/>
        </p:spPr>
        <p:txBody>
          <a:bodyPr wrap="none" lIns="0" rIns="0" tIns="0" bIns="0">
            <a:spAutoFit/>
          </a:bodyPr>
          <a:lstStyle/>
          <a:p>
            <a:r>
              <a:rPr sz="1150" b="0">
                <a:solidFill>
                  <a:srgbClr val="252423"/>
                </a:solidFill>
                <a:latin typeface="Segoe UI"/>
              </a:rPr>
              <a:t>energy storage by region, South Asia &amp; Pacific is expected to witness the highest CAGR of</a:t>
            </a:r>
          </a:p>
        </p:txBody>
      </p:sp>
      <p:pic>
        <p:nvPicPr>
          <p:cNvPr id="22" name="Picture 21" descr="lock.png"/>
          <p:cNvPicPr>
            <a:picLocks noChangeAspect="1"/>
          </p:cNvPicPr>
          <p:nvPr/>
        </p:nvPicPr>
        <p:blipFill>
          <a:blip r:embed="rId4"/>
          <a:stretch>
            <a:fillRect/>
          </a:stretch>
        </p:blipFill>
        <p:spPr>
          <a:xfrm>
            <a:off x="6081420" y="4384611"/>
            <a:ext cx="134549" cy="195707"/>
          </a:xfrm>
          <a:prstGeom prst="rect">
            <a:avLst/>
          </a:prstGeom>
        </p:spPr>
      </p:pic>
      <p:sp>
        <p:nvSpPr>
          <p:cNvPr id="23" name="TextBox 22"/>
          <p:cNvSpPr txBox="1"/>
          <p:nvPr/>
        </p:nvSpPr>
        <p:spPr>
          <a:xfrm>
            <a:off x="6256529" y="43948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622672"/>
            <a:ext cx="6092864" cy="194310"/>
          </a:xfrm>
          <a:prstGeom prst="rect">
            <a:avLst/>
          </a:prstGeom>
          <a:noFill/>
        </p:spPr>
        <p:txBody>
          <a:bodyPr wrap="none" lIns="0" rIns="0" tIns="0" bIns="0">
            <a:spAutoFit/>
          </a:bodyPr>
          <a:lstStyle/>
          <a:p>
            <a:r>
              <a:rPr sz="1150" b="0">
                <a:solidFill>
                  <a:srgbClr val="252423"/>
                </a:solidFill>
                <a:latin typeface="Segoe UI"/>
              </a:rPr>
              <a:t>In terms of value share by region, North America is expected to dominate the market, gaining</a:t>
            </a:r>
          </a:p>
        </p:txBody>
      </p:sp>
      <p:pic>
        <p:nvPicPr>
          <p:cNvPr id="25" name="Picture 24" descr="lock.png"/>
          <p:cNvPicPr>
            <a:picLocks noChangeAspect="1"/>
          </p:cNvPicPr>
          <p:nvPr/>
        </p:nvPicPr>
        <p:blipFill>
          <a:blip r:embed="rId4"/>
          <a:stretch>
            <a:fillRect/>
          </a:stretch>
        </p:blipFill>
        <p:spPr>
          <a:xfrm>
            <a:off x="6318243" y="4612449"/>
            <a:ext cx="134549" cy="195707"/>
          </a:xfrm>
          <a:prstGeom prst="rect">
            <a:avLst/>
          </a:prstGeom>
        </p:spPr>
      </p:pic>
      <p:sp>
        <p:nvSpPr>
          <p:cNvPr id="26" name="TextBox 25"/>
          <p:cNvSpPr txBox="1"/>
          <p:nvPr/>
        </p:nvSpPr>
        <p:spPr>
          <a:xfrm>
            <a:off x="6493352" y="462267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8021709" y="4612449"/>
            <a:ext cx="134549" cy="195707"/>
          </a:xfrm>
          <a:prstGeom prst="rect">
            <a:avLst/>
          </a:prstGeom>
        </p:spPr>
      </p:pic>
      <p:sp>
        <p:nvSpPr>
          <p:cNvPr id="28" name="TextBox 27"/>
          <p:cNvSpPr txBox="1"/>
          <p:nvPr/>
        </p:nvSpPr>
        <p:spPr>
          <a:xfrm>
            <a:off x="8196818" y="4622672"/>
            <a:ext cx="2848230" cy="194310"/>
          </a:xfrm>
          <a:prstGeom prst="rect">
            <a:avLst/>
          </a:prstGeom>
          <a:noFill/>
        </p:spPr>
        <p:txBody>
          <a:bodyPr wrap="none" lIns="0" rIns="0" tIns="0" bIns="0">
            <a:spAutoFit/>
          </a:bodyPr>
          <a:lstStyle/>
          <a:p>
            <a:r>
              <a:rPr sz="1150" b="0">
                <a:solidFill>
                  <a:srgbClr val="252423"/>
                </a:solidFill>
                <a:latin typeface="Segoe UI"/>
              </a:rPr>
              <a:t>share by 2036. East Asia is expected to lose</a:t>
            </a:r>
          </a:p>
        </p:txBody>
      </p:sp>
      <p:pic>
        <p:nvPicPr>
          <p:cNvPr id="29" name="Picture 28" descr="lock.png"/>
          <p:cNvPicPr>
            <a:picLocks noChangeAspect="1"/>
          </p:cNvPicPr>
          <p:nvPr/>
        </p:nvPicPr>
        <p:blipFill>
          <a:blip r:embed="rId4"/>
          <a:stretch>
            <a:fillRect/>
          </a:stretch>
        </p:blipFill>
        <p:spPr>
          <a:xfrm>
            <a:off x="10994203" y="4612449"/>
            <a:ext cx="134549" cy="195707"/>
          </a:xfrm>
          <a:prstGeom prst="rect">
            <a:avLst/>
          </a:prstGeom>
        </p:spPr>
      </p:pic>
      <p:sp>
        <p:nvSpPr>
          <p:cNvPr id="30" name="TextBox 29"/>
          <p:cNvSpPr txBox="1"/>
          <p:nvPr/>
        </p:nvSpPr>
        <p:spPr>
          <a:xfrm>
            <a:off x="11169312" y="4622672"/>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31" name="TextBox 30"/>
          <p:cNvSpPr txBox="1"/>
          <p:nvPr/>
        </p:nvSpPr>
        <p:spPr>
          <a:xfrm>
            <a:off x="276225" y="4797932"/>
            <a:ext cx="2566974" cy="194310"/>
          </a:xfrm>
          <a:prstGeom prst="rect">
            <a:avLst/>
          </a:prstGeom>
          <a:noFill/>
        </p:spPr>
        <p:txBody>
          <a:bodyPr wrap="none" lIns="0" rIns="0" tIns="0" bIns="0">
            <a:spAutoFit/>
          </a:bodyPr>
          <a:lstStyle/>
          <a:p>
            <a:r>
              <a:rPr sz="1150" b="0">
                <a:solidFill>
                  <a:srgbClr val="252423"/>
                </a:solidFill>
                <a:latin typeface="Segoe UI"/>
              </a:rPr>
              <a:t>over the forecast period to account for</a:t>
            </a:r>
          </a:p>
        </p:txBody>
      </p:sp>
      <p:pic>
        <p:nvPicPr>
          <p:cNvPr id="32" name="Picture 31" descr="lock.png"/>
          <p:cNvPicPr>
            <a:picLocks noChangeAspect="1"/>
          </p:cNvPicPr>
          <p:nvPr/>
        </p:nvPicPr>
        <p:blipFill>
          <a:blip r:embed="rId4"/>
          <a:stretch>
            <a:fillRect/>
          </a:stretch>
        </p:blipFill>
        <p:spPr>
          <a:xfrm>
            <a:off x="2792353" y="4787709"/>
            <a:ext cx="134549" cy="195707"/>
          </a:xfrm>
          <a:prstGeom prst="rect">
            <a:avLst/>
          </a:prstGeom>
        </p:spPr>
      </p:pic>
      <p:sp>
        <p:nvSpPr>
          <p:cNvPr id="33" name="TextBox 32"/>
          <p:cNvSpPr txBox="1"/>
          <p:nvPr/>
        </p:nvSpPr>
        <p:spPr>
          <a:xfrm>
            <a:off x="2967462" y="47979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Trends, By Region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regional volume and value shares shift over 2021–2036, highlighting who gains ground</a:t>
            </a:r>
          </a:p>
        </p:txBody>
      </p:sp>
      <p:sp>
        <p:nvSpPr>
          <p:cNvPr id="8" name="Rectangle 7"/>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Volume By Region (Thousand Units)</a:t>
            </a:r>
          </a:p>
        </p:txBody>
      </p:sp>
      <p:graphicFrame>
        <p:nvGraphicFramePr>
          <p:cNvPr id="10" name="Chart 9"/>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1" name="Rectangle 10"/>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actMR Dense Legend"/>
          <p:cNvSpPr txBox="1"/>
          <p:nvPr/>
        </p:nvSpPr>
        <p:spPr>
          <a:xfrm>
            <a:off x="9839325" y="1362075"/>
            <a:ext cx="2057400" cy="171450"/>
          </a:xfrm>
          <a:prstGeom prst="rect">
            <a:avLst/>
          </a:prstGeom>
          <a:noFill/>
        </p:spPr>
        <p:txBody>
          <a:bodyPr wrap="none">
            <a:spAutoFit/>
          </a:bodyPr>
          <a:lstStyle/>
          <a:p>
            <a:pPr/>
            <a:r>
              <a:rPr sz="850" b="1">
                <a:solidFill>
                  <a:srgbClr val="605E5C"/>
                </a:solidFill>
                <a:latin typeface="Segoe UI"/>
              </a:rPr>
              <a:t/>
            </a:r>
          </a:p>
        </p:txBody>
      </p:sp>
      <p:sp>
        <p:nvSpPr>
          <p:cNvPr id="13" name="FactMR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North America</a:t>
            </a:r>
          </a:p>
          <a:p>
            <a:pPr>
              <a:spcBef>
                <a:spcPts val="500"/>
              </a:spcBef>
            </a:pPr>
            <a:r>
              <a:rPr sz="900">
                <a:solidFill>
                  <a:srgbClr val="D6CAC4"/>
                </a:solidFill>
                <a:latin typeface="Segoe UI"/>
              </a:rPr>
              <a:t>■  </a:t>
            </a:r>
            <a:r>
              <a:rPr sz="750">
                <a:solidFill>
                  <a:srgbClr val="252423"/>
                </a:solidFill>
                <a:latin typeface="Segoe UI"/>
              </a:rPr>
              <a:t>   South Asia &amp; Pacific</a:t>
            </a:r>
          </a:p>
          <a:p>
            <a:pPr>
              <a:spcBef>
                <a:spcPts val="500"/>
              </a:spcBef>
            </a:pPr>
            <a:r>
              <a:rPr sz="900">
                <a:solidFill>
                  <a:srgbClr val="6ECFF2"/>
                </a:solidFill>
                <a:latin typeface="Segoe UI"/>
              </a:rPr>
              <a:t>■  </a:t>
            </a:r>
            <a:r>
              <a:rPr sz="750">
                <a:solidFill>
                  <a:srgbClr val="252423"/>
                </a:solidFill>
                <a:latin typeface="Segoe UI"/>
              </a:rPr>
              <a:t>   East Asia</a:t>
            </a:r>
          </a:p>
          <a:p>
            <a:pPr>
              <a:spcBef>
                <a:spcPts val="500"/>
              </a:spcBef>
            </a:pPr>
            <a:r>
              <a:rPr sz="900">
                <a:solidFill>
                  <a:srgbClr val="EBC46B"/>
                </a:solidFill>
                <a:latin typeface="Segoe UI"/>
              </a:rPr>
              <a:t>■  </a:t>
            </a:r>
            <a:r>
              <a:rPr sz="750">
                <a:solidFill>
                  <a:srgbClr val="252423"/>
                </a:solidFill>
                <a:latin typeface="Segoe UI"/>
              </a:rPr>
              <a:t>   Latin America</a:t>
            </a:r>
          </a:p>
          <a:p>
            <a:pPr>
              <a:spcBef>
                <a:spcPts val="500"/>
              </a:spcBef>
            </a:pPr>
            <a:r>
              <a:rPr sz="900">
                <a:solidFill>
                  <a:srgbClr val="EDA28B"/>
                </a:solidFill>
                <a:latin typeface="Segoe UI"/>
              </a:rPr>
              <a:t>■  </a:t>
            </a:r>
            <a:r>
              <a:rPr sz="750">
                <a:solidFill>
                  <a:srgbClr val="252423"/>
                </a:solidFill>
                <a:latin typeface="Segoe UI"/>
              </a:rPr>
              <a:t>   Middle East &amp; Africa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Western Europe</a:t>
            </a:r>
          </a:p>
        </p:txBody>
      </p:sp>
      <p:sp>
        <p:nvSpPr>
          <p:cNvPr id="14" name="Rectangle 13"/>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Region (US$ Mn)</a:t>
            </a:r>
          </a:p>
        </p:txBody>
      </p:sp>
      <p:graphicFrame>
        <p:nvGraphicFramePr>
          <p:cNvPr id="16" name="Chart 15"/>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7" name="Rectangle 16"/>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actMR Dense Legend"/>
          <p:cNvSpPr txBox="1"/>
          <p:nvPr/>
        </p:nvSpPr>
        <p:spPr>
          <a:xfrm>
            <a:off x="9839325" y="4248150"/>
            <a:ext cx="2057400" cy="171450"/>
          </a:xfrm>
          <a:prstGeom prst="rect">
            <a:avLst/>
          </a:prstGeom>
          <a:noFill/>
        </p:spPr>
        <p:txBody>
          <a:bodyPr wrap="none">
            <a:spAutoFit/>
          </a:bodyPr>
          <a:lstStyle/>
          <a:p>
            <a:pPr/>
            <a:r>
              <a:rPr sz="850" b="1">
                <a:solidFill>
                  <a:srgbClr val="605E5C"/>
                </a:solidFill>
                <a:latin typeface="Segoe UI"/>
              </a:rPr>
              <a:t/>
            </a:r>
          </a:p>
        </p:txBody>
      </p:sp>
      <p:sp>
        <p:nvSpPr>
          <p:cNvPr id="19" name="FactMR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North America</a:t>
            </a:r>
          </a:p>
          <a:p>
            <a:pPr>
              <a:spcBef>
                <a:spcPts val="500"/>
              </a:spcBef>
            </a:pPr>
            <a:r>
              <a:rPr sz="900">
                <a:solidFill>
                  <a:srgbClr val="D6CAC4"/>
                </a:solidFill>
                <a:latin typeface="Segoe UI"/>
              </a:rPr>
              <a:t>■  </a:t>
            </a:r>
            <a:r>
              <a:rPr sz="750">
                <a:solidFill>
                  <a:srgbClr val="252423"/>
                </a:solidFill>
                <a:latin typeface="Segoe UI"/>
              </a:rPr>
              <a:t>   South Asia &amp; Pacific</a:t>
            </a:r>
          </a:p>
          <a:p>
            <a:pPr>
              <a:spcBef>
                <a:spcPts val="500"/>
              </a:spcBef>
            </a:pPr>
            <a:r>
              <a:rPr sz="900">
                <a:solidFill>
                  <a:srgbClr val="6ECFF2"/>
                </a:solidFill>
                <a:latin typeface="Segoe UI"/>
              </a:rPr>
              <a:t>■  </a:t>
            </a:r>
            <a:r>
              <a:rPr sz="750">
                <a:solidFill>
                  <a:srgbClr val="252423"/>
                </a:solidFill>
                <a:latin typeface="Segoe UI"/>
              </a:rPr>
              <a:t>   East Asia</a:t>
            </a:r>
          </a:p>
          <a:p>
            <a:pPr>
              <a:spcBef>
                <a:spcPts val="500"/>
              </a:spcBef>
            </a:pPr>
            <a:r>
              <a:rPr sz="900">
                <a:solidFill>
                  <a:srgbClr val="EBC46B"/>
                </a:solidFill>
                <a:latin typeface="Segoe UI"/>
              </a:rPr>
              <a:t>■  </a:t>
            </a:r>
            <a:r>
              <a:rPr sz="750">
                <a:solidFill>
                  <a:srgbClr val="252423"/>
                </a:solidFill>
                <a:latin typeface="Segoe UI"/>
              </a:rPr>
              <a:t>   Latin America</a:t>
            </a:r>
          </a:p>
          <a:p>
            <a:pPr>
              <a:spcBef>
                <a:spcPts val="500"/>
              </a:spcBef>
            </a:pPr>
            <a:r>
              <a:rPr sz="900">
                <a:solidFill>
                  <a:srgbClr val="EDA28B"/>
                </a:solidFill>
                <a:latin typeface="Segoe UI"/>
              </a:rPr>
              <a:t>■  </a:t>
            </a:r>
            <a:r>
              <a:rPr sz="750">
                <a:solidFill>
                  <a:srgbClr val="252423"/>
                </a:solidFill>
                <a:latin typeface="Segoe UI"/>
              </a:rPr>
              <a:t>   Middle East &amp; Africa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Western Europe</a:t>
            </a:r>
          </a:p>
        </p:txBody>
      </p:sp>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1" name="TextBox 20"/>
          <p:cNvSpPr txBox="1"/>
          <p:nvPr/>
        </p:nvSpPr>
        <p:spPr>
          <a:xfrm>
            <a:off x="9930765" y="1407795"/>
            <a:ext cx="504137" cy="112318"/>
          </a:xfrm>
          <a:prstGeom prst="rect">
            <a:avLst/>
          </a:prstGeom>
          <a:noFill/>
        </p:spPr>
        <p:txBody>
          <a:bodyPr wrap="none" lIns="0" rIns="0" tIns="0" bIns="0">
            <a:spAutoFit/>
          </a:bodyPr>
          <a:lstStyle/>
          <a:p>
            <a:r>
              <a:rPr sz="611" b="1">
                <a:solidFill>
                  <a:srgbClr val="605E5C"/>
                </a:solidFill>
                <a:latin typeface="Segoe UI"/>
              </a:rPr>
              <a:t>By segment</a:t>
            </a:r>
          </a:p>
        </p:txBody>
      </p:sp>
      <p:sp>
        <p:nvSpPr>
          <p:cNvPr id="22" name="TextBox 21"/>
          <p:cNvSpPr txBox="1"/>
          <p:nvPr/>
        </p:nvSpPr>
        <p:spPr>
          <a:xfrm>
            <a:off x="9930765" y="4293870"/>
            <a:ext cx="504137" cy="112318"/>
          </a:xfrm>
          <a:prstGeom prst="rect">
            <a:avLst/>
          </a:prstGeom>
          <a:noFill/>
        </p:spPr>
        <p:txBody>
          <a:bodyPr wrap="none" lIns="0" rIns="0" tIns="0" bIns="0">
            <a:spAutoFit/>
          </a:bodyPr>
          <a:lstStyle/>
          <a:p>
            <a:r>
              <a:rPr sz="611" b="1">
                <a:solidFill>
                  <a:srgbClr val="605E5C"/>
                </a:solidFill>
                <a:latin typeface="Segoe UI"/>
              </a:rPr>
              <a:t>By segment</a:t>
            </a:r>
          </a:p>
        </p:txBody>
      </p:sp>
      <p:sp>
        <p:nvSpPr>
          <p:cNvPr id="23" name="lockshield_10"/>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6"/>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Top 10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global market in 2036, highlighting the leading countries within each region by value</a:t>
            </a:r>
          </a:p>
        </p:txBody>
      </p:sp>
      <p:sp>
        <p:nvSpPr>
          <p:cNvPr id="8" name="Rectangle 7"/>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by country  ·  2036 (US$ Mn)  ·  tile size = market value</a:t>
            </a:r>
          </a:p>
        </p:txBody>
      </p:sp>
      <p:sp>
        <p:nvSpPr>
          <p:cNvPr id="10" name="Rectangle 9"/>
          <p:cNvSpPr/>
          <p:nvPr/>
        </p:nvSpPr>
        <p:spPr>
          <a:xfrm>
            <a:off x="238125" y="1266825"/>
            <a:ext cx="3692324"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United States</a:t>
            </a:r>
          </a:p>
          <a:p>
            <a:pPr algn="ctr"/>
            <a:r>
              <a:rPr sz="1100" b="0">
                <a:solidFill>
                  <a:srgbClr val="FFFFFF"/>
                </a:solidFill>
                <a:latin typeface="Segoe UI"/>
              </a:rPr>
              <a:t> </a:t>
            </a:r>
          </a:p>
        </p:txBody>
      </p:sp>
      <p:sp>
        <p:nvSpPr>
          <p:cNvPr id="11" name="Rectangle 10"/>
          <p:cNvSpPr/>
          <p:nvPr/>
        </p:nvSpPr>
        <p:spPr>
          <a:xfrm>
            <a:off x="3930449" y="1266825"/>
            <a:ext cx="2679566" cy="2742290"/>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2" name="Rectangle 11"/>
          <p:cNvSpPr/>
          <p:nvPr/>
        </p:nvSpPr>
        <p:spPr>
          <a:xfrm>
            <a:off x="3930449" y="4009115"/>
            <a:ext cx="2679566" cy="2563135"/>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 </a:t>
            </a:r>
          </a:p>
        </p:txBody>
      </p:sp>
      <p:sp>
        <p:nvSpPr>
          <p:cNvPr id="13" name="Rectangle 12"/>
          <p:cNvSpPr/>
          <p:nvPr/>
        </p:nvSpPr>
        <p:spPr>
          <a:xfrm>
            <a:off x="6610015" y="1266825"/>
            <a:ext cx="2188690" cy="3085172"/>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 </a:t>
            </a:r>
          </a:p>
        </p:txBody>
      </p:sp>
      <p:sp>
        <p:nvSpPr>
          <p:cNvPr id="14" name="Rectangle 13"/>
          <p:cNvSpPr/>
          <p:nvPr/>
        </p:nvSpPr>
        <p:spPr>
          <a:xfrm>
            <a:off x="6610015" y="4351997"/>
            <a:ext cx="2188690" cy="2220253"/>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Brazil</a:t>
            </a:r>
          </a:p>
          <a:p>
            <a:pPr algn="ctr"/>
            <a:r>
              <a:rPr sz="1100" b="0">
                <a:solidFill>
                  <a:srgbClr val="252423"/>
                </a:solidFill>
                <a:latin typeface="Segoe UI"/>
              </a:rPr>
              <a:t> </a:t>
            </a:r>
          </a:p>
        </p:txBody>
      </p:sp>
      <p:sp>
        <p:nvSpPr>
          <p:cNvPr id="15" name="Rectangle 14"/>
          <p:cNvSpPr/>
          <p:nvPr/>
        </p:nvSpPr>
        <p:spPr>
          <a:xfrm>
            <a:off x="8798705" y="1266825"/>
            <a:ext cx="1888489" cy="2560555"/>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16" name="Rectangle 15"/>
          <p:cNvSpPr/>
          <p:nvPr/>
        </p:nvSpPr>
        <p:spPr>
          <a:xfrm>
            <a:off x="10687194" y="1266825"/>
            <a:ext cx="1266681" cy="2560555"/>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Kingdom of Saudi Arabia</a:t>
            </a:r>
          </a:p>
          <a:p>
            <a:pPr algn="ctr"/>
            <a:r>
              <a:rPr sz="1100" b="0">
                <a:solidFill>
                  <a:srgbClr val="252423"/>
                </a:solidFill>
                <a:latin typeface="Segoe UI"/>
              </a:rPr>
              <a:t> </a:t>
            </a:r>
          </a:p>
        </p:txBody>
      </p:sp>
      <p:sp>
        <p:nvSpPr>
          <p:cNvPr id="17" name="Rectangle 16"/>
          <p:cNvSpPr/>
          <p:nvPr/>
        </p:nvSpPr>
        <p:spPr>
          <a:xfrm>
            <a:off x="8798705" y="3827380"/>
            <a:ext cx="2136368" cy="1385726"/>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 </a:t>
            </a:r>
          </a:p>
        </p:txBody>
      </p:sp>
      <p:sp>
        <p:nvSpPr>
          <p:cNvPr id="18" name="Rectangle 17"/>
          <p:cNvSpPr/>
          <p:nvPr/>
        </p:nvSpPr>
        <p:spPr>
          <a:xfrm>
            <a:off x="8798705" y="5213107"/>
            <a:ext cx="2136368" cy="1359143"/>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 </a:t>
            </a:r>
          </a:p>
        </p:txBody>
      </p:sp>
      <p:sp>
        <p:nvSpPr>
          <p:cNvPr id="19" name="Rectangle 18"/>
          <p:cNvSpPr/>
          <p:nvPr/>
        </p:nvSpPr>
        <p:spPr>
          <a:xfrm>
            <a:off x="10935073" y="3827380"/>
            <a:ext cx="1018802" cy="2744870"/>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 </a:t>
            </a:r>
          </a:p>
        </p:txBody>
      </p:sp>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4"/>
          <a:stretch>
            <a:fillRect/>
          </a:stretch>
        </p:blipFill>
        <p:spPr>
          <a:xfrm>
            <a:off x="1929848"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5115793" y="2637970"/>
            <a:ext cx="308877" cy="449275"/>
          </a:xfrm>
          <a:prstGeom prst="rect">
            <a:avLst/>
          </a:prstGeom>
        </p:spPr>
      </p:pic>
      <p:pic>
        <p:nvPicPr>
          <p:cNvPr id="23" name="Picture 22" descr="lock.png"/>
          <p:cNvPicPr>
            <a:picLocks noChangeAspect="1"/>
          </p:cNvPicPr>
          <p:nvPr/>
        </p:nvPicPr>
        <p:blipFill>
          <a:blip r:embed="rId4"/>
          <a:stretch>
            <a:fillRect/>
          </a:stretch>
        </p:blipFill>
        <p:spPr>
          <a:xfrm>
            <a:off x="5115793" y="5290682"/>
            <a:ext cx="308877" cy="449275"/>
          </a:xfrm>
          <a:prstGeom prst="rect">
            <a:avLst/>
          </a:prstGeom>
        </p:spPr>
      </p:pic>
      <p:pic>
        <p:nvPicPr>
          <p:cNvPr id="24" name="Picture 23" descr="lock.png"/>
          <p:cNvPicPr>
            <a:picLocks noChangeAspect="1"/>
          </p:cNvPicPr>
          <p:nvPr/>
        </p:nvPicPr>
        <p:blipFill>
          <a:blip r:embed="rId4"/>
          <a:stretch>
            <a:fillRect/>
          </a:stretch>
        </p:blipFill>
        <p:spPr>
          <a:xfrm>
            <a:off x="7549921" y="2809410"/>
            <a:ext cx="308877" cy="449275"/>
          </a:xfrm>
          <a:prstGeom prst="rect">
            <a:avLst/>
          </a:prstGeom>
        </p:spPr>
      </p:pic>
      <p:pic>
        <p:nvPicPr>
          <p:cNvPr id="25" name="Picture 24" descr="lock.png"/>
          <p:cNvPicPr>
            <a:picLocks noChangeAspect="1"/>
          </p:cNvPicPr>
          <p:nvPr/>
        </p:nvPicPr>
        <p:blipFill>
          <a:blip r:embed="rId4"/>
          <a:stretch>
            <a:fillRect/>
          </a:stretch>
        </p:blipFill>
        <p:spPr>
          <a:xfrm>
            <a:off x="7549921" y="5462123"/>
            <a:ext cx="308877" cy="449275"/>
          </a:xfrm>
          <a:prstGeom prst="rect">
            <a:avLst/>
          </a:prstGeom>
        </p:spPr>
      </p:pic>
      <p:pic>
        <p:nvPicPr>
          <p:cNvPr id="26" name="Picture 25" descr="lock.png"/>
          <p:cNvPicPr>
            <a:picLocks noChangeAspect="1"/>
          </p:cNvPicPr>
          <p:nvPr/>
        </p:nvPicPr>
        <p:blipFill>
          <a:blip r:embed="rId4"/>
          <a:stretch>
            <a:fillRect/>
          </a:stretch>
        </p:blipFill>
        <p:spPr>
          <a:xfrm>
            <a:off x="9588511" y="2547102"/>
            <a:ext cx="308877" cy="449275"/>
          </a:xfrm>
          <a:prstGeom prst="rect">
            <a:avLst/>
          </a:prstGeom>
        </p:spPr>
      </p:pic>
      <p:pic>
        <p:nvPicPr>
          <p:cNvPr id="27" name="Picture 26" descr="lock.png"/>
          <p:cNvPicPr>
            <a:picLocks noChangeAspect="1"/>
          </p:cNvPicPr>
          <p:nvPr/>
        </p:nvPicPr>
        <p:blipFill>
          <a:blip r:embed="rId4"/>
          <a:stretch>
            <a:fillRect/>
          </a:stretch>
        </p:blipFill>
        <p:spPr>
          <a:xfrm>
            <a:off x="11166096" y="2547102"/>
            <a:ext cx="308877" cy="449275"/>
          </a:xfrm>
          <a:prstGeom prst="rect">
            <a:avLst/>
          </a:prstGeom>
        </p:spPr>
      </p:pic>
      <p:pic>
        <p:nvPicPr>
          <p:cNvPr id="28" name="Picture 27" descr="lock.png"/>
          <p:cNvPicPr>
            <a:picLocks noChangeAspect="1"/>
          </p:cNvPicPr>
          <p:nvPr/>
        </p:nvPicPr>
        <p:blipFill>
          <a:blip r:embed="rId4"/>
          <a:stretch>
            <a:fillRect/>
          </a:stretch>
        </p:blipFill>
        <p:spPr>
          <a:xfrm>
            <a:off x="9712450" y="4520243"/>
            <a:ext cx="308877" cy="449275"/>
          </a:xfrm>
          <a:prstGeom prst="rect">
            <a:avLst/>
          </a:prstGeom>
        </p:spPr>
      </p:pic>
      <p:pic>
        <p:nvPicPr>
          <p:cNvPr id="29" name="Picture 28" descr="lock.png"/>
          <p:cNvPicPr>
            <a:picLocks noChangeAspect="1"/>
          </p:cNvPicPr>
          <p:nvPr/>
        </p:nvPicPr>
        <p:blipFill>
          <a:blip r:embed="rId4"/>
          <a:stretch>
            <a:fillRect/>
          </a:stretch>
        </p:blipFill>
        <p:spPr>
          <a:xfrm>
            <a:off x="9712450" y="5892678"/>
            <a:ext cx="308877" cy="449275"/>
          </a:xfrm>
          <a:prstGeom prst="rect">
            <a:avLst/>
          </a:prstGeom>
        </p:spPr>
      </p:pic>
      <p:pic>
        <p:nvPicPr>
          <p:cNvPr id="30" name="Picture 29" descr="lock.png"/>
          <p:cNvPicPr>
            <a:picLocks noChangeAspect="1"/>
          </p:cNvPicPr>
          <p:nvPr/>
        </p:nvPicPr>
        <p:blipFill>
          <a:blip r:embed="rId4"/>
          <a:stretch>
            <a:fillRect/>
          </a:stretch>
        </p:blipFill>
        <p:spPr>
          <a:xfrm>
            <a:off x="11290035" y="5199815"/>
            <a:ext cx="308877" cy="449275"/>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308225"/>
            <a:ext cx="8572500" cy="514350"/>
          </a:xfrm>
          <a:prstGeom prst="rect">
            <a:avLst/>
          </a:prstGeom>
          <a:noFill/>
        </p:spPr>
        <p:txBody>
          <a:bodyPr wrap="square" lIns="0" rIns="0" tIns="0">
            <a:spAutoFit/>
          </a:bodyPr>
          <a:lstStyle/>
          <a:p>
            <a:r>
              <a:rPr sz="3000" b="1">
                <a:solidFill>
                  <a:srgbClr val="00526E"/>
                </a:solidFill>
                <a:latin typeface="Calibri"/>
              </a:rPr>
              <a:t>Global Market Analysis By Segments</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Energy Storage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Output Power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Energy Storage 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Energy Storage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Energy Storage Capacity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Energy Storage Capacity,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Energy Storage Capacity segment categorizes the market by energy storage capacity.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1,500 Wh to 2,000 Wh</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1,000 Wh to Below 1,500 Wh</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500 Wh to Below 1,000 Wh</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0" name="Rectangle 39"/>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2" name="Rounded Rectangle 4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4" name="Rectangle 43"/>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p:txBody>
      </p:sp>
      <p:sp>
        <p:nvSpPr>
          <p:cNvPr id="46" name="Rounded Rectangle 4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8" name="Rectangle 47"/>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Energy Storage Capacity split shows how demand is distributed across energy storage capacity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0" name="Rectangle 4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2" name="TextBox 5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4" name="Picture 53" descr="266_6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753_4_605E5C.png"/>
          <p:cNvPicPr>
            <a:picLocks noChangeAspect="1"/>
          </p:cNvPicPr>
          <p:nvPr/>
        </p:nvPicPr>
        <p:blipFill>
          <a:blip r:embed="rId5"/>
          <a:stretch>
            <a:fillRect/>
          </a:stretch>
        </p:blipFill>
        <p:spPr>
          <a:xfrm>
            <a:off x="2897811" y="2779432"/>
            <a:ext cx="1195728" cy="361950"/>
          </a:xfrm>
          <a:prstGeom prst="rect">
            <a:avLst/>
          </a:prstGeom>
        </p:spPr>
      </p:pic>
      <p:pic>
        <p:nvPicPr>
          <p:cNvPr id="56" name="Picture 55" descr="10_9__605E5C.png"/>
          <p:cNvPicPr>
            <a:picLocks noChangeAspect="1"/>
          </p:cNvPicPr>
          <p:nvPr/>
        </p:nvPicPr>
        <p:blipFill>
          <a:blip r:embed="rId6"/>
          <a:stretch>
            <a:fillRect/>
          </a:stretch>
        </p:blipFill>
        <p:spPr>
          <a:xfrm>
            <a:off x="2897811" y="3272281"/>
            <a:ext cx="1195728" cy="361950"/>
          </a:xfrm>
          <a:prstGeom prst="rect">
            <a:avLst/>
          </a:prstGeom>
        </p:spPr>
      </p:pic>
      <p:pic>
        <p:nvPicPr>
          <p:cNvPr id="57" name="Picture 56" descr="196_9_605E5C.png"/>
          <p:cNvPicPr>
            <a:picLocks noChangeAspect="1"/>
          </p:cNvPicPr>
          <p:nvPr/>
        </p:nvPicPr>
        <p:blipFill>
          <a:blip r:embed="rId7"/>
          <a:stretch>
            <a:fillRect/>
          </a:stretch>
        </p:blipFill>
        <p:spPr>
          <a:xfrm>
            <a:off x="6269661" y="2286582"/>
            <a:ext cx="1195728" cy="361950"/>
          </a:xfrm>
          <a:prstGeom prst="rect">
            <a:avLst/>
          </a:prstGeom>
        </p:spPr>
      </p:pic>
      <p:pic>
        <p:nvPicPr>
          <p:cNvPr id="58" name="Picture 57" descr="676_7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13_1__605E5C.png"/>
          <p:cNvPicPr>
            <a:picLocks noChangeAspect="1"/>
          </p:cNvPicPr>
          <p:nvPr/>
        </p:nvPicPr>
        <p:blipFill>
          <a:blip r:embed="rId9"/>
          <a:stretch>
            <a:fillRect/>
          </a:stretch>
        </p:blipFill>
        <p:spPr>
          <a:xfrm>
            <a:off x="6269661" y="3272281"/>
            <a:ext cx="1195728" cy="361950"/>
          </a:xfrm>
          <a:prstGeom prst="rect">
            <a:avLst/>
          </a:prstGeom>
        </p:spPr>
      </p:pic>
      <p:pic>
        <p:nvPicPr>
          <p:cNvPr id="60" name="Picture 59" descr="186_6_605E5C.png"/>
          <p:cNvPicPr>
            <a:picLocks noChangeAspect="1"/>
          </p:cNvPicPr>
          <p:nvPr/>
        </p:nvPicPr>
        <p:blipFill>
          <a:blip r:embed="rId10"/>
          <a:stretch>
            <a:fillRect/>
          </a:stretch>
        </p:blipFill>
        <p:spPr>
          <a:xfrm>
            <a:off x="9641511" y="2286582"/>
            <a:ext cx="1195728" cy="361950"/>
          </a:xfrm>
          <a:prstGeom prst="rect">
            <a:avLst/>
          </a:prstGeom>
        </p:spPr>
      </p:pic>
      <p:pic>
        <p:nvPicPr>
          <p:cNvPr id="61" name="Picture 60" descr="519_9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10_8__605E5C.png"/>
          <p:cNvPicPr>
            <a:picLocks noChangeAspect="1"/>
          </p:cNvPicPr>
          <p:nvPr/>
        </p:nvPicPr>
        <p:blipFill>
          <a:blip r:embed="rId12"/>
          <a:stretch>
            <a:fillRect/>
          </a:stretch>
        </p:blipFill>
        <p:spPr>
          <a:xfrm>
            <a:off x="9641511" y="3272281"/>
            <a:ext cx="1195728"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67" name="TextBox 66"/>
          <p:cNvSpPr txBox="1"/>
          <p:nvPr/>
        </p:nvSpPr>
        <p:spPr>
          <a:xfrm>
            <a:off x="485775" y="4390371"/>
            <a:ext cx="2812992" cy="179984"/>
          </a:xfrm>
          <a:prstGeom prst="rect">
            <a:avLst/>
          </a:prstGeom>
          <a:noFill/>
        </p:spPr>
        <p:txBody>
          <a:bodyPr wrap="none" lIns="0" rIns="0" tIns="0" bIns="0">
            <a:spAutoFit/>
          </a:bodyPr>
          <a:lstStyle/>
          <a:p>
            <a:r>
              <a:rPr sz="1055" b="0">
                <a:solidFill>
                  <a:srgbClr val="252423"/>
                </a:solidFill>
                <a:latin typeface="Segoe UI"/>
              </a:rPr>
              <a:t>by energy storage capacity, 1,000 wh to below</a:t>
            </a:r>
          </a:p>
        </p:txBody>
      </p:sp>
      <p:sp>
        <p:nvSpPr>
          <p:cNvPr id="68" name="TextBox 67"/>
          <p:cNvSpPr txBox="1"/>
          <p:nvPr/>
        </p:nvSpPr>
        <p:spPr>
          <a:xfrm>
            <a:off x="485775" y="4551305"/>
            <a:ext cx="2715187" cy="179984"/>
          </a:xfrm>
          <a:prstGeom prst="rect">
            <a:avLst/>
          </a:prstGeom>
          <a:noFill/>
        </p:spPr>
        <p:txBody>
          <a:bodyPr wrap="none" lIns="0" rIns="0" tIns="0" bIns="0">
            <a:spAutoFit/>
          </a:bodyPr>
          <a:lstStyle/>
          <a:p>
            <a:r>
              <a:rPr sz="1055" b="0">
                <a:solidFill>
                  <a:srgbClr val="252423"/>
                </a:solidFill>
                <a:latin typeface="Segoe UI"/>
              </a:rPr>
              <a:t>1,500 wh segment is expected to witness the</a:t>
            </a:r>
          </a:p>
        </p:txBody>
      </p:sp>
      <p:sp>
        <p:nvSpPr>
          <p:cNvPr id="69" name="TextBox 68"/>
          <p:cNvSpPr txBox="1"/>
          <p:nvPr/>
        </p:nvSpPr>
        <p:spPr>
          <a:xfrm>
            <a:off x="485775" y="4712240"/>
            <a:ext cx="1047660" cy="179984"/>
          </a:xfrm>
          <a:prstGeom prst="rect">
            <a:avLst/>
          </a:prstGeom>
          <a:noFill/>
        </p:spPr>
        <p:txBody>
          <a:bodyPr wrap="none" lIns="0" rIns="0" tIns="0" bIns="0">
            <a:spAutoFit/>
          </a:bodyPr>
          <a:lstStyle/>
          <a:p>
            <a:r>
              <a:rPr sz="1055" b="0">
                <a:solidFill>
                  <a:srgbClr val="252423"/>
                </a:solidFill>
                <a:latin typeface="Segoe UI"/>
              </a:rPr>
              <a:t>highest CAGR of</a:t>
            </a:r>
          </a:p>
        </p:txBody>
      </p:sp>
      <p:pic>
        <p:nvPicPr>
          <p:cNvPr id="70" name="Picture 69" descr="lock.png"/>
          <p:cNvPicPr>
            <a:picLocks noChangeAspect="1"/>
          </p:cNvPicPr>
          <p:nvPr/>
        </p:nvPicPr>
        <p:blipFill>
          <a:blip r:embed="rId13"/>
          <a:stretch>
            <a:fillRect/>
          </a:stretch>
        </p:blipFill>
        <p:spPr>
          <a:xfrm>
            <a:off x="1480517" y="4702852"/>
            <a:ext cx="123551" cy="179710"/>
          </a:xfrm>
          <a:prstGeom prst="rect">
            <a:avLst/>
          </a:prstGeom>
        </p:spPr>
      </p:pic>
      <p:sp>
        <p:nvSpPr>
          <p:cNvPr id="71" name="TextBox 70"/>
          <p:cNvSpPr txBox="1"/>
          <p:nvPr/>
        </p:nvSpPr>
        <p:spPr>
          <a:xfrm>
            <a:off x="1641313" y="4712240"/>
            <a:ext cx="1670834" cy="179984"/>
          </a:xfrm>
          <a:prstGeom prst="rect">
            <a:avLst/>
          </a:prstGeom>
          <a:noFill/>
        </p:spPr>
        <p:txBody>
          <a:bodyPr wrap="none" lIns="0" rIns="0" tIns="0" bIns="0">
            <a:spAutoFit/>
          </a:bodyPr>
          <a:lstStyle/>
          <a:p>
            <a:r>
              <a:rPr sz="1055" b="0">
                <a:solidFill>
                  <a:srgbClr val="252423"/>
                </a:solidFill>
                <a:latin typeface="Segoe UI"/>
              </a:rPr>
              <a:t>over the forecast period. In</a:t>
            </a:r>
          </a:p>
        </p:txBody>
      </p:sp>
      <p:sp>
        <p:nvSpPr>
          <p:cNvPr id="72" name="TextBox 71"/>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terms of value share by energy storage capacity,</a:t>
            </a:r>
          </a:p>
        </p:txBody>
      </p:sp>
      <p:sp>
        <p:nvSpPr>
          <p:cNvPr id="73" name="TextBox 72"/>
          <p:cNvSpPr txBox="1"/>
          <p:nvPr/>
        </p:nvSpPr>
        <p:spPr>
          <a:xfrm>
            <a:off x="485775" y="5034109"/>
            <a:ext cx="2914650" cy="179984"/>
          </a:xfrm>
          <a:prstGeom prst="rect">
            <a:avLst/>
          </a:prstGeom>
          <a:noFill/>
        </p:spPr>
        <p:txBody>
          <a:bodyPr wrap="none" lIns="0" rIns="0" tIns="0" bIns="0">
            <a:spAutoFit/>
          </a:bodyPr>
          <a:lstStyle/>
          <a:p>
            <a:r>
              <a:rPr sz="1055" b="0">
                <a:solidFill>
                  <a:srgbClr val="252423"/>
                </a:solidFill>
                <a:latin typeface="Segoe UI"/>
              </a:rPr>
              <a:t>the 1,500 wh to 2,000 wh segment is expected to</a:t>
            </a:r>
          </a:p>
        </p:txBody>
      </p:sp>
      <p:sp>
        <p:nvSpPr>
          <p:cNvPr id="74" name="TextBox 73"/>
          <p:cNvSpPr txBox="1"/>
          <p:nvPr/>
        </p:nvSpPr>
        <p:spPr>
          <a:xfrm>
            <a:off x="485775" y="5195043"/>
            <a:ext cx="1741279" cy="179984"/>
          </a:xfrm>
          <a:prstGeom prst="rect">
            <a:avLst/>
          </a:prstGeom>
          <a:noFill/>
        </p:spPr>
        <p:txBody>
          <a:bodyPr wrap="none" lIns="0" rIns="0" tIns="0" bIns="0">
            <a:spAutoFit/>
          </a:bodyPr>
          <a:lstStyle/>
          <a:p>
            <a:r>
              <a:rPr sz="1055" b="0">
                <a:solidFill>
                  <a:srgbClr val="252423"/>
                </a:solidFill>
                <a:latin typeface="Segoe UI"/>
              </a:rPr>
              <a:t>dominate the market, losing</a:t>
            </a:r>
          </a:p>
        </p:txBody>
      </p:sp>
      <p:pic>
        <p:nvPicPr>
          <p:cNvPr id="75" name="Picture 74" descr="lock.png"/>
          <p:cNvPicPr>
            <a:picLocks noChangeAspect="1"/>
          </p:cNvPicPr>
          <p:nvPr/>
        </p:nvPicPr>
        <p:blipFill>
          <a:blip r:embed="rId13"/>
          <a:stretch>
            <a:fillRect/>
          </a:stretch>
        </p:blipFill>
        <p:spPr>
          <a:xfrm>
            <a:off x="2174135" y="5185655"/>
            <a:ext cx="123551" cy="179710"/>
          </a:xfrm>
          <a:prstGeom prst="rect">
            <a:avLst/>
          </a:prstGeom>
        </p:spPr>
      </p:pic>
      <p:sp>
        <p:nvSpPr>
          <p:cNvPr id="76" name="TextBox 75"/>
          <p:cNvSpPr txBox="1"/>
          <p:nvPr/>
        </p:nvSpPr>
        <p:spPr>
          <a:xfrm>
            <a:off x="2334931" y="5195043"/>
            <a:ext cx="559736" cy="179984"/>
          </a:xfrm>
          <a:prstGeom prst="rect">
            <a:avLst/>
          </a:prstGeom>
          <a:noFill/>
        </p:spPr>
        <p:txBody>
          <a:bodyPr wrap="none" lIns="0" rIns="0" tIns="0" bIns="0">
            <a:spAutoFit/>
          </a:bodyPr>
          <a:lstStyle/>
          <a:p>
            <a:r>
              <a:rPr sz="1055" b="0">
                <a:solidFill>
                  <a:srgbClr val="252423"/>
                </a:solidFill>
                <a:latin typeface="Segoe UI"/>
              </a:rPr>
              <a:t>BPS and</a:t>
            </a:r>
          </a:p>
        </p:txBody>
      </p:sp>
      <p:sp>
        <p:nvSpPr>
          <p:cNvPr id="77" name="TextBox 76"/>
          <p:cNvSpPr txBox="1"/>
          <p:nvPr/>
        </p:nvSpPr>
        <p:spPr>
          <a:xfrm>
            <a:off x="485775" y="5355977"/>
            <a:ext cx="936140" cy="179984"/>
          </a:xfrm>
          <a:prstGeom prst="rect">
            <a:avLst/>
          </a:prstGeom>
          <a:noFill/>
        </p:spPr>
        <p:txBody>
          <a:bodyPr wrap="none" lIns="0" rIns="0" tIns="0" bIns="0">
            <a:spAutoFit/>
          </a:bodyPr>
          <a:lstStyle/>
          <a:p>
            <a:r>
              <a:rPr sz="1055" b="0">
                <a:solidFill>
                  <a:srgbClr val="252423"/>
                </a:solidFill>
                <a:latin typeface="Segoe UI"/>
              </a:rPr>
              <a:t>accounting for</a:t>
            </a:r>
          </a:p>
        </p:txBody>
      </p:sp>
      <p:pic>
        <p:nvPicPr>
          <p:cNvPr id="78" name="Picture 77" descr="lock.png"/>
          <p:cNvPicPr>
            <a:picLocks noChangeAspect="1"/>
          </p:cNvPicPr>
          <p:nvPr/>
        </p:nvPicPr>
        <p:blipFill>
          <a:blip r:embed="rId13"/>
          <a:stretch>
            <a:fillRect/>
          </a:stretch>
        </p:blipFill>
        <p:spPr>
          <a:xfrm>
            <a:off x="1368997" y="5346589"/>
            <a:ext cx="123551" cy="179710"/>
          </a:xfrm>
          <a:prstGeom prst="rect">
            <a:avLst/>
          </a:prstGeom>
        </p:spPr>
      </p:pic>
      <p:sp>
        <p:nvSpPr>
          <p:cNvPr id="79" name="TextBox 78"/>
          <p:cNvSpPr txBox="1"/>
          <p:nvPr/>
        </p:nvSpPr>
        <p:spPr>
          <a:xfrm>
            <a:off x="1529793"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80" name="TextBox 79"/>
          <p:cNvSpPr txBox="1"/>
          <p:nvPr/>
        </p:nvSpPr>
        <p:spPr>
          <a:xfrm>
            <a:off x="485775" y="5565192"/>
            <a:ext cx="2766482" cy="179984"/>
          </a:xfrm>
          <a:prstGeom prst="rect">
            <a:avLst/>
          </a:prstGeom>
          <a:noFill/>
        </p:spPr>
        <p:txBody>
          <a:bodyPr wrap="none" lIns="0" rIns="0" tIns="0" bIns="0">
            <a:spAutoFit/>
          </a:bodyPr>
          <a:lstStyle/>
          <a:p>
            <a:r>
              <a:rPr sz="1055" b="0">
                <a:solidFill>
                  <a:srgbClr val="252423"/>
                </a:solidFill>
                <a:latin typeface="Segoe UI"/>
              </a:rPr>
              <a:t>1,500 wh to 2,000 wh segment is projected to</a:t>
            </a:r>
          </a:p>
        </p:txBody>
      </p:sp>
      <p:sp>
        <p:nvSpPr>
          <p:cNvPr id="81" name="TextBox 80"/>
          <p:cNvSpPr txBox="1"/>
          <p:nvPr/>
        </p:nvSpPr>
        <p:spPr>
          <a:xfrm>
            <a:off x="485775" y="5726126"/>
            <a:ext cx="523806" cy="179984"/>
          </a:xfrm>
          <a:prstGeom prst="rect">
            <a:avLst/>
          </a:prstGeom>
          <a:noFill/>
        </p:spPr>
        <p:txBody>
          <a:bodyPr wrap="none" lIns="0" rIns="0" tIns="0" bIns="0">
            <a:spAutoFit/>
          </a:bodyPr>
          <a:lstStyle/>
          <a:p>
            <a:r>
              <a:rPr sz="1055" b="0">
                <a:solidFill>
                  <a:srgbClr val="252423"/>
                </a:solidFill>
                <a:latin typeface="Segoe UI"/>
              </a:rPr>
              <a:t>register</a:t>
            </a:r>
          </a:p>
        </p:txBody>
      </p:sp>
      <p:pic>
        <p:nvPicPr>
          <p:cNvPr id="82" name="Picture 81" descr="lock.png"/>
          <p:cNvPicPr>
            <a:picLocks noChangeAspect="1"/>
          </p:cNvPicPr>
          <p:nvPr/>
        </p:nvPicPr>
        <p:blipFill>
          <a:blip r:embed="rId13"/>
          <a:stretch>
            <a:fillRect/>
          </a:stretch>
        </p:blipFill>
        <p:spPr>
          <a:xfrm>
            <a:off x="956662" y="5716739"/>
            <a:ext cx="123551" cy="179710"/>
          </a:xfrm>
          <a:prstGeom prst="rect">
            <a:avLst/>
          </a:prstGeom>
        </p:spPr>
      </p:pic>
      <p:sp>
        <p:nvSpPr>
          <p:cNvPr id="83" name="TextBox 82"/>
          <p:cNvSpPr txBox="1"/>
          <p:nvPr/>
        </p:nvSpPr>
        <p:spPr>
          <a:xfrm>
            <a:off x="1117458" y="5726126"/>
            <a:ext cx="1947952" cy="179984"/>
          </a:xfrm>
          <a:prstGeom prst="rect">
            <a:avLst/>
          </a:prstGeom>
          <a:noFill/>
        </p:spPr>
        <p:txBody>
          <a:bodyPr wrap="none" lIns="0" rIns="0" tIns="0" bIns="0">
            <a:spAutoFit/>
          </a:bodyPr>
          <a:lstStyle/>
          <a:p>
            <a:r>
              <a:rPr sz="1055" b="0">
                <a:solidFill>
                  <a:srgbClr val="252423"/>
                </a:solidFill>
                <a:latin typeface="Segoe UI"/>
              </a:rPr>
              <a:t>X higher value than 1,000 wh to</a:t>
            </a:r>
          </a:p>
        </p:txBody>
      </p:sp>
      <p:sp>
        <p:nvSpPr>
          <p:cNvPr id="84" name="TextBox 83"/>
          <p:cNvSpPr txBox="1"/>
          <p:nvPr/>
        </p:nvSpPr>
        <p:spPr>
          <a:xfrm>
            <a:off x="485775" y="5887061"/>
            <a:ext cx="2047803" cy="179984"/>
          </a:xfrm>
          <a:prstGeom prst="rect">
            <a:avLst/>
          </a:prstGeom>
          <a:noFill/>
        </p:spPr>
        <p:txBody>
          <a:bodyPr wrap="none" lIns="0" rIns="0" tIns="0" bIns="0">
            <a:spAutoFit/>
          </a:bodyPr>
          <a:lstStyle/>
          <a:p>
            <a:r>
              <a:rPr sz="1055" b="0">
                <a:solidFill>
                  <a:srgbClr val="252423"/>
                </a:solidFill>
                <a:latin typeface="Segoe UI"/>
              </a:rPr>
              <a:t>below 1,500 wh segment in 2036.</a:t>
            </a:r>
          </a:p>
        </p:txBody>
      </p:sp>
      <p:sp>
        <p:nvSpPr>
          <p:cNvPr id="85" name="TextBox 84"/>
          <p:cNvSpPr txBox="1"/>
          <p:nvPr/>
        </p:nvSpPr>
        <p:spPr>
          <a:xfrm>
            <a:off x="3838575" y="4229437"/>
            <a:ext cx="1593237" cy="186689"/>
          </a:xfrm>
          <a:prstGeom prst="rect">
            <a:avLst/>
          </a:prstGeom>
          <a:noFill/>
        </p:spPr>
        <p:txBody>
          <a:bodyPr wrap="none" lIns="0" rIns="0" tIns="0" bIns="0">
            <a:spAutoFit/>
          </a:bodyPr>
          <a:lstStyle/>
          <a:p>
            <a:r>
              <a:rPr sz="1100" b="0">
                <a:solidFill>
                  <a:srgbClr val="252423"/>
                </a:solidFill>
                <a:latin typeface="Segoe UI"/>
              </a:rPr>
              <a:t>● 1,500 Wh to 2,000 Wh:</a:t>
            </a:r>
          </a:p>
        </p:txBody>
      </p:sp>
      <p:pic>
        <p:nvPicPr>
          <p:cNvPr id="86" name="Picture 85" descr="lock.png"/>
          <p:cNvPicPr>
            <a:picLocks noChangeAspect="1"/>
          </p:cNvPicPr>
          <p:nvPr/>
        </p:nvPicPr>
        <p:blipFill>
          <a:blip r:embed="rId13"/>
          <a:stretch>
            <a:fillRect/>
          </a:stretch>
        </p:blipFill>
        <p:spPr>
          <a:xfrm>
            <a:off x="5379864" y="4219658"/>
            <a:ext cx="128699" cy="187198"/>
          </a:xfrm>
          <a:prstGeom prst="rect">
            <a:avLst/>
          </a:prstGeom>
        </p:spPr>
      </p:pic>
      <p:sp>
        <p:nvSpPr>
          <p:cNvPr id="87" name="TextBox 86"/>
          <p:cNvSpPr txBox="1"/>
          <p:nvPr/>
        </p:nvSpPr>
        <p:spPr>
          <a:xfrm>
            <a:off x="5547360"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8" name="Picture 87" descr="lock.png"/>
          <p:cNvPicPr>
            <a:picLocks noChangeAspect="1"/>
          </p:cNvPicPr>
          <p:nvPr/>
        </p:nvPicPr>
        <p:blipFill>
          <a:blip r:embed="rId13"/>
          <a:stretch>
            <a:fillRect/>
          </a:stretch>
        </p:blipFill>
        <p:spPr>
          <a:xfrm>
            <a:off x="6467306" y="4219658"/>
            <a:ext cx="128699" cy="187198"/>
          </a:xfrm>
          <a:prstGeom prst="rect">
            <a:avLst/>
          </a:prstGeom>
        </p:spPr>
      </p:pic>
      <p:sp>
        <p:nvSpPr>
          <p:cNvPr id="89" name="TextBox 88"/>
          <p:cNvSpPr txBox="1"/>
          <p:nvPr/>
        </p:nvSpPr>
        <p:spPr>
          <a:xfrm>
            <a:off x="6634802" y="4229437"/>
            <a:ext cx="1027876" cy="186689"/>
          </a:xfrm>
          <a:prstGeom prst="rect">
            <a:avLst/>
          </a:prstGeom>
          <a:noFill/>
        </p:spPr>
        <p:txBody>
          <a:bodyPr wrap="none" lIns="0" rIns="0" tIns="0" bIns="0">
            <a:spAutoFit/>
          </a:bodyPr>
          <a:lstStyle/>
          <a:p>
            <a:r>
              <a:rPr sz="1100" b="0">
                <a:solidFill>
                  <a:srgbClr val="252423"/>
                </a:solidFill>
                <a:latin typeface="Segoe UI"/>
              </a:rPr>
              <a:t>CAGR leads the</a:t>
            </a:r>
          </a:p>
        </p:txBody>
      </p:sp>
      <p:sp>
        <p:nvSpPr>
          <p:cNvPr id="90" name="TextBox 89"/>
          <p:cNvSpPr txBox="1"/>
          <p:nvPr/>
        </p:nvSpPr>
        <p:spPr>
          <a:xfrm>
            <a:off x="3838575" y="4397077"/>
            <a:ext cx="641275" cy="186689"/>
          </a:xfrm>
          <a:prstGeom prst="rect">
            <a:avLst/>
          </a:prstGeom>
          <a:noFill/>
        </p:spPr>
        <p:txBody>
          <a:bodyPr wrap="none" lIns="0" rIns="0" tIns="0" bIns="0">
            <a:spAutoFit/>
          </a:bodyPr>
          <a:lstStyle/>
          <a:p>
            <a:r>
              <a:rPr sz="1100" b="0">
                <a:solidFill>
                  <a:srgbClr val="252423"/>
                </a:solidFill>
                <a:latin typeface="Segoe UI"/>
              </a:rPr>
              <a:t>segment.</a:t>
            </a:r>
          </a:p>
        </p:txBody>
      </p:sp>
      <p:sp>
        <p:nvSpPr>
          <p:cNvPr id="91" name="TextBox 90"/>
          <p:cNvSpPr txBox="1"/>
          <p:nvPr/>
        </p:nvSpPr>
        <p:spPr>
          <a:xfrm>
            <a:off x="3838575" y="4615009"/>
            <a:ext cx="2001423" cy="186689"/>
          </a:xfrm>
          <a:prstGeom prst="rect">
            <a:avLst/>
          </a:prstGeom>
          <a:noFill/>
        </p:spPr>
        <p:txBody>
          <a:bodyPr wrap="none" lIns="0" rIns="0" tIns="0" bIns="0">
            <a:spAutoFit/>
          </a:bodyPr>
          <a:lstStyle/>
          <a:p>
            <a:r>
              <a:rPr sz="1100" b="0">
                <a:solidFill>
                  <a:srgbClr val="252423"/>
                </a:solidFill>
                <a:latin typeface="Segoe UI"/>
              </a:rPr>
              <a:t>● 1,000 Wh to Below 1,500 Wh:</a:t>
            </a:r>
          </a:p>
        </p:txBody>
      </p:sp>
      <p:pic>
        <p:nvPicPr>
          <p:cNvPr id="92" name="Picture 91" descr="lock.png"/>
          <p:cNvPicPr>
            <a:picLocks noChangeAspect="1"/>
          </p:cNvPicPr>
          <p:nvPr/>
        </p:nvPicPr>
        <p:blipFill>
          <a:blip r:embed="rId13"/>
          <a:stretch>
            <a:fillRect/>
          </a:stretch>
        </p:blipFill>
        <p:spPr>
          <a:xfrm>
            <a:off x="5788050" y="4605230"/>
            <a:ext cx="128699" cy="187198"/>
          </a:xfrm>
          <a:prstGeom prst="rect">
            <a:avLst/>
          </a:prstGeom>
        </p:spPr>
      </p:pic>
      <p:sp>
        <p:nvSpPr>
          <p:cNvPr id="93" name="TextBox 92"/>
          <p:cNvSpPr txBox="1"/>
          <p:nvPr/>
        </p:nvSpPr>
        <p:spPr>
          <a:xfrm>
            <a:off x="5955545"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4" name="Picture 93" descr="lock.png"/>
          <p:cNvPicPr>
            <a:picLocks noChangeAspect="1"/>
          </p:cNvPicPr>
          <p:nvPr/>
        </p:nvPicPr>
        <p:blipFill>
          <a:blip r:embed="rId13"/>
          <a:stretch>
            <a:fillRect/>
          </a:stretch>
        </p:blipFill>
        <p:spPr>
          <a:xfrm>
            <a:off x="6875492" y="4605230"/>
            <a:ext cx="128699" cy="187198"/>
          </a:xfrm>
          <a:prstGeom prst="rect">
            <a:avLst/>
          </a:prstGeom>
        </p:spPr>
      </p:pic>
      <p:sp>
        <p:nvSpPr>
          <p:cNvPr id="95" name="TextBox 94"/>
          <p:cNvSpPr txBox="1"/>
          <p:nvPr/>
        </p:nvSpPr>
        <p:spPr>
          <a:xfrm>
            <a:off x="7042988"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96" name="TextBox 95"/>
          <p:cNvSpPr txBox="1"/>
          <p:nvPr/>
        </p:nvSpPr>
        <p:spPr>
          <a:xfrm>
            <a:off x="3838575" y="4782649"/>
            <a:ext cx="918991" cy="186689"/>
          </a:xfrm>
          <a:prstGeom prst="rect">
            <a:avLst/>
          </a:prstGeom>
          <a:noFill/>
        </p:spPr>
        <p:txBody>
          <a:bodyPr wrap="none" lIns="0" rIns="0" tIns="0" bIns="0">
            <a:spAutoFit/>
          </a:bodyPr>
          <a:lstStyle/>
          <a:p>
            <a:r>
              <a:rPr sz="1100" b="0">
                <a:solidFill>
                  <a:srgbClr val="252423"/>
                </a:solidFill>
                <a:latin typeface="Segoe UI"/>
              </a:rPr>
              <a:t>grows fastest.</a:t>
            </a:r>
          </a:p>
        </p:txBody>
      </p:sp>
      <p:sp>
        <p:nvSpPr>
          <p:cNvPr id="97" name="TextBox 96"/>
          <p:cNvSpPr txBox="1"/>
          <p:nvPr/>
        </p:nvSpPr>
        <p:spPr>
          <a:xfrm>
            <a:off x="3838575" y="5000581"/>
            <a:ext cx="1895830" cy="186689"/>
          </a:xfrm>
          <a:prstGeom prst="rect">
            <a:avLst/>
          </a:prstGeom>
          <a:noFill/>
        </p:spPr>
        <p:txBody>
          <a:bodyPr wrap="none" lIns="0" rIns="0" tIns="0" bIns="0">
            <a:spAutoFit/>
          </a:bodyPr>
          <a:lstStyle/>
          <a:p>
            <a:r>
              <a:rPr sz="1100" b="0">
                <a:solidFill>
                  <a:srgbClr val="252423"/>
                </a:solidFill>
                <a:latin typeface="Segoe UI"/>
              </a:rPr>
              <a:t>● 500 Wh to Below 1,000 Wh:</a:t>
            </a:r>
          </a:p>
        </p:txBody>
      </p:sp>
      <p:pic>
        <p:nvPicPr>
          <p:cNvPr id="98" name="Picture 97" descr="lock.png"/>
          <p:cNvPicPr>
            <a:picLocks noChangeAspect="1"/>
          </p:cNvPicPr>
          <p:nvPr/>
        </p:nvPicPr>
        <p:blipFill>
          <a:blip r:embed="rId13"/>
          <a:stretch>
            <a:fillRect/>
          </a:stretch>
        </p:blipFill>
        <p:spPr>
          <a:xfrm>
            <a:off x="5682456" y="4990801"/>
            <a:ext cx="128699" cy="187198"/>
          </a:xfrm>
          <a:prstGeom prst="rect">
            <a:avLst/>
          </a:prstGeom>
        </p:spPr>
      </p:pic>
      <p:sp>
        <p:nvSpPr>
          <p:cNvPr id="99" name="TextBox 98"/>
          <p:cNvSpPr txBox="1"/>
          <p:nvPr/>
        </p:nvSpPr>
        <p:spPr>
          <a:xfrm>
            <a:off x="5849952"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0" name="Picture 99" descr="lock.png"/>
          <p:cNvPicPr>
            <a:picLocks noChangeAspect="1"/>
          </p:cNvPicPr>
          <p:nvPr/>
        </p:nvPicPr>
        <p:blipFill>
          <a:blip r:embed="rId13"/>
          <a:stretch>
            <a:fillRect/>
          </a:stretch>
        </p:blipFill>
        <p:spPr>
          <a:xfrm>
            <a:off x="6769898" y="4990801"/>
            <a:ext cx="128699" cy="187198"/>
          </a:xfrm>
          <a:prstGeom prst="rect">
            <a:avLst/>
          </a:prstGeom>
        </p:spPr>
      </p:pic>
      <p:sp>
        <p:nvSpPr>
          <p:cNvPr id="101" name="TextBox 100"/>
          <p:cNvSpPr txBox="1"/>
          <p:nvPr/>
        </p:nvSpPr>
        <p:spPr>
          <a:xfrm>
            <a:off x="6937394" y="5000581"/>
            <a:ext cx="850326" cy="186689"/>
          </a:xfrm>
          <a:prstGeom prst="rect">
            <a:avLst/>
          </a:prstGeom>
          <a:noFill/>
        </p:spPr>
        <p:txBody>
          <a:bodyPr wrap="none" lIns="0" rIns="0" tIns="0" bIns="0">
            <a:spAutoFit/>
          </a:bodyPr>
          <a:lstStyle/>
          <a:p>
            <a:r>
              <a:rPr sz="1100" b="0">
                <a:solidFill>
                  <a:srgbClr val="252423"/>
                </a:solidFill>
                <a:latin typeface="Segoe UI"/>
              </a:rPr>
              <a:t>CAGR serves</a:t>
            </a:r>
          </a:p>
        </p:txBody>
      </p:sp>
      <p:sp>
        <p:nvSpPr>
          <p:cNvPr id="102" name="TextBox 101"/>
          <p:cNvSpPr txBox="1"/>
          <p:nvPr/>
        </p:nvSpPr>
        <p:spPr>
          <a:xfrm>
            <a:off x="3838575" y="5168221"/>
            <a:ext cx="545777" cy="186689"/>
          </a:xfrm>
          <a:prstGeom prst="rect">
            <a:avLst/>
          </a:prstGeom>
          <a:noFill/>
        </p:spPr>
        <p:txBody>
          <a:bodyPr wrap="none" lIns="0" rIns="0" tIns="0" bIns="0">
            <a:spAutoFit/>
          </a:bodyPr>
          <a:lstStyle/>
          <a:p>
            <a:r>
              <a:rPr sz="1100" b="0">
                <a:solidFill>
                  <a:srgbClr val="252423"/>
                </a:solidFill>
                <a:latin typeface="Segoe UI"/>
              </a:rPr>
              <a:t>a niche.</a:t>
            </a:r>
          </a:p>
        </p:txBody>
      </p:sp>
      <p:sp>
        <p:nvSpPr>
          <p:cNvPr id="103" name="TextBox 102"/>
          <p:cNvSpPr txBox="1"/>
          <p:nvPr/>
        </p:nvSpPr>
        <p:spPr>
          <a:xfrm>
            <a:off x="8524875" y="5863672"/>
            <a:ext cx="3103436" cy="173278"/>
          </a:xfrm>
          <a:prstGeom prst="rect">
            <a:avLst/>
          </a:prstGeom>
          <a:noFill/>
        </p:spPr>
        <p:txBody>
          <a:bodyPr wrap="none" lIns="0" rIns="0" tIns="0" bIns="0">
            <a:spAutoFit/>
          </a:bodyPr>
          <a:lstStyle/>
          <a:p>
            <a:r>
              <a:rPr sz="1011" b="1">
                <a:solidFill>
                  <a:srgbClr val="0E3A5F"/>
                </a:solidFill>
                <a:latin typeface="Segoe UI"/>
              </a:rPr>
              <a:t>The Energy Storage Capacity segment is projected</a:t>
            </a:r>
          </a:p>
        </p:txBody>
      </p:sp>
      <p:sp>
        <p:nvSpPr>
          <p:cNvPr id="104" name="TextBox 103"/>
          <p:cNvSpPr txBox="1"/>
          <p:nvPr/>
        </p:nvSpPr>
        <p:spPr>
          <a:xfrm>
            <a:off x="8524875" y="6017901"/>
            <a:ext cx="1355599" cy="173278"/>
          </a:xfrm>
          <a:prstGeom prst="rect">
            <a:avLst/>
          </a:prstGeom>
          <a:noFill/>
        </p:spPr>
        <p:txBody>
          <a:bodyPr wrap="none" lIns="0" rIns="0" tIns="0" bIns="0">
            <a:spAutoFit/>
          </a:bodyPr>
          <a:lstStyle/>
          <a:p>
            <a:r>
              <a:rPr sz="1011" b="1">
                <a:solidFill>
                  <a:srgbClr val="0E3A5F"/>
                </a:solidFill>
                <a:latin typeface="Segoe UI"/>
              </a:rPr>
              <a:t>to grow at a CAGR of</a:t>
            </a:r>
          </a:p>
        </p:txBody>
      </p:sp>
      <p:pic>
        <p:nvPicPr>
          <p:cNvPr id="105" name="Picture 104" descr="lock.png"/>
          <p:cNvPicPr>
            <a:picLocks noChangeAspect="1"/>
          </p:cNvPicPr>
          <p:nvPr/>
        </p:nvPicPr>
        <p:blipFill>
          <a:blip r:embed="rId13"/>
          <a:stretch>
            <a:fillRect/>
          </a:stretch>
        </p:blipFill>
        <p:spPr>
          <a:xfrm>
            <a:off x="9826586" y="6008904"/>
            <a:ext cx="118403" cy="172222"/>
          </a:xfrm>
          <a:prstGeom prst="rect">
            <a:avLst/>
          </a:prstGeom>
        </p:spPr>
      </p:pic>
      <p:sp>
        <p:nvSpPr>
          <p:cNvPr id="106" name="TextBox 105"/>
          <p:cNvSpPr txBox="1"/>
          <p:nvPr/>
        </p:nvSpPr>
        <p:spPr>
          <a:xfrm>
            <a:off x="9980682" y="6017901"/>
            <a:ext cx="1234908" cy="173278"/>
          </a:xfrm>
          <a:prstGeom prst="rect">
            <a:avLst/>
          </a:prstGeom>
          <a:noFill/>
        </p:spPr>
        <p:txBody>
          <a:bodyPr wrap="none" lIns="0" rIns="0" tIns="0" bIns="0">
            <a:spAutoFit/>
          </a:bodyPr>
          <a:lstStyle/>
          <a:p>
            <a:r>
              <a:rPr sz="1011" b="1">
                <a:solidFill>
                  <a:srgbClr val="0E3A5F"/>
                </a:solidFill>
                <a:latin typeface="Segoe UI"/>
              </a:rPr>
              <a:t>from 2026 to 2036.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Energy Storage Capacity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Energy Storage Capacity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Energy Storage Capacity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Energy Storage Capacity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28948" cy="186689"/>
          </a:xfrm>
          <a:prstGeom prst="rect">
            <a:avLst/>
          </a:prstGeom>
          <a:noFill/>
        </p:spPr>
        <p:txBody>
          <a:bodyPr wrap="none" lIns="0" rIns="0" tIns="0" bIns="0">
            <a:spAutoFit/>
          </a:bodyPr>
          <a:lstStyle/>
          <a:p>
            <a:r>
              <a:rPr sz="1100" b="0">
                <a:solidFill>
                  <a:srgbClr val="252423"/>
                </a:solidFill>
                <a:latin typeface="Segoe UI"/>
              </a:rPr>
              <a:t>1,500 wh to 2,000 wh followed by 1,000 wh to below 1,500 wh are expected to be the two most attractive energy storage capacity segments in the global lithium polymer portable energy</a:t>
            </a:r>
          </a:p>
        </p:txBody>
      </p:sp>
      <p:sp>
        <p:nvSpPr>
          <p:cNvPr id="18" name="TextBox 17"/>
          <p:cNvSpPr txBox="1"/>
          <p:nvPr/>
        </p:nvSpPr>
        <p:spPr>
          <a:xfrm>
            <a:off x="257175" y="5861685"/>
            <a:ext cx="8475086" cy="186689"/>
          </a:xfrm>
          <a:prstGeom prst="rect">
            <a:avLst/>
          </a:prstGeom>
          <a:noFill/>
        </p:spPr>
        <p:txBody>
          <a:bodyPr wrap="none" lIns="0" rIns="0" tIns="0" bIns="0">
            <a:spAutoFit/>
          </a:bodyPr>
          <a:lstStyle/>
          <a:p>
            <a:r>
              <a:rPr sz="1100" b="0">
                <a:solidFill>
                  <a:srgbClr val="252423"/>
                </a:solidFill>
                <a:latin typeface="Segoe UI"/>
              </a:rPr>
              <a:t>storage market in terms of value over the forecast period. 1,500 wh to 2,000 wh and 1,000 wh to below 1,500 wh exhibit a CAGR index of</a:t>
            </a:r>
          </a:p>
        </p:txBody>
      </p:sp>
      <p:pic>
        <p:nvPicPr>
          <p:cNvPr id="19" name="Picture 18" descr="lock.png"/>
          <p:cNvPicPr>
            <a:picLocks noChangeAspect="1"/>
          </p:cNvPicPr>
          <p:nvPr/>
        </p:nvPicPr>
        <p:blipFill>
          <a:blip r:embed="rId6"/>
          <a:stretch>
            <a:fillRect/>
          </a:stretch>
        </p:blipFill>
        <p:spPr>
          <a:xfrm>
            <a:off x="8680313" y="5851905"/>
            <a:ext cx="128699" cy="187198"/>
          </a:xfrm>
          <a:prstGeom prst="rect">
            <a:avLst/>
          </a:prstGeom>
        </p:spPr>
      </p:pic>
      <p:sp>
        <p:nvSpPr>
          <p:cNvPr id="20" name="TextBox 19"/>
          <p:cNvSpPr txBox="1"/>
          <p:nvPr/>
        </p:nvSpPr>
        <p:spPr>
          <a:xfrm>
            <a:off x="8847809"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9104803" y="5851905"/>
            <a:ext cx="128699" cy="187198"/>
          </a:xfrm>
          <a:prstGeom prst="rect">
            <a:avLst/>
          </a:prstGeom>
        </p:spPr>
      </p:pic>
      <p:sp>
        <p:nvSpPr>
          <p:cNvPr id="22" name="TextBox 21"/>
          <p:cNvSpPr txBox="1"/>
          <p:nvPr/>
        </p:nvSpPr>
        <p:spPr>
          <a:xfrm>
            <a:off x="9272299"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1011039" y="5851905"/>
            <a:ext cx="128699" cy="187198"/>
          </a:xfrm>
          <a:prstGeom prst="rect">
            <a:avLst/>
          </a:prstGeom>
        </p:spPr>
      </p:pic>
      <p:sp>
        <p:nvSpPr>
          <p:cNvPr id="24" name="TextBox 23"/>
          <p:cNvSpPr txBox="1"/>
          <p:nvPr/>
        </p:nvSpPr>
        <p:spPr>
          <a:xfrm>
            <a:off x="11178534"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43707" y="6019545"/>
            <a:ext cx="128699" cy="187198"/>
          </a:xfrm>
          <a:prstGeom prst="rect">
            <a:avLst/>
          </a:prstGeom>
        </p:spPr>
      </p:pic>
      <p:sp>
        <p:nvSpPr>
          <p:cNvPr id="26" name="TextBox 25"/>
          <p:cNvSpPr txBox="1"/>
          <p:nvPr/>
        </p:nvSpPr>
        <p:spPr>
          <a:xfrm>
            <a:off x="411203"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171137" y="6019545"/>
            <a:ext cx="128699" cy="187198"/>
          </a:xfrm>
          <a:prstGeom prst="rect">
            <a:avLst/>
          </a:prstGeom>
        </p:spPr>
      </p:pic>
      <p:sp>
        <p:nvSpPr>
          <p:cNvPr id="28" name="TextBox 27"/>
          <p:cNvSpPr txBox="1"/>
          <p:nvPr/>
        </p:nvSpPr>
        <p:spPr>
          <a:xfrm>
            <a:off x="3338633" y="6029325"/>
            <a:ext cx="8099216" cy="186689"/>
          </a:xfrm>
          <a:prstGeom prst="rect">
            <a:avLst/>
          </a:prstGeom>
          <a:noFill/>
        </p:spPr>
        <p:txBody>
          <a:bodyPr wrap="none" lIns="0" rIns="0" tIns="0" bIns="0">
            <a:spAutoFit/>
          </a:bodyPr>
          <a:lstStyle/>
          <a:p>
            <a:r>
              <a:rPr sz="1100" b="0">
                <a:solidFill>
                  <a:srgbClr val="252423"/>
                </a:solidFill>
                <a:latin typeface="Segoe UI"/>
              </a:rPr>
              <a:t>. The 500 wh to below 1,000 wh segment is expected to be less attractive as compared to other segments over the forecast period,</a:t>
            </a:r>
          </a:p>
        </p:txBody>
      </p:sp>
      <p:sp>
        <p:nvSpPr>
          <p:cNvPr id="29" name="TextBox 28"/>
          <p:cNvSpPr txBox="1"/>
          <p:nvPr/>
        </p:nvSpPr>
        <p:spPr>
          <a:xfrm>
            <a:off x="257175" y="6196965"/>
            <a:ext cx="8121761" cy="186689"/>
          </a:xfrm>
          <a:prstGeom prst="rect">
            <a:avLst/>
          </a:prstGeom>
          <a:noFill/>
        </p:spPr>
        <p:txBody>
          <a:bodyPr wrap="none" lIns="0" rIns="0" tIns="0" bIns="0">
            <a:spAutoFit/>
          </a:bodyPr>
          <a:lstStyle/>
          <a:p>
            <a:r>
              <a:rPr sz="1100" b="0">
                <a:solidFill>
                  <a:srgbClr val="252423"/>
                </a:solidFill>
                <a:latin typeface="Segoe UI"/>
              </a:rPr>
              <a:t>owing to its 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Energy Storage Capacity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500 Wh to Below 1,000 Wh</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1,000 Wh to Below 1,500 Wh</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1,500 Wh to 2,000 Wh</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07BA5"/>
                </a:solidFill>
                <a:latin typeface="Segoe UI"/>
              </a:rPr>
              <a:t>Summary of Global Absolute $ Opportunity Analysis, By Energy Storage Capacity</a:t>
            </a:r>
          </a:p>
        </p:txBody>
      </p:sp>
      <p:sp>
        <p:nvSpPr>
          <p:cNvPr id="19" name="Rectangle 18"/>
          <p:cNvSpPr/>
          <p:nvPr/>
        </p:nvSpPr>
        <p:spPr>
          <a:xfrm>
            <a:off x="6305550" y="438907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7"/>
          <a:stretch>
            <a:fillRect/>
          </a:stretch>
        </p:blipFill>
        <p:spPr>
          <a:xfrm>
            <a:off x="3100230" y="2330679"/>
            <a:ext cx="252890" cy="367840"/>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484320"/>
            <a:ext cx="5138159" cy="194310"/>
          </a:xfrm>
          <a:prstGeom prst="rect">
            <a:avLst/>
          </a:prstGeom>
          <a:noFill/>
        </p:spPr>
        <p:txBody>
          <a:bodyPr wrap="none" lIns="0" rIns="0" tIns="0" bIns="0">
            <a:spAutoFit/>
          </a:bodyPr>
          <a:lstStyle/>
          <a:p>
            <a:r>
              <a:rPr sz="1150" b="0">
                <a:solidFill>
                  <a:srgbClr val="252423"/>
                </a:solidFill>
                <a:latin typeface="Segoe UI"/>
              </a:rPr>
              <a:t>By 2036, 1,500 wh to 2,000 wh segment is anticipated to witness an increase of</a:t>
            </a:r>
          </a:p>
        </p:txBody>
      </p:sp>
      <p:pic>
        <p:nvPicPr>
          <p:cNvPr id="26" name="Picture 25" descr="lock.png"/>
          <p:cNvPicPr>
            <a:picLocks noChangeAspect="1"/>
          </p:cNvPicPr>
          <p:nvPr/>
        </p:nvPicPr>
        <p:blipFill>
          <a:blip r:embed="rId7"/>
          <a:stretch>
            <a:fillRect/>
          </a:stretch>
        </p:blipFill>
        <p:spPr>
          <a:xfrm>
            <a:off x="11392863" y="4474096"/>
            <a:ext cx="134549" cy="195707"/>
          </a:xfrm>
          <a:prstGeom prst="rect">
            <a:avLst/>
          </a:prstGeom>
        </p:spPr>
      </p:pic>
      <p:sp>
        <p:nvSpPr>
          <p:cNvPr id="27" name="TextBox 26"/>
          <p:cNvSpPr txBox="1"/>
          <p:nvPr/>
        </p:nvSpPr>
        <p:spPr>
          <a:xfrm>
            <a:off x="11567973" y="4484320"/>
            <a:ext cx="162346" cy="194310"/>
          </a:xfrm>
          <a:prstGeom prst="rect">
            <a:avLst/>
          </a:prstGeom>
          <a:noFill/>
        </p:spPr>
        <p:txBody>
          <a:bodyPr wrap="none" lIns="0" rIns="0" tIns="0" bIns="0">
            <a:spAutoFit/>
          </a:bodyPr>
          <a:lstStyle/>
          <a:p>
            <a:r>
              <a:rPr sz="1150" b="0">
                <a:solidFill>
                  <a:srgbClr val="252423"/>
                </a:solidFill>
                <a:latin typeface="Segoe UI"/>
              </a:rPr>
              <a:t>X</a:t>
            </a:r>
          </a:p>
        </p:txBody>
      </p:sp>
      <p:sp>
        <p:nvSpPr>
          <p:cNvPr id="28" name="TextBox 27"/>
          <p:cNvSpPr txBox="1"/>
          <p:nvPr/>
        </p:nvSpPr>
        <p:spPr>
          <a:xfrm>
            <a:off x="6305550" y="4659580"/>
            <a:ext cx="5591175" cy="194310"/>
          </a:xfrm>
          <a:prstGeom prst="rect">
            <a:avLst/>
          </a:prstGeom>
          <a:noFill/>
        </p:spPr>
        <p:txBody>
          <a:bodyPr wrap="none" lIns="0" rIns="0" tIns="0" bIns="0">
            <a:spAutoFit/>
          </a:bodyPr>
          <a:lstStyle/>
          <a:p>
            <a:r>
              <a:rPr sz="1150" b="0">
                <a:solidFill>
                  <a:srgbClr val="252423"/>
                </a:solidFill>
                <a:latin typeface="Segoe UI"/>
              </a:rPr>
              <a:t>in terms of value as compared to 2026. The 1,500 wh to 2,000 wh segment is expected</a:t>
            </a:r>
          </a:p>
        </p:txBody>
      </p:sp>
      <p:sp>
        <p:nvSpPr>
          <p:cNvPr id="29" name="TextBox 28"/>
          <p:cNvSpPr txBox="1"/>
          <p:nvPr/>
        </p:nvSpPr>
        <p:spPr>
          <a:xfrm>
            <a:off x="6305550" y="4834840"/>
            <a:ext cx="2913264" cy="194310"/>
          </a:xfrm>
          <a:prstGeom prst="rect">
            <a:avLst/>
          </a:prstGeom>
          <a:noFill/>
        </p:spPr>
        <p:txBody>
          <a:bodyPr wrap="none" lIns="0" rIns="0" tIns="0" bIns="0">
            <a:spAutoFit/>
          </a:bodyPr>
          <a:lstStyle/>
          <a:p>
            <a:r>
              <a:rPr sz="1150" b="0">
                <a:solidFill>
                  <a:srgbClr val="252423"/>
                </a:solidFill>
                <a:latin typeface="Segoe UI"/>
              </a:rPr>
              <a:t>to create an incremental opportunity of US$</a:t>
            </a:r>
          </a:p>
        </p:txBody>
      </p:sp>
      <p:pic>
        <p:nvPicPr>
          <p:cNvPr id="30" name="Picture 29" descr="lock.png"/>
          <p:cNvPicPr>
            <a:picLocks noChangeAspect="1"/>
          </p:cNvPicPr>
          <p:nvPr/>
        </p:nvPicPr>
        <p:blipFill>
          <a:blip r:embed="rId7"/>
          <a:stretch>
            <a:fillRect/>
          </a:stretch>
        </p:blipFill>
        <p:spPr>
          <a:xfrm>
            <a:off x="9167967" y="4824616"/>
            <a:ext cx="134549" cy="195707"/>
          </a:xfrm>
          <a:prstGeom prst="rect">
            <a:avLst/>
          </a:prstGeom>
        </p:spPr>
      </p:pic>
      <p:sp>
        <p:nvSpPr>
          <p:cNvPr id="31" name="TextBox 30"/>
          <p:cNvSpPr txBox="1"/>
          <p:nvPr/>
        </p:nvSpPr>
        <p:spPr>
          <a:xfrm>
            <a:off x="9343077" y="4834840"/>
            <a:ext cx="2286048" cy="194310"/>
          </a:xfrm>
          <a:prstGeom prst="rect">
            <a:avLst/>
          </a:prstGeom>
          <a:noFill/>
        </p:spPr>
        <p:txBody>
          <a:bodyPr wrap="none" lIns="0" rIns="0" tIns="0" bIns="0">
            <a:spAutoFit/>
          </a:bodyPr>
          <a:lstStyle/>
          <a:p>
            <a:r>
              <a:rPr sz="1150" b="0">
                <a:solidFill>
                  <a:srgbClr val="252423"/>
                </a:solidFill>
                <a:latin typeface="Segoe UI"/>
              </a:rPr>
              <a:t>Mn for the overall lithium polymer</a:t>
            </a:r>
          </a:p>
        </p:txBody>
      </p:sp>
      <p:sp>
        <p:nvSpPr>
          <p:cNvPr id="32" name="TextBox 31"/>
          <p:cNvSpPr txBox="1"/>
          <p:nvPr/>
        </p:nvSpPr>
        <p:spPr>
          <a:xfrm>
            <a:off x="6305550" y="5010100"/>
            <a:ext cx="3382217" cy="194310"/>
          </a:xfrm>
          <a:prstGeom prst="rect">
            <a:avLst/>
          </a:prstGeom>
          <a:noFill/>
        </p:spPr>
        <p:txBody>
          <a:bodyPr wrap="none" lIns="0" rIns="0" tIns="0" bIns="0">
            <a:spAutoFit/>
          </a:bodyPr>
          <a:lstStyle/>
          <a:p>
            <a:r>
              <a:rPr sz="1150" b="0">
                <a:solidFill>
                  <a:srgbClr val="252423"/>
                </a:solidFill>
                <a:latin typeface="Segoe UI"/>
              </a:rPr>
              <a:t>portable energy storage market from 2026 to 2036.</a:t>
            </a:r>
          </a:p>
        </p:txBody>
      </p:sp>
      <p:sp>
        <p:nvSpPr>
          <p:cNvPr id="33" name="TextBox 32"/>
          <p:cNvSpPr txBox="1"/>
          <p:nvPr/>
        </p:nvSpPr>
        <p:spPr>
          <a:xfrm>
            <a:off x="6305550" y="5237938"/>
            <a:ext cx="5111653" cy="194310"/>
          </a:xfrm>
          <a:prstGeom prst="rect">
            <a:avLst/>
          </a:prstGeom>
          <a:noFill/>
        </p:spPr>
        <p:txBody>
          <a:bodyPr wrap="none" lIns="0" rIns="0" tIns="0" bIns="0">
            <a:spAutoFit/>
          </a:bodyPr>
          <a:lstStyle/>
          <a:p>
            <a:r>
              <a:rPr sz="1150" b="0">
                <a:solidFill>
                  <a:srgbClr val="252423"/>
                </a:solidFill>
                <a:latin typeface="Segoe UI"/>
              </a:rPr>
              <a:t>The 1,000 wh to below 1,500 wh segment is expected to create an incremental</a:t>
            </a:r>
          </a:p>
        </p:txBody>
      </p:sp>
      <p:sp>
        <p:nvSpPr>
          <p:cNvPr id="34" name="TextBox 33"/>
          <p:cNvSpPr txBox="1"/>
          <p:nvPr/>
        </p:nvSpPr>
        <p:spPr>
          <a:xfrm>
            <a:off x="6305550" y="5413197"/>
            <a:ext cx="1308523" cy="194310"/>
          </a:xfrm>
          <a:prstGeom prst="rect">
            <a:avLst/>
          </a:prstGeom>
          <a:noFill/>
        </p:spPr>
        <p:txBody>
          <a:bodyPr wrap="none" lIns="0" rIns="0" tIns="0" bIns="0">
            <a:spAutoFit/>
          </a:bodyPr>
          <a:lstStyle/>
          <a:p>
            <a:r>
              <a:rPr sz="1150" b="0">
                <a:solidFill>
                  <a:srgbClr val="252423"/>
                </a:solidFill>
                <a:latin typeface="Segoe UI"/>
              </a:rPr>
              <a:t>opportunity of US$</a:t>
            </a:r>
          </a:p>
        </p:txBody>
      </p:sp>
      <p:pic>
        <p:nvPicPr>
          <p:cNvPr id="35" name="Picture 34" descr="lock.png"/>
          <p:cNvPicPr>
            <a:picLocks noChangeAspect="1"/>
          </p:cNvPicPr>
          <p:nvPr/>
        </p:nvPicPr>
        <p:blipFill>
          <a:blip r:embed="rId7"/>
          <a:stretch>
            <a:fillRect/>
          </a:stretch>
        </p:blipFill>
        <p:spPr>
          <a:xfrm>
            <a:off x="7563227" y="5402974"/>
            <a:ext cx="134549" cy="195707"/>
          </a:xfrm>
          <a:prstGeom prst="rect">
            <a:avLst/>
          </a:prstGeom>
        </p:spPr>
      </p:pic>
      <p:sp>
        <p:nvSpPr>
          <p:cNvPr id="36" name="TextBox 35"/>
          <p:cNvSpPr txBox="1"/>
          <p:nvPr/>
        </p:nvSpPr>
        <p:spPr>
          <a:xfrm>
            <a:off x="7738336" y="5413197"/>
            <a:ext cx="3878068" cy="194310"/>
          </a:xfrm>
          <a:prstGeom prst="rect">
            <a:avLst/>
          </a:prstGeom>
          <a:noFill/>
        </p:spPr>
        <p:txBody>
          <a:bodyPr wrap="none" lIns="0" rIns="0" tIns="0" bIns="0">
            <a:spAutoFit/>
          </a:bodyPr>
          <a:lstStyle/>
          <a:p>
            <a:r>
              <a:rPr sz="1150" b="0">
                <a:solidFill>
                  <a:srgbClr val="252423"/>
                </a:solidFill>
                <a:latin typeface="Segoe UI"/>
              </a:rPr>
              <a:t>Mn for the overall lithium polymer portable energy storage</a:t>
            </a:r>
          </a:p>
        </p:txBody>
      </p:sp>
      <p:sp>
        <p:nvSpPr>
          <p:cNvPr id="37" name="TextBox 36"/>
          <p:cNvSpPr txBox="1"/>
          <p:nvPr/>
        </p:nvSpPr>
        <p:spPr>
          <a:xfrm>
            <a:off x="6305550" y="5588457"/>
            <a:ext cx="5325580" cy="194310"/>
          </a:xfrm>
          <a:prstGeom prst="rect">
            <a:avLst/>
          </a:prstGeom>
          <a:noFill/>
        </p:spPr>
        <p:txBody>
          <a:bodyPr wrap="none" lIns="0" rIns="0" tIns="0" bIns="0">
            <a:spAutoFit/>
          </a:bodyPr>
          <a:lstStyle/>
          <a:p>
            <a:r>
              <a:rPr sz="1150" b="0">
                <a:solidFill>
                  <a:srgbClr val="252423"/>
                </a:solidFill>
                <a:latin typeface="Segoe UI"/>
              </a:rPr>
              <a:t>market from 2026 to 2036. The 500 wh to below 1,000 wh segment is expected to</a:t>
            </a:r>
          </a:p>
        </p:txBody>
      </p:sp>
      <p:sp>
        <p:nvSpPr>
          <p:cNvPr id="38" name="TextBox 37"/>
          <p:cNvSpPr txBox="1"/>
          <p:nvPr/>
        </p:nvSpPr>
        <p:spPr>
          <a:xfrm>
            <a:off x="6305550" y="5763717"/>
            <a:ext cx="2738135" cy="194310"/>
          </a:xfrm>
          <a:prstGeom prst="rect">
            <a:avLst/>
          </a:prstGeom>
          <a:noFill/>
        </p:spPr>
        <p:txBody>
          <a:bodyPr wrap="none" lIns="0" rIns="0" tIns="0" bIns="0">
            <a:spAutoFit/>
          </a:bodyPr>
          <a:lstStyle/>
          <a:p>
            <a:r>
              <a:rPr sz="1150" b="0">
                <a:solidFill>
                  <a:srgbClr val="252423"/>
                </a:solidFill>
                <a:latin typeface="Segoe UI"/>
              </a:rPr>
              <a:t>create an incremental opportunity of US$</a:t>
            </a:r>
          </a:p>
        </p:txBody>
      </p:sp>
      <p:pic>
        <p:nvPicPr>
          <p:cNvPr id="39" name="Picture 38" descr="lock.png"/>
          <p:cNvPicPr>
            <a:picLocks noChangeAspect="1"/>
          </p:cNvPicPr>
          <p:nvPr/>
        </p:nvPicPr>
        <p:blipFill>
          <a:blip r:embed="rId7"/>
          <a:stretch>
            <a:fillRect/>
          </a:stretch>
        </p:blipFill>
        <p:spPr>
          <a:xfrm>
            <a:off x="8992839" y="5753494"/>
            <a:ext cx="134549" cy="195707"/>
          </a:xfrm>
          <a:prstGeom prst="rect">
            <a:avLst/>
          </a:prstGeom>
        </p:spPr>
      </p:pic>
      <p:sp>
        <p:nvSpPr>
          <p:cNvPr id="40" name="TextBox 39"/>
          <p:cNvSpPr txBox="1"/>
          <p:nvPr/>
        </p:nvSpPr>
        <p:spPr>
          <a:xfrm>
            <a:off x="9167949" y="5763717"/>
            <a:ext cx="2286048" cy="194310"/>
          </a:xfrm>
          <a:prstGeom prst="rect">
            <a:avLst/>
          </a:prstGeom>
          <a:noFill/>
        </p:spPr>
        <p:txBody>
          <a:bodyPr wrap="none" lIns="0" rIns="0" tIns="0" bIns="0">
            <a:spAutoFit/>
          </a:bodyPr>
          <a:lstStyle/>
          <a:p>
            <a:r>
              <a:rPr sz="1150" b="0">
                <a:solidFill>
                  <a:srgbClr val="252423"/>
                </a:solidFill>
                <a:latin typeface="Segoe UI"/>
              </a:rPr>
              <a:t>Mn for the overall lithium polymer</a:t>
            </a:r>
          </a:p>
        </p:txBody>
      </p:sp>
      <p:sp>
        <p:nvSpPr>
          <p:cNvPr id="41" name="TextBox 40"/>
          <p:cNvSpPr txBox="1"/>
          <p:nvPr/>
        </p:nvSpPr>
        <p:spPr>
          <a:xfrm>
            <a:off x="6305550" y="5938977"/>
            <a:ext cx="3382217" cy="194310"/>
          </a:xfrm>
          <a:prstGeom prst="rect">
            <a:avLst/>
          </a:prstGeom>
          <a:noFill/>
        </p:spPr>
        <p:txBody>
          <a:bodyPr wrap="none" lIns="0" rIns="0" tIns="0" bIns="0">
            <a:spAutoFit/>
          </a:bodyPr>
          <a:lstStyle/>
          <a:p>
            <a:r>
              <a:rPr sz="1150" b="0">
                <a:solidFill>
                  <a:srgbClr val="252423"/>
                </a:solidFill>
                <a:latin typeface="Segoe UI"/>
              </a:rPr>
              <a:t>portable energy storage market from 2026 to 2036.</a:t>
            </a:r>
          </a:p>
        </p:txBody>
      </p:sp>
      <p:sp>
        <p:nvSpPr>
          <p:cNvPr id="42"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Energy Storage Capacity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Energy Storage Capacity, 2021–2036, highlighting the sub-segments driving growth</a:t>
            </a:r>
          </a:p>
        </p:txBody>
      </p:sp>
      <p:sp>
        <p:nvSpPr>
          <p:cNvPr id="8" name="Rectangle 7"/>
          <p:cNvSpPr/>
          <p:nvPr/>
        </p:nvSpPr>
        <p:spPr>
          <a:xfrm>
            <a:off x="142875" y="981075"/>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Energy Storage Capacity (US$ Mn)</a:t>
            </a:r>
          </a:p>
        </p:txBody>
      </p:sp>
      <p:graphicFrame>
        <p:nvGraphicFramePr>
          <p:cNvPr id="10" name="Table 9"/>
          <p:cNvGraphicFramePr>
            <a:graphicFrameLocks noGrp="1"/>
          </p:cNvGraphicFramePr>
          <p:nvPr/>
        </p:nvGraphicFramePr>
        <p:xfrm>
          <a:off x="152400" y="1238250"/>
          <a:ext cx="11887196" cy="1238250"/>
        </p:xfrm>
        <a:graphic>
          <a:graphicData uri="http://schemas.openxmlformats.org/drawingml/2006/table">
            <a:tbl>
              <a:tblPr>
                <a:tableStyleId>{5C22544A-7EE6-4342-B048-85BDC9FD1C3A}</a:tableStyleId>
              </a:tblPr>
              <a:tblGrid>
                <a:gridCol w="2230127"/>
                <a:gridCol w="579389"/>
                <a:gridCol w="579389"/>
                <a:gridCol w="579389"/>
                <a:gridCol w="579389"/>
                <a:gridCol w="579389"/>
                <a:gridCol w="553019"/>
                <a:gridCol w="553019"/>
                <a:gridCol w="553019"/>
                <a:gridCol w="553019"/>
                <a:gridCol w="553019"/>
                <a:gridCol w="553019"/>
                <a:gridCol w="553019"/>
                <a:gridCol w="553019"/>
                <a:gridCol w="553019"/>
                <a:gridCol w="553019"/>
                <a:gridCol w="553019"/>
                <a:gridCol w="676915"/>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819400"/>
            <a:ext cx="11906250" cy="3810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Energy Storage Capacity</a:t>
            </a:r>
          </a:p>
        </p:txBody>
      </p:sp>
      <p:sp>
        <p:nvSpPr>
          <p:cNvPr id="14" name="Rectangle 13"/>
          <p:cNvSpPr/>
          <p:nvPr/>
        </p:nvSpPr>
        <p:spPr>
          <a:xfrm>
            <a:off x="276225" y="31432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024371" y="1713738"/>
            <a:ext cx="366712" cy="533400"/>
          </a:xfrm>
          <a:prstGeom prst="rect">
            <a:avLst/>
          </a:prstGeom>
        </p:spPr>
      </p:pic>
      <p:sp>
        <p:nvSpPr>
          <p:cNvPr id="18" name="TextBox 17"/>
          <p:cNvSpPr txBox="1"/>
          <p:nvPr/>
        </p:nvSpPr>
        <p:spPr>
          <a:xfrm>
            <a:off x="276225" y="3238500"/>
            <a:ext cx="3533343" cy="194310"/>
          </a:xfrm>
          <a:prstGeom prst="rect">
            <a:avLst/>
          </a:prstGeom>
          <a:noFill/>
        </p:spPr>
        <p:txBody>
          <a:bodyPr wrap="none" lIns="0" rIns="0" tIns="0" bIns="0">
            <a:spAutoFit/>
          </a:bodyPr>
          <a:lstStyle/>
          <a:p>
            <a:r>
              <a:rPr sz="1150" b="0">
                <a:solidFill>
                  <a:srgbClr val="252423"/>
                </a:solidFill>
                <a:latin typeface="Segoe UI"/>
              </a:rPr>
              <a:t>1,500 wh to 2,000 wh segment is projected to register</a:t>
            </a:r>
          </a:p>
        </p:txBody>
      </p:sp>
      <p:pic>
        <p:nvPicPr>
          <p:cNvPr id="19" name="Picture 18" descr="lock.png"/>
          <p:cNvPicPr>
            <a:picLocks noChangeAspect="1"/>
          </p:cNvPicPr>
          <p:nvPr/>
        </p:nvPicPr>
        <p:blipFill>
          <a:blip r:embed="rId4"/>
          <a:stretch>
            <a:fillRect/>
          </a:stretch>
        </p:blipFill>
        <p:spPr>
          <a:xfrm>
            <a:off x="3758722" y="3228276"/>
            <a:ext cx="134549" cy="195707"/>
          </a:xfrm>
          <a:prstGeom prst="rect">
            <a:avLst/>
          </a:prstGeom>
        </p:spPr>
      </p:pic>
      <p:sp>
        <p:nvSpPr>
          <p:cNvPr id="20" name="TextBox 19"/>
          <p:cNvSpPr txBox="1"/>
          <p:nvPr/>
        </p:nvSpPr>
        <p:spPr>
          <a:xfrm>
            <a:off x="3933831" y="3238500"/>
            <a:ext cx="7661917" cy="194310"/>
          </a:xfrm>
          <a:prstGeom prst="rect">
            <a:avLst/>
          </a:prstGeom>
          <a:noFill/>
        </p:spPr>
        <p:txBody>
          <a:bodyPr wrap="none" lIns="0" rIns="0" tIns="0" bIns="0">
            <a:spAutoFit/>
          </a:bodyPr>
          <a:lstStyle/>
          <a:p>
            <a:r>
              <a:rPr sz="1150" b="0">
                <a:solidFill>
                  <a:srgbClr val="252423"/>
                </a:solidFill>
                <a:latin typeface="Segoe UI"/>
              </a:rPr>
              <a:t>X higher value than 1,000 wh to below 1,500 wh segment in 2036. Among lithium polymer portable energy storage by</a:t>
            </a:r>
          </a:p>
        </p:txBody>
      </p:sp>
      <p:sp>
        <p:nvSpPr>
          <p:cNvPr id="21" name="TextBox 20"/>
          <p:cNvSpPr txBox="1"/>
          <p:nvPr/>
        </p:nvSpPr>
        <p:spPr>
          <a:xfrm>
            <a:off x="276225" y="3413760"/>
            <a:ext cx="6871772" cy="194310"/>
          </a:xfrm>
          <a:prstGeom prst="rect">
            <a:avLst/>
          </a:prstGeom>
          <a:noFill/>
        </p:spPr>
        <p:txBody>
          <a:bodyPr wrap="none" lIns="0" rIns="0" tIns="0" bIns="0">
            <a:spAutoFit/>
          </a:bodyPr>
          <a:lstStyle/>
          <a:p>
            <a:r>
              <a:rPr sz="1150" b="0">
                <a:solidFill>
                  <a:srgbClr val="252423"/>
                </a:solidFill>
                <a:latin typeface="Segoe UI"/>
              </a:rPr>
              <a:t>energy storage capacity, 1,000 wh to below 1,500 wh segment is expected to witness the highest CAGR of</a:t>
            </a:r>
          </a:p>
        </p:txBody>
      </p:sp>
      <p:pic>
        <p:nvPicPr>
          <p:cNvPr id="22" name="Picture 21" descr="lock.png"/>
          <p:cNvPicPr>
            <a:picLocks noChangeAspect="1"/>
          </p:cNvPicPr>
          <p:nvPr/>
        </p:nvPicPr>
        <p:blipFill>
          <a:blip r:embed="rId4"/>
          <a:stretch>
            <a:fillRect/>
          </a:stretch>
        </p:blipFill>
        <p:spPr>
          <a:xfrm>
            <a:off x="7097151" y="3403536"/>
            <a:ext cx="134549" cy="195707"/>
          </a:xfrm>
          <a:prstGeom prst="rect">
            <a:avLst/>
          </a:prstGeom>
        </p:spPr>
      </p:pic>
      <p:sp>
        <p:nvSpPr>
          <p:cNvPr id="23" name="TextBox 22"/>
          <p:cNvSpPr txBox="1"/>
          <p:nvPr/>
        </p:nvSpPr>
        <p:spPr>
          <a:xfrm>
            <a:off x="7272260" y="341376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641597"/>
            <a:ext cx="8383493" cy="194310"/>
          </a:xfrm>
          <a:prstGeom prst="rect">
            <a:avLst/>
          </a:prstGeom>
          <a:noFill/>
        </p:spPr>
        <p:txBody>
          <a:bodyPr wrap="none" lIns="0" rIns="0" tIns="0" bIns="0">
            <a:spAutoFit/>
          </a:bodyPr>
          <a:lstStyle/>
          <a:p>
            <a:r>
              <a:rPr sz="1150" b="0">
                <a:solidFill>
                  <a:srgbClr val="252423"/>
                </a:solidFill>
                <a:latin typeface="Segoe UI"/>
              </a:rPr>
              <a:t>In terms of value share by energy storage capacity, the 1,500 wh to 2,000 wh segment is expected to dominate the market, losing</a:t>
            </a:r>
          </a:p>
        </p:txBody>
      </p:sp>
      <p:pic>
        <p:nvPicPr>
          <p:cNvPr id="25" name="Picture 24" descr="lock.png"/>
          <p:cNvPicPr>
            <a:picLocks noChangeAspect="1"/>
          </p:cNvPicPr>
          <p:nvPr/>
        </p:nvPicPr>
        <p:blipFill>
          <a:blip r:embed="rId4"/>
          <a:stretch>
            <a:fillRect/>
          </a:stretch>
        </p:blipFill>
        <p:spPr>
          <a:xfrm>
            <a:off x="8608872" y="3631374"/>
            <a:ext cx="134549" cy="195707"/>
          </a:xfrm>
          <a:prstGeom prst="rect">
            <a:avLst/>
          </a:prstGeom>
        </p:spPr>
      </p:pic>
      <p:sp>
        <p:nvSpPr>
          <p:cNvPr id="26" name="TextBox 25"/>
          <p:cNvSpPr txBox="1"/>
          <p:nvPr/>
        </p:nvSpPr>
        <p:spPr>
          <a:xfrm>
            <a:off x="8783981" y="364159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312338" y="3631374"/>
            <a:ext cx="134549" cy="195707"/>
          </a:xfrm>
          <a:prstGeom prst="rect">
            <a:avLst/>
          </a:prstGeom>
        </p:spPr>
      </p:pic>
      <p:sp>
        <p:nvSpPr>
          <p:cNvPr id="28" name="TextBox 27"/>
          <p:cNvSpPr txBox="1"/>
          <p:nvPr/>
        </p:nvSpPr>
        <p:spPr>
          <a:xfrm>
            <a:off x="10487447" y="364159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Energy Storage Capacity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Energy Storage Capacity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28077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27600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19980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500 Wh to Below 1,000 Wh</a:t>
            </a:r>
          </a:p>
        </p:txBody>
      </p:sp>
      <p:sp>
        <p:nvSpPr>
          <p:cNvPr id="16" name="BPS Value 1"/>
          <p:cNvSpPr txBox="1"/>
          <p:nvPr/>
        </p:nvSpPr>
        <p:spPr>
          <a:xfrm>
            <a:off x="6896100" y="226172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368370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367893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360273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1,000 Wh to Below 1,500 Wh</a:t>
            </a:r>
          </a:p>
        </p:txBody>
      </p:sp>
      <p:sp>
        <p:nvSpPr>
          <p:cNvPr id="20" name="BPS Value 2"/>
          <p:cNvSpPr txBox="1"/>
          <p:nvPr/>
        </p:nvSpPr>
        <p:spPr>
          <a:xfrm>
            <a:off x="6896100" y="366465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536037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535561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52794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1,500 Wh to 2,000 Wh</a:t>
            </a:r>
          </a:p>
        </p:txBody>
      </p:sp>
      <p:sp>
        <p:nvSpPr>
          <p:cNvPr id="24" name="BPS Value 3"/>
          <p:cNvSpPr txBox="1"/>
          <p:nvPr/>
        </p:nvSpPr>
        <p:spPr>
          <a:xfrm>
            <a:off x="6896100" y="534132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Rectangle 24"/>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Energy Storage Capacity</a:t>
            </a:r>
          </a:p>
        </p:txBody>
      </p:sp>
      <p:sp>
        <p:nvSpPr>
          <p:cNvPr id="27" name="Rectangle 26"/>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3879762"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energy</a:t>
            </a:r>
          </a:p>
        </p:txBody>
      </p:sp>
      <p:sp>
        <p:nvSpPr>
          <p:cNvPr id="32" name="TextBox 31"/>
          <p:cNvSpPr txBox="1"/>
          <p:nvPr/>
        </p:nvSpPr>
        <p:spPr>
          <a:xfrm>
            <a:off x="7829550" y="1575435"/>
            <a:ext cx="3727842" cy="194310"/>
          </a:xfrm>
          <a:prstGeom prst="rect">
            <a:avLst/>
          </a:prstGeom>
          <a:noFill/>
        </p:spPr>
        <p:txBody>
          <a:bodyPr wrap="none" lIns="0" rIns="0" tIns="0" bIns="0">
            <a:spAutoFit/>
          </a:bodyPr>
          <a:lstStyle/>
          <a:p>
            <a:r>
              <a:rPr sz="1150" b="0">
                <a:solidFill>
                  <a:srgbClr val="252423"/>
                </a:solidFill>
                <a:latin typeface="Segoe UI"/>
              </a:rPr>
              <a:t>storage capacity, 1,000 wh to below 1,500 wh segment is</a:t>
            </a:r>
          </a:p>
        </p:txBody>
      </p:sp>
      <p:sp>
        <p:nvSpPr>
          <p:cNvPr id="33" name="TextBox 32"/>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4" name="Picture 33" descr="lock.png"/>
          <p:cNvPicPr>
            <a:picLocks noChangeAspect="1"/>
          </p:cNvPicPr>
          <p:nvPr/>
        </p:nvPicPr>
        <p:blipFill>
          <a:blip r:embed="rId5"/>
          <a:stretch>
            <a:fillRect/>
          </a:stretch>
        </p:blipFill>
        <p:spPr>
          <a:xfrm>
            <a:off x="10475709" y="1740471"/>
            <a:ext cx="134549" cy="195707"/>
          </a:xfrm>
          <a:prstGeom prst="rect">
            <a:avLst/>
          </a:prstGeom>
        </p:spPr>
      </p:pic>
      <p:sp>
        <p:nvSpPr>
          <p:cNvPr id="35" name="TextBox 34"/>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36" name="TextBox 35"/>
          <p:cNvSpPr txBox="1"/>
          <p:nvPr/>
        </p:nvSpPr>
        <p:spPr>
          <a:xfrm>
            <a:off x="7829550" y="1925955"/>
            <a:ext cx="528042" cy="194310"/>
          </a:xfrm>
          <a:prstGeom prst="rect">
            <a:avLst/>
          </a:prstGeom>
          <a:noFill/>
        </p:spPr>
        <p:txBody>
          <a:bodyPr wrap="none" lIns="0" rIns="0" tIns="0" bIns="0">
            <a:spAutoFit/>
          </a:bodyPr>
          <a:lstStyle/>
          <a:p>
            <a:r>
              <a:rPr sz="1150" b="0">
                <a:solidFill>
                  <a:srgbClr val="252423"/>
                </a:solidFill>
                <a:latin typeface="Segoe UI"/>
              </a:rPr>
              <a:t>period.</a:t>
            </a:r>
          </a:p>
        </p:txBody>
      </p:sp>
      <p:sp>
        <p:nvSpPr>
          <p:cNvPr id="37" name="TextBox 36"/>
          <p:cNvSpPr txBox="1"/>
          <p:nvPr/>
        </p:nvSpPr>
        <p:spPr>
          <a:xfrm>
            <a:off x="7829550" y="2153793"/>
            <a:ext cx="3975295" cy="194310"/>
          </a:xfrm>
          <a:prstGeom prst="rect">
            <a:avLst/>
          </a:prstGeom>
          <a:noFill/>
        </p:spPr>
        <p:txBody>
          <a:bodyPr wrap="none" lIns="0" rIns="0" tIns="0" bIns="0">
            <a:spAutoFit/>
          </a:bodyPr>
          <a:lstStyle/>
          <a:p>
            <a:r>
              <a:rPr sz="1150" b="0">
                <a:solidFill>
                  <a:srgbClr val="252423"/>
                </a:solidFill>
                <a:latin typeface="Segoe UI"/>
              </a:rPr>
              <a:t>In terms of value share by energy storage capacity, the 1,500</a:t>
            </a:r>
          </a:p>
        </p:txBody>
      </p:sp>
      <p:sp>
        <p:nvSpPr>
          <p:cNvPr id="38" name="TextBox 37"/>
          <p:cNvSpPr txBox="1"/>
          <p:nvPr/>
        </p:nvSpPr>
        <p:spPr>
          <a:xfrm>
            <a:off x="7829550" y="2329053"/>
            <a:ext cx="4017437" cy="194310"/>
          </a:xfrm>
          <a:prstGeom prst="rect">
            <a:avLst/>
          </a:prstGeom>
          <a:noFill/>
        </p:spPr>
        <p:txBody>
          <a:bodyPr wrap="none" lIns="0" rIns="0" tIns="0" bIns="0">
            <a:spAutoFit/>
          </a:bodyPr>
          <a:lstStyle/>
          <a:p>
            <a:r>
              <a:rPr sz="1150" b="0">
                <a:solidFill>
                  <a:srgbClr val="252423"/>
                </a:solidFill>
                <a:latin typeface="Segoe UI"/>
              </a:rPr>
              <a:t>wh to 2,000 wh segment is expected to dominate the market,</a:t>
            </a:r>
          </a:p>
        </p:txBody>
      </p:sp>
      <p:sp>
        <p:nvSpPr>
          <p:cNvPr id="39" name="TextBox 38"/>
          <p:cNvSpPr txBox="1"/>
          <p:nvPr/>
        </p:nvSpPr>
        <p:spPr>
          <a:xfrm>
            <a:off x="7829550" y="2504313"/>
            <a:ext cx="463289" cy="194310"/>
          </a:xfrm>
          <a:prstGeom prst="rect">
            <a:avLst/>
          </a:prstGeom>
          <a:noFill/>
        </p:spPr>
        <p:txBody>
          <a:bodyPr wrap="none" lIns="0" rIns="0" tIns="0" bIns="0">
            <a:spAutoFit/>
          </a:bodyPr>
          <a:lstStyle/>
          <a:p>
            <a:r>
              <a:rPr sz="1150" b="0">
                <a:solidFill>
                  <a:srgbClr val="252423"/>
                </a:solidFill>
                <a:latin typeface="Segoe UI"/>
              </a:rPr>
              <a:t>losing</a:t>
            </a:r>
          </a:p>
        </p:txBody>
      </p:sp>
      <p:pic>
        <p:nvPicPr>
          <p:cNvPr id="40" name="Picture 39" descr="lock.png"/>
          <p:cNvPicPr>
            <a:picLocks noChangeAspect="1"/>
          </p:cNvPicPr>
          <p:nvPr/>
        </p:nvPicPr>
        <p:blipFill>
          <a:blip r:embed="rId5"/>
          <a:stretch>
            <a:fillRect/>
          </a:stretch>
        </p:blipFill>
        <p:spPr>
          <a:xfrm>
            <a:off x="8241993" y="2494089"/>
            <a:ext cx="134549" cy="195707"/>
          </a:xfrm>
          <a:prstGeom prst="rect">
            <a:avLst/>
          </a:prstGeom>
        </p:spPr>
      </p:pic>
      <p:sp>
        <p:nvSpPr>
          <p:cNvPr id="41" name="TextBox 40"/>
          <p:cNvSpPr txBox="1"/>
          <p:nvPr/>
        </p:nvSpPr>
        <p:spPr>
          <a:xfrm>
            <a:off x="8417102" y="250431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2" name="Picture 41" descr="lock.png"/>
          <p:cNvPicPr>
            <a:picLocks noChangeAspect="1"/>
          </p:cNvPicPr>
          <p:nvPr/>
        </p:nvPicPr>
        <p:blipFill>
          <a:blip r:embed="rId5"/>
          <a:stretch>
            <a:fillRect/>
          </a:stretch>
        </p:blipFill>
        <p:spPr>
          <a:xfrm>
            <a:off x="9945459" y="2494089"/>
            <a:ext cx="134549" cy="195707"/>
          </a:xfrm>
          <a:prstGeom prst="rect">
            <a:avLst/>
          </a:prstGeom>
        </p:spPr>
      </p:pic>
      <p:sp>
        <p:nvSpPr>
          <p:cNvPr id="43" name="TextBox 42"/>
          <p:cNvSpPr txBox="1"/>
          <p:nvPr/>
        </p:nvSpPr>
        <p:spPr>
          <a:xfrm>
            <a:off x="10120568" y="250431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4"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Battery Chemistry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Chemistry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Battery Chemistry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Battery Chemistry,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Battery Chemistry segment categorizes the market by battery chemistry.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Nickel Manganese Cobalt Oxide</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Cobalt Oxide</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Lithium-Ion Cathode Chemist…</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Iron Phosphate</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Battery Chemistry split shows how demand is distributed across battery chemistry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266_0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837_9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2_2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188_9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538_3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1_0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99_9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325_0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2_5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95_3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248_7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10_1__605E5C.png"/>
          <p:cNvPicPr>
            <a:picLocks noChangeAspect="1"/>
          </p:cNvPicPr>
          <p:nvPr/>
        </p:nvPicPr>
        <p:blipFill>
          <a:blip r:embed="rId15"/>
          <a:stretch>
            <a:fillRect/>
          </a:stretch>
        </p:blipFill>
        <p:spPr>
          <a:xfrm>
            <a:off x="10062992" y="3272281"/>
            <a:ext cx="1195728"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78" name="TextBox 77"/>
          <p:cNvSpPr txBox="1"/>
          <p:nvPr/>
        </p:nvSpPr>
        <p:spPr>
          <a:xfrm>
            <a:off x="485775" y="4383665"/>
            <a:ext cx="2754392" cy="173278"/>
          </a:xfrm>
          <a:prstGeom prst="rect">
            <a:avLst/>
          </a:prstGeom>
          <a:noFill/>
        </p:spPr>
        <p:txBody>
          <a:bodyPr wrap="none" lIns="0" rIns="0" tIns="0" bIns="0">
            <a:spAutoFit/>
          </a:bodyPr>
          <a:lstStyle/>
          <a:p>
            <a:r>
              <a:rPr sz="1011" b="0">
                <a:solidFill>
                  <a:srgbClr val="252423"/>
                </a:solidFill>
                <a:latin typeface="Segoe UI"/>
              </a:rPr>
              <a:t>by battery chemistry, other lithium-ion cathode</a:t>
            </a:r>
          </a:p>
        </p:txBody>
      </p:sp>
      <p:sp>
        <p:nvSpPr>
          <p:cNvPr id="79" name="TextBox 78"/>
          <p:cNvSpPr txBox="1"/>
          <p:nvPr/>
        </p:nvSpPr>
        <p:spPr>
          <a:xfrm>
            <a:off x="485775" y="4537894"/>
            <a:ext cx="2736515" cy="173278"/>
          </a:xfrm>
          <a:prstGeom prst="rect">
            <a:avLst/>
          </a:prstGeom>
          <a:noFill/>
        </p:spPr>
        <p:txBody>
          <a:bodyPr wrap="none" lIns="0" rIns="0" tIns="0" bIns="0">
            <a:spAutoFit/>
          </a:bodyPr>
          <a:lstStyle/>
          <a:p>
            <a:r>
              <a:rPr sz="1011" b="0">
                <a:solidFill>
                  <a:srgbClr val="252423"/>
                </a:solidFill>
                <a:latin typeface="Segoe UI"/>
              </a:rPr>
              <a:t>chemistries segment is expected to witness the</a:t>
            </a:r>
          </a:p>
        </p:txBody>
      </p:sp>
      <p:sp>
        <p:nvSpPr>
          <p:cNvPr id="80" name="TextBox 79"/>
          <p:cNvSpPr txBox="1"/>
          <p:nvPr/>
        </p:nvSpPr>
        <p:spPr>
          <a:xfrm>
            <a:off x="485775" y="4692123"/>
            <a:ext cx="1007183" cy="173278"/>
          </a:xfrm>
          <a:prstGeom prst="rect">
            <a:avLst/>
          </a:prstGeom>
          <a:noFill/>
        </p:spPr>
        <p:txBody>
          <a:bodyPr wrap="none" lIns="0" rIns="0" tIns="0" bIns="0">
            <a:spAutoFit/>
          </a:bodyPr>
          <a:lstStyle/>
          <a:p>
            <a:r>
              <a:rPr sz="1011" b="0">
                <a:solidFill>
                  <a:srgbClr val="252423"/>
                </a:solidFill>
                <a:latin typeface="Segoe UI"/>
              </a:rPr>
              <a:t>highest CAGR of</a:t>
            </a:r>
          </a:p>
        </p:txBody>
      </p:sp>
      <p:pic>
        <p:nvPicPr>
          <p:cNvPr id="81" name="Picture 80" descr="lock.png"/>
          <p:cNvPicPr>
            <a:picLocks noChangeAspect="1"/>
          </p:cNvPicPr>
          <p:nvPr/>
        </p:nvPicPr>
        <p:blipFill>
          <a:blip r:embed="rId16"/>
          <a:stretch>
            <a:fillRect/>
          </a:stretch>
        </p:blipFill>
        <p:spPr>
          <a:xfrm>
            <a:off x="1439069" y="4683126"/>
            <a:ext cx="118403" cy="172222"/>
          </a:xfrm>
          <a:prstGeom prst="rect">
            <a:avLst/>
          </a:prstGeom>
        </p:spPr>
      </p:pic>
      <p:sp>
        <p:nvSpPr>
          <p:cNvPr id="82" name="TextBox 81"/>
          <p:cNvSpPr txBox="1"/>
          <p:nvPr/>
        </p:nvSpPr>
        <p:spPr>
          <a:xfrm>
            <a:off x="1593165" y="4692123"/>
            <a:ext cx="1604391" cy="173278"/>
          </a:xfrm>
          <a:prstGeom prst="rect">
            <a:avLst/>
          </a:prstGeom>
          <a:noFill/>
        </p:spPr>
        <p:txBody>
          <a:bodyPr wrap="none" lIns="0" rIns="0" tIns="0" bIns="0">
            <a:spAutoFit/>
          </a:bodyPr>
          <a:lstStyle/>
          <a:p>
            <a:r>
              <a:rPr sz="1011" b="0">
                <a:solidFill>
                  <a:srgbClr val="252423"/>
                </a:solidFill>
                <a:latin typeface="Segoe UI"/>
              </a:rPr>
              <a:t>over the forecast period. In</a:t>
            </a:r>
          </a:p>
        </p:txBody>
      </p:sp>
      <p:sp>
        <p:nvSpPr>
          <p:cNvPr id="83" name="TextBox 82"/>
          <p:cNvSpPr txBox="1"/>
          <p:nvPr/>
        </p:nvSpPr>
        <p:spPr>
          <a:xfrm>
            <a:off x="485775" y="4846352"/>
            <a:ext cx="2659890" cy="173278"/>
          </a:xfrm>
          <a:prstGeom prst="rect">
            <a:avLst/>
          </a:prstGeom>
          <a:noFill/>
        </p:spPr>
        <p:txBody>
          <a:bodyPr wrap="none" lIns="0" rIns="0" tIns="0" bIns="0">
            <a:spAutoFit/>
          </a:bodyPr>
          <a:lstStyle/>
          <a:p>
            <a:r>
              <a:rPr sz="1011" b="0">
                <a:solidFill>
                  <a:srgbClr val="252423"/>
                </a:solidFill>
                <a:latin typeface="Segoe UI"/>
              </a:rPr>
              <a:t>terms of value share by battery chemistry, the</a:t>
            </a:r>
          </a:p>
        </p:txBody>
      </p:sp>
      <p:sp>
        <p:nvSpPr>
          <p:cNvPr id="84" name="TextBox 83"/>
          <p:cNvSpPr txBox="1"/>
          <p:nvPr/>
        </p:nvSpPr>
        <p:spPr>
          <a:xfrm>
            <a:off x="485775" y="5000581"/>
            <a:ext cx="2651359" cy="173278"/>
          </a:xfrm>
          <a:prstGeom prst="rect">
            <a:avLst/>
          </a:prstGeom>
          <a:noFill/>
        </p:spPr>
        <p:txBody>
          <a:bodyPr wrap="none" lIns="0" rIns="0" tIns="0" bIns="0">
            <a:spAutoFit/>
          </a:bodyPr>
          <a:lstStyle/>
          <a:p>
            <a:r>
              <a:rPr sz="1011" b="0">
                <a:solidFill>
                  <a:srgbClr val="252423"/>
                </a:solidFill>
                <a:latin typeface="Segoe UI"/>
              </a:rPr>
              <a:t>lithium nickel manganese cobalt oxide (NMC)</a:t>
            </a:r>
          </a:p>
        </p:txBody>
      </p:sp>
      <p:sp>
        <p:nvSpPr>
          <p:cNvPr id="85" name="TextBox 84"/>
          <p:cNvSpPr txBox="1"/>
          <p:nvPr/>
        </p:nvSpPr>
        <p:spPr>
          <a:xfrm>
            <a:off x="485775" y="5154809"/>
            <a:ext cx="2648601" cy="173278"/>
          </a:xfrm>
          <a:prstGeom prst="rect">
            <a:avLst/>
          </a:prstGeom>
          <a:noFill/>
        </p:spPr>
        <p:txBody>
          <a:bodyPr wrap="none" lIns="0" rIns="0" tIns="0" bIns="0">
            <a:spAutoFit/>
          </a:bodyPr>
          <a:lstStyle/>
          <a:p>
            <a:r>
              <a:rPr sz="1011" b="0">
                <a:solidFill>
                  <a:srgbClr val="252423"/>
                </a:solidFill>
                <a:latin typeface="Segoe UI"/>
              </a:rPr>
              <a:t>segment is expected to dominate the market,</a:t>
            </a:r>
          </a:p>
        </p:txBody>
      </p:sp>
      <p:sp>
        <p:nvSpPr>
          <p:cNvPr id="86" name="TextBox 85"/>
          <p:cNvSpPr txBox="1"/>
          <p:nvPr/>
        </p:nvSpPr>
        <p:spPr>
          <a:xfrm>
            <a:off x="485775" y="5309038"/>
            <a:ext cx="501182" cy="173278"/>
          </a:xfrm>
          <a:prstGeom prst="rect">
            <a:avLst/>
          </a:prstGeom>
          <a:noFill/>
        </p:spPr>
        <p:txBody>
          <a:bodyPr wrap="none" lIns="0" rIns="0" tIns="0" bIns="0">
            <a:spAutoFit/>
          </a:bodyPr>
          <a:lstStyle/>
          <a:p>
            <a:r>
              <a:rPr sz="1011" b="0">
                <a:solidFill>
                  <a:srgbClr val="252423"/>
                </a:solidFill>
                <a:latin typeface="Segoe UI"/>
              </a:rPr>
              <a:t>gaining</a:t>
            </a:r>
          </a:p>
        </p:txBody>
      </p:sp>
      <p:pic>
        <p:nvPicPr>
          <p:cNvPr id="87" name="Picture 86" descr="lock.png"/>
          <p:cNvPicPr>
            <a:picLocks noChangeAspect="1"/>
          </p:cNvPicPr>
          <p:nvPr/>
        </p:nvPicPr>
        <p:blipFill>
          <a:blip r:embed="rId16"/>
          <a:stretch>
            <a:fillRect/>
          </a:stretch>
        </p:blipFill>
        <p:spPr>
          <a:xfrm>
            <a:off x="933069" y="5300041"/>
            <a:ext cx="118403" cy="172222"/>
          </a:xfrm>
          <a:prstGeom prst="rect">
            <a:avLst/>
          </a:prstGeom>
        </p:spPr>
      </p:pic>
      <p:sp>
        <p:nvSpPr>
          <p:cNvPr id="88" name="TextBox 87"/>
          <p:cNvSpPr txBox="1"/>
          <p:nvPr/>
        </p:nvSpPr>
        <p:spPr>
          <a:xfrm>
            <a:off x="1087165" y="5309038"/>
            <a:ext cx="1398842" cy="173278"/>
          </a:xfrm>
          <a:prstGeom prst="rect">
            <a:avLst/>
          </a:prstGeom>
          <a:noFill/>
        </p:spPr>
        <p:txBody>
          <a:bodyPr wrap="none" lIns="0" rIns="0" tIns="0" bIns="0">
            <a:spAutoFit/>
          </a:bodyPr>
          <a:lstStyle/>
          <a:p>
            <a:r>
              <a:rPr sz="1011" b="0">
                <a:solidFill>
                  <a:srgbClr val="252423"/>
                </a:solidFill>
                <a:latin typeface="Segoe UI"/>
              </a:rPr>
              <a:t>BPS and accounting for</a:t>
            </a:r>
          </a:p>
        </p:txBody>
      </p:sp>
      <p:pic>
        <p:nvPicPr>
          <p:cNvPr id="89" name="Picture 88" descr="lock.png"/>
          <p:cNvPicPr>
            <a:picLocks noChangeAspect="1"/>
          </p:cNvPicPr>
          <p:nvPr/>
        </p:nvPicPr>
        <p:blipFill>
          <a:blip r:embed="rId16"/>
          <a:stretch>
            <a:fillRect/>
          </a:stretch>
        </p:blipFill>
        <p:spPr>
          <a:xfrm>
            <a:off x="2432119" y="5300041"/>
            <a:ext cx="118403" cy="172222"/>
          </a:xfrm>
          <a:prstGeom prst="rect">
            <a:avLst/>
          </a:prstGeom>
        </p:spPr>
      </p:pic>
      <p:sp>
        <p:nvSpPr>
          <p:cNvPr id="90" name="TextBox 89"/>
          <p:cNvSpPr txBox="1"/>
          <p:nvPr/>
        </p:nvSpPr>
        <p:spPr>
          <a:xfrm>
            <a:off x="2586215" y="5309038"/>
            <a:ext cx="553870" cy="173278"/>
          </a:xfrm>
          <a:prstGeom prst="rect">
            <a:avLst/>
          </a:prstGeom>
          <a:noFill/>
        </p:spPr>
        <p:txBody>
          <a:bodyPr wrap="none" lIns="0" rIns="0" tIns="0" bIns="0">
            <a:spAutoFit/>
          </a:bodyPr>
          <a:lstStyle/>
          <a:p>
            <a:r>
              <a:rPr sz="1011" b="0">
                <a:solidFill>
                  <a:srgbClr val="252423"/>
                </a:solidFill>
                <a:latin typeface="Segoe UI"/>
              </a:rPr>
              <a:t>share by</a:t>
            </a:r>
          </a:p>
        </p:txBody>
      </p:sp>
      <p:sp>
        <p:nvSpPr>
          <p:cNvPr id="91" name="TextBox 90"/>
          <p:cNvSpPr txBox="1"/>
          <p:nvPr/>
        </p:nvSpPr>
        <p:spPr>
          <a:xfrm>
            <a:off x="485775" y="5463267"/>
            <a:ext cx="381193" cy="173278"/>
          </a:xfrm>
          <a:prstGeom prst="rect">
            <a:avLst/>
          </a:prstGeom>
          <a:noFill/>
        </p:spPr>
        <p:txBody>
          <a:bodyPr wrap="none" lIns="0" rIns="0" tIns="0" bIns="0">
            <a:spAutoFit/>
          </a:bodyPr>
          <a:lstStyle/>
          <a:p>
            <a:r>
              <a:rPr sz="1011" b="0">
                <a:solidFill>
                  <a:srgbClr val="252423"/>
                </a:solidFill>
                <a:latin typeface="Segoe UI"/>
              </a:rPr>
              <a:t>2036.</a:t>
            </a:r>
          </a:p>
        </p:txBody>
      </p:sp>
      <p:sp>
        <p:nvSpPr>
          <p:cNvPr id="92" name="TextBox 91"/>
          <p:cNvSpPr txBox="1"/>
          <p:nvPr/>
        </p:nvSpPr>
        <p:spPr>
          <a:xfrm>
            <a:off x="485775" y="5663764"/>
            <a:ext cx="2680728" cy="173278"/>
          </a:xfrm>
          <a:prstGeom prst="rect">
            <a:avLst/>
          </a:prstGeom>
          <a:noFill/>
        </p:spPr>
        <p:txBody>
          <a:bodyPr wrap="none" lIns="0" rIns="0" tIns="0" bIns="0">
            <a:spAutoFit/>
          </a:bodyPr>
          <a:lstStyle/>
          <a:p>
            <a:r>
              <a:rPr sz="1011" b="0">
                <a:solidFill>
                  <a:srgbClr val="252423"/>
                </a:solidFill>
                <a:latin typeface="Segoe UI"/>
              </a:rPr>
              <a:t>Lithium nickel manganese cobalt oxide (NMC)</a:t>
            </a:r>
          </a:p>
        </p:txBody>
      </p:sp>
      <p:sp>
        <p:nvSpPr>
          <p:cNvPr id="93" name="TextBox 92"/>
          <p:cNvSpPr txBox="1"/>
          <p:nvPr/>
        </p:nvSpPr>
        <p:spPr>
          <a:xfrm>
            <a:off x="485775" y="5817993"/>
            <a:ext cx="1882462" cy="173278"/>
          </a:xfrm>
          <a:prstGeom prst="rect">
            <a:avLst/>
          </a:prstGeom>
          <a:noFill/>
        </p:spPr>
        <p:txBody>
          <a:bodyPr wrap="none" lIns="0" rIns="0" tIns="0" bIns="0">
            <a:spAutoFit/>
          </a:bodyPr>
          <a:lstStyle/>
          <a:p>
            <a:r>
              <a:rPr sz="1011" b="0">
                <a:solidFill>
                  <a:srgbClr val="252423"/>
                </a:solidFill>
                <a:latin typeface="Segoe UI"/>
              </a:rPr>
              <a:t>segment is projected to register</a:t>
            </a:r>
          </a:p>
        </p:txBody>
      </p:sp>
      <p:pic>
        <p:nvPicPr>
          <p:cNvPr id="94" name="Picture 93" descr="lock.png"/>
          <p:cNvPicPr>
            <a:picLocks noChangeAspect="1"/>
          </p:cNvPicPr>
          <p:nvPr/>
        </p:nvPicPr>
        <p:blipFill>
          <a:blip r:embed="rId16"/>
          <a:stretch>
            <a:fillRect/>
          </a:stretch>
        </p:blipFill>
        <p:spPr>
          <a:xfrm>
            <a:off x="2314349" y="5808996"/>
            <a:ext cx="118403" cy="172222"/>
          </a:xfrm>
          <a:prstGeom prst="rect">
            <a:avLst/>
          </a:prstGeom>
        </p:spPr>
      </p:pic>
      <p:sp>
        <p:nvSpPr>
          <p:cNvPr id="95" name="TextBox 94"/>
          <p:cNvSpPr txBox="1"/>
          <p:nvPr/>
        </p:nvSpPr>
        <p:spPr>
          <a:xfrm>
            <a:off x="2468445" y="5817993"/>
            <a:ext cx="884962" cy="173278"/>
          </a:xfrm>
          <a:prstGeom prst="rect">
            <a:avLst/>
          </a:prstGeom>
          <a:noFill/>
        </p:spPr>
        <p:txBody>
          <a:bodyPr wrap="none" lIns="0" rIns="0" tIns="0" bIns="0">
            <a:spAutoFit/>
          </a:bodyPr>
          <a:lstStyle/>
          <a:p>
            <a:r>
              <a:rPr sz="1011" b="0">
                <a:solidFill>
                  <a:srgbClr val="252423"/>
                </a:solidFill>
                <a:latin typeface="Segoe UI"/>
              </a:rPr>
              <a:t>X higher value</a:t>
            </a:r>
          </a:p>
        </p:txBody>
      </p:sp>
      <p:sp>
        <p:nvSpPr>
          <p:cNvPr id="96" name="TextBox 95"/>
          <p:cNvSpPr txBox="1"/>
          <p:nvPr/>
        </p:nvSpPr>
        <p:spPr>
          <a:xfrm>
            <a:off x="485775" y="5972222"/>
            <a:ext cx="2845098" cy="173278"/>
          </a:xfrm>
          <a:prstGeom prst="rect">
            <a:avLst/>
          </a:prstGeom>
          <a:noFill/>
        </p:spPr>
        <p:txBody>
          <a:bodyPr wrap="none" lIns="0" rIns="0" tIns="0" bIns="0">
            <a:spAutoFit/>
          </a:bodyPr>
          <a:lstStyle/>
          <a:p>
            <a:r>
              <a:rPr sz="1011" b="0">
                <a:solidFill>
                  <a:srgbClr val="252423"/>
                </a:solidFill>
                <a:latin typeface="Segoe UI"/>
              </a:rPr>
              <a:t>than lithium cobalt oxide (LCO) segment in 2036.</a:t>
            </a:r>
          </a:p>
        </p:txBody>
      </p:sp>
      <p:sp>
        <p:nvSpPr>
          <p:cNvPr id="97" name="TextBox 96"/>
          <p:cNvSpPr txBox="1"/>
          <p:nvPr/>
        </p:nvSpPr>
        <p:spPr>
          <a:xfrm>
            <a:off x="3838575" y="4229437"/>
            <a:ext cx="3135884" cy="186689"/>
          </a:xfrm>
          <a:prstGeom prst="rect">
            <a:avLst/>
          </a:prstGeom>
          <a:noFill/>
        </p:spPr>
        <p:txBody>
          <a:bodyPr wrap="none" lIns="0" rIns="0" tIns="0" bIns="0">
            <a:spAutoFit/>
          </a:bodyPr>
          <a:lstStyle/>
          <a:p>
            <a:r>
              <a:rPr sz="1100" b="0">
                <a:solidFill>
                  <a:srgbClr val="252423"/>
                </a:solidFill>
                <a:latin typeface="Segoe UI"/>
              </a:rPr>
              <a:t>● Lithium Nickel Manganese Cobalt Oxide (NMC):</a:t>
            </a:r>
          </a:p>
        </p:txBody>
      </p:sp>
      <p:pic>
        <p:nvPicPr>
          <p:cNvPr id="98" name="Picture 97" descr="lock.png"/>
          <p:cNvPicPr>
            <a:picLocks noChangeAspect="1"/>
          </p:cNvPicPr>
          <p:nvPr/>
        </p:nvPicPr>
        <p:blipFill>
          <a:blip r:embed="rId16"/>
          <a:stretch>
            <a:fillRect/>
          </a:stretch>
        </p:blipFill>
        <p:spPr>
          <a:xfrm>
            <a:off x="6922511" y="4219658"/>
            <a:ext cx="128699" cy="187198"/>
          </a:xfrm>
          <a:prstGeom prst="rect">
            <a:avLst/>
          </a:prstGeom>
        </p:spPr>
      </p:pic>
      <p:sp>
        <p:nvSpPr>
          <p:cNvPr id="99" name="TextBox 98"/>
          <p:cNvSpPr txBox="1"/>
          <p:nvPr/>
        </p:nvSpPr>
        <p:spPr>
          <a:xfrm>
            <a:off x="7090007" y="4229437"/>
            <a:ext cx="541100" cy="186689"/>
          </a:xfrm>
          <a:prstGeom prst="rect">
            <a:avLst/>
          </a:prstGeom>
          <a:noFill/>
        </p:spPr>
        <p:txBody>
          <a:bodyPr wrap="none" lIns="0" rIns="0" tIns="0" bIns="0">
            <a:spAutoFit/>
          </a:bodyPr>
          <a:lstStyle/>
          <a:p>
            <a:r>
              <a:rPr sz="1100" b="0">
                <a:solidFill>
                  <a:srgbClr val="252423"/>
                </a:solidFill>
                <a:latin typeface="Segoe UI"/>
              </a:rPr>
              <a:t>of 2026</a:t>
            </a:r>
          </a:p>
        </p:txBody>
      </p:sp>
      <p:sp>
        <p:nvSpPr>
          <p:cNvPr id="100" name="TextBox 99"/>
          <p:cNvSpPr txBox="1"/>
          <p:nvPr/>
        </p:nvSpPr>
        <p:spPr>
          <a:xfrm>
            <a:off x="3838575" y="4397077"/>
            <a:ext cx="468795" cy="186689"/>
          </a:xfrm>
          <a:prstGeom prst="rect">
            <a:avLst/>
          </a:prstGeom>
          <a:noFill/>
        </p:spPr>
        <p:txBody>
          <a:bodyPr wrap="none" lIns="0" rIns="0" tIns="0" bIns="0">
            <a:spAutoFit/>
          </a:bodyPr>
          <a:lstStyle/>
          <a:p>
            <a:r>
              <a:rPr sz="1100" b="0">
                <a:solidFill>
                  <a:srgbClr val="252423"/>
                </a:solidFill>
                <a:latin typeface="Segoe UI"/>
              </a:rPr>
              <a:t>value ·</a:t>
            </a:r>
          </a:p>
        </p:txBody>
      </p:sp>
      <p:pic>
        <p:nvPicPr>
          <p:cNvPr id="101" name="Picture 100" descr="lock.png"/>
          <p:cNvPicPr>
            <a:picLocks noChangeAspect="1"/>
          </p:cNvPicPr>
          <p:nvPr/>
        </p:nvPicPr>
        <p:blipFill>
          <a:blip r:embed="rId16"/>
          <a:stretch>
            <a:fillRect/>
          </a:stretch>
        </p:blipFill>
        <p:spPr>
          <a:xfrm>
            <a:off x="4255421" y="4387298"/>
            <a:ext cx="128699" cy="187198"/>
          </a:xfrm>
          <a:prstGeom prst="rect">
            <a:avLst/>
          </a:prstGeom>
        </p:spPr>
      </p:pic>
      <p:sp>
        <p:nvSpPr>
          <p:cNvPr id="102" name="TextBox 101"/>
          <p:cNvSpPr txBox="1"/>
          <p:nvPr/>
        </p:nvSpPr>
        <p:spPr>
          <a:xfrm>
            <a:off x="4422917"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103" name="TextBox 102"/>
          <p:cNvSpPr txBox="1"/>
          <p:nvPr/>
        </p:nvSpPr>
        <p:spPr>
          <a:xfrm>
            <a:off x="3838575" y="4615009"/>
            <a:ext cx="1906906" cy="186689"/>
          </a:xfrm>
          <a:prstGeom prst="rect">
            <a:avLst/>
          </a:prstGeom>
          <a:noFill/>
        </p:spPr>
        <p:txBody>
          <a:bodyPr wrap="none" lIns="0" rIns="0" tIns="0" bIns="0">
            <a:spAutoFit/>
          </a:bodyPr>
          <a:lstStyle/>
          <a:p>
            <a:r>
              <a:rPr sz="1100" b="0">
                <a:solidFill>
                  <a:srgbClr val="252423"/>
                </a:solidFill>
                <a:latin typeface="Segoe UI"/>
              </a:rPr>
              <a:t>● Lithium Cobalt Oxide (LCO):</a:t>
            </a:r>
          </a:p>
        </p:txBody>
      </p:sp>
      <p:pic>
        <p:nvPicPr>
          <p:cNvPr id="104" name="Picture 103" descr="lock.png"/>
          <p:cNvPicPr>
            <a:picLocks noChangeAspect="1"/>
          </p:cNvPicPr>
          <p:nvPr/>
        </p:nvPicPr>
        <p:blipFill>
          <a:blip r:embed="rId16"/>
          <a:stretch>
            <a:fillRect/>
          </a:stretch>
        </p:blipFill>
        <p:spPr>
          <a:xfrm>
            <a:off x="5693532" y="4605230"/>
            <a:ext cx="128699" cy="187198"/>
          </a:xfrm>
          <a:prstGeom prst="rect">
            <a:avLst/>
          </a:prstGeom>
        </p:spPr>
      </p:pic>
      <p:sp>
        <p:nvSpPr>
          <p:cNvPr id="105" name="TextBox 104"/>
          <p:cNvSpPr txBox="1"/>
          <p:nvPr/>
        </p:nvSpPr>
        <p:spPr>
          <a:xfrm>
            <a:off x="5861028"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6" name="Picture 105" descr="lock.png"/>
          <p:cNvPicPr>
            <a:picLocks noChangeAspect="1"/>
          </p:cNvPicPr>
          <p:nvPr/>
        </p:nvPicPr>
        <p:blipFill>
          <a:blip r:embed="rId16"/>
          <a:stretch>
            <a:fillRect/>
          </a:stretch>
        </p:blipFill>
        <p:spPr>
          <a:xfrm>
            <a:off x="6780975" y="4605230"/>
            <a:ext cx="128699" cy="187198"/>
          </a:xfrm>
          <a:prstGeom prst="rect">
            <a:avLst/>
          </a:prstGeom>
        </p:spPr>
      </p:pic>
      <p:sp>
        <p:nvSpPr>
          <p:cNvPr id="107" name="TextBox 106"/>
          <p:cNvSpPr txBox="1"/>
          <p:nvPr/>
        </p:nvSpPr>
        <p:spPr>
          <a:xfrm>
            <a:off x="6948470"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8" name="TextBox 107"/>
          <p:cNvSpPr txBox="1"/>
          <p:nvPr/>
        </p:nvSpPr>
        <p:spPr>
          <a:xfrm>
            <a:off x="3838575" y="4782649"/>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09" name="TextBox 108"/>
          <p:cNvSpPr txBox="1"/>
          <p:nvPr/>
        </p:nvSpPr>
        <p:spPr>
          <a:xfrm>
            <a:off x="3838575" y="5000581"/>
            <a:ext cx="2646734" cy="186689"/>
          </a:xfrm>
          <a:prstGeom prst="rect">
            <a:avLst/>
          </a:prstGeom>
          <a:noFill/>
        </p:spPr>
        <p:txBody>
          <a:bodyPr wrap="none" lIns="0" rIns="0" tIns="0" bIns="0">
            <a:spAutoFit/>
          </a:bodyPr>
          <a:lstStyle/>
          <a:p>
            <a:r>
              <a:rPr sz="1100" b="0">
                <a:solidFill>
                  <a:srgbClr val="252423"/>
                </a:solidFill>
                <a:latin typeface="Segoe UI"/>
              </a:rPr>
              <a:t>● Other Lithium-Ion Cathode Chemistries:</a:t>
            </a:r>
          </a:p>
        </p:txBody>
      </p:sp>
      <p:pic>
        <p:nvPicPr>
          <p:cNvPr id="110" name="Picture 109" descr="lock.png"/>
          <p:cNvPicPr>
            <a:picLocks noChangeAspect="1"/>
          </p:cNvPicPr>
          <p:nvPr/>
        </p:nvPicPr>
        <p:blipFill>
          <a:blip r:embed="rId16"/>
          <a:stretch>
            <a:fillRect/>
          </a:stretch>
        </p:blipFill>
        <p:spPr>
          <a:xfrm>
            <a:off x="6433361" y="4990801"/>
            <a:ext cx="128699" cy="187198"/>
          </a:xfrm>
          <a:prstGeom prst="rect">
            <a:avLst/>
          </a:prstGeom>
        </p:spPr>
      </p:pic>
      <p:sp>
        <p:nvSpPr>
          <p:cNvPr id="111" name="TextBox 110"/>
          <p:cNvSpPr txBox="1"/>
          <p:nvPr/>
        </p:nvSpPr>
        <p:spPr>
          <a:xfrm>
            <a:off x="6600856"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2" name="Picture 111" descr="lock.png"/>
          <p:cNvPicPr>
            <a:picLocks noChangeAspect="1"/>
          </p:cNvPicPr>
          <p:nvPr/>
        </p:nvPicPr>
        <p:blipFill>
          <a:blip r:embed="rId16"/>
          <a:stretch>
            <a:fillRect/>
          </a:stretch>
        </p:blipFill>
        <p:spPr>
          <a:xfrm>
            <a:off x="7520803" y="4990801"/>
            <a:ext cx="128699" cy="187198"/>
          </a:xfrm>
          <a:prstGeom prst="rect">
            <a:avLst/>
          </a:prstGeom>
        </p:spPr>
      </p:pic>
      <p:sp>
        <p:nvSpPr>
          <p:cNvPr id="113" name="TextBox 112"/>
          <p:cNvSpPr txBox="1"/>
          <p:nvPr/>
        </p:nvSpPr>
        <p:spPr>
          <a:xfrm>
            <a:off x="3838575" y="5168221"/>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14" name="TextBox 113"/>
          <p:cNvSpPr txBox="1"/>
          <p:nvPr/>
        </p:nvSpPr>
        <p:spPr>
          <a:xfrm>
            <a:off x="3838575" y="5386153"/>
            <a:ext cx="1998119" cy="186689"/>
          </a:xfrm>
          <a:prstGeom prst="rect">
            <a:avLst/>
          </a:prstGeom>
          <a:noFill/>
        </p:spPr>
        <p:txBody>
          <a:bodyPr wrap="none" lIns="0" rIns="0" tIns="0" bIns="0">
            <a:spAutoFit/>
          </a:bodyPr>
          <a:lstStyle/>
          <a:p>
            <a:r>
              <a:rPr sz="1100" b="0">
                <a:solidFill>
                  <a:srgbClr val="252423"/>
                </a:solidFill>
                <a:latin typeface="Segoe UI"/>
              </a:rPr>
              <a:t>● Lithium Iron Phosphate (LFP):</a:t>
            </a:r>
          </a:p>
        </p:txBody>
      </p:sp>
      <p:pic>
        <p:nvPicPr>
          <p:cNvPr id="115" name="Picture 114" descr="lock.png"/>
          <p:cNvPicPr>
            <a:picLocks noChangeAspect="1"/>
          </p:cNvPicPr>
          <p:nvPr/>
        </p:nvPicPr>
        <p:blipFill>
          <a:blip r:embed="rId16"/>
          <a:stretch>
            <a:fillRect/>
          </a:stretch>
        </p:blipFill>
        <p:spPr>
          <a:xfrm>
            <a:off x="5784746" y="5376373"/>
            <a:ext cx="128699" cy="187198"/>
          </a:xfrm>
          <a:prstGeom prst="rect">
            <a:avLst/>
          </a:prstGeom>
        </p:spPr>
      </p:pic>
      <p:sp>
        <p:nvSpPr>
          <p:cNvPr id="116" name="TextBox 115"/>
          <p:cNvSpPr txBox="1"/>
          <p:nvPr/>
        </p:nvSpPr>
        <p:spPr>
          <a:xfrm>
            <a:off x="5952241"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7" name="Picture 116" descr="lock.png"/>
          <p:cNvPicPr>
            <a:picLocks noChangeAspect="1"/>
          </p:cNvPicPr>
          <p:nvPr/>
        </p:nvPicPr>
        <p:blipFill>
          <a:blip r:embed="rId16"/>
          <a:stretch>
            <a:fillRect/>
          </a:stretch>
        </p:blipFill>
        <p:spPr>
          <a:xfrm>
            <a:off x="6872188" y="5376373"/>
            <a:ext cx="128699" cy="187198"/>
          </a:xfrm>
          <a:prstGeom prst="rect">
            <a:avLst/>
          </a:prstGeom>
        </p:spPr>
      </p:pic>
      <p:sp>
        <p:nvSpPr>
          <p:cNvPr id="118" name="TextBox 117"/>
          <p:cNvSpPr txBox="1"/>
          <p:nvPr/>
        </p:nvSpPr>
        <p:spPr>
          <a:xfrm>
            <a:off x="7039684" y="5386153"/>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19" name="TextBox 118"/>
          <p:cNvSpPr txBox="1"/>
          <p:nvPr/>
        </p:nvSpPr>
        <p:spPr>
          <a:xfrm>
            <a:off x="3838575" y="5553793"/>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20" name="TextBox 119"/>
          <p:cNvSpPr txBox="1"/>
          <p:nvPr/>
        </p:nvSpPr>
        <p:spPr>
          <a:xfrm>
            <a:off x="8524875" y="5842641"/>
            <a:ext cx="3075800" cy="194310"/>
          </a:xfrm>
          <a:prstGeom prst="rect">
            <a:avLst/>
          </a:prstGeom>
          <a:noFill/>
        </p:spPr>
        <p:txBody>
          <a:bodyPr wrap="none" lIns="0" rIns="0" tIns="0" bIns="0">
            <a:spAutoFit/>
          </a:bodyPr>
          <a:lstStyle/>
          <a:p>
            <a:r>
              <a:rPr sz="1150" b="1">
                <a:solidFill>
                  <a:srgbClr val="0E3A5F"/>
                </a:solidFill>
                <a:latin typeface="Segoe UI"/>
              </a:rPr>
              <a:t>The Battery Chemistry segment is projected</a:t>
            </a:r>
          </a:p>
        </p:txBody>
      </p:sp>
      <p:sp>
        <p:nvSpPr>
          <p:cNvPr id="121" name="TextBox 120"/>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122" name="Picture 121" descr="lock.png"/>
          <p:cNvPicPr>
            <a:picLocks noChangeAspect="1"/>
          </p:cNvPicPr>
          <p:nvPr/>
        </p:nvPicPr>
        <p:blipFill>
          <a:blip r:embed="rId16"/>
          <a:stretch>
            <a:fillRect/>
          </a:stretch>
        </p:blipFill>
        <p:spPr>
          <a:xfrm>
            <a:off x="10004092" y="6007677"/>
            <a:ext cx="134549" cy="195707"/>
          </a:xfrm>
          <a:prstGeom prst="rect">
            <a:avLst/>
          </a:prstGeom>
        </p:spPr>
      </p:pic>
      <p:sp>
        <p:nvSpPr>
          <p:cNvPr id="123" name="TextBox 122"/>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Battery Chemistry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Battery Chemistry mix within each region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Chemistry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Battery Chemistry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522084" cy="186689"/>
          </a:xfrm>
          <a:prstGeom prst="rect">
            <a:avLst/>
          </a:prstGeom>
          <a:noFill/>
        </p:spPr>
        <p:txBody>
          <a:bodyPr wrap="none" lIns="0" rIns="0" tIns="0" bIns="0">
            <a:spAutoFit/>
          </a:bodyPr>
          <a:lstStyle/>
          <a:p>
            <a:r>
              <a:rPr sz="1100" b="0">
                <a:solidFill>
                  <a:srgbClr val="252423"/>
                </a:solidFill>
                <a:latin typeface="Segoe UI"/>
              </a:rPr>
              <a:t>Lithium nickel manganese cobalt oxide (NMC) followed by lithium cobalt oxide (LCO) are expected to be the two most attractive battery chemistry segments in the global lithium polymer</a:t>
            </a:r>
          </a:p>
        </p:txBody>
      </p:sp>
      <p:sp>
        <p:nvSpPr>
          <p:cNvPr id="18" name="TextBox 17"/>
          <p:cNvSpPr txBox="1"/>
          <p:nvPr/>
        </p:nvSpPr>
        <p:spPr>
          <a:xfrm>
            <a:off x="257175" y="5837872"/>
            <a:ext cx="10906829" cy="186689"/>
          </a:xfrm>
          <a:prstGeom prst="rect">
            <a:avLst/>
          </a:prstGeom>
          <a:noFill/>
        </p:spPr>
        <p:txBody>
          <a:bodyPr wrap="none" lIns="0" rIns="0" tIns="0" bIns="0">
            <a:spAutoFit/>
          </a:bodyPr>
          <a:lstStyle/>
          <a:p>
            <a:r>
              <a:rPr sz="1100" b="0">
                <a:solidFill>
                  <a:srgbClr val="252423"/>
                </a:solidFill>
                <a:latin typeface="Segoe UI"/>
              </a:rPr>
              <a:t>portable energy storage market in terms of value over the forecast period. Lithium nickel manganese cobalt oxide (NMC) and lithium cobalt oxide (LCO) exhibit a CAGR index of</a:t>
            </a:r>
          </a:p>
        </p:txBody>
      </p:sp>
      <p:pic>
        <p:nvPicPr>
          <p:cNvPr id="19" name="Picture 18" descr="lock.png"/>
          <p:cNvPicPr>
            <a:picLocks noChangeAspect="1"/>
          </p:cNvPicPr>
          <p:nvPr/>
        </p:nvPicPr>
        <p:blipFill>
          <a:blip r:embed="rId6"/>
          <a:stretch>
            <a:fillRect/>
          </a:stretch>
        </p:blipFill>
        <p:spPr>
          <a:xfrm>
            <a:off x="11112056" y="5828093"/>
            <a:ext cx="128699" cy="187198"/>
          </a:xfrm>
          <a:prstGeom prst="rect">
            <a:avLst/>
          </a:prstGeom>
        </p:spPr>
      </p:pic>
      <p:sp>
        <p:nvSpPr>
          <p:cNvPr id="20" name="TextBox 19"/>
          <p:cNvSpPr txBox="1"/>
          <p:nvPr/>
        </p:nvSpPr>
        <p:spPr>
          <a:xfrm>
            <a:off x="11279552" y="583787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243707" y="5995733"/>
            <a:ext cx="128699" cy="187198"/>
          </a:xfrm>
          <a:prstGeom prst="rect">
            <a:avLst/>
          </a:prstGeom>
        </p:spPr>
      </p:pic>
      <p:sp>
        <p:nvSpPr>
          <p:cNvPr id="22" name="TextBox 21"/>
          <p:cNvSpPr txBox="1"/>
          <p:nvPr/>
        </p:nvSpPr>
        <p:spPr>
          <a:xfrm>
            <a:off x="411203"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149943" y="5995733"/>
            <a:ext cx="128699" cy="187198"/>
          </a:xfrm>
          <a:prstGeom prst="rect">
            <a:avLst/>
          </a:prstGeom>
        </p:spPr>
      </p:pic>
      <p:sp>
        <p:nvSpPr>
          <p:cNvPr id="24" name="TextBox 23"/>
          <p:cNvSpPr txBox="1"/>
          <p:nvPr/>
        </p:nvSpPr>
        <p:spPr>
          <a:xfrm>
            <a:off x="2317439"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574433" y="5995733"/>
            <a:ext cx="128699" cy="187198"/>
          </a:xfrm>
          <a:prstGeom prst="rect">
            <a:avLst/>
          </a:prstGeom>
        </p:spPr>
      </p:pic>
      <p:sp>
        <p:nvSpPr>
          <p:cNvPr id="26" name="TextBox 25"/>
          <p:cNvSpPr txBox="1"/>
          <p:nvPr/>
        </p:nvSpPr>
        <p:spPr>
          <a:xfrm>
            <a:off x="2741929"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501862" y="5995733"/>
            <a:ext cx="128699" cy="187198"/>
          </a:xfrm>
          <a:prstGeom prst="rect">
            <a:avLst/>
          </a:prstGeom>
        </p:spPr>
      </p:pic>
      <p:sp>
        <p:nvSpPr>
          <p:cNvPr id="28" name="TextBox 27"/>
          <p:cNvSpPr txBox="1"/>
          <p:nvPr/>
        </p:nvSpPr>
        <p:spPr>
          <a:xfrm>
            <a:off x="5669358" y="6005512"/>
            <a:ext cx="5681764" cy="186689"/>
          </a:xfrm>
          <a:prstGeom prst="rect">
            <a:avLst/>
          </a:prstGeom>
          <a:noFill/>
        </p:spPr>
        <p:txBody>
          <a:bodyPr wrap="none" lIns="0" rIns="0" tIns="0" bIns="0">
            <a:spAutoFit/>
          </a:bodyPr>
          <a:lstStyle/>
          <a:p>
            <a:r>
              <a:rPr sz="1100" b="0">
                <a:solidFill>
                  <a:srgbClr val="252423"/>
                </a:solidFill>
                <a:latin typeface="Segoe UI"/>
              </a:rPr>
              <a:t>. The lithium iron phosphate (LFP) segment is expected to be less attractive as compared to</a:t>
            </a:r>
          </a:p>
        </p:txBody>
      </p:sp>
      <p:sp>
        <p:nvSpPr>
          <p:cNvPr id="29" name="TextBox 28"/>
          <p:cNvSpPr txBox="1"/>
          <p:nvPr/>
        </p:nvSpPr>
        <p:spPr>
          <a:xfrm>
            <a:off x="257175" y="6173152"/>
            <a:ext cx="10667150" cy="186689"/>
          </a:xfrm>
          <a:prstGeom prst="rect">
            <a:avLst/>
          </a:prstGeom>
          <a:noFill/>
        </p:spPr>
        <p:txBody>
          <a:bodyPr wrap="none" lIns="0" rIns="0" tIns="0" bIns="0">
            <a:spAutoFit/>
          </a:bodyPr>
          <a:lstStyle/>
          <a:p>
            <a:r>
              <a:rPr sz="1100" b="0">
                <a:solidFill>
                  <a:srgbClr val="252423"/>
                </a:solidFill>
                <a:latin typeface="Segoe UI"/>
              </a:rPr>
              <a:t>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Battery Chemistry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Lithium Cobalt Oxide (LCO)</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Lithium Nickel Manganese Cobalt Oxide (NMC)</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Lithium Iron Phosphate (LFP)</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Other Lithium-Ion Cathode Chemistries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Battery Chemistry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Battery Chemistry, 2021–2036, highlighting the sub-segments driving growth</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Battery Chemistry (US$ Mn)</a:t>
            </a:r>
          </a:p>
        </p:txBody>
      </p:sp>
      <p:graphicFrame>
        <p:nvGraphicFramePr>
          <p:cNvPr id="10" name="Table 9"/>
          <p:cNvGraphicFramePr>
            <a:graphicFrameLocks noGrp="1"/>
          </p:cNvGraphicFramePr>
          <p:nvPr/>
        </p:nvGraphicFramePr>
        <p:xfrm>
          <a:off x="152400" y="1238250"/>
          <a:ext cx="11887201" cy="1676401"/>
        </p:xfrm>
        <a:graphic>
          <a:graphicData uri="http://schemas.openxmlformats.org/drawingml/2006/table">
            <a:tbl>
              <a:tblPr>
                <a:tableStyleId>{5C22544A-7EE6-4342-B048-85BDC9FD1C3A}</a:tableStyleId>
              </a:tblPr>
              <a:tblGrid>
                <a:gridCol w="2857058"/>
                <a:gridCol w="541775"/>
                <a:gridCol w="541775"/>
                <a:gridCol w="541775"/>
                <a:gridCol w="541775"/>
                <a:gridCol w="541775"/>
                <a:gridCol w="517118"/>
                <a:gridCol w="517118"/>
                <a:gridCol w="517118"/>
                <a:gridCol w="517118"/>
                <a:gridCol w="517118"/>
                <a:gridCol w="517118"/>
                <a:gridCol w="517118"/>
                <a:gridCol w="517118"/>
                <a:gridCol w="517118"/>
                <a:gridCol w="517118"/>
                <a:gridCol w="517118"/>
                <a:gridCol w="632970"/>
              </a:tblGrid>
              <a:tr h="246126">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86055">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Battery Chemistry</a:t>
            </a:r>
          </a:p>
        </p:txBody>
      </p:sp>
      <p:sp>
        <p:nvSpPr>
          <p:cNvPr id="14" name="Rectangle 13"/>
          <p:cNvSpPr/>
          <p:nvPr/>
        </p:nvSpPr>
        <p:spPr>
          <a:xfrm>
            <a:off x="276225" y="3581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37839" y="1932813"/>
            <a:ext cx="366712" cy="533400"/>
          </a:xfrm>
          <a:prstGeom prst="rect">
            <a:avLst/>
          </a:prstGeom>
        </p:spPr>
      </p:pic>
      <p:sp>
        <p:nvSpPr>
          <p:cNvPr id="18" name="TextBox 17"/>
          <p:cNvSpPr txBox="1"/>
          <p:nvPr/>
        </p:nvSpPr>
        <p:spPr>
          <a:xfrm>
            <a:off x="276225" y="3676650"/>
            <a:ext cx="5128398" cy="194310"/>
          </a:xfrm>
          <a:prstGeom prst="rect">
            <a:avLst/>
          </a:prstGeom>
          <a:noFill/>
        </p:spPr>
        <p:txBody>
          <a:bodyPr wrap="none" lIns="0" rIns="0" tIns="0" bIns="0">
            <a:spAutoFit/>
          </a:bodyPr>
          <a:lstStyle/>
          <a:p>
            <a:r>
              <a:rPr sz="1150" b="0">
                <a:solidFill>
                  <a:srgbClr val="252423"/>
                </a:solidFill>
                <a:latin typeface="Segoe UI"/>
              </a:rPr>
              <a:t>Lithium nickel manganese cobalt oxide (NMC) segment is projected to register</a:t>
            </a:r>
          </a:p>
        </p:txBody>
      </p:sp>
      <p:pic>
        <p:nvPicPr>
          <p:cNvPr id="19" name="Picture 18" descr="lock.png"/>
          <p:cNvPicPr>
            <a:picLocks noChangeAspect="1"/>
          </p:cNvPicPr>
          <p:nvPr/>
        </p:nvPicPr>
        <p:blipFill>
          <a:blip r:embed="rId4"/>
          <a:stretch>
            <a:fillRect/>
          </a:stretch>
        </p:blipFill>
        <p:spPr>
          <a:xfrm>
            <a:off x="5353777" y="3666426"/>
            <a:ext cx="134549" cy="195707"/>
          </a:xfrm>
          <a:prstGeom prst="rect">
            <a:avLst/>
          </a:prstGeom>
        </p:spPr>
      </p:pic>
      <p:sp>
        <p:nvSpPr>
          <p:cNvPr id="20" name="TextBox 19"/>
          <p:cNvSpPr txBox="1"/>
          <p:nvPr/>
        </p:nvSpPr>
        <p:spPr>
          <a:xfrm>
            <a:off x="5528886" y="3676650"/>
            <a:ext cx="6337389" cy="194310"/>
          </a:xfrm>
          <a:prstGeom prst="rect">
            <a:avLst/>
          </a:prstGeom>
          <a:noFill/>
        </p:spPr>
        <p:txBody>
          <a:bodyPr wrap="none" lIns="0" rIns="0" tIns="0" bIns="0">
            <a:spAutoFit/>
          </a:bodyPr>
          <a:lstStyle/>
          <a:p>
            <a:r>
              <a:rPr sz="1150" b="0">
                <a:solidFill>
                  <a:srgbClr val="252423"/>
                </a:solidFill>
                <a:latin typeface="Segoe UI"/>
              </a:rPr>
              <a:t>X higher value than lithium cobalt oxide (LCO) segment in 2036. Among lithium polymer portable</a:t>
            </a:r>
          </a:p>
        </p:txBody>
      </p:sp>
      <p:sp>
        <p:nvSpPr>
          <p:cNvPr id="21" name="TextBox 20"/>
          <p:cNvSpPr txBox="1"/>
          <p:nvPr/>
        </p:nvSpPr>
        <p:spPr>
          <a:xfrm>
            <a:off x="276225" y="3851910"/>
            <a:ext cx="8288530" cy="194310"/>
          </a:xfrm>
          <a:prstGeom prst="rect">
            <a:avLst/>
          </a:prstGeom>
          <a:noFill/>
        </p:spPr>
        <p:txBody>
          <a:bodyPr wrap="none" lIns="0" rIns="0" tIns="0" bIns="0">
            <a:spAutoFit/>
          </a:bodyPr>
          <a:lstStyle/>
          <a:p>
            <a:r>
              <a:rPr sz="1150" b="0">
                <a:solidFill>
                  <a:srgbClr val="252423"/>
                </a:solidFill>
                <a:latin typeface="Segoe UI"/>
              </a:rPr>
              <a:t>energy storage by battery chemistry, other lithium-ion cathode chemistries segment is expected to witness the highest CAGR of</a:t>
            </a:r>
          </a:p>
        </p:txBody>
      </p:sp>
      <p:pic>
        <p:nvPicPr>
          <p:cNvPr id="22" name="Picture 21" descr="lock.png"/>
          <p:cNvPicPr>
            <a:picLocks noChangeAspect="1"/>
          </p:cNvPicPr>
          <p:nvPr/>
        </p:nvPicPr>
        <p:blipFill>
          <a:blip r:embed="rId4"/>
          <a:stretch>
            <a:fillRect/>
          </a:stretch>
        </p:blipFill>
        <p:spPr>
          <a:xfrm>
            <a:off x="8513909" y="3841686"/>
            <a:ext cx="134549" cy="195707"/>
          </a:xfrm>
          <a:prstGeom prst="rect">
            <a:avLst/>
          </a:prstGeom>
        </p:spPr>
      </p:pic>
      <p:sp>
        <p:nvSpPr>
          <p:cNvPr id="23" name="TextBox 22"/>
          <p:cNvSpPr txBox="1"/>
          <p:nvPr/>
        </p:nvSpPr>
        <p:spPr>
          <a:xfrm>
            <a:off x="8689018" y="38519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079747"/>
            <a:ext cx="9625907" cy="194310"/>
          </a:xfrm>
          <a:prstGeom prst="rect">
            <a:avLst/>
          </a:prstGeom>
          <a:noFill/>
        </p:spPr>
        <p:txBody>
          <a:bodyPr wrap="none" lIns="0" rIns="0" tIns="0" bIns="0">
            <a:spAutoFit/>
          </a:bodyPr>
          <a:lstStyle/>
          <a:p>
            <a:r>
              <a:rPr sz="1150" b="0">
                <a:solidFill>
                  <a:srgbClr val="252423"/>
                </a:solidFill>
                <a:latin typeface="Segoe UI"/>
              </a:rPr>
              <a:t>In terms of value share by battery chemistry, the lithium nickel manganese cobalt oxide (NMC) segment is expected to dominate the market, gaining</a:t>
            </a:r>
          </a:p>
        </p:txBody>
      </p:sp>
      <p:pic>
        <p:nvPicPr>
          <p:cNvPr id="25" name="Picture 24" descr="lock.png"/>
          <p:cNvPicPr>
            <a:picLocks noChangeAspect="1"/>
          </p:cNvPicPr>
          <p:nvPr/>
        </p:nvPicPr>
        <p:blipFill>
          <a:blip r:embed="rId4"/>
          <a:stretch>
            <a:fillRect/>
          </a:stretch>
        </p:blipFill>
        <p:spPr>
          <a:xfrm>
            <a:off x="9851286" y="4069524"/>
            <a:ext cx="134549" cy="195707"/>
          </a:xfrm>
          <a:prstGeom prst="rect">
            <a:avLst/>
          </a:prstGeom>
        </p:spPr>
      </p:pic>
      <p:sp>
        <p:nvSpPr>
          <p:cNvPr id="26" name="TextBox 25"/>
          <p:cNvSpPr txBox="1"/>
          <p:nvPr/>
        </p:nvSpPr>
        <p:spPr>
          <a:xfrm>
            <a:off x="10026396" y="40797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262145" y="4244784"/>
            <a:ext cx="134549" cy="195707"/>
          </a:xfrm>
          <a:prstGeom prst="rect">
            <a:avLst/>
          </a:prstGeom>
        </p:spPr>
      </p:pic>
      <p:sp>
        <p:nvSpPr>
          <p:cNvPr id="28" name="TextBox 27"/>
          <p:cNvSpPr txBox="1"/>
          <p:nvPr/>
        </p:nvSpPr>
        <p:spPr>
          <a:xfrm>
            <a:off x="437254" y="4255007"/>
            <a:ext cx="4973893" cy="194310"/>
          </a:xfrm>
          <a:prstGeom prst="rect">
            <a:avLst/>
          </a:prstGeom>
          <a:noFill/>
        </p:spPr>
        <p:txBody>
          <a:bodyPr wrap="none" lIns="0" rIns="0" tIns="0" bIns="0">
            <a:spAutoFit/>
          </a:bodyPr>
          <a:lstStyle/>
          <a:p>
            <a:r>
              <a:rPr sz="1150" b="0">
                <a:solidFill>
                  <a:srgbClr val="252423"/>
                </a:solidFill>
                <a:latin typeface="Segoe UI"/>
              </a:rPr>
              <a:t>share by 2036. The lithium iron phosphate (LFP) segment is expected to lose</a:t>
            </a:r>
          </a:p>
        </p:txBody>
      </p:sp>
      <p:pic>
        <p:nvPicPr>
          <p:cNvPr id="29" name="Picture 28" descr="lock.png"/>
          <p:cNvPicPr>
            <a:picLocks noChangeAspect="1"/>
          </p:cNvPicPr>
          <p:nvPr/>
        </p:nvPicPr>
        <p:blipFill>
          <a:blip r:embed="rId4"/>
          <a:stretch>
            <a:fillRect/>
          </a:stretch>
        </p:blipFill>
        <p:spPr>
          <a:xfrm>
            <a:off x="5360302" y="4244784"/>
            <a:ext cx="134549" cy="195707"/>
          </a:xfrm>
          <a:prstGeom prst="rect">
            <a:avLst/>
          </a:prstGeom>
        </p:spPr>
      </p:pic>
      <p:sp>
        <p:nvSpPr>
          <p:cNvPr id="30" name="TextBox 29"/>
          <p:cNvSpPr txBox="1"/>
          <p:nvPr/>
        </p:nvSpPr>
        <p:spPr>
          <a:xfrm>
            <a:off x="5535411" y="42550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8334797" y="4244784"/>
            <a:ext cx="134549" cy="195707"/>
          </a:xfrm>
          <a:prstGeom prst="rect">
            <a:avLst/>
          </a:prstGeom>
        </p:spPr>
      </p:pic>
      <p:sp>
        <p:nvSpPr>
          <p:cNvPr id="32" name="TextBox 31"/>
          <p:cNvSpPr txBox="1"/>
          <p:nvPr/>
        </p:nvSpPr>
        <p:spPr>
          <a:xfrm>
            <a:off x="8509906" y="42550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Battery Chemistry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Battery Chemistry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96286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95810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8190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Iron Phosphate</a:t>
            </a:r>
          </a:p>
        </p:txBody>
      </p:sp>
      <p:sp>
        <p:nvSpPr>
          <p:cNvPr id="16" name="BPS Value 1"/>
          <p:cNvSpPr txBox="1"/>
          <p:nvPr/>
        </p:nvSpPr>
        <p:spPr>
          <a:xfrm>
            <a:off x="6896100" y="194381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635520"/>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63075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55455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Lithium-Ion Cathode Chemistries</a:t>
            </a:r>
          </a:p>
        </p:txBody>
      </p:sp>
      <p:sp>
        <p:nvSpPr>
          <p:cNvPr id="20" name="BPS Value 2"/>
          <p:cNvSpPr txBox="1"/>
          <p:nvPr/>
        </p:nvSpPr>
        <p:spPr>
          <a:xfrm>
            <a:off x="6896100" y="261647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364771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364295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56675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Cobalt Oxide</a:t>
            </a:r>
          </a:p>
        </p:txBody>
      </p:sp>
      <p:sp>
        <p:nvSpPr>
          <p:cNvPr id="24" name="BPS Value 3"/>
          <p:cNvSpPr txBox="1"/>
          <p:nvPr/>
        </p:nvSpPr>
        <p:spPr>
          <a:xfrm>
            <a:off x="6896100" y="362866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928997" y="5261250"/>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25648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18028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Nickel Manganese Cobalt Oxide</a:t>
            </a:r>
          </a:p>
        </p:txBody>
      </p:sp>
      <p:sp>
        <p:nvSpPr>
          <p:cNvPr id="28" name="BPS Value 4"/>
          <p:cNvSpPr txBox="1"/>
          <p:nvPr/>
        </p:nvSpPr>
        <p:spPr>
          <a:xfrm>
            <a:off x="6896100" y="524220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Battery Chemistry</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94100"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battery</a:t>
            </a:r>
          </a:p>
        </p:txBody>
      </p:sp>
      <p:sp>
        <p:nvSpPr>
          <p:cNvPr id="36" name="TextBox 35"/>
          <p:cNvSpPr txBox="1"/>
          <p:nvPr/>
        </p:nvSpPr>
        <p:spPr>
          <a:xfrm>
            <a:off x="7829550" y="1575435"/>
            <a:ext cx="3925683" cy="194310"/>
          </a:xfrm>
          <a:prstGeom prst="rect">
            <a:avLst/>
          </a:prstGeom>
          <a:noFill/>
        </p:spPr>
        <p:txBody>
          <a:bodyPr wrap="none" lIns="0" rIns="0" tIns="0" bIns="0">
            <a:spAutoFit/>
          </a:bodyPr>
          <a:lstStyle/>
          <a:p>
            <a:r>
              <a:rPr sz="1150" b="0">
                <a:solidFill>
                  <a:srgbClr val="252423"/>
                </a:solidFill>
                <a:latin typeface="Segoe UI"/>
              </a:rPr>
              <a:t>chemistry, other lithium-ion cathode chemistries segment is</a:t>
            </a:r>
          </a:p>
        </p:txBody>
      </p:sp>
      <p:sp>
        <p:nvSpPr>
          <p:cNvPr id="37" name="TextBox 36"/>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8" name="Picture 37" descr="lock.png"/>
          <p:cNvPicPr>
            <a:picLocks noChangeAspect="1"/>
          </p:cNvPicPr>
          <p:nvPr/>
        </p:nvPicPr>
        <p:blipFill>
          <a:blip r:embed="rId5"/>
          <a:stretch>
            <a:fillRect/>
          </a:stretch>
        </p:blipFill>
        <p:spPr>
          <a:xfrm>
            <a:off x="10475709" y="1740471"/>
            <a:ext cx="134549" cy="195707"/>
          </a:xfrm>
          <a:prstGeom prst="rect">
            <a:avLst/>
          </a:prstGeom>
        </p:spPr>
      </p:pic>
      <p:sp>
        <p:nvSpPr>
          <p:cNvPr id="39" name="TextBox 38"/>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40" name="TextBox 39"/>
          <p:cNvSpPr txBox="1"/>
          <p:nvPr/>
        </p:nvSpPr>
        <p:spPr>
          <a:xfrm>
            <a:off x="7829550" y="1925955"/>
            <a:ext cx="3665442" cy="194310"/>
          </a:xfrm>
          <a:prstGeom prst="rect">
            <a:avLst/>
          </a:prstGeom>
          <a:noFill/>
        </p:spPr>
        <p:txBody>
          <a:bodyPr wrap="none" lIns="0" rIns="0" tIns="0" bIns="0">
            <a:spAutoFit/>
          </a:bodyPr>
          <a:lstStyle/>
          <a:p>
            <a:r>
              <a:rPr sz="1150" b="0">
                <a:solidFill>
                  <a:srgbClr val="252423"/>
                </a:solidFill>
                <a:latin typeface="Segoe UI"/>
              </a:rPr>
              <a:t>period. In terms of value share by battery chemistry, the</a:t>
            </a:r>
          </a:p>
        </p:txBody>
      </p:sp>
      <p:sp>
        <p:nvSpPr>
          <p:cNvPr id="41" name="TextBox 40"/>
          <p:cNvSpPr txBox="1"/>
          <p:nvPr/>
        </p:nvSpPr>
        <p:spPr>
          <a:xfrm>
            <a:off x="7829550" y="2101215"/>
            <a:ext cx="3738757" cy="194310"/>
          </a:xfrm>
          <a:prstGeom prst="rect">
            <a:avLst/>
          </a:prstGeom>
          <a:noFill/>
        </p:spPr>
        <p:txBody>
          <a:bodyPr wrap="none" lIns="0" rIns="0" tIns="0" bIns="0">
            <a:spAutoFit/>
          </a:bodyPr>
          <a:lstStyle/>
          <a:p>
            <a:r>
              <a:rPr sz="1150" b="0">
                <a:solidFill>
                  <a:srgbClr val="252423"/>
                </a:solidFill>
                <a:latin typeface="Segoe UI"/>
              </a:rPr>
              <a:t>lithium nickel manganese cobalt oxide (NMC) segment is</a:t>
            </a:r>
          </a:p>
        </p:txBody>
      </p:sp>
      <p:sp>
        <p:nvSpPr>
          <p:cNvPr id="42" name="TextBox 41"/>
          <p:cNvSpPr txBox="1"/>
          <p:nvPr/>
        </p:nvSpPr>
        <p:spPr>
          <a:xfrm>
            <a:off x="7829550" y="2276475"/>
            <a:ext cx="2786014" cy="194310"/>
          </a:xfrm>
          <a:prstGeom prst="rect">
            <a:avLst/>
          </a:prstGeom>
          <a:noFill/>
        </p:spPr>
        <p:txBody>
          <a:bodyPr wrap="none" lIns="0" rIns="0" tIns="0" bIns="0">
            <a:spAutoFit/>
          </a:bodyPr>
          <a:lstStyle/>
          <a:p>
            <a:r>
              <a:rPr sz="1150" b="0">
                <a:solidFill>
                  <a:srgbClr val="252423"/>
                </a:solidFill>
                <a:latin typeface="Segoe UI"/>
              </a:rPr>
              <a:t>expected to dominate the market, gaining</a:t>
            </a:r>
          </a:p>
        </p:txBody>
      </p:sp>
      <p:pic>
        <p:nvPicPr>
          <p:cNvPr id="43" name="Picture 42" descr="lock.png"/>
          <p:cNvPicPr>
            <a:picLocks noChangeAspect="1"/>
          </p:cNvPicPr>
          <p:nvPr/>
        </p:nvPicPr>
        <p:blipFill>
          <a:blip r:embed="rId5"/>
          <a:stretch>
            <a:fillRect/>
          </a:stretch>
        </p:blipFill>
        <p:spPr>
          <a:xfrm>
            <a:off x="10564717" y="2266251"/>
            <a:ext cx="134549" cy="195707"/>
          </a:xfrm>
          <a:prstGeom prst="rect">
            <a:avLst/>
          </a:prstGeom>
        </p:spPr>
      </p:pic>
      <p:sp>
        <p:nvSpPr>
          <p:cNvPr id="44" name="TextBox 43"/>
          <p:cNvSpPr txBox="1"/>
          <p:nvPr/>
        </p:nvSpPr>
        <p:spPr>
          <a:xfrm>
            <a:off x="10739827" y="227647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45" name="TextBox 44"/>
          <p:cNvSpPr txBox="1"/>
          <p:nvPr/>
        </p:nvSpPr>
        <p:spPr>
          <a:xfrm>
            <a:off x="7829550" y="245173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46" name="Picture 45" descr="lock.png"/>
          <p:cNvPicPr>
            <a:picLocks noChangeAspect="1"/>
          </p:cNvPicPr>
          <p:nvPr/>
        </p:nvPicPr>
        <p:blipFill>
          <a:blip r:embed="rId5"/>
          <a:stretch>
            <a:fillRect/>
          </a:stretch>
        </p:blipFill>
        <p:spPr>
          <a:xfrm>
            <a:off x="8791392" y="2441511"/>
            <a:ext cx="134549" cy="195707"/>
          </a:xfrm>
          <a:prstGeom prst="rect">
            <a:avLst/>
          </a:prstGeom>
        </p:spPr>
      </p:pic>
      <p:sp>
        <p:nvSpPr>
          <p:cNvPr id="47" name="TextBox 46"/>
          <p:cNvSpPr txBox="1"/>
          <p:nvPr/>
        </p:nvSpPr>
        <p:spPr>
          <a:xfrm>
            <a:off x="8966501"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4004632" cy="194310"/>
          </a:xfrm>
          <a:prstGeom prst="rect">
            <a:avLst/>
          </a:prstGeom>
          <a:noFill/>
        </p:spPr>
        <p:txBody>
          <a:bodyPr wrap="none" lIns="0" rIns="0" tIns="0" bIns="0">
            <a:spAutoFit/>
          </a:bodyPr>
          <a:lstStyle/>
          <a:p>
            <a:r>
              <a:rPr sz="1150" b="0">
                <a:solidFill>
                  <a:srgbClr val="252423"/>
                </a:solidFill>
                <a:latin typeface="Segoe UI"/>
              </a:rPr>
              <a:t>The lithium iron phosphate (LFP) segment is expected to lose</a:t>
            </a:r>
          </a:p>
        </p:txBody>
      </p:sp>
      <p:pic>
        <p:nvPicPr>
          <p:cNvPr id="49" name="Picture 48" descr="lock.png"/>
          <p:cNvPicPr>
            <a:picLocks noChangeAspect="1"/>
          </p:cNvPicPr>
          <p:nvPr/>
        </p:nvPicPr>
        <p:blipFill>
          <a:blip r:embed="rId5"/>
          <a:stretch>
            <a:fillRect/>
          </a:stretch>
        </p:blipFill>
        <p:spPr>
          <a:xfrm>
            <a:off x="7815470" y="2844609"/>
            <a:ext cx="134549" cy="195707"/>
          </a:xfrm>
          <a:prstGeom prst="rect">
            <a:avLst/>
          </a:prstGeom>
        </p:spPr>
      </p:pic>
      <p:sp>
        <p:nvSpPr>
          <p:cNvPr id="50" name="TextBox 49"/>
          <p:cNvSpPr txBox="1"/>
          <p:nvPr/>
        </p:nvSpPr>
        <p:spPr>
          <a:xfrm>
            <a:off x="7990579"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789965" y="2844609"/>
            <a:ext cx="134549" cy="195707"/>
          </a:xfrm>
          <a:prstGeom prst="rect">
            <a:avLst/>
          </a:prstGeom>
        </p:spPr>
      </p:pic>
      <p:sp>
        <p:nvSpPr>
          <p:cNvPr id="52" name="TextBox 51"/>
          <p:cNvSpPr txBox="1"/>
          <p:nvPr/>
        </p:nvSpPr>
        <p:spPr>
          <a:xfrm>
            <a:off x="10965074" y="2854832"/>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53" name="TextBox 52"/>
          <p:cNvSpPr txBox="1"/>
          <p:nvPr/>
        </p:nvSpPr>
        <p:spPr>
          <a:xfrm>
            <a:off x="7829550" y="3030092"/>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54"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Battery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Battery Configuration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Battery Configuration,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Battery Configuration segment categorizes the market by battery configuration.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Integrated Portable Energy Storag…</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Standalone Battery Packs</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Battery Configuration split shows how demand is distributed across battery configuration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342_2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_141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12_8__605E5C.png"/>
          <p:cNvPicPr>
            <a:picLocks noChangeAspect="1"/>
          </p:cNvPicPr>
          <p:nvPr/>
        </p:nvPicPr>
        <p:blipFill>
          <a:blip r:embed="rId6"/>
          <a:stretch>
            <a:fillRect/>
          </a:stretch>
        </p:blipFill>
        <p:spPr>
          <a:xfrm>
            <a:off x="3740773" y="3272281"/>
            <a:ext cx="1195728" cy="361950"/>
          </a:xfrm>
          <a:prstGeom prst="rect">
            <a:avLst/>
          </a:prstGeom>
        </p:spPr>
      </p:pic>
      <p:pic>
        <p:nvPicPr>
          <p:cNvPr id="50" name="Picture 49" descr="307_9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808_6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10_1__605E5C.png"/>
          <p:cNvPicPr>
            <a:picLocks noChangeAspect="1"/>
          </p:cNvPicPr>
          <p:nvPr/>
        </p:nvPicPr>
        <p:blipFill>
          <a:blip r:embed="rId9"/>
          <a:stretch>
            <a:fillRect/>
          </a:stretch>
        </p:blipFill>
        <p:spPr>
          <a:xfrm>
            <a:off x="8798548" y="3272281"/>
            <a:ext cx="1195728"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56" name="TextBox 55"/>
          <p:cNvSpPr txBox="1"/>
          <p:nvPr/>
        </p:nvSpPr>
        <p:spPr>
          <a:xfrm>
            <a:off x="485775" y="4383665"/>
            <a:ext cx="2612105" cy="173278"/>
          </a:xfrm>
          <a:prstGeom prst="rect">
            <a:avLst/>
          </a:prstGeom>
          <a:noFill/>
        </p:spPr>
        <p:txBody>
          <a:bodyPr wrap="none" lIns="0" rIns="0" tIns="0" bIns="0">
            <a:spAutoFit/>
          </a:bodyPr>
          <a:lstStyle/>
          <a:p>
            <a:r>
              <a:rPr sz="1011" b="0">
                <a:solidFill>
                  <a:srgbClr val="252423"/>
                </a:solidFill>
                <a:latin typeface="Segoe UI"/>
              </a:rPr>
              <a:t>by battery configuration, integrated portable</a:t>
            </a:r>
          </a:p>
        </p:txBody>
      </p:sp>
      <p:sp>
        <p:nvSpPr>
          <p:cNvPr id="57" name="TextBox 56"/>
          <p:cNvSpPr txBox="1"/>
          <p:nvPr/>
        </p:nvSpPr>
        <p:spPr>
          <a:xfrm>
            <a:off x="485775" y="4537894"/>
            <a:ext cx="2763064" cy="173278"/>
          </a:xfrm>
          <a:prstGeom prst="rect">
            <a:avLst/>
          </a:prstGeom>
          <a:noFill/>
        </p:spPr>
        <p:txBody>
          <a:bodyPr wrap="none" lIns="0" rIns="0" tIns="0" bIns="0">
            <a:spAutoFit/>
          </a:bodyPr>
          <a:lstStyle/>
          <a:p>
            <a:r>
              <a:rPr sz="1011" b="0">
                <a:solidFill>
                  <a:srgbClr val="252423"/>
                </a:solidFill>
                <a:latin typeface="Segoe UI"/>
              </a:rPr>
              <a:t>energy storage systems segment is expected to</a:t>
            </a:r>
          </a:p>
        </p:txBody>
      </p:sp>
      <p:sp>
        <p:nvSpPr>
          <p:cNvPr id="58" name="TextBox 57"/>
          <p:cNvSpPr txBox="1"/>
          <p:nvPr/>
        </p:nvSpPr>
        <p:spPr>
          <a:xfrm>
            <a:off x="485775" y="4692123"/>
            <a:ext cx="1677917" cy="173278"/>
          </a:xfrm>
          <a:prstGeom prst="rect">
            <a:avLst/>
          </a:prstGeom>
          <a:noFill/>
        </p:spPr>
        <p:txBody>
          <a:bodyPr wrap="none" lIns="0" rIns="0" tIns="0" bIns="0">
            <a:spAutoFit/>
          </a:bodyPr>
          <a:lstStyle/>
          <a:p>
            <a:r>
              <a:rPr sz="1011" b="0">
                <a:solidFill>
                  <a:srgbClr val="252423"/>
                </a:solidFill>
                <a:latin typeface="Segoe UI"/>
              </a:rPr>
              <a:t>witness the highest CAGR of</a:t>
            </a:r>
          </a:p>
        </p:txBody>
      </p:sp>
      <p:pic>
        <p:nvPicPr>
          <p:cNvPr id="59" name="Picture 58" descr="lock.png"/>
          <p:cNvPicPr>
            <a:picLocks noChangeAspect="1"/>
          </p:cNvPicPr>
          <p:nvPr/>
        </p:nvPicPr>
        <p:blipFill>
          <a:blip r:embed="rId10"/>
          <a:stretch>
            <a:fillRect/>
          </a:stretch>
        </p:blipFill>
        <p:spPr>
          <a:xfrm>
            <a:off x="2109804" y="4683126"/>
            <a:ext cx="118403" cy="172222"/>
          </a:xfrm>
          <a:prstGeom prst="rect">
            <a:avLst/>
          </a:prstGeom>
        </p:spPr>
      </p:pic>
      <p:sp>
        <p:nvSpPr>
          <p:cNvPr id="60" name="TextBox 59"/>
          <p:cNvSpPr txBox="1"/>
          <p:nvPr/>
        </p:nvSpPr>
        <p:spPr>
          <a:xfrm>
            <a:off x="2263900" y="4692123"/>
            <a:ext cx="1029547" cy="173278"/>
          </a:xfrm>
          <a:prstGeom prst="rect">
            <a:avLst/>
          </a:prstGeom>
          <a:noFill/>
        </p:spPr>
        <p:txBody>
          <a:bodyPr wrap="none" lIns="0" rIns="0" tIns="0" bIns="0">
            <a:spAutoFit/>
          </a:bodyPr>
          <a:lstStyle/>
          <a:p>
            <a:r>
              <a:rPr sz="1011" b="0">
                <a:solidFill>
                  <a:srgbClr val="252423"/>
                </a:solidFill>
                <a:latin typeface="Segoe UI"/>
              </a:rPr>
              <a:t>over the forecast</a:t>
            </a:r>
          </a:p>
        </p:txBody>
      </p:sp>
      <p:sp>
        <p:nvSpPr>
          <p:cNvPr id="61" name="TextBox 60"/>
          <p:cNvSpPr txBox="1"/>
          <p:nvPr/>
        </p:nvSpPr>
        <p:spPr>
          <a:xfrm>
            <a:off x="485775" y="4846352"/>
            <a:ext cx="2406372" cy="173278"/>
          </a:xfrm>
          <a:prstGeom prst="rect">
            <a:avLst/>
          </a:prstGeom>
          <a:noFill/>
        </p:spPr>
        <p:txBody>
          <a:bodyPr wrap="none" lIns="0" rIns="0" tIns="0" bIns="0">
            <a:spAutoFit/>
          </a:bodyPr>
          <a:lstStyle/>
          <a:p>
            <a:r>
              <a:rPr sz="1011" b="0">
                <a:solidFill>
                  <a:srgbClr val="252423"/>
                </a:solidFill>
                <a:latin typeface="Segoe UI"/>
              </a:rPr>
              <a:t>period. In terms of value share by battery</a:t>
            </a:r>
          </a:p>
        </p:txBody>
      </p:sp>
      <p:sp>
        <p:nvSpPr>
          <p:cNvPr id="62" name="TextBox 61"/>
          <p:cNvSpPr txBox="1"/>
          <p:nvPr/>
        </p:nvSpPr>
        <p:spPr>
          <a:xfrm>
            <a:off x="485775" y="5000581"/>
            <a:ext cx="2645424" cy="173278"/>
          </a:xfrm>
          <a:prstGeom prst="rect">
            <a:avLst/>
          </a:prstGeom>
          <a:noFill/>
        </p:spPr>
        <p:txBody>
          <a:bodyPr wrap="none" lIns="0" rIns="0" tIns="0" bIns="0">
            <a:spAutoFit/>
          </a:bodyPr>
          <a:lstStyle/>
          <a:p>
            <a:r>
              <a:rPr sz="1011" b="0">
                <a:solidFill>
                  <a:srgbClr val="252423"/>
                </a:solidFill>
                <a:latin typeface="Segoe UI"/>
              </a:rPr>
              <a:t>configuration, the integrated portable energy</a:t>
            </a:r>
          </a:p>
        </p:txBody>
      </p:sp>
      <p:sp>
        <p:nvSpPr>
          <p:cNvPr id="63" name="TextBox 62"/>
          <p:cNvSpPr txBox="1"/>
          <p:nvPr/>
        </p:nvSpPr>
        <p:spPr>
          <a:xfrm>
            <a:off x="485775" y="5154809"/>
            <a:ext cx="2914650" cy="173278"/>
          </a:xfrm>
          <a:prstGeom prst="rect">
            <a:avLst/>
          </a:prstGeom>
          <a:noFill/>
        </p:spPr>
        <p:txBody>
          <a:bodyPr wrap="none" lIns="0" rIns="0" tIns="0" bIns="0">
            <a:spAutoFit/>
          </a:bodyPr>
          <a:lstStyle/>
          <a:p>
            <a:r>
              <a:rPr sz="1011" b="0">
                <a:solidFill>
                  <a:srgbClr val="252423"/>
                </a:solidFill>
                <a:latin typeface="Segoe UI"/>
              </a:rPr>
              <a:t>storage systems segment is expected to dominate</a:t>
            </a:r>
          </a:p>
        </p:txBody>
      </p:sp>
      <p:sp>
        <p:nvSpPr>
          <p:cNvPr id="64" name="TextBox 63"/>
          <p:cNvSpPr txBox="1"/>
          <p:nvPr/>
        </p:nvSpPr>
        <p:spPr>
          <a:xfrm>
            <a:off x="485775" y="5309038"/>
            <a:ext cx="1178906" cy="173278"/>
          </a:xfrm>
          <a:prstGeom prst="rect">
            <a:avLst/>
          </a:prstGeom>
          <a:noFill/>
        </p:spPr>
        <p:txBody>
          <a:bodyPr wrap="none" lIns="0" rIns="0" tIns="0" bIns="0">
            <a:spAutoFit/>
          </a:bodyPr>
          <a:lstStyle/>
          <a:p>
            <a:r>
              <a:rPr sz="1011" b="0">
                <a:solidFill>
                  <a:srgbClr val="252423"/>
                </a:solidFill>
                <a:latin typeface="Segoe UI"/>
              </a:rPr>
              <a:t>the market, gaining</a:t>
            </a:r>
          </a:p>
        </p:txBody>
      </p:sp>
      <p:pic>
        <p:nvPicPr>
          <p:cNvPr id="65" name="Picture 64" descr="lock.png"/>
          <p:cNvPicPr>
            <a:picLocks noChangeAspect="1"/>
          </p:cNvPicPr>
          <p:nvPr/>
        </p:nvPicPr>
        <p:blipFill>
          <a:blip r:embed="rId10"/>
          <a:stretch>
            <a:fillRect/>
          </a:stretch>
        </p:blipFill>
        <p:spPr>
          <a:xfrm>
            <a:off x="1610793" y="5300041"/>
            <a:ext cx="118403" cy="172222"/>
          </a:xfrm>
          <a:prstGeom prst="rect">
            <a:avLst/>
          </a:prstGeom>
        </p:spPr>
      </p:pic>
      <p:sp>
        <p:nvSpPr>
          <p:cNvPr id="66" name="TextBox 65"/>
          <p:cNvSpPr txBox="1"/>
          <p:nvPr/>
        </p:nvSpPr>
        <p:spPr>
          <a:xfrm>
            <a:off x="1764889" y="5309038"/>
            <a:ext cx="1398842" cy="173278"/>
          </a:xfrm>
          <a:prstGeom prst="rect">
            <a:avLst/>
          </a:prstGeom>
          <a:noFill/>
        </p:spPr>
        <p:txBody>
          <a:bodyPr wrap="none" lIns="0" rIns="0" tIns="0" bIns="0">
            <a:spAutoFit/>
          </a:bodyPr>
          <a:lstStyle/>
          <a:p>
            <a:r>
              <a:rPr sz="1011" b="0">
                <a:solidFill>
                  <a:srgbClr val="252423"/>
                </a:solidFill>
                <a:latin typeface="Segoe UI"/>
              </a:rPr>
              <a:t>BPS and accounting for</a:t>
            </a:r>
          </a:p>
        </p:txBody>
      </p:sp>
      <p:pic>
        <p:nvPicPr>
          <p:cNvPr id="67" name="Picture 66" descr="lock.png"/>
          <p:cNvPicPr>
            <a:picLocks noChangeAspect="1"/>
          </p:cNvPicPr>
          <p:nvPr/>
        </p:nvPicPr>
        <p:blipFill>
          <a:blip r:embed="rId10"/>
          <a:stretch>
            <a:fillRect/>
          </a:stretch>
        </p:blipFill>
        <p:spPr>
          <a:xfrm>
            <a:off x="473384" y="5454270"/>
            <a:ext cx="118403" cy="172222"/>
          </a:xfrm>
          <a:prstGeom prst="rect">
            <a:avLst/>
          </a:prstGeom>
        </p:spPr>
      </p:pic>
      <p:sp>
        <p:nvSpPr>
          <p:cNvPr id="68" name="TextBox 67"/>
          <p:cNvSpPr txBox="1"/>
          <p:nvPr/>
        </p:nvSpPr>
        <p:spPr>
          <a:xfrm>
            <a:off x="627481" y="5463267"/>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69" name="TextBox 68"/>
          <p:cNvSpPr txBox="1"/>
          <p:nvPr/>
        </p:nvSpPr>
        <p:spPr>
          <a:xfrm>
            <a:off x="485775" y="5663764"/>
            <a:ext cx="2550255" cy="173278"/>
          </a:xfrm>
          <a:prstGeom prst="rect">
            <a:avLst/>
          </a:prstGeom>
          <a:noFill/>
        </p:spPr>
        <p:txBody>
          <a:bodyPr wrap="none" lIns="0" rIns="0" tIns="0" bIns="0">
            <a:spAutoFit/>
          </a:bodyPr>
          <a:lstStyle/>
          <a:p>
            <a:r>
              <a:rPr sz="1011" b="0">
                <a:solidFill>
                  <a:srgbClr val="252423"/>
                </a:solidFill>
                <a:latin typeface="Segoe UI"/>
              </a:rPr>
              <a:t>Integrated portable energy storage systems</a:t>
            </a:r>
          </a:p>
        </p:txBody>
      </p:sp>
      <p:sp>
        <p:nvSpPr>
          <p:cNvPr id="70" name="TextBox 69"/>
          <p:cNvSpPr txBox="1"/>
          <p:nvPr/>
        </p:nvSpPr>
        <p:spPr>
          <a:xfrm>
            <a:off x="485775" y="5817993"/>
            <a:ext cx="1882462" cy="173278"/>
          </a:xfrm>
          <a:prstGeom prst="rect">
            <a:avLst/>
          </a:prstGeom>
          <a:noFill/>
        </p:spPr>
        <p:txBody>
          <a:bodyPr wrap="none" lIns="0" rIns="0" tIns="0" bIns="0">
            <a:spAutoFit/>
          </a:bodyPr>
          <a:lstStyle/>
          <a:p>
            <a:r>
              <a:rPr sz="1011" b="0">
                <a:solidFill>
                  <a:srgbClr val="252423"/>
                </a:solidFill>
                <a:latin typeface="Segoe UI"/>
              </a:rPr>
              <a:t>segment is projected to register</a:t>
            </a:r>
          </a:p>
        </p:txBody>
      </p:sp>
      <p:pic>
        <p:nvPicPr>
          <p:cNvPr id="71" name="Picture 70" descr="lock.png"/>
          <p:cNvPicPr>
            <a:picLocks noChangeAspect="1"/>
          </p:cNvPicPr>
          <p:nvPr/>
        </p:nvPicPr>
        <p:blipFill>
          <a:blip r:embed="rId10"/>
          <a:stretch>
            <a:fillRect/>
          </a:stretch>
        </p:blipFill>
        <p:spPr>
          <a:xfrm>
            <a:off x="2314349" y="5808996"/>
            <a:ext cx="118403" cy="172222"/>
          </a:xfrm>
          <a:prstGeom prst="rect">
            <a:avLst/>
          </a:prstGeom>
        </p:spPr>
      </p:pic>
      <p:sp>
        <p:nvSpPr>
          <p:cNvPr id="72" name="TextBox 71"/>
          <p:cNvSpPr txBox="1"/>
          <p:nvPr/>
        </p:nvSpPr>
        <p:spPr>
          <a:xfrm>
            <a:off x="2468445" y="5817993"/>
            <a:ext cx="884962" cy="173278"/>
          </a:xfrm>
          <a:prstGeom prst="rect">
            <a:avLst/>
          </a:prstGeom>
          <a:noFill/>
        </p:spPr>
        <p:txBody>
          <a:bodyPr wrap="none" lIns="0" rIns="0" tIns="0" bIns="0">
            <a:spAutoFit/>
          </a:bodyPr>
          <a:lstStyle/>
          <a:p>
            <a:r>
              <a:rPr sz="1011" b="0">
                <a:solidFill>
                  <a:srgbClr val="252423"/>
                </a:solidFill>
                <a:latin typeface="Segoe UI"/>
              </a:rPr>
              <a:t>X higher value</a:t>
            </a:r>
          </a:p>
        </p:txBody>
      </p:sp>
      <p:sp>
        <p:nvSpPr>
          <p:cNvPr id="73" name="TextBox 72"/>
          <p:cNvSpPr txBox="1"/>
          <p:nvPr/>
        </p:nvSpPr>
        <p:spPr>
          <a:xfrm>
            <a:off x="485775" y="5972222"/>
            <a:ext cx="2788771" cy="173278"/>
          </a:xfrm>
          <a:prstGeom prst="rect">
            <a:avLst/>
          </a:prstGeom>
          <a:noFill/>
        </p:spPr>
        <p:txBody>
          <a:bodyPr wrap="none" lIns="0" rIns="0" tIns="0" bIns="0">
            <a:spAutoFit/>
          </a:bodyPr>
          <a:lstStyle/>
          <a:p>
            <a:r>
              <a:rPr sz="1011" b="0">
                <a:solidFill>
                  <a:srgbClr val="252423"/>
                </a:solidFill>
                <a:latin typeface="Segoe UI"/>
              </a:rPr>
              <a:t>than standalone battery packs segment in 2036.</a:t>
            </a:r>
          </a:p>
        </p:txBody>
      </p:sp>
      <p:sp>
        <p:nvSpPr>
          <p:cNvPr id="74" name="TextBox 73"/>
          <p:cNvSpPr txBox="1"/>
          <p:nvPr/>
        </p:nvSpPr>
        <p:spPr>
          <a:xfrm>
            <a:off x="3838575" y="4229437"/>
            <a:ext cx="2941725" cy="186689"/>
          </a:xfrm>
          <a:prstGeom prst="rect">
            <a:avLst/>
          </a:prstGeom>
          <a:noFill/>
        </p:spPr>
        <p:txBody>
          <a:bodyPr wrap="none" lIns="0" rIns="0" tIns="0" bIns="0">
            <a:spAutoFit/>
          </a:bodyPr>
          <a:lstStyle/>
          <a:p>
            <a:r>
              <a:rPr sz="1100" b="0">
                <a:solidFill>
                  <a:srgbClr val="252423"/>
                </a:solidFill>
                <a:latin typeface="Segoe UI"/>
              </a:rPr>
              <a:t>● Integrated Portable Energy Storage Systems:</a:t>
            </a:r>
          </a:p>
        </p:txBody>
      </p:sp>
      <p:pic>
        <p:nvPicPr>
          <p:cNvPr id="75" name="Picture 74" descr="lock.png"/>
          <p:cNvPicPr>
            <a:picLocks noChangeAspect="1"/>
          </p:cNvPicPr>
          <p:nvPr/>
        </p:nvPicPr>
        <p:blipFill>
          <a:blip r:embed="rId10"/>
          <a:stretch>
            <a:fillRect/>
          </a:stretch>
        </p:blipFill>
        <p:spPr>
          <a:xfrm>
            <a:off x="6728352" y="4219658"/>
            <a:ext cx="128699" cy="187198"/>
          </a:xfrm>
          <a:prstGeom prst="rect">
            <a:avLst/>
          </a:prstGeom>
        </p:spPr>
      </p:pic>
      <p:sp>
        <p:nvSpPr>
          <p:cNvPr id="76" name="TextBox 75"/>
          <p:cNvSpPr txBox="1"/>
          <p:nvPr/>
        </p:nvSpPr>
        <p:spPr>
          <a:xfrm>
            <a:off x="6895847"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7" name="Picture 76" descr="lock.png"/>
          <p:cNvPicPr>
            <a:picLocks noChangeAspect="1"/>
          </p:cNvPicPr>
          <p:nvPr/>
        </p:nvPicPr>
        <p:blipFill>
          <a:blip r:embed="rId10"/>
          <a:stretch>
            <a:fillRect/>
          </a:stretch>
        </p:blipFill>
        <p:spPr>
          <a:xfrm>
            <a:off x="3825107" y="4387298"/>
            <a:ext cx="128699" cy="187198"/>
          </a:xfrm>
          <a:prstGeom prst="rect">
            <a:avLst/>
          </a:prstGeom>
        </p:spPr>
      </p:pic>
      <p:sp>
        <p:nvSpPr>
          <p:cNvPr id="78" name="TextBox 77"/>
          <p:cNvSpPr txBox="1"/>
          <p:nvPr/>
        </p:nvSpPr>
        <p:spPr>
          <a:xfrm>
            <a:off x="3992603"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79" name="TextBox 78"/>
          <p:cNvSpPr txBox="1"/>
          <p:nvPr/>
        </p:nvSpPr>
        <p:spPr>
          <a:xfrm>
            <a:off x="3838575" y="4615009"/>
            <a:ext cx="1777638" cy="186689"/>
          </a:xfrm>
          <a:prstGeom prst="rect">
            <a:avLst/>
          </a:prstGeom>
          <a:noFill/>
        </p:spPr>
        <p:txBody>
          <a:bodyPr wrap="none" lIns="0" rIns="0" tIns="0" bIns="0">
            <a:spAutoFit/>
          </a:bodyPr>
          <a:lstStyle/>
          <a:p>
            <a:r>
              <a:rPr sz="1100" b="0">
                <a:solidFill>
                  <a:srgbClr val="252423"/>
                </a:solidFill>
                <a:latin typeface="Segoe UI"/>
              </a:rPr>
              <a:t>● Standalone Battery Packs:</a:t>
            </a:r>
          </a:p>
        </p:txBody>
      </p:sp>
      <p:pic>
        <p:nvPicPr>
          <p:cNvPr id="80" name="Picture 79" descr="lock.png"/>
          <p:cNvPicPr>
            <a:picLocks noChangeAspect="1"/>
          </p:cNvPicPr>
          <p:nvPr/>
        </p:nvPicPr>
        <p:blipFill>
          <a:blip r:embed="rId10"/>
          <a:stretch>
            <a:fillRect/>
          </a:stretch>
        </p:blipFill>
        <p:spPr>
          <a:xfrm>
            <a:off x="5564264" y="4605230"/>
            <a:ext cx="128699" cy="187198"/>
          </a:xfrm>
          <a:prstGeom prst="rect">
            <a:avLst/>
          </a:prstGeom>
        </p:spPr>
      </p:pic>
      <p:sp>
        <p:nvSpPr>
          <p:cNvPr id="81" name="TextBox 80"/>
          <p:cNvSpPr txBox="1"/>
          <p:nvPr/>
        </p:nvSpPr>
        <p:spPr>
          <a:xfrm>
            <a:off x="5731760"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6651707" y="4605230"/>
            <a:ext cx="128699" cy="187198"/>
          </a:xfrm>
          <a:prstGeom prst="rect">
            <a:avLst/>
          </a:prstGeom>
        </p:spPr>
      </p:pic>
      <p:sp>
        <p:nvSpPr>
          <p:cNvPr id="83" name="TextBox 82"/>
          <p:cNvSpPr txBox="1"/>
          <p:nvPr/>
        </p:nvSpPr>
        <p:spPr>
          <a:xfrm>
            <a:off x="6819203" y="4615009"/>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84" name="TextBox 83"/>
          <p:cNvSpPr txBox="1"/>
          <p:nvPr/>
        </p:nvSpPr>
        <p:spPr>
          <a:xfrm>
            <a:off x="3838575" y="4782649"/>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85" name="TextBox 84"/>
          <p:cNvSpPr txBox="1"/>
          <p:nvPr/>
        </p:nvSpPr>
        <p:spPr>
          <a:xfrm>
            <a:off x="8524875" y="5849651"/>
            <a:ext cx="3162300" cy="187299"/>
          </a:xfrm>
          <a:prstGeom prst="rect">
            <a:avLst/>
          </a:prstGeom>
          <a:noFill/>
        </p:spPr>
        <p:txBody>
          <a:bodyPr wrap="none" lIns="0" rIns="0" tIns="0" bIns="0">
            <a:spAutoFit/>
          </a:bodyPr>
          <a:lstStyle/>
          <a:p>
            <a:r>
              <a:rPr sz="1104" b="1">
                <a:solidFill>
                  <a:srgbClr val="0E3A5F"/>
                </a:solidFill>
                <a:latin typeface="Segoe UI"/>
              </a:rPr>
              <a:t>The Battery Configuration segment is projected</a:t>
            </a:r>
          </a:p>
        </p:txBody>
      </p:sp>
      <p:sp>
        <p:nvSpPr>
          <p:cNvPr id="86" name="TextBox 85"/>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87" name="Picture 86" descr="lock.png"/>
          <p:cNvPicPr>
            <a:picLocks noChangeAspect="1"/>
          </p:cNvPicPr>
          <p:nvPr/>
        </p:nvPicPr>
        <p:blipFill>
          <a:blip r:embed="rId10"/>
          <a:stretch>
            <a:fillRect/>
          </a:stretch>
        </p:blipFill>
        <p:spPr>
          <a:xfrm>
            <a:off x="9944923" y="6008086"/>
            <a:ext cx="129166" cy="187878"/>
          </a:xfrm>
          <a:prstGeom prst="rect">
            <a:avLst/>
          </a:prstGeom>
        </p:spPr>
      </p:pic>
      <p:sp>
        <p:nvSpPr>
          <p:cNvPr id="88" name="TextBox 87"/>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Battery Configuration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Battery Configuration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Configuration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Battery Configuration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551692" cy="186689"/>
          </a:xfrm>
          <a:prstGeom prst="rect">
            <a:avLst/>
          </a:prstGeom>
          <a:noFill/>
        </p:spPr>
        <p:txBody>
          <a:bodyPr wrap="none" lIns="0" rIns="0" tIns="0" bIns="0">
            <a:spAutoFit/>
          </a:bodyPr>
          <a:lstStyle/>
          <a:p>
            <a:r>
              <a:rPr sz="1100" b="0">
                <a:solidFill>
                  <a:srgbClr val="252423"/>
                </a:solidFill>
                <a:latin typeface="Segoe UI"/>
              </a:rPr>
              <a:t>Integrated portable energy storage systems followed by standalone battery packs are expected to be the two most attractive battery configuration segments in the global lithium polymer</a:t>
            </a:r>
          </a:p>
        </p:txBody>
      </p:sp>
      <p:sp>
        <p:nvSpPr>
          <p:cNvPr id="18" name="TextBox 17"/>
          <p:cNvSpPr txBox="1"/>
          <p:nvPr/>
        </p:nvSpPr>
        <p:spPr>
          <a:xfrm>
            <a:off x="257175" y="5945505"/>
            <a:ext cx="10703785" cy="186689"/>
          </a:xfrm>
          <a:prstGeom prst="rect">
            <a:avLst/>
          </a:prstGeom>
          <a:noFill/>
        </p:spPr>
        <p:txBody>
          <a:bodyPr wrap="none" lIns="0" rIns="0" tIns="0" bIns="0">
            <a:spAutoFit/>
          </a:bodyPr>
          <a:lstStyle/>
          <a:p>
            <a:r>
              <a:rPr sz="1100" b="0">
                <a:solidFill>
                  <a:srgbClr val="252423"/>
                </a:solidFill>
                <a:latin typeface="Segoe UI"/>
              </a:rPr>
              <a:t>portable energy storage market in terms of value over the forecast period. Integrated portable energy storage systems and standalone battery packs exhibit a CAGR index of</a:t>
            </a:r>
          </a:p>
        </p:txBody>
      </p:sp>
      <p:pic>
        <p:nvPicPr>
          <p:cNvPr id="19" name="Picture 18" descr="lock.png"/>
          <p:cNvPicPr>
            <a:picLocks noChangeAspect="1"/>
          </p:cNvPicPr>
          <p:nvPr/>
        </p:nvPicPr>
        <p:blipFill>
          <a:blip r:embed="rId6"/>
          <a:stretch>
            <a:fillRect/>
          </a:stretch>
        </p:blipFill>
        <p:spPr>
          <a:xfrm>
            <a:off x="10909012" y="5935726"/>
            <a:ext cx="128699" cy="187198"/>
          </a:xfrm>
          <a:prstGeom prst="rect">
            <a:avLst/>
          </a:prstGeom>
        </p:spPr>
      </p:pic>
      <p:sp>
        <p:nvSpPr>
          <p:cNvPr id="20" name="TextBox 19"/>
          <p:cNvSpPr txBox="1"/>
          <p:nvPr/>
        </p:nvSpPr>
        <p:spPr>
          <a:xfrm>
            <a:off x="11076507"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1333501" y="5935726"/>
            <a:ext cx="128699" cy="187198"/>
          </a:xfrm>
          <a:prstGeom prst="rect">
            <a:avLst/>
          </a:prstGeom>
        </p:spPr>
      </p:pic>
      <p:sp>
        <p:nvSpPr>
          <p:cNvPr id="22" name="TextBox 21"/>
          <p:cNvSpPr txBox="1"/>
          <p:nvPr/>
        </p:nvSpPr>
        <p:spPr>
          <a:xfrm>
            <a:off x="257175" y="611314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995914" y="6103366"/>
            <a:ext cx="128699" cy="187198"/>
          </a:xfrm>
          <a:prstGeom prst="rect">
            <a:avLst/>
          </a:prstGeom>
        </p:spPr>
      </p:pic>
      <p:sp>
        <p:nvSpPr>
          <p:cNvPr id="24" name="TextBox 23"/>
          <p:cNvSpPr txBox="1"/>
          <p:nvPr/>
        </p:nvSpPr>
        <p:spPr>
          <a:xfrm>
            <a:off x="2163410"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420404" y="6103366"/>
            <a:ext cx="128699" cy="187198"/>
          </a:xfrm>
          <a:prstGeom prst="rect">
            <a:avLst/>
          </a:prstGeom>
        </p:spPr>
      </p:pic>
      <p:sp>
        <p:nvSpPr>
          <p:cNvPr id="26" name="TextBox 25"/>
          <p:cNvSpPr txBox="1"/>
          <p:nvPr/>
        </p:nvSpPr>
        <p:spPr>
          <a:xfrm>
            <a:off x="2587900"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347834" y="6103366"/>
            <a:ext cx="128699" cy="187198"/>
          </a:xfrm>
          <a:prstGeom prst="rect">
            <a:avLst/>
          </a:prstGeom>
        </p:spPr>
      </p:pic>
      <p:sp>
        <p:nvSpPr>
          <p:cNvPr id="28" name="TextBox 27"/>
          <p:cNvSpPr txBox="1"/>
          <p:nvPr/>
        </p:nvSpPr>
        <p:spPr>
          <a:xfrm>
            <a:off x="5515330"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29"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Battery Configuration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Standalone Battery Packs</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Integrated Portable Energy Storage Systems</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Battery Configuration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Battery Configuration,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Battery Configuration (US$ Mn)</a:t>
            </a:r>
          </a:p>
        </p:txBody>
      </p:sp>
      <p:graphicFrame>
        <p:nvGraphicFramePr>
          <p:cNvPr id="10" name="Table 9"/>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3130311"/>
                <a:gridCol w="525765"/>
                <a:gridCol w="525765"/>
                <a:gridCol w="525765"/>
                <a:gridCol w="525765"/>
                <a:gridCol w="525765"/>
                <a:gridCol w="500959"/>
                <a:gridCol w="500959"/>
                <a:gridCol w="500959"/>
                <a:gridCol w="500959"/>
                <a:gridCol w="500959"/>
                <a:gridCol w="500959"/>
                <a:gridCol w="500959"/>
                <a:gridCol w="500959"/>
                <a:gridCol w="500959"/>
                <a:gridCol w="500959"/>
                <a:gridCol w="500959"/>
                <a:gridCol w="617509"/>
              </a:tblGrid>
              <a:tr h="246126">
                <a:tc>
                  <a:txBody>
                    <a:bodyPr wrap="none"/>
                    <a:lstStyle/>
                    <a:p>
                      <a:pPr algn="l"/>
                      <a:r>
                        <a:rPr sz="1100" b="1">
                          <a:solidFill>
                            <a:srgbClr val="FFFFFF"/>
                          </a:solidFill>
                          <a:latin typeface="Segoe UI"/>
                        </a:rPr>
                        <a:t>Battery Configuration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8158">
                <a:tc>
                  <a:txBody>
                    <a:bodyPr wrap="none"/>
                    <a:lstStyle/>
                    <a:p>
                      <a:pPr algn="l"/>
                      <a:r>
                        <a:rPr sz="1100" b="1">
                          <a:solidFill>
                            <a:srgbClr val="252423"/>
                          </a:solidFill>
                          <a:latin typeface="Segoe UI"/>
                        </a:rPr>
                        <a:t>Standalone Battery Packs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8158">
                <a:tc>
                  <a:txBody>
                    <a:bodyPr wrap="none"/>
                    <a:lstStyle/>
                    <a:p>
                      <a:pPr algn="l"/>
                      <a:r>
                        <a:rPr sz="1100" b="1">
                          <a:solidFill>
                            <a:srgbClr val="252423"/>
                          </a:solidFill>
                          <a:latin typeface="Segoe UI"/>
                        </a:rPr>
                        <a:t>Integrated Portable Energy Storage Systems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650.0</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1,950</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11.6%</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Battery Configuration</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76166" y="1592347"/>
            <a:ext cx="363364" cy="528530"/>
          </a:xfrm>
          <a:prstGeom prst="rect">
            <a:avLst/>
          </a:prstGeom>
        </p:spPr>
      </p:pic>
      <p:sp>
        <p:nvSpPr>
          <p:cNvPr id="18" name="TextBox 17"/>
          <p:cNvSpPr txBox="1"/>
          <p:nvPr/>
        </p:nvSpPr>
        <p:spPr>
          <a:xfrm>
            <a:off x="276225" y="2990850"/>
            <a:ext cx="4980133" cy="194310"/>
          </a:xfrm>
          <a:prstGeom prst="rect">
            <a:avLst/>
          </a:prstGeom>
          <a:noFill/>
        </p:spPr>
        <p:txBody>
          <a:bodyPr wrap="none" lIns="0" rIns="0" tIns="0" bIns="0">
            <a:spAutoFit/>
          </a:bodyPr>
          <a:lstStyle/>
          <a:p>
            <a:r>
              <a:rPr sz="1150" b="0">
                <a:solidFill>
                  <a:srgbClr val="252423"/>
                </a:solidFill>
                <a:latin typeface="Segoe UI"/>
              </a:rPr>
              <a:t>Integrated portable energy storage systems segment is projected to register</a:t>
            </a:r>
          </a:p>
        </p:txBody>
      </p:sp>
      <p:pic>
        <p:nvPicPr>
          <p:cNvPr id="19" name="Picture 18" descr="lock.png"/>
          <p:cNvPicPr>
            <a:picLocks noChangeAspect="1"/>
          </p:cNvPicPr>
          <p:nvPr/>
        </p:nvPicPr>
        <p:blipFill>
          <a:blip r:embed="rId4"/>
          <a:stretch>
            <a:fillRect/>
          </a:stretch>
        </p:blipFill>
        <p:spPr>
          <a:xfrm>
            <a:off x="5205512" y="2980626"/>
            <a:ext cx="134549" cy="195707"/>
          </a:xfrm>
          <a:prstGeom prst="rect">
            <a:avLst/>
          </a:prstGeom>
        </p:spPr>
      </p:pic>
      <p:sp>
        <p:nvSpPr>
          <p:cNvPr id="20" name="TextBox 19"/>
          <p:cNvSpPr txBox="1"/>
          <p:nvPr/>
        </p:nvSpPr>
        <p:spPr>
          <a:xfrm>
            <a:off x="5380621" y="2990850"/>
            <a:ext cx="6273381" cy="194310"/>
          </a:xfrm>
          <a:prstGeom prst="rect">
            <a:avLst/>
          </a:prstGeom>
          <a:noFill/>
        </p:spPr>
        <p:txBody>
          <a:bodyPr wrap="none" lIns="0" rIns="0" tIns="0" bIns="0">
            <a:spAutoFit/>
          </a:bodyPr>
          <a:lstStyle/>
          <a:p>
            <a:r>
              <a:rPr sz="1150" b="0">
                <a:solidFill>
                  <a:srgbClr val="252423"/>
                </a:solidFill>
                <a:latin typeface="Segoe UI"/>
              </a:rPr>
              <a:t>X higher value than standalone battery packs segment in 2036. Among lithium polymer portable</a:t>
            </a:r>
          </a:p>
        </p:txBody>
      </p:sp>
      <p:sp>
        <p:nvSpPr>
          <p:cNvPr id="21" name="TextBox 20"/>
          <p:cNvSpPr txBox="1"/>
          <p:nvPr/>
        </p:nvSpPr>
        <p:spPr>
          <a:xfrm>
            <a:off x="276225" y="3166110"/>
            <a:ext cx="8919209" cy="194310"/>
          </a:xfrm>
          <a:prstGeom prst="rect">
            <a:avLst/>
          </a:prstGeom>
          <a:noFill/>
        </p:spPr>
        <p:txBody>
          <a:bodyPr wrap="none" lIns="0" rIns="0" tIns="0" bIns="0">
            <a:spAutoFit/>
          </a:bodyPr>
          <a:lstStyle/>
          <a:p>
            <a:r>
              <a:rPr sz="1150" b="0">
                <a:solidFill>
                  <a:srgbClr val="252423"/>
                </a:solidFill>
                <a:latin typeface="Segoe UI"/>
              </a:rPr>
              <a:t>energy storage by battery configuration, integrated portable energy storage systems segment is expected to witness the highest CAGR of</a:t>
            </a:r>
          </a:p>
        </p:txBody>
      </p:sp>
      <p:pic>
        <p:nvPicPr>
          <p:cNvPr id="22" name="Picture 21" descr="lock.png"/>
          <p:cNvPicPr>
            <a:picLocks noChangeAspect="1"/>
          </p:cNvPicPr>
          <p:nvPr/>
        </p:nvPicPr>
        <p:blipFill>
          <a:blip r:embed="rId4"/>
          <a:stretch>
            <a:fillRect/>
          </a:stretch>
        </p:blipFill>
        <p:spPr>
          <a:xfrm>
            <a:off x="9144588" y="3155886"/>
            <a:ext cx="134549" cy="195707"/>
          </a:xfrm>
          <a:prstGeom prst="rect">
            <a:avLst/>
          </a:prstGeom>
        </p:spPr>
      </p:pic>
      <p:sp>
        <p:nvSpPr>
          <p:cNvPr id="23" name="TextBox 22"/>
          <p:cNvSpPr txBox="1"/>
          <p:nvPr/>
        </p:nvSpPr>
        <p:spPr>
          <a:xfrm>
            <a:off x="9319697"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9750933" cy="194310"/>
          </a:xfrm>
          <a:prstGeom prst="rect">
            <a:avLst/>
          </a:prstGeom>
          <a:noFill/>
        </p:spPr>
        <p:txBody>
          <a:bodyPr wrap="none" lIns="0" rIns="0" tIns="0" bIns="0">
            <a:spAutoFit/>
          </a:bodyPr>
          <a:lstStyle/>
          <a:p>
            <a:r>
              <a:rPr sz="1150" b="0">
                <a:solidFill>
                  <a:srgbClr val="252423"/>
                </a:solidFill>
                <a:latin typeface="Segoe UI"/>
              </a:rPr>
              <a:t>In terms of value share by battery configuration, the integrated portable energy storage systems segment is expected to dominate the market, gaining</a:t>
            </a:r>
          </a:p>
        </p:txBody>
      </p:sp>
      <p:pic>
        <p:nvPicPr>
          <p:cNvPr id="25" name="Picture 24" descr="lock.png"/>
          <p:cNvPicPr>
            <a:picLocks noChangeAspect="1"/>
          </p:cNvPicPr>
          <p:nvPr/>
        </p:nvPicPr>
        <p:blipFill>
          <a:blip r:embed="rId4"/>
          <a:stretch>
            <a:fillRect/>
          </a:stretch>
        </p:blipFill>
        <p:spPr>
          <a:xfrm>
            <a:off x="9976312" y="3383724"/>
            <a:ext cx="134549" cy="195707"/>
          </a:xfrm>
          <a:prstGeom prst="rect">
            <a:avLst/>
          </a:prstGeom>
        </p:spPr>
      </p:pic>
      <p:sp>
        <p:nvSpPr>
          <p:cNvPr id="26" name="TextBox 25"/>
          <p:cNvSpPr txBox="1"/>
          <p:nvPr/>
        </p:nvSpPr>
        <p:spPr>
          <a:xfrm>
            <a:off x="10151422"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262145" y="3558984"/>
            <a:ext cx="134549" cy="195707"/>
          </a:xfrm>
          <a:prstGeom prst="rect">
            <a:avLst/>
          </a:prstGeom>
        </p:spPr>
      </p:pic>
      <p:sp>
        <p:nvSpPr>
          <p:cNvPr id="28" name="TextBox 27"/>
          <p:cNvSpPr txBox="1"/>
          <p:nvPr/>
        </p:nvSpPr>
        <p:spPr>
          <a:xfrm>
            <a:off x="437254" y="3569207"/>
            <a:ext cx="4766576" cy="194310"/>
          </a:xfrm>
          <a:prstGeom prst="rect">
            <a:avLst/>
          </a:prstGeom>
          <a:noFill/>
        </p:spPr>
        <p:txBody>
          <a:bodyPr wrap="none" lIns="0" rIns="0" tIns="0" bIns="0">
            <a:spAutoFit/>
          </a:bodyPr>
          <a:lstStyle/>
          <a:p>
            <a:r>
              <a:rPr sz="1150" b="0">
                <a:solidFill>
                  <a:srgbClr val="252423"/>
                </a:solidFill>
                <a:latin typeface="Segoe UI"/>
              </a:rPr>
              <a:t>share by 2036. The standalone battery packs segment is expected to lose</a:t>
            </a:r>
          </a:p>
        </p:txBody>
      </p:sp>
      <p:pic>
        <p:nvPicPr>
          <p:cNvPr id="29" name="Picture 28" descr="lock.png"/>
          <p:cNvPicPr>
            <a:picLocks noChangeAspect="1"/>
          </p:cNvPicPr>
          <p:nvPr/>
        </p:nvPicPr>
        <p:blipFill>
          <a:blip r:embed="rId4"/>
          <a:stretch>
            <a:fillRect/>
          </a:stretch>
        </p:blipFill>
        <p:spPr>
          <a:xfrm>
            <a:off x="5152985" y="3558984"/>
            <a:ext cx="134549" cy="195707"/>
          </a:xfrm>
          <a:prstGeom prst="rect">
            <a:avLst/>
          </a:prstGeom>
        </p:spPr>
      </p:pic>
      <p:sp>
        <p:nvSpPr>
          <p:cNvPr id="30" name="TextBox 29"/>
          <p:cNvSpPr txBox="1"/>
          <p:nvPr/>
        </p:nvSpPr>
        <p:spPr>
          <a:xfrm>
            <a:off x="5328094"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8127480" y="3558984"/>
            <a:ext cx="134549" cy="195707"/>
          </a:xfrm>
          <a:prstGeom prst="rect">
            <a:avLst/>
          </a:prstGeom>
        </p:spPr>
      </p:pic>
      <p:sp>
        <p:nvSpPr>
          <p:cNvPr id="32" name="TextBox 31"/>
          <p:cNvSpPr txBox="1"/>
          <p:nvPr/>
        </p:nvSpPr>
        <p:spPr>
          <a:xfrm>
            <a:off x="8302589"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Battery Configuration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Battery Configuration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61922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61446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53826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Standalone Battery Packs</a:t>
            </a:r>
          </a:p>
        </p:txBody>
      </p:sp>
      <p:sp>
        <p:nvSpPr>
          <p:cNvPr id="16" name="BPS Value 1"/>
          <p:cNvSpPr txBox="1"/>
          <p:nvPr/>
        </p:nvSpPr>
        <p:spPr>
          <a:xfrm>
            <a:off x="6896100" y="260017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490541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90065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82445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Integrated Portable Energy Storage Systems</a:t>
            </a:r>
          </a:p>
        </p:txBody>
      </p:sp>
      <p:sp>
        <p:nvSpPr>
          <p:cNvPr id="20" name="BPS Value 2"/>
          <p:cNvSpPr txBox="1"/>
          <p:nvPr/>
        </p:nvSpPr>
        <p:spPr>
          <a:xfrm>
            <a:off x="6896100" y="488636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Battery Configuration</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894100"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battery</a:t>
            </a:r>
          </a:p>
        </p:txBody>
      </p:sp>
      <p:sp>
        <p:nvSpPr>
          <p:cNvPr id="28" name="TextBox 27"/>
          <p:cNvSpPr txBox="1"/>
          <p:nvPr/>
        </p:nvSpPr>
        <p:spPr>
          <a:xfrm>
            <a:off x="7829550" y="1575435"/>
            <a:ext cx="3820121" cy="194310"/>
          </a:xfrm>
          <a:prstGeom prst="rect">
            <a:avLst/>
          </a:prstGeom>
          <a:noFill/>
        </p:spPr>
        <p:txBody>
          <a:bodyPr wrap="none" lIns="0" rIns="0" tIns="0" bIns="0">
            <a:spAutoFit/>
          </a:bodyPr>
          <a:lstStyle/>
          <a:p>
            <a:r>
              <a:rPr sz="1150" b="0">
                <a:solidFill>
                  <a:srgbClr val="252423"/>
                </a:solidFill>
                <a:latin typeface="Segoe UI"/>
              </a:rPr>
              <a:t>configuration, integrated portable energy storage systems</a:t>
            </a:r>
          </a:p>
        </p:txBody>
      </p:sp>
      <p:sp>
        <p:nvSpPr>
          <p:cNvPr id="29" name="TextBox 28"/>
          <p:cNvSpPr txBox="1"/>
          <p:nvPr/>
        </p:nvSpPr>
        <p:spPr>
          <a:xfrm>
            <a:off x="7829550" y="1750695"/>
            <a:ext cx="3433246" cy="194310"/>
          </a:xfrm>
          <a:prstGeom prst="rect">
            <a:avLst/>
          </a:prstGeom>
          <a:noFill/>
        </p:spPr>
        <p:txBody>
          <a:bodyPr wrap="none" lIns="0" rIns="0" tIns="0" bIns="0">
            <a:spAutoFit/>
          </a:bodyPr>
          <a:lstStyle/>
          <a:p>
            <a:r>
              <a:rPr sz="1150" b="0">
                <a:solidFill>
                  <a:srgbClr val="252423"/>
                </a:solidFill>
                <a:latin typeface="Segoe UI"/>
              </a:rPr>
              <a:t>segment is expected to witness the highest CAGR of</a:t>
            </a:r>
          </a:p>
        </p:txBody>
      </p:sp>
      <p:pic>
        <p:nvPicPr>
          <p:cNvPr id="30" name="Picture 29" descr="lock.png"/>
          <p:cNvPicPr>
            <a:picLocks noChangeAspect="1"/>
          </p:cNvPicPr>
          <p:nvPr/>
        </p:nvPicPr>
        <p:blipFill>
          <a:blip r:embed="rId5"/>
          <a:stretch>
            <a:fillRect/>
          </a:stretch>
        </p:blipFill>
        <p:spPr>
          <a:xfrm>
            <a:off x="11211950" y="1740471"/>
            <a:ext cx="134549" cy="195707"/>
          </a:xfrm>
          <a:prstGeom prst="rect">
            <a:avLst/>
          </a:prstGeom>
        </p:spPr>
      </p:pic>
      <p:sp>
        <p:nvSpPr>
          <p:cNvPr id="31" name="TextBox 30"/>
          <p:cNvSpPr txBox="1"/>
          <p:nvPr/>
        </p:nvSpPr>
        <p:spPr>
          <a:xfrm>
            <a:off x="11387059" y="1750695"/>
            <a:ext cx="358873" cy="194310"/>
          </a:xfrm>
          <a:prstGeom prst="rect">
            <a:avLst/>
          </a:prstGeom>
          <a:noFill/>
        </p:spPr>
        <p:txBody>
          <a:bodyPr wrap="none" lIns="0" rIns="0" tIns="0" bIns="0">
            <a:spAutoFit/>
          </a:bodyPr>
          <a:lstStyle/>
          <a:p>
            <a:r>
              <a:rPr sz="1150" b="0">
                <a:solidFill>
                  <a:srgbClr val="252423"/>
                </a:solidFill>
                <a:latin typeface="Segoe UI"/>
              </a:rPr>
              <a:t>over</a:t>
            </a:r>
          </a:p>
        </p:txBody>
      </p:sp>
      <p:sp>
        <p:nvSpPr>
          <p:cNvPr id="32" name="TextBox 31"/>
          <p:cNvSpPr txBox="1"/>
          <p:nvPr/>
        </p:nvSpPr>
        <p:spPr>
          <a:xfrm>
            <a:off x="7829550" y="1925955"/>
            <a:ext cx="3524799" cy="194310"/>
          </a:xfrm>
          <a:prstGeom prst="rect">
            <a:avLst/>
          </a:prstGeom>
          <a:noFill/>
        </p:spPr>
        <p:txBody>
          <a:bodyPr wrap="none" lIns="0" rIns="0" tIns="0" bIns="0">
            <a:spAutoFit/>
          </a:bodyPr>
          <a:lstStyle/>
          <a:p>
            <a:r>
              <a:rPr sz="1150" b="0">
                <a:solidFill>
                  <a:srgbClr val="252423"/>
                </a:solidFill>
                <a:latin typeface="Segoe UI"/>
              </a:rPr>
              <a:t>the forecast period. In terms of value share by battery</a:t>
            </a:r>
          </a:p>
        </p:txBody>
      </p:sp>
      <p:sp>
        <p:nvSpPr>
          <p:cNvPr id="33" name="TextBox 32"/>
          <p:cNvSpPr txBox="1"/>
          <p:nvPr/>
        </p:nvSpPr>
        <p:spPr>
          <a:xfrm>
            <a:off x="7829550" y="2101215"/>
            <a:ext cx="4057650" cy="194310"/>
          </a:xfrm>
          <a:prstGeom prst="rect">
            <a:avLst/>
          </a:prstGeom>
          <a:noFill/>
        </p:spPr>
        <p:txBody>
          <a:bodyPr wrap="none" lIns="0" rIns="0" tIns="0" bIns="0">
            <a:spAutoFit/>
          </a:bodyPr>
          <a:lstStyle/>
          <a:p>
            <a:r>
              <a:rPr sz="1150" b="0">
                <a:solidFill>
                  <a:srgbClr val="252423"/>
                </a:solidFill>
                <a:latin typeface="Segoe UI"/>
              </a:rPr>
              <a:t>configuration, the integrated portable energy storage systems</a:t>
            </a:r>
          </a:p>
        </p:txBody>
      </p:sp>
      <p:sp>
        <p:nvSpPr>
          <p:cNvPr id="34" name="TextBox 33"/>
          <p:cNvSpPr txBox="1"/>
          <p:nvPr/>
        </p:nvSpPr>
        <p:spPr>
          <a:xfrm>
            <a:off x="7829550" y="2276475"/>
            <a:ext cx="3522254" cy="194310"/>
          </a:xfrm>
          <a:prstGeom prst="rect">
            <a:avLst/>
          </a:prstGeom>
          <a:noFill/>
        </p:spPr>
        <p:txBody>
          <a:bodyPr wrap="none" lIns="0" rIns="0" tIns="0" bIns="0">
            <a:spAutoFit/>
          </a:bodyPr>
          <a:lstStyle/>
          <a:p>
            <a:r>
              <a:rPr sz="1150" b="0">
                <a:solidFill>
                  <a:srgbClr val="252423"/>
                </a:solidFill>
                <a:latin typeface="Segoe UI"/>
              </a:rPr>
              <a:t>segment is expected to dominate the market, gaining</a:t>
            </a:r>
          </a:p>
        </p:txBody>
      </p:sp>
      <p:pic>
        <p:nvPicPr>
          <p:cNvPr id="35" name="Picture 34" descr="lock.png"/>
          <p:cNvPicPr>
            <a:picLocks noChangeAspect="1"/>
          </p:cNvPicPr>
          <p:nvPr/>
        </p:nvPicPr>
        <p:blipFill>
          <a:blip r:embed="rId5"/>
          <a:stretch>
            <a:fillRect/>
          </a:stretch>
        </p:blipFill>
        <p:spPr>
          <a:xfrm>
            <a:off x="11300958" y="2266251"/>
            <a:ext cx="134549" cy="195707"/>
          </a:xfrm>
          <a:prstGeom prst="rect">
            <a:avLst/>
          </a:prstGeom>
        </p:spPr>
      </p:pic>
      <p:sp>
        <p:nvSpPr>
          <p:cNvPr id="36" name="TextBox 35"/>
          <p:cNvSpPr txBox="1"/>
          <p:nvPr/>
        </p:nvSpPr>
        <p:spPr>
          <a:xfrm>
            <a:off x="11476067" y="2276475"/>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37" name="TextBox 36"/>
          <p:cNvSpPr txBox="1"/>
          <p:nvPr/>
        </p:nvSpPr>
        <p:spPr>
          <a:xfrm>
            <a:off x="7829550" y="2451735"/>
            <a:ext cx="1295945" cy="194310"/>
          </a:xfrm>
          <a:prstGeom prst="rect">
            <a:avLst/>
          </a:prstGeom>
          <a:noFill/>
        </p:spPr>
        <p:txBody>
          <a:bodyPr wrap="none" lIns="0" rIns="0" tIns="0" bIns="0">
            <a:spAutoFit/>
          </a:bodyPr>
          <a:lstStyle/>
          <a:p>
            <a:r>
              <a:rPr sz="1150" b="0">
                <a:solidFill>
                  <a:srgbClr val="252423"/>
                </a:solidFill>
                <a:latin typeface="Segoe UI"/>
              </a:rPr>
              <a:t>and accounting for</a:t>
            </a:r>
          </a:p>
        </p:txBody>
      </p:sp>
      <p:pic>
        <p:nvPicPr>
          <p:cNvPr id="38" name="Picture 37" descr="lock.png"/>
          <p:cNvPicPr>
            <a:picLocks noChangeAspect="1"/>
          </p:cNvPicPr>
          <p:nvPr/>
        </p:nvPicPr>
        <p:blipFill>
          <a:blip r:embed="rId5"/>
          <a:stretch>
            <a:fillRect/>
          </a:stretch>
        </p:blipFill>
        <p:spPr>
          <a:xfrm>
            <a:off x="9074649" y="2441511"/>
            <a:ext cx="134549" cy="195707"/>
          </a:xfrm>
          <a:prstGeom prst="rect">
            <a:avLst/>
          </a:prstGeom>
        </p:spPr>
      </p:pic>
      <p:sp>
        <p:nvSpPr>
          <p:cNvPr id="39" name="TextBox 38"/>
          <p:cNvSpPr txBox="1"/>
          <p:nvPr/>
        </p:nvSpPr>
        <p:spPr>
          <a:xfrm>
            <a:off x="9249758"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0" name="TextBox 39"/>
          <p:cNvSpPr txBox="1"/>
          <p:nvPr/>
        </p:nvSpPr>
        <p:spPr>
          <a:xfrm>
            <a:off x="7829550" y="2679573"/>
            <a:ext cx="3797314" cy="194310"/>
          </a:xfrm>
          <a:prstGeom prst="rect">
            <a:avLst/>
          </a:prstGeom>
          <a:noFill/>
        </p:spPr>
        <p:txBody>
          <a:bodyPr wrap="none" lIns="0" rIns="0" tIns="0" bIns="0">
            <a:spAutoFit/>
          </a:bodyPr>
          <a:lstStyle/>
          <a:p>
            <a:r>
              <a:rPr sz="1150" b="0">
                <a:solidFill>
                  <a:srgbClr val="252423"/>
                </a:solidFill>
                <a:latin typeface="Segoe UI"/>
              </a:rPr>
              <a:t>The standalone battery packs segment is expected to lose</a:t>
            </a:r>
          </a:p>
        </p:txBody>
      </p:sp>
      <p:pic>
        <p:nvPicPr>
          <p:cNvPr id="41" name="Picture 40" descr="lock.png"/>
          <p:cNvPicPr>
            <a:picLocks noChangeAspect="1"/>
          </p:cNvPicPr>
          <p:nvPr/>
        </p:nvPicPr>
        <p:blipFill>
          <a:blip r:embed="rId5"/>
          <a:stretch>
            <a:fillRect/>
          </a:stretch>
        </p:blipFill>
        <p:spPr>
          <a:xfrm>
            <a:off x="11576018" y="2669349"/>
            <a:ext cx="134549" cy="195707"/>
          </a:xfrm>
          <a:prstGeom prst="rect">
            <a:avLst/>
          </a:prstGeom>
        </p:spPr>
      </p:pic>
      <p:sp>
        <p:nvSpPr>
          <p:cNvPr id="42" name="TextBox 41"/>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43" name="Picture 42" descr="lock.png"/>
          <p:cNvPicPr>
            <a:picLocks noChangeAspect="1"/>
          </p:cNvPicPr>
          <p:nvPr/>
        </p:nvPicPr>
        <p:blipFill>
          <a:blip r:embed="rId5"/>
          <a:stretch>
            <a:fillRect/>
          </a:stretch>
        </p:blipFill>
        <p:spPr>
          <a:xfrm>
            <a:off x="10628935" y="2844609"/>
            <a:ext cx="134549" cy="195707"/>
          </a:xfrm>
          <a:prstGeom prst="rect">
            <a:avLst/>
          </a:prstGeom>
        </p:spPr>
      </p:pic>
      <p:sp>
        <p:nvSpPr>
          <p:cNvPr id="44" name="TextBox 43"/>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System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System Application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System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System Application segment categorizes the market by system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Professional &amp; Specialized Portab…</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Outdoor &amp; Recreational Power</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Off-Grid &amp; Remote Power</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Portable Backup Power</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System Application split shows how demand is distributed across system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345_8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1_019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1_4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151_5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489_0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2_4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129_1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392_5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1_8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23_6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49_2_605E5C.png"/>
          <p:cNvPicPr>
            <a:picLocks noChangeAspect="1"/>
          </p:cNvPicPr>
          <p:nvPr/>
        </p:nvPicPr>
        <p:blipFill>
          <a:blip r:embed="rId14"/>
          <a:stretch>
            <a:fillRect/>
          </a:stretch>
        </p:blipFill>
        <p:spPr>
          <a:xfrm>
            <a:off x="10169638" y="2779432"/>
            <a:ext cx="982436" cy="361950"/>
          </a:xfrm>
          <a:prstGeom prst="rect">
            <a:avLst/>
          </a:prstGeom>
        </p:spPr>
      </p:pic>
      <p:pic>
        <p:nvPicPr>
          <p:cNvPr id="72" name="Picture 71" descr="7_6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78" name="TextBox 77"/>
          <p:cNvSpPr txBox="1"/>
          <p:nvPr/>
        </p:nvSpPr>
        <p:spPr>
          <a:xfrm>
            <a:off x="485775" y="4383665"/>
            <a:ext cx="2671433" cy="173278"/>
          </a:xfrm>
          <a:prstGeom prst="rect">
            <a:avLst/>
          </a:prstGeom>
          <a:noFill/>
        </p:spPr>
        <p:txBody>
          <a:bodyPr wrap="none" lIns="0" rIns="0" tIns="0" bIns="0">
            <a:spAutoFit/>
          </a:bodyPr>
          <a:lstStyle/>
          <a:p>
            <a:r>
              <a:rPr sz="1011" b="0">
                <a:solidFill>
                  <a:srgbClr val="252423"/>
                </a:solidFill>
                <a:latin typeface="Segoe UI"/>
              </a:rPr>
              <a:t>by system application, outdoor &amp; recreational</a:t>
            </a:r>
          </a:p>
        </p:txBody>
      </p:sp>
      <p:sp>
        <p:nvSpPr>
          <p:cNvPr id="79" name="TextBox 78"/>
          <p:cNvSpPr txBox="1"/>
          <p:nvPr/>
        </p:nvSpPr>
        <p:spPr>
          <a:xfrm>
            <a:off x="485775" y="4537894"/>
            <a:ext cx="2908207" cy="173278"/>
          </a:xfrm>
          <a:prstGeom prst="rect">
            <a:avLst/>
          </a:prstGeom>
          <a:noFill/>
        </p:spPr>
        <p:txBody>
          <a:bodyPr wrap="none" lIns="0" rIns="0" tIns="0" bIns="0">
            <a:spAutoFit/>
          </a:bodyPr>
          <a:lstStyle/>
          <a:p>
            <a:r>
              <a:rPr sz="1011" b="0">
                <a:solidFill>
                  <a:srgbClr val="252423"/>
                </a:solidFill>
                <a:latin typeface="Segoe UI"/>
              </a:rPr>
              <a:t>power segment is expected to witness the highest</a:t>
            </a:r>
          </a:p>
        </p:txBody>
      </p:sp>
      <p:sp>
        <p:nvSpPr>
          <p:cNvPr id="80" name="TextBox 79"/>
          <p:cNvSpPr txBox="1"/>
          <p:nvPr/>
        </p:nvSpPr>
        <p:spPr>
          <a:xfrm>
            <a:off x="485775" y="4692123"/>
            <a:ext cx="554085" cy="173278"/>
          </a:xfrm>
          <a:prstGeom prst="rect">
            <a:avLst/>
          </a:prstGeom>
          <a:noFill/>
        </p:spPr>
        <p:txBody>
          <a:bodyPr wrap="none" lIns="0" rIns="0" tIns="0" bIns="0">
            <a:spAutoFit/>
          </a:bodyPr>
          <a:lstStyle/>
          <a:p>
            <a:r>
              <a:rPr sz="1011" b="0">
                <a:solidFill>
                  <a:srgbClr val="252423"/>
                </a:solidFill>
                <a:latin typeface="Segoe UI"/>
              </a:rPr>
              <a:t>CAGR of</a:t>
            </a:r>
          </a:p>
        </p:txBody>
      </p:sp>
      <p:pic>
        <p:nvPicPr>
          <p:cNvPr id="81" name="Picture 80" descr="lock.png"/>
          <p:cNvPicPr>
            <a:picLocks noChangeAspect="1"/>
          </p:cNvPicPr>
          <p:nvPr/>
        </p:nvPicPr>
        <p:blipFill>
          <a:blip r:embed="rId16"/>
          <a:stretch>
            <a:fillRect/>
          </a:stretch>
        </p:blipFill>
        <p:spPr>
          <a:xfrm>
            <a:off x="985972" y="4683126"/>
            <a:ext cx="118403" cy="172222"/>
          </a:xfrm>
          <a:prstGeom prst="rect">
            <a:avLst/>
          </a:prstGeom>
        </p:spPr>
      </p:pic>
      <p:sp>
        <p:nvSpPr>
          <p:cNvPr id="82" name="TextBox 81"/>
          <p:cNvSpPr txBox="1"/>
          <p:nvPr/>
        </p:nvSpPr>
        <p:spPr>
          <a:xfrm>
            <a:off x="1140068" y="4692123"/>
            <a:ext cx="2110901" cy="173278"/>
          </a:xfrm>
          <a:prstGeom prst="rect">
            <a:avLst/>
          </a:prstGeom>
          <a:noFill/>
        </p:spPr>
        <p:txBody>
          <a:bodyPr wrap="none" lIns="0" rIns="0" tIns="0" bIns="0">
            <a:spAutoFit/>
          </a:bodyPr>
          <a:lstStyle/>
          <a:p>
            <a:r>
              <a:rPr sz="1011" b="0">
                <a:solidFill>
                  <a:srgbClr val="252423"/>
                </a:solidFill>
                <a:latin typeface="Segoe UI"/>
              </a:rPr>
              <a:t>over the forecast period. In terms of</a:t>
            </a:r>
          </a:p>
        </p:txBody>
      </p:sp>
      <p:sp>
        <p:nvSpPr>
          <p:cNvPr id="83" name="TextBox 82"/>
          <p:cNvSpPr txBox="1"/>
          <p:nvPr/>
        </p:nvSpPr>
        <p:spPr>
          <a:xfrm>
            <a:off x="485775" y="4846352"/>
            <a:ext cx="2914650" cy="173278"/>
          </a:xfrm>
          <a:prstGeom prst="rect">
            <a:avLst/>
          </a:prstGeom>
          <a:noFill/>
        </p:spPr>
        <p:txBody>
          <a:bodyPr wrap="none" lIns="0" rIns="0" tIns="0" bIns="0">
            <a:spAutoFit/>
          </a:bodyPr>
          <a:lstStyle/>
          <a:p>
            <a:r>
              <a:rPr sz="1011" b="0">
                <a:solidFill>
                  <a:srgbClr val="252423"/>
                </a:solidFill>
                <a:latin typeface="Segoe UI"/>
              </a:rPr>
              <a:t>value share by system application, the professional</a:t>
            </a:r>
          </a:p>
        </p:txBody>
      </p:sp>
      <p:sp>
        <p:nvSpPr>
          <p:cNvPr id="84" name="TextBox 83"/>
          <p:cNvSpPr txBox="1"/>
          <p:nvPr/>
        </p:nvSpPr>
        <p:spPr>
          <a:xfrm>
            <a:off x="485775" y="5000581"/>
            <a:ext cx="2914650" cy="173278"/>
          </a:xfrm>
          <a:prstGeom prst="rect">
            <a:avLst/>
          </a:prstGeom>
          <a:noFill/>
        </p:spPr>
        <p:txBody>
          <a:bodyPr wrap="none" lIns="0" rIns="0" tIns="0" bIns="0">
            <a:spAutoFit/>
          </a:bodyPr>
          <a:lstStyle/>
          <a:p>
            <a:r>
              <a:rPr sz="1011" b="0">
                <a:solidFill>
                  <a:srgbClr val="252423"/>
                </a:solidFill>
                <a:latin typeface="Segoe UI"/>
              </a:rPr>
              <a:t>&amp; specialized portable power segment is expected</a:t>
            </a:r>
          </a:p>
        </p:txBody>
      </p:sp>
      <p:sp>
        <p:nvSpPr>
          <p:cNvPr id="85" name="TextBox 84"/>
          <p:cNvSpPr txBox="1"/>
          <p:nvPr/>
        </p:nvSpPr>
        <p:spPr>
          <a:xfrm>
            <a:off x="485775" y="5154809"/>
            <a:ext cx="1826013" cy="173278"/>
          </a:xfrm>
          <a:prstGeom prst="rect">
            <a:avLst/>
          </a:prstGeom>
          <a:noFill/>
        </p:spPr>
        <p:txBody>
          <a:bodyPr wrap="none" lIns="0" rIns="0" tIns="0" bIns="0">
            <a:spAutoFit/>
          </a:bodyPr>
          <a:lstStyle/>
          <a:p>
            <a:r>
              <a:rPr sz="1011" b="0">
                <a:solidFill>
                  <a:srgbClr val="252423"/>
                </a:solidFill>
                <a:latin typeface="Segoe UI"/>
              </a:rPr>
              <a:t>to dominate the market, losing</a:t>
            </a:r>
          </a:p>
        </p:txBody>
      </p:sp>
      <p:pic>
        <p:nvPicPr>
          <p:cNvPr id="86" name="Picture 85" descr="lock.png"/>
          <p:cNvPicPr>
            <a:picLocks noChangeAspect="1"/>
          </p:cNvPicPr>
          <p:nvPr/>
        </p:nvPicPr>
        <p:blipFill>
          <a:blip r:embed="rId16"/>
          <a:stretch>
            <a:fillRect/>
          </a:stretch>
        </p:blipFill>
        <p:spPr>
          <a:xfrm>
            <a:off x="2257900" y="5145813"/>
            <a:ext cx="118403" cy="172222"/>
          </a:xfrm>
          <a:prstGeom prst="rect">
            <a:avLst/>
          </a:prstGeom>
        </p:spPr>
      </p:pic>
      <p:sp>
        <p:nvSpPr>
          <p:cNvPr id="87" name="TextBox 86"/>
          <p:cNvSpPr txBox="1"/>
          <p:nvPr/>
        </p:nvSpPr>
        <p:spPr>
          <a:xfrm>
            <a:off x="2411996" y="5154809"/>
            <a:ext cx="539589" cy="173278"/>
          </a:xfrm>
          <a:prstGeom prst="rect">
            <a:avLst/>
          </a:prstGeom>
          <a:noFill/>
        </p:spPr>
        <p:txBody>
          <a:bodyPr wrap="none" lIns="0" rIns="0" tIns="0" bIns="0">
            <a:spAutoFit/>
          </a:bodyPr>
          <a:lstStyle/>
          <a:p>
            <a:r>
              <a:rPr sz="1011" b="0">
                <a:solidFill>
                  <a:srgbClr val="252423"/>
                </a:solidFill>
                <a:latin typeface="Segoe UI"/>
              </a:rPr>
              <a:t>BPS and</a:t>
            </a:r>
          </a:p>
        </p:txBody>
      </p:sp>
      <p:sp>
        <p:nvSpPr>
          <p:cNvPr id="88" name="TextBox 87"/>
          <p:cNvSpPr txBox="1"/>
          <p:nvPr/>
        </p:nvSpPr>
        <p:spPr>
          <a:xfrm>
            <a:off x="485775" y="5309038"/>
            <a:ext cx="900309" cy="173278"/>
          </a:xfrm>
          <a:prstGeom prst="rect">
            <a:avLst/>
          </a:prstGeom>
          <a:noFill/>
        </p:spPr>
        <p:txBody>
          <a:bodyPr wrap="none" lIns="0" rIns="0" tIns="0" bIns="0">
            <a:spAutoFit/>
          </a:bodyPr>
          <a:lstStyle/>
          <a:p>
            <a:r>
              <a:rPr sz="1011" b="0">
                <a:solidFill>
                  <a:srgbClr val="252423"/>
                </a:solidFill>
                <a:latin typeface="Segoe UI"/>
              </a:rPr>
              <a:t>accounting for</a:t>
            </a:r>
          </a:p>
        </p:txBody>
      </p:sp>
      <p:pic>
        <p:nvPicPr>
          <p:cNvPr id="89" name="Picture 88" descr="lock.png"/>
          <p:cNvPicPr>
            <a:picLocks noChangeAspect="1"/>
          </p:cNvPicPr>
          <p:nvPr/>
        </p:nvPicPr>
        <p:blipFill>
          <a:blip r:embed="rId16"/>
          <a:stretch>
            <a:fillRect/>
          </a:stretch>
        </p:blipFill>
        <p:spPr>
          <a:xfrm>
            <a:off x="1332196" y="5300041"/>
            <a:ext cx="118403" cy="172222"/>
          </a:xfrm>
          <a:prstGeom prst="rect">
            <a:avLst/>
          </a:prstGeom>
        </p:spPr>
      </p:pic>
      <p:sp>
        <p:nvSpPr>
          <p:cNvPr id="90" name="TextBox 89"/>
          <p:cNvSpPr txBox="1"/>
          <p:nvPr/>
        </p:nvSpPr>
        <p:spPr>
          <a:xfrm>
            <a:off x="1486292" y="5309038"/>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91" name="TextBox 90"/>
          <p:cNvSpPr txBox="1"/>
          <p:nvPr/>
        </p:nvSpPr>
        <p:spPr>
          <a:xfrm>
            <a:off x="485775" y="5509536"/>
            <a:ext cx="2914650" cy="173278"/>
          </a:xfrm>
          <a:prstGeom prst="rect">
            <a:avLst/>
          </a:prstGeom>
          <a:noFill/>
        </p:spPr>
        <p:txBody>
          <a:bodyPr wrap="none" lIns="0" rIns="0" tIns="0" bIns="0">
            <a:spAutoFit/>
          </a:bodyPr>
          <a:lstStyle/>
          <a:p>
            <a:r>
              <a:rPr sz="1011" b="0">
                <a:solidFill>
                  <a:srgbClr val="252423"/>
                </a:solidFill>
                <a:latin typeface="Segoe UI"/>
              </a:rPr>
              <a:t>Professional &amp; specialized portable power segment</a:t>
            </a:r>
          </a:p>
        </p:txBody>
      </p:sp>
      <p:sp>
        <p:nvSpPr>
          <p:cNvPr id="92" name="TextBox 91"/>
          <p:cNvSpPr txBox="1"/>
          <p:nvPr/>
        </p:nvSpPr>
        <p:spPr>
          <a:xfrm>
            <a:off x="485775" y="5663764"/>
            <a:ext cx="1355313" cy="173278"/>
          </a:xfrm>
          <a:prstGeom prst="rect">
            <a:avLst/>
          </a:prstGeom>
          <a:noFill/>
        </p:spPr>
        <p:txBody>
          <a:bodyPr wrap="none" lIns="0" rIns="0" tIns="0" bIns="0">
            <a:spAutoFit/>
          </a:bodyPr>
          <a:lstStyle/>
          <a:p>
            <a:r>
              <a:rPr sz="1011" b="0">
                <a:solidFill>
                  <a:srgbClr val="252423"/>
                </a:solidFill>
                <a:latin typeface="Segoe UI"/>
              </a:rPr>
              <a:t>is projected to register</a:t>
            </a:r>
          </a:p>
        </p:txBody>
      </p:sp>
      <p:pic>
        <p:nvPicPr>
          <p:cNvPr id="93" name="Picture 92" descr="lock.png"/>
          <p:cNvPicPr>
            <a:picLocks noChangeAspect="1"/>
          </p:cNvPicPr>
          <p:nvPr/>
        </p:nvPicPr>
        <p:blipFill>
          <a:blip r:embed="rId16"/>
          <a:stretch>
            <a:fillRect/>
          </a:stretch>
        </p:blipFill>
        <p:spPr>
          <a:xfrm>
            <a:off x="1787199" y="5654768"/>
            <a:ext cx="118403" cy="172222"/>
          </a:xfrm>
          <a:prstGeom prst="rect">
            <a:avLst/>
          </a:prstGeom>
        </p:spPr>
      </p:pic>
      <p:sp>
        <p:nvSpPr>
          <p:cNvPr id="94" name="TextBox 93"/>
          <p:cNvSpPr txBox="1"/>
          <p:nvPr/>
        </p:nvSpPr>
        <p:spPr>
          <a:xfrm>
            <a:off x="1941296" y="5663764"/>
            <a:ext cx="1174894" cy="173278"/>
          </a:xfrm>
          <a:prstGeom prst="rect">
            <a:avLst/>
          </a:prstGeom>
          <a:noFill/>
        </p:spPr>
        <p:txBody>
          <a:bodyPr wrap="none" lIns="0" rIns="0" tIns="0" bIns="0">
            <a:spAutoFit/>
          </a:bodyPr>
          <a:lstStyle/>
          <a:p>
            <a:r>
              <a:rPr sz="1011" b="0">
                <a:solidFill>
                  <a:srgbClr val="252423"/>
                </a:solidFill>
                <a:latin typeface="Segoe UI"/>
              </a:rPr>
              <a:t>X higher value than</a:t>
            </a:r>
          </a:p>
        </p:txBody>
      </p:sp>
      <p:sp>
        <p:nvSpPr>
          <p:cNvPr id="95" name="TextBox 94"/>
          <p:cNvSpPr txBox="1"/>
          <p:nvPr/>
        </p:nvSpPr>
        <p:spPr>
          <a:xfrm>
            <a:off x="485775" y="5817993"/>
            <a:ext cx="2777875" cy="173278"/>
          </a:xfrm>
          <a:prstGeom prst="rect">
            <a:avLst/>
          </a:prstGeom>
          <a:noFill/>
        </p:spPr>
        <p:txBody>
          <a:bodyPr wrap="none" lIns="0" rIns="0" tIns="0" bIns="0">
            <a:spAutoFit/>
          </a:bodyPr>
          <a:lstStyle/>
          <a:p>
            <a:r>
              <a:rPr sz="1011" b="0">
                <a:solidFill>
                  <a:srgbClr val="252423"/>
                </a:solidFill>
                <a:latin typeface="Segoe UI"/>
              </a:rPr>
              <a:t>outdoor &amp; recreational power segment in 2036.</a:t>
            </a:r>
          </a:p>
        </p:txBody>
      </p:sp>
      <p:sp>
        <p:nvSpPr>
          <p:cNvPr id="96" name="TextBox 95"/>
          <p:cNvSpPr txBox="1"/>
          <p:nvPr/>
        </p:nvSpPr>
        <p:spPr>
          <a:xfrm>
            <a:off x="3838575" y="4229437"/>
            <a:ext cx="2822365" cy="186689"/>
          </a:xfrm>
          <a:prstGeom prst="rect">
            <a:avLst/>
          </a:prstGeom>
          <a:noFill/>
        </p:spPr>
        <p:txBody>
          <a:bodyPr wrap="none" lIns="0" rIns="0" tIns="0" bIns="0">
            <a:spAutoFit/>
          </a:bodyPr>
          <a:lstStyle/>
          <a:p>
            <a:r>
              <a:rPr sz="1100" b="0">
                <a:solidFill>
                  <a:srgbClr val="252423"/>
                </a:solidFill>
                <a:latin typeface="Segoe UI"/>
              </a:rPr>
              <a:t>● Professional &amp; Specialized Portable Power:</a:t>
            </a:r>
          </a:p>
        </p:txBody>
      </p:sp>
      <p:pic>
        <p:nvPicPr>
          <p:cNvPr id="97" name="Picture 96" descr="lock.png"/>
          <p:cNvPicPr>
            <a:picLocks noChangeAspect="1"/>
          </p:cNvPicPr>
          <p:nvPr/>
        </p:nvPicPr>
        <p:blipFill>
          <a:blip r:embed="rId16"/>
          <a:stretch>
            <a:fillRect/>
          </a:stretch>
        </p:blipFill>
        <p:spPr>
          <a:xfrm>
            <a:off x="6608992" y="4219658"/>
            <a:ext cx="128699" cy="187198"/>
          </a:xfrm>
          <a:prstGeom prst="rect">
            <a:avLst/>
          </a:prstGeom>
        </p:spPr>
      </p:pic>
      <p:sp>
        <p:nvSpPr>
          <p:cNvPr id="98" name="TextBox 97"/>
          <p:cNvSpPr txBox="1"/>
          <p:nvPr/>
        </p:nvSpPr>
        <p:spPr>
          <a:xfrm>
            <a:off x="6776488"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9" name="Picture 98" descr="lock.png"/>
          <p:cNvPicPr>
            <a:picLocks noChangeAspect="1"/>
          </p:cNvPicPr>
          <p:nvPr/>
        </p:nvPicPr>
        <p:blipFill>
          <a:blip r:embed="rId16"/>
          <a:stretch>
            <a:fillRect/>
          </a:stretch>
        </p:blipFill>
        <p:spPr>
          <a:xfrm>
            <a:off x="3825107" y="4387298"/>
            <a:ext cx="128699" cy="187198"/>
          </a:xfrm>
          <a:prstGeom prst="rect">
            <a:avLst/>
          </a:prstGeom>
        </p:spPr>
      </p:pic>
      <p:sp>
        <p:nvSpPr>
          <p:cNvPr id="100" name="TextBox 99"/>
          <p:cNvSpPr txBox="1"/>
          <p:nvPr/>
        </p:nvSpPr>
        <p:spPr>
          <a:xfrm>
            <a:off x="3992603"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101" name="TextBox 100"/>
          <p:cNvSpPr txBox="1"/>
          <p:nvPr/>
        </p:nvSpPr>
        <p:spPr>
          <a:xfrm>
            <a:off x="3838575" y="4615009"/>
            <a:ext cx="2126287" cy="186689"/>
          </a:xfrm>
          <a:prstGeom prst="rect">
            <a:avLst/>
          </a:prstGeom>
          <a:noFill/>
        </p:spPr>
        <p:txBody>
          <a:bodyPr wrap="none" lIns="0" rIns="0" tIns="0" bIns="0">
            <a:spAutoFit/>
          </a:bodyPr>
          <a:lstStyle/>
          <a:p>
            <a:r>
              <a:rPr sz="1100" b="0">
                <a:solidFill>
                  <a:srgbClr val="252423"/>
                </a:solidFill>
                <a:latin typeface="Segoe UI"/>
              </a:rPr>
              <a:t>● Outdoor &amp; Recreational Power:</a:t>
            </a:r>
          </a:p>
        </p:txBody>
      </p:sp>
      <p:pic>
        <p:nvPicPr>
          <p:cNvPr id="102" name="Picture 101" descr="lock.png"/>
          <p:cNvPicPr>
            <a:picLocks noChangeAspect="1"/>
          </p:cNvPicPr>
          <p:nvPr/>
        </p:nvPicPr>
        <p:blipFill>
          <a:blip r:embed="rId16"/>
          <a:stretch>
            <a:fillRect/>
          </a:stretch>
        </p:blipFill>
        <p:spPr>
          <a:xfrm>
            <a:off x="5912913" y="4605230"/>
            <a:ext cx="128699" cy="187198"/>
          </a:xfrm>
          <a:prstGeom prst="rect">
            <a:avLst/>
          </a:prstGeom>
        </p:spPr>
      </p:pic>
      <p:sp>
        <p:nvSpPr>
          <p:cNvPr id="103" name="TextBox 102"/>
          <p:cNvSpPr txBox="1"/>
          <p:nvPr/>
        </p:nvSpPr>
        <p:spPr>
          <a:xfrm>
            <a:off x="6080409"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4" name="Picture 103" descr="lock.png"/>
          <p:cNvPicPr>
            <a:picLocks noChangeAspect="1"/>
          </p:cNvPicPr>
          <p:nvPr/>
        </p:nvPicPr>
        <p:blipFill>
          <a:blip r:embed="rId16"/>
          <a:stretch>
            <a:fillRect/>
          </a:stretch>
        </p:blipFill>
        <p:spPr>
          <a:xfrm>
            <a:off x="7000356" y="4605230"/>
            <a:ext cx="128699" cy="187198"/>
          </a:xfrm>
          <a:prstGeom prst="rect">
            <a:avLst/>
          </a:prstGeom>
        </p:spPr>
      </p:pic>
      <p:sp>
        <p:nvSpPr>
          <p:cNvPr id="105" name="TextBox 104"/>
          <p:cNvSpPr txBox="1"/>
          <p:nvPr/>
        </p:nvSpPr>
        <p:spPr>
          <a:xfrm>
            <a:off x="7167852"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6" name="TextBox 105"/>
          <p:cNvSpPr txBox="1"/>
          <p:nvPr/>
        </p:nvSpPr>
        <p:spPr>
          <a:xfrm>
            <a:off x="3838575" y="4782649"/>
            <a:ext cx="918991" cy="186689"/>
          </a:xfrm>
          <a:prstGeom prst="rect">
            <a:avLst/>
          </a:prstGeom>
          <a:noFill/>
        </p:spPr>
        <p:txBody>
          <a:bodyPr wrap="none" lIns="0" rIns="0" tIns="0" bIns="0">
            <a:spAutoFit/>
          </a:bodyPr>
          <a:lstStyle/>
          <a:p>
            <a:r>
              <a:rPr sz="1100" b="0">
                <a:solidFill>
                  <a:srgbClr val="252423"/>
                </a:solidFill>
                <a:latin typeface="Segoe UI"/>
              </a:rPr>
              <a:t>grows fastest.</a:t>
            </a:r>
          </a:p>
        </p:txBody>
      </p:sp>
      <p:sp>
        <p:nvSpPr>
          <p:cNvPr id="107" name="TextBox 106"/>
          <p:cNvSpPr txBox="1"/>
          <p:nvPr/>
        </p:nvSpPr>
        <p:spPr>
          <a:xfrm>
            <a:off x="3838575" y="5000581"/>
            <a:ext cx="1826632" cy="186689"/>
          </a:xfrm>
          <a:prstGeom prst="rect">
            <a:avLst/>
          </a:prstGeom>
          <a:noFill/>
        </p:spPr>
        <p:txBody>
          <a:bodyPr wrap="none" lIns="0" rIns="0" tIns="0" bIns="0">
            <a:spAutoFit/>
          </a:bodyPr>
          <a:lstStyle/>
          <a:p>
            <a:r>
              <a:rPr sz="1100" b="0">
                <a:solidFill>
                  <a:srgbClr val="252423"/>
                </a:solidFill>
                <a:latin typeface="Segoe UI"/>
              </a:rPr>
              <a:t>● Off-Grid &amp; Remote Power:</a:t>
            </a:r>
          </a:p>
        </p:txBody>
      </p:sp>
      <p:pic>
        <p:nvPicPr>
          <p:cNvPr id="108" name="Picture 107" descr="lock.png"/>
          <p:cNvPicPr>
            <a:picLocks noChangeAspect="1"/>
          </p:cNvPicPr>
          <p:nvPr/>
        </p:nvPicPr>
        <p:blipFill>
          <a:blip r:embed="rId16"/>
          <a:stretch>
            <a:fillRect/>
          </a:stretch>
        </p:blipFill>
        <p:spPr>
          <a:xfrm>
            <a:off x="5613258" y="4990801"/>
            <a:ext cx="128699" cy="187198"/>
          </a:xfrm>
          <a:prstGeom prst="rect">
            <a:avLst/>
          </a:prstGeom>
        </p:spPr>
      </p:pic>
      <p:sp>
        <p:nvSpPr>
          <p:cNvPr id="109" name="TextBox 108"/>
          <p:cNvSpPr txBox="1"/>
          <p:nvPr/>
        </p:nvSpPr>
        <p:spPr>
          <a:xfrm>
            <a:off x="5780754"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0" name="Picture 109" descr="lock.png"/>
          <p:cNvPicPr>
            <a:picLocks noChangeAspect="1"/>
          </p:cNvPicPr>
          <p:nvPr/>
        </p:nvPicPr>
        <p:blipFill>
          <a:blip r:embed="rId16"/>
          <a:stretch>
            <a:fillRect/>
          </a:stretch>
        </p:blipFill>
        <p:spPr>
          <a:xfrm>
            <a:off x="6700701" y="4990801"/>
            <a:ext cx="128699" cy="187198"/>
          </a:xfrm>
          <a:prstGeom prst="rect">
            <a:avLst/>
          </a:prstGeom>
        </p:spPr>
      </p:pic>
      <p:sp>
        <p:nvSpPr>
          <p:cNvPr id="111" name="TextBox 110"/>
          <p:cNvSpPr txBox="1"/>
          <p:nvPr/>
        </p:nvSpPr>
        <p:spPr>
          <a:xfrm>
            <a:off x="6868197" y="5000581"/>
            <a:ext cx="850326" cy="186689"/>
          </a:xfrm>
          <a:prstGeom prst="rect">
            <a:avLst/>
          </a:prstGeom>
          <a:noFill/>
        </p:spPr>
        <p:txBody>
          <a:bodyPr wrap="none" lIns="0" rIns="0" tIns="0" bIns="0">
            <a:spAutoFit/>
          </a:bodyPr>
          <a:lstStyle/>
          <a:p>
            <a:r>
              <a:rPr sz="1100" b="0">
                <a:solidFill>
                  <a:srgbClr val="252423"/>
                </a:solidFill>
                <a:latin typeface="Segoe UI"/>
              </a:rPr>
              <a:t>CAGR serves</a:t>
            </a:r>
          </a:p>
        </p:txBody>
      </p:sp>
      <p:sp>
        <p:nvSpPr>
          <p:cNvPr id="112" name="TextBox 111"/>
          <p:cNvSpPr txBox="1"/>
          <p:nvPr/>
        </p:nvSpPr>
        <p:spPr>
          <a:xfrm>
            <a:off x="3838575" y="5168221"/>
            <a:ext cx="545777" cy="186689"/>
          </a:xfrm>
          <a:prstGeom prst="rect">
            <a:avLst/>
          </a:prstGeom>
          <a:noFill/>
        </p:spPr>
        <p:txBody>
          <a:bodyPr wrap="none" lIns="0" rIns="0" tIns="0" bIns="0">
            <a:spAutoFit/>
          </a:bodyPr>
          <a:lstStyle/>
          <a:p>
            <a:r>
              <a:rPr sz="1100" b="0">
                <a:solidFill>
                  <a:srgbClr val="252423"/>
                </a:solidFill>
                <a:latin typeface="Segoe UI"/>
              </a:rPr>
              <a:t>a niche.</a:t>
            </a:r>
          </a:p>
        </p:txBody>
      </p:sp>
      <p:sp>
        <p:nvSpPr>
          <p:cNvPr id="113" name="TextBox 112"/>
          <p:cNvSpPr txBox="1"/>
          <p:nvPr/>
        </p:nvSpPr>
        <p:spPr>
          <a:xfrm>
            <a:off x="3838575" y="5386153"/>
            <a:ext cx="1651627" cy="186689"/>
          </a:xfrm>
          <a:prstGeom prst="rect">
            <a:avLst/>
          </a:prstGeom>
          <a:noFill/>
        </p:spPr>
        <p:txBody>
          <a:bodyPr wrap="none" lIns="0" rIns="0" tIns="0" bIns="0">
            <a:spAutoFit/>
          </a:bodyPr>
          <a:lstStyle/>
          <a:p>
            <a:r>
              <a:rPr sz="1100" b="0">
                <a:solidFill>
                  <a:srgbClr val="252423"/>
                </a:solidFill>
                <a:latin typeface="Segoe UI"/>
              </a:rPr>
              <a:t>● Portable Backup Power:</a:t>
            </a:r>
          </a:p>
        </p:txBody>
      </p:sp>
      <p:pic>
        <p:nvPicPr>
          <p:cNvPr id="114" name="Picture 113" descr="lock.png"/>
          <p:cNvPicPr>
            <a:picLocks noChangeAspect="1"/>
          </p:cNvPicPr>
          <p:nvPr/>
        </p:nvPicPr>
        <p:blipFill>
          <a:blip r:embed="rId16"/>
          <a:stretch>
            <a:fillRect/>
          </a:stretch>
        </p:blipFill>
        <p:spPr>
          <a:xfrm>
            <a:off x="5438254" y="5376373"/>
            <a:ext cx="128699" cy="187198"/>
          </a:xfrm>
          <a:prstGeom prst="rect">
            <a:avLst/>
          </a:prstGeom>
        </p:spPr>
      </p:pic>
      <p:sp>
        <p:nvSpPr>
          <p:cNvPr id="115" name="TextBox 114"/>
          <p:cNvSpPr txBox="1"/>
          <p:nvPr/>
        </p:nvSpPr>
        <p:spPr>
          <a:xfrm>
            <a:off x="5605750"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6525696" y="5376373"/>
            <a:ext cx="128699" cy="187198"/>
          </a:xfrm>
          <a:prstGeom prst="rect">
            <a:avLst/>
          </a:prstGeom>
        </p:spPr>
      </p:pic>
      <p:sp>
        <p:nvSpPr>
          <p:cNvPr id="117" name="TextBox 116"/>
          <p:cNvSpPr txBox="1"/>
          <p:nvPr/>
        </p:nvSpPr>
        <p:spPr>
          <a:xfrm>
            <a:off x="6693192" y="5386153"/>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8" name="TextBox 117"/>
          <p:cNvSpPr txBox="1"/>
          <p:nvPr/>
        </p:nvSpPr>
        <p:spPr>
          <a:xfrm>
            <a:off x="3838575" y="5553793"/>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9" name="TextBox 118"/>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System Application segment is projected</a:t>
            </a:r>
          </a:p>
        </p:txBody>
      </p:sp>
      <p:sp>
        <p:nvSpPr>
          <p:cNvPr id="120" name="TextBox 119"/>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121" name="Picture 120" descr="lock.png"/>
          <p:cNvPicPr>
            <a:picLocks noChangeAspect="1"/>
          </p:cNvPicPr>
          <p:nvPr/>
        </p:nvPicPr>
        <p:blipFill>
          <a:blip r:embed="rId16"/>
          <a:stretch>
            <a:fillRect/>
          </a:stretch>
        </p:blipFill>
        <p:spPr>
          <a:xfrm>
            <a:off x="10004092" y="6007677"/>
            <a:ext cx="134549" cy="195707"/>
          </a:xfrm>
          <a:prstGeom prst="rect">
            <a:avLst/>
          </a:prstGeom>
        </p:spPr>
      </p:pic>
      <p:sp>
        <p:nvSpPr>
          <p:cNvPr id="122" name="TextBox 121"/>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System Application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System Application mix within each region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Application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System Application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595745" cy="186689"/>
          </a:xfrm>
          <a:prstGeom prst="rect">
            <a:avLst/>
          </a:prstGeom>
          <a:noFill/>
        </p:spPr>
        <p:txBody>
          <a:bodyPr wrap="none" lIns="0" rIns="0" tIns="0" bIns="0">
            <a:spAutoFit/>
          </a:bodyPr>
          <a:lstStyle/>
          <a:p>
            <a:r>
              <a:rPr sz="1100" b="0">
                <a:solidFill>
                  <a:srgbClr val="252423"/>
                </a:solidFill>
                <a:latin typeface="Segoe UI"/>
              </a:rPr>
              <a:t>Professional &amp; specialized portable power followed by outdoor &amp; recreational power are expected to be the two most attractive system application segments in the global lithium polymer</a:t>
            </a:r>
          </a:p>
        </p:txBody>
      </p:sp>
      <p:sp>
        <p:nvSpPr>
          <p:cNvPr id="18" name="TextBox 17"/>
          <p:cNvSpPr txBox="1"/>
          <p:nvPr/>
        </p:nvSpPr>
        <p:spPr>
          <a:xfrm>
            <a:off x="257175" y="5837872"/>
            <a:ext cx="10903968" cy="186689"/>
          </a:xfrm>
          <a:prstGeom prst="rect">
            <a:avLst/>
          </a:prstGeom>
          <a:noFill/>
        </p:spPr>
        <p:txBody>
          <a:bodyPr wrap="none" lIns="0" rIns="0" tIns="0" bIns="0">
            <a:spAutoFit/>
          </a:bodyPr>
          <a:lstStyle/>
          <a:p>
            <a:r>
              <a:rPr sz="1100" b="0">
                <a:solidFill>
                  <a:srgbClr val="252423"/>
                </a:solidFill>
                <a:latin typeface="Segoe UI"/>
              </a:rPr>
              <a:t>portable energy storage market in terms of value over the forecast period. Professional &amp; specialized portable power and outdoor &amp; recreational power exhibit a CAGR index of</a:t>
            </a:r>
          </a:p>
        </p:txBody>
      </p:sp>
      <p:pic>
        <p:nvPicPr>
          <p:cNvPr id="19" name="Picture 18" descr="lock.png"/>
          <p:cNvPicPr>
            <a:picLocks noChangeAspect="1"/>
          </p:cNvPicPr>
          <p:nvPr/>
        </p:nvPicPr>
        <p:blipFill>
          <a:blip r:embed="rId6"/>
          <a:stretch>
            <a:fillRect/>
          </a:stretch>
        </p:blipFill>
        <p:spPr>
          <a:xfrm>
            <a:off x="11109195" y="5828093"/>
            <a:ext cx="128699" cy="187198"/>
          </a:xfrm>
          <a:prstGeom prst="rect">
            <a:avLst/>
          </a:prstGeom>
        </p:spPr>
      </p:pic>
      <p:sp>
        <p:nvSpPr>
          <p:cNvPr id="20" name="TextBox 19"/>
          <p:cNvSpPr txBox="1"/>
          <p:nvPr/>
        </p:nvSpPr>
        <p:spPr>
          <a:xfrm>
            <a:off x="11276691" y="583787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1533685" y="5828093"/>
            <a:ext cx="128699" cy="187198"/>
          </a:xfrm>
          <a:prstGeom prst="rect">
            <a:avLst/>
          </a:prstGeom>
        </p:spPr>
      </p:pic>
      <p:sp>
        <p:nvSpPr>
          <p:cNvPr id="22" name="TextBox 21"/>
          <p:cNvSpPr txBox="1"/>
          <p:nvPr/>
        </p:nvSpPr>
        <p:spPr>
          <a:xfrm>
            <a:off x="257175"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995914" y="5995733"/>
            <a:ext cx="128699" cy="187198"/>
          </a:xfrm>
          <a:prstGeom prst="rect">
            <a:avLst/>
          </a:prstGeom>
        </p:spPr>
      </p:pic>
      <p:sp>
        <p:nvSpPr>
          <p:cNvPr id="24" name="TextBox 23"/>
          <p:cNvSpPr txBox="1"/>
          <p:nvPr/>
        </p:nvSpPr>
        <p:spPr>
          <a:xfrm>
            <a:off x="216341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420404" y="5995733"/>
            <a:ext cx="128699" cy="187198"/>
          </a:xfrm>
          <a:prstGeom prst="rect">
            <a:avLst/>
          </a:prstGeom>
        </p:spPr>
      </p:pic>
      <p:sp>
        <p:nvSpPr>
          <p:cNvPr id="26" name="TextBox 25"/>
          <p:cNvSpPr txBox="1"/>
          <p:nvPr/>
        </p:nvSpPr>
        <p:spPr>
          <a:xfrm>
            <a:off x="258790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347834" y="5995733"/>
            <a:ext cx="128699" cy="187198"/>
          </a:xfrm>
          <a:prstGeom prst="rect">
            <a:avLst/>
          </a:prstGeom>
        </p:spPr>
      </p:pic>
      <p:sp>
        <p:nvSpPr>
          <p:cNvPr id="28" name="TextBox 27"/>
          <p:cNvSpPr txBox="1"/>
          <p:nvPr/>
        </p:nvSpPr>
        <p:spPr>
          <a:xfrm>
            <a:off x="5515330" y="6005512"/>
            <a:ext cx="5744593" cy="186689"/>
          </a:xfrm>
          <a:prstGeom prst="rect">
            <a:avLst/>
          </a:prstGeom>
          <a:noFill/>
        </p:spPr>
        <p:txBody>
          <a:bodyPr wrap="none" lIns="0" rIns="0" tIns="0" bIns="0">
            <a:spAutoFit/>
          </a:bodyPr>
          <a:lstStyle/>
          <a:p>
            <a:r>
              <a:rPr sz="1100" b="0">
                <a:solidFill>
                  <a:srgbClr val="252423"/>
                </a:solidFill>
                <a:latin typeface="Segoe UI"/>
              </a:rPr>
              <a:t>. The portable backup power segment is expected to be less attractive as compared to other</a:t>
            </a:r>
          </a:p>
        </p:txBody>
      </p:sp>
      <p:sp>
        <p:nvSpPr>
          <p:cNvPr id="29" name="TextBox 28"/>
          <p:cNvSpPr txBox="1"/>
          <p:nvPr/>
        </p:nvSpPr>
        <p:spPr>
          <a:xfrm>
            <a:off x="257175" y="6173152"/>
            <a:ext cx="10298801" cy="186689"/>
          </a:xfrm>
          <a:prstGeom prst="rect">
            <a:avLst/>
          </a:prstGeom>
          <a:noFill/>
        </p:spPr>
        <p:txBody>
          <a:bodyPr wrap="none" lIns="0" rIns="0" tIns="0" bIns="0">
            <a:spAutoFit/>
          </a:bodyPr>
          <a:lstStyle/>
          <a:p>
            <a:r>
              <a:rPr sz="1100" b="0">
                <a:solidFill>
                  <a:srgbClr val="252423"/>
                </a:solidFill>
                <a:latin typeface="Segoe UI"/>
              </a:rPr>
              <a:t>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System Application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Portable Backup Power</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Outdoor &amp; Recreational Power</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Off-Grid &amp; Remote Power</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Professional &amp; Specialized Portable Power</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System Application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System Application, 2021–2036, highlighting the sub-segments driving growth</a:t>
            </a:r>
          </a:p>
        </p:txBody>
      </p:sp>
      <p:sp>
        <p:nvSpPr>
          <p:cNvPr id="8" name="Rectangle 7"/>
          <p:cNvSpPr/>
          <p:nvPr/>
        </p:nvSpPr>
        <p:spPr>
          <a:xfrm>
            <a:off x="142875" y="981075"/>
            <a:ext cx="11906250" cy="2876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System Application (US$ Mn)</a:t>
            </a:r>
          </a:p>
        </p:txBody>
      </p:sp>
      <p:graphicFrame>
        <p:nvGraphicFramePr>
          <p:cNvPr id="10" name="Table 9"/>
          <p:cNvGraphicFramePr>
            <a:graphicFrameLocks noGrp="1"/>
          </p:cNvGraphicFramePr>
          <p:nvPr/>
        </p:nvGraphicFramePr>
        <p:xfrm>
          <a:off x="152400" y="1238250"/>
          <a:ext cx="11887204" cy="2409824"/>
        </p:xfrm>
        <a:graphic>
          <a:graphicData uri="http://schemas.openxmlformats.org/drawingml/2006/table">
            <a:tbl>
              <a:tblPr>
                <a:tableStyleId>{5C22544A-7EE6-4342-B048-85BDC9FD1C3A}</a:tableStyleId>
              </a:tblPr>
              <a:tblGrid>
                <a:gridCol w="3320820"/>
                <a:gridCol w="519851"/>
                <a:gridCol w="519851"/>
                <a:gridCol w="519851"/>
                <a:gridCol w="519851"/>
                <a:gridCol w="519851"/>
                <a:gridCol w="495324"/>
                <a:gridCol w="495324"/>
                <a:gridCol w="495324"/>
                <a:gridCol w="495324"/>
                <a:gridCol w="495324"/>
                <a:gridCol w="495324"/>
                <a:gridCol w="495324"/>
                <a:gridCol w="495324"/>
                <a:gridCol w="495324"/>
                <a:gridCol w="495324"/>
                <a:gridCol w="495324"/>
                <a:gridCol w="518565"/>
              </a:tblGrid>
              <a:tr h="438912">
                <a:tc>
                  <a:txBody>
                    <a:bodyPr wrap="none"/>
                    <a:lstStyle/>
                    <a:p>
                      <a:pPr algn="l"/>
                      <a:r>
                        <a:rPr sz="1100" b="1">
                          <a:solidFill>
                            <a:srgbClr val="FFFFFF"/>
                          </a:solidFill>
                          <a:latin typeface="Segoe UI"/>
                        </a:rPr>
                        <a:t>System Application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38100" marR="28575" marT="19050" marB="19050" anchor="ctr">
                    <a:solidFill>
                      <a:srgbClr val="007BA5"/>
                    </a:solidFill>
                  </a:tcPr>
                </a:tc>
              </a:tr>
              <a:tr h="246364">
                <a:tc>
                  <a:txBody>
                    <a:bodyPr wrap="none"/>
                    <a:lstStyle/>
                    <a:p>
                      <a:pPr algn="l"/>
                      <a:r>
                        <a:rPr sz="1100" b="1">
                          <a:solidFill>
                            <a:srgbClr val="252423"/>
                          </a:solidFill>
                          <a:latin typeface="Segoe UI"/>
                        </a:rPr>
                        <a:t>Portable Backup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Outdoor &amp; Recreational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Off-Grid &amp; Remote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Professional &amp; Specialized Portable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Construction &amp; Maintenance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 Emergency Response &amp; Disaster Relief</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Mobile Medical &amp; Communication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650.0</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1,950</a:t>
                      </a:r>
                      <a:endParaRPr sz="1100"/>
                    </a:p>
                  </a:txBody>
                  <a:tcPr marL="38100" marR="28575" marT="19050" marB="19050" anchor="ctr">
                    <a:solidFill>
                      <a:srgbClr val="E0F2FA"/>
                    </a:solidFill>
                  </a:tcPr>
                </a:tc>
                <a:tc>
                  <a:txBody>
                    <a:bodyPr wrap="none"/>
                    <a:lstStyle/>
                    <a:p>
                      <a:pPr algn="ctr"/>
                      <a:r>
                        <a:rPr sz="1100" b="1">
                          <a:solidFill>
                            <a:srgbClr val="252423"/>
                          </a:solidFill>
                          <a:latin typeface="Segoe UI"/>
                        </a:rPr>
                        <a:t>11.6%</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990975"/>
            <a:ext cx="11906250" cy="26384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07670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System Application</a:t>
            </a:r>
          </a:p>
        </p:txBody>
      </p:sp>
      <p:sp>
        <p:nvSpPr>
          <p:cNvPr id="14" name="Rectangle 13"/>
          <p:cNvSpPr/>
          <p:nvPr/>
        </p:nvSpPr>
        <p:spPr>
          <a:xfrm>
            <a:off x="276225" y="43148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00550"/>
            <a:ext cx="1163955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569722" y="2395917"/>
            <a:ext cx="366712" cy="533400"/>
          </a:xfrm>
          <a:prstGeom prst="rect">
            <a:avLst/>
          </a:prstGeom>
        </p:spPr>
      </p:pic>
      <p:sp>
        <p:nvSpPr>
          <p:cNvPr id="18" name="TextBox 17"/>
          <p:cNvSpPr txBox="1"/>
          <p:nvPr/>
        </p:nvSpPr>
        <p:spPr>
          <a:xfrm>
            <a:off x="276225" y="4410075"/>
            <a:ext cx="4872329" cy="194310"/>
          </a:xfrm>
          <a:prstGeom prst="rect">
            <a:avLst/>
          </a:prstGeom>
          <a:noFill/>
        </p:spPr>
        <p:txBody>
          <a:bodyPr wrap="none" lIns="0" rIns="0" tIns="0" bIns="0">
            <a:spAutoFit/>
          </a:bodyPr>
          <a:lstStyle/>
          <a:p>
            <a:r>
              <a:rPr sz="1150" b="0">
                <a:solidFill>
                  <a:srgbClr val="252423"/>
                </a:solidFill>
                <a:latin typeface="Segoe UI"/>
              </a:rPr>
              <a:t>Professional &amp; specialized portable power segment is projected to register</a:t>
            </a:r>
          </a:p>
        </p:txBody>
      </p:sp>
      <p:pic>
        <p:nvPicPr>
          <p:cNvPr id="19" name="Picture 18" descr="lock.png"/>
          <p:cNvPicPr>
            <a:picLocks noChangeAspect="1"/>
          </p:cNvPicPr>
          <p:nvPr/>
        </p:nvPicPr>
        <p:blipFill>
          <a:blip r:embed="rId4"/>
          <a:stretch>
            <a:fillRect/>
          </a:stretch>
        </p:blipFill>
        <p:spPr>
          <a:xfrm>
            <a:off x="5097708" y="4399851"/>
            <a:ext cx="134549" cy="195707"/>
          </a:xfrm>
          <a:prstGeom prst="rect">
            <a:avLst/>
          </a:prstGeom>
        </p:spPr>
      </p:pic>
      <p:sp>
        <p:nvSpPr>
          <p:cNvPr id="20" name="TextBox 19"/>
          <p:cNvSpPr txBox="1"/>
          <p:nvPr/>
        </p:nvSpPr>
        <p:spPr>
          <a:xfrm>
            <a:off x="5272818" y="4410075"/>
            <a:ext cx="6590467" cy="194310"/>
          </a:xfrm>
          <a:prstGeom prst="rect">
            <a:avLst/>
          </a:prstGeom>
          <a:noFill/>
        </p:spPr>
        <p:txBody>
          <a:bodyPr wrap="none" lIns="0" rIns="0" tIns="0" bIns="0">
            <a:spAutoFit/>
          </a:bodyPr>
          <a:lstStyle/>
          <a:p>
            <a:r>
              <a:rPr sz="1150" b="0">
                <a:solidFill>
                  <a:srgbClr val="252423"/>
                </a:solidFill>
                <a:latin typeface="Segoe UI"/>
              </a:rPr>
              <a:t>X higher value than outdoor &amp; recreational power segment in 2036. Among lithium polymer portable</a:t>
            </a:r>
          </a:p>
        </p:txBody>
      </p:sp>
      <p:sp>
        <p:nvSpPr>
          <p:cNvPr id="21" name="TextBox 20"/>
          <p:cNvSpPr txBox="1"/>
          <p:nvPr/>
        </p:nvSpPr>
        <p:spPr>
          <a:xfrm>
            <a:off x="276225" y="4585335"/>
            <a:ext cx="7874480" cy="194310"/>
          </a:xfrm>
          <a:prstGeom prst="rect">
            <a:avLst/>
          </a:prstGeom>
          <a:noFill/>
        </p:spPr>
        <p:txBody>
          <a:bodyPr wrap="none" lIns="0" rIns="0" tIns="0" bIns="0">
            <a:spAutoFit/>
          </a:bodyPr>
          <a:lstStyle/>
          <a:p>
            <a:r>
              <a:rPr sz="1150" b="0">
                <a:solidFill>
                  <a:srgbClr val="252423"/>
                </a:solidFill>
                <a:latin typeface="Segoe UI"/>
              </a:rPr>
              <a:t>energy storage by system application, outdoor &amp; recreational power segment is expected to witness the highest CAGR of</a:t>
            </a:r>
          </a:p>
        </p:txBody>
      </p:sp>
      <p:pic>
        <p:nvPicPr>
          <p:cNvPr id="22" name="Picture 21" descr="lock.png"/>
          <p:cNvPicPr>
            <a:picLocks noChangeAspect="1"/>
          </p:cNvPicPr>
          <p:nvPr/>
        </p:nvPicPr>
        <p:blipFill>
          <a:blip r:embed="rId4"/>
          <a:stretch>
            <a:fillRect/>
          </a:stretch>
        </p:blipFill>
        <p:spPr>
          <a:xfrm>
            <a:off x="8099859" y="4575111"/>
            <a:ext cx="134549" cy="195707"/>
          </a:xfrm>
          <a:prstGeom prst="rect">
            <a:avLst/>
          </a:prstGeom>
        </p:spPr>
      </p:pic>
      <p:sp>
        <p:nvSpPr>
          <p:cNvPr id="23" name="TextBox 22"/>
          <p:cNvSpPr txBox="1"/>
          <p:nvPr/>
        </p:nvSpPr>
        <p:spPr>
          <a:xfrm>
            <a:off x="8274968" y="45853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813172"/>
            <a:ext cx="9391473" cy="194310"/>
          </a:xfrm>
          <a:prstGeom prst="rect">
            <a:avLst/>
          </a:prstGeom>
          <a:noFill/>
        </p:spPr>
        <p:txBody>
          <a:bodyPr wrap="none" lIns="0" rIns="0" tIns="0" bIns="0">
            <a:spAutoFit/>
          </a:bodyPr>
          <a:lstStyle/>
          <a:p>
            <a:r>
              <a:rPr sz="1150" b="0">
                <a:solidFill>
                  <a:srgbClr val="252423"/>
                </a:solidFill>
                <a:latin typeface="Segoe UI"/>
              </a:rPr>
              <a:t>In terms of value share by system application, the professional &amp; specialized portable power segment is expected to dominate the market, losing</a:t>
            </a:r>
          </a:p>
        </p:txBody>
      </p:sp>
      <p:pic>
        <p:nvPicPr>
          <p:cNvPr id="25" name="Picture 24" descr="lock.png"/>
          <p:cNvPicPr>
            <a:picLocks noChangeAspect="1"/>
          </p:cNvPicPr>
          <p:nvPr/>
        </p:nvPicPr>
        <p:blipFill>
          <a:blip r:embed="rId4"/>
          <a:stretch>
            <a:fillRect/>
          </a:stretch>
        </p:blipFill>
        <p:spPr>
          <a:xfrm>
            <a:off x="9616852" y="4802949"/>
            <a:ext cx="134549" cy="195707"/>
          </a:xfrm>
          <a:prstGeom prst="rect">
            <a:avLst/>
          </a:prstGeom>
        </p:spPr>
      </p:pic>
      <p:sp>
        <p:nvSpPr>
          <p:cNvPr id="26" name="TextBox 25"/>
          <p:cNvSpPr txBox="1"/>
          <p:nvPr/>
        </p:nvSpPr>
        <p:spPr>
          <a:xfrm>
            <a:off x="9791962" y="481317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1320318" y="4802949"/>
            <a:ext cx="134549" cy="195707"/>
          </a:xfrm>
          <a:prstGeom prst="rect">
            <a:avLst/>
          </a:prstGeom>
        </p:spPr>
      </p:pic>
      <p:sp>
        <p:nvSpPr>
          <p:cNvPr id="28" name="TextBox 27"/>
          <p:cNvSpPr txBox="1"/>
          <p:nvPr/>
        </p:nvSpPr>
        <p:spPr>
          <a:xfrm>
            <a:off x="276225" y="4988432"/>
            <a:ext cx="4654485" cy="194310"/>
          </a:xfrm>
          <a:prstGeom prst="rect">
            <a:avLst/>
          </a:prstGeom>
          <a:noFill/>
        </p:spPr>
        <p:txBody>
          <a:bodyPr wrap="none" lIns="0" rIns="0" tIns="0" bIns="0">
            <a:spAutoFit/>
          </a:bodyPr>
          <a:lstStyle/>
          <a:p>
            <a:r>
              <a:rPr sz="1150" b="0">
                <a:solidFill>
                  <a:srgbClr val="252423"/>
                </a:solidFill>
                <a:latin typeface="Segoe UI"/>
              </a:rPr>
              <a:t>share by 2036. The portable backup power segment is expected to lose</a:t>
            </a:r>
          </a:p>
        </p:txBody>
      </p:sp>
      <p:pic>
        <p:nvPicPr>
          <p:cNvPr id="29" name="Picture 28" descr="lock.png"/>
          <p:cNvPicPr>
            <a:picLocks noChangeAspect="1"/>
          </p:cNvPicPr>
          <p:nvPr/>
        </p:nvPicPr>
        <p:blipFill>
          <a:blip r:embed="rId4"/>
          <a:stretch>
            <a:fillRect/>
          </a:stretch>
        </p:blipFill>
        <p:spPr>
          <a:xfrm>
            <a:off x="4879864" y="4978209"/>
            <a:ext cx="134549" cy="195707"/>
          </a:xfrm>
          <a:prstGeom prst="rect">
            <a:avLst/>
          </a:prstGeom>
        </p:spPr>
      </p:pic>
      <p:sp>
        <p:nvSpPr>
          <p:cNvPr id="30" name="TextBox 29"/>
          <p:cNvSpPr txBox="1"/>
          <p:nvPr/>
        </p:nvSpPr>
        <p:spPr>
          <a:xfrm>
            <a:off x="5054973" y="49884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7854359" y="4978209"/>
            <a:ext cx="134549" cy="195707"/>
          </a:xfrm>
          <a:prstGeom prst="rect">
            <a:avLst/>
          </a:prstGeom>
        </p:spPr>
      </p:pic>
      <p:sp>
        <p:nvSpPr>
          <p:cNvPr id="32" name="TextBox 31"/>
          <p:cNvSpPr txBox="1"/>
          <p:nvPr/>
        </p:nvSpPr>
        <p:spPr>
          <a:xfrm>
            <a:off x="8029468" y="49884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System Application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System Application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728882"/>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2412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64792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Portable Backup Power</a:t>
            </a:r>
          </a:p>
        </p:txBody>
      </p:sp>
      <p:sp>
        <p:nvSpPr>
          <p:cNvPr id="16" name="BPS Value 1"/>
          <p:cNvSpPr txBox="1"/>
          <p:nvPr/>
        </p:nvSpPr>
        <p:spPr>
          <a:xfrm>
            <a:off x="6896100" y="170983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24667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24191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16571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Off-Grid &amp; Remote Power</a:t>
            </a:r>
          </a:p>
        </p:txBody>
      </p:sp>
      <p:sp>
        <p:nvSpPr>
          <p:cNvPr id="20" name="BPS Value 2"/>
          <p:cNvSpPr txBox="1"/>
          <p:nvPr/>
        </p:nvSpPr>
        <p:spPr>
          <a:xfrm>
            <a:off x="6896100" y="2227622"/>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328019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327543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19923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Outdoor &amp; Recreational Power</a:t>
            </a:r>
          </a:p>
        </p:txBody>
      </p:sp>
      <p:sp>
        <p:nvSpPr>
          <p:cNvPr id="24" name="BPS Value 3"/>
          <p:cNvSpPr txBox="1"/>
          <p:nvPr/>
        </p:nvSpPr>
        <p:spPr>
          <a:xfrm>
            <a:off x="6896100" y="326114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actMR Legend Chip"/>
          <p:cNvSpPr/>
          <p:nvPr/>
        </p:nvSpPr>
        <p:spPr>
          <a:xfrm>
            <a:off x="4928997" y="504859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5090922" y="504383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496763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Professional &amp; Specialized Portable Power</a:t>
            </a:r>
          </a:p>
        </p:txBody>
      </p:sp>
      <p:sp>
        <p:nvSpPr>
          <p:cNvPr id="28" name="BPS Value 4"/>
          <p:cNvSpPr txBox="1"/>
          <p:nvPr/>
        </p:nvSpPr>
        <p:spPr>
          <a:xfrm>
            <a:off x="6896100" y="5029545"/>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System Application</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8291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system</a:t>
            </a:r>
          </a:p>
        </p:txBody>
      </p:sp>
      <p:sp>
        <p:nvSpPr>
          <p:cNvPr id="36" name="TextBox 35"/>
          <p:cNvSpPr txBox="1"/>
          <p:nvPr/>
        </p:nvSpPr>
        <p:spPr>
          <a:xfrm>
            <a:off x="7829550" y="1575435"/>
            <a:ext cx="3522820" cy="194310"/>
          </a:xfrm>
          <a:prstGeom prst="rect">
            <a:avLst/>
          </a:prstGeom>
          <a:noFill/>
        </p:spPr>
        <p:txBody>
          <a:bodyPr wrap="none" lIns="0" rIns="0" tIns="0" bIns="0">
            <a:spAutoFit/>
          </a:bodyPr>
          <a:lstStyle/>
          <a:p>
            <a:r>
              <a:rPr sz="1150" b="0">
                <a:solidFill>
                  <a:srgbClr val="252423"/>
                </a:solidFill>
                <a:latin typeface="Segoe UI"/>
              </a:rPr>
              <a:t>application, outdoor &amp; recreational power segment is</a:t>
            </a:r>
          </a:p>
        </p:txBody>
      </p:sp>
      <p:sp>
        <p:nvSpPr>
          <p:cNvPr id="37" name="TextBox 36"/>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8" name="Picture 37" descr="lock.png"/>
          <p:cNvPicPr>
            <a:picLocks noChangeAspect="1"/>
          </p:cNvPicPr>
          <p:nvPr/>
        </p:nvPicPr>
        <p:blipFill>
          <a:blip r:embed="rId5"/>
          <a:stretch>
            <a:fillRect/>
          </a:stretch>
        </p:blipFill>
        <p:spPr>
          <a:xfrm>
            <a:off x="10475709" y="1740471"/>
            <a:ext cx="134549" cy="195707"/>
          </a:xfrm>
          <a:prstGeom prst="rect">
            <a:avLst/>
          </a:prstGeom>
        </p:spPr>
      </p:pic>
      <p:sp>
        <p:nvSpPr>
          <p:cNvPr id="39" name="TextBox 38"/>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40" name="TextBox 39"/>
          <p:cNvSpPr txBox="1"/>
          <p:nvPr/>
        </p:nvSpPr>
        <p:spPr>
          <a:xfrm>
            <a:off x="7829550" y="1925955"/>
            <a:ext cx="3745554" cy="194310"/>
          </a:xfrm>
          <a:prstGeom prst="rect">
            <a:avLst/>
          </a:prstGeom>
          <a:noFill/>
        </p:spPr>
        <p:txBody>
          <a:bodyPr wrap="none" lIns="0" rIns="0" tIns="0" bIns="0">
            <a:spAutoFit/>
          </a:bodyPr>
          <a:lstStyle/>
          <a:p>
            <a:r>
              <a:rPr sz="1150" b="0">
                <a:solidFill>
                  <a:srgbClr val="252423"/>
                </a:solidFill>
                <a:latin typeface="Segoe UI"/>
              </a:rPr>
              <a:t>period. In terms of value share by system application, the</a:t>
            </a:r>
          </a:p>
        </p:txBody>
      </p:sp>
      <p:sp>
        <p:nvSpPr>
          <p:cNvPr id="41" name="TextBox 40"/>
          <p:cNvSpPr txBox="1"/>
          <p:nvPr/>
        </p:nvSpPr>
        <p:spPr>
          <a:xfrm>
            <a:off x="7829550" y="2101215"/>
            <a:ext cx="3520057" cy="194310"/>
          </a:xfrm>
          <a:prstGeom prst="rect">
            <a:avLst/>
          </a:prstGeom>
          <a:noFill/>
        </p:spPr>
        <p:txBody>
          <a:bodyPr wrap="none" lIns="0" rIns="0" tIns="0" bIns="0">
            <a:spAutoFit/>
          </a:bodyPr>
          <a:lstStyle/>
          <a:p>
            <a:r>
              <a:rPr sz="1150" b="0">
                <a:solidFill>
                  <a:srgbClr val="252423"/>
                </a:solidFill>
                <a:latin typeface="Segoe UI"/>
              </a:rPr>
              <a:t>professional &amp; specialized portable power segment is</a:t>
            </a:r>
          </a:p>
        </p:txBody>
      </p:sp>
      <p:sp>
        <p:nvSpPr>
          <p:cNvPr id="42" name="TextBox 41"/>
          <p:cNvSpPr txBox="1"/>
          <p:nvPr/>
        </p:nvSpPr>
        <p:spPr>
          <a:xfrm>
            <a:off x="7829550" y="2276475"/>
            <a:ext cx="2690168" cy="194310"/>
          </a:xfrm>
          <a:prstGeom prst="rect">
            <a:avLst/>
          </a:prstGeom>
          <a:noFill/>
        </p:spPr>
        <p:txBody>
          <a:bodyPr wrap="none" lIns="0" rIns="0" tIns="0" bIns="0">
            <a:spAutoFit/>
          </a:bodyPr>
          <a:lstStyle/>
          <a:p>
            <a:r>
              <a:rPr sz="1150" b="0">
                <a:solidFill>
                  <a:srgbClr val="252423"/>
                </a:solidFill>
                <a:latin typeface="Segoe UI"/>
              </a:rPr>
              <a:t>expected to dominate the market, losing</a:t>
            </a:r>
          </a:p>
        </p:txBody>
      </p:sp>
      <p:pic>
        <p:nvPicPr>
          <p:cNvPr id="43" name="Picture 42" descr="lock.png"/>
          <p:cNvPicPr>
            <a:picLocks noChangeAspect="1"/>
          </p:cNvPicPr>
          <p:nvPr/>
        </p:nvPicPr>
        <p:blipFill>
          <a:blip r:embed="rId5"/>
          <a:stretch>
            <a:fillRect/>
          </a:stretch>
        </p:blipFill>
        <p:spPr>
          <a:xfrm>
            <a:off x="10468872" y="2266251"/>
            <a:ext cx="134549" cy="195707"/>
          </a:xfrm>
          <a:prstGeom prst="rect">
            <a:avLst/>
          </a:prstGeom>
        </p:spPr>
      </p:pic>
      <p:sp>
        <p:nvSpPr>
          <p:cNvPr id="44" name="TextBox 43"/>
          <p:cNvSpPr txBox="1"/>
          <p:nvPr/>
        </p:nvSpPr>
        <p:spPr>
          <a:xfrm>
            <a:off x="10643981" y="227647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45" name="TextBox 44"/>
          <p:cNvSpPr txBox="1"/>
          <p:nvPr/>
        </p:nvSpPr>
        <p:spPr>
          <a:xfrm>
            <a:off x="7829550" y="245173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46" name="Picture 45" descr="lock.png"/>
          <p:cNvPicPr>
            <a:picLocks noChangeAspect="1"/>
          </p:cNvPicPr>
          <p:nvPr/>
        </p:nvPicPr>
        <p:blipFill>
          <a:blip r:embed="rId5"/>
          <a:stretch>
            <a:fillRect/>
          </a:stretch>
        </p:blipFill>
        <p:spPr>
          <a:xfrm>
            <a:off x="8791392" y="2441511"/>
            <a:ext cx="134549" cy="195707"/>
          </a:xfrm>
          <a:prstGeom prst="rect">
            <a:avLst/>
          </a:prstGeom>
        </p:spPr>
      </p:pic>
      <p:sp>
        <p:nvSpPr>
          <p:cNvPr id="47" name="TextBox 46"/>
          <p:cNvSpPr txBox="1"/>
          <p:nvPr/>
        </p:nvSpPr>
        <p:spPr>
          <a:xfrm>
            <a:off x="8966501"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3685223" cy="194310"/>
          </a:xfrm>
          <a:prstGeom prst="rect">
            <a:avLst/>
          </a:prstGeom>
          <a:noFill/>
        </p:spPr>
        <p:txBody>
          <a:bodyPr wrap="none" lIns="0" rIns="0" tIns="0" bIns="0">
            <a:spAutoFit/>
          </a:bodyPr>
          <a:lstStyle/>
          <a:p>
            <a:r>
              <a:rPr sz="1150" b="0">
                <a:solidFill>
                  <a:srgbClr val="252423"/>
                </a:solidFill>
                <a:latin typeface="Segoe UI"/>
              </a:rPr>
              <a:t>The portable backup power segment is expected to lose</a:t>
            </a:r>
          </a:p>
        </p:txBody>
      </p:sp>
      <p:pic>
        <p:nvPicPr>
          <p:cNvPr id="49" name="Picture 48" descr="lock.png"/>
          <p:cNvPicPr>
            <a:picLocks noChangeAspect="1"/>
          </p:cNvPicPr>
          <p:nvPr/>
        </p:nvPicPr>
        <p:blipFill>
          <a:blip r:embed="rId5"/>
          <a:stretch>
            <a:fillRect/>
          </a:stretch>
        </p:blipFill>
        <p:spPr>
          <a:xfrm>
            <a:off x="11463927" y="2669349"/>
            <a:ext cx="134549" cy="195707"/>
          </a:xfrm>
          <a:prstGeom prst="rect">
            <a:avLst/>
          </a:prstGeom>
        </p:spPr>
      </p:pic>
      <p:sp>
        <p:nvSpPr>
          <p:cNvPr id="50" name="TextBox 49"/>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628935" y="2844609"/>
            <a:ext cx="134549" cy="195707"/>
          </a:xfrm>
          <a:prstGeom prst="rect">
            <a:avLst/>
          </a:prstGeom>
        </p:spPr>
      </p:pic>
      <p:sp>
        <p:nvSpPr>
          <p:cNvPr id="52" name="TextBox 51"/>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Output Power Rating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Output Power Rating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Output Power Rating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Output Power Rating,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Output Power Rating segment categorizes the market by output power rating.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1,000 W to Below 2,000 W</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2,000 W and Above</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Below 500 W</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500 W to Below 1,000 W</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Output Power Rating split shows how demand is distributed across output power rating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288_7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1_044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3_7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205_6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529_7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9_9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00_8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264_1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0_1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54_9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112_3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7_4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78" name="TextBox 77"/>
          <p:cNvSpPr txBox="1"/>
          <p:nvPr/>
        </p:nvSpPr>
        <p:spPr>
          <a:xfrm>
            <a:off x="485775" y="4390371"/>
            <a:ext cx="2876811" cy="179984"/>
          </a:xfrm>
          <a:prstGeom prst="rect">
            <a:avLst/>
          </a:prstGeom>
          <a:noFill/>
        </p:spPr>
        <p:txBody>
          <a:bodyPr wrap="none" lIns="0" rIns="0" tIns="0" bIns="0">
            <a:spAutoFit/>
          </a:bodyPr>
          <a:lstStyle/>
          <a:p>
            <a:r>
              <a:rPr sz="1055" b="0">
                <a:solidFill>
                  <a:srgbClr val="252423"/>
                </a:solidFill>
                <a:latin typeface="Segoe UI"/>
              </a:rPr>
              <a:t>by output power rating, 1,000 w to below 2,000</a:t>
            </a:r>
          </a:p>
        </p:txBody>
      </p:sp>
      <p:sp>
        <p:nvSpPr>
          <p:cNvPr id="79" name="TextBox 78"/>
          <p:cNvSpPr txBox="1"/>
          <p:nvPr/>
        </p:nvSpPr>
        <p:spPr>
          <a:xfrm>
            <a:off x="485775" y="4551305"/>
            <a:ext cx="2757097" cy="179984"/>
          </a:xfrm>
          <a:prstGeom prst="rect">
            <a:avLst/>
          </a:prstGeom>
          <a:noFill/>
        </p:spPr>
        <p:txBody>
          <a:bodyPr wrap="none" lIns="0" rIns="0" tIns="0" bIns="0">
            <a:spAutoFit/>
          </a:bodyPr>
          <a:lstStyle/>
          <a:p>
            <a:r>
              <a:rPr sz="1055" b="0">
                <a:solidFill>
                  <a:srgbClr val="252423"/>
                </a:solidFill>
                <a:latin typeface="Segoe UI"/>
              </a:rPr>
              <a:t>w segment is expected to witness the highest</a:t>
            </a:r>
          </a:p>
        </p:txBody>
      </p:sp>
      <p:sp>
        <p:nvSpPr>
          <p:cNvPr id="80" name="TextBox 79"/>
          <p:cNvSpPr txBox="1"/>
          <p:nvPr/>
        </p:nvSpPr>
        <p:spPr>
          <a:xfrm>
            <a:off x="485775" y="4712240"/>
            <a:ext cx="574863" cy="179984"/>
          </a:xfrm>
          <a:prstGeom prst="rect">
            <a:avLst/>
          </a:prstGeom>
          <a:noFill/>
        </p:spPr>
        <p:txBody>
          <a:bodyPr wrap="none" lIns="0" rIns="0" tIns="0" bIns="0">
            <a:spAutoFit/>
          </a:bodyPr>
          <a:lstStyle/>
          <a:p>
            <a:r>
              <a:rPr sz="1055" b="0">
                <a:solidFill>
                  <a:srgbClr val="252423"/>
                </a:solidFill>
                <a:latin typeface="Segoe UI"/>
              </a:rPr>
              <a:t>CAGR of</a:t>
            </a:r>
          </a:p>
        </p:txBody>
      </p:sp>
      <p:pic>
        <p:nvPicPr>
          <p:cNvPr id="81" name="Picture 80" descr="lock.png"/>
          <p:cNvPicPr>
            <a:picLocks noChangeAspect="1"/>
          </p:cNvPicPr>
          <p:nvPr/>
        </p:nvPicPr>
        <p:blipFill>
          <a:blip r:embed="rId16"/>
          <a:stretch>
            <a:fillRect/>
          </a:stretch>
        </p:blipFill>
        <p:spPr>
          <a:xfrm>
            <a:off x="1007720" y="4702852"/>
            <a:ext cx="123551" cy="179710"/>
          </a:xfrm>
          <a:prstGeom prst="rect">
            <a:avLst/>
          </a:prstGeom>
        </p:spPr>
      </p:pic>
      <p:sp>
        <p:nvSpPr>
          <p:cNvPr id="82" name="TextBox 81"/>
          <p:cNvSpPr txBox="1"/>
          <p:nvPr/>
        </p:nvSpPr>
        <p:spPr>
          <a:xfrm>
            <a:off x="1168516" y="4712240"/>
            <a:ext cx="2042241" cy="179984"/>
          </a:xfrm>
          <a:prstGeom prst="rect">
            <a:avLst/>
          </a:prstGeom>
          <a:noFill/>
        </p:spPr>
        <p:txBody>
          <a:bodyPr wrap="none" lIns="0" rIns="0" tIns="0" bIns="0">
            <a:spAutoFit/>
          </a:bodyPr>
          <a:lstStyle/>
          <a:p>
            <a:r>
              <a:rPr sz="1055" b="0">
                <a:solidFill>
                  <a:srgbClr val="252423"/>
                </a:solidFill>
                <a:latin typeface="Segoe UI"/>
              </a:rPr>
              <a:t>over the forecast period. In terms</a:t>
            </a:r>
          </a:p>
        </p:txBody>
      </p:sp>
      <p:sp>
        <p:nvSpPr>
          <p:cNvPr id="83" name="TextBox 82"/>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of value share by output power rating, the 1,000</a:t>
            </a:r>
          </a:p>
        </p:txBody>
      </p:sp>
      <p:sp>
        <p:nvSpPr>
          <p:cNvPr id="84" name="TextBox 83"/>
          <p:cNvSpPr txBox="1"/>
          <p:nvPr/>
        </p:nvSpPr>
        <p:spPr>
          <a:xfrm>
            <a:off x="485775" y="5034109"/>
            <a:ext cx="2627422" cy="179984"/>
          </a:xfrm>
          <a:prstGeom prst="rect">
            <a:avLst/>
          </a:prstGeom>
          <a:noFill/>
        </p:spPr>
        <p:txBody>
          <a:bodyPr wrap="none" lIns="0" rIns="0" tIns="0" bIns="0">
            <a:spAutoFit/>
          </a:bodyPr>
          <a:lstStyle/>
          <a:p>
            <a:r>
              <a:rPr sz="1055" b="0">
                <a:solidFill>
                  <a:srgbClr val="252423"/>
                </a:solidFill>
                <a:latin typeface="Segoe UI"/>
              </a:rPr>
              <a:t>w to below 2,000 w segment is expected to</a:t>
            </a:r>
          </a:p>
        </p:txBody>
      </p:sp>
      <p:sp>
        <p:nvSpPr>
          <p:cNvPr id="85" name="TextBox 84"/>
          <p:cNvSpPr txBox="1"/>
          <p:nvPr/>
        </p:nvSpPr>
        <p:spPr>
          <a:xfrm>
            <a:off x="485775" y="5195043"/>
            <a:ext cx="1829290" cy="179984"/>
          </a:xfrm>
          <a:prstGeom prst="rect">
            <a:avLst/>
          </a:prstGeom>
          <a:noFill/>
        </p:spPr>
        <p:txBody>
          <a:bodyPr wrap="none" lIns="0" rIns="0" tIns="0" bIns="0">
            <a:spAutoFit/>
          </a:bodyPr>
          <a:lstStyle/>
          <a:p>
            <a:r>
              <a:rPr sz="1055" b="0">
                <a:solidFill>
                  <a:srgbClr val="252423"/>
                </a:solidFill>
                <a:latin typeface="Segoe UI"/>
              </a:rPr>
              <a:t>dominate the market, gaining</a:t>
            </a:r>
          </a:p>
        </p:txBody>
      </p:sp>
      <p:pic>
        <p:nvPicPr>
          <p:cNvPr id="86" name="Picture 85" descr="lock.png"/>
          <p:cNvPicPr>
            <a:picLocks noChangeAspect="1"/>
          </p:cNvPicPr>
          <p:nvPr/>
        </p:nvPicPr>
        <p:blipFill>
          <a:blip r:embed="rId16"/>
          <a:stretch>
            <a:fillRect/>
          </a:stretch>
        </p:blipFill>
        <p:spPr>
          <a:xfrm>
            <a:off x="2262146" y="5185655"/>
            <a:ext cx="123551" cy="179710"/>
          </a:xfrm>
          <a:prstGeom prst="rect">
            <a:avLst/>
          </a:prstGeom>
        </p:spPr>
      </p:pic>
      <p:sp>
        <p:nvSpPr>
          <p:cNvPr id="87" name="TextBox 86"/>
          <p:cNvSpPr txBox="1"/>
          <p:nvPr/>
        </p:nvSpPr>
        <p:spPr>
          <a:xfrm>
            <a:off x="2422942" y="5195043"/>
            <a:ext cx="559736" cy="179984"/>
          </a:xfrm>
          <a:prstGeom prst="rect">
            <a:avLst/>
          </a:prstGeom>
          <a:noFill/>
        </p:spPr>
        <p:txBody>
          <a:bodyPr wrap="none" lIns="0" rIns="0" tIns="0" bIns="0">
            <a:spAutoFit/>
          </a:bodyPr>
          <a:lstStyle/>
          <a:p>
            <a:r>
              <a:rPr sz="1055" b="0">
                <a:solidFill>
                  <a:srgbClr val="252423"/>
                </a:solidFill>
                <a:latin typeface="Segoe UI"/>
              </a:rPr>
              <a:t>BPS and</a:t>
            </a:r>
          </a:p>
        </p:txBody>
      </p:sp>
      <p:sp>
        <p:nvSpPr>
          <p:cNvPr id="88" name="TextBox 87"/>
          <p:cNvSpPr txBox="1"/>
          <p:nvPr/>
        </p:nvSpPr>
        <p:spPr>
          <a:xfrm>
            <a:off x="485775" y="5355977"/>
            <a:ext cx="936140" cy="179984"/>
          </a:xfrm>
          <a:prstGeom prst="rect">
            <a:avLst/>
          </a:prstGeom>
          <a:noFill/>
        </p:spPr>
        <p:txBody>
          <a:bodyPr wrap="none" lIns="0" rIns="0" tIns="0" bIns="0">
            <a:spAutoFit/>
          </a:bodyPr>
          <a:lstStyle/>
          <a:p>
            <a:r>
              <a:rPr sz="1055" b="0">
                <a:solidFill>
                  <a:srgbClr val="252423"/>
                </a:solidFill>
                <a:latin typeface="Segoe UI"/>
              </a:rPr>
              <a:t>accounting for</a:t>
            </a:r>
          </a:p>
        </p:txBody>
      </p:sp>
      <p:pic>
        <p:nvPicPr>
          <p:cNvPr id="89" name="Picture 88" descr="lock.png"/>
          <p:cNvPicPr>
            <a:picLocks noChangeAspect="1"/>
          </p:cNvPicPr>
          <p:nvPr/>
        </p:nvPicPr>
        <p:blipFill>
          <a:blip r:embed="rId16"/>
          <a:stretch>
            <a:fillRect/>
          </a:stretch>
        </p:blipFill>
        <p:spPr>
          <a:xfrm>
            <a:off x="1368997" y="5346589"/>
            <a:ext cx="123551" cy="179710"/>
          </a:xfrm>
          <a:prstGeom prst="rect">
            <a:avLst/>
          </a:prstGeom>
        </p:spPr>
      </p:pic>
      <p:sp>
        <p:nvSpPr>
          <p:cNvPr id="90" name="TextBox 89"/>
          <p:cNvSpPr txBox="1"/>
          <p:nvPr/>
        </p:nvSpPr>
        <p:spPr>
          <a:xfrm>
            <a:off x="1529793"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91" name="TextBox 90"/>
          <p:cNvSpPr txBox="1"/>
          <p:nvPr/>
        </p:nvSpPr>
        <p:spPr>
          <a:xfrm>
            <a:off x="485775" y="5565192"/>
            <a:ext cx="2847437" cy="179984"/>
          </a:xfrm>
          <a:prstGeom prst="rect">
            <a:avLst/>
          </a:prstGeom>
          <a:noFill/>
        </p:spPr>
        <p:txBody>
          <a:bodyPr wrap="none" lIns="0" rIns="0" tIns="0" bIns="0">
            <a:spAutoFit/>
          </a:bodyPr>
          <a:lstStyle/>
          <a:p>
            <a:r>
              <a:rPr sz="1055" b="0">
                <a:solidFill>
                  <a:srgbClr val="252423"/>
                </a:solidFill>
                <a:latin typeface="Segoe UI"/>
              </a:rPr>
              <a:t>1,000 w to below 2,000 w segment is projected</a:t>
            </a:r>
          </a:p>
        </p:txBody>
      </p:sp>
      <p:sp>
        <p:nvSpPr>
          <p:cNvPr id="92" name="TextBox 91"/>
          <p:cNvSpPr txBox="1"/>
          <p:nvPr/>
        </p:nvSpPr>
        <p:spPr>
          <a:xfrm>
            <a:off x="485775" y="5726126"/>
            <a:ext cx="684619" cy="179984"/>
          </a:xfrm>
          <a:prstGeom prst="rect">
            <a:avLst/>
          </a:prstGeom>
          <a:noFill/>
        </p:spPr>
        <p:txBody>
          <a:bodyPr wrap="none" lIns="0" rIns="0" tIns="0" bIns="0">
            <a:spAutoFit/>
          </a:bodyPr>
          <a:lstStyle/>
          <a:p>
            <a:r>
              <a:rPr sz="1055" b="0">
                <a:solidFill>
                  <a:srgbClr val="252423"/>
                </a:solidFill>
                <a:latin typeface="Segoe UI"/>
              </a:rPr>
              <a:t>to register</a:t>
            </a:r>
          </a:p>
        </p:txBody>
      </p:sp>
      <p:pic>
        <p:nvPicPr>
          <p:cNvPr id="93" name="Picture 92" descr="lock.png"/>
          <p:cNvPicPr>
            <a:picLocks noChangeAspect="1"/>
          </p:cNvPicPr>
          <p:nvPr/>
        </p:nvPicPr>
        <p:blipFill>
          <a:blip r:embed="rId16"/>
          <a:stretch>
            <a:fillRect/>
          </a:stretch>
        </p:blipFill>
        <p:spPr>
          <a:xfrm>
            <a:off x="1117475" y="5716739"/>
            <a:ext cx="123551" cy="179710"/>
          </a:xfrm>
          <a:prstGeom prst="rect">
            <a:avLst/>
          </a:prstGeom>
        </p:spPr>
      </p:pic>
      <p:sp>
        <p:nvSpPr>
          <p:cNvPr id="94" name="TextBox 93"/>
          <p:cNvSpPr txBox="1"/>
          <p:nvPr/>
        </p:nvSpPr>
        <p:spPr>
          <a:xfrm>
            <a:off x="1278271" y="5726126"/>
            <a:ext cx="1971280" cy="179984"/>
          </a:xfrm>
          <a:prstGeom prst="rect">
            <a:avLst/>
          </a:prstGeom>
          <a:noFill/>
        </p:spPr>
        <p:txBody>
          <a:bodyPr wrap="none" lIns="0" rIns="0" tIns="0" bIns="0">
            <a:spAutoFit/>
          </a:bodyPr>
          <a:lstStyle/>
          <a:p>
            <a:r>
              <a:rPr sz="1055" b="0">
                <a:solidFill>
                  <a:srgbClr val="252423"/>
                </a:solidFill>
                <a:latin typeface="Segoe UI"/>
              </a:rPr>
              <a:t>X higher value than 2,000 w and</a:t>
            </a:r>
          </a:p>
        </p:txBody>
      </p:sp>
      <p:sp>
        <p:nvSpPr>
          <p:cNvPr id="95" name="TextBox 94"/>
          <p:cNvSpPr txBox="1"/>
          <p:nvPr/>
        </p:nvSpPr>
        <p:spPr>
          <a:xfrm>
            <a:off x="485775" y="5887061"/>
            <a:ext cx="1486459" cy="179984"/>
          </a:xfrm>
          <a:prstGeom prst="rect">
            <a:avLst/>
          </a:prstGeom>
          <a:noFill/>
        </p:spPr>
        <p:txBody>
          <a:bodyPr wrap="none" lIns="0" rIns="0" tIns="0" bIns="0">
            <a:spAutoFit/>
          </a:bodyPr>
          <a:lstStyle/>
          <a:p>
            <a:r>
              <a:rPr sz="1055" b="0">
                <a:solidFill>
                  <a:srgbClr val="252423"/>
                </a:solidFill>
                <a:latin typeface="Segoe UI"/>
              </a:rPr>
              <a:t>above segment in 2036.</a:t>
            </a:r>
          </a:p>
        </p:txBody>
      </p:sp>
      <p:sp>
        <p:nvSpPr>
          <p:cNvPr id="96" name="TextBox 95"/>
          <p:cNvSpPr txBox="1"/>
          <p:nvPr/>
        </p:nvSpPr>
        <p:spPr>
          <a:xfrm>
            <a:off x="3838575" y="4229437"/>
            <a:ext cx="1843169" cy="186689"/>
          </a:xfrm>
          <a:prstGeom prst="rect">
            <a:avLst/>
          </a:prstGeom>
          <a:noFill/>
        </p:spPr>
        <p:txBody>
          <a:bodyPr wrap="none" lIns="0" rIns="0" tIns="0" bIns="0">
            <a:spAutoFit/>
          </a:bodyPr>
          <a:lstStyle/>
          <a:p>
            <a:r>
              <a:rPr sz="1100" b="0">
                <a:solidFill>
                  <a:srgbClr val="252423"/>
                </a:solidFill>
                <a:latin typeface="Segoe UI"/>
              </a:rPr>
              <a:t>● 1,000 W to Below 2,000 W:</a:t>
            </a:r>
          </a:p>
        </p:txBody>
      </p:sp>
      <p:pic>
        <p:nvPicPr>
          <p:cNvPr id="97" name="Picture 96" descr="lock.png"/>
          <p:cNvPicPr>
            <a:picLocks noChangeAspect="1"/>
          </p:cNvPicPr>
          <p:nvPr/>
        </p:nvPicPr>
        <p:blipFill>
          <a:blip r:embed="rId16"/>
          <a:stretch>
            <a:fillRect/>
          </a:stretch>
        </p:blipFill>
        <p:spPr>
          <a:xfrm>
            <a:off x="5629796" y="4219658"/>
            <a:ext cx="128699" cy="187198"/>
          </a:xfrm>
          <a:prstGeom prst="rect">
            <a:avLst/>
          </a:prstGeom>
        </p:spPr>
      </p:pic>
      <p:sp>
        <p:nvSpPr>
          <p:cNvPr id="98" name="TextBox 97"/>
          <p:cNvSpPr txBox="1"/>
          <p:nvPr/>
        </p:nvSpPr>
        <p:spPr>
          <a:xfrm>
            <a:off x="5797292"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9" name="Picture 98" descr="lock.png"/>
          <p:cNvPicPr>
            <a:picLocks noChangeAspect="1"/>
          </p:cNvPicPr>
          <p:nvPr/>
        </p:nvPicPr>
        <p:blipFill>
          <a:blip r:embed="rId16"/>
          <a:stretch>
            <a:fillRect/>
          </a:stretch>
        </p:blipFill>
        <p:spPr>
          <a:xfrm>
            <a:off x="6717238" y="4219658"/>
            <a:ext cx="128699" cy="187198"/>
          </a:xfrm>
          <a:prstGeom prst="rect">
            <a:avLst/>
          </a:prstGeom>
        </p:spPr>
      </p:pic>
      <p:sp>
        <p:nvSpPr>
          <p:cNvPr id="100" name="TextBox 99"/>
          <p:cNvSpPr txBox="1"/>
          <p:nvPr/>
        </p:nvSpPr>
        <p:spPr>
          <a:xfrm>
            <a:off x="6884734" y="4229437"/>
            <a:ext cx="789949" cy="186689"/>
          </a:xfrm>
          <a:prstGeom prst="rect">
            <a:avLst/>
          </a:prstGeom>
          <a:noFill/>
        </p:spPr>
        <p:txBody>
          <a:bodyPr wrap="none" lIns="0" rIns="0" tIns="0" bIns="0">
            <a:spAutoFit/>
          </a:bodyPr>
          <a:lstStyle/>
          <a:p>
            <a:r>
              <a:rPr sz="1100" b="0">
                <a:solidFill>
                  <a:srgbClr val="252423"/>
                </a:solidFill>
                <a:latin typeface="Segoe UI"/>
              </a:rPr>
              <a:t>CAGR leads</a:t>
            </a:r>
          </a:p>
        </p:txBody>
      </p:sp>
      <p:sp>
        <p:nvSpPr>
          <p:cNvPr id="101" name="TextBox 100"/>
          <p:cNvSpPr txBox="1"/>
          <p:nvPr/>
        </p:nvSpPr>
        <p:spPr>
          <a:xfrm>
            <a:off x="3838575" y="4397077"/>
            <a:ext cx="879202" cy="186689"/>
          </a:xfrm>
          <a:prstGeom prst="rect">
            <a:avLst/>
          </a:prstGeom>
          <a:noFill/>
        </p:spPr>
        <p:txBody>
          <a:bodyPr wrap="none" lIns="0" rIns="0" tIns="0" bIns="0">
            <a:spAutoFit/>
          </a:bodyPr>
          <a:lstStyle/>
          <a:p>
            <a:r>
              <a:rPr sz="1100" b="0">
                <a:solidFill>
                  <a:srgbClr val="252423"/>
                </a:solidFill>
                <a:latin typeface="Segoe UI"/>
              </a:rPr>
              <a:t>the segment.</a:t>
            </a:r>
          </a:p>
        </p:txBody>
      </p:sp>
      <p:sp>
        <p:nvSpPr>
          <p:cNvPr id="102" name="TextBox 101"/>
          <p:cNvSpPr txBox="1"/>
          <p:nvPr/>
        </p:nvSpPr>
        <p:spPr>
          <a:xfrm>
            <a:off x="3838575" y="4615009"/>
            <a:ext cx="1432259" cy="186689"/>
          </a:xfrm>
          <a:prstGeom prst="rect">
            <a:avLst/>
          </a:prstGeom>
          <a:noFill/>
        </p:spPr>
        <p:txBody>
          <a:bodyPr wrap="none" lIns="0" rIns="0" tIns="0" bIns="0">
            <a:spAutoFit/>
          </a:bodyPr>
          <a:lstStyle/>
          <a:p>
            <a:r>
              <a:rPr sz="1100" b="0">
                <a:solidFill>
                  <a:srgbClr val="252423"/>
                </a:solidFill>
                <a:latin typeface="Segoe UI"/>
              </a:rPr>
              <a:t>● 2,000 W and Above:</a:t>
            </a:r>
          </a:p>
        </p:txBody>
      </p:sp>
      <p:pic>
        <p:nvPicPr>
          <p:cNvPr id="103" name="Picture 102" descr="lock.png"/>
          <p:cNvPicPr>
            <a:picLocks noChangeAspect="1"/>
          </p:cNvPicPr>
          <p:nvPr/>
        </p:nvPicPr>
        <p:blipFill>
          <a:blip r:embed="rId16"/>
          <a:stretch>
            <a:fillRect/>
          </a:stretch>
        </p:blipFill>
        <p:spPr>
          <a:xfrm>
            <a:off x="5218886" y="4605230"/>
            <a:ext cx="128699" cy="187198"/>
          </a:xfrm>
          <a:prstGeom prst="rect">
            <a:avLst/>
          </a:prstGeom>
        </p:spPr>
      </p:pic>
      <p:sp>
        <p:nvSpPr>
          <p:cNvPr id="104" name="TextBox 103"/>
          <p:cNvSpPr txBox="1"/>
          <p:nvPr/>
        </p:nvSpPr>
        <p:spPr>
          <a:xfrm>
            <a:off x="5386381"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5" name="Picture 104" descr="lock.png"/>
          <p:cNvPicPr>
            <a:picLocks noChangeAspect="1"/>
          </p:cNvPicPr>
          <p:nvPr/>
        </p:nvPicPr>
        <p:blipFill>
          <a:blip r:embed="rId16"/>
          <a:stretch>
            <a:fillRect/>
          </a:stretch>
        </p:blipFill>
        <p:spPr>
          <a:xfrm>
            <a:off x="6306328" y="4605230"/>
            <a:ext cx="128699" cy="187198"/>
          </a:xfrm>
          <a:prstGeom prst="rect">
            <a:avLst/>
          </a:prstGeom>
        </p:spPr>
      </p:pic>
      <p:sp>
        <p:nvSpPr>
          <p:cNvPr id="106" name="TextBox 105"/>
          <p:cNvSpPr txBox="1"/>
          <p:nvPr/>
        </p:nvSpPr>
        <p:spPr>
          <a:xfrm>
            <a:off x="6473824" y="4615009"/>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07" name="TextBox 106"/>
          <p:cNvSpPr txBox="1"/>
          <p:nvPr/>
        </p:nvSpPr>
        <p:spPr>
          <a:xfrm>
            <a:off x="3838575" y="4782649"/>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08" name="TextBox 107"/>
          <p:cNvSpPr txBox="1"/>
          <p:nvPr/>
        </p:nvSpPr>
        <p:spPr>
          <a:xfrm>
            <a:off x="3838575" y="5000581"/>
            <a:ext cx="1031726" cy="186689"/>
          </a:xfrm>
          <a:prstGeom prst="rect">
            <a:avLst/>
          </a:prstGeom>
          <a:noFill/>
        </p:spPr>
        <p:txBody>
          <a:bodyPr wrap="none" lIns="0" rIns="0" tIns="0" bIns="0">
            <a:spAutoFit/>
          </a:bodyPr>
          <a:lstStyle/>
          <a:p>
            <a:r>
              <a:rPr sz="1100" b="0">
                <a:solidFill>
                  <a:srgbClr val="252423"/>
                </a:solidFill>
                <a:latin typeface="Segoe UI"/>
              </a:rPr>
              <a:t>● Below 500 W:</a:t>
            </a:r>
          </a:p>
        </p:txBody>
      </p:sp>
      <p:pic>
        <p:nvPicPr>
          <p:cNvPr id="109" name="Picture 108" descr="lock.png"/>
          <p:cNvPicPr>
            <a:picLocks noChangeAspect="1"/>
          </p:cNvPicPr>
          <p:nvPr/>
        </p:nvPicPr>
        <p:blipFill>
          <a:blip r:embed="rId16"/>
          <a:stretch>
            <a:fillRect/>
          </a:stretch>
        </p:blipFill>
        <p:spPr>
          <a:xfrm>
            <a:off x="4818352" y="4990801"/>
            <a:ext cx="128699" cy="187198"/>
          </a:xfrm>
          <a:prstGeom prst="rect">
            <a:avLst/>
          </a:prstGeom>
        </p:spPr>
      </p:pic>
      <p:sp>
        <p:nvSpPr>
          <p:cNvPr id="110" name="TextBox 109"/>
          <p:cNvSpPr txBox="1"/>
          <p:nvPr/>
        </p:nvSpPr>
        <p:spPr>
          <a:xfrm>
            <a:off x="4985848"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1" name="Picture 110" descr="lock.png"/>
          <p:cNvPicPr>
            <a:picLocks noChangeAspect="1"/>
          </p:cNvPicPr>
          <p:nvPr/>
        </p:nvPicPr>
        <p:blipFill>
          <a:blip r:embed="rId16"/>
          <a:stretch>
            <a:fillRect/>
          </a:stretch>
        </p:blipFill>
        <p:spPr>
          <a:xfrm>
            <a:off x="5905795" y="4990801"/>
            <a:ext cx="128699" cy="187198"/>
          </a:xfrm>
          <a:prstGeom prst="rect">
            <a:avLst/>
          </a:prstGeom>
        </p:spPr>
      </p:pic>
      <p:sp>
        <p:nvSpPr>
          <p:cNvPr id="112" name="TextBox 111"/>
          <p:cNvSpPr txBox="1"/>
          <p:nvPr/>
        </p:nvSpPr>
        <p:spPr>
          <a:xfrm>
            <a:off x="6073290" y="5000581"/>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113" name="TextBox 112"/>
          <p:cNvSpPr txBox="1"/>
          <p:nvPr/>
        </p:nvSpPr>
        <p:spPr>
          <a:xfrm>
            <a:off x="3838575" y="5218513"/>
            <a:ext cx="1737576" cy="186689"/>
          </a:xfrm>
          <a:prstGeom prst="rect">
            <a:avLst/>
          </a:prstGeom>
          <a:noFill/>
        </p:spPr>
        <p:txBody>
          <a:bodyPr wrap="none" lIns="0" rIns="0" tIns="0" bIns="0">
            <a:spAutoFit/>
          </a:bodyPr>
          <a:lstStyle/>
          <a:p>
            <a:r>
              <a:rPr sz="1100" b="0">
                <a:solidFill>
                  <a:srgbClr val="252423"/>
                </a:solidFill>
                <a:latin typeface="Segoe UI"/>
              </a:rPr>
              <a:t>● 500 W to Below 1,000 W:</a:t>
            </a:r>
          </a:p>
        </p:txBody>
      </p:sp>
      <p:pic>
        <p:nvPicPr>
          <p:cNvPr id="114" name="Picture 113" descr="lock.png"/>
          <p:cNvPicPr>
            <a:picLocks noChangeAspect="1"/>
          </p:cNvPicPr>
          <p:nvPr/>
        </p:nvPicPr>
        <p:blipFill>
          <a:blip r:embed="rId16"/>
          <a:stretch>
            <a:fillRect/>
          </a:stretch>
        </p:blipFill>
        <p:spPr>
          <a:xfrm>
            <a:off x="5524202" y="5208733"/>
            <a:ext cx="128699" cy="187198"/>
          </a:xfrm>
          <a:prstGeom prst="rect">
            <a:avLst/>
          </a:prstGeom>
        </p:spPr>
      </p:pic>
      <p:sp>
        <p:nvSpPr>
          <p:cNvPr id="115" name="TextBox 114"/>
          <p:cNvSpPr txBox="1"/>
          <p:nvPr/>
        </p:nvSpPr>
        <p:spPr>
          <a:xfrm>
            <a:off x="5691698" y="521851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6611645" y="5208733"/>
            <a:ext cx="128699" cy="187198"/>
          </a:xfrm>
          <a:prstGeom prst="rect">
            <a:avLst/>
          </a:prstGeom>
        </p:spPr>
      </p:pic>
      <p:sp>
        <p:nvSpPr>
          <p:cNvPr id="117" name="TextBox 116"/>
          <p:cNvSpPr txBox="1"/>
          <p:nvPr/>
        </p:nvSpPr>
        <p:spPr>
          <a:xfrm>
            <a:off x="6779140" y="5218513"/>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8" name="TextBox 117"/>
          <p:cNvSpPr txBox="1"/>
          <p:nvPr/>
        </p:nvSpPr>
        <p:spPr>
          <a:xfrm>
            <a:off x="3838575" y="5386153"/>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9" name="TextBox 118"/>
          <p:cNvSpPr txBox="1"/>
          <p:nvPr/>
        </p:nvSpPr>
        <p:spPr>
          <a:xfrm>
            <a:off x="8524875" y="5849651"/>
            <a:ext cx="3162300" cy="187299"/>
          </a:xfrm>
          <a:prstGeom prst="rect">
            <a:avLst/>
          </a:prstGeom>
          <a:noFill/>
        </p:spPr>
        <p:txBody>
          <a:bodyPr wrap="none" lIns="0" rIns="0" tIns="0" bIns="0">
            <a:spAutoFit/>
          </a:bodyPr>
          <a:lstStyle/>
          <a:p>
            <a:r>
              <a:rPr sz="1104" b="1">
                <a:solidFill>
                  <a:srgbClr val="0E3A5F"/>
                </a:solidFill>
                <a:latin typeface="Segoe UI"/>
              </a:rPr>
              <a:t>The Output Power Rating segment is projected</a:t>
            </a:r>
          </a:p>
        </p:txBody>
      </p:sp>
      <p:sp>
        <p:nvSpPr>
          <p:cNvPr id="120" name="TextBox 119"/>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121" name="Picture 120" descr="lock.png"/>
          <p:cNvPicPr>
            <a:picLocks noChangeAspect="1"/>
          </p:cNvPicPr>
          <p:nvPr/>
        </p:nvPicPr>
        <p:blipFill>
          <a:blip r:embed="rId16"/>
          <a:stretch>
            <a:fillRect/>
          </a:stretch>
        </p:blipFill>
        <p:spPr>
          <a:xfrm>
            <a:off x="9944923" y="6008086"/>
            <a:ext cx="129166" cy="187878"/>
          </a:xfrm>
          <a:prstGeom prst="rect">
            <a:avLst/>
          </a:prstGeom>
        </p:spPr>
      </p:pic>
      <p:sp>
        <p:nvSpPr>
          <p:cNvPr id="122" name="TextBox 121"/>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Output Power Rating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Output Power Rating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Output Power Rating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Output Power Rating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98171" cy="186689"/>
          </a:xfrm>
          <a:prstGeom prst="rect">
            <a:avLst/>
          </a:prstGeom>
          <a:noFill/>
        </p:spPr>
        <p:txBody>
          <a:bodyPr wrap="none" lIns="0" rIns="0" tIns="0" bIns="0">
            <a:spAutoFit/>
          </a:bodyPr>
          <a:lstStyle/>
          <a:p>
            <a:r>
              <a:rPr sz="1100" b="0">
                <a:solidFill>
                  <a:srgbClr val="252423"/>
                </a:solidFill>
                <a:latin typeface="Segoe UI"/>
              </a:rPr>
              <a:t>1,000 w to below 2,000 w followed by 2,000 w and above are expected to be the two most attractive output power rating segments in the global lithium polymer portable energy storage</a:t>
            </a:r>
          </a:p>
        </p:txBody>
      </p:sp>
      <p:sp>
        <p:nvSpPr>
          <p:cNvPr id="18" name="TextBox 17"/>
          <p:cNvSpPr txBox="1"/>
          <p:nvPr/>
        </p:nvSpPr>
        <p:spPr>
          <a:xfrm>
            <a:off x="257175" y="5861685"/>
            <a:ext cx="7664466" cy="186689"/>
          </a:xfrm>
          <a:prstGeom prst="rect">
            <a:avLst/>
          </a:prstGeom>
          <a:noFill/>
        </p:spPr>
        <p:txBody>
          <a:bodyPr wrap="none" lIns="0" rIns="0" tIns="0" bIns="0">
            <a:spAutoFit/>
          </a:bodyPr>
          <a:lstStyle/>
          <a:p>
            <a:r>
              <a:rPr sz="1100" b="0">
                <a:solidFill>
                  <a:srgbClr val="252423"/>
                </a:solidFill>
                <a:latin typeface="Segoe UI"/>
              </a:rPr>
              <a:t>market in terms of value over the forecast period. 1,000 w to below 2,000 w and 2,000 w and above exhibit a CAGR index of</a:t>
            </a:r>
          </a:p>
        </p:txBody>
      </p:sp>
      <p:pic>
        <p:nvPicPr>
          <p:cNvPr id="19" name="Picture 18" descr="lock.png"/>
          <p:cNvPicPr>
            <a:picLocks noChangeAspect="1"/>
          </p:cNvPicPr>
          <p:nvPr/>
        </p:nvPicPr>
        <p:blipFill>
          <a:blip r:embed="rId6"/>
          <a:stretch>
            <a:fillRect/>
          </a:stretch>
        </p:blipFill>
        <p:spPr>
          <a:xfrm>
            <a:off x="7869692" y="5851905"/>
            <a:ext cx="128699" cy="187198"/>
          </a:xfrm>
          <a:prstGeom prst="rect">
            <a:avLst/>
          </a:prstGeom>
        </p:spPr>
      </p:pic>
      <p:sp>
        <p:nvSpPr>
          <p:cNvPr id="20" name="TextBox 19"/>
          <p:cNvSpPr txBox="1"/>
          <p:nvPr/>
        </p:nvSpPr>
        <p:spPr>
          <a:xfrm>
            <a:off x="8037188"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8294182" y="5851905"/>
            <a:ext cx="128699" cy="187198"/>
          </a:xfrm>
          <a:prstGeom prst="rect">
            <a:avLst/>
          </a:prstGeom>
        </p:spPr>
      </p:pic>
      <p:sp>
        <p:nvSpPr>
          <p:cNvPr id="22" name="TextBox 21"/>
          <p:cNvSpPr txBox="1"/>
          <p:nvPr/>
        </p:nvSpPr>
        <p:spPr>
          <a:xfrm>
            <a:off x="8461678"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0200418" y="5851905"/>
            <a:ext cx="128699" cy="187198"/>
          </a:xfrm>
          <a:prstGeom prst="rect">
            <a:avLst/>
          </a:prstGeom>
        </p:spPr>
      </p:pic>
      <p:sp>
        <p:nvSpPr>
          <p:cNvPr id="24" name="TextBox 23"/>
          <p:cNvSpPr txBox="1"/>
          <p:nvPr/>
        </p:nvSpPr>
        <p:spPr>
          <a:xfrm>
            <a:off x="10367914"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10624908" y="5851905"/>
            <a:ext cx="128699" cy="187198"/>
          </a:xfrm>
          <a:prstGeom prst="rect">
            <a:avLst/>
          </a:prstGeom>
        </p:spPr>
      </p:pic>
      <p:sp>
        <p:nvSpPr>
          <p:cNvPr id="26" name="TextBox 25"/>
          <p:cNvSpPr txBox="1"/>
          <p:nvPr/>
        </p:nvSpPr>
        <p:spPr>
          <a:xfrm>
            <a:off x="257175"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017108" y="6019545"/>
            <a:ext cx="128699" cy="187198"/>
          </a:xfrm>
          <a:prstGeom prst="rect">
            <a:avLst/>
          </a:prstGeom>
        </p:spPr>
      </p:pic>
      <p:sp>
        <p:nvSpPr>
          <p:cNvPr id="28" name="TextBox 27"/>
          <p:cNvSpPr txBox="1"/>
          <p:nvPr/>
        </p:nvSpPr>
        <p:spPr>
          <a:xfrm>
            <a:off x="3184604" y="6029325"/>
            <a:ext cx="8703566" cy="186689"/>
          </a:xfrm>
          <a:prstGeom prst="rect">
            <a:avLst/>
          </a:prstGeom>
          <a:noFill/>
        </p:spPr>
        <p:txBody>
          <a:bodyPr wrap="none" lIns="0" rIns="0" tIns="0" bIns="0">
            <a:spAutoFit/>
          </a:bodyPr>
          <a:lstStyle/>
          <a:p>
            <a:r>
              <a:rPr sz="1100" b="0">
                <a:solidFill>
                  <a:srgbClr val="252423"/>
                </a:solidFill>
                <a:latin typeface="Segoe UI"/>
              </a:rPr>
              <a:t>. The 500 w to below 1,000 w segment is expected to be less attractive as compared to other segments over the forecast period, owing to its</a:t>
            </a:r>
          </a:p>
        </p:txBody>
      </p:sp>
      <p:sp>
        <p:nvSpPr>
          <p:cNvPr id="29" name="TextBox 28"/>
          <p:cNvSpPr txBox="1"/>
          <p:nvPr/>
        </p:nvSpPr>
        <p:spPr>
          <a:xfrm>
            <a:off x="257175" y="6196965"/>
            <a:ext cx="7359158" cy="186689"/>
          </a:xfrm>
          <a:prstGeom prst="rect">
            <a:avLst/>
          </a:prstGeom>
          <a:noFill/>
        </p:spPr>
        <p:txBody>
          <a:bodyPr wrap="none" lIns="0" rIns="0" tIns="0" bIns="0">
            <a:spAutoFit/>
          </a:bodyPr>
          <a:lstStyle/>
          <a:p>
            <a:r>
              <a:rPr sz="1100" b="0">
                <a:solidFill>
                  <a:srgbClr val="252423"/>
                </a:solidFill>
                <a:latin typeface="Segoe UI"/>
              </a:rPr>
              <a:t>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Output Power Rating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Below 500 W</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500 W to Below 1,000 W</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1,000 W to Below 2,000 W</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2,000 W and Above</a:t>
            </a:r>
          </a:p>
        </p:txBody>
      </p:sp>
      <p:graphicFrame>
        <p:nvGraphicFramePr>
          <p:cNvPr id="19" name="Chart 18"/>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Output Power Rating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Output Power Rating, 2021–2036, highlighting the sub-segments driving growth</a:t>
            </a:r>
          </a:p>
        </p:txBody>
      </p:sp>
      <p:sp>
        <p:nvSpPr>
          <p:cNvPr id="8" name="Rectangle 7"/>
          <p:cNvSpPr/>
          <p:nvPr/>
        </p:nvSpPr>
        <p:spPr>
          <a:xfrm>
            <a:off x="142875" y="981075"/>
            <a:ext cx="11906250" cy="1952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Output Power Rating (US$ Mn)</a:t>
            </a:r>
          </a:p>
        </p:txBody>
      </p:sp>
      <p:graphicFrame>
        <p:nvGraphicFramePr>
          <p:cNvPr id="10" name="Table 9"/>
          <p:cNvGraphicFramePr>
            <a:graphicFrameLocks noGrp="1"/>
          </p:cNvGraphicFramePr>
          <p:nvPr/>
        </p:nvGraphicFramePr>
        <p:xfrm>
          <a:off x="152400" y="1238250"/>
          <a:ext cx="11887204" cy="1485896"/>
        </p:xfrm>
        <a:graphic>
          <a:graphicData uri="http://schemas.openxmlformats.org/drawingml/2006/table">
            <a:tbl>
              <a:tblPr>
                <a:tableStyleId>{5C22544A-7EE6-4342-B048-85BDC9FD1C3A}</a:tableStyleId>
              </a:tblPr>
              <a:tblGrid>
                <a:gridCol w="2073381"/>
                <a:gridCol w="588793"/>
                <a:gridCol w="588793"/>
                <a:gridCol w="588793"/>
                <a:gridCol w="588793"/>
                <a:gridCol w="588793"/>
                <a:gridCol w="561996"/>
                <a:gridCol w="561996"/>
                <a:gridCol w="561996"/>
                <a:gridCol w="561996"/>
                <a:gridCol w="561996"/>
                <a:gridCol w="561996"/>
                <a:gridCol w="561996"/>
                <a:gridCol w="561996"/>
                <a:gridCol w="561996"/>
                <a:gridCol w="561996"/>
                <a:gridCol w="561996"/>
                <a:gridCol w="687902"/>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067050"/>
            <a:ext cx="11906250" cy="3562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Output Power Rating</a:t>
            </a:r>
          </a:p>
        </p:txBody>
      </p:sp>
      <p:sp>
        <p:nvSpPr>
          <p:cNvPr id="14" name="Rectangle 13"/>
          <p:cNvSpPr/>
          <p:nvPr/>
        </p:nvSpPr>
        <p:spPr>
          <a:xfrm>
            <a:off x="276225" y="33909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946002" y="1837563"/>
            <a:ext cx="366712" cy="533400"/>
          </a:xfrm>
          <a:prstGeom prst="rect">
            <a:avLst/>
          </a:prstGeom>
        </p:spPr>
      </p:pic>
      <p:sp>
        <p:nvSpPr>
          <p:cNvPr id="18" name="TextBox 17"/>
          <p:cNvSpPr txBox="1"/>
          <p:nvPr/>
        </p:nvSpPr>
        <p:spPr>
          <a:xfrm>
            <a:off x="276225" y="3486150"/>
            <a:ext cx="3796632" cy="194310"/>
          </a:xfrm>
          <a:prstGeom prst="rect">
            <a:avLst/>
          </a:prstGeom>
          <a:noFill/>
        </p:spPr>
        <p:txBody>
          <a:bodyPr wrap="none" lIns="0" rIns="0" tIns="0" bIns="0">
            <a:spAutoFit/>
          </a:bodyPr>
          <a:lstStyle/>
          <a:p>
            <a:r>
              <a:rPr sz="1150" b="0">
                <a:solidFill>
                  <a:srgbClr val="252423"/>
                </a:solidFill>
                <a:latin typeface="Segoe UI"/>
              </a:rPr>
              <a:t>1,000 w to below 2,000 w segment is projected to register</a:t>
            </a:r>
          </a:p>
        </p:txBody>
      </p:sp>
      <p:pic>
        <p:nvPicPr>
          <p:cNvPr id="19" name="Picture 18" descr="lock.png"/>
          <p:cNvPicPr>
            <a:picLocks noChangeAspect="1"/>
          </p:cNvPicPr>
          <p:nvPr/>
        </p:nvPicPr>
        <p:blipFill>
          <a:blip r:embed="rId4"/>
          <a:stretch>
            <a:fillRect/>
          </a:stretch>
        </p:blipFill>
        <p:spPr>
          <a:xfrm>
            <a:off x="4022011" y="3475926"/>
            <a:ext cx="134549" cy="195707"/>
          </a:xfrm>
          <a:prstGeom prst="rect">
            <a:avLst/>
          </a:prstGeom>
        </p:spPr>
      </p:pic>
      <p:sp>
        <p:nvSpPr>
          <p:cNvPr id="20" name="TextBox 19"/>
          <p:cNvSpPr txBox="1"/>
          <p:nvPr/>
        </p:nvSpPr>
        <p:spPr>
          <a:xfrm>
            <a:off x="4197121" y="3486150"/>
            <a:ext cx="7552098" cy="194310"/>
          </a:xfrm>
          <a:prstGeom prst="rect">
            <a:avLst/>
          </a:prstGeom>
          <a:noFill/>
        </p:spPr>
        <p:txBody>
          <a:bodyPr wrap="none" lIns="0" rIns="0" tIns="0" bIns="0">
            <a:spAutoFit/>
          </a:bodyPr>
          <a:lstStyle/>
          <a:p>
            <a:r>
              <a:rPr sz="1150" b="0">
                <a:solidFill>
                  <a:srgbClr val="252423"/>
                </a:solidFill>
                <a:latin typeface="Segoe UI"/>
              </a:rPr>
              <a:t>X higher value than 2,000 w and above segment in 2036. Among lithium polymer portable energy storage by output</a:t>
            </a:r>
          </a:p>
        </p:txBody>
      </p:sp>
      <p:sp>
        <p:nvSpPr>
          <p:cNvPr id="21" name="TextBox 20"/>
          <p:cNvSpPr txBox="1"/>
          <p:nvPr/>
        </p:nvSpPr>
        <p:spPr>
          <a:xfrm>
            <a:off x="276225" y="3661410"/>
            <a:ext cx="5995940" cy="194310"/>
          </a:xfrm>
          <a:prstGeom prst="rect">
            <a:avLst/>
          </a:prstGeom>
          <a:noFill/>
        </p:spPr>
        <p:txBody>
          <a:bodyPr wrap="none" lIns="0" rIns="0" tIns="0" bIns="0">
            <a:spAutoFit/>
          </a:bodyPr>
          <a:lstStyle/>
          <a:p>
            <a:r>
              <a:rPr sz="1150" b="0">
                <a:solidFill>
                  <a:srgbClr val="252423"/>
                </a:solidFill>
                <a:latin typeface="Segoe UI"/>
              </a:rPr>
              <a:t>power rating, 1,000 w to below 2,000 w segment is expected to witness the highest CAGR of</a:t>
            </a:r>
          </a:p>
        </p:txBody>
      </p:sp>
      <p:pic>
        <p:nvPicPr>
          <p:cNvPr id="22" name="Picture 21" descr="lock.png"/>
          <p:cNvPicPr>
            <a:picLocks noChangeAspect="1"/>
          </p:cNvPicPr>
          <p:nvPr/>
        </p:nvPicPr>
        <p:blipFill>
          <a:blip r:embed="rId4"/>
          <a:stretch>
            <a:fillRect/>
          </a:stretch>
        </p:blipFill>
        <p:spPr>
          <a:xfrm>
            <a:off x="6221319" y="3651186"/>
            <a:ext cx="134549" cy="195707"/>
          </a:xfrm>
          <a:prstGeom prst="rect">
            <a:avLst/>
          </a:prstGeom>
        </p:spPr>
      </p:pic>
      <p:sp>
        <p:nvSpPr>
          <p:cNvPr id="23" name="TextBox 22"/>
          <p:cNvSpPr txBox="1"/>
          <p:nvPr/>
        </p:nvSpPr>
        <p:spPr>
          <a:xfrm>
            <a:off x="6396428" y="36614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889247"/>
            <a:ext cx="8508332" cy="194310"/>
          </a:xfrm>
          <a:prstGeom prst="rect">
            <a:avLst/>
          </a:prstGeom>
          <a:noFill/>
        </p:spPr>
        <p:txBody>
          <a:bodyPr wrap="none" lIns="0" rIns="0" tIns="0" bIns="0">
            <a:spAutoFit/>
          </a:bodyPr>
          <a:lstStyle/>
          <a:p>
            <a:r>
              <a:rPr sz="1150" b="0">
                <a:solidFill>
                  <a:srgbClr val="252423"/>
                </a:solidFill>
                <a:latin typeface="Segoe UI"/>
              </a:rPr>
              <a:t>In terms of value share by output power rating, the 1,000 w to below 2,000 w segment is expected to dominate the market, gaining</a:t>
            </a:r>
          </a:p>
        </p:txBody>
      </p:sp>
      <p:pic>
        <p:nvPicPr>
          <p:cNvPr id="25" name="Picture 24" descr="lock.png"/>
          <p:cNvPicPr>
            <a:picLocks noChangeAspect="1"/>
          </p:cNvPicPr>
          <p:nvPr/>
        </p:nvPicPr>
        <p:blipFill>
          <a:blip r:embed="rId4"/>
          <a:stretch>
            <a:fillRect/>
          </a:stretch>
        </p:blipFill>
        <p:spPr>
          <a:xfrm>
            <a:off x="8733711" y="3879024"/>
            <a:ext cx="134549" cy="195707"/>
          </a:xfrm>
          <a:prstGeom prst="rect">
            <a:avLst/>
          </a:prstGeom>
        </p:spPr>
      </p:pic>
      <p:sp>
        <p:nvSpPr>
          <p:cNvPr id="26" name="TextBox 25"/>
          <p:cNvSpPr txBox="1"/>
          <p:nvPr/>
        </p:nvSpPr>
        <p:spPr>
          <a:xfrm>
            <a:off x="8908820" y="38892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437177" y="3879024"/>
            <a:ext cx="134549" cy="195707"/>
          </a:xfrm>
          <a:prstGeom prst="rect">
            <a:avLst/>
          </a:prstGeom>
        </p:spPr>
      </p:pic>
      <p:sp>
        <p:nvSpPr>
          <p:cNvPr id="28" name="TextBox 27"/>
          <p:cNvSpPr txBox="1"/>
          <p:nvPr/>
        </p:nvSpPr>
        <p:spPr>
          <a:xfrm>
            <a:off x="10612286" y="38892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29" name="TextBox 28"/>
          <p:cNvSpPr txBox="1"/>
          <p:nvPr/>
        </p:nvSpPr>
        <p:spPr>
          <a:xfrm>
            <a:off x="276225" y="4064507"/>
            <a:ext cx="3395365" cy="194310"/>
          </a:xfrm>
          <a:prstGeom prst="rect">
            <a:avLst/>
          </a:prstGeom>
          <a:noFill/>
        </p:spPr>
        <p:txBody>
          <a:bodyPr wrap="none" lIns="0" rIns="0" tIns="0" bIns="0">
            <a:spAutoFit/>
          </a:bodyPr>
          <a:lstStyle/>
          <a:p>
            <a:r>
              <a:rPr sz="1150" b="0">
                <a:solidFill>
                  <a:srgbClr val="252423"/>
                </a:solidFill>
                <a:latin typeface="Segoe UI"/>
              </a:rPr>
              <a:t>The 2,000 w and above segment is expected to lose</a:t>
            </a:r>
          </a:p>
        </p:txBody>
      </p:sp>
      <p:pic>
        <p:nvPicPr>
          <p:cNvPr id="30" name="Picture 29" descr="lock.png"/>
          <p:cNvPicPr>
            <a:picLocks noChangeAspect="1"/>
          </p:cNvPicPr>
          <p:nvPr/>
        </p:nvPicPr>
        <p:blipFill>
          <a:blip r:embed="rId4"/>
          <a:stretch>
            <a:fillRect/>
          </a:stretch>
        </p:blipFill>
        <p:spPr>
          <a:xfrm>
            <a:off x="3620744" y="4054284"/>
            <a:ext cx="134549" cy="195707"/>
          </a:xfrm>
          <a:prstGeom prst="rect">
            <a:avLst/>
          </a:prstGeom>
        </p:spPr>
      </p:pic>
      <p:sp>
        <p:nvSpPr>
          <p:cNvPr id="31" name="TextBox 30"/>
          <p:cNvSpPr txBox="1"/>
          <p:nvPr/>
        </p:nvSpPr>
        <p:spPr>
          <a:xfrm>
            <a:off x="3795853" y="40645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6595239" y="4054284"/>
            <a:ext cx="134549" cy="195707"/>
          </a:xfrm>
          <a:prstGeom prst="rect">
            <a:avLst/>
          </a:prstGeom>
        </p:spPr>
      </p:pic>
      <p:sp>
        <p:nvSpPr>
          <p:cNvPr id="33" name="TextBox 32"/>
          <p:cNvSpPr txBox="1"/>
          <p:nvPr/>
        </p:nvSpPr>
        <p:spPr>
          <a:xfrm>
            <a:off x="6770348" y="40645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Output Power Rating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Output Power Rating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80296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9820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72200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500 W to Below 1,000 W</a:t>
            </a:r>
          </a:p>
        </p:txBody>
      </p:sp>
      <p:sp>
        <p:nvSpPr>
          <p:cNvPr id="16" name="BPS Value 1"/>
          <p:cNvSpPr txBox="1"/>
          <p:nvPr/>
        </p:nvSpPr>
        <p:spPr>
          <a:xfrm>
            <a:off x="6896100" y="178391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24431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223954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16334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Below 500 W</a:t>
            </a:r>
          </a:p>
        </p:txBody>
      </p:sp>
      <p:sp>
        <p:nvSpPr>
          <p:cNvPr id="20" name="BPS Value 2"/>
          <p:cNvSpPr txBox="1"/>
          <p:nvPr/>
        </p:nvSpPr>
        <p:spPr>
          <a:xfrm>
            <a:off x="6896100" y="222526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928997" y="317501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317025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0940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2,000 W and Above</a:t>
            </a:r>
          </a:p>
        </p:txBody>
      </p:sp>
      <p:sp>
        <p:nvSpPr>
          <p:cNvPr id="24" name="BPS Value 3"/>
          <p:cNvSpPr txBox="1"/>
          <p:nvPr/>
        </p:nvSpPr>
        <p:spPr>
          <a:xfrm>
            <a:off x="6896100" y="315596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928997" y="501986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01510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493890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1,000 W to Below 2,000 W</a:t>
            </a:r>
          </a:p>
        </p:txBody>
      </p:sp>
      <p:sp>
        <p:nvSpPr>
          <p:cNvPr id="28" name="BPS Value 4"/>
          <p:cNvSpPr txBox="1"/>
          <p:nvPr/>
        </p:nvSpPr>
        <p:spPr>
          <a:xfrm>
            <a:off x="6896100" y="5000816"/>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Output Power Rating</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72662"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output</a:t>
            </a:r>
          </a:p>
        </p:txBody>
      </p:sp>
      <p:sp>
        <p:nvSpPr>
          <p:cNvPr id="36" name="TextBox 35"/>
          <p:cNvSpPr txBox="1"/>
          <p:nvPr/>
        </p:nvSpPr>
        <p:spPr>
          <a:xfrm>
            <a:off x="7829550" y="1575435"/>
            <a:ext cx="3960743" cy="194310"/>
          </a:xfrm>
          <a:prstGeom prst="rect">
            <a:avLst/>
          </a:prstGeom>
          <a:noFill/>
        </p:spPr>
        <p:txBody>
          <a:bodyPr wrap="none" lIns="0" rIns="0" tIns="0" bIns="0">
            <a:spAutoFit/>
          </a:bodyPr>
          <a:lstStyle/>
          <a:p>
            <a:r>
              <a:rPr sz="1150" b="0">
                <a:solidFill>
                  <a:srgbClr val="252423"/>
                </a:solidFill>
                <a:latin typeface="Segoe UI"/>
              </a:rPr>
              <a:t>power rating, 1,000 w to below 2,000 w segment is expected</a:t>
            </a:r>
          </a:p>
        </p:txBody>
      </p:sp>
      <p:sp>
        <p:nvSpPr>
          <p:cNvPr id="37" name="TextBox 36"/>
          <p:cNvSpPr txBox="1"/>
          <p:nvPr/>
        </p:nvSpPr>
        <p:spPr>
          <a:xfrm>
            <a:off x="7829550" y="1750695"/>
            <a:ext cx="2071461" cy="194310"/>
          </a:xfrm>
          <a:prstGeom prst="rect">
            <a:avLst/>
          </a:prstGeom>
          <a:noFill/>
        </p:spPr>
        <p:txBody>
          <a:bodyPr wrap="none" lIns="0" rIns="0" tIns="0" bIns="0">
            <a:spAutoFit/>
          </a:bodyPr>
          <a:lstStyle/>
          <a:p>
            <a:r>
              <a:rPr sz="1150" b="0">
                <a:solidFill>
                  <a:srgbClr val="252423"/>
                </a:solidFill>
                <a:latin typeface="Segoe UI"/>
              </a:rPr>
              <a:t>to witness the highest CAGR of</a:t>
            </a:r>
          </a:p>
        </p:txBody>
      </p:sp>
      <p:pic>
        <p:nvPicPr>
          <p:cNvPr id="38" name="Picture 37" descr="lock.png"/>
          <p:cNvPicPr>
            <a:picLocks noChangeAspect="1"/>
          </p:cNvPicPr>
          <p:nvPr/>
        </p:nvPicPr>
        <p:blipFill>
          <a:blip r:embed="rId5"/>
          <a:stretch>
            <a:fillRect/>
          </a:stretch>
        </p:blipFill>
        <p:spPr>
          <a:xfrm>
            <a:off x="9850165" y="1740471"/>
            <a:ext cx="134549" cy="195707"/>
          </a:xfrm>
          <a:prstGeom prst="rect">
            <a:avLst/>
          </a:prstGeom>
        </p:spPr>
      </p:pic>
      <p:sp>
        <p:nvSpPr>
          <p:cNvPr id="39" name="TextBox 38"/>
          <p:cNvSpPr txBox="1"/>
          <p:nvPr/>
        </p:nvSpPr>
        <p:spPr>
          <a:xfrm>
            <a:off x="10025275"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0" name="TextBox 39"/>
          <p:cNvSpPr txBox="1"/>
          <p:nvPr/>
        </p:nvSpPr>
        <p:spPr>
          <a:xfrm>
            <a:off x="7829550" y="1925955"/>
            <a:ext cx="4057650" cy="194310"/>
          </a:xfrm>
          <a:prstGeom prst="rect">
            <a:avLst/>
          </a:prstGeom>
          <a:noFill/>
        </p:spPr>
        <p:txBody>
          <a:bodyPr wrap="none" lIns="0" rIns="0" tIns="0" bIns="0">
            <a:spAutoFit/>
          </a:bodyPr>
          <a:lstStyle/>
          <a:p>
            <a:r>
              <a:rPr sz="1150" b="0">
                <a:solidFill>
                  <a:srgbClr val="252423"/>
                </a:solidFill>
                <a:latin typeface="Segoe UI"/>
              </a:rPr>
              <a:t>In terms of value share by output power rating, the 1,000 w to</a:t>
            </a:r>
          </a:p>
        </p:txBody>
      </p:sp>
      <p:sp>
        <p:nvSpPr>
          <p:cNvPr id="41" name="TextBox 40"/>
          <p:cNvSpPr txBox="1"/>
          <p:nvPr/>
        </p:nvSpPr>
        <p:spPr>
          <a:xfrm>
            <a:off x="7829550" y="2101215"/>
            <a:ext cx="3960119" cy="194310"/>
          </a:xfrm>
          <a:prstGeom prst="rect">
            <a:avLst/>
          </a:prstGeom>
          <a:noFill/>
        </p:spPr>
        <p:txBody>
          <a:bodyPr wrap="none" lIns="0" rIns="0" tIns="0" bIns="0">
            <a:spAutoFit/>
          </a:bodyPr>
          <a:lstStyle/>
          <a:p>
            <a:r>
              <a:rPr sz="1150" b="0">
                <a:solidFill>
                  <a:srgbClr val="252423"/>
                </a:solidFill>
                <a:latin typeface="Segoe UI"/>
              </a:rPr>
              <a:t>below 2,000 w segment is expected to dominate the market,</a:t>
            </a:r>
          </a:p>
        </p:txBody>
      </p:sp>
      <p:sp>
        <p:nvSpPr>
          <p:cNvPr id="42" name="TextBox 41"/>
          <p:cNvSpPr txBox="1"/>
          <p:nvPr/>
        </p:nvSpPr>
        <p:spPr>
          <a:xfrm>
            <a:off x="7829550" y="2276475"/>
            <a:ext cx="559134" cy="194310"/>
          </a:xfrm>
          <a:prstGeom prst="rect">
            <a:avLst/>
          </a:prstGeom>
          <a:noFill/>
        </p:spPr>
        <p:txBody>
          <a:bodyPr wrap="none" lIns="0" rIns="0" tIns="0" bIns="0">
            <a:spAutoFit/>
          </a:bodyPr>
          <a:lstStyle/>
          <a:p>
            <a:r>
              <a:rPr sz="1150" b="0">
                <a:solidFill>
                  <a:srgbClr val="252423"/>
                </a:solidFill>
                <a:latin typeface="Segoe UI"/>
              </a:rPr>
              <a:t>gaining</a:t>
            </a:r>
          </a:p>
        </p:txBody>
      </p:sp>
      <p:pic>
        <p:nvPicPr>
          <p:cNvPr id="43" name="Picture 42" descr="lock.png"/>
          <p:cNvPicPr>
            <a:picLocks noChangeAspect="1"/>
          </p:cNvPicPr>
          <p:nvPr/>
        </p:nvPicPr>
        <p:blipFill>
          <a:blip r:embed="rId5"/>
          <a:stretch>
            <a:fillRect/>
          </a:stretch>
        </p:blipFill>
        <p:spPr>
          <a:xfrm>
            <a:off x="8337838" y="2266251"/>
            <a:ext cx="134549" cy="195707"/>
          </a:xfrm>
          <a:prstGeom prst="rect">
            <a:avLst/>
          </a:prstGeom>
        </p:spPr>
      </p:pic>
      <p:sp>
        <p:nvSpPr>
          <p:cNvPr id="44" name="TextBox 43"/>
          <p:cNvSpPr txBox="1"/>
          <p:nvPr/>
        </p:nvSpPr>
        <p:spPr>
          <a:xfrm>
            <a:off x="8512948" y="2276475"/>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5" name="Picture 44" descr="lock.png"/>
          <p:cNvPicPr>
            <a:picLocks noChangeAspect="1"/>
          </p:cNvPicPr>
          <p:nvPr/>
        </p:nvPicPr>
        <p:blipFill>
          <a:blip r:embed="rId5"/>
          <a:stretch>
            <a:fillRect/>
          </a:stretch>
        </p:blipFill>
        <p:spPr>
          <a:xfrm>
            <a:off x="10041304" y="2266251"/>
            <a:ext cx="134549" cy="195707"/>
          </a:xfrm>
          <a:prstGeom prst="rect">
            <a:avLst/>
          </a:prstGeom>
        </p:spPr>
      </p:pic>
      <p:sp>
        <p:nvSpPr>
          <p:cNvPr id="46" name="TextBox 45"/>
          <p:cNvSpPr txBox="1"/>
          <p:nvPr/>
        </p:nvSpPr>
        <p:spPr>
          <a:xfrm>
            <a:off x="10216414" y="227647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7" name="TextBox 46"/>
          <p:cNvSpPr txBox="1"/>
          <p:nvPr/>
        </p:nvSpPr>
        <p:spPr>
          <a:xfrm>
            <a:off x="7829550" y="2504313"/>
            <a:ext cx="3395365" cy="194310"/>
          </a:xfrm>
          <a:prstGeom prst="rect">
            <a:avLst/>
          </a:prstGeom>
          <a:noFill/>
        </p:spPr>
        <p:txBody>
          <a:bodyPr wrap="none" lIns="0" rIns="0" tIns="0" bIns="0">
            <a:spAutoFit/>
          </a:bodyPr>
          <a:lstStyle/>
          <a:p>
            <a:r>
              <a:rPr sz="1150" b="0">
                <a:solidFill>
                  <a:srgbClr val="252423"/>
                </a:solidFill>
                <a:latin typeface="Segoe UI"/>
              </a:rPr>
              <a:t>The 2,000 w and above segment is expected to lose</a:t>
            </a:r>
          </a:p>
        </p:txBody>
      </p:sp>
      <p:pic>
        <p:nvPicPr>
          <p:cNvPr id="48" name="Picture 47" descr="lock.png"/>
          <p:cNvPicPr>
            <a:picLocks noChangeAspect="1"/>
          </p:cNvPicPr>
          <p:nvPr/>
        </p:nvPicPr>
        <p:blipFill>
          <a:blip r:embed="rId5"/>
          <a:stretch>
            <a:fillRect/>
          </a:stretch>
        </p:blipFill>
        <p:spPr>
          <a:xfrm>
            <a:off x="11174069" y="2494089"/>
            <a:ext cx="134549" cy="195707"/>
          </a:xfrm>
          <a:prstGeom prst="rect">
            <a:avLst/>
          </a:prstGeom>
        </p:spPr>
      </p:pic>
      <p:sp>
        <p:nvSpPr>
          <p:cNvPr id="49" name="TextBox 48"/>
          <p:cNvSpPr txBox="1"/>
          <p:nvPr/>
        </p:nvSpPr>
        <p:spPr>
          <a:xfrm>
            <a:off x="11349178" y="2504313"/>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50" name="TextBox 49"/>
          <p:cNvSpPr txBox="1"/>
          <p:nvPr/>
        </p:nvSpPr>
        <p:spPr>
          <a:xfrm>
            <a:off x="7829550" y="2679573"/>
            <a:ext cx="2566974" cy="194310"/>
          </a:xfrm>
          <a:prstGeom prst="rect">
            <a:avLst/>
          </a:prstGeom>
          <a:noFill/>
        </p:spPr>
        <p:txBody>
          <a:bodyPr wrap="none" lIns="0" rIns="0" tIns="0" bIns="0">
            <a:spAutoFit/>
          </a:bodyPr>
          <a:lstStyle/>
          <a:p>
            <a:r>
              <a:rPr sz="1150" b="0">
                <a:solidFill>
                  <a:srgbClr val="252423"/>
                </a:solidFill>
                <a:latin typeface="Segoe UI"/>
              </a:rPr>
              <a:t>over the forecast period to account for</a:t>
            </a:r>
          </a:p>
        </p:txBody>
      </p:sp>
      <p:pic>
        <p:nvPicPr>
          <p:cNvPr id="51" name="Picture 50" descr="lock.png"/>
          <p:cNvPicPr>
            <a:picLocks noChangeAspect="1"/>
          </p:cNvPicPr>
          <p:nvPr/>
        </p:nvPicPr>
        <p:blipFill>
          <a:blip r:embed="rId5"/>
          <a:stretch>
            <a:fillRect/>
          </a:stretch>
        </p:blipFill>
        <p:spPr>
          <a:xfrm>
            <a:off x="10345678" y="2669349"/>
            <a:ext cx="134549" cy="195707"/>
          </a:xfrm>
          <a:prstGeom prst="rect">
            <a:avLst/>
          </a:prstGeom>
        </p:spPr>
      </p:pic>
      <p:sp>
        <p:nvSpPr>
          <p:cNvPr id="52" name="TextBox 51"/>
          <p:cNvSpPr txBox="1"/>
          <p:nvPr/>
        </p:nvSpPr>
        <p:spPr>
          <a:xfrm>
            <a:off x="10520787"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System Architecture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System Architecture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System Architecture,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System Architecture segment categorizes the market by system architecture.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AC/DC Portable Power Stations</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DC-Only Portable Battery Systems</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System Architecture split shows how demand is distributed across system architecture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348_7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_027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11_4__605E5C.png"/>
          <p:cNvPicPr>
            <a:picLocks noChangeAspect="1"/>
          </p:cNvPicPr>
          <p:nvPr/>
        </p:nvPicPr>
        <p:blipFill>
          <a:blip r:embed="rId6"/>
          <a:stretch>
            <a:fillRect/>
          </a:stretch>
        </p:blipFill>
        <p:spPr>
          <a:xfrm>
            <a:off x="3740773" y="3272281"/>
            <a:ext cx="1195728" cy="361950"/>
          </a:xfrm>
          <a:prstGeom prst="rect">
            <a:avLst/>
          </a:prstGeom>
        </p:spPr>
      </p:pic>
      <p:pic>
        <p:nvPicPr>
          <p:cNvPr id="50" name="Picture 49" descr="301_3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922_7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11_8__605E5C.png"/>
          <p:cNvPicPr>
            <a:picLocks noChangeAspect="1"/>
          </p:cNvPicPr>
          <p:nvPr/>
        </p:nvPicPr>
        <p:blipFill>
          <a:blip r:embed="rId9"/>
          <a:stretch>
            <a:fillRect/>
          </a:stretch>
        </p:blipFill>
        <p:spPr>
          <a:xfrm>
            <a:off x="8798548" y="3272281"/>
            <a:ext cx="1195728"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56" name="TextBox 55"/>
          <p:cNvSpPr txBox="1"/>
          <p:nvPr/>
        </p:nvSpPr>
        <p:spPr>
          <a:xfrm>
            <a:off x="485775" y="4390371"/>
            <a:ext cx="2910637" cy="179984"/>
          </a:xfrm>
          <a:prstGeom prst="rect">
            <a:avLst/>
          </a:prstGeom>
          <a:noFill/>
        </p:spPr>
        <p:txBody>
          <a:bodyPr wrap="none" lIns="0" rIns="0" tIns="0" bIns="0">
            <a:spAutoFit/>
          </a:bodyPr>
          <a:lstStyle/>
          <a:p>
            <a:r>
              <a:rPr sz="1055" b="0">
                <a:solidFill>
                  <a:srgbClr val="252423"/>
                </a:solidFill>
                <a:latin typeface="Segoe UI"/>
              </a:rPr>
              <a:t>by system architecture, dc-only portable battery</a:t>
            </a:r>
          </a:p>
        </p:txBody>
      </p:sp>
      <p:sp>
        <p:nvSpPr>
          <p:cNvPr id="57" name="TextBox 56"/>
          <p:cNvSpPr txBox="1"/>
          <p:nvPr/>
        </p:nvSpPr>
        <p:spPr>
          <a:xfrm>
            <a:off x="485775" y="4551305"/>
            <a:ext cx="2654139" cy="179984"/>
          </a:xfrm>
          <a:prstGeom prst="rect">
            <a:avLst/>
          </a:prstGeom>
          <a:noFill/>
        </p:spPr>
        <p:txBody>
          <a:bodyPr wrap="none" lIns="0" rIns="0" tIns="0" bIns="0">
            <a:spAutoFit/>
          </a:bodyPr>
          <a:lstStyle/>
          <a:p>
            <a:r>
              <a:rPr sz="1055" b="0">
                <a:solidFill>
                  <a:srgbClr val="252423"/>
                </a:solidFill>
                <a:latin typeface="Segoe UI"/>
              </a:rPr>
              <a:t>systems segment is expected to witness the</a:t>
            </a:r>
          </a:p>
        </p:txBody>
      </p:sp>
      <p:sp>
        <p:nvSpPr>
          <p:cNvPr id="58" name="TextBox 57"/>
          <p:cNvSpPr txBox="1"/>
          <p:nvPr/>
        </p:nvSpPr>
        <p:spPr>
          <a:xfrm>
            <a:off x="485775" y="4712240"/>
            <a:ext cx="1047660" cy="179984"/>
          </a:xfrm>
          <a:prstGeom prst="rect">
            <a:avLst/>
          </a:prstGeom>
          <a:noFill/>
        </p:spPr>
        <p:txBody>
          <a:bodyPr wrap="none" lIns="0" rIns="0" tIns="0" bIns="0">
            <a:spAutoFit/>
          </a:bodyPr>
          <a:lstStyle/>
          <a:p>
            <a:r>
              <a:rPr sz="1055" b="0">
                <a:solidFill>
                  <a:srgbClr val="252423"/>
                </a:solidFill>
                <a:latin typeface="Segoe UI"/>
              </a:rPr>
              <a:t>highest CAGR of</a:t>
            </a:r>
          </a:p>
        </p:txBody>
      </p:sp>
      <p:pic>
        <p:nvPicPr>
          <p:cNvPr id="59" name="Picture 58" descr="lock.png"/>
          <p:cNvPicPr>
            <a:picLocks noChangeAspect="1"/>
          </p:cNvPicPr>
          <p:nvPr/>
        </p:nvPicPr>
        <p:blipFill>
          <a:blip r:embed="rId10"/>
          <a:stretch>
            <a:fillRect/>
          </a:stretch>
        </p:blipFill>
        <p:spPr>
          <a:xfrm>
            <a:off x="1480517" y="4702852"/>
            <a:ext cx="123551" cy="179710"/>
          </a:xfrm>
          <a:prstGeom prst="rect">
            <a:avLst/>
          </a:prstGeom>
        </p:spPr>
      </p:pic>
      <p:sp>
        <p:nvSpPr>
          <p:cNvPr id="60" name="TextBox 59"/>
          <p:cNvSpPr txBox="1"/>
          <p:nvPr/>
        </p:nvSpPr>
        <p:spPr>
          <a:xfrm>
            <a:off x="1641313" y="4712240"/>
            <a:ext cx="1670834" cy="179984"/>
          </a:xfrm>
          <a:prstGeom prst="rect">
            <a:avLst/>
          </a:prstGeom>
          <a:noFill/>
        </p:spPr>
        <p:txBody>
          <a:bodyPr wrap="none" lIns="0" rIns="0" tIns="0" bIns="0">
            <a:spAutoFit/>
          </a:bodyPr>
          <a:lstStyle/>
          <a:p>
            <a:r>
              <a:rPr sz="1055" b="0">
                <a:solidFill>
                  <a:srgbClr val="252423"/>
                </a:solidFill>
                <a:latin typeface="Segoe UI"/>
              </a:rPr>
              <a:t>over the forecast period. In</a:t>
            </a:r>
          </a:p>
        </p:txBody>
      </p:sp>
      <p:sp>
        <p:nvSpPr>
          <p:cNvPr id="61" name="TextBox 60"/>
          <p:cNvSpPr txBox="1"/>
          <p:nvPr/>
        </p:nvSpPr>
        <p:spPr>
          <a:xfrm>
            <a:off x="485775" y="4873174"/>
            <a:ext cx="2893386" cy="179984"/>
          </a:xfrm>
          <a:prstGeom prst="rect">
            <a:avLst/>
          </a:prstGeom>
          <a:noFill/>
        </p:spPr>
        <p:txBody>
          <a:bodyPr wrap="none" lIns="0" rIns="0" tIns="0" bIns="0">
            <a:spAutoFit/>
          </a:bodyPr>
          <a:lstStyle/>
          <a:p>
            <a:r>
              <a:rPr sz="1055" b="0">
                <a:solidFill>
                  <a:srgbClr val="252423"/>
                </a:solidFill>
                <a:latin typeface="Segoe UI"/>
              </a:rPr>
              <a:t>terms of value share by system architecture, the</a:t>
            </a:r>
          </a:p>
        </p:txBody>
      </p:sp>
      <p:sp>
        <p:nvSpPr>
          <p:cNvPr id="62" name="TextBox 61"/>
          <p:cNvSpPr txBox="1"/>
          <p:nvPr/>
        </p:nvSpPr>
        <p:spPr>
          <a:xfrm>
            <a:off x="485775" y="5034109"/>
            <a:ext cx="2592134" cy="179984"/>
          </a:xfrm>
          <a:prstGeom prst="rect">
            <a:avLst/>
          </a:prstGeom>
          <a:noFill/>
        </p:spPr>
        <p:txBody>
          <a:bodyPr wrap="none" lIns="0" rIns="0" tIns="0" bIns="0">
            <a:spAutoFit/>
          </a:bodyPr>
          <a:lstStyle/>
          <a:p>
            <a:r>
              <a:rPr sz="1055" b="0">
                <a:solidFill>
                  <a:srgbClr val="252423"/>
                </a:solidFill>
                <a:latin typeface="Segoe UI"/>
              </a:rPr>
              <a:t>AC/DC portable power stations segment is</a:t>
            </a:r>
          </a:p>
        </p:txBody>
      </p:sp>
      <p:sp>
        <p:nvSpPr>
          <p:cNvPr id="63" name="TextBox 62"/>
          <p:cNvSpPr txBox="1"/>
          <p:nvPr/>
        </p:nvSpPr>
        <p:spPr>
          <a:xfrm>
            <a:off x="485775" y="5195043"/>
            <a:ext cx="2476505" cy="179984"/>
          </a:xfrm>
          <a:prstGeom prst="rect">
            <a:avLst/>
          </a:prstGeom>
          <a:noFill/>
        </p:spPr>
        <p:txBody>
          <a:bodyPr wrap="none" lIns="0" rIns="0" tIns="0" bIns="0">
            <a:spAutoFit/>
          </a:bodyPr>
          <a:lstStyle/>
          <a:p>
            <a:r>
              <a:rPr sz="1055" b="0">
                <a:solidFill>
                  <a:srgbClr val="252423"/>
                </a:solidFill>
                <a:latin typeface="Segoe UI"/>
              </a:rPr>
              <a:t>expected to dominate the market, losing</a:t>
            </a:r>
          </a:p>
        </p:txBody>
      </p:sp>
      <p:pic>
        <p:nvPicPr>
          <p:cNvPr id="64" name="Picture 63" descr="lock.png"/>
          <p:cNvPicPr>
            <a:picLocks noChangeAspect="1"/>
          </p:cNvPicPr>
          <p:nvPr/>
        </p:nvPicPr>
        <p:blipFill>
          <a:blip r:embed="rId10"/>
          <a:stretch>
            <a:fillRect/>
          </a:stretch>
        </p:blipFill>
        <p:spPr>
          <a:xfrm>
            <a:off x="2909361" y="5185655"/>
            <a:ext cx="123551" cy="179710"/>
          </a:xfrm>
          <a:prstGeom prst="rect">
            <a:avLst/>
          </a:prstGeom>
        </p:spPr>
      </p:pic>
      <p:sp>
        <p:nvSpPr>
          <p:cNvPr id="65" name="TextBox 64"/>
          <p:cNvSpPr txBox="1"/>
          <p:nvPr/>
        </p:nvSpPr>
        <p:spPr>
          <a:xfrm>
            <a:off x="485775" y="5355977"/>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66" name="Picture 65" descr="lock.png"/>
          <p:cNvPicPr>
            <a:picLocks noChangeAspect="1"/>
          </p:cNvPicPr>
          <p:nvPr/>
        </p:nvPicPr>
        <p:blipFill>
          <a:blip r:embed="rId10"/>
          <a:stretch>
            <a:fillRect/>
          </a:stretch>
        </p:blipFill>
        <p:spPr>
          <a:xfrm>
            <a:off x="1889205" y="5346589"/>
            <a:ext cx="123551" cy="179710"/>
          </a:xfrm>
          <a:prstGeom prst="rect">
            <a:avLst/>
          </a:prstGeom>
        </p:spPr>
      </p:pic>
      <p:sp>
        <p:nvSpPr>
          <p:cNvPr id="67" name="TextBox 66"/>
          <p:cNvSpPr txBox="1"/>
          <p:nvPr/>
        </p:nvSpPr>
        <p:spPr>
          <a:xfrm>
            <a:off x="2050001"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68" name="TextBox 67"/>
          <p:cNvSpPr txBox="1"/>
          <p:nvPr/>
        </p:nvSpPr>
        <p:spPr>
          <a:xfrm>
            <a:off x="485775" y="5565192"/>
            <a:ext cx="2592134" cy="179984"/>
          </a:xfrm>
          <a:prstGeom prst="rect">
            <a:avLst/>
          </a:prstGeom>
          <a:noFill/>
        </p:spPr>
        <p:txBody>
          <a:bodyPr wrap="none" lIns="0" rIns="0" tIns="0" bIns="0">
            <a:spAutoFit/>
          </a:bodyPr>
          <a:lstStyle/>
          <a:p>
            <a:r>
              <a:rPr sz="1055" b="0">
                <a:solidFill>
                  <a:srgbClr val="252423"/>
                </a:solidFill>
                <a:latin typeface="Segoe UI"/>
              </a:rPr>
              <a:t>AC/DC portable power stations segment is</a:t>
            </a:r>
          </a:p>
        </p:txBody>
      </p:sp>
      <p:sp>
        <p:nvSpPr>
          <p:cNvPr id="69" name="TextBox 68"/>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70" name="Picture 69" descr="lock.png"/>
          <p:cNvPicPr>
            <a:picLocks noChangeAspect="1"/>
          </p:cNvPicPr>
          <p:nvPr/>
        </p:nvPicPr>
        <p:blipFill>
          <a:blip r:embed="rId10"/>
          <a:stretch>
            <a:fillRect/>
          </a:stretch>
        </p:blipFill>
        <p:spPr>
          <a:xfrm>
            <a:off x="1717791" y="5716739"/>
            <a:ext cx="123551" cy="179710"/>
          </a:xfrm>
          <a:prstGeom prst="rect">
            <a:avLst/>
          </a:prstGeom>
        </p:spPr>
      </p:pic>
      <p:sp>
        <p:nvSpPr>
          <p:cNvPr id="71" name="TextBox 70"/>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72" name="TextBox 71"/>
          <p:cNvSpPr txBox="1"/>
          <p:nvPr/>
        </p:nvSpPr>
        <p:spPr>
          <a:xfrm>
            <a:off x="485775" y="5887061"/>
            <a:ext cx="2714782" cy="179984"/>
          </a:xfrm>
          <a:prstGeom prst="rect">
            <a:avLst/>
          </a:prstGeom>
          <a:noFill/>
        </p:spPr>
        <p:txBody>
          <a:bodyPr wrap="none" lIns="0" rIns="0" tIns="0" bIns="0">
            <a:spAutoFit/>
          </a:bodyPr>
          <a:lstStyle/>
          <a:p>
            <a:r>
              <a:rPr sz="1055" b="0">
                <a:solidFill>
                  <a:srgbClr val="252423"/>
                </a:solidFill>
                <a:latin typeface="Segoe UI"/>
              </a:rPr>
              <a:t>dc-only portable battery systems segment in</a:t>
            </a:r>
          </a:p>
        </p:txBody>
      </p:sp>
      <p:sp>
        <p:nvSpPr>
          <p:cNvPr id="73" name="TextBox 72"/>
          <p:cNvSpPr txBox="1"/>
          <p:nvPr/>
        </p:nvSpPr>
        <p:spPr>
          <a:xfrm>
            <a:off x="485775" y="6047995"/>
            <a:ext cx="394454" cy="179984"/>
          </a:xfrm>
          <a:prstGeom prst="rect">
            <a:avLst/>
          </a:prstGeom>
          <a:noFill/>
        </p:spPr>
        <p:txBody>
          <a:bodyPr wrap="none" lIns="0" rIns="0" tIns="0" bIns="0">
            <a:spAutoFit/>
          </a:bodyPr>
          <a:lstStyle/>
          <a:p>
            <a:r>
              <a:rPr sz="1055" b="0">
                <a:solidFill>
                  <a:srgbClr val="252423"/>
                </a:solidFill>
                <a:latin typeface="Segoe UI"/>
              </a:rPr>
              <a:t>2036.</a:t>
            </a:r>
          </a:p>
        </p:txBody>
      </p:sp>
      <p:sp>
        <p:nvSpPr>
          <p:cNvPr id="74" name="TextBox 73"/>
          <p:cNvSpPr txBox="1"/>
          <p:nvPr/>
        </p:nvSpPr>
        <p:spPr>
          <a:xfrm>
            <a:off x="3838575" y="4229437"/>
            <a:ext cx="2152668" cy="186689"/>
          </a:xfrm>
          <a:prstGeom prst="rect">
            <a:avLst/>
          </a:prstGeom>
          <a:noFill/>
        </p:spPr>
        <p:txBody>
          <a:bodyPr wrap="none" lIns="0" rIns="0" tIns="0" bIns="0">
            <a:spAutoFit/>
          </a:bodyPr>
          <a:lstStyle/>
          <a:p>
            <a:r>
              <a:rPr sz="1100" b="0">
                <a:solidFill>
                  <a:srgbClr val="252423"/>
                </a:solidFill>
                <a:latin typeface="Segoe UI"/>
              </a:rPr>
              <a:t>● AC/DC Portable Power Stations:</a:t>
            </a:r>
          </a:p>
        </p:txBody>
      </p:sp>
      <p:pic>
        <p:nvPicPr>
          <p:cNvPr id="75" name="Picture 74" descr="lock.png"/>
          <p:cNvPicPr>
            <a:picLocks noChangeAspect="1"/>
          </p:cNvPicPr>
          <p:nvPr/>
        </p:nvPicPr>
        <p:blipFill>
          <a:blip r:embed="rId10"/>
          <a:stretch>
            <a:fillRect/>
          </a:stretch>
        </p:blipFill>
        <p:spPr>
          <a:xfrm>
            <a:off x="5939295" y="4219658"/>
            <a:ext cx="128699" cy="187198"/>
          </a:xfrm>
          <a:prstGeom prst="rect">
            <a:avLst/>
          </a:prstGeom>
        </p:spPr>
      </p:pic>
      <p:sp>
        <p:nvSpPr>
          <p:cNvPr id="76" name="TextBox 75"/>
          <p:cNvSpPr txBox="1"/>
          <p:nvPr/>
        </p:nvSpPr>
        <p:spPr>
          <a:xfrm>
            <a:off x="6106791"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7" name="Picture 76" descr="lock.png"/>
          <p:cNvPicPr>
            <a:picLocks noChangeAspect="1"/>
          </p:cNvPicPr>
          <p:nvPr/>
        </p:nvPicPr>
        <p:blipFill>
          <a:blip r:embed="rId10"/>
          <a:stretch>
            <a:fillRect/>
          </a:stretch>
        </p:blipFill>
        <p:spPr>
          <a:xfrm>
            <a:off x="7026737" y="4219658"/>
            <a:ext cx="128699" cy="187198"/>
          </a:xfrm>
          <a:prstGeom prst="rect">
            <a:avLst/>
          </a:prstGeom>
        </p:spPr>
      </p:pic>
      <p:sp>
        <p:nvSpPr>
          <p:cNvPr id="78" name="TextBox 77"/>
          <p:cNvSpPr txBox="1"/>
          <p:nvPr/>
        </p:nvSpPr>
        <p:spPr>
          <a:xfrm>
            <a:off x="7194233"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79" name="TextBox 78"/>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80" name="TextBox 79"/>
          <p:cNvSpPr txBox="1"/>
          <p:nvPr/>
        </p:nvSpPr>
        <p:spPr>
          <a:xfrm>
            <a:off x="3838575" y="4615009"/>
            <a:ext cx="2323392" cy="186689"/>
          </a:xfrm>
          <a:prstGeom prst="rect">
            <a:avLst/>
          </a:prstGeom>
          <a:noFill/>
        </p:spPr>
        <p:txBody>
          <a:bodyPr wrap="none" lIns="0" rIns="0" tIns="0" bIns="0">
            <a:spAutoFit/>
          </a:bodyPr>
          <a:lstStyle/>
          <a:p>
            <a:r>
              <a:rPr sz="1100" b="0">
                <a:solidFill>
                  <a:srgbClr val="252423"/>
                </a:solidFill>
                <a:latin typeface="Segoe UI"/>
              </a:rPr>
              <a:t>● DC-Only Portable Battery Systems:</a:t>
            </a:r>
          </a:p>
        </p:txBody>
      </p:sp>
      <p:pic>
        <p:nvPicPr>
          <p:cNvPr id="81" name="Picture 80" descr="lock.png"/>
          <p:cNvPicPr>
            <a:picLocks noChangeAspect="1"/>
          </p:cNvPicPr>
          <p:nvPr/>
        </p:nvPicPr>
        <p:blipFill>
          <a:blip r:embed="rId10"/>
          <a:stretch>
            <a:fillRect/>
          </a:stretch>
        </p:blipFill>
        <p:spPr>
          <a:xfrm>
            <a:off x="6110019" y="4605230"/>
            <a:ext cx="128699" cy="187198"/>
          </a:xfrm>
          <a:prstGeom prst="rect">
            <a:avLst/>
          </a:prstGeom>
        </p:spPr>
      </p:pic>
      <p:sp>
        <p:nvSpPr>
          <p:cNvPr id="82" name="TextBox 81"/>
          <p:cNvSpPr txBox="1"/>
          <p:nvPr/>
        </p:nvSpPr>
        <p:spPr>
          <a:xfrm>
            <a:off x="6277515"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3" name="Picture 82" descr="lock.png"/>
          <p:cNvPicPr>
            <a:picLocks noChangeAspect="1"/>
          </p:cNvPicPr>
          <p:nvPr/>
        </p:nvPicPr>
        <p:blipFill>
          <a:blip r:embed="rId10"/>
          <a:stretch>
            <a:fillRect/>
          </a:stretch>
        </p:blipFill>
        <p:spPr>
          <a:xfrm>
            <a:off x="7197461" y="4605230"/>
            <a:ext cx="128699" cy="187198"/>
          </a:xfrm>
          <a:prstGeom prst="rect">
            <a:avLst/>
          </a:prstGeom>
        </p:spPr>
      </p:pic>
      <p:sp>
        <p:nvSpPr>
          <p:cNvPr id="84" name="TextBox 83"/>
          <p:cNvSpPr txBox="1"/>
          <p:nvPr/>
        </p:nvSpPr>
        <p:spPr>
          <a:xfrm>
            <a:off x="3838575" y="4782649"/>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85" name="TextBox 84"/>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System Architecture segment is projected</a:t>
            </a:r>
          </a:p>
        </p:txBody>
      </p:sp>
      <p:sp>
        <p:nvSpPr>
          <p:cNvPr id="86" name="TextBox 85"/>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87" name="Picture 86" descr="lock.png"/>
          <p:cNvPicPr>
            <a:picLocks noChangeAspect="1"/>
          </p:cNvPicPr>
          <p:nvPr/>
        </p:nvPicPr>
        <p:blipFill>
          <a:blip r:embed="rId10"/>
          <a:stretch>
            <a:fillRect/>
          </a:stretch>
        </p:blipFill>
        <p:spPr>
          <a:xfrm>
            <a:off x="10004092" y="6007677"/>
            <a:ext cx="134549" cy="195707"/>
          </a:xfrm>
          <a:prstGeom prst="rect">
            <a:avLst/>
          </a:prstGeom>
        </p:spPr>
      </p:pic>
      <p:sp>
        <p:nvSpPr>
          <p:cNvPr id="88" name="TextBox 87"/>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System Architecture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System Architecture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Architecture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System Architecture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77650" cy="186689"/>
          </a:xfrm>
          <a:prstGeom prst="rect">
            <a:avLst/>
          </a:prstGeom>
          <a:noFill/>
        </p:spPr>
        <p:txBody>
          <a:bodyPr wrap="none" lIns="0" rIns="0" tIns="0" bIns="0">
            <a:spAutoFit/>
          </a:bodyPr>
          <a:lstStyle/>
          <a:p>
            <a:r>
              <a:rPr sz="1100" b="0">
                <a:solidFill>
                  <a:srgbClr val="252423"/>
                </a:solidFill>
                <a:latin typeface="Segoe UI"/>
              </a:rPr>
              <a:t>AC/DC portable power stations followed by dc-only portable battery systems are expected to be the two most attractive system architecture segments in the global lithium polymer portable</a:t>
            </a:r>
          </a:p>
        </p:txBody>
      </p:sp>
      <p:sp>
        <p:nvSpPr>
          <p:cNvPr id="18" name="TextBox 17"/>
          <p:cNvSpPr txBox="1"/>
          <p:nvPr/>
        </p:nvSpPr>
        <p:spPr>
          <a:xfrm>
            <a:off x="257175" y="5945505"/>
            <a:ext cx="9918318" cy="186689"/>
          </a:xfrm>
          <a:prstGeom prst="rect">
            <a:avLst/>
          </a:prstGeom>
          <a:noFill/>
        </p:spPr>
        <p:txBody>
          <a:bodyPr wrap="none" lIns="0" rIns="0" tIns="0" bIns="0">
            <a:spAutoFit/>
          </a:bodyPr>
          <a:lstStyle/>
          <a:p>
            <a:r>
              <a:rPr sz="1100" b="0">
                <a:solidFill>
                  <a:srgbClr val="252423"/>
                </a:solidFill>
                <a:latin typeface="Segoe UI"/>
              </a:rPr>
              <a:t>energy storage market in terms of value over the forecast period. AC/DC portable power stations and DC-Only portable battery systems exhibit a CAGR index of</a:t>
            </a:r>
          </a:p>
        </p:txBody>
      </p:sp>
      <p:pic>
        <p:nvPicPr>
          <p:cNvPr id="19" name="Picture 18" descr="lock.png"/>
          <p:cNvPicPr>
            <a:picLocks noChangeAspect="1"/>
          </p:cNvPicPr>
          <p:nvPr/>
        </p:nvPicPr>
        <p:blipFill>
          <a:blip r:embed="rId6"/>
          <a:stretch>
            <a:fillRect/>
          </a:stretch>
        </p:blipFill>
        <p:spPr>
          <a:xfrm>
            <a:off x="10123544" y="5935726"/>
            <a:ext cx="128699" cy="187198"/>
          </a:xfrm>
          <a:prstGeom prst="rect">
            <a:avLst/>
          </a:prstGeom>
        </p:spPr>
      </p:pic>
      <p:sp>
        <p:nvSpPr>
          <p:cNvPr id="20" name="TextBox 19"/>
          <p:cNvSpPr txBox="1"/>
          <p:nvPr/>
        </p:nvSpPr>
        <p:spPr>
          <a:xfrm>
            <a:off x="10291040"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0548034" y="5935726"/>
            <a:ext cx="128699" cy="187198"/>
          </a:xfrm>
          <a:prstGeom prst="rect">
            <a:avLst/>
          </a:prstGeom>
        </p:spPr>
      </p:pic>
      <p:sp>
        <p:nvSpPr>
          <p:cNvPr id="22" name="TextBox 21"/>
          <p:cNvSpPr txBox="1"/>
          <p:nvPr/>
        </p:nvSpPr>
        <p:spPr>
          <a:xfrm>
            <a:off x="10715530" y="5945505"/>
            <a:ext cx="886799" cy="186689"/>
          </a:xfrm>
          <a:prstGeom prst="rect">
            <a:avLst/>
          </a:prstGeom>
          <a:noFill/>
        </p:spPr>
        <p:txBody>
          <a:bodyPr wrap="none" lIns="0" rIns="0" tIns="0" bIns="0">
            <a:spAutoFit/>
          </a:bodyPr>
          <a:lstStyle/>
          <a:p>
            <a:r>
              <a:rPr sz="1100" b="0">
                <a:solidFill>
                  <a:srgbClr val="252423"/>
                </a:solidFill>
                <a:latin typeface="Segoe UI"/>
              </a:rPr>
              <a:t>and a market</a:t>
            </a:r>
          </a:p>
        </p:txBody>
      </p:sp>
      <p:sp>
        <p:nvSpPr>
          <p:cNvPr id="23" name="TextBox 22"/>
          <p:cNvSpPr txBox="1"/>
          <p:nvPr/>
        </p:nvSpPr>
        <p:spPr>
          <a:xfrm>
            <a:off x="257175" y="6113145"/>
            <a:ext cx="941889" cy="186689"/>
          </a:xfrm>
          <a:prstGeom prst="rect">
            <a:avLst/>
          </a:prstGeom>
          <a:noFill/>
        </p:spPr>
        <p:txBody>
          <a:bodyPr wrap="none" lIns="0" rIns="0" tIns="0" bIns="0">
            <a:spAutoFit/>
          </a:bodyPr>
          <a:lstStyle/>
          <a:p>
            <a:r>
              <a:rPr sz="1100" b="0">
                <a:solidFill>
                  <a:srgbClr val="252423"/>
                </a:solidFill>
                <a:latin typeface="Segoe UI"/>
              </a:rPr>
              <a:t>share index of</a:t>
            </a:r>
          </a:p>
        </p:txBody>
      </p:sp>
      <p:pic>
        <p:nvPicPr>
          <p:cNvPr id="24" name="Picture 23" descr="lock.png"/>
          <p:cNvPicPr>
            <a:picLocks noChangeAspect="1"/>
          </p:cNvPicPr>
          <p:nvPr/>
        </p:nvPicPr>
        <p:blipFill>
          <a:blip r:embed="rId6"/>
          <a:stretch>
            <a:fillRect/>
          </a:stretch>
        </p:blipFill>
        <p:spPr>
          <a:xfrm>
            <a:off x="1147116" y="6103366"/>
            <a:ext cx="128699" cy="187198"/>
          </a:xfrm>
          <a:prstGeom prst="rect">
            <a:avLst/>
          </a:prstGeom>
        </p:spPr>
      </p:pic>
      <p:sp>
        <p:nvSpPr>
          <p:cNvPr id="25" name="TextBox 24"/>
          <p:cNvSpPr txBox="1"/>
          <p:nvPr/>
        </p:nvSpPr>
        <p:spPr>
          <a:xfrm>
            <a:off x="1314612"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6" name="Picture 25" descr="lock.png"/>
          <p:cNvPicPr>
            <a:picLocks noChangeAspect="1"/>
          </p:cNvPicPr>
          <p:nvPr/>
        </p:nvPicPr>
        <p:blipFill>
          <a:blip r:embed="rId6"/>
          <a:stretch>
            <a:fillRect/>
          </a:stretch>
        </p:blipFill>
        <p:spPr>
          <a:xfrm>
            <a:off x="1571606" y="6103366"/>
            <a:ext cx="128699" cy="187198"/>
          </a:xfrm>
          <a:prstGeom prst="rect">
            <a:avLst/>
          </a:prstGeom>
        </p:spPr>
      </p:pic>
      <p:sp>
        <p:nvSpPr>
          <p:cNvPr id="27" name="TextBox 26"/>
          <p:cNvSpPr txBox="1"/>
          <p:nvPr/>
        </p:nvSpPr>
        <p:spPr>
          <a:xfrm>
            <a:off x="1739102"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8" name="Picture 27" descr="lock.png"/>
          <p:cNvPicPr>
            <a:picLocks noChangeAspect="1"/>
          </p:cNvPicPr>
          <p:nvPr/>
        </p:nvPicPr>
        <p:blipFill>
          <a:blip r:embed="rId6"/>
          <a:stretch>
            <a:fillRect/>
          </a:stretch>
        </p:blipFill>
        <p:spPr>
          <a:xfrm>
            <a:off x="4499035" y="6103366"/>
            <a:ext cx="128699" cy="187198"/>
          </a:xfrm>
          <a:prstGeom prst="rect">
            <a:avLst/>
          </a:prstGeom>
        </p:spPr>
      </p:pic>
      <p:sp>
        <p:nvSpPr>
          <p:cNvPr id="29" name="TextBox 28"/>
          <p:cNvSpPr txBox="1"/>
          <p:nvPr/>
        </p:nvSpPr>
        <p:spPr>
          <a:xfrm>
            <a:off x="4666531"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System Architecture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AC/DC Portable Power Stations</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DC-Only Portable Battery Systems</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System Architecture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System Architecture,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System Architecture (US$ Mn)</a:t>
            </a:r>
          </a:p>
        </p:txBody>
      </p:sp>
      <p:graphicFrame>
        <p:nvGraphicFramePr>
          <p:cNvPr id="10" name="Table 9"/>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2531104"/>
                <a:gridCol w="561331"/>
                <a:gridCol w="561331"/>
                <a:gridCol w="561331"/>
                <a:gridCol w="561331"/>
                <a:gridCol w="561331"/>
                <a:gridCol w="535784"/>
                <a:gridCol w="535784"/>
                <a:gridCol w="535784"/>
                <a:gridCol w="535784"/>
                <a:gridCol w="535784"/>
                <a:gridCol w="535784"/>
                <a:gridCol w="535784"/>
                <a:gridCol w="535784"/>
                <a:gridCol w="535784"/>
                <a:gridCol w="535784"/>
                <a:gridCol w="535784"/>
                <a:gridCol w="655818"/>
              </a:tblGrid>
              <a:tr h="246126">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System Architecture</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174862" y="1589913"/>
            <a:ext cx="366712" cy="533400"/>
          </a:xfrm>
          <a:prstGeom prst="rect">
            <a:avLst/>
          </a:prstGeom>
        </p:spPr>
      </p:pic>
      <p:sp>
        <p:nvSpPr>
          <p:cNvPr id="18" name="TextBox 17"/>
          <p:cNvSpPr txBox="1"/>
          <p:nvPr/>
        </p:nvSpPr>
        <p:spPr>
          <a:xfrm>
            <a:off x="276225" y="2990850"/>
            <a:ext cx="4172356" cy="194310"/>
          </a:xfrm>
          <a:prstGeom prst="rect">
            <a:avLst/>
          </a:prstGeom>
          <a:noFill/>
        </p:spPr>
        <p:txBody>
          <a:bodyPr wrap="none" lIns="0" rIns="0" tIns="0" bIns="0">
            <a:spAutoFit/>
          </a:bodyPr>
          <a:lstStyle/>
          <a:p>
            <a:r>
              <a:rPr sz="1150" b="0">
                <a:solidFill>
                  <a:srgbClr val="252423"/>
                </a:solidFill>
                <a:latin typeface="Segoe UI"/>
              </a:rPr>
              <a:t>AC/DC portable power stations segment is projected to register</a:t>
            </a:r>
          </a:p>
        </p:txBody>
      </p:sp>
      <p:pic>
        <p:nvPicPr>
          <p:cNvPr id="19" name="Picture 18" descr="lock.png"/>
          <p:cNvPicPr>
            <a:picLocks noChangeAspect="1"/>
          </p:cNvPicPr>
          <p:nvPr/>
        </p:nvPicPr>
        <p:blipFill>
          <a:blip r:embed="rId4"/>
          <a:stretch>
            <a:fillRect/>
          </a:stretch>
        </p:blipFill>
        <p:spPr>
          <a:xfrm>
            <a:off x="4397735" y="2980626"/>
            <a:ext cx="134549" cy="195707"/>
          </a:xfrm>
          <a:prstGeom prst="rect">
            <a:avLst/>
          </a:prstGeom>
        </p:spPr>
      </p:pic>
      <p:sp>
        <p:nvSpPr>
          <p:cNvPr id="20" name="TextBox 19"/>
          <p:cNvSpPr txBox="1"/>
          <p:nvPr/>
        </p:nvSpPr>
        <p:spPr>
          <a:xfrm>
            <a:off x="4572845" y="2990850"/>
            <a:ext cx="7263546" cy="194310"/>
          </a:xfrm>
          <a:prstGeom prst="rect">
            <a:avLst/>
          </a:prstGeom>
          <a:noFill/>
        </p:spPr>
        <p:txBody>
          <a:bodyPr wrap="none" lIns="0" rIns="0" tIns="0" bIns="0">
            <a:spAutoFit/>
          </a:bodyPr>
          <a:lstStyle/>
          <a:p>
            <a:r>
              <a:rPr sz="1150" b="0">
                <a:solidFill>
                  <a:srgbClr val="252423"/>
                </a:solidFill>
                <a:latin typeface="Segoe UI"/>
              </a:rPr>
              <a:t>X higher value than dc-only portable battery systems segment in 2036. Among lithium polymer portable energy</a:t>
            </a:r>
          </a:p>
        </p:txBody>
      </p:sp>
      <p:sp>
        <p:nvSpPr>
          <p:cNvPr id="21" name="TextBox 20"/>
          <p:cNvSpPr txBox="1"/>
          <p:nvPr/>
        </p:nvSpPr>
        <p:spPr>
          <a:xfrm>
            <a:off x="276225" y="3166110"/>
            <a:ext cx="7633017" cy="194310"/>
          </a:xfrm>
          <a:prstGeom prst="rect">
            <a:avLst/>
          </a:prstGeom>
          <a:noFill/>
        </p:spPr>
        <p:txBody>
          <a:bodyPr wrap="none" lIns="0" rIns="0" tIns="0" bIns="0">
            <a:spAutoFit/>
          </a:bodyPr>
          <a:lstStyle/>
          <a:p>
            <a:r>
              <a:rPr sz="1150" b="0">
                <a:solidFill>
                  <a:srgbClr val="252423"/>
                </a:solidFill>
                <a:latin typeface="Segoe UI"/>
              </a:rPr>
              <a:t>storage by system architecture, dc-only portable battery systems segment is expected to witness the highest CAGR of</a:t>
            </a:r>
          </a:p>
        </p:txBody>
      </p:sp>
      <p:pic>
        <p:nvPicPr>
          <p:cNvPr id="22" name="Picture 21" descr="lock.png"/>
          <p:cNvPicPr>
            <a:picLocks noChangeAspect="1"/>
          </p:cNvPicPr>
          <p:nvPr/>
        </p:nvPicPr>
        <p:blipFill>
          <a:blip r:embed="rId4"/>
          <a:stretch>
            <a:fillRect/>
          </a:stretch>
        </p:blipFill>
        <p:spPr>
          <a:xfrm>
            <a:off x="7858396" y="3155886"/>
            <a:ext cx="134549" cy="195707"/>
          </a:xfrm>
          <a:prstGeom prst="rect">
            <a:avLst/>
          </a:prstGeom>
        </p:spPr>
      </p:pic>
      <p:sp>
        <p:nvSpPr>
          <p:cNvPr id="23" name="TextBox 22"/>
          <p:cNvSpPr txBox="1"/>
          <p:nvPr/>
        </p:nvSpPr>
        <p:spPr>
          <a:xfrm>
            <a:off x="8033505"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8739343" cy="194310"/>
          </a:xfrm>
          <a:prstGeom prst="rect">
            <a:avLst/>
          </a:prstGeom>
          <a:noFill/>
        </p:spPr>
        <p:txBody>
          <a:bodyPr wrap="none" lIns="0" rIns="0" tIns="0" bIns="0">
            <a:spAutoFit/>
          </a:bodyPr>
          <a:lstStyle/>
          <a:p>
            <a:r>
              <a:rPr sz="1150" b="0">
                <a:solidFill>
                  <a:srgbClr val="252423"/>
                </a:solidFill>
                <a:latin typeface="Segoe UI"/>
              </a:rPr>
              <a:t>In terms of value share by system architecture, the AC/DC portable power stations segment is expected to dominate the market, losing</a:t>
            </a:r>
          </a:p>
        </p:txBody>
      </p:sp>
      <p:pic>
        <p:nvPicPr>
          <p:cNvPr id="25" name="Picture 24" descr="lock.png"/>
          <p:cNvPicPr>
            <a:picLocks noChangeAspect="1"/>
          </p:cNvPicPr>
          <p:nvPr/>
        </p:nvPicPr>
        <p:blipFill>
          <a:blip r:embed="rId4"/>
          <a:stretch>
            <a:fillRect/>
          </a:stretch>
        </p:blipFill>
        <p:spPr>
          <a:xfrm>
            <a:off x="8964722" y="3383724"/>
            <a:ext cx="134549" cy="195707"/>
          </a:xfrm>
          <a:prstGeom prst="rect">
            <a:avLst/>
          </a:prstGeom>
        </p:spPr>
      </p:pic>
      <p:sp>
        <p:nvSpPr>
          <p:cNvPr id="26" name="TextBox 25"/>
          <p:cNvSpPr txBox="1"/>
          <p:nvPr/>
        </p:nvSpPr>
        <p:spPr>
          <a:xfrm>
            <a:off x="9139831"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668188" y="3383724"/>
            <a:ext cx="134549" cy="195707"/>
          </a:xfrm>
          <a:prstGeom prst="rect">
            <a:avLst/>
          </a:prstGeom>
        </p:spPr>
      </p:pic>
      <p:sp>
        <p:nvSpPr>
          <p:cNvPr id="28" name="TextBox 27"/>
          <p:cNvSpPr txBox="1"/>
          <p:nvPr/>
        </p:nvSpPr>
        <p:spPr>
          <a:xfrm>
            <a:off x="10843297" y="3393947"/>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29" name="TextBox 28"/>
          <p:cNvSpPr txBox="1"/>
          <p:nvPr/>
        </p:nvSpPr>
        <p:spPr>
          <a:xfrm>
            <a:off x="276225" y="3569207"/>
            <a:ext cx="422783" cy="194310"/>
          </a:xfrm>
          <a:prstGeom prst="rect">
            <a:avLst/>
          </a:prstGeom>
          <a:noFill/>
        </p:spPr>
        <p:txBody>
          <a:bodyPr wrap="none" lIns="0" rIns="0" tIns="0" bIns="0">
            <a:spAutoFit/>
          </a:bodyPr>
          <a:lstStyle/>
          <a:p>
            <a:r>
              <a:rPr sz="1150" b="0">
                <a:solidFill>
                  <a:srgbClr val="252423"/>
                </a:solidFill>
                <a:latin typeface="Segoe UI"/>
              </a:rPr>
              <a:t>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System Architecture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System Architecture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75302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5090922" y="274826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67206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DC-Only Portable Battery Systems</a:t>
            </a:r>
          </a:p>
        </p:txBody>
      </p:sp>
      <p:sp>
        <p:nvSpPr>
          <p:cNvPr id="16" name="BPS Value 1"/>
          <p:cNvSpPr txBox="1"/>
          <p:nvPr/>
        </p:nvSpPr>
        <p:spPr>
          <a:xfrm>
            <a:off x="6896100" y="2733977"/>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17" name="FactMR Legend Chip"/>
          <p:cNvSpPr/>
          <p:nvPr/>
        </p:nvSpPr>
        <p:spPr>
          <a:xfrm>
            <a:off x="4928997" y="503921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503445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9582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AC/DC Portable Power Stations</a:t>
            </a:r>
          </a:p>
        </p:txBody>
      </p:sp>
      <p:sp>
        <p:nvSpPr>
          <p:cNvPr id="20" name="BPS Value 2"/>
          <p:cNvSpPr txBox="1"/>
          <p:nvPr/>
        </p:nvSpPr>
        <p:spPr>
          <a:xfrm>
            <a:off x="6896100" y="502016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System Architecture</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88291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system</a:t>
            </a:r>
          </a:p>
        </p:txBody>
      </p:sp>
      <p:sp>
        <p:nvSpPr>
          <p:cNvPr id="28" name="TextBox 27"/>
          <p:cNvSpPr txBox="1"/>
          <p:nvPr/>
        </p:nvSpPr>
        <p:spPr>
          <a:xfrm>
            <a:off x="7829550" y="1575435"/>
            <a:ext cx="3764546" cy="194310"/>
          </a:xfrm>
          <a:prstGeom prst="rect">
            <a:avLst/>
          </a:prstGeom>
          <a:noFill/>
        </p:spPr>
        <p:txBody>
          <a:bodyPr wrap="none" lIns="0" rIns="0" tIns="0" bIns="0">
            <a:spAutoFit/>
          </a:bodyPr>
          <a:lstStyle/>
          <a:p>
            <a:r>
              <a:rPr sz="1150" b="0">
                <a:solidFill>
                  <a:srgbClr val="252423"/>
                </a:solidFill>
                <a:latin typeface="Segoe UI"/>
              </a:rPr>
              <a:t>architecture, dc-only portable battery systems segment is</a:t>
            </a:r>
          </a:p>
        </p:txBody>
      </p:sp>
      <p:sp>
        <p:nvSpPr>
          <p:cNvPr id="29" name="TextBox 28"/>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0" name="Picture 29" descr="lock.png"/>
          <p:cNvPicPr>
            <a:picLocks noChangeAspect="1"/>
          </p:cNvPicPr>
          <p:nvPr/>
        </p:nvPicPr>
        <p:blipFill>
          <a:blip r:embed="rId5"/>
          <a:stretch>
            <a:fillRect/>
          </a:stretch>
        </p:blipFill>
        <p:spPr>
          <a:xfrm>
            <a:off x="10475709" y="1740471"/>
            <a:ext cx="134549" cy="195707"/>
          </a:xfrm>
          <a:prstGeom prst="rect">
            <a:avLst/>
          </a:prstGeom>
        </p:spPr>
      </p:pic>
      <p:sp>
        <p:nvSpPr>
          <p:cNvPr id="31" name="TextBox 30"/>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32" name="TextBox 31"/>
          <p:cNvSpPr txBox="1"/>
          <p:nvPr/>
        </p:nvSpPr>
        <p:spPr>
          <a:xfrm>
            <a:off x="7829550" y="1925955"/>
            <a:ext cx="528042" cy="194310"/>
          </a:xfrm>
          <a:prstGeom prst="rect">
            <a:avLst/>
          </a:prstGeom>
          <a:noFill/>
        </p:spPr>
        <p:txBody>
          <a:bodyPr wrap="none" lIns="0" rIns="0" tIns="0" bIns="0">
            <a:spAutoFit/>
          </a:bodyPr>
          <a:lstStyle/>
          <a:p>
            <a:r>
              <a:rPr sz="1150" b="0">
                <a:solidFill>
                  <a:srgbClr val="252423"/>
                </a:solidFill>
                <a:latin typeface="Segoe UI"/>
              </a:rPr>
              <a:t>period.</a:t>
            </a:r>
          </a:p>
        </p:txBody>
      </p:sp>
      <p:sp>
        <p:nvSpPr>
          <p:cNvPr id="33" name="TextBox 32"/>
          <p:cNvSpPr txBox="1"/>
          <p:nvPr/>
        </p:nvSpPr>
        <p:spPr>
          <a:xfrm>
            <a:off x="7829550" y="2153793"/>
            <a:ext cx="3779959" cy="194310"/>
          </a:xfrm>
          <a:prstGeom prst="rect">
            <a:avLst/>
          </a:prstGeom>
          <a:noFill/>
        </p:spPr>
        <p:txBody>
          <a:bodyPr wrap="none" lIns="0" rIns="0" tIns="0" bIns="0">
            <a:spAutoFit/>
          </a:bodyPr>
          <a:lstStyle/>
          <a:p>
            <a:r>
              <a:rPr sz="1150" b="0">
                <a:solidFill>
                  <a:srgbClr val="252423"/>
                </a:solidFill>
                <a:latin typeface="Segoe UI"/>
              </a:rPr>
              <a:t>In terms of value share by system architecture, the AC/DC</a:t>
            </a:r>
          </a:p>
        </p:txBody>
      </p:sp>
      <p:sp>
        <p:nvSpPr>
          <p:cNvPr id="34" name="TextBox 33"/>
          <p:cNvSpPr txBox="1"/>
          <p:nvPr/>
        </p:nvSpPr>
        <p:spPr>
          <a:xfrm>
            <a:off x="7829550" y="2329053"/>
            <a:ext cx="4047224" cy="194310"/>
          </a:xfrm>
          <a:prstGeom prst="rect">
            <a:avLst/>
          </a:prstGeom>
          <a:noFill/>
        </p:spPr>
        <p:txBody>
          <a:bodyPr wrap="none" lIns="0" rIns="0" tIns="0" bIns="0">
            <a:spAutoFit/>
          </a:bodyPr>
          <a:lstStyle/>
          <a:p>
            <a:r>
              <a:rPr sz="1150" b="0">
                <a:solidFill>
                  <a:srgbClr val="252423"/>
                </a:solidFill>
                <a:latin typeface="Segoe UI"/>
              </a:rPr>
              <a:t>portable power stations segment is expected to dominate the</a:t>
            </a:r>
          </a:p>
        </p:txBody>
      </p:sp>
      <p:sp>
        <p:nvSpPr>
          <p:cNvPr id="35" name="TextBox 34"/>
          <p:cNvSpPr txBox="1"/>
          <p:nvPr/>
        </p:nvSpPr>
        <p:spPr>
          <a:xfrm>
            <a:off x="7829550" y="2504313"/>
            <a:ext cx="984689" cy="194310"/>
          </a:xfrm>
          <a:prstGeom prst="rect">
            <a:avLst/>
          </a:prstGeom>
          <a:noFill/>
        </p:spPr>
        <p:txBody>
          <a:bodyPr wrap="none" lIns="0" rIns="0" tIns="0" bIns="0">
            <a:spAutoFit/>
          </a:bodyPr>
          <a:lstStyle/>
          <a:p>
            <a:r>
              <a:rPr sz="1150" b="0">
                <a:solidFill>
                  <a:srgbClr val="252423"/>
                </a:solidFill>
                <a:latin typeface="Segoe UI"/>
              </a:rPr>
              <a:t>market, losing</a:t>
            </a:r>
          </a:p>
        </p:txBody>
      </p:sp>
      <p:pic>
        <p:nvPicPr>
          <p:cNvPr id="36" name="Picture 35" descr="lock.png"/>
          <p:cNvPicPr>
            <a:picLocks noChangeAspect="1"/>
          </p:cNvPicPr>
          <p:nvPr/>
        </p:nvPicPr>
        <p:blipFill>
          <a:blip r:embed="rId5"/>
          <a:stretch>
            <a:fillRect/>
          </a:stretch>
        </p:blipFill>
        <p:spPr>
          <a:xfrm>
            <a:off x="8763393" y="2494089"/>
            <a:ext cx="134549" cy="195707"/>
          </a:xfrm>
          <a:prstGeom prst="rect">
            <a:avLst/>
          </a:prstGeom>
        </p:spPr>
      </p:pic>
      <p:sp>
        <p:nvSpPr>
          <p:cNvPr id="37" name="TextBox 36"/>
          <p:cNvSpPr txBox="1"/>
          <p:nvPr/>
        </p:nvSpPr>
        <p:spPr>
          <a:xfrm>
            <a:off x="8938502" y="250431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38" name="Picture 37" descr="lock.png"/>
          <p:cNvPicPr>
            <a:picLocks noChangeAspect="1"/>
          </p:cNvPicPr>
          <p:nvPr/>
        </p:nvPicPr>
        <p:blipFill>
          <a:blip r:embed="rId5"/>
          <a:stretch>
            <a:fillRect/>
          </a:stretch>
        </p:blipFill>
        <p:spPr>
          <a:xfrm>
            <a:off x="10466859" y="2494089"/>
            <a:ext cx="134549" cy="195707"/>
          </a:xfrm>
          <a:prstGeom prst="rect">
            <a:avLst/>
          </a:prstGeom>
        </p:spPr>
      </p:pic>
      <p:sp>
        <p:nvSpPr>
          <p:cNvPr id="39" name="TextBox 38"/>
          <p:cNvSpPr txBox="1"/>
          <p:nvPr/>
        </p:nvSpPr>
        <p:spPr>
          <a:xfrm>
            <a:off x="10641968" y="250431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0"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Distribution Channel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Distribution Channel,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Distribution Channel segment categorizes the market by distribution channel.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Direct B2B / Institutional Sales</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Online Third-Party Retail</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Direct-to-Consumer / Manufacturer…</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Offline Retail &amp; Distributors</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214_6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671_4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2_1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194_5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464_6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9_1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69_4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627_3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4_0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71_6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186_7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10_1__605E5C.png"/>
          <p:cNvPicPr>
            <a:picLocks noChangeAspect="1"/>
          </p:cNvPicPr>
          <p:nvPr/>
        </p:nvPicPr>
        <p:blipFill>
          <a:blip r:embed="rId15"/>
          <a:stretch>
            <a:fillRect/>
          </a:stretch>
        </p:blipFill>
        <p:spPr>
          <a:xfrm>
            <a:off x="10062992" y="3272281"/>
            <a:ext cx="1195728"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71088" cy="166573"/>
          </a:xfrm>
          <a:prstGeom prst="rect">
            <a:avLst/>
          </a:prstGeom>
          <a:noFill/>
        </p:spPr>
        <p:txBody>
          <a:bodyPr wrap="none" lIns="0" rIns="0" tIns="0" bIns="0">
            <a:spAutoFit/>
          </a:bodyPr>
          <a:lstStyle/>
          <a:p>
            <a:r>
              <a:rPr sz="968" b="0">
                <a:solidFill>
                  <a:srgbClr val="252423"/>
                </a:solidFill>
                <a:latin typeface="Segoe UI"/>
              </a:rPr>
              <a:t>Among lithium polymer portable energy storage by</a:t>
            </a:r>
          </a:p>
        </p:txBody>
      </p:sp>
      <p:sp>
        <p:nvSpPr>
          <p:cNvPr id="78" name="TextBox 77"/>
          <p:cNvSpPr txBox="1"/>
          <p:nvPr/>
        </p:nvSpPr>
        <p:spPr>
          <a:xfrm>
            <a:off x="485775" y="4376960"/>
            <a:ext cx="2351570" cy="166573"/>
          </a:xfrm>
          <a:prstGeom prst="rect">
            <a:avLst/>
          </a:prstGeom>
          <a:noFill/>
        </p:spPr>
        <p:txBody>
          <a:bodyPr wrap="none" lIns="0" rIns="0" tIns="0" bIns="0">
            <a:spAutoFit/>
          </a:bodyPr>
          <a:lstStyle/>
          <a:p>
            <a:r>
              <a:rPr sz="968" b="0">
                <a:solidFill>
                  <a:srgbClr val="252423"/>
                </a:solidFill>
                <a:latin typeface="Segoe UI"/>
              </a:rPr>
              <a:t>distribution channel, direct-to-consumer /</a:t>
            </a:r>
          </a:p>
        </p:txBody>
      </p:sp>
      <p:sp>
        <p:nvSpPr>
          <p:cNvPr id="79" name="TextBox 78"/>
          <p:cNvSpPr txBox="1"/>
          <p:nvPr/>
        </p:nvSpPr>
        <p:spPr>
          <a:xfrm>
            <a:off x="485775" y="4524483"/>
            <a:ext cx="2870750" cy="166573"/>
          </a:xfrm>
          <a:prstGeom prst="rect">
            <a:avLst/>
          </a:prstGeom>
          <a:noFill/>
        </p:spPr>
        <p:txBody>
          <a:bodyPr wrap="none" lIns="0" rIns="0" tIns="0" bIns="0">
            <a:spAutoFit/>
          </a:bodyPr>
          <a:lstStyle/>
          <a:p>
            <a:r>
              <a:rPr sz="968" b="0">
                <a:solidFill>
                  <a:srgbClr val="252423"/>
                </a:solidFill>
                <a:latin typeface="Segoe UI"/>
              </a:rPr>
              <a:t>manufacturer direct segment is expected to witness</a:t>
            </a:r>
          </a:p>
        </p:txBody>
      </p:sp>
      <p:sp>
        <p:nvSpPr>
          <p:cNvPr id="80" name="TextBox 79"/>
          <p:cNvSpPr txBox="1"/>
          <p:nvPr/>
        </p:nvSpPr>
        <p:spPr>
          <a:xfrm>
            <a:off x="485775" y="4672006"/>
            <a:ext cx="1176081" cy="166573"/>
          </a:xfrm>
          <a:prstGeom prst="rect">
            <a:avLst/>
          </a:prstGeom>
          <a:noFill/>
        </p:spPr>
        <p:txBody>
          <a:bodyPr wrap="none" lIns="0" rIns="0" tIns="0" bIns="0">
            <a:spAutoFit/>
          </a:bodyPr>
          <a:lstStyle/>
          <a:p>
            <a:r>
              <a:rPr sz="968" b="0">
                <a:solidFill>
                  <a:srgbClr val="252423"/>
                </a:solidFill>
                <a:latin typeface="Segoe UI"/>
              </a:rPr>
              <a:t>the highest CAGR of</a:t>
            </a:r>
          </a:p>
        </p:txBody>
      </p:sp>
      <p:pic>
        <p:nvPicPr>
          <p:cNvPr id="81" name="Picture 80" descr="lock.png"/>
          <p:cNvPicPr>
            <a:picLocks noChangeAspect="1"/>
          </p:cNvPicPr>
          <p:nvPr/>
        </p:nvPicPr>
        <p:blipFill>
          <a:blip r:embed="rId16"/>
          <a:stretch>
            <a:fillRect/>
          </a:stretch>
        </p:blipFill>
        <p:spPr>
          <a:xfrm>
            <a:off x="1606997" y="4663401"/>
            <a:ext cx="113255" cy="164734"/>
          </a:xfrm>
          <a:prstGeom prst="rect">
            <a:avLst/>
          </a:prstGeom>
        </p:spPr>
      </p:pic>
      <p:sp>
        <p:nvSpPr>
          <p:cNvPr id="82" name="TextBox 81"/>
          <p:cNvSpPr txBox="1"/>
          <p:nvPr/>
        </p:nvSpPr>
        <p:spPr>
          <a:xfrm>
            <a:off x="1754393" y="4672006"/>
            <a:ext cx="1537948" cy="166573"/>
          </a:xfrm>
          <a:prstGeom prst="rect">
            <a:avLst/>
          </a:prstGeom>
          <a:noFill/>
        </p:spPr>
        <p:txBody>
          <a:bodyPr wrap="none" lIns="0" rIns="0" tIns="0" bIns="0">
            <a:spAutoFit/>
          </a:bodyPr>
          <a:lstStyle/>
          <a:p>
            <a:r>
              <a:rPr sz="968" b="0">
                <a:solidFill>
                  <a:srgbClr val="252423"/>
                </a:solidFill>
                <a:latin typeface="Segoe UI"/>
              </a:rPr>
              <a:t>over the forecast period. In</a:t>
            </a:r>
          </a:p>
        </p:txBody>
      </p:sp>
      <p:sp>
        <p:nvSpPr>
          <p:cNvPr id="83" name="TextBox 82"/>
          <p:cNvSpPr txBox="1"/>
          <p:nvPr/>
        </p:nvSpPr>
        <p:spPr>
          <a:xfrm>
            <a:off x="485775" y="4819529"/>
            <a:ext cx="2686076" cy="166573"/>
          </a:xfrm>
          <a:prstGeom prst="rect">
            <a:avLst/>
          </a:prstGeom>
          <a:noFill/>
        </p:spPr>
        <p:txBody>
          <a:bodyPr wrap="none" lIns="0" rIns="0" tIns="0" bIns="0">
            <a:spAutoFit/>
          </a:bodyPr>
          <a:lstStyle/>
          <a:p>
            <a:r>
              <a:rPr sz="968" b="0">
                <a:solidFill>
                  <a:srgbClr val="252423"/>
                </a:solidFill>
                <a:latin typeface="Segoe UI"/>
              </a:rPr>
              <a:t>terms of value share by distribution channel, the</a:t>
            </a:r>
          </a:p>
        </p:txBody>
      </p:sp>
      <p:sp>
        <p:nvSpPr>
          <p:cNvPr id="84" name="TextBox 83"/>
          <p:cNvSpPr txBox="1"/>
          <p:nvPr/>
        </p:nvSpPr>
        <p:spPr>
          <a:xfrm>
            <a:off x="485775" y="4967053"/>
            <a:ext cx="2914650" cy="166573"/>
          </a:xfrm>
          <a:prstGeom prst="rect">
            <a:avLst/>
          </a:prstGeom>
          <a:noFill/>
        </p:spPr>
        <p:txBody>
          <a:bodyPr wrap="none" lIns="0" rIns="0" tIns="0" bIns="0">
            <a:spAutoFit/>
          </a:bodyPr>
          <a:lstStyle/>
          <a:p>
            <a:r>
              <a:rPr sz="968" b="0">
                <a:solidFill>
                  <a:srgbClr val="252423"/>
                </a:solidFill>
                <a:latin typeface="Segoe UI"/>
              </a:rPr>
              <a:t>direct B2B / institutional sales segment is expected to</a:t>
            </a:r>
          </a:p>
        </p:txBody>
      </p:sp>
      <p:sp>
        <p:nvSpPr>
          <p:cNvPr id="85" name="TextBox 84"/>
          <p:cNvSpPr txBox="1"/>
          <p:nvPr/>
        </p:nvSpPr>
        <p:spPr>
          <a:xfrm>
            <a:off x="485775" y="5114576"/>
            <a:ext cx="1683199" cy="166573"/>
          </a:xfrm>
          <a:prstGeom prst="rect">
            <a:avLst/>
          </a:prstGeom>
          <a:noFill/>
        </p:spPr>
        <p:txBody>
          <a:bodyPr wrap="none" lIns="0" rIns="0" tIns="0" bIns="0">
            <a:spAutoFit/>
          </a:bodyPr>
          <a:lstStyle/>
          <a:p>
            <a:r>
              <a:rPr sz="968" b="0">
                <a:solidFill>
                  <a:srgbClr val="252423"/>
                </a:solidFill>
                <a:latin typeface="Segoe UI"/>
              </a:rPr>
              <a:t>dominate the market, gaining</a:t>
            </a:r>
          </a:p>
        </p:txBody>
      </p:sp>
      <p:pic>
        <p:nvPicPr>
          <p:cNvPr id="86" name="Picture 85" descr="lock.png"/>
          <p:cNvPicPr>
            <a:picLocks noChangeAspect="1"/>
          </p:cNvPicPr>
          <p:nvPr/>
        </p:nvPicPr>
        <p:blipFill>
          <a:blip r:embed="rId16"/>
          <a:stretch>
            <a:fillRect/>
          </a:stretch>
        </p:blipFill>
        <p:spPr>
          <a:xfrm>
            <a:off x="2114115" y="5105970"/>
            <a:ext cx="113255" cy="164734"/>
          </a:xfrm>
          <a:prstGeom prst="rect">
            <a:avLst/>
          </a:prstGeom>
        </p:spPr>
      </p:pic>
      <p:sp>
        <p:nvSpPr>
          <p:cNvPr id="87" name="TextBox 86"/>
          <p:cNvSpPr txBox="1"/>
          <p:nvPr/>
        </p:nvSpPr>
        <p:spPr>
          <a:xfrm>
            <a:off x="2261512" y="5114576"/>
            <a:ext cx="519441" cy="166573"/>
          </a:xfrm>
          <a:prstGeom prst="rect">
            <a:avLst/>
          </a:prstGeom>
          <a:noFill/>
        </p:spPr>
        <p:txBody>
          <a:bodyPr wrap="none" lIns="0" rIns="0" tIns="0" bIns="0">
            <a:spAutoFit/>
          </a:bodyPr>
          <a:lstStyle/>
          <a:p>
            <a:r>
              <a:rPr sz="968" b="0">
                <a:solidFill>
                  <a:srgbClr val="252423"/>
                </a:solidFill>
                <a:latin typeface="Segoe UI"/>
              </a:rPr>
              <a:t>BPS and</a:t>
            </a:r>
          </a:p>
        </p:txBody>
      </p:sp>
      <p:sp>
        <p:nvSpPr>
          <p:cNvPr id="88" name="TextBox 87"/>
          <p:cNvSpPr txBox="1"/>
          <p:nvPr/>
        </p:nvSpPr>
        <p:spPr>
          <a:xfrm>
            <a:off x="485775" y="5262099"/>
            <a:ext cx="864479" cy="166573"/>
          </a:xfrm>
          <a:prstGeom prst="rect">
            <a:avLst/>
          </a:prstGeom>
          <a:noFill/>
        </p:spPr>
        <p:txBody>
          <a:bodyPr wrap="none" lIns="0" rIns="0" tIns="0" bIns="0">
            <a:spAutoFit/>
          </a:bodyPr>
          <a:lstStyle/>
          <a:p>
            <a:r>
              <a:rPr sz="968" b="0">
                <a:solidFill>
                  <a:srgbClr val="252423"/>
                </a:solidFill>
                <a:latin typeface="Segoe UI"/>
              </a:rPr>
              <a:t>accounting for</a:t>
            </a:r>
          </a:p>
        </p:txBody>
      </p:sp>
      <p:pic>
        <p:nvPicPr>
          <p:cNvPr id="89" name="Picture 88" descr="lock.png"/>
          <p:cNvPicPr>
            <a:picLocks noChangeAspect="1"/>
          </p:cNvPicPr>
          <p:nvPr/>
        </p:nvPicPr>
        <p:blipFill>
          <a:blip r:embed="rId16"/>
          <a:stretch>
            <a:fillRect/>
          </a:stretch>
        </p:blipFill>
        <p:spPr>
          <a:xfrm>
            <a:off x="1295395" y="5253493"/>
            <a:ext cx="113255" cy="164734"/>
          </a:xfrm>
          <a:prstGeom prst="rect">
            <a:avLst/>
          </a:prstGeom>
        </p:spPr>
      </p:pic>
      <p:sp>
        <p:nvSpPr>
          <p:cNvPr id="90" name="TextBox 89"/>
          <p:cNvSpPr txBox="1"/>
          <p:nvPr/>
        </p:nvSpPr>
        <p:spPr>
          <a:xfrm>
            <a:off x="1442791" y="5262099"/>
            <a:ext cx="858450" cy="166573"/>
          </a:xfrm>
          <a:prstGeom prst="rect">
            <a:avLst/>
          </a:prstGeom>
          <a:noFill/>
        </p:spPr>
        <p:txBody>
          <a:bodyPr wrap="none" lIns="0" rIns="0" tIns="0" bIns="0">
            <a:spAutoFit/>
          </a:bodyPr>
          <a:lstStyle/>
          <a:p>
            <a:r>
              <a:rPr sz="968" b="0">
                <a:solidFill>
                  <a:srgbClr val="252423"/>
                </a:solidFill>
                <a:latin typeface="Segoe UI"/>
              </a:rPr>
              <a:t>share by 2036.</a:t>
            </a:r>
          </a:p>
        </p:txBody>
      </p:sp>
      <p:sp>
        <p:nvSpPr>
          <p:cNvPr id="91" name="TextBox 90"/>
          <p:cNvSpPr txBox="1"/>
          <p:nvPr/>
        </p:nvSpPr>
        <p:spPr>
          <a:xfrm>
            <a:off x="485775" y="5453879"/>
            <a:ext cx="2859000" cy="166573"/>
          </a:xfrm>
          <a:prstGeom prst="rect">
            <a:avLst/>
          </a:prstGeom>
          <a:noFill/>
        </p:spPr>
        <p:txBody>
          <a:bodyPr wrap="none" lIns="0" rIns="0" tIns="0" bIns="0">
            <a:spAutoFit/>
          </a:bodyPr>
          <a:lstStyle/>
          <a:p>
            <a:r>
              <a:rPr sz="968" b="0">
                <a:solidFill>
                  <a:srgbClr val="252423"/>
                </a:solidFill>
                <a:latin typeface="Segoe UI"/>
              </a:rPr>
              <a:t>Direct B2B / institutional sales segment is projected</a:t>
            </a:r>
          </a:p>
        </p:txBody>
      </p:sp>
      <p:sp>
        <p:nvSpPr>
          <p:cNvPr id="92" name="TextBox 91"/>
          <p:cNvSpPr txBox="1"/>
          <p:nvPr/>
        </p:nvSpPr>
        <p:spPr>
          <a:xfrm>
            <a:off x="485775" y="5601402"/>
            <a:ext cx="633917" cy="166573"/>
          </a:xfrm>
          <a:prstGeom prst="rect">
            <a:avLst/>
          </a:prstGeom>
          <a:noFill/>
        </p:spPr>
        <p:txBody>
          <a:bodyPr wrap="none" lIns="0" rIns="0" tIns="0" bIns="0">
            <a:spAutoFit/>
          </a:bodyPr>
          <a:lstStyle/>
          <a:p>
            <a:r>
              <a:rPr sz="968" b="0">
                <a:solidFill>
                  <a:srgbClr val="252423"/>
                </a:solidFill>
                <a:latin typeface="Segoe UI"/>
              </a:rPr>
              <a:t>to register</a:t>
            </a:r>
          </a:p>
        </p:txBody>
      </p:sp>
      <p:pic>
        <p:nvPicPr>
          <p:cNvPr id="93" name="Picture 92" descr="lock.png"/>
          <p:cNvPicPr>
            <a:picLocks noChangeAspect="1"/>
          </p:cNvPicPr>
          <p:nvPr/>
        </p:nvPicPr>
        <p:blipFill>
          <a:blip r:embed="rId16"/>
          <a:stretch>
            <a:fillRect/>
          </a:stretch>
        </p:blipFill>
        <p:spPr>
          <a:xfrm>
            <a:off x="1064834" y="5592797"/>
            <a:ext cx="113255" cy="164734"/>
          </a:xfrm>
          <a:prstGeom prst="rect">
            <a:avLst/>
          </a:prstGeom>
        </p:spPr>
      </p:pic>
      <p:sp>
        <p:nvSpPr>
          <p:cNvPr id="94" name="TextBox 93"/>
          <p:cNvSpPr txBox="1"/>
          <p:nvPr/>
        </p:nvSpPr>
        <p:spPr>
          <a:xfrm>
            <a:off x="1212230" y="5601402"/>
            <a:ext cx="1127124" cy="166573"/>
          </a:xfrm>
          <a:prstGeom prst="rect">
            <a:avLst/>
          </a:prstGeom>
          <a:noFill/>
        </p:spPr>
        <p:txBody>
          <a:bodyPr wrap="none" lIns="0" rIns="0" tIns="0" bIns="0">
            <a:spAutoFit/>
          </a:bodyPr>
          <a:lstStyle/>
          <a:p>
            <a:r>
              <a:rPr sz="968" b="0">
                <a:solidFill>
                  <a:srgbClr val="252423"/>
                </a:solidFill>
                <a:latin typeface="Segoe UI"/>
              </a:rPr>
              <a:t>X higher value than</a:t>
            </a:r>
          </a:p>
        </p:txBody>
      </p:sp>
      <p:sp>
        <p:nvSpPr>
          <p:cNvPr id="95" name="TextBox 94"/>
          <p:cNvSpPr txBox="1"/>
          <p:nvPr/>
        </p:nvSpPr>
        <p:spPr>
          <a:xfrm>
            <a:off x="485775" y="5748925"/>
            <a:ext cx="2914650" cy="166573"/>
          </a:xfrm>
          <a:prstGeom prst="rect">
            <a:avLst/>
          </a:prstGeom>
          <a:noFill/>
        </p:spPr>
        <p:txBody>
          <a:bodyPr wrap="none" lIns="0" rIns="0" tIns="0" bIns="0">
            <a:spAutoFit/>
          </a:bodyPr>
          <a:lstStyle/>
          <a:p>
            <a:r>
              <a:rPr sz="968" b="0">
                <a:solidFill>
                  <a:srgbClr val="252423"/>
                </a:solidFill>
                <a:latin typeface="Segoe UI"/>
              </a:rPr>
              <a:t>direct-to-consumer / manufacturer direct segment in</a:t>
            </a:r>
          </a:p>
        </p:txBody>
      </p:sp>
      <p:sp>
        <p:nvSpPr>
          <p:cNvPr id="96" name="TextBox 95"/>
          <p:cNvSpPr txBox="1"/>
          <p:nvPr/>
        </p:nvSpPr>
        <p:spPr>
          <a:xfrm>
            <a:off x="485775" y="5896449"/>
            <a:ext cx="367932" cy="166573"/>
          </a:xfrm>
          <a:prstGeom prst="rect">
            <a:avLst/>
          </a:prstGeom>
          <a:noFill/>
        </p:spPr>
        <p:txBody>
          <a:bodyPr wrap="none" lIns="0" rIns="0" tIns="0" bIns="0">
            <a:spAutoFit/>
          </a:bodyPr>
          <a:lstStyle/>
          <a:p>
            <a:r>
              <a:rPr sz="968" b="0">
                <a:solidFill>
                  <a:srgbClr val="252423"/>
                </a:solidFill>
                <a:latin typeface="Segoe UI"/>
              </a:rPr>
              <a:t>2036.</a:t>
            </a:r>
          </a:p>
        </p:txBody>
      </p:sp>
      <p:sp>
        <p:nvSpPr>
          <p:cNvPr id="97" name="TextBox 96"/>
          <p:cNvSpPr txBox="1"/>
          <p:nvPr/>
        </p:nvSpPr>
        <p:spPr>
          <a:xfrm>
            <a:off x="3838575" y="4229437"/>
            <a:ext cx="2079992" cy="186689"/>
          </a:xfrm>
          <a:prstGeom prst="rect">
            <a:avLst/>
          </a:prstGeom>
          <a:noFill/>
        </p:spPr>
        <p:txBody>
          <a:bodyPr wrap="none" lIns="0" rIns="0" tIns="0" bIns="0">
            <a:spAutoFit/>
          </a:bodyPr>
          <a:lstStyle/>
          <a:p>
            <a:r>
              <a:rPr sz="1100" b="0">
                <a:solidFill>
                  <a:srgbClr val="252423"/>
                </a:solidFill>
                <a:latin typeface="Segoe UI"/>
              </a:rPr>
              <a:t>● Direct B2B / Institutional Sales:</a:t>
            </a:r>
          </a:p>
        </p:txBody>
      </p:sp>
      <p:pic>
        <p:nvPicPr>
          <p:cNvPr id="98" name="Picture 97" descr="lock.png"/>
          <p:cNvPicPr>
            <a:picLocks noChangeAspect="1"/>
          </p:cNvPicPr>
          <p:nvPr/>
        </p:nvPicPr>
        <p:blipFill>
          <a:blip r:embed="rId16"/>
          <a:stretch>
            <a:fillRect/>
          </a:stretch>
        </p:blipFill>
        <p:spPr>
          <a:xfrm>
            <a:off x="5866618" y="4219658"/>
            <a:ext cx="128699" cy="187198"/>
          </a:xfrm>
          <a:prstGeom prst="rect">
            <a:avLst/>
          </a:prstGeom>
        </p:spPr>
      </p:pic>
      <p:sp>
        <p:nvSpPr>
          <p:cNvPr id="99" name="TextBox 98"/>
          <p:cNvSpPr txBox="1"/>
          <p:nvPr/>
        </p:nvSpPr>
        <p:spPr>
          <a:xfrm>
            <a:off x="6034114"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0" name="Picture 99" descr="lock.png"/>
          <p:cNvPicPr>
            <a:picLocks noChangeAspect="1"/>
          </p:cNvPicPr>
          <p:nvPr/>
        </p:nvPicPr>
        <p:blipFill>
          <a:blip r:embed="rId16"/>
          <a:stretch>
            <a:fillRect/>
          </a:stretch>
        </p:blipFill>
        <p:spPr>
          <a:xfrm>
            <a:off x="6954060" y="4219658"/>
            <a:ext cx="128699" cy="187198"/>
          </a:xfrm>
          <a:prstGeom prst="rect">
            <a:avLst/>
          </a:prstGeom>
        </p:spPr>
      </p:pic>
      <p:sp>
        <p:nvSpPr>
          <p:cNvPr id="101" name="TextBox 100"/>
          <p:cNvSpPr txBox="1"/>
          <p:nvPr/>
        </p:nvSpPr>
        <p:spPr>
          <a:xfrm>
            <a:off x="7121556"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2" name="TextBox 101"/>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103" name="TextBox 102"/>
          <p:cNvSpPr txBox="1"/>
          <p:nvPr/>
        </p:nvSpPr>
        <p:spPr>
          <a:xfrm>
            <a:off x="3838575" y="4615009"/>
            <a:ext cx="1738863" cy="186689"/>
          </a:xfrm>
          <a:prstGeom prst="rect">
            <a:avLst/>
          </a:prstGeom>
          <a:noFill/>
        </p:spPr>
        <p:txBody>
          <a:bodyPr wrap="none" lIns="0" rIns="0" tIns="0" bIns="0">
            <a:spAutoFit/>
          </a:bodyPr>
          <a:lstStyle/>
          <a:p>
            <a:r>
              <a:rPr sz="1100" b="0">
                <a:solidFill>
                  <a:srgbClr val="252423"/>
                </a:solidFill>
                <a:latin typeface="Segoe UI"/>
              </a:rPr>
              <a:t>● Online Third-Party Retail:</a:t>
            </a:r>
          </a:p>
        </p:txBody>
      </p:sp>
      <p:pic>
        <p:nvPicPr>
          <p:cNvPr id="104" name="Picture 103" descr="lock.png"/>
          <p:cNvPicPr>
            <a:picLocks noChangeAspect="1"/>
          </p:cNvPicPr>
          <p:nvPr/>
        </p:nvPicPr>
        <p:blipFill>
          <a:blip r:embed="rId16"/>
          <a:stretch>
            <a:fillRect/>
          </a:stretch>
        </p:blipFill>
        <p:spPr>
          <a:xfrm>
            <a:off x="5525490" y="4605230"/>
            <a:ext cx="128699" cy="187198"/>
          </a:xfrm>
          <a:prstGeom prst="rect">
            <a:avLst/>
          </a:prstGeom>
        </p:spPr>
      </p:pic>
      <p:sp>
        <p:nvSpPr>
          <p:cNvPr id="105" name="TextBox 104"/>
          <p:cNvSpPr txBox="1"/>
          <p:nvPr/>
        </p:nvSpPr>
        <p:spPr>
          <a:xfrm>
            <a:off x="5692986"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6" name="Picture 105" descr="lock.png"/>
          <p:cNvPicPr>
            <a:picLocks noChangeAspect="1"/>
          </p:cNvPicPr>
          <p:nvPr/>
        </p:nvPicPr>
        <p:blipFill>
          <a:blip r:embed="rId16"/>
          <a:stretch>
            <a:fillRect/>
          </a:stretch>
        </p:blipFill>
        <p:spPr>
          <a:xfrm>
            <a:off x="6612932" y="4605230"/>
            <a:ext cx="128699" cy="187198"/>
          </a:xfrm>
          <a:prstGeom prst="rect">
            <a:avLst/>
          </a:prstGeom>
        </p:spPr>
      </p:pic>
      <p:sp>
        <p:nvSpPr>
          <p:cNvPr id="107" name="TextBox 106"/>
          <p:cNvSpPr txBox="1"/>
          <p:nvPr/>
        </p:nvSpPr>
        <p:spPr>
          <a:xfrm>
            <a:off x="6780428" y="4615009"/>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08" name="TextBox 107"/>
          <p:cNvSpPr txBox="1"/>
          <p:nvPr/>
        </p:nvSpPr>
        <p:spPr>
          <a:xfrm>
            <a:off x="3838575" y="4782649"/>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09" name="TextBox 108"/>
          <p:cNvSpPr txBox="1"/>
          <p:nvPr/>
        </p:nvSpPr>
        <p:spPr>
          <a:xfrm>
            <a:off x="3838575" y="5000581"/>
            <a:ext cx="2829592" cy="186689"/>
          </a:xfrm>
          <a:prstGeom prst="rect">
            <a:avLst/>
          </a:prstGeom>
          <a:noFill/>
        </p:spPr>
        <p:txBody>
          <a:bodyPr wrap="none" lIns="0" rIns="0" tIns="0" bIns="0">
            <a:spAutoFit/>
          </a:bodyPr>
          <a:lstStyle/>
          <a:p>
            <a:r>
              <a:rPr sz="1100" b="0">
                <a:solidFill>
                  <a:srgbClr val="252423"/>
                </a:solidFill>
                <a:latin typeface="Segoe UI"/>
              </a:rPr>
              <a:t>● Direct-to-Consumer / Manufacturer Direct:</a:t>
            </a:r>
          </a:p>
        </p:txBody>
      </p:sp>
      <p:pic>
        <p:nvPicPr>
          <p:cNvPr id="110" name="Picture 109" descr="lock.png"/>
          <p:cNvPicPr>
            <a:picLocks noChangeAspect="1"/>
          </p:cNvPicPr>
          <p:nvPr/>
        </p:nvPicPr>
        <p:blipFill>
          <a:blip r:embed="rId16"/>
          <a:stretch>
            <a:fillRect/>
          </a:stretch>
        </p:blipFill>
        <p:spPr>
          <a:xfrm>
            <a:off x="6616218" y="4990801"/>
            <a:ext cx="128699" cy="187198"/>
          </a:xfrm>
          <a:prstGeom prst="rect">
            <a:avLst/>
          </a:prstGeom>
        </p:spPr>
      </p:pic>
      <p:sp>
        <p:nvSpPr>
          <p:cNvPr id="111" name="TextBox 110"/>
          <p:cNvSpPr txBox="1"/>
          <p:nvPr/>
        </p:nvSpPr>
        <p:spPr>
          <a:xfrm>
            <a:off x="6783714"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2" name="Picture 111" descr="lock.png"/>
          <p:cNvPicPr>
            <a:picLocks noChangeAspect="1"/>
          </p:cNvPicPr>
          <p:nvPr/>
        </p:nvPicPr>
        <p:blipFill>
          <a:blip r:embed="rId16"/>
          <a:stretch>
            <a:fillRect/>
          </a:stretch>
        </p:blipFill>
        <p:spPr>
          <a:xfrm>
            <a:off x="3825107" y="5158441"/>
            <a:ext cx="128699" cy="187198"/>
          </a:xfrm>
          <a:prstGeom prst="rect">
            <a:avLst/>
          </a:prstGeom>
        </p:spPr>
      </p:pic>
      <p:sp>
        <p:nvSpPr>
          <p:cNvPr id="113" name="TextBox 112"/>
          <p:cNvSpPr txBox="1"/>
          <p:nvPr/>
        </p:nvSpPr>
        <p:spPr>
          <a:xfrm>
            <a:off x="3992603" y="5168221"/>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14" name="TextBox 113"/>
          <p:cNvSpPr txBox="1"/>
          <p:nvPr/>
        </p:nvSpPr>
        <p:spPr>
          <a:xfrm>
            <a:off x="3838575" y="5386153"/>
            <a:ext cx="1930166" cy="186689"/>
          </a:xfrm>
          <a:prstGeom prst="rect">
            <a:avLst/>
          </a:prstGeom>
          <a:noFill/>
        </p:spPr>
        <p:txBody>
          <a:bodyPr wrap="none" lIns="0" rIns="0" tIns="0" bIns="0">
            <a:spAutoFit/>
          </a:bodyPr>
          <a:lstStyle/>
          <a:p>
            <a:r>
              <a:rPr sz="1100" b="0">
                <a:solidFill>
                  <a:srgbClr val="252423"/>
                </a:solidFill>
                <a:latin typeface="Segoe UI"/>
              </a:rPr>
              <a:t>● Offline Retail &amp; Distributors:</a:t>
            </a:r>
          </a:p>
        </p:txBody>
      </p:sp>
      <p:pic>
        <p:nvPicPr>
          <p:cNvPr id="115" name="Picture 114" descr="lock.png"/>
          <p:cNvPicPr>
            <a:picLocks noChangeAspect="1"/>
          </p:cNvPicPr>
          <p:nvPr/>
        </p:nvPicPr>
        <p:blipFill>
          <a:blip r:embed="rId16"/>
          <a:stretch>
            <a:fillRect/>
          </a:stretch>
        </p:blipFill>
        <p:spPr>
          <a:xfrm>
            <a:off x="5716793" y="5376373"/>
            <a:ext cx="128699" cy="187198"/>
          </a:xfrm>
          <a:prstGeom prst="rect">
            <a:avLst/>
          </a:prstGeom>
        </p:spPr>
      </p:pic>
      <p:sp>
        <p:nvSpPr>
          <p:cNvPr id="116" name="TextBox 115"/>
          <p:cNvSpPr txBox="1"/>
          <p:nvPr/>
        </p:nvSpPr>
        <p:spPr>
          <a:xfrm>
            <a:off x="5884289"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7" name="Picture 116" descr="lock.png"/>
          <p:cNvPicPr>
            <a:picLocks noChangeAspect="1"/>
          </p:cNvPicPr>
          <p:nvPr/>
        </p:nvPicPr>
        <p:blipFill>
          <a:blip r:embed="rId16"/>
          <a:stretch>
            <a:fillRect/>
          </a:stretch>
        </p:blipFill>
        <p:spPr>
          <a:xfrm>
            <a:off x="6804235" y="5376373"/>
            <a:ext cx="128699" cy="187198"/>
          </a:xfrm>
          <a:prstGeom prst="rect">
            <a:avLst/>
          </a:prstGeom>
        </p:spPr>
      </p:pic>
      <p:sp>
        <p:nvSpPr>
          <p:cNvPr id="118" name="TextBox 117"/>
          <p:cNvSpPr txBox="1"/>
          <p:nvPr/>
        </p:nvSpPr>
        <p:spPr>
          <a:xfrm>
            <a:off x="6971731" y="5386153"/>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19" name="TextBox 118"/>
          <p:cNvSpPr txBox="1"/>
          <p:nvPr/>
        </p:nvSpPr>
        <p:spPr>
          <a:xfrm>
            <a:off x="3838575" y="5553793"/>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20" name="TextBox 119"/>
          <p:cNvSpPr txBox="1"/>
          <p:nvPr/>
        </p:nvSpPr>
        <p:spPr>
          <a:xfrm>
            <a:off x="8524875" y="5849651"/>
            <a:ext cx="3135843" cy="187299"/>
          </a:xfrm>
          <a:prstGeom prst="rect">
            <a:avLst/>
          </a:prstGeom>
          <a:noFill/>
        </p:spPr>
        <p:txBody>
          <a:bodyPr wrap="none" lIns="0" rIns="0" tIns="0" bIns="0">
            <a:spAutoFit/>
          </a:bodyPr>
          <a:lstStyle/>
          <a:p>
            <a:r>
              <a:rPr sz="1104" b="1">
                <a:solidFill>
                  <a:srgbClr val="0E3A5F"/>
                </a:solidFill>
                <a:latin typeface="Segoe UI"/>
              </a:rPr>
              <a:t>The Distribution Channel segment is projected</a:t>
            </a:r>
          </a:p>
        </p:txBody>
      </p:sp>
      <p:sp>
        <p:nvSpPr>
          <p:cNvPr id="121" name="TextBox 120"/>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122" name="Picture 121" descr="lock.png"/>
          <p:cNvPicPr>
            <a:picLocks noChangeAspect="1"/>
          </p:cNvPicPr>
          <p:nvPr/>
        </p:nvPicPr>
        <p:blipFill>
          <a:blip r:embed="rId16"/>
          <a:stretch>
            <a:fillRect/>
          </a:stretch>
        </p:blipFill>
        <p:spPr>
          <a:xfrm>
            <a:off x="9944923" y="6008086"/>
            <a:ext cx="129166" cy="187878"/>
          </a:xfrm>
          <a:prstGeom prst="rect">
            <a:avLst/>
          </a:prstGeom>
        </p:spPr>
      </p:pic>
      <p:sp>
        <p:nvSpPr>
          <p:cNvPr id="123" name="TextBox 122"/>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Distribution Channel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Distribution Channel mix within each region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Distribution Channel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Distribution Channel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622902" cy="186689"/>
          </a:xfrm>
          <a:prstGeom prst="rect">
            <a:avLst/>
          </a:prstGeom>
          <a:noFill/>
        </p:spPr>
        <p:txBody>
          <a:bodyPr wrap="none" lIns="0" rIns="0" tIns="0" bIns="0">
            <a:spAutoFit/>
          </a:bodyPr>
          <a:lstStyle/>
          <a:p>
            <a:r>
              <a:rPr sz="1100" b="0">
                <a:solidFill>
                  <a:srgbClr val="252423"/>
                </a:solidFill>
                <a:latin typeface="Segoe UI"/>
              </a:rPr>
              <a:t>Direct B2B / institutional sales followed by direct-to-consumer / manufacturer direct are expected to be the two most attractive distribution channel segments in the global lithium polymer</a:t>
            </a:r>
          </a:p>
        </p:txBody>
      </p:sp>
      <p:sp>
        <p:nvSpPr>
          <p:cNvPr id="18" name="TextBox 17"/>
          <p:cNvSpPr txBox="1"/>
          <p:nvPr/>
        </p:nvSpPr>
        <p:spPr>
          <a:xfrm>
            <a:off x="257175" y="5837872"/>
            <a:ext cx="10887725" cy="186689"/>
          </a:xfrm>
          <a:prstGeom prst="rect">
            <a:avLst/>
          </a:prstGeom>
          <a:noFill/>
        </p:spPr>
        <p:txBody>
          <a:bodyPr wrap="none" lIns="0" rIns="0" tIns="0" bIns="0">
            <a:spAutoFit/>
          </a:bodyPr>
          <a:lstStyle/>
          <a:p>
            <a:r>
              <a:rPr sz="1100" b="0">
                <a:solidFill>
                  <a:srgbClr val="252423"/>
                </a:solidFill>
                <a:latin typeface="Segoe UI"/>
              </a:rPr>
              <a:t>portable energy storage market in terms of value over the forecast period. Direct B2B / institutional sales and Direct-to-Consumer / manufacturer direct exhibit a CAGR index of</a:t>
            </a:r>
          </a:p>
        </p:txBody>
      </p:sp>
      <p:pic>
        <p:nvPicPr>
          <p:cNvPr id="19" name="Picture 18" descr="lock.png"/>
          <p:cNvPicPr>
            <a:picLocks noChangeAspect="1"/>
          </p:cNvPicPr>
          <p:nvPr/>
        </p:nvPicPr>
        <p:blipFill>
          <a:blip r:embed="rId6"/>
          <a:stretch>
            <a:fillRect/>
          </a:stretch>
        </p:blipFill>
        <p:spPr>
          <a:xfrm>
            <a:off x="11092952" y="5828093"/>
            <a:ext cx="128699" cy="187198"/>
          </a:xfrm>
          <a:prstGeom prst="rect">
            <a:avLst/>
          </a:prstGeom>
        </p:spPr>
      </p:pic>
      <p:sp>
        <p:nvSpPr>
          <p:cNvPr id="20" name="TextBox 19"/>
          <p:cNvSpPr txBox="1"/>
          <p:nvPr/>
        </p:nvSpPr>
        <p:spPr>
          <a:xfrm>
            <a:off x="11260448" y="583787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1517442" y="5828093"/>
            <a:ext cx="128699" cy="187198"/>
          </a:xfrm>
          <a:prstGeom prst="rect">
            <a:avLst/>
          </a:prstGeom>
        </p:spPr>
      </p:pic>
      <p:sp>
        <p:nvSpPr>
          <p:cNvPr id="22" name="TextBox 21"/>
          <p:cNvSpPr txBox="1"/>
          <p:nvPr/>
        </p:nvSpPr>
        <p:spPr>
          <a:xfrm>
            <a:off x="257175"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995914" y="5995733"/>
            <a:ext cx="128699" cy="187198"/>
          </a:xfrm>
          <a:prstGeom prst="rect">
            <a:avLst/>
          </a:prstGeom>
        </p:spPr>
      </p:pic>
      <p:sp>
        <p:nvSpPr>
          <p:cNvPr id="24" name="TextBox 23"/>
          <p:cNvSpPr txBox="1"/>
          <p:nvPr/>
        </p:nvSpPr>
        <p:spPr>
          <a:xfrm>
            <a:off x="216341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420404" y="5995733"/>
            <a:ext cx="128699" cy="187198"/>
          </a:xfrm>
          <a:prstGeom prst="rect">
            <a:avLst/>
          </a:prstGeom>
        </p:spPr>
      </p:pic>
      <p:sp>
        <p:nvSpPr>
          <p:cNvPr id="26" name="TextBox 25"/>
          <p:cNvSpPr txBox="1"/>
          <p:nvPr/>
        </p:nvSpPr>
        <p:spPr>
          <a:xfrm>
            <a:off x="258790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347834" y="5995733"/>
            <a:ext cx="128699" cy="187198"/>
          </a:xfrm>
          <a:prstGeom prst="rect">
            <a:avLst/>
          </a:prstGeom>
        </p:spPr>
      </p:pic>
      <p:sp>
        <p:nvSpPr>
          <p:cNvPr id="28" name="TextBox 27"/>
          <p:cNvSpPr txBox="1"/>
          <p:nvPr/>
        </p:nvSpPr>
        <p:spPr>
          <a:xfrm>
            <a:off x="5515330" y="6005512"/>
            <a:ext cx="5939588" cy="186689"/>
          </a:xfrm>
          <a:prstGeom prst="rect">
            <a:avLst/>
          </a:prstGeom>
          <a:noFill/>
        </p:spPr>
        <p:txBody>
          <a:bodyPr wrap="none" lIns="0" rIns="0" tIns="0" bIns="0">
            <a:spAutoFit/>
          </a:bodyPr>
          <a:lstStyle/>
          <a:p>
            <a:r>
              <a:rPr sz="1100" b="0">
                <a:solidFill>
                  <a:srgbClr val="252423"/>
                </a:solidFill>
                <a:latin typeface="Segoe UI"/>
              </a:rPr>
              <a:t>. The offline retail &amp; distributors segment is expected to be less attractive as compared to other</a:t>
            </a:r>
          </a:p>
        </p:txBody>
      </p:sp>
      <p:sp>
        <p:nvSpPr>
          <p:cNvPr id="29" name="TextBox 28"/>
          <p:cNvSpPr txBox="1"/>
          <p:nvPr/>
        </p:nvSpPr>
        <p:spPr>
          <a:xfrm>
            <a:off x="257175" y="6173152"/>
            <a:ext cx="10298801" cy="186689"/>
          </a:xfrm>
          <a:prstGeom prst="rect">
            <a:avLst/>
          </a:prstGeom>
          <a:noFill/>
        </p:spPr>
        <p:txBody>
          <a:bodyPr wrap="none" lIns="0" rIns="0" tIns="0" bIns="0">
            <a:spAutoFit/>
          </a:bodyPr>
          <a:lstStyle/>
          <a:p>
            <a:r>
              <a:rPr sz="1100" b="0">
                <a:solidFill>
                  <a:srgbClr val="252423"/>
                </a:solidFill>
                <a:latin typeface="Segoe UI"/>
              </a:rPr>
              <a:t>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Distribution Channel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Direct-to-Consumer / Manufacturer Direct</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Online Third-Party Retail</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Offline Retail &amp; Distributors</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Direct B2B / Institutional Sales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Distribution Channel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Distribution Channel, 2021–2036, highlighting the sub-segments driving growth</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Distribution Channel (US$ Mn)</a:t>
            </a:r>
          </a:p>
        </p:txBody>
      </p:sp>
      <p:graphicFrame>
        <p:nvGraphicFramePr>
          <p:cNvPr id="10" name="Table 9"/>
          <p:cNvGraphicFramePr>
            <a:graphicFrameLocks noGrp="1"/>
          </p:cNvGraphicFramePr>
          <p:nvPr/>
        </p:nvGraphicFramePr>
        <p:xfrm>
          <a:off x="152400" y="1238250"/>
          <a:ext cx="11887204" cy="1676402"/>
        </p:xfrm>
        <a:graphic>
          <a:graphicData uri="http://schemas.openxmlformats.org/drawingml/2006/table">
            <a:tbl>
              <a:tblPr>
                <a:tableStyleId>{5C22544A-7EE6-4342-B048-85BDC9FD1C3A}</a:tableStyleId>
              </a:tblPr>
              <a:tblGrid>
                <a:gridCol w="2986568"/>
                <a:gridCol w="538901"/>
                <a:gridCol w="538901"/>
                <a:gridCol w="538901"/>
                <a:gridCol w="538901"/>
                <a:gridCol w="538901"/>
                <a:gridCol w="514374"/>
                <a:gridCol w="514374"/>
                <a:gridCol w="514374"/>
                <a:gridCol w="514374"/>
                <a:gridCol w="514374"/>
                <a:gridCol w="514374"/>
                <a:gridCol w="514374"/>
                <a:gridCol w="514374"/>
                <a:gridCol w="514374"/>
                <a:gridCol w="514374"/>
                <a:gridCol w="514374"/>
                <a:gridCol w="548017"/>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247498">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650.0</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1,950</a:t>
                      </a:r>
                      <a:endParaRPr sz="1100"/>
                    </a:p>
                  </a:txBody>
                  <a:tcPr marL="47625" marR="38100" marT="19050" marB="19050" anchor="ctr">
                    <a:solidFill>
                      <a:srgbClr val="E0F2FA"/>
                    </a:solidFill>
                  </a:tcPr>
                </a:tc>
                <a:tc>
                  <a:txBody>
                    <a:bodyPr wrap="none"/>
                    <a:lstStyle/>
                    <a:p>
                      <a:pPr algn="ctr"/>
                      <a:r>
                        <a:rPr sz="1100" b="1">
                          <a:solidFill>
                            <a:srgbClr val="252423"/>
                          </a:solidFill>
                          <a:latin typeface="Segoe UI"/>
                        </a:rPr>
                        <a:t>11.6%</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Distribution Channel</a:t>
            </a:r>
          </a:p>
        </p:txBody>
      </p:sp>
      <p:sp>
        <p:nvSpPr>
          <p:cNvPr id="14" name="Rectangle 13"/>
          <p:cNvSpPr/>
          <p:nvPr/>
        </p:nvSpPr>
        <p:spPr>
          <a:xfrm>
            <a:off x="276225" y="3581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02596" y="2029206"/>
            <a:ext cx="366712" cy="533400"/>
          </a:xfrm>
          <a:prstGeom prst="rect">
            <a:avLst/>
          </a:prstGeom>
        </p:spPr>
      </p:pic>
      <p:sp>
        <p:nvSpPr>
          <p:cNvPr id="18" name="TextBox 17"/>
          <p:cNvSpPr txBox="1"/>
          <p:nvPr/>
        </p:nvSpPr>
        <p:spPr>
          <a:xfrm>
            <a:off x="276225" y="3676650"/>
            <a:ext cx="4084726" cy="194310"/>
          </a:xfrm>
          <a:prstGeom prst="rect">
            <a:avLst/>
          </a:prstGeom>
          <a:noFill/>
        </p:spPr>
        <p:txBody>
          <a:bodyPr wrap="none" lIns="0" rIns="0" tIns="0" bIns="0">
            <a:spAutoFit/>
          </a:bodyPr>
          <a:lstStyle/>
          <a:p>
            <a:r>
              <a:rPr sz="1150" b="0">
                <a:solidFill>
                  <a:srgbClr val="252423"/>
                </a:solidFill>
                <a:latin typeface="Segoe UI"/>
              </a:rPr>
              <a:t>Direct B2B / institutional sales segment is projected to register</a:t>
            </a:r>
          </a:p>
        </p:txBody>
      </p:sp>
      <p:pic>
        <p:nvPicPr>
          <p:cNvPr id="19" name="Picture 18" descr="lock.png"/>
          <p:cNvPicPr>
            <a:picLocks noChangeAspect="1"/>
          </p:cNvPicPr>
          <p:nvPr/>
        </p:nvPicPr>
        <p:blipFill>
          <a:blip r:embed="rId4"/>
          <a:stretch>
            <a:fillRect/>
          </a:stretch>
        </p:blipFill>
        <p:spPr>
          <a:xfrm>
            <a:off x="4310104" y="3666426"/>
            <a:ext cx="134549" cy="195707"/>
          </a:xfrm>
          <a:prstGeom prst="rect">
            <a:avLst/>
          </a:prstGeom>
        </p:spPr>
      </p:pic>
      <p:sp>
        <p:nvSpPr>
          <p:cNvPr id="20" name="TextBox 19"/>
          <p:cNvSpPr txBox="1"/>
          <p:nvPr/>
        </p:nvSpPr>
        <p:spPr>
          <a:xfrm>
            <a:off x="4485214" y="3676650"/>
            <a:ext cx="7322010" cy="194310"/>
          </a:xfrm>
          <a:prstGeom prst="rect">
            <a:avLst/>
          </a:prstGeom>
          <a:noFill/>
        </p:spPr>
        <p:txBody>
          <a:bodyPr wrap="none" lIns="0" rIns="0" tIns="0" bIns="0">
            <a:spAutoFit/>
          </a:bodyPr>
          <a:lstStyle/>
          <a:p>
            <a:r>
              <a:rPr sz="1150" b="0">
                <a:solidFill>
                  <a:srgbClr val="252423"/>
                </a:solidFill>
                <a:latin typeface="Segoe UI"/>
              </a:rPr>
              <a:t>X higher value than direct-to-consumer / manufacturer direct segment in 2036. Among lithium polymer portable</a:t>
            </a:r>
          </a:p>
        </p:txBody>
      </p:sp>
      <p:sp>
        <p:nvSpPr>
          <p:cNvPr id="21" name="TextBox 20"/>
          <p:cNvSpPr txBox="1"/>
          <p:nvPr/>
        </p:nvSpPr>
        <p:spPr>
          <a:xfrm>
            <a:off x="276225" y="3851910"/>
            <a:ext cx="8690475" cy="194310"/>
          </a:xfrm>
          <a:prstGeom prst="rect">
            <a:avLst/>
          </a:prstGeom>
          <a:noFill/>
        </p:spPr>
        <p:txBody>
          <a:bodyPr wrap="none" lIns="0" rIns="0" tIns="0" bIns="0">
            <a:spAutoFit/>
          </a:bodyPr>
          <a:lstStyle/>
          <a:p>
            <a:r>
              <a:rPr sz="1150" b="0">
                <a:solidFill>
                  <a:srgbClr val="252423"/>
                </a:solidFill>
                <a:latin typeface="Segoe UI"/>
              </a:rPr>
              <a:t>energy storage by distribution channel, direct-to-consumer / manufacturer direct segment is expected to witness the highest CAGR of</a:t>
            </a:r>
          </a:p>
        </p:txBody>
      </p:sp>
      <p:pic>
        <p:nvPicPr>
          <p:cNvPr id="22" name="Picture 21" descr="lock.png"/>
          <p:cNvPicPr>
            <a:picLocks noChangeAspect="1"/>
          </p:cNvPicPr>
          <p:nvPr/>
        </p:nvPicPr>
        <p:blipFill>
          <a:blip r:embed="rId4"/>
          <a:stretch>
            <a:fillRect/>
          </a:stretch>
        </p:blipFill>
        <p:spPr>
          <a:xfrm>
            <a:off x="8915854" y="3841686"/>
            <a:ext cx="134549" cy="195707"/>
          </a:xfrm>
          <a:prstGeom prst="rect">
            <a:avLst/>
          </a:prstGeom>
        </p:spPr>
      </p:pic>
      <p:sp>
        <p:nvSpPr>
          <p:cNvPr id="23" name="TextBox 22"/>
          <p:cNvSpPr txBox="1"/>
          <p:nvPr/>
        </p:nvSpPr>
        <p:spPr>
          <a:xfrm>
            <a:off x="9090963" y="38519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079747"/>
            <a:ext cx="8763915" cy="194310"/>
          </a:xfrm>
          <a:prstGeom prst="rect">
            <a:avLst/>
          </a:prstGeom>
          <a:noFill/>
        </p:spPr>
        <p:txBody>
          <a:bodyPr wrap="none" lIns="0" rIns="0" tIns="0" bIns="0">
            <a:spAutoFit/>
          </a:bodyPr>
          <a:lstStyle/>
          <a:p>
            <a:r>
              <a:rPr sz="1150" b="0">
                <a:solidFill>
                  <a:srgbClr val="252423"/>
                </a:solidFill>
                <a:latin typeface="Segoe UI"/>
              </a:rPr>
              <a:t>In terms of value share by distribution channel, the direct B2B / institutional sales segment is expected to dominate the market, gaining</a:t>
            </a:r>
          </a:p>
        </p:txBody>
      </p:sp>
      <p:pic>
        <p:nvPicPr>
          <p:cNvPr id="25" name="Picture 24" descr="lock.png"/>
          <p:cNvPicPr>
            <a:picLocks noChangeAspect="1"/>
          </p:cNvPicPr>
          <p:nvPr/>
        </p:nvPicPr>
        <p:blipFill>
          <a:blip r:embed="rId4"/>
          <a:stretch>
            <a:fillRect/>
          </a:stretch>
        </p:blipFill>
        <p:spPr>
          <a:xfrm>
            <a:off x="8989294" y="4069524"/>
            <a:ext cx="134549" cy="195707"/>
          </a:xfrm>
          <a:prstGeom prst="rect">
            <a:avLst/>
          </a:prstGeom>
        </p:spPr>
      </p:pic>
      <p:sp>
        <p:nvSpPr>
          <p:cNvPr id="26" name="TextBox 25"/>
          <p:cNvSpPr txBox="1"/>
          <p:nvPr/>
        </p:nvSpPr>
        <p:spPr>
          <a:xfrm>
            <a:off x="9164403" y="40797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692760" y="4069524"/>
            <a:ext cx="134549" cy="195707"/>
          </a:xfrm>
          <a:prstGeom prst="rect">
            <a:avLst/>
          </a:prstGeom>
        </p:spPr>
      </p:pic>
      <p:sp>
        <p:nvSpPr>
          <p:cNvPr id="28" name="TextBox 27"/>
          <p:cNvSpPr txBox="1"/>
          <p:nvPr/>
        </p:nvSpPr>
        <p:spPr>
          <a:xfrm>
            <a:off x="10867869" y="4079747"/>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29" name="TextBox 28"/>
          <p:cNvSpPr txBox="1"/>
          <p:nvPr/>
        </p:nvSpPr>
        <p:spPr>
          <a:xfrm>
            <a:off x="276225" y="4255007"/>
            <a:ext cx="4069121" cy="194310"/>
          </a:xfrm>
          <a:prstGeom prst="rect">
            <a:avLst/>
          </a:prstGeom>
          <a:noFill/>
        </p:spPr>
        <p:txBody>
          <a:bodyPr wrap="none" lIns="0" rIns="0" tIns="0" bIns="0">
            <a:spAutoFit/>
          </a:bodyPr>
          <a:lstStyle/>
          <a:p>
            <a:r>
              <a:rPr sz="1150" b="0">
                <a:solidFill>
                  <a:srgbClr val="252423"/>
                </a:solidFill>
                <a:latin typeface="Segoe UI"/>
              </a:rPr>
              <a:t>2036. The online third-party retail segment is expected to lose</a:t>
            </a:r>
          </a:p>
        </p:txBody>
      </p:sp>
      <p:pic>
        <p:nvPicPr>
          <p:cNvPr id="30" name="Picture 29" descr="lock.png"/>
          <p:cNvPicPr>
            <a:picLocks noChangeAspect="1"/>
          </p:cNvPicPr>
          <p:nvPr/>
        </p:nvPicPr>
        <p:blipFill>
          <a:blip r:embed="rId4"/>
          <a:stretch>
            <a:fillRect/>
          </a:stretch>
        </p:blipFill>
        <p:spPr>
          <a:xfrm>
            <a:off x="4294500" y="4244784"/>
            <a:ext cx="134549" cy="195707"/>
          </a:xfrm>
          <a:prstGeom prst="rect">
            <a:avLst/>
          </a:prstGeom>
        </p:spPr>
      </p:pic>
      <p:sp>
        <p:nvSpPr>
          <p:cNvPr id="31" name="TextBox 30"/>
          <p:cNvSpPr txBox="1"/>
          <p:nvPr/>
        </p:nvSpPr>
        <p:spPr>
          <a:xfrm>
            <a:off x="4469609" y="42550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7268995" y="4244784"/>
            <a:ext cx="134549" cy="195707"/>
          </a:xfrm>
          <a:prstGeom prst="rect">
            <a:avLst/>
          </a:prstGeom>
        </p:spPr>
      </p:pic>
      <p:sp>
        <p:nvSpPr>
          <p:cNvPr id="33" name="TextBox 32"/>
          <p:cNvSpPr txBox="1"/>
          <p:nvPr/>
        </p:nvSpPr>
        <p:spPr>
          <a:xfrm>
            <a:off x="7444105" y="42550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Distribution Channel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Distribution Channel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890161"/>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88539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0919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Offline Retail &amp; Distributors</a:t>
            </a:r>
          </a:p>
        </p:txBody>
      </p:sp>
      <p:sp>
        <p:nvSpPr>
          <p:cNvPr id="16" name="BPS Value 1"/>
          <p:cNvSpPr txBox="1"/>
          <p:nvPr/>
        </p:nvSpPr>
        <p:spPr>
          <a:xfrm>
            <a:off x="6896100" y="187111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65379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264903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57283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Online Third-Party Retail</a:t>
            </a:r>
          </a:p>
        </p:txBody>
      </p:sp>
      <p:sp>
        <p:nvSpPr>
          <p:cNvPr id="20" name="BPS Value 2"/>
          <p:cNvSpPr txBox="1"/>
          <p:nvPr/>
        </p:nvSpPr>
        <p:spPr>
          <a:xfrm>
            <a:off x="6896100" y="263474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928997" y="393397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39292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8530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Direct-to-Consumer / Manufacturer Direct</a:t>
            </a:r>
          </a:p>
        </p:txBody>
      </p:sp>
      <p:sp>
        <p:nvSpPr>
          <p:cNvPr id="24" name="BPS Value 3"/>
          <p:cNvSpPr txBox="1"/>
          <p:nvPr/>
        </p:nvSpPr>
        <p:spPr>
          <a:xfrm>
            <a:off x="6896100" y="391492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actMR Legend Chip"/>
          <p:cNvSpPr/>
          <p:nvPr/>
        </p:nvSpPr>
        <p:spPr>
          <a:xfrm>
            <a:off x="4928997" y="545652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45176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37556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Direct B2B / Institutional Sales</a:t>
            </a:r>
          </a:p>
        </p:txBody>
      </p:sp>
      <p:sp>
        <p:nvSpPr>
          <p:cNvPr id="28" name="BPS Value 4"/>
          <p:cNvSpPr txBox="1"/>
          <p:nvPr/>
        </p:nvSpPr>
        <p:spPr>
          <a:xfrm>
            <a:off x="6896100" y="5437479"/>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Distribution Channel</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39657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a:t>
            </a:r>
          </a:p>
        </p:txBody>
      </p:sp>
      <p:sp>
        <p:nvSpPr>
          <p:cNvPr id="36" name="TextBox 35"/>
          <p:cNvSpPr txBox="1"/>
          <p:nvPr/>
        </p:nvSpPr>
        <p:spPr>
          <a:xfrm>
            <a:off x="7829550" y="1575435"/>
            <a:ext cx="4057650" cy="194310"/>
          </a:xfrm>
          <a:prstGeom prst="rect">
            <a:avLst/>
          </a:prstGeom>
          <a:noFill/>
        </p:spPr>
        <p:txBody>
          <a:bodyPr wrap="none" lIns="0" rIns="0" tIns="0" bIns="0">
            <a:spAutoFit/>
          </a:bodyPr>
          <a:lstStyle/>
          <a:p>
            <a:r>
              <a:rPr sz="1150" b="0">
                <a:solidFill>
                  <a:srgbClr val="252423"/>
                </a:solidFill>
                <a:latin typeface="Segoe UI"/>
              </a:rPr>
              <a:t>distribution channel, direct-to-consumer / manufacturer direct</a:t>
            </a:r>
          </a:p>
        </p:txBody>
      </p:sp>
      <p:sp>
        <p:nvSpPr>
          <p:cNvPr id="37" name="TextBox 36"/>
          <p:cNvSpPr txBox="1"/>
          <p:nvPr/>
        </p:nvSpPr>
        <p:spPr>
          <a:xfrm>
            <a:off x="7829550" y="1750695"/>
            <a:ext cx="3433246" cy="194310"/>
          </a:xfrm>
          <a:prstGeom prst="rect">
            <a:avLst/>
          </a:prstGeom>
          <a:noFill/>
        </p:spPr>
        <p:txBody>
          <a:bodyPr wrap="none" lIns="0" rIns="0" tIns="0" bIns="0">
            <a:spAutoFit/>
          </a:bodyPr>
          <a:lstStyle/>
          <a:p>
            <a:r>
              <a:rPr sz="1150" b="0">
                <a:solidFill>
                  <a:srgbClr val="252423"/>
                </a:solidFill>
                <a:latin typeface="Segoe UI"/>
              </a:rPr>
              <a:t>segment is expected to witness the highest CAGR of</a:t>
            </a:r>
          </a:p>
        </p:txBody>
      </p:sp>
      <p:pic>
        <p:nvPicPr>
          <p:cNvPr id="38" name="Picture 37" descr="lock.png"/>
          <p:cNvPicPr>
            <a:picLocks noChangeAspect="1"/>
          </p:cNvPicPr>
          <p:nvPr/>
        </p:nvPicPr>
        <p:blipFill>
          <a:blip r:embed="rId5"/>
          <a:stretch>
            <a:fillRect/>
          </a:stretch>
        </p:blipFill>
        <p:spPr>
          <a:xfrm>
            <a:off x="11211950" y="1740471"/>
            <a:ext cx="134549" cy="195707"/>
          </a:xfrm>
          <a:prstGeom prst="rect">
            <a:avLst/>
          </a:prstGeom>
        </p:spPr>
      </p:pic>
      <p:sp>
        <p:nvSpPr>
          <p:cNvPr id="39" name="TextBox 38"/>
          <p:cNvSpPr txBox="1"/>
          <p:nvPr/>
        </p:nvSpPr>
        <p:spPr>
          <a:xfrm>
            <a:off x="11387059" y="1750695"/>
            <a:ext cx="358873" cy="194310"/>
          </a:xfrm>
          <a:prstGeom prst="rect">
            <a:avLst/>
          </a:prstGeom>
          <a:noFill/>
        </p:spPr>
        <p:txBody>
          <a:bodyPr wrap="none" lIns="0" rIns="0" tIns="0" bIns="0">
            <a:spAutoFit/>
          </a:bodyPr>
          <a:lstStyle/>
          <a:p>
            <a:r>
              <a:rPr sz="1150" b="0">
                <a:solidFill>
                  <a:srgbClr val="252423"/>
                </a:solidFill>
                <a:latin typeface="Segoe UI"/>
              </a:rPr>
              <a:t>over</a:t>
            </a:r>
          </a:p>
        </p:txBody>
      </p:sp>
      <p:sp>
        <p:nvSpPr>
          <p:cNvPr id="40" name="TextBox 39"/>
          <p:cNvSpPr txBox="1"/>
          <p:nvPr/>
        </p:nvSpPr>
        <p:spPr>
          <a:xfrm>
            <a:off x="7829550" y="1925955"/>
            <a:ext cx="3808297" cy="194310"/>
          </a:xfrm>
          <a:prstGeom prst="rect">
            <a:avLst/>
          </a:prstGeom>
          <a:noFill/>
        </p:spPr>
        <p:txBody>
          <a:bodyPr wrap="none" lIns="0" rIns="0" tIns="0" bIns="0">
            <a:spAutoFit/>
          </a:bodyPr>
          <a:lstStyle/>
          <a:p>
            <a:r>
              <a:rPr sz="1150" b="0">
                <a:solidFill>
                  <a:srgbClr val="252423"/>
                </a:solidFill>
                <a:latin typeface="Segoe UI"/>
              </a:rPr>
              <a:t>the forecast period. In terms of value share by distribution</a:t>
            </a:r>
          </a:p>
        </p:txBody>
      </p:sp>
      <p:sp>
        <p:nvSpPr>
          <p:cNvPr id="41" name="TextBox 40"/>
          <p:cNvSpPr txBox="1"/>
          <p:nvPr/>
        </p:nvSpPr>
        <p:spPr>
          <a:xfrm>
            <a:off x="7829550" y="2101215"/>
            <a:ext cx="3534587" cy="194310"/>
          </a:xfrm>
          <a:prstGeom prst="rect">
            <a:avLst/>
          </a:prstGeom>
          <a:noFill/>
        </p:spPr>
        <p:txBody>
          <a:bodyPr wrap="none" lIns="0" rIns="0" tIns="0" bIns="0">
            <a:spAutoFit/>
          </a:bodyPr>
          <a:lstStyle/>
          <a:p>
            <a:r>
              <a:rPr sz="1150" b="0">
                <a:solidFill>
                  <a:srgbClr val="252423"/>
                </a:solidFill>
                <a:latin typeface="Segoe UI"/>
              </a:rPr>
              <a:t>channel, the direct B2B / institutional sales segment is</a:t>
            </a:r>
          </a:p>
        </p:txBody>
      </p:sp>
      <p:sp>
        <p:nvSpPr>
          <p:cNvPr id="42" name="TextBox 41"/>
          <p:cNvSpPr txBox="1"/>
          <p:nvPr/>
        </p:nvSpPr>
        <p:spPr>
          <a:xfrm>
            <a:off x="7829550" y="2276475"/>
            <a:ext cx="2786014" cy="194310"/>
          </a:xfrm>
          <a:prstGeom prst="rect">
            <a:avLst/>
          </a:prstGeom>
          <a:noFill/>
        </p:spPr>
        <p:txBody>
          <a:bodyPr wrap="none" lIns="0" rIns="0" tIns="0" bIns="0">
            <a:spAutoFit/>
          </a:bodyPr>
          <a:lstStyle/>
          <a:p>
            <a:r>
              <a:rPr sz="1150" b="0">
                <a:solidFill>
                  <a:srgbClr val="252423"/>
                </a:solidFill>
                <a:latin typeface="Segoe UI"/>
              </a:rPr>
              <a:t>expected to dominate the market, gaining</a:t>
            </a:r>
          </a:p>
        </p:txBody>
      </p:sp>
      <p:pic>
        <p:nvPicPr>
          <p:cNvPr id="43" name="Picture 42" descr="lock.png"/>
          <p:cNvPicPr>
            <a:picLocks noChangeAspect="1"/>
          </p:cNvPicPr>
          <p:nvPr/>
        </p:nvPicPr>
        <p:blipFill>
          <a:blip r:embed="rId5"/>
          <a:stretch>
            <a:fillRect/>
          </a:stretch>
        </p:blipFill>
        <p:spPr>
          <a:xfrm>
            <a:off x="10564717" y="2266251"/>
            <a:ext cx="134549" cy="195707"/>
          </a:xfrm>
          <a:prstGeom prst="rect">
            <a:avLst/>
          </a:prstGeom>
        </p:spPr>
      </p:pic>
      <p:sp>
        <p:nvSpPr>
          <p:cNvPr id="44" name="TextBox 43"/>
          <p:cNvSpPr txBox="1"/>
          <p:nvPr/>
        </p:nvSpPr>
        <p:spPr>
          <a:xfrm>
            <a:off x="10739827" y="227647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45" name="TextBox 44"/>
          <p:cNvSpPr txBox="1"/>
          <p:nvPr/>
        </p:nvSpPr>
        <p:spPr>
          <a:xfrm>
            <a:off x="7829550" y="245173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46" name="Picture 45" descr="lock.png"/>
          <p:cNvPicPr>
            <a:picLocks noChangeAspect="1"/>
          </p:cNvPicPr>
          <p:nvPr/>
        </p:nvPicPr>
        <p:blipFill>
          <a:blip r:embed="rId5"/>
          <a:stretch>
            <a:fillRect/>
          </a:stretch>
        </p:blipFill>
        <p:spPr>
          <a:xfrm>
            <a:off x="8791392" y="2441511"/>
            <a:ext cx="134549" cy="195707"/>
          </a:xfrm>
          <a:prstGeom prst="rect">
            <a:avLst/>
          </a:prstGeom>
        </p:spPr>
      </p:pic>
      <p:sp>
        <p:nvSpPr>
          <p:cNvPr id="47" name="TextBox 46"/>
          <p:cNvSpPr txBox="1"/>
          <p:nvPr/>
        </p:nvSpPr>
        <p:spPr>
          <a:xfrm>
            <a:off x="8966501"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3682602" cy="194310"/>
          </a:xfrm>
          <a:prstGeom prst="rect">
            <a:avLst/>
          </a:prstGeom>
          <a:noFill/>
        </p:spPr>
        <p:txBody>
          <a:bodyPr wrap="none" lIns="0" rIns="0" tIns="0" bIns="0">
            <a:spAutoFit/>
          </a:bodyPr>
          <a:lstStyle/>
          <a:p>
            <a:r>
              <a:rPr sz="1150" b="0">
                <a:solidFill>
                  <a:srgbClr val="252423"/>
                </a:solidFill>
                <a:latin typeface="Segoe UI"/>
              </a:rPr>
              <a:t>The online third-party retail segment is expected to lose</a:t>
            </a:r>
          </a:p>
        </p:txBody>
      </p:sp>
      <p:pic>
        <p:nvPicPr>
          <p:cNvPr id="49" name="Picture 48" descr="lock.png"/>
          <p:cNvPicPr>
            <a:picLocks noChangeAspect="1"/>
          </p:cNvPicPr>
          <p:nvPr/>
        </p:nvPicPr>
        <p:blipFill>
          <a:blip r:embed="rId5"/>
          <a:stretch>
            <a:fillRect/>
          </a:stretch>
        </p:blipFill>
        <p:spPr>
          <a:xfrm>
            <a:off x="11461306" y="2669349"/>
            <a:ext cx="134549" cy="195707"/>
          </a:xfrm>
          <a:prstGeom prst="rect">
            <a:avLst/>
          </a:prstGeom>
        </p:spPr>
      </p:pic>
      <p:sp>
        <p:nvSpPr>
          <p:cNvPr id="50" name="TextBox 49"/>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628935" y="2844609"/>
            <a:ext cx="134549" cy="195707"/>
          </a:xfrm>
          <a:prstGeom prst="rect">
            <a:avLst/>
          </a:prstGeom>
        </p:spPr>
      </p:pic>
      <p:sp>
        <p:nvSpPr>
          <p:cNvPr id="52" name="TextBox 51"/>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1807210"/>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211201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274060"/>
            <a:ext cx="7124700" cy="32054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North America Overview</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North America Market Analysis By Country</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North America Market Analysis By Segments</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Energy Storage Capacity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Battery Chemistry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Battery Configuration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System 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Output Power Rating</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System Architecture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Summary, By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North America market volume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(THOUSAND UNITS)</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(THOUSAND UNITS)</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(Thousand Units)</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12027" cy="186689"/>
          </a:xfrm>
          <a:prstGeom prst="rect">
            <a:avLst/>
          </a:prstGeom>
          <a:noFill/>
        </p:spPr>
        <p:txBody>
          <a:bodyPr wrap="none" lIns="0" rIns="0" tIns="0" bIns="0">
            <a:spAutoFit/>
          </a:bodyPr>
          <a:lstStyle/>
          <a:p>
            <a:r>
              <a:rPr sz="1100" b="0">
                <a:solidFill>
                  <a:srgbClr val="252423"/>
                </a:solidFill>
                <a:latin typeface="Segoe UI"/>
              </a:rPr>
              <a:t>North America lithium polymer portable energy storage</a:t>
            </a:r>
          </a:p>
        </p:txBody>
      </p:sp>
      <p:sp>
        <p:nvSpPr>
          <p:cNvPr id="33" name="TextBox 32"/>
          <p:cNvSpPr txBox="1"/>
          <p:nvPr/>
        </p:nvSpPr>
        <p:spPr>
          <a:xfrm>
            <a:off x="8048625" y="2214627"/>
            <a:ext cx="1934984" cy="186689"/>
          </a:xfrm>
          <a:prstGeom prst="rect">
            <a:avLst/>
          </a:prstGeom>
          <a:noFill/>
        </p:spPr>
        <p:txBody>
          <a:bodyPr wrap="none" lIns="0" rIns="0" tIns="0" bIns="0">
            <a:spAutoFit/>
          </a:bodyPr>
          <a:lstStyle/>
          <a:p>
            <a:r>
              <a:rPr sz="1100" b="0">
                <a:solidFill>
                  <a:srgbClr val="252423"/>
                </a:solidFill>
                <a:latin typeface="Segoe UI"/>
              </a:rPr>
              <a:t>market is projected to register</a:t>
            </a:r>
          </a:p>
        </p:txBody>
      </p:sp>
      <p:pic>
        <p:nvPicPr>
          <p:cNvPr id="34" name="Picture 33" descr="lock.png"/>
          <p:cNvPicPr>
            <a:picLocks noChangeAspect="1"/>
          </p:cNvPicPr>
          <p:nvPr/>
        </p:nvPicPr>
        <p:blipFill>
          <a:blip r:embed="rId6"/>
          <a:stretch>
            <a:fillRect/>
          </a:stretch>
        </p:blipFill>
        <p:spPr>
          <a:xfrm>
            <a:off x="9931660" y="2204848"/>
            <a:ext cx="128699" cy="187198"/>
          </a:xfrm>
          <a:prstGeom prst="rect">
            <a:avLst/>
          </a:prstGeom>
        </p:spPr>
      </p:pic>
      <p:sp>
        <p:nvSpPr>
          <p:cNvPr id="35" name="TextBox 34"/>
          <p:cNvSpPr txBox="1"/>
          <p:nvPr/>
        </p:nvSpPr>
        <p:spPr>
          <a:xfrm>
            <a:off x="10099156" y="2214627"/>
            <a:ext cx="1770019" cy="186689"/>
          </a:xfrm>
          <a:prstGeom prst="rect">
            <a:avLst/>
          </a:prstGeom>
          <a:noFill/>
        </p:spPr>
        <p:txBody>
          <a:bodyPr wrap="none" lIns="0" rIns="0" tIns="0" bIns="0">
            <a:spAutoFit/>
          </a:bodyPr>
          <a:lstStyle/>
          <a:p>
            <a:r>
              <a:rPr sz="1100" b="0">
                <a:solidFill>
                  <a:srgbClr val="252423"/>
                </a:solidFill>
                <a:latin typeface="Segoe UI"/>
              </a:rPr>
              <a:t>X increase in volume by the</a:t>
            </a:r>
          </a:p>
        </p:txBody>
      </p:sp>
      <p:sp>
        <p:nvSpPr>
          <p:cNvPr id="36" name="TextBox 35"/>
          <p:cNvSpPr txBox="1"/>
          <p:nvPr/>
        </p:nvSpPr>
        <p:spPr>
          <a:xfrm>
            <a:off x="8048625" y="2382267"/>
            <a:ext cx="3793798" cy="186689"/>
          </a:xfrm>
          <a:prstGeom prst="rect">
            <a:avLst/>
          </a:prstGeom>
          <a:noFill/>
        </p:spPr>
        <p:txBody>
          <a:bodyPr wrap="none" lIns="0" rIns="0" tIns="0" bIns="0">
            <a:spAutoFit/>
          </a:bodyPr>
          <a:lstStyle/>
          <a:p>
            <a:r>
              <a:rPr sz="1100" b="0">
                <a:solidFill>
                  <a:srgbClr val="252423"/>
                </a:solidFill>
                <a:latin typeface="Segoe UI"/>
              </a:rPr>
              <a:t>end of forecast period, 2036. North America lithium polymer</a:t>
            </a:r>
          </a:p>
        </p:txBody>
      </p:sp>
      <p:sp>
        <p:nvSpPr>
          <p:cNvPr id="37" name="TextBox 36"/>
          <p:cNvSpPr txBox="1"/>
          <p:nvPr/>
        </p:nvSpPr>
        <p:spPr>
          <a:xfrm>
            <a:off x="8048625" y="2549907"/>
            <a:ext cx="3070417" cy="186689"/>
          </a:xfrm>
          <a:prstGeom prst="rect">
            <a:avLst/>
          </a:prstGeom>
          <a:noFill/>
        </p:spPr>
        <p:txBody>
          <a:bodyPr wrap="none" lIns="0" rIns="0" tIns="0" bIns="0">
            <a:spAutoFit/>
          </a:bodyPr>
          <a:lstStyle/>
          <a:p>
            <a:r>
              <a:rPr sz="1100" b="0">
                <a:solidFill>
                  <a:srgbClr val="252423"/>
                </a:solidFill>
                <a:latin typeface="Segoe UI"/>
              </a:rPr>
              <a:t>portable energy storage market volume stood at</a:t>
            </a:r>
          </a:p>
        </p:txBody>
      </p:sp>
      <p:pic>
        <p:nvPicPr>
          <p:cNvPr id="38" name="Picture 37" descr="lock.png"/>
          <p:cNvPicPr>
            <a:picLocks noChangeAspect="1"/>
          </p:cNvPicPr>
          <p:nvPr/>
        </p:nvPicPr>
        <p:blipFill>
          <a:blip r:embed="rId6"/>
          <a:stretch>
            <a:fillRect/>
          </a:stretch>
        </p:blipFill>
        <p:spPr>
          <a:xfrm>
            <a:off x="11067094" y="2540128"/>
            <a:ext cx="128699" cy="187198"/>
          </a:xfrm>
          <a:prstGeom prst="rect">
            <a:avLst/>
          </a:prstGeom>
        </p:spPr>
      </p:pic>
      <p:sp>
        <p:nvSpPr>
          <p:cNvPr id="39" name="TextBox 38"/>
          <p:cNvSpPr txBox="1"/>
          <p:nvPr/>
        </p:nvSpPr>
        <p:spPr>
          <a:xfrm>
            <a:off x="8048625" y="2717547"/>
            <a:ext cx="3068771" cy="186689"/>
          </a:xfrm>
          <a:prstGeom prst="rect">
            <a:avLst/>
          </a:prstGeom>
          <a:noFill/>
        </p:spPr>
        <p:txBody>
          <a:bodyPr wrap="none" lIns="0" rIns="0" tIns="0" bIns="0">
            <a:spAutoFit/>
          </a:bodyPr>
          <a:lstStyle/>
          <a:p>
            <a:r>
              <a:rPr sz="1100" b="0">
                <a:solidFill>
                  <a:srgbClr val="252423"/>
                </a:solidFill>
                <a:latin typeface="Segoe UI"/>
              </a:rPr>
              <a:t>Thousand Units in 2025 and is expected to reach</a:t>
            </a:r>
          </a:p>
        </p:txBody>
      </p:sp>
      <p:pic>
        <p:nvPicPr>
          <p:cNvPr id="40" name="Picture 39" descr="lock.png"/>
          <p:cNvPicPr>
            <a:picLocks noChangeAspect="1"/>
          </p:cNvPicPr>
          <p:nvPr/>
        </p:nvPicPr>
        <p:blipFill>
          <a:blip r:embed="rId6"/>
          <a:stretch>
            <a:fillRect/>
          </a:stretch>
        </p:blipFill>
        <p:spPr>
          <a:xfrm>
            <a:off x="11065448" y="2707768"/>
            <a:ext cx="128699" cy="187198"/>
          </a:xfrm>
          <a:prstGeom prst="rect">
            <a:avLst/>
          </a:prstGeom>
        </p:spPr>
      </p:pic>
      <p:sp>
        <p:nvSpPr>
          <p:cNvPr id="41" name="TextBox 40"/>
          <p:cNvSpPr txBox="1"/>
          <p:nvPr/>
        </p:nvSpPr>
        <p:spPr>
          <a:xfrm>
            <a:off x="8048625" y="2885187"/>
            <a:ext cx="2689776" cy="186689"/>
          </a:xfrm>
          <a:prstGeom prst="rect">
            <a:avLst/>
          </a:prstGeom>
          <a:noFill/>
        </p:spPr>
        <p:txBody>
          <a:bodyPr wrap="none" lIns="0" rIns="0" tIns="0" bIns="0">
            <a:spAutoFit/>
          </a:bodyPr>
          <a:lstStyle/>
          <a:p>
            <a:r>
              <a:rPr sz="1100" b="0">
                <a:solidFill>
                  <a:srgbClr val="252423"/>
                </a:solidFill>
                <a:latin typeface="Segoe UI"/>
              </a:rPr>
              <a:t>Thousand Units by 2036 end, at a CAGR of</a:t>
            </a:r>
          </a:p>
        </p:txBody>
      </p:sp>
      <p:pic>
        <p:nvPicPr>
          <p:cNvPr id="42" name="Picture 41" descr="lock.png"/>
          <p:cNvPicPr>
            <a:picLocks noChangeAspect="1"/>
          </p:cNvPicPr>
          <p:nvPr/>
        </p:nvPicPr>
        <p:blipFill>
          <a:blip r:embed="rId6"/>
          <a:stretch>
            <a:fillRect/>
          </a:stretch>
        </p:blipFill>
        <p:spPr>
          <a:xfrm>
            <a:off x="10686453" y="2875408"/>
            <a:ext cx="128699" cy="187198"/>
          </a:xfrm>
          <a:prstGeom prst="rect">
            <a:avLst/>
          </a:prstGeom>
        </p:spPr>
      </p:pic>
      <p:sp>
        <p:nvSpPr>
          <p:cNvPr id="43" name="TextBox 42"/>
          <p:cNvSpPr txBox="1"/>
          <p:nvPr/>
        </p:nvSpPr>
        <p:spPr>
          <a:xfrm>
            <a:off x="10853949" y="288518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4" name="TextBox 43"/>
          <p:cNvSpPr txBox="1"/>
          <p:nvPr/>
        </p:nvSpPr>
        <p:spPr>
          <a:xfrm>
            <a:off x="8048625" y="3103119"/>
            <a:ext cx="3432525" cy="186689"/>
          </a:xfrm>
          <a:prstGeom prst="rect">
            <a:avLst/>
          </a:prstGeom>
          <a:noFill/>
        </p:spPr>
        <p:txBody>
          <a:bodyPr wrap="none" lIns="0" rIns="0" tIns="0" bIns="0">
            <a:spAutoFit/>
          </a:bodyPr>
          <a:lstStyle/>
          <a:p>
            <a:r>
              <a:rPr sz="1100" b="0">
                <a:solidFill>
                  <a:srgbClr val="252423"/>
                </a:solidFill>
                <a:latin typeface="Segoe UI"/>
              </a:rPr>
              <a:t>Value is projected to grow faster than volume over the</a:t>
            </a:r>
          </a:p>
        </p:txBody>
      </p:sp>
      <p:sp>
        <p:nvSpPr>
          <p:cNvPr id="45" name="TextBox 44"/>
          <p:cNvSpPr txBox="1"/>
          <p:nvPr/>
        </p:nvSpPr>
        <p:spPr>
          <a:xfrm>
            <a:off x="8048625" y="3270759"/>
            <a:ext cx="3830002" cy="186689"/>
          </a:xfrm>
          <a:prstGeom prst="rect">
            <a:avLst/>
          </a:prstGeom>
          <a:noFill/>
        </p:spPr>
        <p:txBody>
          <a:bodyPr wrap="none" lIns="0" rIns="0" tIns="0" bIns="0">
            <a:spAutoFit/>
          </a:bodyPr>
          <a:lstStyle/>
          <a:p>
            <a:r>
              <a:rPr sz="1100" b="0">
                <a:solidFill>
                  <a:srgbClr val="252423"/>
                </a:solidFill>
                <a:latin typeface="Segoe UI"/>
              </a:rPr>
              <a:t>forecast period, owing to an increase in average selling price.</a:t>
            </a:r>
          </a:p>
        </p:txBody>
      </p:sp>
      <p:sp>
        <p:nvSpPr>
          <p:cNvPr id="46" name="TextBox 45"/>
          <p:cNvSpPr txBox="1"/>
          <p:nvPr/>
        </p:nvSpPr>
        <p:spPr>
          <a:xfrm>
            <a:off x="8048625" y="4456475"/>
            <a:ext cx="2700651" cy="194310"/>
          </a:xfrm>
          <a:prstGeom prst="rect">
            <a:avLst/>
          </a:prstGeom>
          <a:noFill/>
        </p:spPr>
        <p:txBody>
          <a:bodyPr wrap="none" lIns="0" rIns="0" tIns="0" bIns="0">
            <a:spAutoFit/>
          </a:bodyPr>
          <a:lstStyle/>
          <a:p>
            <a:r>
              <a:rPr sz="1150" b="0">
                <a:solidFill>
                  <a:srgbClr val="252423"/>
                </a:solidFill>
                <a:latin typeface="Segoe UI"/>
              </a:rPr>
              <a:t>▪ 'United States' leads regional growth at</a:t>
            </a:r>
          </a:p>
        </p:txBody>
      </p:sp>
      <p:pic>
        <p:nvPicPr>
          <p:cNvPr id="47" name="Picture 46" descr="lock.png"/>
          <p:cNvPicPr>
            <a:picLocks noChangeAspect="1"/>
          </p:cNvPicPr>
          <p:nvPr/>
        </p:nvPicPr>
        <p:blipFill>
          <a:blip r:embed="rId6"/>
          <a:stretch>
            <a:fillRect/>
          </a:stretch>
        </p:blipFill>
        <p:spPr>
          <a:xfrm>
            <a:off x="10698430" y="4446251"/>
            <a:ext cx="134549" cy="195707"/>
          </a:xfrm>
          <a:prstGeom prst="rect">
            <a:avLst/>
          </a:prstGeom>
        </p:spPr>
      </p:pic>
      <p:sp>
        <p:nvSpPr>
          <p:cNvPr id="48" name="TextBox 47"/>
          <p:cNvSpPr txBox="1"/>
          <p:nvPr/>
        </p:nvSpPr>
        <p:spPr>
          <a:xfrm>
            <a:off x="10873540"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49" name="TextBox 48"/>
          <p:cNvSpPr txBox="1"/>
          <p:nvPr/>
        </p:nvSpPr>
        <p:spPr>
          <a:xfrm>
            <a:off x="8048625" y="4684312"/>
            <a:ext cx="3704023" cy="194310"/>
          </a:xfrm>
          <a:prstGeom prst="rect">
            <a:avLst/>
          </a:prstGeom>
          <a:noFill/>
        </p:spPr>
        <p:txBody>
          <a:bodyPr wrap="none" lIns="0" rIns="0" tIns="0" bIns="0">
            <a:spAutoFit/>
          </a:bodyPr>
          <a:lstStyle/>
          <a:p>
            <a:r>
              <a:rPr sz="1150" b="0">
                <a:solidFill>
                  <a:srgbClr val="252423"/>
                </a:solidFill>
                <a:latin typeface="Segoe UI"/>
              </a:rPr>
              <a:t>▪ Demand concentrates in '1,500 Wh to 2,000 Wh' within</a:t>
            </a:r>
          </a:p>
        </p:txBody>
      </p:sp>
      <p:sp>
        <p:nvSpPr>
          <p:cNvPr id="50" name="TextBox 49"/>
          <p:cNvSpPr txBox="1"/>
          <p:nvPr/>
        </p:nvSpPr>
        <p:spPr>
          <a:xfrm>
            <a:off x="8048625" y="4859572"/>
            <a:ext cx="1677321" cy="194310"/>
          </a:xfrm>
          <a:prstGeom prst="rect">
            <a:avLst/>
          </a:prstGeom>
          <a:noFill/>
        </p:spPr>
        <p:txBody>
          <a:bodyPr wrap="none" lIns="0" rIns="0" tIns="0" bIns="0">
            <a:spAutoFit/>
          </a:bodyPr>
          <a:lstStyle/>
          <a:p>
            <a:r>
              <a:rPr sz="1150" b="0">
                <a:solidFill>
                  <a:srgbClr val="252423"/>
                </a:solidFill>
                <a:latin typeface="Segoe UI"/>
              </a:rPr>
              <a:t>Energy Storage Capacity.</a:t>
            </a:r>
          </a:p>
        </p:txBody>
      </p:sp>
      <p:sp>
        <p:nvSpPr>
          <p:cNvPr id="51" name="TextBox 50"/>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52" name="TextBox 51"/>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53"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ectangle 7"/>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Energy Storage Capacity  ·  range across 2021–2036 (US$/Units)</a:t>
            </a:r>
          </a:p>
        </p:txBody>
      </p:sp>
      <p:cxnSp>
        <p:nvCxnSpPr>
          <p:cNvPr id="10" name="Connector 9"/>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1" name="FactMR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2" name="FactMR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3" name="Fac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cxnSp>
        <p:nvCxnSpPr>
          <p:cNvPr id="24" name="Connector 23"/>
          <p:cNvCxnSpPr/>
          <p:nvPr/>
        </p:nvCxnSpPr>
        <p:spPr>
          <a:xfrm flipV="1">
            <a:off x="1825625" y="1670329"/>
            <a:ext cx="0" cy="53221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94180" y="22025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941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606550" y="1812584"/>
            <a:ext cx="438150" cy="265891"/>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606550" y="1948345"/>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7225" y="1517929"/>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0" name="Connector 29"/>
          <p:cNvCxnSpPr/>
          <p:nvPr/>
        </p:nvCxnSpPr>
        <p:spPr>
          <a:xfrm flipV="1">
            <a:off x="4162425" y="1726986"/>
            <a:ext cx="0" cy="52424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30980" y="22512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030980" y="172698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943350" y="1866994"/>
            <a:ext cx="438150" cy="26198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943350" y="2000684"/>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994025" y="1574586"/>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6" name="Connector 35"/>
          <p:cNvCxnSpPr/>
          <p:nvPr/>
        </p:nvCxnSpPr>
        <p:spPr>
          <a:xfrm flipV="1">
            <a:off x="6499225" y="2785555"/>
            <a:ext cx="0" cy="33399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3677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367780" y="278555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280150" y="2874637"/>
            <a:ext cx="438150" cy="166751"/>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80150" y="295990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330825" y="2633155"/>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42" name="TextBox 41"/>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sp>
        <p:nvSpPr>
          <p:cNvPr id="43" name="TextBox 42"/>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sp>
        <p:nvSpPr>
          <p:cNvPr id="44" name="TextBox 43"/>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1,500 Wh to 2,000 Wh</a:t>
            </a:r>
          </a:p>
        </p:txBody>
      </p:sp>
      <p:sp>
        <p:nvSpPr>
          <p:cNvPr id="45" name="Rectangle 44"/>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North America  ·  2026–2036</a:t>
            </a:r>
          </a:p>
        </p:txBody>
      </p:sp>
      <p:cxnSp>
        <p:nvCxnSpPr>
          <p:cNvPr id="47" name="Connector 46"/>
          <p:cNvCxnSpPr/>
          <p:nvPr/>
        </p:nvCxnSpPr>
        <p:spPr>
          <a:xfrm>
            <a:off x="619125" y="434040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476676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561947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604582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4340407"/>
            <a:ext cx="0" cy="1705417"/>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340407"/>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476676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561947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6045824"/>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8" name="FactMR Scale tick"/>
          <p:cNvSpPr txBox="1"/>
          <p:nvPr/>
        </p:nvSpPr>
        <p:spPr>
          <a:xfrm>
            <a:off x="92869" y="4273732"/>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+2.4%</a:t>
            </a:r>
          </a:p>
        </p:txBody>
      </p:sp>
      <p:sp>
        <p:nvSpPr>
          <p:cNvPr id="59" name="FactMR Scale tick"/>
          <p:cNvSpPr txBox="1"/>
          <p:nvPr/>
        </p:nvSpPr>
        <p:spPr>
          <a:xfrm>
            <a:off x="92869" y="4700086"/>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+1.2%</a:t>
            </a:r>
          </a:p>
        </p:txBody>
      </p:sp>
      <p:sp>
        <p:nvSpPr>
          <p:cNvPr id="60" name="FactMR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North America</a:t>
            </a:r>
          </a:p>
        </p:txBody>
      </p:sp>
      <p:sp>
        <p:nvSpPr>
          <p:cNvPr id="61" name="FactMR Scale tick"/>
          <p:cNvSpPr txBox="1"/>
          <p:nvPr/>
        </p:nvSpPr>
        <p:spPr>
          <a:xfrm>
            <a:off x="130969" y="5552795"/>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-1.2%</a:t>
            </a:r>
          </a:p>
        </p:txBody>
      </p:sp>
      <p:sp>
        <p:nvSpPr>
          <p:cNvPr id="62" name="FactMR Scale tick"/>
          <p:cNvSpPr txBox="1"/>
          <p:nvPr/>
        </p:nvSpPr>
        <p:spPr>
          <a:xfrm>
            <a:off x="130969" y="5979149"/>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-2.4%</a:t>
            </a:r>
          </a:p>
        </p:txBody>
      </p:sp>
      <p:cxnSp>
        <p:nvCxnSpPr>
          <p:cNvPr id="63" name="Connector 62"/>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1565275" y="5193116"/>
            <a:ext cx="457200" cy="19796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actMR Data Label"/>
          <p:cNvSpPr txBox="1"/>
          <p:nvPr/>
        </p:nvSpPr>
        <p:spPr>
          <a:xfrm>
            <a:off x="619125" y="5400607"/>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6" name="Rectangle 65"/>
          <p:cNvSpPr/>
          <p:nvPr/>
        </p:nvSpPr>
        <p:spPr>
          <a:xfrm>
            <a:off x="3914775" y="4437287"/>
            <a:ext cx="457200" cy="75582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actMR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8" name="Rectangle 67"/>
          <p:cNvSpPr/>
          <p:nvPr/>
        </p:nvSpPr>
        <p:spPr>
          <a:xfrm>
            <a:off x="6264275" y="5193116"/>
            <a:ext cx="457200" cy="37750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actMR Data Label"/>
          <p:cNvSpPr txBox="1"/>
          <p:nvPr/>
        </p:nvSpPr>
        <p:spPr>
          <a:xfrm>
            <a:off x="5318125" y="5580147"/>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0" name="TextBox 69"/>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United States</a:t>
            </a:r>
          </a:p>
        </p:txBody>
      </p:sp>
      <p:sp>
        <p:nvSpPr>
          <p:cNvPr id="71" name="TextBox 70"/>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Canada</a:t>
            </a:r>
          </a:p>
        </p:txBody>
      </p:sp>
      <p:sp>
        <p:nvSpPr>
          <p:cNvPr id="72" name="TextBox 71"/>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Mexico</a:t>
            </a:r>
          </a:p>
        </p:txBody>
      </p:sp>
      <p:sp>
        <p:nvSpPr>
          <p:cNvPr id="73" name="Rectangle 72"/>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75" name="Rectangle 74"/>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77" name="TextBox 7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8" name="Picture 77" descr="lock.png"/>
          <p:cNvPicPr>
            <a:picLocks noChangeAspect="1"/>
          </p:cNvPicPr>
          <p:nvPr/>
        </p:nvPicPr>
        <p:blipFill>
          <a:blip r:embed="rId4"/>
          <a:stretch>
            <a:fillRect/>
          </a:stretch>
        </p:blipFill>
        <p:spPr>
          <a:xfrm>
            <a:off x="1761275" y="1491005"/>
            <a:ext cx="128699" cy="187198"/>
          </a:xfrm>
          <a:prstGeom prst="rect">
            <a:avLst/>
          </a:prstGeom>
        </p:spPr>
      </p:pic>
      <p:pic>
        <p:nvPicPr>
          <p:cNvPr id="79" name="Picture 78" descr="lock.png"/>
          <p:cNvPicPr>
            <a:picLocks noChangeAspect="1"/>
          </p:cNvPicPr>
          <p:nvPr/>
        </p:nvPicPr>
        <p:blipFill>
          <a:blip r:embed="rId4"/>
          <a:stretch>
            <a:fillRect/>
          </a:stretch>
        </p:blipFill>
        <p:spPr>
          <a:xfrm>
            <a:off x="4098075" y="1547662"/>
            <a:ext cx="128699" cy="187198"/>
          </a:xfrm>
          <a:prstGeom prst="rect">
            <a:avLst/>
          </a:prstGeom>
        </p:spPr>
      </p:pic>
      <p:pic>
        <p:nvPicPr>
          <p:cNvPr id="80" name="Picture 79" descr="lock.png"/>
          <p:cNvPicPr>
            <a:picLocks noChangeAspect="1"/>
          </p:cNvPicPr>
          <p:nvPr/>
        </p:nvPicPr>
        <p:blipFill>
          <a:blip r:embed="rId4"/>
          <a:stretch>
            <a:fillRect/>
          </a:stretch>
        </p:blipFill>
        <p:spPr>
          <a:xfrm>
            <a:off x="6434875" y="2606231"/>
            <a:ext cx="128699" cy="187198"/>
          </a:xfrm>
          <a:prstGeom prst="rect">
            <a:avLst/>
          </a:prstGeom>
        </p:spPr>
      </p:pic>
      <p:pic>
        <p:nvPicPr>
          <p:cNvPr id="81" name="Picture 80" descr="lock.png"/>
          <p:cNvPicPr>
            <a:picLocks noChangeAspect="1"/>
          </p:cNvPicPr>
          <p:nvPr/>
        </p:nvPicPr>
        <p:blipFill>
          <a:blip r:embed="rId4"/>
          <a:stretch>
            <a:fillRect/>
          </a:stretch>
        </p:blipFill>
        <p:spPr>
          <a:xfrm>
            <a:off x="1729525" y="5373682"/>
            <a:ext cx="128699" cy="187198"/>
          </a:xfrm>
          <a:prstGeom prst="rect">
            <a:avLst/>
          </a:prstGeom>
        </p:spPr>
      </p:pic>
      <p:pic>
        <p:nvPicPr>
          <p:cNvPr id="82" name="Picture 81" descr="lock.png"/>
          <p:cNvPicPr>
            <a:picLocks noChangeAspect="1"/>
          </p:cNvPicPr>
          <p:nvPr/>
        </p:nvPicPr>
        <p:blipFill>
          <a:blip r:embed="rId4"/>
          <a:stretch>
            <a:fillRect/>
          </a:stretch>
        </p:blipFill>
        <p:spPr>
          <a:xfrm>
            <a:off x="4079025" y="4267488"/>
            <a:ext cx="128699" cy="187198"/>
          </a:xfrm>
          <a:prstGeom prst="rect">
            <a:avLst/>
          </a:prstGeom>
        </p:spPr>
      </p:pic>
      <p:pic>
        <p:nvPicPr>
          <p:cNvPr id="83" name="Picture 82" descr="lock.png"/>
          <p:cNvPicPr>
            <a:picLocks noChangeAspect="1"/>
          </p:cNvPicPr>
          <p:nvPr/>
        </p:nvPicPr>
        <p:blipFill>
          <a:blip r:embed="rId4"/>
          <a:stretch>
            <a:fillRect/>
          </a:stretch>
        </p:blipFill>
        <p:spPr>
          <a:xfrm>
            <a:off x="6428525" y="5553223"/>
            <a:ext cx="128699" cy="187198"/>
          </a:xfrm>
          <a:prstGeom prst="rect">
            <a:avLst/>
          </a:prstGeom>
        </p:spPr>
      </p:pic>
      <p:pic>
        <p:nvPicPr>
          <p:cNvPr id="84" name="Picture 83" descr="lock.png"/>
          <p:cNvPicPr>
            <a:picLocks noChangeAspect="1"/>
          </p:cNvPicPr>
          <p:nvPr/>
        </p:nvPicPr>
        <p:blipFill>
          <a:blip r:embed="rId4"/>
          <a:stretch>
            <a:fillRect/>
          </a:stretch>
        </p:blipFill>
        <p:spPr>
          <a:xfrm>
            <a:off x="1195485" y="3365256"/>
            <a:ext cx="128699" cy="187198"/>
          </a:xfrm>
          <a:prstGeom prst="rect">
            <a:avLst/>
          </a:prstGeom>
        </p:spPr>
      </p:pic>
      <p:sp>
        <p:nvSpPr>
          <p:cNvPr id="85" name="TextBox 84"/>
          <p:cNvSpPr txBox="1"/>
          <p:nvPr/>
        </p:nvSpPr>
        <p:spPr>
          <a:xfrm>
            <a:off x="1362980" y="3375035"/>
            <a:ext cx="861449" cy="186689"/>
          </a:xfrm>
          <a:prstGeom prst="rect">
            <a:avLst/>
          </a:prstGeom>
          <a:noFill/>
        </p:spPr>
        <p:txBody>
          <a:bodyPr wrap="none" lIns="0" rIns="0" tIns="0" bIns="0">
            <a:spAutoFit/>
          </a:bodyPr>
          <a:lstStyle/>
          <a:p>
            <a:r>
              <a:rPr sz="1100" b="0">
                <a:solidFill>
                  <a:srgbClr val="252423"/>
                </a:solidFill>
                <a:latin typeface="Segoe UI"/>
              </a:rPr>
              <a:t>Wh to Below</a:t>
            </a:r>
          </a:p>
        </p:txBody>
      </p:sp>
      <p:pic>
        <p:nvPicPr>
          <p:cNvPr id="86" name="Picture 85" descr="lock.png"/>
          <p:cNvPicPr>
            <a:picLocks noChangeAspect="1"/>
          </p:cNvPicPr>
          <p:nvPr/>
        </p:nvPicPr>
        <p:blipFill>
          <a:blip r:embed="rId4"/>
          <a:stretch>
            <a:fillRect/>
          </a:stretch>
        </p:blipFill>
        <p:spPr>
          <a:xfrm>
            <a:off x="2172482" y="3365256"/>
            <a:ext cx="128699" cy="187198"/>
          </a:xfrm>
          <a:prstGeom prst="rect">
            <a:avLst/>
          </a:prstGeom>
        </p:spPr>
      </p:pic>
      <p:sp>
        <p:nvSpPr>
          <p:cNvPr id="87" name="TextBox 86"/>
          <p:cNvSpPr txBox="1"/>
          <p:nvPr/>
        </p:nvSpPr>
        <p:spPr>
          <a:xfrm>
            <a:off x="2339978" y="3375035"/>
            <a:ext cx="178519"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8" name="Picture 87" descr="lock.png"/>
          <p:cNvPicPr>
            <a:picLocks noChangeAspect="1"/>
          </p:cNvPicPr>
          <p:nvPr/>
        </p:nvPicPr>
        <p:blipFill>
          <a:blip r:embed="rId4"/>
          <a:stretch>
            <a:fillRect/>
          </a:stretch>
        </p:blipFill>
        <p:spPr>
          <a:xfrm>
            <a:off x="3518608" y="3365256"/>
            <a:ext cx="128699" cy="187198"/>
          </a:xfrm>
          <a:prstGeom prst="rect">
            <a:avLst/>
          </a:prstGeom>
        </p:spPr>
      </p:pic>
      <p:sp>
        <p:nvSpPr>
          <p:cNvPr id="89" name="TextBox 88"/>
          <p:cNvSpPr txBox="1"/>
          <p:nvPr/>
        </p:nvSpPr>
        <p:spPr>
          <a:xfrm>
            <a:off x="3686104" y="3375035"/>
            <a:ext cx="1182868" cy="186689"/>
          </a:xfrm>
          <a:prstGeom prst="rect">
            <a:avLst/>
          </a:prstGeom>
          <a:noFill/>
        </p:spPr>
        <p:txBody>
          <a:bodyPr wrap="none" lIns="0" rIns="0" tIns="0" bIns="0">
            <a:spAutoFit/>
          </a:bodyPr>
          <a:lstStyle/>
          <a:p>
            <a:r>
              <a:rPr sz="1100" b="0">
                <a:solidFill>
                  <a:srgbClr val="252423"/>
                </a:solidFill>
                <a:latin typeface="Segoe UI"/>
              </a:rPr>
              <a:t>Wh to Below 1,5…</a:t>
            </a:r>
          </a:p>
        </p:txBody>
      </p:sp>
      <p:sp>
        <p:nvSpPr>
          <p:cNvPr id="90" name="TextBox 89"/>
          <p:cNvSpPr txBox="1"/>
          <p:nvPr/>
        </p:nvSpPr>
        <p:spPr>
          <a:xfrm>
            <a:off x="8048625" y="1471995"/>
            <a:ext cx="3296092" cy="194310"/>
          </a:xfrm>
          <a:prstGeom prst="rect">
            <a:avLst/>
          </a:prstGeom>
          <a:noFill/>
        </p:spPr>
        <p:txBody>
          <a:bodyPr wrap="none" lIns="0" rIns="0" tIns="0" bIns="0">
            <a:spAutoFit/>
          </a:bodyPr>
          <a:lstStyle/>
          <a:p>
            <a:r>
              <a:rPr sz="1150" b="0">
                <a:solidFill>
                  <a:srgbClr val="252423"/>
                </a:solidFill>
                <a:latin typeface="Segoe UI"/>
              </a:rPr>
              <a:t>500 wh to below 1,000 wh segment is expected to</a:t>
            </a:r>
          </a:p>
        </p:txBody>
      </p:sp>
      <p:sp>
        <p:nvSpPr>
          <p:cNvPr id="91" name="TextBox 90"/>
          <p:cNvSpPr txBox="1"/>
          <p:nvPr/>
        </p:nvSpPr>
        <p:spPr>
          <a:xfrm>
            <a:off x="8048625" y="1647255"/>
            <a:ext cx="2860224" cy="194310"/>
          </a:xfrm>
          <a:prstGeom prst="rect">
            <a:avLst/>
          </a:prstGeom>
          <a:noFill/>
        </p:spPr>
        <p:txBody>
          <a:bodyPr wrap="none" lIns="0" rIns="0" tIns="0" bIns="0">
            <a:spAutoFit/>
          </a:bodyPr>
          <a:lstStyle/>
          <a:p>
            <a:r>
              <a:rPr sz="1150" b="0">
                <a:solidFill>
                  <a:srgbClr val="252423"/>
                </a:solidFill>
                <a:latin typeface="Segoe UI"/>
              </a:rPr>
              <a:t>command the highest average price of US$</a:t>
            </a:r>
          </a:p>
        </p:txBody>
      </p:sp>
      <p:pic>
        <p:nvPicPr>
          <p:cNvPr id="92" name="Picture 91" descr="lock.png"/>
          <p:cNvPicPr>
            <a:picLocks noChangeAspect="1"/>
          </p:cNvPicPr>
          <p:nvPr/>
        </p:nvPicPr>
        <p:blipFill>
          <a:blip r:embed="rId4"/>
          <a:stretch>
            <a:fillRect/>
          </a:stretch>
        </p:blipFill>
        <p:spPr>
          <a:xfrm>
            <a:off x="10858003" y="1637031"/>
            <a:ext cx="134549" cy="195707"/>
          </a:xfrm>
          <a:prstGeom prst="rect">
            <a:avLst/>
          </a:prstGeom>
        </p:spPr>
      </p:pic>
      <p:sp>
        <p:nvSpPr>
          <p:cNvPr id="93" name="TextBox 92"/>
          <p:cNvSpPr txBox="1"/>
          <p:nvPr/>
        </p:nvSpPr>
        <p:spPr>
          <a:xfrm>
            <a:off x="11033112" y="1647255"/>
            <a:ext cx="755389" cy="194310"/>
          </a:xfrm>
          <a:prstGeom prst="rect">
            <a:avLst/>
          </a:prstGeom>
          <a:noFill/>
        </p:spPr>
        <p:txBody>
          <a:bodyPr wrap="none" lIns="0" rIns="0" tIns="0" bIns="0">
            <a:spAutoFit/>
          </a:bodyPr>
          <a:lstStyle/>
          <a:p>
            <a:r>
              <a:rPr sz="1150" b="0">
                <a:solidFill>
                  <a:srgbClr val="252423"/>
                </a:solidFill>
                <a:latin typeface="Segoe UI"/>
              </a:rPr>
              <a:t>per Unit in</a:t>
            </a:r>
          </a:p>
        </p:txBody>
      </p:sp>
      <p:sp>
        <p:nvSpPr>
          <p:cNvPr id="94" name="TextBox 93"/>
          <p:cNvSpPr txBox="1"/>
          <p:nvPr/>
        </p:nvSpPr>
        <p:spPr>
          <a:xfrm>
            <a:off x="8048625" y="1822515"/>
            <a:ext cx="3612742" cy="194310"/>
          </a:xfrm>
          <a:prstGeom prst="rect">
            <a:avLst/>
          </a:prstGeom>
          <a:noFill/>
        </p:spPr>
        <p:txBody>
          <a:bodyPr wrap="none" lIns="0" rIns="0" tIns="0" bIns="0">
            <a:spAutoFit/>
          </a:bodyPr>
          <a:lstStyle/>
          <a:p>
            <a:r>
              <a:rPr sz="1150" b="0">
                <a:solidFill>
                  <a:srgbClr val="252423"/>
                </a:solidFill>
                <a:latin typeface="Segoe UI"/>
              </a:rPr>
              <a:t>2036. Average selling price of lithium polymer portable</a:t>
            </a:r>
          </a:p>
        </p:txBody>
      </p:sp>
      <p:sp>
        <p:nvSpPr>
          <p:cNvPr id="95" name="TextBox 94"/>
          <p:cNvSpPr txBox="1"/>
          <p:nvPr/>
        </p:nvSpPr>
        <p:spPr>
          <a:xfrm>
            <a:off x="8048625" y="1997775"/>
            <a:ext cx="2317943" cy="194310"/>
          </a:xfrm>
          <a:prstGeom prst="rect">
            <a:avLst/>
          </a:prstGeom>
          <a:noFill/>
        </p:spPr>
        <p:txBody>
          <a:bodyPr wrap="none" lIns="0" rIns="0" tIns="0" bIns="0">
            <a:spAutoFit/>
          </a:bodyPr>
          <a:lstStyle/>
          <a:p>
            <a:r>
              <a:rPr sz="1150" b="0">
                <a:solidFill>
                  <a:srgbClr val="252423"/>
                </a:solidFill>
                <a:latin typeface="Segoe UI"/>
              </a:rPr>
              <a:t>energy storage is estimated at US$</a:t>
            </a:r>
          </a:p>
        </p:txBody>
      </p:sp>
      <p:pic>
        <p:nvPicPr>
          <p:cNvPr id="96" name="Picture 95" descr="lock.png"/>
          <p:cNvPicPr>
            <a:picLocks noChangeAspect="1"/>
          </p:cNvPicPr>
          <p:nvPr/>
        </p:nvPicPr>
        <p:blipFill>
          <a:blip r:embed="rId4"/>
          <a:stretch>
            <a:fillRect/>
          </a:stretch>
        </p:blipFill>
        <p:spPr>
          <a:xfrm>
            <a:off x="10315722" y="1987551"/>
            <a:ext cx="134549" cy="195707"/>
          </a:xfrm>
          <a:prstGeom prst="rect">
            <a:avLst/>
          </a:prstGeom>
        </p:spPr>
      </p:pic>
      <p:sp>
        <p:nvSpPr>
          <p:cNvPr id="97" name="TextBox 96"/>
          <p:cNvSpPr txBox="1"/>
          <p:nvPr/>
        </p:nvSpPr>
        <p:spPr>
          <a:xfrm>
            <a:off x="10490831" y="1997775"/>
            <a:ext cx="1110245" cy="194310"/>
          </a:xfrm>
          <a:prstGeom prst="rect">
            <a:avLst/>
          </a:prstGeom>
          <a:noFill/>
        </p:spPr>
        <p:txBody>
          <a:bodyPr wrap="none" lIns="0" rIns="0" tIns="0" bIns="0">
            <a:spAutoFit/>
          </a:bodyPr>
          <a:lstStyle/>
          <a:p>
            <a:r>
              <a:rPr sz="1150" b="0">
                <a:solidFill>
                  <a:srgbClr val="252423"/>
                </a:solidFill>
                <a:latin typeface="Segoe UI"/>
              </a:rPr>
              <a:t>per Unit in 2025</a:t>
            </a:r>
          </a:p>
        </p:txBody>
      </p:sp>
      <p:sp>
        <p:nvSpPr>
          <p:cNvPr id="98" name="TextBox 97"/>
          <p:cNvSpPr txBox="1"/>
          <p:nvPr/>
        </p:nvSpPr>
        <p:spPr>
          <a:xfrm>
            <a:off x="8048625" y="2173035"/>
            <a:ext cx="2323029" cy="194310"/>
          </a:xfrm>
          <a:prstGeom prst="rect">
            <a:avLst/>
          </a:prstGeom>
          <a:noFill/>
        </p:spPr>
        <p:txBody>
          <a:bodyPr wrap="none" lIns="0" rIns="0" tIns="0" bIns="0">
            <a:spAutoFit/>
          </a:bodyPr>
          <a:lstStyle/>
          <a:p>
            <a:r>
              <a:rPr sz="1150" b="0">
                <a:solidFill>
                  <a:srgbClr val="252423"/>
                </a:solidFill>
                <a:latin typeface="Segoe UI"/>
              </a:rPr>
              <a:t>and is projected to increase to US$</a:t>
            </a:r>
          </a:p>
        </p:txBody>
      </p:sp>
      <p:pic>
        <p:nvPicPr>
          <p:cNvPr id="99" name="Picture 98" descr="lock.png"/>
          <p:cNvPicPr>
            <a:picLocks noChangeAspect="1"/>
          </p:cNvPicPr>
          <p:nvPr/>
        </p:nvPicPr>
        <p:blipFill>
          <a:blip r:embed="rId4"/>
          <a:stretch>
            <a:fillRect/>
          </a:stretch>
        </p:blipFill>
        <p:spPr>
          <a:xfrm>
            <a:off x="10320808" y="2162811"/>
            <a:ext cx="134549" cy="195707"/>
          </a:xfrm>
          <a:prstGeom prst="rect">
            <a:avLst/>
          </a:prstGeom>
        </p:spPr>
      </p:pic>
      <p:sp>
        <p:nvSpPr>
          <p:cNvPr id="100" name="TextBox 99"/>
          <p:cNvSpPr txBox="1"/>
          <p:nvPr/>
        </p:nvSpPr>
        <p:spPr>
          <a:xfrm>
            <a:off x="10495917" y="2173035"/>
            <a:ext cx="1180417" cy="194310"/>
          </a:xfrm>
          <a:prstGeom prst="rect">
            <a:avLst/>
          </a:prstGeom>
          <a:noFill/>
        </p:spPr>
        <p:txBody>
          <a:bodyPr wrap="none" lIns="0" rIns="0" tIns="0" bIns="0">
            <a:spAutoFit/>
          </a:bodyPr>
          <a:lstStyle/>
          <a:p>
            <a:r>
              <a:rPr sz="1150" b="0">
                <a:solidFill>
                  <a:srgbClr val="252423"/>
                </a:solidFill>
                <a:latin typeface="Segoe UI"/>
              </a:rPr>
              <a:t>per Unit by 2036.</a:t>
            </a:r>
          </a:p>
        </p:txBody>
      </p:sp>
      <p:sp>
        <p:nvSpPr>
          <p:cNvPr id="101" name="TextBox 100"/>
          <p:cNvSpPr txBox="1"/>
          <p:nvPr/>
        </p:nvSpPr>
        <p:spPr>
          <a:xfrm>
            <a:off x="8048625" y="2400873"/>
            <a:ext cx="3746134" cy="194310"/>
          </a:xfrm>
          <a:prstGeom prst="rect">
            <a:avLst/>
          </a:prstGeom>
          <a:noFill/>
        </p:spPr>
        <p:txBody>
          <a:bodyPr wrap="none" lIns="0" rIns="0" tIns="0" bIns="0">
            <a:spAutoFit/>
          </a:bodyPr>
          <a:lstStyle/>
          <a:p>
            <a:r>
              <a:rPr sz="1150" b="0">
                <a:solidFill>
                  <a:srgbClr val="252423"/>
                </a:solidFill>
                <a:latin typeface="Segoe UI"/>
              </a:rPr>
              <a:t>Canada is the highest-priced country, while Mexico is the</a:t>
            </a:r>
          </a:p>
        </p:txBody>
      </p:sp>
      <p:sp>
        <p:nvSpPr>
          <p:cNvPr id="102" name="TextBox 101"/>
          <p:cNvSpPr txBox="1"/>
          <p:nvPr/>
        </p:nvSpPr>
        <p:spPr>
          <a:xfrm>
            <a:off x="8048625" y="2576133"/>
            <a:ext cx="3848100" cy="194310"/>
          </a:xfrm>
          <a:prstGeom prst="rect">
            <a:avLst/>
          </a:prstGeom>
          <a:noFill/>
        </p:spPr>
        <p:txBody>
          <a:bodyPr wrap="none" lIns="0" rIns="0" tIns="0" bIns="0">
            <a:spAutoFit/>
          </a:bodyPr>
          <a:lstStyle/>
          <a:p>
            <a:r>
              <a:rPr sz="1150" b="0">
                <a:solidFill>
                  <a:srgbClr val="252423"/>
                </a:solidFill>
                <a:latin typeface="Segoe UI"/>
              </a:rPr>
              <a:t>most price-competitive market. Against the North America</a:t>
            </a:r>
          </a:p>
        </p:txBody>
      </p:sp>
      <p:sp>
        <p:nvSpPr>
          <p:cNvPr id="103" name="TextBox 102"/>
          <p:cNvSpPr txBox="1"/>
          <p:nvPr/>
        </p:nvSpPr>
        <p:spPr>
          <a:xfrm>
            <a:off x="8048625" y="2751393"/>
            <a:ext cx="563373" cy="194310"/>
          </a:xfrm>
          <a:prstGeom prst="rect">
            <a:avLst/>
          </a:prstGeom>
          <a:noFill/>
        </p:spPr>
        <p:txBody>
          <a:bodyPr wrap="none" lIns="0" rIns="0" tIns="0" bIns="0">
            <a:spAutoFit/>
          </a:bodyPr>
          <a:lstStyle/>
          <a:p>
            <a:r>
              <a:rPr sz="1150" b="0">
                <a:solidFill>
                  <a:srgbClr val="252423"/>
                </a:solidFill>
                <a:latin typeface="Segoe UI"/>
              </a:rPr>
              <a:t>price of</a:t>
            </a:r>
          </a:p>
        </p:txBody>
      </p:sp>
      <p:pic>
        <p:nvPicPr>
          <p:cNvPr id="104" name="Picture 103" descr="lock.png"/>
          <p:cNvPicPr>
            <a:picLocks noChangeAspect="1"/>
          </p:cNvPicPr>
          <p:nvPr/>
        </p:nvPicPr>
        <p:blipFill>
          <a:blip r:embed="rId4"/>
          <a:stretch>
            <a:fillRect/>
          </a:stretch>
        </p:blipFill>
        <p:spPr>
          <a:xfrm>
            <a:off x="8561152" y="2741169"/>
            <a:ext cx="134549" cy="195707"/>
          </a:xfrm>
          <a:prstGeom prst="rect">
            <a:avLst/>
          </a:prstGeom>
        </p:spPr>
      </p:pic>
      <p:sp>
        <p:nvSpPr>
          <p:cNvPr id="105" name="TextBox 104"/>
          <p:cNvSpPr txBox="1"/>
          <p:nvPr/>
        </p:nvSpPr>
        <p:spPr>
          <a:xfrm>
            <a:off x="8736261" y="2751393"/>
            <a:ext cx="2982883" cy="194310"/>
          </a:xfrm>
          <a:prstGeom prst="rect">
            <a:avLst/>
          </a:prstGeom>
          <a:noFill/>
        </p:spPr>
        <p:txBody>
          <a:bodyPr wrap="none" lIns="0" rIns="0" tIns="0" bIns="0">
            <a:spAutoFit/>
          </a:bodyPr>
          <a:lstStyle/>
          <a:p>
            <a:r>
              <a:rPr sz="1150" b="0">
                <a:solidFill>
                  <a:srgbClr val="252423"/>
                </a:solidFill>
                <a:latin typeface="Segoe UI"/>
              </a:rPr>
              <a:t>US$/Units, 1 of 3 countries price above and 2</a:t>
            </a:r>
          </a:p>
        </p:txBody>
      </p:sp>
      <p:sp>
        <p:nvSpPr>
          <p:cNvPr id="106" name="TextBox 105"/>
          <p:cNvSpPr txBox="1"/>
          <p:nvPr/>
        </p:nvSpPr>
        <p:spPr>
          <a:xfrm>
            <a:off x="8048625" y="2926653"/>
            <a:ext cx="496552" cy="194310"/>
          </a:xfrm>
          <a:prstGeom prst="rect">
            <a:avLst/>
          </a:prstGeom>
          <a:noFill/>
        </p:spPr>
        <p:txBody>
          <a:bodyPr wrap="none" lIns="0" rIns="0" tIns="0" bIns="0">
            <a:spAutoFit/>
          </a:bodyPr>
          <a:lstStyle/>
          <a:p>
            <a:r>
              <a:rPr sz="1150" b="0">
                <a:solidFill>
                  <a:srgbClr val="252423"/>
                </a:solidFill>
                <a:latin typeface="Segoe UI"/>
              </a:rPr>
              <a:t>below.</a:t>
            </a:r>
          </a:p>
        </p:txBody>
      </p:sp>
      <p:sp>
        <p:nvSpPr>
          <p:cNvPr id="107" name="TextBox 106"/>
          <p:cNvSpPr txBox="1"/>
          <p:nvPr/>
        </p:nvSpPr>
        <p:spPr>
          <a:xfrm>
            <a:off x="8048625" y="3154490"/>
            <a:ext cx="1831621" cy="194310"/>
          </a:xfrm>
          <a:prstGeom prst="rect">
            <a:avLst/>
          </a:prstGeom>
          <a:noFill/>
        </p:spPr>
        <p:txBody>
          <a:bodyPr wrap="none" lIns="0" rIns="0" tIns="0" bIns="0">
            <a:spAutoFit/>
          </a:bodyPr>
          <a:lstStyle/>
          <a:p>
            <a:r>
              <a:rPr sz="1150" b="0">
                <a:solidFill>
                  <a:srgbClr val="252423"/>
                </a:solidFill>
                <a:latin typeface="Segoe UI"/>
              </a:rPr>
              <a:t>'Canada' is the dearest at +</a:t>
            </a:r>
          </a:p>
        </p:txBody>
      </p:sp>
      <p:pic>
        <p:nvPicPr>
          <p:cNvPr id="108" name="Picture 107" descr="lock.png"/>
          <p:cNvPicPr>
            <a:picLocks noChangeAspect="1"/>
          </p:cNvPicPr>
          <p:nvPr/>
        </p:nvPicPr>
        <p:blipFill>
          <a:blip r:embed="rId4"/>
          <a:stretch>
            <a:fillRect/>
          </a:stretch>
        </p:blipFill>
        <p:spPr>
          <a:xfrm>
            <a:off x="9829400" y="3144267"/>
            <a:ext cx="134549" cy="195707"/>
          </a:xfrm>
          <a:prstGeom prst="rect">
            <a:avLst/>
          </a:prstGeom>
        </p:spPr>
      </p:pic>
      <p:sp>
        <p:nvSpPr>
          <p:cNvPr id="109" name="TextBox 108"/>
          <p:cNvSpPr txBox="1"/>
          <p:nvPr/>
        </p:nvSpPr>
        <p:spPr>
          <a:xfrm>
            <a:off x="10004509" y="3154490"/>
            <a:ext cx="1493983" cy="194310"/>
          </a:xfrm>
          <a:prstGeom prst="rect">
            <a:avLst/>
          </a:prstGeom>
          <a:noFill/>
        </p:spPr>
        <p:txBody>
          <a:bodyPr wrap="none" lIns="0" rIns="0" tIns="0" bIns="0">
            <a:spAutoFit/>
          </a:bodyPr>
          <a:lstStyle/>
          <a:p>
            <a:r>
              <a:rPr sz="1150" b="0">
                <a:solidFill>
                  <a:srgbClr val="252423"/>
                </a:solidFill>
                <a:latin typeface="Segoe UI"/>
              </a:rPr>
              <a:t>versus North America,</a:t>
            </a:r>
          </a:p>
        </p:txBody>
      </p:sp>
      <p:sp>
        <p:nvSpPr>
          <p:cNvPr id="110" name="TextBox 109"/>
          <p:cNvSpPr txBox="1"/>
          <p:nvPr/>
        </p:nvSpPr>
        <p:spPr>
          <a:xfrm>
            <a:off x="8048625" y="3329750"/>
            <a:ext cx="1732794" cy="194310"/>
          </a:xfrm>
          <a:prstGeom prst="rect">
            <a:avLst/>
          </a:prstGeom>
          <a:noFill/>
        </p:spPr>
        <p:txBody>
          <a:bodyPr wrap="none" lIns="0" rIns="0" tIns="0" bIns="0">
            <a:spAutoFit/>
          </a:bodyPr>
          <a:lstStyle/>
          <a:p>
            <a:r>
              <a:rPr sz="1150" b="0">
                <a:solidFill>
                  <a:srgbClr val="252423"/>
                </a:solidFill>
                <a:latin typeface="Segoe UI"/>
              </a:rPr>
              <a:t>'Mexico' the cheapest at -</a:t>
            </a:r>
          </a:p>
        </p:txBody>
      </p:sp>
      <p:pic>
        <p:nvPicPr>
          <p:cNvPr id="111" name="Picture 110" descr="lock.png"/>
          <p:cNvPicPr>
            <a:picLocks noChangeAspect="1"/>
          </p:cNvPicPr>
          <p:nvPr/>
        </p:nvPicPr>
        <p:blipFill>
          <a:blip r:embed="rId4"/>
          <a:stretch>
            <a:fillRect/>
          </a:stretch>
        </p:blipFill>
        <p:spPr>
          <a:xfrm>
            <a:off x="9730573" y="3319527"/>
            <a:ext cx="134549" cy="195707"/>
          </a:xfrm>
          <a:prstGeom prst="rect">
            <a:avLst/>
          </a:prstGeom>
        </p:spPr>
      </p:pic>
      <p:sp>
        <p:nvSpPr>
          <p:cNvPr id="112" name="TextBox 111"/>
          <p:cNvSpPr txBox="1"/>
          <p:nvPr/>
        </p:nvSpPr>
        <p:spPr>
          <a:xfrm>
            <a:off x="9905682" y="3329750"/>
            <a:ext cx="1842443" cy="194310"/>
          </a:xfrm>
          <a:prstGeom prst="rect">
            <a:avLst/>
          </a:prstGeom>
          <a:noFill/>
        </p:spPr>
        <p:txBody>
          <a:bodyPr wrap="none" lIns="0" rIns="0" tIns="0" bIns="0">
            <a:spAutoFit/>
          </a:bodyPr>
          <a:lstStyle/>
          <a:p>
            <a:r>
              <a:rPr sz="1150" b="0">
                <a:solidFill>
                  <a:srgbClr val="252423"/>
                </a:solidFill>
                <a:latin typeface="Segoe UI"/>
              </a:rPr>
              <a:t>pointing to premiumisation</a:t>
            </a:r>
          </a:p>
        </p:txBody>
      </p:sp>
      <p:sp>
        <p:nvSpPr>
          <p:cNvPr id="113" name="TextBox 112"/>
          <p:cNvSpPr txBox="1"/>
          <p:nvPr/>
        </p:nvSpPr>
        <p:spPr>
          <a:xfrm>
            <a:off x="8048625" y="3505010"/>
            <a:ext cx="2668975" cy="194310"/>
          </a:xfrm>
          <a:prstGeom prst="rect">
            <a:avLst/>
          </a:prstGeom>
          <a:noFill/>
        </p:spPr>
        <p:txBody>
          <a:bodyPr wrap="none" lIns="0" rIns="0" tIns="0" bIns="0">
            <a:spAutoFit/>
          </a:bodyPr>
          <a:lstStyle/>
          <a:p>
            <a:r>
              <a:rPr sz="1150" b="0">
                <a:solidFill>
                  <a:srgbClr val="252423"/>
                </a:solidFill>
                <a:latin typeface="Segoe UI"/>
              </a:rPr>
              <a:t>headroom in the lower-priced countries.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North America market value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3256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2770244"/>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52423"/>
                </a:solidFill>
                <a:latin typeface="Segoe UI"/>
              </a:rPr>
              <a:t/>
            </a:r>
          </a:p>
          <a:p>
            <a:pPr algn="l">
              <a:lnSpc>
                <a:spcPct val="100000"/>
              </a:lnSpc>
              <a:spcBef>
                <a:spcPts val="0"/>
              </a:spcBef>
              <a:spcAft>
                <a:spcPts val="300"/>
              </a:spcAft>
            </a:pPr>
            <a:r>
              <a:rPr sz="1100" b="0">
                <a:solidFill>
                  <a:srgbClr val="252423"/>
                </a:solidFill>
                <a:latin typeface="Segoe UI"/>
              </a:rPr>
              <a:t/>
            </a:r>
          </a:p>
          <a:p>
            <a:pPr algn="l">
              <a:lnSpc>
                <a:spcPct val="100000"/>
              </a:lnSpc>
              <a:spcBef>
                <a:spcPts val="0"/>
              </a:spcBef>
              <a:spcAft>
                <a:spcPts val="300"/>
              </a:spcAft>
            </a:pPr>
            <a:r>
              <a:rPr sz="1100" b="0">
                <a:solidFill>
                  <a:srgbClr val="252423"/>
                </a:solidFill>
                <a:latin typeface="Segoe UI"/>
              </a:rPr>
              <a:t/>
            </a:r>
          </a:p>
        </p:txBody>
      </p:sp>
      <p:sp>
        <p:nvSpPr>
          <p:cNvPr id="22" name="Rectangle 21"/>
          <p:cNvSpPr/>
          <p:nvPr/>
        </p:nvSpPr>
        <p:spPr>
          <a:xfrm>
            <a:off x="7915275" y="4938667"/>
            <a:ext cx="4133850" cy="169073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50243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52625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5348242"/>
            <a:ext cx="3867150" cy="120495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86098" cy="186689"/>
          </a:xfrm>
          <a:prstGeom prst="rect">
            <a:avLst/>
          </a:prstGeom>
          <a:noFill/>
        </p:spPr>
        <p:txBody>
          <a:bodyPr wrap="none" lIns="0" rIns="0" tIns="0" bIns="0">
            <a:spAutoFit/>
          </a:bodyPr>
          <a:lstStyle/>
          <a:p>
            <a:r>
              <a:rPr sz="1100" b="0">
                <a:solidFill>
                  <a:srgbClr val="252423"/>
                </a:solidFill>
                <a:latin typeface="Segoe UI"/>
              </a:rPr>
              <a:t>Lithium polymer portable energy storage market value in</a:t>
            </a:r>
          </a:p>
        </p:txBody>
      </p:sp>
      <p:sp>
        <p:nvSpPr>
          <p:cNvPr id="33" name="TextBox 32"/>
          <p:cNvSpPr txBox="1"/>
          <p:nvPr/>
        </p:nvSpPr>
        <p:spPr>
          <a:xfrm>
            <a:off x="8048625" y="2214627"/>
            <a:ext cx="2415902" cy="186689"/>
          </a:xfrm>
          <a:prstGeom prst="rect">
            <a:avLst/>
          </a:prstGeom>
          <a:noFill/>
        </p:spPr>
        <p:txBody>
          <a:bodyPr wrap="none" lIns="0" rIns="0" tIns="0" bIns="0">
            <a:spAutoFit/>
          </a:bodyPr>
          <a:lstStyle/>
          <a:p>
            <a:r>
              <a:rPr sz="1100" b="0">
                <a:solidFill>
                  <a:srgbClr val="252423"/>
                </a:solidFill>
                <a:latin typeface="Segoe UI"/>
              </a:rPr>
              <a:t>North America is expected to increase</a:t>
            </a:r>
          </a:p>
        </p:txBody>
      </p:sp>
      <p:pic>
        <p:nvPicPr>
          <p:cNvPr id="34" name="Picture 33" descr="lock.png"/>
          <p:cNvPicPr>
            <a:picLocks noChangeAspect="1"/>
          </p:cNvPicPr>
          <p:nvPr/>
        </p:nvPicPr>
        <p:blipFill>
          <a:blip r:embed="rId6"/>
          <a:stretch>
            <a:fillRect/>
          </a:stretch>
        </p:blipFill>
        <p:spPr>
          <a:xfrm>
            <a:off x="10412578" y="2204848"/>
            <a:ext cx="128699" cy="187198"/>
          </a:xfrm>
          <a:prstGeom prst="rect">
            <a:avLst/>
          </a:prstGeom>
        </p:spPr>
      </p:pic>
      <p:sp>
        <p:nvSpPr>
          <p:cNvPr id="35" name="TextBox 34"/>
          <p:cNvSpPr txBox="1"/>
          <p:nvPr/>
        </p:nvSpPr>
        <p:spPr>
          <a:xfrm>
            <a:off x="10580074" y="2214627"/>
            <a:ext cx="1065278" cy="186689"/>
          </a:xfrm>
          <a:prstGeom prst="rect">
            <a:avLst/>
          </a:prstGeom>
          <a:noFill/>
        </p:spPr>
        <p:txBody>
          <a:bodyPr wrap="none" lIns="0" rIns="0" tIns="0" bIns="0">
            <a:spAutoFit/>
          </a:bodyPr>
          <a:lstStyle/>
          <a:p>
            <a:r>
              <a:rPr sz="1100" b="0">
                <a:solidFill>
                  <a:srgbClr val="252423"/>
                </a:solidFill>
                <a:latin typeface="Segoe UI"/>
              </a:rPr>
              <a:t>X between 2025</a:t>
            </a:r>
          </a:p>
        </p:txBody>
      </p:sp>
      <p:sp>
        <p:nvSpPr>
          <p:cNvPr id="36" name="TextBox 35"/>
          <p:cNvSpPr txBox="1"/>
          <p:nvPr/>
        </p:nvSpPr>
        <p:spPr>
          <a:xfrm>
            <a:off x="8048625" y="2382267"/>
            <a:ext cx="3472963" cy="186689"/>
          </a:xfrm>
          <a:prstGeom prst="rect">
            <a:avLst/>
          </a:prstGeom>
          <a:noFill/>
        </p:spPr>
        <p:txBody>
          <a:bodyPr wrap="none" lIns="0" rIns="0" tIns="0" bIns="0">
            <a:spAutoFit/>
          </a:bodyPr>
          <a:lstStyle/>
          <a:p>
            <a:r>
              <a:rPr sz="1100" b="0">
                <a:solidFill>
                  <a:srgbClr val="252423"/>
                </a:solidFill>
                <a:latin typeface="Segoe UI"/>
              </a:rPr>
              <a:t>and 2036. In 2025, the lithium polymer portable energy</a:t>
            </a:r>
          </a:p>
        </p:txBody>
      </p:sp>
      <p:sp>
        <p:nvSpPr>
          <p:cNvPr id="37" name="TextBox 36"/>
          <p:cNvSpPr txBox="1"/>
          <p:nvPr/>
        </p:nvSpPr>
        <p:spPr>
          <a:xfrm>
            <a:off x="8048625" y="2549907"/>
            <a:ext cx="3254340" cy="186689"/>
          </a:xfrm>
          <a:prstGeom prst="rect">
            <a:avLst/>
          </a:prstGeom>
          <a:noFill/>
        </p:spPr>
        <p:txBody>
          <a:bodyPr wrap="none" lIns="0" rIns="0" tIns="0" bIns="0">
            <a:spAutoFit/>
          </a:bodyPr>
          <a:lstStyle/>
          <a:p>
            <a:r>
              <a:rPr sz="1100" b="0">
                <a:solidFill>
                  <a:srgbClr val="252423"/>
                </a:solidFill>
                <a:latin typeface="Segoe UI"/>
              </a:rPr>
              <a:t>storage market in North America was valued at US$</a:t>
            </a:r>
          </a:p>
        </p:txBody>
      </p:sp>
      <p:pic>
        <p:nvPicPr>
          <p:cNvPr id="38" name="Picture 37" descr="lock.png"/>
          <p:cNvPicPr>
            <a:picLocks noChangeAspect="1"/>
          </p:cNvPicPr>
          <p:nvPr/>
        </p:nvPicPr>
        <p:blipFill>
          <a:blip r:embed="rId6"/>
          <a:stretch>
            <a:fillRect/>
          </a:stretch>
        </p:blipFill>
        <p:spPr>
          <a:xfrm>
            <a:off x="11251017" y="2540128"/>
            <a:ext cx="128699" cy="187198"/>
          </a:xfrm>
          <a:prstGeom prst="rect">
            <a:avLst/>
          </a:prstGeom>
        </p:spPr>
      </p:pic>
      <p:sp>
        <p:nvSpPr>
          <p:cNvPr id="39" name="TextBox 38"/>
          <p:cNvSpPr txBox="1"/>
          <p:nvPr/>
        </p:nvSpPr>
        <p:spPr>
          <a:xfrm>
            <a:off x="11418513" y="2549907"/>
            <a:ext cx="280838" cy="186689"/>
          </a:xfrm>
          <a:prstGeom prst="rect">
            <a:avLst/>
          </a:prstGeom>
          <a:noFill/>
        </p:spPr>
        <p:txBody>
          <a:bodyPr wrap="none" lIns="0" rIns="0" tIns="0" bIns="0">
            <a:spAutoFit/>
          </a:bodyPr>
          <a:lstStyle/>
          <a:p>
            <a:r>
              <a:rPr sz="1100" b="0">
                <a:solidFill>
                  <a:srgbClr val="252423"/>
                </a:solidFill>
                <a:latin typeface="Segoe UI"/>
              </a:rPr>
              <a:t>Mn</a:t>
            </a:r>
          </a:p>
        </p:txBody>
      </p:sp>
      <p:sp>
        <p:nvSpPr>
          <p:cNvPr id="40" name="TextBox 39"/>
          <p:cNvSpPr txBox="1"/>
          <p:nvPr/>
        </p:nvSpPr>
        <p:spPr>
          <a:xfrm>
            <a:off x="8048625" y="2717547"/>
            <a:ext cx="2276440" cy="186689"/>
          </a:xfrm>
          <a:prstGeom prst="rect">
            <a:avLst/>
          </a:prstGeom>
          <a:noFill/>
        </p:spPr>
        <p:txBody>
          <a:bodyPr wrap="none" lIns="0" rIns="0" tIns="0" bIns="0">
            <a:spAutoFit/>
          </a:bodyPr>
          <a:lstStyle/>
          <a:p>
            <a:r>
              <a:rPr sz="1100" b="0">
                <a:solidFill>
                  <a:srgbClr val="252423"/>
                </a:solidFill>
                <a:latin typeface="Segoe UI"/>
              </a:rPr>
              <a:t>and is estimated to account for US$</a:t>
            </a:r>
          </a:p>
        </p:txBody>
      </p:sp>
      <p:pic>
        <p:nvPicPr>
          <p:cNvPr id="41" name="Picture 40" descr="lock.png"/>
          <p:cNvPicPr>
            <a:picLocks noChangeAspect="1"/>
          </p:cNvPicPr>
          <p:nvPr/>
        </p:nvPicPr>
        <p:blipFill>
          <a:blip r:embed="rId6"/>
          <a:stretch>
            <a:fillRect/>
          </a:stretch>
        </p:blipFill>
        <p:spPr>
          <a:xfrm>
            <a:off x="10273117" y="2707768"/>
            <a:ext cx="128699" cy="187198"/>
          </a:xfrm>
          <a:prstGeom prst="rect">
            <a:avLst/>
          </a:prstGeom>
        </p:spPr>
      </p:pic>
      <p:sp>
        <p:nvSpPr>
          <p:cNvPr id="42" name="TextBox 41"/>
          <p:cNvSpPr txBox="1"/>
          <p:nvPr/>
        </p:nvSpPr>
        <p:spPr>
          <a:xfrm>
            <a:off x="10440613" y="2717547"/>
            <a:ext cx="1143284" cy="186689"/>
          </a:xfrm>
          <a:prstGeom prst="rect">
            <a:avLst/>
          </a:prstGeom>
          <a:noFill/>
        </p:spPr>
        <p:txBody>
          <a:bodyPr wrap="none" lIns="0" rIns="0" tIns="0" bIns="0">
            <a:spAutoFit/>
          </a:bodyPr>
          <a:lstStyle/>
          <a:p>
            <a:r>
              <a:rPr sz="1100" b="0">
                <a:solidFill>
                  <a:srgbClr val="252423"/>
                </a:solidFill>
                <a:latin typeface="Segoe UI"/>
              </a:rPr>
              <a:t>Mn by the end of</a:t>
            </a:r>
          </a:p>
        </p:txBody>
      </p:sp>
      <p:sp>
        <p:nvSpPr>
          <p:cNvPr id="43" name="TextBox 42"/>
          <p:cNvSpPr txBox="1"/>
          <p:nvPr/>
        </p:nvSpPr>
        <p:spPr>
          <a:xfrm>
            <a:off x="8048625" y="2885187"/>
            <a:ext cx="2442253" cy="186689"/>
          </a:xfrm>
          <a:prstGeom prst="rect">
            <a:avLst/>
          </a:prstGeom>
          <a:noFill/>
        </p:spPr>
        <p:txBody>
          <a:bodyPr wrap="none" lIns="0" rIns="0" tIns="0" bIns="0">
            <a:spAutoFit/>
          </a:bodyPr>
          <a:lstStyle/>
          <a:p>
            <a:r>
              <a:rPr sz="1100" b="0">
                <a:solidFill>
                  <a:srgbClr val="252423"/>
                </a:solidFill>
                <a:latin typeface="Segoe UI"/>
              </a:rPr>
              <a:t>2026, reflecting a Y-o-Y growth rate of</a:t>
            </a:r>
          </a:p>
        </p:txBody>
      </p:sp>
      <p:pic>
        <p:nvPicPr>
          <p:cNvPr id="44" name="Picture 43" descr="lock.png"/>
          <p:cNvPicPr>
            <a:picLocks noChangeAspect="1"/>
          </p:cNvPicPr>
          <p:nvPr/>
        </p:nvPicPr>
        <p:blipFill>
          <a:blip r:embed="rId6"/>
          <a:stretch>
            <a:fillRect/>
          </a:stretch>
        </p:blipFill>
        <p:spPr>
          <a:xfrm>
            <a:off x="10438930" y="2875408"/>
            <a:ext cx="128699" cy="187198"/>
          </a:xfrm>
          <a:prstGeom prst="rect">
            <a:avLst/>
          </a:prstGeom>
        </p:spPr>
      </p:pic>
      <p:sp>
        <p:nvSpPr>
          <p:cNvPr id="45" name="TextBox 44"/>
          <p:cNvSpPr txBox="1"/>
          <p:nvPr/>
        </p:nvSpPr>
        <p:spPr>
          <a:xfrm>
            <a:off x="10606426" y="288518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6" name="TextBox 45"/>
          <p:cNvSpPr txBox="1"/>
          <p:nvPr/>
        </p:nvSpPr>
        <p:spPr>
          <a:xfrm>
            <a:off x="8048625" y="3103119"/>
            <a:ext cx="3780420" cy="186689"/>
          </a:xfrm>
          <a:prstGeom prst="rect">
            <a:avLst/>
          </a:prstGeom>
          <a:noFill/>
        </p:spPr>
        <p:txBody>
          <a:bodyPr wrap="none" lIns="0" rIns="0" tIns="0" bIns="0">
            <a:spAutoFit/>
          </a:bodyPr>
          <a:lstStyle/>
          <a:p>
            <a:r>
              <a:rPr sz="1100" b="0">
                <a:solidFill>
                  <a:srgbClr val="252423"/>
                </a:solidFill>
                <a:latin typeface="Segoe UI"/>
              </a:rPr>
              <a:t>The market in North America is expected to account for US$</a:t>
            </a:r>
          </a:p>
        </p:txBody>
      </p:sp>
      <p:pic>
        <p:nvPicPr>
          <p:cNvPr id="47" name="Picture 46" descr="lock.png"/>
          <p:cNvPicPr>
            <a:picLocks noChangeAspect="1"/>
          </p:cNvPicPr>
          <p:nvPr/>
        </p:nvPicPr>
        <p:blipFill>
          <a:blip r:embed="rId6"/>
          <a:stretch>
            <a:fillRect/>
          </a:stretch>
        </p:blipFill>
        <p:spPr>
          <a:xfrm>
            <a:off x="8035157" y="3260980"/>
            <a:ext cx="128699" cy="187198"/>
          </a:xfrm>
          <a:prstGeom prst="rect">
            <a:avLst/>
          </a:prstGeom>
        </p:spPr>
      </p:pic>
      <p:sp>
        <p:nvSpPr>
          <p:cNvPr id="48" name="TextBox 47"/>
          <p:cNvSpPr txBox="1"/>
          <p:nvPr/>
        </p:nvSpPr>
        <p:spPr>
          <a:xfrm>
            <a:off x="8202653" y="3270759"/>
            <a:ext cx="1632204" cy="186689"/>
          </a:xfrm>
          <a:prstGeom prst="rect">
            <a:avLst/>
          </a:prstGeom>
          <a:noFill/>
        </p:spPr>
        <p:txBody>
          <a:bodyPr wrap="none" lIns="0" rIns="0" tIns="0" bIns="0">
            <a:spAutoFit/>
          </a:bodyPr>
          <a:lstStyle/>
          <a:p>
            <a:r>
              <a:rPr sz="1100" b="0">
                <a:solidFill>
                  <a:srgbClr val="252423"/>
                </a:solidFill>
                <a:latin typeface="Segoe UI"/>
              </a:rPr>
              <a:t>Mn by 2036 at a CAGR of</a:t>
            </a:r>
          </a:p>
        </p:txBody>
      </p:sp>
      <p:pic>
        <p:nvPicPr>
          <p:cNvPr id="49" name="Picture 48" descr="lock.png"/>
          <p:cNvPicPr>
            <a:picLocks noChangeAspect="1"/>
          </p:cNvPicPr>
          <p:nvPr/>
        </p:nvPicPr>
        <p:blipFill>
          <a:blip r:embed="rId6"/>
          <a:stretch>
            <a:fillRect/>
          </a:stretch>
        </p:blipFill>
        <p:spPr>
          <a:xfrm>
            <a:off x="9782909" y="3260980"/>
            <a:ext cx="128699" cy="187198"/>
          </a:xfrm>
          <a:prstGeom prst="rect">
            <a:avLst/>
          </a:prstGeom>
        </p:spPr>
      </p:pic>
      <p:sp>
        <p:nvSpPr>
          <p:cNvPr id="50" name="TextBox 49"/>
          <p:cNvSpPr txBox="1"/>
          <p:nvPr/>
        </p:nvSpPr>
        <p:spPr>
          <a:xfrm>
            <a:off x="9950405" y="3270759"/>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51" name="TextBox 50"/>
          <p:cNvSpPr txBox="1"/>
          <p:nvPr/>
        </p:nvSpPr>
        <p:spPr>
          <a:xfrm>
            <a:off x="8048625" y="3438399"/>
            <a:ext cx="3242322" cy="186689"/>
          </a:xfrm>
          <a:prstGeom prst="rect">
            <a:avLst/>
          </a:prstGeom>
          <a:noFill/>
        </p:spPr>
        <p:txBody>
          <a:bodyPr wrap="none" lIns="0" rIns="0" tIns="0" bIns="0">
            <a:spAutoFit/>
          </a:bodyPr>
          <a:lstStyle/>
          <a:p>
            <a:r>
              <a:rPr sz="1100" b="0">
                <a:solidFill>
                  <a:srgbClr val="252423"/>
                </a:solidFill>
                <a:latin typeface="Segoe UI"/>
              </a:rPr>
              <a:t>North America is expected to create an incremental</a:t>
            </a:r>
          </a:p>
        </p:txBody>
      </p:sp>
      <p:sp>
        <p:nvSpPr>
          <p:cNvPr id="52" name="TextBox 51"/>
          <p:cNvSpPr txBox="1"/>
          <p:nvPr/>
        </p:nvSpPr>
        <p:spPr>
          <a:xfrm>
            <a:off x="8048625" y="3606039"/>
            <a:ext cx="1254944" cy="186689"/>
          </a:xfrm>
          <a:prstGeom prst="rect">
            <a:avLst/>
          </a:prstGeom>
          <a:noFill/>
        </p:spPr>
        <p:txBody>
          <a:bodyPr wrap="none" lIns="0" rIns="0" tIns="0" bIns="0">
            <a:spAutoFit/>
          </a:bodyPr>
          <a:lstStyle/>
          <a:p>
            <a:r>
              <a:rPr sz="1100" b="0">
                <a:solidFill>
                  <a:srgbClr val="252423"/>
                </a:solidFill>
                <a:latin typeface="Segoe UI"/>
              </a:rPr>
              <a:t>opportunity of US$</a:t>
            </a:r>
          </a:p>
        </p:txBody>
      </p:sp>
      <p:pic>
        <p:nvPicPr>
          <p:cNvPr id="53" name="Picture 52" descr="lock.png"/>
          <p:cNvPicPr>
            <a:picLocks noChangeAspect="1"/>
          </p:cNvPicPr>
          <p:nvPr/>
        </p:nvPicPr>
        <p:blipFill>
          <a:blip r:embed="rId6"/>
          <a:stretch>
            <a:fillRect/>
          </a:stretch>
        </p:blipFill>
        <p:spPr>
          <a:xfrm>
            <a:off x="9251620" y="3596260"/>
            <a:ext cx="128699" cy="187198"/>
          </a:xfrm>
          <a:prstGeom prst="rect">
            <a:avLst/>
          </a:prstGeom>
        </p:spPr>
      </p:pic>
      <p:sp>
        <p:nvSpPr>
          <p:cNvPr id="54" name="TextBox 53"/>
          <p:cNvSpPr txBox="1"/>
          <p:nvPr/>
        </p:nvSpPr>
        <p:spPr>
          <a:xfrm>
            <a:off x="9419116" y="3606039"/>
            <a:ext cx="2189968" cy="186689"/>
          </a:xfrm>
          <a:prstGeom prst="rect">
            <a:avLst/>
          </a:prstGeom>
          <a:noFill/>
        </p:spPr>
        <p:txBody>
          <a:bodyPr wrap="none" lIns="0" rIns="0" tIns="0" bIns="0">
            <a:spAutoFit/>
          </a:bodyPr>
          <a:lstStyle/>
          <a:p>
            <a:r>
              <a:rPr sz="1100" b="0">
                <a:solidFill>
                  <a:srgbClr val="252423"/>
                </a:solidFill>
                <a:latin typeface="Segoe UI"/>
              </a:rPr>
              <a:t>Mn for the overall lithium polymer</a:t>
            </a:r>
          </a:p>
        </p:txBody>
      </p:sp>
      <p:sp>
        <p:nvSpPr>
          <p:cNvPr id="55" name="TextBox 54"/>
          <p:cNvSpPr txBox="1"/>
          <p:nvPr/>
        </p:nvSpPr>
        <p:spPr>
          <a:xfrm>
            <a:off x="8048625" y="3773679"/>
            <a:ext cx="3238477" cy="186689"/>
          </a:xfrm>
          <a:prstGeom prst="rect">
            <a:avLst/>
          </a:prstGeom>
          <a:noFill/>
        </p:spPr>
        <p:txBody>
          <a:bodyPr wrap="none" lIns="0" rIns="0" tIns="0" bIns="0">
            <a:spAutoFit/>
          </a:bodyPr>
          <a:lstStyle/>
          <a:p>
            <a:r>
              <a:rPr sz="1100" b="0">
                <a:solidFill>
                  <a:srgbClr val="252423"/>
                </a:solidFill>
                <a:latin typeface="Segoe UI"/>
              </a:rPr>
              <a:t>portable energy storage market from 2025 to 2036.</a:t>
            </a:r>
          </a:p>
        </p:txBody>
      </p:sp>
      <p:sp>
        <p:nvSpPr>
          <p:cNvPr id="56" name="TextBox 55"/>
          <p:cNvSpPr txBox="1"/>
          <p:nvPr/>
        </p:nvSpPr>
        <p:spPr>
          <a:xfrm>
            <a:off x="8048625" y="3991611"/>
            <a:ext cx="3072839" cy="186689"/>
          </a:xfrm>
          <a:prstGeom prst="rect">
            <a:avLst/>
          </a:prstGeom>
          <a:noFill/>
        </p:spPr>
        <p:txBody>
          <a:bodyPr wrap="none" lIns="0" rIns="0" tIns="0" bIns="0">
            <a:spAutoFit/>
          </a:bodyPr>
          <a:lstStyle/>
          <a:p>
            <a:r>
              <a:rPr sz="1100" b="0">
                <a:solidFill>
                  <a:srgbClr val="252423"/>
                </a:solidFill>
                <a:latin typeface="Segoe UI"/>
              </a:rPr>
              <a:t>Absolute $ value for 2026 is estimated to be US$</a:t>
            </a:r>
          </a:p>
        </p:txBody>
      </p:sp>
      <p:pic>
        <p:nvPicPr>
          <p:cNvPr id="57" name="Picture 56" descr="lock.png"/>
          <p:cNvPicPr>
            <a:picLocks noChangeAspect="1"/>
          </p:cNvPicPr>
          <p:nvPr/>
        </p:nvPicPr>
        <p:blipFill>
          <a:blip r:embed="rId6"/>
          <a:stretch>
            <a:fillRect/>
          </a:stretch>
        </p:blipFill>
        <p:spPr>
          <a:xfrm>
            <a:off x="11069515" y="3981832"/>
            <a:ext cx="128699" cy="187198"/>
          </a:xfrm>
          <a:prstGeom prst="rect">
            <a:avLst/>
          </a:prstGeom>
        </p:spPr>
      </p:pic>
      <p:sp>
        <p:nvSpPr>
          <p:cNvPr id="58" name="TextBox 57"/>
          <p:cNvSpPr txBox="1"/>
          <p:nvPr/>
        </p:nvSpPr>
        <p:spPr>
          <a:xfrm>
            <a:off x="11237011" y="3991611"/>
            <a:ext cx="311125" cy="186689"/>
          </a:xfrm>
          <a:prstGeom prst="rect">
            <a:avLst/>
          </a:prstGeom>
          <a:noFill/>
        </p:spPr>
        <p:txBody>
          <a:bodyPr wrap="none" lIns="0" rIns="0" tIns="0" bIns="0">
            <a:spAutoFit/>
          </a:bodyPr>
          <a:lstStyle/>
          <a:p>
            <a:r>
              <a:rPr sz="1100" b="0">
                <a:solidFill>
                  <a:srgbClr val="252423"/>
                </a:solidFill>
                <a:latin typeface="Segoe UI"/>
              </a:rPr>
              <a:t>Mn.</a:t>
            </a:r>
          </a:p>
        </p:txBody>
      </p:sp>
      <p:sp>
        <p:nvSpPr>
          <p:cNvPr id="59" name="TextBox 58"/>
          <p:cNvSpPr txBox="1"/>
          <p:nvPr/>
        </p:nvSpPr>
        <p:spPr>
          <a:xfrm>
            <a:off x="8048625" y="5357767"/>
            <a:ext cx="2586545" cy="186689"/>
          </a:xfrm>
          <a:prstGeom prst="rect">
            <a:avLst/>
          </a:prstGeom>
          <a:noFill/>
        </p:spPr>
        <p:txBody>
          <a:bodyPr wrap="none" lIns="0" rIns="0" tIns="0" bIns="0">
            <a:spAutoFit/>
          </a:bodyPr>
          <a:lstStyle/>
          <a:p>
            <a:r>
              <a:rPr sz="1100" b="0">
                <a:solidFill>
                  <a:srgbClr val="252423"/>
                </a:solidFill>
                <a:latin typeface="Segoe UI"/>
              </a:rPr>
              <a:t>▪ 'United States' leads regional growth at</a:t>
            </a:r>
          </a:p>
        </p:txBody>
      </p:sp>
      <p:pic>
        <p:nvPicPr>
          <p:cNvPr id="60" name="Picture 59" descr="lock.png"/>
          <p:cNvPicPr>
            <a:picLocks noChangeAspect="1"/>
          </p:cNvPicPr>
          <p:nvPr/>
        </p:nvPicPr>
        <p:blipFill>
          <a:blip r:embed="rId6"/>
          <a:stretch>
            <a:fillRect/>
          </a:stretch>
        </p:blipFill>
        <p:spPr>
          <a:xfrm>
            <a:off x="10583221" y="5347987"/>
            <a:ext cx="128699" cy="187198"/>
          </a:xfrm>
          <a:prstGeom prst="rect">
            <a:avLst/>
          </a:prstGeom>
        </p:spPr>
      </p:pic>
      <p:sp>
        <p:nvSpPr>
          <p:cNvPr id="61" name="TextBox 60"/>
          <p:cNvSpPr txBox="1"/>
          <p:nvPr/>
        </p:nvSpPr>
        <p:spPr>
          <a:xfrm>
            <a:off x="10750717" y="5357767"/>
            <a:ext cx="462255"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62" name="TextBox 61"/>
          <p:cNvSpPr txBox="1"/>
          <p:nvPr/>
        </p:nvSpPr>
        <p:spPr>
          <a:xfrm>
            <a:off x="8048625" y="5575699"/>
            <a:ext cx="3546292" cy="186689"/>
          </a:xfrm>
          <a:prstGeom prst="rect">
            <a:avLst/>
          </a:prstGeom>
          <a:noFill/>
        </p:spPr>
        <p:txBody>
          <a:bodyPr wrap="none" lIns="0" rIns="0" tIns="0" bIns="0">
            <a:spAutoFit/>
          </a:bodyPr>
          <a:lstStyle/>
          <a:p>
            <a:r>
              <a:rPr sz="1100" b="0">
                <a:solidFill>
                  <a:srgbClr val="252423"/>
                </a:solidFill>
                <a:latin typeface="Segoe UI"/>
              </a:rPr>
              <a:t>▪ Demand concentrates in '1,500 Wh to 2,000 Wh' within</a:t>
            </a:r>
          </a:p>
        </p:txBody>
      </p:sp>
      <p:sp>
        <p:nvSpPr>
          <p:cNvPr id="63" name="TextBox 62"/>
          <p:cNvSpPr txBox="1"/>
          <p:nvPr/>
        </p:nvSpPr>
        <p:spPr>
          <a:xfrm>
            <a:off x="8048625" y="5743339"/>
            <a:ext cx="1607707" cy="186689"/>
          </a:xfrm>
          <a:prstGeom prst="rect">
            <a:avLst/>
          </a:prstGeom>
          <a:noFill/>
        </p:spPr>
        <p:txBody>
          <a:bodyPr wrap="none" lIns="0" rIns="0" tIns="0" bIns="0">
            <a:spAutoFit/>
          </a:bodyPr>
          <a:lstStyle/>
          <a:p>
            <a:r>
              <a:rPr sz="1100" b="0">
                <a:solidFill>
                  <a:srgbClr val="252423"/>
                </a:solidFill>
                <a:latin typeface="Segoe UI"/>
              </a:rPr>
              <a:t>Energy Storage Capacity.</a:t>
            </a:r>
          </a:p>
        </p:txBody>
      </p:sp>
      <p:sp>
        <p:nvSpPr>
          <p:cNvPr id="64" name="TextBox 63"/>
          <p:cNvSpPr txBox="1"/>
          <p:nvPr/>
        </p:nvSpPr>
        <p:spPr>
          <a:xfrm>
            <a:off x="8048625" y="5961271"/>
            <a:ext cx="3396705" cy="186689"/>
          </a:xfrm>
          <a:prstGeom prst="rect">
            <a:avLst/>
          </a:prstGeom>
          <a:noFill/>
        </p:spPr>
        <p:txBody>
          <a:bodyPr wrap="none" lIns="0" rIns="0" tIns="0" bIns="0">
            <a:spAutoFit/>
          </a:bodyPr>
          <a:lstStyle/>
          <a:p>
            <a:r>
              <a:rPr sz="1100" b="0">
                <a:solidFill>
                  <a:srgbClr val="252423"/>
                </a:solidFill>
                <a:latin typeface="Segoe UI"/>
              </a:rPr>
              <a:t>▪ Product innovation and premiumisation lifting value.</a:t>
            </a:r>
          </a:p>
        </p:txBody>
      </p:sp>
      <p:sp>
        <p:nvSpPr>
          <p:cNvPr id="65" name="TextBox 64"/>
          <p:cNvSpPr txBox="1"/>
          <p:nvPr/>
        </p:nvSpPr>
        <p:spPr>
          <a:xfrm>
            <a:off x="8048625" y="6179203"/>
            <a:ext cx="2859256" cy="186689"/>
          </a:xfrm>
          <a:prstGeom prst="rect">
            <a:avLst/>
          </a:prstGeom>
          <a:noFill/>
        </p:spPr>
        <p:txBody>
          <a:bodyPr wrap="none" lIns="0" rIns="0" tIns="0" bIns="0">
            <a:spAutoFit/>
          </a:bodyPr>
          <a:lstStyle/>
          <a:p>
            <a:r>
              <a:rPr sz="1100" b="0">
                <a:solidFill>
                  <a:srgbClr val="252423"/>
                </a:solidFill>
                <a:latin typeface="Segoe UI"/>
              </a:rPr>
              <a:t>▪ Expanding end-use applications and access.</a:t>
            </a:r>
          </a:p>
        </p:txBody>
      </p:sp>
      <p:sp>
        <p:nvSpPr>
          <p:cNvPr id="66"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North America market and the incremental $ opportunity it creates, 2021–2036</a:t>
            </a:r>
          </a:p>
        </p:txBody>
      </p:sp>
      <p:sp>
        <p:nvSpPr>
          <p:cNvPr id="8" name="Rectangle 7"/>
          <p:cNvSpPr/>
          <p:nvPr/>
        </p:nvSpPr>
        <p:spPr>
          <a:xfrm>
            <a:off x="142875" y="981075"/>
            <a:ext cx="4695825" cy="2466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2021–2025 (Historical)</a:t>
            </a:r>
          </a:p>
        </p:txBody>
      </p:sp>
      <p:graphicFrame>
        <p:nvGraphicFramePr>
          <p:cNvPr id="10" name="Chart 9"/>
          <p:cNvGraphicFramePr>
            <a:graphicFrameLocks noGrp="1"/>
          </p:cNvGraphicFramePr>
          <p:nvPr/>
        </p:nvGraphicFramePr>
        <p:xfrm>
          <a:off x="238125" y="1266825"/>
          <a:ext cx="4505325" cy="2124075"/>
        </p:xfrm>
        <a:graphic>
          <a:graphicData uri="http://schemas.openxmlformats.org/drawingml/2006/chart">
            <c:chart xmlns:c="http://schemas.openxmlformats.org/drawingml/2006/chart" r:id="rId3"/>
          </a:graphicData>
        </a:graphic>
      </p:graphicFrame>
      <p:sp>
        <p:nvSpPr>
          <p:cNvPr id="11" name="Rectangle 10"/>
          <p:cNvSpPr/>
          <p:nvPr/>
        </p:nvSpPr>
        <p:spPr>
          <a:xfrm>
            <a:off x="4991100" y="981075"/>
            <a:ext cx="7048500" cy="2466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2026–2036 (Forecast)</a:t>
            </a:r>
          </a:p>
        </p:txBody>
      </p:sp>
      <p:graphicFrame>
        <p:nvGraphicFramePr>
          <p:cNvPr id="13" name="Chart 12"/>
          <p:cNvGraphicFramePr>
            <a:graphicFrameLocks noGrp="1"/>
          </p:cNvGraphicFramePr>
          <p:nvPr/>
        </p:nvGraphicFramePr>
        <p:xfrm>
          <a:off x="5086350" y="1266825"/>
          <a:ext cx="6858000" cy="2124075"/>
        </p:xfrm>
        <a:graphic>
          <a:graphicData uri="http://schemas.openxmlformats.org/drawingml/2006/chart">
            <c:chart xmlns:c="http://schemas.openxmlformats.org/drawingml/2006/chart" r:id="rId4"/>
          </a:graphicData>
        </a:graphic>
      </p:graphicFrame>
      <p:sp>
        <p:nvSpPr>
          <p:cNvPr id="14" name="Rounded Rectangle 13"/>
          <p:cNvSpPr/>
          <p:nvPr/>
        </p:nvSpPr>
        <p:spPr>
          <a:xfrm>
            <a:off x="142875" y="3581400"/>
            <a:ext cx="2514600" cy="6286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 </a:t>
            </a:r>
          </a:p>
        </p:txBody>
      </p:sp>
      <p:sp>
        <p:nvSpPr>
          <p:cNvPr id="15" name="Rounded Rectangle 14"/>
          <p:cNvSpPr/>
          <p:nvPr/>
        </p:nvSpPr>
        <p:spPr>
          <a:xfrm>
            <a:off x="2809875" y="3581400"/>
            <a:ext cx="2514600" cy="6286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 </a:t>
            </a:r>
          </a:p>
        </p:txBody>
      </p:sp>
      <p:sp>
        <p:nvSpPr>
          <p:cNvPr id="16" name="Rounded Rectangle 15"/>
          <p:cNvSpPr/>
          <p:nvPr/>
        </p:nvSpPr>
        <p:spPr>
          <a:xfrm>
            <a:off x="5476875" y="3581400"/>
            <a:ext cx="3200400" cy="6286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 </a:t>
            </a:r>
          </a:p>
        </p:txBody>
      </p:sp>
      <p:sp>
        <p:nvSpPr>
          <p:cNvPr id="17" name="Rounded Rectangle 16"/>
          <p:cNvSpPr/>
          <p:nvPr/>
        </p:nvSpPr>
        <p:spPr>
          <a:xfrm>
            <a:off x="8829675" y="3581400"/>
            <a:ext cx="3200400" cy="6286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 </a:t>
            </a:r>
          </a:p>
        </p:txBody>
      </p:sp>
      <p:sp>
        <p:nvSpPr>
          <p:cNvPr id="18" name="Rectangle 17"/>
          <p:cNvSpPr/>
          <p:nvPr/>
        </p:nvSpPr>
        <p:spPr>
          <a:xfrm>
            <a:off x="142875" y="4343400"/>
            <a:ext cx="11906250" cy="22764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42912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Volume &amp; Value Analysis</a:t>
            </a:r>
          </a:p>
        </p:txBody>
      </p:sp>
      <p:sp>
        <p:nvSpPr>
          <p:cNvPr id="20" name="Rectangle 19"/>
          <p:cNvSpPr/>
          <p:nvPr/>
        </p:nvSpPr>
        <p:spPr>
          <a:xfrm>
            <a:off x="276225" y="46672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752975"/>
            <a:ext cx="11639550" cy="17907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2537139" y="2003193"/>
            <a:ext cx="198954" cy="289388"/>
          </a:xfrm>
          <a:prstGeom prst="rect">
            <a:avLst/>
          </a:prstGeom>
        </p:spPr>
      </p:pic>
      <p:pic>
        <p:nvPicPr>
          <p:cNvPr id="24" name="Picture 23" descr="lock.png"/>
          <p:cNvPicPr>
            <a:picLocks noChangeAspect="1"/>
          </p:cNvPicPr>
          <p:nvPr/>
        </p:nvPicPr>
        <p:blipFill>
          <a:blip r:embed="rId6"/>
          <a:stretch>
            <a:fillRect/>
          </a:stretch>
        </p:blipFill>
        <p:spPr>
          <a:xfrm>
            <a:off x="8534947" y="1964972"/>
            <a:ext cx="251507" cy="365829"/>
          </a:xfrm>
          <a:prstGeom prst="rect">
            <a:avLst/>
          </a:prstGeom>
        </p:spPr>
      </p:pic>
      <p:pic>
        <p:nvPicPr>
          <p:cNvPr id="25" name="Picture 24" descr="lock.png"/>
          <p:cNvPicPr>
            <a:picLocks noChangeAspect="1"/>
          </p:cNvPicPr>
          <p:nvPr/>
        </p:nvPicPr>
        <p:blipFill>
          <a:blip r:embed="rId6"/>
          <a:stretch>
            <a:fillRect/>
          </a:stretch>
        </p:blipFill>
        <p:spPr>
          <a:xfrm>
            <a:off x="1321594" y="3865245"/>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865245"/>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865245"/>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865245"/>
            <a:ext cx="157162" cy="228600"/>
          </a:xfrm>
          <a:prstGeom prst="rect">
            <a:avLst/>
          </a:prstGeom>
        </p:spPr>
      </p:pic>
      <p:sp>
        <p:nvSpPr>
          <p:cNvPr id="29" name="TextBox 28"/>
          <p:cNvSpPr txBox="1"/>
          <p:nvPr/>
        </p:nvSpPr>
        <p:spPr>
          <a:xfrm>
            <a:off x="276225" y="4762500"/>
            <a:ext cx="6231627" cy="194310"/>
          </a:xfrm>
          <a:prstGeom prst="rect">
            <a:avLst/>
          </a:prstGeom>
          <a:noFill/>
        </p:spPr>
        <p:txBody>
          <a:bodyPr wrap="none" lIns="0" rIns="0" tIns="0" bIns="0">
            <a:spAutoFit/>
          </a:bodyPr>
          <a:lstStyle/>
          <a:p>
            <a:r>
              <a:rPr sz="1150" b="0">
                <a:solidFill>
                  <a:srgbClr val="252423"/>
                </a:solidFill>
                <a:latin typeface="Segoe UI"/>
              </a:rPr>
              <a:t>Lithium polymer portable energy storage market value in North America is expected to increase</a:t>
            </a:r>
          </a:p>
        </p:txBody>
      </p:sp>
      <p:pic>
        <p:nvPicPr>
          <p:cNvPr id="30" name="Picture 29" descr="lock.png"/>
          <p:cNvPicPr>
            <a:picLocks noChangeAspect="1"/>
          </p:cNvPicPr>
          <p:nvPr/>
        </p:nvPicPr>
        <p:blipFill>
          <a:blip r:embed="rId6"/>
          <a:stretch>
            <a:fillRect/>
          </a:stretch>
        </p:blipFill>
        <p:spPr>
          <a:xfrm>
            <a:off x="6457006" y="4752276"/>
            <a:ext cx="134549" cy="195707"/>
          </a:xfrm>
          <a:prstGeom prst="rect">
            <a:avLst/>
          </a:prstGeom>
        </p:spPr>
      </p:pic>
      <p:sp>
        <p:nvSpPr>
          <p:cNvPr id="31" name="TextBox 30"/>
          <p:cNvSpPr txBox="1"/>
          <p:nvPr/>
        </p:nvSpPr>
        <p:spPr>
          <a:xfrm>
            <a:off x="6632115" y="4762500"/>
            <a:ext cx="5226182" cy="194310"/>
          </a:xfrm>
          <a:prstGeom prst="rect">
            <a:avLst/>
          </a:prstGeom>
          <a:noFill/>
        </p:spPr>
        <p:txBody>
          <a:bodyPr wrap="none" lIns="0" rIns="0" tIns="0" bIns="0">
            <a:spAutoFit/>
          </a:bodyPr>
          <a:lstStyle/>
          <a:p>
            <a:r>
              <a:rPr sz="1150" b="0">
                <a:solidFill>
                  <a:srgbClr val="252423"/>
                </a:solidFill>
                <a:latin typeface="Segoe UI"/>
              </a:rPr>
              <a:t>X between 2025 and 2036. In 2025, the lithium polymer portable energy storage</a:t>
            </a:r>
          </a:p>
        </p:txBody>
      </p:sp>
      <p:sp>
        <p:nvSpPr>
          <p:cNvPr id="32" name="TextBox 31"/>
          <p:cNvSpPr txBox="1"/>
          <p:nvPr/>
        </p:nvSpPr>
        <p:spPr>
          <a:xfrm>
            <a:off x="276225" y="4937760"/>
            <a:ext cx="2873952" cy="194310"/>
          </a:xfrm>
          <a:prstGeom prst="rect">
            <a:avLst/>
          </a:prstGeom>
          <a:noFill/>
        </p:spPr>
        <p:txBody>
          <a:bodyPr wrap="none" lIns="0" rIns="0" tIns="0" bIns="0">
            <a:spAutoFit/>
          </a:bodyPr>
          <a:lstStyle/>
          <a:p>
            <a:r>
              <a:rPr sz="1150" b="0">
                <a:solidFill>
                  <a:srgbClr val="252423"/>
                </a:solidFill>
                <a:latin typeface="Segoe UI"/>
              </a:rPr>
              <a:t>market in North America was valued at US$</a:t>
            </a:r>
          </a:p>
        </p:txBody>
      </p:sp>
      <p:pic>
        <p:nvPicPr>
          <p:cNvPr id="33" name="Picture 32" descr="lock.png"/>
          <p:cNvPicPr>
            <a:picLocks noChangeAspect="1"/>
          </p:cNvPicPr>
          <p:nvPr/>
        </p:nvPicPr>
        <p:blipFill>
          <a:blip r:embed="rId6"/>
          <a:stretch>
            <a:fillRect/>
          </a:stretch>
        </p:blipFill>
        <p:spPr>
          <a:xfrm>
            <a:off x="3099331" y="4927536"/>
            <a:ext cx="134549" cy="195707"/>
          </a:xfrm>
          <a:prstGeom prst="rect">
            <a:avLst/>
          </a:prstGeom>
        </p:spPr>
      </p:pic>
      <p:sp>
        <p:nvSpPr>
          <p:cNvPr id="34" name="TextBox 33"/>
          <p:cNvSpPr txBox="1"/>
          <p:nvPr/>
        </p:nvSpPr>
        <p:spPr>
          <a:xfrm>
            <a:off x="3274440" y="4937760"/>
            <a:ext cx="2630327" cy="194310"/>
          </a:xfrm>
          <a:prstGeom prst="rect">
            <a:avLst/>
          </a:prstGeom>
          <a:noFill/>
        </p:spPr>
        <p:txBody>
          <a:bodyPr wrap="none" lIns="0" rIns="0" tIns="0" bIns="0">
            <a:spAutoFit/>
          </a:bodyPr>
          <a:lstStyle/>
          <a:p>
            <a:r>
              <a:rPr sz="1150" b="0">
                <a:solidFill>
                  <a:srgbClr val="252423"/>
                </a:solidFill>
                <a:latin typeface="Segoe UI"/>
              </a:rPr>
              <a:t>Mn and is estimated to account for US$</a:t>
            </a:r>
          </a:p>
        </p:txBody>
      </p:sp>
      <p:pic>
        <p:nvPicPr>
          <p:cNvPr id="35" name="Picture 34" descr="lock.png"/>
          <p:cNvPicPr>
            <a:picLocks noChangeAspect="1"/>
          </p:cNvPicPr>
          <p:nvPr/>
        </p:nvPicPr>
        <p:blipFill>
          <a:blip r:embed="rId6"/>
          <a:stretch>
            <a:fillRect/>
          </a:stretch>
        </p:blipFill>
        <p:spPr>
          <a:xfrm>
            <a:off x="5853922" y="4927536"/>
            <a:ext cx="134549" cy="195707"/>
          </a:xfrm>
          <a:prstGeom prst="rect">
            <a:avLst/>
          </a:prstGeom>
        </p:spPr>
      </p:pic>
      <p:sp>
        <p:nvSpPr>
          <p:cNvPr id="36" name="TextBox 35"/>
          <p:cNvSpPr txBox="1"/>
          <p:nvPr/>
        </p:nvSpPr>
        <p:spPr>
          <a:xfrm>
            <a:off x="6029031" y="4937760"/>
            <a:ext cx="3705324" cy="194310"/>
          </a:xfrm>
          <a:prstGeom prst="rect">
            <a:avLst/>
          </a:prstGeom>
          <a:noFill/>
        </p:spPr>
        <p:txBody>
          <a:bodyPr wrap="none" lIns="0" rIns="0" tIns="0" bIns="0">
            <a:spAutoFit/>
          </a:bodyPr>
          <a:lstStyle/>
          <a:p>
            <a:r>
              <a:rPr sz="1150" b="0">
                <a:solidFill>
                  <a:srgbClr val="252423"/>
                </a:solidFill>
                <a:latin typeface="Segoe UI"/>
              </a:rPr>
              <a:t>Mn by the end of 2026, reflecting a Y-o-Y growth rate of</a:t>
            </a:r>
          </a:p>
        </p:txBody>
      </p:sp>
      <p:pic>
        <p:nvPicPr>
          <p:cNvPr id="37" name="Picture 36" descr="lock.png"/>
          <p:cNvPicPr>
            <a:picLocks noChangeAspect="1"/>
          </p:cNvPicPr>
          <p:nvPr/>
        </p:nvPicPr>
        <p:blipFill>
          <a:blip r:embed="rId6"/>
          <a:stretch>
            <a:fillRect/>
          </a:stretch>
        </p:blipFill>
        <p:spPr>
          <a:xfrm>
            <a:off x="9683510" y="4927536"/>
            <a:ext cx="134549" cy="195707"/>
          </a:xfrm>
          <a:prstGeom prst="rect">
            <a:avLst/>
          </a:prstGeom>
        </p:spPr>
      </p:pic>
      <p:sp>
        <p:nvSpPr>
          <p:cNvPr id="38" name="TextBox 37"/>
          <p:cNvSpPr txBox="1"/>
          <p:nvPr/>
        </p:nvSpPr>
        <p:spPr>
          <a:xfrm>
            <a:off x="9858619" y="4937760"/>
            <a:ext cx="1449149" cy="194310"/>
          </a:xfrm>
          <a:prstGeom prst="rect">
            <a:avLst/>
          </a:prstGeom>
          <a:noFill/>
        </p:spPr>
        <p:txBody>
          <a:bodyPr wrap="none" lIns="0" rIns="0" tIns="0" bIns="0">
            <a:spAutoFit/>
          </a:bodyPr>
          <a:lstStyle/>
          <a:p>
            <a:r>
              <a:rPr sz="1150" b="0">
                <a:solidFill>
                  <a:srgbClr val="252423"/>
                </a:solidFill>
                <a:latin typeface="Segoe UI"/>
              </a:rPr>
              <a:t>. The market in North</a:t>
            </a:r>
          </a:p>
        </p:txBody>
      </p:sp>
      <p:sp>
        <p:nvSpPr>
          <p:cNvPr id="39" name="TextBox 38"/>
          <p:cNvSpPr txBox="1"/>
          <p:nvPr/>
        </p:nvSpPr>
        <p:spPr>
          <a:xfrm>
            <a:off x="276225" y="5113020"/>
            <a:ext cx="2607507" cy="194310"/>
          </a:xfrm>
          <a:prstGeom prst="rect">
            <a:avLst/>
          </a:prstGeom>
          <a:noFill/>
        </p:spPr>
        <p:txBody>
          <a:bodyPr wrap="none" lIns="0" rIns="0" tIns="0" bIns="0">
            <a:spAutoFit/>
          </a:bodyPr>
          <a:lstStyle/>
          <a:p>
            <a:r>
              <a:rPr sz="1150" b="0">
                <a:solidFill>
                  <a:srgbClr val="252423"/>
                </a:solidFill>
                <a:latin typeface="Segoe UI"/>
              </a:rPr>
              <a:t>America is expected to account for US$</a:t>
            </a:r>
          </a:p>
        </p:txBody>
      </p:sp>
      <p:pic>
        <p:nvPicPr>
          <p:cNvPr id="40" name="Picture 39" descr="lock.png"/>
          <p:cNvPicPr>
            <a:picLocks noChangeAspect="1"/>
          </p:cNvPicPr>
          <p:nvPr/>
        </p:nvPicPr>
        <p:blipFill>
          <a:blip r:embed="rId6"/>
          <a:stretch>
            <a:fillRect/>
          </a:stretch>
        </p:blipFill>
        <p:spPr>
          <a:xfrm>
            <a:off x="2832886" y="5102796"/>
            <a:ext cx="134549" cy="195707"/>
          </a:xfrm>
          <a:prstGeom prst="rect">
            <a:avLst/>
          </a:prstGeom>
        </p:spPr>
      </p:pic>
      <p:sp>
        <p:nvSpPr>
          <p:cNvPr id="41" name="TextBox 40"/>
          <p:cNvSpPr txBox="1"/>
          <p:nvPr/>
        </p:nvSpPr>
        <p:spPr>
          <a:xfrm>
            <a:off x="3007995" y="5113020"/>
            <a:ext cx="1702931" cy="194310"/>
          </a:xfrm>
          <a:prstGeom prst="rect">
            <a:avLst/>
          </a:prstGeom>
          <a:noFill/>
        </p:spPr>
        <p:txBody>
          <a:bodyPr wrap="none" lIns="0" rIns="0" tIns="0" bIns="0">
            <a:spAutoFit/>
          </a:bodyPr>
          <a:lstStyle/>
          <a:p>
            <a:r>
              <a:rPr sz="1150" b="0">
                <a:solidFill>
                  <a:srgbClr val="252423"/>
                </a:solidFill>
                <a:latin typeface="Segoe UI"/>
              </a:rPr>
              <a:t>Mn by 2036 at a CAGR of</a:t>
            </a:r>
          </a:p>
        </p:txBody>
      </p:sp>
      <p:pic>
        <p:nvPicPr>
          <p:cNvPr id="42" name="Picture 41" descr="lock.png"/>
          <p:cNvPicPr>
            <a:picLocks noChangeAspect="1"/>
          </p:cNvPicPr>
          <p:nvPr/>
        </p:nvPicPr>
        <p:blipFill>
          <a:blip r:embed="rId6"/>
          <a:stretch>
            <a:fillRect/>
          </a:stretch>
        </p:blipFill>
        <p:spPr>
          <a:xfrm>
            <a:off x="4660081" y="5102796"/>
            <a:ext cx="134549" cy="195707"/>
          </a:xfrm>
          <a:prstGeom prst="rect">
            <a:avLst/>
          </a:prstGeom>
        </p:spPr>
      </p:pic>
      <p:sp>
        <p:nvSpPr>
          <p:cNvPr id="43" name="TextBox 42"/>
          <p:cNvSpPr txBox="1"/>
          <p:nvPr/>
        </p:nvSpPr>
        <p:spPr>
          <a:xfrm>
            <a:off x="4835190" y="511302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4" name="TextBox 43"/>
          <p:cNvSpPr txBox="1"/>
          <p:nvPr/>
        </p:nvSpPr>
        <p:spPr>
          <a:xfrm>
            <a:off x="276225" y="5340857"/>
            <a:ext cx="4658496" cy="194310"/>
          </a:xfrm>
          <a:prstGeom prst="rect">
            <a:avLst/>
          </a:prstGeom>
          <a:noFill/>
        </p:spPr>
        <p:txBody>
          <a:bodyPr wrap="none" lIns="0" rIns="0" tIns="0" bIns="0">
            <a:spAutoFit/>
          </a:bodyPr>
          <a:lstStyle/>
          <a:p>
            <a:r>
              <a:rPr sz="1150" b="0">
                <a:solidFill>
                  <a:srgbClr val="252423"/>
                </a:solidFill>
                <a:latin typeface="Segoe UI"/>
              </a:rPr>
              <a:t>North America is expected to create an incremental opportunity of US$</a:t>
            </a:r>
          </a:p>
        </p:txBody>
      </p:sp>
      <p:pic>
        <p:nvPicPr>
          <p:cNvPr id="45" name="Picture 44" descr="lock.png"/>
          <p:cNvPicPr>
            <a:picLocks noChangeAspect="1"/>
          </p:cNvPicPr>
          <p:nvPr/>
        </p:nvPicPr>
        <p:blipFill>
          <a:blip r:embed="rId6"/>
          <a:stretch>
            <a:fillRect/>
          </a:stretch>
        </p:blipFill>
        <p:spPr>
          <a:xfrm>
            <a:off x="4883875" y="5330634"/>
            <a:ext cx="134549" cy="195707"/>
          </a:xfrm>
          <a:prstGeom prst="rect">
            <a:avLst/>
          </a:prstGeom>
        </p:spPr>
      </p:pic>
      <p:sp>
        <p:nvSpPr>
          <p:cNvPr id="46" name="TextBox 45"/>
          <p:cNvSpPr txBox="1"/>
          <p:nvPr/>
        </p:nvSpPr>
        <p:spPr>
          <a:xfrm>
            <a:off x="5058984" y="5340857"/>
            <a:ext cx="6741010" cy="194310"/>
          </a:xfrm>
          <a:prstGeom prst="rect">
            <a:avLst/>
          </a:prstGeom>
          <a:noFill/>
        </p:spPr>
        <p:txBody>
          <a:bodyPr wrap="none" lIns="0" rIns="0" tIns="0" bIns="0">
            <a:spAutoFit/>
          </a:bodyPr>
          <a:lstStyle/>
          <a:p>
            <a:r>
              <a:rPr sz="1150" b="0">
                <a:solidFill>
                  <a:srgbClr val="252423"/>
                </a:solidFill>
                <a:latin typeface="Segoe UI"/>
              </a:rPr>
              <a:t>Mn for the overall lithium polymer portable energy storage market from 2025 to 2036. Absolute $ value</a:t>
            </a:r>
          </a:p>
        </p:txBody>
      </p:sp>
      <p:sp>
        <p:nvSpPr>
          <p:cNvPr id="47" name="TextBox 46"/>
          <p:cNvSpPr txBox="1"/>
          <p:nvPr/>
        </p:nvSpPr>
        <p:spPr>
          <a:xfrm>
            <a:off x="276225" y="5516117"/>
            <a:ext cx="2100040" cy="194310"/>
          </a:xfrm>
          <a:prstGeom prst="rect">
            <a:avLst/>
          </a:prstGeom>
          <a:noFill/>
        </p:spPr>
        <p:txBody>
          <a:bodyPr wrap="none" lIns="0" rIns="0" tIns="0" bIns="0">
            <a:spAutoFit/>
          </a:bodyPr>
          <a:lstStyle/>
          <a:p>
            <a:r>
              <a:rPr sz="1150" b="0">
                <a:solidFill>
                  <a:srgbClr val="252423"/>
                </a:solidFill>
                <a:latin typeface="Segoe UI"/>
              </a:rPr>
              <a:t>for 2026 is estimated to be US$</a:t>
            </a:r>
          </a:p>
        </p:txBody>
      </p:sp>
      <p:pic>
        <p:nvPicPr>
          <p:cNvPr id="48" name="Picture 47" descr="lock.png"/>
          <p:cNvPicPr>
            <a:picLocks noChangeAspect="1"/>
          </p:cNvPicPr>
          <p:nvPr/>
        </p:nvPicPr>
        <p:blipFill>
          <a:blip r:embed="rId6"/>
          <a:stretch>
            <a:fillRect/>
          </a:stretch>
        </p:blipFill>
        <p:spPr>
          <a:xfrm>
            <a:off x="2325419" y="5505894"/>
            <a:ext cx="134549" cy="195707"/>
          </a:xfrm>
          <a:prstGeom prst="rect">
            <a:avLst/>
          </a:prstGeom>
        </p:spPr>
      </p:pic>
      <p:sp>
        <p:nvSpPr>
          <p:cNvPr id="49" name="TextBox 48"/>
          <p:cNvSpPr txBox="1"/>
          <p:nvPr/>
        </p:nvSpPr>
        <p:spPr>
          <a:xfrm>
            <a:off x="2500529" y="5516117"/>
            <a:ext cx="5936950" cy="194310"/>
          </a:xfrm>
          <a:prstGeom prst="rect">
            <a:avLst/>
          </a:prstGeom>
          <a:noFill/>
        </p:spPr>
        <p:txBody>
          <a:bodyPr wrap="none" lIns="0" rIns="0" tIns="0" bIns="0">
            <a:spAutoFit/>
          </a:bodyPr>
          <a:lstStyle/>
          <a:p>
            <a:r>
              <a:rPr sz="1150" b="0">
                <a:solidFill>
                  <a:srgbClr val="252423"/>
                </a:solidFill>
                <a:latin typeface="Segoe UI"/>
              </a:rPr>
              <a:t>Mn. North America lithium polymer portable energy storage market is projected to register</a:t>
            </a:r>
          </a:p>
        </p:txBody>
      </p:sp>
      <p:pic>
        <p:nvPicPr>
          <p:cNvPr id="50" name="Picture 49" descr="lock.png"/>
          <p:cNvPicPr>
            <a:picLocks noChangeAspect="1"/>
          </p:cNvPicPr>
          <p:nvPr/>
        </p:nvPicPr>
        <p:blipFill>
          <a:blip r:embed="rId6"/>
          <a:stretch>
            <a:fillRect/>
          </a:stretch>
        </p:blipFill>
        <p:spPr>
          <a:xfrm>
            <a:off x="8386633" y="5505894"/>
            <a:ext cx="134549" cy="195707"/>
          </a:xfrm>
          <a:prstGeom prst="rect">
            <a:avLst/>
          </a:prstGeom>
        </p:spPr>
      </p:pic>
      <p:sp>
        <p:nvSpPr>
          <p:cNvPr id="51" name="TextBox 50"/>
          <p:cNvSpPr txBox="1"/>
          <p:nvPr/>
        </p:nvSpPr>
        <p:spPr>
          <a:xfrm>
            <a:off x="8561743" y="5516117"/>
            <a:ext cx="2855312" cy="194310"/>
          </a:xfrm>
          <a:prstGeom prst="rect">
            <a:avLst/>
          </a:prstGeom>
          <a:noFill/>
        </p:spPr>
        <p:txBody>
          <a:bodyPr wrap="none" lIns="0" rIns="0" tIns="0" bIns="0">
            <a:spAutoFit/>
          </a:bodyPr>
          <a:lstStyle/>
          <a:p>
            <a:r>
              <a:rPr sz="1150" b="0">
                <a:solidFill>
                  <a:srgbClr val="252423"/>
                </a:solidFill>
                <a:latin typeface="Segoe UI"/>
              </a:rPr>
              <a:t>X increase in volume by the end of forecast</a:t>
            </a:r>
          </a:p>
        </p:txBody>
      </p:sp>
      <p:sp>
        <p:nvSpPr>
          <p:cNvPr id="52" name="TextBox 51"/>
          <p:cNvSpPr txBox="1"/>
          <p:nvPr/>
        </p:nvSpPr>
        <p:spPr>
          <a:xfrm>
            <a:off x="276225" y="5691377"/>
            <a:ext cx="914561" cy="194310"/>
          </a:xfrm>
          <a:prstGeom prst="rect">
            <a:avLst/>
          </a:prstGeom>
          <a:noFill/>
        </p:spPr>
        <p:txBody>
          <a:bodyPr wrap="none" lIns="0" rIns="0" tIns="0" bIns="0">
            <a:spAutoFit/>
          </a:bodyPr>
          <a:lstStyle/>
          <a:p>
            <a:r>
              <a:rPr sz="1150" b="0">
                <a:solidFill>
                  <a:srgbClr val="252423"/>
                </a:solidFill>
                <a:latin typeface="Segoe UI"/>
              </a:rPr>
              <a:t>period, 2036.</a:t>
            </a:r>
          </a:p>
        </p:txBody>
      </p:sp>
      <p:sp>
        <p:nvSpPr>
          <p:cNvPr id="53" name="TextBox 52"/>
          <p:cNvSpPr txBox="1"/>
          <p:nvPr/>
        </p:nvSpPr>
        <p:spPr>
          <a:xfrm>
            <a:off x="276225" y="5919215"/>
            <a:ext cx="5246435" cy="194310"/>
          </a:xfrm>
          <a:prstGeom prst="rect">
            <a:avLst/>
          </a:prstGeom>
          <a:noFill/>
        </p:spPr>
        <p:txBody>
          <a:bodyPr wrap="none" lIns="0" rIns="0" tIns="0" bIns="0">
            <a:spAutoFit/>
          </a:bodyPr>
          <a:lstStyle/>
          <a:p>
            <a:r>
              <a:rPr sz="1150" b="0">
                <a:solidFill>
                  <a:srgbClr val="252423"/>
                </a:solidFill>
                <a:latin typeface="Segoe UI"/>
              </a:rPr>
              <a:t>North America lithium polymer portable energy storage market volume stood at</a:t>
            </a:r>
          </a:p>
        </p:txBody>
      </p:sp>
      <p:pic>
        <p:nvPicPr>
          <p:cNvPr id="54" name="Picture 53" descr="lock.png"/>
          <p:cNvPicPr>
            <a:picLocks noChangeAspect="1"/>
          </p:cNvPicPr>
          <p:nvPr/>
        </p:nvPicPr>
        <p:blipFill>
          <a:blip r:embed="rId6"/>
          <a:stretch>
            <a:fillRect/>
          </a:stretch>
        </p:blipFill>
        <p:spPr>
          <a:xfrm>
            <a:off x="5471814" y="5908992"/>
            <a:ext cx="134549" cy="195707"/>
          </a:xfrm>
          <a:prstGeom prst="rect">
            <a:avLst/>
          </a:prstGeom>
        </p:spPr>
      </p:pic>
      <p:sp>
        <p:nvSpPr>
          <p:cNvPr id="55" name="TextBox 54"/>
          <p:cNvSpPr txBox="1"/>
          <p:nvPr/>
        </p:nvSpPr>
        <p:spPr>
          <a:xfrm>
            <a:off x="5646924" y="5919215"/>
            <a:ext cx="3204797" cy="194310"/>
          </a:xfrm>
          <a:prstGeom prst="rect">
            <a:avLst/>
          </a:prstGeom>
          <a:noFill/>
        </p:spPr>
        <p:txBody>
          <a:bodyPr wrap="none" lIns="0" rIns="0" tIns="0" bIns="0">
            <a:spAutoFit/>
          </a:bodyPr>
          <a:lstStyle/>
          <a:p>
            <a:r>
              <a:rPr sz="1150" b="0">
                <a:solidFill>
                  <a:srgbClr val="252423"/>
                </a:solidFill>
                <a:latin typeface="Segoe UI"/>
              </a:rPr>
              <a:t>Thousand Units in 2025 and is expected to reach</a:t>
            </a:r>
          </a:p>
        </p:txBody>
      </p:sp>
      <p:pic>
        <p:nvPicPr>
          <p:cNvPr id="56" name="Picture 55" descr="lock.png"/>
          <p:cNvPicPr>
            <a:picLocks noChangeAspect="1"/>
          </p:cNvPicPr>
          <p:nvPr/>
        </p:nvPicPr>
        <p:blipFill>
          <a:blip r:embed="rId6"/>
          <a:stretch>
            <a:fillRect/>
          </a:stretch>
        </p:blipFill>
        <p:spPr>
          <a:xfrm>
            <a:off x="8800876" y="5908992"/>
            <a:ext cx="134549" cy="195707"/>
          </a:xfrm>
          <a:prstGeom prst="rect">
            <a:avLst/>
          </a:prstGeom>
        </p:spPr>
      </p:pic>
      <p:sp>
        <p:nvSpPr>
          <p:cNvPr id="57" name="TextBox 56"/>
          <p:cNvSpPr txBox="1"/>
          <p:nvPr/>
        </p:nvSpPr>
        <p:spPr>
          <a:xfrm>
            <a:off x="8975985" y="5919215"/>
            <a:ext cx="2637463" cy="194310"/>
          </a:xfrm>
          <a:prstGeom prst="rect">
            <a:avLst/>
          </a:prstGeom>
          <a:noFill/>
        </p:spPr>
        <p:txBody>
          <a:bodyPr wrap="none" lIns="0" rIns="0" tIns="0" bIns="0">
            <a:spAutoFit/>
          </a:bodyPr>
          <a:lstStyle/>
          <a:p>
            <a:r>
              <a:rPr sz="1150" b="0">
                <a:solidFill>
                  <a:srgbClr val="252423"/>
                </a:solidFill>
                <a:latin typeface="Segoe UI"/>
              </a:rPr>
              <a:t>Thousand Units by 2036 end, at a CAGR</a:t>
            </a:r>
          </a:p>
        </p:txBody>
      </p:sp>
      <p:sp>
        <p:nvSpPr>
          <p:cNvPr id="58" name="TextBox 57"/>
          <p:cNvSpPr txBox="1"/>
          <p:nvPr/>
        </p:nvSpPr>
        <p:spPr>
          <a:xfrm>
            <a:off x="276225" y="6094475"/>
            <a:ext cx="207376" cy="194310"/>
          </a:xfrm>
          <a:prstGeom prst="rect">
            <a:avLst/>
          </a:prstGeom>
          <a:noFill/>
        </p:spPr>
        <p:txBody>
          <a:bodyPr wrap="none" lIns="0" rIns="0" tIns="0" bIns="0">
            <a:spAutoFit/>
          </a:bodyPr>
          <a:lstStyle/>
          <a:p>
            <a:r>
              <a:rPr sz="1150" b="0">
                <a:solidFill>
                  <a:srgbClr val="252423"/>
                </a:solidFill>
                <a:latin typeface="Segoe UI"/>
              </a:rPr>
              <a:t>of</a:t>
            </a:r>
          </a:p>
        </p:txBody>
      </p:sp>
      <p:pic>
        <p:nvPicPr>
          <p:cNvPr id="59" name="Picture 58" descr="lock.png"/>
          <p:cNvPicPr>
            <a:picLocks noChangeAspect="1"/>
          </p:cNvPicPr>
          <p:nvPr/>
        </p:nvPicPr>
        <p:blipFill>
          <a:blip r:embed="rId6"/>
          <a:stretch>
            <a:fillRect/>
          </a:stretch>
        </p:blipFill>
        <p:spPr>
          <a:xfrm>
            <a:off x="432755" y="6084252"/>
            <a:ext cx="134549" cy="195707"/>
          </a:xfrm>
          <a:prstGeom prst="rect">
            <a:avLst/>
          </a:prstGeom>
        </p:spPr>
      </p:pic>
      <p:sp>
        <p:nvSpPr>
          <p:cNvPr id="60" name="TextBox 59"/>
          <p:cNvSpPr txBox="1"/>
          <p:nvPr/>
        </p:nvSpPr>
        <p:spPr>
          <a:xfrm>
            <a:off x="607864" y="6094475"/>
            <a:ext cx="7621049" cy="194310"/>
          </a:xfrm>
          <a:prstGeom prst="rect">
            <a:avLst/>
          </a:prstGeom>
          <a:noFill/>
        </p:spPr>
        <p:txBody>
          <a:bodyPr wrap="none" lIns="0" rIns="0" tIns="0" bIns="0">
            <a:spAutoFit/>
          </a:bodyPr>
          <a:lstStyle/>
          <a:p>
            <a:r>
              <a:rPr sz="1150" b="0">
                <a:solidFill>
                  <a:srgbClr val="252423"/>
                </a:solidFill>
                <a:latin typeface="Segoe UI"/>
              </a:rPr>
              <a:t>. Value is projected to grow faster than volume over the forecast period, owing to an increase in average selling price.</a:t>
            </a:r>
          </a:p>
        </p:txBody>
      </p:sp>
      <p:sp>
        <p:nvSpPr>
          <p:cNvPr id="61" name="lockshield_10"/>
          <p:cNvSpPr/>
          <p:nvPr/>
        </p:nvSpPr>
        <p:spPr>
          <a:xfrm>
            <a:off x="238125" y="1266825"/>
            <a:ext cx="4505325" cy="21240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3"/>
          <p:cNvSpPr/>
          <p:nvPr/>
        </p:nvSpPr>
        <p:spPr>
          <a:xfrm>
            <a:off x="5086350" y="1266825"/>
            <a:ext cx="6858000" cy="21240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0"/>
        </p:xfrm>
        <a:graphic>
          <a:graphicData uri="http://schemas.openxmlformats.org/drawingml/2006/table">
            <a:tbl>
              <a:tblPr>
                <a:tableStyleId>{5C22544A-7EE6-4342-B048-85BDC9FD1C3A}</a:tableStyleId>
              </a:tblPr>
              <a:tblGrid>
                <a:gridCol w="1058924"/>
                <a:gridCol w="954484"/>
                <a:gridCol w="653902"/>
                <a:gridCol w="1247465"/>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628648">
                <a:tc>
                  <a:txBody>
                    <a:bodyPr wrap="none"/>
                    <a:lstStyle/>
                    <a:p>
                      <a:pPr algn="l"/>
                      <a:r>
                        <a:rPr sz="1100" b="1">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8648">
                <a:tc>
                  <a:txBody>
                    <a:bodyPr wrap="none"/>
                    <a:lstStyle/>
                    <a:p>
                      <a:pPr algn="l"/>
                      <a:r>
                        <a:rPr sz="1100" b="1">
                          <a:solidFill>
                            <a:srgbClr val="252423"/>
                          </a:solidFill>
                          <a:latin typeface="Segoe UI"/>
                        </a:rPr>
                        <a:t>Mexico</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628648">
                <a:tc>
                  <a:txBody>
                    <a:bodyPr wrap="none"/>
                    <a:lstStyle/>
                    <a:p>
                      <a:pPr algn="l"/>
                      <a:r>
                        <a:rPr sz="1100" b="1">
                          <a:solidFill>
                            <a:srgbClr val="252423"/>
                          </a:solidFill>
                          <a:latin typeface="Segoe U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2827202"/>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United States</a:t>
            </a:r>
          </a:p>
          <a:p>
            <a:pPr algn="ctr"/>
            <a:r>
              <a:rPr sz="1100" b="0">
                <a:solidFill>
                  <a:srgbClr val="FFFFFF"/>
                </a:solidFill>
                <a:latin typeface="Segoe UI"/>
              </a:rPr>
              <a:t> </a:t>
            </a:r>
          </a:p>
        </p:txBody>
      </p:sp>
      <p:sp>
        <p:nvSpPr>
          <p:cNvPr id="17" name="Rectangle 16"/>
          <p:cNvSpPr/>
          <p:nvPr/>
        </p:nvSpPr>
        <p:spPr>
          <a:xfrm>
            <a:off x="4210050" y="4120213"/>
            <a:ext cx="2257642" cy="1758397"/>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8" name="Rectangle 17"/>
          <p:cNvSpPr/>
          <p:nvPr/>
        </p:nvSpPr>
        <p:spPr>
          <a:xfrm>
            <a:off x="6467692" y="4120213"/>
            <a:ext cx="1485683" cy="1758397"/>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19" name="Rectangle 18"/>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2" name="Rectangle 21"/>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8096250" y="3547710"/>
          <a:ext cx="3914774" cy="2159448"/>
        </p:xfrm>
        <a:graphic>
          <a:graphicData uri="http://schemas.openxmlformats.org/drawingml/2006/table">
            <a:tbl>
              <a:tblPr>
                <a:tableStyleId>{5C22544A-7EE6-4342-B048-85BDC9FD1C3A}</a:tableStyleId>
              </a:tblPr>
              <a:tblGrid>
                <a:gridCol w="1019589"/>
                <a:gridCol w="1113736"/>
                <a:gridCol w="622102"/>
                <a:gridCol w="1159347"/>
              </a:tblGrid>
              <a:tr h="438912">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573512">
                <a:tc>
                  <a:txBody>
                    <a:bodyPr wrap="none"/>
                    <a:lstStyle/>
                    <a:p>
                      <a:pPr algn="l"/>
                      <a:r>
                        <a:rPr sz="1100" b="1">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73512">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573512">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4" name="TextBox 23"/>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5" name="Rectangle 24"/>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3188017" y="2125483"/>
            <a:ext cx="183356" cy="266700"/>
          </a:xfrm>
          <a:prstGeom prst="rect">
            <a:avLst/>
          </a:prstGeom>
        </p:spPr>
      </p:pic>
      <p:pic>
        <p:nvPicPr>
          <p:cNvPr id="28" name="Picture 27" descr="lock.png"/>
          <p:cNvPicPr>
            <a:picLocks noChangeAspect="1"/>
          </p:cNvPicPr>
          <p:nvPr/>
        </p:nvPicPr>
        <p:blipFill>
          <a:blip r:embed="rId6"/>
          <a:stretch>
            <a:fillRect/>
          </a:stretch>
        </p:blipFill>
        <p:spPr>
          <a:xfrm>
            <a:off x="2471109" y="4514862"/>
            <a:ext cx="330274" cy="480399"/>
          </a:xfrm>
          <a:prstGeom prst="rect">
            <a:avLst/>
          </a:prstGeom>
        </p:spPr>
      </p:pic>
      <p:pic>
        <p:nvPicPr>
          <p:cNvPr id="29" name="Picture 28" descr="lock.png"/>
          <p:cNvPicPr>
            <a:picLocks noChangeAspect="1"/>
          </p:cNvPicPr>
          <p:nvPr/>
        </p:nvPicPr>
        <p:blipFill>
          <a:blip r:embed="rId6"/>
          <a:stretch>
            <a:fillRect/>
          </a:stretch>
        </p:blipFill>
        <p:spPr>
          <a:xfrm>
            <a:off x="6024086" y="2706612"/>
            <a:ext cx="115252" cy="167639"/>
          </a:xfrm>
          <a:prstGeom prst="rect">
            <a:avLst/>
          </a:prstGeom>
        </p:spPr>
      </p:pic>
      <p:pic>
        <p:nvPicPr>
          <p:cNvPr id="30" name="Picture 29" descr="lock.png"/>
          <p:cNvPicPr>
            <a:picLocks noChangeAspect="1"/>
          </p:cNvPicPr>
          <p:nvPr/>
        </p:nvPicPr>
        <p:blipFill>
          <a:blip r:embed="rId6"/>
          <a:stretch>
            <a:fillRect/>
          </a:stretch>
        </p:blipFill>
        <p:spPr>
          <a:xfrm>
            <a:off x="5281245" y="4999411"/>
            <a:ext cx="115252" cy="167639"/>
          </a:xfrm>
          <a:prstGeom prst="rect">
            <a:avLst/>
          </a:prstGeom>
        </p:spPr>
      </p:pic>
      <p:pic>
        <p:nvPicPr>
          <p:cNvPr id="31" name="Picture 30" descr="lock.png"/>
          <p:cNvPicPr>
            <a:picLocks noChangeAspect="1"/>
          </p:cNvPicPr>
          <p:nvPr/>
        </p:nvPicPr>
        <p:blipFill>
          <a:blip r:embed="rId6"/>
          <a:stretch>
            <a:fillRect/>
          </a:stretch>
        </p:blipFill>
        <p:spPr>
          <a:xfrm>
            <a:off x="7152907" y="4999411"/>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395410" y="4606860"/>
            <a:ext cx="330041" cy="480060"/>
          </a:xfrm>
          <a:prstGeom prst="rect">
            <a:avLst/>
          </a:prstGeom>
        </p:spPr>
      </p:pic>
      <p:sp>
        <p:nvSpPr>
          <p:cNvPr id="34" name="TextBox 33"/>
          <p:cNvSpPr txBox="1"/>
          <p:nvPr/>
        </p:nvSpPr>
        <p:spPr>
          <a:xfrm>
            <a:off x="257175" y="6096870"/>
            <a:ext cx="5152427" cy="173278"/>
          </a:xfrm>
          <a:prstGeom prst="rect">
            <a:avLst/>
          </a:prstGeom>
          <a:noFill/>
        </p:spPr>
        <p:txBody>
          <a:bodyPr wrap="none" lIns="0" rIns="0" tIns="0" bIns="0">
            <a:spAutoFit/>
          </a:bodyPr>
          <a:lstStyle/>
          <a:p>
            <a:r>
              <a:rPr sz="1011" b="0">
                <a:solidFill>
                  <a:srgbClr val="252423"/>
                </a:solidFill>
                <a:latin typeface="Segoe UI"/>
              </a:rPr>
              <a:t>The United States lithium polymer portable energy storage market is projected to register</a:t>
            </a:r>
          </a:p>
        </p:txBody>
      </p:sp>
      <p:pic>
        <p:nvPicPr>
          <p:cNvPr id="35" name="Picture 34" descr="lock.png"/>
          <p:cNvPicPr>
            <a:picLocks noChangeAspect="1"/>
          </p:cNvPicPr>
          <p:nvPr/>
        </p:nvPicPr>
        <p:blipFill>
          <a:blip r:embed="rId6"/>
          <a:stretch>
            <a:fillRect/>
          </a:stretch>
        </p:blipFill>
        <p:spPr>
          <a:xfrm>
            <a:off x="5355713" y="6087874"/>
            <a:ext cx="118403" cy="172222"/>
          </a:xfrm>
          <a:prstGeom prst="rect">
            <a:avLst/>
          </a:prstGeom>
        </p:spPr>
      </p:pic>
      <p:sp>
        <p:nvSpPr>
          <p:cNvPr id="36" name="TextBox 35"/>
          <p:cNvSpPr txBox="1"/>
          <p:nvPr/>
        </p:nvSpPr>
        <p:spPr>
          <a:xfrm>
            <a:off x="5509809" y="6096870"/>
            <a:ext cx="4697384" cy="173278"/>
          </a:xfrm>
          <a:prstGeom prst="rect">
            <a:avLst/>
          </a:prstGeom>
          <a:noFill/>
        </p:spPr>
        <p:txBody>
          <a:bodyPr wrap="none" lIns="0" rIns="0" tIns="0" bIns="0">
            <a:spAutoFit/>
          </a:bodyPr>
          <a:lstStyle/>
          <a:p>
            <a:r>
              <a:rPr sz="1011" b="0">
                <a:solidFill>
                  <a:srgbClr val="252423"/>
                </a:solidFill>
                <a:latin typeface="Segoe UI"/>
              </a:rPr>
              <a:t>X higher value than Canada in 2036. United States posts the highest CAGR Index (</a:t>
            </a:r>
          </a:p>
        </p:txBody>
      </p:sp>
      <p:pic>
        <p:nvPicPr>
          <p:cNvPr id="37" name="Picture 36" descr="lock.png"/>
          <p:cNvPicPr>
            <a:picLocks noChangeAspect="1"/>
          </p:cNvPicPr>
          <p:nvPr/>
        </p:nvPicPr>
        <p:blipFill>
          <a:blip r:embed="rId6"/>
          <a:stretch>
            <a:fillRect/>
          </a:stretch>
        </p:blipFill>
        <p:spPr>
          <a:xfrm>
            <a:off x="10153306" y="6087874"/>
            <a:ext cx="118403" cy="172222"/>
          </a:xfrm>
          <a:prstGeom prst="rect">
            <a:avLst/>
          </a:prstGeom>
        </p:spPr>
      </p:pic>
      <p:sp>
        <p:nvSpPr>
          <p:cNvPr id="38" name="TextBox 37"/>
          <p:cNvSpPr txBox="1"/>
          <p:nvPr/>
        </p:nvSpPr>
        <p:spPr>
          <a:xfrm>
            <a:off x="10307402" y="6096870"/>
            <a:ext cx="142972" cy="173278"/>
          </a:xfrm>
          <a:prstGeom prst="rect">
            <a:avLst/>
          </a:prstGeom>
          <a:noFill/>
        </p:spPr>
        <p:txBody>
          <a:bodyPr wrap="none" lIns="0" rIns="0" tIns="0" bIns="0">
            <a:spAutoFit/>
          </a:bodyPr>
          <a:lstStyle/>
          <a:p>
            <a:r>
              <a:rPr sz="1011" b="0">
                <a:solidFill>
                  <a:srgbClr val="252423"/>
                </a:solidFill>
                <a:latin typeface="Segoe UI"/>
              </a:rPr>
              <a:t>),</a:t>
            </a:r>
          </a:p>
        </p:txBody>
      </p:sp>
      <p:sp>
        <p:nvSpPr>
          <p:cNvPr id="39" name="TextBox 38"/>
          <p:cNvSpPr txBox="1"/>
          <p:nvPr/>
        </p:nvSpPr>
        <p:spPr>
          <a:xfrm>
            <a:off x="257175" y="6251099"/>
            <a:ext cx="688920" cy="173278"/>
          </a:xfrm>
          <a:prstGeom prst="rect">
            <a:avLst/>
          </a:prstGeom>
          <a:noFill/>
        </p:spPr>
        <p:txBody>
          <a:bodyPr wrap="none" lIns="0" rIns="0" tIns="0" bIns="0">
            <a:spAutoFit/>
          </a:bodyPr>
          <a:lstStyle/>
          <a:p>
            <a:r>
              <a:rPr sz="1011" b="0">
                <a:solidFill>
                  <a:srgbClr val="252423"/>
                </a:solidFill>
                <a:latin typeface="Segoe UI"/>
              </a:rPr>
              <a:t>growing at</a:t>
            </a:r>
          </a:p>
        </p:txBody>
      </p:sp>
      <p:pic>
        <p:nvPicPr>
          <p:cNvPr id="40" name="Picture 39" descr="lock.png"/>
          <p:cNvPicPr>
            <a:picLocks noChangeAspect="1"/>
          </p:cNvPicPr>
          <p:nvPr/>
        </p:nvPicPr>
        <p:blipFill>
          <a:blip r:embed="rId6"/>
          <a:stretch>
            <a:fillRect/>
          </a:stretch>
        </p:blipFill>
        <p:spPr>
          <a:xfrm>
            <a:off x="892207" y="6242102"/>
            <a:ext cx="118403" cy="172222"/>
          </a:xfrm>
          <a:prstGeom prst="rect">
            <a:avLst/>
          </a:prstGeom>
        </p:spPr>
      </p:pic>
      <p:sp>
        <p:nvSpPr>
          <p:cNvPr id="41" name="TextBox 40"/>
          <p:cNvSpPr txBox="1"/>
          <p:nvPr/>
        </p:nvSpPr>
        <p:spPr>
          <a:xfrm>
            <a:off x="1046303" y="6251099"/>
            <a:ext cx="5609552" cy="173278"/>
          </a:xfrm>
          <a:prstGeom prst="rect">
            <a:avLst/>
          </a:prstGeom>
          <a:noFill/>
        </p:spPr>
        <p:txBody>
          <a:bodyPr wrap="none" lIns="0" rIns="0" tIns="0" bIns="0">
            <a:spAutoFit/>
          </a:bodyPr>
          <a:lstStyle/>
          <a:p>
            <a:r>
              <a:rPr sz="1011" b="0">
                <a:solidFill>
                  <a:srgbClr val="252423"/>
                </a:solidFill>
                <a:latin typeface="Segoe UI"/>
              </a:rPr>
              <a:t>against the North America benchmark, while United States offers the largest absolute opportunity</a:t>
            </a:r>
          </a:p>
        </p:txBody>
      </p:sp>
      <p:pic>
        <p:nvPicPr>
          <p:cNvPr id="42" name="Picture 41" descr="lock.png"/>
          <p:cNvPicPr>
            <a:picLocks noChangeAspect="1"/>
          </p:cNvPicPr>
          <p:nvPr/>
        </p:nvPicPr>
        <p:blipFill>
          <a:blip r:embed="rId6"/>
          <a:stretch>
            <a:fillRect/>
          </a:stretch>
        </p:blipFill>
        <p:spPr>
          <a:xfrm>
            <a:off x="6601967" y="6242102"/>
            <a:ext cx="118403" cy="172222"/>
          </a:xfrm>
          <a:prstGeom prst="rect">
            <a:avLst/>
          </a:prstGeom>
        </p:spPr>
      </p:pic>
      <p:sp>
        <p:nvSpPr>
          <p:cNvPr id="43" name="TextBox 42"/>
          <p:cNvSpPr txBox="1"/>
          <p:nvPr/>
        </p:nvSpPr>
        <p:spPr>
          <a:xfrm>
            <a:off x="6756063" y="6251099"/>
            <a:ext cx="3278396" cy="173278"/>
          </a:xfrm>
          <a:prstGeom prst="rect">
            <a:avLst/>
          </a:prstGeom>
          <a:noFill/>
        </p:spPr>
        <p:txBody>
          <a:bodyPr wrap="none" lIns="0" rIns="0" tIns="0" bIns="0">
            <a:spAutoFit/>
          </a:bodyPr>
          <a:lstStyle/>
          <a:p>
            <a:r>
              <a:rPr sz="1011" b="0">
                <a:solidFill>
                  <a:srgbClr val="252423"/>
                </a:solidFill>
                <a:latin typeface="Segoe UI"/>
              </a:rPr>
              <a:t>US$ Mn of incremental market between 2026 and 2036 (</a:t>
            </a:r>
          </a:p>
        </p:txBody>
      </p:sp>
      <p:pic>
        <p:nvPicPr>
          <p:cNvPr id="44" name="Picture 43" descr="lock.png"/>
          <p:cNvPicPr>
            <a:picLocks noChangeAspect="1"/>
          </p:cNvPicPr>
          <p:nvPr/>
        </p:nvPicPr>
        <p:blipFill>
          <a:blip r:embed="rId6"/>
          <a:stretch>
            <a:fillRect/>
          </a:stretch>
        </p:blipFill>
        <p:spPr>
          <a:xfrm>
            <a:off x="9980571" y="6242102"/>
            <a:ext cx="118403" cy="172222"/>
          </a:xfrm>
          <a:prstGeom prst="rect">
            <a:avLst/>
          </a:prstGeom>
        </p:spPr>
      </p:pic>
      <p:sp>
        <p:nvSpPr>
          <p:cNvPr id="45" name="TextBox 44"/>
          <p:cNvSpPr txBox="1"/>
          <p:nvPr/>
        </p:nvSpPr>
        <p:spPr>
          <a:xfrm>
            <a:off x="10134667" y="6251099"/>
            <a:ext cx="410527" cy="173278"/>
          </a:xfrm>
          <a:prstGeom prst="rect">
            <a:avLst/>
          </a:prstGeom>
          <a:noFill/>
        </p:spPr>
        <p:txBody>
          <a:bodyPr wrap="none" lIns="0" rIns="0" tIns="0" bIns="0">
            <a:spAutoFit/>
          </a:bodyPr>
          <a:lstStyle/>
          <a:p>
            <a:r>
              <a:rPr sz="1011" b="0">
                <a:solidFill>
                  <a:srgbClr val="252423"/>
                </a:solidFill>
                <a:latin typeface="Segoe UI"/>
              </a:rPr>
              <a:t>of the</a:t>
            </a:r>
          </a:p>
        </p:txBody>
      </p:sp>
      <p:sp>
        <p:nvSpPr>
          <p:cNvPr id="46" name="TextBox 45"/>
          <p:cNvSpPr txBox="1"/>
          <p:nvPr/>
        </p:nvSpPr>
        <p:spPr>
          <a:xfrm>
            <a:off x="257175" y="6405328"/>
            <a:ext cx="1577351" cy="173278"/>
          </a:xfrm>
          <a:prstGeom prst="rect">
            <a:avLst/>
          </a:prstGeom>
          <a:noFill/>
        </p:spPr>
        <p:txBody>
          <a:bodyPr wrap="none" lIns="0" rIns="0" tIns="0" bIns="0">
            <a:spAutoFit/>
          </a:bodyPr>
          <a:lstStyle/>
          <a:p>
            <a:r>
              <a:rPr sz="1011" b="0">
                <a:solidFill>
                  <a:srgbClr val="252423"/>
                </a:solidFill>
                <a:latin typeface="Segoe UI"/>
              </a:rPr>
              <a:t>North America increment).</a:t>
            </a:r>
          </a:p>
        </p:txBody>
      </p:sp>
      <p:sp>
        <p:nvSpPr>
          <p:cNvPr id="47" name="lockshield_10"/>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ockshield_21"/>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Overview (1/4)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market size, competitive landscape and the drivers, restraints and trends shaping demand</a:t>
            </a:r>
          </a:p>
        </p:txBody>
      </p:sp>
      <p:sp>
        <p:nvSpPr>
          <p:cNvPr id="8" name="Rectangle 7"/>
          <p:cNvSpPr/>
          <p:nvPr/>
        </p:nvSpPr>
        <p:spPr>
          <a:xfrm>
            <a:off x="142875" y="981075"/>
            <a:ext cx="11906250" cy="1809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Market Overview</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3239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2" name="Rectangle 11"/>
          <p:cNvSpPr/>
          <p:nvPr/>
        </p:nvSpPr>
        <p:spPr>
          <a:xfrm>
            <a:off x="142875" y="2924175"/>
            <a:ext cx="11906250" cy="1504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009900"/>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Competitive Landscape</a:t>
            </a:r>
          </a:p>
        </p:txBody>
      </p:sp>
      <p:sp>
        <p:nvSpPr>
          <p:cNvPr id="14" name="Rectangle 13"/>
          <p:cNvSpPr/>
          <p:nvPr/>
        </p:nvSpPr>
        <p:spPr>
          <a:xfrm>
            <a:off x="276225" y="32480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33750"/>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Rectangle 15"/>
          <p:cNvSpPr/>
          <p:nvPr/>
        </p:nvSpPr>
        <p:spPr>
          <a:xfrm>
            <a:off x="142875" y="4562475"/>
            <a:ext cx="39433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648200"/>
            <a:ext cx="3676650" cy="209550"/>
          </a:xfrm>
          <a:prstGeom prst="rect">
            <a:avLst/>
          </a:prstGeom>
          <a:noFill/>
        </p:spPr>
        <p:txBody>
          <a:bodyPr wrap="square" lIns="0" rIns="19050" tIns="9525" bIns="9525">
            <a:spAutoFit/>
          </a:bodyPr>
          <a:lstStyle/>
          <a:p>
            <a:pPr algn="l"/>
            <a:r>
              <a:rPr sz="1300" b="1">
                <a:solidFill>
                  <a:srgbClr val="007BA5"/>
                </a:solidFill>
                <a:latin typeface="Segoe UI"/>
              </a:rPr>
              <a:t>Drivers</a:t>
            </a:r>
          </a:p>
        </p:txBody>
      </p:sp>
      <p:sp>
        <p:nvSpPr>
          <p:cNvPr id="18" name="Rectangle 17"/>
          <p:cNvSpPr/>
          <p:nvPr/>
        </p:nvSpPr>
        <p:spPr>
          <a:xfrm>
            <a:off x="276225" y="4886325"/>
            <a:ext cx="3676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972050"/>
            <a:ext cx="36766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4238625" y="4562475"/>
            <a:ext cx="3819525"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1975" y="4648200"/>
            <a:ext cx="3552825" cy="209550"/>
          </a:xfrm>
          <a:prstGeom prst="rect">
            <a:avLst/>
          </a:prstGeom>
          <a:noFill/>
        </p:spPr>
        <p:txBody>
          <a:bodyPr wrap="square" lIns="0" rIns="19050" tIns="9525" bIns="9525">
            <a:spAutoFit/>
          </a:bodyPr>
          <a:lstStyle/>
          <a:p>
            <a:pPr algn="l"/>
            <a:r>
              <a:rPr sz="1300" b="1">
                <a:solidFill>
                  <a:srgbClr val="007BA5"/>
                </a:solidFill>
                <a:latin typeface="Segoe UI"/>
              </a:rPr>
              <a:t>Restraints</a:t>
            </a:r>
          </a:p>
        </p:txBody>
      </p:sp>
      <p:sp>
        <p:nvSpPr>
          <p:cNvPr id="22" name="Rectangle 21"/>
          <p:cNvSpPr/>
          <p:nvPr/>
        </p:nvSpPr>
        <p:spPr>
          <a:xfrm>
            <a:off x="4371975" y="488632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8210550" y="4562475"/>
            <a:ext cx="3819525"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3900" y="4648200"/>
            <a:ext cx="3552825" cy="209550"/>
          </a:xfrm>
          <a:prstGeom prst="rect">
            <a:avLst/>
          </a:prstGeom>
          <a:noFill/>
        </p:spPr>
        <p:txBody>
          <a:bodyPr wrap="square" lIns="0" rIns="19050" tIns="9525" bIns="9525">
            <a:spAutoFit/>
          </a:bodyPr>
          <a:lstStyle/>
          <a:p>
            <a:pPr algn="l"/>
            <a:r>
              <a:rPr sz="1300" b="1">
                <a:solidFill>
                  <a:srgbClr val="007BA5"/>
                </a:solidFill>
                <a:latin typeface="Segoe UI"/>
              </a:rPr>
              <a:t>Trends</a:t>
            </a:r>
          </a:p>
        </p:txBody>
      </p:sp>
      <p:sp>
        <p:nvSpPr>
          <p:cNvPr id="26" name="Rectangle 25"/>
          <p:cNvSpPr/>
          <p:nvPr/>
        </p:nvSpPr>
        <p:spPr>
          <a:xfrm>
            <a:off x="8343900" y="488632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Mix shifting toward '1,000 Wh to Below 1,500 Wh' and higher-growth tiers.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United States outpacing the North America average.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broadening across 3 energy storage capacity categories.</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083453" cy="194310"/>
          </a:xfrm>
          <a:prstGeom prst="rect">
            <a:avLst/>
          </a:prstGeom>
          <a:noFill/>
        </p:spPr>
        <p:txBody>
          <a:bodyPr wrap="none" lIns="0" rIns="0" tIns="0" bIns="0">
            <a:spAutoFit/>
          </a:bodyPr>
          <a:lstStyle/>
          <a:p>
            <a:r>
              <a:rPr sz="1150" b="0">
                <a:solidFill>
                  <a:srgbClr val="252423"/>
                </a:solidFill>
                <a:latin typeface="Segoe UI"/>
              </a:rPr>
              <a:t>Global lithium polymer portable energy storage market is expected to witness</a:t>
            </a:r>
          </a:p>
        </p:txBody>
      </p:sp>
      <p:pic>
        <p:nvPicPr>
          <p:cNvPr id="30" name="Picture 29" descr="lock.png"/>
          <p:cNvPicPr>
            <a:picLocks noChangeAspect="1"/>
          </p:cNvPicPr>
          <p:nvPr/>
        </p:nvPicPr>
        <p:blipFill>
          <a:blip r:embed="rId4"/>
          <a:stretch>
            <a:fillRect/>
          </a:stretch>
        </p:blipFill>
        <p:spPr>
          <a:xfrm>
            <a:off x="5308832" y="1389951"/>
            <a:ext cx="134549" cy="195707"/>
          </a:xfrm>
          <a:prstGeom prst="rect">
            <a:avLst/>
          </a:prstGeom>
        </p:spPr>
      </p:pic>
      <p:sp>
        <p:nvSpPr>
          <p:cNvPr id="31" name="TextBox 30"/>
          <p:cNvSpPr txBox="1"/>
          <p:nvPr/>
        </p:nvSpPr>
        <p:spPr>
          <a:xfrm>
            <a:off x="5483941" y="1400175"/>
            <a:ext cx="5905515" cy="194310"/>
          </a:xfrm>
          <a:prstGeom prst="rect">
            <a:avLst/>
          </a:prstGeom>
          <a:noFill/>
        </p:spPr>
        <p:txBody>
          <a:bodyPr wrap="none" lIns="0" rIns="0" tIns="0" bIns="0">
            <a:spAutoFit/>
          </a:bodyPr>
          <a:lstStyle/>
          <a:p>
            <a:r>
              <a:rPr sz="1150" b="0">
                <a:solidFill>
                  <a:srgbClr val="252423"/>
                </a:solidFill>
                <a:latin typeface="Segoe UI"/>
              </a:rPr>
              <a:t>X increase in revenue by 2036 end. Global lithium polymer portable energy storage market</a:t>
            </a:r>
          </a:p>
        </p:txBody>
      </p:sp>
      <p:sp>
        <p:nvSpPr>
          <p:cNvPr id="32" name="TextBox 31"/>
          <p:cNvSpPr txBox="1"/>
          <p:nvPr/>
        </p:nvSpPr>
        <p:spPr>
          <a:xfrm>
            <a:off x="276225" y="1575435"/>
            <a:ext cx="1267687" cy="194310"/>
          </a:xfrm>
          <a:prstGeom prst="rect">
            <a:avLst/>
          </a:prstGeom>
          <a:noFill/>
        </p:spPr>
        <p:txBody>
          <a:bodyPr wrap="none" lIns="0" rIns="0" tIns="0" bIns="0">
            <a:spAutoFit/>
          </a:bodyPr>
          <a:lstStyle/>
          <a:p>
            <a:r>
              <a:rPr sz="1150" b="0">
                <a:solidFill>
                  <a:srgbClr val="252423"/>
                </a:solidFill>
                <a:latin typeface="Segoe UI"/>
              </a:rPr>
              <a:t>accounted for US$</a:t>
            </a:r>
          </a:p>
        </p:txBody>
      </p:sp>
      <p:pic>
        <p:nvPicPr>
          <p:cNvPr id="33" name="Picture 32" descr="lock.png"/>
          <p:cNvPicPr>
            <a:picLocks noChangeAspect="1"/>
          </p:cNvPicPr>
          <p:nvPr/>
        </p:nvPicPr>
        <p:blipFill>
          <a:blip r:embed="rId4"/>
          <a:stretch>
            <a:fillRect/>
          </a:stretch>
        </p:blipFill>
        <p:spPr>
          <a:xfrm>
            <a:off x="1493066" y="1565211"/>
            <a:ext cx="134549" cy="195707"/>
          </a:xfrm>
          <a:prstGeom prst="rect">
            <a:avLst/>
          </a:prstGeom>
        </p:spPr>
      </p:pic>
      <p:sp>
        <p:nvSpPr>
          <p:cNvPr id="34" name="TextBox 33"/>
          <p:cNvSpPr txBox="1"/>
          <p:nvPr/>
        </p:nvSpPr>
        <p:spPr>
          <a:xfrm>
            <a:off x="1668175" y="1575435"/>
            <a:ext cx="3223892" cy="194310"/>
          </a:xfrm>
          <a:prstGeom prst="rect">
            <a:avLst/>
          </a:prstGeom>
          <a:noFill/>
        </p:spPr>
        <p:txBody>
          <a:bodyPr wrap="none" lIns="0" rIns="0" tIns="0" bIns="0">
            <a:spAutoFit/>
          </a:bodyPr>
          <a:lstStyle/>
          <a:p>
            <a:r>
              <a:rPr sz="1150" b="0">
                <a:solidFill>
                  <a:srgbClr val="252423"/>
                </a:solidFill>
                <a:latin typeface="Segoe UI"/>
              </a:rPr>
              <a:t>Mn in 2025, which is expected to increase to US$</a:t>
            </a:r>
          </a:p>
        </p:txBody>
      </p:sp>
      <p:pic>
        <p:nvPicPr>
          <p:cNvPr id="35" name="Picture 34" descr="lock.png"/>
          <p:cNvPicPr>
            <a:picLocks noChangeAspect="1"/>
          </p:cNvPicPr>
          <p:nvPr/>
        </p:nvPicPr>
        <p:blipFill>
          <a:blip r:embed="rId4"/>
          <a:stretch>
            <a:fillRect/>
          </a:stretch>
        </p:blipFill>
        <p:spPr>
          <a:xfrm>
            <a:off x="4841222" y="1565211"/>
            <a:ext cx="134549" cy="195707"/>
          </a:xfrm>
          <a:prstGeom prst="rect">
            <a:avLst/>
          </a:prstGeom>
        </p:spPr>
      </p:pic>
      <p:sp>
        <p:nvSpPr>
          <p:cNvPr id="36" name="TextBox 35"/>
          <p:cNvSpPr txBox="1"/>
          <p:nvPr/>
        </p:nvSpPr>
        <p:spPr>
          <a:xfrm>
            <a:off x="5016331" y="1575435"/>
            <a:ext cx="1664422" cy="194310"/>
          </a:xfrm>
          <a:prstGeom prst="rect">
            <a:avLst/>
          </a:prstGeom>
          <a:noFill/>
        </p:spPr>
        <p:txBody>
          <a:bodyPr wrap="none" lIns="0" rIns="0" tIns="0" bIns="0">
            <a:spAutoFit/>
          </a:bodyPr>
          <a:lstStyle/>
          <a:p>
            <a:r>
              <a:rPr sz="1150" b="0">
                <a:solidFill>
                  <a:srgbClr val="252423"/>
                </a:solidFill>
                <a:latin typeface="Segoe UI"/>
              </a:rPr>
              <a:t>Mn in 2036 at a CAGR of</a:t>
            </a:r>
          </a:p>
        </p:txBody>
      </p:sp>
      <p:pic>
        <p:nvPicPr>
          <p:cNvPr id="37" name="Picture 36" descr="lock.png"/>
          <p:cNvPicPr>
            <a:picLocks noChangeAspect="1"/>
          </p:cNvPicPr>
          <p:nvPr/>
        </p:nvPicPr>
        <p:blipFill>
          <a:blip r:embed="rId4"/>
          <a:stretch>
            <a:fillRect/>
          </a:stretch>
        </p:blipFill>
        <p:spPr>
          <a:xfrm>
            <a:off x="6629907" y="1565211"/>
            <a:ext cx="134549" cy="195707"/>
          </a:xfrm>
          <a:prstGeom prst="rect">
            <a:avLst/>
          </a:prstGeom>
        </p:spPr>
      </p:pic>
      <p:sp>
        <p:nvSpPr>
          <p:cNvPr id="38" name="TextBox 37"/>
          <p:cNvSpPr txBox="1"/>
          <p:nvPr/>
        </p:nvSpPr>
        <p:spPr>
          <a:xfrm>
            <a:off x="6805016" y="157543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9" name="TextBox 38"/>
          <p:cNvSpPr txBox="1"/>
          <p:nvPr/>
        </p:nvSpPr>
        <p:spPr>
          <a:xfrm>
            <a:off x="276225" y="1803273"/>
            <a:ext cx="11070473" cy="194310"/>
          </a:xfrm>
          <a:prstGeom prst="rect">
            <a:avLst/>
          </a:prstGeom>
          <a:noFill/>
        </p:spPr>
        <p:txBody>
          <a:bodyPr wrap="none" lIns="0" rIns="0" tIns="0" bIns="0">
            <a:spAutoFit/>
          </a:bodyPr>
          <a:lstStyle/>
          <a:p>
            <a:r>
              <a:rPr sz="1150" b="0">
                <a:solidFill>
                  <a:srgbClr val="252423"/>
                </a:solidFill>
                <a:latin typeface="Segoe UI"/>
              </a:rPr>
              <a:t>The global lithium polymer portable energy storage market has been analysed on the basis of energy storage capacity, battery chemistry, battery configuration and system</a:t>
            </a:r>
          </a:p>
        </p:txBody>
      </p:sp>
      <p:sp>
        <p:nvSpPr>
          <p:cNvPr id="40" name="TextBox 39"/>
          <p:cNvSpPr txBox="1"/>
          <p:nvPr/>
        </p:nvSpPr>
        <p:spPr>
          <a:xfrm>
            <a:off x="276225" y="1978533"/>
            <a:ext cx="11331311" cy="194310"/>
          </a:xfrm>
          <a:prstGeom prst="rect">
            <a:avLst/>
          </a:prstGeom>
          <a:noFill/>
        </p:spPr>
        <p:txBody>
          <a:bodyPr wrap="none" lIns="0" rIns="0" tIns="0" bIns="0">
            <a:spAutoFit/>
          </a:bodyPr>
          <a:lstStyle/>
          <a:p>
            <a:r>
              <a:rPr sz="1150" b="0">
                <a:solidFill>
                  <a:srgbClr val="252423"/>
                </a:solidFill>
                <a:latin typeface="Segoe UI"/>
              </a:rPr>
              <a:t>application across the globe. United States is expected to remain the largest market for lithium polymer portable energy storage, while demand in United States is projected to</a:t>
            </a:r>
          </a:p>
        </p:txBody>
      </p:sp>
      <p:sp>
        <p:nvSpPr>
          <p:cNvPr id="41" name="TextBox 40"/>
          <p:cNvSpPr txBox="1"/>
          <p:nvPr/>
        </p:nvSpPr>
        <p:spPr>
          <a:xfrm>
            <a:off x="276225" y="2153793"/>
            <a:ext cx="2112525" cy="194310"/>
          </a:xfrm>
          <a:prstGeom prst="rect">
            <a:avLst/>
          </a:prstGeom>
          <a:noFill/>
        </p:spPr>
        <p:txBody>
          <a:bodyPr wrap="none" lIns="0" rIns="0" tIns="0" bIns="0">
            <a:spAutoFit/>
          </a:bodyPr>
          <a:lstStyle/>
          <a:p>
            <a:r>
              <a:rPr sz="1150" b="0">
                <a:solidFill>
                  <a:srgbClr val="252423"/>
                </a:solidFill>
                <a:latin typeface="Segoe UI"/>
              </a:rPr>
              <a:t>increase at the highest CAGR of</a:t>
            </a:r>
          </a:p>
        </p:txBody>
      </p:sp>
      <p:pic>
        <p:nvPicPr>
          <p:cNvPr id="42" name="Picture 41" descr="lock.png"/>
          <p:cNvPicPr>
            <a:picLocks noChangeAspect="1"/>
          </p:cNvPicPr>
          <p:nvPr/>
        </p:nvPicPr>
        <p:blipFill>
          <a:blip r:embed="rId4"/>
          <a:stretch>
            <a:fillRect/>
          </a:stretch>
        </p:blipFill>
        <p:spPr>
          <a:xfrm>
            <a:off x="2337904" y="2143569"/>
            <a:ext cx="134549" cy="195707"/>
          </a:xfrm>
          <a:prstGeom prst="rect">
            <a:avLst/>
          </a:prstGeom>
        </p:spPr>
      </p:pic>
      <p:sp>
        <p:nvSpPr>
          <p:cNvPr id="43" name="TextBox 42"/>
          <p:cNvSpPr txBox="1"/>
          <p:nvPr/>
        </p:nvSpPr>
        <p:spPr>
          <a:xfrm>
            <a:off x="2513013" y="2153793"/>
            <a:ext cx="2106860" cy="194310"/>
          </a:xfrm>
          <a:prstGeom prst="rect">
            <a:avLst/>
          </a:prstGeom>
          <a:noFill/>
        </p:spPr>
        <p:txBody>
          <a:bodyPr wrap="none" lIns="0" rIns="0" tIns="0" bIns="0">
            <a:spAutoFit/>
          </a:bodyPr>
          <a:lstStyle/>
          <a:p>
            <a:r>
              <a:rPr sz="1150" b="0">
                <a:solidFill>
                  <a:srgbClr val="252423"/>
                </a:solidFill>
                <a:latin typeface="Segoe UI"/>
              </a:rPr>
              <a:t>throughout the forecast period.</a:t>
            </a:r>
          </a:p>
        </p:txBody>
      </p:sp>
      <p:sp>
        <p:nvSpPr>
          <p:cNvPr id="44" name="TextBox 43"/>
          <p:cNvSpPr txBox="1"/>
          <p:nvPr/>
        </p:nvSpPr>
        <p:spPr>
          <a:xfrm>
            <a:off x="276225" y="3343275"/>
            <a:ext cx="7492984" cy="194310"/>
          </a:xfrm>
          <a:prstGeom prst="rect">
            <a:avLst/>
          </a:prstGeom>
          <a:noFill/>
        </p:spPr>
        <p:txBody>
          <a:bodyPr wrap="none" lIns="0" rIns="0" tIns="0" bIns="0">
            <a:spAutoFit/>
          </a:bodyPr>
          <a:lstStyle/>
          <a:p>
            <a:r>
              <a:rPr sz="1150" b="0">
                <a:solidFill>
                  <a:srgbClr val="252423"/>
                </a:solidFill>
                <a:latin typeface="Segoe UI"/>
              </a:rPr>
              <a:t>▪ The market is moderately fragmented: the leading energy storage capacity category '1,500 Wh to 2,000 Wh' holds</a:t>
            </a:r>
          </a:p>
        </p:txBody>
      </p:sp>
      <p:pic>
        <p:nvPicPr>
          <p:cNvPr id="45" name="Picture 44" descr="lock.png"/>
          <p:cNvPicPr>
            <a:picLocks noChangeAspect="1"/>
          </p:cNvPicPr>
          <p:nvPr/>
        </p:nvPicPr>
        <p:blipFill>
          <a:blip r:embed="rId4"/>
          <a:stretch>
            <a:fillRect/>
          </a:stretch>
        </p:blipFill>
        <p:spPr>
          <a:xfrm>
            <a:off x="7718363" y="3333051"/>
            <a:ext cx="134549" cy="195707"/>
          </a:xfrm>
          <a:prstGeom prst="rect">
            <a:avLst/>
          </a:prstGeom>
        </p:spPr>
      </p:pic>
      <p:sp>
        <p:nvSpPr>
          <p:cNvPr id="46" name="TextBox 45"/>
          <p:cNvSpPr txBox="1"/>
          <p:nvPr/>
        </p:nvSpPr>
        <p:spPr>
          <a:xfrm>
            <a:off x="7893472" y="3343275"/>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47" name="TextBox 46"/>
          <p:cNvSpPr txBox="1"/>
          <p:nvPr/>
        </p:nvSpPr>
        <p:spPr>
          <a:xfrm>
            <a:off x="276225" y="3571112"/>
            <a:ext cx="6153975" cy="194310"/>
          </a:xfrm>
          <a:prstGeom prst="rect">
            <a:avLst/>
          </a:prstGeom>
          <a:noFill/>
        </p:spPr>
        <p:txBody>
          <a:bodyPr wrap="none" lIns="0" rIns="0" tIns="0" bIns="0">
            <a:spAutoFit/>
          </a:bodyPr>
          <a:lstStyle/>
          <a:p>
            <a:r>
              <a:rPr sz="1150" b="0">
                <a:solidFill>
                  <a:srgbClr val="252423"/>
                </a:solidFill>
                <a:latin typeface="Segoe UI"/>
              </a:rPr>
              <a:t>▪ Demand spans 3 countries and 7 segmentation lenses (3 energy storage capacity categories).</a:t>
            </a:r>
          </a:p>
        </p:txBody>
      </p:sp>
      <p:sp>
        <p:nvSpPr>
          <p:cNvPr id="48" name="TextBox 47"/>
          <p:cNvSpPr txBox="1"/>
          <p:nvPr/>
        </p:nvSpPr>
        <p:spPr>
          <a:xfrm>
            <a:off x="276225" y="3798950"/>
            <a:ext cx="3072132" cy="194310"/>
          </a:xfrm>
          <a:prstGeom prst="rect">
            <a:avLst/>
          </a:prstGeom>
          <a:noFill/>
        </p:spPr>
        <p:txBody>
          <a:bodyPr wrap="none" lIns="0" rIns="0" tIns="0" bIns="0">
            <a:spAutoFit/>
          </a:bodyPr>
          <a:lstStyle/>
          <a:p>
            <a:r>
              <a:rPr sz="1150" b="0">
                <a:solidFill>
                  <a:srgbClr val="252423"/>
                </a:solidFill>
                <a:latin typeface="Segoe UI"/>
              </a:rPr>
              <a:t>▪ United States is the largest country market at</a:t>
            </a:r>
          </a:p>
        </p:txBody>
      </p:sp>
      <p:pic>
        <p:nvPicPr>
          <p:cNvPr id="49" name="Picture 48" descr="lock.png"/>
          <p:cNvPicPr>
            <a:picLocks noChangeAspect="1"/>
          </p:cNvPicPr>
          <p:nvPr/>
        </p:nvPicPr>
        <p:blipFill>
          <a:blip r:embed="rId4"/>
          <a:stretch>
            <a:fillRect/>
          </a:stretch>
        </p:blipFill>
        <p:spPr>
          <a:xfrm>
            <a:off x="3297511" y="3788727"/>
            <a:ext cx="134549" cy="195707"/>
          </a:xfrm>
          <a:prstGeom prst="rect">
            <a:avLst/>
          </a:prstGeom>
        </p:spPr>
      </p:pic>
      <p:sp>
        <p:nvSpPr>
          <p:cNvPr id="50" name="TextBox 49"/>
          <p:cNvSpPr txBox="1"/>
          <p:nvPr/>
        </p:nvSpPr>
        <p:spPr>
          <a:xfrm>
            <a:off x="3472620" y="3798950"/>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51" name="TextBox 50"/>
          <p:cNvSpPr txBox="1"/>
          <p:nvPr/>
        </p:nvSpPr>
        <p:spPr>
          <a:xfrm>
            <a:off x="276225" y="4981575"/>
            <a:ext cx="3577589" cy="194310"/>
          </a:xfrm>
          <a:prstGeom prst="rect">
            <a:avLst/>
          </a:prstGeom>
          <a:noFill/>
        </p:spPr>
        <p:txBody>
          <a:bodyPr wrap="none" lIns="0" rIns="0" tIns="0" bIns="0">
            <a:spAutoFit/>
          </a:bodyPr>
          <a:lstStyle/>
          <a:p>
            <a:r>
              <a:rPr sz="1150" b="0">
                <a:solidFill>
                  <a:srgbClr val="252423"/>
                </a:solidFill>
                <a:latin typeface="Segoe UI"/>
              </a:rPr>
              <a:t>▪ Accelerating uptake of '1,000 Wh to Below 1,500 Wh'</a:t>
            </a:r>
          </a:p>
        </p:txBody>
      </p:sp>
      <p:sp>
        <p:nvSpPr>
          <p:cNvPr id="52" name="TextBox 51"/>
          <p:cNvSpPr txBox="1"/>
          <p:nvPr/>
        </p:nvSpPr>
        <p:spPr>
          <a:xfrm>
            <a:off x="276225" y="515683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53" name="Picture 52" descr="lock.png"/>
          <p:cNvPicPr>
            <a:picLocks noChangeAspect="1"/>
          </p:cNvPicPr>
          <p:nvPr/>
        </p:nvPicPr>
        <p:blipFill>
          <a:blip r:embed="rId4"/>
          <a:stretch>
            <a:fillRect/>
          </a:stretch>
        </p:blipFill>
        <p:spPr>
          <a:xfrm>
            <a:off x="345793" y="5146611"/>
            <a:ext cx="134549" cy="195707"/>
          </a:xfrm>
          <a:prstGeom prst="rect">
            <a:avLst/>
          </a:prstGeom>
        </p:spPr>
      </p:pic>
      <p:sp>
        <p:nvSpPr>
          <p:cNvPr id="54" name="TextBox 53"/>
          <p:cNvSpPr txBox="1"/>
          <p:nvPr/>
        </p:nvSpPr>
        <p:spPr>
          <a:xfrm>
            <a:off x="520902" y="5156835"/>
            <a:ext cx="524017"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5" name="TextBox 54"/>
          <p:cNvSpPr txBox="1"/>
          <p:nvPr/>
        </p:nvSpPr>
        <p:spPr>
          <a:xfrm>
            <a:off x="276225" y="5384672"/>
            <a:ext cx="2729569" cy="194310"/>
          </a:xfrm>
          <a:prstGeom prst="rect">
            <a:avLst/>
          </a:prstGeom>
          <a:noFill/>
        </p:spPr>
        <p:txBody>
          <a:bodyPr wrap="none" lIns="0" rIns="0" tIns="0" bIns="0">
            <a:spAutoFit/>
          </a:bodyPr>
          <a:lstStyle/>
          <a:p>
            <a:r>
              <a:rPr sz="1150" b="0">
                <a:solidFill>
                  <a:srgbClr val="252423"/>
                </a:solidFill>
                <a:latin typeface="Segoe UI"/>
              </a:rPr>
              <a:t>▪ Fast-growing demand in United States (</a:t>
            </a:r>
          </a:p>
        </p:txBody>
      </p:sp>
      <p:pic>
        <p:nvPicPr>
          <p:cNvPr id="56" name="Picture 55" descr="lock.png"/>
          <p:cNvPicPr>
            <a:picLocks noChangeAspect="1"/>
          </p:cNvPicPr>
          <p:nvPr/>
        </p:nvPicPr>
        <p:blipFill>
          <a:blip r:embed="rId4"/>
          <a:stretch>
            <a:fillRect/>
          </a:stretch>
        </p:blipFill>
        <p:spPr>
          <a:xfrm>
            <a:off x="2954948" y="5374449"/>
            <a:ext cx="134549" cy="195707"/>
          </a:xfrm>
          <a:prstGeom prst="rect">
            <a:avLst/>
          </a:prstGeom>
        </p:spPr>
      </p:pic>
      <p:sp>
        <p:nvSpPr>
          <p:cNvPr id="57" name="TextBox 56"/>
          <p:cNvSpPr txBox="1"/>
          <p:nvPr/>
        </p:nvSpPr>
        <p:spPr>
          <a:xfrm>
            <a:off x="3130057" y="5384672"/>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8" name="TextBox 57"/>
          <p:cNvSpPr txBox="1"/>
          <p:nvPr/>
        </p:nvSpPr>
        <p:spPr>
          <a:xfrm>
            <a:off x="276225" y="5612510"/>
            <a:ext cx="3540390" cy="194310"/>
          </a:xfrm>
          <a:prstGeom prst="rect">
            <a:avLst/>
          </a:prstGeom>
          <a:noFill/>
        </p:spPr>
        <p:txBody>
          <a:bodyPr wrap="none" lIns="0" rIns="0" tIns="0" bIns="0">
            <a:spAutoFit/>
          </a:bodyPr>
          <a:lstStyle/>
          <a:p>
            <a:r>
              <a:rPr sz="1150" b="0">
                <a:solidFill>
                  <a:srgbClr val="252423"/>
                </a:solidFill>
                <a:latin typeface="Segoe UI"/>
              </a:rPr>
              <a:t>▪ Momentum in Outdoor &amp; Recreational Power within</a:t>
            </a:r>
          </a:p>
        </p:txBody>
      </p:sp>
      <p:sp>
        <p:nvSpPr>
          <p:cNvPr id="59" name="TextBox 58"/>
          <p:cNvSpPr txBox="1"/>
          <p:nvPr/>
        </p:nvSpPr>
        <p:spPr>
          <a:xfrm>
            <a:off x="276225" y="5787770"/>
            <a:ext cx="1358968" cy="194310"/>
          </a:xfrm>
          <a:prstGeom prst="rect">
            <a:avLst/>
          </a:prstGeom>
          <a:noFill/>
        </p:spPr>
        <p:txBody>
          <a:bodyPr wrap="none" lIns="0" rIns="0" tIns="0" bIns="0">
            <a:spAutoFit/>
          </a:bodyPr>
          <a:lstStyle/>
          <a:p>
            <a:r>
              <a:rPr sz="1150" b="0">
                <a:solidFill>
                  <a:srgbClr val="252423"/>
                </a:solidFill>
                <a:latin typeface="Segoe UI"/>
              </a:rPr>
              <a:t>system application (</a:t>
            </a:r>
          </a:p>
        </p:txBody>
      </p:sp>
      <p:pic>
        <p:nvPicPr>
          <p:cNvPr id="60" name="Picture 59" descr="lock.png"/>
          <p:cNvPicPr>
            <a:picLocks noChangeAspect="1"/>
          </p:cNvPicPr>
          <p:nvPr/>
        </p:nvPicPr>
        <p:blipFill>
          <a:blip r:embed="rId4"/>
          <a:stretch>
            <a:fillRect/>
          </a:stretch>
        </p:blipFill>
        <p:spPr>
          <a:xfrm>
            <a:off x="1584347" y="5777547"/>
            <a:ext cx="134549" cy="195707"/>
          </a:xfrm>
          <a:prstGeom prst="rect">
            <a:avLst/>
          </a:prstGeom>
        </p:spPr>
      </p:pic>
      <p:sp>
        <p:nvSpPr>
          <p:cNvPr id="61" name="TextBox 60"/>
          <p:cNvSpPr txBox="1"/>
          <p:nvPr/>
        </p:nvSpPr>
        <p:spPr>
          <a:xfrm>
            <a:off x="1759457" y="578777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2" name="TextBox 61"/>
          <p:cNvSpPr txBox="1"/>
          <p:nvPr/>
        </p:nvSpPr>
        <p:spPr>
          <a:xfrm>
            <a:off x="4371975" y="4981575"/>
            <a:ext cx="3401378" cy="194310"/>
          </a:xfrm>
          <a:prstGeom prst="rect">
            <a:avLst/>
          </a:prstGeom>
          <a:noFill/>
        </p:spPr>
        <p:txBody>
          <a:bodyPr wrap="none" lIns="0" rIns="0" tIns="0" bIns="0">
            <a:spAutoFit/>
          </a:bodyPr>
          <a:lstStyle/>
          <a:p>
            <a:r>
              <a:rPr sz="1150" b="0">
                <a:solidFill>
                  <a:srgbClr val="252423"/>
                </a:solidFill>
                <a:latin typeface="Segoe UI"/>
              </a:rPr>
              <a:t>▪ Slower momentum in '500 Wh to Below 1,000 Wh'</a:t>
            </a:r>
          </a:p>
        </p:txBody>
      </p:sp>
      <p:sp>
        <p:nvSpPr>
          <p:cNvPr id="63" name="TextBox 62"/>
          <p:cNvSpPr txBox="1"/>
          <p:nvPr/>
        </p:nvSpPr>
        <p:spPr>
          <a:xfrm>
            <a:off x="4371975" y="515683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64" name="Picture 63" descr="lock.png"/>
          <p:cNvPicPr>
            <a:picLocks noChangeAspect="1"/>
          </p:cNvPicPr>
          <p:nvPr/>
        </p:nvPicPr>
        <p:blipFill>
          <a:blip r:embed="rId4"/>
          <a:stretch>
            <a:fillRect/>
          </a:stretch>
        </p:blipFill>
        <p:spPr>
          <a:xfrm>
            <a:off x="4441543" y="5146611"/>
            <a:ext cx="134549" cy="195707"/>
          </a:xfrm>
          <a:prstGeom prst="rect">
            <a:avLst/>
          </a:prstGeom>
        </p:spPr>
      </p:pic>
      <p:sp>
        <p:nvSpPr>
          <p:cNvPr id="65" name="TextBox 64"/>
          <p:cNvSpPr txBox="1"/>
          <p:nvPr/>
        </p:nvSpPr>
        <p:spPr>
          <a:xfrm>
            <a:off x="4616652" y="515683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6" name="TextBox 65"/>
          <p:cNvSpPr txBox="1"/>
          <p:nvPr/>
        </p:nvSpPr>
        <p:spPr>
          <a:xfrm>
            <a:off x="4371975" y="5384672"/>
            <a:ext cx="3533775" cy="194310"/>
          </a:xfrm>
          <a:prstGeom prst="rect">
            <a:avLst/>
          </a:prstGeom>
          <a:noFill/>
        </p:spPr>
        <p:txBody>
          <a:bodyPr wrap="none" lIns="0" rIns="0" tIns="0" bIns="0">
            <a:spAutoFit/>
          </a:bodyPr>
          <a:lstStyle/>
          <a:p>
            <a:r>
              <a:rPr sz="1150" b="0">
                <a:solidFill>
                  <a:srgbClr val="252423"/>
                </a:solidFill>
                <a:latin typeface="Segoe UI"/>
              </a:rPr>
              <a:t>▪ Maturing demand in established categories caps the</a:t>
            </a:r>
          </a:p>
        </p:txBody>
      </p:sp>
      <p:sp>
        <p:nvSpPr>
          <p:cNvPr id="67" name="TextBox 66"/>
          <p:cNvSpPr txBox="1"/>
          <p:nvPr/>
        </p:nvSpPr>
        <p:spPr>
          <a:xfrm>
            <a:off x="4371975" y="5559932"/>
            <a:ext cx="605345" cy="194310"/>
          </a:xfrm>
          <a:prstGeom prst="rect">
            <a:avLst/>
          </a:prstGeom>
          <a:noFill/>
        </p:spPr>
        <p:txBody>
          <a:bodyPr wrap="none" lIns="0" rIns="0" tIns="0" bIns="0">
            <a:spAutoFit/>
          </a:bodyPr>
          <a:lstStyle/>
          <a:p>
            <a:r>
              <a:rPr sz="1150" b="0">
                <a:solidFill>
                  <a:srgbClr val="252423"/>
                </a:solidFill>
                <a:latin typeface="Segoe UI"/>
              </a:rPr>
              <a:t>blended</a:t>
            </a:r>
          </a:p>
        </p:txBody>
      </p:sp>
      <p:pic>
        <p:nvPicPr>
          <p:cNvPr id="68" name="Picture 67" descr="lock.png"/>
          <p:cNvPicPr>
            <a:picLocks noChangeAspect="1"/>
          </p:cNvPicPr>
          <p:nvPr/>
        </p:nvPicPr>
        <p:blipFill>
          <a:blip r:embed="rId4"/>
          <a:stretch>
            <a:fillRect/>
          </a:stretch>
        </p:blipFill>
        <p:spPr>
          <a:xfrm>
            <a:off x="4926474" y="5549709"/>
            <a:ext cx="134549" cy="195707"/>
          </a:xfrm>
          <a:prstGeom prst="rect">
            <a:avLst/>
          </a:prstGeom>
        </p:spPr>
      </p:pic>
      <p:sp>
        <p:nvSpPr>
          <p:cNvPr id="69" name="TextBox 68"/>
          <p:cNvSpPr txBox="1"/>
          <p:nvPr/>
        </p:nvSpPr>
        <p:spPr>
          <a:xfrm>
            <a:off x="5101584" y="5559932"/>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70" name="TextBox 69"/>
          <p:cNvSpPr txBox="1"/>
          <p:nvPr/>
        </p:nvSpPr>
        <p:spPr>
          <a:xfrm>
            <a:off x="4371975" y="5787770"/>
            <a:ext cx="3533775" cy="194310"/>
          </a:xfrm>
          <a:prstGeom prst="rect">
            <a:avLst/>
          </a:prstGeom>
          <a:noFill/>
        </p:spPr>
        <p:txBody>
          <a:bodyPr wrap="none" lIns="0" rIns="0" tIns="0" bIns="0">
            <a:spAutoFit/>
          </a:bodyPr>
          <a:lstStyle/>
          <a:p>
            <a:r>
              <a:rPr sz="1150" b="0">
                <a:solidFill>
                  <a:srgbClr val="252423"/>
                </a:solidFill>
                <a:latin typeface="Segoe UI"/>
              </a:rPr>
              <a:t>▪ Value concentration in '1,500 Wh to 2,000 Wh' raises</a:t>
            </a:r>
          </a:p>
        </p:txBody>
      </p:sp>
      <p:sp>
        <p:nvSpPr>
          <p:cNvPr id="71" name="TextBox 70"/>
          <p:cNvSpPr txBox="1"/>
          <p:nvPr/>
        </p:nvSpPr>
        <p:spPr>
          <a:xfrm>
            <a:off x="4371975" y="5963030"/>
            <a:ext cx="1689012" cy="194310"/>
          </a:xfrm>
          <a:prstGeom prst="rect">
            <a:avLst/>
          </a:prstGeom>
          <a:noFill/>
        </p:spPr>
        <p:txBody>
          <a:bodyPr wrap="none" lIns="0" rIns="0" tIns="0" bIns="0">
            <a:spAutoFit/>
          </a:bodyPr>
          <a:lstStyle/>
          <a:p>
            <a:r>
              <a:rPr sz="1150" b="0">
                <a:solidFill>
                  <a:srgbClr val="252423"/>
                </a:solidFill>
                <a:latin typeface="Segoe UI"/>
              </a:rPr>
              <a:t>barriers for new entrants.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'1,000 Wh to Below 1,500 Wh' and United States.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energy storage capacity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United States and United States.</a:t>
            </a:r>
          </a:p>
        </p:txBody>
      </p:sp>
      <p:sp>
        <p:nvSpPr>
          <p:cNvPr id="12" name="Rectangle 11"/>
          <p:cNvSpPr/>
          <p:nvPr/>
        </p:nvSpPr>
        <p:spPr>
          <a:xfrm>
            <a:off x="6172200" y="981075"/>
            <a:ext cx="5876925"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16" name="Rectangle 15"/>
          <p:cNvSpPr/>
          <p:nvPr/>
        </p:nvSpPr>
        <p:spPr>
          <a:xfrm>
            <a:off x="142875" y="2790825"/>
            <a:ext cx="5876925" cy="1571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876550"/>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11467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00400"/>
            <a:ext cx="5610225"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790825"/>
            <a:ext cx="5876925" cy="1571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876550"/>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11467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24" name="Rectangle 23"/>
          <p:cNvSpPr/>
          <p:nvPr/>
        </p:nvSpPr>
        <p:spPr>
          <a:xfrm>
            <a:off x="142875" y="4495800"/>
            <a:ext cx="11906250" cy="2114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55295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energy storage capacity share (2036)</a:t>
            </a:r>
          </a:p>
        </p:txBody>
      </p:sp>
      <p:graphicFrame>
        <p:nvGraphicFramePr>
          <p:cNvPr id="26" name="Chart 25"/>
          <p:cNvGraphicFramePr>
            <a:graphicFrameLocks noGrp="1"/>
          </p:cNvGraphicFramePr>
          <p:nvPr/>
        </p:nvGraphicFramePr>
        <p:xfrm>
          <a:off x="238125" y="4781550"/>
          <a:ext cx="11715750" cy="1771650"/>
        </p:xfrm>
        <a:graphic>
          <a:graphicData uri="http://schemas.openxmlformats.org/drawingml/2006/chart">
            <c:chart xmlns:c="http://schemas.openxmlformats.org/drawingml/2006/chart" r:id="rId3"/>
          </a:graphicData>
        </a:graphic>
      </p:graphicFrame>
      <p:sp>
        <p:nvSpPr>
          <p:cNvPr id="27" name="TextBox 26"/>
          <p:cNvSpPr txBox="1"/>
          <p:nvPr/>
        </p:nvSpPr>
        <p:spPr>
          <a:xfrm>
            <a:off x="3914859" y="5553075"/>
            <a:ext cx="847557" cy="228600"/>
          </a:xfrm>
          <a:prstGeom prst="rect">
            <a:avLst/>
          </a:prstGeom>
          <a:noFill/>
        </p:spPr>
        <p:txBody>
          <a:bodyPr wrap="square" lIns="28575" rIns="28575" tIns="9525" bIns="9525" anchor="ctr">
            <a:spAutoFit/>
          </a:bodyPr>
          <a:lstStyle/>
          <a:p>
            <a:pPr algn="ctr"/>
            <a:r>
              <a:rPr sz="1300" b="1">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5"/>
          <a:stretch>
            <a:fillRect/>
          </a:stretch>
        </p:blipFill>
        <p:spPr>
          <a:xfrm>
            <a:off x="4153896" y="5402105"/>
            <a:ext cx="347376" cy="505274"/>
          </a:xfrm>
          <a:prstGeom prst="rect">
            <a:avLst/>
          </a:prstGeom>
        </p:spPr>
      </p:pic>
      <p:sp>
        <p:nvSpPr>
          <p:cNvPr id="30" name="TextBox 29"/>
          <p:cNvSpPr txBox="1"/>
          <p:nvPr/>
        </p:nvSpPr>
        <p:spPr>
          <a:xfrm>
            <a:off x="6305550" y="1400175"/>
            <a:ext cx="732680" cy="186689"/>
          </a:xfrm>
          <a:prstGeom prst="rect">
            <a:avLst/>
          </a:prstGeom>
          <a:noFill/>
        </p:spPr>
        <p:txBody>
          <a:bodyPr wrap="none" lIns="0" rIns="0" tIns="0" bIns="0">
            <a:spAutoFit/>
          </a:bodyPr>
          <a:lstStyle/>
          <a:p>
            <a:r>
              <a:rPr sz="1100" b="0">
                <a:solidFill>
                  <a:srgbClr val="252423"/>
                </a:solidFill>
                <a:latin typeface="Segoe UI"/>
              </a:rPr>
              <a:t>▪ 2026 size</a:t>
            </a:r>
          </a:p>
        </p:txBody>
      </p:sp>
      <p:pic>
        <p:nvPicPr>
          <p:cNvPr id="31" name="Picture 30" descr="lock.png"/>
          <p:cNvPicPr>
            <a:picLocks noChangeAspect="1"/>
          </p:cNvPicPr>
          <p:nvPr/>
        </p:nvPicPr>
        <p:blipFill>
          <a:blip r:embed="rId5"/>
          <a:stretch>
            <a:fillRect/>
          </a:stretch>
        </p:blipFill>
        <p:spPr>
          <a:xfrm>
            <a:off x="6986282" y="1390396"/>
            <a:ext cx="128699" cy="187198"/>
          </a:xfrm>
          <a:prstGeom prst="rect">
            <a:avLst/>
          </a:prstGeom>
        </p:spPr>
      </p:pic>
      <p:sp>
        <p:nvSpPr>
          <p:cNvPr id="32" name="TextBox 31"/>
          <p:cNvSpPr txBox="1"/>
          <p:nvPr/>
        </p:nvSpPr>
        <p:spPr>
          <a:xfrm>
            <a:off x="7153778" y="1400175"/>
            <a:ext cx="934318" cy="186689"/>
          </a:xfrm>
          <a:prstGeom prst="rect">
            <a:avLst/>
          </a:prstGeom>
          <a:noFill/>
        </p:spPr>
        <p:txBody>
          <a:bodyPr wrap="none" lIns="0" rIns="0" tIns="0" bIns="0">
            <a:spAutoFit/>
          </a:bodyPr>
          <a:lstStyle/>
          <a:p>
            <a:r>
              <a:rPr sz="1100" b="0">
                <a:solidFill>
                  <a:srgbClr val="252423"/>
                </a:solidFill>
                <a:latin typeface="Segoe UI"/>
              </a:rPr>
              <a:t>US$ Mn; 2036</a:t>
            </a:r>
          </a:p>
        </p:txBody>
      </p:sp>
      <p:pic>
        <p:nvPicPr>
          <p:cNvPr id="33" name="Picture 32" descr="lock.png"/>
          <p:cNvPicPr>
            <a:picLocks noChangeAspect="1"/>
          </p:cNvPicPr>
          <p:nvPr/>
        </p:nvPicPr>
        <p:blipFill>
          <a:blip r:embed="rId5"/>
          <a:stretch>
            <a:fillRect/>
          </a:stretch>
        </p:blipFill>
        <p:spPr>
          <a:xfrm>
            <a:off x="8036148" y="1390396"/>
            <a:ext cx="128699" cy="187198"/>
          </a:xfrm>
          <a:prstGeom prst="rect">
            <a:avLst/>
          </a:prstGeom>
        </p:spPr>
      </p:pic>
      <p:sp>
        <p:nvSpPr>
          <p:cNvPr id="34" name="TextBox 33"/>
          <p:cNvSpPr txBox="1"/>
          <p:nvPr/>
        </p:nvSpPr>
        <p:spPr>
          <a:xfrm>
            <a:off x="8203643" y="1400175"/>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5" name="TextBox 34"/>
          <p:cNvSpPr txBox="1"/>
          <p:nvPr/>
        </p:nvSpPr>
        <p:spPr>
          <a:xfrm>
            <a:off x="6305550" y="1618107"/>
            <a:ext cx="1072048" cy="186689"/>
          </a:xfrm>
          <a:prstGeom prst="rect">
            <a:avLst/>
          </a:prstGeom>
          <a:noFill/>
        </p:spPr>
        <p:txBody>
          <a:bodyPr wrap="none" lIns="0" rIns="0" tIns="0" bIns="0">
            <a:spAutoFit/>
          </a:bodyPr>
          <a:lstStyle/>
          <a:p>
            <a:r>
              <a:rPr sz="1100" b="0">
                <a:solidFill>
                  <a:srgbClr val="252423"/>
                </a:solidFill>
                <a:latin typeface="Segoe UI"/>
              </a:rPr>
              <a:t>▪ Forecast CAGR</a:t>
            </a:r>
          </a:p>
        </p:txBody>
      </p:sp>
      <p:pic>
        <p:nvPicPr>
          <p:cNvPr id="36" name="Picture 35" descr="lock.png"/>
          <p:cNvPicPr>
            <a:picLocks noChangeAspect="1"/>
          </p:cNvPicPr>
          <p:nvPr/>
        </p:nvPicPr>
        <p:blipFill>
          <a:blip r:embed="rId5"/>
          <a:stretch>
            <a:fillRect/>
          </a:stretch>
        </p:blipFill>
        <p:spPr>
          <a:xfrm>
            <a:off x="7325650" y="1608328"/>
            <a:ext cx="128699" cy="187198"/>
          </a:xfrm>
          <a:prstGeom prst="rect">
            <a:avLst/>
          </a:prstGeom>
        </p:spPr>
      </p:pic>
      <p:sp>
        <p:nvSpPr>
          <p:cNvPr id="37" name="TextBox 36"/>
          <p:cNvSpPr txBox="1"/>
          <p:nvPr/>
        </p:nvSpPr>
        <p:spPr>
          <a:xfrm>
            <a:off x="7493145" y="1618107"/>
            <a:ext cx="863376" cy="186689"/>
          </a:xfrm>
          <a:prstGeom prst="rect">
            <a:avLst/>
          </a:prstGeom>
          <a:noFill/>
        </p:spPr>
        <p:txBody>
          <a:bodyPr wrap="none" lIns="0" rIns="0" tIns="0" bIns="0">
            <a:spAutoFit/>
          </a:bodyPr>
          <a:lstStyle/>
          <a:p>
            <a:r>
              <a:rPr sz="1100" b="0">
                <a:solidFill>
                  <a:srgbClr val="252423"/>
                </a:solidFill>
                <a:latin typeface="Segoe UI"/>
              </a:rPr>
              <a:t>(2026–2036).</a:t>
            </a:r>
          </a:p>
        </p:txBody>
      </p:sp>
      <p:sp>
        <p:nvSpPr>
          <p:cNvPr id="38" name="TextBox 37"/>
          <p:cNvSpPr txBox="1"/>
          <p:nvPr/>
        </p:nvSpPr>
        <p:spPr>
          <a:xfrm>
            <a:off x="6305550" y="1836039"/>
            <a:ext cx="2498358" cy="186689"/>
          </a:xfrm>
          <a:prstGeom prst="rect">
            <a:avLst/>
          </a:prstGeom>
          <a:noFill/>
        </p:spPr>
        <p:txBody>
          <a:bodyPr wrap="none" lIns="0" rIns="0" tIns="0" bIns="0">
            <a:spAutoFit/>
          </a:bodyPr>
          <a:lstStyle/>
          <a:p>
            <a:r>
              <a:rPr sz="1100" b="0">
                <a:solidFill>
                  <a:srgbClr val="252423"/>
                </a:solidFill>
                <a:latin typeface="Segoe UI"/>
              </a:rPr>
              <a:t>▪ Lead category '1,500 Wh to 2,000 Wh'</a:t>
            </a:r>
          </a:p>
        </p:txBody>
      </p:sp>
      <p:pic>
        <p:nvPicPr>
          <p:cNvPr id="39" name="Picture 38" descr="lock.png"/>
          <p:cNvPicPr>
            <a:picLocks noChangeAspect="1"/>
          </p:cNvPicPr>
          <p:nvPr/>
        </p:nvPicPr>
        <p:blipFill>
          <a:blip r:embed="rId5"/>
          <a:stretch>
            <a:fillRect/>
          </a:stretch>
        </p:blipFill>
        <p:spPr>
          <a:xfrm>
            <a:off x="8751960" y="1826260"/>
            <a:ext cx="128699" cy="187198"/>
          </a:xfrm>
          <a:prstGeom prst="rect">
            <a:avLst/>
          </a:prstGeom>
        </p:spPr>
      </p:pic>
      <p:sp>
        <p:nvSpPr>
          <p:cNvPr id="40" name="TextBox 39"/>
          <p:cNvSpPr txBox="1"/>
          <p:nvPr/>
        </p:nvSpPr>
        <p:spPr>
          <a:xfrm>
            <a:off x="8919456" y="1836039"/>
            <a:ext cx="571387" cy="186689"/>
          </a:xfrm>
          <a:prstGeom prst="rect">
            <a:avLst/>
          </a:prstGeom>
          <a:noFill/>
        </p:spPr>
        <p:txBody>
          <a:bodyPr wrap="none" lIns="0" rIns="0" tIns="0" bIns="0">
            <a:spAutoFit/>
          </a:bodyPr>
          <a:lstStyle/>
          <a:p>
            <a:r>
              <a:rPr sz="1100" b="0">
                <a:solidFill>
                  <a:srgbClr val="252423"/>
                </a:solidFill>
                <a:latin typeface="Segoe UI"/>
              </a:rPr>
              <a:t>of 2036.</a:t>
            </a:r>
          </a:p>
        </p:txBody>
      </p:sp>
      <p:sp>
        <p:nvSpPr>
          <p:cNvPr id="41" name="TextBox 40"/>
          <p:cNvSpPr txBox="1"/>
          <p:nvPr/>
        </p:nvSpPr>
        <p:spPr>
          <a:xfrm>
            <a:off x="6305550" y="2053970"/>
            <a:ext cx="1824074" cy="186689"/>
          </a:xfrm>
          <a:prstGeom prst="rect">
            <a:avLst/>
          </a:prstGeom>
          <a:noFill/>
        </p:spPr>
        <p:txBody>
          <a:bodyPr wrap="none" lIns="0" rIns="0" tIns="0" bIns="0">
            <a:spAutoFit/>
          </a:bodyPr>
          <a:lstStyle/>
          <a:p>
            <a:r>
              <a:rPr sz="1100" b="0">
                <a:solidFill>
                  <a:srgbClr val="252423"/>
                </a:solidFill>
                <a:latin typeface="Segoe UI"/>
              </a:rPr>
              <a:t>▪ Lead country United States</a:t>
            </a:r>
          </a:p>
        </p:txBody>
      </p:sp>
      <p:pic>
        <p:nvPicPr>
          <p:cNvPr id="42" name="Picture 41" descr="lock.png"/>
          <p:cNvPicPr>
            <a:picLocks noChangeAspect="1"/>
          </p:cNvPicPr>
          <p:nvPr/>
        </p:nvPicPr>
        <p:blipFill>
          <a:blip r:embed="rId5"/>
          <a:stretch>
            <a:fillRect/>
          </a:stretch>
        </p:blipFill>
        <p:spPr>
          <a:xfrm>
            <a:off x="8077675" y="2044192"/>
            <a:ext cx="128699" cy="187198"/>
          </a:xfrm>
          <a:prstGeom prst="rect">
            <a:avLst/>
          </a:prstGeom>
        </p:spPr>
      </p:pic>
      <p:sp>
        <p:nvSpPr>
          <p:cNvPr id="43" name="TextBox 42"/>
          <p:cNvSpPr txBox="1"/>
          <p:nvPr/>
        </p:nvSpPr>
        <p:spPr>
          <a:xfrm>
            <a:off x="8245171" y="2053970"/>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4" name="TextBox 43"/>
          <p:cNvSpPr txBox="1"/>
          <p:nvPr/>
        </p:nvSpPr>
        <p:spPr>
          <a:xfrm>
            <a:off x="6305550" y="2271903"/>
            <a:ext cx="1660955" cy="186689"/>
          </a:xfrm>
          <a:prstGeom prst="rect">
            <a:avLst/>
          </a:prstGeom>
          <a:noFill/>
        </p:spPr>
        <p:txBody>
          <a:bodyPr wrap="none" lIns="0" rIns="0" tIns="0" bIns="0">
            <a:spAutoFit/>
          </a:bodyPr>
          <a:lstStyle/>
          <a:p>
            <a:r>
              <a:rPr sz="1100" b="0">
                <a:solidFill>
                  <a:srgbClr val="252423"/>
                </a:solidFill>
                <a:latin typeface="Segoe UI"/>
              </a:rPr>
              <a:t>▪ Incremental opportunity</a:t>
            </a:r>
          </a:p>
        </p:txBody>
      </p:sp>
      <p:pic>
        <p:nvPicPr>
          <p:cNvPr id="45" name="Picture 44" descr="lock.png"/>
          <p:cNvPicPr>
            <a:picLocks noChangeAspect="1"/>
          </p:cNvPicPr>
          <p:nvPr/>
        </p:nvPicPr>
        <p:blipFill>
          <a:blip r:embed="rId5"/>
          <a:stretch>
            <a:fillRect/>
          </a:stretch>
        </p:blipFill>
        <p:spPr>
          <a:xfrm>
            <a:off x="7914557" y="2262124"/>
            <a:ext cx="128699" cy="187198"/>
          </a:xfrm>
          <a:prstGeom prst="rect">
            <a:avLst/>
          </a:prstGeom>
        </p:spPr>
      </p:pic>
      <p:sp>
        <p:nvSpPr>
          <p:cNvPr id="46" name="TextBox 45"/>
          <p:cNvSpPr txBox="1"/>
          <p:nvPr/>
        </p:nvSpPr>
        <p:spPr>
          <a:xfrm>
            <a:off x="8082053" y="2271903"/>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7" name="TextBox 46"/>
          <p:cNvSpPr txBox="1"/>
          <p:nvPr/>
        </p:nvSpPr>
        <p:spPr>
          <a:xfrm>
            <a:off x="276225" y="3209925"/>
            <a:ext cx="5538558" cy="194310"/>
          </a:xfrm>
          <a:prstGeom prst="rect">
            <a:avLst/>
          </a:prstGeom>
          <a:noFill/>
        </p:spPr>
        <p:txBody>
          <a:bodyPr wrap="none" lIns="0" rIns="0" tIns="0" bIns="0">
            <a:spAutoFit/>
          </a:bodyPr>
          <a:lstStyle/>
          <a:p>
            <a:r>
              <a:rPr sz="1150" b="0">
                <a:solidFill>
                  <a:srgbClr val="252423"/>
                </a:solidFill>
                <a:latin typeface="Segoe UI"/>
              </a:rPr>
              <a:t>▪ Investment is flowing toward the fastest-growing tier '1,000 Wh to Below 1,500 Wh'</a:t>
            </a:r>
          </a:p>
        </p:txBody>
      </p:sp>
      <p:sp>
        <p:nvSpPr>
          <p:cNvPr id="48" name="TextBox 47"/>
          <p:cNvSpPr txBox="1"/>
          <p:nvPr/>
        </p:nvSpPr>
        <p:spPr>
          <a:xfrm>
            <a:off x="276225" y="3385185"/>
            <a:ext cx="120414"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49" name="Picture 48" descr="lock.png"/>
          <p:cNvPicPr>
            <a:picLocks noChangeAspect="1"/>
          </p:cNvPicPr>
          <p:nvPr/>
        </p:nvPicPr>
        <p:blipFill>
          <a:blip r:embed="rId5"/>
          <a:stretch>
            <a:fillRect/>
          </a:stretch>
        </p:blipFill>
        <p:spPr>
          <a:xfrm>
            <a:off x="345793" y="3374961"/>
            <a:ext cx="134549" cy="195707"/>
          </a:xfrm>
          <a:prstGeom prst="rect">
            <a:avLst/>
          </a:prstGeom>
        </p:spPr>
      </p:pic>
      <p:sp>
        <p:nvSpPr>
          <p:cNvPr id="50" name="TextBox 49"/>
          <p:cNvSpPr txBox="1"/>
          <p:nvPr/>
        </p:nvSpPr>
        <p:spPr>
          <a:xfrm>
            <a:off x="520902" y="338518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1" name="TextBox 50"/>
          <p:cNvSpPr txBox="1"/>
          <p:nvPr/>
        </p:nvSpPr>
        <p:spPr>
          <a:xfrm>
            <a:off x="276225" y="3613022"/>
            <a:ext cx="1112135" cy="194310"/>
          </a:xfrm>
          <a:prstGeom prst="rect">
            <a:avLst/>
          </a:prstGeom>
          <a:noFill/>
        </p:spPr>
        <p:txBody>
          <a:bodyPr wrap="none" lIns="0" rIns="0" tIns="0" bIns="0">
            <a:spAutoFit/>
          </a:bodyPr>
          <a:lstStyle/>
          <a:p>
            <a:r>
              <a:rPr sz="1150" b="0">
                <a:solidFill>
                  <a:srgbClr val="252423"/>
                </a:solidFill>
                <a:latin typeface="Segoe UI"/>
              </a:rPr>
              <a:t>▪ United States (</a:t>
            </a:r>
          </a:p>
        </p:txBody>
      </p:sp>
      <p:pic>
        <p:nvPicPr>
          <p:cNvPr id="52" name="Picture 51" descr="lock.png"/>
          <p:cNvPicPr>
            <a:picLocks noChangeAspect="1"/>
          </p:cNvPicPr>
          <p:nvPr/>
        </p:nvPicPr>
        <p:blipFill>
          <a:blip r:embed="rId5"/>
          <a:stretch>
            <a:fillRect/>
          </a:stretch>
        </p:blipFill>
        <p:spPr>
          <a:xfrm>
            <a:off x="1337514" y="3602799"/>
            <a:ext cx="134549" cy="195707"/>
          </a:xfrm>
          <a:prstGeom prst="rect">
            <a:avLst/>
          </a:prstGeom>
        </p:spPr>
      </p:pic>
      <p:sp>
        <p:nvSpPr>
          <p:cNvPr id="53" name="TextBox 52"/>
          <p:cNvSpPr txBox="1"/>
          <p:nvPr/>
        </p:nvSpPr>
        <p:spPr>
          <a:xfrm>
            <a:off x="1512623" y="3613022"/>
            <a:ext cx="2529588" cy="194310"/>
          </a:xfrm>
          <a:prstGeom prst="rect">
            <a:avLst/>
          </a:prstGeom>
          <a:noFill/>
        </p:spPr>
        <p:txBody>
          <a:bodyPr wrap="none" lIns="0" rIns="0" tIns="0" bIns="0">
            <a:spAutoFit/>
          </a:bodyPr>
          <a:lstStyle/>
          <a:p>
            <a:r>
              <a:rPr sz="1150" b="0">
                <a:solidFill>
                  <a:srgbClr val="252423"/>
                </a:solidFill>
                <a:latin typeface="Segoe UI"/>
              </a:rPr>
              <a:t>) is a priority country for new capacity.</a:t>
            </a:r>
          </a:p>
        </p:txBody>
      </p:sp>
      <p:sp>
        <p:nvSpPr>
          <p:cNvPr id="54" name="TextBox 53"/>
          <p:cNvSpPr txBox="1"/>
          <p:nvPr/>
        </p:nvSpPr>
        <p:spPr>
          <a:xfrm>
            <a:off x="276225" y="3840860"/>
            <a:ext cx="3598475" cy="194310"/>
          </a:xfrm>
          <a:prstGeom prst="rect">
            <a:avLst/>
          </a:prstGeom>
          <a:noFill/>
        </p:spPr>
        <p:txBody>
          <a:bodyPr wrap="none" lIns="0" rIns="0" tIns="0" bIns="0">
            <a:spAutoFit/>
          </a:bodyPr>
          <a:lstStyle/>
          <a:p>
            <a:r>
              <a:rPr sz="1150" b="0">
                <a:solidFill>
                  <a:srgbClr val="252423"/>
                </a:solidFill>
                <a:latin typeface="Segoe UI"/>
              </a:rPr>
              <a:t>▪ Scale players anchor around '1,500 Wh to 2,000 Wh' (</a:t>
            </a:r>
          </a:p>
        </p:txBody>
      </p:sp>
      <p:pic>
        <p:nvPicPr>
          <p:cNvPr id="55" name="Picture 54" descr="lock.png"/>
          <p:cNvPicPr>
            <a:picLocks noChangeAspect="1"/>
          </p:cNvPicPr>
          <p:nvPr/>
        </p:nvPicPr>
        <p:blipFill>
          <a:blip r:embed="rId5"/>
          <a:stretch>
            <a:fillRect/>
          </a:stretch>
        </p:blipFill>
        <p:spPr>
          <a:xfrm>
            <a:off x="3823854" y="3830637"/>
            <a:ext cx="134549" cy="195707"/>
          </a:xfrm>
          <a:prstGeom prst="rect">
            <a:avLst/>
          </a:prstGeom>
        </p:spPr>
      </p:pic>
      <p:sp>
        <p:nvSpPr>
          <p:cNvPr id="56" name="TextBox 55"/>
          <p:cNvSpPr txBox="1"/>
          <p:nvPr/>
        </p:nvSpPr>
        <p:spPr>
          <a:xfrm>
            <a:off x="3998963" y="3840860"/>
            <a:ext cx="498344" cy="194310"/>
          </a:xfrm>
          <a:prstGeom prst="rect">
            <a:avLst/>
          </a:prstGeom>
          <a:noFill/>
        </p:spPr>
        <p:txBody>
          <a:bodyPr wrap="none" lIns="0" rIns="0" tIns="0" bIns="0">
            <a:spAutoFit/>
          </a:bodyPr>
          <a:lstStyle/>
          <a:p>
            <a:r>
              <a:rPr sz="1150" b="0">
                <a:solidFill>
                  <a:srgbClr val="252423"/>
                </a:solidFill>
                <a:latin typeface="Segoe UI"/>
              </a:rPr>
              <a:t>share).</a:t>
            </a:r>
          </a:p>
        </p:txBody>
      </p:sp>
      <p:sp>
        <p:nvSpPr>
          <p:cNvPr id="57" name="TextBox 56"/>
          <p:cNvSpPr txBox="1"/>
          <p:nvPr/>
        </p:nvSpPr>
        <p:spPr>
          <a:xfrm>
            <a:off x="6305550" y="3209925"/>
            <a:ext cx="5499606" cy="186689"/>
          </a:xfrm>
          <a:prstGeom prst="rect">
            <a:avLst/>
          </a:prstGeom>
          <a:noFill/>
        </p:spPr>
        <p:txBody>
          <a:bodyPr wrap="none" lIns="0" rIns="0" tIns="0" bIns="0">
            <a:spAutoFit/>
          </a:bodyPr>
          <a:lstStyle/>
          <a:p>
            <a:r>
              <a:rPr sz="1100" b="0">
                <a:solidFill>
                  <a:srgbClr val="252423"/>
                </a:solidFill>
                <a:latin typeface="Segoe UI"/>
              </a:rPr>
              <a:t>▪ R&amp;D aligns with the migration to '1,000 Wh to Below 1,500 Wh' and adjacent premium</a:t>
            </a:r>
          </a:p>
        </p:txBody>
      </p:sp>
      <p:sp>
        <p:nvSpPr>
          <p:cNvPr id="58" name="TextBox 57"/>
          <p:cNvSpPr txBox="1"/>
          <p:nvPr/>
        </p:nvSpPr>
        <p:spPr>
          <a:xfrm>
            <a:off x="6305550" y="3377565"/>
            <a:ext cx="368713" cy="186689"/>
          </a:xfrm>
          <a:prstGeom prst="rect">
            <a:avLst/>
          </a:prstGeom>
          <a:noFill/>
        </p:spPr>
        <p:txBody>
          <a:bodyPr wrap="none" lIns="0" rIns="0" tIns="0" bIns="0">
            <a:spAutoFit/>
          </a:bodyPr>
          <a:lstStyle/>
          <a:p>
            <a:r>
              <a:rPr sz="1100" b="0">
                <a:solidFill>
                  <a:srgbClr val="252423"/>
                </a:solidFill>
                <a:latin typeface="Segoe UI"/>
              </a:rPr>
              <a:t>tiers.</a:t>
            </a:r>
          </a:p>
        </p:txBody>
      </p:sp>
      <p:sp>
        <p:nvSpPr>
          <p:cNvPr id="59" name="TextBox 58"/>
          <p:cNvSpPr txBox="1"/>
          <p:nvPr/>
        </p:nvSpPr>
        <p:spPr>
          <a:xfrm>
            <a:off x="6305550" y="3595497"/>
            <a:ext cx="5460196" cy="186689"/>
          </a:xfrm>
          <a:prstGeom prst="rect">
            <a:avLst/>
          </a:prstGeom>
          <a:noFill/>
        </p:spPr>
        <p:txBody>
          <a:bodyPr wrap="none" lIns="0" rIns="0" tIns="0" bIns="0">
            <a:spAutoFit/>
          </a:bodyPr>
          <a:lstStyle/>
          <a:p>
            <a:r>
              <a:rPr sz="1100" b="0">
                <a:solidFill>
                  <a:srgbClr val="252423"/>
                </a:solidFill>
                <a:latin typeface="Segoe UI"/>
              </a:rPr>
              <a:t>▪ Development spend targets energy storage capacity categories gaining share to 2036.</a:t>
            </a:r>
          </a:p>
        </p:txBody>
      </p:sp>
      <p:sp>
        <p:nvSpPr>
          <p:cNvPr id="60" name="TextBox 59"/>
          <p:cNvSpPr txBox="1"/>
          <p:nvPr/>
        </p:nvSpPr>
        <p:spPr>
          <a:xfrm>
            <a:off x="6305550" y="3813429"/>
            <a:ext cx="1714089" cy="186689"/>
          </a:xfrm>
          <a:prstGeom prst="rect">
            <a:avLst/>
          </a:prstGeom>
          <a:noFill/>
        </p:spPr>
        <p:txBody>
          <a:bodyPr wrap="none" lIns="0" rIns="0" tIns="0" bIns="0">
            <a:spAutoFit/>
          </a:bodyPr>
          <a:lstStyle/>
          <a:p>
            <a:r>
              <a:rPr sz="1100" b="0">
                <a:solidFill>
                  <a:srgbClr val="252423"/>
                </a:solidFill>
                <a:latin typeface="Segoe UI"/>
              </a:rPr>
              <a:t>▪ Innovation underpins the</a:t>
            </a:r>
          </a:p>
        </p:txBody>
      </p:sp>
      <p:pic>
        <p:nvPicPr>
          <p:cNvPr id="61" name="Picture 60" descr="lock.png"/>
          <p:cNvPicPr>
            <a:picLocks noChangeAspect="1"/>
          </p:cNvPicPr>
          <p:nvPr/>
        </p:nvPicPr>
        <p:blipFill>
          <a:blip r:embed="rId5"/>
          <a:stretch>
            <a:fillRect/>
          </a:stretch>
        </p:blipFill>
        <p:spPr>
          <a:xfrm>
            <a:off x="7967691" y="3803650"/>
            <a:ext cx="128699" cy="187198"/>
          </a:xfrm>
          <a:prstGeom prst="rect">
            <a:avLst/>
          </a:prstGeom>
        </p:spPr>
      </p:pic>
      <p:sp>
        <p:nvSpPr>
          <p:cNvPr id="62" name="TextBox 61"/>
          <p:cNvSpPr txBox="1"/>
          <p:nvPr/>
        </p:nvSpPr>
        <p:spPr>
          <a:xfrm>
            <a:off x="8135186" y="3813429"/>
            <a:ext cx="990193" cy="186689"/>
          </a:xfrm>
          <a:prstGeom prst="rect">
            <a:avLst/>
          </a:prstGeom>
          <a:noFill/>
        </p:spPr>
        <p:txBody>
          <a:bodyPr wrap="none" lIns="0" rIns="0" tIns="0" bIns="0">
            <a:spAutoFit/>
          </a:bodyPr>
          <a:lstStyle/>
          <a:p>
            <a:r>
              <a:rPr sz="1100" b="0">
                <a:solidFill>
                  <a:srgbClr val="252423"/>
                </a:solidFill>
                <a:latin typeface="Segoe UI"/>
              </a:rPr>
              <a:t>forecast CAGR.</a:t>
            </a:r>
          </a:p>
        </p:txBody>
      </p:sp>
      <p:sp>
        <p:nvSpPr>
          <p:cNvPr id="63" name="lockshield_26"/>
          <p:cNvSpPr/>
          <p:nvPr/>
        </p:nvSpPr>
        <p:spPr>
          <a:xfrm>
            <a:off x="238125" y="4781550"/>
            <a:ext cx="11715750" cy="17716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2" name="Rectangle 11"/>
          <p:cNvSpPr/>
          <p:nvPr/>
        </p:nvSpPr>
        <p:spPr>
          <a:xfrm>
            <a:off x="6172200"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'1,000 Wh to Below 1,500 Wh' tier and Outdoor &amp; Recreational Power within system application.</a:t>
            </a:r>
          </a:p>
        </p:txBody>
      </p:sp>
      <p:sp>
        <p:nvSpPr>
          <p:cNvPr id="16" name="Rectangle 15"/>
          <p:cNvSpPr/>
          <p:nvPr/>
        </p:nvSpPr>
        <p:spPr>
          <a:xfrm>
            <a:off x="142875"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142875" y="4619625"/>
            <a:ext cx="11906250" cy="20002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943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552103" cy="194310"/>
          </a:xfrm>
          <a:prstGeom prst="rect">
            <a:avLst/>
          </a:prstGeom>
          <a:noFill/>
        </p:spPr>
        <p:txBody>
          <a:bodyPr wrap="none" lIns="0" rIns="0" tIns="0" bIns="0">
            <a:spAutoFit/>
          </a:bodyPr>
          <a:lstStyle/>
          <a:p>
            <a:r>
              <a:rPr sz="1150" b="0">
                <a:solidFill>
                  <a:srgbClr val="252423"/>
                </a:solidFill>
                <a:latin typeface="Segoe UI"/>
              </a:rPr>
              <a:t>▪ Balance scale in '1,500 Wh to 2,000 Wh' with targeted growth in '1,000 Wh to Below</a:t>
            </a:r>
          </a:p>
        </p:txBody>
      </p:sp>
      <p:sp>
        <p:nvSpPr>
          <p:cNvPr id="30" name="TextBox 29"/>
          <p:cNvSpPr txBox="1"/>
          <p:nvPr/>
        </p:nvSpPr>
        <p:spPr>
          <a:xfrm>
            <a:off x="276225" y="1575435"/>
            <a:ext cx="1604037" cy="194310"/>
          </a:xfrm>
          <a:prstGeom prst="rect">
            <a:avLst/>
          </a:prstGeom>
          <a:noFill/>
        </p:spPr>
        <p:txBody>
          <a:bodyPr wrap="none" lIns="0" rIns="0" tIns="0" bIns="0">
            <a:spAutoFit/>
          </a:bodyPr>
          <a:lstStyle/>
          <a:p>
            <a:r>
              <a:rPr sz="1150" b="0">
                <a:solidFill>
                  <a:srgbClr val="252423"/>
                </a:solidFill>
                <a:latin typeface="Segoe UI"/>
              </a:rPr>
              <a:t>1,500 Wh', pursuing the</a:t>
            </a:r>
          </a:p>
        </p:txBody>
      </p:sp>
      <p:pic>
        <p:nvPicPr>
          <p:cNvPr id="31" name="Picture 30" descr="lock.png"/>
          <p:cNvPicPr>
            <a:picLocks noChangeAspect="1"/>
          </p:cNvPicPr>
          <p:nvPr/>
        </p:nvPicPr>
        <p:blipFill>
          <a:blip r:embed="rId4"/>
          <a:stretch>
            <a:fillRect/>
          </a:stretch>
        </p:blipFill>
        <p:spPr>
          <a:xfrm>
            <a:off x="1829416" y="1565211"/>
            <a:ext cx="134549" cy="195707"/>
          </a:xfrm>
          <a:prstGeom prst="rect">
            <a:avLst/>
          </a:prstGeom>
        </p:spPr>
      </p:pic>
      <p:sp>
        <p:nvSpPr>
          <p:cNvPr id="32" name="TextBox 31"/>
          <p:cNvSpPr txBox="1"/>
          <p:nvPr/>
        </p:nvSpPr>
        <p:spPr>
          <a:xfrm>
            <a:off x="2004525" y="1575435"/>
            <a:ext cx="1660812" cy="194310"/>
          </a:xfrm>
          <a:prstGeom prst="rect">
            <a:avLst/>
          </a:prstGeom>
          <a:noFill/>
        </p:spPr>
        <p:txBody>
          <a:bodyPr wrap="none" lIns="0" rIns="0" tIns="0" bIns="0">
            <a:spAutoFit/>
          </a:bodyPr>
          <a:lstStyle/>
          <a:p>
            <a:r>
              <a:rPr sz="1150" b="0">
                <a:solidFill>
                  <a:srgbClr val="252423"/>
                </a:solidFill>
                <a:latin typeface="Segoe UI"/>
              </a:rPr>
              <a:t>CAGR trajectory to 2036.</a:t>
            </a:r>
          </a:p>
        </p:txBody>
      </p:sp>
      <p:sp>
        <p:nvSpPr>
          <p:cNvPr id="33" name="TextBox 32"/>
          <p:cNvSpPr txBox="1"/>
          <p:nvPr/>
        </p:nvSpPr>
        <p:spPr>
          <a:xfrm>
            <a:off x="276225" y="3219450"/>
            <a:ext cx="2775254" cy="194310"/>
          </a:xfrm>
          <a:prstGeom prst="rect">
            <a:avLst/>
          </a:prstGeom>
          <a:noFill/>
        </p:spPr>
        <p:txBody>
          <a:bodyPr wrap="none" lIns="0" rIns="0" tIns="0" bIns="0">
            <a:spAutoFit/>
          </a:bodyPr>
          <a:lstStyle/>
          <a:p>
            <a:r>
              <a:rPr sz="1150" b="0">
                <a:solidFill>
                  <a:srgbClr val="252423"/>
                </a:solidFill>
                <a:latin typeface="Segoe UI"/>
              </a:rPr>
              <a:t>▪ Prioritise '1,000 Wh to Below 1,500 Wh' (</a:t>
            </a:r>
          </a:p>
        </p:txBody>
      </p:sp>
      <p:pic>
        <p:nvPicPr>
          <p:cNvPr id="34" name="Picture 33" descr="lock.png"/>
          <p:cNvPicPr>
            <a:picLocks noChangeAspect="1"/>
          </p:cNvPicPr>
          <p:nvPr/>
        </p:nvPicPr>
        <p:blipFill>
          <a:blip r:embed="rId4"/>
          <a:stretch>
            <a:fillRect/>
          </a:stretch>
        </p:blipFill>
        <p:spPr>
          <a:xfrm>
            <a:off x="3000633" y="3209226"/>
            <a:ext cx="134549" cy="195707"/>
          </a:xfrm>
          <a:prstGeom prst="rect">
            <a:avLst/>
          </a:prstGeom>
        </p:spPr>
      </p:pic>
      <p:sp>
        <p:nvSpPr>
          <p:cNvPr id="35" name="TextBox 34"/>
          <p:cNvSpPr txBox="1"/>
          <p:nvPr/>
        </p:nvSpPr>
        <p:spPr>
          <a:xfrm>
            <a:off x="3175742" y="3219450"/>
            <a:ext cx="2231293" cy="194310"/>
          </a:xfrm>
          <a:prstGeom prst="rect">
            <a:avLst/>
          </a:prstGeom>
          <a:noFill/>
        </p:spPr>
        <p:txBody>
          <a:bodyPr wrap="none" lIns="0" rIns="0" tIns="0" bIns="0">
            <a:spAutoFit/>
          </a:bodyPr>
          <a:lstStyle/>
          <a:p>
            <a:r>
              <a:rPr sz="1150" b="0">
                <a:solidFill>
                  <a:srgbClr val="252423"/>
                </a:solidFill>
                <a:latin typeface="Segoe UI"/>
              </a:rPr>
              <a:t>); '1,500 Wh to 2,000 Wh' anchors</a:t>
            </a:r>
          </a:p>
        </p:txBody>
      </p:sp>
      <p:pic>
        <p:nvPicPr>
          <p:cNvPr id="36" name="Picture 35" descr="lock.png"/>
          <p:cNvPicPr>
            <a:picLocks noChangeAspect="1"/>
          </p:cNvPicPr>
          <p:nvPr/>
        </p:nvPicPr>
        <p:blipFill>
          <a:blip r:embed="rId4"/>
          <a:stretch>
            <a:fillRect/>
          </a:stretch>
        </p:blipFill>
        <p:spPr>
          <a:xfrm>
            <a:off x="5356190" y="3209226"/>
            <a:ext cx="134549" cy="195707"/>
          </a:xfrm>
          <a:prstGeom prst="rect">
            <a:avLst/>
          </a:prstGeom>
        </p:spPr>
      </p:pic>
      <p:sp>
        <p:nvSpPr>
          <p:cNvPr id="37" name="TextBox 36"/>
          <p:cNvSpPr txBox="1"/>
          <p:nvPr/>
        </p:nvSpPr>
        <p:spPr>
          <a:xfrm>
            <a:off x="5531299" y="3219450"/>
            <a:ext cx="207376" cy="194310"/>
          </a:xfrm>
          <a:prstGeom prst="rect">
            <a:avLst/>
          </a:prstGeom>
          <a:noFill/>
        </p:spPr>
        <p:txBody>
          <a:bodyPr wrap="none" lIns="0" rIns="0" tIns="0" bIns="0">
            <a:spAutoFit/>
          </a:bodyPr>
          <a:lstStyle/>
          <a:p>
            <a:r>
              <a:rPr sz="1150" b="0">
                <a:solidFill>
                  <a:srgbClr val="252423"/>
                </a:solidFill>
                <a:latin typeface="Segoe UI"/>
              </a:rPr>
              <a:t>of</a:t>
            </a:r>
          </a:p>
        </p:txBody>
      </p:sp>
      <p:sp>
        <p:nvSpPr>
          <p:cNvPr id="38" name="TextBox 37"/>
          <p:cNvSpPr txBox="1"/>
          <p:nvPr/>
        </p:nvSpPr>
        <p:spPr>
          <a:xfrm>
            <a:off x="276225" y="3394710"/>
            <a:ext cx="446704" cy="194310"/>
          </a:xfrm>
          <a:prstGeom prst="rect">
            <a:avLst/>
          </a:prstGeom>
          <a:noFill/>
        </p:spPr>
        <p:txBody>
          <a:bodyPr wrap="none" lIns="0" rIns="0" tIns="0" bIns="0">
            <a:spAutoFit/>
          </a:bodyPr>
          <a:lstStyle/>
          <a:p>
            <a:r>
              <a:rPr sz="1150" b="0">
                <a:solidFill>
                  <a:srgbClr val="252423"/>
                </a:solidFill>
                <a:latin typeface="Segoe UI"/>
              </a:rPr>
              <a:t>value.</a:t>
            </a:r>
          </a:p>
        </p:txBody>
      </p:sp>
      <p:sp>
        <p:nvSpPr>
          <p:cNvPr id="39" name="TextBox 38"/>
          <p:cNvSpPr txBox="1"/>
          <p:nvPr/>
        </p:nvSpPr>
        <p:spPr>
          <a:xfrm>
            <a:off x="6305550" y="3219450"/>
            <a:ext cx="1771071" cy="194310"/>
          </a:xfrm>
          <a:prstGeom prst="rect">
            <a:avLst/>
          </a:prstGeom>
          <a:noFill/>
        </p:spPr>
        <p:txBody>
          <a:bodyPr wrap="none" lIns="0" rIns="0" tIns="0" bIns="0">
            <a:spAutoFit/>
          </a:bodyPr>
          <a:lstStyle/>
          <a:p>
            <a:r>
              <a:rPr sz="1150" b="0">
                <a:solidFill>
                  <a:srgbClr val="252423"/>
                </a:solidFill>
                <a:latin typeface="Segoe UI"/>
              </a:rPr>
              <a:t>▪ Lead with United States (</a:t>
            </a:r>
          </a:p>
        </p:txBody>
      </p:sp>
      <p:pic>
        <p:nvPicPr>
          <p:cNvPr id="40" name="Picture 39" descr="lock.png"/>
          <p:cNvPicPr>
            <a:picLocks noChangeAspect="1"/>
          </p:cNvPicPr>
          <p:nvPr/>
        </p:nvPicPr>
        <p:blipFill>
          <a:blip r:embed="rId4"/>
          <a:stretch>
            <a:fillRect/>
          </a:stretch>
        </p:blipFill>
        <p:spPr>
          <a:xfrm>
            <a:off x="8025775" y="3209226"/>
            <a:ext cx="134549" cy="195707"/>
          </a:xfrm>
          <a:prstGeom prst="rect">
            <a:avLst/>
          </a:prstGeom>
        </p:spPr>
      </p:pic>
      <p:sp>
        <p:nvSpPr>
          <p:cNvPr id="41" name="TextBox 40"/>
          <p:cNvSpPr txBox="1"/>
          <p:nvPr/>
        </p:nvSpPr>
        <p:spPr>
          <a:xfrm>
            <a:off x="8200884" y="3219450"/>
            <a:ext cx="2290202" cy="194310"/>
          </a:xfrm>
          <a:prstGeom prst="rect">
            <a:avLst/>
          </a:prstGeom>
          <a:noFill/>
        </p:spPr>
        <p:txBody>
          <a:bodyPr wrap="none" lIns="0" rIns="0" tIns="0" bIns="0">
            <a:spAutoFit/>
          </a:bodyPr>
          <a:lstStyle/>
          <a:p>
            <a:r>
              <a:rPr sz="1150" b="0">
                <a:solidFill>
                  <a:srgbClr val="252423"/>
                </a:solidFill>
                <a:latin typeface="Segoe UI"/>
              </a:rPr>
              <a:t>); capture upside in United States (</a:t>
            </a:r>
          </a:p>
        </p:txBody>
      </p:sp>
      <p:pic>
        <p:nvPicPr>
          <p:cNvPr id="42" name="Picture 41" descr="lock.png"/>
          <p:cNvPicPr>
            <a:picLocks noChangeAspect="1"/>
          </p:cNvPicPr>
          <p:nvPr/>
        </p:nvPicPr>
        <p:blipFill>
          <a:blip r:embed="rId4"/>
          <a:stretch>
            <a:fillRect/>
          </a:stretch>
        </p:blipFill>
        <p:spPr>
          <a:xfrm>
            <a:off x="10440241" y="3209226"/>
            <a:ext cx="134549" cy="195707"/>
          </a:xfrm>
          <a:prstGeom prst="rect">
            <a:avLst/>
          </a:prstGeom>
        </p:spPr>
      </p:pic>
      <p:sp>
        <p:nvSpPr>
          <p:cNvPr id="43" name="TextBox 42"/>
          <p:cNvSpPr txBox="1"/>
          <p:nvPr/>
        </p:nvSpPr>
        <p:spPr>
          <a:xfrm>
            <a:off x="10615350" y="321945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038725"/>
            <a:ext cx="3164135" cy="194310"/>
          </a:xfrm>
          <a:prstGeom prst="rect">
            <a:avLst/>
          </a:prstGeom>
          <a:noFill/>
        </p:spPr>
        <p:txBody>
          <a:bodyPr wrap="none" lIns="0" rIns="0" tIns="0" bIns="0">
            <a:spAutoFit/>
          </a:bodyPr>
          <a:lstStyle/>
          <a:p>
            <a:r>
              <a:rPr sz="1150" b="0">
                <a:solidFill>
                  <a:srgbClr val="252423"/>
                </a:solidFill>
                <a:latin typeface="Segoe UI"/>
              </a:rPr>
              <a:t>▪ Lithium Polymer Portable Energy Storage adds</a:t>
            </a:r>
          </a:p>
        </p:txBody>
      </p:sp>
      <p:pic>
        <p:nvPicPr>
          <p:cNvPr id="45" name="Picture 44" descr="lock.png"/>
          <p:cNvPicPr>
            <a:picLocks noChangeAspect="1"/>
          </p:cNvPicPr>
          <p:nvPr/>
        </p:nvPicPr>
        <p:blipFill>
          <a:blip r:embed="rId4"/>
          <a:stretch>
            <a:fillRect/>
          </a:stretch>
        </p:blipFill>
        <p:spPr>
          <a:xfrm>
            <a:off x="3389514" y="5028501"/>
            <a:ext cx="134549" cy="195707"/>
          </a:xfrm>
          <a:prstGeom prst="rect">
            <a:avLst/>
          </a:prstGeom>
        </p:spPr>
      </p:pic>
      <p:sp>
        <p:nvSpPr>
          <p:cNvPr id="46" name="TextBox 45"/>
          <p:cNvSpPr txBox="1"/>
          <p:nvPr/>
        </p:nvSpPr>
        <p:spPr>
          <a:xfrm>
            <a:off x="3564624" y="5038725"/>
            <a:ext cx="1973936" cy="194310"/>
          </a:xfrm>
          <a:prstGeom prst="rect">
            <a:avLst/>
          </a:prstGeom>
          <a:noFill/>
        </p:spPr>
        <p:txBody>
          <a:bodyPr wrap="none" lIns="0" rIns="0" tIns="0" bIns="0">
            <a:spAutoFit/>
          </a:bodyPr>
          <a:lstStyle/>
          <a:p>
            <a:r>
              <a:rPr sz="1150" b="0">
                <a:solidFill>
                  <a:srgbClr val="252423"/>
                </a:solidFill>
                <a:latin typeface="Segoe UI"/>
              </a:rPr>
              <a:t>US$ Mn of demand to 2036 a</a:t>
            </a:r>
          </a:p>
        </p:txBody>
      </p:sp>
      <p:pic>
        <p:nvPicPr>
          <p:cNvPr id="47" name="Picture 46" descr="lock.png"/>
          <p:cNvPicPr>
            <a:picLocks noChangeAspect="1"/>
          </p:cNvPicPr>
          <p:nvPr/>
        </p:nvPicPr>
        <p:blipFill>
          <a:blip r:embed="rId4"/>
          <a:stretch>
            <a:fillRect/>
          </a:stretch>
        </p:blipFill>
        <p:spPr>
          <a:xfrm>
            <a:off x="5487714" y="5028501"/>
            <a:ext cx="134549" cy="195707"/>
          </a:xfrm>
          <a:prstGeom prst="rect">
            <a:avLst/>
          </a:prstGeom>
        </p:spPr>
      </p:pic>
      <p:sp>
        <p:nvSpPr>
          <p:cNvPr id="48" name="TextBox 47"/>
          <p:cNvSpPr txBox="1"/>
          <p:nvPr/>
        </p:nvSpPr>
        <p:spPr>
          <a:xfrm>
            <a:off x="5662823" y="5038725"/>
            <a:ext cx="899696" cy="194310"/>
          </a:xfrm>
          <a:prstGeom prst="rect">
            <a:avLst/>
          </a:prstGeom>
          <a:noFill/>
        </p:spPr>
        <p:txBody>
          <a:bodyPr wrap="none" lIns="0" rIns="0" tIns="0" bIns="0">
            <a:spAutoFit/>
          </a:bodyPr>
          <a:lstStyle/>
          <a:p>
            <a:r>
              <a:rPr sz="1150" b="0">
                <a:solidFill>
                  <a:srgbClr val="252423"/>
                </a:solidFill>
                <a:latin typeface="Segoe UI"/>
              </a:rPr>
              <a:t>× expansion.</a:t>
            </a:r>
          </a:p>
        </p:txBody>
      </p:sp>
      <p:sp>
        <p:nvSpPr>
          <p:cNvPr id="49" name="TextBox 48"/>
          <p:cNvSpPr txBox="1"/>
          <p:nvPr/>
        </p:nvSpPr>
        <p:spPr>
          <a:xfrm>
            <a:off x="276225" y="5266563"/>
            <a:ext cx="6866036" cy="194310"/>
          </a:xfrm>
          <a:prstGeom prst="rect">
            <a:avLst/>
          </a:prstGeom>
          <a:noFill/>
        </p:spPr>
        <p:txBody>
          <a:bodyPr wrap="none" lIns="0" rIns="0" tIns="0" bIns="0">
            <a:spAutoFit/>
          </a:bodyPr>
          <a:lstStyle/>
          <a:p>
            <a:r>
              <a:rPr sz="1150" b="0">
                <a:solidFill>
                  <a:srgbClr val="252423"/>
                </a:solidFill>
                <a:latin typeface="Segoe UI"/>
              </a:rPr>
              <a:t>▪ Concentrate resources on the leading segment/country while seeding the fastest-growing pockets early.</a:t>
            </a:r>
          </a:p>
        </p:txBody>
      </p:sp>
      <p:sp>
        <p:nvSpPr>
          <p:cNvPr id="50" name="TextBox 49"/>
          <p:cNvSpPr txBox="1"/>
          <p:nvPr/>
        </p:nvSpPr>
        <p:spPr>
          <a:xfrm>
            <a:off x="276225" y="5494400"/>
            <a:ext cx="5053818" cy="194310"/>
          </a:xfrm>
          <a:prstGeom prst="rect">
            <a:avLst/>
          </a:prstGeom>
          <a:noFill/>
        </p:spPr>
        <p:txBody>
          <a:bodyPr wrap="none" lIns="0" rIns="0" tIns="0" bIns="0">
            <a:spAutoFit/>
          </a:bodyPr>
          <a:lstStyle/>
          <a:p>
            <a:r>
              <a:rPr sz="1150" b="0">
                <a:solidFill>
                  <a:srgbClr val="252423"/>
                </a:solidFill>
                <a:latin typeface="Segoe UI"/>
              </a:rPr>
              <a:t>▪ Defend share in '1,500 Wh to 2,000 Wh' as the value anchor of the portfolio.</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Scenario Outlook (4/4)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Scenario outlook comparing optimistic, likely and conservative outcomes for 2036 and the CAGR behind each</a:t>
            </a:r>
          </a:p>
        </p:txBody>
      </p:sp>
      <p:sp>
        <p:nvSpPr>
          <p:cNvPr id="8" name="Rounded Rectangle 7"/>
          <p:cNvSpPr/>
          <p:nvPr/>
        </p:nvSpPr>
        <p:spPr>
          <a:xfrm>
            <a:off x="142875" y="981075"/>
            <a:ext cx="3943350"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9" name="Rounded Rectangle 8"/>
          <p:cNvSpPr/>
          <p:nvPr/>
        </p:nvSpPr>
        <p:spPr>
          <a:xfrm>
            <a:off x="4238625"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0" name="Rounded Rectangle 9"/>
          <p:cNvSpPr/>
          <p:nvPr/>
        </p:nvSpPr>
        <p:spPr>
          <a:xfrm>
            <a:off x="8210550"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1" name="Rectangle 10"/>
          <p:cNvSpPr/>
          <p:nvPr/>
        </p:nvSpPr>
        <p:spPr>
          <a:xfrm>
            <a:off x="142875"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Lithium Polymer Portable Energy Storage Market Value (US$ Mn) Scenario Forecast, 2025 &amp; 2036</a:t>
            </a:r>
          </a:p>
        </p:txBody>
      </p:sp>
      <p:cxnSp>
        <p:nvCxnSpPr>
          <p:cNvPr id="13" name="Connector 12"/>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06342" y="3931147"/>
            <a:ext cx="635826" cy="37415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3936" y="3354099"/>
            <a:ext cx="635826" cy="951201"/>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5725" y="3028707"/>
            <a:ext cx="635826" cy="127659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456468" y="3220749"/>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70768" y="3115974"/>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0" name="Connector 19"/>
          <p:cNvCxnSpPr/>
          <p:nvPr/>
        </p:nvCxnSpPr>
        <p:spPr>
          <a:xfrm>
            <a:off x="1456468" y="2895357"/>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90582"/>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2" name="Connector 21"/>
          <p:cNvCxnSpPr/>
          <p:nvPr/>
        </p:nvCxnSpPr>
        <p:spPr>
          <a:xfrm>
            <a:off x="1456468" y="2471738"/>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36696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sp>
        <p:nvSpPr>
          <p:cNvPr id="24" name="TextBox 23"/>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2025</a:t>
            </a:r>
          </a:p>
        </p:txBody>
      </p:sp>
      <p:sp>
        <p:nvSpPr>
          <p:cNvPr id="25" name="TextBox 24"/>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2036</a:t>
            </a:r>
          </a:p>
        </p:txBody>
      </p:sp>
      <p:sp>
        <p:nvSpPr>
          <p:cNvPr id="26" name="Oval 25"/>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Conservative Scenario</a:t>
            </a:r>
          </a:p>
        </p:txBody>
      </p:sp>
      <p:sp>
        <p:nvSpPr>
          <p:cNvPr id="28" name="Oval 27"/>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Likely Scenario</a:t>
            </a:r>
          </a:p>
        </p:txBody>
      </p:sp>
      <p:sp>
        <p:nvSpPr>
          <p:cNvPr id="30" name="Oval 29"/>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Optimistic Scenario</a:t>
            </a:r>
          </a:p>
        </p:txBody>
      </p:sp>
      <p:sp>
        <p:nvSpPr>
          <p:cNvPr id="32" name="Rectangle 31"/>
          <p:cNvSpPr/>
          <p:nvPr/>
        </p:nvSpPr>
        <p:spPr>
          <a:xfrm>
            <a:off x="6172200"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Lithium Polymer Portable Energy Storage Market Attractiveness Analysis By Region, 2026–2036</a:t>
            </a:r>
          </a:p>
        </p:txBody>
      </p:sp>
      <p:graphicFrame>
        <p:nvGraphicFramePr>
          <p:cNvPr id="34" name="Chart 33"/>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5" name="Rectangle 34"/>
          <p:cNvSpPr/>
          <p:nvPr/>
        </p:nvSpPr>
        <p:spPr>
          <a:xfrm>
            <a:off x="142875" y="4953000"/>
            <a:ext cx="11906250"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07BA5"/>
                </a:solidFill>
                <a:latin typeface="Segoe UI"/>
              </a:rPr>
              <a:t>Scenario Assumptions &amp; Outlook</a:t>
            </a:r>
          </a:p>
        </p:txBody>
      </p:sp>
      <p:sp>
        <p:nvSpPr>
          <p:cNvPr id="37" name="Rectangle 36"/>
          <p:cNvSpPr/>
          <p:nvPr/>
        </p:nvSpPr>
        <p:spPr>
          <a:xfrm>
            <a:off x="276225" y="52768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39" name="TextBox 3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564099" y="1028326"/>
            <a:ext cx="1177101" cy="166573"/>
          </a:xfrm>
          <a:prstGeom prst="rect">
            <a:avLst/>
          </a:prstGeom>
          <a:noFill/>
        </p:spPr>
        <p:txBody>
          <a:bodyPr wrap="none" lIns="0" rIns="0" tIns="0" bIns="0">
            <a:spAutoFit/>
          </a:bodyPr>
          <a:lstStyle/>
          <a:p>
            <a:r>
              <a:rPr sz="968" b="1">
                <a:solidFill>
                  <a:srgbClr val="605E5C"/>
                </a:solidFill>
                <a:latin typeface="Segoe UI"/>
              </a:rPr>
              <a:t>OPTIMISTIC (2036)</a:t>
            </a:r>
          </a:p>
        </p:txBody>
      </p:sp>
      <p:sp>
        <p:nvSpPr>
          <p:cNvPr id="44" name="TextBox 43"/>
          <p:cNvSpPr txBox="1"/>
          <p:nvPr/>
        </p:nvSpPr>
        <p:spPr>
          <a:xfrm>
            <a:off x="1890239"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5" name="Picture 44" descr="lock.png"/>
          <p:cNvPicPr>
            <a:picLocks noChangeAspect="1"/>
          </p:cNvPicPr>
          <p:nvPr/>
        </p:nvPicPr>
        <p:blipFill>
          <a:blip r:embed="rId5"/>
          <a:stretch>
            <a:fillRect/>
          </a:stretch>
        </p:blipFill>
        <p:spPr>
          <a:xfrm>
            <a:off x="2224657" y="1473019"/>
            <a:ext cx="113255" cy="164734"/>
          </a:xfrm>
          <a:prstGeom prst="rect">
            <a:avLst/>
          </a:prstGeom>
        </p:spPr>
      </p:pic>
      <p:sp>
        <p:nvSpPr>
          <p:cNvPr id="46" name="TextBox 45"/>
          <p:cNvSpPr txBox="1"/>
          <p:nvPr/>
        </p:nvSpPr>
        <p:spPr>
          <a:xfrm>
            <a:off x="5752154" y="1028326"/>
            <a:ext cx="868665" cy="166573"/>
          </a:xfrm>
          <a:prstGeom prst="rect">
            <a:avLst/>
          </a:prstGeom>
          <a:noFill/>
        </p:spPr>
        <p:txBody>
          <a:bodyPr wrap="none" lIns="0" rIns="0" tIns="0" bIns="0">
            <a:spAutoFit/>
          </a:bodyPr>
          <a:lstStyle/>
          <a:p>
            <a:r>
              <a:rPr sz="968" b="1">
                <a:solidFill>
                  <a:srgbClr val="605E5C"/>
                </a:solidFill>
                <a:latin typeface="Segoe UI"/>
              </a:rPr>
              <a:t>LIKELY (2036)</a:t>
            </a:r>
          </a:p>
        </p:txBody>
      </p:sp>
      <p:sp>
        <p:nvSpPr>
          <p:cNvPr id="47" name="TextBox 46"/>
          <p:cNvSpPr txBox="1"/>
          <p:nvPr/>
        </p:nvSpPr>
        <p:spPr>
          <a:xfrm>
            <a:off x="5924076"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8" name="Picture 47" descr="lock.png"/>
          <p:cNvPicPr>
            <a:picLocks noChangeAspect="1"/>
          </p:cNvPicPr>
          <p:nvPr/>
        </p:nvPicPr>
        <p:blipFill>
          <a:blip r:embed="rId5"/>
          <a:stretch>
            <a:fillRect/>
          </a:stretch>
        </p:blipFill>
        <p:spPr>
          <a:xfrm>
            <a:off x="6258494" y="1473019"/>
            <a:ext cx="113255" cy="164734"/>
          </a:xfrm>
          <a:prstGeom prst="rect">
            <a:avLst/>
          </a:prstGeom>
        </p:spPr>
      </p:pic>
      <p:sp>
        <p:nvSpPr>
          <p:cNvPr id="49" name="TextBox 48"/>
          <p:cNvSpPr txBox="1"/>
          <p:nvPr/>
        </p:nvSpPr>
        <p:spPr>
          <a:xfrm>
            <a:off x="9461940" y="1028326"/>
            <a:ext cx="1392944" cy="166573"/>
          </a:xfrm>
          <a:prstGeom prst="rect">
            <a:avLst/>
          </a:prstGeom>
          <a:noFill/>
        </p:spPr>
        <p:txBody>
          <a:bodyPr wrap="none" lIns="0" rIns="0" tIns="0" bIns="0">
            <a:spAutoFit/>
          </a:bodyPr>
          <a:lstStyle/>
          <a:p>
            <a:r>
              <a:rPr sz="968" b="1">
                <a:solidFill>
                  <a:srgbClr val="605E5C"/>
                </a:solidFill>
                <a:latin typeface="Segoe UI"/>
              </a:rPr>
              <a:t>CONSERVATIVE (2036)</a:t>
            </a:r>
          </a:p>
        </p:txBody>
      </p:sp>
      <p:sp>
        <p:nvSpPr>
          <p:cNvPr id="50" name="TextBox 49"/>
          <p:cNvSpPr txBox="1"/>
          <p:nvPr/>
        </p:nvSpPr>
        <p:spPr>
          <a:xfrm>
            <a:off x="9896001"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51" name="Picture 50" descr="lock.png"/>
          <p:cNvPicPr>
            <a:picLocks noChangeAspect="1"/>
          </p:cNvPicPr>
          <p:nvPr/>
        </p:nvPicPr>
        <p:blipFill>
          <a:blip r:embed="rId5"/>
          <a:stretch>
            <a:fillRect/>
          </a:stretch>
        </p:blipFill>
        <p:spPr>
          <a:xfrm>
            <a:off x="10230419" y="1473019"/>
            <a:ext cx="113255" cy="164734"/>
          </a:xfrm>
          <a:prstGeom prst="rect">
            <a:avLst/>
          </a:prstGeom>
        </p:spPr>
      </p:pic>
      <p:sp>
        <p:nvSpPr>
          <p:cNvPr id="52" name="TextBox 51"/>
          <p:cNvSpPr txBox="1"/>
          <p:nvPr/>
        </p:nvSpPr>
        <p:spPr>
          <a:xfrm>
            <a:off x="2011674" y="3150340"/>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3" name="Picture 52" descr="lock.png"/>
          <p:cNvPicPr>
            <a:picLocks noChangeAspect="1"/>
          </p:cNvPicPr>
          <p:nvPr/>
        </p:nvPicPr>
        <p:blipFill>
          <a:blip r:embed="rId5"/>
          <a:stretch>
            <a:fillRect/>
          </a:stretch>
        </p:blipFill>
        <p:spPr>
          <a:xfrm>
            <a:off x="2379717" y="3142125"/>
            <a:ext cx="108107" cy="157246"/>
          </a:xfrm>
          <a:prstGeom prst="rect">
            <a:avLst/>
          </a:prstGeom>
        </p:spPr>
      </p:pic>
      <p:sp>
        <p:nvSpPr>
          <p:cNvPr id="54" name="TextBox 53"/>
          <p:cNvSpPr txBox="1"/>
          <p:nvPr/>
        </p:nvSpPr>
        <p:spPr>
          <a:xfrm>
            <a:off x="2011674" y="2824948"/>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5" name="Picture 54" descr="lock.png"/>
          <p:cNvPicPr>
            <a:picLocks noChangeAspect="1"/>
          </p:cNvPicPr>
          <p:nvPr/>
        </p:nvPicPr>
        <p:blipFill>
          <a:blip r:embed="rId5"/>
          <a:stretch>
            <a:fillRect/>
          </a:stretch>
        </p:blipFill>
        <p:spPr>
          <a:xfrm>
            <a:off x="2379717" y="2816733"/>
            <a:ext cx="108107" cy="157246"/>
          </a:xfrm>
          <a:prstGeom prst="rect">
            <a:avLst/>
          </a:prstGeom>
        </p:spPr>
      </p:pic>
      <p:sp>
        <p:nvSpPr>
          <p:cNvPr id="56" name="TextBox 55"/>
          <p:cNvSpPr txBox="1"/>
          <p:nvPr/>
        </p:nvSpPr>
        <p:spPr>
          <a:xfrm>
            <a:off x="2011674" y="2401328"/>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7" name="Picture 56" descr="lock.png"/>
          <p:cNvPicPr>
            <a:picLocks noChangeAspect="1"/>
          </p:cNvPicPr>
          <p:nvPr/>
        </p:nvPicPr>
        <p:blipFill>
          <a:blip r:embed="rId5"/>
          <a:stretch>
            <a:fillRect/>
          </a:stretch>
        </p:blipFill>
        <p:spPr>
          <a:xfrm>
            <a:off x="2379717" y="2393113"/>
            <a:ext cx="108107" cy="157246"/>
          </a:xfrm>
          <a:prstGeom prst="rect">
            <a:avLst/>
          </a:prstGeom>
        </p:spPr>
      </p:pic>
      <p:sp>
        <p:nvSpPr>
          <p:cNvPr id="58" name="TextBox 57"/>
          <p:cNvSpPr txBox="1"/>
          <p:nvPr/>
        </p:nvSpPr>
        <p:spPr>
          <a:xfrm>
            <a:off x="276225" y="5372100"/>
            <a:ext cx="856084" cy="194310"/>
          </a:xfrm>
          <a:prstGeom prst="rect">
            <a:avLst/>
          </a:prstGeom>
          <a:noFill/>
        </p:spPr>
        <p:txBody>
          <a:bodyPr wrap="none" lIns="0" rIns="0" tIns="0" bIns="0">
            <a:spAutoFit/>
          </a:bodyPr>
          <a:lstStyle/>
          <a:p>
            <a:r>
              <a:rPr sz="1150" b="0">
                <a:solidFill>
                  <a:srgbClr val="252423"/>
                </a:solidFill>
                <a:latin typeface="Segoe UI"/>
              </a:rPr>
              <a:t>▪ Optimistic:</a:t>
            </a:r>
          </a:p>
        </p:txBody>
      </p:sp>
      <p:pic>
        <p:nvPicPr>
          <p:cNvPr id="59" name="Picture 58" descr="lock.png"/>
          <p:cNvPicPr>
            <a:picLocks noChangeAspect="1"/>
          </p:cNvPicPr>
          <p:nvPr/>
        </p:nvPicPr>
        <p:blipFill>
          <a:blip r:embed="rId5"/>
          <a:stretch>
            <a:fillRect/>
          </a:stretch>
        </p:blipFill>
        <p:spPr>
          <a:xfrm>
            <a:off x="1081463" y="5361876"/>
            <a:ext cx="134549" cy="195707"/>
          </a:xfrm>
          <a:prstGeom prst="rect">
            <a:avLst/>
          </a:prstGeom>
        </p:spPr>
      </p:pic>
      <p:sp>
        <p:nvSpPr>
          <p:cNvPr id="60" name="TextBox 59"/>
          <p:cNvSpPr txBox="1"/>
          <p:nvPr/>
        </p:nvSpPr>
        <p:spPr>
          <a:xfrm>
            <a:off x="1256572" y="5372100"/>
            <a:ext cx="1302221" cy="194310"/>
          </a:xfrm>
          <a:prstGeom prst="rect">
            <a:avLst/>
          </a:prstGeom>
          <a:noFill/>
        </p:spPr>
        <p:txBody>
          <a:bodyPr wrap="none" lIns="0" rIns="0" tIns="0" bIns="0">
            <a:spAutoFit/>
          </a:bodyPr>
          <a:lstStyle/>
          <a:p>
            <a:r>
              <a:rPr sz="1150" b="0">
                <a:solidFill>
                  <a:srgbClr val="252423"/>
                </a:solidFill>
                <a:latin typeface="Segoe UI"/>
              </a:rPr>
              <a:t>US$ Mn by 2036 at</a:t>
            </a:r>
          </a:p>
        </p:txBody>
      </p:sp>
      <p:pic>
        <p:nvPicPr>
          <p:cNvPr id="61" name="Picture 60" descr="lock.png"/>
          <p:cNvPicPr>
            <a:picLocks noChangeAspect="1"/>
          </p:cNvPicPr>
          <p:nvPr/>
        </p:nvPicPr>
        <p:blipFill>
          <a:blip r:embed="rId5"/>
          <a:stretch>
            <a:fillRect/>
          </a:stretch>
        </p:blipFill>
        <p:spPr>
          <a:xfrm>
            <a:off x="2507947" y="5361876"/>
            <a:ext cx="134549" cy="195707"/>
          </a:xfrm>
          <a:prstGeom prst="rect">
            <a:avLst/>
          </a:prstGeom>
        </p:spPr>
      </p:pic>
      <p:sp>
        <p:nvSpPr>
          <p:cNvPr id="62" name="TextBox 61"/>
          <p:cNvSpPr txBox="1"/>
          <p:nvPr/>
        </p:nvSpPr>
        <p:spPr>
          <a:xfrm>
            <a:off x="2683056" y="5372100"/>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3" name="TextBox 62"/>
          <p:cNvSpPr txBox="1"/>
          <p:nvPr/>
        </p:nvSpPr>
        <p:spPr>
          <a:xfrm>
            <a:off x="276225" y="5599938"/>
            <a:ext cx="1537734" cy="194310"/>
          </a:xfrm>
          <a:prstGeom prst="rect">
            <a:avLst/>
          </a:prstGeom>
          <a:noFill/>
        </p:spPr>
        <p:txBody>
          <a:bodyPr wrap="none" lIns="0" rIns="0" tIns="0" bIns="0">
            <a:spAutoFit/>
          </a:bodyPr>
          <a:lstStyle/>
          <a:p>
            <a:r>
              <a:rPr sz="1150" b="0">
                <a:solidFill>
                  <a:srgbClr val="252423"/>
                </a:solidFill>
                <a:latin typeface="Segoe UI"/>
              </a:rPr>
              <a:t>▪ Likely (base forecast):</a:t>
            </a:r>
          </a:p>
        </p:txBody>
      </p:sp>
      <p:pic>
        <p:nvPicPr>
          <p:cNvPr id="64" name="Picture 63" descr="lock.png"/>
          <p:cNvPicPr>
            <a:picLocks noChangeAspect="1"/>
          </p:cNvPicPr>
          <p:nvPr/>
        </p:nvPicPr>
        <p:blipFill>
          <a:blip r:embed="rId5"/>
          <a:stretch>
            <a:fillRect/>
          </a:stretch>
        </p:blipFill>
        <p:spPr>
          <a:xfrm>
            <a:off x="1763112" y="5589714"/>
            <a:ext cx="134549" cy="195707"/>
          </a:xfrm>
          <a:prstGeom prst="rect">
            <a:avLst/>
          </a:prstGeom>
        </p:spPr>
      </p:pic>
      <p:sp>
        <p:nvSpPr>
          <p:cNvPr id="65" name="TextBox 64"/>
          <p:cNvSpPr txBox="1"/>
          <p:nvPr/>
        </p:nvSpPr>
        <p:spPr>
          <a:xfrm>
            <a:off x="1938222" y="5599938"/>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66" name="Picture 65" descr="lock.png"/>
          <p:cNvPicPr>
            <a:picLocks noChangeAspect="1"/>
          </p:cNvPicPr>
          <p:nvPr/>
        </p:nvPicPr>
        <p:blipFill>
          <a:blip r:embed="rId5"/>
          <a:stretch>
            <a:fillRect/>
          </a:stretch>
        </p:blipFill>
        <p:spPr>
          <a:xfrm>
            <a:off x="2638201" y="5589714"/>
            <a:ext cx="134549" cy="195707"/>
          </a:xfrm>
          <a:prstGeom prst="rect">
            <a:avLst/>
          </a:prstGeom>
        </p:spPr>
      </p:pic>
      <p:sp>
        <p:nvSpPr>
          <p:cNvPr id="67" name="TextBox 66"/>
          <p:cNvSpPr txBox="1"/>
          <p:nvPr/>
        </p:nvSpPr>
        <p:spPr>
          <a:xfrm>
            <a:off x="2813310" y="5599938"/>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8" name="TextBox 67"/>
          <p:cNvSpPr txBox="1"/>
          <p:nvPr/>
        </p:nvSpPr>
        <p:spPr>
          <a:xfrm>
            <a:off x="276225" y="5827775"/>
            <a:ext cx="1022997" cy="194310"/>
          </a:xfrm>
          <a:prstGeom prst="rect">
            <a:avLst/>
          </a:prstGeom>
          <a:noFill/>
        </p:spPr>
        <p:txBody>
          <a:bodyPr wrap="none" lIns="0" rIns="0" tIns="0" bIns="0">
            <a:spAutoFit/>
          </a:bodyPr>
          <a:lstStyle/>
          <a:p>
            <a:r>
              <a:rPr sz="1150" b="0">
                <a:solidFill>
                  <a:srgbClr val="252423"/>
                </a:solidFill>
                <a:latin typeface="Segoe UI"/>
              </a:rPr>
              <a:t>▪ Conservative:</a:t>
            </a:r>
          </a:p>
        </p:txBody>
      </p:sp>
      <p:pic>
        <p:nvPicPr>
          <p:cNvPr id="69" name="Picture 68" descr="lock.png"/>
          <p:cNvPicPr>
            <a:picLocks noChangeAspect="1"/>
          </p:cNvPicPr>
          <p:nvPr/>
        </p:nvPicPr>
        <p:blipFill>
          <a:blip r:embed="rId5"/>
          <a:stretch>
            <a:fillRect/>
          </a:stretch>
        </p:blipFill>
        <p:spPr>
          <a:xfrm>
            <a:off x="1248376" y="5817552"/>
            <a:ext cx="134549" cy="195707"/>
          </a:xfrm>
          <a:prstGeom prst="rect">
            <a:avLst/>
          </a:prstGeom>
        </p:spPr>
      </p:pic>
      <p:sp>
        <p:nvSpPr>
          <p:cNvPr id="70" name="TextBox 69"/>
          <p:cNvSpPr txBox="1"/>
          <p:nvPr/>
        </p:nvSpPr>
        <p:spPr>
          <a:xfrm>
            <a:off x="1423486" y="5827775"/>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71" name="Picture 70" descr="lock.png"/>
          <p:cNvPicPr>
            <a:picLocks noChangeAspect="1"/>
          </p:cNvPicPr>
          <p:nvPr/>
        </p:nvPicPr>
        <p:blipFill>
          <a:blip r:embed="rId5"/>
          <a:stretch>
            <a:fillRect/>
          </a:stretch>
        </p:blipFill>
        <p:spPr>
          <a:xfrm>
            <a:off x="2123465" y="5817552"/>
            <a:ext cx="134549" cy="195707"/>
          </a:xfrm>
          <a:prstGeom prst="rect">
            <a:avLst/>
          </a:prstGeom>
        </p:spPr>
      </p:pic>
      <p:sp>
        <p:nvSpPr>
          <p:cNvPr id="72" name="TextBox 71"/>
          <p:cNvSpPr txBox="1"/>
          <p:nvPr/>
        </p:nvSpPr>
        <p:spPr>
          <a:xfrm>
            <a:off x="2298574" y="58277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73" name="TextBox 72"/>
          <p:cNvSpPr txBox="1"/>
          <p:nvPr/>
        </p:nvSpPr>
        <p:spPr>
          <a:xfrm>
            <a:off x="276225" y="6055613"/>
            <a:ext cx="3985849" cy="194310"/>
          </a:xfrm>
          <a:prstGeom prst="rect">
            <a:avLst/>
          </a:prstGeom>
          <a:noFill/>
        </p:spPr>
        <p:txBody>
          <a:bodyPr wrap="none" lIns="0" rIns="0" tIns="0" bIns="0">
            <a:spAutoFit/>
          </a:bodyPr>
          <a:lstStyle/>
          <a:p>
            <a:r>
              <a:rPr sz="1150" b="0">
                <a:solidFill>
                  <a:srgbClr val="252423"/>
                </a:solidFill>
                <a:latin typeface="Segoe U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4211228" y="6045390"/>
            <a:ext cx="134549" cy="195707"/>
          </a:xfrm>
          <a:prstGeom prst="rect">
            <a:avLst/>
          </a:prstGeom>
        </p:spPr>
      </p:pic>
      <p:sp>
        <p:nvSpPr>
          <p:cNvPr id="75" name="TextBox 74"/>
          <p:cNvSpPr txBox="1"/>
          <p:nvPr/>
        </p:nvSpPr>
        <p:spPr>
          <a:xfrm>
            <a:off x="4386338" y="6055613"/>
            <a:ext cx="2030443" cy="194310"/>
          </a:xfrm>
          <a:prstGeom prst="rect">
            <a:avLst/>
          </a:prstGeom>
          <a:noFill/>
        </p:spPr>
        <p:txBody>
          <a:bodyPr wrap="none" lIns="0" rIns="0" tIns="0" bIns="0">
            <a:spAutoFit/>
          </a:bodyPr>
          <a:lstStyle/>
          <a:p>
            <a:r>
              <a:rPr sz="1150" b="0">
                <a:solidFill>
                  <a:srgbClr val="252423"/>
                </a:solidFill>
                <a:latin typeface="Segoe UI"/>
              </a:rPr>
              <a:t>across the 2026–2036 horizon.</a:t>
            </a:r>
          </a:p>
        </p:txBody>
      </p:sp>
      <p:sp>
        <p:nvSpPr>
          <p:cNvPr id="76" name="lockshield_34"/>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Lithium Polymer Portable Energy Storage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3 countries,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North America market down geographically. Each country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United States</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3" name="Oval 22"/>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Canada</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30" name="Oval 29"/>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Mexico</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7" name="Oval 36"/>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0" name="Rectangle 39"/>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2" name="Rounded Rectangle 4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Country Insights</a:t>
            </a:r>
          </a:p>
        </p:txBody>
      </p:sp>
      <p:sp>
        <p:nvSpPr>
          <p:cNvPr id="44" name="Rectangle 43"/>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p:txBody>
      </p:sp>
      <p:sp>
        <p:nvSpPr>
          <p:cNvPr id="46" name="Rounded Rectangle 4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Country Overview</a:t>
            </a:r>
          </a:p>
        </p:txBody>
      </p:sp>
      <p:sp>
        <p:nvSpPr>
          <p:cNvPr id="48" name="Rectangle 47"/>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0" name="Rectangle 4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2" name="TextBox 5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4" name="Picture 53" descr="lock.png"/>
          <p:cNvPicPr>
            <a:picLocks noChangeAspect="1"/>
          </p:cNvPicPr>
          <p:nvPr/>
        </p:nvPicPr>
        <p:blipFill>
          <a:blip r:embed="rId4"/>
          <a:stretch>
            <a:fillRect/>
          </a:stretch>
        </p:blipFill>
        <p:spPr>
          <a:xfrm>
            <a:off x="3407926" y="2339922"/>
            <a:ext cx="175498" cy="255270"/>
          </a:xfrm>
          <a:prstGeom prst="rect">
            <a:avLst/>
          </a:prstGeom>
        </p:spPr>
      </p:pic>
      <p:pic>
        <p:nvPicPr>
          <p:cNvPr id="55" name="Picture 54" descr="lock.png"/>
          <p:cNvPicPr>
            <a:picLocks noChangeAspect="1"/>
          </p:cNvPicPr>
          <p:nvPr/>
        </p:nvPicPr>
        <p:blipFill>
          <a:blip r:embed="rId4"/>
          <a:stretch>
            <a:fillRect/>
          </a:stretch>
        </p:blipFill>
        <p:spPr>
          <a:xfrm>
            <a:off x="3407926" y="2832772"/>
            <a:ext cx="175498" cy="255270"/>
          </a:xfrm>
          <a:prstGeom prst="rect">
            <a:avLst/>
          </a:prstGeom>
        </p:spPr>
      </p:pic>
      <p:pic>
        <p:nvPicPr>
          <p:cNvPr id="56" name="Picture 55" descr="lock.png"/>
          <p:cNvPicPr>
            <a:picLocks noChangeAspect="1"/>
          </p:cNvPicPr>
          <p:nvPr/>
        </p:nvPicPr>
        <p:blipFill>
          <a:blip r:embed="rId4"/>
          <a:stretch>
            <a:fillRect/>
          </a:stretch>
        </p:blipFill>
        <p:spPr>
          <a:xfrm>
            <a:off x="3407926" y="3325622"/>
            <a:ext cx="175498" cy="255270"/>
          </a:xfrm>
          <a:prstGeom prst="rect">
            <a:avLst/>
          </a:prstGeom>
        </p:spPr>
      </p:pic>
      <p:pic>
        <p:nvPicPr>
          <p:cNvPr id="57" name="Picture 56" descr="lock.png"/>
          <p:cNvPicPr>
            <a:picLocks noChangeAspect="1"/>
          </p:cNvPicPr>
          <p:nvPr/>
        </p:nvPicPr>
        <p:blipFill>
          <a:blip r:embed="rId4"/>
          <a:stretch>
            <a:fillRect/>
          </a:stretch>
        </p:blipFill>
        <p:spPr>
          <a:xfrm>
            <a:off x="6779776" y="2339922"/>
            <a:ext cx="175498" cy="255270"/>
          </a:xfrm>
          <a:prstGeom prst="rect">
            <a:avLst/>
          </a:prstGeom>
        </p:spPr>
      </p:pic>
      <p:pic>
        <p:nvPicPr>
          <p:cNvPr id="58" name="Picture 57" descr="lock.png"/>
          <p:cNvPicPr>
            <a:picLocks noChangeAspect="1"/>
          </p:cNvPicPr>
          <p:nvPr/>
        </p:nvPicPr>
        <p:blipFill>
          <a:blip r:embed="rId4"/>
          <a:stretch>
            <a:fillRect/>
          </a:stretch>
        </p:blipFill>
        <p:spPr>
          <a:xfrm>
            <a:off x="6779776" y="2832772"/>
            <a:ext cx="175498" cy="255270"/>
          </a:xfrm>
          <a:prstGeom prst="rect">
            <a:avLst/>
          </a:prstGeom>
        </p:spPr>
      </p:pic>
      <p:pic>
        <p:nvPicPr>
          <p:cNvPr id="59" name="Picture 58" descr="lock.png"/>
          <p:cNvPicPr>
            <a:picLocks noChangeAspect="1"/>
          </p:cNvPicPr>
          <p:nvPr/>
        </p:nvPicPr>
        <p:blipFill>
          <a:blip r:embed="rId4"/>
          <a:stretch>
            <a:fillRect/>
          </a:stretch>
        </p:blipFill>
        <p:spPr>
          <a:xfrm>
            <a:off x="6779776" y="3325622"/>
            <a:ext cx="175498" cy="255270"/>
          </a:xfrm>
          <a:prstGeom prst="rect">
            <a:avLst/>
          </a:prstGeom>
        </p:spPr>
      </p:pic>
      <p:pic>
        <p:nvPicPr>
          <p:cNvPr id="60" name="Picture 59" descr="lock.png"/>
          <p:cNvPicPr>
            <a:picLocks noChangeAspect="1"/>
          </p:cNvPicPr>
          <p:nvPr/>
        </p:nvPicPr>
        <p:blipFill>
          <a:blip r:embed="rId4"/>
          <a:stretch>
            <a:fillRect/>
          </a:stretch>
        </p:blipFill>
        <p:spPr>
          <a:xfrm>
            <a:off x="10151626" y="2339922"/>
            <a:ext cx="175498" cy="255270"/>
          </a:xfrm>
          <a:prstGeom prst="rect">
            <a:avLst/>
          </a:prstGeom>
        </p:spPr>
      </p:pic>
      <p:pic>
        <p:nvPicPr>
          <p:cNvPr id="61" name="Picture 60" descr="lock.png"/>
          <p:cNvPicPr>
            <a:picLocks noChangeAspect="1"/>
          </p:cNvPicPr>
          <p:nvPr/>
        </p:nvPicPr>
        <p:blipFill>
          <a:blip r:embed="rId4"/>
          <a:stretch>
            <a:fillRect/>
          </a:stretch>
        </p:blipFill>
        <p:spPr>
          <a:xfrm>
            <a:off x="10151626" y="2832772"/>
            <a:ext cx="175498" cy="255270"/>
          </a:xfrm>
          <a:prstGeom prst="rect">
            <a:avLst/>
          </a:prstGeom>
        </p:spPr>
      </p:pic>
      <p:pic>
        <p:nvPicPr>
          <p:cNvPr id="62" name="Picture 61" descr="lock.png"/>
          <p:cNvPicPr>
            <a:picLocks noChangeAspect="1"/>
          </p:cNvPicPr>
          <p:nvPr/>
        </p:nvPicPr>
        <p:blipFill>
          <a:blip r:embed="rId4"/>
          <a:stretch>
            <a:fillRect/>
          </a:stretch>
        </p:blipFill>
        <p:spPr>
          <a:xfrm>
            <a:off x="10151626" y="3325622"/>
            <a:ext cx="175498" cy="255270"/>
          </a:xfrm>
          <a:prstGeom prst="rect">
            <a:avLst/>
          </a:prstGeom>
        </p:spPr>
      </p:pic>
      <p:sp>
        <p:nvSpPr>
          <p:cNvPr id="63" name="TextBox 62"/>
          <p:cNvSpPr txBox="1"/>
          <p:nvPr/>
        </p:nvSpPr>
        <p:spPr>
          <a:xfrm>
            <a:off x="485775" y="4229437"/>
            <a:ext cx="2626386" cy="179984"/>
          </a:xfrm>
          <a:prstGeom prst="rect">
            <a:avLst/>
          </a:prstGeom>
          <a:noFill/>
        </p:spPr>
        <p:txBody>
          <a:bodyPr wrap="none" lIns="0" rIns="0" tIns="0" bIns="0">
            <a:spAutoFit/>
          </a:bodyPr>
          <a:lstStyle/>
          <a:p>
            <a:r>
              <a:rPr sz="1055" b="0">
                <a:solidFill>
                  <a:srgbClr val="252423"/>
                </a:solidFill>
                <a:latin typeface="Segoe UI"/>
              </a:rPr>
              <a:t>The United States lithium polymer portable</a:t>
            </a:r>
          </a:p>
        </p:txBody>
      </p:sp>
      <p:sp>
        <p:nvSpPr>
          <p:cNvPr id="64" name="TextBox 63"/>
          <p:cNvSpPr txBox="1"/>
          <p:nvPr/>
        </p:nvSpPr>
        <p:spPr>
          <a:xfrm>
            <a:off x="485775" y="4390371"/>
            <a:ext cx="2786274" cy="179984"/>
          </a:xfrm>
          <a:prstGeom prst="rect">
            <a:avLst/>
          </a:prstGeom>
          <a:noFill/>
        </p:spPr>
        <p:txBody>
          <a:bodyPr wrap="none" lIns="0" rIns="0" tIns="0" bIns="0">
            <a:spAutoFit/>
          </a:bodyPr>
          <a:lstStyle/>
          <a:p>
            <a:r>
              <a:rPr sz="1055" b="0">
                <a:solidFill>
                  <a:srgbClr val="252423"/>
                </a:solidFill>
                <a:latin typeface="Segoe UI"/>
              </a:rPr>
              <a:t>energy storage market is projected to register</a:t>
            </a:r>
          </a:p>
        </p:txBody>
      </p:sp>
      <p:pic>
        <p:nvPicPr>
          <p:cNvPr id="65" name="Picture 64" descr="lock.png"/>
          <p:cNvPicPr>
            <a:picLocks noChangeAspect="1"/>
          </p:cNvPicPr>
          <p:nvPr/>
        </p:nvPicPr>
        <p:blipFill>
          <a:blip r:embed="rId4"/>
          <a:stretch>
            <a:fillRect/>
          </a:stretch>
        </p:blipFill>
        <p:spPr>
          <a:xfrm>
            <a:off x="472846" y="4541917"/>
            <a:ext cx="123551" cy="179710"/>
          </a:xfrm>
          <a:prstGeom prst="rect">
            <a:avLst/>
          </a:prstGeom>
        </p:spPr>
      </p:pic>
      <p:sp>
        <p:nvSpPr>
          <p:cNvPr id="66" name="TextBox 65"/>
          <p:cNvSpPr txBox="1"/>
          <p:nvPr/>
        </p:nvSpPr>
        <p:spPr>
          <a:xfrm>
            <a:off x="633642" y="4551305"/>
            <a:ext cx="2674845" cy="179984"/>
          </a:xfrm>
          <a:prstGeom prst="rect">
            <a:avLst/>
          </a:prstGeom>
          <a:noFill/>
        </p:spPr>
        <p:txBody>
          <a:bodyPr wrap="none" lIns="0" rIns="0" tIns="0" bIns="0">
            <a:spAutoFit/>
          </a:bodyPr>
          <a:lstStyle/>
          <a:p>
            <a:r>
              <a:rPr sz="1055" b="0">
                <a:solidFill>
                  <a:srgbClr val="252423"/>
                </a:solidFill>
                <a:latin typeface="Segoe UI"/>
              </a:rPr>
              <a:t>X higher value than Canada in 2036. Among</a:t>
            </a:r>
          </a:p>
        </p:txBody>
      </p:sp>
      <p:sp>
        <p:nvSpPr>
          <p:cNvPr id="67" name="TextBox 66"/>
          <p:cNvSpPr txBox="1"/>
          <p:nvPr/>
        </p:nvSpPr>
        <p:spPr>
          <a:xfrm>
            <a:off x="485775" y="4712240"/>
            <a:ext cx="2652895" cy="179984"/>
          </a:xfrm>
          <a:prstGeom prst="rect">
            <a:avLst/>
          </a:prstGeom>
          <a:noFill/>
        </p:spPr>
        <p:txBody>
          <a:bodyPr wrap="none" lIns="0" rIns="0" tIns="0" bIns="0">
            <a:spAutoFit/>
          </a:bodyPr>
          <a:lstStyle/>
          <a:p>
            <a:r>
              <a:rPr sz="1055" b="0">
                <a:solidFill>
                  <a:srgbClr val="252423"/>
                </a:solidFill>
                <a:latin typeface="Segoe UI"/>
              </a:rPr>
              <a:t>lithium polymer portable energy storage by</a:t>
            </a:r>
          </a:p>
        </p:txBody>
      </p:sp>
      <p:sp>
        <p:nvSpPr>
          <p:cNvPr id="68" name="TextBox 67"/>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country, United States is expected to witness the</a:t>
            </a:r>
          </a:p>
        </p:txBody>
      </p:sp>
      <p:sp>
        <p:nvSpPr>
          <p:cNvPr id="69" name="TextBox 68"/>
          <p:cNvSpPr txBox="1"/>
          <p:nvPr/>
        </p:nvSpPr>
        <p:spPr>
          <a:xfrm>
            <a:off x="485775" y="5034109"/>
            <a:ext cx="1047660" cy="179984"/>
          </a:xfrm>
          <a:prstGeom prst="rect">
            <a:avLst/>
          </a:prstGeom>
          <a:noFill/>
        </p:spPr>
        <p:txBody>
          <a:bodyPr wrap="none" lIns="0" rIns="0" tIns="0" bIns="0">
            <a:spAutoFit/>
          </a:bodyPr>
          <a:lstStyle/>
          <a:p>
            <a:r>
              <a:rPr sz="1055" b="0">
                <a:solidFill>
                  <a:srgbClr val="252423"/>
                </a:solidFill>
                <a:latin typeface="Segoe UI"/>
              </a:rPr>
              <a:t>highest CAGR of</a:t>
            </a:r>
          </a:p>
        </p:txBody>
      </p:sp>
      <p:pic>
        <p:nvPicPr>
          <p:cNvPr id="70" name="Picture 69" descr="lock.png"/>
          <p:cNvPicPr>
            <a:picLocks noChangeAspect="1"/>
          </p:cNvPicPr>
          <p:nvPr/>
        </p:nvPicPr>
        <p:blipFill>
          <a:blip r:embed="rId4"/>
          <a:stretch>
            <a:fillRect/>
          </a:stretch>
        </p:blipFill>
        <p:spPr>
          <a:xfrm>
            <a:off x="1480517" y="5024721"/>
            <a:ext cx="123551" cy="179710"/>
          </a:xfrm>
          <a:prstGeom prst="rect">
            <a:avLst/>
          </a:prstGeom>
        </p:spPr>
      </p:pic>
      <p:sp>
        <p:nvSpPr>
          <p:cNvPr id="71" name="TextBox 70"/>
          <p:cNvSpPr txBox="1"/>
          <p:nvPr/>
        </p:nvSpPr>
        <p:spPr>
          <a:xfrm>
            <a:off x="1641313" y="5034109"/>
            <a:ext cx="1522577" cy="179984"/>
          </a:xfrm>
          <a:prstGeom prst="rect">
            <a:avLst/>
          </a:prstGeom>
          <a:noFill/>
        </p:spPr>
        <p:txBody>
          <a:bodyPr wrap="none" lIns="0" rIns="0" tIns="0" bIns="0">
            <a:spAutoFit/>
          </a:bodyPr>
          <a:lstStyle/>
          <a:p>
            <a:r>
              <a:rPr sz="1055" b="0">
                <a:solidFill>
                  <a:srgbClr val="252423"/>
                </a:solidFill>
                <a:latin typeface="Segoe UI"/>
              </a:rPr>
              <a:t>over the forecast period.</a:t>
            </a:r>
          </a:p>
        </p:txBody>
      </p:sp>
      <p:sp>
        <p:nvSpPr>
          <p:cNvPr id="72" name="TextBox 71"/>
          <p:cNvSpPr txBox="1"/>
          <p:nvPr/>
        </p:nvSpPr>
        <p:spPr>
          <a:xfrm>
            <a:off x="485775" y="5243323"/>
            <a:ext cx="2914650" cy="179984"/>
          </a:xfrm>
          <a:prstGeom prst="rect">
            <a:avLst/>
          </a:prstGeom>
          <a:noFill/>
        </p:spPr>
        <p:txBody>
          <a:bodyPr wrap="none" lIns="0" rIns="0" tIns="0" bIns="0">
            <a:spAutoFit/>
          </a:bodyPr>
          <a:lstStyle/>
          <a:p>
            <a:r>
              <a:rPr sz="1055" b="0">
                <a:solidFill>
                  <a:srgbClr val="252423"/>
                </a:solidFill>
                <a:latin typeface="Segoe UI"/>
              </a:rPr>
              <a:t>In terms of value share by country, United States</a:t>
            </a:r>
          </a:p>
        </p:txBody>
      </p:sp>
      <p:sp>
        <p:nvSpPr>
          <p:cNvPr id="73" name="TextBox 72"/>
          <p:cNvSpPr txBox="1"/>
          <p:nvPr/>
        </p:nvSpPr>
        <p:spPr>
          <a:xfrm>
            <a:off x="485775" y="5404258"/>
            <a:ext cx="2690508" cy="179984"/>
          </a:xfrm>
          <a:prstGeom prst="rect">
            <a:avLst/>
          </a:prstGeom>
          <a:noFill/>
        </p:spPr>
        <p:txBody>
          <a:bodyPr wrap="none" lIns="0" rIns="0" tIns="0" bIns="0">
            <a:spAutoFit/>
          </a:bodyPr>
          <a:lstStyle/>
          <a:p>
            <a:r>
              <a:rPr sz="1055" b="0">
                <a:solidFill>
                  <a:srgbClr val="252423"/>
                </a:solidFill>
                <a:latin typeface="Segoe UI"/>
              </a:rPr>
              <a:t>is expected to dominate the market, gaining</a:t>
            </a:r>
          </a:p>
        </p:txBody>
      </p:sp>
      <p:pic>
        <p:nvPicPr>
          <p:cNvPr id="74" name="Picture 73" descr="lock.png"/>
          <p:cNvPicPr>
            <a:picLocks noChangeAspect="1"/>
          </p:cNvPicPr>
          <p:nvPr/>
        </p:nvPicPr>
        <p:blipFill>
          <a:blip r:embed="rId4"/>
          <a:stretch>
            <a:fillRect/>
          </a:stretch>
        </p:blipFill>
        <p:spPr>
          <a:xfrm>
            <a:off x="3123364" y="5394870"/>
            <a:ext cx="123551" cy="179710"/>
          </a:xfrm>
          <a:prstGeom prst="rect">
            <a:avLst/>
          </a:prstGeom>
        </p:spPr>
      </p:pic>
      <p:sp>
        <p:nvSpPr>
          <p:cNvPr id="75" name="TextBox 74"/>
          <p:cNvSpPr txBox="1"/>
          <p:nvPr/>
        </p:nvSpPr>
        <p:spPr>
          <a:xfrm>
            <a:off x="485775" y="5565192"/>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76" name="Picture 75" descr="lock.png"/>
          <p:cNvPicPr>
            <a:picLocks noChangeAspect="1"/>
          </p:cNvPicPr>
          <p:nvPr/>
        </p:nvPicPr>
        <p:blipFill>
          <a:blip r:embed="rId4"/>
          <a:stretch>
            <a:fillRect/>
          </a:stretch>
        </p:blipFill>
        <p:spPr>
          <a:xfrm>
            <a:off x="1889205" y="5555804"/>
            <a:ext cx="123551" cy="179710"/>
          </a:xfrm>
          <a:prstGeom prst="rect">
            <a:avLst/>
          </a:prstGeom>
        </p:spPr>
      </p:pic>
      <p:sp>
        <p:nvSpPr>
          <p:cNvPr id="77" name="TextBox 76"/>
          <p:cNvSpPr txBox="1"/>
          <p:nvPr/>
        </p:nvSpPr>
        <p:spPr>
          <a:xfrm>
            <a:off x="2050001" y="5565192"/>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78" name="TextBox 77"/>
          <p:cNvSpPr txBox="1"/>
          <p:nvPr/>
        </p:nvSpPr>
        <p:spPr>
          <a:xfrm>
            <a:off x="485775" y="5726126"/>
            <a:ext cx="1655388" cy="179984"/>
          </a:xfrm>
          <a:prstGeom prst="rect">
            <a:avLst/>
          </a:prstGeom>
          <a:noFill/>
        </p:spPr>
        <p:txBody>
          <a:bodyPr wrap="none" lIns="0" rIns="0" tIns="0" bIns="0">
            <a:spAutoFit/>
          </a:bodyPr>
          <a:lstStyle/>
          <a:p>
            <a:r>
              <a:rPr sz="1055" b="0">
                <a:solidFill>
                  <a:srgbClr val="252423"/>
                </a:solidFill>
                <a:latin typeface="Segoe UI"/>
              </a:rPr>
              <a:t>Canada is expected to lose</a:t>
            </a:r>
          </a:p>
        </p:txBody>
      </p:sp>
      <p:pic>
        <p:nvPicPr>
          <p:cNvPr id="79" name="Picture 78" descr="lock.png"/>
          <p:cNvPicPr>
            <a:picLocks noChangeAspect="1"/>
          </p:cNvPicPr>
          <p:nvPr/>
        </p:nvPicPr>
        <p:blipFill>
          <a:blip r:embed="rId4"/>
          <a:stretch>
            <a:fillRect/>
          </a:stretch>
        </p:blipFill>
        <p:spPr>
          <a:xfrm>
            <a:off x="2088244" y="5716739"/>
            <a:ext cx="123551" cy="179710"/>
          </a:xfrm>
          <a:prstGeom prst="rect">
            <a:avLst/>
          </a:prstGeom>
        </p:spPr>
      </p:pic>
      <p:sp>
        <p:nvSpPr>
          <p:cNvPr id="80" name="TextBox 79"/>
          <p:cNvSpPr txBox="1"/>
          <p:nvPr/>
        </p:nvSpPr>
        <p:spPr>
          <a:xfrm>
            <a:off x="2249040" y="5726126"/>
            <a:ext cx="824281" cy="179984"/>
          </a:xfrm>
          <a:prstGeom prst="rect">
            <a:avLst/>
          </a:prstGeom>
          <a:noFill/>
        </p:spPr>
        <p:txBody>
          <a:bodyPr wrap="none" lIns="0" rIns="0" tIns="0" bIns="0">
            <a:spAutoFit/>
          </a:bodyPr>
          <a:lstStyle/>
          <a:p>
            <a:r>
              <a:rPr sz="1055" b="0">
                <a:solidFill>
                  <a:srgbClr val="252423"/>
                </a:solidFill>
                <a:latin typeface="Segoe UI"/>
              </a:rPr>
              <a:t>BPS over the</a:t>
            </a:r>
          </a:p>
        </p:txBody>
      </p:sp>
      <p:sp>
        <p:nvSpPr>
          <p:cNvPr id="81" name="TextBox 80"/>
          <p:cNvSpPr txBox="1"/>
          <p:nvPr/>
        </p:nvSpPr>
        <p:spPr>
          <a:xfrm>
            <a:off x="485775" y="5887061"/>
            <a:ext cx="1838732" cy="179984"/>
          </a:xfrm>
          <a:prstGeom prst="rect">
            <a:avLst/>
          </a:prstGeom>
          <a:noFill/>
        </p:spPr>
        <p:txBody>
          <a:bodyPr wrap="none" lIns="0" rIns="0" tIns="0" bIns="0">
            <a:spAutoFit/>
          </a:bodyPr>
          <a:lstStyle/>
          <a:p>
            <a:r>
              <a:rPr sz="1055" b="0">
                <a:solidFill>
                  <a:srgbClr val="252423"/>
                </a:solidFill>
                <a:latin typeface="Segoe UI"/>
              </a:rPr>
              <a:t>forecast period to account for</a:t>
            </a:r>
          </a:p>
        </p:txBody>
      </p:sp>
      <p:pic>
        <p:nvPicPr>
          <p:cNvPr id="82" name="Picture 81" descr="lock.png"/>
          <p:cNvPicPr>
            <a:picLocks noChangeAspect="1"/>
          </p:cNvPicPr>
          <p:nvPr/>
        </p:nvPicPr>
        <p:blipFill>
          <a:blip r:embed="rId4"/>
          <a:stretch>
            <a:fillRect/>
          </a:stretch>
        </p:blipFill>
        <p:spPr>
          <a:xfrm>
            <a:off x="2271588" y="5877673"/>
            <a:ext cx="123551" cy="179710"/>
          </a:xfrm>
          <a:prstGeom prst="rect">
            <a:avLst/>
          </a:prstGeom>
        </p:spPr>
      </p:pic>
      <p:sp>
        <p:nvSpPr>
          <p:cNvPr id="83" name="TextBox 82"/>
          <p:cNvSpPr txBox="1"/>
          <p:nvPr/>
        </p:nvSpPr>
        <p:spPr>
          <a:xfrm>
            <a:off x="2432384" y="5887061"/>
            <a:ext cx="574638" cy="179984"/>
          </a:xfrm>
          <a:prstGeom prst="rect">
            <a:avLst/>
          </a:prstGeom>
          <a:noFill/>
        </p:spPr>
        <p:txBody>
          <a:bodyPr wrap="none" lIns="0" rIns="0" tIns="0" bIns="0">
            <a:spAutoFit/>
          </a:bodyPr>
          <a:lstStyle/>
          <a:p>
            <a:r>
              <a:rPr sz="1055" b="0">
                <a:solidFill>
                  <a:srgbClr val="252423"/>
                </a:solidFill>
                <a:latin typeface="Segoe UI"/>
              </a:rPr>
              <a:t>share by</a:t>
            </a:r>
          </a:p>
        </p:txBody>
      </p:sp>
      <p:sp>
        <p:nvSpPr>
          <p:cNvPr id="84" name="TextBox 83"/>
          <p:cNvSpPr txBox="1"/>
          <p:nvPr/>
        </p:nvSpPr>
        <p:spPr>
          <a:xfrm>
            <a:off x="485775" y="6047995"/>
            <a:ext cx="394454" cy="179984"/>
          </a:xfrm>
          <a:prstGeom prst="rect">
            <a:avLst/>
          </a:prstGeom>
          <a:noFill/>
        </p:spPr>
        <p:txBody>
          <a:bodyPr wrap="none" lIns="0" rIns="0" tIns="0" bIns="0">
            <a:spAutoFit/>
          </a:bodyPr>
          <a:lstStyle/>
          <a:p>
            <a:r>
              <a:rPr sz="1055" b="0">
                <a:solidFill>
                  <a:srgbClr val="252423"/>
                </a:solidFill>
                <a:latin typeface="Segoe UI"/>
              </a:rPr>
              <a:t>2036.</a:t>
            </a:r>
          </a:p>
        </p:txBody>
      </p:sp>
      <p:sp>
        <p:nvSpPr>
          <p:cNvPr id="85" name="TextBox 84"/>
          <p:cNvSpPr txBox="1"/>
          <p:nvPr/>
        </p:nvSpPr>
        <p:spPr>
          <a:xfrm>
            <a:off x="3838575" y="4229437"/>
            <a:ext cx="1051814" cy="186689"/>
          </a:xfrm>
          <a:prstGeom prst="rect">
            <a:avLst/>
          </a:prstGeom>
          <a:noFill/>
        </p:spPr>
        <p:txBody>
          <a:bodyPr wrap="none" lIns="0" rIns="0" tIns="0" bIns="0">
            <a:spAutoFit/>
          </a:bodyPr>
          <a:lstStyle/>
          <a:p>
            <a:r>
              <a:rPr sz="1100" b="0">
                <a:solidFill>
                  <a:srgbClr val="252423"/>
                </a:solidFill>
                <a:latin typeface="Segoe UI"/>
              </a:rPr>
              <a:t>● United States:</a:t>
            </a:r>
          </a:p>
        </p:txBody>
      </p:sp>
      <p:pic>
        <p:nvPicPr>
          <p:cNvPr id="86" name="Picture 85" descr="lock.png"/>
          <p:cNvPicPr>
            <a:picLocks noChangeAspect="1"/>
          </p:cNvPicPr>
          <p:nvPr/>
        </p:nvPicPr>
        <p:blipFill>
          <a:blip r:embed="rId4"/>
          <a:stretch>
            <a:fillRect/>
          </a:stretch>
        </p:blipFill>
        <p:spPr>
          <a:xfrm>
            <a:off x="4838441" y="4219658"/>
            <a:ext cx="128699" cy="187198"/>
          </a:xfrm>
          <a:prstGeom prst="rect">
            <a:avLst/>
          </a:prstGeom>
        </p:spPr>
      </p:pic>
      <p:sp>
        <p:nvSpPr>
          <p:cNvPr id="87" name="TextBox 86"/>
          <p:cNvSpPr txBox="1"/>
          <p:nvPr/>
        </p:nvSpPr>
        <p:spPr>
          <a:xfrm>
            <a:off x="5005937"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8" name="Picture 87" descr="lock.png"/>
          <p:cNvPicPr>
            <a:picLocks noChangeAspect="1"/>
          </p:cNvPicPr>
          <p:nvPr/>
        </p:nvPicPr>
        <p:blipFill>
          <a:blip r:embed="rId4"/>
          <a:stretch>
            <a:fillRect/>
          </a:stretch>
        </p:blipFill>
        <p:spPr>
          <a:xfrm>
            <a:off x="5925883" y="4219658"/>
            <a:ext cx="128699" cy="187198"/>
          </a:xfrm>
          <a:prstGeom prst="rect">
            <a:avLst/>
          </a:prstGeom>
        </p:spPr>
      </p:pic>
      <p:sp>
        <p:nvSpPr>
          <p:cNvPr id="89" name="TextBox 88"/>
          <p:cNvSpPr txBox="1"/>
          <p:nvPr/>
        </p:nvSpPr>
        <p:spPr>
          <a:xfrm>
            <a:off x="6093379" y="4229437"/>
            <a:ext cx="1526606" cy="186689"/>
          </a:xfrm>
          <a:prstGeom prst="rect">
            <a:avLst/>
          </a:prstGeom>
          <a:noFill/>
        </p:spPr>
        <p:txBody>
          <a:bodyPr wrap="none" lIns="0" rIns="0" tIns="0" bIns="0">
            <a:spAutoFit/>
          </a:bodyPr>
          <a:lstStyle/>
          <a:p>
            <a:r>
              <a:rPr sz="1100" b="0">
                <a:solidFill>
                  <a:srgbClr val="252423"/>
                </a:solidFill>
                <a:latin typeface="Segoe UI"/>
              </a:rPr>
              <a:t>CAGR leads the market.</a:t>
            </a:r>
          </a:p>
        </p:txBody>
      </p:sp>
      <p:sp>
        <p:nvSpPr>
          <p:cNvPr id="90" name="TextBox 89"/>
          <p:cNvSpPr txBox="1"/>
          <p:nvPr/>
        </p:nvSpPr>
        <p:spPr>
          <a:xfrm>
            <a:off x="3838575" y="4447369"/>
            <a:ext cx="690661" cy="186689"/>
          </a:xfrm>
          <a:prstGeom prst="rect">
            <a:avLst/>
          </a:prstGeom>
          <a:noFill/>
        </p:spPr>
        <p:txBody>
          <a:bodyPr wrap="none" lIns="0" rIns="0" tIns="0" bIns="0">
            <a:spAutoFit/>
          </a:bodyPr>
          <a:lstStyle/>
          <a:p>
            <a:r>
              <a:rPr sz="1100" b="0">
                <a:solidFill>
                  <a:srgbClr val="252423"/>
                </a:solidFill>
                <a:latin typeface="Segoe UI"/>
              </a:rPr>
              <a:t>● Canada:</a:t>
            </a:r>
          </a:p>
        </p:txBody>
      </p:sp>
      <p:pic>
        <p:nvPicPr>
          <p:cNvPr id="91" name="Picture 90" descr="lock.png"/>
          <p:cNvPicPr>
            <a:picLocks noChangeAspect="1"/>
          </p:cNvPicPr>
          <p:nvPr/>
        </p:nvPicPr>
        <p:blipFill>
          <a:blip r:embed="rId4"/>
          <a:stretch>
            <a:fillRect/>
          </a:stretch>
        </p:blipFill>
        <p:spPr>
          <a:xfrm>
            <a:off x="4477288" y="4437590"/>
            <a:ext cx="128699" cy="187198"/>
          </a:xfrm>
          <a:prstGeom prst="rect">
            <a:avLst/>
          </a:prstGeom>
        </p:spPr>
      </p:pic>
      <p:sp>
        <p:nvSpPr>
          <p:cNvPr id="92" name="TextBox 91"/>
          <p:cNvSpPr txBox="1"/>
          <p:nvPr/>
        </p:nvSpPr>
        <p:spPr>
          <a:xfrm>
            <a:off x="4644784" y="444736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3" name="Picture 92" descr="lock.png"/>
          <p:cNvPicPr>
            <a:picLocks noChangeAspect="1"/>
          </p:cNvPicPr>
          <p:nvPr/>
        </p:nvPicPr>
        <p:blipFill>
          <a:blip r:embed="rId4"/>
          <a:stretch>
            <a:fillRect/>
          </a:stretch>
        </p:blipFill>
        <p:spPr>
          <a:xfrm>
            <a:off x="5564730" y="4437590"/>
            <a:ext cx="128699" cy="187198"/>
          </a:xfrm>
          <a:prstGeom prst="rect">
            <a:avLst/>
          </a:prstGeom>
        </p:spPr>
      </p:pic>
      <p:sp>
        <p:nvSpPr>
          <p:cNvPr id="94" name="TextBox 93"/>
          <p:cNvSpPr txBox="1"/>
          <p:nvPr/>
        </p:nvSpPr>
        <p:spPr>
          <a:xfrm>
            <a:off x="5732226" y="444736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95" name="TextBox 94"/>
          <p:cNvSpPr txBox="1"/>
          <p:nvPr/>
        </p:nvSpPr>
        <p:spPr>
          <a:xfrm>
            <a:off x="3838575" y="4665301"/>
            <a:ext cx="672107" cy="186689"/>
          </a:xfrm>
          <a:prstGeom prst="rect">
            <a:avLst/>
          </a:prstGeom>
          <a:noFill/>
        </p:spPr>
        <p:txBody>
          <a:bodyPr wrap="none" lIns="0" rIns="0" tIns="0" bIns="0">
            <a:spAutoFit/>
          </a:bodyPr>
          <a:lstStyle/>
          <a:p>
            <a:r>
              <a:rPr sz="1100" b="0">
                <a:solidFill>
                  <a:srgbClr val="252423"/>
                </a:solidFill>
                <a:latin typeface="Segoe UI"/>
              </a:rPr>
              <a:t>● Mexico:</a:t>
            </a:r>
          </a:p>
        </p:txBody>
      </p:sp>
      <p:pic>
        <p:nvPicPr>
          <p:cNvPr id="96" name="Picture 95" descr="lock.png"/>
          <p:cNvPicPr>
            <a:picLocks noChangeAspect="1"/>
          </p:cNvPicPr>
          <p:nvPr/>
        </p:nvPicPr>
        <p:blipFill>
          <a:blip r:embed="rId4"/>
          <a:stretch>
            <a:fillRect/>
          </a:stretch>
        </p:blipFill>
        <p:spPr>
          <a:xfrm>
            <a:off x="4458734" y="4655522"/>
            <a:ext cx="128699" cy="187198"/>
          </a:xfrm>
          <a:prstGeom prst="rect">
            <a:avLst/>
          </a:prstGeom>
        </p:spPr>
      </p:pic>
      <p:sp>
        <p:nvSpPr>
          <p:cNvPr id="97" name="TextBox 96"/>
          <p:cNvSpPr txBox="1"/>
          <p:nvPr/>
        </p:nvSpPr>
        <p:spPr>
          <a:xfrm>
            <a:off x="4626230" y="466530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8" name="Picture 97" descr="lock.png"/>
          <p:cNvPicPr>
            <a:picLocks noChangeAspect="1"/>
          </p:cNvPicPr>
          <p:nvPr/>
        </p:nvPicPr>
        <p:blipFill>
          <a:blip r:embed="rId4"/>
          <a:stretch>
            <a:fillRect/>
          </a:stretch>
        </p:blipFill>
        <p:spPr>
          <a:xfrm>
            <a:off x="5546176" y="4655522"/>
            <a:ext cx="128699" cy="187198"/>
          </a:xfrm>
          <a:prstGeom prst="rect">
            <a:avLst/>
          </a:prstGeom>
        </p:spPr>
      </p:pic>
      <p:sp>
        <p:nvSpPr>
          <p:cNvPr id="99" name="TextBox 98"/>
          <p:cNvSpPr txBox="1"/>
          <p:nvPr/>
        </p:nvSpPr>
        <p:spPr>
          <a:xfrm>
            <a:off x="5713672" y="4665301"/>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00" name="TextBox 99"/>
          <p:cNvSpPr txBox="1"/>
          <p:nvPr/>
        </p:nvSpPr>
        <p:spPr>
          <a:xfrm>
            <a:off x="8524875" y="5842641"/>
            <a:ext cx="2937024" cy="194310"/>
          </a:xfrm>
          <a:prstGeom prst="rect">
            <a:avLst/>
          </a:prstGeom>
          <a:noFill/>
        </p:spPr>
        <p:txBody>
          <a:bodyPr wrap="none" lIns="0" rIns="0" tIns="0" bIns="0">
            <a:spAutoFit/>
          </a:bodyPr>
          <a:lstStyle/>
          <a:p>
            <a:r>
              <a:rPr sz="1150" b="1">
                <a:solidFill>
                  <a:srgbClr val="0E3A5F"/>
                </a:solidFill>
                <a:latin typeface="Segoe UI"/>
              </a:rPr>
              <a:t>The North America market is projected to</a:t>
            </a:r>
          </a:p>
        </p:txBody>
      </p:sp>
      <p:sp>
        <p:nvSpPr>
          <p:cNvPr id="101" name="TextBox 100"/>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102" name="Picture 101" descr="lock.png"/>
          <p:cNvPicPr>
            <a:picLocks noChangeAspect="1"/>
          </p:cNvPicPr>
          <p:nvPr/>
        </p:nvPicPr>
        <p:blipFill>
          <a:blip r:embed="rId4"/>
          <a:stretch>
            <a:fillRect/>
          </a:stretch>
        </p:blipFill>
        <p:spPr>
          <a:xfrm>
            <a:off x="9817830" y="6007677"/>
            <a:ext cx="134549" cy="195707"/>
          </a:xfrm>
          <a:prstGeom prst="rect">
            <a:avLst/>
          </a:prstGeom>
        </p:spPr>
      </p:pic>
      <p:sp>
        <p:nvSpPr>
          <p:cNvPr id="103" name="TextBox 102"/>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Analysis, By Country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actMR Lock Anchor"/>
          <p:cNvSpPr txBox="1"/>
          <p:nvPr/>
        </p:nvSpPr>
        <p:spPr>
          <a:xfrm>
            <a:off x="2489835" y="3352800"/>
            <a:ext cx="38100" cy="38100"/>
          </a:xfrm>
          <a:prstGeom prst="rect">
            <a:avLst/>
          </a:prstGeom>
          <a:noFill/>
        </p:spPr>
        <p:txBody>
          <a:bodyPr wrap="none">
            <a:spAutoFit/>
          </a:bodyPr>
          <a:lstStyle/>
          <a:p/>
        </p:txBody>
      </p:sp>
      <p:sp>
        <p:nvSpPr>
          <p:cNvPr id="13" name="FactMR Legend Chip"/>
          <p:cNvSpPr/>
          <p:nvPr/>
        </p:nvSpPr>
        <p:spPr>
          <a:xfrm>
            <a:off x="4551045" y="174316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4712970" y="173840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66220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Mexico</a:t>
            </a:r>
          </a:p>
        </p:txBody>
      </p:sp>
      <p:sp>
        <p:nvSpPr>
          <p:cNvPr id="16" name="BPS Value 1"/>
          <p:cNvSpPr txBox="1"/>
          <p:nvPr/>
        </p:nvSpPr>
        <p:spPr>
          <a:xfrm>
            <a:off x="6305550" y="172411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551045" y="243626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712970" y="243149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235529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Canada</a:t>
            </a:r>
          </a:p>
        </p:txBody>
      </p:sp>
      <p:sp>
        <p:nvSpPr>
          <p:cNvPr id="20" name="BPS Value 2"/>
          <p:cNvSpPr txBox="1"/>
          <p:nvPr/>
        </p:nvSpPr>
        <p:spPr>
          <a:xfrm>
            <a:off x="6305550" y="2417210"/>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551045" y="398874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4712970" y="398398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390778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United States</a:t>
            </a:r>
          </a:p>
        </p:txBody>
      </p:sp>
      <p:sp>
        <p:nvSpPr>
          <p:cNvPr id="24" name="BPS Value 3"/>
          <p:cNvSpPr txBox="1"/>
          <p:nvPr/>
        </p:nvSpPr>
        <p:spPr>
          <a:xfrm>
            <a:off x="6305550" y="396969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Rectangle 24"/>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7" name="Rectangle 26"/>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9" name="Rounded Rectangle 28"/>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(THOUSAND UNITS)</a:t>
            </a:r>
          </a:p>
          <a:p>
            <a:pPr algn="ctr">
              <a:lnSpc>
                <a:spcPct val="95000"/>
              </a:lnSpc>
            </a:pPr>
            <a:r>
              <a:rPr sz="2000" b="1">
                <a:solidFill>
                  <a:srgbClr val="00A4DC"/>
                </a:solidFill>
                <a:latin typeface="Segoe UI"/>
              </a:rPr>
              <a:t> </a:t>
            </a:r>
          </a:p>
        </p:txBody>
      </p:sp>
      <p:sp>
        <p:nvSpPr>
          <p:cNvPr id="30" name="Rounded Rectangle 29"/>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(THOUSAND UNITS)</a:t>
            </a:r>
          </a:p>
          <a:p>
            <a:pPr algn="ctr">
              <a:lnSpc>
                <a:spcPct val="95000"/>
              </a:lnSpc>
            </a:pPr>
            <a:r>
              <a:rPr sz="2000" b="1">
                <a:solidFill>
                  <a:srgbClr val="00A4DC"/>
                </a:solidFill>
                <a:latin typeface="Segoe UI"/>
              </a:rPr>
              <a:t> </a:t>
            </a:r>
          </a:p>
        </p:txBody>
      </p:sp>
      <p:sp>
        <p:nvSpPr>
          <p:cNvPr id="31" name="Rounded Rectangle 30"/>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t>
            </a:r>
          </a:p>
        </p:txBody>
      </p:sp>
      <p:sp>
        <p:nvSpPr>
          <p:cNvPr id="32" name="TextBox 3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4488373" cy="194310"/>
          </a:xfrm>
          <a:prstGeom prst="rect">
            <a:avLst/>
          </a:prstGeom>
          <a:noFill/>
        </p:spPr>
        <p:txBody>
          <a:bodyPr wrap="none" lIns="0" rIns="0" tIns="0" bIns="0">
            <a:spAutoFit/>
          </a:bodyPr>
          <a:lstStyle/>
          <a:p>
            <a:r>
              <a:rPr sz="1150" b="0">
                <a:solidFill>
                  <a:srgbClr val="252423"/>
                </a:solidFill>
                <a:latin typeface="Segoe UI"/>
              </a:rPr>
              <a:t>The United States lithium polymer portable energy storage market is</a:t>
            </a:r>
          </a:p>
        </p:txBody>
      </p:sp>
      <p:sp>
        <p:nvSpPr>
          <p:cNvPr id="38" name="TextBox 37"/>
          <p:cNvSpPr txBox="1"/>
          <p:nvPr/>
        </p:nvSpPr>
        <p:spPr>
          <a:xfrm>
            <a:off x="7239000" y="1575435"/>
            <a:ext cx="1392530" cy="194310"/>
          </a:xfrm>
          <a:prstGeom prst="rect">
            <a:avLst/>
          </a:prstGeom>
          <a:noFill/>
        </p:spPr>
        <p:txBody>
          <a:bodyPr wrap="none" lIns="0" rIns="0" tIns="0" bIns="0">
            <a:spAutoFit/>
          </a:bodyPr>
          <a:lstStyle/>
          <a:p>
            <a:r>
              <a:rPr sz="1150" b="0">
                <a:solidFill>
                  <a:srgbClr val="252423"/>
                </a:solidFill>
                <a:latin typeface="Segoe UI"/>
              </a:rPr>
              <a:t>projected to register</a:t>
            </a:r>
          </a:p>
        </p:txBody>
      </p:sp>
      <p:pic>
        <p:nvPicPr>
          <p:cNvPr id="39" name="Picture 38" descr="lock.png"/>
          <p:cNvPicPr>
            <a:picLocks noChangeAspect="1"/>
          </p:cNvPicPr>
          <p:nvPr/>
        </p:nvPicPr>
        <p:blipFill>
          <a:blip r:embed="rId5"/>
          <a:stretch>
            <a:fillRect/>
          </a:stretch>
        </p:blipFill>
        <p:spPr>
          <a:xfrm>
            <a:off x="8580684" y="1565211"/>
            <a:ext cx="134549" cy="195707"/>
          </a:xfrm>
          <a:prstGeom prst="rect">
            <a:avLst/>
          </a:prstGeom>
        </p:spPr>
      </p:pic>
      <p:sp>
        <p:nvSpPr>
          <p:cNvPr id="40" name="TextBox 39"/>
          <p:cNvSpPr txBox="1"/>
          <p:nvPr/>
        </p:nvSpPr>
        <p:spPr>
          <a:xfrm>
            <a:off x="8755794" y="1575435"/>
            <a:ext cx="3043112" cy="194310"/>
          </a:xfrm>
          <a:prstGeom prst="rect">
            <a:avLst/>
          </a:prstGeom>
          <a:noFill/>
        </p:spPr>
        <p:txBody>
          <a:bodyPr wrap="none" lIns="0" rIns="0" tIns="0" bIns="0">
            <a:spAutoFit/>
          </a:bodyPr>
          <a:lstStyle/>
          <a:p>
            <a:r>
              <a:rPr sz="1150" b="0">
                <a:solidFill>
                  <a:srgbClr val="252423"/>
                </a:solidFill>
                <a:latin typeface="Segoe UI"/>
              </a:rPr>
              <a:t>X higher volume than Canada in 2036. Among</a:t>
            </a:r>
          </a:p>
        </p:txBody>
      </p:sp>
      <p:sp>
        <p:nvSpPr>
          <p:cNvPr id="41" name="TextBox 40"/>
          <p:cNvSpPr txBox="1"/>
          <p:nvPr/>
        </p:nvSpPr>
        <p:spPr>
          <a:xfrm>
            <a:off x="7239000" y="1750695"/>
            <a:ext cx="4480983" cy="194310"/>
          </a:xfrm>
          <a:prstGeom prst="rect">
            <a:avLst/>
          </a:prstGeom>
          <a:noFill/>
        </p:spPr>
        <p:txBody>
          <a:bodyPr wrap="none" lIns="0" rIns="0" tIns="0" bIns="0">
            <a:spAutoFit/>
          </a:bodyPr>
          <a:lstStyle/>
          <a:p>
            <a:r>
              <a:rPr sz="1150" b="0">
                <a:solidFill>
                  <a:srgbClr val="252423"/>
                </a:solidFill>
                <a:latin typeface="Segoe UI"/>
              </a:rPr>
              <a:t>lithium polymer portable energy storage by country, United States is</a:t>
            </a:r>
          </a:p>
        </p:txBody>
      </p:sp>
      <p:sp>
        <p:nvSpPr>
          <p:cNvPr id="42" name="TextBox 41"/>
          <p:cNvSpPr txBox="1"/>
          <p:nvPr/>
        </p:nvSpPr>
        <p:spPr>
          <a:xfrm>
            <a:off x="7239000" y="192595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43" name="Picture 42" descr="lock.png"/>
          <p:cNvPicPr>
            <a:picLocks noChangeAspect="1"/>
          </p:cNvPicPr>
          <p:nvPr/>
        </p:nvPicPr>
        <p:blipFill>
          <a:blip r:embed="rId5"/>
          <a:stretch>
            <a:fillRect/>
          </a:stretch>
        </p:blipFill>
        <p:spPr>
          <a:xfrm>
            <a:off x="9885159" y="1915731"/>
            <a:ext cx="134549" cy="195707"/>
          </a:xfrm>
          <a:prstGeom prst="rect">
            <a:avLst/>
          </a:prstGeom>
        </p:spPr>
      </p:pic>
      <p:sp>
        <p:nvSpPr>
          <p:cNvPr id="44" name="TextBox 43"/>
          <p:cNvSpPr txBox="1"/>
          <p:nvPr/>
        </p:nvSpPr>
        <p:spPr>
          <a:xfrm>
            <a:off x="10060269" y="192595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5" name="TextBox 44"/>
          <p:cNvSpPr txBox="1"/>
          <p:nvPr/>
        </p:nvSpPr>
        <p:spPr>
          <a:xfrm>
            <a:off x="7239000" y="2153793"/>
            <a:ext cx="4271161" cy="194310"/>
          </a:xfrm>
          <a:prstGeom prst="rect">
            <a:avLst/>
          </a:prstGeom>
          <a:noFill/>
        </p:spPr>
        <p:txBody>
          <a:bodyPr wrap="none" lIns="0" rIns="0" tIns="0" bIns="0">
            <a:spAutoFit/>
          </a:bodyPr>
          <a:lstStyle/>
          <a:p>
            <a:r>
              <a:rPr sz="1150" b="0">
                <a:solidFill>
                  <a:srgbClr val="252423"/>
                </a:solidFill>
                <a:latin typeface="Segoe UI"/>
              </a:rPr>
              <a:t>In terms of volume share by country, United States is expected to</a:t>
            </a:r>
          </a:p>
        </p:txBody>
      </p:sp>
      <p:sp>
        <p:nvSpPr>
          <p:cNvPr id="46" name="TextBox 45"/>
          <p:cNvSpPr txBox="1"/>
          <p:nvPr/>
        </p:nvSpPr>
        <p:spPr>
          <a:xfrm>
            <a:off x="7239000" y="2329053"/>
            <a:ext cx="1985341" cy="194310"/>
          </a:xfrm>
          <a:prstGeom prst="rect">
            <a:avLst/>
          </a:prstGeom>
          <a:noFill/>
        </p:spPr>
        <p:txBody>
          <a:bodyPr wrap="none" lIns="0" rIns="0" tIns="0" bIns="0">
            <a:spAutoFit/>
          </a:bodyPr>
          <a:lstStyle/>
          <a:p>
            <a:r>
              <a:rPr sz="1150" b="0">
                <a:solidFill>
                  <a:srgbClr val="252423"/>
                </a:solidFill>
                <a:latin typeface="Segoe UI"/>
              </a:rPr>
              <a:t>dominate the market, gaining</a:t>
            </a:r>
          </a:p>
        </p:txBody>
      </p:sp>
      <p:pic>
        <p:nvPicPr>
          <p:cNvPr id="47" name="Picture 46" descr="lock.png"/>
          <p:cNvPicPr>
            <a:picLocks noChangeAspect="1"/>
          </p:cNvPicPr>
          <p:nvPr/>
        </p:nvPicPr>
        <p:blipFill>
          <a:blip r:embed="rId5"/>
          <a:stretch>
            <a:fillRect/>
          </a:stretch>
        </p:blipFill>
        <p:spPr>
          <a:xfrm>
            <a:off x="9173495" y="2318829"/>
            <a:ext cx="134549" cy="195707"/>
          </a:xfrm>
          <a:prstGeom prst="rect">
            <a:avLst/>
          </a:prstGeom>
        </p:spPr>
      </p:pic>
      <p:sp>
        <p:nvSpPr>
          <p:cNvPr id="48" name="TextBox 47"/>
          <p:cNvSpPr txBox="1"/>
          <p:nvPr/>
        </p:nvSpPr>
        <p:spPr>
          <a:xfrm>
            <a:off x="9348605"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9" name="Picture 48" descr="lock.png"/>
          <p:cNvPicPr>
            <a:picLocks noChangeAspect="1"/>
          </p:cNvPicPr>
          <p:nvPr/>
        </p:nvPicPr>
        <p:blipFill>
          <a:blip r:embed="rId5"/>
          <a:stretch>
            <a:fillRect/>
          </a:stretch>
        </p:blipFill>
        <p:spPr>
          <a:xfrm>
            <a:off x="10876961" y="2318829"/>
            <a:ext cx="134549" cy="195707"/>
          </a:xfrm>
          <a:prstGeom prst="rect">
            <a:avLst/>
          </a:prstGeom>
        </p:spPr>
      </p:pic>
      <p:sp>
        <p:nvSpPr>
          <p:cNvPr id="50" name="TextBox 49"/>
          <p:cNvSpPr txBox="1"/>
          <p:nvPr/>
        </p:nvSpPr>
        <p:spPr>
          <a:xfrm>
            <a:off x="11052071" y="232905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51" name="TextBox 50"/>
          <p:cNvSpPr txBox="1"/>
          <p:nvPr/>
        </p:nvSpPr>
        <p:spPr>
          <a:xfrm>
            <a:off x="7239000" y="2504313"/>
            <a:ext cx="2182479" cy="194310"/>
          </a:xfrm>
          <a:prstGeom prst="rect">
            <a:avLst/>
          </a:prstGeom>
          <a:noFill/>
        </p:spPr>
        <p:txBody>
          <a:bodyPr wrap="none" lIns="0" rIns="0" tIns="0" bIns="0">
            <a:spAutoFit/>
          </a:bodyPr>
          <a:lstStyle/>
          <a:p>
            <a:r>
              <a:rPr sz="1150" b="0">
                <a:solidFill>
                  <a:srgbClr val="252423"/>
                </a:solidFill>
                <a:latin typeface="Segoe UI"/>
              </a:rPr>
              <a:t>2036. Canada is expected to lose</a:t>
            </a:r>
          </a:p>
        </p:txBody>
      </p:sp>
      <p:pic>
        <p:nvPicPr>
          <p:cNvPr id="52" name="Picture 51" descr="lock.png"/>
          <p:cNvPicPr>
            <a:picLocks noChangeAspect="1"/>
          </p:cNvPicPr>
          <p:nvPr/>
        </p:nvPicPr>
        <p:blipFill>
          <a:blip r:embed="rId5"/>
          <a:stretch>
            <a:fillRect/>
          </a:stretch>
        </p:blipFill>
        <p:spPr>
          <a:xfrm>
            <a:off x="9370633" y="2494089"/>
            <a:ext cx="134549" cy="195707"/>
          </a:xfrm>
          <a:prstGeom prst="rect">
            <a:avLst/>
          </a:prstGeom>
        </p:spPr>
      </p:pic>
      <p:sp>
        <p:nvSpPr>
          <p:cNvPr id="53" name="TextBox 52"/>
          <p:cNvSpPr txBox="1"/>
          <p:nvPr/>
        </p:nvSpPr>
        <p:spPr>
          <a:xfrm>
            <a:off x="9545742" y="2504313"/>
            <a:ext cx="2078049" cy="194310"/>
          </a:xfrm>
          <a:prstGeom prst="rect">
            <a:avLst/>
          </a:prstGeom>
          <a:noFill/>
        </p:spPr>
        <p:txBody>
          <a:bodyPr wrap="none" lIns="0" rIns="0" tIns="0" bIns="0">
            <a:spAutoFit/>
          </a:bodyPr>
          <a:lstStyle/>
          <a:p>
            <a:r>
              <a:rPr sz="1150" b="0">
                <a:solidFill>
                  <a:srgbClr val="252423"/>
                </a:solidFill>
                <a:latin typeface="Segoe UI"/>
              </a:rPr>
              <a:t>BPS over the forecast period to</a:t>
            </a:r>
          </a:p>
        </p:txBody>
      </p:sp>
      <p:sp>
        <p:nvSpPr>
          <p:cNvPr id="54" name="TextBox 53"/>
          <p:cNvSpPr txBox="1"/>
          <p:nvPr/>
        </p:nvSpPr>
        <p:spPr>
          <a:xfrm>
            <a:off x="7239000" y="2679573"/>
            <a:ext cx="808446" cy="194310"/>
          </a:xfrm>
          <a:prstGeom prst="rect">
            <a:avLst/>
          </a:prstGeom>
          <a:noFill/>
        </p:spPr>
        <p:txBody>
          <a:bodyPr wrap="none" lIns="0" rIns="0" tIns="0" bIns="0">
            <a:spAutoFit/>
          </a:bodyPr>
          <a:lstStyle/>
          <a:p>
            <a:r>
              <a:rPr sz="1150" b="0">
                <a:solidFill>
                  <a:srgbClr val="252423"/>
                </a:solidFill>
                <a:latin typeface="Segoe UI"/>
              </a:rPr>
              <a:t>account for</a:t>
            </a:r>
          </a:p>
        </p:txBody>
      </p:sp>
      <p:pic>
        <p:nvPicPr>
          <p:cNvPr id="55" name="Picture 54" descr="lock.png"/>
          <p:cNvPicPr>
            <a:picLocks noChangeAspect="1"/>
          </p:cNvPicPr>
          <p:nvPr/>
        </p:nvPicPr>
        <p:blipFill>
          <a:blip r:embed="rId5"/>
          <a:stretch>
            <a:fillRect/>
          </a:stretch>
        </p:blipFill>
        <p:spPr>
          <a:xfrm>
            <a:off x="7996600" y="2669349"/>
            <a:ext cx="134549" cy="195707"/>
          </a:xfrm>
          <a:prstGeom prst="rect">
            <a:avLst/>
          </a:prstGeom>
        </p:spPr>
      </p:pic>
      <p:sp>
        <p:nvSpPr>
          <p:cNvPr id="56" name="TextBox 55"/>
          <p:cNvSpPr txBox="1"/>
          <p:nvPr/>
        </p:nvSpPr>
        <p:spPr>
          <a:xfrm>
            <a:off x="8171709"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7"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actMR Lock Anchor"/>
          <p:cNvSpPr txBox="1"/>
          <p:nvPr/>
        </p:nvSpPr>
        <p:spPr>
          <a:xfrm>
            <a:off x="2489835" y="3352800"/>
            <a:ext cx="38100" cy="38100"/>
          </a:xfrm>
          <a:prstGeom prst="rect">
            <a:avLst/>
          </a:prstGeom>
          <a:noFill/>
        </p:spPr>
        <p:txBody>
          <a:bodyPr wrap="none">
            <a:spAutoFit/>
          </a:bodyPr>
          <a:lstStyle/>
          <a:p/>
        </p:txBody>
      </p:sp>
      <p:sp>
        <p:nvSpPr>
          <p:cNvPr id="13" name="FactMR Legend Chip"/>
          <p:cNvSpPr/>
          <p:nvPr/>
        </p:nvSpPr>
        <p:spPr>
          <a:xfrm>
            <a:off x="4551045" y="174113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4712970" y="173637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66017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Mexico</a:t>
            </a:r>
          </a:p>
        </p:txBody>
      </p:sp>
      <p:sp>
        <p:nvSpPr>
          <p:cNvPr id="16" name="BPS Value 1"/>
          <p:cNvSpPr txBox="1"/>
          <p:nvPr/>
        </p:nvSpPr>
        <p:spPr>
          <a:xfrm>
            <a:off x="6305550" y="172208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551045" y="244423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712970" y="24394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236327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Canada</a:t>
            </a:r>
          </a:p>
        </p:txBody>
      </p:sp>
      <p:sp>
        <p:nvSpPr>
          <p:cNvPr id="20" name="BPS Value 2"/>
          <p:cNvSpPr txBox="1"/>
          <p:nvPr/>
        </p:nvSpPr>
        <p:spPr>
          <a:xfrm>
            <a:off x="6305550" y="242518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551045" y="399874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4712970" y="399398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391778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United States</a:t>
            </a:r>
          </a:p>
        </p:txBody>
      </p:sp>
      <p:sp>
        <p:nvSpPr>
          <p:cNvPr id="24" name="BPS Value 3"/>
          <p:cNvSpPr txBox="1"/>
          <p:nvPr/>
        </p:nvSpPr>
        <p:spPr>
          <a:xfrm>
            <a:off x="6305550" y="3979699"/>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Rectangle 24"/>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7" name="Rectangle 26"/>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9" name="Rounded Rectangle 28"/>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 </a:t>
            </a:r>
          </a:p>
        </p:txBody>
      </p:sp>
      <p:sp>
        <p:nvSpPr>
          <p:cNvPr id="30" name="Rounded Rectangle 29"/>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 </a:t>
            </a:r>
          </a:p>
        </p:txBody>
      </p:sp>
      <p:sp>
        <p:nvSpPr>
          <p:cNvPr id="31" name="Rounded Rectangle 30"/>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t>
            </a:r>
          </a:p>
        </p:txBody>
      </p:sp>
      <p:sp>
        <p:nvSpPr>
          <p:cNvPr id="32" name="TextBox 3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4488373" cy="194310"/>
          </a:xfrm>
          <a:prstGeom prst="rect">
            <a:avLst/>
          </a:prstGeom>
          <a:noFill/>
        </p:spPr>
        <p:txBody>
          <a:bodyPr wrap="none" lIns="0" rIns="0" tIns="0" bIns="0">
            <a:spAutoFit/>
          </a:bodyPr>
          <a:lstStyle/>
          <a:p>
            <a:r>
              <a:rPr sz="1150" b="0">
                <a:solidFill>
                  <a:srgbClr val="252423"/>
                </a:solidFill>
                <a:latin typeface="Segoe UI"/>
              </a:rPr>
              <a:t>The United States lithium polymer portable energy storage market is</a:t>
            </a:r>
          </a:p>
        </p:txBody>
      </p:sp>
      <p:sp>
        <p:nvSpPr>
          <p:cNvPr id="38" name="TextBox 37"/>
          <p:cNvSpPr txBox="1"/>
          <p:nvPr/>
        </p:nvSpPr>
        <p:spPr>
          <a:xfrm>
            <a:off x="7239000" y="1575435"/>
            <a:ext cx="1392530" cy="194310"/>
          </a:xfrm>
          <a:prstGeom prst="rect">
            <a:avLst/>
          </a:prstGeom>
          <a:noFill/>
        </p:spPr>
        <p:txBody>
          <a:bodyPr wrap="none" lIns="0" rIns="0" tIns="0" bIns="0">
            <a:spAutoFit/>
          </a:bodyPr>
          <a:lstStyle/>
          <a:p>
            <a:r>
              <a:rPr sz="1150" b="0">
                <a:solidFill>
                  <a:srgbClr val="252423"/>
                </a:solidFill>
                <a:latin typeface="Segoe UI"/>
              </a:rPr>
              <a:t>projected to register</a:t>
            </a:r>
          </a:p>
        </p:txBody>
      </p:sp>
      <p:pic>
        <p:nvPicPr>
          <p:cNvPr id="39" name="Picture 38" descr="lock.png"/>
          <p:cNvPicPr>
            <a:picLocks noChangeAspect="1"/>
          </p:cNvPicPr>
          <p:nvPr/>
        </p:nvPicPr>
        <p:blipFill>
          <a:blip r:embed="rId5"/>
          <a:stretch>
            <a:fillRect/>
          </a:stretch>
        </p:blipFill>
        <p:spPr>
          <a:xfrm>
            <a:off x="8580684" y="1565211"/>
            <a:ext cx="134549" cy="195707"/>
          </a:xfrm>
          <a:prstGeom prst="rect">
            <a:avLst/>
          </a:prstGeom>
        </p:spPr>
      </p:pic>
      <p:sp>
        <p:nvSpPr>
          <p:cNvPr id="40" name="TextBox 39"/>
          <p:cNvSpPr txBox="1"/>
          <p:nvPr/>
        </p:nvSpPr>
        <p:spPr>
          <a:xfrm>
            <a:off x="8755794" y="1575435"/>
            <a:ext cx="2906163" cy="194310"/>
          </a:xfrm>
          <a:prstGeom prst="rect">
            <a:avLst/>
          </a:prstGeom>
          <a:noFill/>
        </p:spPr>
        <p:txBody>
          <a:bodyPr wrap="none" lIns="0" rIns="0" tIns="0" bIns="0">
            <a:spAutoFit/>
          </a:bodyPr>
          <a:lstStyle/>
          <a:p>
            <a:r>
              <a:rPr sz="1150" b="0">
                <a:solidFill>
                  <a:srgbClr val="252423"/>
                </a:solidFill>
                <a:latin typeface="Segoe UI"/>
              </a:rPr>
              <a:t>X higher value than Canada in 2036. Among</a:t>
            </a:r>
          </a:p>
        </p:txBody>
      </p:sp>
      <p:sp>
        <p:nvSpPr>
          <p:cNvPr id="41" name="TextBox 40"/>
          <p:cNvSpPr txBox="1"/>
          <p:nvPr/>
        </p:nvSpPr>
        <p:spPr>
          <a:xfrm>
            <a:off x="7239000" y="1750695"/>
            <a:ext cx="4480983" cy="194310"/>
          </a:xfrm>
          <a:prstGeom prst="rect">
            <a:avLst/>
          </a:prstGeom>
          <a:noFill/>
        </p:spPr>
        <p:txBody>
          <a:bodyPr wrap="none" lIns="0" rIns="0" tIns="0" bIns="0">
            <a:spAutoFit/>
          </a:bodyPr>
          <a:lstStyle/>
          <a:p>
            <a:r>
              <a:rPr sz="1150" b="0">
                <a:solidFill>
                  <a:srgbClr val="252423"/>
                </a:solidFill>
                <a:latin typeface="Segoe UI"/>
              </a:rPr>
              <a:t>lithium polymer portable energy storage by country, United States is</a:t>
            </a:r>
          </a:p>
        </p:txBody>
      </p:sp>
      <p:sp>
        <p:nvSpPr>
          <p:cNvPr id="42" name="TextBox 41"/>
          <p:cNvSpPr txBox="1"/>
          <p:nvPr/>
        </p:nvSpPr>
        <p:spPr>
          <a:xfrm>
            <a:off x="7239000" y="192595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43" name="Picture 42" descr="lock.png"/>
          <p:cNvPicPr>
            <a:picLocks noChangeAspect="1"/>
          </p:cNvPicPr>
          <p:nvPr/>
        </p:nvPicPr>
        <p:blipFill>
          <a:blip r:embed="rId5"/>
          <a:stretch>
            <a:fillRect/>
          </a:stretch>
        </p:blipFill>
        <p:spPr>
          <a:xfrm>
            <a:off x="9885159" y="1915731"/>
            <a:ext cx="134549" cy="195707"/>
          </a:xfrm>
          <a:prstGeom prst="rect">
            <a:avLst/>
          </a:prstGeom>
        </p:spPr>
      </p:pic>
      <p:sp>
        <p:nvSpPr>
          <p:cNvPr id="44" name="TextBox 43"/>
          <p:cNvSpPr txBox="1"/>
          <p:nvPr/>
        </p:nvSpPr>
        <p:spPr>
          <a:xfrm>
            <a:off x="10060269" y="192595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5" name="TextBox 44"/>
          <p:cNvSpPr txBox="1"/>
          <p:nvPr/>
        </p:nvSpPr>
        <p:spPr>
          <a:xfrm>
            <a:off x="7239000" y="2153793"/>
            <a:ext cx="4134213" cy="194310"/>
          </a:xfrm>
          <a:prstGeom prst="rect">
            <a:avLst/>
          </a:prstGeom>
          <a:noFill/>
        </p:spPr>
        <p:txBody>
          <a:bodyPr wrap="none" lIns="0" rIns="0" tIns="0" bIns="0">
            <a:spAutoFit/>
          </a:bodyPr>
          <a:lstStyle/>
          <a:p>
            <a:r>
              <a:rPr sz="1150" b="0">
                <a:solidFill>
                  <a:srgbClr val="252423"/>
                </a:solidFill>
                <a:latin typeface="Segoe UI"/>
              </a:rPr>
              <a:t>In terms of value share by country, United States is expected to</a:t>
            </a:r>
          </a:p>
        </p:txBody>
      </p:sp>
      <p:sp>
        <p:nvSpPr>
          <p:cNvPr id="46" name="TextBox 45"/>
          <p:cNvSpPr txBox="1"/>
          <p:nvPr/>
        </p:nvSpPr>
        <p:spPr>
          <a:xfrm>
            <a:off x="7239000" y="2329053"/>
            <a:ext cx="1985341" cy="194310"/>
          </a:xfrm>
          <a:prstGeom prst="rect">
            <a:avLst/>
          </a:prstGeom>
          <a:noFill/>
        </p:spPr>
        <p:txBody>
          <a:bodyPr wrap="none" lIns="0" rIns="0" tIns="0" bIns="0">
            <a:spAutoFit/>
          </a:bodyPr>
          <a:lstStyle/>
          <a:p>
            <a:r>
              <a:rPr sz="1150" b="0">
                <a:solidFill>
                  <a:srgbClr val="252423"/>
                </a:solidFill>
                <a:latin typeface="Segoe UI"/>
              </a:rPr>
              <a:t>dominate the market, gaining</a:t>
            </a:r>
          </a:p>
        </p:txBody>
      </p:sp>
      <p:pic>
        <p:nvPicPr>
          <p:cNvPr id="47" name="Picture 46" descr="lock.png"/>
          <p:cNvPicPr>
            <a:picLocks noChangeAspect="1"/>
          </p:cNvPicPr>
          <p:nvPr/>
        </p:nvPicPr>
        <p:blipFill>
          <a:blip r:embed="rId5"/>
          <a:stretch>
            <a:fillRect/>
          </a:stretch>
        </p:blipFill>
        <p:spPr>
          <a:xfrm>
            <a:off x="9173495" y="2318829"/>
            <a:ext cx="134549" cy="195707"/>
          </a:xfrm>
          <a:prstGeom prst="rect">
            <a:avLst/>
          </a:prstGeom>
        </p:spPr>
      </p:pic>
      <p:sp>
        <p:nvSpPr>
          <p:cNvPr id="48" name="TextBox 47"/>
          <p:cNvSpPr txBox="1"/>
          <p:nvPr/>
        </p:nvSpPr>
        <p:spPr>
          <a:xfrm>
            <a:off x="9348605"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9" name="Picture 48" descr="lock.png"/>
          <p:cNvPicPr>
            <a:picLocks noChangeAspect="1"/>
          </p:cNvPicPr>
          <p:nvPr/>
        </p:nvPicPr>
        <p:blipFill>
          <a:blip r:embed="rId5"/>
          <a:stretch>
            <a:fillRect/>
          </a:stretch>
        </p:blipFill>
        <p:spPr>
          <a:xfrm>
            <a:off x="10876961" y="2318829"/>
            <a:ext cx="134549" cy="195707"/>
          </a:xfrm>
          <a:prstGeom prst="rect">
            <a:avLst/>
          </a:prstGeom>
        </p:spPr>
      </p:pic>
      <p:sp>
        <p:nvSpPr>
          <p:cNvPr id="50" name="TextBox 49"/>
          <p:cNvSpPr txBox="1"/>
          <p:nvPr/>
        </p:nvSpPr>
        <p:spPr>
          <a:xfrm>
            <a:off x="11052071" y="232905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51" name="TextBox 50"/>
          <p:cNvSpPr txBox="1"/>
          <p:nvPr/>
        </p:nvSpPr>
        <p:spPr>
          <a:xfrm>
            <a:off x="7239000" y="2504313"/>
            <a:ext cx="2182479" cy="194310"/>
          </a:xfrm>
          <a:prstGeom prst="rect">
            <a:avLst/>
          </a:prstGeom>
          <a:noFill/>
        </p:spPr>
        <p:txBody>
          <a:bodyPr wrap="none" lIns="0" rIns="0" tIns="0" bIns="0">
            <a:spAutoFit/>
          </a:bodyPr>
          <a:lstStyle/>
          <a:p>
            <a:r>
              <a:rPr sz="1150" b="0">
                <a:solidFill>
                  <a:srgbClr val="252423"/>
                </a:solidFill>
                <a:latin typeface="Segoe UI"/>
              </a:rPr>
              <a:t>2036. Canada is expected to lose</a:t>
            </a:r>
          </a:p>
        </p:txBody>
      </p:sp>
      <p:pic>
        <p:nvPicPr>
          <p:cNvPr id="52" name="Picture 51" descr="lock.png"/>
          <p:cNvPicPr>
            <a:picLocks noChangeAspect="1"/>
          </p:cNvPicPr>
          <p:nvPr/>
        </p:nvPicPr>
        <p:blipFill>
          <a:blip r:embed="rId5"/>
          <a:stretch>
            <a:fillRect/>
          </a:stretch>
        </p:blipFill>
        <p:spPr>
          <a:xfrm>
            <a:off x="9370633" y="2494089"/>
            <a:ext cx="134549" cy="195707"/>
          </a:xfrm>
          <a:prstGeom prst="rect">
            <a:avLst/>
          </a:prstGeom>
        </p:spPr>
      </p:pic>
      <p:sp>
        <p:nvSpPr>
          <p:cNvPr id="53" name="TextBox 52"/>
          <p:cNvSpPr txBox="1"/>
          <p:nvPr/>
        </p:nvSpPr>
        <p:spPr>
          <a:xfrm>
            <a:off x="9545742" y="2504313"/>
            <a:ext cx="2078049" cy="194310"/>
          </a:xfrm>
          <a:prstGeom prst="rect">
            <a:avLst/>
          </a:prstGeom>
          <a:noFill/>
        </p:spPr>
        <p:txBody>
          <a:bodyPr wrap="none" lIns="0" rIns="0" tIns="0" bIns="0">
            <a:spAutoFit/>
          </a:bodyPr>
          <a:lstStyle/>
          <a:p>
            <a:r>
              <a:rPr sz="1150" b="0">
                <a:solidFill>
                  <a:srgbClr val="252423"/>
                </a:solidFill>
                <a:latin typeface="Segoe UI"/>
              </a:rPr>
              <a:t>BPS over the forecast period to</a:t>
            </a:r>
          </a:p>
        </p:txBody>
      </p:sp>
      <p:sp>
        <p:nvSpPr>
          <p:cNvPr id="54" name="TextBox 53"/>
          <p:cNvSpPr txBox="1"/>
          <p:nvPr/>
        </p:nvSpPr>
        <p:spPr>
          <a:xfrm>
            <a:off x="7239000" y="2679573"/>
            <a:ext cx="808446" cy="194310"/>
          </a:xfrm>
          <a:prstGeom prst="rect">
            <a:avLst/>
          </a:prstGeom>
          <a:noFill/>
        </p:spPr>
        <p:txBody>
          <a:bodyPr wrap="none" lIns="0" rIns="0" tIns="0" bIns="0">
            <a:spAutoFit/>
          </a:bodyPr>
          <a:lstStyle/>
          <a:p>
            <a:r>
              <a:rPr sz="1150" b="0">
                <a:solidFill>
                  <a:srgbClr val="252423"/>
                </a:solidFill>
                <a:latin typeface="Segoe UI"/>
              </a:rPr>
              <a:t>account for</a:t>
            </a:r>
          </a:p>
        </p:txBody>
      </p:sp>
      <p:pic>
        <p:nvPicPr>
          <p:cNvPr id="55" name="Picture 54" descr="lock.png"/>
          <p:cNvPicPr>
            <a:picLocks noChangeAspect="1"/>
          </p:cNvPicPr>
          <p:nvPr/>
        </p:nvPicPr>
        <p:blipFill>
          <a:blip r:embed="rId5"/>
          <a:stretch>
            <a:fillRect/>
          </a:stretch>
        </p:blipFill>
        <p:spPr>
          <a:xfrm>
            <a:off x="7996600" y="2669349"/>
            <a:ext cx="134549" cy="195707"/>
          </a:xfrm>
          <a:prstGeom prst="rect">
            <a:avLst/>
          </a:prstGeom>
        </p:spPr>
      </p:pic>
      <p:sp>
        <p:nvSpPr>
          <p:cNvPr id="56" name="TextBox 55"/>
          <p:cNvSpPr txBox="1"/>
          <p:nvPr/>
        </p:nvSpPr>
        <p:spPr>
          <a:xfrm>
            <a:off x="8171709"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7"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Share Analysis, By Country Volume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ectangle 7"/>
          <p:cNvSpPr/>
          <p:nvPr/>
        </p:nvSpPr>
        <p:spPr>
          <a:xfrm>
            <a:off x="142875" y="981075"/>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Size, By Country (Thousand Units)</a:t>
            </a:r>
          </a:p>
        </p:txBody>
      </p:sp>
      <p:graphicFrame>
        <p:nvGraphicFramePr>
          <p:cNvPr id="10" name="Table 9"/>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1033871"/>
                <a:gridCol w="638431"/>
                <a:gridCol w="638431"/>
                <a:gridCol w="638431"/>
                <a:gridCol w="638431"/>
                <a:gridCol w="638431"/>
                <a:gridCol w="638431"/>
                <a:gridCol w="638431"/>
                <a:gridCol w="638431"/>
                <a:gridCol w="638431"/>
                <a:gridCol w="638431"/>
                <a:gridCol w="638431"/>
                <a:gridCol w="638431"/>
                <a:gridCol w="638431"/>
                <a:gridCol w="638431"/>
                <a:gridCol w="638431"/>
                <a:gridCol w="638431"/>
                <a:gridCol w="638431"/>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819400"/>
            <a:ext cx="11906250" cy="3810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Volume Share Read-out, By Country</a:t>
            </a:r>
          </a:p>
        </p:txBody>
      </p:sp>
      <p:sp>
        <p:nvSpPr>
          <p:cNvPr id="14" name="Rectangle 13"/>
          <p:cNvSpPr/>
          <p:nvPr/>
        </p:nvSpPr>
        <p:spPr>
          <a:xfrm>
            <a:off x="276225" y="31432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426244" y="1713738"/>
            <a:ext cx="366712" cy="533400"/>
          </a:xfrm>
          <a:prstGeom prst="rect">
            <a:avLst/>
          </a:prstGeom>
        </p:spPr>
      </p:pic>
      <p:sp>
        <p:nvSpPr>
          <p:cNvPr id="18" name="TextBox 17"/>
          <p:cNvSpPr txBox="1"/>
          <p:nvPr/>
        </p:nvSpPr>
        <p:spPr>
          <a:xfrm>
            <a:off x="276225" y="3238500"/>
            <a:ext cx="5844640" cy="194310"/>
          </a:xfrm>
          <a:prstGeom prst="rect">
            <a:avLst/>
          </a:prstGeom>
          <a:noFill/>
        </p:spPr>
        <p:txBody>
          <a:bodyPr wrap="none" lIns="0" rIns="0" tIns="0" bIns="0">
            <a:spAutoFit/>
          </a:bodyPr>
          <a:lstStyle/>
          <a:p>
            <a:r>
              <a:rPr sz="1150" b="0">
                <a:solidFill>
                  <a:srgbClr val="252423"/>
                </a:solidFill>
                <a:latin typeface="Segoe UI"/>
              </a:rPr>
              <a:t>The United States lithium polymer portable energy storage market is projected to register</a:t>
            </a:r>
          </a:p>
        </p:txBody>
      </p:sp>
      <p:pic>
        <p:nvPicPr>
          <p:cNvPr id="19" name="Picture 18" descr="lock.png"/>
          <p:cNvPicPr>
            <a:picLocks noChangeAspect="1"/>
          </p:cNvPicPr>
          <p:nvPr/>
        </p:nvPicPr>
        <p:blipFill>
          <a:blip r:embed="rId4"/>
          <a:stretch>
            <a:fillRect/>
          </a:stretch>
        </p:blipFill>
        <p:spPr>
          <a:xfrm>
            <a:off x="6070019" y="3228276"/>
            <a:ext cx="134549" cy="195707"/>
          </a:xfrm>
          <a:prstGeom prst="rect">
            <a:avLst/>
          </a:prstGeom>
        </p:spPr>
      </p:pic>
      <p:sp>
        <p:nvSpPr>
          <p:cNvPr id="20" name="TextBox 19"/>
          <p:cNvSpPr txBox="1"/>
          <p:nvPr/>
        </p:nvSpPr>
        <p:spPr>
          <a:xfrm>
            <a:off x="6245128" y="3238500"/>
            <a:ext cx="5167719" cy="194310"/>
          </a:xfrm>
          <a:prstGeom prst="rect">
            <a:avLst/>
          </a:prstGeom>
          <a:noFill/>
        </p:spPr>
        <p:txBody>
          <a:bodyPr wrap="none" lIns="0" rIns="0" tIns="0" bIns="0">
            <a:spAutoFit/>
          </a:bodyPr>
          <a:lstStyle/>
          <a:p>
            <a:r>
              <a:rPr sz="1150" b="0">
                <a:solidFill>
                  <a:srgbClr val="252423"/>
                </a:solidFill>
                <a:latin typeface="Segoe UI"/>
              </a:rPr>
              <a:t>X higher volume than Canada in 2036. Among lithium polymer portable energy</a:t>
            </a:r>
          </a:p>
        </p:txBody>
      </p:sp>
      <p:sp>
        <p:nvSpPr>
          <p:cNvPr id="21" name="TextBox 20"/>
          <p:cNvSpPr txBox="1"/>
          <p:nvPr/>
        </p:nvSpPr>
        <p:spPr>
          <a:xfrm>
            <a:off x="276225" y="3413760"/>
            <a:ext cx="5017118" cy="194310"/>
          </a:xfrm>
          <a:prstGeom prst="rect">
            <a:avLst/>
          </a:prstGeom>
          <a:noFill/>
        </p:spPr>
        <p:txBody>
          <a:bodyPr wrap="none" lIns="0" rIns="0" tIns="0" bIns="0">
            <a:spAutoFit/>
          </a:bodyPr>
          <a:lstStyle/>
          <a:p>
            <a:r>
              <a:rPr sz="1150" b="0">
                <a:solidFill>
                  <a:srgbClr val="252423"/>
                </a:solidFill>
                <a:latin typeface="Segoe UI"/>
              </a:rPr>
              <a:t>storage by country, United States is expected to witness the highest CAGR of</a:t>
            </a:r>
          </a:p>
        </p:txBody>
      </p:sp>
      <p:pic>
        <p:nvPicPr>
          <p:cNvPr id="22" name="Picture 21" descr="lock.png"/>
          <p:cNvPicPr>
            <a:picLocks noChangeAspect="1"/>
          </p:cNvPicPr>
          <p:nvPr/>
        </p:nvPicPr>
        <p:blipFill>
          <a:blip r:embed="rId4"/>
          <a:stretch>
            <a:fillRect/>
          </a:stretch>
        </p:blipFill>
        <p:spPr>
          <a:xfrm>
            <a:off x="5242497" y="3403536"/>
            <a:ext cx="134549" cy="195707"/>
          </a:xfrm>
          <a:prstGeom prst="rect">
            <a:avLst/>
          </a:prstGeom>
        </p:spPr>
      </p:pic>
      <p:sp>
        <p:nvSpPr>
          <p:cNvPr id="23" name="TextBox 22"/>
          <p:cNvSpPr txBox="1"/>
          <p:nvPr/>
        </p:nvSpPr>
        <p:spPr>
          <a:xfrm>
            <a:off x="5417606" y="341376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641597"/>
            <a:ext cx="6220239" cy="194310"/>
          </a:xfrm>
          <a:prstGeom prst="rect">
            <a:avLst/>
          </a:prstGeom>
          <a:noFill/>
        </p:spPr>
        <p:txBody>
          <a:bodyPr wrap="none" lIns="0" rIns="0" tIns="0" bIns="0">
            <a:spAutoFit/>
          </a:bodyPr>
          <a:lstStyle/>
          <a:p>
            <a:r>
              <a:rPr sz="1150" b="0">
                <a:solidFill>
                  <a:srgbClr val="252423"/>
                </a:solidFill>
                <a:latin typeface="Segoe UI"/>
              </a:rPr>
              <a:t>In terms of volume share by country, United States is expected to dominate the market, gaining</a:t>
            </a:r>
          </a:p>
        </p:txBody>
      </p:sp>
      <p:pic>
        <p:nvPicPr>
          <p:cNvPr id="25" name="Picture 24" descr="lock.png"/>
          <p:cNvPicPr>
            <a:picLocks noChangeAspect="1"/>
          </p:cNvPicPr>
          <p:nvPr/>
        </p:nvPicPr>
        <p:blipFill>
          <a:blip r:embed="rId4"/>
          <a:stretch>
            <a:fillRect/>
          </a:stretch>
        </p:blipFill>
        <p:spPr>
          <a:xfrm>
            <a:off x="6445618" y="3631374"/>
            <a:ext cx="134549" cy="195707"/>
          </a:xfrm>
          <a:prstGeom prst="rect">
            <a:avLst/>
          </a:prstGeom>
        </p:spPr>
      </p:pic>
      <p:sp>
        <p:nvSpPr>
          <p:cNvPr id="26" name="TextBox 25"/>
          <p:cNvSpPr txBox="1"/>
          <p:nvPr/>
        </p:nvSpPr>
        <p:spPr>
          <a:xfrm>
            <a:off x="6620727" y="364159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8149084" y="3631374"/>
            <a:ext cx="134549" cy="195707"/>
          </a:xfrm>
          <a:prstGeom prst="rect">
            <a:avLst/>
          </a:prstGeom>
        </p:spPr>
      </p:pic>
      <p:sp>
        <p:nvSpPr>
          <p:cNvPr id="28" name="TextBox 27"/>
          <p:cNvSpPr txBox="1"/>
          <p:nvPr/>
        </p:nvSpPr>
        <p:spPr>
          <a:xfrm>
            <a:off x="8324193" y="3641597"/>
            <a:ext cx="2765221" cy="194310"/>
          </a:xfrm>
          <a:prstGeom prst="rect">
            <a:avLst/>
          </a:prstGeom>
          <a:noFill/>
        </p:spPr>
        <p:txBody>
          <a:bodyPr wrap="none" lIns="0" rIns="0" tIns="0" bIns="0">
            <a:spAutoFit/>
          </a:bodyPr>
          <a:lstStyle/>
          <a:p>
            <a:r>
              <a:rPr sz="1150" b="0">
                <a:solidFill>
                  <a:srgbClr val="252423"/>
                </a:solidFill>
                <a:latin typeface="Segoe UI"/>
              </a:rPr>
              <a:t>share by 2036. Canada is expected to lose</a:t>
            </a:r>
          </a:p>
        </p:txBody>
      </p:sp>
      <p:pic>
        <p:nvPicPr>
          <p:cNvPr id="29" name="Picture 28" descr="lock.png"/>
          <p:cNvPicPr>
            <a:picLocks noChangeAspect="1"/>
          </p:cNvPicPr>
          <p:nvPr/>
        </p:nvPicPr>
        <p:blipFill>
          <a:blip r:embed="rId4"/>
          <a:stretch>
            <a:fillRect/>
          </a:stretch>
        </p:blipFill>
        <p:spPr>
          <a:xfrm>
            <a:off x="11038569" y="3631374"/>
            <a:ext cx="134549" cy="195707"/>
          </a:xfrm>
          <a:prstGeom prst="rect">
            <a:avLst/>
          </a:prstGeom>
        </p:spPr>
      </p:pic>
      <p:sp>
        <p:nvSpPr>
          <p:cNvPr id="30" name="TextBox 29"/>
          <p:cNvSpPr txBox="1"/>
          <p:nvPr/>
        </p:nvSpPr>
        <p:spPr>
          <a:xfrm>
            <a:off x="11213678" y="3641597"/>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31" name="TextBox 30"/>
          <p:cNvSpPr txBox="1"/>
          <p:nvPr/>
        </p:nvSpPr>
        <p:spPr>
          <a:xfrm>
            <a:off x="276225" y="3816857"/>
            <a:ext cx="2566974" cy="194310"/>
          </a:xfrm>
          <a:prstGeom prst="rect">
            <a:avLst/>
          </a:prstGeom>
          <a:noFill/>
        </p:spPr>
        <p:txBody>
          <a:bodyPr wrap="none" lIns="0" rIns="0" tIns="0" bIns="0">
            <a:spAutoFit/>
          </a:bodyPr>
          <a:lstStyle/>
          <a:p>
            <a:r>
              <a:rPr sz="1150" b="0">
                <a:solidFill>
                  <a:srgbClr val="252423"/>
                </a:solidFill>
                <a:latin typeface="Segoe UI"/>
              </a:rPr>
              <a:t>over the forecast period to account for</a:t>
            </a:r>
          </a:p>
        </p:txBody>
      </p:sp>
      <p:pic>
        <p:nvPicPr>
          <p:cNvPr id="32" name="Picture 31" descr="lock.png"/>
          <p:cNvPicPr>
            <a:picLocks noChangeAspect="1"/>
          </p:cNvPicPr>
          <p:nvPr/>
        </p:nvPicPr>
        <p:blipFill>
          <a:blip r:embed="rId4"/>
          <a:stretch>
            <a:fillRect/>
          </a:stretch>
        </p:blipFill>
        <p:spPr>
          <a:xfrm>
            <a:off x="2792353" y="3806634"/>
            <a:ext cx="134549" cy="195707"/>
          </a:xfrm>
          <a:prstGeom prst="rect">
            <a:avLst/>
          </a:prstGeom>
        </p:spPr>
      </p:pic>
      <p:sp>
        <p:nvSpPr>
          <p:cNvPr id="33" name="TextBox 32"/>
          <p:cNvSpPr txBox="1"/>
          <p:nvPr/>
        </p:nvSpPr>
        <p:spPr>
          <a:xfrm>
            <a:off x="2967462" y="381685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ectangle 7"/>
          <p:cNvSpPr/>
          <p:nvPr/>
        </p:nvSpPr>
        <p:spPr>
          <a:xfrm>
            <a:off x="142875" y="981075"/>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Size, By Country (US$ Mn)</a:t>
            </a:r>
          </a:p>
        </p:txBody>
      </p:sp>
      <p:graphicFrame>
        <p:nvGraphicFramePr>
          <p:cNvPr id="10" name="Table 9"/>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1033871"/>
                <a:gridCol w="638431"/>
                <a:gridCol w="638431"/>
                <a:gridCol w="638431"/>
                <a:gridCol w="638431"/>
                <a:gridCol w="638431"/>
                <a:gridCol w="638431"/>
                <a:gridCol w="638431"/>
                <a:gridCol w="638431"/>
                <a:gridCol w="638431"/>
                <a:gridCol w="638431"/>
                <a:gridCol w="638431"/>
                <a:gridCol w="638431"/>
                <a:gridCol w="638431"/>
                <a:gridCol w="638431"/>
                <a:gridCol w="638431"/>
                <a:gridCol w="638431"/>
                <a:gridCol w="638431"/>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819400"/>
            <a:ext cx="11906250" cy="3810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Share Read-out, By Country</a:t>
            </a:r>
          </a:p>
        </p:txBody>
      </p:sp>
      <p:sp>
        <p:nvSpPr>
          <p:cNvPr id="14" name="Rectangle 13"/>
          <p:cNvSpPr/>
          <p:nvPr/>
        </p:nvSpPr>
        <p:spPr>
          <a:xfrm>
            <a:off x="276225" y="31432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426244" y="1713738"/>
            <a:ext cx="366712" cy="533400"/>
          </a:xfrm>
          <a:prstGeom prst="rect">
            <a:avLst/>
          </a:prstGeom>
        </p:spPr>
      </p:pic>
      <p:sp>
        <p:nvSpPr>
          <p:cNvPr id="18" name="TextBox 17"/>
          <p:cNvSpPr txBox="1"/>
          <p:nvPr/>
        </p:nvSpPr>
        <p:spPr>
          <a:xfrm>
            <a:off x="276225" y="3238500"/>
            <a:ext cx="5844640" cy="194310"/>
          </a:xfrm>
          <a:prstGeom prst="rect">
            <a:avLst/>
          </a:prstGeom>
          <a:noFill/>
        </p:spPr>
        <p:txBody>
          <a:bodyPr wrap="none" lIns="0" rIns="0" tIns="0" bIns="0">
            <a:spAutoFit/>
          </a:bodyPr>
          <a:lstStyle/>
          <a:p>
            <a:r>
              <a:rPr sz="1150" b="0">
                <a:solidFill>
                  <a:srgbClr val="252423"/>
                </a:solidFill>
                <a:latin typeface="Segoe UI"/>
              </a:rPr>
              <a:t>The United States lithium polymer portable energy storage market is projected to register</a:t>
            </a:r>
          </a:p>
        </p:txBody>
      </p:sp>
      <p:pic>
        <p:nvPicPr>
          <p:cNvPr id="19" name="Picture 18" descr="lock.png"/>
          <p:cNvPicPr>
            <a:picLocks noChangeAspect="1"/>
          </p:cNvPicPr>
          <p:nvPr/>
        </p:nvPicPr>
        <p:blipFill>
          <a:blip r:embed="rId4"/>
          <a:stretch>
            <a:fillRect/>
          </a:stretch>
        </p:blipFill>
        <p:spPr>
          <a:xfrm>
            <a:off x="6070019" y="3228276"/>
            <a:ext cx="134549" cy="195707"/>
          </a:xfrm>
          <a:prstGeom prst="rect">
            <a:avLst/>
          </a:prstGeom>
        </p:spPr>
      </p:pic>
      <p:sp>
        <p:nvSpPr>
          <p:cNvPr id="20" name="TextBox 19"/>
          <p:cNvSpPr txBox="1"/>
          <p:nvPr/>
        </p:nvSpPr>
        <p:spPr>
          <a:xfrm>
            <a:off x="6245128" y="3238500"/>
            <a:ext cx="5555619" cy="194310"/>
          </a:xfrm>
          <a:prstGeom prst="rect">
            <a:avLst/>
          </a:prstGeom>
          <a:noFill/>
        </p:spPr>
        <p:txBody>
          <a:bodyPr wrap="none" lIns="0" rIns="0" tIns="0" bIns="0">
            <a:spAutoFit/>
          </a:bodyPr>
          <a:lstStyle/>
          <a:p>
            <a:r>
              <a:rPr sz="1150" b="0">
                <a:solidFill>
                  <a:srgbClr val="252423"/>
                </a:solidFill>
                <a:latin typeface="Segoe UI"/>
              </a:rPr>
              <a:t>X higher value than Canada in 2036. Among lithium polymer portable energy storage</a:t>
            </a:r>
          </a:p>
        </p:txBody>
      </p:sp>
      <p:sp>
        <p:nvSpPr>
          <p:cNvPr id="21" name="TextBox 20"/>
          <p:cNvSpPr txBox="1"/>
          <p:nvPr/>
        </p:nvSpPr>
        <p:spPr>
          <a:xfrm>
            <a:off x="276225" y="3413760"/>
            <a:ext cx="4492269" cy="194310"/>
          </a:xfrm>
          <a:prstGeom prst="rect">
            <a:avLst/>
          </a:prstGeom>
          <a:noFill/>
        </p:spPr>
        <p:txBody>
          <a:bodyPr wrap="none" lIns="0" rIns="0" tIns="0" bIns="0">
            <a:spAutoFit/>
          </a:bodyPr>
          <a:lstStyle/>
          <a:p>
            <a:r>
              <a:rPr sz="1150" b="0">
                <a:solidFill>
                  <a:srgbClr val="252423"/>
                </a:solidFill>
                <a:latin typeface="Segoe UI"/>
              </a:rPr>
              <a:t>by country, United States is expected to witness the highest CAGR of</a:t>
            </a:r>
          </a:p>
        </p:txBody>
      </p:sp>
      <p:pic>
        <p:nvPicPr>
          <p:cNvPr id="22" name="Picture 21" descr="lock.png"/>
          <p:cNvPicPr>
            <a:picLocks noChangeAspect="1"/>
          </p:cNvPicPr>
          <p:nvPr/>
        </p:nvPicPr>
        <p:blipFill>
          <a:blip r:embed="rId4"/>
          <a:stretch>
            <a:fillRect/>
          </a:stretch>
        </p:blipFill>
        <p:spPr>
          <a:xfrm>
            <a:off x="4717648" y="3403536"/>
            <a:ext cx="134549" cy="195707"/>
          </a:xfrm>
          <a:prstGeom prst="rect">
            <a:avLst/>
          </a:prstGeom>
        </p:spPr>
      </p:pic>
      <p:sp>
        <p:nvSpPr>
          <p:cNvPr id="23" name="TextBox 22"/>
          <p:cNvSpPr txBox="1"/>
          <p:nvPr/>
        </p:nvSpPr>
        <p:spPr>
          <a:xfrm>
            <a:off x="4892757" y="341376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641597"/>
            <a:ext cx="6083290" cy="194310"/>
          </a:xfrm>
          <a:prstGeom prst="rect">
            <a:avLst/>
          </a:prstGeom>
          <a:noFill/>
        </p:spPr>
        <p:txBody>
          <a:bodyPr wrap="none" lIns="0" rIns="0" tIns="0" bIns="0">
            <a:spAutoFit/>
          </a:bodyPr>
          <a:lstStyle/>
          <a:p>
            <a:r>
              <a:rPr sz="1150" b="0">
                <a:solidFill>
                  <a:srgbClr val="252423"/>
                </a:solidFill>
                <a:latin typeface="Segoe UI"/>
              </a:rPr>
              <a:t>In terms of value share by country, United States is expected to dominate the market, gaining</a:t>
            </a:r>
          </a:p>
        </p:txBody>
      </p:sp>
      <p:pic>
        <p:nvPicPr>
          <p:cNvPr id="25" name="Picture 24" descr="lock.png"/>
          <p:cNvPicPr>
            <a:picLocks noChangeAspect="1"/>
          </p:cNvPicPr>
          <p:nvPr/>
        </p:nvPicPr>
        <p:blipFill>
          <a:blip r:embed="rId4"/>
          <a:stretch>
            <a:fillRect/>
          </a:stretch>
        </p:blipFill>
        <p:spPr>
          <a:xfrm>
            <a:off x="6308669" y="3631374"/>
            <a:ext cx="134549" cy="195707"/>
          </a:xfrm>
          <a:prstGeom prst="rect">
            <a:avLst/>
          </a:prstGeom>
        </p:spPr>
      </p:pic>
      <p:sp>
        <p:nvSpPr>
          <p:cNvPr id="26" name="TextBox 25"/>
          <p:cNvSpPr txBox="1"/>
          <p:nvPr/>
        </p:nvSpPr>
        <p:spPr>
          <a:xfrm>
            <a:off x="6483778" y="364159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8012135" y="3631374"/>
            <a:ext cx="134549" cy="195707"/>
          </a:xfrm>
          <a:prstGeom prst="rect">
            <a:avLst/>
          </a:prstGeom>
        </p:spPr>
      </p:pic>
      <p:sp>
        <p:nvSpPr>
          <p:cNvPr id="28" name="TextBox 27"/>
          <p:cNvSpPr txBox="1"/>
          <p:nvPr/>
        </p:nvSpPr>
        <p:spPr>
          <a:xfrm>
            <a:off x="8187244" y="3641597"/>
            <a:ext cx="2765221" cy="194310"/>
          </a:xfrm>
          <a:prstGeom prst="rect">
            <a:avLst/>
          </a:prstGeom>
          <a:noFill/>
        </p:spPr>
        <p:txBody>
          <a:bodyPr wrap="none" lIns="0" rIns="0" tIns="0" bIns="0">
            <a:spAutoFit/>
          </a:bodyPr>
          <a:lstStyle/>
          <a:p>
            <a:r>
              <a:rPr sz="1150" b="0">
                <a:solidFill>
                  <a:srgbClr val="252423"/>
                </a:solidFill>
                <a:latin typeface="Segoe UI"/>
              </a:rPr>
              <a:t>share by 2036. Canada is expected to lose</a:t>
            </a:r>
          </a:p>
        </p:txBody>
      </p:sp>
      <p:pic>
        <p:nvPicPr>
          <p:cNvPr id="29" name="Picture 28" descr="lock.png"/>
          <p:cNvPicPr>
            <a:picLocks noChangeAspect="1"/>
          </p:cNvPicPr>
          <p:nvPr/>
        </p:nvPicPr>
        <p:blipFill>
          <a:blip r:embed="rId4"/>
          <a:stretch>
            <a:fillRect/>
          </a:stretch>
        </p:blipFill>
        <p:spPr>
          <a:xfrm>
            <a:off x="10901620" y="3631374"/>
            <a:ext cx="134549" cy="195707"/>
          </a:xfrm>
          <a:prstGeom prst="rect">
            <a:avLst/>
          </a:prstGeom>
        </p:spPr>
      </p:pic>
      <p:sp>
        <p:nvSpPr>
          <p:cNvPr id="30" name="TextBox 29"/>
          <p:cNvSpPr txBox="1"/>
          <p:nvPr/>
        </p:nvSpPr>
        <p:spPr>
          <a:xfrm>
            <a:off x="11076729" y="3641597"/>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31" name="TextBox 30"/>
          <p:cNvSpPr txBox="1"/>
          <p:nvPr/>
        </p:nvSpPr>
        <p:spPr>
          <a:xfrm>
            <a:off x="276225" y="3816857"/>
            <a:ext cx="2566974" cy="194310"/>
          </a:xfrm>
          <a:prstGeom prst="rect">
            <a:avLst/>
          </a:prstGeom>
          <a:noFill/>
        </p:spPr>
        <p:txBody>
          <a:bodyPr wrap="none" lIns="0" rIns="0" tIns="0" bIns="0">
            <a:spAutoFit/>
          </a:bodyPr>
          <a:lstStyle/>
          <a:p>
            <a:r>
              <a:rPr sz="1150" b="0">
                <a:solidFill>
                  <a:srgbClr val="252423"/>
                </a:solidFill>
                <a:latin typeface="Segoe UI"/>
              </a:rPr>
              <a:t>over the forecast period to account for</a:t>
            </a:r>
          </a:p>
        </p:txBody>
      </p:sp>
      <p:pic>
        <p:nvPicPr>
          <p:cNvPr id="32" name="Picture 31" descr="lock.png"/>
          <p:cNvPicPr>
            <a:picLocks noChangeAspect="1"/>
          </p:cNvPicPr>
          <p:nvPr/>
        </p:nvPicPr>
        <p:blipFill>
          <a:blip r:embed="rId4"/>
          <a:stretch>
            <a:fillRect/>
          </a:stretch>
        </p:blipFill>
        <p:spPr>
          <a:xfrm>
            <a:off x="2792353" y="3806634"/>
            <a:ext cx="134549" cy="195707"/>
          </a:xfrm>
          <a:prstGeom prst="rect">
            <a:avLst/>
          </a:prstGeom>
        </p:spPr>
      </p:pic>
      <p:sp>
        <p:nvSpPr>
          <p:cNvPr id="33" name="TextBox 32"/>
          <p:cNvSpPr txBox="1"/>
          <p:nvPr/>
        </p:nvSpPr>
        <p:spPr>
          <a:xfrm>
            <a:off x="2967462" y="381685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ectangle 7"/>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Volume By Country (Thousand Units)</a:t>
            </a:r>
          </a:p>
        </p:txBody>
      </p:sp>
      <p:graphicFrame>
        <p:nvGraphicFramePr>
          <p:cNvPr id="10" name="Chart 9"/>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1" name="Rectangle 10"/>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Country (US$ Mn)</a:t>
            </a:r>
          </a:p>
        </p:txBody>
      </p:sp>
      <p:graphicFrame>
        <p:nvGraphicFramePr>
          <p:cNvPr id="13" name="Chart 12"/>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6058646" y="2026489"/>
            <a:ext cx="363375" cy="528545"/>
          </a:xfrm>
          <a:prstGeom prst="rect">
            <a:avLst/>
          </a:prstGeom>
        </p:spPr>
      </p:pic>
      <p:pic>
        <p:nvPicPr>
          <p:cNvPr id="16" name="Picture 15" descr="lock.png"/>
          <p:cNvPicPr>
            <a:picLocks noChangeAspect="1"/>
          </p:cNvPicPr>
          <p:nvPr/>
        </p:nvPicPr>
        <p:blipFill>
          <a:blip r:embed="rId6"/>
          <a:stretch>
            <a:fillRect/>
          </a:stretch>
        </p:blipFill>
        <p:spPr>
          <a:xfrm>
            <a:off x="6058646" y="4912564"/>
            <a:ext cx="363375" cy="528545"/>
          </a:xfrm>
          <a:prstGeom prst="rect">
            <a:avLst/>
          </a:prstGeom>
        </p:spPr>
      </p:pic>
      <p:sp>
        <p:nvSpPr>
          <p:cNvPr id="17" name="lockshield_10"/>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Lithium Polymer Portable Energy Storage Market Top 3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North America market in 2036, highlighting the leading countries within each region by value</a:t>
            </a:r>
          </a:p>
        </p:txBody>
      </p:sp>
      <p:sp>
        <p:nvSpPr>
          <p:cNvPr id="8" name="Rectangle 7"/>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by country  ·  2036 (US$ Mn)  ·  tile size = market value</a:t>
            </a:r>
          </a:p>
        </p:txBody>
      </p:sp>
      <p:sp>
        <p:nvSpPr>
          <p:cNvPr id="10" name="Rectangle 9"/>
          <p:cNvSpPr/>
          <p:nvPr/>
        </p:nvSpPr>
        <p:spPr>
          <a:xfrm>
            <a:off x="238125" y="1266825"/>
            <a:ext cx="7223220"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United States</a:t>
            </a:r>
          </a:p>
          <a:p>
            <a:pPr algn="ctr"/>
            <a:r>
              <a:rPr sz="1100" b="0">
                <a:solidFill>
                  <a:srgbClr val="FFFFFF"/>
                </a:solidFill>
                <a:latin typeface="Segoe UI"/>
              </a:rPr>
              <a:t> </a:t>
            </a:r>
          </a:p>
        </p:txBody>
      </p:sp>
      <p:sp>
        <p:nvSpPr>
          <p:cNvPr id="11" name="Rectangle 10"/>
          <p:cNvSpPr/>
          <p:nvPr/>
        </p:nvSpPr>
        <p:spPr>
          <a:xfrm>
            <a:off x="7461345" y="1266825"/>
            <a:ext cx="4492530" cy="3199763"/>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2" name="Rectangle 11"/>
          <p:cNvSpPr/>
          <p:nvPr/>
        </p:nvSpPr>
        <p:spPr>
          <a:xfrm>
            <a:off x="7461345" y="4466588"/>
            <a:ext cx="4492530" cy="2105662"/>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13" name="TextBox 1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 name="Picture 13" descr="lock.png"/>
          <p:cNvPicPr>
            <a:picLocks noChangeAspect="1"/>
          </p:cNvPicPr>
          <p:nvPr/>
        </p:nvPicPr>
        <p:blipFill>
          <a:blip r:embed="rId4"/>
          <a:stretch>
            <a:fillRect/>
          </a:stretch>
        </p:blipFill>
        <p:spPr>
          <a:xfrm>
            <a:off x="3792109" y="3919537"/>
            <a:ext cx="115252" cy="167639"/>
          </a:xfrm>
          <a:prstGeom prst="rect">
            <a:avLst/>
          </a:prstGeom>
        </p:spPr>
      </p:pic>
      <p:pic>
        <p:nvPicPr>
          <p:cNvPr id="15" name="Picture 14" descr="lock.png"/>
          <p:cNvPicPr>
            <a:picLocks noChangeAspect="1"/>
          </p:cNvPicPr>
          <p:nvPr/>
        </p:nvPicPr>
        <p:blipFill>
          <a:blip r:embed="rId4"/>
          <a:stretch>
            <a:fillRect/>
          </a:stretch>
        </p:blipFill>
        <p:spPr>
          <a:xfrm>
            <a:off x="9649984" y="2866706"/>
            <a:ext cx="115252" cy="167639"/>
          </a:xfrm>
          <a:prstGeom prst="rect">
            <a:avLst/>
          </a:prstGeom>
        </p:spPr>
      </p:pic>
      <p:pic>
        <p:nvPicPr>
          <p:cNvPr id="16" name="Picture 15" descr="lock.png"/>
          <p:cNvPicPr>
            <a:picLocks noChangeAspect="1"/>
          </p:cNvPicPr>
          <p:nvPr/>
        </p:nvPicPr>
        <p:blipFill>
          <a:blip r:embed="rId4"/>
          <a:stretch>
            <a:fillRect/>
          </a:stretch>
        </p:blipFill>
        <p:spPr>
          <a:xfrm>
            <a:off x="9649984" y="5519419"/>
            <a:ext cx="115252" cy="167639"/>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308225"/>
            <a:ext cx="8572500" cy="514350"/>
          </a:xfrm>
          <a:prstGeom prst="rect">
            <a:avLst/>
          </a:prstGeom>
          <a:noFill/>
        </p:spPr>
        <p:txBody>
          <a:bodyPr wrap="square" lIns="0" rIns="0" tIns="0">
            <a:spAutoFit/>
          </a:bodyPr>
          <a:lstStyle/>
          <a:p>
            <a:r>
              <a:rPr sz="3000" b="1">
                <a:solidFill>
                  <a:srgbClr val="00526E"/>
                </a:solidFill>
                <a:latin typeface="Calibri"/>
              </a:rPr>
              <a:t>North America Market Analysis By Segments</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Energy Storage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Output Power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Energy Storage 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Energy Storage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Energy Storage Capacity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Energy Storage Capacity,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Energy Storage Capacity segment categorizes the market by energy storage capacity.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1,500 Wh to 2,000 Wh</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1,000 Wh to Below 1,500 Wh</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500 Wh to Below 1,000 Wh</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0" name="Rectangle 39"/>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2" name="Rounded Rectangle 4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4" name="Rectangle 43"/>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p:txBody>
      </p:sp>
      <p:sp>
        <p:nvSpPr>
          <p:cNvPr id="46" name="Rounded Rectangle 4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8" name="Rectangle 47"/>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Energy Storage Capacity split shows how demand is distributed across energy storage capacity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0" name="Rectangle 4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2" name="TextBox 5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4" name="Picture 53" descr="108_4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311_9_605E5C.png"/>
          <p:cNvPicPr>
            <a:picLocks noChangeAspect="1"/>
          </p:cNvPicPr>
          <p:nvPr/>
        </p:nvPicPr>
        <p:blipFill>
          <a:blip r:embed="rId5"/>
          <a:stretch>
            <a:fillRect/>
          </a:stretch>
        </p:blipFill>
        <p:spPr>
          <a:xfrm>
            <a:off x="2897811" y="2779432"/>
            <a:ext cx="1195728" cy="361950"/>
          </a:xfrm>
          <a:prstGeom prst="rect">
            <a:avLst/>
          </a:prstGeom>
        </p:spPr>
      </p:pic>
      <p:pic>
        <p:nvPicPr>
          <p:cNvPr id="56" name="Picture 55" descr="11_1__605E5C.png"/>
          <p:cNvPicPr>
            <a:picLocks noChangeAspect="1"/>
          </p:cNvPicPr>
          <p:nvPr/>
        </p:nvPicPr>
        <p:blipFill>
          <a:blip r:embed="rId6"/>
          <a:stretch>
            <a:fillRect/>
          </a:stretch>
        </p:blipFill>
        <p:spPr>
          <a:xfrm>
            <a:off x="2897811" y="3272281"/>
            <a:ext cx="1195728" cy="361950"/>
          </a:xfrm>
          <a:prstGeom prst="rect">
            <a:avLst/>
          </a:prstGeom>
        </p:spPr>
      </p:pic>
      <p:pic>
        <p:nvPicPr>
          <p:cNvPr id="57" name="Picture 56" descr="80_9_605E5C.png"/>
          <p:cNvPicPr>
            <a:picLocks noChangeAspect="1"/>
          </p:cNvPicPr>
          <p:nvPr/>
        </p:nvPicPr>
        <p:blipFill>
          <a:blip r:embed="rId7"/>
          <a:stretch>
            <a:fillRect/>
          </a:stretch>
        </p:blipFill>
        <p:spPr>
          <a:xfrm>
            <a:off x="6376307" y="2286582"/>
            <a:ext cx="982436" cy="361950"/>
          </a:xfrm>
          <a:prstGeom prst="rect">
            <a:avLst/>
          </a:prstGeom>
        </p:spPr>
      </p:pic>
      <p:pic>
        <p:nvPicPr>
          <p:cNvPr id="58" name="Picture 57" descr="281_5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13_3__605E5C.png"/>
          <p:cNvPicPr>
            <a:picLocks noChangeAspect="1"/>
          </p:cNvPicPr>
          <p:nvPr/>
        </p:nvPicPr>
        <p:blipFill>
          <a:blip r:embed="rId9"/>
          <a:stretch>
            <a:fillRect/>
          </a:stretch>
        </p:blipFill>
        <p:spPr>
          <a:xfrm>
            <a:off x="6269661" y="3272281"/>
            <a:ext cx="1195728" cy="361950"/>
          </a:xfrm>
          <a:prstGeom prst="rect">
            <a:avLst/>
          </a:prstGeom>
        </p:spPr>
      </p:pic>
      <p:pic>
        <p:nvPicPr>
          <p:cNvPr id="60" name="Picture 59" descr="68_1_605E5C.png"/>
          <p:cNvPicPr>
            <a:picLocks noChangeAspect="1"/>
          </p:cNvPicPr>
          <p:nvPr/>
        </p:nvPicPr>
        <p:blipFill>
          <a:blip r:embed="rId10"/>
          <a:stretch>
            <a:fillRect/>
          </a:stretch>
        </p:blipFill>
        <p:spPr>
          <a:xfrm>
            <a:off x="9748157" y="2286582"/>
            <a:ext cx="982436" cy="361950"/>
          </a:xfrm>
          <a:prstGeom prst="rect">
            <a:avLst/>
          </a:prstGeom>
        </p:spPr>
      </p:pic>
      <p:pic>
        <p:nvPicPr>
          <p:cNvPr id="61" name="Picture 60" descr="192_1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10_9__605E5C.png"/>
          <p:cNvPicPr>
            <a:picLocks noChangeAspect="1"/>
          </p:cNvPicPr>
          <p:nvPr/>
        </p:nvPicPr>
        <p:blipFill>
          <a:blip r:embed="rId12"/>
          <a:stretch>
            <a:fillRect/>
          </a:stretch>
        </p:blipFill>
        <p:spPr>
          <a:xfrm>
            <a:off x="9641511" y="3272281"/>
            <a:ext cx="1195728"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67" name="TextBox 66"/>
          <p:cNvSpPr txBox="1"/>
          <p:nvPr/>
        </p:nvSpPr>
        <p:spPr>
          <a:xfrm>
            <a:off x="485775" y="4390371"/>
            <a:ext cx="2812992" cy="179984"/>
          </a:xfrm>
          <a:prstGeom prst="rect">
            <a:avLst/>
          </a:prstGeom>
          <a:noFill/>
        </p:spPr>
        <p:txBody>
          <a:bodyPr wrap="none" lIns="0" rIns="0" tIns="0" bIns="0">
            <a:spAutoFit/>
          </a:bodyPr>
          <a:lstStyle/>
          <a:p>
            <a:r>
              <a:rPr sz="1055" b="0">
                <a:solidFill>
                  <a:srgbClr val="252423"/>
                </a:solidFill>
                <a:latin typeface="Segoe UI"/>
              </a:rPr>
              <a:t>by energy storage capacity, 1,000 wh to below</a:t>
            </a:r>
          </a:p>
        </p:txBody>
      </p:sp>
      <p:sp>
        <p:nvSpPr>
          <p:cNvPr id="68" name="TextBox 67"/>
          <p:cNvSpPr txBox="1"/>
          <p:nvPr/>
        </p:nvSpPr>
        <p:spPr>
          <a:xfrm>
            <a:off x="485775" y="4551305"/>
            <a:ext cx="2715187" cy="179984"/>
          </a:xfrm>
          <a:prstGeom prst="rect">
            <a:avLst/>
          </a:prstGeom>
          <a:noFill/>
        </p:spPr>
        <p:txBody>
          <a:bodyPr wrap="none" lIns="0" rIns="0" tIns="0" bIns="0">
            <a:spAutoFit/>
          </a:bodyPr>
          <a:lstStyle/>
          <a:p>
            <a:r>
              <a:rPr sz="1055" b="0">
                <a:solidFill>
                  <a:srgbClr val="252423"/>
                </a:solidFill>
                <a:latin typeface="Segoe UI"/>
              </a:rPr>
              <a:t>1,500 wh segment is expected to witness the</a:t>
            </a:r>
          </a:p>
        </p:txBody>
      </p:sp>
      <p:sp>
        <p:nvSpPr>
          <p:cNvPr id="69" name="TextBox 68"/>
          <p:cNvSpPr txBox="1"/>
          <p:nvPr/>
        </p:nvSpPr>
        <p:spPr>
          <a:xfrm>
            <a:off x="485775" y="4712240"/>
            <a:ext cx="1047660" cy="179984"/>
          </a:xfrm>
          <a:prstGeom prst="rect">
            <a:avLst/>
          </a:prstGeom>
          <a:noFill/>
        </p:spPr>
        <p:txBody>
          <a:bodyPr wrap="none" lIns="0" rIns="0" tIns="0" bIns="0">
            <a:spAutoFit/>
          </a:bodyPr>
          <a:lstStyle/>
          <a:p>
            <a:r>
              <a:rPr sz="1055" b="0">
                <a:solidFill>
                  <a:srgbClr val="252423"/>
                </a:solidFill>
                <a:latin typeface="Segoe UI"/>
              </a:rPr>
              <a:t>highest CAGR of</a:t>
            </a:r>
          </a:p>
        </p:txBody>
      </p:sp>
      <p:pic>
        <p:nvPicPr>
          <p:cNvPr id="70" name="Picture 69" descr="lock.png"/>
          <p:cNvPicPr>
            <a:picLocks noChangeAspect="1"/>
          </p:cNvPicPr>
          <p:nvPr/>
        </p:nvPicPr>
        <p:blipFill>
          <a:blip r:embed="rId13"/>
          <a:stretch>
            <a:fillRect/>
          </a:stretch>
        </p:blipFill>
        <p:spPr>
          <a:xfrm>
            <a:off x="1480517" y="4702852"/>
            <a:ext cx="123551" cy="179710"/>
          </a:xfrm>
          <a:prstGeom prst="rect">
            <a:avLst/>
          </a:prstGeom>
        </p:spPr>
      </p:pic>
      <p:sp>
        <p:nvSpPr>
          <p:cNvPr id="71" name="TextBox 70"/>
          <p:cNvSpPr txBox="1"/>
          <p:nvPr/>
        </p:nvSpPr>
        <p:spPr>
          <a:xfrm>
            <a:off x="1641313" y="4712240"/>
            <a:ext cx="1670834" cy="179984"/>
          </a:xfrm>
          <a:prstGeom prst="rect">
            <a:avLst/>
          </a:prstGeom>
          <a:noFill/>
        </p:spPr>
        <p:txBody>
          <a:bodyPr wrap="none" lIns="0" rIns="0" tIns="0" bIns="0">
            <a:spAutoFit/>
          </a:bodyPr>
          <a:lstStyle/>
          <a:p>
            <a:r>
              <a:rPr sz="1055" b="0">
                <a:solidFill>
                  <a:srgbClr val="252423"/>
                </a:solidFill>
                <a:latin typeface="Segoe UI"/>
              </a:rPr>
              <a:t>over the forecast period. In</a:t>
            </a:r>
          </a:p>
        </p:txBody>
      </p:sp>
      <p:sp>
        <p:nvSpPr>
          <p:cNvPr id="72" name="TextBox 71"/>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terms of value share by energy storage capacity,</a:t>
            </a:r>
          </a:p>
        </p:txBody>
      </p:sp>
      <p:sp>
        <p:nvSpPr>
          <p:cNvPr id="73" name="TextBox 72"/>
          <p:cNvSpPr txBox="1"/>
          <p:nvPr/>
        </p:nvSpPr>
        <p:spPr>
          <a:xfrm>
            <a:off x="485775" y="5034109"/>
            <a:ext cx="2914650" cy="179984"/>
          </a:xfrm>
          <a:prstGeom prst="rect">
            <a:avLst/>
          </a:prstGeom>
          <a:noFill/>
        </p:spPr>
        <p:txBody>
          <a:bodyPr wrap="none" lIns="0" rIns="0" tIns="0" bIns="0">
            <a:spAutoFit/>
          </a:bodyPr>
          <a:lstStyle/>
          <a:p>
            <a:r>
              <a:rPr sz="1055" b="0">
                <a:solidFill>
                  <a:srgbClr val="252423"/>
                </a:solidFill>
                <a:latin typeface="Segoe UI"/>
              </a:rPr>
              <a:t>the 1,500 wh to 2,000 wh segment is expected to</a:t>
            </a:r>
          </a:p>
        </p:txBody>
      </p:sp>
      <p:sp>
        <p:nvSpPr>
          <p:cNvPr id="74" name="TextBox 73"/>
          <p:cNvSpPr txBox="1"/>
          <p:nvPr/>
        </p:nvSpPr>
        <p:spPr>
          <a:xfrm>
            <a:off x="485775" y="5195043"/>
            <a:ext cx="1741279" cy="179984"/>
          </a:xfrm>
          <a:prstGeom prst="rect">
            <a:avLst/>
          </a:prstGeom>
          <a:noFill/>
        </p:spPr>
        <p:txBody>
          <a:bodyPr wrap="none" lIns="0" rIns="0" tIns="0" bIns="0">
            <a:spAutoFit/>
          </a:bodyPr>
          <a:lstStyle/>
          <a:p>
            <a:r>
              <a:rPr sz="1055" b="0">
                <a:solidFill>
                  <a:srgbClr val="252423"/>
                </a:solidFill>
                <a:latin typeface="Segoe UI"/>
              </a:rPr>
              <a:t>dominate the market, losing</a:t>
            </a:r>
          </a:p>
        </p:txBody>
      </p:sp>
      <p:pic>
        <p:nvPicPr>
          <p:cNvPr id="75" name="Picture 74" descr="lock.png"/>
          <p:cNvPicPr>
            <a:picLocks noChangeAspect="1"/>
          </p:cNvPicPr>
          <p:nvPr/>
        </p:nvPicPr>
        <p:blipFill>
          <a:blip r:embed="rId13"/>
          <a:stretch>
            <a:fillRect/>
          </a:stretch>
        </p:blipFill>
        <p:spPr>
          <a:xfrm>
            <a:off x="2174135" y="5185655"/>
            <a:ext cx="123551" cy="179710"/>
          </a:xfrm>
          <a:prstGeom prst="rect">
            <a:avLst/>
          </a:prstGeom>
        </p:spPr>
      </p:pic>
      <p:sp>
        <p:nvSpPr>
          <p:cNvPr id="76" name="TextBox 75"/>
          <p:cNvSpPr txBox="1"/>
          <p:nvPr/>
        </p:nvSpPr>
        <p:spPr>
          <a:xfrm>
            <a:off x="2334931" y="5195043"/>
            <a:ext cx="559736" cy="179984"/>
          </a:xfrm>
          <a:prstGeom prst="rect">
            <a:avLst/>
          </a:prstGeom>
          <a:noFill/>
        </p:spPr>
        <p:txBody>
          <a:bodyPr wrap="none" lIns="0" rIns="0" tIns="0" bIns="0">
            <a:spAutoFit/>
          </a:bodyPr>
          <a:lstStyle/>
          <a:p>
            <a:r>
              <a:rPr sz="1055" b="0">
                <a:solidFill>
                  <a:srgbClr val="252423"/>
                </a:solidFill>
                <a:latin typeface="Segoe UI"/>
              </a:rPr>
              <a:t>BPS and</a:t>
            </a:r>
          </a:p>
        </p:txBody>
      </p:sp>
      <p:sp>
        <p:nvSpPr>
          <p:cNvPr id="77" name="TextBox 76"/>
          <p:cNvSpPr txBox="1"/>
          <p:nvPr/>
        </p:nvSpPr>
        <p:spPr>
          <a:xfrm>
            <a:off x="485775" y="5355977"/>
            <a:ext cx="936140" cy="179984"/>
          </a:xfrm>
          <a:prstGeom prst="rect">
            <a:avLst/>
          </a:prstGeom>
          <a:noFill/>
        </p:spPr>
        <p:txBody>
          <a:bodyPr wrap="none" lIns="0" rIns="0" tIns="0" bIns="0">
            <a:spAutoFit/>
          </a:bodyPr>
          <a:lstStyle/>
          <a:p>
            <a:r>
              <a:rPr sz="1055" b="0">
                <a:solidFill>
                  <a:srgbClr val="252423"/>
                </a:solidFill>
                <a:latin typeface="Segoe UI"/>
              </a:rPr>
              <a:t>accounting for</a:t>
            </a:r>
          </a:p>
        </p:txBody>
      </p:sp>
      <p:pic>
        <p:nvPicPr>
          <p:cNvPr id="78" name="Picture 77" descr="lock.png"/>
          <p:cNvPicPr>
            <a:picLocks noChangeAspect="1"/>
          </p:cNvPicPr>
          <p:nvPr/>
        </p:nvPicPr>
        <p:blipFill>
          <a:blip r:embed="rId13"/>
          <a:stretch>
            <a:fillRect/>
          </a:stretch>
        </p:blipFill>
        <p:spPr>
          <a:xfrm>
            <a:off x="1368997" y="5346589"/>
            <a:ext cx="123551" cy="179710"/>
          </a:xfrm>
          <a:prstGeom prst="rect">
            <a:avLst/>
          </a:prstGeom>
        </p:spPr>
      </p:pic>
      <p:sp>
        <p:nvSpPr>
          <p:cNvPr id="79" name="TextBox 78"/>
          <p:cNvSpPr txBox="1"/>
          <p:nvPr/>
        </p:nvSpPr>
        <p:spPr>
          <a:xfrm>
            <a:off x="1529793"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80" name="TextBox 79"/>
          <p:cNvSpPr txBox="1"/>
          <p:nvPr/>
        </p:nvSpPr>
        <p:spPr>
          <a:xfrm>
            <a:off x="485775" y="5565192"/>
            <a:ext cx="2766482" cy="179984"/>
          </a:xfrm>
          <a:prstGeom prst="rect">
            <a:avLst/>
          </a:prstGeom>
          <a:noFill/>
        </p:spPr>
        <p:txBody>
          <a:bodyPr wrap="none" lIns="0" rIns="0" tIns="0" bIns="0">
            <a:spAutoFit/>
          </a:bodyPr>
          <a:lstStyle/>
          <a:p>
            <a:r>
              <a:rPr sz="1055" b="0">
                <a:solidFill>
                  <a:srgbClr val="252423"/>
                </a:solidFill>
                <a:latin typeface="Segoe UI"/>
              </a:rPr>
              <a:t>1,500 wh to 2,000 wh segment is projected to</a:t>
            </a:r>
          </a:p>
        </p:txBody>
      </p:sp>
      <p:sp>
        <p:nvSpPr>
          <p:cNvPr id="81" name="TextBox 80"/>
          <p:cNvSpPr txBox="1"/>
          <p:nvPr/>
        </p:nvSpPr>
        <p:spPr>
          <a:xfrm>
            <a:off x="485775" y="5726126"/>
            <a:ext cx="523806" cy="179984"/>
          </a:xfrm>
          <a:prstGeom prst="rect">
            <a:avLst/>
          </a:prstGeom>
          <a:noFill/>
        </p:spPr>
        <p:txBody>
          <a:bodyPr wrap="none" lIns="0" rIns="0" tIns="0" bIns="0">
            <a:spAutoFit/>
          </a:bodyPr>
          <a:lstStyle/>
          <a:p>
            <a:r>
              <a:rPr sz="1055" b="0">
                <a:solidFill>
                  <a:srgbClr val="252423"/>
                </a:solidFill>
                <a:latin typeface="Segoe UI"/>
              </a:rPr>
              <a:t>register</a:t>
            </a:r>
          </a:p>
        </p:txBody>
      </p:sp>
      <p:pic>
        <p:nvPicPr>
          <p:cNvPr id="82" name="Picture 81" descr="lock.png"/>
          <p:cNvPicPr>
            <a:picLocks noChangeAspect="1"/>
          </p:cNvPicPr>
          <p:nvPr/>
        </p:nvPicPr>
        <p:blipFill>
          <a:blip r:embed="rId13"/>
          <a:stretch>
            <a:fillRect/>
          </a:stretch>
        </p:blipFill>
        <p:spPr>
          <a:xfrm>
            <a:off x="956662" y="5716739"/>
            <a:ext cx="123551" cy="179710"/>
          </a:xfrm>
          <a:prstGeom prst="rect">
            <a:avLst/>
          </a:prstGeom>
        </p:spPr>
      </p:pic>
      <p:sp>
        <p:nvSpPr>
          <p:cNvPr id="83" name="TextBox 82"/>
          <p:cNvSpPr txBox="1"/>
          <p:nvPr/>
        </p:nvSpPr>
        <p:spPr>
          <a:xfrm>
            <a:off x="1117458" y="5726126"/>
            <a:ext cx="1947952" cy="179984"/>
          </a:xfrm>
          <a:prstGeom prst="rect">
            <a:avLst/>
          </a:prstGeom>
          <a:noFill/>
        </p:spPr>
        <p:txBody>
          <a:bodyPr wrap="none" lIns="0" rIns="0" tIns="0" bIns="0">
            <a:spAutoFit/>
          </a:bodyPr>
          <a:lstStyle/>
          <a:p>
            <a:r>
              <a:rPr sz="1055" b="0">
                <a:solidFill>
                  <a:srgbClr val="252423"/>
                </a:solidFill>
                <a:latin typeface="Segoe UI"/>
              </a:rPr>
              <a:t>X higher value than 1,000 wh to</a:t>
            </a:r>
          </a:p>
        </p:txBody>
      </p:sp>
      <p:sp>
        <p:nvSpPr>
          <p:cNvPr id="84" name="TextBox 83"/>
          <p:cNvSpPr txBox="1"/>
          <p:nvPr/>
        </p:nvSpPr>
        <p:spPr>
          <a:xfrm>
            <a:off x="485775" y="5887061"/>
            <a:ext cx="2047803" cy="179984"/>
          </a:xfrm>
          <a:prstGeom prst="rect">
            <a:avLst/>
          </a:prstGeom>
          <a:noFill/>
        </p:spPr>
        <p:txBody>
          <a:bodyPr wrap="none" lIns="0" rIns="0" tIns="0" bIns="0">
            <a:spAutoFit/>
          </a:bodyPr>
          <a:lstStyle/>
          <a:p>
            <a:r>
              <a:rPr sz="1055" b="0">
                <a:solidFill>
                  <a:srgbClr val="252423"/>
                </a:solidFill>
                <a:latin typeface="Segoe UI"/>
              </a:rPr>
              <a:t>below 1,500 wh segment in 2036.</a:t>
            </a:r>
          </a:p>
        </p:txBody>
      </p:sp>
      <p:sp>
        <p:nvSpPr>
          <p:cNvPr id="85" name="TextBox 84"/>
          <p:cNvSpPr txBox="1"/>
          <p:nvPr/>
        </p:nvSpPr>
        <p:spPr>
          <a:xfrm>
            <a:off x="3838575" y="4229437"/>
            <a:ext cx="1593237" cy="186689"/>
          </a:xfrm>
          <a:prstGeom prst="rect">
            <a:avLst/>
          </a:prstGeom>
          <a:noFill/>
        </p:spPr>
        <p:txBody>
          <a:bodyPr wrap="none" lIns="0" rIns="0" tIns="0" bIns="0">
            <a:spAutoFit/>
          </a:bodyPr>
          <a:lstStyle/>
          <a:p>
            <a:r>
              <a:rPr sz="1100" b="0">
                <a:solidFill>
                  <a:srgbClr val="252423"/>
                </a:solidFill>
                <a:latin typeface="Segoe UI"/>
              </a:rPr>
              <a:t>● 1,500 Wh to 2,000 Wh:</a:t>
            </a:r>
          </a:p>
        </p:txBody>
      </p:sp>
      <p:pic>
        <p:nvPicPr>
          <p:cNvPr id="86" name="Picture 85" descr="lock.png"/>
          <p:cNvPicPr>
            <a:picLocks noChangeAspect="1"/>
          </p:cNvPicPr>
          <p:nvPr/>
        </p:nvPicPr>
        <p:blipFill>
          <a:blip r:embed="rId13"/>
          <a:stretch>
            <a:fillRect/>
          </a:stretch>
        </p:blipFill>
        <p:spPr>
          <a:xfrm>
            <a:off x="5379864" y="4219658"/>
            <a:ext cx="128699" cy="187198"/>
          </a:xfrm>
          <a:prstGeom prst="rect">
            <a:avLst/>
          </a:prstGeom>
        </p:spPr>
      </p:pic>
      <p:sp>
        <p:nvSpPr>
          <p:cNvPr id="87" name="TextBox 86"/>
          <p:cNvSpPr txBox="1"/>
          <p:nvPr/>
        </p:nvSpPr>
        <p:spPr>
          <a:xfrm>
            <a:off x="5547360"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8" name="Picture 87" descr="lock.png"/>
          <p:cNvPicPr>
            <a:picLocks noChangeAspect="1"/>
          </p:cNvPicPr>
          <p:nvPr/>
        </p:nvPicPr>
        <p:blipFill>
          <a:blip r:embed="rId13"/>
          <a:stretch>
            <a:fillRect/>
          </a:stretch>
        </p:blipFill>
        <p:spPr>
          <a:xfrm>
            <a:off x="6467306" y="4219658"/>
            <a:ext cx="128699" cy="187198"/>
          </a:xfrm>
          <a:prstGeom prst="rect">
            <a:avLst/>
          </a:prstGeom>
        </p:spPr>
      </p:pic>
      <p:sp>
        <p:nvSpPr>
          <p:cNvPr id="89" name="TextBox 88"/>
          <p:cNvSpPr txBox="1"/>
          <p:nvPr/>
        </p:nvSpPr>
        <p:spPr>
          <a:xfrm>
            <a:off x="6634802" y="4229437"/>
            <a:ext cx="1027876" cy="186689"/>
          </a:xfrm>
          <a:prstGeom prst="rect">
            <a:avLst/>
          </a:prstGeom>
          <a:noFill/>
        </p:spPr>
        <p:txBody>
          <a:bodyPr wrap="none" lIns="0" rIns="0" tIns="0" bIns="0">
            <a:spAutoFit/>
          </a:bodyPr>
          <a:lstStyle/>
          <a:p>
            <a:r>
              <a:rPr sz="1100" b="0">
                <a:solidFill>
                  <a:srgbClr val="252423"/>
                </a:solidFill>
                <a:latin typeface="Segoe UI"/>
              </a:rPr>
              <a:t>CAGR leads the</a:t>
            </a:r>
          </a:p>
        </p:txBody>
      </p:sp>
      <p:sp>
        <p:nvSpPr>
          <p:cNvPr id="90" name="TextBox 89"/>
          <p:cNvSpPr txBox="1"/>
          <p:nvPr/>
        </p:nvSpPr>
        <p:spPr>
          <a:xfrm>
            <a:off x="3838575" y="4397077"/>
            <a:ext cx="641275" cy="186689"/>
          </a:xfrm>
          <a:prstGeom prst="rect">
            <a:avLst/>
          </a:prstGeom>
          <a:noFill/>
        </p:spPr>
        <p:txBody>
          <a:bodyPr wrap="none" lIns="0" rIns="0" tIns="0" bIns="0">
            <a:spAutoFit/>
          </a:bodyPr>
          <a:lstStyle/>
          <a:p>
            <a:r>
              <a:rPr sz="1100" b="0">
                <a:solidFill>
                  <a:srgbClr val="252423"/>
                </a:solidFill>
                <a:latin typeface="Segoe UI"/>
              </a:rPr>
              <a:t>segment.</a:t>
            </a:r>
          </a:p>
        </p:txBody>
      </p:sp>
      <p:sp>
        <p:nvSpPr>
          <p:cNvPr id="91" name="TextBox 90"/>
          <p:cNvSpPr txBox="1"/>
          <p:nvPr/>
        </p:nvSpPr>
        <p:spPr>
          <a:xfrm>
            <a:off x="3838575" y="4615009"/>
            <a:ext cx="2001423" cy="186689"/>
          </a:xfrm>
          <a:prstGeom prst="rect">
            <a:avLst/>
          </a:prstGeom>
          <a:noFill/>
        </p:spPr>
        <p:txBody>
          <a:bodyPr wrap="none" lIns="0" rIns="0" tIns="0" bIns="0">
            <a:spAutoFit/>
          </a:bodyPr>
          <a:lstStyle/>
          <a:p>
            <a:r>
              <a:rPr sz="1100" b="0">
                <a:solidFill>
                  <a:srgbClr val="252423"/>
                </a:solidFill>
                <a:latin typeface="Segoe UI"/>
              </a:rPr>
              <a:t>● 1,000 Wh to Below 1,500 Wh:</a:t>
            </a:r>
          </a:p>
        </p:txBody>
      </p:sp>
      <p:pic>
        <p:nvPicPr>
          <p:cNvPr id="92" name="Picture 91" descr="lock.png"/>
          <p:cNvPicPr>
            <a:picLocks noChangeAspect="1"/>
          </p:cNvPicPr>
          <p:nvPr/>
        </p:nvPicPr>
        <p:blipFill>
          <a:blip r:embed="rId13"/>
          <a:stretch>
            <a:fillRect/>
          </a:stretch>
        </p:blipFill>
        <p:spPr>
          <a:xfrm>
            <a:off x="5788050" y="4605230"/>
            <a:ext cx="128699" cy="187198"/>
          </a:xfrm>
          <a:prstGeom prst="rect">
            <a:avLst/>
          </a:prstGeom>
        </p:spPr>
      </p:pic>
      <p:sp>
        <p:nvSpPr>
          <p:cNvPr id="93" name="TextBox 92"/>
          <p:cNvSpPr txBox="1"/>
          <p:nvPr/>
        </p:nvSpPr>
        <p:spPr>
          <a:xfrm>
            <a:off x="5955545"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4" name="Picture 93" descr="lock.png"/>
          <p:cNvPicPr>
            <a:picLocks noChangeAspect="1"/>
          </p:cNvPicPr>
          <p:nvPr/>
        </p:nvPicPr>
        <p:blipFill>
          <a:blip r:embed="rId13"/>
          <a:stretch>
            <a:fillRect/>
          </a:stretch>
        </p:blipFill>
        <p:spPr>
          <a:xfrm>
            <a:off x="6875492" y="4605230"/>
            <a:ext cx="128699" cy="187198"/>
          </a:xfrm>
          <a:prstGeom prst="rect">
            <a:avLst/>
          </a:prstGeom>
        </p:spPr>
      </p:pic>
      <p:sp>
        <p:nvSpPr>
          <p:cNvPr id="95" name="TextBox 94"/>
          <p:cNvSpPr txBox="1"/>
          <p:nvPr/>
        </p:nvSpPr>
        <p:spPr>
          <a:xfrm>
            <a:off x="7042988"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96" name="TextBox 95"/>
          <p:cNvSpPr txBox="1"/>
          <p:nvPr/>
        </p:nvSpPr>
        <p:spPr>
          <a:xfrm>
            <a:off x="3838575" y="4782649"/>
            <a:ext cx="918991" cy="186689"/>
          </a:xfrm>
          <a:prstGeom prst="rect">
            <a:avLst/>
          </a:prstGeom>
          <a:noFill/>
        </p:spPr>
        <p:txBody>
          <a:bodyPr wrap="none" lIns="0" rIns="0" tIns="0" bIns="0">
            <a:spAutoFit/>
          </a:bodyPr>
          <a:lstStyle/>
          <a:p>
            <a:r>
              <a:rPr sz="1100" b="0">
                <a:solidFill>
                  <a:srgbClr val="252423"/>
                </a:solidFill>
                <a:latin typeface="Segoe UI"/>
              </a:rPr>
              <a:t>grows fastest.</a:t>
            </a:r>
          </a:p>
        </p:txBody>
      </p:sp>
      <p:sp>
        <p:nvSpPr>
          <p:cNvPr id="97" name="TextBox 96"/>
          <p:cNvSpPr txBox="1"/>
          <p:nvPr/>
        </p:nvSpPr>
        <p:spPr>
          <a:xfrm>
            <a:off x="3838575" y="5000581"/>
            <a:ext cx="1895830" cy="186689"/>
          </a:xfrm>
          <a:prstGeom prst="rect">
            <a:avLst/>
          </a:prstGeom>
          <a:noFill/>
        </p:spPr>
        <p:txBody>
          <a:bodyPr wrap="none" lIns="0" rIns="0" tIns="0" bIns="0">
            <a:spAutoFit/>
          </a:bodyPr>
          <a:lstStyle/>
          <a:p>
            <a:r>
              <a:rPr sz="1100" b="0">
                <a:solidFill>
                  <a:srgbClr val="252423"/>
                </a:solidFill>
                <a:latin typeface="Segoe UI"/>
              </a:rPr>
              <a:t>● 500 Wh to Below 1,000 Wh:</a:t>
            </a:r>
          </a:p>
        </p:txBody>
      </p:sp>
      <p:pic>
        <p:nvPicPr>
          <p:cNvPr id="98" name="Picture 97" descr="lock.png"/>
          <p:cNvPicPr>
            <a:picLocks noChangeAspect="1"/>
          </p:cNvPicPr>
          <p:nvPr/>
        </p:nvPicPr>
        <p:blipFill>
          <a:blip r:embed="rId13"/>
          <a:stretch>
            <a:fillRect/>
          </a:stretch>
        </p:blipFill>
        <p:spPr>
          <a:xfrm>
            <a:off x="5682456" y="4990801"/>
            <a:ext cx="128699" cy="187198"/>
          </a:xfrm>
          <a:prstGeom prst="rect">
            <a:avLst/>
          </a:prstGeom>
        </p:spPr>
      </p:pic>
      <p:sp>
        <p:nvSpPr>
          <p:cNvPr id="99" name="TextBox 98"/>
          <p:cNvSpPr txBox="1"/>
          <p:nvPr/>
        </p:nvSpPr>
        <p:spPr>
          <a:xfrm>
            <a:off x="5849952"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0" name="Picture 99" descr="lock.png"/>
          <p:cNvPicPr>
            <a:picLocks noChangeAspect="1"/>
          </p:cNvPicPr>
          <p:nvPr/>
        </p:nvPicPr>
        <p:blipFill>
          <a:blip r:embed="rId13"/>
          <a:stretch>
            <a:fillRect/>
          </a:stretch>
        </p:blipFill>
        <p:spPr>
          <a:xfrm>
            <a:off x="6769898" y="4990801"/>
            <a:ext cx="128699" cy="187198"/>
          </a:xfrm>
          <a:prstGeom prst="rect">
            <a:avLst/>
          </a:prstGeom>
        </p:spPr>
      </p:pic>
      <p:sp>
        <p:nvSpPr>
          <p:cNvPr id="101" name="TextBox 100"/>
          <p:cNvSpPr txBox="1"/>
          <p:nvPr/>
        </p:nvSpPr>
        <p:spPr>
          <a:xfrm>
            <a:off x="6937394" y="5000581"/>
            <a:ext cx="850326" cy="186689"/>
          </a:xfrm>
          <a:prstGeom prst="rect">
            <a:avLst/>
          </a:prstGeom>
          <a:noFill/>
        </p:spPr>
        <p:txBody>
          <a:bodyPr wrap="none" lIns="0" rIns="0" tIns="0" bIns="0">
            <a:spAutoFit/>
          </a:bodyPr>
          <a:lstStyle/>
          <a:p>
            <a:r>
              <a:rPr sz="1100" b="0">
                <a:solidFill>
                  <a:srgbClr val="252423"/>
                </a:solidFill>
                <a:latin typeface="Segoe UI"/>
              </a:rPr>
              <a:t>CAGR serves</a:t>
            </a:r>
          </a:p>
        </p:txBody>
      </p:sp>
      <p:sp>
        <p:nvSpPr>
          <p:cNvPr id="102" name="TextBox 101"/>
          <p:cNvSpPr txBox="1"/>
          <p:nvPr/>
        </p:nvSpPr>
        <p:spPr>
          <a:xfrm>
            <a:off x="3838575" y="5168221"/>
            <a:ext cx="545777" cy="186689"/>
          </a:xfrm>
          <a:prstGeom prst="rect">
            <a:avLst/>
          </a:prstGeom>
          <a:noFill/>
        </p:spPr>
        <p:txBody>
          <a:bodyPr wrap="none" lIns="0" rIns="0" tIns="0" bIns="0">
            <a:spAutoFit/>
          </a:bodyPr>
          <a:lstStyle/>
          <a:p>
            <a:r>
              <a:rPr sz="1100" b="0">
                <a:solidFill>
                  <a:srgbClr val="252423"/>
                </a:solidFill>
                <a:latin typeface="Segoe UI"/>
              </a:rPr>
              <a:t>a niche.</a:t>
            </a:r>
          </a:p>
        </p:txBody>
      </p:sp>
      <p:sp>
        <p:nvSpPr>
          <p:cNvPr id="103" name="TextBox 102"/>
          <p:cNvSpPr txBox="1"/>
          <p:nvPr/>
        </p:nvSpPr>
        <p:spPr>
          <a:xfrm>
            <a:off x="8524875" y="5863672"/>
            <a:ext cx="3103436" cy="173278"/>
          </a:xfrm>
          <a:prstGeom prst="rect">
            <a:avLst/>
          </a:prstGeom>
          <a:noFill/>
        </p:spPr>
        <p:txBody>
          <a:bodyPr wrap="none" lIns="0" rIns="0" tIns="0" bIns="0">
            <a:spAutoFit/>
          </a:bodyPr>
          <a:lstStyle/>
          <a:p>
            <a:r>
              <a:rPr sz="1011" b="1">
                <a:solidFill>
                  <a:srgbClr val="0E3A5F"/>
                </a:solidFill>
                <a:latin typeface="Segoe UI"/>
              </a:rPr>
              <a:t>The Energy Storage Capacity segment is projected</a:t>
            </a:r>
          </a:p>
        </p:txBody>
      </p:sp>
      <p:sp>
        <p:nvSpPr>
          <p:cNvPr id="104" name="TextBox 103"/>
          <p:cNvSpPr txBox="1"/>
          <p:nvPr/>
        </p:nvSpPr>
        <p:spPr>
          <a:xfrm>
            <a:off x="8524875" y="6017901"/>
            <a:ext cx="1355599" cy="173278"/>
          </a:xfrm>
          <a:prstGeom prst="rect">
            <a:avLst/>
          </a:prstGeom>
          <a:noFill/>
        </p:spPr>
        <p:txBody>
          <a:bodyPr wrap="none" lIns="0" rIns="0" tIns="0" bIns="0">
            <a:spAutoFit/>
          </a:bodyPr>
          <a:lstStyle/>
          <a:p>
            <a:r>
              <a:rPr sz="1011" b="1">
                <a:solidFill>
                  <a:srgbClr val="0E3A5F"/>
                </a:solidFill>
                <a:latin typeface="Segoe UI"/>
              </a:rPr>
              <a:t>to grow at a CAGR of</a:t>
            </a:r>
          </a:p>
        </p:txBody>
      </p:sp>
      <p:pic>
        <p:nvPicPr>
          <p:cNvPr id="105" name="Picture 104" descr="lock.png"/>
          <p:cNvPicPr>
            <a:picLocks noChangeAspect="1"/>
          </p:cNvPicPr>
          <p:nvPr/>
        </p:nvPicPr>
        <p:blipFill>
          <a:blip r:embed="rId13"/>
          <a:stretch>
            <a:fillRect/>
          </a:stretch>
        </p:blipFill>
        <p:spPr>
          <a:xfrm>
            <a:off x="9826586" y="6008904"/>
            <a:ext cx="118403" cy="172222"/>
          </a:xfrm>
          <a:prstGeom prst="rect">
            <a:avLst/>
          </a:prstGeom>
        </p:spPr>
      </p:pic>
      <p:sp>
        <p:nvSpPr>
          <p:cNvPr id="106" name="TextBox 105"/>
          <p:cNvSpPr txBox="1"/>
          <p:nvPr/>
        </p:nvSpPr>
        <p:spPr>
          <a:xfrm>
            <a:off x="9980682" y="6017901"/>
            <a:ext cx="1234908" cy="173278"/>
          </a:xfrm>
          <a:prstGeom prst="rect">
            <a:avLst/>
          </a:prstGeom>
          <a:noFill/>
        </p:spPr>
        <p:txBody>
          <a:bodyPr wrap="none" lIns="0" rIns="0" tIns="0" bIns="0">
            <a:spAutoFit/>
          </a:bodyPr>
          <a:lstStyle/>
          <a:p>
            <a:r>
              <a:rPr sz="1011" b="1">
                <a:solidFill>
                  <a:srgbClr val="0E3A5F"/>
                </a:solidFill>
                <a:latin typeface="Segoe UI"/>
              </a:rPr>
              <a:t>from 2026 to 2036.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Energy Storage Capacity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Energy Storage Capacity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Energy Storage Capacity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Energy Storage Capacity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83096" cy="186689"/>
          </a:xfrm>
          <a:prstGeom prst="rect">
            <a:avLst/>
          </a:prstGeom>
          <a:noFill/>
        </p:spPr>
        <p:txBody>
          <a:bodyPr wrap="none" lIns="0" rIns="0" tIns="0" bIns="0">
            <a:spAutoFit/>
          </a:bodyPr>
          <a:lstStyle/>
          <a:p>
            <a:r>
              <a:rPr sz="1100" b="0">
                <a:solidFill>
                  <a:srgbClr val="252423"/>
                </a:solidFill>
                <a:latin typeface="Segoe UI"/>
              </a:rPr>
              <a:t>1,500 wh to 2,000 wh followed by 1,000 wh to below 1,500 wh are expected to be the two most attractive energy storage capacity segments in the North America lithium polymer portable</a:t>
            </a:r>
          </a:p>
        </p:txBody>
      </p:sp>
      <p:sp>
        <p:nvSpPr>
          <p:cNvPr id="18" name="TextBox 17"/>
          <p:cNvSpPr txBox="1"/>
          <p:nvPr/>
        </p:nvSpPr>
        <p:spPr>
          <a:xfrm>
            <a:off x="257175" y="5861685"/>
            <a:ext cx="8937267" cy="186689"/>
          </a:xfrm>
          <a:prstGeom prst="rect">
            <a:avLst/>
          </a:prstGeom>
          <a:noFill/>
        </p:spPr>
        <p:txBody>
          <a:bodyPr wrap="none" lIns="0" rIns="0" tIns="0" bIns="0">
            <a:spAutoFit/>
          </a:bodyPr>
          <a:lstStyle/>
          <a:p>
            <a:r>
              <a:rPr sz="1100" b="0">
                <a:solidFill>
                  <a:srgbClr val="252423"/>
                </a:solidFill>
                <a:latin typeface="Segoe UI"/>
              </a:rPr>
              <a:t>energy storage market in terms of value over the forecast period. 1,500 wh to 2,000 wh and 1,000 wh to below 1,500 wh exhibit a CAGR index of</a:t>
            </a:r>
          </a:p>
        </p:txBody>
      </p:sp>
      <p:pic>
        <p:nvPicPr>
          <p:cNvPr id="19" name="Picture 18" descr="lock.png"/>
          <p:cNvPicPr>
            <a:picLocks noChangeAspect="1"/>
          </p:cNvPicPr>
          <p:nvPr/>
        </p:nvPicPr>
        <p:blipFill>
          <a:blip r:embed="rId6"/>
          <a:stretch>
            <a:fillRect/>
          </a:stretch>
        </p:blipFill>
        <p:spPr>
          <a:xfrm>
            <a:off x="9142494" y="5851905"/>
            <a:ext cx="128699" cy="187198"/>
          </a:xfrm>
          <a:prstGeom prst="rect">
            <a:avLst/>
          </a:prstGeom>
        </p:spPr>
      </p:pic>
      <p:sp>
        <p:nvSpPr>
          <p:cNvPr id="20" name="TextBox 19"/>
          <p:cNvSpPr txBox="1"/>
          <p:nvPr/>
        </p:nvSpPr>
        <p:spPr>
          <a:xfrm>
            <a:off x="9309990"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9566984" y="5851905"/>
            <a:ext cx="128699" cy="187198"/>
          </a:xfrm>
          <a:prstGeom prst="rect">
            <a:avLst/>
          </a:prstGeom>
        </p:spPr>
      </p:pic>
      <p:sp>
        <p:nvSpPr>
          <p:cNvPr id="22" name="TextBox 21"/>
          <p:cNvSpPr txBox="1"/>
          <p:nvPr/>
        </p:nvSpPr>
        <p:spPr>
          <a:xfrm>
            <a:off x="9734479"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3707" y="6019545"/>
            <a:ext cx="128699" cy="187198"/>
          </a:xfrm>
          <a:prstGeom prst="rect">
            <a:avLst/>
          </a:prstGeom>
        </p:spPr>
      </p:pic>
      <p:sp>
        <p:nvSpPr>
          <p:cNvPr id="24" name="TextBox 23"/>
          <p:cNvSpPr txBox="1"/>
          <p:nvPr/>
        </p:nvSpPr>
        <p:spPr>
          <a:xfrm>
            <a:off x="411203" y="602932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668197" y="6019545"/>
            <a:ext cx="128699" cy="187198"/>
          </a:xfrm>
          <a:prstGeom prst="rect">
            <a:avLst/>
          </a:prstGeom>
        </p:spPr>
      </p:pic>
      <p:sp>
        <p:nvSpPr>
          <p:cNvPr id="26" name="TextBox 25"/>
          <p:cNvSpPr txBox="1"/>
          <p:nvPr/>
        </p:nvSpPr>
        <p:spPr>
          <a:xfrm>
            <a:off x="835693"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595627" y="6019545"/>
            <a:ext cx="128699" cy="187198"/>
          </a:xfrm>
          <a:prstGeom prst="rect">
            <a:avLst/>
          </a:prstGeom>
        </p:spPr>
      </p:pic>
      <p:sp>
        <p:nvSpPr>
          <p:cNvPr id="28" name="TextBox 27"/>
          <p:cNvSpPr txBox="1"/>
          <p:nvPr/>
        </p:nvSpPr>
        <p:spPr>
          <a:xfrm>
            <a:off x="3763122" y="6029325"/>
            <a:ext cx="7628820" cy="186689"/>
          </a:xfrm>
          <a:prstGeom prst="rect">
            <a:avLst/>
          </a:prstGeom>
          <a:noFill/>
        </p:spPr>
        <p:txBody>
          <a:bodyPr wrap="none" lIns="0" rIns="0" tIns="0" bIns="0">
            <a:spAutoFit/>
          </a:bodyPr>
          <a:lstStyle/>
          <a:p>
            <a:r>
              <a:rPr sz="1100" b="0">
                <a:solidFill>
                  <a:srgbClr val="252423"/>
                </a:solidFill>
                <a:latin typeface="Segoe UI"/>
              </a:rPr>
              <a:t>. The 500 wh to below 1,000 wh segment is expected to be less attractive as compared to other segments over the forecast</a:t>
            </a:r>
          </a:p>
        </p:txBody>
      </p:sp>
      <p:sp>
        <p:nvSpPr>
          <p:cNvPr id="29" name="TextBox 28"/>
          <p:cNvSpPr txBox="1"/>
          <p:nvPr/>
        </p:nvSpPr>
        <p:spPr>
          <a:xfrm>
            <a:off x="257175" y="6196965"/>
            <a:ext cx="8592157" cy="186689"/>
          </a:xfrm>
          <a:prstGeom prst="rect">
            <a:avLst/>
          </a:prstGeom>
          <a:noFill/>
        </p:spPr>
        <p:txBody>
          <a:bodyPr wrap="none" lIns="0" rIns="0" tIns="0" bIns="0">
            <a:spAutoFit/>
          </a:bodyPr>
          <a:lstStyle/>
          <a:p>
            <a:r>
              <a:rPr sz="1100" b="0">
                <a:solidFill>
                  <a:srgbClr val="252423"/>
                </a:solidFill>
                <a:latin typeface="Segoe UI"/>
              </a:rPr>
              <a:t>period, owing to its 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Energy Storage Capacity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500 Wh to Below 1,000 Wh</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1,000 Wh to Below 1,500 Wh</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1,500 Wh to 2,000 Wh</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07BA5"/>
                </a:solidFill>
                <a:latin typeface="Segoe UI"/>
              </a:rPr>
              <a:t>Summary of North America Absolute $ Opportunity Analysis, By Energy Storage Capacity</a:t>
            </a:r>
          </a:p>
        </p:txBody>
      </p:sp>
      <p:sp>
        <p:nvSpPr>
          <p:cNvPr id="19" name="Rectangle 18"/>
          <p:cNvSpPr/>
          <p:nvPr/>
        </p:nvSpPr>
        <p:spPr>
          <a:xfrm>
            <a:off x="6305550" y="438907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7"/>
          <a:stretch>
            <a:fillRect/>
          </a:stretch>
        </p:blipFill>
        <p:spPr>
          <a:xfrm>
            <a:off x="3100230" y="2330679"/>
            <a:ext cx="252890" cy="367840"/>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484320"/>
            <a:ext cx="5138159" cy="194310"/>
          </a:xfrm>
          <a:prstGeom prst="rect">
            <a:avLst/>
          </a:prstGeom>
          <a:noFill/>
        </p:spPr>
        <p:txBody>
          <a:bodyPr wrap="none" lIns="0" rIns="0" tIns="0" bIns="0">
            <a:spAutoFit/>
          </a:bodyPr>
          <a:lstStyle/>
          <a:p>
            <a:r>
              <a:rPr sz="1150" b="0">
                <a:solidFill>
                  <a:srgbClr val="252423"/>
                </a:solidFill>
                <a:latin typeface="Segoe UI"/>
              </a:rPr>
              <a:t>By 2036, 1,500 wh to 2,000 wh segment is anticipated to witness an increase of</a:t>
            </a:r>
          </a:p>
        </p:txBody>
      </p:sp>
      <p:pic>
        <p:nvPicPr>
          <p:cNvPr id="26" name="Picture 25" descr="lock.png"/>
          <p:cNvPicPr>
            <a:picLocks noChangeAspect="1"/>
          </p:cNvPicPr>
          <p:nvPr/>
        </p:nvPicPr>
        <p:blipFill>
          <a:blip r:embed="rId7"/>
          <a:stretch>
            <a:fillRect/>
          </a:stretch>
        </p:blipFill>
        <p:spPr>
          <a:xfrm>
            <a:off x="11392863" y="4474096"/>
            <a:ext cx="134549" cy="195707"/>
          </a:xfrm>
          <a:prstGeom prst="rect">
            <a:avLst/>
          </a:prstGeom>
        </p:spPr>
      </p:pic>
      <p:sp>
        <p:nvSpPr>
          <p:cNvPr id="27" name="TextBox 26"/>
          <p:cNvSpPr txBox="1"/>
          <p:nvPr/>
        </p:nvSpPr>
        <p:spPr>
          <a:xfrm>
            <a:off x="11567973" y="4484320"/>
            <a:ext cx="162346" cy="194310"/>
          </a:xfrm>
          <a:prstGeom prst="rect">
            <a:avLst/>
          </a:prstGeom>
          <a:noFill/>
        </p:spPr>
        <p:txBody>
          <a:bodyPr wrap="none" lIns="0" rIns="0" tIns="0" bIns="0">
            <a:spAutoFit/>
          </a:bodyPr>
          <a:lstStyle/>
          <a:p>
            <a:r>
              <a:rPr sz="1150" b="0">
                <a:solidFill>
                  <a:srgbClr val="252423"/>
                </a:solidFill>
                <a:latin typeface="Segoe UI"/>
              </a:rPr>
              <a:t>X</a:t>
            </a:r>
          </a:p>
        </p:txBody>
      </p:sp>
      <p:sp>
        <p:nvSpPr>
          <p:cNvPr id="28" name="TextBox 27"/>
          <p:cNvSpPr txBox="1"/>
          <p:nvPr/>
        </p:nvSpPr>
        <p:spPr>
          <a:xfrm>
            <a:off x="6305550" y="4659580"/>
            <a:ext cx="5591175" cy="194310"/>
          </a:xfrm>
          <a:prstGeom prst="rect">
            <a:avLst/>
          </a:prstGeom>
          <a:noFill/>
        </p:spPr>
        <p:txBody>
          <a:bodyPr wrap="none" lIns="0" rIns="0" tIns="0" bIns="0">
            <a:spAutoFit/>
          </a:bodyPr>
          <a:lstStyle/>
          <a:p>
            <a:r>
              <a:rPr sz="1150" b="0">
                <a:solidFill>
                  <a:srgbClr val="252423"/>
                </a:solidFill>
                <a:latin typeface="Segoe UI"/>
              </a:rPr>
              <a:t>in terms of value as compared to 2026. The 1,500 wh to 2,000 wh segment is expected</a:t>
            </a:r>
          </a:p>
        </p:txBody>
      </p:sp>
      <p:sp>
        <p:nvSpPr>
          <p:cNvPr id="29" name="TextBox 28"/>
          <p:cNvSpPr txBox="1"/>
          <p:nvPr/>
        </p:nvSpPr>
        <p:spPr>
          <a:xfrm>
            <a:off x="6305550" y="4834840"/>
            <a:ext cx="2913264" cy="194310"/>
          </a:xfrm>
          <a:prstGeom prst="rect">
            <a:avLst/>
          </a:prstGeom>
          <a:noFill/>
        </p:spPr>
        <p:txBody>
          <a:bodyPr wrap="none" lIns="0" rIns="0" tIns="0" bIns="0">
            <a:spAutoFit/>
          </a:bodyPr>
          <a:lstStyle/>
          <a:p>
            <a:r>
              <a:rPr sz="1150" b="0">
                <a:solidFill>
                  <a:srgbClr val="252423"/>
                </a:solidFill>
                <a:latin typeface="Segoe UI"/>
              </a:rPr>
              <a:t>to create an incremental opportunity of US$</a:t>
            </a:r>
          </a:p>
        </p:txBody>
      </p:sp>
      <p:pic>
        <p:nvPicPr>
          <p:cNvPr id="30" name="Picture 29" descr="lock.png"/>
          <p:cNvPicPr>
            <a:picLocks noChangeAspect="1"/>
          </p:cNvPicPr>
          <p:nvPr/>
        </p:nvPicPr>
        <p:blipFill>
          <a:blip r:embed="rId7"/>
          <a:stretch>
            <a:fillRect/>
          </a:stretch>
        </p:blipFill>
        <p:spPr>
          <a:xfrm>
            <a:off x="9167967" y="4824616"/>
            <a:ext cx="134549" cy="195707"/>
          </a:xfrm>
          <a:prstGeom prst="rect">
            <a:avLst/>
          </a:prstGeom>
        </p:spPr>
      </p:pic>
      <p:sp>
        <p:nvSpPr>
          <p:cNvPr id="31" name="TextBox 30"/>
          <p:cNvSpPr txBox="1"/>
          <p:nvPr/>
        </p:nvSpPr>
        <p:spPr>
          <a:xfrm>
            <a:off x="9343077" y="4834840"/>
            <a:ext cx="2286048" cy="194310"/>
          </a:xfrm>
          <a:prstGeom prst="rect">
            <a:avLst/>
          </a:prstGeom>
          <a:noFill/>
        </p:spPr>
        <p:txBody>
          <a:bodyPr wrap="none" lIns="0" rIns="0" tIns="0" bIns="0">
            <a:spAutoFit/>
          </a:bodyPr>
          <a:lstStyle/>
          <a:p>
            <a:r>
              <a:rPr sz="1150" b="0">
                <a:solidFill>
                  <a:srgbClr val="252423"/>
                </a:solidFill>
                <a:latin typeface="Segoe UI"/>
              </a:rPr>
              <a:t>Mn for the overall lithium polymer</a:t>
            </a:r>
          </a:p>
        </p:txBody>
      </p:sp>
      <p:sp>
        <p:nvSpPr>
          <p:cNvPr id="32" name="TextBox 31"/>
          <p:cNvSpPr txBox="1"/>
          <p:nvPr/>
        </p:nvSpPr>
        <p:spPr>
          <a:xfrm>
            <a:off x="6305550" y="5010100"/>
            <a:ext cx="3382217" cy="194310"/>
          </a:xfrm>
          <a:prstGeom prst="rect">
            <a:avLst/>
          </a:prstGeom>
          <a:noFill/>
        </p:spPr>
        <p:txBody>
          <a:bodyPr wrap="none" lIns="0" rIns="0" tIns="0" bIns="0">
            <a:spAutoFit/>
          </a:bodyPr>
          <a:lstStyle/>
          <a:p>
            <a:r>
              <a:rPr sz="1150" b="0">
                <a:solidFill>
                  <a:srgbClr val="252423"/>
                </a:solidFill>
                <a:latin typeface="Segoe UI"/>
              </a:rPr>
              <a:t>portable energy storage market from 2026 to 2036.</a:t>
            </a:r>
          </a:p>
        </p:txBody>
      </p:sp>
      <p:sp>
        <p:nvSpPr>
          <p:cNvPr id="33" name="TextBox 32"/>
          <p:cNvSpPr txBox="1"/>
          <p:nvPr/>
        </p:nvSpPr>
        <p:spPr>
          <a:xfrm>
            <a:off x="6305550" y="5237938"/>
            <a:ext cx="5111653" cy="194310"/>
          </a:xfrm>
          <a:prstGeom prst="rect">
            <a:avLst/>
          </a:prstGeom>
          <a:noFill/>
        </p:spPr>
        <p:txBody>
          <a:bodyPr wrap="none" lIns="0" rIns="0" tIns="0" bIns="0">
            <a:spAutoFit/>
          </a:bodyPr>
          <a:lstStyle/>
          <a:p>
            <a:r>
              <a:rPr sz="1150" b="0">
                <a:solidFill>
                  <a:srgbClr val="252423"/>
                </a:solidFill>
                <a:latin typeface="Segoe UI"/>
              </a:rPr>
              <a:t>The 1,000 wh to below 1,500 wh segment is expected to create an incremental</a:t>
            </a:r>
          </a:p>
        </p:txBody>
      </p:sp>
      <p:sp>
        <p:nvSpPr>
          <p:cNvPr id="34" name="TextBox 33"/>
          <p:cNvSpPr txBox="1"/>
          <p:nvPr/>
        </p:nvSpPr>
        <p:spPr>
          <a:xfrm>
            <a:off x="6305550" y="5413197"/>
            <a:ext cx="1308523" cy="194310"/>
          </a:xfrm>
          <a:prstGeom prst="rect">
            <a:avLst/>
          </a:prstGeom>
          <a:noFill/>
        </p:spPr>
        <p:txBody>
          <a:bodyPr wrap="none" lIns="0" rIns="0" tIns="0" bIns="0">
            <a:spAutoFit/>
          </a:bodyPr>
          <a:lstStyle/>
          <a:p>
            <a:r>
              <a:rPr sz="1150" b="0">
                <a:solidFill>
                  <a:srgbClr val="252423"/>
                </a:solidFill>
                <a:latin typeface="Segoe UI"/>
              </a:rPr>
              <a:t>opportunity of US$</a:t>
            </a:r>
          </a:p>
        </p:txBody>
      </p:sp>
      <p:pic>
        <p:nvPicPr>
          <p:cNvPr id="35" name="Picture 34" descr="lock.png"/>
          <p:cNvPicPr>
            <a:picLocks noChangeAspect="1"/>
          </p:cNvPicPr>
          <p:nvPr/>
        </p:nvPicPr>
        <p:blipFill>
          <a:blip r:embed="rId7"/>
          <a:stretch>
            <a:fillRect/>
          </a:stretch>
        </p:blipFill>
        <p:spPr>
          <a:xfrm>
            <a:off x="7563227" y="5402974"/>
            <a:ext cx="134549" cy="195707"/>
          </a:xfrm>
          <a:prstGeom prst="rect">
            <a:avLst/>
          </a:prstGeom>
        </p:spPr>
      </p:pic>
      <p:sp>
        <p:nvSpPr>
          <p:cNvPr id="36" name="TextBox 35"/>
          <p:cNvSpPr txBox="1"/>
          <p:nvPr/>
        </p:nvSpPr>
        <p:spPr>
          <a:xfrm>
            <a:off x="7738336" y="5413197"/>
            <a:ext cx="3878068" cy="194310"/>
          </a:xfrm>
          <a:prstGeom prst="rect">
            <a:avLst/>
          </a:prstGeom>
          <a:noFill/>
        </p:spPr>
        <p:txBody>
          <a:bodyPr wrap="none" lIns="0" rIns="0" tIns="0" bIns="0">
            <a:spAutoFit/>
          </a:bodyPr>
          <a:lstStyle/>
          <a:p>
            <a:r>
              <a:rPr sz="1150" b="0">
                <a:solidFill>
                  <a:srgbClr val="252423"/>
                </a:solidFill>
                <a:latin typeface="Segoe UI"/>
              </a:rPr>
              <a:t>Mn for the overall lithium polymer portable energy storage</a:t>
            </a:r>
          </a:p>
        </p:txBody>
      </p:sp>
      <p:sp>
        <p:nvSpPr>
          <p:cNvPr id="37" name="TextBox 36"/>
          <p:cNvSpPr txBox="1"/>
          <p:nvPr/>
        </p:nvSpPr>
        <p:spPr>
          <a:xfrm>
            <a:off x="6305550" y="5588457"/>
            <a:ext cx="5325580" cy="194310"/>
          </a:xfrm>
          <a:prstGeom prst="rect">
            <a:avLst/>
          </a:prstGeom>
          <a:noFill/>
        </p:spPr>
        <p:txBody>
          <a:bodyPr wrap="none" lIns="0" rIns="0" tIns="0" bIns="0">
            <a:spAutoFit/>
          </a:bodyPr>
          <a:lstStyle/>
          <a:p>
            <a:r>
              <a:rPr sz="1150" b="0">
                <a:solidFill>
                  <a:srgbClr val="252423"/>
                </a:solidFill>
                <a:latin typeface="Segoe UI"/>
              </a:rPr>
              <a:t>market from 2026 to 2036. The 500 wh to below 1,000 wh segment is expected to</a:t>
            </a:r>
          </a:p>
        </p:txBody>
      </p:sp>
      <p:sp>
        <p:nvSpPr>
          <p:cNvPr id="38" name="TextBox 37"/>
          <p:cNvSpPr txBox="1"/>
          <p:nvPr/>
        </p:nvSpPr>
        <p:spPr>
          <a:xfrm>
            <a:off x="6305550" y="5763717"/>
            <a:ext cx="2738135" cy="194310"/>
          </a:xfrm>
          <a:prstGeom prst="rect">
            <a:avLst/>
          </a:prstGeom>
          <a:noFill/>
        </p:spPr>
        <p:txBody>
          <a:bodyPr wrap="none" lIns="0" rIns="0" tIns="0" bIns="0">
            <a:spAutoFit/>
          </a:bodyPr>
          <a:lstStyle/>
          <a:p>
            <a:r>
              <a:rPr sz="1150" b="0">
                <a:solidFill>
                  <a:srgbClr val="252423"/>
                </a:solidFill>
                <a:latin typeface="Segoe UI"/>
              </a:rPr>
              <a:t>create an incremental opportunity of US$</a:t>
            </a:r>
          </a:p>
        </p:txBody>
      </p:sp>
      <p:pic>
        <p:nvPicPr>
          <p:cNvPr id="39" name="Picture 38" descr="lock.png"/>
          <p:cNvPicPr>
            <a:picLocks noChangeAspect="1"/>
          </p:cNvPicPr>
          <p:nvPr/>
        </p:nvPicPr>
        <p:blipFill>
          <a:blip r:embed="rId7"/>
          <a:stretch>
            <a:fillRect/>
          </a:stretch>
        </p:blipFill>
        <p:spPr>
          <a:xfrm>
            <a:off x="8992839" y="5753494"/>
            <a:ext cx="134549" cy="195707"/>
          </a:xfrm>
          <a:prstGeom prst="rect">
            <a:avLst/>
          </a:prstGeom>
        </p:spPr>
      </p:pic>
      <p:sp>
        <p:nvSpPr>
          <p:cNvPr id="40" name="TextBox 39"/>
          <p:cNvSpPr txBox="1"/>
          <p:nvPr/>
        </p:nvSpPr>
        <p:spPr>
          <a:xfrm>
            <a:off x="9167949" y="5763717"/>
            <a:ext cx="2286048" cy="194310"/>
          </a:xfrm>
          <a:prstGeom prst="rect">
            <a:avLst/>
          </a:prstGeom>
          <a:noFill/>
        </p:spPr>
        <p:txBody>
          <a:bodyPr wrap="none" lIns="0" rIns="0" tIns="0" bIns="0">
            <a:spAutoFit/>
          </a:bodyPr>
          <a:lstStyle/>
          <a:p>
            <a:r>
              <a:rPr sz="1150" b="0">
                <a:solidFill>
                  <a:srgbClr val="252423"/>
                </a:solidFill>
                <a:latin typeface="Segoe UI"/>
              </a:rPr>
              <a:t>Mn for the overall lithium polymer</a:t>
            </a:r>
          </a:p>
        </p:txBody>
      </p:sp>
      <p:sp>
        <p:nvSpPr>
          <p:cNvPr id="41" name="TextBox 40"/>
          <p:cNvSpPr txBox="1"/>
          <p:nvPr/>
        </p:nvSpPr>
        <p:spPr>
          <a:xfrm>
            <a:off x="6305550" y="5938977"/>
            <a:ext cx="3382217" cy="194310"/>
          </a:xfrm>
          <a:prstGeom prst="rect">
            <a:avLst/>
          </a:prstGeom>
          <a:noFill/>
        </p:spPr>
        <p:txBody>
          <a:bodyPr wrap="none" lIns="0" rIns="0" tIns="0" bIns="0">
            <a:spAutoFit/>
          </a:bodyPr>
          <a:lstStyle/>
          <a:p>
            <a:r>
              <a:rPr sz="1150" b="0">
                <a:solidFill>
                  <a:srgbClr val="252423"/>
                </a:solidFill>
                <a:latin typeface="Segoe UI"/>
              </a:rPr>
              <a:t>portable energy storage market from 2026 to 2036.</a:t>
            </a:r>
          </a:p>
        </p:txBody>
      </p:sp>
      <p:sp>
        <p:nvSpPr>
          <p:cNvPr id="42"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Energy Storage Capacity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Energy Storage Capacity, 2021–2036, highlighting the sub-segments driving growth</a:t>
            </a:r>
          </a:p>
        </p:txBody>
      </p:sp>
      <p:sp>
        <p:nvSpPr>
          <p:cNvPr id="8" name="Rectangle 7"/>
          <p:cNvSpPr/>
          <p:nvPr/>
        </p:nvSpPr>
        <p:spPr>
          <a:xfrm>
            <a:off x="142875" y="981075"/>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Energy Storage Capacity (US$ Mn)</a:t>
            </a:r>
          </a:p>
        </p:txBody>
      </p:sp>
      <p:graphicFrame>
        <p:nvGraphicFramePr>
          <p:cNvPr id="10" name="Table 9"/>
          <p:cNvGraphicFramePr>
            <a:graphicFrameLocks noGrp="1"/>
          </p:cNvGraphicFramePr>
          <p:nvPr/>
        </p:nvGraphicFramePr>
        <p:xfrm>
          <a:off x="152400" y="1238250"/>
          <a:ext cx="11887196" cy="1238250"/>
        </p:xfrm>
        <a:graphic>
          <a:graphicData uri="http://schemas.openxmlformats.org/drawingml/2006/table">
            <a:tbl>
              <a:tblPr>
                <a:tableStyleId>{5C22544A-7EE6-4342-B048-85BDC9FD1C3A}</a:tableStyleId>
              </a:tblPr>
              <a:tblGrid>
                <a:gridCol w="2230127"/>
                <a:gridCol w="579389"/>
                <a:gridCol w="579389"/>
                <a:gridCol w="579389"/>
                <a:gridCol w="579389"/>
                <a:gridCol w="579389"/>
                <a:gridCol w="553019"/>
                <a:gridCol w="553019"/>
                <a:gridCol w="553019"/>
                <a:gridCol w="553019"/>
                <a:gridCol w="553019"/>
                <a:gridCol w="553019"/>
                <a:gridCol w="553019"/>
                <a:gridCol w="553019"/>
                <a:gridCol w="553019"/>
                <a:gridCol w="553019"/>
                <a:gridCol w="553019"/>
                <a:gridCol w="676915"/>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819400"/>
            <a:ext cx="11906250" cy="3810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Energy Storage Capacity</a:t>
            </a:r>
          </a:p>
        </p:txBody>
      </p:sp>
      <p:sp>
        <p:nvSpPr>
          <p:cNvPr id="14" name="Rectangle 13"/>
          <p:cNvSpPr/>
          <p:nvPr/>
        </p:nvSpPr>
        <p:spPr>
          <a:xfrm>
            <a:off x="276225" y="31432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024371" y="1713738"/>
            <a:ext cx="366712" cy="533400"/>
          </a:xfrm>
          <a:prstGeom prst="rect">
            <a:avLst/>
          </a:prstGeom>
        </p:spPr>
      </p:pic>
      <p:sp>
        <p:nvSpPr>
          <p:cNvPr id="18" name="TextBox 17"/>
          <p:cNvSpPr txBox="1"/>
          <p:nvPr/>
        </p:nvSpPr>
        <p:spPr>
          <a:xfrm>
            <a:off x="276225" y="3238500"/>
            <a:ext cx="3533343" cy="194310"/>
          </a:xfrm>
          <a:prstGeom prst="rect">
            <a:avLst/>
          </a:prstGeom>
          <a:noFill/>
        </p:spPr>
        <p:txBody>
          <a:bodyPr wrap="none" lIns="0" rIns="0" tIns="0" bIns="0">
            <a:spAutoFit/>
          </a:bodyPr>
          <a:lstStyle/>
          <a:p>
            <a:r>
              <a:rPr sz="1150" b="0">
                <a:solidFill>
                  <a:srgbClr val="252423"/>
                </a:solidFill>
                <a:latin typeface="Segoe UI"/>
              </a:rPr>
              <a:t>1,500 wh to 2,000 wh segment is projected to register</a:t>
            </a:r>
          </a:p>
        </p:txBody>
      </p:sp>
      <p:pic>
        <p:nvPicPr>
          <p:cNvPr id="19" name="Picture 18" descr="lock.png"/>
          <p:cNvPicPr>
            <a:picLocks noChangeAspect="1"/>
          </p:cNvPicPr>
          <p:nvPr/>
        </p:nvPicPr>
        <p:blipFill>
          <a:blip r:embed="rId4"/>
          <a:stretch>
            <a:fillRect/>
          </a:stretch>
        </p:blipFill>
        <p:spPr>
          <a:xfrm>
            <a:off x="3758722" y="3228276"/>
            <a:ext cx="134549" cy="195707"/>
          </a:xfrm>
          <a:prstGeom prst="rect">
            <a:avLst/>
          </a:prstGeom>
        </p:spPr>
      </p:pic>
      <p:sp>
        <p:nvSpPr>
          <p:cNvPr id="20" name="TextBox 19"/>
          <p:cNvSpPr txBox="1"/>
          <p:nvPr/>
        </p:nvSpPr>
        <p:spPr>
          <a:xfrm>
            <a:off x="3933831" y="3238500"/>
            <a:ext cx="7661917" cy="194310"/>
          </a:xfrm>
          <a:prstGeom prst="rect">
            <a:avLst/>
          </a:prstGeom>
          <a:noFill/>
        </p:spPr>
        <p:txBody>
          <a:bodyPr wrap="none" lIns="0" rIns="0" tIns="0" bIns="0">
            <a:spAutoFit/>
          </a:bodyPr>
          <a:lstStyle/>
          <a:p>
            <a:r>
              <a:rPr sz="1150" b="0">
                <a:solidFill>
                  <a:srgbClr val="252423"/>
                </a:solidFill>
                <a:latin typeface="Segoe UI"/>
              </a:rPr>
              <a:t>X higher value than 1,000 wh to below 1,500 wh segment in 2036. Among lithium polymer portable energy storage by</a:t>
            </a:r>
          </a:p>
        </p:txBody>
      </p:sp>
      <p:sp>
        <p:nvSpPr>
          <p:cNvPr id="21" name="TextBox 20"/>
          <p:cNvSpPr txBox="1"/>
          <p:nvPr/>
        </p:nvSpPr>
        <p:spPr>
          <a:xfrm>
            <a:off x="276225" y="3413760"/>
            <a:ext cx="6871772" cy="194310"/>
          </a:xfrm>
          <a:prstGeom prst="rect">
            <a:avLst/>
          </a:prstGeom>
          <a:noFill/>
        </p:spPr>
        <p:txBody>
          <a:bodyPr wrap="none" lIns="0" rIns="0" tIns="0" bIns="0">
            <a:spAutoFit/>
          </a:bodyPr>
          <a:lstStyle/>
          <a:p>
            <a:r>
              <a:rPr sz="1150" b="0">
                <a:solidFill>
                  <a:srgbClr val="252423"/>
                </a:solidFill>
                <a:latin typeface="Segoe UI"/>
              </a:rPr>
              <a:t>energy storage capacity, 1,000 wh to below 1,500 wh segment is expected to witness the highest CAGR of</a:t>
            </a:r>
          </a:p>
        </p:txBody>
      </p:sp>
      <p:pic>
        <p:nvPicPr>
          <p:cNvPr id="22" name="Picture 21" descr="lock.png"/>
          <p:cNvPicPr>
            <a:picLocks noChangeAspect="1"/>
          </p:cNvPicPr>
          <p:nvPr/>
        </p:nvPicPr>
        <p:blipFill>
          <a:blip r:embed="rId4"/>
          <a:stretch>
            <a:fillRect/>
          </a:stretch>
        </p:blipFill>
        <p:spPr>
          <a:xfrm>
            <a:off x="7097151" y="3403536"/>
            <a:ext cx="134549" cy="195707"/>
          </a:xfrm>
          <a:prstGeom prst="rect">
            <a:avLst/>
          </a:prstGeom>
        </p:spPr>
      </p:pic>
      <p:sp>
        <p:nvSpPr>
          <p:cNvPr id="23" name="TextBox 22"/>
          <p:cNvSpPr txBox="1"/>
          <p:nvPr/>
        </p:nvSpPr>
        <p:spPr>
          <a:xfrm>
            <a:off x="7272260" y="341376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641597"/>
            <a:ext cx="8383493" cy="194310"/>
          </a:xfrm>
          <a:prstGeom prst="rect">
            <a:avLst/>
          </a:prstGeom>
          <a:noFill/>
        </p:spPr>
        <p:txBody>
          <a:bodyPr wrap="none" lIns="0" rIns="0" tIns="0" bIns="0">
            <a:spAutoFit/>
          </a:bodyPr>
          <a:lstStyle/>
          <a:p>
            <a:r>
              <a:rPr sz="1150" b="0">
                <a:solidFill>
                  <a:srgbClr val="252423"/>
                </a:solidFill>
                <a:latin typeface="Segoe UI"/>
              </a:rPr>
              <a:t>In terms of value share by energy storage capacity, the 1,500 wh to 2,000 wh segment is expected to dominate the market, losing</a:t>
            </a:r>
          </a:p>
        </p:txBody>
      </p:sp>
      <p:pic>
        <p:nvPicPr>
          <p:cNvPr id="25" name="Picture 24" descr="lock.png"/>
          <p:cNvPicPr>
            <a:picLocks noChangeAspect="1"/>
          </p:cNvPicPr>
          <p:nvPr/>
        </p:nvPicPr>
        <p:blipFill>
          <a:blip r:embed="rId4"/>
          <a:stretch>
            <a:fillRect/>
          </a:stretch>
        </p:blipFill>
        <p:spPr>
          <a:xfrm>
            <a:off x="8608872" y="3631374"/>
            <a:ext cx="134549" cy="195707"/>
          </a:xfrm>
          <a:prstGeom prst="rect">
            <a:avLst/>
          </a:prstGeom>
        </p:spPr>
      </p:pic>
      <p:sp>
        <p:nvSpPr>
          <p:cNvPr id="26" name="TextBox 25"/>
          <p:cNvSpPr txBox="1"/>
          <p:nvPr/>
        </p:nvSpPr>
        <p:spPr>
          <a:xfrm>
            <a:off x="8783981" y="364159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312338" y="3631374"/>
            <a:ext cx="134549" cy="195707"/>
          </a:xfrm>
          <a:prstGeom prst="rect">
            <a:avLst/>
          </a:prstGeom>
        </p:spPr>
      </p:pic>
      <p:sp>
        <p:nvSpPr>
          <p:cNvPr id="28" name="TextBox 27"/>
          <p:cNvSpPr txBox="1"/>
          <p:nvPr/>
        </p:nvSpPr>
        <p:spPr>
          <a:xfrm>
            <a:off x="10487447" y="364159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Energy Storage Capacity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Energy Storage Capacity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23032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22555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14935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500 Wh to Below 1,000 Wh</a:t>
            </a:r>
          </a:p>
        </p:txBody>
      </p:sp>
      <p:sp>
        <p:nvSpPr>
          <p:cNvPr id="16" name="BPS Value 1"/>
          <p:cNvSpPr txBox="1"/>
          <p:nvPr/>
        </p:nvSpPr>
        <p:spPr>
          <a:xfrm>
            <a:off x="6896100" y="221127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360882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360406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352786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1,000 Wh to Below 1,500 Wh</a:t>
            </a:r>
          </a:p>
        </p:txBody>
      </p:sp>
      <p:sp>
        <p:nvSpPr>
          <p:cNvPr id="20" name="BPS Value 2"/>
          <p:cNvSpPr txBox="1"/>
          <p:nvPr/>
        </p:nvSpPr>
        <p:spPr>
          <a:xfrm>
            <a:off x="6896100" y="358977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533595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533119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525499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1,500 Wh to 2,000 Wh</a:t>
            </a:r>
          </a:p>
        </p:txBody>
      </p:sp>
      <p:sp>
        <p:nvSpPr>
          <p:cNvPr id="24" name="BPS Value 3"/>
          <p:cNvSpPr txBox="1"/>
          <p:nvPr/>
        </p:nvSpPr>
        <p:spPr>
          <a:xfrm>
            <a:off x="6896100" y="531690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Rectangle 24"/>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Energy Storage Capacity</a:t>
            </a:r>
          </a:p>
        </p:txBody>
      </p:sp>
      <p:sp>
        <p:nvSpPr>
          <p:cNvPr id="27" name="Rectangle 26"/>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3879762"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energy</a:t>
            </a:r>
          </a:p>
        </p:txBody>
      </p:sp>
      <p:sp>
        <p:nvSpPr>
          <p:cNvPr id="32" name="TextBox 31"/>
          <p:cNvSpPr txBox="1"/>
          <p:nvPr/>
        </p:nvSpPr>
        <p:spPr>
          <a:xfrm>
            <a:off x="7829550" y="1575435"/>
            <a:ext cx="3727842" cy="194310"/>
          </a:xfrm>
          <a:prstGeom prst="rect">
            <a:avLst/>
          </a:prstGeom>
          <a:noFill/>
        </p:spPr>
        <p:txBody>
          <a:bodyPr wrap="none" lIns="0" rIns="0" tIns="0" bIns="0">
            <a:spAutoFit/>
          </a:bodyPr>
          <a:lstStyle/>
          <a:p>
            <a:r>
              <a:rPr sz="1150" b="0">
                <a:solidFill>
                  <a:srgbClr val="252423"/>
                </a:solidFill>
                <a:latin typeface="Segoe UI"/>
              </a:rPr>
              <a:t>storage capacity, 1,000 wh to below 1,500 wh segment is</a:t>
            </a:r>
          </a:p>
        </p:txBody>
      </p:sp>
      <p:sp>
        <p:nvSpPr>
          <p:cNvPr id="33" name="TextBox 32"/>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4" name="Picture 33" descr="lock.png"/>
          <p:cNvPicPr>
            <a:picLocks noChangeAspect="1"/>
          </p:cNvPicPr>
          <p:nvPr/>
        </p:nvPicPr>
        <p:blipFill>
          <a:blip r:embed="rId5"/>
          <a:stretch>
            <a:fillRect/>
          </a:stretch>
        </p:blipFill>
        <p:spPr>
          <a:xfrm>
            <a:off x="10475709" y="1740471"/>
            <a:ext cx="134549" cy="195707"/>
          </a:xfrm>
          <a:prstGeom prst="rect">
            <a:avLst/>
          </a:prstGeom>
        </p:spPr>
      </p:pic>
      <p:sp>
        <p:nvSpPr>
          <p:cNvPr id="35" name="TextBox 34"/>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36" name="TextBox 35"/>
          <p:cNvSpPr txBox="1"/>
          <p:nvPr/>
        </p:nvSpPr>
        <p:spPr>
          <a:xfrm>
            <a:off x="7829550" y="1925955"/>
            <a:ext cx="528042" cy="194310"/>
          </a:xfrm>
          <a:prstGeom prst="rect">
            <a:avLst/>
          </a:prstGeom>
          <a:noFill/>
        </p:spPr>
        <p:txBody>
          <a:bodyPr wrap="none" lIns="0" rIns="0" tIns="0" bIns="0">
            <a:spAutoFit/>
          </a:bodyPr>
          <a:lstStyle/>
          <a:p>
            <a:r>
              <a:rPr sz="1150" b="0">
                <a:solidFill>
                  <a:srgbClr val="252423"/>
                </a:solidFill>
                <a:latin typeface="Segoe UI"/>
              </a:rPr>
              <a:t>period.</a:t>
            </a:r>
          </a:p>
        </p:txBody>
      </p:sp>
      <p:sp>
        <p:nvSpPr>
          <p:cNvPr id="37" name="TextBox 36"/>
          <p:cNvSpPr txBox="1"/>
          <p:nvPr/>
        </p:nvSpPr>
        <p:spPr>
          <a:xfrm>
            <a:off x="7829550" y="2153793"/>
            <a:ext cx="3975295" cy="194310"/>
          </a:xfrm>
          <a:prstGeom prst="rect">
            <a:avLst/>
          </a:prstGeom>
          <a:noFill/>
        </p:spPr>
        <p:txBody>
          <a:bodyPr wrap="none" lIns="0" rIns="0" tIns="0" bIns="0">
            <a:spAutoFit/>
          </a:bodyPr>
          <a:lstStyle/>
          <a:p>
            <a:r>
              <a:rPr sz="1150" b="0">
                <a:solidFill>
                  <a:srgbClr val="252423"/>
                </a:solidFill>
                <a:latin typeface="Segoe UI"/>
              </a:rPr>
              <a:t>In terms of value share by energy storage capacity, the 1,500</a:t>
            </a:r>
          </a:p>
        </p:txBody>
      </p:sp>
      <p:sp>
        <p:nvSpPr>
          <p:cNvPr id="38" name="TextBox 37"/>
          <p:cNvSpPr txBox="1"/>
          <p:nvPr/>
        </p:nvSpPr>
        <p:spPr>
          <a:xfrm>
            <a:off x="7829550" y="2329053"/>
            <a:ext cx="4017437" cy="194310"/>
          </a:xfrm>
          <a:prstGeom prst="rect">
            <a:avLst/>
          </a:prstGeom>
          <a:noFill/>
        </p:spPr>
        <p:txBody>
          <a:bodyPr wrap="none" lIns="0" rIns="0" tIns="0" bIns="0">
            <a:spAutoFit/>
          </a:bodyPr>
          <a:lstStyle/>
          <a:p>
            <a:r>
              <a:rPr sz="1150" b="0">
                <a:solidFill>
                  <a:srgbClr val="252423"/>
                </a:solidFill>
                <a:latin typeface="Segoe UI"/>
              </a:rPr>
              <a:t>wh to 2,000 wh segment is expected to dominate the market,</a:t>
            </a:r>
          </a:p>
        </p:txBody>
      </p:sp>
      <p:sp>
        <p:nvSpPr>
          <p:cNvPr id="39" name="TextBox 38"/>
          <p:cNvSpPr txBox="1"/>
          <p:nvPr/>
        </p:nvSpPr>
        <p:spPr>
          <a:xfrm>
            <a:off x="7829550" y="2504313"/>
            <a:ext cx="463289" cy="194310"/>
          </a:xfrm>
          <a:prstGeom prst="rect">
            <a:avLst/>
          </a:prstGeom>
          <a:noFill/>
        </p:spPr>
        <p:txBody>
          <a:bodyPr wrap="none" lIns="0" rIns="0" tIns="0" bIns="0">
            <a:spAutoFit/>
          </a:bodyPr>
          <a:lstStyle/>
          <a:p>
            <a:r>
              <a:rPr sz="1150" b="0">
                <a:solidFill>
                  <a:srgbClr val="252423"/>
                </a:solidFill>
                <a:latin typeface="Segoe UI"/>
              </a:rPr>
              <a:t>losing</a:t>
            </a:r>
          </a:p>
        </p:txBody>
      </p:sp>
      <p:pic>
        <p:nvPicPr>
          <p:cNvPr id="40" name="Picture 39" descr="lock.png"/>
          <p:cNvPicPr>
            <a:picLocks noChangeAspect="1"/>
          </p:cNvPicPr>
          <p:nvPr/>
        </p:nvPicPr>
        <p:blipFill>
          <a:blip r:embed="rId5"/>
          <a:stretch>
            <a:fillRect/>
          </a:stretch>
        </p:blipFill>
        <p:spPr>
          <a:xfrm>
            <a:off x="8241993" y="2494089"/>
            <a:ext cx="134549" cy="195707"/>
          </a:xfrm>
          <a:prstGeom prst="rect">
            <a:avLst/>
          </a:prstGeom>
        </p:spPr>
      </p:pic>
      <p:sp>
        <p:nvSpPr>
          <p:cNvPr id="41" name="TextBox 40"/>
          <p:cNvSpPr txBox="1"/>
          <p:nvPr/>
        </p:nvSpPr>
        <p:spPr>
          <a:xfrm>
            <a:off x="8417102" y="250431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2" name="Picture 41" descr="lock.png"/>
          <p:cNvPicPr>
            <a:picLocks noChangeAspect="1"/>
          </p:cNvPicPr>
          <p:nvPr/>
        </p:nvPicPr>
        <p:blipFill>
          <a:blip r:embed="rId5"/>
          <a:stretch>
            <a:fillRect/>
          </a:stretch>
        </p:blipFill>
        <p:spPr>
          <a:xfrm>
            <a:off x="9945459" y="2494089"/>
            <a:ext cx="134549" cy="195707"/>
          </a:xfrm>
          <a:prstGeom prst="rect">
            <a:avLst/>
          </a:prstGeom>
        </p:spPr>
      </p:pic>
      <p:sp>
        <p:nvSpPr>
          <p:cNvPr id="43" name="TextBox 42"/>
          <p:cNvSpPr txBox="1"/>
          <p:nvPr/>
        </p:nvSpPr>
        <p:spPr>
          <a:xfrm>
            <a:off x="10120568" y="250431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4"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Battery Chemistry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Chemistry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Battery Chemistry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Battery Chemistry,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Battery Chemistry segment categorizes the market by battery chemistry.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Nickel Manganese Cobalt Oxide</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Cobalt Oxide</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Iron Phosphate</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Lithium-Ion Cathode Chemist…</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Battery Chemistry split shows how demand is distributed across battery chemistry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102_8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330_4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2_4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79_2_605E5C.png"/>
          <p:cNvPicPr>
            <a:picLocks noChangeAspect="1"/>
          </p:cNvPicPr>
          <p:nvPr/>
        </p:nvPicPr>
        <p:blipFill>
          <a:blip r:embed="rId7"/>
          <a:stretch>
            <a:fillRect/>
          </a:stretch>
        </p:blipFill>
        <p:spPr>
          <a:xfrm>
            <a:off x="5111864" y="2286582"/>
            <a:ext cx="982436" cy="361950"/>
          </a:xfrm>
          <a:prstGeom prst="rect">
            <a:avLst/>
          </a:prstGeom>
        </p:spPr>
      </p:pic>
      <p:pic>
        <p:nvPicPr>
          <p:cNvPr id="65" name="Picture 64" descr="229_6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1_2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38_5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102_6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0_3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37_0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122_9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12_8__605E5C.png"/>
          <p:cNvPicPr>
            <a:picLocks noChangeAspect="1"/>
          </p:cNvPicPr>
          <p:nvPr/>
        </p:nvPicPr>
        <p:blipFill>
          <a:blip r:embed="rId15"/>
          <a:stretch>
            <a:fillRect/>
          </a:stretch>
        </p:blipFill>
        <p:spPr>
          <a:xfrm>
            <a:off x="10062992" y="3272281"/>
            <a:ext cx="1195728"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78" name="TextBox 77"/>
          <p:cNvSpPr txBox="1"/>
          <p:nvPr/>
        </p:nvSpPr>
        <p:spPr>
          <a:xfrm>
            <a:off x="485775" y="4383665"/>
            <a:ext cx="2754392" cy="173278"/>
          </a:xfrm>
          <a:prstGeom prst="rect">
            <a:avLst/>
          </a:prstGeom>
          <a:noFill/>
        </p:spPr>
        <p:txBody>
          <a:bodyPr wrap="none" lIns="0" rIns="0" tIns="0" bIns="0">
            <a:spAutoFit/>
          </a:bodyPr>
          <a:lstStyle/>
          <a:p>
            <a:r>
              <a:rPr sz="1011" b="0">
                <a:solidFill>
                  <a:srgbClr val="252423"/>
                </a:solidFill>
                <a:latin typeface="Segoe UI"/>
              </a:rPr>
              <a:t>by battery chemistry, other lithium-ion cathode</a:t>
            </a:r>
          </a:p>
        </p:txBody>
      </p:sp>
      <p:sp>
        <p:nvSpPr>
          <p:cNvPr id="79" name="TextBox 78"/>
          <p:cNvSpPr txBox="1"/>
          <p:nvPr/>
        </p:nvSpPr>
        <p:spPr>
          <a:xfrm>
            <a:off x="485775" y="4537894"/>
            <a:ext cx="2736515" cy="173278"/>
          </a:xfrm>
          <a:prstGeom prst="rect">
            <a:avLst/>
          </a:prstGeom>
          <a:noFill/>
        </p:spPr>
        <p:txBody>
          <a:bodyPr wrap="none" lIns="0" rIns="0" tIns="0" bIns="0">
            <a:spAutoFit/>
          </a:bodyPr>
          <a:lstStyle/>
          <a:p>
            <a:r>
              <a:rPr sz="1011" b="0">
                <a:solidFill>
                  <a:srgbClr val="252423"/>
                </a:solidFill>
                <a:latin typeface="Segoe UI"/>
              </a:rPr>
              <a:t>chemistries segment is expected to witness the</a:t>
            </a:r>
          </a:p>
        </p:txBody>
      </p:sp>
      <p:sp>
        <p:nvSpPr>
          <p:cNvPr id="80" name="TextBox 79"/>
          <p:cNvSpPr txBox="1"/>
          <p:nvPr/>
        </p:nvSpPr>
        <p:spPr>
          <a:xfrm>
            <a:off x="485775" y="4692123"/>
            <a:ext cx="1007183" cy="173278"/>
          </a:xfrm>
          <a:prstGeom prst="rect">
            <a:avLst/>
          </a:prstGeom>
          <a:noFill/>
        </p:spPr>
        <p:txBody>
          <a:bodyPr wrap="none" lIns="0" rIns="0" tIns="0" bIns="0">
            <a:spAutoFit/>
          </a:bodyPr>
          <a:lstStyle/>
          <a:p>
            <a:r>
              <a:rPr sz="1011" b="0">
                <a:solidFill>
                  <a:srgbClr val="252423"/>
                </a:solidFill>
                <a:latin typeface="Segoe UI"/>
              </a:rPr>
              <a:t>highest CAGR of</a:t>
            </a:r>
          </a:p>
        </p:txBody>
      </p:sp>
      <p:pic>
        <p:nvPicPr>
          <p:cNvPr id="81" name="Picture 80" descr="lock.png"/>
          <p:cNvPicPr>
            <a:picLocks noChangeAspect="1"/>
          </p:cNvPicPr>
          <p:nvPr/>
        </p:nvPicPr>
        <p:blipFill>
          <a:blip r:embed="rId16"/>
          <a:stretch>
            <a:fillRect/>
          </a:stretch>
        </p:blipFill>
        <p:spPr>
          <a:xfrm>
            <a:off x="1439069" y="4683126"/>
            <a:ext cx="118403" cy="172222"/>
          </a:xfrm>
          <a:prstGeom prst="rect">
            <a:avLst/>
          </a:prstGeom>
        </p:spPr>
      </p:pic>
      <p:sp>
        <p:nvSpPr>
          <p:cNvPr id="82" name="TextBox 81"/>
          <p:cNvSpPr txBox="1"/>
          <p:nvPr/>
        </p:nvSpPr>
        <p:spPr>
          <a:xfrm>
            <a:off x="1593165" y="4692123"/>
            <a:ext cx="1604391" cy="173278"/>
          </a:xfrm>
          <a:prstGeom prst="rect">
            <a:avLst/>
          </a:prstGeom>
          <a:noFill/>
        </p:spPr>
        <p:txBody>
          <a:bodyPr wrap="none" lIns="0" rIns="0" tIns="0" bIns="0">
            <a:spAutoFit/>
          </a:bodyPr>
          <a:lstStyle/>
          <a:p>
            <a:r>
              <a:rPr sz="1011" b="0">
                <a:solidFill>
                  <a:srgbClr val="252423"/>
                </a:solidFill>
                <a:latin typeface="Segoe UI"/>
              </a:rPr>
              <a:t>over the forecast period. In</a:t>
            </a:r>
          </a:p>
        </p:txBody>
      </p:sp>
      <p:sp>
        <p:nvSpPr>
          <p:cNvPr id="83" name="TextBox 82"/>
          <p:cNvSpPr txBox="1"/>
          <p:nvPr/>
        </p:nvSpPr>
        <p:spPr>
          <a:xfrm>
            <a:off x="485775" y="4846352"/>
            <a:ext cx="2659890" cy="173278"/>
          </a:xfrm>
          <a:prstGeom prst="rect">
            <a:avLst/>
          </a:prstGeom>
          <a:noFill/>
        </p:spPr>
        <p:txBody>
          <a:bodyPr wrap="none" lIns="0" rIns="0" tIns="0" bIns="0">
            <a:spAutoFit/>
          </a:bodyPr>
          <a:lstStyle/>
          <a:p>
            <a:r>
              <a:rPr sz="1011" b="0">
                <a:solidFill>
                  <a:srgbClr val="252423"/>
                </a:solidFill>
                <a:latin typeface="Segoe UI"/>
              </a:rPr>
              <a:t>terms of value share by battery chemistry, the</a:t>
            </a:r>
          </a:p>
        </p:txBody>
      </p:sp>
      <p:sp>
        <p:nvSpPr>
          <p:cNvPr id="84" name="TextBox 83"/>
          <p:cNvSpPr txBox="1"/>
          <p:nvPr/>
        </p:nvSpPr>
        <p:spPr>
          <a:xfrm>
            <a:off x="485775" y="5000581"/>
            <a:ext cx="2651359" cy="173278"/>
          </a:xfrm>
          <a:prstGeom prst="rect">
            <a:avLst/>
          </a:prstGeom>
          <a:noFill/>
        </p:spPr>
        <p:txBody>
          <a:bodyPr wrap="none" lIns="0" rIns="0" tIns="0" bIns="0">
            <a:spAutoFit/>
          </a:bodyPr>
          <a:lstStyle/>
          <a:p>
            <a:r>
              <a:rPr sz="1011" b="0">
                <a:solidFill>
                  <a:srgbClr val="252423"/>
                </a:solidFill>
                <a:latin typeface="Segoe UI"/>
              </a:rPr>
              <a:t>lithium nickel manganese cobalt oxide (NMC)</a:t>
            </a:r>
          </a:p>
        </p:txBody>
      </p:sp>
      <p:sp>
        <p:nvSpPr>
          <p:cNvPr id="85" name="TextBox 84"/>
          <p:cNvSpPr txBox="1"/>
          <p:nvPr/>
        </p:nvSpPr>
        <p:spPr>
          <a:xfrm>
            <a:off x="485775" y="5154809"/>
            <a:ext cx="2648601" cy="173278"/>
          </a:xfrm>
          <a:prstGeom prst="rect">
            <a:avLst/>
          </a:prstGeom>
          <a:noFill/>
        </p:spPr>
        <p:txBody>
          <a:bodyPr wrap="none" lIns="0" rIns="0" tIns="0" bIns="0">
            <a:spAutoFit/>
          </a:bodyPr>
          <a:lstStyle/>
          <a:p>
            <a:r>
              <a:rPr sz="1011" b="0">
                <a:solidFill>
                  <a:srgbClr val="252423"/>
                </a:solidFill>
                <a:latin typeface="Segoe UI"/>
              </a:rPr>
              <a:t>segment is expected to dominate the market,</a:t>
            </a:r>
          </a:p>
        </p:txBody>
      </p:sp>
      <p:sp>
        <p:nvSpPr>
          <p:cNvPr id="86" name="TextBox 85"/>
          <p:cNvSpPr txBox="1"/>
          <p:nvPr/>
        </p:nvSpPr>
        <p:spPr>
          <a:xfrm>
            <a:off x="485775" y="5309038"/>
            <a:ext cx="501182" cy="173278"/>
          </a:xfrm>
          <a:prstGeom prst="rect">
            <a:avLst/>
          </a:prstGeom>
          <a:noFill/>
        </p:spPr>
        <p:txBody>
          <a:bodyPr wrap="none" lIns="0" rIns="0" tIns="0" bIns="0">
            <a:spAutoFit/>
          </a:bodyPr>
          <a:lstStyle/>
          <a:p>
            <a:r>
              <a:rPr sz="1011" b="0">
                <a:solidFill>
                  <a:srgbClr val="252423"/>
                </a:solidFill>
                <a:latin typeface="Segoe UI"/>
              </a:rPr>
              <a:t>gaining</a:t>
            </a:r>
          </a:p>
        </p:txBody>
      </p:sp>
      <p:pic>
        <p:nvPicPr>
          <p:cNvPr id="87" name="Picture 86" descr="lock.png"/>
          <p:cNvPicPr>
            <a:picLocks noChangeAspect="1"/>
          </p:cNvPicPr>
          <p:nvPr/>
        </p:nvPicPr>
        <p:blipFill>
          <a:blip r:embed="rId16"/>
          <a:stretch>
            <a:fillRect/>
          </a:stretch>
        </p:blipFill>
        <p:spPr>
          <a:xfrm>
            <a:off x="933069" y="5300041"/>
            <a:ext cx="118403" cy="172222"/>
          </a:xfrm>
          <a:prstGeom prst="rect">
            <a:avLst/>
          </a:prstGeom>
        </p:spPr>
      </p:pic>
      <p:sp>
        <p:nvSpPr>
          <p:cNvPr id="88" name="TextBox 87"/>
          <p:cNvSpPr txBox="1"/>
          <p:nvPr/>
        </p:nvSpPr>
        <p:spPr>
          <a:xfrm>
            <a:off x="1087165" y="5309038"/>
            <a:ext cx="1398842" cy="173278"/>
          </a:xfrm>
          <a:prstGeom prst="rect">
            <a:avLst/>
          </a:prstGeom>
          <a:noFill/>
        </p:spPr>
        <p:txBody>
          <a:bodyPr wrap="none" lIns="0" rIns="0" tIns="0" bIns="0">
            <a:spAutoFit/>
          </a:bodyPr>
          <a:lstStyle/>
          <a:p>
            <a:r>
              <a:rPr sz="1011" b="0">
                <a:solidFill>
                  <a:srgbClr val="252423"/>
                </a:solidFill>
                <a:latin typeface="Segoe UI"/>
              </a:rPr>
              <a:t>BPS and accounting for</a:t>
            </a:r>
          </a:p>
        </p:txBody>
      </p:sp>
      <p:pic>
        <p:nvPicPr>
          <p:cNvPr id="89" name="Picture 88" descr="lock.png"/>
          <p:cNvPicPr>
            <a:picLocks noChangeAspect="1"/>
          </p:cNvPicPr>
          <p:nvPr/>
        </p:nvPicPr>
        <p:blipFill>
          <a:blip r:embed="rId16"/>
          <a:stretch>
            <a:fillRect/>
          </a:stretch>
        </p:blipFill>
        <p:spPr>
          <a:xfrm>
            <a:off x="2432119" y="5300041"/>
            <a:ext cx="118403" cy="172222"/>
          </a:xfrm>
          <a:prstGeom prst="rect">
            <a:avLst/>
          </a:prstGeom>
        </p:spPr>
      </p:pic>
      <p:sp>
        <p:nvSpPr>
          <p:cNvPr id="90" name="TextBox 89"/>
          <p:cNvSpPr txBox="1"/>
          <p:nvPr/>
        </p:nvSpPr>
        <p:spPr>
          <a:xfrm>
            <a:off x="2586215" y="5309038"/>
            <a:ext cx="553870" cy="173278"/>
          </a:xfrm>
          <a:prstGeom prst="rect">
            <a:avLst/>
          </a:prstGeom>
          <a:noFill/>
        </p:spPr>
        <p:txBody>
          <a:bodyPr wrap="none" lIns="0" rIns="0" tIns="0" bIns="0">
            <a:spAutoFit/>
          </a:bodyPr>
          <a:lstStyle/>
          <a:p>
            <a:r>
              <a:rPr sz="1011" b="0">
                <a:solidFill>
                  <a:srgbClr val="252423"/>
                </a:solidFill>
                <a:latin typeface="Segoe UI"/>
              </a:rPr>
              <a:t>share by</a:t>
            </a:r>
          </a:p>
        </p:txBody>
      </p:sp>
      <p:sp>
        <p:nvSpPr>
          <p:cNvPr id="91" name="TextBox 90"/>
          <p:cNvSpPr txBox="1"/>
          <p:nvPr/>
        </p:nvSpPr>
        <p:spPr>
          <a:xfrm>
            <a:off x="485775" y="5463267"/>
            <a:ext cx="381193" cy="173278"/>
          </a:xfrm>
          <a:prstGeom prst="rect">
            <a:avLst/>
          </a:prstGeom>
          <a:noFill/>
        </p:spPr>
        <p:txBody>
          <a:bodyPr wrap="none" lIns="0" rIns="0" tIns="0" bIns="0">
            <a:spAutoFit/>
          </a:bodyPr>
          <a:lstStyle/>
          <a:p>
            <a:r>
              <a:rPr sz="1011" b="0">
                <a:solidFill>
                  <a:srgbClr val="252423"/>
                </a:solidFill>
                <a:latin typeface="Segoe UI"/>
              </a:rPr>
              <a:t>2036.</a:t>
            </a:r>
          </a:p>
        </p:txBody>
      </p:sp>
      <p:sp>
        <p:nvSpPr>
          <p:cNvPr id="92" name="TextBox 91"/>
          <p:cNvSpPr txBox="1"/>
          <p:nvPr/>
        </p:nvSpPr>
        <p:spPr>
          <a:xfrm>
            <a:off x="485775" y="5663764"/>
            <a:ext cx="2680728" cy="173278"/>
          </a:xfrm>
          <a:prstGeom prst="rect">
            <a:avLst/>
          </a:prstGeom>
          <a:noFill/>
        </p:spPr>
        <p:txBody>
          <a:bodyPr wrap="none" lIns="0" rIns="0" tIns="0" bIns="0">
            <a:spAutoFit/>
          </a:bodyPr>
          <a:lstStyle/>
          <a:p>
            <a:r>
              <a:rPr sz="1011" b="0">
                <a:solidFill>
                  <a:srgbClr val="252423"/>
                </a:solidFill>
                <a:latin typeface="Segoe UI"/>
              </a:rPr>
              <a:t>Lithium nickel manganese cobalt oxide (NMC)</a:t>
            </a:r>
          </a:p>
        </p:txBody>
      </p:sp>
      <p:sp>
        <p:nvSpPr>
          <p:cNvPr id="93" name="TextBox 92"/>
          <p:cNvSpPr txBox="1"/>
          <p:nvPr/>
        </p:nvSpPr>
        <p:spPr>
          <a:xfrm>
            <a:off x="485775" y="5817993"/>
            <a:ext cx="1882462" cy="173278"/>
          </a:xfrm>
          <a:prstGeom prst="rect">
            <a:avLst/>
          </a:prstGeom>
          <a:noFill/>
        </p:spPr>
        <p:txBody>
          <a:bodyPr wrap="none" lIns="0" rIns="0" tIns="0" bIns="0">
            <a:spAutoFit/>
          </a:bodyPr>
          <a:lstStyle/>
          <a:p>
            <a:r>
              <a:rPr sz="1011" b="0">
                <a:solidFill>
                  <a:srgbClr val="252423"/>
                </a:solidFill>
                <a:latin typeface="Segoe UI"/>
              </a:rPr>
              <a:t>segment is projected to register</a:t>
            </a:r>
          </a:p>
        </p:txBody>
      </p:sp>
      <p:pic>
        <p:nvPicPr>
          <p:cNvPr id="94" name="Picture 93" descr="lock.png"/>
          <p:cNvPicPr>
            <a:picLocks noChangeAspect="1"/>
          </p:cNvPicPr>
          <p:nvPr/>
        </p:nvPicPr>
        <p:blipFill>
          <a:blip r:embed="rId16"/>
          <a:stretch>
            <a:fillRect/>
          </a:stretch>
        </p:blipFill>
        <p:spPr>
          <a:xfrm>
            <a:off x="2314349" y="5808996"/>
            <a:ext cx="118403" cy="172222"/>
          </a:xfrm>
          <a:prstGeom prst="rect">
            <a:avLst/>
          </a:prstGeom>
        </p:spPr>
      </p:pic>
      <p:sp>
        <p:nvSpPr>
          <p:cNvPr id="95" name="TextBox 94"/>
          <p:cNvSpPr txBox="1"/>
          <p:nvPr/>
        </p:nvSpPr>
        <p:spPr>
          <a:xfrm>
            <a:off x="2468445" y="5817993"/>
            <a:ext cx="884962" cy="173278"/>
          </a:xfrm>
          <a:prstGeom prst="rect">
            <a:avLst/>
          </a:prstGeom>
          <a:noFill/>
        </p:spPr>
        <p:txBody>
          <a:bodyPr wrap="none" lIns="0" rIns="0" tIns="0" bIns="0">
            <a:spAutoFit/>
          </a:bodyPr>
          <a:lstStyle/>
          <a:p>
            <a:r>
              <a:rPr sz="1011" b="0">
                <a:solidFill>
                  <a:srgbClr val="252423"/>
                </a:solidFill>
                <a:latin typeface="Segoe UI"/>
              </a:rPr>
              <a:t>X higher value</a:t>
            </a:r>
          </a:p>
        </p:txBody>
      </p:sp>
      <p:sp>
        <p:nvSpPr>
          <p:cNvPr id="96" name="TextBox 95"/>
          <p:cNvSpPr txBox="1"/>
          <p:nvPr/>
        </p:nvSpPr>
        <p:spPr>
          <a:xfrm>
            <a:off x="485775" y="5972222"/>
            <a:ext cx="2845098" cy="173278"/>
          </a:xfrm>
          <a:prstGeom prst="rect">
            <a:avLst/>
          </a:prstGeom>
          <a:noFill/>
        </p:spPr>
        <p:txBody>
          <a:bodyPr wrap="none" lIns="0" rIns="0" tIns="0" bIns="0">
            <a:spAutoFit/>
          </a:bodyPr>
          <a:lstStyle/>
          <a:p>
            <a:r>
              <a:rPr sz="1011" b="0">
                <a:solidFill>
                  <a:srgbClr val="252423"/>
                </a:solidFill>
                <a:latin typeface="Segoe UI"/>
              </a:rPr>
              <a:t>than lithium cobalt oxide (LCO) segment in 2036.</a:t>
            </a:r>
          </a:p>
        </p:txBody>
      </p:sp>
      <p:sp>
        <p:nvSpPr>
          <p:cNvPr id="97" name="TextBox 96"/>
          <p:cNvSpPr txBox="1"/>
          <p:nvPr/>
        </p:nvSpPr>
        <p:spPr>
          <a:xfrm>
            <a:off x="3838575" y="4229437"/>
            <a:ext cx="3135884" cy="186689"/>
          </a:xfrm>
          <a:prstGeom prst="rect">
            <a:avLst/>
          </a:prstGeom>
          <a:noFill/>
        </p:spPr>
        <p:txBody>
          <a:bodyPr wrap="none" lIns="0" rIns="0" tIns="0" bIns="0">
            <a:spAutoFit/>
          </a:bodyPr>
          <a:lstStyle/>
          <a:p>
            <a:r>
              <a:rPr sz="1100" b="0">
                <a:solidFill>
                  <a:srgbClr val="252423"/>
                </a:solidFill>
                <a:latin typeface="Segoe UI"/>
              </a:rPr>
              <a:t>● Lithium Nickel Manganese Cobalt Oxide (NMC):</a:t>
            </a:r>
          </a:p>
        </p:txBody>
      </p:sp>
      <p:pic>
        <p:nvPicPr>
          <p:cNvPr id="98" name="Picture 97" descr="lock.png"/>
          <p:cNvPicPr>
            <a:picLocks noChangeAspect="1"/>
          </p:cNvPicPr>
          <p:nvPr/>
        </p:nvPicPr>
        <p:blipFill>
          <a:blip r:embed="rId16"/>
          <a:stretch>
            <a:fillRect/>
          </a:stretch>
        </p:blipFill>
        <p:spPr>
          <a:xfrm>
            <a:off x="6922511" y="4219658"/>
            <a:ext cx="128699" cy="187198"/>
          </a:xfrm>
          <a:prstGeom prst="rect">
            <a:avLst/>
          </a:prstGeom>
        </p:spPr>
      </p:pic>
      <p:sp>
        <p:nvSpPr>
          <p:cNvPr id="99" name="TextBox 98"/>
          <p:cNvSpPr txBox="1"/>
          <p:nvPr/>
        </p:nvSpPr>
        <p:spPr>
          <a:xfrm>
            <a:off x="7090007" y="4229437"/>
            <a:ext cx="541100" cy="186689"/>
          </a:xfrm>
          <a:prstGeom prst="rect">
            <a:avLst/>
          </a:prstGeom>
          <a:noFill/>
        </p:spPr>
        <p:txBody>
          <a:bodyPr wrap="none" lIns="0" rIns="0" tIns="0" bIns="0">
            <a:spAutoFit/>
          </a:bodyPr>
          <a:lstStyle/>
          <a:p>
            <a:r>
              <a:rPr sz="1100" b="0">
                <a:solidFill>
                  <a:srgbClr val="252423"/>
                </a:solidFill>
                <a:latin typeface="Segoe UI"/>
              </a:rPr>
              <a:t>of 2026</a:t>
            </a:r>
          </a:p>
        </p:txBody>
      </p:sp>
      <p:sp>
        <p:nvSpPr>
          <p:cNvPr id="100" name="TextBox 99"/>
          <p:cNvSpPr txBox="1"/>
          <p:nvPr/>
        </p:nvSpPr>
        <p:spPr>
          <a:xfrm>
            <a:off x="3838575" y="4397077"/>
            <a:ext cx="468795" cy="186689"/>
          </a:xfrm>
          <a:prstGeom prst="rect">
            <a:avLst/>
          </a:prstGeom>
          <a:noFill/>
        </p:spPr>
        <p:txBody>
          <a:bodyPr wrap="none" lIns="0" rIns="0" tIns="0" bIns="0">
            <a:spAutoFit/>
          </a:bodyPr>
          <a:lstStyle/>
          <a:p>
            <a:r>
              <a:rPr sz="1100" b="0">
                <a:solidFill>
                  <a:srgbClr val="252423"/>
                </a:solidFill>
                <a:latin typeface="Segoe UI"/>
              </a:rPr>
              <a:t>value ·</a:t>
            </a:r>
          </a:p>
        </p:txBody>
      </p:sp>
      <p:pic>
        <p:nvPicPr>
          <p:cNvPr id="101" name="Picture 100" descr="lock.png"/>
          <p:cNvPicPr>
            <a:picLocks noChangeAspect="1"/>
          </p:cNvPicPr>
          <p:nvPr/>
        </p:nvPicPr>
        <p:blipFill>
          <a:blip r:embed="rId16"/>
          <a:stretch>
            <a:fillRect/>
          </a:stretch>
        </p:blipFill>
        <p:spPr>
          <a:xfrm>
            <a:off x="4255421" y="4387298"/>
            <a:ext cx="128699" cy="187198"/>
          </a:xfrm>
          <a:prstGeom prst="rect">
            <a:avLst/>
          </a:prstGeom>
        </p:spPr>
      </p:pic>
      <p:sp>
        <p:nvSpPr>
          <p:cNvPr id="102" name="TextBox 101"/>
          <p:cNvSpPr txBox="1"/>
          <p:nvPr/>
        </p:nvSpPr>
        <p:spPr>
          <a:xfrm>
            <a:off x="4422917"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103" name="TextBox 102"/>
          <p:cNvSpPr txBox="1"/>
          <p:nvPr/>
        </p:nvSpPr>
        <p:spPr>
          <a:xfrm>
            <a:off x="3838575" y="4615009"/>
            <a:ext cx="1906906" cy="186689"/>
          </a:xfrm>
          <a:prstGeom prst="rect">
            <a:avLst/>
          </a:prstGeom>
          <a:noFill/>
        </p:spPr>
        <p:txBody>
          <a:bodyPr wrap="none" lIns="0" rIns="0" tIns="0" bIns="0">
            <a:spAutoFit/>
          </a:bodyPr>
          <a:lstStyle/>
          <a:p>
            <a:r>
              <a:rPr sz="1100" b="0">
                <a:solidFill>
                  <a:srgbClr val="252423"/>
                </a:solidFill>
                <a:latin typeface="Segoe UI"/>
              </a:rPr>
              <a:t>● Lithium Cobalt Oxide (LCO):</a:t>
            </a:r>
          </a:p>
        </p:txBody>
      </p:sp>
      <p:pic>
        <p:nvPicPr>
          <p:cNvPr id="104" name="Picture 103" descr="lock.png"/>
          <p:cNvPicPr>
            <a:picLocks noChangeAspect="1"/>
          </p:cNvPicPr>
          <p:nvPr/>
        </p:nvPicPr>
        <p:blipFill>
          <a:blip r:embed="rId16"/>
          <a:stretch>
            <a:fillRect/>
          </a:stretch>
        </p:blipFill>
        <p:spPr>
          <a:xfrm>
            <a:off x="5693532" y="4605230"/>
            <a:ext cx="128699" cy="187198"/>
          </a:xfrm>
          <a:prstGeom prst="rect">
            <a:avLst/>
          </a:prstGeom>
        </p:spPr>
      </p:pic>
      <p:sp>
        <p:nvSpPr>
          <p:cNvPr id="105" name="TextBox 104"/>
          <p:cNvSpPr txBox="1"/>
          <p:nvPr/>
        </p:nvSpPr>
        <p:spPr>
          <a:xfrm>
            <a:off x="5861028"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6" name="Picture 105" descr="lock.png"/>
          <p:cNvPicPr>
            <a:picLocks noChangeAspect="1"/>
          </p:cNvPicPr>
          <p:nvPr/>
        </p:nvPicPr>
        <p:blipFill>
          <a:blip r:embed="rId16"/>
          <a:stretch>
            <a:fillRect/>
          </a:stretch>
        </p:blipFill>
        <p:spPr>
          <a:xfrm>
            <a:off x="6780975" y="4605230"/>
            <a:ext cx="128699" cy="187198"/>
          </a:xfrm>
          <a:prstGeom prst="rect">
            <a:avLst/>
          </a:prstGeom>
        </p:spPr>
      </p:pic>
      <p:sp>
        <p:nvSpPr>
          <p:cNvPr id="107" name="TextBox 106"/>
          <p:cNvSpPr txBox="1"/>
          <p:nvPr/>
        </p:nvSpPr>
        <p:spPr>
          <a:xfrm>
            <a:off x="6948470"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8" name="TextBox 107"/>
          <p:cNvSpPr txBox="1"/>
          <p:nvPr/>
        </p:nvSpPr>
        <p:spPr>
          <a:xfrm>
            <a:off x="3838575" y="4782649"/>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09" name="TextBox 108"/>
          <p:cNvSpPr txBox="1"/>
          <p:nvPr/>
        </p:nvSpPr>
        <p:spPr>
          <a:xfrm>
            <a:off x="3838575" y="5000581"/>
            <a:ext cx="1998119" cy="186689"/>
          </a:xfrm>
          <a:prstGeom prst="rect">
            <a:avLst/>
          </a:prstGeom>
          <a:noFill/>
        </p:spPr>
        <p:txBody>
          <a:bodyPr wrap="none" lIns="0" rIns="0" tIns="0" bIns="0">
            <a:spAutoFit/>
          </a:bodyPr>
          <a:lstStyle/>
          <a:p>
            <a:r>
              <a:rPr sz="1100" b="0">
                <a:solidFill>
                  <a:srgbClr val="252423"/>
                </a:solidFill>
                <a:latin typeface="Segoe UI"/>
              </a:rPr>
              <a:t>● Lithium Iron Phosphate (LFP):</a:t>
            </a:r>
          </a:p>
        </p:txBody>
      </p:sp>
      <p:pic>
        <p:nvPicPr>
          <p:cNvPr id="110" name="Picture 109" descr="lock.png"/>
          <p:cNvPicPr>
            <a:picLocks noChangeAspect="1"/>
          </p:cNvPicPr>
          <p:nvPr/>
        </p:nvPicPr>
        <p:blipFill>
          <a:blip r:embed="rId16"/>
          <a:stretch>
            <a:fillRect/>
          </a:stretch>
        </p:blipFill>
        <p:spPr>
          <a:xfrm>
            <a:off x="5784746" y="4990801"/>
            <a:ext cx="128699" cy="187198"/>
          </a:xfrm>
          <a:prstGeom prst="rect">
            <a:avLst/>
          </a:prstGeom>
        </p:spPr>
      </p:pic>
      <p:sp>
        <p:nvSpPr>
          <p:cNvPr id="111" name="TextBox 110"/>
          <p:cNvSpPr txBox="1"/>
          <p:nvPr/>
        </p:nvSpPr>
        <p:spPr>
          <a:xfrm>
            <a:off x="5952241"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2" name="Picture 111" descr="lock.png"/>
          <p:cNvPicPr>
            <a:picLocks noChangeAspect="1"/>
          </p:cNvPicPr>
          <p:nvPr/>
        </p:nvPicPr>
        <p:blipFill>
          <a:blip r:embed="rId16"/>
          <a:stretch>
            <a:fillRect/>
          </a:stretch>
        </p:blipFill>
        <p:spPr>
          <a:xfrm>
            <a:off x="6872188" y="4990801"/>
            <a:ext cx="128699" cy="187198"/>
          </a:xfrm>
          <a:prstGeom prst="rect">
            <a:avLst/>
          </a:prstGeom>
        </p:spPr>
      </p:pic>
      <p:sp>
        <p:nvSpPr>
          <p:cNvPr id="113" name="TextBox 112"/>
          <p:cNvSpPr txBox="1"/>
          <p:nvPr/>
        </p:nvSpPr>
        <p:spPr>
          <a:xfrm>
            <a:off x="7039684" y="5000581"/>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14" name="TextBox 113"/>
          <p:cNvSpPr txBox="1"/>
          <p:nvPr/>
        </p:nvSpPr>
        <p:spPr>
          <a:xfrm>
            <a:off x="3838575" y="5168221"/>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15" name="TextBox 114"/>
          <p:cNvSpPr txBox="1"/>
          <p:nvPr/>
        </p:nvSpPr>
        <p:spPr>
          <a:xfrm>
            <a:off x="3838575" y="5386153"/>
            <a:ext cx="2646734" cy="186689"/>
          </a:xfrm>
          <a:prstGeom prst="rect">
            <a:avLst/>
          </a:prstGeom>
          <a:noFill/>
        </p:spPr>
        <p:txBody>
          <a:bodyPr wrap="none" lIns="0" rIns="0" tIns="0" bIns="0">
            <a:spAutoFit/>
          </a:bodyPr>
          <a:lstStyle/>
          <a:p>
            <a:r>
              <a:rPr sz="1100" b="0">
                <a:solidFill>
                  <a:srgbClr val="252423"/>
                </a:solidFill>
                <a:latin typeface="Segoe UI"/>
              </a:rPr>
              <a:t>● Other Lithium-Ion Cathode Chemistries:</a:t>
            </a:r>
          </a:p>
        </p:txBody>
      </p:sp>
      <p:pic>
        <p:nvPicPr>
          <p:cNvPr id="116" name="Picture 115" descr="lock.png"/>
          <p:cNvPicPr>
            <a:picLocks noChangeAspect="1"/>
          </p:cNvPicPr>
          <p:nvPr/>
        </p:nvPicPr>
        <p:blipFill>
          <a:blip r:embed="rId16"/>
          <a:stretch>
            <a:fillRect/>
          </a:stretch>
        </p:blipFill>
        <p:spPr>
          <a:xfrm>
            <a:off x="6433361" y="5376373"/>
            <a:ext cx="128699" cy="187198"/>
          </a:xfrm>
          <a:prstGeom prst="rect">
            <a:avLst/>
          </a:prstGeom>
        </p:spPr>
      </p:pic>
      <p:sp>
        <p:nvSpPr>
          <p:cNvPr id="117" name="TextBox 116"/>
          <p:cNvSpPr txBox="1"/>
          <p:nvPr/>
        </p:nvSpPr>
        <p:spPr>
          <a:xfrm>
            <a:off x="6600856"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8" name="Picture 117" descr="lock.png"/>
          <p:cNvPicPr>
            <a:picLocks noChangeAspect="1"/>
          </p:cNvPicPr>
          <p:nvPr/>
        </p:nvPicPr>
        <p:blipFill>
          <a:blip r:embed="rId16"/>
          <a:stretch>
            <a:fillRect/>
          </a:stretch>
        </p:blipFill>
        <p:spPr>
          <a:xfrm>
            <a:off x="7520803" y="5376373"/>
            <a:ext cx="128699" cy="187198"/>
          </a:xfrm>
          <a:prstGeom prst="rect">
            <a:avLst/>
          </a:prstGeom>
        </p:spPr>
      </p:pic>
      <p:sp>
        <p:nvSpPr>
          <p:cNvPr id="119" name="TextBox 118"/>
          <p:cNvSpPr txBox="1"/>
          <p:nvPr/>
        </p:nvSpPr>
        <p:spPr>
          <a:xfrm>
            <a:off x="3838575" y="5553793"/>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20" name="TextBox 119"/>
          <p:cNvSpPr txBox="1"/>
          <p:nvPr/>
        </p:nvSpPr>
        <p:spPr>
          <a:xfrm>
            <a:off x="8524875" y="5842641"/>
            <a:ext cx="3075800" cy="194310"/>
          </a:xfrm>
          <a:prstGeom prst="rect">
            <a:avLst/>
          </a:prstGeom>
          <a:noFill/>
        </p:spPr>
        <p:txBody>
          <a:bodyPr wrap="none" lIns="0" rIns="0" tIns="0" bIns="0">
            <a:spAutoFit/>
          </a:bodyPr>
          <a:lstStyle/>
          <a:p>
            <a:r>
              <a:rPr sz="1150" b="1">
                <a:solidFill>
                  <a:srgbClr val="0E3A5F"/>
                </a:solidFill>
                <a:latin typeface="Segoe UI"/>
              </a:rPr>
              <a:t>The Battery Chemistry segment is projected</a:t>
            </a:r>
          </a:p>
        </p:txBody>
      </p:sp>
      <p:sp>
        <p:nvSpPr>
          <p:cNvPr id="121" name="TextBox 120"/>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122" name="Picture 121" descr="lock.png"/>
          <p:cNvPicPr>
            <a:picLocks noChangeAspect="1"/>
          </p:cNvPicPr>
          <p:nvPr/>
        </p:nvPicPr>
        <p:blipFill>
          <a:blip r:embed="rId16"/>
          <a:stretch>
            <a:fillRect/>
          </a:stretch>
        </p:blipFill>
        <p:spPr>
          <a:xfrm>
            <a:off x="10004092" y="6007677"/>
            <a:ext cx="134549" cy="195707"/>
          </a:xfrm>
          <a:prstGeom prst="rect">
            <a:avLst/>
          </a:prstGeom>
        </p:spPr>
      </p:pic>
      <p:sp>
        <p:nvSpPr>
          <p:cNvPr id="123" name="TextBox 122"/>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Battery Chemistry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Battery Chemistry mix within each country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Chemistry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Battery Chemistry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492710" cy="186689"/>
          </a:xfrm>
          <a:prstGeom prst="rect">
            <a:avLst/>
          </a:prstGeom>
          <a:noFill/>
        </p:spPr>
        <p:txBody>
          <a:bodyPr wrap="none" lIns="0" rIns="0" tIns="0" bIns="0">
            <a:spAutoFit/>
          </a:bodyPr>
          <a:lstStyle/>
          <a:p>
            <a:r>
              <a:rPr sz="1100" b="0">
                <a:solidFill>
                  <a:srgbClr val="252423"/>
                </a:solidFill>
                <a:latin typeface="Segoe UI"/>
              </a:rPr>
              <a:t>Lithium nickel manganese cobalt oxide (NMC) followed by lithium cobalt oxide (LCO) are expected to be the two most attractive battery chemistry segments in the North America lithium</a:t>
            </a:r>
          </a:p>
        </p:txBody>
      </p:sp>
      <p:sp>
        <p:nvSpPr>
          <p:cNvPr id="18" name="TextBox 17"/>
          <p:cNvSpPr txBox="1"/>
          <p:nvPr/>
        </p:nvSpPr>
        <p:spPr>
          <a:xfrm>
            <a:off x="257175" y="5837872"/>
            <a:ext cx="11452532" cy="186689"/>
          </a:xfrm>
          <a:prstGeom prst="rect">
            <a:avLst/>
          </a:prstGeom>
          <a:noFill/>
        </p:spPr>
        <p:txBody>
          <a:bodyPr wrap="none" lIns="0" rIns="0" tIns="0" bIns="0">
            <a:spAutoFit/>
          </a:bodyPr>
          <a:lstStyle/>
          <a:p>
            <a:r>
              <a:rPr sz="1100" b="0">
                <a:solidFill>
                  <a:srgbClr val="252423"/>
                </a:solidFill>
                <a:latin typeface="Segoe UI"/>
              </a:rPr>
              <a:t>polymer portable energy storage market in terms of value over the forecast period. Lithium nickel manganese cobalt oxide (NMC) and lithium cobalt oxide (LCO) exhibit a CAGR index of</a:t>
            </a:r>
          </a:p>
        </p:txBody>
      </p:sp>
      <p:pic>
        <p:nvPicPr>
          <p:cNvPr id="19" name="Picture 18" descr="lock.png"/>
          <p:cNvPicPr>
            <a:picLocks noChangeAspect="1"/>
          </p:cNvPicPr>
          <p:nvPr/>
        </p:nvPicPr>
        <p:blipFill>
          <a:blip r:embed="rId6"/>
          <a:stretch>
            <a:fillRect/>
          </a:stretch>
        </p:blipFill>
        <p:spPr>
          <a:xfrm>
            <a:off x="11657759" y="5828093"/>
            <a:ext cx="128699" cy="187198"/>
          </a:xfrm>
          <a:prstGeom prst="rect">
            <a:avLst/>
          </a:prstGeom>
        </p:spPr>
      </p:pic>
      <p:sp>
        <p:nvSpPr>
          <p:cNvPr id="20" name="TextBox 19"/>
          <p:cNvSpPr txBox="1"/>
          <p:nvPr/>
        </p:nvSpPr>
        <p:spPr>
          <a:xfrm>
            <a:off x="257175"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14168" y="5995733"/>
            <a:ext cx="128699" cy="187198"/>
          </a:xfrm>
          <a:prstGeom prst="rect">
            <a:avLst/>
          </a:prstGeom>
        </p:spPr>
      </p:pic>
      <p:sp>
        <p:nvSpPr>
          <p:cNvPr id="22" name="TextBox 21"/>
          <p:cNvSpPr txBox="1"/>
          <p:nvPr/>
        </p:nvSpPr>
        <p:spPr>
          <a:xfrm>
            <a:off x="681664"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20404" y="5995733"/>
            <a:ext cx="128699" cy="187198"/>
          </a:xfrm>
          <a:prstGeom prst="rect">
            <a:avLst/>
          </a:prstGeom>
        </p:spPr>
      </p:pic>
      <p:sp>
        <p:nvSpPr>
          <p:cNvPr id="24" name="TextBox 23"/>
          <p:cNvSpPr txBox="1"/>
          <p:nvPr/>
        </p:nvSpPr>
        <p:spPr>
          <a:xfrm>
            <a:off x="258790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844894" y="5995733"/>
            <a:ext cx="128699" cy="187198"/>
          </a:xfrm>
          <a:prstGeom prst="rect">
            <a:avLst/>
          </a:prstGeom>
        </p:spPr>
      </p:pic>
      <p:sp>
        <p:nvSpPr>
          <p:cNvPr id="26" name="TextBox 25"/>
          <p:cNvSpPr txBox="1"/>
          <p:nvPr/>
        </p:nvSpPr>
        <p:spPr>
          <a:xfrm>
            <a:off x="301239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772324" y="5995733"/>
            <a:ext cx="128699" cy="187198"/>
          </a:xfrm>
          <a:prstGeom prst="rect">
            <a:avLst/>
          </a:prstGeom>
        </p:spPr>
      </p:pic>
      <p:sp>
        <p:nvSpPr>
          <p:cNvPr id="28" name="TextBox 27"/>
          <p:cNvSpPr txBox="1"/>
          <p:nvPr/>
        </p:nvSpPr>
        <p:spPr>
          <a:xfrm>
            <a:off x="5939820" y="6005512"/>
            <a:ext cx="5514251" cy="186689"/>
          </a:xfrm>
          <a:prstGeom prst="rect">
            <a:avLst/>
          </a:prstGeom>
          <a:noFill/>
        </p:spPr>
        <p:txBody>
          <a:bodyPr wrap="none" lIns="0" rIns="0" tIns="0" bIns="0">
            <a:spAutoFit/>
          </a:bodyPr>
          <a:lstStyle/>
          <a:p>
            <a:r>
              <a:rPr sz="1100" b="0">
                <a:solidFill>
                  <a:srgbClr val="252423"/>
                </a:solidFill>
                <a:latin typeface="Segoe UI"/>
              </a:rPr>
              <a:t>. The lithium iron phosphate (LFP) segment is expected to be less attractive as compared</a:t>
            </a:r>
          </a:p>
        </p:txBody>
      </p:sp>
      <p:sp>
        <p:nvSpPr>
          <p:cNvPr id="29" name="TextBox 28"/>
          <p:cNvSpPr txBox="1"/>
          <p:nvPr/>
        </p:nvSpPr>
        <p:spPr>
          <a:xfrm>
            <a:off x="257175" y="6173152"/>
            <a:ext cx="10834664" cy="186689"/>
          </a:xfrm>
          <a:prstGeom prst="rect">
            <a:avLst/>
          </a:prstGeom>
          <a:noFill/>
        </p:spPr>
        <p:txBody>
          <a:bodyPr wrap="none" lIns="0" rIns="0" tIns="0" bIns="0">
            <a:spAutoFit/>
          </a:bodyPr>
          <a:lstStyle/>
          <a:p>
            <a:r>
              <a:rPr sz="1100" b="0">
                <a:solidFill>
                  <a:srgbClr val="252423"/>
                </a:solidFill>
                <a:latin typeface="Segoe UI"/>
              </a:rPr>
              <a:t>to 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Battery Chemistry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Lithium Cobalt Oxide (LCO)</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Lithium Nickel Manganese Cobalt Oxide (NMC)</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Lithium Iron Phosphate (LFP)</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Other Lithium-Ion Cathode Chemistries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Battery Chemistry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Battery Chemistry, 2021–2036, highlighting the sub-segments driving growth</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Battery Chemistry (US$ Mn)</a:t>
            </a:r>
          </a:p>
        </p:txBody>
      </p:sp>
      <p:graphicFrame>
        <p:nvGraphicFramePr>
          <p:cNvPr id="10" name="Table 9"/>
          <p:cNvGraphicFramePr>
            <a:graphicFrameLocks noGrp="1"/>
          </p:cNvGraphicFramePr>
          <p:nvPr/>
        </p:nvGraphicFramePr>
        <p:xfrm>
          <a:off x="152400" y="1238250"/>
          <a:ext cx="11887201" cy="1676401"/>
        </p:xfrm>
        <a:graphic>
          <a:graphicData uri="http://schemas.openxmlformats.org/drawingml/2006/table">
            <a:tbl>
              <a:tblPr>
                <a:tableStyleId>{5C22544A-7EE6-4342-B048-85BDC9FD1C3A}</a:tableStyleId>
              </a:tblPr>
              <a:tblGrid>
                <a:gridCol w="2857058"/>
                <a:gridCol w="541775"/>
                <a:gridCol w="541775"/>
                <a:gridCol w="541775"/>
                <a:gridCol w="541775"/>
                <a:gridCol w="541775"/>
                <a:gridCol w="517118"/>
                <a:gridCol w="517118"/>
                <a:gridCol w="517118"/>
                <a:gridCol w="517118"/>
                <a:gridCol w="517118"/>
                <a:gridCol w="517118"/>
                <a:gridCol w="517118"/>
                <a:gridCol w="517118"/>
                <a:gridCol w="517118"/>
                <a:gridCol w="517118"/>
                <a:gridCol w="517118"/>
                <a:gridCol w="632970"/>
              </a:tblGrid>
              <a:tr h="246126">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86055">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Battery Chemistry</a:t>
            </a:r>
          </a:p>
        </p:txBody>
      </p:sp>
      <p:sp>
        <p:nvSpPr>
          <p:cNvPr id="14" name="Rectangle 13"/>
          <p:cNvSpPr/>
          <p:nvPr/>
        </p:nvSpPr>
        <p:spPr>
          <a:xfrm>
            <a:off x="276225" y="3581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37839" y="1932813"/>
            <a:ext cx="366712" cy="533400"/>
          </a:xfrm>
          <a:prstGeom prst="rect">
            <a:avLst/>
          </a:prstGeom>
        </p:spPr>
      </p:pic>
      <p:sp>
        <p:nvSpPr>
          <p:cNvPr id="18" name="TextBox 17"/>
          <p:cNvSpPr txBox="1"/>
          <p:nvPr/>
        </p:nvSpPr>
        <p:spPr>
          <a:xfrm>
            <a:off x="276225" y="3676650"/>
            <a:ext cx="5128398" cy="194310"/>
          </a:xfrm>
          <a:prstGeom prst="rect">
            <a:avLst/>
          </a:prstGeom>
          <a:noFill/>
        </p:spPr>
        <p:txBody>
          <a:bodyPr wrap="none" lIns="0" rIns="0" tIns="0" bIns="0">
            <a:spAutoFit/>
          </a:bodyPr>
          <a:lstStyle/>
          <a:p>
            <a:r>
              <a:rPr sz="1150" b="0">
                <a:solidFill>
                  <a:srgbClr val="252423"/>
                </a:solidFill>
                <a:latin typeface="Segoe UI"/>
              </a:rPr>
              <a:t>Lithium nickel manganese cobalt oxide (NMC) segment is projected to register</a:t>
            </a:r>
          </a:p>
        </p:txBody>
      </p:sp>
      <p:pic>
        <p:nvPicPr>
          <p:cNvPr id="19" name="Picture 18" descr="lock.png"/>
          <p:cNvPicPr>
            <a:picLocks noChangeAspect="1"/>
          </p:cNvPicPr>
          <p:nvPr/>
        </p:nvPicPr>
        <p:blipFill>
          <a:blip r:embed="rId4"/>
          <a:stretch>
            <a:fillRect/>
          </a:stretch>
        </p:blipFill>
        <p:spPr>
          <a:xfrm>
            <a:off x="5353777" y="3666426"/>
            <a:ext cx="134549" cy="195707"/>
          </a:xfrm>
          <a:prstGeom prst="rect">
            <a:avLst/>
          </a:prstGeom>
        </p:spPr>
      </p:pic>
      <p:sp>
        <p:nvSpPr>
          <p:cNvPr id="20" name="TextBox 19"/>
          <p:cNvSpPr txBox="1"/>
          <p:nvPr/>
        </p:nvSpPr>
        <p:spPr>
          <a:xfrm>
            <a:off x="5528886" y="3676650"/>
            <a:ext cx="6337389" cy="194310"/>
          </a:xfrm>
          <a:prstGeom prst="rect">
            <a:avLst/>
          </a:prstGeom>
          <a:noFill/>
        </p:spPr>
        <p:txBody>
          <a:bodyPr wrap="none" lIns="0" rIns="0" tIns="0" bIns="0">
            <a:spAutoFit/>
          </a:bodyPr>
          <a:lstStyle/>
          <a:p>
            <a:r>
              <a:rPr sz="1150" b="0">
                <a:solidFill>
                  <a:srgbClr val="252423"/>
                </a:solidFill>
                <a:latin typeface="Segoe UI"/>
              </a:rPr>
              <a:t>X higher value than lithium cobalt oxide (LCO) segment in 2036. Among lithium polymer portable</a:t>
            </a:r>
          </a:p>
        </p:txBody>
      </p:sp>
      <p:sp>
        <p:nvSpPr>
          <p:cNvPr id="21" name="TextBox 20"/>
          <p:cNvSpPr txBox="1"/>
          <p:nvPr/>
        </p:nvSpPr>
        <p:spPr>
          <a:xfrm>
            <a:off x="276225" y="3851910"/>
            <a:ext cx="8288530" cy="194310"/>
          </a:xfrm>
          <a:prstGeom prst="rect">
            <a:avLst/>
          </a:prstGeom>
          <a:noFill/>
        </p:spPr>
        <p:txBody>
          <a:bodyPr wrap="none" lIns="0" rIns="0" tIns="0" bIns="0">
            <a:spAutoFit/>
          </a:bodyPr>
          <a:lstStyle/>
          <a:p>
            <a:r>
              <a:rPr sz="1150" b="0">
                <a:solidFill>
                  <a:srgbClr val="252423"/>
                </a:solidFill>
                <a:latin typeface="Segoe UI"/>
              </a:rPr>
              <a:t>energy storage by battery chemistry, other lithium-ion cathode chemistries segment is expected to witness the highest CAGR of</a:t>
            </a:r>
          </a:p>
        </p:txBody>
      </p:sp>
      <p:pic>
        <p:nvPicPr>
          <p:cNvPr id="22" name="Picture 21" descr="lock.png"/>
          <p:cNvPicPr>
            <a:picLocks noChangeAspect="1"/>
          </p:cNvPicPr>
          <p:nvPr/>
        </p:nvPicPr>
        <p:blipFill>
          <a:blip r:embed="rId4"/>
          <a:stretch>
            <a:fillRect/>
          </a:stretch>
        </p:blipFill>
        <p:spPr>
          <a:xfrm>
            <a:off x="8513909" y="3841686"/>
            <a:ext cx="134549" cy="195707"/>
          </a:xfrm>
          <a:prstGeom prst="rect">
            <a:avLst/>
          </a:prstGeom>
        </p:spPr>
      </p:pic>
      <p:sp>
        <p:nvSpPr>
          <p:cNvPr id="23" name="TextBox 22"/>
          <p:cNvSpPr txBox="1"/>
          <p:nvPr/>
        </p:nvSpPr>
        <p:spPr>
          <a:xfrm>
            <a:off x="8689018" y="38519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079747"/>
            <a:ext cx="9625907" cy="194310"/>
          </a:xfrm>
          <a:prstGeom prst="rect">
            <a:avLst/>
          </a:prstGeom>
          <a:noFill/>
        </p:spPr>
        <p:txBody>
          <a:bodyPr wrap="none" lIns="0" rIns="0" tIns="0" bIns="0">
            <a:spAutoFit/>
          </a:bodyPr>
          <a:lstStyle/>
          <a:p>
            <a:r>
              <a:rPr sz="1150" b="0">
                <a:solidFill>
                  <a:srgbClr val="252423"/>
                </a:solidFill>
                <a:latin typeface="Segoe UI"/>
              </a:rPr>
              <a:t>In terms of value share by battery chemistry, the lithium nickel manganese cobalt oxide (NMC) segment is expected to dominate the market, gaining</a:t>
            </a:r>
          </a:p>
        </p:txBody>
      </p:sp>
      <p:pic>
        <p:nvPicPr>
          <p:cNvPr id="25" name="Picture 24" descr="lock.png"/>
          <p:cNvPicPr>
            <a:picLocks noChangeAspect="1"/>
          </p:cNvPicPr>
          <p:nvPr/>
        </p:nvPicPr>
        <p:blipFill>
          <a:blip r:embed="rId4"/>
          <a:stretch>
            <a:fillRect/>
          </a:stretch>
        </p:blipFill>
        <p:spPr>
          <a:xfrm>
            <a:off x="9851286" y="4069524"/>
            <a:ext cx="134549" cy="195707"/>
          </a:xfrm>
          <a:prstGeom prst="rect">
            <a:avLst/>
          </a:prstGeom>
        </p:spPr>
      </p:pic>
      <p:sp>
        <p:nvSpPr>
          <p:cNvPr id="26" name="TextBox 25"/>
          <p:cNvSpPr txBox="1"/>
          <p:nvPr/>
        </p:nvSpPr>
        <p:spPr>
          <a:xfrm>
            <a:off x="10026396" y="40797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262145" y="4244784"/>
            <a:ext cx="134549" cy="195707"/>
          </a:xfrm>
          <a:prstGeom prst="rect">
            <a:avLst/>
          </a:prstGeom>
        </p:spPr>
      </p:pic>
      <p:sp>
        <p:nvSpPr>
          <p:cNvPr id="28" name="TextBox 27"/>
          <p:cNvSpPr txBox="1"/>
          <p:nvPr/>
        </p:nvSpPr>
        <p:spPr>
          <a:xfrm>
            <a:off x="437254" y="4255007"/>
            <a:ext cx="4973893" cy="194310"/>
          </a:xfrm>
          <a:prstGeom prst="rect">
            <a:avLst/>
          </a:prstGeom>
          <a:noFill/>
        </p:spPr>
        <p:txBody>
          <a:bodyPr wrap="none" lIns="0" rIns="0" tIns="0" bIns="0">
            <a:spAutoFit/>
          </a:bodyPr>
          <a:lstStyle/>
          <a:p>
            <a:r>
              <a:rPr sz="1150" b="0">
                <a:solidFill>
                  <a:srgbClr val="252423"/>
                </a:solidFill>
                <a:latin typeface="Segoe UI"/>
              </a:rPr>
              <a:t>share by 2036. The lithium iron phosphate (LFP) segment is expected to lose</a:t>
            </a:r>
          </a:p>
        </p:txBody>
      </p:sp>
      <p:pic>
        <p:nvPicPr>
          <p:cNvPr id="29" name="Picture 28" descr="lock.png"/>
          <p:cNvPicPr>
            <a:picLocks noChangeAspect="1"/>
          </p:cNvPicPr>
          <p:nvPr/>
        </p:nvPicPr>
        <p:blipFill>
          <a:blip r:embed="rId4"/>
          <a:stretch>
            <a:fillRect/>
          </a:stretch>
        </p:blipFill>
        <p:spPr>
          <a:xfrm>
            <a:off x="5360302" y="4244784"/>
            <a:ext cx="134549" cy="195707"/>
          </a:xfrm>
          <a:prstGeom prst="rect">
            <a:avLst/>
          </a:prstGeom>
        </p:spPr>
      </p:pic>
      <p:sp>
        <p:nvSpPr>
          <p:cNvPr id="30" name="TextBox 29"/>
          <p:cNvSpPr txBox="1"/>
          <p:nvPr/>
        </p:nvSpPr>
        <p:spPr>
          <a:xfrm>
            <a:off x="5535411" y="42550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8334797" y="4244784"/>
            <a:ext cx="134549" cy="195707"/>
          </a:xfrm>
          <a:prstGeom prst="rect">
            <a:avLst/>
          </a:prstGeom>
        </p:spPr>
      </p:pic>
      <p:sp>
        <p:nvSpPr>
          <p:cNvPr id="32" name="TextBox 31"/>
          <p:cNvSpPr txBox="1"/>
          <p:nvPr/>
        </p:nvSpPr>
        <p:spPr>
          <a:xfrm>
            <a:off x="8509906" y="42550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Battery Chemistry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Battery Chemistry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96976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96500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8880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Iron Phosphate</a:t>
            </a:r>
          </a:p>
        </p:txBody>
      </p:sp>
      <p:sp>
        <p:nvSpPr>
          <p:cNvPr id="16" name="BPS Value 1"/>
          <p:cNvSpPr txBox="1"/>
          <p:nvPr/>
        </p:nvSpPr>
        <p:spPr>
          <a:xfrm>
            <a:off x="6896100" y="195071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62600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62124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5450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Lithium-Ion Cathode Chemistries</a:t>
            </a:r>
          </a:p>
        </p:txBody>
      </p:sp>
      <p:sp>
        <p:nvSpPr>
          <p:cNvPr id="20" name="BPS Value 2"/>
          <p:cNvSpPr txBox="1"/>
          <p:nvPr/>
        </p:nvSpPr>
        <p:spPr>
          <a:xfrm>
            <a:off x="6896100" y="2606956"/>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365210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364733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5711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Cobalt Oxide</a:t>
            </a:r>
          </a:p>
        </p:txBody>
      </p:sp>
      <p:sp>
        <p:nvSpPr>
          <p:cNvPr id="24" name="BPS Value 3"/>
          <p:cNvSpPr txBox="1"/>
          <p:nvPr/>
        </p:nvSpPr>
        <p:spPr>
          <a:xfrm>
            <a:off x="6896100" y="363305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928997" y="528204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27728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20108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Nickel Manganese Cobalt Oxide</a:t>
            </a:r>
          </a:p>
        </p:txBody>
      </p:sp>
      <p:sp>
        <p:nvSpPr>
          <p:cNvPr id="28" name="BPS Value 4"/>
          <p:cNvSpPr txBox="1"/>
          <p:nvPr/>
        </p:nvSpPr>
        <p:spPr>
          <a:xfrm>
            <a:off x="6896100" y="526299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Battery Chemistry</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94100"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battery</a:t>
            </a:r>
          </a:p>
        </p:txBody>
      </p:sp>
      <p:sp>
        <p:nvSpPr>
          <p:cNvPr id="36" name="TextBox 35"/>
          <p:cNvSpPr txBox="1"/>
          <p:nvPr/>
        </p:nvSpPr>
        <p:spPr>
          <a:xfrm>
            <a:off x="7829550" y="1575435"/>
            <a:ext cx="3925683" cy="194310"/>
          </a:xfrm>
          <a:prstGeom prst="rect">
            <a:avLst/>
          </a:prstGeom>
          <a:noFill/>
        </p:spPr>
        <p:txBody>
          <a:bodyPr wrap="none" lIns="0" rIns="0" tIns="0" bIns="0">
            <a:spAutoFit/>
          </a:bodyPr>
          <a:lstStyle/>
          <a:p>
            <a:r>
              <a:rPr sz="1150" b="0">
                <a:solidFill>
                  <a:srgbClr val="252423"/>
                </a:solidFill>
                <a:latin typeface="Segoe UI"/>
              </a:rPr>
              <a:t>chemistry, other lithium-ion cathode chemistries segment is</a:t>
            </a:r>
          </a:p>
        </p:txBody>
      </p:sp>
      <p:sp>
        <p:nvSpPr>
          <p:cNvPr id="37" name="TextBox 36"/>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8" name="Picture 37" descr="lock.png"/>
          <p:cNvPicPr>
            <a:picLocks noChangeAspect="1"/>
          </p:cNvPicPr>
          <p:nvPr/>
        </p:nvPicPr>
        <p:blipFill>
          <a:blip r:embed="rId5"/>
          <a:stretch>
            <a:fillRect/>
          </a:stretch>
        </p:blipFill>
        <p:spPr>
          <a:xfrm>
            <a:off x="10475709" y="1740471"/>
            <a:ext cx="134549" cy="195707"/>
          </a:xfrm>
          <a:prstGeom prst="rect">
            <a:avLst/>
          </a:prstGeom>
        </p:spPr>
      </p:pic>
      <p:sp>
        <p:nvSpPr>
          <p:cNvPr id="39" name="TextBox 38"/>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40" name="TextBox 39"/>
          <p:cNvSpPr txBox="1"/>
          <p:nvPr/>
        </p:nvSpPr>
        <p:spPr>
          <a:xfrm>
            <a:off x="7829550" y="1925955"/>
            <a:ext cx="3665442" cy="194310"/>
          </a:xfrm>
          <a:prstGeom prst="rect">
            <a:avLst/>
          </a:prstGeom>
          <a:noFill/>
        </p:spPr>
        <p:txBody>
          <a:bodyPr wrap="none" lIns="0" rIns="0" tIns="0" bIns="0">
            <a:spAutoFit/>
          </a:bodyPr>
          <a:lstStyle/>
          <a:p>
            <a:r>
              <a:rPr sz="1150" b="0">
                <a:solidFill>
                  <a:srgbClr val="252423"/>
                </a:solidFill>
                <a:latin typeface="Segoe UI"/>
              </a:rPr>
              <a:t>period. In terms of value share by battery chemistry, the</a:t>
            </a:r>
          </a:p>
        </p:txBody>
      </p:sp>
      <p:sp>
        <p:nvSpPr>
          <p:cNvPr id="41" name="TextBox 40"/>
          <p:cNvSpPr txBox="1"/>
          <p:nvPr/>
        </p:nvSpPr>
        <p:spPr>
          <a:xfrm>
            <a:off x="7829550" y="2101215"/>
            <a:ext cx="3738757" cy="194310"/>
          </a:xfrm>
          <a:prstGeom prst="rect">
            <a:avLst/>
          </a:prstGeom>
          <a:noFill/>
        </p:spPr>
        <p:txBody>
          <a:bodyPr wrap="none" lIns="0" rIns="0" tIns="0" bIns="0">
            <a:spAutoFit/>
          </a:bodyPr>
          <a:lstStyle/>
          <a:p>
            <a:r>
              <a:rPr sz="1150" b="0">
                <a:solidFill>
                  <a:srgbClr val="252423"/>
                </a:solidFill>
                <a:latin typeface="Segoe UI"/>
              </a:rPr>
              <a:t>lithium nickel manganese cobalt oxide (NMC) segment is</a:t>
            </a:r>
          </a:p>
        </p:txBody>
      </p:sp>
      <p:sp>
        <p:nvSpPr>
          <p:cNvPr id="42" name="TextBox 41"/>
          <p:cNvSpPr txBox="1"/>
          <p:nvPr/>
        </p:nvSpPr>
        <p:spPr>
          <a:xfrm>
            <a:off x="7829550" y="2276475"/>
            <a:ext cx="2786014" cy="194310"/>
          </a:xfrm>
          <a:prstGeom prst="rect">
            <a:avLst/>
          </a:prstGeom>
          <a:noFill/>
        </p:spPr>
        <p:txBody>
          <a:bodyPr wrap="none" lIns="0" rIns="0" tIns="0" bIns="0">
            <a:spAutoFit/>
          </a:bodyPr>
          <a:lstStyle/>
          <a:p>
            <a:r>
              <a:rPr sz="1150" b="0">
                <a:solidFill>
                  <a:srgbClr val="252423"/>
                </a:solidFill>
                <a:latin typeface="Segoe UI"/>
              </a:rPr>
              <a:t>expected to dominate the market, gaining</a:t>
            </a:r>
          </a:p>
        </p:txBody>
      </p:sp>
      <p:pic>
        <p:nvPicPr>
          <p:cNvPr id="43" name="Picture 42" descr="lock.png"/>
          <p:cNvPicPr>
            <a:picLocks noChangeAspect="1"/>
          </p:cNvPicPr>
          <p:nvPr/>
        </p:nvPicPr>
        <p:blipFill>
          <a:blip r:embed="rId5"/>
          <a:stretch>
            <a:fillRect/>
          </a:stretch>
        </p:blipFill>
        <p:spPr>
          <a:xfrm>
            <a:off x="10564717" y="2266251"/>
            <a:ext cx="134549" cy="195707"/>
          </a:xfrm>
          <a:prstGeom prst="rect">
            <a:avLst/>
          </a:prstGeom>
        </p:spPr>
      </p:pic>
      <p:sp>
        <p:nvSpPr>
          <p:cNvPr id="44" name="TextBox 43"/>
          <p:cNvSpPr txBox="1"/>
          <p:nvPr/>
        </p:nvSpPr>
        <p:spPr>
          <a:xfrm>
            <a:off x="10739827" y="227647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45" name="TextBox 44"/>
          <p:cNvSpPr txBox="1"/>
          <p:nvPr/>
        </p:nvSpPr>
        <p:spPr>
          <a:xfrm>
            <a:off x="7829550" y="245173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46" name="Picture 45" descr="lock.png"/>
          <p:cNvPicPr>
            <a:picLocks noChangeAspect="1"/>
          </p:cNvPicPr>
          <p:nvPr/>
        </p:nvPicPr>
        <p:blipFill>
          <a:blip r:embed="rId5"/>
          <a:stretch>
            <a:fillRect/>
          </a:stretch>
        </p:blipFill>
        <p:spPr>
          <a:xfrm>
            <a:off x="8791392" y="2441511"/>
            <a:ext cx="134549" cy="195707"/>
          </a:xfrm>
          <a:prstGeom prst="rect">
            <a:avLst/>
          </a:prstGeom>
        </p:spPr>
      </p:pic>
      <p:sp>
        <p:nvSpPr>
          <p:cNvPr id="47" name="TextBox 46"/>
          <p:cNvSpPr txBox="1"/>
          <p:nvPr/>
        </p:nvSpPr>
        <p:spPr>
          <a:xfrm>
            <a:off x="8966501"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4004632" cy="194310"/>
          </a:xfrm>
          <a:prstGeom prst="rect">
            <a:avLst/>
          </a:prstGeom>
          <a:noFill/>
        </p:spPr>
        <p:txBody>
          <a:bodyPr wrap="none" lIns="0" rIns="0" tIns="0" bIns="0">
            <a:spAutoFit/>
          </a:bodyPr>
          <a:lstStyle/>
          <a:p>
            <a:r>
              <a:rPr sz="1150" b="0">
                <a:solidFill>
                  <a:srgbClr val="252423"/>
                </a:solidFill>
                <a:latin typeface="Segoe UI"/>
              </a:rPr>
              <a:t>The lithium iron phosphate (LFP) segment is expected to lose</a:t>
            </a:r>
          </a:p>
        </p:txBody>
      </p:sp>
      <p:pic>
        <p:nvPicPr>
          <p:cNvPr id="49" name="Picture 48" descr="lock.png"/>
          <p:cNvPicPr>
            <a:picLocks noChangeAspect="1"/>
          </p:cNvPicPr>
          <p:nvPr/>
        </p:nvPicPr>
        <p:blipFill>
          <a:blip r:embed="rId5"/>
          <a:stretch>
            <a:fillRect/>
          </a:stretch>
        </p:blipFill>
        <p:spPr>
          <a:xfrm>
            <a:off x="7815470" y="2844609"/>
            <a:ext cx="134549" cy="195707"/>
          </a:xfrm>
          <a:prstGeom prst="rect">
            <a:avLst/>
          </a:prstGeom>
        </p:spPr>
      </p:pic>
      <p:sp>
        <p:nvSpPr>
          <p:cNvPr id="50" name="TextBox 49"/>
          <p:cNvSpPr txBox="1"/>
          <p:nvPr/>
        </p:nvSpPr>
        <p:spPr>
          <a:xfrm>
            <a:off x="7990579"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789965" y="2844609"/>
            <a:ext cx="134549" cy="195707"/>
          </a:xfrm>
          <a:prstGeom prst="rect">
            <a:avLst/>
          </a:prstGeom>
        </p:spPr>
      </p:pic>
      <p:sp>
        <p:nvSpPr>
          <p:cNvPr id="52" name="TextBox 51"/>
          <p:cNvSpPr txBox="1"/>
          <p:nvPr/>
        </p:nvSpPr>
        <p:spPr>
          <a:xfrm>
            <a:off x="10965074" y="2854832"/>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53" name="TextBox 52"/>
          <p:cNvSpPr txBox="1"/>
          <p:nvPr/>
        </p:nvSpPr>
        <p:spPr>
          <a:xfrm>
            <a:off x="7829550" y="3030092"/>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54"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Battery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Battery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Battery Configuration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Battery Configuration,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Battery Configuration segment categorizes the market by battery configuration.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Integrated Portable Energy Storag…</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Standalone Battery Packs</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Battery Configuration split shows how demand is distributed across battery configuration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145_3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489_5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12_9__605E5C.png"/>
          <p:cNvPicPr>
            <a:picLocks noChangeAspect="1"/>
          </p:cNvPicPr>
          <p:nvPr/>
        </p:nvPicPr>
        <p:blipFill>
          <a:blip r:embed="rId6"/>
          <a:stretch>
            <a:fillRect/>
          </a:stretch>
        </p:blipFill>
        <p:spPr>
          <a:xfrm>
            <a:off x="3740773" y="3272281"/>
            <a:ext cx="1195728" cy="361950"/>
          </a:xfrm>
          <a:prstGeom prst="rect">
            <a:avLst/>
          </a:prstGeom>
        </p:spPr>
      </p:pic>
      <p:pic>
        <p:nvPicPr>
          <p:cNvPr id="50" name="Picture 49" descr="112_1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296_0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10_2__605E5C.png"/>
          <p:cNvPicPr>
            <a:picLocks noChangeAspect="1"/>
          </p:cNvPicPr>
          <p:nvPr/>
        </p:nvPicPr>
        <p:blipFill>
          <a:blip r:embed="rId9"/>
          <a:stretch>
            <a:fillRect/>
          </a:stretch>
        </p:blipFill>
        <p:spPr>
          <a:xfrm>
            <a:off x="8798548" y="3272281"/>
            <a:ext cx="1195728"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56" name="TextBox 55"/>
          <p:cNvSpPr txBox="1"/>
          <p:nvPr/>
        </p:nvSpPr>
        <p:spPr>
          <a:xfrm>
            <a:off x="485775" y="4383665"/>
            <a:ext cx="2612105" cy="173278"/>
          </a:xfrm>
          <a:prstGeom prst="rect">
            <a:avLst/>
          </a:prstGeom>
          <a:noFill/>
        </p:spPr>
        <p:txBody>
          <a:bodyPr wrap="none" lIns="0" rIns="0" tIns="0" bIns="0">
            <a:spAutoFit/>
          </a:bodyPr>
          <a:lstStyle/>
          <a:p>
            <a:r>
              <a:rPr sz="1011" b="0">
                <a:solidFill>
                  <a:srgbClr val="252423"/>
                </a:solidFill>
                <a:latin typeface="Segoe UI"/>
              </a:rPr>
              <a:t>by battery configuration, integrated portable</a:t>
            </a:r>
          </a:p>
        </p:txBody>
      </p:sp>
      <p:sp>
        <p:nvSpPr>
          <p:cNvPr id="57" name="TextBox 56"/>
          <p:cNvSpPr txBox="1"/>
          <p:nvPr/>
        </p:nvSpPr>
        <p:spPr>
          <a:xfrm>
            <a:off x="485775" y="4537894"/>
            <a:ext cx="2763064" cy="173278"/>
          </a:xfrm>
          <a:prstGeom prst="rect">
            <a:avLst/>
          </a:prstGeom>
          <a:noFill/>
        </p:spPr>
        <p:txBody>
          <a:bodyPr wrap="none" lIns="0" rIns="0" tIns="0" bIns="0">
            <a:spAutoFit/>
          </a:bodyPr>
          <a:lstStyle/>
          <a:p>
            <a:r>
              <a:rPr sz="1011" b="0">
                <a:solidFill>
                  <a:srgbClr val="252423"/>
                </a:solidFill>
                <a:latin typeface="Segoe UI"/>
              </a:rPr>
              <a:t>energy storage systems segment is expected to</a:t>
            </a:r>
          </a:p>
        </p:txBody>
      </p:sp>
      <p:sp>
        <p:nvSpPr>
          <p:cNvPr id="58" name="TextBox 57"/>
          <p:cNvSpPr txBox="1"/>
          <p:nvPr/>
        </p:nvSpPr>
        <p:spPr>
          <a:xfrm>
            <a:off x="485775" y="4692123"/>
            <a:ext cx="1677917" cy="173278"/>
          </a:xfrm>
          <a:prstGeom prst="rect">
            <a:avLst/>
          </a:prstGeom>
          <a:noFill/>
        </p:spPr>
        <p:txBody>
          <a:bodyPr wrap="none" lIns="0" rIns="0" tIns="0" bIns="0">
            <a:spAutoFit/>
          </a:bodyPr>
          <a:lstStyle/>
          <a:p>
            <a:r>
              <a:rPr sz="1011" b="0">
                <a:solidFill>
                  <a:srgbClr val="252423"/>
                </a:solidFill>
                <a:latin typeface="Segoe UI"/>
              </a:rPr>
              <a:t>witness the highest CAGR of</a:t>
            </a:r>
          </a:p>
        </p:txBody>
      </p:sp>
      <p:pic>
        <p:nvPicPr>
          <p:cNvPr id="59" name="Picture 58" descr="lock.png"/>
          <p:cNvPicPr>
            <a:picLocks noChangeAspect="1"/>
          </p:cNvPicPr>
          <p:nvPr/>
        </p:nvPicPr>
        <p:blipFill>
          <a:blip r:embed="rId10"/>
          <a:stretch>
            <a:fillRect/>
          </a:stretch>
        </p:blipFill>
        <p:spPr>
          <a:xfrm>
            <a:off x="2109804" y="4683126"/>
            <a:ext cx="118403" cy="172222"/>
          </a:xfrm>
          <a:prstGeom prst="rect">
            <a:avLst/>
          </a:prstGeom>
        </p:spPr>
      </p:pic>
      <p:sp>
        <p:nvSpPr>
          <p:cNvPr id="60" name="TextBox 59"/>
          <p:cNvSpPr txBox="1"/>
          <p:nvPr/>
        </p:nvSpPr>
        <p:spPr>
          <a:xfrm>
            <a:off x="2263900" y="4692123"/>
            <a:ext cx="1029547" cy="173278"/>
          </a:xfrm>
          <a:prstGeom prst="rect">
            <a:avLst/>
          </a:prstGeom>
          <a:noFill/>
        </p:spPr>
        <p:txBody>
          <a:bodyPr wrap="none" lIns="0" rIns="0" tIns="0" bIns="0">
            <a:spAutoFit/>
          </a:bodyPr>
          <a:lstStyle/>
          <a:p>
            <a:r>
              <a:rPr sz="1011" b="0">
                <a:solidFill>
                  <a:srgbClr val="252423"/>
                </a:solidFill>
                <a:latin typeface="Segoe UI"/>
              </a:rPr>
              <a:t>over the forecast</a:t>
            </a:r>
          </a:p>
        </p:txBody>
      </p:sp>
      <p:sp>
        <p:nvSpPr>
          <p:cNvPr id="61" name="TextBox 60"/>
          <p:cNvSpPr txBox="1"/>
          <p:nvPr/>
        </p:nvSpPr>
        <p:spPr>
          <a:xfrm>
            <a:off x="485775" y="4846352"/>
            <a:ext cx="2406372" cy="173278"/>
          </a:xfrm>
          <a:prstGeom prst="rect">
            <a:avLst/>
          </a:prstGeom>
          <a:noFill/>
        </p:spPr>
        <p:txBody>
          <a:bodyPr wrap="none" lIns="0" rIns="0" tIns="0" bIns="0">
            <a:spAutoFit/>
          </a:bodyPr>
          <a:lstStyle/>
          <a:p>
            <a:r>
              <a:rPr sz="1011" b="0">
                <a:solidFill>
                  <a:srgbClr val="252423"/>
                </a:solidFill>
                <a:latin typeface="Segoe UI"/>
              </a:rPr>
              <a:t>period. In terms of value share by battery</a:t>
            </a:r>
          </a:p>
        </p:txBody>
      </p:sp>
      <p:sp>
        <p:nvSpPr>
          <p:cNvPr id="62" name="TextBox 61"/>
          <p:cNvSpPr txBox="1"/>
          <p:nvPr/>
        </p:nvSpPr>
        <p:spPr>
          <a:xfrm>
            <a:off x="485775" y="5000581"/>
            <a:ext cx="2645424" cy="173278"/>
          </a:xfrm>
          <a:prstGeom prst="rect">
            <a:avLst/>
          </a:prstGeom>
          <a:noFill/>
        </p:spPr>
        <p:txBody>
          <a:bodyPr wrap="none" lIns="0" rIns="0" tIns="0" bIns="0">
            <a:spAutoFit/>
          </a:bodyPr>
          <a:lstStyle/>
          <a:p>
            <a:r>
              <a:rPr sz="1011" b="0">
                <a:solidFill>
                  <a:srgbClr val="252423"/>
                </a:solidFill>
                <a:latin typeface="Segoe UI"/>
              </a:rPr>
              <a:t>configuration, the integrated portable energy</a:t>
            </a:r>
          </a:p>
        </p:txBody>
      </p:sp>
      <p:sp>
        <p:nvSpPr>
          <p:cNvPr id="63" name="TextBox 62"/>
          <p:cNvSpPr txBox="1"/>
          <p:nvPr/>
        </p:nvSpPr>
        <p:spPr>
          <a:xfrm>
            <a:off x="485775" y="5154809"/>
            <a:ext cx="2914650" cy="173278"/>
          </a:xfrm>
          <a:prstGeom prst="rect">
            <a:avLst/>
          </a:prstGeom>
          <a:noFill/>
        </p:spPr>
        <p:txBody>
          <a:bodyPr wrap="none" lIns="0" rIns="0" tIns="0" bIns="0">
            <a:spAutoFit/>
          </a:bodyPr>
          <a:lstStyle/>
          <a:p>
            <a:r>
              <a:rPr sz="1011" b="0">
                <a:solidFill>
                  <a:srgbClr val="252423"/>
                </a:solidFill>
                <a:latin typeface="Segoe UI"/>
              </a:rPr>
              <a:t>storage systems segment is expected to dominate</a:t>
            </a:r>
          </a:p>
        </p:txBody>
      </p:sp>
      <p:sp>
        <p:nvSpPr>
          <p:cNvPr id="64" name="TextBox 63"/>
          <p:cNvSpPr txBox="1"/>
          <p:nvPr/>
        </p:nvSpPr>
        <p:spPr>
          <a:xfrm>
            <a:off x="485775" y="5309038"/>
            <a:ext cx="1178906" cy="173278"/>
          </a:xfrm>
          <a:prstGeom prst="rect">
            <a:avLst/>
          </a:prstGeom>
          <a:noFill/>
        </p:spPr>
        <p:txBody>
          <a:bodyPr wrap="none" lIns="0" rIns="0" tIns="0" bIns="0">
            <a:spAutoFit/>
          </a:bodyPr>
          <a:lstStyle/>
          <a:p>
            <a:r>
              <a:rPr sz="1011" b="0">
                <a:solidFill>
                  <a:srgbClr val="252423"/>
                </a:solidFill>
                <a:latin typeface="Segoe UI"/>
              </a:rPr>
              <a:t>the market, gaining</a:t>
            </a:r>
          </a:p>
        </p:txBody>
      </p:sp>
      <p:pic>
        <p:nvPicPr>
          <p:cNvPr id="65" name="Picture 64" descr="lock.png"/>
          <p:cNvPicPr>
            <a:picLocks noChangeAspect="1"/>
          </p:cNvPicPr>
          <p:nvPr/>
        </p:nvPicPr>
        <p:blipFill>
          <a:blip r:embed="rId10"/>
          <a:stretch>
            <a:fillRect/>
          </a:stretch>
        </p:blipFill>
        <p:spPr>
          <a:xfrm>
            <a:off x="1610793" y="5300041"/>
            <a:ext cx="118403" cy="172222"/>
          </a:xfrm>
          <a:prstGeom prst="rect">
            <a:avLst/>
          </a:prstGeom>
        </p:spPr>
      </p:pic>
      <p:sp>
        <p:nvSpPr>
          <p:cNvPr id="66" name="TextBox 65"/>
          <p:cNvSpPr txBox="1"/>
          <p:nvPr/>
        </p:nvSpPr>
        <p:spPr>
          <a:xfrm>
            <a:off x="1764889" y="5309038"/>
            <a:ext cx="1398842" cy="173278"/>
          </a:xfrm>
          <a:prstGeom prst="rect">
            <a:avLst/>
          </a:prstGeom>
          <a:noFill/>
        </p:spPr>
        <p:txBody>
          <a:bodyPr wrap="none" lIns="0" rIns="0" tIns="0" bIns="0">
            <a:spAutoFit/>
          </a:bodyPr>
          <a:lstStyle/>
          <a:p>
            <a:r>
              <a:rPr sz="1011" b="0">
                <a:solidFill>
                  <a:srgbClr val="252423"/>
                </a:solidFill>
                <a:latin typeface="Segoe UI"/>
              </a:rPr>
              <a:t>BPS and accounting for</a:t>
            </a:r>
          </a:p>
        </p:txBody>
      </p:sp>
      <p:pic>
        <p:nvPicPr>
          <p:cNvPr id="67" name="Picture 66" descr="lock.png"/>
          <p:cNvPicPr>
            <a:picLocks noChangeAspect="1"/>
          </p:cNvPicPr>
          <p:nvPr/>
        </p:nvPicPr>
        <p:blipFill>
          <a:blip r:embed="rId10"/>
          <a:stretch>
            <a:fillRect/>
          </a:stretch>
        </p:blipFill>
        <p:spPr>
          <a:xfrm>
            <a:off x="473384" y="5454270"/>
            <a:ext cx="118403" cy="172222"/>
          </a:xfrm>
          <a:prstGeom prst="rect">
            <a:avLst/>
          </a:prstGeom>
        </p:spPr>
      </p:pic>
      <p:sp>
        <p:nvSpPr>
          <p:cNvPr id="68" name="TextBox 67"/>
          <p:cNvSpPr txBox="1"/>
          <p:nvPr/>
        </p:nvSpPr>
        <p:spPr>
          <a:xfrm>
            <a:off x="627481" y="5463267"/>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69" name="TextBox 68"/>
          <p:cNvSpPr txBox="1"/>
          <p:nvPr/>
        </p:nvSpPr>
        <p:spPr>
          <a:xfrm>
            <a:off x="485775" y="5663764"/>
            <a:ext cx="2550255" cy="173278"/>
          </a:xfrm>
          <a:prstGeom prst="rect">
            <a:avLst/>
          </a:prstGeom>
          <a:noFill/>
        </p:spPr>
        <p:txBody>
          <a:bodyPr wrap="none" lIns="0" rIns="0" tIns="0" bIns="0">
            <a:spAutoFit/>
          </a:bodyPr>
          <a:lstStyle/>
          <a:p>
            <a:r>
              <a:rPr sz="1011" b="0">
                <a:solidFill>
                  <a:srgbClr val="252423"/>
                </a:solidFill>
                <a:latin typeface="Segoe UI"/>
              </a:rPr>
              <a:t>Integrated portable energy storage systems</a:t>
            </a:r>
          </a:p>
        </p:txBody>
      </p:sp>
      <p:sp>
        <p:nvSpPr>
          <p:cNvPr id="70" name="TextBox 69"/>
          <p:cNvSpPr txBox="1"/>
          <p:nvPr/>
        </p:nvSpPr>
        <p:spPr>
          <a:xfrm>
            <a:off x="485775" y="5817993"/>
            <a:ext cx="1882462" cy="173278"/>
          </a:xfrm>
          <a:prstGeom prst="rect">
            <a:avLst/>
          </a:prstGeom>
          <a:noFill/>
        </p:spPr>
        <p:txBody>
          <a:bodyPr wrap="none" lIns="0" rIns="0" tIns="0" bIns="0">
            <a:spAutoFit/>
          </a:bodyPr>
          <a:lstStyle/>
          <a:p>
            <a:r>
              <a:rPr sz="1011" b="0">
                <a:solidFill>
                  <a:srgbClr val="252423"/>
                </a:solidFill>
                <a:latin typeface="Segoe UI"/>
              </a:rPr>
              <a:t>segment is projected to register</a:t>
            </a:r>
          </a:p>
        </p:txBody>
      </p:sp>
      <p:pic>
        <p:nvPicPr>
          <p:cNvPr id="71" name="Picture 70" descr="lock.png"/>
          <p:cNvPicPr>
            <a:picLocks noChangeAspect="1"/>
          </p:cNvPicPr>
          <p:nvPr/>
        </p:nvPicPr>
        <p:blipFill>
          <a:blip r:embed="rId10"/>
          <a:stretch>
            <a:fillRect/>
          </a:stretch>
        </p:blipFill>
        <p:spPr>
          <a:xfrm>
            <a:off x="2314349" y="5808996"/>
            <a:ext cx="118403" cy="172222"/>
          </a:xfrm>
          <a:prstGeom prst="rect">
            <a:avLst/>
          </a:prstGeom>
        </p:spPr>
      </p:pic>
      <p:sp>
        <p:nvSpPr>
          <p:cNvPr id="72" name="TextBox 71"/>
          <p:cNvSpPr txBox="1"/>
          <p:nvPr/>
        </p:nvSpPr>
        <p:spPr>
          <a:xfrm>
            <a:off x="2468445" y="5817993"/>
            <a:ext cx="884962" cy="173278"/>
          </a:xfrm>
          <a:prstGeom prst="rect">
            <a:avLst/>
          </a:prstGeom>
          <a:noFill/>
        </p:spPr>
        <p:txBody>
          <a:bodyPr wrap="none" lIns="0" rIns="0" tIns="0" bIns="0">
            <a:spAutoFit/>
          </a:bodyPr>
          <a:lstStyle/>
          <a:p>
            <a:r>
              <a:rPr sz="1011" b="0">
                <a:solidFill>
                  <a:srgbClr val="252423"/>
                </a:solidFill>
                <a:latin typeface="Segoe UI"/>
              </a:rPr>
              <a:t>X higher value</a:t>
            </a:r>
          </a:p>
        </p:txBody>
      </p:sp>
      <p:sp>
        <p:nvSpPr>
          <p:cNvPr id="73" name="TextBox 72"/>
          <p:cNvSpPr txBox="1"/>
          <p:nvPr/>
        </p:nvSpPr>
        <p:spPr>
          <a:xfrm>
            <a:off x="485775" y="5972222"/>
            <a:ext cx="2788771" cy="173278"/>
          </a:xfrm>
          <a:prstGeom prst="rect">
            <a:avLst/>
          </a:prstGeom>
          <a:noFill/>
        </p:spPr>
        <p:txBody>
          <a:bodyPr wrap="none" lIns="0" rIns="0" tIns="0" bIns="0">
            <a:spAutoFit/>
          </a:bodyPr>
          <a:lstStyle/>
          <a:p>
            <a:r>
              <a:rPr sz="1011" b="0">
                <a:solidFill>
                  <a:srgbClr val="252423"/>
                </a:solidFill>
                <a:latin typeface="Segoe UI"/>
              </a:rPr>
              <a:t>than standalone battery packs segment in 2036.</a:t>
            </a:r>
          </a:p>
        </p:txBody>
      </p:sp>
      <p:sp>
        <p:nvSpPr>
          <p:cNvPr id="74" name="TextBox 73"/>
          <p:cNvSpPr txBox="1"/>
          <p:nvPr/>
        </p:nvSpPr>
        <p:spPr>
          <a:xfrm>
            <a:off x="3838575" y="4229437"/>
            <a:ext cx="2941725" cy="186689"/>
          </a:xfrm>
          <a:prstGeom prst="rect">
            <a:avLst/>
          </a:prstGeom>
          <a:noFill/>
        </p:spPr>
        <p:txBody>
          <a:bodyPr wrap="none" lIns="0" rIns="0" tIns="0" bIns="0">
            <a:spAutoFit/>
          </a:bodyPr>
          <a:lstStyle/>
          <a:p>
            <a:r>
              <a:rPr sz="1100" b="0">
                <a:solidFill>
                  <a:srgbClr val="252423"/>
                </a:solidFill>
                <a:latin typeface="Segoe UI"/>
              </a:rPr>
              <a:t>● Integrated Portable Energy Storage Systems:</a:t>
            </a:r>
          </a:p>
        </p:txBody>
      </p:sp>
      <p:pic>
        <p:nvPicPr>
          <p:cNvPr id="75" name="Picture 74" descr="lock.png"/>
          <p:cNvPicPr>
            <a:picLocks noChangeAspect="1"/>
          </p:cNvPicPr>
          <p:nvPr/>
        </p:nvPicPr>
        <p:blipFill>
          <a:blip r:embed="rId10"/>
          <a:stretch>
            <a:fillRect/>
          </a:stretch>
        </p:blipFill>
        <p:spPr>
          <a:xfrm>
            <a:off x="6728352" y="4219658"/>
            <a:ext cx="128699" cy="187198"/>
          </a:xfrm>
          <a:prstGeom prst="rect">
            <a:avLst/>
          </a:prstGeom>
        </p:spPr>
      </p:pic>
      <p:sp>
        <p:nvSpPr>
          <p:cNvPr id="76" name="TextBox 75"/>
          <p:cNvSpPr txBox="1"/>
          <p:nvPr/>
        </p:nvSpPr>
        <p:spPr>
          <a:xfrm>
            <a:off x="6895847"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7" name="Picture 76" descr="lock.png"/>
          <p:cNvPicPr>
            <a:picLocks noChangeAspect="1"/>
          </p:cNvPicPr>
          <p:nvPr/>
        </p:nvPicPr>
        <p:blipFill>
          <a:blip r:embed="rId10"/>
          <a:stretch>
            <a:fillRect/>
          </a:stretch>
        </p:blipFill>
        <p:spPr>
          <a:xfrm>
            <a:off x="3825107" y="4387298"/>
            <a:ext cx="128699" cy="187198"/>
          </a:xfrm>
          <a:prstGeom prst="rect">
            <a:avLst/>
          </a:prstGeom>
        </p:spPr>
      </p:pic>
      <p:sp>
        <p:nvSpPr>
          <p:cNvPr id="78" name="TextBox 77"/>
          <p:cNvSpPr txBox="1"/>
          <p:nvPr/>
        </p:nvSpPr>
        <p:spPr>
          <a:xfrm>
            <a:off x="3992603"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79" name="TextBox 78"/>
          <p:cNvSpPr txBox="1"/>
          <p:nvPr/>
        </p:nvSpPr>
        <p:spPr>
          <a:xfrm>
            <a:off x="3838575" y="4615009"/>
            <a:ext cx="1777638" cy="186689"/>
          </a:xfrm>
          <a:prstGeom prst="rect">
            <a:avLst/>
          </a:prstGeom>
          <a:noFill/>
        </p:spPr>
        <p:txBody>
          <a:bodyPr wrap="none" lIns="0" rIns="0" tIns="0" bIns="0">
            <a:spAutoFit/>
          </a:bodyPr>
          <a:lstStyle/>
          <a:p>
            <a:r>
              <a:rPr sz="1100" b="0">
                <a:solidFill>
                  <a:srgbClr val="252423"/>
                </a:solidFill>
                <a:latin typeface="Segoe UI"/>
              </a:rPr>
              <a:t>● Standalone Battery Packs:</a:t>
            </a:r>
          </a:p>
        </p:txBody>
      </p:sp>
      <p:pic>
        <p:nvPicPr>
          <p:cNvPr id="80" name="Picture 79" descr="lock.png"/>
          <p:cNvPicPr>
            <a:picLocks noChangeAspect="1"/>
          </p:cNvPicPr>
          <p:nvPr/>
        </p:nvPicPr>
        <p:blipFill>
          <a:blip r:embed="rId10"/>
          <a:stretch>
            <a:fillRect/>
          </a:stretch>
        </p:blipFill>
        <p:spPr>
          <a:xfrm>
            <a:off x="5564264" y="4605230"/>
            <a:ext cx="128699" cy="187198"/>
          </a:xfrm>
          <a:prstGeom prst="rect">
            <a:avLst/>
          </a:prstGeom>
        </p:spPr>
      </p:pic>
      <p:sp>
        <p:nvSpPr>
          <p:cNvPr id="81" name="TextBox 80"/>
          <p:cNvSpPr txBox="1"/>
          <p:nvPr/>
        </p:nvSpPr>
        <p:spPr>
          <a:xfrm>
            <a:off x="5731760"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6651707" y="4605230"/>
            <a:ext cx="128699" cy="187198"/>
          </a:xfrm>
          <a:prstGeom prst="rect">
            <a:avLst/>
          </a:prstGeom>
        </p:spPr>
      </p:pic>
      <p:sp>
        <p:nvSpPr>
          <p:cNvPr id="83" name="TextBox 82"/>
          <p:cNvSpPr txBox="1"/>
          <p:nvPr/>
        </p:nvSpPr>
        <p:spPr>
          <a:xfrm>
            <a:off x="6819203" y="4615009"/>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84" name="TextBox 83"/>
          <p:cNvSpPr txBox="1"/>
          <p:nvPr/>
        </p:nvSpPr>
        <p:spPr>
          <a:xfrm>
            <a:off x="3838575" y="4782649"/>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85" name="TextBox 84"/>
          <p:cNvSpPr txBox="1"/>
          <p:nvPr/>
        </p:nvSpPr>
        <p:spPr>
          <a:xfrm>
            <a:off x="8524875" y="5849651"/>
            <a:ext cx="3162300" cy="187299"/>
          </a:xfrm>
          <a:prstGeom prst="rect">
            <a:avLst/>
          </a:prstGeom>
          <a:noFill/>
        </p:spPr>
        <p:txBody>
          <a:bodyPr wrap="none" lIns="0" rIns="0" tIns="0" bIns="0">
            <a:spAutoFit/>
          </a:bodyPr>
          <a:lstStyle/>
          <a:p>
            <a:r>
              <a:rPr sz="1104" b="1">
                <a:solidFill>
                  <a:srgbClr val="0E3A5F"/>
                </a:solidFill>
                <a:latin typeface="Segoe UI"/>
              </a:rPr>
              <a:t>The Battery Configuration segment is projected</a:t>
            </a:r>
          </a:p>
        </p:txBody>
      </p:sp>
      <p:sp>
        <p:nvSpPr>
          <p:cNvPr id="86" name="TextBox 85"/>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87" name="Picture 86" descr="lock.png"/>
          <p:cNvPicPr>
            <a:picLocks noChangeAspect="1"/>
          </p:cNvPicPr>
          <p:nvPr/>
        </p:nvPicPr>
        <p:blipFill>
          <a:blip r:embed="rId10"/>
          <a:stretch>
            <a:fillRect/>
          </a:stretch>
        </p:blipFill>
        <p:spPr>
          <a:xfrm>
            <a:off x="9944923" y="6008086"/>
            <a:ext cx="129166" cy="187878"/>
          </a:xfrm>
          <a:prstGeom prst="rect">
            <a:avLst/>
          </a:prstGeom>
        </p:spPr>
      </p:pic>
      <p:sp>
        <p:nvSpPr>
          <p:cNvPr id="88" name="TextBox 87"/>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Battery Configuration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Battery Configuration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Configuration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Battery Configuration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522318" cy="186689"/>
          </a:xfrm>
          <a:prstGeom prst="rect">
            <a:avLst/>
          </a:prstGeom>
          <a:noFill/>
        </p:spPr>
        <p:txBody>
          <a:bodyPr wrap="none" lIns="0" rIns="0" tIns="0" bIns="0">
            <a:spAutoFit/>
          </a:bodyPr>
          <a:lstStyle/>
          <a:p>
            <a:r>
              <a:rPr sz="1100" b="0">
                <a:solidFill>
                  <a:srgbClr val="252423"/>
                </a:solidFill>
                <a:latin typeface="Segoe UI"/>
              </a:rPr>
              <a:t>Integrated portable energy storage systems followed by standalone battery packs are expected to be the two most attractive battery configuration segments in the North America lithium</a:t>
            </a:r>
          </a:p>
        </p:txBody>
      </p:sp>
      <p:sp>
        <p:nvSpPr>
          <p:cNvPr id="18" name="TextBox 17"/>
          <p:cNvSpPr txBox="1"/>
          <p:nvPr/>
        </p:nvSpPr>
        <p:spPr>
          <a:xfrm>
            <a:off x="257175" y="5945505"/>
            <a:ext cx="11249488" cy="186689"/>
          </a:xfrm>
          <a:prstGeom prst="rect">
            <a:avLst/>
          </a:prstGeom>
          <a:noFill/>
        </p:spPr>
        <p:txBody>
          <a:bodyPr wrap="none" lIns="0" rIns="0" tIns="0" bIns="0">
            <a:spAutoFit/>
          </a:bodyPr>
          <a:lstStyle/>
          <a:p>
            <a:r>
              <a:rPr sz="1100" b="0">
                <a:solidFill>
                  <a:srgbClr val="252423"/>
                </a:solidFill>
                <a:latin typeface="Segoe UI"/>
              </a:rPr>
              <a:t>polymer portable energy storage market in terms of value over the forecast period. Integrated portable energy storage systems and standalone battery packs exhibit a CAGR index of</a:t>
            </a:r>
          </a:p>
        </p:txBody>
      </p:sp>
      <p:pic>
        <p:nvPicPr>
          <p:cNvPr id="19" name="Picture 18" descr="lock.png"/>
          <p:cNvPicPr>
            <a:picLocks noChangeAspect="1"/>
          </p:cNvPicPr>
          <p:nvPr/>
        </p:nvPicPr>
        <p:blipFill>
          <a:blip r:embed="rId6"/>
          <a:stretch>
            <a:fillRect/>
          </a:stretch>
        </p:blipFill>
        <p:spPr>
          <a:xfrm>
            <a:off x="11454715" y="5935726"/>
            <a:ext cx="128699" cy="187198"/>
          </a:xfrm>
          <a:prstGeom prst="rect">
            <a:avLst/>
          </a:prstGeom>
        </p:spPr>
      </p:pic>
      <p:sp>
        <p:nvSpPr>
          <p:cNvPr id="20" name="TextBox 19"/>
          <p:cNvSpPr txBox="1"/>
          <p:nvPr/>
        </p:nvSpPr>
        <p:spPr>
          <a:xfrm>
            <a:off x="257175"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14168" y="6103366"/>
            <a:ext cx="128699" cy="187198"/>
          </a:xfrm>
          <a:prstGeom prst="rect">
            <a:avLst/>
          </a:prstGeom>
        </p:spPr>
      </p:pic>
      <p:sp>
        <p:nvSpPr>
          <p:cNvPr id="22" name="TextBox 21"/>
          <p:cNvSpPr txBox="1"/>
          <p:nvPr/>
        </p:nvSpPr>
        <p:spPr>
          <a:xfrm>
            <a:off x="681664" y="611314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20404" y="6103366"/>
            <a:ext cx="128699" cy="187198"/>
          </a:xfrm>
          <a:prstGeom prst="rect">
            <a:avLst/>
          </a:prstGeom>
        </p:spPr>
      </p:pic>
      <p:sp>
        <p:nvSpPr>
          <p:cNvPr id="24" name="TextBox 23"/>
          <p:cNvSpPr txBox="1"/>
          <p:nvPr/>
        </p:nvSpPr>
        <p:spPr>
          <a:xfrm>
            <a:off x="2587900"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844894" y="6103366"/>
            <a:ext cx="128699" cy="187198"/>
          </a:xfrm>
          <a:prstGeom prst="rect">
            <a:avLst/>
          </a:prstGeom>
        </p:spPr>
      </p:pic>
      <p:sp>
        <p:nvSpPr>
          <p:cNvPr id="26" name="TextBox 25"/>
          <p:cNvSpPr txBox="1"/>
          <p:nvPr/>
        </p:nvSpPr>
        <p:spPr>
          <a:xfrm>
            <a:off x="3012390"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772324" y="6103366"/>
            <a:ext cx="128699" cy="187198"/>
          </a:xfrm>
          <a:prstGeom prst="rect">
            <a:avLst/>
          </a:prstGeom>
        </p:spPr>
      </p:pic>
      <p:sp>
        <p:nvSpPr>
          <p:cNvPr id="28" name="TextBox 27"/>
          <p:cNvSpPr txBox="1"/>
          <p:nvPr/>
        </p:nvSpPr>
        <p:spPr>
          <a:xfrm>
            <a:off x="5939820"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29"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Battery Configuration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Standalone Battery Packs</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Integrated Portable Energy Storage Systems</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Battery Configuration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Battery Configuration,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Battery Configuration (US$ Mn)</a:t>
            </a:r>
          </a:p>
        </p:txBody>
      </p:sp>
      <p:graphicFrame>
        <p:nvGraphicFramePr>
          <p:cNvPr id="10" name="Table 9"/>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3130311"/>
                <a:gridCol w="525765"/>
                <a:gridCol w="525765"/>
                <a:gridCol w="525765"/>
                <a:gridCol w="525765"/>
                <a:gridCol w="525765"/>
                <a:gridCol w="500959"/>
                <a:gridCol w="500959"/>
                <a:gridCol w="500959"/>
                <a:gridCol w="500959"/>
                <a:gridCol w="500959"/>
                <a:gridCol w="500959"/>
                <a:gridCol w="500959"/>
                <a:gridCol w="500959"/>
                <a:gridCol w="500959"/>
                <a:gridCol w="500959"/>
                <a:gridCol w="500959"/>
                <a:gridCol w="617509"/>
              </a:tblGrid>
              <a:tr h="246126">
                <a:tc>
                  <a:txBody>
                    <a:bodyPr wrap="none"/>
                    <a:lstStyle/>
                    <a:p>
                      <a:pPr algn="l"/>
                      <a:r>
                        <a:rPr sz="1100" b="1">
                          <a:solidFill>
                            <a:srgbClr val="FFFFFF"/>
                          </a:solidFill>
                          <a:latin typeface="Segoe UI"/>
                        </a:rPr>
                        <a:t>Battery Configuration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8158">
                <a:tc>
                  <a:txBody>
                    <a:bodyPr wrap="none"/>
                    <a:lstStyle/>
                    <a:p>
                      <a:pPr algn="l"/>
                      <a:r>
                        <a:rPr sz="1100" b="1">
                          <a:solidFill>
                            <a:srgbClr val="252423"/>
                          </a:solidFill>
                          <a:latin typeface="Segoe UI"/>
                        </a:rPr>
                        <a:t>Standalone Battery Packs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8158">
                <a:tc>
                  <a:txBody>
                    <a:bodyPr wrap="none"/>
                    <a:lstStyle/>
                    <a:p>
                      <a:pPr algn="l"/>
                      <a:r>
                        <a:rPr sz="1100" b="1">
                          <a:solidFill>
                            <a:srgbClr val="252423"/>
                          </a:solidFill>
                          <a:latin typeface="Segoe UI"/>
                        </a:rPr>
                        <a:t>Integrated Portable Energy Storage Systems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Battery Configuration</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76166" y="1592347"/>
            <a:ext cx="363364" cy="528530"/>
          </a:xfrm>
          <a:prstGeom prst="rect">
            <a:avLst/>
          </a:prstGeom>
        </p:spPr>
      </p:pic>
      <p:sp>
        <p:nvSpPr>
          <p:cNvPr id="18" name="TextBox 17"/>
          <p:cNvSpPr txBox="1"/>
          <p:nvPr/>
        </p:nvSpPr>
        <p:spPr>
          <a:xfrm>
            <a:off x="276225" y="2990850"/>
            <a:ext cx="4980133" cy="194310"/>
          </a:xfrm>
          <a:prstGeom prst="rect">
            <a:avLst/>
          </a:prstGeom>
          <a:noFill/>
        </p:spPr>
        <p:txBody>
          <a:bodyPr wrap="none" lIns="0" rIns="0" tIns="0" bIns="0">
            <a:spAutoFit/>
          </a:bodyPr>
          <a:lstStyle/>
          <a:p>
            <a:r>
              <a:rPr sz="1150" b="0">
                <a:solidFill>
                  <a:srgbClr val="252423"/>
                </a:solidFill>
                <a:latin typeface="Segoe UI"/>
              </a:rPr>
              <a:t>Integrated portable energy storage systems segment is projected to register</a:t>
            </a:r>
          </a:p>
        </p:txBody>
      </p:sp>
      <p:pic>
        <p:nvPicPr>
          <p:cNvPr id="19" name="Picture 18" descr="lock.png"/>
          <p:cNvPicPr>
            <a:picLocks noChangeAspect="1"/>
          </p:cNvPicPr>
          <p:nvPr/>
        </p:nvPicPr>
        <p:blipFill>
          <a:blip r:embed="rId4"/>
          <a:stretch>
            <a:fillRect/>
          </a:stretch>
        </p:blipFill>
        <p:spPr>
          <a:xfrm>
            <a:off x="5205512" y="2980626"/>
            <a:ext cx="134549" cy="195707"/>
          </a:xfrm>
          <a:prstGeom prst="rect">
            <a:avLst/>
          </a:prstGeom>
        </p:spPr>
      </p:pic>
      <p:sp>
        <p:nvSpPr>
          <p:cNvPr id="20" name="TextBox 19"/>
          <p:cNvSpPr txBox="1"/>
          <p:nvPr/>
        </p:nvSpPr>
        <p:spPr>
          <a:xfrm>
            <a:off x="5380621" y="2990850"/>
            <a:ext cx="6273381" cy="194310"/>
          </a:xfrm>
          <a:prstGeom prst="rect">
            <a:avLst/>
          </a:prstGeom>
          <a:noFill/>
        </p:spPr>
        <p:txBody>
          <a:bodyPr wrap="none" lIns="0" rIns="0" tIns="0" bIns="0">
            <a:spAutoFit/>
          </a:bodyPr>
          <a:lstStyle/>
          <a:p>
            <a:r>
              <a:rPr sz="1150" b="0">
                <a:solidFill>
                  <a:srgbClr val="252423"/>
                </a:solidFill>
                <a:latin typeface="Segoe UI"/>
              </a:rPr>
              <a:t>X higher value than standalone battery packs segment in 2036. Among lithium polymer portable</a:t>
            </a:r>
          </a:p>
        </p:txBody>
      </p:sp>
      <p:sp>
        <p:nvSpPr>
          <p:cNvPr id="21" name="TextBox 20"/>
          <p:cNvSpPr txBox="1"/>
          <p:nvPr/>
        </p:nvSpPr>
        <p:spPr>
          <a:xfrm>
            <a:off x="276225" y="3166110"/>
            <a:ext cx="8919209" cy="194310"/>
          </a:xfrm>
          <a:prstGeom prst="rect">
            <a:avLst/>
          </a:prstGeom>
          <a:noFill/>
        </p:spPr>
        <p:txBody>
          <a:bodyPr wrap="none" lIns="0" rIns="0" tIns="0" bIns="0">
            <a:spAutoFit/>
          </a:bodyPr>
          <a:lstStyle/>
          <a:p>
            <a:r>
              <a:rPr sz="1150" b="0">
                <a:solidFill>
                  <a:srgbClr val="252423"/>
                </a:solidFill>
                <a:latin typeface="Segoe UI"/>
              </a:rPr>
              <a:t>energy storage by battery configuration, integrated portable energy storage systems segment is expected to witness the highest CAGR of</a:t>
            </a:r>
          </a:p>
        </p:txBody>
      </p:sp>
      <p:pic>
        <p:nvPicPr>
          <p:cNvPr id="22" name="Picture 21" descr="lock.png"/>
          <p:cNvPicPr>
            <a:picLocks noChangeAspect="1"/>
          </p:cNvPicPr>
          <p:nvPr/>
        </p:nvPicPr>
        <p:blipFill>
          <a:blip r:embed="rId4"/>
          <a:stretch>
            <a:fillRect/>
          </a:stretch>
        </p:blipFill>
        <p:spPr>
          <a:xfrm>
            <a:off x="9144588" y="3155886"/>
            <a:ext cx="134549" cy="195707"/>
          </a:xfrm>
          <a:prstGeom prst="rect">
            <a:avLst/>
          </a:prstGeom>
        </p:spPr>
      </p:pic>
      <p:sp>
        <p:nvSpPr>
          <p:cNvPr id="23" name="TextBox 22"/>
          <p:cNvSpPr txBox="1"/>
          <p:nvPr/>
        </p:nvSpPr>
        <p:spPr>
          <a:xfrm>
            <a:off x="9319697"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9750933" cy="194310"/>
          </a:xfrm>
          <a:prstGeom prst="rect">
            <a:avLst/>
          </a:prstGeom>
          <a:noFill/>
        </p:spPr>
        <p:txBody>
          <a:bodyPr wrap="none" lIns="0" rIns="0" tIns="0" bIns="0">
            <a:spAutoFit/>
          </a:bodyPr>
          <a:lstStyle/>
          <a:p>
            <a:r>
              <a:rPr sz="1150" b="0">
                <a:solidFill>
                  <a:srgbClr val="252423"/>
                </a:solidFill>
                <a:latin typeface="Segoe UI"/>
              </a:rPr>
              <a:t>In terms of value share by battery configuration, the integrated portable energy storage systems segment is expected to dominate the market, gaining</a:t>
            </a:r>
          </a:p>
        </p:txBody>
      </p:sp>
      <p:pic>
        <p:nvPicPr>
          <p:cNvPr id="25" name="Picture 24" descr="lock.png"/>
          <p:cNvPicPr>
            <a:picLocks noChangeAspect="1"/>
          </p:cNvPicPr>
          <p:nvPr/>
        </p:nvPicPr>
        <p:blipFill>
          <a:blip r:embed="rId4"/>
          <a:stretch>
            <a:fillRect/>
          </a:stretch>
        </p:blipFill>
        <p:spPr>
          <a:xfrm>
            <a:off x="9976312" y="3383724"/>
            <a:ext cx="134549" cy="195707"/>
          </a:xfrm>
          <a:prstGeom prst="rect">
            <a:avLst/>
          </a:prstGeom>
        </p:spPr>
      </p:pic>
      <p:sp>
        <p:nvSpPr>
          <p:cNvPr id="26" name="TextBox 25"/>
          <p:cNvSpPr txBox="1"/>
          <p:nvPr/>
        </p:nvSpPr>
        <p:spPr>
          <a:xfrm>
            <a:off x="10151422"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262145" y="3558984"/>
            <a:ext cx="134549" cy="195707"/>
          </a:xfrm>
          <a:prstGeom prst="rect">
            <a:avLst/>
          </a:prstGeom>
        </p:spPr>
      </p:pic>
      <p:sp>
        <p:nvSpPr>
          <p:cNvPr id="28" name="TextBox 27"/>
          <p:cNvSpPr txBox="1"/>
          <p:nvPr/>
        </p:nvSpPr>
        <p:spPr>
          <a:xfrm>
            <a:off x="437254" y="3569207"/>
            <a:ext cx="4766576" cy="194310"/>
          </a:xfrm>
          <a:prstGeom prst="rect">
            <a:avLst/>
          </a:prstGeom>
          <a:noFill/>
        </p:spPr>
        <p:txBody>
          <a:bodyPr wrap="none" lIns="0" rIns="0" tIns="0" bIns="0">
            <a:spAutoFit/>
          </a:bodyPr>
          <a:lstStyle/>
          <a:p>
            <a:r>
              <a:rPr sz="1150" b="0">
                <a:solidFill>
                  <a:srgbClr val="252423"/>
                </a:solidFill>
                <a:latin typeface="Segoe UI"/>
              </a:rPr>
              <a:t>share by 2036. The standalone battery packs segment is expected to lose</a:t>
            </a:r>
          </a:p>
        </p:txBody>
      </p:sp>
      <p:pic>
        <p:nvPicPr>
          <p:cNvPr id="29" name="Picture 28" descr="lock.png"/>
          <p:cNvPicPr>
            <a:picLocks noChangeAspect="1"/>
          </p:cNvPicPr>
          <p:nvPr/>
        </p:nvPicPr>
        <p:blipFill>
          <a:blip r:embed="rId4"/>
          <a:stretch>
            <a:fillRect/>
          </a:stretch>
        </p:blipFill>
        <p:spPr>
          <a:xfrm>
            <a:off x="5152985" y="3558984"/>
            <a:ext cx="134549" cy="195707"/>
          </a:xfrm>
          <a:prstGeom prst="rect">
            <a:avLst/>
          </a:prstGeom>
        </p:spPr>
      </p:pic>
      <p:sp>
        <p:nvSpPr>
          <p:cNvPr id="30" name="TextBox 29"/>
          <p:cNvSpPr txBox="1"/>
          <p:nvPr/>
        </p:nvSpPr>
        <p:spPr>
          <a:xfrm>
            <a:off x="5328094"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8127480" y="3558984"/>
            <a:ext cx="134549" cy="195707"/>
          </a:xfrm>
          <a:prstGeom prst="rect">
            <a:avLst/>
          </a:prstGeom>
        </p:spPr>
      </p:pic>
      <p:sp>
        <p:nvSpPr>
          <p:cNvPr id="32" name="TextBox 31"/>
          <p:cNvSpPr txBox="1"/>
          <p:nvPr/>
        </p:nvSpPr>
        <p:spPr>
          <a:xfrm>
            <a:off x="8302589"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Battery Configuration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Battery Configuration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53281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52805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45185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Standalone Battery Packs</a:t>
            </a:r>
          </a:p>
        </p:txBody>
      </p:sp>
      <p:sp>
        <p:nvSpPr>
          <p:cNvPr id="16" name="BPS Value 1"/>
          <p:cNvSpPr txBox="1"/>
          <p:nvPr/>
        </p:nvSpPr>
        <p:spPr>
          <a:xfrm>
            <a:off x="6896100" y="251376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481900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81424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7380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Integrated Portable Energy Storage Systems</a:t>
            </a:r>
          </a:p>
        </p:txBody>
      </p:sp>
      <p:sp>
        <p:nvSpPr>
          <p:cNvPr id="20" name="BPS Value 2"/>
          <p:cNvSpPr txBox="1"/>
          <p:nvPr/>
        </p:nvSpPr>
        <p:spPr>
          <a:xfrm>
            <a:off x="6896100" y="4799959"/>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Battery Configuration</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894100"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battery</a:t>
            </a:r>
          </a:p>
        </p:txBody>
      </p:sp>
      <p:sp>
        <p:nvSpPr>
          <p:cNvPr id="28" name="TextBox 27"/>
          <p:cNvSpPr txBox="1"/>
          <p:nvPr/>
        </p:nvSpPr>
        <p:spPr>
          <a:xfrm>
            <a:off x="7829550" y="1575435"/>
            <a:ext cx="3820121" cy="194310"/>
          </a:xfrm>
          <a:prstGeom prst="rect">
            <a:avLst/>
          </a:prstGeom>
          <a:noFill/>
        </p:spPr>
        <p:txBody>
          <a:bodyPr wrap="none" lIns="0" rIns="0" tIns="0" bIns="0">
            <a:spAutoFit/>
          </a:bodyPr>
          <a:lstStyle/>
          <a:p>
            <a:r>
              <a:rPr sz="1150" b="0">
                <a:solidFill>
                  <a:srgbClr val="252423"/>
                </a:solidFill>
                <a:latin typeface="Segoe UI"/>
              </a:rPr>
              <a:t>configuration, integrated portable energy storage systems</a:t>
            </a:r>
          </a:p>
        </p:txBody>
      </p:sp>
      <p:sp>
        <p:nvSpPr>
          <p:cNvPr id="29" name="TextBox 28"/>
          <p:cNvSpPr txBox="1"/>
          <p:nvPr/>
        </p:nvSpPr>
        <p:spPr>
          <a:xfrm>
            <a:off x="7829550" y="1750695"/>
            <a:ext cx="3433246" cy="194310"/>
          </a:xfrm>
          <a:prstGeom prst="rect">
            <a:avLst/>
          </a:prstGeom>
          <a:noFill/>
        </p:spPr>
        <p:txBody>
          <a:bodyPr wrap="none" lIns="0" rIns="0" tIns="0" bIns="0">
            <a:spAutoFit/>
          </a:bodyPr>
          <a:lstStyle/>
          <a:p>
            <a:r>
              <a:rPr sz="1150" b="0">
                <a:solidFill>
                  <a:srgbClr val="252423"/>
                </a:solidFill>
                <a:latin typeface="Segoe UI"/>
              </a:rPr>
              <a:t>segment is expected to witness the highest CAGR of</a:t>
            </a:r>
          </a:p>
        </p:txBody>
      </p:sp>
      <p:pic>
        <p:nvPicPr>
          <p:cNvPr id="30" name="Picture 29" descr="lock.png"/>
          <p:cNvPicPr>
            <a:picLocks noChangeAspect="1"/>
          </p:cNvPicPr>
          <p:nvPr/>
        </p:nvPicPr>
        <p:blipFill>
          <a:blip r:embed="rId5"/>
          <a:stretch>
            <a:fillRect/>
          </a:stretch>
        </p:blipFill>
        <p:spPr>
          <a:xfrm>
            <a:off x="11211950" y="1740471"/>
            <a:ext cx="134549" cy="195707"/>
          </a:xfrm>
          <a:prstGeom prst="rect">
            <a:avLst/>
          </a:prstGeom>
        </p:spPr>
      </p:pic>
      <p:sp>
        <p:nvSpPr>
          <p:cNvPr id="31" name="TextBox 30"/>
          <p:cNvSpPr txBox="1"/>
          <p:nvPr/>
        </p:nvSpPr>
        <p:spPr>
          <a:xfrm>
            <a:off x="11387059" y="1750695"/>
            <a:ext cx="358873" cy="194310"/>
          </a:xfrm>
          <a:prstGeom prst="rect">
            <a:avLst/>
          </a:prstGeom>
          <a:noFill/>
        </p:spPr>
        <p:txBody>
          <a:bodyPr wrap="none" lIns="0" rIns="0" tIns="0" bIns="0">
            <a:spAutoFit/>
          </a:bodyPr>
          <a:lstStyle/>
          <a:p>
            <a:r>
              <a:rPr sz="1150" b="0">
                <a:solidFill>
                  <a:srgbClr val="252423"/>
                </a:solidFill>
                <a:latin typeface="Segoe UI"/>
              </a:rPr>
              <a:t>over</a:t>
            </a:r>
          </a:p>
        </p:txBody>
      </p:sp>
      <p:sp>
        <p:nvSpPr>
          <p:cNvPr id="32" name="TextBox 31"/>
          <p:cNvSpPr txBox="1"/>
          <p:nvPr/>
        </p:nvSpPr>
        <p:spPr>
          <a:xfrm>
            <a:off x="7829550" y="1925955"/>
            <a:ext cx="3524799" cy="194310"/>
          </a:xfrm>
          <a:prstGeom prst="rect">
            <a:avLst/>
          </a:prstGeom>
          <a:noFill/>
        </p:spPr>
        <p:txBody>
          <a:bodyPr wrap="none" lIns="0" rIns="0" tIns="0" bIns="0">
            <a:spAutoFit/>
          </a:bodyPr>
          <a:lstStyle/>
          <a:p>
            <a:r>
              <a:rPr sz="1150" b="0">
                <a:solidFill>
                  <a:srgbClr val="252423"/>
                </a:solidFill>
                <a:latin typeface="Segoe UI"/>
              </a:rPr>
              <a:t>the forecast period. In terms of value share by battery</a:t>
            </a:r>
          </a:p>
        </p:txBody>
      </p:sp>
      <p:sp>
        <p:nvSpPr>
          <p:cNvPr id="33" name="TextBox 32"/>
          <p:cNvSpPr txBox="1"/>
          <p:nvPr/>
        </p:nvSpPr>
        <p:spPr>
          <a:xfrm>
            <a:off x="7829550" y="2101215"/>
            <a:ext cx="4057650" cy="194310"/>
          </a:xfrm>
          <a:prstGeom prst="rect">
            <a:avLst/>
          </a:prstGeom>
          <a:noFill/>
        </p:spPr>
        <p:txBody>
          <a:bodyPr wrap="none" lIns="0" rIns="0" tIns="0" bIns="0">
            <a:spAutoFit/>
          </a:bodyPr>
          <a:lstStyle/>
          <a:p>
            <a:r>
              <a:rPr sz="1150" b="0">
                <a:solidFill>
                  <a:srgbClr val="252423"/>
                </a:solidFill>
                <a:latin typeface="Segoe UI"/>
              </a:rPr>
              <a:t>configuration, the integrated portable energy storage systems</a:t>
            </a:r>
          </a:p>
        </p:txBody>
      </p:sp>
      <p:sp>
        <p:nvSpPr>
          <p:cNvPr id="34" name="TextBox 33"/>
          <p:cNvSpPr txBox="1"/>
          <p:nvPr/>
        </p:nvSpPr>
        <p:spPr>
          <a:xfrm>
            <a:off x="7829550" y="2276475"/>
            <a:ext cx="3522254" cy="194310"/>
          </a:xfrm>
          <a:prstGeom prst="rect">
            <a:avLst/>
          </a:prstGeom>
          <a:noFill/>
        </p:spPr>
        <p:txBody>
          <a:bodyPr wrap="none" lIns="0" rIns="0" tIns="0" bIns="0">
            <a:spAutoFit/>
          </a:bodyPr>
          <a:lstStyle/>
          <a:p>
            <a:r>
              <a:rPr sz="1150" b="0">
                <a:solidFill>
                  <a:srgbClr val="252423"/>
                </a:solidFill>
                <a:latin typeface="Segoe UI"/>
              </a:rPr>
              <a:t>segment is expected to dominate the market, gaining</a:t>
            </a:r>
          </a:p>
        </p:txBody>
      </p:sp>
      <p:pic>
        <p:nvPicPr>
          <p:cNvPr id="35" name="Picture 34" descr="lock.png"/>
          <p:cNvPicPr>
            <a:picLocks noChangeAspect="1"/>
          </p:cNvPicPr>
          <p:nvPr/>
        </p:nvPicPr>
        <p:blipFill>
          <a:blip r:embed="rId5"/>
          <a:stretch>
            <a:fillRect/>
          </a:stretch>
        </p:blipFill>
        <p:spPr>
          <a:xfrm>
            <a:off x="11300958" y="2266251"/>
            <a:ext cx="134549" cy="195707"/>
          </a:xfrm>
          <a:prstGeom prst="rect">
            <a:avLst/>
          </a:prstGeom>
        </p:spPr>
      </p:pic>
      <p:sp>
        <p:nvSpPr>
          <p:cNvPr id="36" name="TextBox 35"/>
          <p:cNvSpPr txBox="1"/>
          <p:nvPr/>
        </p:nvSpPr>
        <p:spPr>
          <a:xfrm>
            <a:off x="11476067" y="2276475"/>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37" name="TextBox 36"/>
          <p:cNvSpPr txBox="1"/>
          <p:nvPr/>
        </p:nvSpPr>
        <p:spPr>
          <a:xfrm>
            <a:off x="7829550" y="2451735"/>
            <a:ext cx="1295945" cy="194310"/>
          </a:xfrm>
          <a:prstGeom prst="rect">
            <a:avLst/>
          </a:prstGeom>
          <a:noFill/>
        </p:spPr>
        <p:txBody>
          <a:bodyPr wrap="none" lIns="0" rIns="0" tIns="0" bIns="0">
            <a:spAutoFit/>
          </a:bodyPr>
          <a:lstStyle/>
          <a:p>
            <a:r>
              <a:rPr sz="1150" b="0">
                <a:solidFill>
                  <a:srgbClr val="252423"/>
                </a:solidFill>
                <a:latin typeface="Segoe UI"/>
              </a:rPr>
              <a:t>and accounting for</a:t>
            </a:r>
          </a:p>
        </p:txBody>
      </p:sp>
      <p:pic>
        <p:nvPicPr>
          <p:cNvPr id="38" name="Picture 37" descr="lock.png"/>
          <p:cNvPicPr>
            <a:picLocks noChangeAspect="1"/>
          </p:cNvPicPr>
          <p:nvPr/>
        </p:nvPicPr>
        <p:blipFill>
          <a:blip r:embed="rId5"/>
          <a:stretch>
            <a:fillRect/>
          </a:stretch>
        </p:blipFill>
        <p:spPr>
          <a:xfrm>
            <a:off x="9074649" y="2441511"/>
            <a:ext cx="134549" cy="195707"/>
          </a:xfrm>
          <a:prstGeom prst="rect">
            <a:avLst/>
          </a:prstGeom>
        </p:spPr>
      </p:pic>
      <p:sp>
        <p:nvSpPr>
          <p:cNvPr id="39" name="TextBox 38"/>
          <p:cNvSpPr txBox="1"/>
          <p:nvPr/>
        </p:nvSpPr>
        <p:spPr>
          <a:xfrm>
            <a:off x="9249758"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0" name="TextBox 39"/>
          <p:cNvSpPr txBox="1"/>
          <p:nvPr/>
        </p:nvSpPr>
        <p:spPr>
          <a:xfrm>
            <a:off x="7829550" y="2679573"/>
            <a:ext cx="3797314" cy="194310"/>
          </a:xfrm>
          <a:prstGeom prst="rect">
            <a:avLst/>
          </a:prstGeom>
          <a:noFill/>
        </p:spPr>
        <p:txBody>
          <a:bodyPr wrap="none" lIns="0" rIns="0" tIns="0" bIns="0">
            <a:spAutoFit/>
          </a:bodyPr>
          <a:lstStyle/>
          <a:p>
            <a:r>
              <a:rPr sz="1150" b="0">
                <a:solidFill>
                  <a:srgbClr val="252423"/>
                </a:solidFill>
                <a:latin typeface="Segoe UI"/>
              </a:rPr>
              <a:t>The standalone battery packs segment is expected to lose</a:t>
            </a:r>
          </a:p>
        </p:txBody>
      </p:sp>
      <p:pic>
        <p:nvPicPr>
          <p:cNvPr id="41" name="Picture 40" descr="lock.png"/>
          <p:cNvPicPr>
            <a:picLocks noChangeAspect="1"/>
          </p:cNvPicPr>
          <p:nvPr/>
        </p:nvPicPr>
        <p:blipFill>
          <a:blip r:embed="rId5"/>
          <a:stretch>
            <a:fillRect/>
          </a:stretch>
        </p:blipFill>
        <p:spPr>
          <a:xfrm>
            <a:off x="11576018" y="2669349"/>
            <a:ext cx="134549" cy="195707"/>
          </a:xfrm>
          <a:prstGeom prst="rect">
            <a:avLst/>
          </a:prstGeom>
        </p:spPr>
      </p:pic>
      <p:sp>
        <p:nvSpPr>
          <p:cNvPr id="42" name="TextBox 41"/>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43" name="Picture 42" descr="lock.png"/>
          <p:cNvPicPr>
            <a:picLocks noChangeAspect="1"/>
          </p:cNvPicPr>
          <p:nvPr/>
        </p:nvPicPr>
        <p:blipFill>
          <a:blip r:embed="rId5"/>
          <a:stretch>
            <a:fillRect/>
          </a:stretch>
        </p:blipFill>
        <p:spPr>
          <a:xfrm>
            <a:off x="10628935" y="2844609"/>
            <a:ext cx="134549" cy="195707"/>
          </a:xfrm>
          <a:prstGeom prst="rect">
            <a:avLst/>
          </a:prstGeom>
        </p:spPr>
      </p:pic>
      <p:sp>
        <p:nvSpPr>
          <p:cNvPr id="44" name="TextBox 43"/>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System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System Application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System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System Application segment categorizes the market by system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Professional &amp; Specialized Portab…</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Outdoor &amp; Recreational Power</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Off-Grid &amp; Remote Power</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Portable Backup Power</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System Application split shows how demand is distributed across system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134_6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402_6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1_6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61_0_605E5C.png"/>
          <p:cNvPicPr>
            <a:picLocks noChangeAspect="1"/>
          </p:cNvPicPr>
          <p:nvPr/>
        </p:nvPicPr>
        <p:blipFill>
          <a:blip r:embed="rId7"/>
          <a:stretch>
            <a:fillRect/>
          </a:stretch>
        </p:blipFill>
        <p:spPr>
          <a:xfrm>
            <a:off x="5111864" y="2286582"/>
            <a:ext cx="982436" cy="361950"/>
          </a:xfrm>
          <a:prstGeom prst="rect">
            <a:avLst/>
          </a:prstGeom>
        </p:spPr>
      </p:pic>
      <p:pic>
        <p:nvPicPr>
          <p:cNvPr id="65" name="Picture 64" descr="200_8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2_6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52_2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161_8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2_0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9_55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20_3_605E5C.png"/>
          <p:cNvPicPr>
            <a:picLocks noChangeAspect="1"/>
          </p:cNvPicPr>
          <p:nvPr/>
        </p:nvPicPr>
        <p:blipFill>
          <a:blip r:embed="rId14"/>
          <a:stretch>
            <a:fillRect/>
          </a:stretch>
        </p:blipFill>
        <p:spPr>
          <a:xfrm>
            <a:off x="10169638" y="2779432"/>
            <a:ext cx="982436" cy="361950"/>
          </a:xfrm>
          <a:prstGeom prst="rect">
            <a:avLst/>
          </a:prstGeom>
        </p:spPr>
      </p:pic>
      <p:pic>
        <p:nvPicPr>
          <p:cNvPr id="72" name="Picture 71" descr="7_8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78" name="TextBox 77"/>
          <p:cNvSpPr txBox="1"/>
          <p:nvPr/>
        </p:nvSpPr>
        <p:spPr>
          <a:xfrm>
            <a:off x="485775" y="4383665"/>
            <a:ext cx="2671433" cy="173278"/>
          </a:xfrm>
          <a:prstGeom prst="rect">
            <a:avLst/>
          </a:prstGeom>
          <a:noFill/>
        </p:spPr>
        <p:txBody>
          <a:bodyPr wrap="none" lIns="0" rIns="0" tIns="0" bIns="0">
            <a:spAutoFit/>
          </a:bodyPr>
          <a:lstStyle/>
          <a:p>
            <a:r>
              <a:rPr sz="1011" b="0">
                <a:solidFill>
                  <a:srgbClr val="252423"/>
                </a:solidFill>
                <a:latin typeface="Segoe UI"/>
              </a:rPr>
              <a:t>by system application, outdoor &amp; recreational</a:t>
            </a:r>
          </a:p>
        </p:txBody>
      </p:sp>
      <p:sp>
        <p:nvSpPr>
          <p:cNvPr id="79" name="TextBox 78"/>
          <p:cNvSpPr txBox="1"/>
          <p:nvPr/>
        </p:nvSpPr>
        <p:spPr>
          <a:xfrm>
            <a:off x="485775" y="4537894"/>
            <a:ext cx="2908207" cy="173278"/>
          </a:xfrm>
          <a:prstGeom prst="rect">
            <a:avLst/>
          </a:prstGeom>
          <a:noFill/>
        </p:spPr>
        <p:txBody>
          <a:bodyPr wrap="none" lIns="0" rIns="0" tIns="0" bIns="0">
            <a:spAutoFit/>
          </a:bodyPr>
          <a:lstStyle/>
          <a:p>
            <a:r>
              <a:rPr sz="1011" b="0">
                <a:solidFill>
                  <a:srgbClr val="252423"/>
                </a:solidFill>
                <a:latin typeface="Segoe UI"/>
              </a:rPr>
              <a:t>power segment is expected to witness the highest</a:t>
            </a:r>
          </a:p>
        </p:txBody>
      </p:sp>
      <p:sp>
        <p:nvSpPr>
          <p:cNvPr id="80" name="TextBox 79"/>
          <p:cNvSpPr txBox="1"/>
          <p:nvPr/>
        </p:nvSpPr>
        <p:spPr>
          <a:xfrm>
            <a:off x="485775" y="4692123"/>
            <a:ext cx="554085" cy="173278"/>
          </a:xfrm>
          <a:prstGeom prst="rect">
            <a:avLst/>
          </a:prstGeom>
          <a:noFill/>
        </p:spPr>
        <p:txBody>
          <a:bodyPr wrap="none" lIns="0" rIns="0" tIns="0" bIns="0">
            <a:spAutoFit/>
          </a:bodyPr>
          <a:lstStyle/>
          <a:p>
            <a:r>
              <a:rPr sz="1011" b="0">
                <a:solidFill>
                  <a:srgbClr val="252423"/>
                </a:solidFill>
                <a:latin typeface="Segoe UI"/>
              </a:rPr>
              <a:t>CAGR of</a:t>
            </a:r>
          </a:p>
        </p:txBody>
      </p:sp>
      <p:pic>
        <p:nvPicPr>
          <p:cNvPr id="81" name="Picture 80" descr="lock.png"/>
          <p:cNvPicPr>
            <a:picLocks noChangeAspect="1"/>
          </p:cNvPicPr>
          <p:nvPr/>
        </p:nvPicPr>
        <p:blipFill>
          <a:blip r:embed="rId16"/>
          <a:stretch>
            <a:fillRect/>
          </a:stretch>
        </p:blipFill>
        <p:spPr>
          <a:xfrm>
            <a:off x="985972" y="4683126"/>
            <a:ext cx="118403" cy="172222"/>
          </a:xfrm>
          <a:prstGeom prst="rect">
            <a:avLst/>
          </a:prstGeom>
        </p:spPr>
      </p:pic>
      <p:sp>
        <p:nvSpPr>
          <p:cNvPr id="82" name="TextBox 81"/>
          <p:cNvSpPr txBox="1"/>
          <p:nvPr/>
        </p:nvSpPr>
        <p:spPr>
          <a:xfrm>
            <a:off x="1140068" y="4692123"/>
            <a:ext cx="2110901" cy="173278"/>
          </a:xfrm>
          <a:prstGeom prst="rect">
            <a:avLst/>
          </a:prstGeom>
          <a:noFill/>
        </p:spPr>
        <p:txBody>
          <a:bodyPr wrap="none" lIns="0" rIns="0" tIns="0" bIns="0">
            <a:spAutoFit/>
          </a:bodyPr>
          <a:lstStyle/>
          <a:p>
            <a:r>
              <a:rPr sz="1011" b="0">
                <a:solidFill>
                  <a:srgbClr val="252423"/>
                </a:solidFill>
                <a:latin typeface="Segoe UI"/>
              </a:rPr>
              <a:t>over the forecast period. In terms of</a:t>
            </a:r>
          </a:p>
        </p:txBody>
      </p:sp>
      <p:sp>
        <p:nvSpPr>
          <p:cNvPr id="83" name="TextBox 82"/>
          <p:cNvSpPr txBox="1"/>
          <p:nvPr/>
        </p:nvSpPr>
        <p:spPr>
          <a:xfrm>
            <a:off x="485775" y="4846352"/>
            <a:ext cx="2914650" cy="173278"/>
          </a:xfrm>
          <a:prstGeom prst="rect">
            <a:avLst/>
          </a:prstGeom>
          <a:noFill/>
        </p:spPr>
        <p:txBody>
          <a:bodyPr wrap="none" lIns="0" rIns="0" tIns="0" bIns="0">
            <a:spAutoFit/>
          </a:bodyPr>
          <a:lstStyle/>
          <a:p>
            <a:r>
              <a:rPr sz="1011" b="0">
                <a:solidFill>
                  <a:srgbClr val="252423"/>
                </a:solidFill>
                <a:latin typeface="Segoe UI"/>
              </a:rPr>
              <a:t>value share by system application, the professional</a:t>
            </a:r>
          </a:p>
        </p:txBody>
      </p:sp>
      <p:sp>
        <p:nvSpPr>
          <p:cNvPr id="84" name="TextBox 83"/>
          <p:cNvSpPr txBox="1"/>
          <p:nvPr/>
        </p:nvSpPr>
        <p:spPr>
          <a:xfrm>
            <a:off x="485775" y="5000581"/>
            <a:ext cx="2914650" cy="173278"/>
          </a:xfrm>
          <a:prstGeom prst="rect">
            <a:avLst/>
          </a:prstGeom>
          <a:noFill/>
        </p:spPr>
        <p:txBody>
          <a:bodyPr wrap="none" lIns="0" rIns="0" tIns="0" bIns="0">
            <a:spAutoFit/>
          </a:bodyPr>
          <a:lstStyle/>
          <a:p>
            <a:r>
              <a:rPr sz="1011" b="0">
                <a:solidFill>
                  <a:srgbClr val="252423"/>
                </a:solidFill>
                <a:latin typeface="Segoe UI"/>
              </a:rPr>
              <a:t>&amp; specialized portable power segment is expected</a:t>
            </a:r>
          </a:p>
        </p:txBody>
      </p:sp>
      <p:sp>
        <p:nvSpPr>
          <p:cNvPr id="85" name="TextBox 84"/>
          <p:cNvSpPr txBox="1"/>
          <p:nvPr/>
        </p:nvSpPr>
        <p:spPr>
          <a:xfrm>
            <a:off x="485775" y="5154809"/>
            <a:ext cx="1826013" cy="173278"/>
          </a:xfrm>
          <a:prstGeom prst="rect">
            <a:avLst/>
          </a:prstGeom>
          <a:noFill/>
        </p:spPr>
        <p:txBody>
          <a:bodyPr wrap="none" lIns="0" rIns="0" tIns="0" bIns="0">
            <a:spAutoFit/>
          </a:bodyPr>
          <a:lstStyle/>
          <a:p>
            <a:r>
              <a:rPr sz="1011" b="0">
                <a:solidFill>
                  <a:srgbClr val="252423"/>
                </a:solidFill>
                <a:latin typeface="Segoe UI"/>
              </a:rPr>
              <a:t>to dominate the market, losing</a:t>
            </a:r>
          </a:p>
        </p:txBody>
      </p:sp>
      <p:pic>
        <p:nvPicPr>
          <p:cNvPr id="86" name="Picture 85" descr="lock.png"/>
          <p:cNvPicPr>
            <a:picLocks noChangeAspect="1"/>
          </p:cNvPicPr>
          <p:nvPr/>
        </p:nvPicPr>
        <p:blipFill>
          <a:blip r:embed="rId16"/>
          <a:stretch>
            <a:fillRect/>
          </a:stretch>
        </p:blipFill>
        <p:spPr>
          <a:xfrm>
            <a:off x="2257900" y="5145813"/>
            <a:ext cx="118403" cy="172222"/>
          </a:xfrm>
          <a:prstGeom prst="rect">
            <a:avLst/>
          </a:prstGeom>
        </p:spPr>
      </p:pic>
      <p:sp>
        <p:nvSpPr>
          <p:cNvPr id="87" name="TextBox 86"/>
          <p:cNvSpPr txBox="1"/>
          <p:nvPr/>
        </p:nvSpPr>
        <p:spPr>
          <a:xfrm>
            <a:off x="2411996" y="5154809"/>
            <a:ext cx="539589" cy="173278"/>
          </a:xfrm>
          <a:prstGeom prst="rect">
            <a:avLst/>
          </a:prstGeom>
          <a:noFill/>
        </p:spPr>
        <p:txBody>
          <a:bodyPr wrap="none" lIns="0" rIns="0" tIns="0" bIns="0">
            <a:spAutoFit/>
          </a:bodyPr>
          <a:lstStyle/>
          <a:p>
            <a:r>
              <a:rPr sz="1011" b="0">
                <a:solidFill>
                  <a:srgbClr val="252423"/>
                </a:solidFill>
                <a:latin typeface="Segoe UI"/>
              </a:rPr>
              <a:t>BPS and</a:t>
            </a:r>
          </a:p>
        </p:txBody>
      </p:sp>
      <p:sp>
        <p:nvSpPr>
          <p:cNvPr id="88" name="TextBox 87"/>
          <p:cNvSpPr txBox="1"/>
          <p:nvPr/>
        </p:nvSpPr>
        <p:spPr>
          <a:xfrm>
            <a:off x="485775" y="5309038"/>
            <a:ext cx="900309" cy="173278"/>
          </a:xfrm>
          <a:prstGeom prst="rect">
            <a:avLst/>
          </a:prstGeom>
          <a:noFill/>
        </p:spPr>
        <p:txBody>
          <a:bodyPr wrap="none" lIns="0" rIns="0" tIns="0" bIns="0">
            <a:spAutoFit/>
          </a:bodyPr>
          <a:lstStyle/>
          <a:p>
            <a:r>
              <a:rPr sz="1011" b="0">
                <a:solidFill>
                  <a:srgbClr val="252423"/>
                </a:solidFill>
                <a:latin typeface="Segoe UI"/>
              </a:rPr>
              <a:t>accounting for</a:t>
            </a:r>
          </a:p>
        </p:txBody>
      </p:sp>
      <p:pic>
        <p:nvPicPr>
          <p:cNvPr id="89" name="Picture 88" descr="lock.png"/>
          <p:cNvPicPr>
            <a:picLocks noChangeAspect="1"/>
          </p:cNvPicPr>
          <p:nvPr/>
        </p:nvPicPr>
        <p:blipFill>
          <a:blip r:embed="rId16"/>
          <a:stretch>
            <a:fillRect/>
          </a:stretch>
        </p:blipFill>
        <p:spPr>
          <a:xfrm>
            <a:off x="1332196" y="5300041"/>
            <a:ext cx="118403" cy="172222"/>
          </a:xfrm>
          <a:prstGeom prst="rect">
            <a:avLst/>
          </a:prstGeom>
        </p:spPr>
      </p:pic>
      <p:sp>
        <p:nvSpPr>
          <p:cNvPr id="90" name="TextBox 89"/>
          <p:cNvSpPr txBox="1"/>
          <p:nvPr/>
        </p:nvSpPr>
        <p:spPr>
          <a:xfrm>
            <a:off x="1486292" y="5309038"/>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91" name="TextBox 90"/>
          <p:cNvSpPr txBox="1"/>
          <p:nvPr/>
        </p:nvSpPr>
        <p:spPr>
          <a:xfrm>
            <a:off x="485775" y="5509536"/>
            <a:ext cx="2914650" cy="173278"/>
          </a:xfrm>
          <a:prstGeom prst="rect">
            <a:avLst/>
          </a:prstGeom>
          <a:noFill/>
        </p:spPr>
        <p:txBody>
          <a:bodyPr wrap="none" lIns="0" rIns="0" tIns="0" bIns="0">
            <a:spAutoFit/>
          </a:bodyPr>
          <a:lstStyle/>
          <a:p>
            <a:r>
              <a:rPr sz="1011" b="0">
                <a:solidFill>
                  <a:srgbClr val="252423"/>
                </a:solidFill>
                <a:latin typeface="Segoe UI"/>
              </a:rPr>
              <a:t>Professional &amp; specialized portable power segment</a:t>
            </a:r>
          </a:p>
        </p:txBody>
      </p:sp>
      <p:sp>
        <p:nvSpPr>
          <p:cNvPr id="92" name="TextBox 91"/>
          <p:cNvSpPr txBox="1"/>
          <p:nvPr/>
        </p:nvSpPr>
        <p:spPr>
          <a:xfrm>
            <a:off x="485775" y="5663764"/>
            <a:ext cx="1355313" cy="173278"/>
          </a:xfrm>
          <a:prstGeom prst="rect">
            <a:avLst/>
          </a:prstGeom>
          <a:noFill/>
        </p:spPr>
        <p:txBody>
          <a:bodyPr wrap="none" lIns="0" rIns="0" tIns="0" bIns="0">
            <a:spAutoFit/>
          </a:bodyPr>
          <a:lstStyle/>
          <a:p>
            <a:r>
              <a:rPr sz="1011" b="0">
                <a:solidFill>
                  <a:srgbClr val="252423"/>
                </a:solidFill>
                <a:latin typeface="Segoe UI"/>
              </a:rPr>
              <a:t>is projected to register</a:t>
            </a:r>
          </a:p>
        </p:txBody>
      </p:sp>
      <p:pic>
        <p:nvPicPr>
          <p:cNvPr id="93" name="Picture 92" descr="lock.png"/>
          <p:cNvPicPr>
            <a:picLocks noChangeAspect="1"/>
          </p:cNvPicPr>
          <p:nvPr/>
        </p:nvPicPr>
        <p:blipFill>
          <a:blip r:embed="rId16"/>
          <a:stretch>
            <a:fillRect/>
          </a:stretch>
        </p:blipFill>
        <p:spPr>
          <a:xfrm>
            <a:off x="1787199" y="5654768"/>
            <a:ext cx="118403" cy="172222"/>
          </a:xfrm>
          <a:prstGeom prst="rect">
            <a:avLst/>
          </a:prstGeom>
        </p:spPr>
      </p:pic>
      <p:sp>
        <p:nvSpPr>
          <p:cNvPr id="94" name="TextBox 93"/>
          <p:cNvSpPr txBox="1"/>
          <p:nvPr/>
        </p:nvSpPr>
        <p:spPr>
          <a:xfrm>
            <a:off x="1941296" y="5663764"/>
            <a:ext cx="1174894" cy="173278"/>
          </a:xfrm>
          <a:prstGeom prst="rect">
            <a:avLst/>
          </a:prstGeom>
          <a:noFill/>
        </p:spPr>
        <p:txBody>
          <a:bodyPr wrap="none" lIns="0" rIns="0" tIns="0" bIns="0">
            <a:spAutoFit/>
          </a:bodyPr>
          <a:lstStyle/>
          <a:p>
            <a:r>
              <a:rPr sz="1011" b="0">
                <a:solidFill>
                  <a:srgbClr val="252423"/>
                </a:solidFill>
                <a:latin typeface="Segoe UI"/>
              </a:rPr>
              <a:t>X higher value than</a:t>
            </a:r>
          </a:p>
        </p:txBody>
      </p:sp>
      <p:sp>
        <p:nvSpPr>
          <p:cNvPr id="95" name="TextBox 94"/>
          <p:cNvSpPr txBox="1"/>
          <p:nvPr/>
        </p:nvSpPr>
        <p:spPr>
          <a:xfrm>
            <a:off x="485775" y="5817993"/>
            <a:ext cx="2777875" cy="173278"/>
          </a:xfrm>
          <a:prstGeom prst="rect">
            <a:avLst/>
          </a:prstGeom>
          <a:noFill/>
        </p:spPr>
        <p:txBody>
          <a:bodyPr wrap="none" lIns="0" rIns="0" tIns="0" bIns="0">
            <a:spAutoFit/>
          </a:bodyPr>
          <a:lstStyle/>
          <a:p>
            <a:r>
              <a:rPr sz="1011" b="0">
                <a:solidFill>
                  <a:srgbClr val="252423"/>
                </a:solidFill>
                <a:latin typeface="Segoe UI"/>
              </a:rPr>
              <a:t>outdoor &amp; recreational power segment in 2036.</a:t>
            </a:r>
          </a:p>
        </p:txBody>
      </p:sp>
      <p:sp>
        <p:nvSpPr>
          <p:cNvPr id="96" name="TextBox 95"/>
          <p:cNvSpPr txBox="1"/>
          <p:nvPr/>
        </p:nvSpPr>
        <p:spPr>
          <a:xfrm>
            <a:off x="3838575" y="4229437"/>
            <a:ext cx="2822365" cy="186689"/>
          </a:xfrm>
          <a:prstGeom prst="rect">
            <a:avLst/>
          </a:prstGeom>
          <a:noFill/>
        </p:spPr>
        <p:txBody>
          <a:bodyPr wrap="none" lIns="0" rIns="0" tIns="0" bIns="0">
            <a:spAutoFit/>
          </a:bodyPr>
          <a:lstStyle/>
          <a:p>
            <a:r>
              <a:rPr sz="1100" b="0">
                <a:solidFill>
                  <a:srgbClr val="252423"/>
                </a:solidFill>
                <a:latin typeface="Segoe UI"/>
              </a:rPr>
              <a:t>● Professional &amp; Specialized Portable Power:</a:t>
            </a:r>
          </a:p>
        </p:txBody>
      </p:sp>
      <p:pic>
        <p:nvPicPr>
          <p:cNvPr id="97" name="Picture 96" descr="lock.png"/>
          <p:cNvPicPr>
            <a:picLocks noChangeAspect="1"/>
          </p:cNvPicPr>
          <p:nvPr/>
        </p:nvPicPr>
        <p:blipFill>
          <a:blip r:embed="rId16"/>
          <a:stretch>
            <a:fillRect/>
          </a:stretch>
        </p:blipFill>
        <p:spPr>
          <a:xfrm>
            <a:off x="6608992" y="4219658"/>
            <a:ext cx="128699" cy="187198"/>
          </a:xfrm>
          <a:prstGeom prst="rect">
            <a:avLst/>
          </a:prstGeom>
        </p:spPr>
      </p:pic>
      <p:sp>
        <p:nvSpPr>
          <p:cNvPr id="98" name="TextBox 97"/>
          <p:cNvSpPr txBox="1"/>
          <p:nvPr/>
        </p:nvSpPr>
        <p:spPr>
          <a:xfrm>
            <a:off x="6776488"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9" name="Picture 98" descr="lock.png"/>
          <p:cNvPicPr>
            <a:picLocks noChangeAspect="1"/>
          </p:cNvPicPr>
          <p:nvPr/>
        </p:nvPicPr>
        <p:blipFill>
          <a:blip r:embed="rId16"/>
          <a:stretch>
            <a:fillRect/>
          </a:stretch>
        </p:blipFill>
        <p:spPr>
          <a:xfrm>
            <a:off x="3825107" y="4387298"/>
            <a:ext cx="128699" cy="187198"/>
          </a:xfrm>
          <a:prstGeom prst="rect">
            <a:avLst/>
          </a:prstGeom>
        </p:spPr>
      </p:pic>
      <p:sp>
        <p:nvSpPr>
          <p:cNvPr id="100" name="TextBox 99"/>
          <p:cNvSpPr txBox="1"/>
          <p:nvPr/>
        </p:nvSpPr>
        <p:spPr>
          <a:xfrm>
            <a:off x="3992603" y="4397077"/>
            <a:ext cx="1631151" cy="186689"/>
          </a:xfrm>
          <a:prstGeom prst="rect">
            <a:avLst/>
          </a:prstGeom>
          <a:noFill/>
        </p:spPr>
        <p:txBody>
          <a:bodyPr wrap="none" lIns="0" rIns="0" tIns="0" bIns="0">
            <a:spAutoFit/>
          </a:bodyPr>
          <a:lstStyle/>
          <a:p>
            <a:r>
              <a:rPr sz="1100" b="0">
                <a:solidFill>
                  <a:srgbClr val="252423"/>
                </a:solidFill>
                <a:latin typeface="Segoe UI"/>
              </a:rPr>
              <a:t>CAGR leads the segment.</a:t>
            </a:r>
          </a:p>
        </p:txBody>
      </p:sp>
      <p:sp>
        <p:nvSpPr>
          <p:cNvPr id="101" name="TextBox 100"/>
          <p:cNvSpPr txBox="1"/>
          <p:nvPr/>
        </p:nvSpPr>
        <p:spPr>
          <a:xfrm>
            <a:off x="3838575" y="4615009"/>
            <a:ext cx="2126287" cy="186689"/>
          </a:xfrm>
          <a:prstGeom prst="rect">
            <a:avLst/>
          </a:prstGeom>
          <a:noFill/>
        </p:spPr>
        <p:txBody>
          <a:bodyPr wrap="none" lIns="0" rIns="0" tIns="0" bIns="0">
            <a:spAutoFit/>
          </a:bodyPr>
          <a:lstStyle/>
          <a:p>
            <a:r>
              <a:rPr sz="1100" b="0">
                <a:solidFill>
                  <a:srgbClr val="252423"/>
                </a:solidFill>
                <a:latin typeface="Segoe UI"/>
              </a:rPr>
              <a:t>● Outdoor &amp; Recreational Power:</a:t>
            </a:r>
          </a:p>
        </p:txBody>
      </p:sp>
      <p:pic>
        <p:nvPicPr>
          <p:cNvPr id="102" name="Picture 101" descr="lock.png"/>
          <p:cNvPicPr>
            <a:picLocks noChangeAspect="1"/>
          </p:cNvPicPr>
          <p:nvPr/>
        </p:nvPicPr>
        <p:blipFill>
          <a:blip r:embed="rId16"/>
          <a:stretch>
            <a:fillRect/>
          </a:stretch>
        </p:blipFill>
        <p:spPr>
          <a:xfrm>
            <a:off x="5912913" y="4605230"/>
            <a:ext cx="128699" cy="187198"/>
          </a:xfrm>
          <a:prstGeom prst="rect">
            <a:avLst/>
          </a:prstGeom>
        </p:spPr>
      </p:pic>
      <p:sp>
        <p:nvSpPr>
          <p:cNvPr id="103" name="TextBox 102"/>
          <p:cNvSpPr txBox="1"/>
          <p:nvPr/>
        </p:nvSpPr>
        <p:spPr>
          <a:xfrm>
            <a:off x="6080409"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4" name="Picture 103" descr="lock.png"/>
          <p:cNvPicPr>
            <a:picLocks noChangeAspect="1"/>
          </p:cNvPicPr>
          <p:nvPr/>
        </p:nvPicPr>
        <p:blipFill>
          <a:blip r:embed="rId16"/>
          <a:stretch>
            <a:fillRect/>
          </a:stretch>
        </p:blipFill>
        <p:spPr>
          <a:xfrm>
            <a:off x="7000356" y="4605230"/>
            <a:ext cx="128699" cy="187198"/>
          </a:xfrm>
          <a:prstGeom prst="rect">
            <a:avLst/>
          </a:prstGeom>
        </p:spPr>
      </p:pic>
      <p:sp>
        <p:nvSpPr>
          <p:cNvPr id="105" name="TextBox 104"/>
          <p:cNvSpPr txBox="1"/>
          <p:nvPr/>
        </p:nvSpPr>
        <p:spPr>
          <a:xfrm>
            <a:off x="7167852"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6" name="TextBox 105"/>
          <p:cNvSpPr txBox="1"/>
          <p:nvPr/>
        </p:nvSpPr>
        <p:spPr>
          <a:xfrm>
            <a:off x="3838575" y="4782649"/>
            <a:ext cx="918991" cy="186689"/>
          </a:xfrm>
          <a:prstGeom prst="rect">
            <a:avLst/>
          </a:prstGeom>
          <a:noFill/>
        </p:spPr>
        <p:txBody>
          <a:bodyPr wrap="none" lIns="0" rIns="0" tIns="0" bIns="0">
            <a:spAutoFit/>
          </a:bodyPr>
          <a:lstStyle/>
          <a:p>
            <a:r>
              <a:rPr sz="1100" b="0">
                <a:solidFill>
                  <a:srgbClr val="252423"/>
                </a:solidFill>
                <a:latin typeface="Segoe UI"/>
              </a:rPr>
              <a:t>grows fastest.</a:t>
            </a:r>
          </a:p>
        </p:txBody>
      </p:sp>
      <p:sp>
        <p:nvSpPr>
          <p:cNvPr id="107" name="TextBox 106"/>
          <p:cNvSpPr txBox="1"/>
          <p:nvPr/>
        </p:nvSpPr>
        <p:spPr>
          <a:xfrm>
            <a:off x="3838575" y="5000581"/>
            <a:ext cx="1826632" cy="186689"/>
          </a:xfrm>
          <a:prstGeom prst="rect">
            <a:avLst/>
          </a:prstGeom>
          <a:noFill/>
        </p:spPr>
        <p:txBody>
          <a:bodyPr wrap="none" lIns="0" rIns="0" tIns="0" bIns="0">
            <a:spAutoFit/>
          </a:bodyPr>
          <a:lstStyle/>
          <a:p>
            <a:r>
              <a:rPr sz="1100" b="0">
                <a:solidFill>
                  <a:srgbClr val="252423"/>
                </a:solidFill>
                <a:latin typeface="Segoe UI"/>
              </a:rPr>
              <a:t>● Off-Grid &amp; Remote Power:</a:t>
            </a:r>
          </a:p>
        </p:txBody>
      </p:sp>
      <p:pic>
        <p:nvPicPr>
          <p:cNvPr id="108" name="Picture 107" descr="lock.png"/>
          <p:cNvPicPr>
            <a:picLocks noChangeAspect="1"/>
          </p:cNvPicPr>
          <p:nvPr/>
        </p:nvPicPr>
        <p:blipFill>
          <a:blip r:embed="rId16"/>
          <a:stretch>
            <a:fillRect/>
          </a:stretch>
        </p:blipFill>
        <p:spPr>
          <a:xfrm>
            <a:off x="5613258" y="4990801"/>
            <a:ext cx="128699" cy="187198"/>
          </a:xfrm>
          <a:prstGeom prst="rect">
            <a:avLst/>
          </a:prstGeom>
        </p:spPr>
      </p:pic>
      <p:sp>
        <p:nvSpPr>
          <p:cNvPr id="109" name="TextBox 108"/>
          <p:cNvSpPr txBox="1"/>
          <p:nvPr/>
        </p:nvSpPr>
        <p:spPr>
          <a:xfrm>
            <a:off x="5780754"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0" name="Picture 109" descr="lock.png"/>
          <p:cNvPicPr>
            <a:picLocks noChangeAspect="1"/>
          </p:cNvPicPr>
          <p:nvPr/>
        </p:nvPicPr>
        <p:blipFill>
          <a:blip r:embed="rId16"/>
          <a:stretch>
            <a:fillRect/>
          </a:stretch>
        </p:blipFill>
        <p:spPr>
          <a:xfrm>
            <a:off x="6700701" y="4990801"/>
            <a:ext cx="128699" cy="187198"/>
          </a:xfrm>
          <a:prstGeom prst="rect">
            <a:avLst/>
          </a:prstGeom>
        </p:spPr>
      </p:pic>
      <p:sp>
        <p:nvSpPr>
          <p:cNvPr id="111" name="TextBox 110"/>
          <p:cNvSpPr txBox="1"/>
          <p:nvPr/>
        </p:nvSpPr>
        <p:spPr>
          <a:xfrm>
            <a:off x="6868197" y="5000581"/>
            <a:ext cx="850326" cy="186689"/>
          </a:xfrm>
          <a:prstGeom prst="rect">
            <a:avLst/>
          </a:prstGeom>
          <a:noFill/>
        </p:spPr>
        <p:txBody>
          <a:bodyPr wrap="none" lIns="0" rIns="0" tIns="0" bIns="0">
            <a:spAutoFit/>
          </a:bodyPr>
          <a:lstStyle/>
          <a:p>
            <a:r>
              <a:rPr sz="1100" b="0">
                <a:solidFill>
                  <a:srgbClr val="252423"/>
                </a:solidFill>
                <a:latin typeface="Segoe UI"/>
              </a:rPr>
              <a:t>CAGR serves</a:t>
            </a:r>
          </a:p>
        </p:txBody>
      </p:sp>
      <p:sp>
        <p:nvSpPr>
          <p:cNvPr id="112" name="TextBox 111"/>
          <p:cNvSpPr txBox="1"/>
          <p:nvPr/>
        </p:nvSpPr>
        <p:spPr>
          <a:xfrm>
            <a:off x="3838575" y="5168221"/>
            <a:ext cx="545777" cy="186689"/>
          </a:xfrm>
          <a:prstGeom prst="rect">
            <a:avLst/>
          </a:prstGeom>
          <a:noFill/>
        </p:spPr>
        <p:txBody>
          <a:bodyPr wrap="none" lIns="0" rIns="0" tIns="0" bIns="0">
            <a:spAutoFit/>
          </a:bodyPr>
          <a:lstStyle/>
          <a:p>
            <a:r>
              <a:rPr sz="1100" b="0">
                <a:solidFill>
                  <a:srgbClr val="252423"/>
                </a:solidFill>
                <a:latin typeface="Segoe UI"/>
              </a:rPr>
              <a:t>a niche.</a:t>
            </a:r>
          </a:p>
        </p:txBody>
      </p:sp>
      <p:sp>
        <p:nvSpPr>
          <p:cNvPr id="113" name="TextBox 112"/>
          <p:cNvSpPr txBox="1"/>
          <p:nvPr/>
        </p:nvSpPr>
        <p:spPr>
          <a:xfrm>
            <a:off x="3838575" y="5386153"/>
            <a:ext cx="1651627" cy="186689"/>
          </a:xfrm>
          <a:prstGeom prst="rect">
            <a:avLst/>
          </a:prstGeom>
          <a:noFill/>
        </p:spPr>
        <p:txBody>
          <a:bodyPr wrap="none" lIns="0" rIns="0" tIns="0" bIns="0">
            <a:spAutoFit/>
          </a:bodyPr>
          <a:lstStyle/>
          <a:p>
            <a:r>
              <a:rPr sz="1100" b="0">
                <a:solidFill>
                  <a:srgbClr val="252423"/>
                </a:solidFill>
                <a:latin typeface="Segoe UI"/>
              </a:rPr>
              <a:t>● Portable Backup Power:</a:t>
            </a:r>
          </a:p>
        </p:txBody>
      </p:sp>
      <p:pic>
        <p:nvPicPr>
          <p:cNvPr id="114" name="Picture 113" descr="lock.png"/>
          <p:cNvPicPr>
            <a:picLocks noChangeAspect="1"/>
          </p:cNvPicPr>
          <p:nvPr/>
        </p:nvPicPr>
        <p:blipFill>
          <a:blip r:embed="rId16"/>
          <a:stretch>
            <a:fillRect/>
          </a:stretch>
        </p:blipFill>
        <p:spPr>
          <a:xfrm>
            <a:off x="5438254" y="5376373"/>
            <a:ext cx="128699" cy="187198"/>
          </a:xfrm>
          <a:prstGeom prst="rect">
            <a:avLst/>
          </a:prstGeom>
        </p:spPr>
      </p:pic>
      <p:sp>
        <p:nvSpPr>
          <p:cNvPr id="115" name="TextBox 114"/>
          <p:cNvSpPr txBox="1"/>
          <p:nvPr/>
        </p:nvSpPr>
        <p:spPr>
          <a:xfrm>
            <a:off x="5605750"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6525696" y="5376373"/>
            <a:ext cx="128699" cy="187198"/>
          </a:xfrm>
          <a:prstGeom prst="rect">
            <a:avLst/>
          </a:prstGeom>
        </p:spPr>
      </p:pic>
      <p:sp>
        <p:nvSpPr>
          <p:cNvPr id="117" name="TextBox 116"/>
          <p:cNvSpPr txBox="1"/>
          <p:nvPr/>
        </p:nvSpPr>
        <p:spPr>
          <a:xfrm>
            <a:off x="6693192" y="5386153"/>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8" name="TextBox 117"/>
          <p:cNvSpPr txBox="1"/>
          <p:nvPr/>
        </p:nvSpPr>
        <p:spPr>
          <a:xfrm>
            <a:off x="3838575" y="5553793"/>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9" name="TextBox 118"/>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System Application segment is projected</a:t>
            </a:r>
          </a:p>
        </p:txBody>
      </p:sp>
      <p:sp>
        <p:nvSpPr>
          <p:cNvPr id="120" name="TextBox 119"/>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121" name="Picture 120" descr="lock.png"/>
          <p:cNvPicPr>
            <a:picLocks noChangeAspect="1"/>
          </p:cNvPicPr>
          <p:nvPr/>
        </p:nvPicPr>
        <p:blipFill>
          <a:blip r:embed="rId16"/>
          <a:stretch>
            <a:fillRect/>
          </a:stretch>
        </p:blipFill>
        <p:spPr>
          <a:xfrm>
            <a:off x="10004092" y="6007677"/>
            <a:ext cx="134549" cy="195707"/>
          </a:xfrm>
          <a:prstGeom prst="rect">
            <a:avLst/>
          </a:prstGeom>
        </p:spPr>
      </p:pic>
      <p:sp>
        <p:nvSpPr>
          <p:cNvPr id="122" name="TextBox 121"/>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System Application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System Application mix within each country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Application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System Application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566371" cy="186689"/>
          </a:xfrm>
          <a:prstGeom prst="rect">
            <a:avLst/>
          </a:prstGeom>
          <a:noFill/>
        </p:spPr>
        <p:txBody>
          <a:bodyPr wrap="none" lIns="0" rIns="0" tIns="0" bIns="0">
            <a:spAutoFit/>
          </a:bodyPr>
          <a:lstStyle/>
          <a:p>
            <a:r>
              <a:rPr sz="1100" b="0">
                <a:solidFill>
                  <a:srgbClr val="252423"/>
                </a:solidFill>
                <a:latin typeface="Segoe UI"/>
              </a:rPr>
              <a:t>Professional &amp; specialized portable power followed by outdoor &amp; recreational power are expected to be the two most attractive system application segments in the North America lithium</a:t>
            </a:r>
          </a:p>
        </p:txBody>
      </p:sp>
      <p:sp>
        <p:nvSpPr>
          <p:cNvPr id="18" name="TextBox 17"/>
          <p:cNvSpPr txBox="1"/>
          <p:nvPr/>
        </p:nvSpPr>
        <p:spPr>
          <a:xfrm>
            <a:off x="257175" y="5837872"/>
            <a:ext cx="11449672" cy="186689"/>
          </a:xfrm>
          <a:prstGeom prst="rect">
            <a:avLst/>
          </a:prstGeom>
          <a:noFill/>
        </p:spPr>
        <p:txBody>
          <a:bodyPr wrap="none" lIns="0" rIns="0" tIns="0" bIns="0">
            <a:spAutoFit/>
          </a:bodyPr>
          <a:lstStyle/>
          <a:p>
            <a:r>
              <a:rPr sz="1100" b="0">
                <a:solidFill>
                  <a:srgbClr val="252423"/>
                </a:solidFill>
                <a:latin typeface="Segoe UI"/>
              </a:rPr>
              <a:t>polymer portable energy storage market in terms of value over the forecast period. Professional &amp; specialized portable power and outdoor &amp; recreational power exhibit a CAGR index of</a:t>
            </a:r>
          </a:p>
        </p:txBody>
      </p:sp>
      <p:pic>
        <p:nvPicPr>
          <p:cNvPr id="19" name="Picture 18" descr="lock.png"/>
          <p:cNvPicPr>
            <a:picLocks noChangeAspect="1"/>
          </p:cNvPicPr>
          <p:nvPr/>
        </p:nvPicPr>
        <p:blipFill>
          <a:blip r:embed="rId6"/>
          <a:stretch>
            <a:fillRect/>
          </a:stretch>
        </p:blipFill>
        <p:spPr>
          <a:xfrm>
            <a:off x="11654898" y="5828093"/>
            <a:ext cx="128699" cy="187198"/>
          </a:xfrm>
          <a:prstGeom prst="rect">
            <a:avLst/>
          </a:prstGeom>
        </p:spPr>
      </p:pic>
      <p:sp>
        <p:nvSpPr>
          <p:cNvPr id="20" name="TextBox 19"/>
          <p:cNvSpPr txBox="1"/>
          <p:nvPr/>
        </p:nvSpPr>
        <p:spPr>
          <a:xfrm>
            <a:off x="257175"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14168" y="5995733"/>
            <a:ext cx="128699" cy="187198"/>
          </a:xfrm>
          <a:prstGeom prst="rect">
            <a:avLst/>
          </a:prstGeom>
        </p:spPr>
      </p:pic>
      <p:sp>
        <p:nvSpPr>
          <p:cNvPr id="22" name="TextBox 21"/>
          <p:cNvSpPr txBox="1"/>
          <p:nvPr/>
        </p:nvSpPr>
        <p:spPr>
          <a:xfrm>
            <a:off x="681664"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20404" y="5995733"/>
            <a:ext cx="128699" cy="187198"/>
          </a:xfrm>
          <a:prstGeom prst="rect">
            <a:avLst/>
          </a:prstGeom>
        </p:spPr>
      </p:pic>
      <p:sp>
        <p:nvSpPr>
          <p:cNvPr id="24" name="TextBox 23"/>
          <p:cNvSpPr txBox="1"/>
          <p:nvPr/>
        </p:nvSpPr>
        <p:spPr>
          <a:xfrm>
            <a:off x="258790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844894" y="5995733"/>
            <a:ext cx="128699" cy="187198"/>
          </a:xfrm>
          <a:prstGeom prst="rect">
            <a:avLst/>
          </a:prstGeom>
        </p:spPr>
      </p:pic>
      <p:sp>
        <p:nvSpPr>
          <p:cNvPr id="26" name="TextBox 25"/>
          <p:cNvSpPr txBox="1"/>
          <p:nvPr/>
        </p:nvSpPr>
        <p:spPr>
          <a:xfrm>
            <a:off x="301239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772324" y="5995733"/>
            <a:ext cx="128699" cy="187198"/>
          </a:xfrm>
          <a:prstGeom prst="rect">
            <a:avLst/>
          </a:prstGeom>
        </p:spPr>
      </p:pic>
      <p:sp>
        <p:nvSpPr>
          <p:cNvPr id="28" name="TextBox 27"/>
          <p:cNvSpPr txBox="1"/>
          <p:nvPr/>
        </p:nvSpPr>
        <p:spPr>
          <a:xfrm>
            <a:off x="5939820" y="6005512"/>
            <a:ext cx="5376243" cy="186689"/>
          </a:xfrm>
          <a:prstGeom prst="rect">
            <a:avLst/>
          </a:prstGeom>
          <a:noFill/>
        </p:spPr>
        <p:txBody>
          <a:bodyPr wrap="none" lIns="0" rIns="0" tIns="0" bIns="0">
            <a:spAutoFit/>
          </a:bodyPr>
          <a:lstStyle/>
          <a:p>
            <a:r>
              <a:rPr sz="1100" b="0">
                <a:solidFill>
                  <a:srgbClr val="252423"/>
                </a:solidFill>
                <a:latin typeface="Segoe UI"/>
              </a:rPr>
              <a:t>. The portable backup power segment is expected to be less attractive as compared to</a:t>
            </a:r>
          </a:p>
        </p:txBody>
      </p:sp>
      <p:sp>
        <p:nvSpPr>
          <p:cNvPr id="29" name="TextBox 28"/>
          <p:cNvSpPr txBox="1"/>
          <p:nvPr/>
        </p:nvSpPr>
        <p:spPr>
          <a:xfrm>
            <a:off x="257175" y="6173152"/>
            <a:ext cx="10667150" cy="186689"/>
          </a:xfrm>
          <a:prstGeom prst="rect">
            <a:avLst/>
          </a:prstGeom>
          <a:noFill/>
        </p:spPr>
        <p:txBody>
          <a:bodyPr wrap="none" lIns="0" rIns="0" tIns="0" bIns="0">
            <a:spAutoFit/>
          </a:bodyPr>
          <a:lstStyle/>
          <a:p>
            <a:r>
              <a:rPr sz="1100" b="0">
                <a:solidFill>
                  <a:srgbClr val="252423"/>
                </a:solidFill>
                <a:latin typeface="Segoe UI"/>
              </a:rPr>
              <a:t>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System Application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Portable Backup Power</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Outdoor &amp; Recreational Power</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Off-Grid &amp; Remote Power</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Professional &amp; Specialized Portable Power</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System Application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System Application, 2021–2036, highlighting the sub-segments driving growth</a:t>
            </a:r>
          </a:p>
        </p:txBody>
      </p:sp>
      <p:sp>
        <p:nvSpPr>
          <p:cNvPr id="8" name="Rectangle 7"/>
          <p:cNvSpPr/>
          <p:nvPr/>
        </p:nvSpPr>
        <p:spPr>
          <a:xfrm>
            <a:off x="142875" y="981075"/>
            <a:ext cx="11906250" cy="2876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System Application (US$ Mn)</a:t>
            </a:r>
          </a:p>
        </p:txBody>
      </p:sp>
      <p:graphicFrame>
        <p:nvGraphicFramePr>
          <p:cNvPr id="10" name="Table 9"/>
          <p:cNvGraphicFramePr>
            <a:graphicFrameLocks noGrp="1"/>
          </p:cNvGraphicFramePr>
          <p:nvPr/>
        </p:nvGraphicFramePr>
        <p:xfrm>
          <a:off x="152400" y="1238250"/>
          <a:ext cx="11887204" cy="2409824"/>
        </p:xfrm>
        <a:graphic>
          <a:graphicData uri="http://schemas.openxmlformats.org/drawingml/2006/table">
            <a:tbl>
              <a:tblPr>
                <a:tableStyleId>{5C22544A-7EE6-4342-B048-85BDC9FD1C3A}</a:tableStyleId>
              </a:tblPr>
              <a:tblGrid>
                <a:gridCol w="3320820"/>
                <a:gridCol w="519851"/>
                <a:gridCol w="519851"/>
                <a:gridCol w="519851"/>
                <a:gridCol w="519851"/>
                <a:gridCol w="519851"/>
                <a:gridCol w="495324"/>
                <a:gridCol w="495324"/>
                <a:gridCol w="495324"/>
                <a:gridCol w="495324"/>
                <a:gridCol w="495324"/>
                <a:gridCol w="495324"/>
                <a:gridCol w="495324"/>
                <a:gridCol w="495324"/>
                <a:gridCol w="495324"/>
                <a:gridCol w="495324"/>
                <a:gridCol w="495324"/>
                <a:gridCol w="518565"/>
              </a:tblGrid>
              <a:tr h="438912">
                <a:tc>
                  <a:txBody>
                    <a:bodyPr wrap="none"/>
                    <a:lstStyle/>
                    <a:p>
                      <a:pPr algn="l"/>
                      <a:r>
                        <a:rPr sz="1100" b="1">
                          <a:solidFill>
                            <a:srgbClr val="FFFFFF"/>
                          </a:solidFill>
                          <a:latin typeface="Segoe UI"/>
                        </a:rPr>
                        <a:t>System Application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38100" marR="28575" marT="19050" marB="19050" anchor="ctr">
                    <a:solidFill>
                      <a:srgbClr val="007BA5"/>
                    </a:solidFill>
                  </a:tcPr>
                </a:tc>
              </a:tr>
              <a:tr h="246364">
                <a:tc>
                  <a:txBody>
                    <a:bodyPr wrap="none"/>
                    <a:lstStyle/>
                    <a:p>
                      <a:pPr algn="l"/>
                      <a:r>
                        <a:rPr sz="1100" b="1">
                          <a:solidFill>
                            <a:srgbClr val="252423"/>
                          </a:solidFill>
                          <a:latin typeface="Segoe UI"/>
                        </a:rPr>
                        <a:t>Portable Backup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Outdoor &amp; Recreational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Off-Grid &amp; Remote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Professional &amp; Specialized Portable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Construction &amp; Maintenance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 Emergency Response &amp; Disaster Relief</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Mobile Medical &amp; Communication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990975"/>
            <a:ext cx="11906250" cy="26384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076700"/>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System Application</a:t>
            </a:r>
          </a:p>
        </p:txBody>
      </p:sp>
      <p:sp>
        <p:nvSpPr>
          <p:cNvPr id="14" name="Rectangle 13"/>
          <p:cNvSpPr/>
          <p:nvPr/>
        </p:nvSpPr>
        <p:spPr>
          <a:xfrm>
            <a:off x="276225" y="43148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00550"/>
            <a:ext cx="1163955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569722" y="2395917"/>
            <a:ext cx="366712" cy="533400"/>
          </a:xfrm>
          <a:prstGeom prst="rect">
            <a:avLst/>
          </a:prstGeom>
        </p:spPr>
      </p:pic>
      <p:sp>
        <p:nvSpPr>
          <p:cNvPr id="18" name="TextBox 17"/>
          <p:cNvSpPr txBox="1"/>
          <p:nvPr/>
        </p:nvSpPr>
        <p:spPr>
          <a:xfrm>
            <a:off x="276225" y="4410075"/>
            <a:ext cx="4872329" cy="194310"/>
          </a:xfrm>
          <a:prstGeom prst="rect">
            <a:avLst/>
          </a:prstGeom>
          <a:noFill/>
        </p:spPr>
        <p:txBody>
          <a:bodyPr wrap="none" lIns="0" rIns="0" tIns="0" bIns="0">
            <a:spAutoFit/>
          </a:bodyPr>
          <a:lstStyle/>
          <a:p>
            <a:r>
              <a:rPr sz="1150" b="0">
                <a:solidFill>
                  <a:srgbClr val="252423"/>
                </a:solidFill>
                <a:latin typeface="Segoe UI"/>
              </a:rPr>
              <a:t>Professional &amp; specialized portable power segment is projected to register</a:t>
            </a:r>
          </a:p>
        </p:txBody>
      </p:sp>
      <p:pic>
        <p:nvPicPr>
          <p:cNvPr id="19" name="Picture 18" descr="lock.png"/>
          <p:cNvPicPr>
            <a:picLocks noChangeAspect="1"/>
          </p:cNvPicPr>
          <p:nvPr/>
        </p:nvPicPr>
        <p:blipFill>
          <a:blip r:embed="rId4"/>
          <a:stretch>
            <a:fillRect/>
          </a:stretch>
        </p:blipFill>
        <p:spPr>
          <a:xfrm>
            <a:off x="5097708" y="4399851"/>
            <a:ext cx="134549" cy="195707"/>
          </a:xfrm>
          <a:prstGeom prst="rect">
            <a:avLst/>
          </a:prstGeom>
        </p:spPr>
      </p:pic>
      <p:sp>
        <p:nvSpPr>
          <p:cNvPr id="20" name="TextBox 19"/>
          <p:cNvSpPr txBox="1"/>
          <p:nvPr/>
        </p:nvSpPr>
        <p:spPr>
          <a:xfrm>
            <a:off x="5272818" y="4410075"/>
            <a:ext cx="6590467" cy="194310"/>
          </a:xfrm>
          <a:prstGeom prst="rect">
            <a:avLst/>
          </a:prstGeom>
          <a:noFill/>
        </p:spPr>
        <p:txBody>
          <a:bodyPr wrap="none" lIns="0" rIns="0" tIns="0" bIns="0">
            <a:spAutoFit/>
          </a:bodyPr>
          <a:lstStyle/>
          <a:p>
            <a:r>
              <a:rPr sz="1150" b="0">
                <a:solidFill>
                  <a:srgbClr val="252423"/>
                </a:solidFill>
                <a:latin typeface="Segoe UI"/>
              </a:rPr>
              <a:t>X higher value than outdoor &amp; recreational power segment in 2036. Among lithium polymer portable</a:t>
            </a:r>
          </a:p>
        </p:txBody>
      </p:sp>
      <p:sp>
        <p:nvSpPr>
          <p:cNvPr id="21" name="TextBox 20"/>
          <p:cNvSpPr txBox="1"/>
          <p:nvPr/>
        </p:nvSpPr>
        <p:spPr>
          <a:xfrm>
            <a:off x="276225" y="4585335"/>
            <a:ext cx="7874480" cy="194310"/>
          </a:xfrm>
          <a:prstGeom prst="rect">
            <a:avLst/>
          </a:prstGeom>
          <a:noFill/>
        </p:spPr>
        <p:txBody>
          <a:bodyPr wrap="none" lIns="0" rIns="0" tIns="0" bIns="0">
            <a:spAutoFit/>
          </a:bodyPr>
          <a:lstStyle/>
          <a:p>
            <a:r>
              <a:rPr sz="1150" b="0">
                <a:solidFill>
                  <a:srgbClr val="252423"/>
                </a:solidFill>
                <a:latin typeface="Segoe UI"/>
              </a:rPr>
              <a:t>energy storage by system application, outdoor &amp; recreational power segment is expected to witness the highest CAGR of</a:t>
            </a:r>
          </a:p>
        </p:txBody>
      </p:sp>
      <p:pic>
        <p:nvPicPr>
          <p:cNvPr id="22" name="Picture 21" descr="lock.png"/>
          <p:cNvPicPr>
            <a:picLocks noChangeAspect="1"/>
          </p:cNvPicPr>
          <p:nvPr/>
        </p:nvPicPr>
        <p:blipFill>
          <a:blip r:embed="rId4"/>
          <a:stretch>
            <a:fillRect/>
          </a:stretch>
        </p:blipFill>
        <p:spPr>
          <a:xfrm>
            <a:off x="8099859" y="4575111"/>
            <a:ext cx="134549" cy="195707"/>
          </a:xfrm>
          <a:prstGeom prst="rect">
            <a:avLst/>
          </a:prstGeom>
        </p:spPr>
      </p:pic>
      <p:sp>
        <p:nvSpPr>
          <p:cNvPr id="23" name="TextBox 22"/>
          <p:cNvSpPr txBox="1"/>
          <p:nvPr/>
        </p:nvSpPr>
        <p:spPr>
          <a:xfrm>
            <a:off x="8274968" y="45853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813172"/>
            <a:ext cx="9391473" cy="194310"/>
          </a:xfrm>
          <a:prstGeom prst="rect">
            <a:avLst/>
          </a:prstGeom>
          <a:noFill/>
        </p:spPr>
        <p:txBody>
          <a:bodyPr wrap="none" lIns="0" rIns="0" tIns="0" bIns="0">
            <a:spAutoFit/>
          </a:bodyPr>
          <a:lstStyle/>
          <a:p>
            <a:r>
              <a:rPr sz="1150" b="0">
                <a:solidFill>
                  <a:srgbClr val="252423"/>
                </a:solidFill>
                <a:latin typeface="Segoe UI"/>
              </a:rPr>
              <a:t>In terms of value share by system application, the professional &amp; specialized portable power segment is expected to dominate the market, losing</a:t>
            </a:r>
          </a:p>
        </p:txBody>
      </p:sp>
      <p:pic>
        <p:nvPicPr>
          <p:cNvPr id="25" name="Picture 24" descr="lock.png"/>
          <p:cNvPicPr>
            <a:picLocks noChangeAspect="1"/>
          </p:cNvPicPr>
          <p:nvPr/>
        </p:nvPicPr>
        <p:blipFill>
          <a:blip r:embed="rId4"/>
          <a:stretch>
            <a:fillRect/>
          </a:stretch>
        </p:blipFill>
        <p:spPr>
          <a:xfrm>
            <a:off x="9616852" y="4802949"/>
            <a:ext cx="134549" cy="195707"/>
          </a:xfrm>
          <a:prstGeom prst="rect">
            <a:avLst/>
          </a:prstGeom>
        </p:spPr>
      </p:pic>
      <p:sp>
        <p:nvSpPr>
          <p:cNvPr id="26" name="TextBox 25"/>
          <p:cNvSpPr txBox="1"/>
          <p:nvPr/>
        </p:nvSpPr>
        <p:spPr>
          <a:xfrm>
            <a:off x="9791962" y="481317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1320318" y="4802949"/>
            <a:ext cx="134549" cy="195707"/>
          </a:xfrm>
          <a:prstGeom prst="rect">
            <a:avLst/>
          </a:prstGeom>
        </p:spPr>
      </p:pic>
      <p:sp>
        <p:nvSpPr>
          <p:cNvPr id="28" name="TextBox 27"/>
          <p:cNvSpPr txBox="1"/>
          <p:nvPr/>
        </p:nvSpPr>
        <p:spPr>
          <a:xfrm>
            <a:off x="276225" y="4988432"/>
            <a:ext cx="4654485" cy="194310"/>
          </a:xfrm>
          <a:prstGeom prst="rect">
            <a:avLst/>
          </a:prstGeom>
          <a:noFill/>
        </p:spPr>
        <p:txBody>
          <a:bodyPr wrap="none" lIns="0" rIns="0" tIns="0" bIns="0">
            <a:spAutoFit/>
          </a:bodyPr>
          <a:lstStyle/>
          <a:p>
            <a:r>
              <a:rPr sz="1150" b="0">
                <a:solidFill>
                  <a:srgbClr val="252423"/>
                </a:solidFill>
                <a:latin typeface="Segoe UI"/>
              </a:rPr>
              <a:t>share by 2036. The portable backup power segment is expected to lose</a:t>
            </a:r>
          </a:p>
        </p:txBody>
      </p:sp>
      <p:pic>
        <p:nvPicPr>
          <p:cNvPr id="29" name="Picture 28" descr="lock.png"/>
          <p:cNvPicPr>
            <a:picLocks noChangeAspect="1"/>
          </p:cNvPicPr>
          <p:nvPr/>
        </p:nvPicPr>
        <p:blipFill>
          <a:blip r:embed="rId4"/>
          <a:stretch>
            <a:fillRect/>
          </a:stretch>
        </p:blipFill>
        <p:spPr>
          <a:xfrm>
            <a:off x="4879864" y="4978209"/>
            <a:ext cx="134549" cy="195707"/>
          </a:xfrm>
          <a:prstGeom prst="rect">
            <a:avLst/>
          </a:prstGeom>
        </p:spPr>
      </p:pic>
      <p:sp>
        <p:nvSpPr>
          <p:cNvPr id="30" name="TextBox 29"/>
          <p:cNvSpPr txBox="1"/>
          <p:nvPr/>
        </p:nvSpPr>
        <p:spPr>
          <a:xfrm>
            <a:off x="5054973" y="49884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7854359" y="4978209"/>
            <a:ext cx="134549" cy="195707"/>
          </a:xfrm>
          <a:prstGeom prst="rect">
            <a:avLst/>
          </a:prstGeom>
        </p:spPr>
      </p:pic>
      <p:sp>
        <p:nvSpPr>
          <p:cNvPr id="32" name="TextBox 31"/>
          <p:cNvSpPr txBox="1"/>
          <p:nvPr/>
        </p:nvSpPr>
        <p:spPr>
          <a:xfrm>
            <a:off x="8029468" y="49884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System Application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System Application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730258"/>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2549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64929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Portable Backup Power</a:t>
            </a:r>
          </a:p>
        </p:txBody>
      </p:sp>
      <p:sp>
        <p:nvSpPr>
          <p:cNvPr id="16" name="BPS Value 1"/>
          <p:cNvSpPr txBox="1"/>
          <p:nvPr/>
        </p:nvSpPr>
        <p:spPr>
          <a:xfrm>
            <a:off x="6896100" y="171120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26018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25542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17922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Off-Grid &amp; Remote Power</a:t>
            </a:r>
          </a:p>
        </p:txBody>
      </p:sp>
      <p:sp>
        <p:nvSpPr>
          <p:cNvPr id="20" name="BPS Value 2"/>
          <p:cNvSpPr txBox="1"/>
          <p:nvPr/>
        </p:nvSpPr>
        <p:spPr>
          <a:xfrm>
            <a:off x="6896100" y="224113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actMR Legend Chip"/>
          <p:cNvSpPr/>
          <p:nvPr/>
        </p:nvSpPr>
        <p:spPr>
          <a:xfrm>
            <a:off x="4928997" y="331563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331087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23467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Outdoor &amp; Recreational Power</a:t>
            </a:r>
          </a:p>
        </p:txBody>
      </p:sp>
      <p:sp>
        <p:nvSpPr>
          <p:cNvPr id="24" name="BPS Value 3"/>
          <p:cNvSpPr txBox="1"/>
          <p:nvPr/>
        </p:nvSpPr>
        <p:spPr>
          <a:xfrm>
            <a:off x="6896100" y="329658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actMR Legend Chip"/>
          <p:cNvSpPr/>
          <p:nvPr/>
        </p:nvSpPr>
        <p:spPr>
          <a:xfrm>
            <a:off x="4928997" y="507189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5090922" y="506713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499093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Professional &amp; Specialized Portable Power</a:t>
            </a:r>
          </a:p>
        </p:txBody>
      </p:sp>
      <p:sp>
        <p:nvSpPr>
          <p:cNvPr id="28" name="BPS Value 4"/>
          <p:cNvSpPr txBox="1"/>
          <p:nvPr/>
        </p:nvSpPr>
        <p:spPr>
          <a:xfrm>
            <a:off x="6896100" y="505284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System Application</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8291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system</a:t>
            </a:r>
          </a:p>
        </p:txBody>
      </p:sp>
      <p:sp>
        <p:nvSpPr>
          <p:cNvPr id="36" name="TextBox 35"/>
          <p:cNvSpPr txBox="1"/>
          <p:nvPr/>
        </p:nvSpPr>
        <p:spPr>
          <a:xfrm>
            <a:off x="7829550" y="1575435"/>
            <a:ext cx="3522820" cy="194310"/>
          </a:xfrm>
          <a:prstGeom prst="rect">
            <a:avLst/>
          </a:prstGeom>
          <a:noFill/>
        </p:spPr>
        <p:txBody>
          <a:bodyPr wrap="none" lIns="0" rIns="0" tIns="0" bIns="0">
            <a:spAutoFit/>
          </a:bodyPr>
          <a:lstStyle/>
          <a:p>
            <a:r>
              <a:rPr sz="1150" b="0">
                <a:solidFill>
                  <a:srgbClr val="252423"/>
                </a:solidFill>
                <a:latin typeface="Segoe UI"/>
              </a:rPr>
              <a:t>application, outdoor &amp; recreational power segment is</a:t>
            </a:r>
          </a:p>
        </p:txBody>
      </p:sp>
      <p:sp>
        <p:nvSpPr>
          <p:cNvPr id="37" name="TextBox 36"/>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8" name="Picture 37" descr="lock.png"/>
          <p:cNvPicPr>
            <a:picLocks noChangeAspect="1"/>
          </p:cNvPicPr>
          <p:nvPr/>
        </p:nvPicPr>
        <p:blipFill>
          <a:blip r:embed="rId5"/>
          <a:stretch>
            <a:fillRect/>
          </a:stretch>
        </p:blipFill>
        <p:spPr>
          <a:xfrm>
            <a:off x="10475709" y="1740471"/>
            <a:ext cx="134549" cy="195707"/>
          </a:xfrm>
          <a:prstGeom prst="rect">
            <a:avLst/>
          </a:prstGeom>
        </p:spPr>
      </p:pic>
      <p:sp>
        <p:nvSpPr>
          <p:cNvPr id="39" name="TextBox 38"/>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40" name="TextBox 39"/>
          <p:cNvSpPr txBox="1"/>
          <p:nvPr/>
        </p:nvSpPr>
        <p:spPr>
          <a:xfrm>
            <a:off x="7829550" y="1925955"/>
            <a:ext cx="3745554" cy="194310"/>
          </a:xfrm>
          <a:prstGeom prst="rect">
            <a:avLst/>
          </a:prstGeom>
          <a:noFill/>
        </p:spPr>
        <p:txBody>
          <a:bodyPr wrap="none" lIns="0" rIns="0" tIns="0" bIns="0">
            <a:spAutoFit/>
          </a:bodyPr>
          <a:lstStyle/>
          <a:p>
            <a:r>
              <a:rPr sz="1150" b="0">
                <a:solidFill>
                  <a:srgbClr val="252423"/>
                </a:solidFill>
                <a:latin typeface="Segoe UI"/>
              </a:rPr>
              <a:t>period. In terms of value share by system application, the</a:t>
            </a:r>
          </a:p>
        </p:txBody>
      </p:sp>
      <p:sp>
        <p:nvSpPr>
          <p:cNvPr id="41" name="TextBox 40"/>
          <p:cNvSpPr txBox="1"/>
          <p:nvPr/>
        </p:nvSpPr>
        <p:spPr>
          <a:xfrm>
            <a:off x="7829550" y="2101215"/>
            <a:ext cx="3520057" cy="194310"/>
          </a:xfrm>
          <a:prstGeom prst="rect">
            <a:avLst/>
          </a:prstGeom>
          <a:noFill/>
        </p:spPr>
        <p:txBody>
          <a:bodyPr wrap="none" lIns="0" rIns="0" tIns="0" bIns="0">
            <a:spAutoFit/>
          </a:bodyPr>
          <a:lstStyle/>
          <a:p>
            <a:r>
              <a:rPr sz="1150" b="0">
                <a:solidFill>
                  <a:srgbClr val="252423"/>
                </a:solidFill>
                <a:latin typeface="Segoe UI"/>
              </a:rPr>
              <a:t>professional &amp; specialized portable power segment is</a:t>
            </a:r>
          </a:p>
        </p:txBody>
      </p:sp>
      <p:sp>
        <p:nvSpPr>
          <p:cNvPr id="42" name="TextBox 41"/>
          <p:cNvSpPr txBox="1"/>
          <p:nvPr/>
        </p:nvSpPr>
        <p:spPr>
          <a:xfrm>
            <a:off x="7829550" y="2276475"/>
            <a:ext cx="2690168" cy="194310"/>
          </a:xfrm>
          <a:prstGeom prst="rect">
            <a:avLst/>
          </a:prstGeom>
          <a:noFill/>
        </p:spPr>
        <p:txBody>
          <a:bodyPr wrap="none" lIns="0" rIns="0" tIns="0" bIns="0">
            <a:spAutoFit/>
          </a:bodyPr>
          <a:lstStyle/>
          <a:p>
            <a:r>
              <a:rPr sz="1150" b="0">
                <a:solidFill>
                  <a:srgbClr val="252423"/>
                </a:solidFill>
                <a:latin typeface="Segoe UI"/>
              </a:rPr>
              <a:t>expected to dominate the market, losing</a:t>
            </a:r>
          </a:p>
        </p:txBody>
      </p:sp>
      <p:pic>
        <p:nvPicPr>
          <p:cNvPr id="43" name="Picture 42" descr="lock.png"/>
          <p:cNvPicPr>
            <a:picLocks noChangeAspect="1"/>
          </p:cNvPicPr>
          <p:nvPr/>
        </p:nvPicPr>
        <p:blipFill>
          <a:blip r:embed="rId5"/>
          <a:stretch>
            <a:fillRect/>
          </a:stretch>
        </p:blipFill>
        <p:spPr>
          <a:xfrm>
            <a:off x="10468872" y="2266251"/>
            <a:ext cx="134549" cy="195707"/>
          </a:xfrm>
          <a:prstGeom prst="rect">
            <a:avLst/>
          </a:prstGeom>
        </p:spPr>
      </p:pic>
      <p:sp>
        <p:nvSpPr>
          <p:cNvPr id="44" name="TextBox 43"/>
          <p:cNvSpPr txBox="1"/>
          <p:nvPr/>
        </p:nvSpPr>
        <p:spPr>
          <a:xfrm>
            <a:off x="10643981" y="227647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45" name="TextBox 44"/>
          <p:cNvSpPr txBox="1"/>
          <p:nvPr/>
        </p:nvSpPr>
        <p:spPr>
          <a:xfrm>
            <a:off x="7829550" y="245173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46" name="Picture 45" descr="lock.png"/>
          <p:cNvPicPr>
            <a:picLocks noChangeAspect="1"/>
          </p:cNvPicPr>
          <p:nvPr/>
        </p:nvPicPr>
        <p:blipFill>
          <a:blip r:embed="rId5"/>
          <a:stretch>
            <a:fillRect/>
          </a:stretch>
        </p:blipFill>
        <p:spPr>
          <a:xfrm>
            <a:off x="8791392" y="2441511"/>
            <a:ext cx="134549" cy="195707"/>
          </a:xfrm>
          <a:prstGeom prst="rect">
            <a:avLst/>
          </a:prstGeom>
        </p:spPr>
      </p:pic>
      <p:sp>
        <p:nvSpPr>
          <p:cNvPr id="47" name="TextBox 46"/>
          <p:cNvSpPr txBox="1"/>
          <p:nvPr/>
        </p:nvSpPr>
        <p:spPr>
          <a:xfrm>
            <a:off x="8966501"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3685223" cy="194310"/>
          </a:xfrm>
          <a:prstGeom prst="rect">
            <a:avLst/>
          </a:prstGeom>
          <a:noFill/>
        </p:spPr>
        <p:txBody>
          <a:bodyPr wrap="none" lIns="0" rIns="0" tIns="0" bIns="0">
            <a:spAutoFit/>
          </a:bodyPr>
          <a:lstStyle/>
          <a:p>
            <a:r>
              <a:rPr sz="1150" b="0">
                <a:solidFill>
                  <a:srgbClr val="252423"/>
                </a:solidFill>
                <a:latin typeface="Segoe UI"/>
              </a:rPr>
              <a:t>The portable backup power segment is expected to lose</a:t>
            </a:r>
          </a:p>
        </p:txBody>
      </p:sp>
      <p:pic>
        <p:nvPicPr>
          <p:cNvPr id="49" name="Picture 48" descr="lock.png"/>
          <p:cNvPicPr>
            <a:picLocks noChangeAspect="1"/>
          </p:cNvPicPr>
          <p:nvPr/>
        </p:nvPicPr>
        <p:blipFill>
          <a:blip r:embed="rId5"/>
          <a:stretch>
            <a:fillRect/>
          </a:stretch>
        </p:blipFill>
        <p:spPr>
          <a:xfrm>
            <a:off x="11463927" y="2669349"/>
            <a:ext cx="134549" cy="195707"/>
          </a:xfrm>
          <a:prstGeom prst="rect">
            <a:avLst/>
          </a:prstGeom>
        </p:spPr>
      </p:pic>
      <p:sp>
        <p:nvSpPr>
          <p:cNvPr id="50" name="TextBox 49"/>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628935" y="2844609"/>
            <a:ext cx="134549" cy="195707"/>
          </a:xfrm>
          <a:prstGeom prst="rect">
            <a:avLst/>
          </a:prstGeom>
        </p:spPr>
      </p:pic>
      <p:sp>
        <p:nvSpPr>
          <p:cNvPr id="52" name="TextBox 51"/>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Output Power Rating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Output Power Rating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Output Power Rating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Output Power Rating,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Output Power Rating segment categorizes the market by output power rating.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1,000 W to Below 2,000 W</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2,000 W and Above</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Below 500 W</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500 W to Below 1,000 W</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Output Power Rating split shows how demand is distributed across output power rating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109_0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402_9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14_0__605E5C.png"/>
          <p:cNvPicPr>
            <a:picLocks noChangeAspect="1"/>
          </p:cNvPicPr>
          <p:nvPr/>
        </p:nvPicPr>
        <p:blipFill>
          <a:blip r:embed="rId6"/>
          <a:stretch>
            <a:fillRect/>
          </a:stretch>
        </p:blipFill>
        <p:spPr>
          <a:xfrm>
            <a:off x="2476330" y="3272281"/>
            <a:ext cx="1195728" cy="361950"/>
          </a:xfrm>
          <a:prstGeom prst="rect">
            <a:avLst/>
          </a:prstGeom>
        </p:spPr>
      </p:pic>
      <p:pic>
        <p:nvPicPr>
          <p:cNvPr id="64" name="Picture 63" descr="83_7_605E5C.png"/>
          <p:cNvPicPr>
            <a:picLocks noChangeAspect="1"/>
          </p:cNvPicPr>
          <p:nvPr/>
        </p:nvPicPr>
        <p:blipFill>
          <a:blip r:embed="rId7"/>
          <a:stretch>
            <a:fillRect/>
          </a:stretch>
        </p:blipFill>
        <p:spPr>
          <a:xfrm>
            <a:off x="5111864" y="2286582"/>
            <a:ext cx="982436" cy="361950"/>
          </a:xfrm>
          <a:prstGeom prst="rect">
            <a:avLst/>
          </a:prstGeom>
        </p:spPr>
      </p:pic>
      <p:pic>
        <p:nvPicPr>
          <p:cNvPr id="65" name="Picture 64" descr="222_2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0_3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43_0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115_3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0_4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21_7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45_1_605E5C.png"/>
          <p:cNvPicPr>
            <a:picLocks noChangeAspect="1"/>
          </p:cNvPicPr>
          <p:nvPr/>
        </p:nvPicPr>
        <p:blipFill>
          <a:blip r:embed="rId14"/>
          <a:stretch>
            <a:fillRect/>
          </a:stretch>
        </p:blipFill>
        <p:spPr>
          <a:xfrm>
            <a:off x="10169638" y="2779432"/>
            <a:ext cx="982436" cy="361950"/>
          </a:xfrm>
          <a:prstGeom prst="rect">
            <a:avLst/>
          </a:prstGeom>
        </p:spPr>
      </p:pic>
      <p:pic>
        <p:nvPicPr>
          <p:cNvPr id="72" name="Picture 71" descr="7_6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78" name="TextBox 77"/>
          <p:cNvSpPr txBox="1"/>
          <p:nvPr/>
        </p:nvSpPr>
        <p:spPr>
          <a:xfrm>
            <a:off x="485775" y="4390371"/>
            <a:ext cx="2876811" cy="179984"/>
          </a:xfrm>
          <a:prstGeom prst="rect">
            <a:avLst/>
          </a:prstGeom>
          <a:noFill/>
        </p:spPr>
        <p:txBody>
          <a:bodyPr wrap="none" lIns="0" rIns="0" tIns="0" bIns="0">
            <a:spAutoFit/>
          </a:bodyPr>
          <a:lstStyle/>
          <a:p>
            <a:r>
              <a:rPr sz="1055" b="0">
                <a:solidFill>
                  <a:srgbClr val="252423"/>
                </a:solidFill>
                <a:latin typeface="Segoe UI"/>
              </a:rPr>
              <a:t>by output power rating, 1,000 w to below 2,000</a:t>
            </a:r>
          </a:p>
        </p:txBody>
      </p:sp>
      <p:sp>
        <p:nvSpPr>
          <p:cNvPr id="79" name="TextBox 78"/>
          <p:cNvSpPr txBox="1"/>
          <p:nvPr/>
        </p:nvSpPr>
        <p:spPr>
          <a:xfrm>
            <a:off x="485775" y="4551305"/>
            <a:ext cx="2757097" cy="179984"/>
          </a:xfrm>
          <a:prstGeom prst="rect">
            <a:avLst/>
          </a:prstGeom>
          <a:noFill/>
        </p:spPr>
        <p:txBody>
          <a:bodyPr wrap="none" lIns="0" rIns="0" tIns="0" bIns="0">
            <a:spAutoFit/>
          </a:bodyPr>
          <a:lstStyle/>
          <a:p>
            <a:r>
              <a:rPr sz="1055" b="0">
                <a:solidFill>
                  <a:srgbClr val="252423"/>
                </a:solidFill>
                <a:latin typeface="Segoe UI"/>
              </a:rPr>
              <a:t>w segment is expected to witness the highest</a:t>
            </a:r>
          </a:p>
        </p:txBody>
      </p:sp>
      <p:sp>
        <p:nvSpPr>
          <p:cNvPr id="80" name="TextBox 79"/>
          <p:cNvSpPr txBox="1"/>
          <p:nvPr/>
        </p:nvSpPr>
        <p:spPr>
          <a:xfrm>
            <a:off x="485775" y="4712240"/>
            <a:ext cx="574863" cy="179984"/>
          </a:xfrm>
          <a:prstGeom prst="rect">
            <a:avLst/>
          </a:prstGeom>
          <a:noFill/>
        </p:spPr>
        <p:txBody>
          <a:bodyPr wrap="none" lIns="0" rIns="0" tIns="0" bIns="0">
            <a:spAutoFit/>
          </a:bodyPr>
          <a:lstStyle/>
          <a:p>
            <a:r>
              <a:rPr sz="1055" b="0">
                <a:solidFill>
                  <a:srgbClr val="252423"/>
                </a:solidFill>
                <a:latin typeface="Segoe UI"/>
              </a:rPr>
              <a:t>CAGR of</a:t>
            </a:r>
          </a:p>
        </p:txBody>
      </p:sp>
      <p:pic>
        <p:nvPicPr>
          <p:cNvPr id="81" name="Picture 80" descr="lock.png"/>
          <p:cNvPicPr>
            <a:picLocks noChangeAspect="1"/>
          </p:cNvPicPr>
          <p:nvPr/>
        </p:nvPicPr>
        <p:blipFill>
          <a:blip r:embed="rId16"/>
          <a:stretch>
            <a:fillRect/>
          </a:stretch>
        </p:blipFill>
        <p:spPr>
          <a:xfrm>
            <a:off x="1007720" y="4702852"/>
            <a:ext cx="123551" cy="179710"/>
          </a:xfrm>
          <a:prstGeom prst="rect">
            <a:avLst/>
          </a:prstGeom>
        </p:spPr>
      </p:pic>
      <p:sp>
        <p:nvSpPr>
          <p:cNvPr id="82" name="TextBox 81"/>
          <p:cNvSpPr txBox="1"/>
          <p:nvPr/>
        </p:nvSpPr>
        <p:spPr>
          <a:xfrm>
            <a:off x="1168516" y="4712240"/>
            <a:ext cx="2042241" cy="179984"/>
          </a:xfrm>
          <a:prstGeom prst="rect">
            <a:avLst/>
          </a:prstGeom>
          <a:noFill/>
        </p:spPr>
        <p:txBody>
          <a:bodyPr wrap="none" lIns="0" rIns="0" tIns="0" bIns="0">
            <a:spAutoFit/>
          </a:bodyPr>
          <a:lstStyle/>
          <a:p>
            <a:r>
              <a:rPr sz="1055" b="0">
                <a:solidFill>
                  <a:srgbClr val="252423"/>
                </a:solidFill>
                <a:latin typeface="Segoe UI"/>
              </a:rPr>
              <a:t>over the forecast period. In terms</a:t>
            </a:r>
          </a:p>
        </p:txBody>
      </p:sp>
      <p:sp>
        <p:nvSpPr>
          <p:cNvPr id="83" name="TextBox 82"/>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of value share by output power rating, the 1,000</a:t>
            </a:r>
          </a:p>
        </p:txBody>
      </p:sp>
      <p:sp>
        <p:nvSpPr>
          <p:cNvPr id="84" name="TextBox 83"/>
          <p:cNvSpPr txBox="1"/>
          <p:nvPr/>
        </p:nvSpPr>
        <p:spPr>
          <a:xfrm>
            <a:off x="485775" y="5034109"/>
            <a:ext cx="2627422" cy="179984"/>
          </a:xfrm>
          <a:prstGeom prst="rect">
            <a:avLst/>
          </a:prstGeom>
          <a:noFill/>
        </p:spPr>
        <p:txBody>
          <a:bodyPr wrap="none" lIns="0" rIns="0" tIns="0" bIns="0">
            <a:spAutoFit/>
          </a:bodyPr>
          <a:lstStyle/>
          <a:p>
            <a:r>
              <a:rPr sz="1055" b="0">
                <a:solidFill>
                  <a:srgbClr val="252423"/>
                </a:solidFill>
                <a:latin typeface="Segoe UI"/>
              </a:rPr>
              <a:t>w to below 2,000 w segment is expected to</a:t>
            </a:r>
          </a:p>
        </p:txBody>
      </p:sp>
      <p:sp>
        <p:nvSpPr>
          <p:cNvPr id="85" name="TextBox 84"/>
          <p:cNvSpPr txBox="1"/>
          <p:nvPr/>
        </p:nvSpPr>
        <p:spPr>
          <a:xfrm>
            <a:off x="485775" y="5195043"/>
            <a:ext cx="1829290" cy="179984"/>
          </a:xfrm>
          <a:prstGeom prst="rect">
            <a:avLst/>
          </a:prstGeom>
          <a:noFill/>
        </p:spPr>
        <p:txBody>
          <a:bodyPr wrap="none" lIns="0" rIns="0" tIns="0" bIns="0">
            <a:spAutoFit/>
          </a:bodyPr>
          <a:lstStyle/>
          <a:p>
            <a:r>
              <a:rPr sz="1055" b="0">
                <a:solidFill>
                  <a:srgbClr val="252423"/>
                </a:solidFill>
                <a:latin typeface="Segoe UI"/>
              </a:rPr>
              <a:t>dominate the market, gaining</a:t>
            </a:r>
          </a:p>
        </p:txBody>
      </p:sp>
      <p:pic>
        <p:nvPicPr>
          <p:cNvPr id="86" name="Picture 85" descr="lock.png"/>
          <p:cNvPicPr>
            <a:picLocks noChangeAspect="1"/>
          </p:cNvPicPr>
          <p:nvPr/>
        </p:nvPicPr>
        <p:blipFill>
          <a:blip r:embed="rId16"/>
          <a:stretch>
            <a:fillRect/>
          </a:stretch>
        </p:blipFill>
        <p:spPr>
          <a:xfrm>
            <a:off x="2262146" y="5185655"/>
            <a:ext cx="123551" cy="179710"/>
          </a:xfrm>
          <a:prstGeom prst="rect">
            <a:avLst/>
          </a:prstGeom>
        </p:spPr>
      </p:pic>
      <p:sp>
        <p:nvSpPr>
          <p:cNvPr id="87" name="TextBox 86"/>
          <p:cNvSpPr txBox="1"/>
          <p:nvPr/>
        </p:nvSpPr>
        <p:spPr>
          <a:xfrm>
            <a:off x="2422942" y="5195043"/>
            <a:ext cx="559736" cy="179984"/>
          </a:xfrm>
          <a:prstGeom prst="rect">
            <a:avLst/>
          </a:prstGeom>
          <a:noFill/>
        </p:spPr>
        <p:txBody>
          <a:bodyPr wrap="none" lIns="0" rIns="0" tIns="0" bIns="0">
            <a:spAutoFit/>
          </a:bodyPr>
          <a:lstStyle/>
          <a:p>
            <a:r>
              <a:rPr sz="1055" b="0">
                <a:solidFill>
                  <a:srgbClr val="252423"/>
                </a:solidFill>
                <a:latin typeface="Segoe UI"/>
              </a:rPr>
              <a:t>BPS and</a:t>
            </a:r>
          </a:p>
        </p:txBody>
      </p:sp>
      <p:sp>
        <p:nvSpPr>
          <p:cNvPr id="88" name="TextBox 87"/>
          <p:cNvSpPr txBox="1"/>
          <p:nvPr/>
        </p:nvSpPr>
        <p:spPr>
          <a:xfrm>
            <a:off x="485775" y="5355977"/>
            <a:ext cx="936140" cy="179984"/>
          </a:xfrm>
          <a:prstGeom prst="rect">
            <a:avLst/>
          </a:prstGeom>
          <a:noFill/>
        </p:spPr>
        <p:txBody>
          <a:bodyPr wrap="none" lIns="0" rIns="0" tIns="0" bIns="0">
            <a:spAutoFit/>
          </a:bodyPr>
          <a:lstStyle/>
          <a:p>
            <a:r>
              <a:rPr sz="1055" b="0">
                <a:solidFill>
                  <a:srgbClr val="252423"/>
                </a:solidFill>
                <a:latin typeface="Segoe UI"/>
              </a:rPr>
              <a:t>accounting for</a:t>
            </a:r>
          </a:p>
        </p:txBody>
      </p:sp>
      <p:pic>
        <p:nvPicPr>
          <p:cNvPr id="89" name="Picture 88" descr="lock.png"/>
          <p:cNvPicPr>
            <a:picLocks noChangeAspect="1"/>
          </p:cNvPicPr>
          <p:nvPr/>
        </p:nvPicPr>
        <p:blipFill>
          <a:blip r:embed="rId16"/>
          <a:stretch>
            <a:fillRect/>
          </a:stretch>
        </p:blipFill>
        <p:spPr>
          <a:xfrm>
            <a:off x="1368997" y="5346589"/>
            <a:ext cx="123551" cy="179710"/>
          </a:xfrm>
          <a:prstGeom prst="rect">
            <a:avLst/>
          </a:prstGeom>
        </p:spPr>
      </p:pic>
      <p:sp>
        <p:nvSpPr>
          <p:cNvPr id="90" name="TextBox 89"/>
          <p:cNvSpPr txBox="1"/>
          <p:nvPr/>
        </p:nvSpPr>
        <p:spPr>
          <a:xfrm>
            <a:off x="1529793"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91" name="TextBox 90"/>
          <p:cNvSpPr txBox="1"/>
          <p:nvPr/>
        </p:nvSpPr>
        <p:spPr>
          <a:xfrm>
            <a:off x="485775" y="5565192"/>
            <a:ext cx="2847437" cy="179984"/>
          </a:xfrm>
          <a:prstGeom prst="rect">
            <a:avLst/>
          </a:prstGeom>
          <a:noFill/>
        </p:spPr>
        <p:txBody>
          <a:bodyPr wrap="none" lIns="0" rIns="0" tIns="0" bIns="0">
            <a:spAutoFit/>
          </a:bodyPr>
          <a:lstStyle/>
          <a:p>
            <a:r>
              <a:rPr sz="1055" b="0">
                <a:solidFill>
                  <a:srgbClr val="252423"/>
                </a:solidFill>
                <a:latin typeface="Segoe UI"/>
              </a:rPr>
              <a:t>1,000 w to below 2,000 w segment is projected</a:t>
            </a:r>
          </a:p>
        </p:txBody>
      </p:sp>
      <p:sp>
        <p:nvSpPr>
          <p:cNvPr id="92" name="TextBox 91"/>
          <p:cNvSpPr txBox="1"/>
          <p:nvPr/>
        </p:nvSpPr>
        <p:spPr>
          <a:xfrm>
            <a:off x="485775" y="5726126"/>
            <a:ext cx="684619" cy="179984"/>
          </a:xfrm>
          <a:prstGeom prst="rect">
            <a:avLst/>
          </a:prstGeom>
          <a:noFill/>
        </p:spPr>
        <p:txBody>
          <a:bodyPr wrap="none" lIns="0" rIns="0" tIns="0" bIns="0">
            <a:spAutoFit/>
          </a:bodyPr>
          <a:lstStyle/>
          <a:p>
            <a:r>
              <a:rPr sz="1055" b="0">
                <a:solidFill>
                  <a:srgbClr val="252423"/>
                </a:solidFill>
                <a:latin typeface="Segoe UI"/>
              </a:rPr>
              <a:t>to register</a:t>
            </a:r>
          </a:p>
        </p:txBody>
      </p:sp>
      <p:pic>
        <p:nvPicPr>
          <p:cNvPr id="93" name="Picture 92" descr="lock.png"/>
          <p:cNvPicPr>
            <a:picLocks noChangeAspect="1"/>
          </p:cNvPicPr>
          <p:nvPr/>
        </p:nvPicPr>
        <p:blipFill>
          <a:blip r:embed="rId16"/>
          <a:stretch>
            <a:fillRect/>
          </a:stretch>
        </p:blipFill>
        <p:spPr>
          <a:xfrm>
            <a:off x="1117475" y="5716739"/>
            <a:ext cx="123551" cy="179710"/>
          </a:xfrm>
          <a:prstGeom prst="rect">
            <a:avLst/>
          </a:prstGeom>
        </p:spPr>
      </p:pic>
      <p:sp>
        <p:nvSpPr>
          <p:cNvPr id="94" name="TextBox 93"/>
          <p:cNvSpPr txBox="1"/>
          <p:nvPr/>
        </p:nvSpPr>
        <p:spPr>
          <a:xfrm>
            <a:off x="1278271" y="5726126"/>
            <a:ext cx="1971280" cy="179984"/>
          </a:xfrm>
          <a:prstGeom prst="rect">
            <a:avLst/>
          </a:prstGeom>
          <a:noFill/>
        </p:spPr>
        <p:txBody>
          <a:bodyPr wrap="none" lIns="0" rIns="0" tIns="0" bIns="0">
            <a:spAutoFit/>
          </a:bodyPr>
          <a:lstStyle/>
          <a:p>
            <a:r>
              <a:rPr sz="1055" b="0">
                <a:solidFill>
                  <a:srgbClr val="252423"/>
                </a:solidFill>
                <a:latin typeface="Segoe UI"/>
              </a:rPr>
              <a:t>X higher value than 2,000 w and</a:t>
            </a:r>
          </a:p>
        </p:txBody>
      </p:sp>
      <p:sp>
        <p:nvSpPr>
          <p:cNvPr id="95" name="TextBox 94"/>
          <p:cNvSpPr txBox="1"/>
          <p:nvPr/>
        </p:nvSpPr>
        <p:spPr>
          <a:xfrm>
            <a:off x="485775" y="5887061"/>
            <a:ext cx="1486459" cy="179984"/>
          </a:xfrm>
          <a:prstGeom prst="rect">
            <a:avLst/>
          </a:prstGeom>
          <a:noFill/>
        </p:spPr>
        <p:txBody>
          <a:bodyPr wrap="none" lIns="0" rIns="0" tIns="0" bIns="0">
            <a:spAutoFit/>
          </a:bodyPr>
          <a:lstStyle/>
          <a:p>
            <a:r>
              <a:rPr sz="1055" b="0">
                <a:solidFill>
                  <a:srgbClr val="252423"/>
                </a:solidFill>
                <a:latin typeface="Segoe UI"/>
              </a:rPr>
              <a:t>above segment in 2036.</a:t>
            </a:r>
          </a:p>
        </p:txBody>
      </p:sp>
      <p:sp>
        <p:nvSpPr>
          <p:cNvPr id="96" name="TextBox 95"/>
          <p:cNvSpPr txBox="1"/>
          <p:nvPr/>
        </p:nvSpPr>
        <p:spPr>
          <a:xfrm>
            <a:off x="3838575" y="4229437"/>
            <a:ext cx="1843169" cy="186689"/>
          </a:xfrm>
          <a:prstGeom prst="rect">
            <a:avLst/>
          </a:prstGeom>
          <a:noFill/>
        </p:spPr>
        <p:txBody>
          <a:bodyPr wrap="none" lIns="0" rIns="0" tIns="0" bIns="0">
            <a:spAutoFit/>
          </a:bodyPr>
          <a:lstStyle/>
          <a:p>
            <a:r>
              <a:rPr sz="1100" b="0">
                <a:solidFill>
                  <a:srgbClr val="252423"/>
                </a:solidFill>
                <a:latin typeface="Segoe UI"/>
              </a:rPr>
              <a:t>● 1,000 W to Below 2,000 W:</a:t>
            </a:r>
          </a:p>
        </p:txBody>
      </p:sp>
      <p:pic>
        <p:nvPicPr>
          <p:cNvPr id="97" name="Picture 96" descr="lock.png"/>
          <p:cNvPicPr>
            <a:picLocks noChangeAspect="1"/>
          </p:cNvPicPr>
          <p:nvPr/>
        </p:nvPicPr>
        <p:blipFill>
          <a:blip r:embed="rId16"/>
          <a:stretch>
            <a:fillRect/>
          </a:stretch>
        </p:blipFill>
        <p:spPr>
          <a:xfrm>
            <a:off x="5629796" y="4219658"/>
            <a:ext cx="128699" cy="187198"/>
          </a:xfrm>
          <a:prstGeom prst="rect">
            <a:avLst/>
          </a:prstGeom>
        </p:spPr>
      </p:pic>
      <p:sp>
        <p:nvSpPr>
          <p:cNvPr id="98" name="TextBox 97"/>
          <p:cNvSpPr txBox="1"/>
          <p:nvPr/>
        </p:nvSpPr>
        <p:spPr>
          <a:xfrm>
            <a:off x="5797292"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9" name="Picture 98" descr="lock.png"/>
          <p:cNvPicPr>
            <a:picLocks noChangeAspect="1"/>
          </p:cNvPicPr>
          <p:nvPr/>
        </p:nvPicPr>
        <p:blipFill>
          <a:blip r:embed="rId16"/>
          <a:stretch>
            <a:fillRect/>
          </a:stretch>
        </p:blipFill>
        <p:spPr>
          <a:xfrm>
            <a:off x="6717238" y="4219658"/>
            <a:ext cx="128699" cy="187198"/>
          </a:xfrm>
          <a:prstGeom prst="rect">
            <a:avLst/>
          </a:prstGeom>
        </p:spPr>
      </p:pic>
      <p:sp>
        <p:nvSpPr>
          <p:cNvPr id="100" name="TextBox 99"/>
          <p:cNvSpPr txBox="1"/>
          <p:nvPr/>
        </p:nvSpPr>
        <p:spPr>
          <a:xfrm>
            <a:off x="6884734" y="4229437"/>
            <a:ext cx="789949" cy="186689"/>
          </a:xfrm>
          <a:prstGeom prst="rect">
            <a:avLst/>
          </a:prstGeom>
          <a:noFill/>
        </p:spPr>
        <p:txBody>
          <a:bodyPr wrap="none" lIns="0" rIns="0" tIns="0" bIns="0">
            <a:spAutoFit/>
          </a:bodyPr>
          <a:lstStyle/>
          <a:p>
            <a:r>
              <a:rPr sz="1100" b="0">
                <a:solidFill>
                  <a:srgbClr val="252423"/>
                </a:solidFill>
                <a:latin typeface="Segoe UI"/>
              </a:rPr>
              <a:t>CAGR leads</a:t>
            </a:r>
          </a:p>
        </p:txBody>
      </p:sp>
      <p:sp>
        <p:nvSpPr>
          <p:cNvPr id="101" name="TextBox 100"/>
          <p:cNvSpPr txBox="1"/>
          <p:nvPr/>
        </p:nvSpPr>
        <p:spPr>
          <a:xfrm>
            <a:off x="3838575" y="4397077"/>
            <a:ext cx="879202" cy="186689"/>
          </a:xfrm>
          <a:prstGeom prst="rect">
            <a:avLst/>
          </a:prstGeom>
          <a:noFill/>
        </p:spPr>
        <p:txBody>
          <a:bodyPr wrap="none" lIns="0" rIns="0" tIns="0" bIns="0">
            <a:spAutoFit/>
          </a:bodyPr>
          <a:lstStyle/>
          <a:p>
            <a:r>
              <a:rPr sz="1100" b="0">
                <a:solidFill>
                  <a:srgbClr val="252423"/>
                </a:solidFill>
                <a:latin typeface="Segoe UI"/>
              </a:rPr>
              <a:t>the segment.</a:t>
            </a:r>
          </a:p>
        </p:txBody>
      </p:sp>
      <p:sp>
        <p:nvSpPr>
          <p:cNvPr id="102" name="TextBox 101"/>
          <p:cNvSpPr txBox="1"/>
          <p:nvPr/>
        </p:nvSpPr>
        <p:spPr>
          <a:xfrm>
            <a:off x="3838575" y="4615009"/>
            <a:ext cx="1432259" cy="186689"/>
          </a:xfrm>
          <a:prstGeom prst="rect">
            <a:avLst/>
          </a:prstGeom>
          <a:noFill/>
        </p:spPr>
        <p:txBody>
          <a:bodyPr wrap="none" lIns="0" rIns="0" tIns="0" bIns="0">
            <a:spAutoFit/>
          </a:bodyPr>
          <a:lstStyle/>
          <a:p>
            <a:r>
              <a:rPr sz="1100" b="0">
                <a:solidFill>
                  <a:srgbClr val="252423"/>
                </a:solidFill>
                <a:latin typeface="Segoe UI"/>
              </a:rPr>
              <a:t>● 2,000 W and Above:</a:t>
            </a:r>
          </a:p>
        </p:txBody>
      </p:sp>
      <p:pic>
        <p:nvPicPr>
          <p:cNvPr id="103" name="Picture 102" descr="lock.png"/>
          <p:cNvPicPr>
            <a:picLocks noChangeAspect="1"/>
          </p:cNvPicPr>
          <p:nvPr/>
        </p:nvPicPr>
        <p:blipFill>
          <a:blip r:embed="rId16"/>
          <a:stretch>
            <a:fillRect/>
          </a:stretch>
        </p:blipFill>
        <p:spPr>
          <a:xfrm>
            <a:off x="5218886" y="4605230"/>
            <a:ext cx="128699" cy="187198"/>
          </a:xfrm>
          <a:prstGeom prst="rect">
            <a:avLst/>
          </a:prstGeom>
        </p:spPr>
      </p:pic>
      <p:sp>
        <p:nvSpPr>
          <p:cNvPr id="104" name="TextBox 103"/>
          <p:cNvSpPr txBox="1"/>
          <p:nvPr/>
        </p:nvSpPr>
        <p:spPr>
          <a:xfrm>
            <a:off x="5386381"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5" name="Picture 104" descr="lock.png"/>
          <p:cNvPicPr>
            <a:picLocks noChangeAspect="1"/>
          </p:cNvPicPr>
          <p:nvPr/>
        </p:nvPicPr>
        <p:blipFill>
          <a:blip r:embed="rId16"/>
          <a:stretch>
            <a:fillRect/>
          </a:stretch>
        </p:blipFill>
        <p:spPr>
          <a:xfrm>
            <a:off x="6306328" y="4605230"/>
            <a:ext cx="128699" cy="187198"/>
          </a:xfrm>
          <a:prstGeom prst="rect">
            <a:avLst/>
          </a:prstGeom>
        </p:spPr>
      </p:pic>
      <p:sp>
        <p:nvSpPr>
          <p:cNvPr id="106" name="TextBox 105"/>
          <p:cNvSpPr txBox="1"/>
          <p:nvPr/>
        </p:nvSpPr>
        <p:spPr>
          <a:xfrm>
            <a:off x="6473824" y="4615009"/>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07" name="TextBox 106"/>
          <p:cNvSpPr txBox="1"/>
          <p:nvPr/>
        </p:nvSpPr>
        <p:spPr>
          <a:xfrm>
            <a:off x="3838575" y="4782649"/>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08" name="TextBox 107"/>
          <p:cNvSpPr txBox="1"/>
          <p:nvPr/>
        </p:nvSpPr>
        <p:spPr>
          <a:xfrm>
            <a:off x="3838575" y="5000581"/>
            <a:ext cx="1031726" cy="186689"/>
          </a:xfrm>
          <a:prstGeom prst="rect">
            <a:avLst/>
          </a:prstGeom>
          <a:noFill/>
        </p:spPr>
        <p:txBody>
          <a:bodyPr wrap="none" lIns="0" rIns="0" tIns="0" bIns="0">
            <a:spAutoFit/>
          </a:bodyPr>
          <a:lstStyle/>
          <a:p>
            <a:r>
              <a:rPr sz="1100" b="0">
                <a:solidFill>
                  <a:srgbClr val="252423"/>
                </a:solidFill>
                <a:latin typeface="Segoe UI"/>
              </a:rPr>
              <a:t>● Below 500 W:</a:t>
            </a:r>
          </a:p>
        </p:txBody>
      </p:sp>
      <p:pic>
        <p:nvPicPr>
          <p:cNvPr id="109" name="Picture 108" descr="lock.png"/>
          <p:cNvPicPr>
            <a:picLocks noChangeAspect="1"/>
          </p:cNvPicPr>
          <p:nvPr/>
        </p:nvPicPr>
        <p:blipFill>
          <a:blip r:embed="rId16"/>
          <a:stretch>
            <a:fillRect/>
          </a:stretch>
        </p:blipFill>
        <p:spPr>
          <a:xfrm>
            <a:off x="4818352" y="4990801"/>
            <a:ext cx="128699" cy="187198"/>
          </a:xfrm>
          <a:prstGeom prst="rect">
            <a:avLst/>
          </a:prstGeom>
        </p:spPr>
      </p:pic>
      <p:sp>
        <p:nvSpPr>
          <p:cNvPr id="110" name="TextBox 109"/>
          <p:cNvSpPr txBox="1"/>
          <p:nvPr/>
        </p:nvSpPr>
        <p:spPr>
          <a:xfrm>
            <a:off x="4985848"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1" name="Picture 110" descr="lock.png"/>
          <p:cNvPicPr>
            <a:picLocks noChangeAspect="1"/>
          </p:cNvPicPr>
          <p:nvPr/>
        </p:nvPicPr>
        <p:blipFill>
          <a:blip r:embed="rId16"/>
          <a:stretch>
            <a:fillRect/>
          </a:stretch>
        </p:blipFill>
        <p:spPr>
          <a:xfrm>
            <a:off x="5905795" y="4990801"/>
            <a:ext cx="128699" cy="187198"/>
          </a:xfrm>
          <a:prstGeom prst="rect">
            <a:avLst/>
          </a:prstGeom>
        </p:spPr>
      </p:pic>
      <p:sp>
        <p:nvSpPr>
          <p:cNvPr id="112" name="TextBox 111"/>
          <p:cNvSpPr txBox="1"/>
          <p:nvPr/>
        </p:nvSpPr>
        <p:spPr>
          <a:xfrm>
            <a:off x="6073290" y="5000581"/>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113" name="TextBox 112"/>
          <p:cNvSpPr txBox="1"/>
          <p:nvPr/>
        </p:nvSpPr>
        <p:spPr>
          <a:xfrm>
            <a:off x="3838575" y="5218513"/>
            <a:ext cx="1737576" cy="186689"/>
          </a:xfrm>
          <a:prstGeom prst="rect">
            <a:avLst/>
          </a:prstGeom>
          <a:noFill/>
        </p:spPr>
        <p:txBody>
          <a:bodyPr wrap="none" lIns="0" rIns="0" tIns="0" bIns="0">
            <a:spAutoFit/>
          </a:bodyPr>
          <a:lstStyle/>
          <a:p>
            <a:r>
              <a:rPr sz="1100" b="0">
                <a:solidFill>
                  <a:srgbClr val="252423"/>
                </a:solidFill>
                <a:latin typeface="Segoe UI"/>
              </a:rPr>
              <a:t>● 500 W to Below 1,000 W:</a:t>
            </a:r>
          </a:p>
        </p:txBody>
      </p:sp>
      <p:pic>
        <p:nvPicPr>
          <p:cNvPr id="114" name="Picture 113" descr="lock.png"/>
          <p:cNvPicPr>
            <a:picLocks noChangeAspect="1"/>
          </p:cNvPicPr>
          <p:nvPr/>
        </p:nvPicPr>
        <p:blipFill>
          <a:blip r:embed="rId16"/>
          <a:stretch>
            <a:fillRect/>
          </a:stretch>
        </p:blipFill>
        <p:spPr>
          <a:xfrm>
            <a:off x="5524202" y="5208733"/>
            <a:ext cx="128699" cy="187198"/>
          </a:xfrm>
          <a:prstGeom prst="rect">
            <a:avLst/>
          </a:prstGeom>
        </p:spPr>
      </p:pic>
      <p:sp>
        <p:nvSpPr>
          <p:cNvPr id="115" name="TextBox 114"/>
          <p:cNvSpPr txBox="1"/>
          <p:nvPr/>
        </p:nvSpPr>
        <p:spPr>
          <a:xfrm>
            <a:off x="5691698" y="521851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6611645" y="5208733"/>
            <a:ext cx="128699" cy="187198"/>
          </a:xfrm>
          <a:prstGeom prst="rect">
            <a:avLst/>
          </a:prstGeom>
        </p:spPr>
      </p:pic>
      <p:sp>
        <p:nvSpPr>
          <p:cNvPr id="117" name="TextBox 116"/>
          <p:cNvSpPr txBox="1"/>
          <p:nvPr/>
        </p:nvSpPr>
        <p:spPr>
          <a:xfrm>
            <a:off x="6779140" y="5218513"/>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8" name="TextBox 117"/>
          <p:cNvSpPr txBox="1"/>
          <p:nvPr/>
        </p:nvSpPr>
        <p:spPr>
          <a:xfrm>
            <a:off x="3838575" y="5386153"/>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9" name="TextBox 118"/>
          <p:cNvSpPr txBox="1"/>
          <p:nvPr/>
        </p:nvSpPr>
        <p:spPr>
          <a:xfrm>
            <a:off x="8524875" y="5849651"/>
            <a:ext cx="3162300" cy="187299"/>
          </a:xfrm>
          <a:prstGeom prst="rect">
            <a:avLst/>
          </a:prstGeom>
          <a:noFill/>
        </p:spPr>
        <p:txBody>
          <a:bodyPr wrap="none" lIns="0" rIns="0" tIns="0" bIns="0">
            <a:spAutoFit/>
          </a:bodyPr>
          <a:lstStyle/>
          <a:p>
            <a:r>
              <a:rPr sz="1104" b="1">
                <a:solidFill>
                  <a:srgbClr val="0E3A5F"/>
                </a:solidFill>
                <a:latin typeface="Segoe UI"/>
              </a:rPr>
              <a:t>The Output Power Rating segment is projected</a:t>
            </a:r>
          </a:p>
        </p:txBody>
      </p:sp>
      <p:sp>
        <p:nvSpPr>
          <p:cNvPr id="120" name="TextBox 119"/>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121" name="Picture 120" descr="lock.png"/>
          <p:cNvPicPr>
            <a:picLocks noChangeAspect="1"/>
          </p:cNvPicPr>
          <p:nvPr/>
        </p:nvPicPr>
        <p:blipFill>
          <a:blip r:embed="rId16"/>
          <a:stretch>
            <a:fillRect/>
          </a:stretch>
        </p:blipFill>
        <p:spPr>
          <a:xfrm>
            <a:off x="9944923" y="6008086"/>
            <a:ext cx="129166" cy="187878"/>
          </a:xfrm>
          <a:prstGeom prst="rect">
            <a:avLst/>
          </a:prstGeom>
        </p:spPr>
      </p:pic>
      <p:sp>
        <p:nvSpPr>
          <p:cNvPr id="122" name="TextBox 121"/>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Output Power Rating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Output Power Rating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Output Power Rating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Output Power Rating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12470" cy="186689"/>
          </a:xfrm>
          <a:prstGeom prst="rect">
            <a:avLst/>
          </a:prstGeom>
          <a:noFill/>
        </p:spPr>
        <p:txBody>
          <a:bodyPr wrap="none" lIns="0" rIns="0" tIns="0" bIns="0">
            <a:spAutoFit/>
          </a:bodyPr>
          <a:lstStyle/>
          <a:p>
            <a:r>
              <a:rPr sz="1100" b="0">
                <a:solidFill>
                  <a:srgbClr val="252423"/>
                </a:solidFill>
                <a:latin typeface="Segoe UI"/>
              </a:rPr>
              <a:t>1,000 w to below 2,000 w followed by 2,000 w and above are expected to be the two most attractive output power rating segments in the North America lithium polymer portable energy</a:t>
            </a:r>
          </a:p>
        </p:txBody>
      </p:sp>
      <p:sp>
        <p:nvSpPr>
          <p:cNvPr id="18" name="TextBox 17"/>
          <p:cNvSpPr txBox="1"/>
          <p:nvPr/>
        </p:nvSpPr>
        <p:spPr>
          <a:xfrm>
            <a:off x="257175" y="5861685"/>
            <a:ext cx="8166496" cy="186689"/>
          </a:xfrm>
          <a:prstGeom prst="rect">
            <a:avLst/>
          </a:prstGeom>
          <a:noFill/>
        </p:spPr>
        <p:txBody>
          <a:bodyPr wrap="none" lIns="0" rIns="0" tIns="0" bIns="0">
            <a:spAutoFit/>
          </a:bodyPr>
          <a:lstStyle/>
          <a:p>
            <a:r>
              <a:rPr sz="1100" b="0">
                <a:solidFill>
                  <a:srgbClr val="252423"/>
                </a:solidFill>
                <a:latin typeface="Segoe UI"/>
              </a:rPr>
              <a:t>storage market in terms of value over the forecast period. 1,000 w to below 2,000 w and 2,000 w and above exhibit a CAGR index of</a:t>
            </a:r>
          </a:p>
        </p:txBody>
      </p:sp>
      <p:pic>
        <p:nvPicPr>
          <p:cNvPr id="19" name="Picture 18" descr="lock.png"/>
          <p:cNvPicPr>
            <a:picLocks noChangeAspect="1"/>
          </p:cNvPicPr>
          <p:nvPr/>
        </p:nvPicPr>
        <p:blipFill>
          <a:blip r:embed="rId6"/>
          <a:stretch>
            <a:fillRect/>
          </a:stretch>
        </p:blipFill>
        <p:spPr>
          <a:xfrm>
            <a:off x="8371722" y="5851905"/>
            <a:ext cx="128699" cy="187198"/>
          </a:xfrm>
          <a:prstGeom prst="rect">
            <a:avLst/>
          </a:prstGeom>
        </p:spPr>
      </p:pic>
      <p:sp>
        <p:nvSpPr>
          <p:cNvPr id="20" name="TextBox 19"/>
          <p:cNvSpPr txBox="1"/>
          <p:nvPr/>
        </p:nvSpPr>
        <p:spPr>
          <a:xfrm>
            <a:off x="8539218"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8796212" y="5851905"/>
            <a:ext cx="128699" cy="187198"/>
          </a:xfrm>
          <a:prstGeom prst="rect">
            <a:avLst/>
          </a:prstGeom>
        </p:spPr>
      </p:pic>
      <p:sp>
        <p:nvSpPr>
          <p:cNvPr id="22" name="TextBox 21"/>
          <p:cNvSpPr txBox="1"/>
          <p:nvPr/>
        </p:nvSpPr>
        <p:spPr>
          <a:xfrm>
            <a:off x="8963708"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0702448" y="5851905"/>
            <a:ext cx="128699" cy="187198"/>
          </a:xfrm>
          <a:prstGeom prst="rect">
            <a:avLst/>
          </a:prstGeom>
        </p:spPr>
      </p:pic>
      <p:sp>
        <p:nvSpPr>
          <p:cNvPr id="24" name="TextBox 23"/>
          <p:cNvSpPr txBox="1"/>
          <p:nvPr/>
        </p:nvSpPr>
        <p:spPr>
          <a:xfrm>
            <a:off x="10869944"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11126938" y="5851905"/>
            <a:ext cx="128699" cy="187198"/>
          </a:xfrm>
          <a:prstGeom prst="rect">
            <a:avLst/>
          </a:prstGeom>
        </p:spPr>
      </p:pic>
      <p:sp>
        <p:nvSpPr>
          <p:cNvPr id="26" name="TextBox 25"/>
          <p:cNvSpPr txBox="1"/>
          <p:nvPr/>
        </p:nvSpPr>
        <p:spPr>
          <a:xfrm>
            <a:off x="257175"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017108" y="6019545"/>
            <a:ext cx="128699" cy="187198"/>
          </a:xfrm>
          <a:prstGeom prst="rect">
            <a:avLst/>
          </a:prstGeom>
        </p:spPr>
      </p:pic>
      <p:sp>
        <p:nvSpPr>
          <p:cNvPr id="28" name="TextBox 27"/>
          <p:cNvSpPr txBox="1"/>
          <p:nvPr/>
        </p:nvSpPr>
        <p:spPr>
          <a:xfrm>
            <a:off x="3184604" y="6029325"/>
            <a:ext cx="8703566" cy="186689"/>
          </a:xfrm>
          <a:prstGeom prst="rect">
            <a:avLst/>
          </a:prstGeom>
          <a:noFill/>
        </p:spPr>
        <p:txBody>
          <a:bodyPr wrap="none" lIns="0" rIns="0" tIns="0" bIns="0">
            <a:spAutoFit/>
          </a:bodyPr>
          <a:lstStyle/>
          <a:p>
            <a:r>
              <a:rPr sz="1100" b="0">
                <a:solidFill>
                  <a:srgbClr val="252423"/>
                </a:solidFill>
                <a:latin typeface="Segoe UI"/>
              </a:rPr>
              <a:t>. The 500 w to below 1,000 w segment is expected to be less attractive as compared to other segments over the forecast period, owing to its</a:t>
            </a:r>
          </a:p>
        </p:txBody>
      </p:sp>
      <p:sp>
        <p:nvSpPr>
          <p:cNvPr id="29" name="TextBox 28"/>
          <p:cNvSpPr txBox="1"/>
          <p:nvPr/>
        </p:nvSpPr>
        <p:spPr>
          <a:xfrm>
            <a:off x="257175" y="6196965"/>
            <a:ext cx="7359158" cy="186689"/>
          </a:xfrm>
          <a:prstGeom prst="rect">
            <a:avLst/>
          </a:prstGeom>
          <a:noFill/>
        </p:spPr>
        <p:txBody>
          <a:bodyPr wrap="none" lIns="0" rIns="0" tIns="0" bIns="0">
            <a:spAutoFit/>
          </a:bodyPr>
          <a:lstStyle/>
          <a:p>
            <a:r>
              <a:rPr sz="1100" b="0">
                <a:solidFill>
                  <a:srgbClr val="252423"/>
                </a:solidFill>
                <a:latin typeface="Segoe UI"/>
              </a:rPr>
              <a:t>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Output Power Rating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Below 500 W</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500 W to Below 1,000 W</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1,000 W to Below 2,000 W</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2,000 W and Above</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Output Power Rating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Output Power Rating, 2021–2036, highlighting the sub-segments driving growth</a:t>
            </a:r>
          </a:p>
        </p:txBody>
      </p:sp>
      <p:sp>
        <p:nvSpPr>
          <p:cNvPr id="8" name="Rectangle 7"/>
          <p:cNvSpPr/>
          <p:nvPr/>
        </p:nvSpPr>
        <p:spPr>
          <a:xfrm>
            <a:off x="142875" y="981075"/>
            <a:ext cx="11906250" cy="1952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Output Power Rating (US$ Mn)</a:t>
            </a:r>
          </a:p>
        </p:txBody>
      </p:sp>
      <p:graphicFrame>
        <p:nvGraphicFramePr>
          <p:cNvPr id="10" name="Table 9"/>
          <p:cNvGraphicFramePr>
            <a:graphicFrameLocks noGrp="1"/>
          </p:cNvGraphicFramePr>
          <p:nvPr/>
        </p:nvGraphicFramePr>
        <p:xfrm>
          <a:off x="152400" y="1238250"/>
          <a:ext cx="11887204" cy="1485896"/>
        </p:xfrm>
        <a:graphic>
          <a:graphicData uri="http://schemas.openxmlformats.org/drawingml/2006/table">
            <a:tbl>
              <a:tblPr>
                <a:tableStyleId>{5C22544A-7EE6-4342-B048-85BDC9FD1C3A}</a:tableStyleId>
              </a:tblPr>
              <a:tblGrid>
                <a:gridCol w="2073381"/>
                <a:gridCol w="588793"/>
                <a:gridCol w="588793"/>
                <a:gridCol w="588793"/>
                <a:gridCol w="588793"/>
                <a:gridCol w="588793"/>
                <a:gridCol w="561996"/>
                <a:gridCol w="561996"/>
                <a:gridCol w="561996"/>
                <a:gridCol w="561996"/>
                <a:gridCol w="561996"/>
                <a:gridCol w="561996"/>
                <a:gridCol w="561996"/>
                <a:gridCol w="561996"/>
                <a:gridCol w="561996"/>
                <a:gridCol w="561996"/>
                <a:gridCol w="561996"/>
                <a:gridCol w="687902"/>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067050"/>
            <a:ext cx="11906250" cy="3562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Output Power Rating</a:t>
            </a:r>
          </a:p>
        </p:txBody>
      </p:sp>
      <p:sp>
        <p:nvSpPr>
          <p:cNvPr id="14" name="Rectangle 13"/>
          <p:cNvSpPr/>
          <p:nvPr/>
        </p:nvSpPr>
        <p:spPr>
          <a:xfrm>
            <a:off x="276225" y="33909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946002" y="1837563"/>
            <a:ext cx="366712" cy="533400"/>
          </a:xfrm>
          <a:prstGeom prst="rect">
            <a:avLst/>
          </a:prstGeom>
        </p:spPr>
      </p:pic>
      <p:sp>
        <p:nvSpPr>
          <p:cNvPr id="18" name="TextBox 17"/>
          <p:cNvSpPr txBox="1"/>
          <p:nvPr/>
        </p:nvSpPr>
        <p:spPr>
          <a:xfrm>
            <a:off x="276225" y="3486150"/>
            <a:ext cx="3796632" cy="194310"/>
          </a:xfrm>
          <a:prstGeom prst="rect">
            <a:avLst/>
          </a:prstGeom>
          <a:noFill/>
        </p:spPr>
        <p:txBody>
          <a:bodyPr wrap="none" lIns="0" rIns="0" tIns="0" bIns="0">
            <a:spAutoFit/>
          </a:bodyPr>
          <a:lstStyle/>
          <a:p>
            <a:r>
              <a:rPr sz="1150" b="0">
                <a:solidFill>
                  <a:srgbClr val="252423"/>
                </a:solidFill>
                <a:latin typeface="Segoe UI"/>
              </a:rPr>
              <a:t>1,000 w to below 2,000 w segment is projected to register</a:t>
            </a:r>
          </a:p>
        </p:txBody>
      </p:sp>
      <p:pic>
        <p:nvPicPr>
          <p:cNvPr id="19" name="Picture 18" descr="lock.png"/>
          <p:cNvPicPr>
            <a:picLocks noChangeAspect="1"/>
          </p:cNvPicPr>
          <p:nvPr/>
        </p:nvPicPr>
        <p:blipFill>
          <a:blip r:embed="rId4"/>
          <a:stretch>
            <a:fillRect/>
          </a:stretch>
        </p:blipFill>
        <p:spPr>
          <a:xfrm>
            <a:off x="4022011" y="3475926"/>
            <a:ext cx="134549" cy="195707"/>
          </a:xfrm>
          <a:prstGeom prst="rect">
            <a:avLst/>
          </a:prstGeom>
        </p:spPr>
      </p:pic>
      <p:sp>
        <p:nvSpPr>
          <p:cNvPr id="20" name="TextBox 19"/>
          <p:cNvSpPr txBox="1"/>
          <p:nvPr/>
        </p:nvSpPr>
        <p:spPr>
          <a:xfrm>
            <a:off x="4197121" y="3486150"/>
            <a:ext cx="7552098" cy="194310"/>
          </a:xfrm>
          <a:prstGeom prst="rect">
            <a:avLst/>
          </a:prstGeom>
          <a:noFill/>
        </p:spPr>
        <p:txBody>
          <a:bodyPr wrap="none" lIns="0" rIns="0" tIns="0" bIns="0">
            <a:spAutoFit/>
          </a:bodyPr>
          <a:lstStyle/>
          <a:p>
            <a:r>
              <a:rPr sz="1150" b="0">
                <a:solidFill>
                  <a:srgbClr val="252423"/>
                </a:solidFill>
                <a:latin typeface="Segoe UI"/>
              </a:rPr>
              <a:t>X higher value than 2,000 w and above segment in 2036. Among lithium polymer portable energy storage by output</a:t>
            </a:r>
          </a:p>
        </p:txBody>
      </p:sp>
      <p:sp>
        <p:nvSpPr>
          <p:cNvPr id="21" name="TextBox 20"/>
          <p:cNvSpPr txBox="1"/>
          <p:nvPr/>
        </p:nvSpPr>
        <p:spPr>
          <a:xfrm>
            <a:off x="276225" y="3661410"/>
            <a:ext cx="5995940" cy="194310"/>
          </a:xfrm>
          <a:prstGeom prst="rect">
            <a:avLst/>
          </a:prstGeom>
          <a:noFill/>
        </p:spPr>
        <p:txBody>
          <a:bodyPr wrap="none" lIns="0" rIns="0" tIns="0" bIns="0">
            <a:spAutoFit/>
          </a:bodyPr>
          <a:lstStyle/>
          <a:p>
            <a:r>
              <a:rPr sz="1150" b="0">
                <a:solidFill>
                  <a:srgbClr val="252423"/>
                </a:solidFill>
                <a:latin typeface="Segoe UI"/>
              </a:rPr>
              <a:t>power rating, 1,000 w to below 2,000 w segment is expected to witness the highest CAGR of</a:t>
            </a:r>
          </a:p>
        </p:txBody>
      </p:sp>
      <p:pic>
        <p:nvPicPr>
          <p:cNvPr id="22" name="Picture 21" descr="lock.png"/>
          <p:cNvPicPr>
            <a:picLocks noChangeAspect="1"/>
          </p:cNvPicPr>
          <p:nvPr/>
        </p:nvPicPr>
        <p:blipFill>
          <a:blip r:embed="rId4"/>
          <a:stretch>
            <a:fillRect/>
          </a:stretch>
        </p:blipFill>
        <p:spPr>
          <a:xfrm>
            <a:off x="6221319" y="3651186"/>
            <a:ext cx="134549" cy="195707"/>
          </a:xfrm>
          <a:prstGeom prst="rect">
            <a:avLst/>
          </a:prstGeom>
        </p:spPr>
      </p:pic>
      <p:sp>
        <p:nvSpPr>
          <p:cNvPr id="23" name="TextBox 22"/>
          <p:cNvSpPr txBox="1"/>
          <p:nvPr/>
        </p:nvSpPr>
        <p:spPr>
          <a:xfrm>
            <a:off x="6396428" y="36614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889247"/>
            <a:ext cx="8508332" cy="194310"/>
          </a:xfrm>
          <a:prstGeom prst="rect">
            <a:avLst/>
          </a:prstGeom>
          <a:noFill/>
        </p:spPr>
        <p:txBody>
          <a:bodyPr wrap="none" lIns="0" rIns="0" tIns="0" bIns="0">
            <a:spAutoFit/>
          </a:bodyPr>
          <a:lstStyle/>
          <a:p>
            <a:r>
              <a:rPr sz="1150" b="0">
                <a:solidFill>
                  <a:srgbClr val="252423"/>
                </a:solidFill>
                <a:latin typeface="Segoe UI"/>
              </a:rPr>
              <a:t>In terms of value share by output power rating, the 1,000 w to below 2,000 w segment is expected to dominate the market, gaining</a:t>
            </a:r>
          </a:p>
        </p:txBody>
      </p:sp>
      <p:pic>
        <p:nvPicPr>
          <p:cNvPr id="25" name="Picture 24" descr="lock.png"/>
          <p:cNvPicPr>
            <a:picLocks noChangeAspect="1"/>
          </p:cNvPicPr>
          <p:nvPr/>
        </p:nvPicPr>
        <p:blipFill>
          <a:blip r:embed="rId4"/>
          <a:stretch>
            <a:fillRect/>
          </a:stretch>
        </p:blipFill>
        <p:spPr>
          <a:xfrm>
            <a:off x="8733711" y="3879024"/>
            <a:ext cx="134549" cy="195707"/>
          </a:xfrm>
          <a:prstGeom prst="rect">
            <a:avLst/>
          </a:prstGeom>
        </p:spPr>
      </p:pic>
      <p:sp>
        <p:nvSpPr>
          <p:cNvPr id="26" name="TextBox 25"/>
          <p:cNvSpPr txBox="1"/>
          <p:nvPr/>
        </p:nvSpPr>
        <p:spPr>
          <a:xfrm>
            <a:off x="8908820" y="38892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437177" y="3879024"/>
            <a:ext cx="134549" cy="195707"/>
          </a:xfrm>
          <a:prstGeom prst="rect">
            <a:avLst/>
          </a:prstGeom>
        </p:spPr>
      </p:pic>
      <p:sp>
        <p:nvSpPr>
          <p:cNvPr id="28" name="TextBox 27"/>
          <p:cNvSpPr txBox="1"/>
          <p:nvPr/>
        </p:nvSpPr>
        <p:spPr>
          <a:xfrm>
            <a:off x="10612286" y="38892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29" name="TextBox 28"/>
          <p:cNvSpPr txBox="1"/>
          <p:nvPr/>
        </p:nvSpPr>
        <p:spPr>
          <a:xfrm>
            <a:off x="276225" y="4064507"/>
            <a:ext cx="3395365" cy="194310"/>
          </a:xfrm>
          <a:prstGeom prst="rect">
            <a:avLst/>
          </a:prstGeom>
          <a:noFill/>
        </p:spPr>
        <p:txBody>
          <a:bodyPr wrap="none" lIns="0" rIns="0" tIns="0" bIns="0">
            <a:spAutoFit/>
          </a:bodyPr>
          <a:lstStyle/>
          <a:p>
            <a:r>
              <a:rPr sz="1150" b="0">
                <a:solidFill>
                  <a:srgbClr val="252423"/>
                </a:solidFill>
                <a:latin typeface="Segoe UI"/>
              </a:rPr>
              <a:t>The 2,000 w and above segment is expected to lose</a:t>
            </a:r>
          </a:p>
        </p:txBody>
      </p:sp>
      <p:pic>
        <p:nvPicPr>
          <p:cNvPr id="30" name="Picture 29" descr="lock.png"/>
          <p:cNvPicPr>
            <a:picLocks noChangeAspect="1"/>
          </p:cNvPicPr>
          <p:nvPr/>
        </p:nvPicPr>
        <p:blipFill>
          <a:blip r:embed="rId4"/>
          <a:stretch>
            <a:fillRect/>
          </a:stretch>
        </p:blipFill>
        <p:spPr>
          <a:xfrm>
            <a:off x="3620744" y="4054284"/>
            <a:ext cx="134549" cy="195707"/>
          </a:xfrm>
          <a:prstGeom prst="rect">
            <a:avLst/>
          </a:prstGeom>
        </p:spPr>
      </p:pic>
      <p:sp>
        <p:nvSpPr>
          <p:cNvPr id="31" name="TextBox 30"/>
          <p:cNvSpPr txBox="1"/>
          <p:nvPr/>
        </p:nvSpPr>
        <p:spPr>
          <a:xfrm>
            <a:off x="3795853" y="40645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6595239" y="4054284"/>
            <a:ext cx="134549" cy="195707"/>
          </a:xfrm>
          <a:prstGeom prst="rect">
            <a:avLst/>
          </a:prstGeom>
        </p:spPr>
      </p:pic>
      <p:sp>
        <p:nvSpPr>
          <p:cNvPr id="33" name="TextBox 32"/>
          <p:cNvSpPr txBox="1"/>
          <p:nvPr/>
        </p:nvSpPr>
        <p:spPr>
          <a:xfrm>
            <a:off x="6770348" y="40645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Output Power Rating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Output Power Rating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80251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9775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7215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500 W to Below 1,000 W</a:t>
            </a:r>
          </a:p>
        </p:txBody>
      </p:sp>
      <p:sp>
        <p:nvSpPr>
          <p:cNvPr id="16" name="BPS Value 1"/>
          <p:cNvSpPr txBox="1"/>
          <p:nvPr/>
        </p:nvSpPr>
        <p:spPr>
          <a:xfrm>
            <a:off x="6896100" y="1783467"/>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26927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226451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18831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Below 500 W</a:t>
            </a:r>
          </a:p>
        </p:txBody>
      </p:sp>
      <p:sp>
        <p:nvSpPr>
          <p:cNvPr id="20" name="BPS Value 2"/>
          <p:cNvSpPr txBox="1"/>
          <p:nvPr/>
        </p:nvSpPr>
        <p:spPr>
          <a:xfrm>
            <a:off x="6896100" y="225022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928997" y="325156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324680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17060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2,000 W and Above</a:t>
            </a:r>
          </a:p>
        </p:txBody>
      </p:sp>
      <p:sp>
        <p:nvSpPr>
          <p:cNvPr id="24" name="BPS Value 3"/>
          <p:cNvSpPr txBox="1"/>
          <p:nvPr/>
        </p:nvSpPr>
        <p:spPr>
          <a:xfrm>
            <a:off x="6896100" y="323251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actMR Legend Chip"/>
          <p:cNvSpPr/>
          <p:nvPr/>
        </p:nvSpPr>
        <p:spPr>
          <a:xfrm>
            <a:off x="4928997" y="507099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06623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499003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1,000 W to Below 2,000 W</a:t>
            </a:r>
          </a:p>
        </p:txBody>
      </p:sp>
      <p:sp>
        <p:nvSpPr>
          <p:cNvPr id="28" name="BPS Value 4"/>
          <p:cNvSpPr txBox="1"/>
          <p:nvPr/>
        </p:nvSpPr>
        <p:spPr>
          <a:xfrm>
            <a:off x="6896100" y="5051946"/>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Output Power Rating</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72662"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output</a:t>
            </a:r>
          </a:p>
        </p:txBody>
      </p:sp>
      <p:sp>
        <p:nvSpPr>
          <p:cNvPr id="36" name="TextBox 35"/>
          <p:cNvSpPr txBox="1"/>
          <p:nvPr/>
        </p:nvSpPr>
        <p:spPr>
          <a:xfrm>
            <a:off x="7829550" y="1575435"/>
            <a:ext cx="3960743" cy="194310"/>
          </a:xfrm>
          <a:prstGeom prst="rect">
            <a:avLst/>
          </a:prstGeom>
          <a:noFill/>
        </p:spPr>
        <p:txBody>
          <a:bodyPr wrap="none" lIns="0" rIns="0" tIns="0" bIns="0">
            <a:spAutoFit/>
          </a:bodyPr>
          <a:lstStyle/>
          <a:p>
            <a:r>
              <a:rPr sz="1150" b="0">
                <a:solidFill>
                  <a:srgbClr val="252423"/>
                </a:solidFill>
                <a:latin typeface="Segoe UI"/>
              </a:rPr>
              <a:t>power rating, 1,000 w to below 2,000 w segment is expected</a:t>
            </a:r>
          </a:p>
        </p:txBody>
      </p:sp>
      <p:sp>
        <p:nvSpPr>
          <p:cNvPr id="37" name="TextBox 36"/>
          <p:cNvSpPr txBox="1"/>
          <p:nvPr/>
        </p:nvSpPr>
        <p:spPr>
          <a:xfrm>
            <a:off x="7829550" y="1750695"/>
            <a:ext cx="2071461" cy="194310"/>
          </a:xfrm>
          <a:prstGeom prst="rect">
            <a:avLst/>
          </a:prstGeom>
          <a:noFill/>
        </p:spPr>
        <p:txBody>
          <a:bodyPr wrap="none" lIns="0" rIns="0" tIns="0" bIns="0">
            <a:spAutoFit/>
          </a:bodyPr>
          <a:lstStyle/>
          <a:p>
            <a:r>
              <a:rPr sz="1150" b="0">
                <a:solidFill>
                  <a:srgbClr val="252423"/>
                </a:solidFill>
                <a:latin typeface="Segoe UI"/>
              </a:rPr>
              <a:t>to witness the highest CAGR of</a:t>
            </a:r>
          </a:p>
        </p:txBody>
      </p:sp>
      <p:pic>
        <p:nvPicPr>
          <p:cNvPr id="38" name="Picture 37" descr="lock.png"/>
          <p:cNvPicPr>
            <a:picLocks noChangeAspect="1"/>
          </p:cNvPicPr>
          <p:nvPr/>
        </p:nvPicPr>
        <p:blipFill>
          <a:blip r:embed="rId5"/>
          <a:stretch>
            <a:fillRect/>
          </a:stretch>
        </p:blipFill>
        <p:spPr>
          <a:xfrm>
            <a:off x="9850165" y="1740471"/>
            <a:ext cx="134549" cy="195707"/>
          </a:xfrm>
          <a:prstGeom prst="rect">
            <a:avLst/>
          </a:prstGeom>
        </p:spPr>
      </p:pic>
      <p:sp>
        <p:nvSpPr>
          <p:cNvPr id="39" name="TextBox 38"/>
          <p:cNvSpPr txBox="1"/>
          <p:nvPr/>
        </p:nvSpPr>
        <p:spPr>
          <a:xfrm>
            <a:off x="10025275"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0" name="TextBox 39"/>
          <p:cNvSpPr txBox="1"/>
          <p:nvPr/>
        </p:nvSpPr>
        <p:spPr>
          <a:xfrm>
            <a:off x="7829550" y="1925955"/>
            <a:ext cx="4057650" cy="194310"/>
          </a:xfrm>
          <a:prstGeom prst="rect">
            <a:avLst/>
          </a:prstGeom>
          <a:noFill/>
        </p:spPr>
        <p:txBody>
          <a:bodyPr wrap="none" lIns="0" rIns="0" tIns="0" bIns="0">
            <a:spAutoFit/>
          </a:bodyPr>
          <a:lstStyle/>
          <a:p>
            <a:r>
              <a:rPr sz="1150" b="0">
                <a:solidFill>
                  <a:srgbClr val="252423"/>
                </a:solidFill>
                <a:latin typeface="Segoe UI"/>
              </a:rPr>
              <a:t>In terms of value share by output power rating, the 1,000 w to</a:t>
            </a:r>
          </a:p>
        </p:txBody>
      </p:sp>
      <p:sp>
        <p:nvSpPr>
          <p:cNvPr id="41" name="TextBox 40"/>
          <p:cNvSpPr txBox="1"/>
          <p:nvPr/>
        </p:nvSpPr>
        <p:spPr>
          <a:xfrm>
            <a:off x="7829550" y="2101215"/>
            <a:ext cx="3960119" cy="194310"/>
          </a:xfrm>
          <a:prstGeom prst="rect">
            <a:avLst/>
          </a:prstGeom>
          <a:noFill/>
        </p:spPr>
        <p:txBody>
          <a:bodyPr wrap="none" lIns="0" rIns="0" tIns="0" bIns="0">
            <a:spAutoFit/>
          </a:bodyPr>
          <a:lstStyle/>
          <a:p>
            <a:r>
              <a:rPr sz="1150" b="0">
                <a:solidFill>
                  <a:srgbClr val="252423"/>
                </a:solidFill>
                <a:latin typeface="Segoe UI"/>
              </a:rPr>
              <a:t>below 2,000 w segment is expected to dominate the market,</a:t>
            </a:r>
          </a:p>
        </p:txBody>
      </p:sp>
      <p:sp>
        <p:nvSpPr>
          <p:cNvPr id="42" name="TextBox 41"/>
          <p:cNvSpPr txBox="1"/>
          <p:nvPr/>
        </p:nvSpPr>
        <p:spPr>
          <a:xfrm>
            <a:off x="7829550" y="2276475"/>
            <a:ext cx="559134" cy="194310"/>
          </a:xfrm>
          <a:prstGeom prst="rect">
            <a:avLst/>
          </a:prstGeom>
          <a:noFill/>
        </p:spPr>
        <p:txBody>
          <a:bodyPr wrap="none" lIns="0" rIns="0" tIns="0" bIns="0">
            <a:spAutoFit/>
          </a:bodyPr>
          <a:lstStyle/>
          <a:p>
            <a:r>
              <a:rPr sz="1150" b="0">
                <a:solidFill>
                  <a:srgbClr val="252423"/>
                </a:solidFill>
                <a:latin typeface="Segoe UI"/>
              </a:rPr>
              <a:t>gaining</a:t>
            </a:r>
          </a:p>
        </p:txBody>
      </p:sp>
      <p:pic>
        <p:nvPicPr>
          <p:cNvPr id="43" name="Picture 42" descr="lock.png"/>
          <p:cNvPicPr>
            <a:picLocks noChangeAspect="1"/>
          </p:cNvPicPr>
          <p:nvPr/>
        </p:nvPicPr>
        <p:blipFill>
          <a:blip r:embed="rId5"/>
          <a:stretch>
            <a:fillRect/>
          </a:stretch>
        </p:blipFill>
        <p:spPr>
          <a:xfrm>
            <a:off x="8337838" y="2266251"/>
            <a:ext cx="134549" cy="195707"/>
          </a:xfrm>
          <a:prstGeom prst="rect">
            <a:avLst/>
          </a:prstGeom>
        </p:spPr>
      </p:pic>
      <p:sp>
        <p:nvSpPr>
          <p:cNvPr id="44" name="TextBox 43"/>
          <p:cNvSpPr txBox="1"/>
          <p:nvPr/>
        </p:nvSpPr>
        <p:spPr>
          <a:xfrm>
            <a:off x="8512948" y="2276475"/>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5" name="Picture 44" descr="lock.png"/>
          <p:cNvPicPr>
            <a:picLocks noChangeAspect="1"/>
          </p:cNvPicPr>
          <p:nvPr/>
        </p:nvPicPr>
        <p:blipFill>
          <a:blip r:embed="rId5"/>
          <a:stretch>
            <a:fillRect/>
          </a:stretch>
        </p:blipFill>
        <p:spPr>
          <a:xfrm>
            <a:off x="10041304" y="2266251"/>
            <a:ext cx="134549" cy="195707"/>
          </a:xfrm>
          <a:prstGeom prst="rect">
            <a:avLst/>
          </a:prstGeom>
        </p:spPr>
      </p:pic>
      <p:sp>
        <p:nvSpPr>
          <p:cNvPr id="46" name="TextBox 45"/>
          <p:cNvSpPr txBox="1"/>
          <p:nvPr/>
        </p:nvSpPr>
        <p:spPr>
          <a:xfrm>
            <a:off x="10216414" y="227647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7" name="TextBox 46"/>
          <p:cNvSpPr txBox="1"/>
          <p:nvPr/>
        </p:nvSpPr>
        <p:spPr>
          <a:xfrm>
            <a:off x="7829550" y="2504313"/>
            <a:ext cx="3395365" cy="194310"/>
          </a:xfrm>
          <a:prstGeom prst="rect">
            <a:avLst/>
          </a:prstGeom>
          <a:noFill/>
        </p:spPr>
        <p:txBody>
          <a:bodyPr wrap="none" lIns="0" rIns="0" tIns="0" bIns="0">
            <a:spAutoFit/>
          </a:bodyPr>
          <a:lstStyle/>
          <a:p>
            <a:r>
              <a:rPr sz="1150" b="0">
                <a:solidFill>
                  <a:srgbClr val="252423"/>
                </a:solidFill>
                <a:latin typeface="Segoe UI"/>
              </a:rPr>
              <a:t>The 2,000 w and above segment is expected to lose</a:t>
            </a:r>
          </a:p>
        </p:txBody>
      </p:sp>
      <p:pic>
        <p:nvPicPr>
          <p:cNvPr id="48" name="Picture 47" descr="lock.png"/>
          <p:cNvPicPr>
            <a:picLocks noChangeAspect="1"/>
          </p:cNvPicPr>
          <p:nvPr/>
        </p:nvPicPr>
        <p:blipFill>
          <a:blip r:embed="rId5"/>
          <a:stretch>
            <a:fillRect/>
          </a:stretch>
        </p:blipFill>
        <p:spPr>
          <a:xfrm>
            <a:off x="11174069" y="2494089"/>
            <a:ext cx="134549" cy="195707"/>
          </a:xfrm>
          <a:prstGeom prst="rect">
            <a:avLst/>
          </a:prstGeom>
        </p:spPr>
      </p:pic>
      <p:sp>
        <p:nvSpPr>
          <p:cNvPr id="49" name="TextBox 48"/>
          <p:cNvSpPr txBox="1"/>
          <p:nvPr/>
        </p:nvSpPr>
        <p:spPr>
          <a:xfrm>
            <a:off x="11349178" y="2504313"/>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50" name="TextBox 49"/>
          <p:cNvSpPr txBox="1"/>
          <p:nvPr/>
        </p:nvSpPr>
        <p:spPr>
          <a:xfrm>
            <a:off x="7829550" y="2679573"/>
            <a:ext cx="2566974" cy="194310"/>
          </a:xfrm>
          <a:prstGeom prst="rect">
            <a:avLst/>
          </a:prstGeom>
          <a:noFill/>
        </p:spPr>
        <p:txBody>
          <a:bodyPr wrap="none" lIns="0" rIns="0" tIns="0" bIns="0">
            <a:spAutoFit/>
          </a:bodyPr>
          <a:lstStyle/>
          <a:p>
            <a:r>
              <a:rPr sz="1150" b="0">
                <a:solidFill>
                  <a:srgbClr val="252423"/>
                </a:solidFill>
                <a:latin typeface="Segoe UI"/>
              </a:rPr>
              <a:t>over the forecast period to account for</a:t>
            </a:r>
          </a:p>
        </p:txBody>
      </p:sp>
      <p:pic>
        <p:nvPicPr>
          <p:cNvPr id="51" name="Picture 50" descr="lock.png"/>
          <p:cNvPicPr>
            <a:picLocks noChangeAspect="1"/>
          </p:cNvPicPr>
          <p:nvPr/>
        </p:nvPicPr>
        <p:blipFill>
          <a:blip r:embed="rId5"/>
          <a:stretch>
            <a:fillRect/>
          </a:stretch>
        </p:blipFill>
        <p:spPr>
          <a:xfrm>
            <a:off x="10345678" y="2669349"/>
            <a:ext cx="134549" cy="195707"/>
          </a:xfrm>
          <a:prstGeom prst="rect">
            <a:avLst/>
          </a:prstGeom>
        </p:spPr>
      </p:pic>
      <p:sp>
        <p:nvSpPr>
          <p:cNvPr id="52" name="TextBox 51"/>
          <p:cNvSpPr txBox="1"/>
          <p:nvPr/>
        </p:nvSpPr>
        <p:spPr>
          <a:xfrm>
            <a:off x="10520787"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System Architecture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System Architecture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System Architecture,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System Architecture segment categorizes the market by system architecture.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AC/DC Portable Power Stations</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DC-Only Portable Battery Systems</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System Architecture split shows how demand is distributed across system architecture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129_8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390_1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11_6__605E5C.png"/>
          <p:cNvPicPr>
            <a:picLocks noChangeAspect="1"/>
          </p:cNvPicPr>
          <p:nvPr/>
        </p:nvPicPr>
        <p:blipFill>
          <a:blip r:embed="rId6"/>
          <a:stretch>
            <a:fillRect/>
          </a:stretch>
        </p:blipFill>
        <p:spPr>
          <a:xfrm>
            <a:off x="3740773" y="3272281"/>
            <a:ext cx="1195728" cy="361950"/>
          </a:xfrm>
          <a:prstGeom prst="rect">
            <a:avLst/>
          </a:prstGeom>
        </p:spPr>
      </p:pic>
      <p:pic>
        <p:nvPicPr>
          <p:cNvPr id="50" name="Picture 49" descr="127_6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395_4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12_0__605E5C.png"/>
          <p:cNvPicPr>
            <a:picLocks noChangeAspect="1"/>
          </p:cNvPicPr>
          <p:nvPr/>
        </p:nvPicPr>
        <p:blipFill>
          <a:blip r:embed="rId9"/>
          <a:stretch>
            <a:fillRect/>
          </a:stretch>
        </p:blipFill>
        <p:spPr>
          <a:xfrm>
            <a:off x="8798548" y="3272281"/>
            <a:ext cx="1195728"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914650" cy="179984"/>
          </a:xfrm>
          <a:prstGeom prst="rect">
            <a:avLst/>
          </a:prstGeom>
          <a:noFill/>
        </p:spPr>
        <p:txBody>
          <a:bodyPr wrap="none" lIns="0" rIns="0" tIns="0" bIns="0">
            <a:spAutoFit/>
          </a:bodyPr>
          <a:lstStyle/>
          <a:p>
            <a:r>
              <a:rPr sz="1055" b="0">
                <a:solidFill>
                  <a:srgbClr val="252423"/>
                </a:solidFill>
                <a:latin typeface="Segoe UI"/>
              </a:rPr>
              <a:t>Among lithium polymer portable energy storage</a:t>
            </a:r>
          </a:p>
        </p:txBody>
      </p:sp>
      <p:sp>
        <p:nvSpPr>
          <p:cNvPr id="56" name="TextBox 55"/>
          <p:cNvSpPr txBox="1"/>
          <p:nvPr/>
        </p:nvSpPr>
        <p:spPr>
          <a:xfrm>
            <a:off x="485775" y="4390371"/>
            <a:ext cx="2910637" cy="179984"/>
          </a:xfrm>
          <a:prstGeom prst="rect">
            <a:avLst/>
          </a:prstGeom>
          <a:noFill/>
        </p:spPr>
        <p:txBody>
          <a:bodyPr wrap="none" lIns="0" rIns="0" tIns="0" bIns="0">
            <a:spAutoFit/>
          </a:bodyPr>
          <a:lstStyle/>
          <a:p>
            <a:r>
              <a:rPr sz="1055" b="0">
                <a:solidFill>
                  <a:srgbClr val="252423"/>
                </a:solidFill>
                <a:latin typeface="Segoe UI"/>
              </a:rPr>
              <a:t>by system architecture, dc-only portable battery</a:t>
            </a:r>
          </a:p>
        </p:txBody>
      </p:sp>
      <p:sp>
        <p:nvSpPr>
          <p:cNvPr id="57" name="TextBox 56"/>
          <p:cNvSpPr txBox="1"/>
          <p:nvPr/>
        </p:nvSpPr>
        <p:spPr>
          <a:xfrm>
            <a:off x="485775" y="4551305"/>
            <a:ext cx="2654139" cy="179984"/>
          </a:xfrm>
          <a:prstGeom prst="rect">
            <a:avLst/>
          </a:prstGeom>
          <a:noFill/>
        </p:spPr>
        <p:txBody>
          <a:bodyPr wrap="none" lIns="0" rIns="0" tIns="0" bIns="0">
            <a:spAutoFit/>
          </a:bodyPr>
          <a:lstStyle/>
          <a:p>
            <a:r>
              <a:rPr sz="1055" b="0">
                <a:solidFill>
                  <a:srgbClr val="252423"/>
                </a:solidFill>
                <a:latin typeface="Segoe UI"/>
              </a:rPr>
              <a:t>systems segment is expected to witness the</a:t>
            </a:r>
          </a:p>
        </p:txBody>
      </p:sp>
      <p:sp>
        <p:nvSpPr>
          <p:cNvPr id="58" name="TextBox 57"/>
          <p:cNvSpPr txBox="1"/>
          <p:nvPr/>
        </p:nvSpPr>
        <p:spPr>
          <a:xfrm>
            <a:off x="485775" y="4712240"/>
            <a:ext cx="1047660" cy="179984"/>
          </a:xfrm>
          <a:prstGeom prst="rect">
            <a:avLst/>
          </a:prstGeom>
          <a:noFill/>
        </p:spPr>
        <p:txBody>
          <a:bodyPr wrap="none" lIns="0" rIns="0" tIns="0" bIns="0">
            <a:spAutoFit/>
          </a:bodyPr>
          <a:lstStyle/>
          <a:p>
            <a:r>
              <a:rPr sz="1055" b="0">
                <a:solidFill>
                  <a:srgbClr val="252423"/>
                </a:solidFill>
                <a:latin typeface="Segoe UI"/>
              </a:rPr>
              <a:t>highest CAGR of</a:t>
            </a:r>
          </a:p>
        </p:txBody>
      </p:sp>
      <p:pic>
        <p:nvPicPr>
          <p:cNvPr id="59" name="Picture 58" descr="lock.png"/>
          <p:cNvPicPr>
            <a:picLocks noChangeAspect="1"/>
          </p:cNvPicPr>
          <p:nvPr/>
        </p:nvPicPr>
        <p:blipFill>
          <a:blip r:embed="rId10"/>
          <a:stretch>
            <a:fillRect/>
          </a:stretch>
        </p:blipFill>
        <p:spPr>
          <a:xfrm>
            <a:off x="1480517" y="4702852"/>
            <a:ext cx="123551" cy="179710"/>
          </a:xfrm>
          <a:prstGeom prst="rect">
            <a:avLst/>
          </a:prstGeom>
        </p:spPr>
      </p:pic>
      <p:sp>
        <p:nvSpPr>
          <p:cNvPr id="60" name="TextBox 59"/>
          <p:cNvSpPr txBox="1"/>
          <p:nvPr/>
        </p:nvSpPr>
        <p:spPr>
          <a:xfrm>
            <a:off x="1641313" y="4712240"/>
            <a:ext cx="1670834" cy="179984"/>
          </a:xfrm>
          <a:prstGeom prst="rect">
            <a:avLst/>
          </a:prstGeom>
          <a:noFill/>
        </p:spPr>
        <p:txBody>
          <a:bodyPr wrap="none" lIns="0" rIns="0" tIns="0" bIns="0">
            <a:spAutoFit/>
          </a:bodyPr>
          <a:lstStyle/>
          <a:p>
            <a:r>
              <a:rPr sz="1055" b="0">
                <a:solidFill>
                  <a:srgbClr val="252423"/>
                </a:solidFill>
                <a:latin typeface="Segoe UI"/>
              </a:rPr>
              <a:t>over the forecast period. In</a:t>
            </a:r>
          </a:p>
        </p:txBody>
      </p:sp>
      <p:sp>
        <p:nvSpPr>
          <p:cNvPr id="61" name="TextBox 60"/>
          <p:cNvSpPr txBox="1"/>
          <p:nvPr/>
        </p:nvSpPr>
        <p:spPr>
          <a:xfrm>
            <a:off x="485775" y="4873174"/>
            <a:ext cx="2893386" cy="179984"/>
          </a:xfrm>
          <a:prstGeom prst="rect">
            <a:avLst/>
          </a:prstGeom>
          <a:noFill/>
        </p:spPr>
        <p:txBody>
          <a:bodyPr wrap="none" lIns="0" rIns="0" tIns="0" bIns="0">
            <a:spAutoFit/>
          </a:bodyPr>
          <a:lstStyle/>
          <a:p>
            <a:r>
              <a:rPr sz="1055" b="0">
                <a:solidFill>
                  <a:srgbClr val="252423"/>
                </a:solidFill>
                <a:latin typeface="Segoe UI"/>
              </a:rPr>
              <a:t>terms of value share by system architecture, the</a:t>
            </a:r>
          </a:p>
        </p:txBody>
      </p:sp>
      <p:sp>
        <p:nvSpPr>
          <p:cNvPr id="62" name="TextBox 61"/>
          <p:cNvSpPr txBox="1"/>
          <p:nvPr/>
        </p:nvSpPr>
        <p:spPr>
          <a:xfrm>
            <a:off x="485775" y="5034109"/>
            <a:ext cx="2695660" cy="179984"/>
          </a:xfrm>
          <a:prstGeom prst="rect">
            <a:avLst/>
          </a:prstGeom>
          <a:noFill/>
        </p:spPr>
        <p:txBody>
          <a:bodyPr wrap="none" lIns="0" rIns="0" tIns="0" bIns="0">
            <a:spAutoFit/>
          </a:bodyPr>
          <a:lstStyle/>
          <a:p>
            <a:r>
              <a:rPr sz="1055" b="0">
                <a:solidFill>
                  <a:srgbClr val="252423"/>
                </a:solidFill>
                <a:latin typeface="Segoe UI"/>
              </a:rPr>
              <a:t>dc-only portable battery systems segment is</a:t>
            </a:r>
          </a:p>
        </p:txBody>
      </p:sp>
      <p:sp>
        <p:nvSpPr>
          <p:cNvPr id="63" name="TextBox 62"/>
          <p:cNvSpPr txBox="1"/>
          <p:nvPr/>
        </p:nvSpPr>
        <p:spPr>
          <a:xfrm>
            <a:off x="485775" y="5195043"/>
            <a:ext cx="2564516" cy="179984"/>
          </a:xfrm>
          <a:prstGeom prst="rect">
            <a:avLst/>
          </a:prstGeom>
          <a:noFill/>
        </p:spPr>
        <p:txBody>
          <a:bodyPr wrap="none" lIns="0" rIns="0" tIns="0" bIns="0">
            <a:spAutoFit/>
          </a:bodyPr>
          <a:lstStyle/>
          <a:p>
            <a:r>
              <a:rPr sz="1055" b="0">
                <a:solidFill>
                  <a:srgbClr val="252423"/>
                </a:solidFill>
                <a:latin typeface="Segoe UI"/>
              </a:rPr>
              <a:t>expected to dominate the market, gaining</a:t>
            </a:r>
          </a:p>
        </p:txBody>
      </p:sp>
      <p:pic>
        <p:nvPicPr>
          <p:cNvPr id="64" name="Picture 63" descr="lock.png"/>
          <p:cNvPicPr>
            <a:picLocks noChangeAspect="1"/>
          </p:cNvPicPr>
          <p:nvPr/>
        </p:nvPicPr>
        <p:blipFill>
          <a:blip r:embed="rId10"/>
          <a:stretch>
            <a:fillRect/>
          </a:stretch>
        </p:blipFill>
        <p:spPr>
          <a:xfrm>
            <a:off x="2997372" y="5185655"/>
            <a:ext cx="123551" cy="179710"/>
          </a:xfrm>
          <a:prstGeom prst="rect">
            <a:avLst/>
          </a:prstGeom>
        </p:spPr>
      </p:pic>
      <p:sp>
        <p:nvSpPr>
          <p:cNvPr id="65" name="TextBox 64"/>
          <p:cNvSpPr txBox="1"/>
          <p:nvPr/>
        </p:nvSpPr>
        <p:spPr>
          <a:xfrm>
            <a:off x="485775" y="5355977"/>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66" name="Picture 65" descr="lock.png"/>
          <p:cNvPicPr>
            <a:picLocks noChangeAspect="1"/>
          </p:cNvPicPr>
          <p:nvPr/>
        </p:nvPicPr>
        <p:blipFill>
          <a:blip r:embed="rId10"/>
          <a:stretch>
            <a:fillRect/>
          </a:stretch>
        </p:blipFill>
        <p:spPr>
          <a:xfrm>
            <a:off x="1889205" y="5346589"/>
            <a:ext cx="123551" cy="179710"/>
          </a:xfrm>
          <a:prstGeom prst="rect">
            <a:avLst/>
          </a:prstGeom>
        </p:spPr>
      </p:pic>
      <p:sp>
        <p:nvSpPr>
          <p:cNvPr id="67" name="TextBox 66"/>
          <p:cNvSpPr txBox="1"/>
          <p:nvPr/>
        </p:nvSpPr>
        <p:spPr>
          <a:xfrm>
            <a:off x="2050001"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68" name="TextBox 67"/>
          <p:cNvSpPr txBox="1"/>
          <p:nvPr/>
        </p:nvSpPr>
        <p:spPr>
          <a:xfrm>
            <a:off x="485775" y="5565192"/>
            <a:ext cx="2710591" cy="179984"/>
          </a:xfrm>
          <a:prstGeom prst="rect">
            <a:avLst/>
          </a:prstGeom>
          <a:noFill/>
        </p:spPr>
        <p:txBody>
          <a:bodyPr wrap="none" lIns="0" rIns="0" tIns="0" bIns="0">
            <a:spAutoFit/>
          </a:bodyPr>
          <a:lstStyle/>
          <a:p>
            <a:r>
              <a:rPr sz="1055" b="0">
                <a:solidFill>
                  <a:srgbClr val="252423"/>
                </a:solidFill>
                <a:latin typeface="Segoe UI"/>
              </a:rPr>
              <a:t>Dc-only portable battery systems segment is</a:t>
            </a:r>
          </a:p>
        </p:txBody>
      </p:sp>
      <p:sp>
        <p:nvSpPr>
          <p:cNvPr id="69" name="TextBox 68"/>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70" name="Picture 69" descr="lock.png"/>
          <p:cNvPicPr>
            <a:picLocks noChangeAspect="1"/>
          </p:cNvPicPr>
          <p:nvPr/>
        </p:nvPicPr>
        <p:blipFill>
          <a:blip r:embed="rId10"/>
          <a:stretch>
            <a:fillRect/>
          </a:stretch>
        </p:blipFill>
        <p:spPr>
          <a:xfrm>
            <a:off x="1717791" y="5716739"/>
            <a:ext cx="123551" cy="179710"/>
          </a:xfrm>
          <a:prstGeom prst="rect">
            <a:avLst/>
          </a:prstGeom>
        </p:spPr>
      </p:pic>
      <p:sp>
        <p:nvSpPr>
          <p:cNvPr id="71" name="TextBox 70"/>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72" name="TextBox 71"/>
          <p:cNvSpPr txBox="1"/>
          <p:nvPr/>
        </p:nvSpPr>
        <p:spPr>
          <a:xfrm>
            <a:off x="485775" y="5887061"/>
            <a:ext cx="2914650" cy="179984"/>
          </a:xfrm>
          <a:prstGeom prst="rect">
            <a:avLst/>
          </a:prstGeom>
          <a:noFill/>
        </p:spPr>
        <p:txBody>
          <a:bodyPr wrap="none" lIns="0" rIns="0" tIns="0" bIns="0">
            <a:spAutoFit/>
          </a:bodyPr>
          <a:lstStyle/>
          <a:p>
            <a:r>
              <a:rPr sz="1055" b="0">
                <a:solidFill>
                  <a:srgbClr val="252423"/>
                </a:solidFill>
                <a:latin typeface="Segoe UI"/>
              </a:rPr>
              <a:t>AC/DC portable power stations segment in 2036.</a:t>
            </a:r>
          </a:p>
        </p:txBody>
      </p:sp>
      <p:sp>
        <p:nvSpPr>
          <p:cNvPr id="73" name="TextBox 72"/>
          <p:cNvSpPr txBox="1"/>
          <p:nvPr/>
        </p:nvSpPr>
        <p:spPr>
          <a:xfrm>
            <a:off x="3838575" y="4229437"/>
            <a:ext cx="2152668" cy="186689"/>
          </a:xfrm>
          <a:prstGeom prst="rect">
            <a:avLst/>
          </a:prstGeom>
          <a:noFill/>
        </p:spPr>
        <p:txBody>
          <a:bodyPr wrap="none" lIns="0" rIns="0" tIns="0" bIns="0">
            <a:spAutoFit/>
          </a:bodyPr>
          <a:lstStyle/>
          <a:p>
            <a:r>
              <a:rPr sz="1100" b="0">
                <a:solidFill>
                  <a:srgbClr val="252423"/>
                </a:solidFill>
                <a:latin typeface="Segoe UI"/>
              </a:rPr>
              <a:t>● AC/DC Portable Power Stations:</a:t>
            </a:r>
          </a:p>
        </p:txBody>
      </p:sp>
      <p:pic>
        <p:nvPicPr>
          <p:cNvPr id="74" name="Picture 73" descr="lock.png"/>
          <p:cNvPicPr>
            <a:picLocks noChangeAspect="1"/>
          </p:cNvPicPr>
          <p:nvPr/>
        </p:nvPicPr>
        <p:blipFill>
          <a:blip r:embed="rId10"/>
          <a:stretch>
            <a:fillRect/>
          </a:stretch>
        </p:blipFill>
        <p:spPr>
          <a:xfrm>
            <a:off x="5939295" y="4219658"/>
            <a:ext cx="128699" cy="187198"/>
          </a:xfrm>
          <a:prstGeom prst="rect">
            <a:avLst/>
          </a:prstGeom>
        </p:spPr>
      </p:pic>
      <p:sp>
        <p:nvSpPr>
          <p:cNvPr id="75" name="TextBox 74"/>
          <p:cNvSpPr txBox="1"/>
          <p:nvPr/>
        </p:nvSpPr>
        <p:spPr>
          <a:xfrm>
            <a:off x="6106791"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10"/>
          <a:stretch>
            <a:fillRect/>
          </a:stretch>
        </p:blipFill>
        <p:spPr>
          <a:xfrm>
            <a:off x="7026737" y="4219658"/>
            <a:ext cx="128699" cy="187198"/>
          </a:xfrm>
          <a:prstGeom prst="rect">
            <a:avLst/>
          </a:prstGeom>
        </p:spPr>
      </p:pic>
      <p:sp>
        <p:nvSpPr>
          <p:cNvPr id="77" name="TextBox 76"/>
          <p:cNvSpPr txBox="1"/>
          <p:nvPr/>
        </p:nvSpPr>
        <p:spPr>
          <a:xfrm>
            <a:off x="7194233"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78" name="TextBox 77"/>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79" name="TextBox 78"/>
          <p:cNvSpPr txBox="1"/>
          <p:nvPr/>
        </p:nvSpPr>
        <p:spPr>
          <a:xfrm>
            <a:off x="3838575" y="4615009"/>
            <a:ext cx="2323392" cy="186689"/>
          </a:xfrm>
          <a:prstGeom prst="rect">
            <a:avLst/>
          </a:prstGeom>
          <a:noFill/>
        </p:spPr>
        <p:txBody>
          <a:bodyPr wrap="none" lIns="0" rIns="0" tIns="0" bIns="0">
            <a:spAutoFit/>
          </a:bodyPr>
          <a:lstStyle/>
          <a:p>
            <a:r>
              <a:rPr sz="1100" b="0">
                <a:solidFill>
                  <a:srgbClr val="252423"/>
                </a:solidFill>
                <a:latin typeface="Segoe UI"/>
              </a:rPr>
              <a:t>● DC-Only Portable Battery Systems:</a:t>
            </a:r>
          </a:p>
        </p:txBody>
      </p:sp>
      <p:pic>
        <p:nvPicPr>
          <p:cNvPr id="80" name="Picture 79" descr="lock.png"/>
          <p:cNvPicPr>
            <a:picLocks noChangeAspect="1"/>
          </p:cNvPicPr>
          <p:nvPr/>
        </p:nvPicPr>
        <p:blipFill>
          <a:blip r:embed="rId10"/>
          <a:stretch>
            <a:fillRect/>
          </a:stretch>
        </p:blipFill>
        <p:spPr>
          <a:xfrm>
            <a:off x="6110019" y="4605230"/>
            <a:ext cx="128699" cy="187198"/>
          </a:xfrm>
          <a:prstGeom prst="rect">
            <a:avLst/>
          </a:prstGeom>
        </p:spPr>
      </p:pic>
      <p:sp>
        <p:nvSpPr>
          <p:cNvPr id="81" name="TextBox 80"/>
          <p:cNvSpPr txBox="1"/>
          <p:nvPr/>
        </p:nvSpPr>
        <p:spPr>
          <a:xfrm>
            <a:off x="6277515"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7197461" y="4605230"/>
            <a:ext cx="128699" cy="187198"/>
          </a:xfrm>
          <a:prstGeom prst="rect">
            <a:avLst/>
          </a:prstGeom>
        </p:spPr>
      </p:pic>
      <p:sp>
        <p:nvSpPr>
          <p:cNvPr id="83" name="TextBox 82"/>
          <p:cNvSpPr txBox="1"/>
          <p:nvPr/>
        </p:nvSpPr>
        <p:spPr>
          <a:xfrm>
            <a:off x="3838575" y="4782649"/>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84" name="TextBox 83"/>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System Architecture segment is projected</a:t>
            </a:r>
          </a:p>
        </p:txBody>
      </p:sp>
      <p:sp>
        <p:nvSpPr>
          <p:cNvPr id="85" name="TextBox 84"/>
          <p:cNvSpPr txBox="1"/>
          <p:nvPr/>
        </p:nvSpPr>
        <p:spPr>
          <a:xfrm>
            <a:off x="8524875" y="6017901"/>
            <a:ext cx="1530063" cy="194310"/>
          </a:xfrm>
          <a:prstGeom prst="rect">
            <a:avLst/>
          </a:prstGeom>
          <a:noFill/>
        </p:spPr>
        <p:txBody>
          <a:bodyPr wrap="none" lIns="0" rIns="0" tIns="0" bIns="0">
            <a:spAutoFit/>
          </a:bodyPr>
          <a:lstStyle/>
          <a:p>
            <a:r>
              <a:rPr sz="1150" b="1">
                <a:solidFill>
                  <a:srgbClr val="0E3A5F"/>
                </a:solidFill>
                <a:latin typeface="Segoe UI"/>
              </a:rPr>
              <a:t>to grow at a CAGR of</a:t>
            </a:r>
          </a:p>
        </p:txBody>
      </p:sp>
      <p:pic>
        <p:nvPicPr>
          <p:cNvPr id="86" name="Picture 85" descr="lock.png"/>
          <p:cNvPicPr>
            <a:picLocks noChangeAspect="1"/>
          </p:cNvPicPr>
          <p:nvPr/>
        </p:nvPicPr>
        <p:blipFill>
          <a:blip r:embed="rId10"/>
          <a:stretch>
            <a:fillRect/>
          </a:stretch>
        </p:blipFill>
        <p:spPr>
          <a:xfrm>
            <a:off x="10004092" y="6007677"/>
            <a:ext cx="134549" cy="195707"/>
          </a:xfrm>
          <a:prstGeom prst="rect">
            <a:avLst/>
          </a:prstGeom>
        </p:spPr>
      </p:pic>
      <p:sp>
        <p:nvSpPr>
          <p:cNvPr id="87" name="TextBox 86"/>
          <p:cNvSpPr txBox="1"/>
          <p:nvPr/>
        </p:nvSpPr>
        <p:spPr>
          <a:xfrm>
            <a:off x="10179201"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System Architecture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System Architecture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Architecture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System Architecture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77650" cy="186689"/>
          </a:xfrm>
          <a:prstGeom prst="rect">
            <a:avLst/>
          </a:prstGeom>
          <a:noFill/>
        </p:spPr>
        <p:txBody>
          <a:bodyPr wrap="none" lIns="0" rIns="0" tIns="0" bIns="0">
            <a:spAutoFit/>
          </a:bodyPr>
          <a:lstStyle/>
          <a:p>
            <a:r>
              <a:rPr sz="1100" b="0">
                <a:solidFill>
                  <a:srgbClr val="252423"/>
                </a:solidFill>
                <a:latin typeface="Segoe UI"/>
              </a:rPr>
              <a:t>Dc-only portable battery systems followed by AC/DC portable power stations are expected to be the two most attractive system architecture segments in the North America lithium polymer</a:t>
            </a:r>
          </a:p>
        </p:txBody>
      </p:sp>
      <p:sp>
        <p:nvSpPr>
          <p:cNvPr id="18" name="TextBox 17"/>
          <p:cNvSpPr txBox="1"/>
          <p:nvPr/>
        </p:nvSpPr>
        <p:spPr>
          <a:xfrm>
            <a:off x="257175" y="5945505"/>
            <a:ext cx="10476909" cy="186689"/>
          </a:xfrm>
          <a:prstGeom prst="rect">
            <a:avLst/>
          </a:prstGeom>
          <a:noFill/>
        </p:spPr>
        <p:txBody>
          <a:bodyPr wrap="none" lIns="0" rIns="0" tIns="0" bIns="0">
            <a:spAutoFit/>
          </a:bodyPr>
          <a:lstStyle/>
          <a:p>
            <a:r>
              <a:rPr sz="1100" b="0">
                <a:solidFill>
                  <a:srgbClr val="252423"/>
                </a:solidFill>
                <a:latin typeface="Segoe UI"/>
              </a:rPr>
              <a:t>portable energy storage market in terms of value over the forecast period. DC-Only portable battery systems and AC/DC portable power stations exhibit a CAGR index of</a:t>
            </a:r>
          </a:p>
        </p:txBody>
      </p:sp>
      <p:pic>
        <p:nvPicPr>
          <p:cNvPr id="19" name="Picture 18" descr="lock.png"/>
          <p:cNvPicPr>
            <a:picLocks noChangeAspect="1"/>
          </p:cNvPicPr>
          <p:nvPr/>
        </p:nvPicPr>
        <p:blipFill>
          <a:blip r:embed="rId6"/>
          <a:stretch>
            <a:fillRect/>
          </a:stretch>
        </p:blipFill>
        <p:spPr>
          <a:xfrm>
            <a:off x="10682135" y="5935726"/>
            <a:ext cx="128699" cy="187198"/>
          </a:xfrm>
          <a:prstGeom prst="rect">
            <a:avLst/>
          </a:prstGeom>
        </p:spPr>
      </p:pic>
      <p:sp>
        <p:nvSpPr>
          <p:cNvPr id="20" name="TextBox 19"/>
          <p:cNvSpPr txBox="1"/>
          <p:nvPr/>
        </p:nvSpPr>
        <p:spPr>
          <a:xfrm>
            <a:off x="10849631"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1106625" y="5935726"/>
            <a:ext cx="128699" cy="187198"/>
          </a:xfrm>
          <a:prstGeom prst="rect">
            <a:avLst/>
          </a:prstGeom>
        </p:spPr>
      </p:pic>
      <p:sp>
        <p:nvSpPr>
          <p:cNvPr id="22" name="TextBox 21"/>
          <p:cNvSpPr txBox="1"/>
          <p:nvPr/>
        </p:nvSpPr>
        <p:spPr>
          <a:xfrm>
            <a:off x="11274121" y="5945505"/>
            <a:ext cx="418355" cy="186689"/>
          </a:xfrm>
          <a:prstGeom prst="rect">
            <a:avLst/>
          </a:prstGeom>
          <a:noFill/>
        </p:spPr>
        <p:txBody>
          <a:bodyPr wrap="none" lIns="0" rIns="0" tIns="0" bIns="0">
            <a:spAutoFit/>
          </a:bodyPr>
          <a:lstStyle/>
          <a:p>
            <a:r>
              <a:rPr sz="1100" b="0">
                <a:solidFill>
                  <a:srgbClr val="252423"/>
                </a:solidFill>
                <a:latin typeface="Segoe UI"/>
              </a:rPr>
              <a:t>and a</a:t>
            </a:r>
          </a:p>
        </p:txBody>
      </p:sp>
      <p:sp>
        <p:nvSpPr>
          <p:cNvPr id="23" name="TextBox 22"/>
          <p:cNvSpPr txBox="1"/>
          <p:nvPr/>
        </p:nvSpPr>
        <p:spPr>
          <a:xfrm>
            <a:off x="257175" y="6113145"/>
            <a:ext cx="1410333" cy="186689"/>
          </a:xfrm>
          <a:prstGeom prst="rect">
            <a:avLst/>
          </a:prstGeom>
          <a:noFill/>
        </p:spPr>
        <p:txBody>
          <a:bodyPr wrap="none" lIns="0" rIns="0" tIns="0" bIns="0">
            <a:spAutoFit/>
          </a:bodyPr>
          <a:lstStyle/>
          <a:p>
            <a:r>
              <a:rPr sz="1100" b="0">
                <a:solidFill>
                  <a:srgbClr val="252423"/>
                </a:solidFill>
                <a:latin typeface="Segoe UI"/>
              </a:rPr>
              <a:t>market share index of</a:t>
            </a:r>
          </a:p>
        </p:txBody>
      </p:sp>
      <p:pic>
        <p:nvPicPr>
          <p:cNvPr id="24" name="Picture 23" descr="lock.png"/>
          <p:cNvPicPr>
            <a:picLocks noChangeAspect="1"/>
          </p:cNvPicPr>
          <p:nvPr/>
        </p:nvPicPr>
        <p:blipFill>
          <a:blip r:embed="rId6"/>
          <a:stretch>
            <a:fillRect/>
          </a:stretch>
        </p:blipFill>
        <p:spPr>
          <a:xfrm>
            <a:off x="1615559" y="6103366"/>
            <a:ext cx="128699" cy="187198"/>
          </a:xfrm>
          <a:prstGeom prst="rect">
            <a:avLst/>
          </a:prstGeom>
        </p:spPr>
      </p:pic>
      <p:sp>
        <p:nvSpPr>
          <p:cNvPr id="25" name="TextBox 24"/>
          <p:cNvSpPr txBox="1"/>
          <p:nvPr/>
        </p:nvSpPr>
        <p:spPr>
          <a:xfrm>
            <a:off x="1783055"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6" name="Picture 25" descr="lock.png"/>
          <p:cNvPicPr>
            <a:picLocks noChangeAspect="1"/>
          </p:cNvPicPr>
          <p:nvPr/>
        </p:nvPicPr>
        <p:blipFill>
          <a:blip r:embed="rId6"/>
          <a:stretch>
            <a:fillRect/>
          </a:stretch>
        </p:blipFill>
        <p:spPr>
          <a:xfrm>
            <a:off x="2040049" y="6103366"/>
            <a:ext cx="128699" cy="187198"/>
          </a:xfrm>
          <a:prstGeom prst="rect">
            <a:avLst/>
          </a:prstGeom>
        </p:spPr>
      </p:pic>
      <p:sp>
        <p:nvSpPr>
          <p:cNvPr id="27" name="TextBox 26"/>
          <p:cNvSpPr txBox="1"/>
          <p:nvPr/>
        </p:nvSpPr>
        <p:spPr>
          <a:xfrm>
            <a:off x="2207545"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8" name="Picture 27" descr="lock.png"/>
          <p:cNvPicPr>
            <a:picLocks noChangeAspect="1"/>
          </p:cNvPicPr>
          <p:nvPr/>
        </p:nvPicPr>
        <p:blipFill>
          <a:blip r:embed="rId6"/>
          <a:stretch>
            <a:fillRect/>
          </a:stretch>
        </p:blipFill>
        <p:spPr>
          <a:xfrm>
            <a:off x="4967479" y="6103366"/>
            <a:ext cx="128699" cy="187198"/>
          </a:xfrm>
          <a:prstGeom prst="rect">
            <a:avLst/>
          </a:prstGeom>
        </p:spPr>
      </p:pic>
      <p:sp>
        <p:nvSpPr>
          <p:cNvPr id="29" name="TextBox 28"/>
          <p:cNvSpPr txBox="1"/>
          <p:nvPr/>
        </p:nvSpPr>
        <p:spPr>
          <a:xfrm>
            <a:off x="5134975"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System Architecture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AC/DC Portable Power Stations</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DC-Only Portable Battery Systems</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System Architecture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System Architecture,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System Architecture (US$ Mn)</a:t>
            </a:r>
          </a:p>
        </p:txBody>
      </p:sp>
      <p:graphicFrame>
        <p:nvGraphicFramePr>
          <p:cNvPr id="10" name="Table 9"/>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2531104"/>
                <a:gridCol w="561331"/>
                <a:gridCol w="561331"/>
                <a:gridCol w="561331"/>
                <a:gridCol w="561331"/>
                <a:gridCol w="561331"/>
                <a:gridCol w="535784"/>
                <a:gridCol w="535784"/>
                <a:gridCol w="535784"/>
                <a:gridCol w="535784"/>
                <a:gridCol w="535784"/>
                <a:gridCol w="535784"/>
                <a:gridCol w="535784"/>
                <a:gridCol w="535784"/>
                <a:gridCol w="535784"/>
                <a:gridCol w="535784"/>
                <a:gridCol w="535784"/>
                <a:gridCol w="655818"/>
              </a:tblGrid>
              <a:tr h="246126">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System Architecture</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174862" y="1589913"/>
            <a:ext cx="366712" cy="533400"/>
          </a:xfrm>
          <a:prstGeom prst="rect">
            <a:avLst/>
          </a:prstGeom>
        </p:spPr>
      </p:pic>
      <p:sp>
        <p:nvSpPr>
          <p:cNvPr id="18" name="TextBox 17"/>
          <p:cNvSpPr txBox="1"/>
          <p:nvPr/>
        </p:nvSpPr>
        <p:spPr>
          <a:xfrm>
            <a:off x="276225" y="2990850"/>
            <a:ext cx="4301358" cy="194310"/>
          </a:xfrm>
          <a:prstGeom prst="rect">
            <a:avLst/>
          </a:prstGeom>
          <a:noFill/>
        </p:spPr>
        <p:txBody>
          <a:bodyPr wrap="none" lIns="0" rIns="0" tIns="0" bIns="0">
            <a:spAutoFit/>
          </a:bodyPr>
          <a:lstStyle/>
          <a:p>
            <a:r>
              <a:rPr sz="1150" b="0">
                <a:solidFill>
                  <a:srgbClr val="252423"/>
                </a:solidFill>
                <a:latin typeface="Segoe UI"/>
              </a:rPr>
              <a:t>Dc-only portable battery systems segment is projected to register</a:t>
            </a:r>
          </a:p>
        </p:txBody>
      </p:sp>
      <p:pic>
        <p:nvPicPr>
          <p:cNvPr id="19" name="Picture 18" descr="lock.png"/>
          <p:cNvPicPr>
            <a:picLocks noChangeAspect="1"/>
          </p:cNvPicPr>
          <p:nvPr/>
        </p:nvPicPr>
        <p:blipFill>
          <a:blip r:embed="rId4"/>
          <a:stretch>
            <a:fillRect/>
          </a:stretch>
        </p:blipFill>
        <p:spPr>
          <a:xfrm>
            <a:off x="4526737" y="2980626"/>
            <a:ext cx="134549" cy="195707"/>
          </a:xfrm>
          <a:prstGeom prst="rect">
            <a:avLst/>
          </a:prstGeom>
        </p:spPr>
      </p:pic>
      <p:sp>
        <p:nvSpPr>
          <p:cNvPr id="20" name="TextBox 19"/>
          <p:cNvSpPr txBox="1"/>
          <p:nvPr/>
        </p:nvSpPr>
        <p:spPr>
          <a:xfrm>
            <a:off x="4701846" y="2990850"/>
            <a:ext cx="7150804" cy="194310"/>
          </a:xfrm>
          <a:prstGeom prst="rect">
            <a:avLst/>
          </a:prstGeom>
          <a:noFill/>
        </p:spPr>
        <p:txBody>
          <a:bodyPr wrap="none" lIns="0" rIns="0" tIns="0" bIns="0">
            <a:spAutoFit/>
          </a:bodyPr>
          <a:lstStyle/>
          <a:p>
            <a:r>
              <a:rPr sz="1150" b="0">
                <a:solidFill>
                  <a:srgbClr val="252423"/>
                </a:solidFill>
                <a:latin typeface="Segoe UI"/>
              </a:rPr>
              <a:t>X higher value than AC/DC portable power stations segment in 2036. Among lithium polymer portable energy</a:t>
            </a:r>
          </a:p>
        </p:txBody>
      </p:sp>
      <p:sp>
        <p:nvSpPr>
          <p:cNvPr id="21" name="TextBox 20"/>
          <p:cNvSpPr txBox="1"/>
          <p:nvPr/>
        </p:nvSpPr>
        <p:spPr>
          <a:xfrm>
            <a:off x="276225" y="3166110"/>
            <a:ext cx="7633017" cy="194310"/>
          </a:xfrm>
          <a:prstGeom prst="rect">
            <a:avLst/>
          </a:prstGeom>
          <a:noFill/>
        </p:spPr>
        <p:txBody>
          <a:bodyPr wrap="none" lIns="0" rIns="0" tIns="0" bIns="0">
            <a:spAutoFit/>
          </a:bodyPr>
          <a:lstStyle/>
          <a:p>
            <a:r>
              <a:rPr sz="1150" b="0">
                <a:solidFill>
                  <a:srgbClr val="252423"/>
                </a:solidFill>
                <a:latin typeface="Segoe UI"/>
              </a:rPr>
              <a:t>storage by system architecture, dc-only portable battery systems segment is expected to witness the highest CAGR of</a:t>
            </a:r>
          </a:p>
        </p:txBody>
      </p:sp>
      <p:pic>
        <p:nvPicPr>
          <p:cNvPr id="22" name="Picture 21" descr="lock.png"/>
          <p:cNvPicPr>
            <a:picLocks noChangeAspect="1"/>
          </p:cNvPicPr>
          <p:nvPr/>
        </p:nvPicPr>
        <p:blipFill>
          <a:blip r:embed="rId4"/>
          <a:stretch>
            <a:fillRect/>
          </a:stretch>
        </p:blipFill>
        <p:spPr>
          <a:xfrm>
            <a:off x="7858396" y="3155886"/>
            <a:ext cx="134549" cy="195707"/>
          </a:xfrm>
          <a:prstGeom prst="rect">
            <a:avLst/>
          </a:prstGeom>
        </p:spPr>
      </p:pic>
      <p:sp>
        <p:nvSpPr>
          <p:cNvPr id="23" name="TextBox 22"/>
          <p:cNvSpPr txBox="1"/>
          <p:nvPr/>
        </p:nvSpPr>
        <p:spPr>
          <a:xfrm>
            <a:off x="8033505"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8947930" cy="194310"/>
          </a:xfrm>
          <a:prstGeom prst="rect">
            <a:avLst/>
          </a:prstGeom>
          <a:noFill/>
        </p:spPr>
        <p:txBody>
          <a:bodyPr wrap="none" lIns="0" rIns="0" tIns="0" bIns="0">
            <a:spAutoFit/>
          </a:bodyPr>
          <a:lstStyle/>
          <a:p>
            <a:r>
              <a:rPr sz="1150" b="0">
                <a:solidFill>
                  <a:srgbClr val="252423"/>
                </a:solidFill>
                <a:latin typeface="Segoe UI"/>
              </a:rPr>
              <a:t>In terms of value share by system architecture, the dc-only portable battery systems segment is expected to dominate the market, gaining</a:t>
            </a:r>
          </a:p>
        </p:txBody>
      </p:sp>
      <p:pic>
        <p:nvPicPr>
          <p:cNvPr id="25" name="Picture 24" descr="lock.png"/>
          <p:cNvPicPr>
            <a:picLocks noChangeAspect="1"/>
          </p:cNvPicPr>
          <p:nvPr/>
        </p:nvPicPr>
        <p:blipFill>
          <a:blip r:embed="rId4"/>
          <a:stretch>
            <a:fillRect/>
          </a:stretch>
        </p:blipFill>
        <p:spPr>
          <a:xfrm>
            <a:off x="9173309" y="3383724"/>
            <a:ext cx="134549" cy="195707"/>
          </a:xfrm>
          <a:prstGeom prst="rect">
            <a:avLst/>
          </a:prstGeom>
        </p:spPr>
      </p:pic>
      <p:sp>
        <p:nvSpPr>
          <p:cNvPr id="26" name="TextBox 25"/>
          <p:cNvSpPr txBox="1"/>
          <p:nvPr/>
        </p:nvSpPr>
        <p:spPr>
          <a:xfrm>
            <a:off x="9348418"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876775" y="3383724"/>
            <a:ext cx="134549" cy="195707"/>
          </a:xfrm>
          <a:prstGeom prst="rect">
            <a:avLst/>
          </a:prstGeom>
        </p:spPr>
      </p:pic>
      <p:sp>
        <p:nvSpPr>
          <p:cNvPr id="28" name="TextBox 27"/>
          <p:cNvSpPr txBox="1"/>
          <p:nvPr/>
        </p:nvSpPr>
        <p:spPr>
          <a:xfrm>
            <a:off x="11051885" y="3393947"/>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29" name="TextBox 28"/>
          <p:cNvSpPr txBox="1"/>
          <p:nvPr/>
        </p:nvSpPr>
        <p:spPr>
          <a:xfrm>
            <a:off x="276225" y="3569207"/>
            <a:ext cx="4578068" cy="194310"/>
          </a:xfrm>
          <a:prstGeom prst="rect">
            <a:avLst/>
          </a:prstGeom>
          <a:noFill/>
        </p:spPr>
        <p:txBody>
          <a:bodyPr wrap="none" lIns="0" rIns="0" tIns="0" bIns="0">
            <a:spAutoFit/>
          </a:bodyPr>
          <a:lstStyle/>
          <a:p>
            <a:r>
              <a:rPr sz="1150" b="0">
                <a:solidFill>
                  <a:srgbClr val="252423"/>
                </a:solidFill>
                <a:latin typeface="Segoe UI"/>
              </a:rPr>
              <a:t>2036. The AC/DC portable power stations segment is expected to lose</a:t>
            </a:r>
          </a:p>
        </p:txBody>
      </p:sp>
      <p:pic>
        <p:nvPicPr>
          <p:cNvPr id="30" name="Picture 29" descr="lock.png"/>
          <p:cNvPicPr>
            <a:picLocks noChangeAspect="1"/>
          </p:cNvPicPr>
          <p:nvPr/>
        </p:nvPicPr>
        <p:blipFill>
          <a:blip r:embed="rId4"/>
          <a:stretch>
            <a:fillRect/>
          </a:stretch>
        </p:blipFill>
        <p:spPr>
          <a:xfrm>
            <a:off x="4803447" y="3558984"/>
            <a:ext cx="134549" cy="195707"/>
          </a:xfrm>
          <a:prstGeom prst="rect">
            <a:avLst/>
          </a:prstGeom>
        </p:spPr>
      </p:pic>
      <p:sp>
        <p:nvSpPr>
          <p:cNvPr id="31" name="TextBox 30"/>
          <p:cNvSpPr txBox="1"/>
          <p:nvPr/>
        </p:nvSpPr>
        <p:spPr>
          <a:xfrm>
            <a:off x="4978556"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7777942" y="3558984"/>
            <a:ext cx="134549" cy="195707"/>
          </a:xfrm>
          <a:prstGeom prst="rect">
            <a:avLst/>
          </a:prstGeom>
        </p:spPr>
      </p:pic>
      <p:sp>
        <p:nvSpPr>
          <p:cNvPr id="33" name="TextBox 32"/>
          <p:cNvSpPr txBox="1"/>
          <p:nvPr/>
        </p:nvSpPr>
        <p:spPr>
          <a:xfrm>
            <a:off x="7953051"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System Architecture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System Architecture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280653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80177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72557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AC/DC Portable Power Stations</a:t>
            </a:r>
          </a:p>
        </p:txBody>
      </p:sp>
      <p:sp>
        <p:nvSpPr>
          <p:cNvPr id="16" name="BPS Value 1"/>
          <p:cNvSpPr txBox="1"/>
          <p:nvPr/>
        </p:nvSpPr>
        <p:spPr>
          <a:xfrm>
            <a:off x="6896100" y="278748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509272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508796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501176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DC-Only Portable Battery Systems</a:t>
            </a:r>
          </a:p>
        </p:txBody>
      </p:sp>
      <p:sp>
        <p:nvSpPr>
          <p:cNvPr id="20" name="BPS Value 2"/>
          <p:cNvSpPr txBox="1"/>
          <p:nvPr/>
        </p:nvSpPr>
        <p:spPr>
          <a:xfrm>
            <a:off x="6896100" y="507367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System Architecture</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88291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 system</a:t>
            </a:r>
          </a:p>
        </p:txBody>
      </p:sp>
      <p:sp>
        <p:nvSpPr>
          <p:cNvPr id="28" name="TextBox 27"/>
          <p:cNvSpPr txBox="1"/>
          <p:nvPr/>
        </p:nvSpPr>
        <p:spPr>
          <a:xfrm>
            <a:off x="7829550" y="1575435"/>
            <a:ext cx="3764546" cy="194310"/>
          </a:xfrm>
          <a:prstGeom prst="rect">
            <a:avLst/>
          </a:prstGeom>
          <a:noFill/>
        </p:spPr>
        <p:txBody>
          <a:bodyPr wrap="none" lIns="0" rIns="0" tIns="0" bIns="0">
            <a:spAutoFit/>
          </a:bodyPr>
          <a:lstStyle/>
          <a:p>
            <a:r>
              <a:rPr sz="1150" b="0">
                <a:solidFill>
                  <a:srgbClr val="252423"/>
                </a:solidFill>
                <a:latin typeface="Segoe UI"/>
              </a:rPr>
              <a:t>architecture, dc-only portable battery systems segment is</a:t>
            </a:r>
          </a:p>
        </p:txBody>
      </p:sp>
      <p:sp>
        <p:nvSpPr>
          <p:cNvPr id="29" name="TextBox 28"/>
          <p:cNvSpPr txBox="1"/>
          <p:nvPr/>
        </p:nvSpPr>
        <p:spPr>
          <a:xfrm>
            <a:off x="7829550" y="1750695"/>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30" name="Picture 29" descr="lock.png"/>
          <p:cNvPicPr>
            <a:picLocks noChangeAspect="1"/>
          </p:cNvPicPr>
          <p:nvPr/>
        </p:nvPicPr>
        <p:blipFill>
          <a:blip r:embed="rId5"/>
          <a:stretch>
            <a:fillRect/>
          </a:stretch>
        </p:blipFill>
        <p:spPr>
          <a:xfrm>
            <a:off x="10475709" y="1740471"/>
            <a:ext cx="134549" cy="195707"/>
          </a:xfrm>
          <a:prstGeom prst="rect">
            <a:avLst/>
          </a:prstGeom>
        </p:spPr>
      </p:pic>
      <p:sp>
        <p:nvSpPr>
          <p:cNvPr id="31" name="TextBox 30"/>
          <p:cNvSpPr txBox="1"/>
          <p:nvPr/>
        </p:nvSpPr>
        <p:spPr>
          <a:xfrm>
            <a:off x="10650819" y="1750695"/>
            <a:ext cx="1159549" cy="194310"/>
          </a:xfrm>
          <a:prstGeom prst="rect">
            <a:avLst/>
          </a:prstGeom>
          <a:noFill/>
        </p:spPr>
        <p:txBody>
          <a:bodyPr wrap="none" lIns="0" rIns="0" tIns="0" bIns="0">
            <a:spAutoFit/>
          </a:bodyPr>
          <a:lstStyle/>
          <a:p>
            <a:r>
              <a:rPr sz="1150" b="0">
                <a:solidFill>
                  <a:srgbClr val="252423"/>
                </a:solidFill>
                <a:latin typeface="Segoe UI"/>
              </a:rPr>
              <a:t>over the forecast</a:t>
            </a:r>
          </a:p>
        </p:txBody>
      </p:sp>
      <p:sp>
        <p:nvSpPr>
          <p:cNvPr id="32" name="TextBox 31"/>
          <p:cNvSpPr txBox="1"/>
          <p:nvPr/>
        </p:nvSpPr>
        <p:spPr>
          <a:xfrm>
            <a:off x="7829550" y="1925955"/>
            <a:ext cx="3797390" cy="194310"/>
          </a:xfrm>
          <a:prstGeom prst="rect">
            <a:avLst/>
          </a:prstGeom>
          <a:noFill/>
        </p:spPr>
        <p:txBody>
          <a:bodyPr wrap="none" lIns="0" rIns="0" tIns="0" bIns="0">
            <a:spAutoFit/>
          </a:bodyPr>
          <a:lstStyle/>
          <a:p>
            <a:r>
              <a:rPr sz="1150" b="0">
                <a:solidFill>
                  <a:srgbClr val="252423"/>
                </a:solidFill>
                <a:latin typeface="Segoe UI"/>
              </a:rPr>
              <a:t>period. In terms of value share by system architecture, the</a:t>
            </a:r>
          </a:p>
        </p:txBody>
      </p:sp>
      <p:sp>
        <p:nvSpPr>
          <p:cNvPr id="33" name="TextBox 32"/>
          <p:cNvSpPr txBox="1"/>
          <p:nvPr/>
        </p:nvSpPr>
        <p:spPr>
          <a:xfrm>
            <a:off x="7829550" y="2101215"/>
            <a:ext cx="3729504" cy="194310"/>
          </a:xfrm>
          <a:prstGeom prst="rect">
            <a:avLst/>
          </a:prstGeom>
          <a:noFill/>
        </p:spPr>
        <p:txBody>
          <a:bodyPr wrap="none" lIns="0" rIns="0" tIns="0" bIns="0">
            <a:spAutoFit/>
          </a:bodyPr>
          <a:lstStyle/>
          <a:p>
            <a:r>
              <a:rPr sz="1150" b="0">
                <a:solidFill>
                  <a:srgbClr val="252423"/>
                </a:solidFill>
                <a:latin typeface="Segoe UI"/>
              </a:rPr>
              <a:t>dc-only portable battery systems segment is expected to</a:t>
            </a:r>
          </a:p>
        </p:txBody>
      </p:sp>
      <p:sp>
        <p:nvSpPr>
          <p:cNvPr id="34" name="TextBox 33"/>
          <p:cNvSpPr txBox="1"/>
          <p:nvPr/>
        </p:nvSpPr>
        <p:spPr>
          <a:xfrm>
            <a:off x="7829550" y="2276475"/>
            <a:ext cx="1985341" cy="194310"/>
          </a:xfrm>
          <a:prstGeom prst="rect">
            <a:avLst/>
          </a:prstGeom>
          <a:noFill/>
        </p:spPr>
        <p:txBody>
          <a:bodyPr wrap="none" lIns="0" rIns="0" tIns="0" bIns="0">
            <a:spAutoFit/>
          </a:bodyPr>
          <a:lstStyle/>
          <a:p>
            <a:r>
              <a:rPr sz="1150" b="0">
                <a:solidFill>
                  <a:srgbClr val="252423"/>
                </a:solidFill>
                <a:latin typeface="Segoe UI"/>
              </a:rPr>
              <a:t>dominate the market, gaining</a:t>
            </a:r>
          </a:p>
        </p:txBody>
      </p:sp>
      <p:pic>
        <p:nvPicPr>
          <p:cNvPr id="35" name="Picture 34" descr="lock.png"/>
          <p:cNvPicPr>
            <a:picLocks noChangeAspect="1"/>
          </p:cNvPicPr>
          <p:nvPr/>
        </p:nvPicPr>
        <p:blipFill>
          <a:blip r:embed="rId5"/>
          <a:stretch>
            <a:fillRect/>
          </a:stretch>
        </p:blipFill>
        <p:spPr>
          <a:xfrm>
            <a:off x="9764045" y="2266251"/>
            <a:ext cx="134549" cy="195707"/>
          </a:xfrm>
          <a:prstGeom prst="rect">
            <a:avLst/>
          </a:prstGeom>
        </p:spPr>
      </p:pic>
      <p:sp>
        <p:nvSpPr>
          <p:cNvPr id="36" name="TextBox 35"/>
          <p:cNvSpPr txBox="1"/>
          <p:nvPr/>
        </p:nvSpPr>
        <p:spPr>
          <a:xfrm>
            <a:off x="9939155" y="2276475"/>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37" name="Picture 36" descr="lock.png"/>
          <p:cNvPicPr>
            <a:picLocks noChangeAspect="1"/>
          </p:cNvPicPr>
          <p:nvPr/>
        </p:nvPicPr>
        <p:blipFill>
          <a:blip r:embed="rId5"/>
          <a:stretch>
            <a:fillRect/>
          </a:stretch>
        </p:blipFill>
        <p:spPr>
          <a:xfrm>
            <a:off x="11467511" y="2266251"/>
            <a:ext cx="134549" cy="195707"/>
          </a:xfrm>
          <a:prstGeom prst="rect">
            <a:avLst/>
          </a:prstGeom>
        </p:spPr>
      </p:pic>
      <p:sp>
        <p:nvSpPr>
          <p:cNvPr id="38" name="TextBox 37"/>
          <p:cNvSpPr txBox="1"/>
          <p:nvPr/>
        </p:nvSpPr>
        <p:spPr>
          <a:xfrm>
            <a:off x="7829550"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39" name="TextBox 38"/>
          <p:cNvSpPr txBox="1"/>
          <p:nvPr/>
        </p:nvSpPr>
        <p:spPr>
          <a:xfrm>
            <a:off x="7829550" y="2679573"/>
            <a:ext cx="3892317" cy="194310"/>
          </a:xfrm>
          <a:prstGeom prst="rect">
            <a:avLst/>
          </a:prstGeom>
          <a:noFill/>
        </p:spPr>
        <p:txBody>
          <a:bodyPr wrap="none" lIns="0" rIns="0" tIns="0" bIns="0">
            <a:spAutoFit/>
          </a:bodyPr>
          <a:lstStyle/>
          <a:p>
            <a:r>
              <a:rPr sz="1150" b="0">
                <a:solidFill>
                  <a:srgbClr val="252423"/>
                </a:solidFill>
                <a:latin typeface="Segoe UI"/>
              </a:rPr>
              <a:t>The AC/DC portable power stations segment is expected to</a:t>
            </a:r>
          </a:p>
        </p:txBody>
      </p:sp>
      <p:sp>
        <p:nvSpPr>
          <p:cNvPr id="40" name="TextBox 39"/>
          <p:cNvSpPr txBox="1"/>
          <p:nvPr/>
        </p:nvSpPr>
        <p:spPr>
          <a:xfrm>
            <a:off x="7829550" y="2854832"/>
            <a:ext cx="335495" cy="194310"/>
          </a:xfrm>
          <a:prstGeom prst="rect">
            <a:avLst/>
          </a:prstGeom>
          <a:noFill/>
        </p:spPr>
        <p:txBody>
          <a:bodyPr wrap="none" lIns="0" rIns="0" tIns="0" bIns="0">
            <a:spAutoFit/>
          </a:bodyPr>
          <a:lstStyle/>
          <a:p>
            <a:r>
              <a:rPr sz="1150" b="0">
                <a:solidFill>
                  <a:srgbClr val="252423"/>
                </a:solidFill>
                <a:latin typeface="Segoe UI"/>
              </a:rPr>
              <a:t>lose</a:t>
            </a:r>
          </a:p>
        </p:txBody>
      </p:sp>
      <p:pic>
        <p:nvPicPr>
          <p:cNvPr id="41" name="Picture 40" descr="lock.png"/>
          <p:cNvPicPr>
            <a:picLocks noChangeAspect="1"/>
          </p:cNvPicPr>
          <p:nvPr/>
        </p:nvPicPr>
        <p:blipFill>
          <a:blip r:embed="rId5"/>
          <a:stretch>
            <a:fillRect/>
          </a:stretch>
        </p:blipFill>
        <p:spPr>
          <a:xfrm>
            <a:off x="8114199" y="2844609"/>
            <a:ext cx="134549" cy="195707"/>
          </a:xfrm>
          <a:prstGeom prst="rect">
            <a:avLst/>
          </a:prstGeom>
        </p:spPr>
      </p:pic>
      <p:sp>
        <p:nvSpPr>
          <p:cNvPr id="42" name="TextBox 41"/>
          <p:cNvSpPr txBox="1"/>
          <p:nvPr/>
        </p:nvSpPr>
        <p:spPr>
          <a:xfrm>
            <a:off x="8289309"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43" name="Picture 42" descr="lock.png"/>
          <p:cNvPicPr>
            <a:picLocks noChangeAspect="1"/>
          </p:cNvPicPr>
          <p:nvPr/>
        </p:nvPicPr>
        <p:blipFill>
          <a:blip r:embed="rId5"/>
          <a:stretch>
            <a:fillRect/>
          </a:stretch>
        </p:blipFill>
        <p:spPr>
          <a:xfrm>
            <a:off x="11088694" y="2844609"/>
            <a:ext cx="134549" cy="195707"/>
          </a:xfrm>
          <a:prstGeom prst="rect">
            <a:avLst/>
          </a:prstGeom>
        </p:spPr>
      </p:pic>
      <p:sp>
        <p:nvSpPr>
          <p:cNvPr id="44" name="TextBox 43"/>
          <p:cNvSpPr txBox="1"/>
          <p:nvPr/>
        </p:nvSpPr>
        <p:spPr>
          <a:xfrm>
            <a:off x="7829550" y="303009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Distribution Channel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Distribution Channel,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Distribution Channel segment categorizes the market by distribution channel.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Online Third-Party Retail</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Direct B2B / Institutional Sales</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Direct-to-Consumer / Manufacturer…</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Offline Retail &amp; Distributors</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84_8_605E5C.png"/>
          <p:cNvPicPr>
            <a:picLocks noChangeAspect="1"/>
          </p:cNvPicPr>
          <p:nvPr/>
        </p:nvPicPr>
        <p:blipFill>
          <a:blip r:embed="rId4"/>
          <a:stretch>
            <a:fillRect/>
          </a:stretch>
        </p:blipFill>
        <p:spPr>
          <a:xfrm>
            <a:off x="2582976" y="2286582"/>
            <a:ext cx="982436" cy="361950"/>
          </a:xfrm>
          <a:prstGeom prst="rect">
            <a:avLst/>
          </a:prstGeom>
        </p:spPr>
      </p:pic>
      <p:pic>
        <p:nvPicPr>
          <p:cNvPr id="62" name="Picture 61" descr="206_6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9_3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78_5_605E5C.png"/>
          <p:cNvPicPr>
            <a:picLocks noChangeAspect="1"/>
          </p:cNvPicPr>
          <p:nvPr/>
        </p:nvPicPr>
        <p:blipFill>
          <a:blip r:embed="rId7"/>
          <a:stretch>
            <a:fillRect/>
          </a:stretch>
        </p:blipFill>
        <p:spPr>
          <a:xfrm>
            <a:off x="5111864" y="2286582"/>
            <a:ext cx="982436" cy="361950"/>
          </a:xfrm>
          <a:prstGeom prst="rect">
            <a:avLst/>
          </a:prstGeom>
        </p:spPr>
      </p:pic>
      <p:pic>
        <p:nvPicPr>
          <p:cNvPr id="65" name="Picture 64" descr="251_2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12_3__605E5C.png"/>
          <p:cNvPicPr>
            <a:picLocks noChangeAspect="1"/>
          </p:cNvPicPr>
          <p:nvPr/>
        </p:nvPicPr>
        <p:blipFill>
          <a:blip r:embed="rId9"/>
          <a:stretch>
            <a:fillRect/>
          </a:stretch>
        </p:blipFill>
        <p:spPr>
          <a:xfrm>
            <a:off x="5005218" y="3272281"/>
            <a:ext cx="1195728" cy="361950"/>
          </a:xfrm>
          <a:prstGeom prst="rect">
            <a:avLst/>
          </a:prstGeom>
        </p:spPr>
      </p:pic>
      <p:pic>
        <p:nvPicPr>
          <p:cNvPr id="67" name="Picture 66" descr="66_9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254_8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14_3__605E5C.png"/>
          <p:cNvPicPr>
            <a:picLocks noChangeAspect="1"/>
          </p:cNvPicPr>
          <p:nvPr/>
        </p:nvPicPr>
        <p:blipFill>
          <a:blip r:embed="rId12"/>
          <a:stretch>
            <a:fillRect/>
          </a:stretch>
        </p:blipFill>
        <p:spPr>
          <a:xfrm>
            <a:off x="7534105" y="3272281"/>
            <a:ext cx="1195728" cy="361950"/>
          </a:xfrm>
          <a:prstGeom prst="rect">
            <a:avLst/>
          </a:prstGeom>
        </p:spPr>
      </p:pic>
      <p:pic>
        <p:nvPicPr>
          <p:cNvPr id="70" name="Picture 69" descr="27_2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72_8_605E5C.png"/>
          <p:cNvPicPr>
            <a:picLocks noChangeAspect="1"/>
          </p:cNvPicPr>
          <p:nvPr/>
        </p:nvPicPr>
        <p:blipFill>
          <a:blip r:embed="rId14"/>
          <a:stretch>
            <a:fillRect/>
          </a:stretch>
        </p:blipFill>
        <p:spPr>
          <a:xfrm>
            <a:off x="10169638" y="2779432"/>
            <a:ext cx="982436" cy="361950"/>
          </a:xfrm>
          <a:prstGeom prst="rect">
            <a:avLst/>
          </a:prstGeom>
        </p:spPr>
      </p:pic>
      <p:pic>
        <p:nvPicPr>
          <p:cNvPr id="72" name="Picture 71" descr="10_3__605E5C.png"/>
          <p:cNvPicPr>
            <a:picLocks noChangeAspect="1"/>
          </p:cNvPicPr>
          <p:nvPr/>
        </p:nvPicPr>
        <p:blipFill>
          <a:blip r:embed="rId15"/>
          <a:stretch>
            <a:fillRect/>
          </a:stretch>
        </p:blipFill>
        <p:spPr>
          <a:xfrm>
            <a:off x="10062992" y="3272281"/>
            <a:ext cx="1195728"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825173" cy="173278"/>
          </a:xfrm>
          <a:prstGeom prst="rect">
            <a:avLst/>
          </a:prstGeom>
          <a:noFill/>
        </p:spPr>
        <p:txBody>
          <a:bodyPr wrap="none" lIns="0" rIns="0" tIns="0" bIns="0">
            <a:spAutoFit/>
          </a:bodyPr>
          <a:lstStyle/>
          <a:p>
            <a:r>
              <a:rPr sz="1011" b="0">
                <a:solidFill>
                  <a:srgbClr val="252423"/>
                </a:solidFill>
                <a:latin typeface="Segoe UI"/>
              </a:rPr>
              <a:t>Among lithium polymer portable energy storage</a:t>
            </a:r>
          </a:p>
        </p:txBody>
      </p:sp>
      <p:sp>
        <p:nvSpPr>
          <p:cNvPr id="78" name="TextBox 77"/>
          <p:cNvSpPr txBox="1"/>
          <p:nvPr/>
        </p:nvSpPr>
        <p:spPr>
          <a:xfrm>
            <a:off x="485775" y="4383665"/>
            <a:ext cx="2627951" cy="173278"/>
          </a:xfrm>
          <a:prstGeom prst="rect">
            <a:avLst/>
          </a:prstGeom>
          <a:noFill/>
        </p:spPr>
        <p:txBody>
          <a:bodyPr wrap="none" lIns="0" rIns="0" tIns="0" bIns="0">
            <a:spAutoFit/>
          </a:bodyPr>
          <a:lstStyle/>
          <a:p>
            <a:r>
              <a:rPr sz="1011" b="0">
                <a:solidFill>
                  <a:srgbClr val="252423"/>
                </a:solidFill>
                <a:latin typeface="Segoe UI"/>
              </a:rPr>
              <a:t>by distribution channel, direct-to-consumer /</a:t>
            </a:r>
          </a:p>
        </p:txBody>
      </p:sp>
      <p:sp>
        <p:nvSpPr>
          <p:cNvPr id="79" name="TextBox 78"/>
          <p:cNvSpPr txBox="1"/>
          <p:nvPr/>
        </p:nvSpPr>
        <p:spPr>
          <a:xfrm>
            <a:off x="485775" y="4537894"/>
            <a:ext cx="2545933" cy="173278"/>
          </a:xfrm>
          <a:prstGeom prst="rect">
            <a:avLst/>
          </a:prstGeom>
          <a:noFill/>
        </p:spPr>
        <p:txBody>
          <a:bodyPr wrap="none" lIns="0" rIns="0" tIns="0" bIns="0">
            <a:spAutoFit/>
          </a:bodyPr>
          <a:lstStyle/>
          <a:p>
            <a:r>
              <a:rPr sz="1011" b="0">
                <a:solidFill>
                  <a:srgbClr val="252423"/>
                </a:solidFill>
                <a:latin typeface="Segoe UI"/>
              </a:rPr>
              <a:t>manufacturer direct segment is expected to</a:t>
            </a:r>
          </a:p>
        </p:txBody>
      </p:sp>
      <p:sp>
        <p:nvSpPr>
          <p:cNvPr id="80" name="TextBox 79"/>
          <p:cNvSpPr txBox="1"/>
          <p:nvPr/>
        </p:nvSpPr>
        <p:spPr>
          <a:xfrm>
            <a:off x="485775" y="4692123"/>
            <a:ext cx="1677917" cy="173278"/>
          </a:xfrm>
          <a:prstGeom prst="rect">
            <a:avLst/>
          </a:prstGeom>
          <a:noFill/>
        </p:spPr>
        <p:txBody>
          <a:bodyPr wrap="none" lIns="0" rIns="0" tIns="0" bIns="0">
            <a:spAutoFit/>
          </a:bodyPr>
          <a:lstStyle/>
          <a:p>
            <a:r>
              <a:rPr sz="1011" b="0">
                <a:solidFill>
                  <a:srgbClr val="252423"/>
                </a:solidFill>
                <a:latin typeface="Segoe UI"/>
              </a:rPr>
              <a:t>witness the highest CAGR of</a:t>
            </a:r>
          </a:p>
        </p:txBody>
      </p:sp>
      <p:pic>
        <p:nvPicPr>
          <p:cNvPr id="81" name="Picture 80" descr="lock.png"/>
          <p:cNvPicPr>
            <a:picLocks noChangeAspect="1"/>
          </p:cNvPicPr>
          <p:nvPr/>
        </p:nvPicPr>
        <p:blipFill>
          <a:blip r:embed="rId16"/>
          <a:stretch>
            <a:fillRect/>
          </a:stretch>
        </p:blipFill>
        <p:spPr>
          <a:xfrm>
            <a:off x="2109804" y="4683126"/>
            <a:ext cx="118403" cy="172222"/>
          </a:xfrm>
          <a:prstGeom prst="rect">
            <a:avLst/>
          </a:prstGeom>
        </p:spPr>
      </p:pic>
      <p:sp>
        <p:nvSpPr>
          <p:cNvPr id="82" name="TextBox 81"/>
          <p:cNvSpPr txBox="1"/>
          <p:nvPr/>
        </p:nvSpPr>
        <p:spPr>
          <a:xfrm>
            <a:off x="2263900" y="4692123"/>
            <a:ext cx="1029547" cy="173278"/>
          </a:xfrm>
          <a:prstGeom prst="rect">
            <a:avLst/>
          </a:prstGeom>
          <a:noFill/>
        </p:spPr>
        <p:txBody>
          <a:bodyPr wrap="none" lIns="0" rIns="0" tIns="0" bIns="0">
            <a:spAutoFit/>
          </a:bodyPr>
          <a:lstStyle/>
          <a:p>
            <a:r>
              <a:rPr sz="1011" b="0">
                <a:solidFill>
                  <a:srgbClr val="252423"/>
                </a:solidFill>
                <a:latin typeface="Segoe UI"/>
              </a:rPr>
              <a:t>over the forecast</a:t>
            </a:r>
          </a:p>
        </p:txBody>
      </p:sp>
      <p:sp>
        <p:nvSpPr>
          <p:cNvPr id="83" name="TextBox 82"/>
          <p:cNvSpPr txBox="1"/>
          <p:nvPr/>
        </p:nvSpPr>
        <p:spPr>
          <a:xfrm>
            <a:off x="485775" y="4846352"/>
            <a:ext cx="2655850" cy="173278"/>
          </a:xfrm>
          <a:prstGeom prst="rect">
            <a:avLst/>
          </a:prstGeom>
          <a:noFill/>
        </p:spPr>
        <p:txBody>
          <a:bodyPr wrap="none" lIns="0" rIns="0" tIns="0" bIns="0">
            <a:spAutoFit/>
          </a:bodyPr>
          <a:lstStyle/>
          <a:p>
            <a:r>
              <a:rPr sz="1011" b="0">
                <a:solidFill>
                  <a:srgbClr val="252423"/>
                </a:solidFill>
                <a:latin typeface="Segoe UI"/>
              </a:rPr>
              <a:t>period. In terms of value share by distribution</a:t>
            </a:r>
          </a:p>
        </p:txBody>
      </p:sp>
      <p:sp>
        <p:nvSpPr>
          <p:cNvPr id="84" name="TextBox 83"/>
          <p:cNvSpPr txBox="1"/>
          <p:nvPr/>
        </p:nvSpPr>
        <p:spPr>
          <a:xfrm>
            <a:off x="485775" y="5000581"/>
            <a:ext cx="2781801" cy="173278"/>
          </a:xfrm>
          <a:prstGeom prst="rect">
            <a:avLst/>
          </a:prstGeom>
          <a:noFill/>
        </p:spPr>
        <p:txBody>
          <a:bodyPr wrap="none" lIns="0" rIns="0" tIns="0" bIns="0">
            <a:spAutoFit/>
          </a:bodyPr>
          <a:lstStyle/>
          <a:p>
            <a:r>
              <a:rPr sz="1011" b="0">
                <a:solidFill>
                  <a:srgbClr val="252423"/>
                </a:solidFill>
                <a:latin typeface="Segoe UI"/>
              </a:rPr>
              <a:t>channel, the direct-to-consumer / manufacturer</a:t>
            </a:r>
          </a:p>
        </p:txBody>
      </p:sp>
      <p:sp>
        <p:nvSpPr>
          <p:cNvPr id="85" name="TextBox 84"/>
          <p:cNvSpPr txBox="1"/>
          <p:nvPr/>
        </p:nvSpPr>
        <p:spPr>
          <a:xfrm>
            <a:off x="485775" y="5154809"/>
            <a:ext cx="2546949" cy="173278"/>
          </a:xfrm>
          <a:prstGeom prst="rect">
            <a:avLst/>
          </a:prstGeom>
          <a:noFill/>
        </p:spPr>
        <p:txBody>
          <a:bodyPr wrap="none" lIns="0" rIns="0" tIns="0" bIns="0">
            <a:spAutoFit/>
          </a:bodyPr>
          <a:lstStyle/>
          <a:p>
            <a:r>
              <a:rPr sz="1011" b="0">
                <a:solidFill>
                  <a:srgbClr val="252423"/>
                </a:solidFill>
                <a:latin typeface="Segoe UI"/>
              </a:rPr>
              <a:t>direct segment is expected to dominate the</a:t>
            </a:r>
          </a:p>
        </p:txBody>
      </p:sp>
      <p:sp>
        <p:nvSpPr>
          <p:cNvPr id="86" name="TextBox 85"/>
          <p:cNvSpPr txBox="1"/>
          <p:nvPr/>
        </p:nvSpPr>
        <p:spPr>
          <a:xfrm>
            <a:off x="485775" y="5309038"/>
            <a:ext cx="960014" cy="173278"/>
          </a:xfrm>
          <a:prstGeom prst="rect">
            <a:avLst/>
          </a:prstGeom>
          <a:noFill/>
        </p:spPr>
        <p:txBody>
          <a:bodyPr wrap="none" lIns="0" rIns="0" tIns="0" bIns="0">
            <a:spAutoFit/>
          </a:bodyPr>
          <a:lstStyle/>
          <a:p>
            <a:r>
              <a:rPr sz="1011" b="0">
                <a:solidFill>
                  <a:srgbClr val="252423"/>
                </a:solidFill>
                <a:latin typeface="Segoe UI"/>
              </a:rPr>
              <a:t>market, gaining</a:t>
            </a:r>
          </a:p>
        </p:txBody>
      </p:sp>
      <p:pic>
        <p:nvPicPr>
          <p:cNvPr id="87" name="Picture 86" descr="lock.png"/>
          <p:cNvPicPr>
            <a:picLocks noChangeAspect="1"/>
          </p:cNvPicPr>
          <p:nvPr/>
        </p:nvPicPr>
        <p:blipFill>
          <a:blip r:embed="rId16"/>
          <a:stretch>
            <a:fillRect/>
          </a:stretch>
        </p:blipFill>
        <p:spPr>
          <a:xfrm>
            <a:off x="1391900" y="5300041"/>
            <a:ext cx="118403" cy="172222"/>
          </a:xfrm>
          <a:prstGeom prst="rect">
            <a:avLst/>
          </a:prstGeom>
        </p:spPr>
      </p:pic>
      <p:sp>
        <p:nvSpPr>
          <p:cNvPr id="88" name="TextBox 87"/>
          <p:cNvSpPr txBox="1"/>
          <p:nvPr/>
        </p:nvSpPr>
        <p:spPr>
          <a:xfrm>
            <a:off x="1545996" y="5309038"/>
            <a:ext cx="1398842" cy="173278"/>
          </a:xfrm>
          <a:prstGeom prst="rect">
            <a:avLst/>
          </a:prstGeom>
          <a:noFill/>
        </p:spPr>
        <p:txBody>
          <a:bodyPr wrap="none" lIns="0" rIns="0" tIns="0" bIns="0">
            <a:spAutoFit/>
          </a:bodyPr>
          <a:lstStyle/>
          <a:p>
            <a:r>
              <a:rPr sz="1011" b="0">
                <a:solidFill>
                  <a:srgbClr val="252423"/>
                </a:solidFill>
                <a:latin typeface="Segoe UI"/>
              </a:rPr>
              <a:t>BPS and accounting for</a:t>
            </a:r>
          </a:p>
        </p:txBody>
      </p:sp>
      <p:pic>
        <p:nvPicPr>
          <p:cNvPr id="89" name="Picture 88" descr="lock.png"/>
          <p:cNvPicPr>
            <a:picLocks noChangeAspect="1"/>
          </p:cNvPicPr>
          <p:nvPr/>
        </p:nvPicPr>
        <p:blipFill>
          <a:blip r:embed="rId16"/>
          <a:stretch>
            <a:fillRect/>
          </a:stretch>
        </p:blipFill>
        <p:spPr>
          <a:xfrm>
            <a:off x="2890950" y="5300041"/>
            <a:ext cx="118403" cy="172222"/>
          </a:xfrm>
          <a:prstGeom prst="rect">
            <a:avLst/>
          </a:prstGeom>
        </p:spPr>
      </p:pic>
      <p:sp>
        <p:nvSpPr>
          <p:cNvPr id="90" name="TextBox 89"/>
          <p:cNvSpPr txBox="1"/>
          <p:nvPr/>
        </p:nvSpPr>
        <p:spPr>
          <a:xfrm>
            <a:off x="485775" y="5463267"/>
            <a:ext cx="894006" cy="173278"/>
          </a:xfrm>
          <a:prstGeom prst="rect">
            <a:avLst/>
          </a:prstGeom>
          <a:noFill/>
        </p:spPr>
        <p:txBody>
          <a:bodyPr wrap="none" lIns="0" rIns="0" tIns="0" bIns="0">
            <a:spAutoFit/>
          </a:bodyPr>
          <a:lstStyle/>
          <a:p>
            <a:r>
              <a:rPr sz="1011" b="0">
                <a:solidFill>
                  <a:srgbClr val="252423"/>
                </a:solidFill>
                <a:latin typeface="Segoe UI"/>
              </a:rPr>
              <a:t>share by 2036.</a:t>
            </a:r>
          </a:p>
        </p:txBody>
      </p:sp>
      <p:sp>
        <p:nvSpPr>
          <p:cNvPr id="91" name="TextBox 90"/>
          <p:cNvSpPr txBox="1"/>
          <p:nvPr/>
        </p:nvSpPr>
        <p:spPr>
          <a:xfrm>
            <a:off x="485775" y="5663764"/>
            <a:ext cx="2914650" cy="173278"/>
          </a:xfrm>
          <a:prstGeom prst="rect">
            <a:avLst/>
          </a:prstGeom>
          <a:noFill/>
        </p:spPr>
        <p:txBody>
          <a:bodyPr wrap="none" lIns="0" rIns="0" tIns="0" bIns="0">
            <a:spAutoFit/>
          </a:bodyPr>
          <a:lstStyle/>
          <a:p>
            <a:r>
              <a:rPr sz="1011" b="0">
                <a:solidFill>
                  <a:srgbClr val="252423"/>
                </a:solidFill>
                <a:latin typeface="Segoe UI"/>
              </a:rPr>
              <a:t>Direct-to-consumer / manufacturer direct segment</a:t>
            </a:r>
          </a:p>
        </p:txBody>
      </p:sp>
      <p:sp>
        <p:nvSpPr>
          <p:cNvPr id="92" name="TextBox 91"/>
          <p:cNvSpPr txBox="1"/>
          <p:nvPr/>
        </p:nvSpPr>
        <p:spPr>
          <a:xfrm>
            <a:off x="485775" y="5817993"/>
            <a:ext cx="1355313" cy="173278"/>
          </a:xfrm>
          <a:prstGeom prst="rect">
            <a:avLst/>
          </a:prstGeom>
          <a:noFill/>
        </p:spPr>
        <p:txBody>
          <a:bodyPr wrap="none" lIns="0" rIns="0" tIns="0" bIns="0">
            <a:spAutoFit/>
          </a:bodyPr>
          <a:lstStyle/>
          <a:p>
            <a:r>
              <a:rPr sz="1011" b="0">
                <a:solidFill>
                  <a:srgbClr val="252423"/>
                </a:solidFill>
                <a:latin typeface="Segoe UI"/>
              </a:rPr>
              <a:t>is projected to register</a:t>
            </a:r>
          </a:p>
        </p:txBody>
      </p:sp>
      <p:pic>
        <p:nvPicPr>
          <p:cNvPr id="93" name="Picture 92" descr="lock.png"/>
          <p:cNvPicPr>
            <a:picLocks noChangeAspect="1"/>
          </p:cNvPicPr>
          <p:nvPr/>
        </p:nvPicPr>
        <p:blipFill>
          <a:blip r:embed="rId16"/>
          <a:stretch>
            <a:fillRect/>
          </a:stretch>
        </p:blipFill>
        <p:spPr>
          <a:xfrm>
            <a:off x="1787199" y="5808996"/>
            <a:ext cx="118403" cy="172222"/>
          </a:xfrm>
          <a:prstGeom prst="rect">
            <a:avLst/>
          </a:prstGeom>
        </p:spPr>
      </p:pic>
      <p:sp>
        <p:nvSpPr>
          <p:cNvPr id="94" name="TextBox 93"/>
          <p:cNvSpPr txBox="1"/>
          <p:nvPr/>
        </p:nvSpPr>
        <p:spPr>
          <a:xfrm>
            <a:off x="1941296" y="5817993"/>
            <a:ext cx="1174894" cy="173278"/>
          </a:xfrm>
          <a:prstGeom prst="rect">
            <a:avLst/>
          </a:prstGeom>
          <a:noFill/>
        </p:spPr>
        <p:txBody>
          <a:bodyPr wrap="none" lIns="0" rIns="0" tIns="0" bIns="0">
            <a:spAutoFit/>
          </a:bodyPr>
          <a:lstStyle/>
          <a:p>
            <a:r>
              <a:rPr sz="1011" b="0">
                <a:solidFill>
                  <a:srgbClr val="252423"/>
                </a:solidFill>
                <a:latin typeface="Segoe UI"/>
              </a:rPr>
              <a:t>X higher value than</a:t>
            </a:r>
          </a:p>
        </p:txBody>
      </p:sp>
      <p:sp>
        <p:nvSpPr>
          <p:cNvPr id="95" name="TextBox 94"/>
          <p:cNvSpPr txBox="1"/>
          <p:nvPr/>
        </p:nvSpPr>
        <p:spPr>
          <a:xfrm>
            <a:off x="485775" y="5972222"/>
            <a:ext cx="2754341" cy="173278"/>
          </a:xfrm>
          <a:prstGeom prst="rect">
            <a:avLst/>
          </a:prstGeom>
          <a:noFill/>
        </p:spPr>
        <p:txBody>
          <a:bodyPr wrap="none" lIns="0" rIns="0" tIns="0" bIns="0">
            <a:spAutoFit/>
          </a:bodyPr>
          <a:lstStyle/>
          <a:p>
            <a:r>
              <a:rPr sz="1011" b="0">
                <a:solidFill>
                  <a:srgbClr val="252423"/>
                </a:solidFill>
                <a:latin typeface="Segoe UI"/>
              </a:rPr>
              <a:t>direct B2B / institutional sales segment in 2036.</a:t>
            </a:r>
          </a:p>
        </p:txBody>
      </p:sp>
      <p:sp>
        <p:nvSpPr>
          <p:cNvPr id="96" name="TextBox 95"/>
          <p:cNvSpPr txBox="1"/>
          <p:nvPr/>
        </p:nvSpPr>
        <p:spPr>
          <a:xfrm>
            <a:off x="3838575" y="4229437"/>
            <a:ext cx="1738863" cy="186689"/>
          </a:xfrm>
          <a:prstGeom prst="rect">
            <a:avLst/>
          </a:prstGeom>
          <a:noFill/>
        </p:spPr>
        <p:txBody>
          <a:bodyPr wrap="none" lIns="0" rIns="0" tIns="0" bIns="0">
            <a:spAutoFit/>
          </a:bodyPr>
          <a:lstStyle/>
          <a:p>
            <a:r>
              <a:rPr sz="1100" b="0">
                <a:solidFill>
                  <a:srgbClr val="252423"/>
                </a:solidFill>
                <a:latin typeface="Segoe UI"/>
              </a:rPr>
              <a:t>● Online Third-Party Retail:</a:t>
            </a:r>
          </a:p>
        </p:txBody>
      </p:sp>
      <p:pic>
        <p:nvPicPr>
          <p:cNvPr id="97" name="Picture 96" descr="lock.png"/>
          <p:cNvPicPr>
            <a:picLocks noChangeAspect="1"/>
          </p:cNvPicPr>
          <p:nvPr/>
        </p:nvPicPr>
        <p:blipFill>
          <a:blip r:embed="rId16"/>
          <a:stretch>
            <a:fillRect/>
          </a:stretch>
        </p:blipFill>
        <p:spPr>
          <a:xfrm>
            <a:off x="5525490" y="4219658"/>
            <a:ext cx="128699" cy="187198"/>
          </a:xfrm>
          <a:prstGeom prst="rect">
            <a:avLst/>
          </a:prstGeom>
        </p:spPr>
      </p:pic>
      <p:sp>
        <p:nvSpPr>
          <p:cNvPr id="98" name="TextBox 97"/>
          <p:cNvSpPr txBox="1"/>
          <p:nvPr/>
        </p:nvSpPr>
        <p:spPr>
          <a:xfrm>
            <a:off x="5692986"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9" name="Picture 98" descr="lock.png"/>
          <p:cNvPicPr>
            <a:picLocks noChangeAspect="1"/>
          </p:cNvPicPr>
          <p:nvPr/>
        </p:nvPicPr>
        <p:blipFill>
          <a:blip r:embed="rId16"/>
          <a:stretch>
            <a:fillRect/>
          </a:stretch>
        </p:blipFill>
        <p:spPr>
          <a:xfrm>
            <a:off x="6612932" y="4219658"/>
            <a:ext cx="128699" cy="187198"/>
          </a:xfrm>
          <a:prstGeom prst="rect">
            <a:avLst/>
          </a:prstGeom>
        </p:spPr>
      </p:pic>
      <p:sp>
        <p:nvSpPr>
          <p:cNvPr id="100" name="TextBox 99"/>
          <p:cNvSpPr txBox="1"/>
          <p:nvPr/>
        </p:nvSpPr>
        <p:spPr>
          <a:xfrm>
            <a:off x="6780428" y="4229437"/>
            <a:ext cx="789949" cy="186689"/>
          </a:xfrm>
          <a:prstGeom prst="rect">
            <a:avLst/>
          </a:prstGeom>
          <a:noFill/>
        </p:spPr>
        <p:txBody>
          <a:bodyPr wrap="none" lIns="0" rIns="0" tIns="0" bIns="0">
            <a:spAutoFit/>
          </a:bodyPr>
          <a:lstStyle/>
          <a:p>
            <a:r>
              <a:rPr sz="1100" b="0">
                <a:solidFill>
                  <a:srgbClr val="252423"/>
                </a:solidFill>
                <a:latin typeface="Segoe UI"/>
              </a:rPr>
              <a:t>CAGR leads</a:t>
            </a:r>
          </a:p>
        </p:txBody>
      </p:sp>
      <p:sp>
        <p:nvSpPr>
          <p:cNvPr id="101" name="TextBox 100"/>
          <p:cNvSpPr txBox="1"/>
          <p:nvPr/>
        </p:nvSpPr>
        <p:spPr>
          <a:xfrm>
            <a:off x="3838575" y="4397077"/>
            <a:ext cx="879202" cy="186689"/>
          </a:xfrm>
          <a:prstGeom prst="rect">
            <a:avLst/>
          </a:prstGeom>
          <a:noFill/>
        </p:spPr>
        <p:txBody>
          <a:bodyPr wrap="none" lIns="0" rIns="0" tIns="0" bIns="0">
            <a:spAutoFit/>
          </a:bodyPr>
          <a:lstStyle/>
          <a:p>
            <a:r>
              <a:rPr sz="1100" b="0">
                <a:solidFill>
                  <a:srgbClr val="252423"/>
                </a:solidFill>
                <a:latin typeface="Segoe UI"/>
              </a:rPr>
              <a:t>the segment.</a:t>
            </a:r>
          </a:p>
        </p:txBody>
      </p:sp>
      <p:sp>
        <p:nvSpPr>
          <p:cNvPr id="102" name="TextBox 101"/>
          <p:cNvSpPr txBox="1"/>
          <p:nvPr/>
        </p:nvSpPr>
        <p:spPr>
          <a:xfrm>
            <a:off x="3838575" y="4615009"/>
            <a:ext cx="2079992" cy="186689"/>
          </a:xfrm>
          <a:prstGeom prst="rect">
            <a:avLst/>
          </a:prstGeom>
          <a:noFill/>
        </p:spPr>
        <p:txBody>
          <a:bodyPr wrap="none" lIns="0" rIns="0" tIns="0" bIns="0">
            <a:spAutoFit/>
          </a:bodyPr>
          <a:lstStyle/>
          <a:p>
            <a:r>
              <a:rPr sz="1100" b="0">
                <a:solidFill>
                  <a:srgbClr val="252423"/>
                </a:solidFill>
                <a:latin typeface="Segoe UI"/>
              </a:rPr>
              <a:t>● Direct B2B / Institutional Sales:</a:t>
            </a:r>
          </a:p>
        </p:txBody>
      </p:sp>
      <p:pic>
        <p:nvPicPr>
          <p:cNvPr id="103" name="Picture 102" descr="lock.png"/>
          <p:cNvPicPr>
            <a:picLocks noChangeAspect="1"/>
          </p:cNvPicPr>
          <p:nvPr/>
        </p:nvPicPr>
        <p:blipFill>
          <a:blip r:embed="rId16"/>
          <a:stretch>
            <a:fillRect/>
          </a:stretch>
        </p:blipFill>
        <p:spPr>
          <a:xfrm>
            <a:off x="5866618" y="4605230"/>
            <a:ext cx="128699" cy="187198"/>
          </a:xfrm>
          <a:prstGeom prst="rect">
            <a:avLst/>
          </a:prstGeom>
        </p:spPr>
      </p:pic>
      <p:sp>
        <p:nvSpPr>
          <p:cNvPr id="104" name="TextBox 103"/>
          <p:cNvSpPr txBox="1"/>
          <p:nvPr/>
        </p:nvSpPr>
        <p:spPr>
          <a:xfrm>
            <a:off x="6034114"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5" name="Picture 104" descr="lock.png"/>
          <p:cNvPicPr>
            <a:picLocks noChangeAspect="1"/>
          </p:cNvPicPr>
          <p:nvPr/>
        </p:nvPicPr>
        <p:blipFill>
          <a:blip r:embed="rId16"/>
          <a:stretch>
            <a:fillRect/>
          </a:stretch>
        </p:blipFill>
        <p:spPr>
          <a:xfrm>
            <a:off x="6954060" y="4605230"/>
            <a:ext cx="128699" cy="187198"/>
          </a:xfrm>
          <a:prstGeom prst="rect">
            <a:avLst/>
          </a:prstGeom>
        </p:spPr>
      </p:pic>
      <p:sp>
        <p:nvSpPr>
          <p:cNvPr id="106" name="TextBox 105"/>
          <p:cNvSpPr txBox="1"/>
          <p:nvPr/>
        </p:nvSpPr>
        <p:spPr>
          <a:xfrm>
            <a:off x="7121556" y="4615009"/>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7" name="TextBox 106"/>
          <p:cNvSpPr txBox="1"/>
          <p:nvPr/>
        </p:nvSpPr>
        <p:spPr>
          <a:xfrm>
            <a:off x="3838575" y="4782649"/>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08" name="TextBox 107"/>
          <p:cNvSpPr txBox="1"/>
          <p:nvPr/>
        </p:nvSpPr>
        <p:spPr>
          <a:xfrm>
            <a:off x="3838575" y="5000581"/>
            <a:ext cx="2829592" cy="186689"/>
          </a:xfrm>
          <a:prstGeom prst="rect">
            <a:avLst/>
          </a:prstGeom>
          <a:noFill/>
        </p:spPr>
        <p:txBody>
          <a:bodyPr wrap="none" lIns="0" rIns="0" tIns="0" bIns="0">
            <a:spAutoFit/>
          </a:bodyPr>
          <a:lstStyle/>
          <a:p>
            <a:r>
              <a:rPr sz="1100" b="0">
                <a:solidFill>
                  <a:srgbClr val="252423"/>
                </a:solidFill>
                <a:latin typeface="Segoe UI"/>
              </a:rPr>
              <a:t>● Direct-to-Consumer / Manufacturer Direct:</a:t>
            </a:r>
          </a:p>
        </p:txBody>
      </p:sp>
      <p:pic>
        <p:nvPicPr>
          <p:cNvPr id="109" name="Picture 108" descr="lock.png"/>
          <p:cNvPicPr>
            <a:picLocks noChangeAspect="1"/>
          </p:cNvPicPr>
          <p:nvPr/>
        </p:nvPicPr>
        <p:blipFill>
          <a:blip r:embed="rId16"/>
          <a:stretch>
            <a:fillRect/>
          </a:stretch>
        </p:blipFill>
        <p:spPr>
          <a:xfrm>
            <a:off x="6616218" y="4990801"/>
            <a:ext cx="128699" cy="187198"/>
          </a:xfrm>
          <a:prstGeom prst="rect">
            <a:avLst/>
          </a:prstGeom>
        </p:spPr>
      </p:pic>
      <p:sp>
        <p:nvSpPr>
          <p:cNvPr id="110" name="TextBox 109"/>
          <p:cNvSpPr txBox="1"/>
          <p:nvPr/>
        </p:nvSpPr>
        <p:spPr>
          <a:xfrm>
            <a:off x="6783714"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1" name="Picture 110" descr="lock.png"/>
          <p:cNvPicPr>
            <a:picLocks noChangeAspect="1"/>
          </p:cNvPicPr>
          <p:nvPr/>
        </p:nvPicPr>
        <p:blipFill>
          <a:blip r:embed="rId16"/>
          <a:stretch>
            <a:fillRect/>
          </a:stretch>
        </p:blipFill>
        <p:spPr>
          <a:xfrm>
            <a:off x="3825107" y="5158441"/>
            <a:ext cx="128699" cy="187198"/>
          </a:xfrm>
          <a:prstGeom prst="rect">
            <a:avLst/>
          </a:prstGeom>
        </p:spPr>
      </p:pic>
      <p:sp>
        <p:nvSpPr>
          <p:cNvPr id="112" name="TextBox 111"/>
          <p:cNvSpPr txBox="1"/>
          <p:nvPr/>
        </p:nvSpPr>
        <p:spPr>
          <a:xfrm>
            <a:off x="3992603" y="5168221"/>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13" name="TextBox 112"/>
          <p:cNvSpPr txBox="1"/>
          <p:nvPr/>
        </p:nvSpPr>
        <p:spPr>
          <a:xfrm>
            <a:off x="3838575" y="5386153"/>
            <a:ext cx="1930166" cy="186689"/>
          </a:xfrm>
          <a:prstGeom prst="rect">
            <a:avLst/>
          </a:prstGeom>
          <a:noFill/>
        </p:spPr>
        <p:txBody>
          <a:bodyPr wrap="none" lIns="0" rIns="0" tIns="0" bIns="0">
            <a:spAutoFit/>
          </a:bodyPr>
          <a:lstStyle/>
          <a:p>
            <a:r>
              <a:rPr sz="1100" b="0">
                <a:solidFill>
                  <a:srgbClr val="252423"/>
                </a:solidFill>
                <a:latin typeface="Segoe UI"/>
              </a:rPr>
              <a:t>● Offline Retail &amp; Distributors:</a:t>
            </a:r>
          </a:p>
        </p:txBody>
      </p:sp>
      <p:pic>
        <p:nvPicPr>
          <p:cNvPr id="114" name="Picture 113" descr="lock.png"/>
          <p:cNvPicPr>
            <a:picLocks noChangeAspect="1"/>
          </p:cNvPicPr>
          <p:nvPr/>
        </p:nvPicPr>
        <p:blipFill>
          <a:blip r:embed="rId16"/>
          <a:stretch>
            <a:fillRect/>
          </a:stretch>
        </p:blipFill>
        <p:spPr>
          <a:xfrm>
            <a:off x="5716793" y="5376373"/>
            <a:ext cx="128699" cy="187198"/>
          </a:xfrm>
          <a:prstGeom prst="rect">
            <a:avLst/>
          </a:prstGeom>
        </p:spPr>
      </p:pic>
      <p:sp>
        <p:nvSpPr>
          <p:cNvPr id="115" name="TextBox 114"/>
          <p:cNvSpPr txBox="1"/>
          <p:nvPr/>
        </p:nvSpPr>
        <p:spPr>
          <a:xfrm>
            <a:off x="5884289"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6804235" y="5376373"/>
            <a:ext cx="128699" cy="187198"/>
          </a:xfrm>
          <a:prstGeom prst="rect">
            <a:avLst/>
          </a:prstGeom>
        </p:spPr>
      </p:pic>
      <p:sp>
        <p:nvSpPr>
          <p:cNvPr id="117" name="TextBox 116"/>
          <p:cNvSpPr txBox="1"/>
          <p:nvPr/>
        </p:nvSpPr>
        <p:spPr>
          <a:xfrm>
            <a:off x="6971731" y="5386153"/>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18" name="TextBox 117"/>
          <p:cNvSpPr txBox="1"/>
          <p:nvPr/>
        </p:nvSpPr>
        <p:spPr>
          <a:xfrm>
            <a:off x="3838575" y="5553793"/>
            <a:ext cx="964135" cy="186689"/>
          </a:xfrm>
          <a:prstGeom prst="rect">
            <a:avLst/>
          </a:prstGeom>
          <a:noFill/>
        </p:spPr>
        <p:txBody>
          <a:bodyPr wrap="none" lIns="0" rIns="0" tIns="0" bIns="0">
            <a:spAutoFit/>
          </a:bodyPr>
          <a:lstStyle/>
          <a:p>
            <a:r>
              <a:rPr sz="1100" b="0">
                <a:solidFill>
                  <a:srgbClr val="252423"/>
                </a:solidFill>
                <a:latin typeface="Segoe UI"/>
              </a:rPr>
              <a:t>serves a niche.</a:t>
            </a:r>
          </a:p>
        </p:txBody>
      </p:sp>
      <p:sp>
        <p:nvSpPr>
          <p:cNvPr id="119" name="TextBox 118"/>
          <p:cNvSpPr txBox="1"/>
          <p:nvPr/>
        </p:nvSpPr>
        <p:spPr>
          <a:xfrm>
            <a:off x="8524875" y="5849651"/>
            <a:ext cx="3135843" cy="187299"/>
          </a:xfrm>
          <a:prstGeom prst="rect">
            <a:avLst/>
          </a:prstGeom>
          <a:noFill/>
        </p:spPr>
        <p:txBody>
          <a:bodyPr wrap="none" lIns="0" rIns="0" tIns="0" bIns="0">
            <a:spAutoFit/>
          </a:bodyPr>
          <a:lstStyle/>
          <a:p>
            <a:r>
              <a:rPr sz="1104" b="1">
                <a:solidFill>
                  <a:srgbClr val="0E3A5F"/>
                </a:solidFill>
                <a:latin typeface="Segoe UI"/>
              </a:rPr>
              <a:t>The Distribution Channel segment is projected</a:t>
            </a:r>
          </a:p>
        </p:txBody>
      </p:sp>
      <p:sp>
        <p:nvSpPr>
          <p:cNvPr id="120" name="TextBox 119"/>
          <p:cNvSpPr txBox="1"/>
          <p:nvPr/>
        </p:nvSpPr>
        <p:spPr>
          <a:xfrm>
            <a:off x="8524875" y="6017901"/>
            <a:ext cx="1471908" cy="187299"/>
          </a:xfrm>
          <a:prstGeom prst="rect">
            <a:avLst/>
          </a:prstGeom>
          <a:noFill/>
        </p:spPr>
        <p:txBody>
          <a:bodyPr wrap="none" lIns="0" rIns="0" tIns="0" bIns="0">
            <a:spAutoFit/>
          </a:bodyPr>
          <a:lstStyle/>
          <a:p>
            <a:r>
              <a:rPr sz="1104" b="1">
                <a:solidFill>
                  <a:srgbClr val="0E3A5F"/>
                </a:solidFill>
                <a:latin typeface="Segoe UI"/>
              </a:rPr>
              <a:t>to grow at a CAGR of</a:t>
            </a:r>
          </a:p>
        </p:txBody>
      </p:sp>
      <p:pic>
        <p:nvPicPr>
          <p:cNvPr id="121" name="Picture 120" descr="lock.png"/>
          <p:cNvPicPr>
            <a:picLocks noChangeAspect="1"/>
          </p:cNvPicPr>
          <p:nvPr/>
        </p:nvPicPr>
        <p:blipFill>
          <a:blip r:embed="rId16"/>
          <a:stretch>
            <a:fillRect/>
          </a:stretch>
        </p:blipFill>
        <p:spPr>
          <a:xfrm>
            <a:off x="9944923" y="6008086"/>
            <a:ext cx="129166" cy="187878"/>
          </a:xfrm>
          <a:prstGeom prst="rect">
            <a:avLst/>
          </a:prstGeom>
        </p:spPr>
      </p:pic>
      <p:sp>
        <p:nvSpPr>
          <p:cNvPr id="122" name="TextBox 121"/>
          <p:cNvSpPr txBox="1"/>
          <p:nvPr/>
        </p:nvSpPr>
        <p:spPr>
          <a:xfrm>
            <a:off x="10113028" y="6017901"/>
            <a:ext cx="1340245" cy="187299"/>
          </a:xfrm>
          <a:prstGeom prst="rect">
            <a:avLst/>
          </a:prstGeom>
          <a:noFill/>
        </p:spPr>
        <p:txBody>
          <a:bodyPr wrap="none" lIns="0" rIns="0" tIns="0" bIns="0">
            <a:spAutoFit/>
          </a:bodyPr>
          <a:lstStyle/>
          <a:p>
            <a:r>
              <a:rPr sz="1104" b="1">
                <a:solidFill>
                  <a:srgbClr val="0E3A5F"/>
                </a:solidFill>
                <a:latin typeface="Segoe UI"/>
              </a:rPr>
              <a:t>from 2026 to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Structure &amp; Attractiveness, By Distribution Channel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Distribution Channel mix within each country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Distribution Channel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Distribution Channel · Bubble size represents 2036 value</a:t>
            </a:r>
          </a:p>
        </p:txBody>
      </p:sp>
      <p:graphicFrame>
        <p:nvGraphicFramePr>
          <p:cNvPr id="13" name="Chart 12"/>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593528" cy="186689"/>
          </a:xfrm>
          <a:prstGeom prst="rect">
            <a:avLst/>
          </a:prstGeom>
          <a:noFill/>
        </p:spPr>
        <p:txBody>
          <a:bodyPr wrap="none" lIns="0" rIns="0" tIns="0" bIns="0">
            <a:spAutoFit/>
          </a:bodyPr>
          <a:lstStyle/>
          <a:p>
            <a:r>
              <a:rPr sz="1100" b="0">
                <a:solidFill>
                  <a:srgbClr val="252423"/>
                </a:solidFill>
                <a:latin typeface="Segoe UI"/>
              </a:rPr>
              <a:t>Direct B2B / institutional sales followed by direct-to-consumer / manufacturer direct are expected to be the two most attractive distribution channel segments in the North America lithium</a:t>
            </a:r>
          </a:p>
        </p:txBody>
      </p:sp>
      <p:sp>
        <p:nvSpPr>
          <p:cNvPr id="18" name="TextBox 17"/>
          <p:cNvSpPr txBox="1"/>
          <p:nvPr/>
        </p:nvSpPr>
        <p:spPr>
          <a:xfrm>
            <a:off x="257175" y="5837872"/>
            <a:ext cx="11433428" cy="186689"/>
          </a:xfrm>
          <a:prstGeom prst="rect">
            <a:avLst/>
          </a:prstGeom>
          <a:noFill/>
        </p:spPr>
        <p:txBody>
          <a:bodyPr wrap="none" lIns="0" rIns="0" tIns="0" bIns="0">
            <a:spAutoFit/>
          </a:bodyPr>
          <a:lstStyle/>
          <a:p>
            <a:r>
              <a:rPr sz="1100" b="0">
                <a:solidFill>
                  <a:srgbClr val="252423"/>
                </a:solidFill>
                <a:latin typeface="Segoe UI"/>
              </a:rPr>
              <a:t>polymer portable energy storage market in terms of value over the forecast period. Direct B2B / institutional sales and Direct-to-Consumer / manufacturer direct exhibit a CAGR index of</a:t>
            </a:r>
          </a:p>
        </p:txBody>
      </p:sp>
      <p:pic>
        <p:nvPicPr>
          <p:cNvPr id="19" name="Picture 18" descr="lock.png"/>
          <p:cNvPicPr>
            <a:picLocks noChangeAspect="1"/>
          </p:cNvPicPr>
          <p:nvPr/>
        </p:nvPicPr>
        <p:blipFill>
          <a:blip r:embed="rId6"/>
          <a:stretch>
            <a:fillRect/>
          </a:stretch>
        </p:blipFill>
        <p:spPr>
          <a:xfrm>
            <a:off x="11638655" y="5828093"/>
            <a:ext cx="128699" cy="187198"/>
          </a:xfrm>
          <a:prstGeom prst="rect">
            <a:avLst/>
          </a:prstGeom>
        </p:spPr>
      </p:pic>
      <p:sp>
        <p:nvSpPr>
          <p:cNvPr id="20" name="TextBox 19"/>
          <p:cNvSpPr txBox="1"/>
          <p:nvPr/>
        </p:nvSpPr>
        <p:spPr>
          <a:xfrm>
            <a:off x="257175"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14168" y="5995733"/>
            <a:ext cx="128699" cy="187198"/>
          </a:xfrm>
          <a:prstGeom prst="rect">
            <a:avLst/>
          </a:prstGeom>
        </p:spPr>
      </p:pic>
      <p:sp>
        <p:nvSpPr>
          <p:cNvPr id="22" name="TextBox 21"/>
          <p:cNvSpPr txBox="1"/>
          <p:nvPr/>
        </p:nvSpPr>
        <p:spPr>
          <a:xfrm>
            <a:off x="681664"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20404" y="5995733"/>
            <a:ext cx="128699" cy="187198"/>
          </a:xfrm>
          <a:prstGeom prst="rect">
            <a:avLst/>
          </a:prstGeom>
        </p:spPr>
      </p:pic>
      <p:sp>
        <p:nvSpPr>
          <p:cNvPr id="24" name="TextBox 23"/>
          <p:cNvSpPr txBox="1"/>
          <p:nvPr/>
        </p:nvSpPr>
        <p:spPr>
          <a:xfrm>
            <a:off x="258790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844894" y="5995733"/>
            <a:ext cx="128699" cy="187198"/>
          </a:xfrm>
          <a:prstGeom prst="rect">
            <a:avLst/>
          </a:prstGeom>
        </p:spPr>
      </p:pic>
      <p:sp>
        <p:nvSpPr>
          <p:cNvPr id="26" name="TextBox 25"/>
          <p:cNvSpPr txBox="1"/>
          <p:nvPr/>
        </p:nvSpPr>
        <p:spPr>
          <a:xfrm>
            <a:off x="301239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772324" y="5995733"/>
            <a:ext cx="128699" cy="187198"/>
          </a:xfrm>
          <a:prstGeom prst="rect">
            <a:avLst/>
          </a:prstGeom>
        </p:spPr>
      </p:pic>
      <p:sp>
        <p:nvSpPr>
          <p:cNvPr id="28" name="TextBox 27"/>
          <p:cNvSpPr txBox="1"/>
          <p:nvPr/>
        </p:nvSpPr>
        <p:spPr>
          <a:xfrm>
            <a:off x="5939820" y="6005512"/>
            <a:ext cx="5403724" cy="186689"/>
          </a:xfrm>
          <a:prstGeom prst="rect">
            <a:avLst/>
          </a:prstGeom>
          <a:noFill/>
        </p:spPr>
        <p:txBody>
          <a:bodyPr wrap="none" lIns="0" rIns="0" tIns="0" bIns="0">
            <a:spAutoFit/>
          </a:bodyPr>
          <a:lstStyle/>
          <a:p>
            <a:r>
              <a:rPr sz="1100" b="0">
                <a:solidFill>
                  <a:srgbClr val="252423"/>
                </a:solidFill>
                <a:latin typeface="Segoe UI"/>
              </a:rPr>
              <a:t>. The offline retail &amp; distributors segment is expected to be less attractive as compared</a:t>
            </a:r>
          </a:p>
        </p:txBody>
      </p:sp>
      <p:sp>
        <p:nvSpPr>
          <p:cNvPr id="29" name="TextBox 28"/>
          <p:cNvSpPr txBox="1"/>
          <p:nvPr/>
        </p:nvSpPr>
        <p:spPr>
          <a:xfrm>
            <a:off x="257175" y="6173152"/>
            <a:ext cx="10834664" cy="186689"/>
          </a:xfrm>
          <a:prstGeom prst="rect">
            <a:avLst/>
          </a:prstGeom>
          <a:noFill/>
        </p:spPr>
        <p:txBody>
          <a:bodyPr wrap="none" lIns="0" rIns="0" tIns="0" bIns="0">
            <a:spAutoFit/>
          </a:bodyPr>
          <a:lstStyle/>
          <a:p>
            <a:r>
              <a:rPr sz="1100" b="0">
                <a:solidFill>
                  <a:srgbClr val="252423"/>
                </a:solidFill>
                <a:latin typeface="Segoe UI"/>
              </a:rPr>
              <a:t>to 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Absolute $ Opportunity Analysis, By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Distribution Channel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Direct-to-Consumer / Manufacturer Direct</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Online Third-Party Retail</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Offline Retail &amp; Distributors</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Incremental $ Opportunity (US$ Mn), 2026-2036, By Direct B2B / Institutional Sales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Analysis, By Distribution Channel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Distribution Channel, 2021–2036, highlighting the sub-segments driving growth</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Distribution Channel (US$ Mn)</a:t>
            </a:r>
          </a:p>
        </p:txBody>
      </p:sp>
      <p:graphicFrame>
        <p:nvGraphicFramePr>
          <p:cNvPr id="10" name="Table 9"/>
          <p:cNvGraphicFramePr>
            <a:graphicFrameLocks noGrp="1"/>
          </p:cNvGraphicFramePr>
          <p:nvPr/>
        </p:nvGraphicFramePr>
        <p:xfrm>
          <a:off x="152400" y="1238250"/>
          <a:ext cx="11887204" cy="1676402"/>
        </p:xfrm>
        <a:graphic>
          <a:graphicData uri="http://schemas.openxmlformats.org/drawingml/2006/table">
            <a:tbl>
              <a:tblPr>
                <a:tableStyleId>{5C22544A-7EE6-4342-B048-85BDC9FD1C3A}</a:tableStyleId>
              </a:tblPr>
              <a:tblGrid>
                <a:gridCol w="2986568"/>
                <a:gridCol w="538901"/>
                <a:gridCol w="538901"/>
                <a:gridCol w="538901"/>
                <a:gridCol w="538901"/>
                <a:gridCol w="538901"/>
                <a:gridCol w="514374"/>
                <a:gridCol w="514374"/>
                <a:gridCol w="514374"/>
                <a:gridCol w="514374"/>
                <a:gridCol w="514374"/>
                <a:gridCol w="514374"/>
                <a:gridCol w="514374"/>
                <a:gridCol w="514374"/>
                <a:gridCol w="514374"/>
                <a:gridCol w="514374"/>
                <a:gridCol w="514374"/>
                <a:gridCol w="548017"/>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247498">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Analysis, By Distribution Channel</a:t>
            </a:r>
          </a:p>
        </p:txBody>
      </p:sp>
      <p:sp>
        <p:nvSpPr>
          <p:cNvPr id="14" name="Rectangle 13"/>
          <p:cNvSpPr/>
          <p:nvPr/>
        </p:nvSpPr>
        <p:spPr>
          <a:xfrm>
            <a:off x="276225" y="3581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02596" y="2029206"/>
            <a:ext cx="366712" cy="533400"/>
          </a:xfrm>
          <a:prstGeom prst="rect">
            <a:avLst/>
          </a:prstGeom>
        </p:spPr>
      </p:pic>
      <p:sp>
        <p:nvSpPr>
          <p:cNvPr id="18" name="TextBox 17"/>
          <p:cNvSpPr txBox="1"/>
          <p:nvPr/>
        </p:nvSpPr>
        <p:spPr>
          <a:xfrm>
            <a:off x="276225" y="3676650"/>
            <a:ext cx="4843011" cy="194310"/>
          </a:xfrm>
          <a:prstGeom prst="rect">
            <a:avLst/>
          </a:prstGeom>
          <a:noFill/>
        </p:spPr>
        <p:txBody>
          <a:bodyPr wrap="none" lIns="0" rIns="0" tIns="0" bIns="0">
            <a:spAutoFit/>
          </a:bodyPr>
          <a:lstStyle/>
          <a:p>
            <a:r>
              <a:rPr sz="1150" b="0">
                <a:solidFill>
                  <a:srgbClr val="252423"/>
                </a:solidFill>
                <a:latin typeface="Segoe UI"/>
              </a:rPr>
              <a:t>Direct-to-consumer / manufacturer direct segment is projected to register</a:t>
            </a:r>
          </a:p>
        </p:txBody>
      </p:sp>
      <p:pic>
        <p:nvPicPr>
          <p:cNvPr id="19" name="Picture 18" descr="lock.png"/>
          <p:cNvPicPr>
            <a:picLocks noChangeAspect="1"/>
          </p:cNvPicPr>
          <p:nvPr/>
        </p:nvPicPr>
        <p:blipFill>
          <a:blip r:embed="rId4"/>
          <a:stretch>
            <a:fillRect/>
          </a:stretch>
        </p:blipFill>
        <p:spPr>
          <a:xfrm>
            <a:off x="5068390" y="3666426"/>
            <a:ext cx="134549" cy="195707"/>
          </a:xfrm>
          <a:prstGeom prst="rect">
            <a:avLst/>
          </a:prstGeom>
        </p:spPr>
      </p:pic>
      <p:sp>
        <p:nvSpPr>
          <p:cNvPr id="20" name="TextBox 19"/>
          <p:cNvSpPr txBox="1"/>
          <p:nvPr/>
        </p:nvSpPr>
        <p:spPr>
          <a:xfrm>
            <a:off x="5243499" y="3676650"/>
            <a:ext cx="6563725" cy="194310"/>
          </a:xfrm>
          <a:prstGeom prst="rect">
            <a:avLst/>
          </a:prstGeom>
          <a:noFill/>
        </p:spPr>
        <p:txBody>
          <a:bodyPr wrap="none" lIns="0" rIns="0" tIns="0" bIns="0">
            <a:spAutoFit/>
          </a:bodyPr>
          <a:lstStyle/>
          <a:p>
            <a:r>
              <a:rPr sz="1150" b="0">
                <a:solidFill>
                  <a:srgbClr val="252423"/>
                </a:solidFill>
                <a:latin typeface="Segoe UI"/>
              </a:rPr>
              <a:t>X higher value than direct B2B / institutional sales segment in 2036. Among lithium polymer portable</a:t>
            </a:r>
          </a:p>
        </p:txBody>
      </p:sp>
      <p:sp>
        <p:nvSpPr>
          <p:cNvPr id="21" name="TextBox 20"/>
          <p:cNvSpPr txBox="1"/>
          <p:nvPr/>
        </p:nvSpPr>
        <p:spPr>
          <a:xfrm>
            <a:off x="276225" y="3851910"/>
            <a:ext cx="8690475" cy="194310"/>
          </a:xfrm>
          <a:prstGeom prst="rect">
            <a:avLst/>
          </a:prstGeom>
          <a:noFill/>
        </p:spPr>
        <p:txBody>
          <a:bodyPr wrap="none" lIns="0" rIns="0" tIns="0" bIns="0">
            <a:spAutoFit/>
          </a:bodyPr>
          <a:lstStyle/>
          <a:p>
            <a:r>
              <a:rPr sz="1150" b="0">
                <a:solidFill>
                  <a:srgbClr val="252423"/>
                </a:solidFill>
                <a:latin typeface="Segoe UI"/>
              </a:rPr>
              <a:t>energy storage by distribution channel, direct-to-consumer / manufacturer direct segment is expected to witness the highest CAGR of</a:t>
            </a:r>
          </a:p>
        </p:txBody>
      </p:sp>
      <p:pic>
        <p:nvPicPr>
          <p:cNvPr id="22" name="Picture 21" descr="lock.png"/>
          <p:cNvPicPr>
            <a:picLocks noChangeAspect="1"/>
          </p:cNvPicPr>
          <p:nvPr/>
        </p:nvPicPr>
        <p:blipFill>
          <a:blip r:embed="rId4"/>
          <a:stretch>
            <a:fillRect/>
          </a:stretch>
        </p:blipFill>
        <p:spPr>
          <a:xfrm>
            <a:off x="8915854" y="3841686"/>
            <a:ext cx="134549" cy="195707"/>
          </a:xfrm>
          <a:prstGeom prst="rect">
            <a:avLst/>
          </a:prstGeom>
        </p:spPr>
      </p:pic>
      <p:sp>
        <p:nvSpPr>
          <p:cNvPr id="23" name="TextBox 22"/>
          <p:cNvSpPr txBox="1"/>
          <p:nvPr/>
        </p:nvSpPr>
        <p:spPr>
          <a:xfrm>
            <a:off x="9090963" y="38519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079747"/>
            <a:ext cx="9522200" cy="194310"/>
          </a:xfrm>
          <a:prstGeom prst="rect">
            <a:avLst/>
          </a:prstGeom>
          <a:noFill/>
        </p:spPr>
        <p:txBody>
          <a:bodyPr wrap="none" lIns="0" rIns="0" tIns="0" bIns="0">
            <a:spAutoFit/>
          </a:bodyPr>
          <a:lstStyle/>
          <a:p>
            <a:r>
              <a:rPr sz="1150" b="0">
                <a:solidFill>
                  <a:srgbClr val="252423"/>
                </a:solidFill>
                <a:latin typeface="Segoe UI"/>
              </a:rPr>
              <a:t>In terms of value share by distribution channel, the direct-to-consumer / manufacturer direct segment is expected to dominate the market, gaining</a:t>
            </a:r>
          </a:p>
        </p:txBody>
      </p:sp>
      <p:pic>
        <p:nvPicPr>
          <p:cNvPr id="25" name="Picture 24" descr="lock.png"/>
          <p:cNvPicPr>
            <a:picLocks noChangeAspect="1"/>
          </p:cNvPicPr>
          <p:nvPr/>
        </p:nvPicPr>
        <p:blipFill>
          <a:blip r:embed="rId4"/>
          <a:stretch>
            <a:fillRect/>
          </a:stretch>
        </p:blipFill>
        <p:spPr>
          <a:xfrm>
            <a:off x="9747579" y="4069524"/>
            <a:ext cx="134549" cy="195707"/>
          </a:xfrm>
          <a:prstGeom prst="rect">
            <a:avLst/>
          </a:prstGeom>
        </p:spPr>
      </p:pic>
      <p:sp>
        <p:nvSpPr>
          <p:cNvPr id="26" name="TextBox 25"/>
          <p:cNvSpPr txBox="1"/>
          <p:nvPr/>
        </p:nvSpPr>
        <p:spPr>
          <a:xfrm>
            <a:off x="9922688" y="40797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1451045" y="4069524"/>
            <a:ext cx="134549" cy="195707"/>
          </a:xfrm>
          <a:prstGeom prst="rect">
            <a:avLst/>
          </a:prstGeom>
        </p:spPr>
      </p:pic>
      <p:sp>
        <p:nvSpPr>
          <p:cNvPr id="28" name="TextBox 27"/>
          <p:cNvSpPr txBox="1"/>
          <p:nvPr/>
        </p:nvSpPr>
        <p:spPr>
          <a:xfrm>
            <a:off x="276225" y="4255007"/>
            <a:ext cx="4651864" cy="194310"/>
          </a:xfrm>
          <a:prstGeom prst="rect">
            <a:avLst/>
          </a:prstGeom>
          <a:noFill/>
        </p:spPr>
        <p:txBody>
          <a:bodyPr wrap="none" lIns="0" rIns="0" tIns="0" bIns="0">
            <a:spAutoFit/>
          </a:bodyPr>
          <a:lstStyle/>
          <a:p>
            <a:r>
              <a:rPr sz="1150" b="0">
                <a:solidFill>
                  <a:srgbClr val="252423"/>
                </a:solidFill>
                <a:latin typeface="Segoe UI"/>
              </a:rPr>
              <a:t>share by 2036. The online third-party retail segment is expected to lose</a:t>
            </a:r>
          </a:p>
        </p:txBody>
      </p:sp>
      <p:pic>
        <p:nvPicPr>
          <p:cNvPr id="29" name="Picture 28" descr="lock.png"/>
          <p:cNvPicPr>
            <a:picLocks noChangeAspect="1"/>
          </p:cNvPicPr>
          <p:nvPr/>
        </p:nvPicPr>
        <p:blipFill>
          <a:blip r:embed="rId4"/>
          <a:stretch>
            <a:fillRect/>
          </a:stretch>
        </p:blipFill>
        <p:spPr>
          <a:xfrm>
            <a:off x="4877243" y="4244784"/>
            <a:ext cx="134549" cy="195707"/>
          </a:xfrm>
          <a:prstGeom prst="rect">
            <a:avLst/>
          </a:prstGeom>
        </p:spPr>
      </p:pic>
      <p:sp>
        <p:nvSpPr>
          <p:cNvPr id="30" name="TextBox 29"/>
          <p:cNvSpPr txBox="1"/>
          <p:nvPr/>
        </p:nvSpPr>
        <p:spPr>
          <a:xfrm>
            <a:off x="5052352" y="42550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1" name="Picture 30" descr="lock.png"/>
          <p:cNvPicPr>
            <a:picLocks noChangeAspect="1"/>
          </p:cNvPicPr>
          <p:nvPr/>
        </p:nvPicPr>
        <p:blipFill>
          <a:blip r:embed="rId4"/>
          <a:stretch>
            <a:fillRect/>
          </a:stretch>
        </p:blipFill>
        <p:spPr>
          <a:xfrm>
            <a:off x="7851738" y="4244784"/>
            <a:ext cx="134549" cy="195707"/>
          </a:xfrm>
          <a:prstGeom prst="rect">
            <a:avLst/>
          </a:prstGeom>
        </p:spPr>
      </p:pic>
      <p:sp>
        <p:nvSpPr>
          <p:cNvPr id="32" name="TextBox 31"/>
          <p:cNvSpPr txBox="1"/>
          <p:nvPr/>
        </p:nvSpPr>
        <p:spPr>
          <a:xfrm>
            <a:off x="8026847" y="42550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Distribution Channel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Distribution Channel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actMR Lock Anchor"/>
          <p:cNvSpPr txBox="1"/>
          <p:nvPr/>
        </p:nvSpPr>
        <p:spPr>
          <a:xfrm>
            <a:off x="2678811" y="4014597"/>
            <a:ext cx="38100" cy="38100"/>
          </a:xfrm>
          <a:prstGeom prst="rect">
            <a:avLst/>
          </a:prstGeom>
          <a:noFill/>
        </p:spPr>
        <p:txBody>
          <a:bodyPr wrap="none">
            <a:spAutoFit/>
          </a:bodyPr>
          <a:lstStyle/>
          <a:p/>
        </p:txBody>
      </p:sp>
      <p:sp>
        <p:nvSpPr>
          <p:cNvPr id="13" name="FactMR Legend Chip"/>
          <p:cNvSpPr/>
          <p:nvPr/>
        </p:nvSpPr>
        <p:spPr>
          <a:xfrm>
            <a:off x="4928997" y="188316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87840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0220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Offline Retail &amp; Distributors</a:t>
            </a:r>
          </a:p>
        </p:txBody>
      </p:sp>
      <p:sp>
        <p:nvSpPr>
          <p:cNvPr id="16" name="BPS Value 1"/>
          <p:cNvSpPr txBox="1"/>
          <p:nvPr/>
        </p:nvSpPr>
        <p:spPr>
          <a:xfrm>
            <a:off x="6896100" y="186411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actMR Legend Chip"/>
          <p:cNvSpPr/>
          <p:nvPr/>
        </p:nvSpPr>
        <p:spPr>
          <a:xfrm>
            <a:off x="4928997" y="269645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269168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61548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Online Third-Party Retail</a:t>
            </a:r>
          </a:p>
        </p:txBody>
      </p:sp>
      <p:sp>
        <p:nvSpPr>
          <p:cNvPr id="20" name="BPS Value 2"/>
          <p:cNvSpPr txBox="1"/>
          <p:nvPr/>
        </p:nvSpPr>
        <p:spPr>
          <a:xfrm>
            <a:off x="6896100" y="267740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actMR Legend Chip"/>
          <p:cNvSpPr/>
          <p:nvPr/>
        </p:nvSpPr>
        <p:spPr>
          <a:xfrm>
            <a:off x="4928997" y="402907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402430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94810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Direct B2B / Institutional Sales</a:t>
            </a:r>
          </a:p>
        </p:txBody>
      </p:sp>
      <p:sp>
        <p:nvSpPr>
          <p:cNvPr id="24" name="BPS Value 3"/>
          <p:cNvSpPr txBox="1"/>
          <p:nvPr/>
        </p:nvSpPr>
        <p:spPr>
          <a:xfrm>
            <a:off x="6896100" y="4010021"/>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actMR Legend Chip"/>
          <p:cNvSpPr/>
          <p:nvPr/>
        </p:nvSpPr>
        <p:spPr>
          <a:xfrm>
            <a:off x="4928997" y="550197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549721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4210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Direct-to-Consumer / Manufacturer Direct</a:t>
            </a:r>
          </a:p>
        </p:txBody>
      </p:sp>
      <p:sp>
        <p:nvSpPr>
          <p:cNvPr id="28" name="BPS Value 4"/>
          <p:cNvSpPr txBox="1"/>
          <p:nvPr/>
        </p:nvSpPr>
        <p:spPr>
          <a:xfrm>
            <a:off x="6896100" y="548292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Distribution Channel</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396573" cy="194310"/>
          </a:xfrm>
          <a:prstGeom prst="rect">
            <a:avLst/>
          </a:prstGeom>
          <a:noFill/>
        </p:spPr>
        <p:txBody>
          <a:bodyPr wrap="none" lIns="0" rIns="0" tIns="0" bIns="0">
            <a:spAutoFit/>
          </a:bodyPr>
          <a:lstStyle/>
          <a:p>
            <a:r>
              <a:rPr sz="1150" b="0">
                <a:solidFill>
                  <a:srgbClr val="252423"/>
                </a:solidFill>
                <a:latin typeface="Segoe UI"/>
              </a:rPr>
              <a:t>Among lithium polymer portable energy storage by</a:t>
            </a:r>
          </a:p>
        </p:txBody>
      </p:sp>
      <p:sp>
        <p:nvSpPr>
          <p:cNvPr id="36" name="TextBox 35"/>
          <p:cNvSpPr txBox="1"/>
          <p:nvPr/>
        </p:nvSpPr>
        <p:spPr>
          <a:xfrm>
            <a:off x="7829550" y="1575435"/>
            <a:ext cx="4057650" cy="194310"/>
          </a:xfrm>
          <a:prstGeom prst="rect">
            <a:avLst/>
          </a:prstGeom>
          <a:noFill/>
        </p:spPr>
        <p:txBody>
          <a:bodyPr wrap="none" lIns="0" rIns="0" tIns="0" bIns="0">
            <a:spAutoFit/>
          </a:bodyPr>
          <a:lstStyle/>
          <a:p>
            <a:r>
              <a:rPr sz="1150" b="0">
                <a:solidFill>
                  <a:srgbClr val="252423"/>
                </a:solidFill>
                <a:latin typeface="Segoe UI"/>
              </a:rPr>
              <a:t>distribution channel, direct-to-consumer / manufacturer direct</a:t>
            </a:r>
          </a:p>
        </p:txBody>
      </p:sp>
      <p:sp>
        <p:nvSpPr>
          <p:cNvPr id="37" name="TextBox 36"/>
          <p:cNvSpPr txBox="1"/>
          <p:nvPr/>
        </p:nvSpPr>
        <p:spPr>
          <a:xfrm>
            <a:off x="7829550" y="1750695"/>
            <a:ext cx="3433246" cy="194310"/>
          </a:xfrm>
          <a:prstGeom prst="rect">
            <a:avLst/>
          </a:prstGeom>
          <a:noFill/>
        </p:spPr>
        <p:txBody>
          <a:bodyPr wrap="none" lIns="0" rIns="0" tIns="0" bIns="0">
            <a:spAutoFit/>
          </a:bodyPr>
          <a:lstStyle/>
          <a:p>
            <a:r>
              <a:rPr sz="1150" b="0">
                <a:solidFill>
                  <a:srgbClr val="252423"/>
                </a:solidFill>
                <a:latin typeface="Segoe UI"/>
              </a:rPr>
              <a:t>segment is expected to witness the highest CAGR of</a:t>
            </a:r>
          </a:p>
        </p:txBody>
      </p:sp>
      <p:pic>
        <p:nvPicPr>
          <p:cNvPr id="38" name="Picture 37" descr="lock.png"/>
          <p:cNvPicPr>
            <a:picLocks noChangeAspect="1"/>
          </p:cNvPicPr>
          <p:nvPr/>
        </p:nvPicPr>
        <p:blipFill>
          <a:blip r:embed="rId5"/>
          <a:stretch>
            <a:fillRect/>
          </a:stretch>
        </p:blipFill>
        <p:spPr>
          <a:xfrm>
            <a:off x="11211950" y="1740471"/>
            <a:ext cx="134549" cy="195707"/>
          </a:xfrm>
          <a:prstGeom prst="rect">
            <a:avLst/>
          </a:prstGeom>
        </p:spPr>
      </p:pic>
      <p:sp>
        <p:nvSpPr>
          <p:cNvPr id="39" name="TextBox 38"/>
          <p:cNvSpPr txBox="1"/>
          <p:nvPr/>
        </p:nvSpPr>
        <p:spPr>
          <a:xfrm>
            <a:off x="11387059" y="1750695"/>
            <a:ext cx="358873" cy="194310"/>
          </a:xfrm>
          <a:prstGeom prst="rect">
            <a:avLst/>
          </a:prstGeom>
          <a:noFill/>
        </p:spPr>
        <p:txBody>
          <a:bodyPr wrap="none" lIns="0" rIns="0" tIns="0" bIns="0">
            <a:spAutoFit/>
          </a:bodyPr>
          <a:lstStyle/>
          <a:p>
            <a:r>
              <a:rPr sz="1150" b="0">
                <a:solidFill>
                  <a:srgbClr val="252423"/>
                </a:solidFill>
                <a:latin typeface="Segoe UI"/>
              </a:rPr>
              <a:t>over</a:t>
            </a:r>
          </a:p>
        </p:txBody>
      </p:sp>
      <p:sp>
        <p:nvSpPr>
          <p:cNvPr id="40" name="TextBox 39"/>
          <p:cNvSpPr txBox="1"/>
          <p:nvPr/>
        </p:nvSpPr>
        <p:spPr>
          <a:xfrm>
            <a:off x="7829550" y="1925955"/>
            <a:ext cx="3808297" cy="194310"/>
          </a:xfrm>
          <a:prstGeom prst="rect">
            <a:avLst/>
          </a:prstGeom>
          <a:noFill/>
        </p:spPr>
        <p:txBody>
          <a:bodyPr wrap="none" lIns="0" rIns="0" tIns="0" bIns="0">
            <a:spAutoFit/>
          </a:bodyPr>
          <a:lstStyle/>
          <a:p>
            <a:r>
              <a:rPr sz="1150" b="0">
                <a:solidFill>
                  <a:srgbClr val="252423"/>
                </a:solidFill>
                <a:latin typeface="Segoe UI"/>
              </a:rPr>
              <a:t>the forecast period. In terms of value share by distribution</a:t>
            </a:r>
          </a:p>
        </p:txBody>
      </p:sp>
      <p:sp>
        <p:nvSpPr>
          <p:cNvPr id="41" name="TextBox 40"/>
          <p:cNvSpPr txBox="1"/>
          <p:nvPr/>
        </p:nvSpPr>
        <p:spPr>
          <a:xfrm>
            <a:off x="7829550" y="2101215"/>
            <a:ext cx="3556631" cy="194310"/>
          </a:xfrm>
          <a:prstGeom prst="rect">
            <a:avLst/>
          </a:prstGeom>
          <a:noFill/>
        </p:spPr>
        <p:txBody>
          <a:bodyPr wrap="none" lIns="0" rIns="0" tIns="0" bIns="0">
            <a:spAutoFit/>
          </a:bodyPr>
          <a:lstStyle/>
          <a:p>
            <a:r>
              <a:rPr sz="1150" b="0">
                <a:solidFill>
                  <a:srgbClr val="252423"/>
                </a:solidFill>
                <a:latin typeface="Segoe UI"/>
              </a:rPr>
              <a:t>channel, the direct-to-consumer / manufacturer direct</a:t>
            </a:r>
          </a:p>
        </p:txBody>
      </p:sp>
      <p:sp>
        <p:nvSpPr>
          <p:cNvPr id="42" name="TextBox 41"/>
          <p:cNvSpPr txBox="1"/>
          <p:nvPr/>
        </p:nvSpPr>
        <p:spPr>
          <a:xfrm>
            <a:off x="7829550" y="2276475"/>
            <a:ext cx="3522254" cy="194310"/>
          </a:xfrm>
          <a:prstGeom prst="rect">
            <a:avLst/>
          </a:prstGeom>
          <a:noFill/>
        </p:spPr>
        <p:txBody>
          <a:bodyPr wrap="none" lIns="0" rIns="0" tIns="0" bIns="0">
            <a:spAutoFit/>
          </a:bodyPr>
          <a:lstStyle/>
          <a:p>
            <a:r>
              <a:rPr sz="1150" b="0">
                <a:solidFill>
                  <a:srgbClr val="252423"/>
                </a:solidFill>
                <a:latin typeface="Segoe UI"/>
              </a:rPr>
              <a:t>segment is expected to dominate the market, gaining</a:t>
            </a:r>
          </a:p>
        </p:txBody>
      </p:sp>
      <p:pic>
        <p:nvPicPr>
          <p:cNvPr id="43" name="Picture 42" descr="lock.png"/>
          <p:cNvPicPr>
            <a:picLocks noChangeAspect="1"/>
          </p:cNvPicPr>
          <p:nvPr/>
        </p:nvPicPr>
        <p:blipFill>
          <a:blip r:embed="rId5"/>
          <a:stretch>
            <a:fillRect/>
          </a:stretch>
        </p:blipFill>
        <p:spPr>
          <a:xfrm>
            <a:off x="11300958" y="2266251"/>
            <a:ext cx="134549" cy="195707"/>
          </a:xfrm>
          <a:prstGeom prst="rect">
            <a:avLst/>
          </a:prstGeom>
        </p:spPr>
      </p:pic>
      <p:sp>
        <p:nvSpPr>
          <p:cNvPr id="44" name="TextBox 43"/>
          <p:cNvSpPr txBox="1"/>
          <p:nvPr/>
        </p:nvSpPr>
        <p:spPr>
          <a:xfrm>
            <a:off x="11476067" y="2276475"/>
            <a:ext cx="319521" cy="194310"/>
          </a:xfrm>
          <a:prstGeom prst="rect">
            <a:avLst/>
          </a:prstGeom>
          <a:noFill/>
        </p:spPr>
        <p:txBody>
          <a:bodyPr wrap="none" lIns="0" rIns="0" tIns="0" bIns="0">
            <a:spAutoFit/>
          </a:bodyPr>
          <a:lstStyle/>
          <a:p>
            <a:r>
              <a:rPr sz="1150" b="0">
                <a:solidFill>
                  <a:srgbClr val="252423"/>
                </a:solidFill>
                <a:latin typeface="Segoe UI"/>
              </a:rPr>
              <a:t>BPS</a:t>
            </a:r>
          </a:p>
        </p:txBody>
      </p:sp>
      <p:sp>
        <p:nvSpPr>
          <p:cNvPr id="45" name="TextBox 44"/>
          <p:cNvSpPr txBox="1"/>
          <p:nvPr/>
        </p:nvSpPr>
        <p:spPr>
          <a:xfrm>
            <a:off x="7829550" y="2451735"/>
            <a:ext cx="1295945" cy="194310"/>
          </a:xfrm>
          <a:prstGeom prst="rect">
            <a:avLst/>
          </a:prstGeom>
          <a:noFill/>
        </p:spPr>
        <p:txBody>
          <a:bodyPr wrap="none" lIns="0" rIns="0" tIns="0" bIns="0">
            <a:spAutoFit/>
          </a:bodyPr>
          <a:lstStyle/>
          <a:p>
            <a:r>
              <a:rPr sz="1150" b="0">
                <a:solidFill>
                  <a:srgbClr val="252423"/>
                </a:solidFill>
                <a:latin typeface="Segoe UI"/>
              </a:rPr>
              <a:t>and accounting for</a:t>
            </a:r>
          </a:p>
        </p:txBody>
      </p:sp>
      <p:pic>
        <p:nvPicPr>
          <p:cNvPr id="46" name="Picture 45" descr="lock.png"/>
          <p:cNvPicPr>
            <a:picLocks noChangeAspect="1"/>
          </p:cNvPicPr>
          <p:nvPr/>
        </p:nvPicPr>
        <p:blipFill>
          <a:blip r:embed="rId5"/>
          <a:stretch>
            <a:fillRect/>
          </a:stretch>
        </p:blipFill>
        <p:spPr>
          <a:xfrm>
            <a:off x="9074649" y="2441511"/>
            <a:ext cx="134549" cy="195707"/>
          </a:xfrm>
          <a:prstGeom prst="rect">
            <a:avLst/>
          </a:prstGeom>
        </p:spPr>
      </p:pic>
      <p:sp>
        <p:nvSpPr>
          <p:cNvPr id="47" name="TextBox 46"/>
          <p:cNvSpPr txBox="1"/>
          <p:nvPr/>
        </p:nvSpPr>
        <p:spPr>
          <a:xfrm>
            <a:off x="9249758" y="245173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8" name="TextBox 47"/>
          <p:cNvSpPr txBox="1"/>
          <p:nvPr/>
        </p:nvSpPr>
        <p:spPr>
          <a:xfrm>
            <a:off x="7829550" y="2679573"/>
            <a:ext cx="3682602" cy="194310"/>
          </a:xfrm>
          <a:prstGeom prst="rect">
            <a:avLst/>
          </a:prstGeom>
          <a:noFill/>
        </p:spPr>
        <p:txBody>
          <a:bodyPr wrap="none" lIns="0" rIns="0" tIns="0" bIns="0">
            <a:spAutoFit/>
          </a:bodyPr>
          <a:lstStyle/>
          <a:p>
            <a:r>
              <a:rPr sz="1150" b="0">
                <a:solidFill>
                  <a:srgbClr val="252423"/>
                </a:solidFill>
                <a:latin typeface="Segoe UI"/>
              </a:rPr>
              <a:t>The online third-party retail segment is expected to lose</a:t>
            </a:r>
          </a:p>
        </p:txBody>
      </p:sp>
      <p:pic>
        <p:nvPicPr>
          <p:cNvPr id="49" name="Picture 48" descr="lock.png"/>
          <p:cNvPicPr>
            <a:picLocks noChangeAspect="1"/>
          </p:cNvPicPr>
          <p:nvPr/>
        </p:nvPicPr>
        <p:blipFill>
          <a:blip r:embed="rId5"/>
          <a:stretch>
            <a:fillRect/>
          </a:stretch>
        </p:blipFill>
        <p:spPr>
          <a:xfrm>
            <a:off x="11461306" y="2669349"/>
            <a:ext cx="134549" cy="195707"/>
          </a:xfrm>
          <a:prstGeom prst="rect">
            <a:avLst/>
          </a:prstGeom>
        </p:spPr>
      </p:pic>
      <p:sp>
        <p:nvSpPr>
          <p:cNvPr id="50" name="TextBox 49"/>
          <p:cNvSpPr txBox="1"/>
          <p:nvPr/>
        </p:nvSpPr>
        <p:spPr>
          <a:xfrm>
            <a:off x="7829550" y="2854832"/>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51" name="Picture 50" descr="lock.png"/>
          <p:cNvPicPr>
            <a:picLocks noChangeAspect="1"/>
          </p:cNvPicPr>
          <p:nvPr/>
        </p:nvPicPr>
        <p:blipFill>
          <a:blip r:embed="rId5"/>
          <a:stretch>
            <a:fillRect/>
          </a:stretch>
        </p:blipFill>
        <p:spPr>
          <a:xfrm>
            <a:off x="10628935" y="2844609"/>
            <a:ext cx="134549" cy="195707"/>
          </a:xfrm>
          <a:prstGeom prst="rect">
            <a:avLst/>
          </a:prstGeom>
        </p:spPr>
      </p:pic>
      <p:sp>
        <p:nvSpPr>
          <p:cNvPr id="52" name="TextBox 51"/>
          <p:cNvSpPr txBox="1"/>
          <p:nvPr/>
        </p:nvSpPr>
        <p:spPr>
          <a:xfrm>
            <a:off x="1080404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3"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004060"/>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2308860"/>
            <a:ext cx="7239000" cy="9715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470910"/>
            <a:ext cx="7124700" cy="28117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Overview (Volume &amp; Value)</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Segment Overview (Volume &amp; Value)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Energy Storage Capacity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Battery Chemistry</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Battery Configuration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System 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Output Power Rating</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System Architecture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Distribution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Volume Overview (Thousand Units)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United States market in volume: size, growth, YoY momentum and gap to the Global benchmark</a:t>
            </a:r>
          </a:p>
        </p:txBody>
      </p:sp>
      <p:sp>
        <p:nvSpPr>
          <p:cNvPr id="8" name="Rounded Rectangle 7"/>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(THOUSAND UNITS)</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estimate year</a:t>
            </a:r>
          </a:p>
        </p:txBody>
      </p:sp>
      <p:sp>
        <p:nvSpPr>
          <p:cNvPr id="9" name="Rounded Rectangle 8"/>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(THOUSAND UNITS)</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forecast horizon</a:t>
            </a:r>
          </a:p>
        </p:txBody>
      </p:sp>
      <p:sp>
        <p:nvSpPr>
          <p:cNvPr id="10" name="Rounded Rectangle 9"/>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 </a:t>
            </a:r>
          </a:p>
        </p:txBody>
      </p:sp>
      <p:sp>
        <p:nvSpPr>
          <p:cNvPr id="11" name="Rounded Rectangle 10"/>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 </a:t>
            </a:r>
          </a:p>
        </p:txBody>
      </p:sp>
      <p:sp>
        <p:nvSpPr>
          <p:cNvPr id="12" name="Rectangle 11"/>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(Thousand Units), 2021–2036</a:t>
            </a:r>
          </a:p>
        </p:txBody>
      </p:sp>
      <p:graphicFrame>
        <p:nvGraphicFramePr>
          <p:cNvPr id="14" name="Chart 13"/>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5" name="Rectangle 14"/>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7" name="Chart 16"/>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8" name="TextBox 17"/>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 </a:t>
            </a:r>
          </a:p>
          <a:p>
            <a:pPr algn="ctr"/>
            <a:r>
              <a:rPr sz="1100" b="0">
                <a:solidFill>
                  <a:srgbClr val="605E5C"/>
                </a:solidFill>
                <a:latin typeface="Segoe UI"/>
              </a:rPr>
              <a:t>vs North America benchmark</a:t>
            </a:r>
          </a:p>
          <a:p>
            <a:pPr algn="ctr"/>
            <a:r>
              <a:rPr sz="1100" b="1">
                <a:solidFill>
                  <a:srgbClr val="1E8E3E"/>
                </a:solidFill>
                <a:latin typeface="Segoe UI"/>
              </a:rPr>
              <a:t>▲ above benchmark</a:t>
            </a:r>
          </a:p>
        </p:txBody>
      </p:sp>
      <p:sp>
        <p:nvSpPr>
          <p:cNvPr id="19" name="TextBox 18"/>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
            </a:r>
          </a:p>
        </p:txBody>
      </p:sp>
      <p:sp>
        <p:nvSpPr>
          <p:cNvPr id="20" name="Rectangle 19"/>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(Thousand Units)</a:t>
            </a:r>
          </a:p>
        </p:txBody>
      </p:sp>
      <p:graphicFrame>
        <p:nvGraphicFramePr>
          <p:cNvPr id="22" name="Chart 21"/>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3" name="Rectangle 22"/>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Market Share, 2026</a:t>
            </a:r>
          </a:p>
        </p:txBody>
      </p:sp>
      <p:graphicFrame>
        <p:nvGraphicFramePr>
          <p:cNvPr id="25" name="Chart 24"/>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6" name="Rectangle 25"/>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7" name="Rectangle 26"/>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3524617" cy="186689"/>
          </a:xfrm>
          <a:prstGeom prst="rect">
            <a:avLst/>
          </a:prstGeom>
          <a:noFill/>
        </p:spPr>
        <p:txBody>
          <a:bodyPr wrap="none" lIns="0" rIns="0" tIns="0" bIns="0">
            <a:spAutoFit/>
          </a:bodyPr>
          <a:lstStyle/>
          <a:p>
            <a:r>
              <a:rPr sz="1100" b="0">
                <a:solidFill>
                  <a:srgbClr val="252423"/>
                </a:solidFill>
                <a:latin typeface="Segoe UI"/>
              </a:rPr>
              <a:t>United States's lithium polymer portable energy storage</a:t>
            </a:r>
          </a:p>
        </p:txBody>
      </p:sp>
      <p:sp>
        <p:nvSpPr>
          <p:cNvPr id="39" name="TextBox 38"/>
          <p:cNvSpPr txBox="1"/>
          <p:nvPr/>
        </p:nvSpPr>
        <p:spPr>
          <a:xfrm>
            <a:off x="8071485" y="3044190"/>
            <a:ext cx="1212827" cy="186689"/>
          </a:xfrm>
          <a:prstGeom prst="rect">
            <a:avLst/>
          </a:prstGeom>
          <a:noFill/>
        </p:spPr>
        <p:txBody>
          <a:bodyPr wrap="none" lIns="0" rIns="0" tIns="0" bIns="0">
            <a:spAutoFit/>
          </a:bodyPr>
          <a:lstStyle/>
          <a:p>
            <a:r>
              <a:rPr sz="1100" b="0">
                <a:solidFill>
                  <a:srgbClr val="252423"/>
                </a:solidFill>
                <a:latin typeface="Segoe UI"/>
              </a:rPr>
              <a:t>market expands at</a:t>
            </a:r>
          </a:p>
        </p:txBody>
      </p:sp>
      <p:pic>
        <p:nvPicPr>
          <p:cNvPr id="40" name="Picture 39" descr="lock.png"/>
          <p:cNvPicPr>
            <a:picLocks noChangeAspect="1"/>
          </p:cNvPicPr>
          <p:nvPr/>
        </p:nvPicPr>
        <p:blipFill>
          <a:blip r:embed="rId8"/>
          <a:stretch>
            <a:fillRect/>
          </a:stretch>
        </p:blipFill>
        <p:spPr>
          <a:xfrm>
            <a:off x="9232363" y="3034411"/>
            <a:ext cx="128699" cy="187198"/>
          </a:xfrm>
          <a:prstGeom prst="rect">
            <a:avLst/>
          </a:prstGeom>
        </p:spPr>
      </p:pic>
      <p:sp>
        <p:nvSpPr>
          <p:cNvPr id="41" name="TextBox 40"/>
          <p:cNvSpPr txBox="1"/>
          <p:nvPr/>
        </p:nvSpPr>
        <p:spPr>
          <a:xfrm>
            <a:off x="9399859" y="3044190"/>
            <a:ext cx="2235457" cy="186689"/>
          </a:xfrm>
          <a:prstGeom prst="rect">
            <a:avLst/>
          </a:prstGeom>
          <a:noFill/>
        </p:spPr>
        <p:txBody>
          <a:bodyPr wrap="none" lIns="0" rIns="0" tIns="0" bIns="0">
            <a:spAutoFit/>
          </a:bodyPr>
          <a:lstStyle/>
          <a:p>
            <a:r>
              <a:rPr sz="1100" b="0">
                <a:solidFill>
                  <a:srgbClr val="252423"/>
                </a:solidFill>
                <a:latin typeface="Segoe UI"/>
              </a:rPr>
              <a:t>CAGR through 2036, outpacing the</a:t>
            </a:r>
          </a:p>
        </p:txBody>
      </p:sp>
      <p:sp>
        <p:nvSpPr>
          <p:cNvPr id="42" name="TextBox 41"/>
          <p:cNvSpPr txBox="1"/>
          <p:nvPr/>
        </p:nvSpPr>
        <p:spPr>
          <a:xfrm>
            <a:off x="8071485" y="3211830"/>
            <a:ext cx="1867496" cy="186689"/>
          </a:xfrm>
          <a:prstGeom prst="rect">
            <a:avLst/>
          </a:prstGeom>
          <a:noFill/>
        </p:spPr>
        <p:txBody>
          <a:bodyPr wrap="none" lIns="0" rIns="0" tIns="0" bIns="0">
            <a:spAutoFit/>
          </a:bodyPr>
          <a:lstStyle/>
          <a:p>
            <a:r>
              <a:rPr sz="1100" b="0">
                <a:solidFill>
                  <a:srgbClr val="252423"/>
                </a:solidFill>
                <a:latin typeface="Segoe UI"/>
              </a:rPr>
              <a:t>North America benchmark of</a:t>
            </a:r>
          </a:p>
        </p:txBody>
      </p:sp>
      <p:pic>
        <p:nvPicPr>
          <p:cNvPr id="43" name="Picture 42" descr="lock.png"/>
          <p:cNvPicPr>
            <a:picLocks noChangeAspect="1"/>
          </p:cNvPicPr>
          <p:nvPr/>
        </p:nvPicPr>
        <p:blipFill>
          <a:blip r:embed="rId8"/>
          <a:stretch>
            <a:fillRect/>
          </a:stretch>
        </p:blipFill>
        <p:spPr>
          <a:xfrm>
            <a:off x="9887032" y="3202051"/>
            <a:ext cx="128699" cy="187198"/>
          </a:xfrm>
          <a:prstGeom prst="rect">
            <a:avLst/>
          </a:prstGeom>
        </p:spPr>
      </p:pic>
      <p:sp>
        <p:nvSpPr>
          <p:cNvPr id="44" name="TextBox 43"/>
          <p:cNvSpPr txBox="1"/>
          <p:nvPr/>
        </p:nvSpPr>
        <p:spPr>
          <a:xfrm>
            <a:off x="10054528" y="3211830"/>
            <a:ext cx="225995" cy="186689"/>
          </a:xfrm>
          <a:prstGeom prst="rect">
            <a:avLst/>
          </a:prstGeom>
          <a:noFill/>
        </p:spPr>
        <p:txBody>
          <a:bodyPr wrap="none" lIns="0" rIns="0" tIns="0" bIns="0">
            <a:spAutoFit/>
          </a:bodyPr>
          <a:lstStyle/>
          <a:p>
            <a:r>
              <a:rPr sz="1100" b="0">
                <a:solidFill>
                  <a:srgbClr val="252423"/>
                </a:solidFill>
                <a:latin typeface="Segoe UI"/>
              </a:rPr>
              <a:t>by</a:t>
            </a:r>
          </a:p>
        </p:txBody>
      </p:sp>
      <p:pic>
        <p:nvPicPr>
          <p:cNvPr id="45" name="Picture 44" descr="lock.png"/>
          <p:cNvPicPr>
            <a:picLocks noChangeAspect="1"/>
          </p:cNvPicPr>
          <p:nvPr/>
        </p:nvPicPr>
        <p:blipFill>
          <a:blip r:embed="rId8"/>
          <a:stretch>
            <a:fillRect/>
          </a:stretch>
        </p:blipFill>
        <p:spPr>
          <a:xfrm>
            <a:off x="10228575" y="3202051"/>
            <a:ext cx="128699" cy="187198"/>
          </a:xfrm>
          <a:prstGeom prst="rect">
            <a:avLst/>
          </a:prstGeom>
        </p:spPr>
      </p:pic>
      <p:sp>
        <p:nvSpPr>
          <p:cNvPr id="46" name="TextBox 45"/>
          <p:cNvSpPr txBox="1"/>
          <p:nvPr/>
        </p:nvSpPr>
        <p:spPr>
          <a:xfrm>
            <a:off x="10396071" y="3211830"/>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47" name="TextBox 46"/>
          <p:cNvSpPr txBox="1"/>
          <p:nvPr/>
        </p:nvSpPr>
        <p:spPr>
          <a:xfrm>
            <a:off x="257175" y="5882640"/>
            <a:ext cx="1273643" cy="186689"/>
          </a:xfrm>
          <a:prstGeom prst="rect">
            <a:avLst/>
          </a:prstGeom>
          <a:noFill/>
        </p:spPr>
        <p:txBody>
          <a:bodyPr wrap="none" lIns="0" rIns="0" tIns="0" bIns="0">
            <a:spAutoFit/>
          </a:bodyPr>
          <a:lstStyle/>
          <a:p>
            <a:r>
              <a:rPr sz="1100" b="0">
                <a:solidFill>
                  <a:srgbClr val="252423"/>
                </a:solidFill>
                <a:latin typeface="Segoe UI"/>
              </a:rPr>
              <a:t>United States holds</a:t>
            </a:r>
          </a:p>
        </p:txBody>
      </p:sp>
      <p:pic>
        <p:nvPicPr>
          <p:cNvPr id="48" name="Picture 47" descr="lock.png"/>
          <p:cNvPicPr>
            <a:picLocks noChangeAspect="1"/>
          </p:cNvPicPr>
          <p:nvPr/>
        </p:nvPicPr>
        <p:blipFill>
          <a:blip r:embed="rId8"/>
          <a:stretch>
            <a:fillRect/>
          </a:stretch>
        </p:blipFill>
        <p:spPr>
          <a:xfrm>
            <a:off x="1478869" y="5872860"/>
            <a:ext cx="128699" cy="187198"/>
          </a:xfrm>
          <a:prstGeom prst="rect">
            <a:avLst/>
          </a:prstGeom>
        </p:spPr>
      </p:pic>
      <p:sp>
        <p:nvSpPr>
          <p:cNvPr id="49" name="TextBox 48"/>
          <p:cNvSpPr txBox="1"/>
          <p:nvPr/>
        </p:nvSpPr>
        <p:spPr>
          <a:xfrm>
            <a:off x="1646365" y="5882640"/>
            <a:ext cx="1133977" cy="186689"/>
          </a:xfrm>
          <a:prstGeom prst="rect">
            <a:avLst/>
          </a:prstGeom>
          <a:noFill/>
        </p:spPr>
        <p:txBody>
          <a:bodyPr wrap="none" lIns="0" rIns="0" tIns="0" bIns="0">
            <a:spAutoFit/>
          </a:bodyPr>
          <a:lstStyle/>
          <a:p>
            <a:r>
              <a:rPr sz="1100" b="0">
                <a:solidFill>
                  <a:srgbClr val="252423"/>
                </a:solidFill>
                <a:latin typeface="Segoe UI"/>
              </a:rPr>
              <a:t>of the global and</a:t>
            </a:r>
          </a:p>
        </p:txBody>
      </p:sp>
      <p:pic>
        <p:nvPicPr>
          <p:cNvPr id="50" name="Picture 49" descr="lock.png"/>
          <p:cNvPicPr>
            <a:picLocks noChangeAspect="1"/>
          </p:cNvPicPr>
          <p:nvPr/>
        </p:nvPicPr>
        <p:blipFill>
          <a:blip r:embed="rId8"/>
          <a:stretch>
            <a:fillRect/>
          </a:stretch>
        </p:blipFill>
        <p:spPr>
          <a:xfrm>
            <a:off x="2728394" y="5872860"/>
            <a:ext cx="128699" cy="187198"/>
          </a:xfrm>
          <a:prstGeom prst="rect">
            <a:avLst/>
          </a:prstGeom>
        </p:spPr>
      </p:pic>
      <p:sp>
        <p:nvSpPr>
          <p:cNvPr id="51" name="TextBox 50"/>
          <p:cNvSpPr txBox="1"/>
          <p:nvPr/>
        </p:nvSpPr>
        <p:spPr>
          <a:xfrm>
            <a:off x="2895890" y="5882640"/>
            <a:ext cx="2390825" cy="186689"/>
          </a:xfrm>
          <a:prstGeom prst="rect">
            <a:avLst/>
          </a:prstGeom>
          <a:noFill/>
        </p:spPr>
        <p:txBody>
          <a:bodyPr wrap="none" lIns="0" rIns="0" tIns="0" bIns="0">
            <a:spAutoFit/>
          </a:bodyPr>
          <a:lstStyle/>
          <a:p>
            <a:r>
              <a:rPr sz="1100" b="0">
                <a:solidFill>
                  <a:srgbClr val="252423"/>
                </a:solidFill>
                <a:latin typeface="Segoe UI"/>
              </a:rPr>
              <a:t>of the North America lithium polymer</a:t>
            </a:r>
          </a:p>
        </p:txBody>
      </p:sp>
      <p:sp>
        <p:nvSpPr>
          <p:cNvPr id="52" name="TextBox 51"/>
          <p:cNvSpPr txBox="1"/>
          <p:nvPr/>
        </p:nvSpPr>
        <p:spPr>
          <a:xfrm>
            <a:off x="257175" y="6050280"/>
            <a:ext cx="4433008" cy="186689"/>
          </a:xfrm>
          <a:prstGeom prst="rect">
            <a:avLst/>
          </a:prstGeom>
          <a:noFill/>
        </p:spPr>
        <p:txBody>
          <a:bodyPr wrap="none" lIns="0" rIns="0" tIns="0" bIns="0">
            <a:spAutoFit/>
          </a:bodyPr>
          <a:lstStyle/>
          <a:p>
            <a:r>
              <a:rPr sz="1100" b="0">
                <a:solidFill>
                  <a:srgbClr val="252423"/>
                </a:solidFill>
                <a:latin typeface="Segoe UI"/>
              </a:rPr>
              <a:t>portable energy storage market in 2026; by 2036 those shares move to</a:t>
            </a:r>
          </a:p>
        </p:txBody>
      </p:sp>
      <p:pic>
        <p:nvPicPr>
          <p:cNvPr id="53" name="Picture 52" descr="lock.png"/>
          <p:cNvPicPr>
            <a:picLocks noChangeAspect="1"/>
          </p:cNvPicPr>
          <p:nvPr/>
        </p:nvPicPr>
        <p:blipFill>
          <a:blip r:embed="rId8"/>
          <a:stretch>
            <a:fillRect/>
          </a:stretch>
        </p:blipFill>
        <p:spPr>
          <a:xfrm>
            <a:off x="4638235" y="6040501"/>
            <a:ext cx="128699" cy="187198"/>
          </a:xfrm>
          <a:prstGeom prst="rect">
            <a:avLst/>
          </a:prstGeom>
        </p:spPr>
      </p:pic>
      <p:sp>
        <p:nvSpPr>
          <p:cNvPr id="54" name="TextBox 53"/>
          <p:cNvSpPr txBox="1"/>
          <p:nvPr/>
        </p:nvSpPr>
        <p:spPr>
          <a:xfrm>
            <a:off x="4805730" y="6050280"/>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55" name="Picture 54" descr="lock.png"/>
          <p:cNvPicPr>
            <a:picLocks noChangeAspect="1"/>
          </p:cNvPicPr>
          <p:nvPr/>
        </p:nvPicPr>
        <p:blipFill>
          <a:blip r:embed="rId8"/>
          <a:stretch>
            <a:fillRect/>
          </a:stretch>
        </p:blipFill>
        <p:spPr>
          <a:xfrm>
            <a:off x="5062724" y="6040501"/>
            <a:ext cx="128699" cy="187198"/>
          </a:xfrm>
          <a:prstGeom prst="rect">
            <a:avLst/>
          </a:prstGeom>
        </p:spPr>
      </p:pic>
      <p:sp>
        <p:nvSpPr>
          <p:cNvPr id="56" name="TextBox 55"/>
          <p:cNvSpPr txBox="1"/>
          <p:nvPr/>
        </p:nvSpPr>
        <p:spPr>
          <a:xfrm>
            <a:off x="257175" y="6217920"/>
            <a:ext cx="829909" cy="186689"/>
          </a:xfrm>
          <a:prstGeom prst="rect">
            <a:avLst/>
          </a:prstGeom>
          <a:noFill/>
        </p:spPr>
        <p:txBody>
          <a:bodyPr wrap="none" lIns="0" rIns="0" tIns="0" bIns="0">
            <a:spAutoFit/>
          </a:bodyPr>
          <a:lstStyle/>
          <a:p>
            <a:r>
              <a:rPr sz="1100" b="0">
                <a:solidFill>
                  <a:srgbClr val="252423"/>
                </a:solidFill>
                <a:latin typeface="Segoe UI"/>
              </a:rPr>
              <a:t>respectively.</a:t>
            </a:r>
          </a:p>
        </p:txBody>
      </p:sp>
      <p:sp>
        <p:nvSpPr>
          <p:cNvPr id="57" name="TextBox 56"/>
          <p:cNvSpPr txBox="1"/>
          <p:nvPr/>
        </p:nvSpPr>
        <p:spPr>
          <a:xfrm>
            <a:off x="6286500" y="5966460"/>
            <a:ext cx="1729650" cy="186689"/>
          </a:xfrm>
          <a:prstGeom prst="rect">
            <a:avLst/>
          </a:prstGeom>
          <a:noFill/>
        </p:spPr>
        <p:txBody>
          <a:bodyPr wrap="none" lIns="0" rIns="0" tIns="0" bIns="0">
            <a:spAutoFit/>
          </a:bodyPr>
          <a:lstStyle/>
          <a:p>
            <a:r>
              <a:rPr sz="1100" b="0">
                <a:solidFill>
                  <a:srgbClr val="252423"/>
                </a:solidFill>
                <a:latin typeface="Segoe UI"/>
              </a:rPr>
              <a:t>The forecast build-up adds</a:t>
            </a:r>
          </a:p>
        </p:txBody>
      </p:sp>
      <p:pic>
        <p:nvPicPr>
          <p:cNvPr id="58" name="Picture 57" descr="lock.png"/>
          <p:cNvPicPr>
            <a:picLocks noChangeAspect="1"/>
          </p:cNvPicPr>
          <p:nvPr/>
        </p:nvPicPr>
        <p:blipFill>
          <a:blip r:embed="rId8"/>
          <a:stretch>
            <a:fillRect/>
          </a:stretch>
        </p:blipFill>
        <p:spPr>
          <a:xfrm>
            <a:off x="7964202" y="5956680"/>
            <a:ext cx="128699" cy="187198"/>
          </a:xfrm>
          <a:prstGeom prst="rect">
            <a:avLst/>
          </a:prstGeom>
        </p:spPr>
      </p:pic>
      <p:sp>
        <p:nvSpPr>
          <p:cNvPr id="59" name="TextBox 58"/>
          <p:cNvSpPr txBox="1"/>
          <p:nvPr/>
        </p:nvSpPr>
        <p:spPr>
          <a:xfrm>
            <a:off x="8131698" y="5966460"/>
            <a:ext cx="3651263" cy="186689"/>
          </a:xfrm>
          <a:prstGeom prst="rect">
            <a:avLst/>
          </a:prstGeom>
          <a:noFill/>
        </p:spPr>
        <p:txBody>
          <a:bodyPr wrap="none" lIns="0" rIns="0" tIns="0" bIns="0">
            <a:spAutoFit/>
          </a:bodyPr>
          <a:lstStyle/>
          <a:p>
            <a:r>
              <a:rPr sz="1100" b="0">
                <a:solidFill>
                  <a:srgbClr val="252423"/>
                </a:solidFill>
                <a:latin typeface="Segoe UI"/>
              </a:rPr>
              <a:t>Thousand Units between 2026 and 2036 the United States</a:t>
            </a:r>
          </a:p>
        </p:txBody>
      </p:sp>
      <p:sp>
        <p:nvSpPr>
          <p:cNvPr id="60" name="TextBox 59"/>
          <p:cNvSpPr txBox="1"/>
          <p:nvPr/>
        </p:nvSpPr>
        <p:spPr>
          <a:xfrm>
            <a:off x="6286500" y="6134100"/>
            <a:ext cx="1085115" cy="186689"/>
          </a:xfrm>
          <a:prstGeom prst="rect">
            <a:avLst/>
          </a:prstGeom>
          <a:noFill/>
        </p:spPr>
        <p:txBody>
          <a:bodyPr wrap="none" lIns="0" rIns="0" tIns="0" bIns="0">
            <a:spAutoFit/>
          </a:bodyPr>
          <a:lstStyle/>
          <a:p>
            <a:r>
              <a:rPr sz="1100" b="0">
                <a:solidFill>
                  <a:srgbClr val="252423"/>
                </a:solidFill>
                <a:latin typeface="Segoe UI"/>
              </a:rPr>
              <a:t>market grows to</a:t>
            </a:r>
          </a:p>
        </p:txBody>
      </p:sp>
      <p:pic>
        <p:nvPicPr>
          <p:cNvPr id="61" name="Picture 60" descr="lock.png"/>
          <p:cNvPicPr>
            <a:picLocks noChangeAspect="1"/>
          </p:cNvPicPr>
          <p:nvPr/>
        </p:nvPicPr>
        <p:blipFill>
          <a:blip r:embed="rId8"/>
          <a:stretch>
            <a:fillRect/>
          </a:stretch>
        </p:blipFill>
        <p:spPr>
          <a:xfrm>
            <a:off x="7319667" y="6124320"/>
            <a:ext cx="128699" cy="187198"/>
          </a:xfrm>
          <a:prstGeom prst="rect">
            <a:avLst/>
          </a:prstGeom>
        </p:spPr>
      </p:pic>
      <p:sp>
        <p:nvSpPr>
          <p:cNvPr id="62" name="TextBox 61"/>
          <p:cNvSpPr txBox="1"/>
          <p:nvPr/>
        </p:nvSpPr>
        <p:spPr>
          <a:xfrm>
            <a:off x="7487162" y="6134100"/>
            <a:ext cx="2019436" cy="186689"/>
          </a:xfrm>
          <a:prstGeom prst="rect">
            <a:avLst/>
          </a:prstGeom>
          <a:noFill/>
        </p:spPr>
        <p:txBody>
          <a:bodyPr wrap="none" lIns="0" rIns="0" tIns="0" bIns="0">
            <a:spAutoFit/>
          </a:bodyPr>
          <a:lstStyle/>
          <a:p>
            <a:r>
              <a:rPr sz="1100" b="0">
                <a:solidFill>
                  <a:srgbClr val="252423"/>
                </a:solidFill>
                <a:latin typeface="Segoe UI"/>
              </a:rPr>
              <a:t>× its 2026 size over the decade.</a:t>
            </a:r>
          </a:p>
        </p:txBody>
      </p:sp>
      <p:sp>
        <p:nvSpPr>
          <p:cNvPr id="63" name="lockshield_14"/>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7"/>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2"/>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5"/>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United States market in value: size, growth, YoY momentum and gap to the Global benchmark</a:t>
            </a:r>
          </a:p>
        </p:txBody>
      </p:sp>
      <p:sp>
        <p:nvSpPr>
          <p:cNvPr id="8" name="Rounded Rectangle 7"/>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estimate year</a:t>
            </a:r>
          </a:p>
        </p:txBody>
      </p:sp>
      <p:sp>
        <p:nvSpPr>
          <p:cNvPr id="9" name="Rounded Rectangle 8"/>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forecast horizon</a:t>
            </a:r>
          </a:p>
        </p:txBody>
      </p:sp>
      <p:sp>
        <p:nvSpPr>
          <p:cNvPr id="10" name="Rounded Rectangle 9"/>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 </a:t>
            </a:r>
          </a:p>
        </p:txBody>
      </p:sp>
      <p:sp>
        <p:nvSpPr>
          <p:cNvPr id="11" name="Rounded Rectangle 10"/>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 </a:t>
            </a:r>
          </a:p>
        </p:txBody>
      </p:sp>
      <p:sp>
        <p:nvSpPr>
          <p:cNvPr id="12" name="Rectangle 11"/>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(US$ Mn), 2021–2036</a:t>
            </a:r>
          </a:p>
        </p:txBody>
      </p:sp>
      <p:graphicFrame>
        <p:nvGraphicFramePr>
          <p:cNvPr id="14" name="Chart 13"/>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5" name="Rectangle 14"/>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7" name="Chart 16"/>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8" name="TextBox 17"/>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 </a:t>
            </a:r>
          </a:p>
          <a:p>
            <a:pPr algn="ctr"/>
            <a:r>
              <a:rPr sz="1100" b="0">
                <a:solidFill>
                  <a:srgbClr val="605E5C"/>
                </a:solidFill>
                <a:latin typeface="Segoe UI"/>
              </a:rPr>
              <a:t>vs North America benchmark</a:t>
            </a:r>
          </a:p>
          <a:p>
            <a:pPr algn="ctr"/>
            <a:r>
              <a:rPr sz="1100" b="1">
                <a:solidFill>
                  <a:srgbClr val="1E8E3E"/>
                </a:solidFill>
                <a:latin typeface="Segoe UI"/>
              </a:rPr>
              <a:t>▲ above benchmark</a:t>
            </a:r>
          </a:p>
        </p:txBody>
      </p:sp>
      <p:sp>
        <p:nvSpPr>
          <p:cNvPr id="19" name="TextBox 18"/>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
            </a:r>
          </a:p>
        </p:txBody>
      </p:sp>
      <p:sp>
        <p:nvSpPr>
          <p:cNvPr id="20" name="Rectangle 19"/>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2" name="Chart 21"/>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3" name="Rectangle 22"/>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Market Share, 2026</a:t>
            </a:r>
          </a:p>
        </p:txBody>
      </p:sp>
      <p:graphicFrame>
        <p:nvGraphicFramePr>
          <p:cNvPr id="25" name="Chart 24"/>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6" name="Rectangle 25"/>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7" name="Rectangle 26"/>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8"/>
          <a:stretch>
            <a:fillRect/>
          </a:stretch>
        </p:blipFill>
        <p:spPr>
          <a:xfrm>
            <a:off x="1493044" y="120015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0015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28397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28397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0413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4194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031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480560"/>
            <a:ext cx="165021" cy="240030"/>
          </a:xfrm>
          <a:prstGeom prst="rect">
            <a:avLst/>
          </a:prstGeom>
        </p:spPr>
      </p:pic>
      <p:pic>
        <p:nvPicPr>
          <p:cNvPr id="37" name="Picture 36" descr="lock.png"/>
          <p:cNvPicPr>
            <a:picLocks noChangeAspect="1"/>
          </p:cNvPicPr>
          <p:nvPr/>
        </p:nvPicPr>
        <p:blipFill>
          <a:blip r:embed="rId8"/>
          <a:stretch>
            <a:fillRect/>
          </a:stretch>
        </p:blipFill>
        <p:spPr>
          <a:xfrm>
            <a:off x="8721309" y="4375689"/>
            <a:ext cx="250281" cy="364045"/>
          </a:xfrm>
          <a:prstGeom prst="rect">
            <a:avLst/>
          </a:prstGeom>
        </p:spPr>
      </p:pic>
      <p:sp>
        <p:nvSpPr>
          <p:cNvPr id="38" name="TextBox 37"/>
          <p:cNvSpPr txBox="1"/>
          <p:nvPr/>
        </p:nvSpPr>
        <p:spPr>
          <a:xfrm>
            <a:off x="8071485" y="2838450"/>
            <a:ext cx="3524617" cy="186689"/>
          </a:xfrm>
          <a:prstGeom prst="rect">
            <a:avLst/>
          </a:prstGeom>
          <a:noFill/>
        </p:spPr>
        <p:txBody>
          <a:bodyPr wrap="none" lIns="0" rIns="0" tIns="0" bIns="0">
            <a:spAutoFit/>
          </a:bodyPr>
          <a:lstStyle/>
          <a:p>
            <a:r>
              <a:rPr sz="1100" b="0">
                <a:solidFill>
                  <a:srgbClr val="252423"/>
                </a:solidFill>
                <a:latin typeface="Segoe UI"/>
              </a:rPr>
              <a:t>United States's lithium polymer portable energy storage</a:t>
            </a:r>
          </a:p>
        </p:txBody>
      </p:sp>
      <p:sp>
        <p:nvSpPr>
          <p:cNvPr id="39" name="TextBox 38"/>
          <p:cNvSpPr txBox="1"/>
          <p:nvPr/>
        </p:nvSpPr>
        <p:spPr>
          <a:xfrm>
            <a:off x="8071485" y="3006090"/>
            <a:ext cx="1212827" cy="186689"/>
          </a:xfrm>
          <a:prstGeom prst="rect">
            <a:avLst/>
          </a:prstGeom>
          <a:noFill/>
        </p:spPr>
        <p:txBody>
          <a:bodyPr wrap="none" lIns="0" rIns="0" tIns="0" bIns="0">
            <a:spAutoFit/>
          </a:bodyPr>
          <a:lstStyle/>
          <a:p>
            <a:r>
              <a:rPr sz="1100" b="0">
                <a:solidFill>
                  <a:srgbClr val="252423"/>
                </a:solidFill>
                <a:latin typeface="Segoe UI"/>
              </a:rPr>
              <a:t>market expands at</a:t>
            </a:r>
          </a:p>
        </p:txBody>
      </p:sp>
      <p:pic>
        <p:nvPicPr>
          <p:cNvPr id="40" name="Picture 39" descr="lock.png"/>
          <p:cNvPicPr>
            <a:picLocks noChangeAspect="1"/>
          </p:cNvPicPr>
          <p:nvPr/>
        </p:nvPicPr>
        <p:blipFill>
          <a:blip r:embed="rId8"/>
          <a:stretch>
            <a:fillRect/>
          </a:stretch>
        </p:blipFill>
        <p:spPr>
          <a:xfrm>
            <a:off x="9232363" y="2996311"/>
            <a:ext cx="128699" cy="187198"/>
          </a:xfrm>
          <a:prstGeom prst="rect">
            <a:avLst/>
          </a:prstGeom>
        </p:spPr>
      </p:pic>
      <p:sp>
        <p:nvSpPr>
          <p:cNvPr id="41" name="TextBox 40"/>
          <p:cNvSpPr txBox="1"/>
          <p:nvPr/>
        </p:nvSpPr>
        <p:spPr>
          <a:xfrm>
            <a:off x="9399859" y="3006090"/>
            <a:ext cx="2235457" cy="186689"/>
          </a:xfrm>
          <a:prstGeom prst="rect">
            <a:avLst/>
          </a:prstGeom>
          <a:noFill/>
        </p:spPr>
        <p:txBody>
          <a:bodyPr wrap="none" lIns="0" rIns="0" tIns="0" bIns="0">
            <a:spAutoFit/>
          </a:bodyPr>
          <a:lstStyle/>
          <a:p>
            <a:r>
              <a:rPr sz="1100" b="0">
                <a:solidFill>
                  <a:srgbClr val="252423"/>
                </a:solidFill>
                <a:latin typeface="Segoe UI"/>
              </a:rPr>
              <a:t>CAGR through 2036, outpacing the</a:t>
            </a:r>
          </a:p>
        </p:txBody>
      </p:sp>
      <p:sp>
        <p:nvSpPr>
          <p:cNvPr id="42" name="TextBox 41"/>
          <p:cNvSpPr txBox="1"/>
          <p:nvPr/>
        </p:nvSpPr>
        <p:spPr>
          <a:xfrm>
            <a:off x="8071485" y="3173730"/>
            <a:ext cx="1867496" cy="186689"/>
          </a:xfrm>
          <a:prstGeom prst="rect">
            <a:avLst/>
          </a:prstGeom>
          <a:noFill/>
        </p:spPr>
        <p:txBody>
          <a:bodyPr wrap="none" lIns="0" rIns="0" tIns="0" bIns="0">
            <a:spAutoFit/>
          </a:bodyPr>
          <a:lstStyle/>
          <a:p>
            <a:r>
              <a:rPr sz="1100" b="0">
                <a:solidFill>
                  <a:srgbClr val="252423"/>
                </a:solidFill>
                <a:latin typeface="Segoe UI"/>
              </a:rPr>
              <a:t>North America benchmark of</a:t>
            </a:r>
          </a:p>
        </p:txBody>
      </p:sp>
      <p:pic>
        <p:nvPicPr>
          <p:cNvPr id="43" name="Picture 42" descr="lock.png"/>
          <p:cNvPicPr>
            <a:picLocks noChangeAspect="1"/>
          </p:cNvPicPr>
          <p:nvPr/>
        </p:nvPicPr>
        <p:blipFill>
          <a:blip r:embed="rId8"/>
          <a:stretch>
            <a:fillRect/>
          </a:stretch>
        </p:blipFill>
        <p:spPr>
          <a:xfrm>
            <a:off x="9887032" y="3163951"/>
            <a:ext cx="128699" cy="187198"/>
          </a:xfrm>
          <a:prstGeom prst="rect">
            <a:avLst/>
          </a:prstGeom>
        </p:spPr>
      </p:pic>
      <p:sp>
        <p:nvSpPr>
          <p:cNvPr id="44" name="TextBox 43"/>
          <p:cNvSpPr txBox="1"/>
          <p:nvPr/>
        </p:nvSpPr>
        <p:spPr>
          <a:xfrm>
            <a:off x="10054528" y="3173730"/>
            <a:ext cx="225995" cy="186689"/>
          </a:xfrm>
          <a:prstGeom prst="rect">
            <a:avLst/>
          </a:prstGeom>
          <a:noFill/>
        </p:spPr>
        <p:txBody>
          <a:bodyPr wrap="none" lIns="0" rIns="0" tIns="0" bIns="0">
            <a:spAutoFit/>
          </a:bodyPr>
          <a:lstStyle/>
          <a:p>
            <a:r>
              <a:rPr sz="1100" b="0">
                <a:solidFill>
                  <a:srgbClr val="252423"/>
                </a:solidFill>
                <a:latin typeface="Segoe UI"/>
              </a:rPr>
              <a:t>by</a:t>
            </a:r>
          </a:p>
        </p:txBody>
      </p:sp>
      <p:pic>
        <p:nvPicPr>
          <p:cNvPr id="45" name="Picture 44" descr="lock.png"/>
          <p:cNvPicPr>
            <a:picLocks noChangeAspect="1"/>
          </p:cNvPicPr>
          <p:nvPr/>
        </p:nvPicPr>
        <p:blipFill>
          <a:blip r:embed="rId8"/>
          <a:stretch>
            <a:fillRect/>
          </a:stretch>
        </p:blipFill>
        <p:spPr>
          <a:xfrm>
            <a:off x="10228575" y="3163951"/>
            <a:ext cx="128699" cy="187198"/>
          </a:xfrm>
          <a:prstGeom prst="rect">
            <a:avLst/>
          </a:prstGeom>
        </p:spPr>
      </p:pic>
      <p:sp>
        <p:nvSpPr>
          <p:cNvPr id="46" name="TextBox 45"/>
          <p:cNvSpPr txBox="1"/>
          <p:nvPr/>
        </p:nvSpPr>
        <p:spPr>
          <a:xfrm>
            <a:off x="10396071" y="3173730"/>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47" name="TextBox 46"/>
          <p:cNvSpPr txBox="1"/>
          <p:nvPr/>
        </p:nvSpPr>
        <p:spPr>
          <a:xfrm>
            <a:off x="257175" y="5825490"/>
            <a:ext cx="1273643" cy="186689"/>
          </a:xfrm>
          <a:prstGeom prst="rect">
            <a:avLst/>
          </a:prstGeom>
          <a:noFill/>
        </p:spPr>
        <p:txBody>
          <a:bodyPr wrap="none" lIns="0" rIns="0" tIns="0" bIns="0">
            <a:spAutoFit/>
          </a:bodyPr>
          <a:lstStyle/>
          <a:p>
            <a:r>
              <a:rPr sz="1100" b="0">
                <a:solidFill>
                  <a:srgbClr val="252423"/>
                </a:solidFill>
                <a:latin typeface="Segoe UI"/>
              </a:rPr>
              <a:t>United States holds</a:t>
            </a:r>
          </a:p>
        </p:txBody>
      </p:sp>
      <p:pic>
        <p:nvPicPr>
          <p:cNvPr id="48" name="Picture 47" descr="lock.png"/>
          <p:cNvPicPr>
            <a:picLocks noChangeAspect="1"/>
          </p:cNvPicPr>
          <p:nvPr/>
        </p:nvPicPr>
        <p:blipFill>
          <a:blip r:embed="rId8"/>
          <a:stretch>
            <a:fillRect/>
          </a:stretch>
        </p:blipFill>
        <p:spPr>
          <a:xfrm>
            <a:off x="1478869" y="5815710"/>
            <a:ext cx="128699" cy="187198"/>
          </a:xfrm>
          <a:prstGeom prst="rect">
            <a:avLst/>
          </a:prstGeom>
        </p:spPr>
      </p:pic>
      <p:sp>
        <p:nvSpPr>
          <p:cNvPr id="49" name="TextBox 48"/>
          <p:cNvSpPr txBox="1"/>
          <p:nvPr/>
        </p:nvSpPr>
        <p:spPr>
          <a:xfrm>
            <a:off x="1646365" y="5825490"/>
            <a:ext cx="1133977" cy="186689"/>
          </a:xfrm>
          <a:prstGeom prst="rect">
            <a:avLst/>
          </a:prstGeom>
          <a:noFill/>
        </p:spPr>
        <p:txBody>
          <a:bodyPr wrap="none" lIns="0" rIns="0" tIns="0" bIns="0">
            <a:spAutoFit/>
          </a:bodyPr>
          <a:lstStyle/>
          <a:p>
            <a:r>
              <a:rPr sz="1100" b="0">
                <a:solidFill>
                  <a:srgbClr val="252423"/>
                </a:solidFill>
                <a:latin typeface="Segoe UI"/>
              </a:rPr>
              <a:t>of the global and</a:t>
            </a:r>
          </a:p>
        </p:txBody>
      </p:sp>
      <p:pic>
        <p:nvPicPr>
          <p:cNvPr id="50" name="Picture 49" descr="lock.png"/>
          <p:cNvPicPr>
            <a:picLocks noChangeAspect="1"/>
          </p:cNvPicPr>
          <p:nvPr/>
        </p:nvPicPr>
        <p:blipFill>
          <a:blip r:embed="rId8"/>
          <a:stretch>
            <a:fillRect/>
          </a:stretch>
        </p:blipFill>
        <p:spPr>
          <a:xfrm>
            <a:off x="2728394" y="5815710"/>
            <a:ext cx="128699" cy="187198"/>
          </a:xfrm>
          <a:prstGeom prst="rect">
            <a:avLst/>
          </a:prstGeom>
        </p:spPr>
      </p:pic>
      <p:sp>
        <p:nvSpPr>
          <p:cNvPr id="51" name="TextBox 50"/>
          <p:cNvSpPr txBox="1"/>
          <p:nvPr/>
        </p:nvSpPr>
        <p:spPr>
          <a:xfrm>
            <a:off x="2895890" y="5825490"/>
            <a:ext cx="2390825" cy="186689"/>
          </a:xfrm>
          <a:prstGeom prst="rect">
            <a:avLst/>
          </a:prstGeom>
          <a:noFill/>
        </p:spPr>
        <p:txBody>
          <a:bodyPr wrap="none" lIns="0" rIns="0" tIns="0" bIns="0">
            <a:spAutoFit/>
          </a:bodyPr>
          <a:lstStyle/>
          <a:p>
            <a:r>
              <a:rPr sz="1100" b="0">
                <a:solidFill>
                  <a:srgbClr val="252423"/>
                </a:solidFill>
                <a:latin typeface="Segoe UI"/>
              </a:rPr>
              <a:t>of the North America lithium polymer</a:t>
            </a:r>
          </a:p>
        </p:txBody>
      </p:sp>
      <p:sp>
        <p:nvSpPr>
          <p:cNvPr id="52" name="TextBox 51"/>
          <p:cNvSpPr txBox="1"/>
          <p:nvPr/>
        </p:nvSpPr>
        <p:spPr>
          <a:xfrm>
            <a:off x="257175" y="5993130"/>
            <a:ext cx="4433008" cy="186689"/>
          </a:xfrm>
          <a:prstGeom prst="rect">
            <a:avLst/>
          </a:prstGeom>
          <a:noFill/>
        </p:spPr>
        <p:txBody>
          <a:bodyPr wrap="none" lIns="0" rIns="0" tIns="0" bIns="0">
            <a:spAutoFit/>
          </a:bodyPr>
          <a:lstStyle/>
          <a:p>
            <a:r>
              <a:rPr sz="1100" b="0">
                <a:solidFill>
                  <a:srgbClr val="252423"/>
                </a:solidFill>
                <a:latin typeface="Segoe UI"/>
              </a:rPr>
              <a:t>portable energy storage market in 2026; by 2036 those shares move to</a:t>
            </a:r>
          </a:p>
        </p:txBody>
      </p:sp>
      <p:pic>
        <p:nvPicPr>
          <p:cNvPr id="53" name="Picture 52" descr="lock.png"/>
          <p:cNvPicPr>
            <a:picLocks noChangeAspect="1"/>
          </p:cNvPicPr>
          <p:nvPr/>
        </p:nvPicPr>
        <p:blipFill>
          <a:blip r:embed="rId8"/>
          <a:stretch>
            <a:fillRect/>
          </a:stretch>
        </p:blipFill>
        <p:spPr>
          <a:xfrm>
            <a:off x="4638235" y="5983351"/>
            <a:ext cx="128699" cy="187198"/>
          </a:xfrm>
          <a:prstGeom prst="rect">
            <a:avLst/>
          </a:prstGeom>
        </p:spPr>
      </p:pic>
      <p:sp>
        <p:nvSpPr>
          <p:cNvPr id="54" name="TextBox 53"/>
          <p:cNvSpPr txBox="1"/>
          <p:nvPr/>
        </p:nvSpPr>
        <p:spPr>
          <a:xfrm>
            <a:off x="4805730" y="5993130"/>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55" name="Picture 54" descr="lock.png"/>
          <p:cNvPicPr>
            <a:picLocks noChangeAspect="1"/>
          </p:cNvPicPr>
          <p:nvPr/>
        </p:nvPicPr>
        <p:blipFill>
          <a:blip r:embed="rId8"/>
          <a:stretch>
            <a:fillRect/>
          </a:stretch>
        </p:blipFill>
        <p:spPr>
          <a:xfrm>
            <a:off x="5062724" y="5983351"/>
            <a:ext cx="128699" cy="187198"/>
          </a:xfrm>
          <a:prstGeom prst="rect">
            <a:avLst/>
          </a:prstGeom>
        </p:spPr>
      </p:pic>
      <p:sp>
        <p:nvSpPr>
          <p:cNvPr id="56" name="TextBox 55"/>
          <p:cNvSpPr txBox="1"/>
          <p:nvPr/>
        </p:nvSpPr>
        <p:spPr>
          <a:xfrm>
            <a:off x="257175" y="6160770"/>
            <a:ext cx="829909" cy="186689"/>
          </a:xfrm>
          <a:prstGeom prst="rect">
            <a:avLst/>
          </a:prstGeom>
          <a:noFill/>
        </p:spPr>
        <p:txBody>
          <a:bodyPr wrap="none" lIns="0" rIns="0" tIns="0" bIns="0">
            <a:spAutoFit/>
          </a:bodyPr>
          <a:lstStyle/>
          <a:p>
            <a:r>
              <a:rPr sz="1100" b="0">
                <a:solidFill>
                  <a:srgbClr val="252423"/>
                </a:solidFill>
                <a:latin typeface="Segoe UI"/>
              </a:rPr>
              <a:t>respectively.</a:t>
            </a:r>
          </a:p>
        </p:txBody>
      </p:sp>
      <p:sp>
        <p:nvSpPr>
          <p:cNvPr id="57" name="TextBox 56"/>
          <p:cNvSpPr txBox="1"/>
          <p:nvPr/>
        </p:nvSpPr>
        <p:spPr>
          <a:xfrm>
            <a:off x="6286500" y="5741670"/>
            <a:ext cx="3939599" cy="186689"/>
          </a:xfrm>
          <a:prstGeom prst="rect">
            <a:avLst/>
          </a:prstGeom>
          <a:noFill/>
        </p:spPr>
        <p:txBody>
          <a:bodyPr wrap="none" lIns="0" rIns="0" tIns="0" bIns="0">
            <a:spAutoFit/>
          </a:bodyPr>
          <a:lstStyle/>
          <a:p>
            <a:r>
              <a:rPr sz="1100" b="0">
                <a:solidFill>
                  <a:srgbClr val="252423"/>
                </a:solidFill>
                <a:latin typeface="Segoe UI"/>
              </a:rPr>
              <a:t>The market in the United States is expected to account for US$</a:t>
            </a:r>
          </a:p>
        </p:txBody>
      </p:sp>
      <p:pic>
        <p:nvPicPr>
          <p:cNvPr id="58" name="Picture 57" descr="lock.png"/>
          <p:cNvPicPr>
            <a:picLocks noChangeAspect="1"/>
          </p:cNvPicPr>
          <p:nvPr/>
        </p:nvPicPr>
        <p:blipFill>
          <a:blip r:embed="rId8"/>
          <a:stretch>
            <a:fillRect/>
          </a:stretch>
        </p:blipFill>
        <p:spPr>
          <a:xfrm>
            <a:off x="10174150" y="5731890"/>
            <a:ext cx="128699" cy="187198"/>
          </a:xfrm>
          <a:prstGeom prst="rect">
            <a:avLst/>
          </a:prstGeom>
        </p:spPr>
      </p:pic>
      <p:sp>
        <p:nvSpPr>
          <p:cNvPr id="59" name="TextBox 58"/>
          <p:cNvSpPr txBox="1"/>
          <p:nvPr/>
        </p:nvSpPr>
        <p:spPr>
          <a:xfrm>
            <a:off x="10341646" y="5741670"/>
            <a:ext cx="1468531" cy="186689"/>
          </a:xfrm>
          <a:prstGeom prst="rect">
            <a:avLst/>
          </a:prstGeom>
          <a:noFill/>
        </p:spPr>
        <p:txBody>
          <a:bodyPr wrap="none" lIns="0" rIns="0" tIns="0" bIns="0">
            <a:spAutoFit/>
          </a:bodyPr>
          <a:lstStyle/>
          <a:p>
            <a:r>
              <a:rPr sz="1100" b="0">
                <a:solidFill>
                  <a:srgbClr val="252423"/>
                </a:solidFill>
                <a:latin typeface="Segoe UI"/>
              </a:rPr>
              <a:t>Mn by 2036 at a CAGR</a:t>
            </a:r>
          </a:p>
        </p:txBody>
      </p:sp>
      <p:sp>
        <p:nvSpPr>
          <p:cNvPr id="60" name="TextBox 59"/>
          <p:cNvSpPr txBox="1"/>
          <p:nvPr/>
        </p:nvSpPr>
        <p:spPr>
          <a:xfrm>
            <a:off x="6286500" y="5909310"/>
            <a:ext cx="201673" cy="186689"/>
          </a:xfrm>
          <a:prstGeom prst="rect">
            <a:avLst/>
          </a:prstGeom>
          <a:noFill/>
        </p:spPr>
        <p:txBody>
          <a:bodyPr wrap="none" lIns="0" rIns="0" tIns="0" bIns="0">
            <a:spAutoFit/>
          </a:bodyPr>
          <a:lstStyle/>
          <a:p>
            <a:r>
              <a:rPr sz="1100" b="0">
                <a:solidFill>
                  <a:srgbClr val="252423"/>
                </a:solidFill>
                <a:latin typeface="Segoe UI"/>
              </a:rPr>
              <a:t>of</a:t>
            </a:r>
          </a:p>
        </p:txBody>
      </p:sp>
      <p:pic>
        <p:nvPicPr>
          <p:cNvPr id="61" name="Picture 60" descr="lock.png"/>
          <p:cNvPicPr>
            <a:picLocks noChangeAspect="1"/>
          </p:cNvPicPr>
          <p:nvPr/>
        </p:nvPicPr>
        <p:blipFill>
          <a:blip r:embed="rId8"/>
          <a:stretch>
            <a:fillRect/>
          </a:stretch>
        </p:blipFill>
        <p:spPr>
          <a:xfrm>
            <a:off x="6436224" y="5899530"/>
            <a:ext cx="128699" cy="187198"/>
          </a:xfrm>
          <a:prstGeom prst="rect">
            <a:avLst/>
          </a:prstGeom>
        </p:spPr>
      </p:pic>
      <p:sp>
        <p:nvSpPr>
          <p:cNvPr id="62" name="TextBox 61"/>
          <p:cNvSpPr txBox="1"/>
          <p:nvPr/>
        </p:nvSpPr>
        <p:spPr>
          <a:xfrm>
            <a:off x="6603720" y="5909310"/>
            <a:ext cx="4971992" cy="186689"/>
          </a:xfrm>
          <a:prstGeom prst="rect">
            <a:avLst/>
          </a:prstGeom>
          <a:noFill/>
        </p:spPr>
        <p:txBody>
          <a:bodyPr wrap="none" lIns="0" rIns="0" tIns="0" bIns="0">
            <a:spAutoFit/>
          </a:bodyPr>
          <a:lstStyle/>
          <a:p>
            <a:r>
              <a:rPr sz="1100" b="0">
                <a:solidFill>
                  <a:srgbClr val="252423"/>
                </a:solidFill>
                <a:latin typeface="Segoe UI"/>
              </a:rPr>
              <a:t>over the forecast period. The United States is expected to create an incremental</a:t>
            </a:r>
          </a:p>
        </p:txBody>
      </p:sp>
      <p:sp>
        <p:nvSpPr>
          <p:cNvPr id="63" name="TextBox 62"/>
          <p:cNvSpPr txBox="1"/>
          <p:nvPr/>
        </p:nvSpPr>
        <p:spPr>
          <a:xfrm>
            <a:off x="6286500" y="6076950"/>
            <a:ext cx="1254944" cy="186689"/>
          </a:xfrm>
          <a:prstGeom prst="rect">
            <a:avLst/>
          </a:prstGeom>
          <a:noFill/>
        </p:spPr>
        <p:txBody>
          <a:bodyPr wrap="none" lIns="0" rIns="0" tIns="0" bIns="0">
            <a:spAutoFit/>
          </a:bodyPr>
          <a:lstStyle/>
          <a:p>
            <a:r>
              <a:rPr sz="1100" b="0">
                <a:solidFill>
                  <a:srgbClr val="252423"/>
                </a:solidFill>
                <a:latin typeface="Segoe UI"/>
              </a:rPr>
              <a:t>opportunity of US$</a:t>
            </a:r>
          </a:p>
        </p:txBody>
      </p:sp>
      <p:pic>
        <p:nvPicPr>
          <p:cNvPr id="64" name="Picture 63" descr="lock.png"/>
          <p:cNvPicPr>
            <a:picLocks noChangeAspect="1"/>
          </p:cNvPicPr>
          <p:nvPr/>
        </p:nvPicPr>
        <p:blipFill>
          <a:blip r:embed="rId8"/>
          <a:stretch>
            <a:fillRect/>
          </a:stretch>
        </p:blipFill>
        <p:spPr>
          <a:xfrm>
            <a:off x="7489495" y="6067170"/>
            <a:ext cx="128699" cy="187198"/>
          </a:xfrm>
          <a:prstGeom prst="rect">
            <a:avLst/>
          </a:prstGeom>
        </p:spPr>
      </p:pic>
      <p:sp>
        <p:nvSpPr>
          <p:cNvPr id="65" name="TextBox 64"/>
          <p:cNvSpPr txBox="1"/>
          <p:nvPr/>
        </p:nvSpPr>
        <p:spPr>
          <a:xfrm>
            <a:off x="7656991" y="6076950"/>
            <a:ext cx="4181213" cy="186689"/>
          </a:xfrm>
          <a:prstGeom prst="rect">
            <a:avLst/>
          </a:prstGeom>
          <a:noFill/>
        </p:spPr>
        <p:txBody>
          <a:bodyPr wrap="none" lIns="0" rIns="0" tIns="0" bIns="0">
            <a:spAutoFit/>
          </a:bodyPr>
          <a:lstStyle/>
          <a:p>
            <a:r>
              <a:rPr sz="1100" b="0">
                <a:solidFill>
                  <a:srgbClr val="252423"/>
                </a:solidFill>
                <a:latin typeface="Segoe UI"/>
              </a:rPr>
              <a:t>Mn for the overall lithium polymer portable energy storage market</a:t>
            </a:r>
          </a:p>
        </p:txBody>
      </p:sp>
      <p:sp>
        <p:nvSpPr>
          <p:cNvPr id="66" name="TextBox 65"/>
          <p:cNvSpPr txBox="1"/>
          <p:nvPr/>
        </p:nvSpPr>
        <p:spPr>
          <a:xfrm>
            <a:off x="6286500" y="6244590"/>
            <a:ext cx="1247232" cy="186689"/>
          </a:xfrm>
          <a:prstGeom prst="rect">
            <a:avLst/>
          </a:prstGeom>
          <a:noFill/>
        </p:spPr>
        <p:txBody>
          <a:bodyPr wrap="none" lIns="0" rIns="0" tIns="0" bIns="0">
            <a:spAutoFit/>
          </a:bodyPr>
          <a:lstStyle/>
          <a:p>
            <a:r>
              <a:rPr sz="1100" b="0">
                <a:solidFill>
                  <a:srgbClr val="252423"/>
                </a:solidFill>
                <a:latin typeface="Segoe UI"/>
              </a:rPr>
              <a:t>from 2025 to 2036.</a:t>
            </a:r>
          </a:p>
        </p:txBody>
      </p:sp>
      <p:sp>
        <p:nvSpPr>
          <p:cNvPr id="67" name="lockshield_14"/>
          <p:cNvSpPr/>
          <p:nvPr/>
        </p:nvSpPr>
        <p:spPr>
          <a:xfrm>
            <a:off x="238125" y="2066925"/>
            <a:ext cx="4505325" cy="1400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7"/>
          <p:cNvSpPr/>
          <p:nvPr/>
        </p:nvSpPr>
        <p:spPr>
          <a:xfrm>
            <a:off x="5086350" y="2066925"/>
            <a:ext cx="2880360" cy="1400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2"/>
          <p:cNvSpPr/>
          <p:nvPr/>
        </p:nvSpPr>
        <p:spPr>
          <a:xfrm>
            <a:off x="238125" y="3943350"/>
            <a:ext cx="4505325" cy="1400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5"/>
          <p:cNvSpPr/>
          <p:nvPr/>
        </p:nvSpPr>
        <p:spPr>
          <a:xfrm>
            <a:off x="5086350" y="3943350"/>
            <a:ext cx="6858000" cy="1400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Key Segments Overview, By Value (2026)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United States's key segments by value, highlighting the leading sub-segment of every segmentation</a:t>
            </a:r>
          </a:p>
        </p:txBody>
      </p:sp>
      <p:sp>
        <p:nvSpPr>
          <p:cNvPr id="8" name="Rectangle 7"/>
          <p:cNvSpPr/>
          <p:nvPr/>
        </p:nvSpPr>
        <p:spPr>
          <a:xfrm>
            <a:off x="142875" y="981075"/>
            <a:ext cx="28575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Energy Storage Capacity  (US$ Mn)</a:t>
            </a:r>
          </a:p>
        </p:txBody>
      </p:sp>
      <p:graphicFrame>
        <p:nvGraphicFramePr>
          <p:cNvPr id="10" name="Chart 9"/>
          <p:cNvGraphicFramePr>
            <a:graphicFrameLocks noGrp="1"/>
          </p:cNvGraphicFramePr>
          <p:nvPr/>
        </p:nvGraphicFramePr>
        <p:xfrm>
          <a:off x="238125" y="1266825"/>
          <a:ext cx="2667000" cy="1704975"/>
        </p:xfrm>
        <a:graphic>
          <a:graphicData uri="http://schemas.openxmlformats.org/drawingml/2006/chart">
            <c:chart xmlns:c="http://schemas.openxmlformats.org/drawingml/2006/chart" r:id="rId3"/>
          </a:graphicData>
        </a:graphic>
      </p:graphicFrame>
      <p:sp>
        <p:nvSpPr>
          <p:cNvPr id="11" name="Rectangle 10"/>
          <p:cNvSpPr/>
          <p:nvPr/>
        </p:nvSpPr>
        <p:spPr>
          <a:xfrm>
            <a:off x="3152775" y="981075"/>
            <a:ext cx="28575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Chemistry  (US$ Mn)</a:t>
            </a:r>
          </a:p>
        </p:txBody>
      </p:sp>
      <p:graphicFrame>
        <p:nvGraphicFramePr>
          <p:cNvPr id="13" name="Chart 12"/>
          <p:cNvGraphicFramePr>
            <a:graphicFrameLocks noGrp="1"/>
          </p:cNvGraphicFramePr>
          <p:nvPr/>
        </p:nvGraphicFramePr>
        <p:xfrm>
          <a:off x="3248025" y="1266825"/>
          <a:ext cx="2667000" cy="1704975"/>
        </p:xfrm>
        <a:graphic>
          <a:graphicData uri="http://schemas.openxmlformats.org/drawingml/2006/chart">
            <c:chart xmlns:c="http://schemas.openxmlformats.org/drawingml/2006/chart" r:id="rId4"/>
          </a:graphicData>
        </a:graphic>
      </p:graphicFrame>
      <p:sp>
        <p:nvSpPr>
          <p:cNvPr id="14" name="Rectangle 13"/>
          <p:cNvSpPr/>
          <p:nvPr/>
        </p:nvSpPr>
        <p:spPr>
          <a:xfrm>
            <a:off x="6162675" y="981075"/>
            <a:ext cx="28575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Battery Configuration  (US$ Mn)</a:t>
            </a:r>
          </a:p>
        </p:txBody>
      </p:sp>
      <p:graphicFrame>
        <p:nvGraphicFramePr>
          <p:cNvPr id="16" name="Chart 15"/>
          <p:cNvGraphicFramePr>
            <a:graphicFrameLocks noGrp="1"/>
          </p:cNvGraphicFramePr>
          <p:nvPr/>
        </p:nvGraphicFramePr>
        <p:xfrm>
          <a:off x="6257925" y="1266825"/>
          <a:ext cx="2667000" cy="1704975"/>
        </p:xfrm>
        <a:graphic>
          <a:graphicData uri="http://schemas.openxmlformats.org/drawingml/2006/chart">
            <c:chart xmlns:c="http://schemas.openxmlformats.org/drawingml/2006/chart" r:id="rId5"/>
          </a:graphicData>
        </a:graphic>
      </p:graphicFrame>
      <p:sp>
        <p:nvSpPr>
          <p:cNvPr id="17" name="Rectangle 16"/>
          <p:cNvSpPr/>
          <p:nvPr/>
        </p:nvSpPr>
        <p:spPr>
          <a:xfrm>
            <a:off x="9172575" y="981075"/>
            <a:ext cx="28575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Application  (US$ Mn)</a:t>
            </a:r>
          </a:p>
        </p:txBody>
      </p:sp>
      <p:graphicFrame>
        <p:nvGraphicFramePr>
          <p:cNvPr id="19" name="Chart 18"/>
          <p:cNvGraphicFramePr>
            <a:graphicFrameLocks noGrp="1"/>
          </p:cNvGraphicFramePr>
          <p:nvPr/>
        </p:nvGraphicFramePr>
        <p:xfrm>
          <a:off x="9267825" y="1266825"/>
          <a:ext cx="2667000" cy="1704975"/>
        </p:xfrm>
        <a:graphic>
          <a:graphicData uri="http://schemas.openxmlformats.org/drawingml/2006/chart">
            <c:chart xmlns:c="http://schemas.openxmlformats.org/drawingml/2006/chart" r:id="rId6"/>
          </a:graphicData>
        </a:graphic>
      </p:graphicFrame>
      <p:sp>
        <p:nvSpPr>
          <p:cNvPr id="20" name="Rectangle 19"/>
          <p:cNvSpPr/>
          <p:nvPr/>
        </p:nvSpPr>
        <p:spPr>
          <a:xfrm>
            <a:off x="142875" y="3162300"/>
            <a:ext cx="28956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8125" y="3219450"/>
            <a:ext cx="27051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Output Power Rating  (US$ Mn)</a:t>
            </a:r>
          </a:p>
        </p:txBody>
      </p:sp>
      <p:graphicFrame>
        <p:nvGraphicFramePr>
          <p:cNvPr id="22" name="Chart 21"/>
          <p:cNvGraphicFramePr>
            <a:graphicFrameLocks noGrp="1"/>
          </p:cNvGraphicFramePr>
          <p:nvPr/>
        </p:nvGraphicFramePr>
        <p:xfrm>
          <a:off x="238125" y="3448050"/>
          <a:ext cx="2705100" cy="1704975"/>
        </p:xfrm>
        <a:graphic>
          <a:graphicData uri="http://schemas.openxmlformats.org/drawingml/2006/chart">
            <c:chart xmlns:c="http://schemas.openxmlformats.org/drawingml/2006/chart" r:id="rId7"/>
          </a:graphicData>
        </a:graphic>
      </p:graphicFrame>
      <p:sp>
        <p:nvSpPr>
          <p:cNvPr id="23" name="Rectangle 22"/>
          <p:cNvSpPr/>
          <p:nvPr/>
        </p:nvSpPr>
        <p:spPr>
          <a:xfrm>
            <a:off x="3190875" y="3162300"/>
            <a:ext cx="28956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6125" y="3219450"/>
            <a:ext cx="27051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System Architecture  (US$ Mn)</a:t>
            </a:r>
          </a:p>
        </p:txBody>
      </p:sp>
      <p:graphicFrame>
        <p:nvGraphicFramePr>
          <p:cNvPr id="25" name="Chart 24"/>
          <p:cNvGraphicFramePr>
            <a:graphicFrameLocks noGrp="1"/>
          </p:cNvGraphicFramePr>
          <p:nvPr/>
        </p:nvGraphicFramePr>
        <p:xfrm>
          <a:off x="3286125" y="3448050"/>
          <a:ext cx="2705100" cy="1704975"/>
        </p:xfrm>
        <a:graphic>
          <a:graphicData uri="http://schemas.openxmlformats.org/drawingml/2006/chart">
            <c:chart xmlns:c="http://schemas.openxmlformats.org/drawingml/2006/chart" r:id="rId8"/>
          </a:graphicData>
        </a:graphic>
      </p:graphicFrame>
      <p:sp>
        <p:nvSpPr>
          <p:cNvPr id="26" name="Rectangle 25"/>
          <p:cNvSpPr/>
          <p:nvPr/>
        </p:nvSpPr>
        <p:spPr>
          <a:xfrm>
            <a:off x="6238875" y="3162300"/>
            <a:ext cx="2895600" cy="2047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4125" y="3219450"/>
            <a:ext cx="27051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Distribution Channel  (US$ Mn)</a:t>
            </a:r>
          </a:p>
        </p:txBody>
      </p:sp>
      <p:graphicFrame>
        <p:nvGraphicFramePr>
          <p:cNvPr id="28" name="Chart 27"/>
          <p:cNvGraphicFramePr>
            <a:graphicFrameLocks noGrp="1"/>
          </p:cNvGraphicFramePr>
          <p:nvPr/>
        </p:nvGraphicFramePr>
        <p:xfrm>
          <a:off x="6334125" y="3448050"/>
          <a:ext cx="2705100" cy="1704975"/>
        </p:xfrm>
        <a:graphic>
          <a:graphicData uri="http://schemas.openxmlformats.org/drawingml/2006/chart">
            <c:chart xmlns:c="http://schemas.openxmlformats.org/drawingml/2006/chart" r:id="rId9"/>
          </a:graphicData>
        </a:graphic>
      </p:graphicFrame>
      <p:sp>
        <p:nvSpPr>
          <p:cNvPr id="29" name="Rectangle 28"/>
          <p:cNvSpPr/>
          <p:nvPr/>
        </p:nvSpPr>
        <p:spPr>
          <a:xfrm>
            <a:off x="142875" y="5343525"/>
            <a:ext cx="11906250" cy="1276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5429250"/>
            <a:ext cx="11639550" cy="209550"/>
          </a:xfrm>
          <a:prstGeom prst="rect">
            <a:avLst/>
          </a:prstGeom>
          <a:noFill/>
        </p:spPr>
        <p:txBody>
          <a:bodyPr wrap="square" lIns="0" rIns="19050" tIns="9525" bIns="9525">
            <a:spAutoFit/>
          </a:bodyPr>
          <a:lstStyle/>
          <a:p>
            <a:pPr algn="l"/>
            <a:r>
              <a:rPr sz="1300" b="1">
                <a:solidFill>
                  <a:srgbClr val="007BA5"/>
                </a:solidFill>
                <a:latin typeface="Segoe UI"/>
              </a:rPr>
              <a:t/>
            </a:r>
          </a:p>
        </p:txBody>
      </p:sp>
      <p:sp>
        <p:nvSpPr>
          <p:cNvPr id="31" name="Rectangle 30"/>
          <p:cNvSpPr/>
          <p:nvPr/>
        </p:nvSpPr>
        <p:spPr>
          <a:xfrm>
            <a:off x="276225" y="56673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6225" y="5753100"/>
            <a:ext cx="11639550" cy="790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11"/>
          <a:stretch>
            <a:fillRect/>
          </a:stretch>
        </p:blipFill>
        <p:spPr>
          <a:xfrm>
            <a:off x="1811655" y="1900237"/>
            <a:ext cx="183356" cy="266700"/>
          </a:xfrm>
          <a:prstGeom prst="rect">
            <a:avLst/>
          </a:prstGeom>
        </p:spPr>
      </p:pic>
      <p:pic>
        <p:nvPicPr>
          <p:cNvPr id="35" name="Picture 34" descr="lock.png"/>
          <p:cNvPicPr>
            <a:picLocks noChangeAspect="1"/>
          </p:cNvPicPr>
          <p:nvPr/>
        </p:nvPicPr>
        <p:blipFill>
          <a:blip r:embed="rId11"/>
          <a:stretch>
            <a:fillRect/>
          </a:stretch>
        </p:blipFill>
        <p:spPr>
          <a:xfrm>
            <a:off x="4821555" y="1900237"/>
            <a:ext cx="183356" cy="266700"/>
          </a:xfrm>
          <a:prstGeom prst="rect">
            <a:avLst/>
          </a:prstGeom>
        </p:spPr>
      </p:pic>
      <p:pic>
        <p:nvPicPr>
          <p:cNvPr id="36" name="Picture 35" descr="lock.png"/>
          <p:cNvPicPr>
            <a:picLocks noChangeAspect="1"/>
          </p:cNvPicPr>
          <p:nvPr/>
        </p:nvPicPr>
        <p:blipFill>
          <a:blip r:embed="rId11"/>
          <a:stretch>
            <a:fillRect/>
          </a:stretch>
        </p:blipFill>
        <p:spPr>
          <a:xfrm>
            <a:off x="7831455" y="1900237"/>
            <a:ext cx="183356" cy="266700"/>
          </a:xfrm>
          <a:prstGeom prst="rect">
            <a:avLst/>
          </a:prstGeom>
        </p:spPr>
      </p:pic>
      <p:pic>
        <p:nvPicPr>
          <p:cNvPr id="37" name="Picture 36" descr="lock.png"/>
          <p:cNvPicPr>
            <a:picLocks noChangeAspect="1"/>
          </p:cNvPicPr>
          <p:nvPr/>
        </p:nvPicPr>
        <p:blipFill>
          <a:blip r:embed="rId11"/>
          <a:stretch>
            <a:fillRect/>
          </a:stretch>
        </p:blipFill>
        <p:spPr>
          <a:xfrm>
            <a:off x="10841355" y="1900237"/>
            <a:ext cx="183356" cy="266700"/>
          </a:xfrm>
          <a:prstGeom prst="rect">
            <a:avLst/>
          </a:prstGeom>
        </p:spPr>
      </p:pic>
      <p:pic>
        <p:nvPicPr>
          <p:cNvPr id="38" name="Picture 37" descr="lock.png"/>
          <p:cNvPicPr>
            <a:picLocks noChangeAspect="1"/>
          </p:cNvPicPr>
          <p:nvPr/>
        </p:nvPicPr>
        <p:blipFill>
          <a:blip r:embed="rId11"/>
          <a:stretch>
            <a:fillRect/>
          </a:stretch>
        </p:blipFill>
        <p:spPr>
          <a:xfrm>
            <a:off x="1830705" y="4081462"/>
            <a:ext cx="183356" cy="266700"/>
          </a:xfrm>
          <a:prstGeom prst="rect">
            <a:avLst/>
          </a:prstGeom>
        </p:spPr>
      </p:pic>
      <p:pic>
        <p:nvPicPr>
          <p:cNvPr id="39" name="Picture 38" descr="lock.png"/>
          <p:cNvPicPr>
            <a:picLocks noChangeAspect="1"/>
          </p:cNvPicPr>
          <p:nvPr/>
        </p:nvPicPr>
        <p:blipFill>
          <a:blip r:embed="rId11"/>
          <a:stretch>
            <a:fillRect/>
          </a:stretch>
        </p:blipFill>
        <p:spPr>
          <a:xfrm>
            <a:off x="4878705" y="4081462"/>
            <a:ext cx="183356" cy="266700"/>
          </a:xfrm>
          <a:prstGeom prst="rect">
            <a:avLst/>
          </a:prstGeom>
        </p:spPr>
      </p:pic>
      <p:pic>
        <p:nvPicPr>
          <p:cNvPr id="40" name="Picture 39" descr="lock.png"/>
          <p:cNvPicPr>
            <a:picLocks noChangeAspect="1"/>
          </p:cNvPicPr>
          <p:nvPr/>
        </p:nvPicPr>
        <p:blipFill>
          <a:blip r:embed="rId11"/>
          <a:stretch>
            <a:fillRect/>
          </a:stretch>
        </p:blipFill>
        <p:spPr>
          <a:xfrm>
            <a:off x="7926705" y="4081462"/>
            <a:ext cx="183356" cy="266700"/>
          </a:xfrm>
          <a:prstGeom prst="rect">
            <a:avLst/>
          </a:prstGeom>
        </p:spPr>
      </p:pic>
      <p:sp>
        <p:nvSpPr>
          <p:cNvPr id="41" name="TextBox 40"/>
          <p:cNvSpPr txBox="1"/>
          <p:nvPr/>
        </p:nvSpPr>
        <p:spPr>
          <a:xfrm>
            <a:off x="276225" y="5438775"/>
            <a:ext cx="1640904" cy="161696"/>
          </a:xfrm>
          <a:prstGeom prst="rect">
            <a:avLst/>
          </a:prstGeom>
          <a:noFill/>
        </p:spPr>
        <p:txBody>
          <a:bodyPr wrap="none" lIns="0" rIns="0" tIns="0" bIns="0">
            <a:spAutoFit/>
          </a:bodyPr>
          <a:lstStyle/>
          <a:p>
            <a:r>
              <a:rPr sz="935" b="1">
                <a:solidFill>
                  <a:srgbClr val="007BA5"/>
                </a:solidFill>
                <a:latin typeface="Segoe UI"/>
              </a:rPr>
              <a:t>Key Takeaways · 2026 Total:</a:t>
            </a:r>
          </a:p>
        </p:txBody>
      </p:sp>
      <p:pic>
        <p:nvPicPr>
          <p:cNvPr id="42" name="Picture 41" descr="lock.png"/>
          <p:cNvPicPr>
            <a:picLocks noChangeAspect="1"/>
          </p:cNvPicPr>
          <p:nvPr/>
        </p:nvPicPr>
        <p:blipFill>
          <a:blip r:embed="rId11"/>
          <a:stretch>
            <a:fillRect/>
          </a:stretch>
        </p:blipFill>
        <p:spPr>
          <a:xfrm>
            <a:off x="1861565" y="5430453"/>
            <a:ext cx="109510" cy="159288"/>
          </a:xfrm>
          <a:prstGeom prst="rect">
            <a:avLst/>
          </a:prstGeom>
        </p:spPr>
      </p:pic>
      <p:sp>
        <p:nvSpPr>
          <p:cNvPr id="43" name="TextBox 42"/>
          <p:cNvSpPr txBox="1"/>
          <p:nvPr/>
        </p:nvSpPr>
        <p:spPr>
          <a:xfrm>
            <a:off x="2004088" y="5438775"/>
            <a:ext cx="515701" cy="161696"/>
          </a:xfrm>
          <a:prstGeom prst="rect">
            <a:avLst/>
          </a:prstGeom>
          <a:noFill/>
        </p:spPr>
        <p:txBody>
          <a:bodyPr wrap="none" lIns="0" rIns="0" tIns="0" bIns="0">
            <a:spAutoFit/>
          </a:bodyPr>
          <a:lstStyle/>
          <a:p>
            <a:r>
              <a:rPr sz="935" b="1">
                <a:solidFill>
                  <a:srgbClr val="007BA5"/>
                </a:solidFill>
                <a:latin typeface="Segoe UI"/>
              </a:rPr>
              <a:t>US$ Mn</a:t>
            </a:r>
          </a:p>
        </p:txBody>
      </p:sp>
      <p:sp>
        <p:nvSpPr>
          <p:cNvPr id="44" name="TextBox 43"/>
          <p:cNvSpPr txBox="1"/>
          <p:nvPr/>
        </p:nvSpPr>
        <p:spPr>
          <a:xfrm>
            <a:off x="276225" y="5762625"/>
            <a:ext cx="4035243" cy="194310"/>
          </a:xfrm>
          <a:prstGeom prst="rect">
            <a:avLst/>
          </a:prstGeom>
          <a:noFill/>
        </p:spPr>
        <p:txBody>
          <a:bodyPr wrap="none" lIns="0" rIns="0" tIns="0" bIns="0">
            <a:spAutoFit/>
          </a:bodyPr>
          <a:lstStyle/>
          <a:p>
            <a:r>
              <a:rPr sz="1150" b="0">
                <a:solidFill>
                  <a:srgbClr val="252423"/>
                </a:solidFill>
                <a:latin typeface="Segoe UI"/>
              </a:rPr>
              <a:t>▪ By Energy Storage Capacity, '1,500 Wh to 2,000 Wh' leads at</a:t>
            </a:r>
          </a:p>
        </p:txBody>
      </p:sp>
      <p:pic>
        <p:nvPicPr>
          <p:cNvPr id="45" name="Picture 44" descr="lock.png"/>
          <p:cNvPicPr>
            <a:picLocks noChangeAspect="1"/>
          </p:cNvPicPr>
          <p:nvPr/>
        </p:nvPicPr>
        <p:blipFill>
          <a:blip r:embed="rId11"/>
          <a:stretch>
            <a:fillRect/>
          </a:stretch>
        </p:blipFill>
        <p:spPr>
          <a:xfrm>
            <a:off x="4260622" y="5752401"/>
            <a:ext cx="134549" cy="195707"/>
          </a:xfrm>
          <a:prstGeom prst="rect">
            <a:avLst/>
          </a:prstGeom>
        </p:spPr>
      </p:pic>
      <p:sp>
        <p:nvSpPr>
          <p:cNvPr id="46" name="TextBox 45"/>
          <p:cNvSpPr txBox="1"/>
          <p:nvPr/>
        </p:nvSpPr>
        <p:spPr>
          <a:xfrm>
            <a:off x="4435731" y="5762625"/>
            <a:ext cx="670954" cy="194310"/>
          </a:xfrm>
          <a:prstGeom prst="rect">
            <a:avLst/>
          </a:prstGeom>
          <a:noFill/>
        </p:spPr>
        <p:txBody>
          <a:bodyPr wrap="none" lIns="0" rIns="0" tIns="0" bIns="0">
            <a:spAutoFit/>
          </a:bodyPr>
          <a:lstStyle/>
          <a:p>
            <a:r>
              <a:rPr sz="1150" b="0">
                <a:solidFill>
                  <a:srgbClr val="252423"/>
                </a:solidFill>
                <a:latin typeface="Segoe UI"/>
              </a:rPr>
              <a:t>US$ Mn (</a:t>
            </a:r>
          </a:p>
        </p:txBody>
      </p:sp>
      <p:pic>
        <p:nvPicPr>
          <p:cNvPr id="47" name="Picture 46" descr="lock.png"/>
          <p:cNvPicPr>
            <a:picLocks noChangeAspect="1"/>
          </p:cNvPicPr>
          <p:nvPr/>
        </p:nvPicPr>
        <p:blipFill>
          <a:blip r:embed="rId11"/>
          <a:stretch>
            <a:fillRect/>
          </a:stretch>
        </p:blipFill>
        <p:spPr>
          <a:xfrm>
            <a:off x="5055839" y="5752401"/>
            <a:ext cx="134549" cy="195707"/>
          </a:xfrm>
          <a:prstGeom prst="rect">
            <a:avLst/>
          </a:prstGeom>
        </p:spPr>
      </p:pic>
      <p:sp>
        <p:nvSpPr>
          <p:cNvPr id="48" name="TextBox 47"/>
          <p:cNvSpPr txBox="1"/>
          <p:nvPr/>
        </p:nvSpPr>
        <p:spPr>
          <a:xfrm>
            <a:off x="5230949" y="5762625"/>
            <a:ext cx="3148010" cy="194310"/>
          </a:xfrm>
          <a:prstGeom prst="rect">
            <a:avLst/>
          </a:prstGeom>
          <a:noFill/>
        </p:spPr>
        <p:txBody>
          <a:bodyPr wrap="none" lIns="0" rIns="0" tIns="0" bIns="0">
            <a:spAutoFit/>
          </a:bodyPr>
          <a:lstStyle/>
          <a:p>
            <a:r>
              <a:rPr sz="1150" b="0">
                <a:solidFill>
                  <a:srgbClr val="252423"/>
                </a:solidFill>
                <a:latin typeface="Segoe UI"/>
              </a:rPr>
              <a:t>share), ahead of '1,000 Wh to Below 1,500 Wh' (</a:t>
            </a:r>
          </a:p>
        </p:txBody>
      </p:sp>
      <p:pic>
        <p:nvPicPr>
          <p:cNvPr id="49" name="Picture 48" descr="lock.png"/>
          <p:cNvPicPr>
            <a:picLocks noChangeAspect="1"/>
          </p:cNvPicPr>
          <p:nvPr/>
        </p:nvPicPr>
        <p:blipFill>
          <a:blip r:embed="rId11"/>
          <a:stretch>
            <a:fillRect/>
          </a:stretch>
        </p:blipFill>
        <p:spPr>
          <a:xfrm>
            <a:off x="8328113" y="5752401"/>
            <a:ext cx="134549" cy="195707"/>
          </a:xfrm>
          <a:prstGeom prst="rect">
            <a:avLst/>
          </a:prstGeom>
        </p:spPr>
      </p:pic>
      <p:sp>
        <p:nvSpPr>
          <p:cNvPr id="50" name="TextBox 49"/>
          <p:cNvSpPr txBox="1"/>
          <p:nvPr/>
        </p:nvSpPr>
        <p:spPr>
          <a:xfrm>
            <a:off x="8503222" y="5762625"/>
            <a:ext cx="662682" cy="194310"/>
          </a:xfrm>
          <a:prstGeom prst="rect">
            <a:avLst/>
          </a:prstGeom>
          <a:noFill/>
        </p:spPr>
        <p:txBody>
          <a:bodyPr wrap="none" lIns="0" rIns="0" tIns="0" bIns="0">
            <a:spAutoFit/>
          </a:bodyPr>
          <a:lstStyle/>
          <a:p>
            <a:r>
              <a:rPr sz="1150" b="0">
                <a:solidFill>
                  <a:srgbClr val="252423"/>
                </a:solidFill>
                <a:latin typeface="Segoe UI"/>
              </a:rPr>
              <a:t>US$ Mn).</a:t>
            </a:r>
          </a:p>
        </p:txBody>
      </p:sp>
      <p:sp>
        <p:nvSpPr>
          <p:cNvPr id="51" name="TextBox 50"/>
          <p:cNvSpPr txBox="1"/>
          <p:nvPr/>
        </p:nvSpPr>
        <p:spPr>
          <a:xfrm>
            <a:off x="276225" y="5990463"/>
            <a:ext cx="5217883" cy="194310"/>
          </a:xfrm>
          <a:prstGeom prst="rect">
            <a:avLst/>
          </a:prstGeom>
          <a:noFill/>
        </p:spPr>
        <p:txBody>
          <a:bodyPr wrap="none" lIns="0" rIns="0" tIns="0" bIns="0">
            <a:spAutoFit/>
          </a:bodyPr>
          <a:lstStyle/>
          <a:p>
            <a:r>
              <a:rPr sz="1150" b="0">
                <a:solidFill>
                  <a:srgbClr val="252423"/>
                </a:solidFill>
                <a:latin typeface="Segoe UI"/>
              </a:rPr>
              <a:t>▪ By Battery Chemistry, 'Lithium Nickel Manganese Cobalt Oxide (NMC)' leads at</a:t>
            </a:r>
          </a:p>
        </p:txBody>
      </p:sp>
      <p:pic>
        <p:nvPicPr>
          <p:cNvPr id="52" name="Picture 51" descr="lock.png"/>
          <p:cNvPicPr>
            <a:picLocks noChangeAspect="1"/>
          </p:cNvPicPr>
          <p:nvPr/>
        </p:nvPicPr>
        <p:blipFill>
          <a:blip r:embed="rId11"/>
          <a:stretch>
            <a:fillRect/>
          </a:stretch>
        </p:blipFill>
        <p:spPr>
          <a:xfrm>
            <a:off x="5443262" y="5980239"/>
            <a:ext cx="134549" cy="195707"/>
          </a:xfrm>
          <a:prstGeom prst="rect">
            <a:avLst/>
          </a:prstGeom>
        </p:spPr>
      </p:pic>
      <p:sp>
        <p:nvSpPr>
          <p:cNvPr id="53" name="TextBox 52"/>
          <p:cNvSpPr txBox="1"/>
          <p:nvPr/>
        </p:nvSpPr>
        <p:spPr>
          <a:xfrm>
            <a:off x="5618372" y="5990463"/>
            <a:ext cx="670954" cy="194310"/>
          </a:xfrm>
          <a:prstGeom prst="rect">
            <a:avLst/>
          </a:prstGeom>
          <a:noFill/>
        </p:spPr>
        <p:txBody>
          <a:bodyPr wrap="none" lIns="0" rIns="0" tIns="0" bIns="0">
            <a:spAutoFit/>
          </a:bodyPr>
          <a:lstStyle/>
          <a:p>
            <a:r>
              <a:rPr sz="1150" b="0">
                <a:solidFill>
                  <a:srgbClr val="252423"/>
                </a:solidFill>
                <a:latin typeface="Segoe UI"/>
              </a:rPr>
              <a:t>US$ Mn (</a:t>
            </a:r>
          </a:p>
        </p:txBody>
      </p:sp>
      <p:pic>
        <p:nvPicPr>
          <p:cNvPr id="54" name="Picture 53" descr="lock.png"/>
          <p:cNvPicPr>
            <a:picLocks noChangeAspect="1"/>
          </p:cNvPicPr>
          <p:nvPr/>
        </p:nvPicPr>
        <p:blipFill>
          <a:blip r:embed="rId11"/>
          <a:stretch>
            <a:fillRect/>
          </a:stretch>
        </p:blipFill>
        <p:spPr>
          <a:xfrm>
            <a:off x="6238480" y="5980239"/>
            <a:ext cx="134549" cy="195707"/>
          </a:xfrm>
          <a:prstGeom prst="rect">
            <a:avLst/>
          </a:prstGeom>
        </p:spPr>
      </p:pic>
      <p:sp>
        <p:nvSpPr>
          <p:cNvPr id="55" name="TextBox 54"/>
          <p:cNvSpPr txBox="1"/>
          <p:nvPr/>
        </p:nvSpPr>
        <p:spPr>
          <a:xfrm>
            <a:off x="6413589" y="5990463"/>
            <a:ext cx="3049196" cy="194310"/>
          </a:xfrm>
          <a:prstGeom prst="rect">
            <a:avLst/>
          </a:prstGeom>
          <a:noFill/>
        </p:spPr>
        <p:txBody>
          <a:bodyPr wrap="none" lIns="0" rIns="0" tIns="0" bIns="0">
            <a:spAutoFit/>
          </a:bodyPr>
          <a:lstStyle/>
          <a:p>
            <a:r>
              <a:rPr sz="1150" b="0">
                <a:solidFill>
                  <a:srgbClr val="252423"/>
                </a:solidFill>
                <a:latin typeface="Segoe UI"/>
              </a:rPr>
              <a:t>share), ahead of 'Lithium Cobalt Oxide (LCO)' (</a:t>
            </a:r>
          </a:p>
        </p:txBody>
      </p:sp>
      <p:pic>
        <p:nvPicPr>
          <p:cNvPr id="56" name="Picture 55" descr="lock.png"/>
          <p:cNvPicPr>
            <a:picLocks noChangeAspect="1"/>
          </p:cNvPicPr>
          <p:nvPr/>
        </p:nvPicPr>
        <p:blipFill>
          <a:blip r:embed="rId11"/>
          <a:stretch>
            <a:fillRect/>
          </a:stretch>
        </p:blipFill>
        <p:spPr>
          <a:xfrm>
            <a:off x="9411940" y="5980239"/>
            <a:ext cx="134549" cy="195707"/>
          </a:xfrm>
          <a:prstGeom prst="rect">
            <a:avLst/>
          </a:prstGeom>
        </p:spPr>
      </p:pic>
      <p:sp>
        <p:nvSpPr>
          <p:cNvPr id="57" name="TextBox 56"/>
          <p:cNvSpPr txBox="1"/>
          <p:nvPr/>
        </p:nvSpPr>
        <p:spPr>
          <a:xfrm>
            <a:off x="9587049" y="5990463"/>
            <a:ext cx="662682" cy="194310"/>
          </a:xfrm>
          <a:prstGeom prst="rect">
            <a:avLst/>
          </a:prstGeom>
          <a:noFill/>
        </p:spPr>
        <p:txBody>
          <a:bodyPr wrap="none" lIns="0" rIns="0" tIns="0" bIns="0">
            <a:spAutoFit/>
          </a:bodyPr>
          <a:lstStyle/>
          <a:p>
            <a:r>
              <a:rPr sz="1150" b="0">
                <a:solidFill>
                  <a:srgbClr val="252423"/>
                </a:solidFill>
                <a:latin typeface="Segoe UI"/>
              </a:rPr>
              <a:t>US$ Mn).</a:t>
            </a:r>
          </a:p>
        </p:txBody>
      </p:sp>
      <p:sp>
        <p:nvSpPr>
          <p:cNvPr id="58" name="TextBox 57"/>
          <p:cNvSpPr txBox="1"/>
          <p:nvPr/>
        </p:nvSpPr>
        <p:spPr>
          <a:xfrm>
            <a:off x="276225" y="6218300"/>
            <a:ext cx="5258238" cy="194310"/>
          </a:xfrm>
          <a:prstGeom prst="rect">
            <a:avLst/>
          </a:prstGeom>
          <a:noFill/>
        </p:spPr>
        <p:txBody>
          <a:bodyPr wrap="none" lIns="0" rIns="0" tIns="0" bIns="0">
            <a:spAutoFit/>
          </a:bodyPr>
          <a:lstStyle/>
          <a:p>
            <a:r>
              <a:rPr sz="1150" b="0">
                <a:solidFill>
                  <a:srgbClr val="252423"/>
                </a:solidFill>
                <a:latin typeface="Segoe UI"/>
              </a:rPr>
              <a:t>▪ By Battery Configuration, 'Integrated Portable Energy Storage Systems' leads at</a:t>
            </a:r>
          </a:p>
        </p:txBody>
      </p:sp>
      <p:pic>
        <p:nvPicPr>
          <p:cNvPr id="59" name="Picture 58" descr="lock.png"/>
          <p:cNvPicPr>
            <a:picLocks noChangeAspect="1"/>
          </p:cNvPicPr>
          <p:nvPr/>
        </p:nvPicPr>
        <p:blipFill>
          <a:blip r:embed="rId11"/>
          <a:stretch>
            <a:fillRect/>
          </a:stretch>
        </p:blipFill>
        <p:spPr>
          <a:xfrm>
            <a:off x="5483617" y="6208077"/>
            <a:ext cx="134549" cy="195707"/>
          </a:xfrm>
          <a:prstGeom prst="rect">
            <a:avLst/>
          </a:prstGeom>
        </p:spPr>
      </p:pic>
      <p:sp>
        <p:nvSpPr>
          <p:cNvPr id="60" name="TextBox 59"/>
          <p:cNvSpPr txBox="1"/>
          <p:nvPr/>
        </p:nvSpPr>
        <p:spPr>
          <a:xfrm>
            <a:off x="5658726" y="6218300"/>
            <a:ext cx="670954" cy="194310"/>
          </a:xfrm>
          <a:prstGeom prst="rect">
            <a:avLst/>
          </a:prstGeom>
          <a:noFill/>
        </p:spPr>
        <p:txBody>
          <a:bodyPr wrap="none" lIns="0" rIns="0" tIns="0" bIns="0">
            <a:spAutoFit/>
          </a:bodyPr>
          <a:lstStyle/>
          <a:p>
            <a:r>
              <a:rPr sz="1150" b="0">
                <a:solidFill>
                  <a:srgbClr val="252423"/>
                </a:solidFill>
                <a:latin typeface="Segoe UI"/>
              </a:rPr>
              <a:t>US$ Mn (</a:t>
            </a:r>
          </a:p>
        </p:txBody>
      </p:sp>
      <p:pic>
        <p:nvPicPr>
          <p:cNvPr id="61" name="Picture 60" descr="lock.png"/>
          <p:cNvPicPr>
            <a:picLocks noChangeAspect="1"/>
          </p:cNvPicPr>
          <p:nvPr/>
        </p:nvPicPr>
        <p:blipFill>
          <a:blip r:embed="rId11"/>
          <a:stretch>
            <a:fillRect/>
          </a:stretch>
        </p:blipFill>
        <p:spPr>
          <a:xfrm>
            <a:off x="6278834" y="6208077"/>
            <a:ext cx="134549" cy="195707"/>
          </a:xfrm>
          <a:prstGeom prst="rect">
            <a:avLst/>
          </a:prstGeom>
        </p:spPr>
      </p:pic>
      <p:sp>
        <p:nvSpPr>
          <p:cNvPr id="62" name="TextBox 61"/>
          <p:cNvSpPr txBox="1"/>
          <p:nvPr/>
        </p:nvSpPr>
        <p:spPr>
          <a:xfrm>
            <a:off x="6453944" y="6218300"/>
            <a:ext cx="2914052" cy="194310"/>
          </a:xfrm>
          <a:prstGeom prst="rect">
            <a:avLst/>
          </a:prstGeom>
          <a:noFill/>
        </p:spPr>
        <p:txBody>
          <a:bodyPr wrap="none" lIns="0" rIns="0" tIns="0" bIns="0">
            <a:spAutoFit/>
          </a:bodyPr>
          <a:lstStyle/>
          <a:p>
            <a:r>
              <a:rPr sz="1150" b="0">
                <a:solidFill>
                  <a:srgbClr val="252423"/>
                </a:solidFill>
                <a:latin typeface="Segoe UI"/>
              </a:rPr>
              <a:t>share), ahead of 'Standalone Battery Packs' (</a:t>
            </a:r>
          </a:p>
        </p:txBody>
      </p:sp>
      <p:pic>
        <p:nvPicPr>
          <p:cNvPr id="63" name="Picture 62" descr="lock.png"/>
          <p:cNvPicPr>
            <a:picLocks noChangeAspect="1"/>
          </p:cNvPicPr>
          <p:nvPr/>
        </p:nvPicPr>
        <p:blipFill>
          <a:blip r:embed="rId11"/>
          <a:stretch>
            <a:fillRect/>
          </a:stretch>
        </p:blipFill>
        <p:spPr>
          <a:xfrm>
            <a:off x="9317151" y="6208077"/>
            <a:ext cx="134549" cy="195707"/>
          </a:xfrm>
          <a:prstGeom prst="rect">
            <a:avLst/>
          </a:prstGeom>
        </p:spPr>
      </p:pic>
      <p:sp>
        <p:nvSpPr>
          <p:cNvPr id="64" name="TextBox 63"/>
          <p:cNvSpPr txBox="1"/>
          <p:nvPr/>
        </p:nvSpPr>
        <p:spPr>
          <a:xfrm>
            <a:off x="9492260" y="6218300"/>
            <a:ext cx="662682" cy="194310"/>
          </a:xfrm>
          <a:prstGeom prst="rect">
            <a:avLst/>
          </a:prstGeom>
          <a:noFill/>
        </p:spPr>
        <p:txBody>
          <a:bodyPr wrap="none" lIns="0" rIns="0" tIns="0" bIns="0">
            <a:spAutoFit/>
          </a:bodyPr>
          <a:lstStyle/>
          <a:p>
            <a:r>
              <a:rPr sz="1150" b="0">
                <a:solidFill>
                  <a:srgbClr val="252423"/>
                </a:solidFill>
                <a:latin typeface="Segoe UI"/>
              </a:rPr>
              <a:t>US$ Mn).</a:t>
            </a:r>
          </a:p>
        </p:txBody>
      </p:sp>
      <p:sp>
        <p:nvSpPr>
          <p:cNvPr id="65" name="lockshield_10"/>
          <p:cNvSpPr/>
          <p:nvPr/>
        </p:nvSpPr>
        <p:spPr>
          <a:xfrm>
            <a:off x="2381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3"/>
          <p:cNvSpPr/>
          <p:nvPr/>
        </p:nvSpPr>
        <p:spPr>
          <a:xfrm>
            <a:off x="32480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6"/>
          <p:cNvSpPr/>
          <p:nvPr/>
        </p:nvSpPr>
        <p:spPr>
          <a:xfrm>
            <a:off x="62579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92678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2"/>
          <p:cNvSpPr/>
          <p:nvPr/>
        </p:nvSpPr>
        <p:spPr>
          <a:xfrm>
            <a:off x="238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5"/>
          <p:cNvSpPr/>
          <p:nvPr/>
        </p:nvSpPr>
        <p:spPr>
          <a:xfrm>
            <a:off x="3286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28"/>
          <p:cNvSpPr/>
          <p:nvPr/>
        </p:nvSpPr>
        <p:spPr>
          <a:xfrm>
            <a:off x="6334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Key Segments Overview, By Value (2026)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United States's key segments by value, highlighting the leading sub-segment of every segmentation</a:t>
            </a:r>
          </a:p>
        </p:txBody>
      </p:sp>
      <p:sp>
        <p:nvSpPr>
          <p:cNvPr id="8" name="Rectangle 7"/>
          <p:cNvSpPr/>
          <p:nvPr/>
        </p:nvSpPr>
        <p:spPr>
          <a:xfrm>
            <a:off x="142875" y="981075"/>
            <a:ext cx="11906250" cy="1771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285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3" name="TextBox 12"/>
          <p:cNvSpPr txBox="1"/>
          <p:nvPr/>
        </p:nvSpPr>
        <p:spPr>
          <a:xfrm>
            <a:off x="276225" y="1076325"/>
            <a:ext cx="1640904" cy="161696"/>
          </a:xfrm>
          <a:prstGeom prst="rect">
            <a:avLst/>
          </a:prstGeom>
          <a:noFill/>
        </p:spPr>
        <p:txBody>
          <a:bodyPr wrap="none" lIns="0" rIns="0" tIns="0" bIns="0">
            <a:spAutoFit/>
          </a:bodyPr>
          <a:lstStyle/>
          <a:p>
            <a:r>
              <a:rPr sz="935" b="1">
                <a:solidFill>
                  <a:srgbClr val="007BA5"/>
                </a:solidFill>
                <a:latin typeface="Segoe UI"/>
              </a:rPr>
              <a:t>Key Takeaways · 2026 Total:</a:t>
            </a:r>
          </a:p>
        </p:txBody>
      </p:sp>
      <p:pic>
        <p:nvPicPr>
          <p:cNvPr id="14" name="Picture 13" descr="lock.png"/>
          <p:cNvPicPr>
            <a:picLocks noChangeAspect="1"/>
          </p:cNvPicPr>
          <p:nvPr/>
        </p:nvPicPr>
        <p:blipFill>
          <a:blip r:embed="rId4"/>
          <a:stretch>
            <a:fillRect/>
          </a:stretch>
        </p:blipFill>
        <p:spPr>
          <a:xfrm>
            <a:off x="1861565" y="1068003"/>
            <a:ext cx="109510" cy="159288"/>
          </a:xfrm>
          <a:prstGeom prst="rect">
            <a:avLst/>
          </a:prstGeom>
        </p:spPr>
      </p:pic>
      <p:sp>
        <p:nvSpPr>
          <p:cNvPr id="15" name="TextBox 14"/>
          <p:cNvSpPr txBox="1"/>
          <p:nvPr/>
        </p:nvSpPr>
        <p:spPr>
          <a:xfrm>
            <a:off x="2004088" y="1076325"/>
            <a:ext cx="515701" cy="161696"/>
          </a:xfrm>
          <a:prstGeom prst="rect">
            <a:avLst/>
          </a:prstGeom>
          <a:noFill/>
        </p:spPr>
        <p:txBody>
          <a:bodyPr wrap="none" lIns="0" rIns="0" tIns="0" bIns="0">
            <a:spAutoFit/>
          </a:bodyPr>
          <a:lstStyle/>
          <a:p>
            <a:r>
              <a:rPr sz="935" b="1">
                <a:solidFill>
                  <a:srgbClr val="007BA5"/>
                </a:solidFill>
                <a:latin typeface="Segoe UI"/>
              </a:rPr>
              <a:t>US$ Mn</a:t>
            </a:r>
          </a:p>
        </p:txBody>
      </p:sp>
      <p:sp>
        <p:nvSpPr>
          <p:cNvPr id="16" name="TextBox 15"/>
          <p:cNvSpPr txBox="1"/>
          <p:nvPr/>
        </p:nvSpPr>
        <p:spPr>
          <a:xfrm>
            <a:off x="276225" y="1400175"/>
            <a:ext cx="4771186" cy="186689"/>
          </a:xfrm>
          <a:prstGeom prst="rect">
            <a:avLst/>
          </a:prstGeom>
          <a:noFill/>
        </p:spPr>
        <p:txBody>
          <a:bodyPr wrap="none" lIns="0" rIns="0" tIns="0" bIns="0">
            <a:spAutoFit/>
          </a:bodyPr>
          <a:lstStyle/>
          <a:p>
            <a:r>
              <a:rPr sz="1100" b="0">
                <a:solidFill>
                  <a:srgbClr val="252423"/>
                </a:solidFill>
                <a:latin typeface="Segoe UI"/>
              </a:rPr>
              <a:t>▪ By System Application, 'Professional &amp; Specialized Portable Power' leads at</a:t>
            </a:r>
          </a:p>
        </p:txBody>
      </p:sp>
      <p:pic>
        <p:nvPicPr>
          <p:cNvPr id="17" name="Picture 16" descr="lock.png"/>
          <p:cNvPicPr>
            <a:picLocks noChangeAspect="1"/>
          </p:cNvPicPr>
          <p:nvPr/>
        </p:nvPicPr>
        <p:blipFill>
          <a:blip r:embed="rId4"/>
          <a:stretch>
            <a:fillRect/>
          </a:stretch>
        </p:blipFill>
        <p:spPr>
          <a:xfrm>
            <a:off x="4995463" y="1390396"/>
            <a:ext cx="128699" cy="187198"/>
          </a:xfrm>
          <a:prstGeom prst="rect">
            <a:avLst/>
          </a:prstGeom>
        </p:spPr>
      </p:pic>
      <p:sp>
        <p:nvSpPr>
          <p:cNvPr id="18" name="TextBox 17"/>
          <p:cNvSpPr txBox="1"/>
          <p:nvPr/>
        </p:nvSpPr>
        <p:spPr>
          <a:xfrm>
            <a:off x="5162959" y="1400175"/>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19" name="Picture 18" descr="lock.png"/>
          <p:cNvPicPr>
            <a:picLocks noChangeAspect="1"/>
          </p:cNvPicPr>
          <p:nvPr/>
        </p:nvPicPr>
        <p:blipFill>
          <a:blip r:embed="rId4"/>
          <a:stretch>
            <a:fillRect/>
          </a:stretch>
        </p:blipFill>
        <p:spPr>
          <a:xfrm>
            <a:off x="5756106" y="1390396"/>
            <a:ext cx="128699" cy="187198"/>
          </a:xfrm>
          <a:prstGeom prst="rect">
            <a:avLst/>
          </a:prstGeom>
        </p:spPr>
      </p:pic>
      <p:sp>
        <p:nvSpPr>
          <p:cNvPr id="20" name="TextBox 19"/>
          <p:cNvSpPr txBox="1"/>
          <p:nvPr/>
        </p:nvSpPr>
        <p:spPr>
          <a:xfrm>
            <a:off x="5923602" y="1400175"/>
            <a:ext cx="3139227" cy="186689"/>
          </a:xfrm>
          <a:prstGeom prst="rect">
            <a:avLst/>
          </a:prstGeom>
          <a:noFill/>
        </p:spPr>
        <p:txBody>
          <a:bodyPr wrap="none" lIns="0" rIns="0" tIns="0" bIns="0">
            <a:spAutoFit/>
          </a:bodyPr>
          <a:lstStyle/>
          <a:p>
            <a:r>
              <a:rPr sz="1100" b="0">
                <a:solidFill>
                  <a:srgbClr val="252423"/>
                </a:solidFill>
                <a:latin typeface="Segoe UI"/>
              </a:rPr>
              <a:t>share), ahead of 'Outdoor &amp; Recreational Power' (</a:t>
            </a:r>
          </a:p>
        </p:txBody>
      </p:sp>
      <p:pic>
        <p:nvPicPr>
          <p:cNvPr id="21" name="Picture 20" descr="lock.png"/>
          <p:cNvPicPr>
            <a:picLocks noChangeAspect="1"/>
          </p:cNvPicPr>
          <p:nvPr/>
        </p:nvPicPr>
        <p:blipFill>
          <a:blip r:embed="rId4"/>
          <a:stretch>
            <a:fillRect/>
          </a:stretch>
        </p:blipFill>
        <p:spPr>
          <a:xfrm>
            <a:off x="9010880" y="1390396"/>
            <a:ext cx="128699" cy="187198"/>
          </a:xfrm>
          <a:prstGeom prst="rect">
            <a:avLst/>
          </a:prstGeom>
        </p:spPr>
      </p:pic>
      <p:sp>
        <p:nvSpPr>
          <p:cNvPr id="22" name="TextBox 21"/>
          <p:cNvSpPr txBox="1"/>
          <p:nvPr/>
        </p:nvSpPr>
        <p:spPr>
          <a:xfrm>
            <a:off x="9178376" y="1400175"/>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23" name="TextBox 22"/>
          <p:cNvSpPr txBox="1"/>
          <p:nvPr/>
        </p:nvSpPr>
        <p:spPr>
          <a:xfrm>
            <a:off x="276225" y="1618107"/>
            <a:ext cx="3909112" cy="186689"/>
          </a:xfrm>
          <a:prstGeom prst="rect">
            <a:avLst/>
          </a:prstGeom>
          <a:noFill/>
        </p:spPr>
        <p:txBody>
          <a:bodyPr wrap="none" lIns="0" rIns="0" tIns="0" bIns="0">
            <a:spAutoFit/>
          </a:bodyPr>
          <a:lstStyle/>
          <a:p>
            <a:r>
              <a:rPr sz="1100" b="0">
                <a:solidFill>
                  <a:srgbClr val="252423"/>
                </a:solidFill>
                <a:latin typeface="Segoe UI"/>
              </a:rPr>
              <a:t>▪ By Output Power Rating, '1,000 W to Below 2,000 W' leads at</a:t>
            </a:r>
          </a:p>
        </p:txBody>
      </p:sp>
      <p:pic>
        <p:nvPicPr>
          <p:cNvPr id="24" name="Picture 23" descr="lock.png"/>
          <p:cNvPicPr>
            <a:picLocks noChangeAspect="1"/>
          </p:cNvPicPr>
          <p:nvPr/>
        </p:nvPicPr>
        <p:blipFill>
          <a:blip r:embed="rId4"/>
          <a:stretch>
            <a:fillRect/>
          </a:stretch>
        </p:blipFill>
        <p:spPr>
          <a:xfrm>
            <a:off x="4133388" y="1608328"/>
            <a:ext cx="128699" cy="187198"/>
          </a:xfrm>
          <a:prstGeom prst="rect">
            <a:avLst/>
          </a:prstGeom>
        </p:spPr>
      </p:pic>
      <p:sp>
        <p:nvSpPr>
          <p:cNvPr id="25" name="TextBox 24"/>
          <p:cNvSpPr txBox="1"/>
          <p:nvPr/>
        </p:nvSpPr>
        <p:spPr>
          <a:xfrm>
            <a:off x="4300884" y="1618107"/>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26" name="Picture 25" descr="lock.png"/>
          <p:cNvPicPr>
            <a:picLocks noChangeAspect="1"/>
          </p:cNvPicPr>
          <p:nvPr/>
        </p:nvPicPr>
        <p:blipFill>
          <a:blip r:embed="rId4"/>
          <a:stretch>
            <a:fillRect/>
          </a:stretch>
        </p:blipFill>
        <p:spPr>
          <a:xfrm>
            <a:off x="4894031" y="1608328"/>
            <a:ext cx="128699" cy="187198"/>
          </a:xfrm>
          <a:prstGeom prst="rect">
            <a:avLst/>
          </a:prstGeom>
        </p:spPr>
      </p:pic>
      <p:sp>
        <p:nvSpPr>
          <p:cNvPr id="27" name="TextBox 26"/>
          <p:cNvSpPr txBox="1"/>
          <p:nvPr/>
        </p:nvSpPr>
        <p:spPr>
          <a:xfrm>
            <a:off x="5061527" y="1618107"/>
            <a:ext cx="2445178" cy="186689"/>
          </a:xfrm>
          <a:prstGeom prst="rect">
            <a:avLst/>
          </a:prstGeom>
          <a:noFill/>
        </p:spPr>
        <p:txBody>
          <a:bodyPr wrap="none" lIns="0" rIns="0" tIns="0" bIns="0">
            <a:spAutoFit/>
          </a:bodyPr>
          <a:lstStyle/>
          <a:p>
            <a:r>
              <a:rPr sz="1100" b="0">
                <a:solidFill>
                  <a:srgbClr val="252423"/>
                </a:solidFill>
                <a:latin typeface="Segoe UI"/>
              </a:rPr>
              <a:t>share), ahead of '2,000 W and Above' (</a:t>
            </a:r>
          </a:p>
        </p:txBody>
      </p:sp>
      <p:pic>
        <p:nvPicPr>
          <p:cNvPr id="28" name="Picture 27" descr="lock.png"/>
          <p:cNvPicPr>
            <a:picLocks noChangeAspect="1"/>
          </p:cNvPicPr>
          <p:nvPr/>
        </p:nvPicPr>
        <p:blipFill>
          <a:blip r:embed="rId4"/>
          <a:stretch>
            <a:fillRect/>
          </a:stretch>
        </p:blipFill>
        <p:spPr>
          <a:xfrm>
            <a:off x="7454757" y="1608328"/>
            <a:ext cx="128699" cy="187198"/>
          </a:xfrm>
          <a:prstGeom prst="rect">
            <a:avLst/>
          </a:prstGeom>
        </p:spPr>
      </p:pic>
      <p:sp>
        <p:nvSpPr>
          <p:cNvPr id="29" name="TextBox 28"/>
          <p:cNvSpPr txBox="1"/>
          <p:nvPr/>
        </p:nvSpPr>
        <p:spPr>
          <a:xfrm>
            <a:off x="7622253" y="1618107"/>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0" name="TextBox 29"/>
          <p:cNvSpPr txBox="1"/>
          <p:nvPr/>
        </p:nvSpPr>
        <p:spPr>
          <a:xfrm>
            <a:off x="276225" y="1836039"/>
            <a:ext cx="4151161" cy="186689"/>
          </a:xfrm>
          <a:prstGeom prst="rect">
            <a:avLst/>
          </a:prstGeom>
          <a:noFill/>
        </p:spPr>
        <p:txBody>
          <a:bodyPr wrap="none" lIns="0" rIns="0" tIns="0" bIns="0">
            <a:spAutoFit/>
          </a:bodyPr>
          <a:lstStyle/>
          <a:p>
            <a:r>
              <a:rPr sz="1100" b="0">
                <a:solidFill>
                  <a:srgbClr val="252423"/>
                </a:solidFill>
                <a:latin typeface="Segoe UI"/>
              </a:rPr>
              <a:t>▪ By System Architecture, 'AC/DC Portable Power Stations' leads at</a:t>
            </a:r>
          </a:p>
        </p:txBody>
      </p:sp>
      <p:pic>
        <p:nvPicPr>
          <p:cNvPr id="31" name="Picture 30" descr="lock.png"/>
          <p:cNvPicPr>
            <a:picLocks noChangeAspect="1"/>
          </p:cNvPicPr>
          <p:nvPr/>
        </p:nvPicPr>
        <p:blipFill>
          <a:blip r:embed="rId4"/>
          <a:stretch>
            <a:fillRect/>
          </a:stretch>
        </p:blipFill>
        <p:spPr>
          <a:xfrm>
            <a:off x="4375437" y="1826260"/>
            <a:ext cx="128699" cy="187198"/>
          </a:xfrm>
          <a:prstGeom prst="rect">
            <a:avLst/>
          </a:prstGeom>
        </p:spPr>
      </p:pic>
      <p:sp>
        <p:nvSpPr>
          <p:cNvPr id="32" name="TextBox 31"/>
          <p:cNvSpPr txBox="1"/>
          <p:nvPr/>
        </p:nvSpPr>
        <p:spPr>
          <a:xfrm>
            <a:off x="4542933" y="1836039"/>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33" name="Picture 32" descr="lock.png"/>
          <p:cNvPicPr>
            <a:picLocks noChangeAspect="1"/>
          </p:cNvPicPr>
          <p:nvPr/>
        </p:nvPicPr>
        <p:blipFill>
          <a:blip r:embed="rId4"/>
          <a:stretch>
            <a:fillRect/>
          </a:stretch>
        </p:blipFill>
        <p:spPr>
          <a:xfrm>
            <a:off x="5136080" y="1826260"/>
            <a:ext cx="128699" cy="187198"/>
          </a:xfrm>
          <a:prstGeom prst="rect">
            <a:avLst/>
          </a:prstGeom>
        </p:spPr>
      </p:pic>
      <p:sp>
        <p:nvSpPr>
          <p:cNvPr id="34" name="TextBox 33"/>
          <p:cNvSpPr txBox="1"/>
          <p:nvPr/>
        </p:nvSpPr>
        <p:spPr>
          <a:xfrm>
            <a:off x="5303576" y="1836039"/>
            <a:ext cx="3336422" cy="186689"/>
          </a:xfrm>
          <a:prstGeom prst="rect">
            <a:avLst/>
          </a:prstGeom>
          <a:noFill/>
        </p:spPr>
        <p:txBody>
          <a:bodyPr wrap="none" lIns="0" rIns="0" tIns="0" bIns="0">
            <a:spAutoFit/>
          </a:bodyPr>
          <a:lstStyle/>
          <a:p>
            <a:r>
              <a:rPr sz="1100" b="0">
                <a:solidFill>
                  <a:srgbClr val="252423"/>
                </a:solidFill>
                <a:latin typeface="Segoe UI"/>
              </a:rPr>
              <a:t>share), ahead of 'DC-Only Portable Battery Systems' (</a:t>
            </a:r>
          </a:p>
        </p:txBody>
      </p:sp>
      <p:pic>
        <p:nvPicPr>
          <p:cNvPr id="35" name="Picture 34" descr="lock.png"/>
          <p:cNvPicPr>
            <a:picLocks noChangeAspect="1"/>
          </p:cNvPicPr>
          <p:nvPr/>
        </p:nvPicPr>
        <p:blipFill>
          <a:blip r:embed="rId4"/>
          <a:stretch>
            <a:fillRect/>
          </a:stretch>
        </p:blipFill>
        <p:spPr>
          <a:xfrm>
            <a:off x="8588050" y="1826260"/>
            <a:ext cx="128699" cy="187198"/>
          </a:xfrm>
          <a:prstGeom prst="rect">
            <a:avLst/>
          </a:prstGeom>
        </p:spPr>
      </p:pic>
      <p:sp>
        <p:nvSpPr>
          <p:cNvPr id="36" name="TextBox 35"/>
          <p:cNvSpPr txBox="1"/>
          <p:nvPr/>
        </p:nvSpPr>
        <p:spPr>
          <a:xfrm>
            <a:off x="8755546" y="1836039"/>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7" name="TextBox 36"/>
          <p:cNvSpPr txBox="1"/>
          <p:nvPr/>
        </p:nvSpPr>
        <p:spPr>
          <a:xfrm>
            <a:off x="276225" y="2053970"/>
            <a:ext cx="3772153" cy="186689"/>
          </a:xfrm>
          <a:prstGeom prst="rect">
            <a:avLst/>
          </a:prstGeom>
          <a:noFill/>
        </p:spPr>
        <p:txBody>
          <a:bodyPr wrap="none" lIns="0" rIns="0" tIns="0" bIns="0">
            <a:spAutoFit/>
          </a:bodyPr>
          <a:lstStyle/>
          <a:p>
            <a:r>
              <a:rPr sz="1100" b="0">
                <a:solidFill>
                  <a:srgbClr val="252423"/>
                </a:solidFill>
                <a:latin typeface="Segoe UI"/>
              </a:rPr>
              <a:t>▪ By Distribution Channel, 'Online Third-Party Retail' leads at</a:t>
            </a:r>
          </a:p>
        </p:txBody>
      </p:sp>
      <p:pic>
        <p:nvPicPr>
          <p:cNvPr id="38" name="Picture 37" descr="lock.png"/>
          <p:cNvPicPr>
            <a:picLocks noChangeAspect="1"/>
          </p:cNvPicPr>
          <p:nvPr/>
        </p:nvPicPr>
        <p:blipFill>
          <a:blip r:embed="rId4"/>
          <a:stretch>
            <a:fillRect/>
          </a:stretch>
        </p:blipFill>
        <p:spPr>
          <a:xfrm>
            <a:off x="3996430" y="2044192"/>
            <a:ext cx="128699" cy="187198"/>
          </a:xfrm>
          <a:prstGeom prst="rect">
            <a:avLst/>
          </a:prstGeom>
        </p:spPr>
      </p:pic>
      <p:sp>
        <p:nvSpPr>
          <p:cNvPr id="39" name="TextBox 38"/>
          <p:cNvSpPr txBox="1"/>
          <p:nvPr/>
        </p:nvSpPr>
        <p:spPr>
          <a:xfrm>
            <a:off x="4163925" y="2053970"/>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40" name="Picture 39" descr="lock.png"/>
          <p:cNvPicPr>
            <a:picLocks noChangeAspect="1"/>
          </p:cNvPicPr>
          <p:nvPr/>
        </p:nvPicPr>
        <p:blipFill>
          <a:blip r:embed="rId4"/>
          <a:stretch>
            <a:fillRect/>
          </a:stretch>
        </p:blipFill>
        <p:spPr>
          <a:xfrm>
            <a:off x="4757072" y="2044192"/>
            <a:ext cx="128699" cy="187198"/>
          </a:xfrm>
          <a:prstGeom prst="rect">
            <a:avLst/>
          </a:prstGeom>
        </p:spPr>
      </p:pic>
      <p:sp>
        <p:nvSpPr>
          <p:cNvPr id="41" name="TextBox 40"/>
          <p:cNvSpPr txBox="1"/>
          <p:nvPr/>
        </p:nvSpPr>
        <p:spPr>
          <a:xfrm>
            <a:off x="4924568" y="2053970"/>
            <a:ext cx="3093021" cy="186689"/>
          </a:xfrm>
          <a:prstGeom prst="rect">
            <a:avLst/>
          </a:prstGeom>
          <a:noFill/>
        </p:spPr>
        <p:txBody>
          <a:bodyPr wrap="none" lIns="0" rIns="0" tIns="0" bIns="0">
            <a:spAutoFit/>
          </a:bodyPr>
          <a:lstStyle/>
          <a:p>
            <a:r>
              <a:rPr sz="1100" b="0">
                <a:solidFill>
                  <a:srgbClr val="252423"/>
                </a:solidFill>
                <a:latin typeface="Segoe UI"/>
              </a:rPr>
              <a:t>share), ahead of 'Direct B2B / Institutional Sales' (</a:t>
            </a:r>
          </a:p>
        </p:txBody>
      </p:sp>
      <p:pic>
        <p:nvPicPr>
          <p:cNvPr id="42" name="Picture 41" descr="lock.png"/>
          <p:cNvPicPr>
            <a:picLocks noChangeAspect="1"/>
          </p:cNvPicPr>
          <p:nvPr/>
        </p:nvPicPr>
        <p:blipFill>
          <a:blip r:embed="rId4"/>
          <a:stretch>
            <a:fillRect/>
          </a:stretch>
        </p:blipFill>
        <p:spPr>
          <a:xfrm>
            <a:off x="7965642" y="2044192"/>
            <a:ext cx="128699" cy="187198"/>
          </a:xfrm>
          <a:prstGeom prst="rect">
            <a:avLst/>
          </a:prstGeom>
        </p:spPr>
      </p:pic>
      <p:sp>
        <p:nvSpPr>
          <p:cNvPr id="43" name="TextBox 42"/>
          <p:cNvSpPr txBox="1"/>
          <p:nvPr/>
        </p:nvSpPr>
        <p:spPr>
          <a:xfrm>
            <a:off x="8133137" y="2053970"/>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4" name="TextBox 43"/>
          <p:cNvSpPr txBox="1"/>
          <p:nvPr/>
        </p:nvSpPr>
        <p:spPr>
          <a:xfrm>
            <a:off x="276225" y="2271903"/>
            <a:ext cx="7218733" cy="186689"/>
          </a:xfrm>
          <a:prstGeom prst="rect">
            <a:avLst/>
          </a:prstGeom>
          <a:noFill/>
        </p:spPr>
        <p:txBody>
          <a:bodyPr wrap="none" lIns="0" rIns="0" tIns="0" bIns="0">
            <a:spAutoFit/>
          </a:bodyPr>
          <a:lstStyle/>
          <a:p>
            <a:r>
              <a:rPr sz="1100" b="0">
                <a:solidFill>
                  <a:srgbClr val="252423"/>
                </a:solidFill>
                <a:latin typeface="Segoe UI"/>
              </a:rPr>
              <a:t>▪ Use the Country slicer in the top band to switch country the selection stays synced across every page of the report.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308225"/>
            <a:ext cx="8572500" cy="514350"/>
          </a:xfrm>
          <a:prstGeom prst="rect">
            <a:avLst/>
          </a:prstGeom>
          <a:noFill/>
        </p:spPr>
        <p:txBody>
          <a:bodyPr wrap="square" lIns="0" rIns="0" tIns="0">
            <a:spAutoFit/>
          </a:bodyPr>
          <a:lstStyle/>
          <a:p>
            <a:r>
              <a:rPr sz="3000" b="1">
                <a:solidFill>
                  <a:srgbClr val="00526E"/>
                </a:solidFill>
                <a:latin typeface="Calibri"/>
              </a:rPr>
              <a:t>Segment Overview (Volume &amp; Value)</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Energy Storage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Battery Chemistry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Battery Configuration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System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Output Power Rating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Distribution Channel</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Energy Storage Capacity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Energy Storage Capacity: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Energy Storage Capacity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Energy Storage Capacity</a:t>
            </a:r>
          </a:p>
        </p:txBody>
      </p:sp>
      <p:graphicFrame>
        <p:nvGraphicFramePr>
          <p:cNvPr id="13" name="Table 12"/>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199370"/>
                <a:gridCol w="912076"/>
                <a:gridCol w="912076"/>
                <a:gridCol w="1166772"/>
                <a:gridCol w="667580"/>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679958">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679958">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Energy Storage Capacity (US$ Mn), between 2026–2036</a:t>
            </a:r>
          </a:p>
        </p:txBody>
      </p:sp>
      <p:graphicFrame>
        <p:nvGraphicFramePr>
          <p:cNvPr id="17" name="Chart 16"/>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Energy Storage Capacity</a:t>
            </a:r>
          </a:p>
        </p:txBody>
      </p:sp>
      <p:graphicFrame>
        <p:nvGraphicFramePr>
          <p:cNvPr id="20" name="Table 19"/>
          <p:cNvGraphicFramePr>
            <a:graphicFrameLocks noGrp="1"/>
          </p:cNvGraphicFramePr>
          <p:nvPr/>
        </p:nvGraphicFramePr>
        <p:xfrm>
          <a:off x="6181725" y="4124325"/>
          <a:ext cx="5857874" cy="2286000"/>
        </p:xfrm>
        <a:graphic>
          <a:graphicData uri="http://schemas.openxmlformats.org/drawingml/2006/table">
            <a:tbl>
              <a:tblPr>
                <a:tableStyleId>{5C22544A-7EE6-4342-B048-85BDC9FD1C3A}</a:tableStyleId>
              </a:tblPr>
              <a:tblGrid>
                <a:gridCol w="2199370"/>
                <a:gridCol w="912076"/>
                <a:gridCol w="912076"/>
                <a:gridCol w="1166772"/>
                <a:gridCol w="667580"/>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679958">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679958">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023657"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6"/>
          <a:stretch>
            <a:fillRect/>
          </a:stretch>
        </p:blipFill>
        <p:spPr>
          <a:xfrm>
            <a:off x="10023657" y="5123688"/>
            <a:ext cx="366712" cy="53340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Energy Storage Capacity, 2021–2036</a:t>
            </a:r>
          </a:p>
        </p:txBody>
      </p:sp>
      <p:sp>
        <p:nvSpPr>
          <p:cNvPr id="8" name="Rectangle 7"/>
          <p:cNvSpPr/>
          <p:nvPr/>
        </p:nvSpPr>
        <p:spPr>
          <a:xfrm>
            <a:off x="142875" y="981075"/>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Energy Storage Capacity (Thousand Units)</a:t>
            </a:r>
          </a:p>
        </p:txBody>
      </p:sp>
      <p:graphicFrame>
        <p:nvGraphicFramePr>
          <p:cNvPr id="10" name="Table 9"/>
          <p:cNvGraphicFramePr>
            <a:graphicFrameLocks noGrp="1"/>
          </p:cNvGraphicFramePr>
          <p:nvPr/>
        </p:nvGraphicFramePr>
        <p:xfrm>
          <a:off x="152400" y="1238250"/>
          <a:ext cx="11887196" cy="1238250"/>
        </p:xfrm>
        <a:graphic>
          <a:graphicData uri="http://schemas.openxmlformats.org/drawingml/2006/table">
            <a:tbl>
              <a:tblPr>
                <a:tableStyleId>{5C22544A-7EE6-4342-B048-85BDC9FD1C3A}</a:tableStyleId>
              </a:tblPr>
              <a:tblGrid>
                <a:gridCol w="2230127"/>
                <a:gridCol w="579389"/>
                <a:gridCol w="579389"/>
                <a:gridCol w="579389"/>
                <a:gridCol w="579389"/>
                <a:gridCol w="579389"/>
                <a:gridCol w="553019"/>
                <a:gridCol w="553019"/>
                <a:gridCol w="553019"/>
                <a:gridCol w="553019"/>
                <a:gridCol w="553019"/>
                <a:gridCol w="553019"/>
                <a:gridCol w="553019"/>
                <a:gridCol w="553019"/>
                <a:gridCol w="553019"/>
                <a:gridCol w="553019"/>
                <a:gridCol w="553019"/>
                <a:gridCol w="676915"/>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819400"/>
            <a:ext cx="119062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287655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Energy Storage Capacity (US$ Mn)</a:t>
            </a:r>
          </a:p>
        </p:txBody>
      </p:sp>
      <p:graphicFrame>
        <p:nvGraphicFramePr>
          <p:cNvPr id="14" name="Table 13"/>
          <p:cNvGraphicFramePr>
            <a:graphicFrameLocks noGrp="1"/>
          </p:cNvGraphicFramePr>
          <p:nvPr/>
        </p:nvGraphicFramePr>
        <p:xfrm>
          <a:off x="152400" y="3076575"/>
          <a:ext cx="11887196" cy="1238250"/>
        </p:xfrm>
        <a:graphic>
          <a:graphicData uri="http://schemas.openxmlformats.org/drawingml/2006/table">
            <a:tbl>
              <a:tblPr>
                <a:tableStyleId>{5C22544A-7EE6-4342-B048-85BDC9FD1C3A}</a:tableStyleId>
              </a:tblPr>
              <a:tblGrid>
                <a:gridCol w="2230127"/>
                <a:gridCol w="579389"/>
                <a:gridCol w="579389"/>
                <a:gridCol w="579389"/>
                <a:gridCol w="579389"/>
                <a:gridCol w="579389"/>
                <a:gridCol w="553019"/>
                <a:gridCol w="553019"/>
                <a:gridCol w="553019"/>
                <a:gridCol w="553019"/>
                <a:gridCol w="553019"/>
                <a:gridCol w="553019"/>
                <a:gridCol w="553019"/>
                <a:gridCol w="553019"/>
                <a:gridCol w="553019"/>
                <a:gridCol w="553019"/>
                <a:gridCol w="553019"/>
                <a:gridCol w="676915"/>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031">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031">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43243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024371" y="1713738"/>
            <a:ext cx="366712" cy="533400"/>
          </a:xfrm>
          <a:prstGeom prst="rect">
            <a:avLst/>
          </a:prstGeom>
        </p:spPr>
      </p:pic>
      <p:pic>
        <p:nvPicPr>
          <p:cNvPr id="18" name="Picture 17" descr="lock.png"/>
          <p:cNvPicPr>
            <a:picLocks noChangeAspect="1"/>
          </p:cNvPicPr>
          <p:nvPr/>
        </p:nvPicPr>
        <p:blipFill>
          <a:blip r:embed="rId4"/>
          <a:stretch>
            <a:fillRect/>
          </a:stretch>
        </p:blipFill>
        <p:spPr>
          <a:xfrm>
            <a:off x="7024371" y="3552062"/>
            <a:ext cx="366712" cy="533400"/>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Battery Chemistry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Battery Chemistry: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Battery Chemistry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Battery Chemistry</a:t>
            </a:r>
          </a:p>
        </p:txBody>
      </p:sp>
      <p:graphicFrame>
        <p:nvGraphicFramePr>
          <p:cNvPr id="13" name="Table 12"/>
          <p:cNvGraphicFramePr>
            <a:graphicFrameLocks noGrp="1"/>
          </p:cNvGraphicFramePr>
          <p:nvPr/>
        </p:nvGraphicFramePr>
        <p:xfrm>
          <a:off x="6181725" y="1238250"/>
          <a:ext cx="5857875" cy="2285996"/>
        </p:xfrm>
        <a:graphic>
          <a:graphicData uri="http://schemas.openxmlformats.org/drawingml/2006/table">
            <a:tbl>
              <a:tblPr>
                <a:tableStyleId>{5C22544A-7EE6-4342-B048-85BDC9FD1C3A}</a:tableStyleId>
              </a:tblPr>
              <a:tblGrid>
                <a:gridCol w="2841898"/>
                <a:gridCol w="735007"/>
                <a:gridCol w="735007"/>
                <a:gridCol w="961952"/>
                <a:gridCol w="584011"/>
              </a:tblGrid>
              <a:tr h="438912">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Battery Chemistry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Battery Chemistry</a:t>
            </a:r>
          </a:p>
        </p:txBody>
      </p:sp>
      <p:graphicFrame>
        <p:nvGraphicFramePr>
          <p:cNvPr id="20" name="Table 19"/>
          <p:cNvGraphicFramePr>
            <a:graphicFrameLocks noGrp="1"/>
          </p:cNvGraphicFramePr>
          <p:nvPr/>
        </p:nvGraphicFramePr>
        <p:xfrm>
          <a:off x="6181725" y="4124325"/>
          <a:ext cx="5857875" cy="2285996"/>
        </p:xfrm>
        <a:graphic>
          <a:graphicData uri="http://schemas.openxmlformats.org/drawingml/2006/table">
            <a:tbl>
              <a:tblPr>
                <a:tableStyleId>{5C22544A-7EE6-4342-B048-85BDC9FD1C3A}</a:tableStyleId>
              </a:tblPr>
              <a:tblGrid>
                <a:gridCol w="2841898"/>
                <a:gridCol w="735007"/>
                <a:gridCol w="735007"/>
                <a:gridCol w="961952"/>
                <a:gridCol w="584011"/>
              </a:tblGrid>
              <a:tr h="438912">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360611" y="2356420"/>
            <a:ext cx="335893" cy="488571"/>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360611" y="5242495"/>
            <a:ext cx="335893" cy="488571"/>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Battery Chemistry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Battery Chemistry, 2021–2036</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Battery Chemistry (Thousand Units)</a:t>
            </a:r>
          </a:p>
        </p:txBody>
      </p:sp>
      <p:graphicFrame>
        <p:nvGraphicFramePr>
          <p:cNvPr id="10" name="Table 9"/>
          <p:cNvGraphicFramePr>
            <a:graphicFrameLocks noGrp="1"/>
          </p:cNvGraphicFramePr>
          <p:nvPr/>
        </p:nvGraphicFramePr>
        <p:xfrm>
          <a:off x="152400" y="1238250"/>
          <a:ext cx="11887201" cy="1676401"/>
        </p:xfrm>
        <a:graphic>
          <a:graphicData uri="http://schemas.openxmlformats.org/drawingml/2006/table">
            <a:tbl>
              <a:tblPr>
                <a:tableStyleId>{5C22544A-7EE6-4342-B048-85BDC9FD1C3A}</a:tableStyleId>
              </a:tblPr>
              <a:tblGrid>
                <a:gridCol w="2857058"/>
                <a:gridCol w="541775"/>
                <a:gridCol w="541775"/>
                <a:gridCol w="541775"/>
                <a:gridCol w="541775"/>
                <a:gridCol w="541775"/>
                <a:gridCol w="517118"/>
                <a:gridCol w="517118"/>
                <a:gridCol w="517118"/>
                <a:gridCol w="517118"/>
                <a:gridCol w="517118"/>
                <a:gridCol w="517118"/>
                <a:gridCol w="517118"/>
                <a:gridCol w="517118"/>
                <a:gridCol w="517118"/>
                <a:gridCol w="517118"/>
                <a:gridCol w="517118"/>
                <a:gridCol w="632970"/>
              </a:tblGrid>
              <a:tr h="246126">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86055">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3147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Battery Chemistry (US$ Mn)</a:t>
            </a:r>
          </a:p>
        </p:txBody>
      </p:sp>
      <p:graphicFrame>
        <p:nvGraphicFramePr>
          <p:cNvPr id="14" name="Table 13"/>
          <p:cNvGraphicFramePr>
            <a:graphicFrameLocks noGrp="1"/>
          </p:cNvGraphicFramePr>
          <p:nvPr/>
        </p:nvGraphicFramePr>
        <p:xfrm>
          <a:off x="152400" y="3514725"/>
          <a:ext cx="11887201" cy="1676401"/>
        </p:xfrm>
        <a:graphic>
          <a:graphicData uri="http://schemas.openxmlformats.org/drawingml/2006/table">
            <a:tbl>
              <a:tblPr>
                <a:tableStyleId>{5C22544A-7EE6-4342-B048-85BDC9FD1C3A}</a:tableStyleId>
              </a:tblPr>
              <a:tblGrid>
                <a:gridCol w="2857058"/>
                <a:gridCol w="541775"/>
                <a:gridCol w="541775"/>
                <a:gridCol w="541775"/>
                <a:gridCol w="541775"/>
                <a:gridCol w="541775"/>
                <a:gridCol w="517118"/>
                <a:gridCol w="517118"/>
                <a:gridCol w="517118"/>
                <a:gridCol w="517118"/>
                <a:gridCol w="517118"/>
                <a:gridCol w="517118"/>
                <a:gridCol w="517118"/>
                <a:gridCol w="517118"/>
                <a:gridCol w="517118"/>
                <a:gridCol w="517118"/>
                <a:gridCol w="517118"/>
                <a:gridCol w="632970"/>
              </a:tblGrid>
              <a:tr h="246126">
                <a:tc>
                  <a:txBody>
                    <a:bodyPr wrap="none"/>
                    <a:lstStyle/>
                    <a:p>
                      <a:pPr algn="l"/>
                      <a:r>
                        <a:rPr sz="1100" b="1">
                          <a:solidFill>
                            <a:srgbClr val="FFFFFF"/>
                          </a:solidFill>
                          <a:latin typeface="Segoe UI"/>
                        </a:rPr>
                        <a:t>Battery Chemistry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86055">
                <a:tc>
                  <a:txBody>
                    <a:bodyPr wrap="none"/>
                    <a:lstStyle/>
                    <a:p>
                      <a:pPr algn="l"/>
                      <a:r>
                        <a:rPr sz="1100" b="1">
                          <a:solidFill>
                            <a:srgbClr val="252423"/>
                          </a:solidFill>
                          <a:latin typeface="Segoe UI"/>
                        </a:rPr>
                        <a:t>Lithium Cobalt Oxide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Lithium Nickel Manganese Cobalt Oxide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Lithium Iron Phosphate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52423"/>
                          </a:solidFill>
                          <a:latin typeface="Segoe UI"/>
                        </a:rPr>
                        <a:t>Other Lithium-Ion Cathode Chemistries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605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52006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37839" y="1932813"/>
            <a:ext cx="366712" cy="533400"/>
          </a:xfrm>
          <a:prstGeom prst="rect">
            <a:avLst/>
          </a:prstGeom>
        </p:spPr>
      </p:pic>
      <p:pic>
        <p:nvPicPr>
          <p:cNvPr id="18" name="Picture 17" descr="lock.png"/>
          <p:cNvPicPr>
            <a:picLocks noChangeAspect="1"/>
          </p:cNvPicPr>
          <p:nvPr/>
        </p:nvPicPr>
        <p:blipFill>
          <a:blip r:embed="rId4"/>
          <a:stretch>
            <a:fillRect/>
          </a:stretch>
        </p:blipFill>
        <p:spPr>
          <a:xfrm>
            <a:off x="7337839" y="4209288"/>
            <a:ext cx="366712" cy="533400"/>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Battery Configuration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Battery Configuration: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Battery Configuration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Battery Configuration</a:t>
            </a:r>
          </a:p>
        </p:txBody>
      </p:sp>
      <p:graphicFrame>
        <p:nvGraphicFramePr>
          <p:cNvPr id="13" name="Table 12"/>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3114146"/>
                <a:gridCol w="656554"/>
                <a:gridCol w="656554"/>
                <a:gridCol w="875186"/>
                <a:gridCol w="555435"/>
              </a:tblGrid>
              <a:tr h="438912">
                <a:tc>
                  <a:txBody>
                    <a:bodyPr wrap="none"/>
                    <a:lstStyle/>
                    <a:p>
                      <a:pPr algn="l"/>
                      <a:r>
                        <a:rPr sz="1100" b="1">
                          <a:solidFill>
                            <a:srgbClr val="FFFFFF"/>
                          </a:solidFill>
                          <a:latin typeface="Segoe UI"/>
                        </a:rPr>
                        <a:t>Battery Configuration</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Standalone Battery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Integrated Portable Energy Storage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Battery Configuration (US$ Mn), between 2026–2036</a:t>
            </a:r>
          </a:p>
        </p:txBody>
      </p:sp>
      <p:graphicFrame>
        <p:nvGraphicFramePr>
          <p:cNvPr id="17" name="Chart 16"/>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Battery Configuration</a:t>
            </a:r>
          </a:p>
        </p:txBody>
      </p:sp>
      <p:graphicFrame>
        <p:nvGraphicFramePr>
          <p:cNvPr id="20" name="Table 19"/>
          <p:cNvGraphicFramePr>
            <a:graphicFrameLocks noGrp="1"/>
          </p:cNvGraphicFramePr>
          <p:nvPr/>
        </p:nvGraphicFramePr>
        <p:xfrm>
          <a:off x="6181725" y="4124325"/>
          <a:ext cx="5857875" cy="2285998"/>
        </p:xfrm>
        <a:graphic>
          <a:graphicData uri="http://schemas.openxmlformats.org/drawingml/2006/table">
            <a:tbl>
              <a:tblPr>
                <a:tableStyleId>{5C22544A-7EE6-4342-B048-85BDC9FD1C3A}</a:tableStyleId>
              </a:tblPr>
              <a:tblGrid>
                <a:gridCol w="3114146"/>
                <a:gridCol w="656554"/>
                <a:gridCol w="656554"/>
                <a:gridCol w="875186"/>
                <a:gridCol w="555435"/>
              </a:tblGrid>
              <a:tr h="438912">
                <a:tc>
                  <a:txBody>
                    <a:bodyPr wrap="none"/>
                    <a:lstStyle/>
                    <a:p>
                      <a:pPr algn="l"/>
                      <a:r>
                        <a:rPr sz="1100" b="1">
                          <a:solidFill>
                            <a:srgbClr val="FFFFFF"/>
                          </a:solidFill>
                          <a:latin typeface="Segoe UI"/>
                        </a:rPr>
                        <a:t>Battery Configuration</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Standalone Battery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Integrated Portable Energy Storage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499714" y="2360675"/>
            <a:ext cx="330041" cy="480060"/>
          </a:xfrm>
          <a:prstGeom prst="rect">
            <a:avLst/>
          </a:prstGeom>
        </p:spPr>
      </p:pic>
      <p:pic>
        <p:nvPicPr>
          <p:cNvPr id="25" name="Picture 24" descr="lock.png"/>
          <p:cNvPicPr>
            <a:picLocks noChangeAspect="1"/>
          </p:cNvPicPr>
          <p:nvPr/>
        </p:nvPicPr>
        <p:blipFill>
          <a:blip r:embed="rId6"/>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6"/>
          <a:stretch>
            <a:fillRect/>
          </a:stretch>
        </p:blipFill>
        <p:spPr>
          <a:xfrm>
            <a:off x="10499714" y="5246750"/>
            <a:ext cx="330041" cy="48006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Battery Configuration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Battery Configuration, 2021–2036</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Battery Configuration (Thousand Units)</a:t>
            </a:r>
          </a:p>
        </p:txBody>
      </p:sp>
      <p:graphicFrame>
        <p:nvGraphicFramePr>
          <p:cNvPr id="10" name="Table 9"/>
          <p:cNvGraphicFramePr>
            <a:graphicFrameLocks noGrp="1"/>
          </p:cNvGraphicFramePr>
          <p:nvPr/>
        </p:nvGraphicFramePr>
        <p:xfrm>
          <a:off x="152400" y="1238250"/>
          <a:ext cx="11887194" cy="990600"/>
        </p:xfrm>
        <a:graphic>
          <a:graphicData uri="http://schemas.openxmlformats.org/drawingml/2006/table">
            <a:tbl>
              <a:tblPr>
                <a:tableStyleId>{5C22544A-7EE6-4342-B048-85BDC9FD1C3A}</a:tableStyleId>
              </a:tblPr>
              <a:tblGrid>
                <a:gridCol w="3130311"/>
                <a:gridCol w="525765"/>
                <a:gridCol w="525765"/>
                <a:gridCol w="525765"/>
                <a:gridCol w="525765"/>
                <a:gridCol w="525765"/>
                <a:gridCol w="500959"/>
                <a:gridCol w="500959"/>
                <a:gridCol w="500959"/>
                <a:gridCol w="500959"/>
                <a:gridCol w="500959"/>
                <a:gridCol w="500959"/>
                <a:gridCol w="500959"/>
                <a:gridCol w="500959"/>
                <a:gridCol w="500959"/>
                <a:gridCol w="500959"/>
                <a:gridCol w="500959"/>
                <a:gridCol w="617509"/>
              </a:tblGrid>
              <a:tr h="246126">
                <a:tc>
                  <a:txBody>
                    <a:bodyPr wrap="none"/>
                    <a:lstStyle/>
                    <a:p>
                      <a:pPr algn="l"/>
                      <a:r>
                        <a:rPr sz="1100" b="1">
                          <a:solidFill>
                            <a:srgbClr val="FFFFFF"/>
                          </a:solidFill>
                          <a:latin typeface="Segoe UI"/>
                        </a:rPr>
                        <a:t>Battery Configuration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8158">
                <a:tc>
                  <a:txBody>
                    <a:bodyPr wrap="none"/>
                    <a:lstStyle/>
                    <a:p>
                      <a:pPr algn="l"/>
                      <a:r>
                        <a:rPr sz="1100" b="1">
                          <a:solidFill>
                            <a:srgbClr val="252423"/>
                          </a:solidFill>
                          <a:latin typeface="Segoe UI"/>
                        </a:rPr>
                        <a:t>Standalone Battery Packs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8158">
                <a:tc>
                  <a:txBody>
                    <a:bodyPr wrap="none"/>
                    <a:lstStyle/>
                    <a:p>
                      <a:pPr algn="l"/>
                      <a:r>
                        <a:rPr sz="1100" b="1">
                          <a:solidFill>
                            <a:srgbClr val="252423"/>
                          </a:solidFill>
                          <a:latin typeface="Segoe UI"/>
                        </a:rPr>
                        <a:t>Integrated Portable Energy Storage Systems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26289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Battery Configuration (US$ Mn)</a:t>
            </a:r>
          </a:p>
        </p:txBody>
      </p:sp>
      <p:graphicFrame>
        <p:nvGraphicFramePr>
          <p:cNvPr id="14" name="Table 13"/>
          <p:cNvGraphicFramePr>
            <a:graphicFrameLocks noGrp="1"/>
          </p:cNvGraphicFramePr>
          <p:nvPr/>
        </p:nvGraphicFramePr>
        <p:xfrm>
          <a:off x="152400" y="2828925"/>
          <a:ext cx="11887194" cy="990600"/>
        </p:xfrm>
        <a:graphic>
          <a:graphicData uri="http://schemas.openxmlformats.org/drawingml/2006/table">
            <a:tbl>
              <a:tblPr>
                <a:tableStyleId>{5C22544A-7EE6-4342-B048-85BDC9FD1C3A}</a:tableStyleId>
              </a:tblPr>
              <a:tblGrid>
                <a:gridCol w="3130311"/>
                <a:gridCol w="525765"/>
                <a:gridCol w="525765"/>
                <a:gridCol w="525765"/>
                <a:gridCol w="525765"/>
                <a:gridCol w="525765"/>
                <a:gridCol w="500959"/>
                <a:gridCol w="500959"/>
                <a:gridCol w="500959"/>
                <a:gridCol w="500959"/>
                <a:gridCol w="500959"/>
                <a:gridCol w="500959"/>
                <a:gridCol w="500959"/>
                <a:gridCol w="500959"/>
                <a:gridCol w="500959"/>
                <a:gridCol w="500959"/>
                <a:gridCol w="500959"/>
                <a:gridCol w="617509"/>
              </a:tblGrid>
              <a:tr h="246126">
                <a:tc>
                  <a:txBody>
                    <a:bodyPr wrap="none"/>
                    <a:lstStyle/>
                    <a:p>
                      <a:pPr algn="l"/>
                      <a:r>
                        <a:rPr sz="1100" b="1">
                          <a:solidFill>
                            <a:srgbClr val="FFFFFF"/>
                          </a:solidFill>
                          <a:latin typeface="Segoe UI"/>
                        </a:rPr>
                        <a:t>Battery Configuration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8158">
                <a:tc>
                  <a:txBody>
                    <a:bodyPr wrap="none"/>
                    <a:lstStyle/>
                    <a:p>
                      <a:pPr algn="l"/>
                      <a:r>
                        <a:rPr sz="1100" b="1">
                          <a:solidFill>
                            <a:srgbClr val="252423"/>
                          </a:solidFill>
                          <a:latin typeface="Segoe UI"/>
                        </a:rPr>
                        <a:t>Standalone Battery Packs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8158">
                <a:tc>
                  <a:txBody>
                    <a:bodyPr wrap="none"/>
                    <a:lstStyle/>
                    <a:p>
                      <a:pPr algn="l"/>
                      <a:r>
                        <a:rPr sz="1100" b="1">
                          <a:solidFill>
                            <a:srgbClr val="252423"/>
                          </a:solidFill>
                          <a:latin typeface="Segoe UI"/>
                        </a:rPr>
                        <a:t>Integrated Portable Energy Storage Systems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5" name="TextBox 14"/>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76166" y="1592347"/>
            <a:ext cx="363364" cy="528530"/>
          </a:xfrm>
          <a:prstGeom prst="rect">
            <a:avLst/>
          </a:prstGeom>
        </p:spPr>
      </p:pic>
      <p:pic>
        <p:nvPicPr>
          <p:cNvPr id="18" name="Picture 17" descr="lock.png"/>
          <p:cNvPicPr>
            <a:picLocks noChangeAspect="1"/>
          </p:cNvPicPr>
          <p:nvPr/>
        </p:nvPicPr>
        <p:blipFill>
          <a:blip r:embed="rId4"/>
          <a:stretch>
            <a:fillRect/>
          </a:stretch>
        </p:blipFill>
        <p:spPr>
          <a:xfrm>
            <a:off x="7476166" y="3183022"/>
            <a:ext cx="363364" cy="52853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System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System Application: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System Application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System Application</a:t>
            </a:r>
          </a:p>
        </p:txBody>
      </p:sp>
      <p:graphicFrame>
        <p:nvGraphicFramePr>
          <p:cNvPr id="13" name="Table 12"/>
          <p:cNvGraphicFramePr>
            <a:graphicFrameLocks noGrp="1"/>
          </p:cNvGraphicFramePr>
          <p:nvPr/>
        </p:nvGraphicFramePr>
        <p:xfrm>
          <a:off x="6181725" y="1238250"/>
          <a:ext cx="5857875" cy="2285996"/>
        </p:xfrm>
        <a:graphic>
          <a:graphicData uri="http://schemas.openxmlformats.org/drawingml/2006/table">
            <a:tbl>
              <a:tblPr>
                <a:tableStyleId>{5C22544A-7EE6-4342-B048-85BDC9FD1C3A}</a:tableStyleId>
              </a:tblPr>
              <a:tblGrid>
                <a:gridCol w="2984115"/>
                <a:gridCol w="694025"/>
                <a:gridCol w="694025"/>
                <a:gridCol w="916627"/>
                <a:gridCol w="569083"/>
              </a:tblGrid>
              <a:tr h="438912">
                <a:tc>
                  <a:txBody>
                    <a:bodyPr wrap="none"/>
                    <a:lstStyle/>
                    <a:p>
                      <a:pPr algn="l"/>
                      <a:r>
                        <a:rPr sz="1100" b="1">
                          <a:solidFill>
                            <a:srgbClr val="FFFFFF"/>
                          </a:solidFill>
                          <a:latin typeface="Segoe UI"/>
                        </a:rPr>
                        <a:t>System Application</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Portable Backup Power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Outdoor &amp; Recreational Power</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Off-Grid &amp; Remote Power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Professional &amp; Specialized Portable Power</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System Application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System Application</a:t>
            </a:r>
          </a:p>
        </p:txBody>
      </p:sp>
      <p:graphicFrame>
        <p:nvGraphicFramePr>
          <p:cNvPr id="20" name="Table 19"/>
          <p:cNvGraphicFramePr>
            <a:graphicFrameLocks noGrp="1"/>
          </p:cNvGraphicFramePr>
          <p:nvPr/>
        </p:nvGraphicFramePr>
        <p:xfrm>
          <a:off x="6181725" y="4124325"/>
          <a:ext cx="5857875" cy="2285996"/>
        </p:xfrm>
        <a:graphic>
          <a:graphicData uri="http://schemas.openxmlformats.org/drawingml/2006/table">
            <a:tbl>
              <a:tblPr>
                <a:tableStyleId>{5C22544A-7EE6-4342-B048-85BDC9FD1C3A}</a:tableStyleId>
              </a:tblPr>
              <a:tblGrid>
                <a:gridCol w="2984115"/>
                <a:gridCol w="694025"/>
                <a:gridCol w="694025"/>
                <a:gridCol w="916627"/>
                <a:gridCol w="569083"/>
              </a:tblGrid>
              <a:tr h="438912">
                <a:tc>
                  <a:txBody>
                    <a:bodyPr wrap="none"/>
                    <a:lstStyle/>
                    <a:p>
                      <a:pPr algn="l"/>
                      <a:r>
                        <a:rPr sz="1100" b="1">
                          <a:solidFill>
                            <a:srgbClr val="FFFFFF"/>
                          </a:solidFill>
                          <a:latin typeface="Segoe UI"/>
                        </a:rPr>
                        <a:t>System Application</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Portable Backup Power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Outdoor &amp; Recreational Power</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Off-Grid &amp; Remote Power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Professional &amp; Specialized Portable Power</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434698" y="2360675"/>
            <a:ext cx="330041" cy="48006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434698" y="5246750"/>
            <a:ext cx="330041" cy="48006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System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of the United States market by System Application, 2021–2036</a:t>
            </a:r>
          </a:p>
        </p:txBody>
      </p:sp>
      <p:sp>
        <p:nvSpPr>
          <p:cNvPr id="8" name="Rectangle 7"/>
          <p:cNvSpPr/>
          <p:nvPr/>
        </p:nvSpPr>
        <p:spPr>
          <a:xfrm>
            <a:off x="142875" y="981075"/>
            <a:ext cx="11906250" cy="2876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System Application (US$ Mn)</a:t>
            </a:r>
          </a:p>
        </p:txBody>
      </p:sp>
      <p:graphicFrame>
        <p:nvGraphicFramePr>
          <p:cNvPr id="10" name="Table 9"/>
          <p:cNvGraphicFramePr>
            <a:graphicFrameLocks noGrp="1"/>
          </p:cNvGraphicFramePr>
          <p:nvPr/>
        </p:nvGraphicFramePr>
        <p:xfrm>
          <a:off x="152400" y="1238250"/>
          <a:ext cx="11887204" cy="2409824"/>
        </p:xfrm>
        <a:graphic>
          <a:graphicData uri="http://schemas.openxmlformats.org/drawingml/2006/table">
            <a:tbl>
              <a:tblPr>
                <a:tableStyleId>{5C22544A-7EE6-4342-B048-85BDC9FD1C3A}</a:tableStyleId>
              </a:tblPr>
              <a:tblGrid>
                <a:gridCol w="3320820"/>
                <a:gridCol w="519851"/>
                <a:gridCol w="519851"/>
                <a:gridCol w="519851"/>
                <a:gridCol w="519851"/>
                <a:gridCol w="519851"/>
                <a:gridCol w="495324"/>
                <a:gridCol w="495324"/>
                <a:gridCol w="495324"/>
                <a:gridCol w="495324"/>
                <a:gridCol w="495324"/>
                <a:gridCol w="495324"/>
                <a:gridCol w="495324"/>
                <a:gridCol w="495324"/>
                <a:gridCol w="495324"/>
                <a:gridCol w="495324"/>
                <a:gridCol w="495324"/>
                <a:gridCol w="518565"/>
              </a:tblGrid>
              <a:tr h="438912">
                <a:tc>
                  <a:txBody>
                    <a:bodyPr wrap="none"/>
                    <a:lstStyle/>
                    <a:p>
                      <a:pPr algn="l"/>
                      <a:r>
                        <a:rPr sz="1100" b="1">
                          <a:solidFill>
                            <a:srgbClr val="FFFFFF"/>
                          </a:solidFill>
                          <a:latin typeface="Segoe UI"/>
                        </a:rPr>
                        <a:t>System Application</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38100" marR="28575" marT="19050" marB="19050" anchor="ctr">
                    <a:solidFill>
                      <a:srgbClr val="007BA5"/>
                    </a:solidFill>
                  </a:tcPr>
                </a:tc>
              </a:tr>
              <a:tr h="246364">
                <a:tc>
                  <a:txBody>
                    <a:bodyPr wrap="none"/>
                    <a:lstStyle/>
                    <a:p>
                      <a:pPr algn="l"/>
                      <a:r>
                        <a:rPr sz="1100" b="1">
                          <a:solidFill>
                            <a:srgbClr val="252423"/>
                          </a:solidFill>
                          <a:latin typeface="Segoe UI"/>
                        </a:rPr>
                        <a:t>Portable Backup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Outdoor &amp; Recreational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Off-Grid &amp; Remote Power</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Professional &amp; Specialized Portable Power</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Construction &amp; Maintenance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 Emergency Response &amp; Disaster Relief</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364">
                <a:tc>
                  <a:txBody>
                    <a:bodyPr wrap="none"/>
                    <a:lstStyle/>
                    <a:p>
                      <a:pPr algn="l"/>
                      <a:r>
                        <a:rPr sz="1100" b="1">
                          <a:solidFill>
                            <a:srgbClr val="252423"/>
                          </a:solidFill>
                          <a:latin typeface="Segoe UI"/>
                        </a:rPr>
                        <a:t>– Mobile Medical &amp; Communication Equipment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3" name="Picture 12" descr="lock.png"/>
          <p:cNvPicPr>
            <a:picLocks noChangeAspect="1"/>
          </p:cNvPicPr>
          <p:nvPr/>
        </p:nvPicPr>
        <p:blipFill>
          <a:blip r:embed="rId4"/>
          <a:stretch>
            <a:fillRect/>
          </a:stretch>
        </p:blipFill>
        <p:spPr>
          <a:xfrm>
            <a:off x="7569722" y="2395917"/>
            <a:ext cx="366712" cy="533400"/>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Output Power Rating</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Output Power Rating: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Output Power Rating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Output Power Rating</a:t>
            </a:r>
          </a:p>
        </p:txBody>
      </p:sp>
      <p:graphicFrame>
        <p:nvGraphicFramePr>
          <p:cNvPr id="13" name="Table 12"/>
          <p:cNvGraphicFramePr>
            <a:graphicFrameLocks noGrp="1"/>
          </p:cNvGraphicFramePr>
          <p:nvPr/>
        </p:nvGraphicFramePr>
        <p:xfrm>
          <a:off x="6181725" y="1238250"/>
          <a:ext cx="5857876" cy="2285998"/>
        </p:xfrm>
        <a:graphic>
          <a:graphicData uri="http://schemas.openxmlformats.org/drawingml/2006/table">
            <a:tbl>
              <a:tblPr>
                <a:tableStyleId>{5C22544A-7EE6-4342-B048-85BDC9FD1C3A}</a:tableStyleId>
              </a:tblPr>
              <a:tblGrid>
                <a:gridCol w="2078568"/>
                <a:gridCol w="942193"/>
                <a:gridCol w="942193"/>
                <a:gridCol w="1205299"/>
                <a:gridCol w="689623"/>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509968">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509968">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Output Power Rating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Output Power Rating</a:t>
            </a:r>
          </a:p>
        </p:txBody>
      </p:sp>
      <p:graphicFrame>
        <p:nvGraphicFramePr>
          <p:cNvPr id="20" name="Table 19"/>
          <p:cNvGraphicFramePr>
            <a:graphicFrameLocks noGrp="1"/>
          </p:cNvGraphicFramePr>
          <p:nvPr/>
        </p:nvGraphicFramePr>
        <p:xfrm>
          <a:off x="6181725" y="4124325"/>
          <a:ext cx="5857876" cy="2285998"/>
        </p:xfrm>
        <a:graphic>
          <a:graphicData uri="http://schemas.openxmlformats.org/drawingml/2006/table">
            <a:tbl>
              <a:tblPr>
                <a:tableStyleId>{5C22544A-7EE6-4342-B048-85BDC9FD1C3A}</a:tableStyleId>
              </a:tblPr>
              <a:tblGrid>
                <a:gridCol w="2078568"/>
                <a:gridCol w="942193"/>
                <a:gridCol w="942193"/>
                <a:gridCol w="1205299"/>
                <a:gridCol w="689623"/>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509968">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509968">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963257" y="2237612"/>
            <a:ext cx="366712" cy="53340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9963257" y="5123687"/>
            <a:ext cx="366712" cy="53340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Output Power Rating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Output Power Rating, 2021–2036</a:t>
            </a:r>
          </a:p>
        </p:txBody>
      </p:sp>
      <p:sp>
        <p:nvSpPr>
          <p:cNvPr id="8" name="Rectangle 7"/>
          <p:cNvSpPr/>
          <p:nvPr/>
        </p:nvSpPr>
        <p:spPr>
          <a:xfrm>
            <a:off x="142875" y="981075"/>
            <a:ext cx="11906250" cy="1952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Output Power Rating (Thousand Units)</a:t>
            </a:r>
          </a:p>
        </p:txBody>
      </p:sp>
      <p:graphicFrame>
        <p:nvGraphicFramePr>
          <p:cNvPr id="10" name="Table 9"/>
          <p:cNvGraphicFramePr>
            <a:graphicFrameLocks noGrp="1"/>
          </p:cNvGraphicFramePr>
          <p:nvPr/>
        </p:nvGraphicFramePr>
        <p:xfrm>
          <a:off x="152400" y="1238250"/>
          <a:ext cx="11887204" cy="1485896"/>
        </p:xfrm>
        <a:graphic>
          <a:graphicData uri="http://schemas.openxmlformats.org/drawingml/2006/table">
            <a:tbl>
              <a:tblPr>
                <a:tableStyleId>{5C22544A-7EE6-4342-B048-85BDC9FD1C3A}</a:tableStyleId>
              </a:tblPr>
              <a:tblGrid>
                <a:gridCol w="2073381"/>
                <a:gridCol w="588793"/>
                <a:gridCol w="588793"/>
                <a:gridCol w="588793"/>
                <a:gridCol w="588793"/>
                <a:gridCol w="588793"/>
                <a:gridCol w="561996"/>
                <a:gridCol w="561996"/>
                <a:gridCol w="561996"/>
                <a:gridCol w="561996"/>
                <a:gridCol w="561996"/>
                <a:gridCol w="561996"/>
                <a:gridCol w="561996"/>
                <a:gridCol w="561996"/>
                <a:gridCol w="561996"/>
                <a:gridCol w="561996"/>
                <a:gridCol w="561996"/>
                <a:gridCol w="687902"/>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067050"/>
            <a:ext cx="11906250" cy="1952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1242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Output Power Rating (US$ Mn)</a:t>
            </a:r>
          </a:p>
        </p:txBody>
      </p:sp>
      <p:graphicFrame>
        <p:nvGraphicFramePr>
          <p:cNvPr id="14" name="Table 13"/>
          <p:cNvGraphicFramePr>
            <a:graphicFrameLocks noGrp="1"/>
          </p:cNvGraphicFramePr>
          <p:nvPr/>
        </p:nvGraphicFramePr>
        <p:xfrm>
          <a:off x="152400" y="3324225"/>
          <a:ext cx="11887204" cy="1485896"/>
        </p:xfrm>
        <a:graphic>
          <a:graphicData uri="http://schemas.openxmlformats.org/drawingml/2006/table">
            <a:tbl>
              <a:tblPr>
                <a:tableStyleId>{5C22544A-7EE6-4342-B048-85BDC9FD1C3A}</a:tableStyleId>
              </a:tblPr>
              <a:tblGrid>
                <a:gridCol w="2073381"/>
                <a:gridCol w="588793"/>
                <a:gridCol w="588793"/>
                <a:gridCol w="588793"/>
                <a:gridCol w="588793"/>
                <a:gridCol w="588793"/>
                <a:gridCol w="561996"/>
                <a:gridCol w="561996"/>
                <a:gridCol w="561996"/>
                <a:gridCol w="561996"/>
                <a:gridCol w="561996"/>
                <a:gridCol w="561996"/>
                <a:gridCol w="561996"/>
                <a:gridCol w="561996"/>
                <a:gridCol w="561996"/>
                <a:gridCol w="561996"/>
                <a:gridCol w="561996"/>
                <a:gridCol w="687902"/>
              </a:tblGrid>
              <a:tr h="246126">
                <a:tc>
                  <a:txBody>
                    <a:bodyPr wrap="none"/>
                    <a:lstStyle/>
                    <a:p>
                      <a:pPr algn="l"/>
                      <a:r>
                        <a:rPr sz="1100" b="1">
                          <a:solidFill>
                            <a:srgbClr val="FFFFFF"/>
                          </a:solidFill>
                          <a:latin typeface="Segoe UI"/>
                        </a:rPr>
                        <a:t>Output Power Rating</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Below 500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500 W to Below 1,000 W</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1,000 W to Below 2,000 W</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2,000 W and Above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48196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946002" y="1837563"/>
            <a:ext cx="366712" cy="533400"/>
          </a:xfrm>
          <a:prstGeom prst="rect">
            <a:avLst/>
          </a:prstGeom>
        </p:spPr>
      </p:pic>
      <p:pic>
        <p:nvPicPr>
          <p:cNvPr id="18" name="Picture 17" descr="lock.png"/>
          <p:cNvPicPr>
            <a:picLocks noChangeAspect="1"/>
          </p:cNvPicPr>
          <p:nvPr/>
        </p:nvPicPr>
        <p:blipFill>
          <a:blip r:embed="rId4"/>
          <a:stretch>
            <a:fillRect/>
          </a:stretch>
        </p:blipFill>
        <p:spPr>
          <a:xfrm>
            <a:off x="6946002" y="3923538"/>
            <a:ext cx="366712" cy="533400"/>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System Architecture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System Architecture: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System Architecture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System Architecture</a:t>
            </a:r>
          </a:p>
        </p:txBody>
      </p:sp>
      <p:graphicFrame>
        <p:nvGraphicFramePr>
          <p:cNvPr id="13" name="Table 12"/>
          <p:cNvGraphicFramePr>
            <a:graphicFrameLocks noGrp="1"/>
          </p:cNvGraphicFramePr>
          <p:nvPr/>
        </p:nvGraphicFramePr>
        <p:xfrm>
          <a:off x="6181725" y="1238250"/>
          <a:ext cx="5857874" cy="2285998"/>
        </p:xfrm>
        <a:graphic>
          <a:graphicData uri="http://schemas.openxmlformats.org/drawingml/2006/table">
            <a:tbl>
              <a:tblPr>
                <a:tableStyleId>{5C22544A-7EE6-4342-B048-85BDC9FD1C3A}</a:tableStyleId>
              </a:tblPr>
              <a:tblGrid>
                <a:gridCol w="2429961"/>
                <a:gridCol w="853714"/>
                <a:gridCol w="853714"/>
                <a:gridCol w="1093237"/>
                <a:gridCol w="627248"/>
              </a:tblGrid>
              <a:tr h="438912">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System Architecture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System Architecture</a:t>
            </a:r>
          </a:p>
        </p:txBody>
      </p:sp>
      <p:graphicFrame>
        <p:nvGraphicFramePr>
          <p:cNvPr id="20" name="Table 19"/>
          <p:cNvGraphicFramePr>
            <a:graphicFrameLocks noGrp="1"/>
          </p:cNvGraphicFramePr>
          <p:nvPr/>
        </p:nvGraphicFramePr>
        <p:xfrm>
          <a:off x="6181725" y="4124325"/>
          <a:ext cx="5857874" cy="2285998"/>
        </p:xfrm>
        <a:graphic>
          <a:graphicData uri="http://schemas.openxmlformats.org/drawingml/2006/table">
            <a:tbl>
              <a:tblPr>
                <a:tableStyleId>{5C22544A-7EE6-4342-B048-85BDC9FD1C3A}</a:tableStyleId>
              </a:tblPr>
              <a:tblGrid>
                <a:gridCol w="2429961"/>
                <a:gridCol w="853714"/>
                <a:gridCol w="853714"/>
                <a:gridCol w="1093237"/>
                <a:gridCol w="627248"/>
              </a:tblGrid>
              <a:tr h="438912">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143338" y="2340271"/>
            <a:ext cx="358097" cy="520869"/>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143338" y="5226346"/>
            <a:ext cx="358097" cy="520869"/>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System Architecture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System Architecture, 2021–2036</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System Architecture (Thousand Units)</a:t>
            </a:r>
          </a:p>
        </p:txBody>
      </p:sp>
      <p:graphicFrame>
        <p:nvGraphicFramePr>
          <p:cNvPr id="10" name="Table 9"/>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2531104"/>
                <a:gridCol w="561331"/>
                <a:gridCol w="561331"/>
                <a:gridCol w="561331"/>
                <a:gridCol w="561331"/>
                <a:gridCol w="561331"/>
                <a:gridCol w="535784"/>
                <a:gridCol w="535784"/>
                <a:gridCol w="535784"/>
                <a:gridCol w="535784"/>
                <a:gridCol w="535784"/>
                <a:gridCol w="535784"/>
                <a:gridCol w="535784"/>
                <a:gridCol w="535784"/>
                <a:gridCol w="535784"/>
                <a:gridCol w="535784"/>
                <a:gridCol w="535784"/>
                <a:gridCol w="655818"/>
              </a:tblGrid>
              <a:tr h="246126">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26289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System Architecture (US$ Mn)</a:t>
            </a:r>
          </a:p>
        </p:txBody>
      </p:sp>
      <p:graphicFrame>
        <p:nvGraphicFramePr>
          <p:cNvPr id="14" name="Table 13"/>
          <p:cNvGraphicFramePr>
            <a:graphicFrameLocks noGrp="1"/>
          </p:cNvGraphicFramePr>
          <p:nvPr/>
        </p:nvGraphicFramePr>
        <p:xfrm>
          <a:off x="152400" y="2828925"/>
          <a:ext cx="11887201" cy="990600"/>
        </p:xfrm>
        <a:graphic>
          <a:graphicData uri="http://schemas.openxmlformats.org/drawingml/2006/table">
            <a:tbl>
              <a:tblPr>
                <a:tableStyleId>{5C22544A-7EE6-4342-B048-85BDC9FD1C3A}</a:tableStyleId>
              </a:tblPr>
              <a:tblGrid>
                <a:gridCol w="2531104"/>
                <a:gridCol w="561331"/>
                <a:gridCol w="561331"/>
                <a:gridCol w="561331"/>
                <a:gridCol w="561331"/>
                <a:gridCol w="561331"/>
                <a:gridCol w="535784"/>
                <a:gridCol w="535784"/>
                <a:gridCol w="535784"/>
                <a:gridCol w="535784"/>
                <a:gridCol w="535784"/>
                <a:gridCol w="535784"/>
                <a:gridCol w="535784"/>
                <a:gridCol w="535784"/>
                <a:gridCol w="535784"/>
                <a:gridCol w="535784"/>
                <a:gridCol w="535784"/>
                <a:gridCol w="655818"/>
              </a:tblGrid>
              <a:tr h="246126">
                <a:tc>
                  <a:txBody>
                    <a:bodyPr wrap="none"/>
                    <a:lstStyle/>
                    <a:p>
                      <a:pPr algn="l"/>
                      <a:r>
                        <a:rPr sz="1100" b="1">
                          <a:solidFill>
                            <a:srgbClr val="FFFFFF"/>
                          </a:solidFill>
                          <a:latin typeface="Segoe UI"/>
                        </a:rPr>
                        <a:t>System Architecture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AC/DC Portable Power Stations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DC-Only Portable Battery Systems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174862" y="1589913"/>
            <a:ext cx="366712" cy="533400"/>
          </a:xfrm>
          <a:prstGeom prst="rect">
            <a:avLst/>
          </a:prstGeom>
        </p:spPr>
      </p:pic>
      <p:pic>
        <p:nvPicPr>
          <p:cNvPr id="18" name="Picture 17" descr="lock.png"/>
          <p:cNvPicPr>
            <a:picLocks noChangeAspect="1"/>
          </p:cNvPicPr>
          <p:nvPr/>
        </p:nvPicPr>
        <p:blipFill>
          <a:blip r:embed="rId4"/>
          <a:stretch>
            <a:fillRect/>
          </a:stretch>
        </p:blipFill>
        <p:spPr>
          <a:xfrm>
            <a:off x="7174862" y="3180587"/>
            <a:ext cx="366712" cy="533400"/>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Distribution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Segmental Analysis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United States segmental analysis by Distribution Channel: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Distribution Channel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Distribution Channel</a:t>
            </a:r>
          </a:p>
        </p:txBody>
      </p:sp>
      <p:graphicFrame>
        <p:nvGraphicFramePr>
          <p:cNvPr id="13" name="Table 12"/>
          <p:cNvGraphicFramePr>
            <a:graphicFrameLocks noGrp="1"/>
          </p:cNvGraphicFramePr>
          <p:nvPr/>
        </p:nvGraphicFramePr>
        <p:xfrm>
          <a:off x="6181725" y="1238250"/>
          <a:ext cx="5857875" cy="2285996"/>
        </p:xfrm>
        <a:graphic>
          <a:graphicData uri="http://schemas.openxmlformats.org/drawingml/2006/table">
            <a:tbl>
              <a:tblPr>
                <a:tableStyleId>{5C22544A-7EE6-4342-B048-85BDC9FD1C3A}</a:tableStyleId>
              </a:tblPr>
              <a:tblGrid>
                <a:gridCol w="2986568"/>
                <a:gridCol w="693318"/>
                <a:gridCol w="693318"/>
                <a:gridCol w="915845"/>
                <a:gridCol w="568826"/>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Distribution Channel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Distribution Channel</a:t>
            </a:r>
          </a:p>
        </p:txBody>
      </p:sp>
      <p:graphicFrame>
        <p:nvGraphicFramePr>
          <p:cNvPr id="20" name="Table 19"/>
          <p:cNvGraphicFramePr>
            <a:graphicFrameLocks noGrp="1"/>
          </p:cNvGraphicFramePr>
          <p:nvPr/>
        </p:nvGraphicFramePr>
        <p:xfrm>
          <a:off x="6181725" y="4124325"/>
          <a:ext cx="5857875" cy="2285996"/>
        </p:xfrm>
        <a:graphic>
          <a:graphicData uri="http://schemas.openxmlformats.org/drawingml/2006/table">
            <a:tbl>
              <a:tblPr>
                <a:tableStyleId>{5C22544A-7EE6-4342-B048-85BDC9FD1C3A}</a:tableStyleId>
              </a:tblPr>
              <a:tblGrid>
                <a:gridCol w="2986568"/>
                <a:gridCol w="693318"/>
                <a:gridCol w="693318"/>
                <a:gridCol w="915845"/>
                <a:gridCol w="568826"/>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461771">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61771">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435925" y="2360675"/>
            <a:ext cx="330041" cy="48006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435925" y="5246750"/>
            <a:ext cx="330041" cy="48006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United States Lithium Polymer Portable Energy Storage Market Tables Distribution Channel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United States market by Distribution Channel, 2021–2036</a:t>
            </a:r>
          </a:p>
        </p:txBody>
      </p:sp>
      <p:sp>
        <p:nvSpPr>
          <p:cNvPr id="8" name="Rectangle 7"/>
          <p:cNvSpPr/>
          <p:nvPr/>
        </p:nvSpPr>
        <p:spPr>
          <a:xfrm>
            <a:off x="142875" y="9810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Volume, By Distribution Channel (Thousand Units)</a:t>
            </a:r>
          </a:p>
        </p:txBody>
      </p:sp>
      <p:graphicFrame>
        <p:nvGraphicFramePr>
          <p:cNvPr id="10" name="Table 9"/>
          <p:cNvGraphicFramePr>
            <a:graphicFrameLocks noGrp="1"/>
          </p:cNvGraphicFramePr>
          <p:nvPr/>
        </p:nvGraphicFramePr>
        <p:xfrm>
          <a:off x="152400" y="1238250"/>
          <a:ext cx="11887204" cy="1676402"/>
        </p:xfrm>
        <a:graphic>
          <a:graphicData uri="http://schemas.openxmlformats.org/drawingml/2006/table">
            <a:tbl>
              <a:tblPr>
                <a:tableStyleId>{5C22544A-7EE6-4342-B048-85BDC9FD1C3A}</a:tableStyleId>
              </a:tblPr>
              <a:tblGrid>
                <a:gridCol w="2986568"/>
                <a:gridCol w="538901"/>
                <a:gridCol w="538901"/>
                <a:gridCol w="538901"/>
                <a:gridCol w="538901"/>
                <a:gridCol w="538901"/>
                <a:gridCol w="514374"/>
                <a:gridCol w="514374"/>
                <a:gridCol w="514374"/>
                <a:gridCol w="514374"/>
                <a:gridCol w="514374"/>
                <a:gridCol w="514374"/>
                <a:gridCol w="514374"/>
                <a:gridCol w="514374"/>
                <a:gridCol w="514374"/>
                <a:gridCol w="514374"/>
                <a:gridCol w="514374"/>
                <a:gridCol w="548017"/>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247498">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257550"/>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3147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United States Value, By Distribution Channel (US$ Mn)</a:t>
            </a:r>
          </a:p>
        </p:txBody>
      </p:sp>
      <p:graphicFrame>
        <p:nvGraphicFramePr>
          <p:cNvPr id="14" name="Table 13"/>
          <p:cNvGraphicFramePr>
            <a:graphicFrameLocks noGrp="1"/>
          </p:cNvGraphicFramePr>
          <p:nvPr/>
        </p:nvGraphicFramePr>
        <p:xfrm>
          <a:off x="152400" y="3514725"/>
          <a:ext cx="11887204" cy="1676402"/>
        </p:xfrm>
        <a:graphic>
          <a:graphicData uri="http://schemas.openxmlformats.org/drawingml/2006/table">
            <a:tbl>
              <a:tblPr>
                <a:tableStyleId>{5C22544A-7EE6-4342-B048-85BDC9FD1C3A}</a:tableStyleId>
              </a:tblPr>
              <a:tblGrid>
                <a:gridCol w="2986568"/>
                <a:gridCol w="538901"/>
                <a:gridCol w="538901"/>
                <a:gridCol w="538901"/>
                <a:gridCol w="538901"/>
                <a:gridCol w="538901"/>
                <a:gridCol w="514374"/>
                <a:gridCol w="514374"/>
                <a:gridCol w="514374"/>
                <a:gridCol w="514374"/>
                <a:gridCol w="514374"/>
                <a:gridCol w="514374"/>
                <a:gridCol w="514374"/>
                <a:gridCol w="514374"/>
                <a:gridCol w="514374"/>
                <a:gridCol w="514374"/>
                <a:gridCol w="514374"/>
                <a:gridCol w="548017"/>
              </a:tblGrid>
              <a:tr h="438912">
                <a:tc>
                  <a:txBody>
                    <a:bodyPr wrap="none"/>
                    <a:lstStyle/>
                    <a:p>
                      <a:pPr algn="l"/>
                      <a:r>
                        <a:rPr sz="1100" b="1">
                          <a:solidFill>
                            <a:srgbClr val="FFFFFF"/>
                          </a:solidFill>
                          <a:latin typeface="Segoe UI"/>
                        </a:rPr>
                        <a:t>Distribution Channel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247498">
                <a:tc>
                  <a:txBody>
                    <a:bodyPr wrap="none"/>
                    <a:lstStyle/>
                    <a:p>
                      <a:pPr algn="l"/>
                      <a:r>
                        <a:rPr sz="1100" b="1">
                          <a:solidFill>
                            <a:srgbClr val="252423"/>
                          </a:solidFill>
                          <a:latin typeface="Segoe UI"/>
                        </a:rPr>
                        <a:t>Direct-to-Consumer / Manufacturer Direct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Online Third-Party Retail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Offline Retail &amp; 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52423"/>
                          </a:solidFill>
                          <a:latin typeface="Segoe UI"/>
                        </a:rPr>
                        <a:t>Direct B2B / Institutional Sales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49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52006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02596" y="2029206"/>
            <a:ext cx="366712" cy="533400"/>
          </a:xfrm>
          <a:prstGeom prst="rect">
            <a:avLst/>
          </a:prstGeom>
        </p:spPr>
      </p:pic>
      <p:pic>
        <p:nvPicPr>
          <p:cNvPr id="18" name="Picture 17" descr="lock.png"/>
          <p:cNvPicPr>
            <a:picLocks noChangeAspect="1"/>
          </p:cNvPicPr>
          <p:nvPr/>
        </p:nvPicPr>
        <p:blipFill>
          <a:blip r:embed="rId4"/>
          <a:stretch>
            <a:fillRect/>
          </a:stretch>
        </p:blipFill>
        <p:spPr>
          <a:xfrm>
            <a:off x="7402596" y="4305682"/>
            <a:ext cx="366712" cy="533400"/>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Product Pricing &amp; Regional Price Index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range by sub-segment and indexed regional price movement, highlighting dispersion and structural shifts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Analysis of average USD pricing by product type and indexed regional price movement with base-year inflation adjustments.</a:t>
            </a:r>
          </a:p>
        </p:txBody>
      </p:sp>
      <p:sp>
        <p:nvSpPr>
          <p:cNvPr id="9" name="Rectangle 8"/>
          <p:cNvSpPr/>
          <p:nvPr/>
        </p:nvSpPr>
        <p:spPr>
          <a:xfrm>
            <a:off x="142875" y="1317574"/>
            <a:ext cx="7696200"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Pricing by Product Type</a:t>
            </a:r>
          </a:p>
        </p:txBody>
      </p:sp>
      <p:sp>
        <p:nvSpPr>
          <p:cNvPr id="11" name="TextBox 10"/>
          <p:cNvSpPr txBox="1"/>
          <p:nvPr/>
        </p:nvSpPr>
        <p:spPr>
          <a:xfrm>
            <a:off x="92869" y="3471051"/>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2829.8</a:t>
            </a:r>
          </a:p>
        </p:txBody>
      </p:sp>
      <p:sp>
        <p:nvSpPr>
          <p:cNvPr id="12" name="TextBox 11"/>
          <p:cNvSpPr txBox="1"/>
          <p:nvPr/>
        </p:nvSpPr>
        <p:spPr>
          <a:xfrm>
            <a:off x="92869" y="2561000"/>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4245.5</a:t>
            </a:r>
          </a:p>
        </p:txBody>
      </p:sp>
      <p:sp>
        <p:nvSpPr>
          <p:cNvPr id="13" name="TextBox 12"/>
          <p:cNvSpPr txBox="1"/>
          <p:nvPr/>
        </p:nvSpPr>
        <p:spPr>
          <a:xfrm>
            <a:off x="92869" y="1650949"/>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5661.1</a:t>
            </a:r>
          </a:p>
        </p:txBody>
      </p:sp>
      <p:cxnSp>
        <p:nvCxnSpPr>
          <p:cNvPr id="14" name="Connector 13"/>
          <p:cNvCxnSpPr/>
          <p:nvPr/>
        </p:nvCxnSpPr>
        <p:spPr>
          <a:xfrm>
            <a:off x="1825625" y="1999345"/>
            <a:ext cx="0" cy="222445"/>
          </a:xfrm>
          <a:prstGeom prst="line">
            <a:avLst/>
          </a:prstGeom>
          <a:ln w="17780">
            <a:solidFill>
              <a:srgbClr val="5B7C99"/>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606550" y="1999345"/>
            <a:ext cx="438150" cy="222444"/>
          </a:xfrm>
          <a:prstGeom prst="rect">
            <a:avLst/>
          </a:prstGeom>
          <a:solidFill>
            <a:srgbClr val="C9D9E8"/>
          </a:solidFill>
          <a:ln w="15875">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225" y="1846945"/>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17" name="TextBox 16"/>
          <p:cNvSpPr txBox="1"/>
          <p:nvPr/>
        </p:nvSpPr>
        <p:spPr>
          <a:xfrm>
            <a:off x="657225" y="3566301"/>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cxnSp>
        <p:nvCxnSpPr>
          <p:cNvPr id="18" name="Connector 17"/>
          <p:cNvCxnSpPr/>
          <p:nvPr/>
        </p:nvCxnSpPr>
        <p:spPr>
          <a:xfrm>
            <a:off x="4162425" y="1927636"/>
            <a:ext cx="0" cy="265008"/>
          </a:xfrm>
          <a:prstGeom prst="line">
            <a:avLst/>
          </a:prstGeom>
          <a:ln w="17780">
            <a:solidFill>
              <a:srgbClr val="5B7C99"/>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943350" y="1927636"/>
            <a:ext cx="438150" cy="265008"/>
          </a:xfrm>
          <a:prstGeom prst="rect">
            <a:avLst/>
          </a:prstGeom>
          <a:solidFill>
            <a:srgbClr val="C9D9E8"/>
          </a:solidFill>
          <a:ln w="15875">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94025" y="1775236"/>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21" name="TextBox 20"/>
          <p:cNvSpPr txBox="1"/>
          <p:nvPr/>
        </p:nvSpPr>
        <p:spPr>
          <a:xfrm>
            <a:off x="2994025" y="3566301"/>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
            </a:r>
          </a:p>
        </p:txBody>
      </p:sp>
      <p:cxnSp>
        <p:nvCxnSpPr>
          <p:cNvPr id="22" name="Connector 21"/>
          <p:cNvCxnSpPr/>
          <p:nvPr/>
        </p:nvCxnSpPr>
        <p:spPr>
          <a:xfrm>
            <a:off x="6499225" y="3165249"/>
            <a:ext cx="0" cy="162465"/>
          </a:xfrm>
          <a:prstGeom prst="line">
            <a:avLst/>
          </a:prstGeom>
          <a:ln w="17780">
            <a:solidFill>
              <a:srgbClr val="5B7C99"/>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280150" y="3165249"/>
            <a:ext cx="438150" cy="162465"/>
          </a:xfrm>
          <a:prstGeom prst="rect">
            <a:avLst/>
          </a:prstGeom>
          <a:solidFill>
            <a:srgbClr val="C9D9E8"/>
          </a:solidFill>
          <a:ln w="15875">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30825" y="3012849"/>
            <a:ext cx="23368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25" name="TextBox 24"/>
          <p:cNvSpPr txBox="1"/>
          <p:nvPr/>
        </p:nvSpPr>
        <p:spPr>
          <a:xfrm>
            <a:off x="5330825" y="3566301"/>
            <a:ext cx="2336800" cy="285750"/>
          </a:xfrm>
          <a:prstGeom prst="rect">
            <a:avLst/>
          </a:prstGeom>
          <a:noFill/>
        </p:spPr>
        <p:txBody>
          <a:bodyPr wrap="square" lIns="28575" rIns="28575" tIns="9525" bIns="9525">
            <a:spAutoFit/>
          </a:bodyPr>
          <a:lstStyle/>
          <a:p>
            <a:pPr algn="ctr"/>
            <a:r>
              <a:rPr sz="1100" b="0">
                <a:solidFill>
                  <a:srgbClr val="252423"/>
                </a:solidFill>
                <a:latin typeface="Segoe UI"/>
              </a:rPr>
              <a:t>1,500 Wh to 2,000 Wh</a:t>
            </a:r>
          </a:p>
        </p:txBody>
      </p:sp>
      <p:sp>
        <p:nvSpPr>
          <p:cNvPr id="26" name="Rectangle 25"/>
          <p:cNvSpPr/>
          <p:nvPr/>
        </p:nvSpPr>
        <p:spPr>
          <a:xfrm>
            <a:off x="142875" y="3991741"/>
            <a:ext cx="7696200" cy="25646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Region vs Global Price Trend (2026–2036)</a:t>
            </a:r>
          </a:p>
        </p:txBody>
      </p:sp>
      <p:cxnSp>
        <p:nvCxnSpPr>
          <p:cNvPr id="28" name="Connector 27"/>
          <p:cNvCxnSpPr/>
          <p:nvPr/>
        </p:nvCxnSpPr>
        <p:spPr>
          <a:xfrm>
            <a:off x="619125" y="452265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9125" y="48859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9125" y="561262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9125" y="597594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9125" y="4522655"/>
            <a:ext cx="0" cy="1453286"/>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0550" y="452265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90550" y="488597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0550" y="524929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0550" y="561262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0550" y="597594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39" name="FactMR Scale tick"/>
          <p:cNvSpPr txBox="1"/>
          <p:nvPr/>
        </p:nvSpPr>
        <p:spPr>
          <a:xfrm>
            <a:off x="92869" y="4455980"/>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+9.7%</a:t>
            </a:r>
          </a:p>
        </p:txBody>
      </p:sp>
      <p:sp>
        <p:nvSpPr>
          <p:cNvPr id="40" name="FactMR Scale tick"/>
          <p:cNvSpPr txBox="1"/>
          <p:nvPr/>
        </p:nvSpPr>
        <p:spPr>
          <a:xfrm>
            <a:off x="92869" y="4819301"/>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+4.8%</a:t>
            </a:r>
          </a:p>
        </p:txBody>
      </p:sp>
      <p:sp>
        <p:nvSpPr>
          <p:cNvPr id="41" name="FactMR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05E5C"/>
                </a:solidFill>
                <a:latin typeface="Segoe UI"/>
              </a:rPr>
              <a:t>0%</a:t>
            </a:r>
          </a:p>
        </p:txBody>
      </p:sp>
      <p:sp>
        <p:nvSpPr>
          <p:cNvPr id="42" name="FactMR Scale tick"/>
          <p:cNvSpPr txBox="1"/>
          <p:nvPr/>
        </p:nvSpPr>
        <p:spPr>
          <a:xfrm>
            <a:off x="130969" y="5545945"/>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-4.8%</a:t>
            </a:r>
          </a:p>
        </p:txBody>
      </p:sp>
      <p:sp>
        <p:nvSpPr>
          <p:cNvPr id="43" name="FactMR Scale tick"/>
          <p:cNvSpPr txBox="1"/>
          <p:nvPr/>
        </p:nvSpPr>
        <p:spPr>
          <a:xfrm>
            <a:off x="130969" y="5909266"/>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-9.7%</a:t>
            </a:r>
          </a:p>
        </p:txBody>
      </p:sp>
      <p:cxnSp>
        <p:nvCxnSpPr>
          <p:cNvPr id="44" name="Connector 43"/>
          <p:cNvCxnSpPr/>
          <p:nvPr/>
        </p:nvCxnSpPr>
        <p:spPr>
          <a:xfrm>
            <a:off x="619125" y="5249298"/>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93989" y="4614107"/>
            <a:ext cx="457200" cy="635191"/>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actMR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7" name="Rectangle 46"/>
          <p:cNvSpPr/>
          <p:nvPr/>
        </p:nvSpPr>
        <p:spPr>
          <a:xfrm>
            <a:off x="1900918" y="5212219"/>
            <a:ext cx="457200" cy="3707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actMR Data Label"/>
          <p:cNvSpPr txBox="1"/>
          <p:nvPr/>
        </p:nvSpPr>
        <p:spPr>
          <a:xfrm>
            <a:off x="1626054" y="5069344"/>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9" name="Rectangle 48"/>
          <p:cNvSpPr/>
          <p:nvPr/>
        </p:nvSpPr>
        <p:spPr>
          <a:xfrm>
            <a:off x="2907846" y="4694379"/>
            <a:ext cx="457200" cy="55491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actMR Data Label"/>
          <p:cNvSpPr txBox="1"/>
          <p:nvPr/>
        </p:nvSpPr>
        <p:spPr>
          <a:xfrm>
            <a:off x="2632982" y="4551504"/>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1" name="Rectangle 50"/>
          <p:cNvSpPr/>
          <p:nvPr/>
        </p:nvSpPr>
        <p:spPr>
          <a:xfrm>
            <a:off x="3914775" y="4836944"/>
            <a:ext cx="457200" cy="412354"/>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actMR Data Label"/>
          <p:cNvSpPr txBox="1"/>
          <p:nvPr/>
        </p:nvSpPr>
        <p:spPr>
          <a:xfrm>
            <a:off x="3639911" y="4694069"/>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3" name="Rectangle 52"/>
          <p:cNvSpPr/>
          <p:nvPr/>
        </p:nvSpPr>
        <p:spPr>
          <a:xfrm>
            <a:off x="4921704" y="5249298"/>
            <a:ext cx="457200" cy="467799"/>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tMR Data Label"/>
          <p:cNvSpPr txBox="1"/>
          <p:nvPr/>
        </p:nvSpPr>
        <p:spPr>
          <a:xfrm>
            <a:off x="4646839" y="572662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5" name="Rectangle 54"/>
          <p:cNvSpPr/>
          <p:nvPr/>
        </p:nvSpPr>
        <p:spPr>
          <a:xfrm>
            <a:off x="5928632" y="5249298"/>
            <a:ext cx="457200" cy="54655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actMR Data Label"/>
          <p:cNvSpPr txBox="1"/>
          <p:nvPr/>
        </p:nvSpPr>
        <p:spPr>
          <a:xfrm>
            <a:off x="5653768" y="5805377"/>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7" name="Rectangle 56"/>
          <p:cNvSpPr/>
          <p:nvPr/>
        </p:nvSpPr>
        <p:spPr>
          <a:xfrm>
            <a:off x="6935561" y="5249298"/>
            <a:ext cx="457200" cy="148244"/>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actMR Data Label"/>
          <p:cNvSpPr txBox="1"/>
          <p:nvPr/>
        </p:nvSpPr>
        <p:spPr>
          <a:xfrm>
            <a:off x="6660696" y="5407067"/>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9" name="TextBox 58"/>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North America</a:t>
            </a:r>
          </a:p>
        </p:txBody>
      </p:sp>
      <p:sp>
        <p:nvSpPr>
          <p:cNvPr id="60" name="TextBox 59"/>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Latin America</a:t>
            </a:r>
          </a:p>
        </p:txBody>
      </p:sp>
      <p:sp>
        <p:nvSpPr>
          <p:cNvPr id="61" name="TextBox 60"/>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Western Europe</a:t>
            </a:r>
          </a:p>
        </p:txBody>
      </p:sp>
      <p:sp>
        <p:nvSpPr>
          <p:cNvPr id="62" name="TextBox 61"/>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Eastern Europe</a:t>
            </a:r>
          </a:p>
        </p:txBody>
      </p:sp>
      <p:sp>
        <p:nvSpPr>
          <p:cNvPr id="63" name="TextBox 62"/>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 Asia</a:t>
            </a:r>
          </a:p>
        </p:txBody>
      </p:sp>
      <p:sp>
        <p:nvSpPr>
          <p:cNvPr id="64" name="TextBox 63"/>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South Asia &amp; Pacific</a:t>
            </a:r>
          </a:p>
        </p:txBody>
      </p:sp>
      <p:sp>
        <p:nvSpPr>
          <p:cNvPr id="65" name="TextBox 64"/>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Middle East &amp; Africa</a:t>
            </a:r>
          </a:p>
        </p:txBody>
      </p:sp>
      <p:sp>
        <p:nvSpPr>
          <p:cNvPr id="66" name="Rectangle 65"/>
          <p:cNvSpPr/>
          <p:nvPr/>
        </p:nvSpPr>
        <p:spPr>
          <a:xfrm>
            <a:off x="7915275" y="1317574"/>
            <a:ext cx="41338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68" name="Rectangle 67"/>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70" name="TextBox 6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1" name="Picture 70" descr="lock.png"/>
          <p:cNvPicPr>
            <a:picLocks noChangeAspect="1"/>
          </p:cNvPicPr>
          <p:nvPr/>
        </p:nvPicPr>
        <p:blipFill>
          <a:blip r:embed="rId4"/>
          <a:stretch>
            <a:fillRect/>
          </a:stretch>
        </p:blipFill>
        <p:spPr>
          <a:xfrm>
            <a:off x="1761275" y="1820021"/>
            <a:ext cx="128699" cy="187198"/>
          </a:xfrm>
          <a:prstGeom prst="rect">
            <a:avLst/>
          </a:prstGeom>
        </p:spPr>
      </p:pic>
      <p:pic>
        <p:nvPicPr>
          <p:cNvPr id="72" name="Picture 71" descr="lock.png"/>
          <p:cNvPicPr>
            <a:picLocks noChangeAspect="1"/>
          </p:cNvPicPr>
          <p:nvPr/>
        </p:nvPicPr>
        <p:blipFill>
          <a:blip r:embed="rId4"/>
          <a:stretch>
            <a:fillRect/>
          </a:stretch>
        </p:blipFill>
        <p:spPr>
          <a:xfrm>
            <a:off x="4098075" y="1748312"/>
            <a:ext cx="128699" cy="187198"/>
          </a:xfrm>
          <a:prstGeom prst="rect">
            <a:avLst/>
          </a:prstGeom>
        </p:spPr>
      </p:pic>
      <p:pic>
        <p:nvPicPr>
          <p:cNvPr id="73" name="Picture 72" descr="lock.png"/>
          <p:cNvPicPr>
            <a:picLocks noChangeAspect="1"/>
          </p:cNvPicPr>
          <p:nvPr/>
        </p:nvPicPr>
        <p:blipFill>
          <a:blip r:embed="rId4"/>
          <a:stretch>
            <a:fillRect/>
          </a:stretch>
        </p:blipFill>
        <p:spPr>
          <a:xfrm>
            <a:off x="6434875" y="2985925"/>
            <a:ext cx="128699" cy="187198"/>
          </a:xfrm>
          <a:prstGeom prst="rect">
            <a:avLst/>
          </a:prstGeom>
        </p:spPr>
      </p:pic>
      <p:pic>
        <p:nvPicPr>
          <p:cNvPr id="74" name="Picture 73" descr="lock.png"/>
          <p:cNvPicPr>
            <a:picLocks noChangeAspect="1"/>
          </p:cNvPicPr>
          <p:nvPr/>
        </p:nvPicPr>
        <p:blipFill>
          <a:blip r:embed="rId4"/>
          <a:stretch>
            <a:fillRect/>
          </a:stretch>
        </p:blipFill>
        <p:spPr>
          <a:xfrm>
            <a:off x="1058240" y="4444308"/>
            <a:ext cx="128699" cy="187198"/>
          </a:xfrm>
          <a:prstGeom prst="rect">
            <a:avLst/>
          </a:prstGeom>
        </p:spPr>
      </p:pic>
      <p:pic>
        <p:nvPicPr>
          <p:cNvPr id="75" name="Picture 74" descr="lock.png"/>
          <p:cNvPicPr>
            <a:picLocks noChangeAspect="1"/>
          </p:cNvPicPr>
          <p:nvPr/>
        </p:nvPicPr>
        <p:blipFill>
          <a:blip r:embed="rId4"/>
          <a:stretch>
            <a:fillRect/>
          </a:stretch>
        </p:blipFill>
        <p:spPr>
          <a:xfrm>
            <a:off x="2065168" y="5042419"/>
            <a:ext cx="128699" cy="187198"/>
          </a:xfrm>
          <a:prstGeom prst="rect">
            <a:avLst/>
          </a:prstGeom>
        </p:spPr>
      </p:pic>
      <p:pic>
        <p:nvPicPr>
          <p:cNvPr id="76" name="Picture 75" descr="lock.png"/>
          <p:cNvPicPr>
            <a:picLocks noChangeAspect="1"/>
          </p:cNvPicPr>
          <p:nvPr/>
        </p:nvPicPr>
        <p:blipFill>
          <a:blip r:embed="rId4"/>
          <a:stretch>
            <a:fillRect/>
          </a:stretch>
        </p:blipFill>
        <p:spPr>
          <a:xfrm>
            <a:off x="3072097" y="4524580"/>
            <a:ext cx="128699" cy="187198"/>
          </a:xfrm>
          <a:prstGeom prst="rect">
            <a:avLst/>
          </a:prstGeom>
        </p:spPr>
      </p:pic>
      <p:pic>
        <p:nvPicPr>
          <p:cNvPr id="77" name="Picture 76" descr="lock.png"/>
          <p:cNvPicPr>
            <a:picLocks noChangeAspect="1"/>
          </p:cNvPicPr>
          <p:nvPr/>
        </p:nvPicPr>
        <p:blipFill>
          <a:blip r:embed="rId4"/>
          <a:stretch>
            <a:fillRect/>
          </a:stretch>
        </p:blipFill>
        <p:spPr>
          <a:xfrm>
            <a:off x="4079026" y="4667145"/>
            <a:ext cx="128699" cy="187198"/>
          </a:xfrm>
          <a:prstGeom prst="rect">
            <a:avLst/>
          </a:prstGeom>
        </p:spPr>
      </p:pic>
      <p:pic>
        <p:nvPicPr>
          <p:cNvPr id="78" name="Picture 77" descr="lock.png"/>
          <p:cNvPicPr>
            <a:picLocks noChangeAspect="1"/>
          </p:cNvPicPr>
          <p:nvPr/>
        </p:nvPicPr>
        <p:blipFill>
          <a:blip r:embed="rId4"/>
          <a:stretch>
            <a:fillRect/>
          </a:stretch>
        </p:blipFill>
        <p:spPr>
          <a:xfrm>
            <a:off x="5085954" y="5699697"/>
            <a:ext cx="128699" cy="187198"/>
          </a:xfrm>
          <a:prstGeom prst="rect">
            <a:avLst/>
          </a:prstGeom>
        </p:spPr>
      </p:pic>
      <p:pic>
        <p:nvPicPr>
          <p:cNvPr id="79" name="Picture 78" descr="lock.png"/>
          <p:cNvPicPr>
            <a:picLocks noChangeAspect="1"/>
          </p:cNvPicPr>
          <p:nvPr/>
        </p:nvPicPr>
        <p:blipFill>
          <a:blip r:embed="rId4"/>
          <a:stretch>
            <a:fillRect/>
          </a:stretch>
        </p:blipFill>
        <p:spPr>
          <a:xfrm>
            <a:off x="6092883" y="5778452"/>
            <a:ext cx="128699" cy="187198"/>
          </a:xfrm>
          <a:prstGeom prst="rect">
            <a:avLst/>
          </a:prstGeom>
        </p:spPr>
      </p:pic>
      <p:pic>
        <p:nvPicPr>
          <p:cNvPr id="80" name="Picture 79" descr="lock.png"/>
          <p:cNvPicPr>
            <a:picLocks noChangeAspect="1"/>
          </p:cNvPicPr>
          <p:nvPr/>
        </p:nvPicPr>
        <p:blipFill>
          <a:blip r:embed="rId4"/>
          <a:stretch>
            <a:fillRect/>
          </a:stretch>
        </p:blipFill>
        <p:spPr>
          <a:xfrm>
            <a:off x="7099811" y="5380143"/>
            <a:ext cx="128699" cy="187198"/>
          </a:xfrm>
          <a:prstGeom prst="rect">
            <a:avLst/>
          </a:prstGeom>
        </p:spPr>
      </p:pic>
      <p:pic>
        <p:nvPicPr>
          <p:cNvPr id="81" name="Picture 80" descr="lock.png"/>
          <p:cNvPicPr>
            <a:picLocks noChangeAspect="1"/>
          </p:cNvPicPr>
          <p:nvPr/>
        </p:nvPicPr>
        <p:blipFill>
          <a:blip r:embed="rId4"/>
          <a:stretch>
            <a:fillRect/>
          </a:stretch>
        </p:blipFill>
        <p:spPr>
          <a:xfrm>
            <a:off x="1195485" y="3566047"/>
            <a:ext cx="128699" cy="187198"/>
          </a:xfrm>
          <a:prstGeom prst="rect">
            <a:avLst/>
          </a:prstGeom>
        </p:spPr>
      </p:pic>
      <p:sp>
        <p:nvSpPr>
          <p:cNvPr id="82" name="TextBox 81"/>
          <p:cNvSpPr txBox="1"/>
          <p:nvPr/>
        </p:nvSpPr>
        <p:spPr>
          <a:xfrm>
            <a:off x="1362980" y="3575826"/>
            <a:ext cx="861449" cy="186689"/>
          </a:xfrm>
          <a:prstGeom prst="rect">
            <a:avLst/>
          </a:prstGeom>
          <a:noFill/>
        </p:spPr>
        <p:txBody>
          <a:bodyPr wrap="none" lIns="0" rIns="0" tIns="0" bIns="0">
            <a:spAutoFit/>
          </a:bodyPr>
          <a:lstStyle/>
          <a:p>
            <a:r>
              <a:rPr sz="1100" b="0">
                <a:solidFill>
                  <a:srgbClr val="252423"/>
                </a:solidFill>
                <a:latin typeface="Segoe UI"/>
              </a:rPr>
              <a:t>Wh to Below</a:t>
            </a:r>
          </a:p>
        </p:txBody>
      </p:sp>
      <p:pic>
        <p:nvPicPr>
          <p:cNvPr id="83" name="Picture 82" descr="lock.png"/>
          <p:cNvPicPr>
            <a:picLocks noChangeAspect="1"/>
          </p:cNvPicPr>
          <p:nvPr/>
        </p:nvPicPr>
        <p:blipFill>
          <a:blip r:embed="rId4"/>
          <a:stretch>
            <a:fillRect/>
          </a:stretch>
        </p:blipFill>
        <p:spPr>
          <a:xfrm>
            <a:off x="2172482" y="3566047"/>
            <a:ext cx="128699" cy="187198"/>
          </a:xfrm>
          <a:prstGeom prst="rect">
            <a:avLst/>
          </a:prstGeom>
        </p:spPr>
      </p:pic>
      <p:sp>
        <p:nvSpPr>
          <p:cNvPr id="84" name="TextBox 83"/>
          <p:cNvSpPr txBox="1"/>
          <p:nvPr/>
        </p:nvSpPr>
        <p:spPr>
          <a:xfrm>
            <a:off x="2339978" y="3575826"/>
            <a:ext cx="178519"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5" name="Picture 84" descr="lock.png"/>
          <p:cNvPicPr>
            <a:picLocks noChangeAspect="1"/>
          </p:cNvPicPr>
          <p:nvPr/>
        </p:nvPicPr>
        <p:blipFill>
          <a:blip r:embed="rId4"/>
          <a:stretch>
            <a:fillRect/>
          </a:stretch>
        </p:blipFill>
        <p:spPr>
          <a:xfrm>
            <a:off x="3518608" y="3566047"/>
            <a:ext cx="128699" cy="187198"/>
          </a:xfrm>
          <a:prstGeom prst="rect">
            <a:avLst/>
          </a:prstGeom>
        </p:spPr>
      </p:pic>
      <p:sp>
        <p:nvSpPr>
          <p:cNvPr id="86" name="TextBox 85"/>
          <p:cNvSpPr txBox="1"/>
          <p:nvPr/>
        </p:nvSpPr>
        <p:spPr>
          <a:xfrm>
            <a:off x="3686104" y="3575826"/>
            <a:ext cx="1182868" cy="186689"/>
          </a:xfrm>
          <a:prstGeom prst="rect">
            <a:avLst/>
          </a:prstGeom>
          <a:noFill/>
        </p:spPr>
        <p:txBody>
          <a:bodyPr wrap="none" lIns="0" rIns="0" tIns="0" bIns="0">
            <a:spAutoFit/>
          </a:bodyPr>
          <a:lstStyle/>
          <a:p>
            <a:r>
              <a:rPr sz="1100" b="0">
                <a:solidFill>
                  <a:srgbClr val="252423"/>
                </a:solidFill>
                <a:latin typeface="Segoe UI"/>
              </a:rPr>
              <a:t>Wh to Below 1,5…</a:t>
            </a:r>
          </a:p>
        </p:txBody>
      </p:sp>
      <p:sp>
        <p:nvSpPr>
          <p:cNvPr id="87" name="TextBox 86"/>
          <p:cNvSpPr txBox="1"/>
          <p:nvPr/>
        </p:nvSpPr>
        <p:spPr>
          <a:xfrm>
            <a:off x="8048625" y="1736673"/>
            <a:ext cx="3595283" cy="194310"/>
          </a:xfrm>
          <a:prstGeom prst="rect">
            <a:avLst/>
          </a:prstGeom>
          <a:noFill/>
        </p:spPr>
        <p:txBody>
          <a:bodyPr wrap="none" lIns="0" rIns="0" tIns="0" bIns="0">
            <a:spAutoFit/>
          </a:bodyPr>
          <a:lstStyle/>
          <a:p>
            <a:r>
              <a:rPr sz="1150" b="0">
                <a:solidFill>
                  <a:srgbClr val="252423"/>
                </a:solidFill>
                <a:latin typeface="Segoe UI"/>
              </a:rPr>
              <a:t>▪ The chart shows global average pricing of key energy</a:t>
            </a:r>
          </a:p>
        </p:txBody>
      </p:sp>
      <p:sp>
        <p:nvSpPr>
          <p:cNvPr id="88" name="TextBox 87"/>
          <p:cNvSpPr txBox="1"/>
          <p:nvPr/>
        </p:nvSpPr>
        <p:spPr>
          <a:xfrm>
            <a:off x="8048625" y="1911934"/>
            <a:ext cx="3815620" cy="194310"/>
          </a:xfrm>
          <a:prstGeom prst="rect">
            <a:avLst/>
          </a:prstGeom>
          <a:noFill/>
        </p:spPr>
        <p:txBody>
          <a:bodyPr wrap="none" lIns="0" rIns="0" tIns="0" bIns="0">
            <a:spAutoFit/>
          </a:bodyPr>
          <a:lstStyle/>
          <a:p>
            <a:r>
              <a:rPr sz="1150" b="0">
                <a:solidFill>
                  <a:srgbClr val="252423"/>
                </a:solidFill>
                <a:latin typeface="Segoe UI"/>
              </a:rPr>
              <a:t>storage capacity types in USD, harmonised across regions.</a:t>
            </a:r>
          </a:p>
        </p:txBody>
      </p:sp>
      <p:sp>
        <p:nvSpPr>
          <p:cNvPr id="89" name="TextBox 88"/>
          <p:cNvSpPr txBox="1"/>
          <p:nvPr/>
        </p:nvSpPr>
        <p:spPr>
          <a:xfrm>
            <a:off x="8048625" y="2087194"/>
            <a:ext cx="3322910" cy="194310"/>
          </a:xfrm>
          <a:prstGeom prst="rect">
            <a:avLst/>
          </a:prstGeom>
          <a:noFill/>
        </p:spPr>
        <p:txBody>
          <a:bodyPr wrap="none" lIns="0" rIns="0" tIns="0" bIns="0">
            <a:spAutoFit/>
          </a:bodyPr>
          <a:lstStyle/>
          <a:p>
            <a:r>
              <a:rPr sz="1150" b="0">
                <a:solidFill>
                  <a:srgbClr val="252423"/>
                </a:solidFill>
                <a:latin typeface="Segoe UI"/>
              </a:rPr>
              <a:t>Each candlestick spans the minimum-to-maximum</a:t>
            </a:r>
          </a:p>
        </p:txBody>
      </p:sp>
      <p:sp>
        <p:nvSpPr>
          <p:cNvPr id="90" name="TextBox 89"/>
          <p:cNvSpPr txBox="1"/>
          <p:nvPr/>
        </p:nvSpPr>
        <p:spPr>
          <a:xfrm>
            <a:off x="8048625" y="2262454"/>
            <a:ext cx="3781157" cy="194310"/>
          </a:xfrm>
          <a:prstGeom prst="rect">
            <a:avLst/>
          </a:prstGeom>
          <a:noFill/>
        </p:spPr>
        <p:txBody>
          <a:bodyPr wrap="none" lIns="0" rIns="0" tIns="0" bIns="0">
            <a:spAutoFit/>
          </a:bodyPr>
          <a:lstStyle/>
          <a:p>
            <a:r>
              <a:rPr sz="1150" b="0">
                <a:solidFill>
                  <a:srgbClr val="252423"/>
                </a:solidFill>
                <a:latin typeface="Segoe UI"/>
              </a:rPr>
              <a:t>observed price within the base year, giving a clear read of</a:t>
            </a:r>
          </a:p>
        </p:txBody>
      </p:sp>
      <p:sp>
        <p:nvSpPr>
          <p:cNvPr id="91" name="TextBox 90"/>
          <p:cNvSpPr txBox="1"/>
          <p:nvPr/>
        </p:nvSpPr>
        <p:spPr>
          <a:xfrm>
            <a:off x="8048625" y="2437714"/>
            <a:ext cx="2309426" cy="194310"/>
          </a:xfrm>
          <a:prstGeom prst="rect">
            <a:avLst/>
          </a:prstGeom>
          <a:noFill/>
        </p:spPr>
        <p:txBody>
          <a:bodyPr wrap="none" lIns="0" rIns="0" tIns="0" bIns="0">
            <a:spAutoFit/>
          </a:bodyPr>
          <a:lstStyle/>
          <a:p>
            <a:r>
              <a:rPr sz="1150" b="0">
                <a:solidFill>
                  <a:srgbClr val="252423"/>
                </a:solidFill>
                <a:latin typeface="Segoe UI"/>
              </a:rPr>
              <a:t>price range and market dispersion.</a:t>
            </a:r>
          </a:p>
        </p:txBody>
      </p:sp>
      <p:sp>
        <p:nvSpPr>
          <p:cNvPr id="92" name="TextBox 91"/>
          <p:cNvSpPr txBox="1"/>
          <p:nvPr/>
        </p:nvSpPr>
        <p:spPr>
          <a:xfrm>
            <a:off x="8048625" y="2665551"/>
            <a:ext cx="3653529" cy="194310"/>
          </a:xfrm>
          <a:prstGeom prst="rect">
            <a:avLst/>
          </a:prstGeom>
          <a:noFill/>
        </p:spPr>
        <p:txBody>
          <a:bodyPr wrap="none" lIns="0" rIns="0" tIns="0" bIns="0">
            <a:spAutoFit/>
          </a:bodyPr>
          <a:lstStyle/>
          <a:p>
            <a:r>
              <a:rPr sz="1150" b="0">
                <a:solidFill>
                  <a:srgbClr val="252423"/>
                </a:solidFill>
                <a:latin typeface="Segoe UI"/>
              </a:rPr>
              <a:t>▪ Wider bodies mark a larger gap between opening and</a:t>
            </a:r>
          </a:p>
        </p:txBody>
      </p:sp>
      <p:sp>
        <p:nvSpPr>
          <p:cNvPr id="93" name="TextBox 92"/>
          <p:cNvSpPr txBox="1"/>
          <p:nvPr/>
        </p:nvSpPr>
        <p:spPr>
          <a:xfrm>
            <a:off x="8048625" y="2840811"/>
            <a:ext cx="3680066" cy="194310"/>
          </a:xfrm>
          <a:prstGeom prst="rect">
            <a:avLst/>
          </a:prstGeom>
          <a:noFill/>
        </p:spPr>
        <p:txBody>
          <a:bodyPr wrap="none" lIns="0" rIns="0" tIns="0" bIns="0">
            <a:spAutoFit/>
          </a:bodyPr>
          <a:lstStyle/>
          <a:p>
            <a:r>
              <a:rPr sz="1150" b="0">
                <a:solidFill>
                  <a:srgbClr val="252423"/>
                </a:solidFill>
                <a:latin typeface="Segoe UI"/>
              </a:rPr>
              <a:t>closing price levels '1,000 Wh to Below 1,500 Wh' shows</a:t>
            </a:r>
          </a:p>
        </p:txBody>
      </p:sp>
      <p:sp>
        <p:nvSpPr>
          <p:cNvPr id="94" name="TextBox 93"/>
          <p:cNvSpPr txBox="1"/>
          <p:nvPr/>
        </p:nvSpPr>
        <p:spPr>
          <a:xfrm>
            <a:off x="8048625" y="3016071"/>
            <a:ext cx="1564071" cy="194310"/>
          </a:xfrm>
          <a:prstGeom prst="rect">
            <a:avLst/>
          </a:prstGeom>
          <a:noFill/>
        </p:spPr>
        <p:txBody>
          <a:bodyPr wrap="none" lIns="0" rIns="0" tIns="0" bIns="0">
            <a:spAutoFit/>
          </a:bodyPr>
          <a:lstStyle/>
          <a:p>
            <a:r>
              <a:rPr sz="1150" b="0">
                <a:solidFill>
                  <a:srgbClr val="252423"/>
                </a:solidFill>
                <a:latin typeface="Segoe UI"/>
              </a:rPr>
              <a:t>the most movement (+</a:t>
            </a:r>
          </a:p>
        </p:txBody>
      </p:sp>
      <p:pic>
        <p:nvPicPr>
          <p:cNvPr id="95" name="Picture 94" descr="lock.png"/>
          <p:cNvPicPr>
            <a:picLocks noChangeAspect="1"/>
          </p:cNvPicPr>
          <p:nvPr/>
        </p:nvPicPr>
        <p:blipFill>
          <a:blip r:embed="rId4"/>
          <a:stretch>
            <a:fillRect/>
          </a:stretch>
        </p:blipFill>
        <p:spPr>
          <a:xfrm>
            <a:off x="9561849" y="3005848"/>
            <a:ext cx="134549" cy="195707"/>
          </a:xfrm>
          <a:prstGeom prst="rect">
            <a:avLst/>
          </a:prstGeom>
        </p:spPr>
      </p:pic>
      <p:sp>
        <p:nvSpPr>
          <p:cNvPr id="96" name="TextBox 95"/>
          <p:cNvSpPr txBox="1"/>
          <p:nvPr/>
        </p:nvSpPr>
        <p:spPr>
          <a:xfrm>
            <a:off x="9736959" y="3016071"/>
            <a:ext cx="1960854" cy="194310"/>
          </a:xfrm>
          <a:prstGeom prst="rect">
            <a:avLst/>
          </a:prstGeom>
          <a:noFill/>
        </p:spPr>
        <p:txBody>
          <a:bodyPr wrap="none" lIns="0" rIns="0" tIns="0" bIns="0">
            <a:spAutoFit/>
          </a:bodyPr>
          <a:lstStyle/>
          <a:p>
            <a:r>
              <a:rPr sz="1150" b="0">
                <a:solidFill>
                  <a:srgbClr val="252423"/>
                </a:solidFill>
                <a:latin typeface="Segoe UI"/>
              </a:rPr>
              <a:t>) and '500 Wh to Below 1,000</a:t>
            </a:r>
          </a:p>
        </p:txBody>
      </p:sp>
      <p:sp>
        <p:nvSpPr>
          <p:cNvPr id="97" name="TextBox 96"/>
          <p:cNvSpPr txBox="1"/>
          <p:nvPr/>
        </p:nvSpPr>
        <p:spPr>
          <a:xfrm>
            <a:off x="8048625" y="3191331"/>
            <a:ext cx="1099405" cy="194310"/>
          </a:xfrm>
          <a:prstGeom prst="rect">
            <a:avLst/>
          </a:prstGeom>
          <a:noFill/>
        </p:spPr>
        <p:txBody>
          <a:bodyPr wrap="none" lIns="0" rIns="0" tIns="0" bIns="0">
            <a:spAutoFit/>
          </a:bodyPr>
          <a:lstStyle/>
          <a:p>
            <a:r>
              <a:rPr sz="1150" b="0">
                <a:solidFill>
                  <a:srgbClr val="252423"/>
                </a:solidFill>
                <a:latin typeface="Segoe UI"/>
              </a:rPr>
              <a:t>Wh' the least (+</a:t>
            </a:r>
          </a:p>
        </p:txBody>
      </p:sp>
      <p:pic>
        <p:nvPicPr>
          <p:cNvPr id="98" name="Picture 97" descr="lock.png"/>
          <p:cNvPicPr>
            <a:picLocks noChangeAspect="1"/>
          </p:cNvPicPr>
          <p:nvPr/>
        </p:nvPicPr>
        <p:blipFill>
          <a:blip r:embed="rId4"/>
          <a:stretch>
            <a:fillRect/>
          </a:stretch>
        </p:blipFill>
        <p:spPr>
          <a:xfrm>
            <a:off x="9097184" y="3181108"/>
            <a:ext cx="134549" cy="195707"/>
          </a:xfrm>
          <a:prstGeom prst="rect">
            <a:avLst/>
          </a:prstGeom>
        </p:spPr>
      </p:pic>
      <p:sp>
        <p:nvSpPr>
          <p:cNvPr id="99" name="TextBox 98"/>
          <p:cNvSpPr txBox="1"/>
          <p:nvPr/>
        </p:nvSpPr>
        <p:spPr>
          <a:xfrm>
            <a:off x="9272293" y="3191331"/>
            <a:ext cx="2105999" cy="194310"/>
          </a:xfrm>
          <a:prstGeom prst="rect">
            <a:avLst/>
          </a:prstGeom>
          <a:noFill/>
        </p:spPr>
        <p:txBody>
          <a:bodyPr wrap="none" lIns="0" rIns="0" tIns="0" bIns="0">
            <a:spAutoFit/>
          </a:bodyPr>
          <a:lstStyle/>
          <a:p>
            <a:r>
              <a:rPr sz="1150" b="0">
                <a:solidFill>
                  <a:srgbClr val="252423"/>
                </a:solidFill>
                <a:latin typeface="Segoe UI"/>
              </a:rPr>
              <a:t>) variability stakeholders should</a:t>
            </a:r>
          </a:p>
        </p:txBody>
      </p:sp>
      <p:sp>
        <p:nvSpPr>
          <p:cNvPr id="100" name="TextBox 99"/>
          <p:cNvSpPr txBox="1"/>
          <p:nvPr/>
        </p:nvSpPr>
        <p:spPr>
          <a:xfrm>
            <a:off x="8048625" y="3366591"/>
            <a:ext cx="3150301" cy="194310"/>
          </a:xfrm>
          <a:prstGeom prst="rect">
            <a:avLst/>
          </a:prstGeom>
          <a:noFill/>
        </p:spPr>
        <p:txBody>
          <a:bodyPr wrap="none" lIns="0" rIns="0" tIns="0" bIns="0">
            <a:spAutoFit/>
          </a:bodyPr>
          <a:lstStyle/>
          <a:p>
            <a:r>
              <a:rPr sz="1150" b="0">
                <a:solidFill>
                  <a:srgbClr val="252423"/>
                </a:solidFill>
                <a:latin typeface="Segoe UI"/>
              </a:rPr>
              <a:t>monitor when planning procurement or pricing.</a:t>
            </a:r>
          </a:p>
        </p:txBody>
      </p:sp>
      <p:sp>
        <p:nvSpPr>
          <p:cNvPr id="101" name="TextBox 100"/>
          <p:cNvSpPr txBox="1"/>
          <p:nvPr/>
        </p:nvSpPr>
        <p:spPr>
          <a:xfrm>
            <a:off x="8048625" y="3594429"/>
            <a:ext cx="3760503" cy="194310"/>
          </a:xfrm>
          <a:prstGeom prst="rect">
            <a:avLst/>
          </a:prstGeom>
          <a:noFill/>
        </p:spPr>
        <p:txBody>
          <a:bodyPr wrap="none" lIns="0" rIns="0" tIns="0" bIns="0">
            <a:spAutoFit/>
          </a:bodyPr>
          <a:lstStyle/>
          <a:p>
            <a:r>
              <a:rPr sz="1150" b="0">
                <a:solidFill>
                  <a:srgbClr val="252423"/>
                </a:solidFill>
                <a:latin typeface="Segoe UI"/>
              </a:rPr>
              <a:t>▪ The lower chart indexes region-level price movement to</a:t>
            </a:r>
          </a:p>
        </p:txBody>
      </p:sp>
      <p:sp>
        <p:nvSpPr>
          <p:cNvPr id="102" name="TextBox 101"/>
          <p:cNvSpPr txBox="1"/>
          <p:nvPr/>
        </p:nvSpPr>
        <p:spPr>
          <a:xfrm>
            <a:off x="8048625" y="3769689"/>
            <a:ext cx="3681243" cy="194310"/>
          </a:xfrm>
          <a:prstGeom prst="rect">
            <a:avLst/>
          </a:prstGeom>
          <a:noFill/>
        </p:spPr>
        <p:txBody>
          <a:bodyPr wrap="none" lIns="0" rIns="0" tIns="0" bIns="0">
            <a:spAutoFit/>
          </a:bodyPr>
          <a:lstStyle/>
          <a:p>
            <a:r>
              <a:rPr sz="1150" b="0">
                <a:solidFill>
                  <a:srgbClr val="252423"/>
                </a:solidFill>
                <a:latin typeface="Segoe UI"/>
              </a:rPr>
              <a:t>the base year, applied consistently across the horizon to</a:t>
            </a:r>
          </a:p>
        </p:txBody>
      </p:sp>
      <p:sp>
        <p:nvSpPr>
          <p:cNvPr id="103" name="TextBox 102"/>
          <p:cNvSpPr txBox="1"/>
          <p:nvPr/>
        </p:nvSpPr>
        <p:spPr>
          <a:xfrm>
            <a:off x="8048625" y="3944949"/>
            <a:ext cx="3538201" cy="194310"/>
          </a:xfrm>
          <a:prstGeom prst="rect">
            <a:avLst/>
          </a:prstGeom>
          <a:noFill/>
        </p:spPr>
        <p:txBody>
          <a:bodyPr wrap="none" lIns="0" rIns="0" tIns="0" bIns="0">
            <a:spAutoFit/>
          </a:bodyPr>
          <a:lstStyle/>
          <a:p>
            <a:r>
              <a:rPr sz="1150" b="0">
                <a:solidFill>
                  <a:srgbClr val="252423"/>
                </a:solidFill>
                <a:latin typeface="Segoe UI"/>
              </a:rPr>
              <a:t>strip out year-on-year inflationary volatility and reveal</a:t>
            </a:r>
          </a:p>
        </p:txBody>
      </p:sp>
      <p:sp>
        <p:nvSpPr>
          <p:cNvPr id="104" name="TextBox 103"/>
          <p:cNvSpPr txBox="1"/>
          <p:nvPr/>
        </p:nvSpPr>
        <p:spPr>
          <a:xfrm>
            <a:off x="8048625" y="4120209"/>
            <a:ext cx="1446599" cy="194310"/>
          </a:xfrm>
          <a:prstGeom prst="rect">
            <a:avLst/>
          </a:prstGeom>
          <a:noFill/>
        </p:spPr>
        <p:txBody>
          <a:bodyPr wrap="none" lIns="0" rIns="0" tIns="0" bIns="0">
            <a:spAutoFit/>
          </a:bodyPr>
          <a:lstStyle/>
          <a:p>
            <a:r>
              <a:rPr sz="1150" b="0">
                <a:solidFill>
                  <a:srgbClr val="252423"/>
                </a:solidFill>
                <a:latin typeface="Segoe UI"/>
              </a:rPr>
              <a:t>structural price shifts.</a:t>
            </a:r>
          </a:p>
        </p:txBody>
      </p:sp>
      <p:sp>
        <p:nvSpPr>
          <p:cNvPr id="105" name="TextBox 104"/>
          <p:cNvSpPr txBox="1"/>
          <p:nvPr/>
        </p:nvSpPr>
        <p:spPr>
          <a:xfrm>
            <a:off x="8048625" y="4348047"/>
            <a:ext cx="2564059" cy="194310"/>
          </a:xfrm>
          <a:prstGeom prst="rect">
            <a:avLst/>
          </a:prstGeom>
          <a:noFill/>
        </p:spPr>
        <p:txBody>
          <a:bodyPr wrap="none" lIns="0" rIns="0" tIns="0" bIns="0">
            <a:spAutoFit/>
          </a:bodyPr>
          <a:lstStyle/>
          <a:p>
            <a:r>
              <a:rPr sz="1150" b="0">
                <a:solidFill>
                  <a:srgbClr val="252423"/>
                </a:solidFill>
                <a:latin typeface="Segoe UI"/>
              </a:rPr>
              <a:t>▪ Region price indices diverge by up to</a:t>
            </a:r>
          </a:p>
        </p:txBody>
      </p:sp>
      <p:pic>
        <p:nvPicPr>
          <p:cNvPr id="106" name="Picture 105" descr="lock.png"/>
          <p:cNvPicPr>
            <a:picLocks noChangeAspect="1"/>
          </p:cNvPicPr>
          <p:nvPr/>
        </p:nvPicPr>
        <p:blipFill>
          <a:blip r:embed="rId4"/>
          <a:stretch>
            <a:fillRect/>
          </a:stretch>
        </p:blipFill>
        <p:spPr>
          <a:xfrm>
            <a:off x="10561838" y="4337824"/>
            <a:ext cx="134549" cy="195707"/>
          </a:xfrm>
          <a:prstGeom prst="rect">
            <a:avLst/>
          </a:prstGeom>
        </p:spPr>
      </p:pic>
      <p:sp>
        <p:nvSpPr>
          <p:cNvPr id="107" name="TextBox 106"/>
          <p:cNvSpPr txBox="1"/>
          <p:nvPr/>
        </p:nvSpPr>
        <p:spPr>
          <a:xfrm>
            <a:off x="10736947" y="4348047"/>
            <a:ext cx="984154" cy="194310"/>
          </a:xfrm>
          <a:prstGeom prst="rect">
            <a:avLst/>
          </a:prstGeom>
          <a:noFill/>
        </p:spPr>
        <p:txBody>
          <a:bodyPr wrap="none" lIns="0" rIns="0" tIns="0" bIns="0">
            <a:spAutoFit/>
          </a:bodyPr>
          <a:lstStyle/>
          <a:p>
            <a:r>
              <a:rPr sz="1150" b="0">
                <a:solidFill>
                  <a:srgbClr val="252423"/>
                </a:solidFill>
                <a:latin typeface="Segoe UI"/>
              </a:rPr>
              <a:t>between 2026</a:t>
            </a:r>
          </a:p>
        </p:txBody>
      </p:sp>
      <p:sp>
        <p:nvSpPr>
          <p:cNvPr id="108" name="TextBox 107"/>
          <p:cNvSpPr txBox="1"/>
          <p:nvPr/>
        </p:nvSpPr>
        <p:spPr>
          <a:xfrm>
            <a:off x="8048625" y="4523307"/>
            <a:ext cx="3571277" cy="194310"/>
          </a:xfrm>
          <a:prstGeom prst="rect">
            <a:avLst/>
          </a:prstGeom>
          <a:noFill/>
        </p:spPr>
        <p:txBody>
          <a:bodyPr wrap="none" lIns="0" rIns="0" tIns="0" bIns="0">
            <a:spAutoFit/>
          </a:bodyPr>
          <a:lstStyle/>
          <a:p>
            <a:r>
              <a:rPr sz="1150" b="0">
                <a:solidFill>
                  <a:srgbClr val="252423"/>
                </a:solidFill>
                <a:latin typeface="Segoe UI"/>
              </a:rPr>
              <a:t>and 2036: higher-priced regions start higher and grow</a:t>
            </a:r>
          </a:p>
        </p:txBody>
      </p:sp>
      <p:sp>
        <p:nvSpPr>
          <p:cNvPr id="109" name="TextBox 108"/>
          <p:cNvSpPr txBox="1"/>
          <p:nvPr/>
        </p:nvSpPr>
        <p:spPr>
          <a:xfrm>
            <a:off x="8048625" y="4698567"/>
            <a:ext cx="3349519" cy="194310"/>
          </a:xfrm>
          <a:prstGeom prst="rect">
            <a:avLst/>
          </a:prstGeom>
          <a:noFill/>
        </p:spPr>
        <p:txBody>
          <a:bodyPr wrap="none" lIns="0" rIns="0" tIns="0" bIns="0">
            <a:spAutoFit/>
          </a:bodyPr>
          <a:lstStyle/>
          <a:p>
            <a:r>
              <a:rPr sz="1150" b="0">
                <a:solidFill>
                  <a:srgbClr val="252423"/>
                </a:solidFill>
                <a:latin typeface="Segoe UI"/>
              </a:rPr>
              <a:t>steadily, while lower-priced regions start lower and</a:t>
            </a:r>
          </a:p>
        </p:txBody>
      </p:sp>
      <p:sp>
        <p:nvSpPr>
          <p:cNvPr id="110" name="TextBox 109"/>
          <p:cNvSpPr txBox="1"/>
          <p:nvPr/>
        </p:nvSpPr>
        <p:spPr>
          <a:xfrm>
            <a:off x="8048625" y="4873827"/>
            <a:ext cx="2490450" cy="194310"/>
          </a:xfrm>
          <a:prstGeom prst="rect">
            <a:avLst/>
          </a:prstGeom>
          <a:noFill/>
        </p:spPr>
        <p:txBody>
          <a:bodyPr wrap="none" lIns="0" rIns="0" tIns="0" bIns="0">
            <a:spAutoFit/>
          </a:bodyPr>
          <a:lstStyle/>
          <a:p>
            <a:r>
              <a:rPr sz="1150" b="0">
                <a:solidFill>
                  <a:srgbClr val="252423"/>
                </a:solidFill>
                <a:latin typeface="Segoe UI"/>
              </a:rPr>
              <a:t>converge, reflecting catch-up growth.</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Pricing Assessment: By Energy Storage Capacity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Average price (US$/Units) by energy storage capacity, 2021 to 2036, with 2026 price index and growth outlook</a:t>
            </a:r>
          </a:p>
        </p:txBody>
      </p:sp>
      <p:sp>
        <p:nvSpPr>
          <p:cNvPr id="8" name="Rectangle 7"/>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9" name="Rectangle 8"/>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0" name="TextBox 9"/>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Energy Storage Capacity, 2021 to 2036 (US$/Units)</a:t>
            </a:r>
          </a:p>
        </p:txBody>
      </p:sp>
      <p:graphicFrame>
        <p:nvGraphicFramePr>
          <p:cNvPr id="11" name="FactMR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2" name="TextBox 11"/>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3" name="Rectangle 12"/>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4" name="TextBox 13"/>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5" name="FactMR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6" name="Table 15"/>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69418">
                <a:tc>
                  <a:txBody>
                    <a:bodyPr wrap="square"/>
                    <a:lstStyle/>
                    <a:p>
                      <a:pPr algn="l"/>
                      <a:r>
                        <a:rPr sz="850" b="1">
                          <a:solidFill>
                            <a:srgbClr val="FFFFFF"/>
                          </a:solidFill>
                          <a:latin typeface="Calibri"/>
                        </a:rPr>
                        <a:t>Energy Storage Capacity</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69418">
                <a:tc>
                  <a:txBody>
                    <a:bodyPr wrap="square"/>
                    <a:lstStyle/>
                    <a:p>
                      <a:pPr algn="l"/>
                      <a:r>
                        <a:rPr sz="850" b="1">
                          <a:solidFill>
                            <a:srgbClr val="1F1F1F"/>
                          </a:solidFill>
                          <a:latin typeface="Calibri"/>
                        </a:rPr>
                        <a:t>1,000 Wh to Below 1,500 Wh</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69418">
                <a:tc>
                  <a:txBody>
                    <a:bodyPr wrap="square"/>
                    <a:lstStyle/>
                    <a:p>
                      <a:pPr algn="l"/>
                      <a:r>
                        <a:rPr sz="850" b="1">
                          <a:solidFill>
                            <a:srgbClr val="1F1F1F"/>
                          </a:solidFill>
                          <a:latin typeface="Calibri"/>
                        </a:rPr>
                        <a:t>500 Wh to Below 1,000 Wh</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369418">
                <a:tc>
                  <a:txBody>
                    <a:bodyPr wrap="square"/>
                    <a:lstStyle/>
                    <a:p>
                      <a:pPr algn="l"/>
                      <a:r>
                        <a:rPr sz="850" b="1">
                          <a:solidFill>
                            <a:srgbClr val="1F1F1F"/>
                          </a:solidFill>
                          <a:latin typeface="Calibri"/>
                        </a:rPr>
                        <a:t>1,500 Wh to 2,000 Wh</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36941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7" name="Rectangle 16"/>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8" name="Oval 17"/>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9" name="TextBox 18"/>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0" name="TextBox 19"/>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1" name="Rectangle 20"/>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2" name="Oval 21"/>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3" name="TextBox 22"/>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4" name="TextBox 23"/>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5" name="Rectangle 24"/>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6" name="Oval 25"/>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7" name="TextBox 26"/>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8" name="TextBox 27"/>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9" name="TextBox 28"/>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1" name="Picture 30" descr="lock.png"/>
          <p:cNvPicPr>
            <a:picLocks noChangeAspect="1"/>
          </p:cNvPicPr>
          <p:nvPr/>
        </p:nvPicPr>
        <p:blipFill>
          <a:blip r:embed="rId6"/>
          <a:stretch>
            <a:fillRect/>
          </a:stretch>
        </p:blipFill>
        <p:spPr>
          <a:xfrm>
            <a:off x="10283571" y="4071291"/>
            <a:ext cx="330041" cy="480060"/>
          </a:xfrm>
          <a:prstGeom prst="rect">
            <a:avLst/>
          </a:prstGeom>
        </p:spPr>
      </p:pic>
      <p:sp>
        <p:nvSpPr>
          <p:cNvPr id="32" name="TextBox 31"/>
          <p:cNvSpPr txBox="1"/>
          <p:nvPr/>
        </p:nvSpPr>
        <p:spPr>
          <a:xfrm>
            <a:off x="411480" y="1110615"/>
            <a:ext cx="5300712" cy="217169"/>
          </a:xfrm>
          <a:prstGeom prst="rect">
            <a:avLst/>
          </a:prstGeom>
          <a:noFill/>
        </p:spPr>
        <p:txBody>
          <a:bodyPr wrap="none" lIns="0" rIns="0" tIns="0" bIns="0">
            <a:spAutoFit/>
          </a:bodyPr>
          <a:lstStyle/>
          <a:p>
            <a:r>
              <a:rPr sz="1300" b="1">
                <a:solidFill>
                  <a:srgbClr val="FFFFFF"/>
                </a:solidFill>
                <a:latin typeface="Calibri"/>
              </a:rPr>
              <a:t>1,000 Wh to Below 1,500 Wh commands the highest 2026 price point at US$</a:t>
            </a:r>
          </a:p>
        </p:txBody>
      </p:sp>
      <p:pic>
        <p:nvPicPr>
          <p:cNvPr id="33" name="Picture 32" descr="lock.png"/>
          <p:cNvPicPr>
            <a:picLocks noChangeAspect="1"/>
          </p:cNvPicPr>
          <p:nvPr/>
        </p:nvPicPr>
        <p:blipFill>
          <a:blip r:embed="rId6"/>
          <a:stretch>
            <a:fillRect/>
          </a:stretch>
        </p:blipFill>
        <p:spPr>
          <a:xfrm>
            <a:off x="5664653" y="1099058"/>
            <a:ext cx="152098" cy="221234"/>
          </a:xfrm>
          <a:prstGeom prst="rect">
            <a:avLst/>
          </a:prstGeom>
        </p:spPr>
      </p:pic>
      <p:sp>
        <p:nvSpPr>
          <p:cNvPr id="34" name="TextBox 33"/>
          <p:cNvSpPr txBox="1"/>
          <p:nvPr/>
        </p:nvSpPr>
        <p:spPr>
          <a:xfrm>
            <a:off x="5862602"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5" name="Picture 34" descr="lock.png"/>
          <p:cNvPicPr>
            <a:picLocks noChangeAspect="1"/>
          </p:cNvPicPr>
          <p:nvPr/>
        </p:nvPicPr>
        <p:blipFill>
          <a:blip r:embed="rId6"/>
          <a:stretch>
            <a:fillRect/>
          </a:stretch>
        </p:blipFill>
        <p:spPr>
          <a:xfrm>
            <a:off x="6483946" y="1099058"/>
            <a:ext cx="152098" cy="221234"/>
          </a:xfrm>
          <a:prstGeom prst="rect">
            <a:avLst/>
          </a:prstGeom>
        </p:spPr>
      </p:pic>
      <p:sp>
        <p:nvSpPr>
          <p:cNvPr id="36" name="TextBox 35"/>
          <p:cNvSpPr txBox="1"/>
          <p:nvPr/>
        </p:nvSpPr>
        <p:spPr>
          <a:xfrm>
            <a:off x="6681896" y="1110615"/>
            <a:ext cx="2660724" cy="217169"/>
          </a:xfrm>
          <a:prstGeom prst="rect">
            <a:avLst/>
          </a:prstGeom>
          <a:noFill/>
        </p:spPr>
        <p:txBody>
          <a:bodyPr wrap="none" lIns="0" rIns="0" tIns="0" bIns="0">
            <a:spAutoFit/>
          </a:bodyPr>
          <a:lstStyle/>
          <a:p>
            <a:r>
              <a:rPr sz="1300" b="1">
                <a:solidFill>
                  <a:srgbClr val="FFFFFF"/>
                </a:solidFill>
                <a:latin typeface="Calibri"/>
              </a:rPr>
              <a:t>premium over 1,500 Wh to 2,000 Wh.</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093243" cy="179069"/>
          </a:xfrm>
          <a:prstGeom prst="rect">
            <a:avLst/>
          </a:prstGeom>
          <a:noFill/>
        </p:spPr>
        <p:txBody>
          <a:bodyPr wrap="none" lIns="0" rIns="0" tIns="0" bIns="0">
            <a:spAutoFit/>
          </a:bodyPr>
          <a:lstStyle/>
          <a:p>
            <a:r>
              <a:rPr sz="1050" b="0">
                <a:solidFill>
                  <a:srgbClr val="1F1F1F"/>
                </a:solidFill>
                <a:latin typeface="Calibri"/>
              </a:rPr>
              <a:t>1,000 Wh to Below 1,500 Wh sits at the top of the 2026</a:t>
            </a:r>
          </a:p>
        </p:txBody>
      </p:sp>
      <p:sp>
        <p:nvSpPr>
          <p:cNvPr id="41" name="TextBox 40"/>
          <p:cNvSpPr txBox="1"/>
          <p:nvPr/>
        </p:nvSpPr>
        <p:spPr>
          <a:xfrm>
            <a:off x="806576" y="5690996"/>
            <a:ext cx="1493825" cy="179069"/>
          </a:xfrm>
          <a:prstGeom prst="rect">
            <a:avLst/>
          </a:prstGeom>
          <a:noFill/>
        </p:spPr>
        <p:txBody>
          <a:bodyPr wrap="none" lIns="0" rIns="0" tIns="0" bIns="0">
            <a:spAutoFit/>
          </a:bodyPr>
          <a:lstStyle/>
          <a:p>
            <a:r>
              <a:rPr sz="1050" b="0">
                <a:solidFill>
                  <a:srgbClr val="1F1F1F"/>
                </a:solidFill>
                <a:latin typeface="Calibri"/>
              </a:rPr>
              <a:t>price ladder at an index of</a:t>
            </a:r>
          </a:p>
        </p:txBody>
      </p:sp>
      <p:pic>
        <p:nvPicPr>
          <p:cNvPr id="42" name="Picture 41" descr="lock.png"/>
          <p:cNvPicPr>
            <a:picLocks noChangeAspect="1"/>
          </p:cNvPicPr>
          <p:nvPr/>
        </p:nvPicPr>
        <p:blipFill>
          <a:blip r:embed="rId6"/>
          <a:stretch>
            <a:fillRect/>
          </a:stretch>
        </p:blipFill>
        <p:spPr>
          <a:xfrm>
            <a:off x="2247351" y="5681662"/>
            <a:ext cx="122849" cy="178689"/>
          </a:xfrm>
          <a:prstGeom prst="rect">
            <a:avLst/>
          </a:prstGeom>
        </p:spPr>
      </p:pic>
      <p:sp>
        <p:nvSpPr>
          <p:cNvPr id="43" name="TextBox 42"/>
          <p:cNvSpPr txBox="1"/>
          <p:nvPr/>
        </p:nvSpPr>
        <p:spPr>
          <a:xfrm>
            <a:off x="2407233" y="5690996"/>
            <a:ext cx="1466217" cy="179069"/>
          </a:xfrm>
          <a:prstGeom prst="rect">
            <a:avLst/>
          </a:prstGeom>
          <a:noFill/>
        </p:spPr>
        <p:txBody>
          <a:bodyPr wrap="none" lIns="0" rIns="0" tIns="0" bIns="0">
            <a:spAutoFit/>
          </a:bodyPr>
          <a:lstStyle/>
          <a:p>
            <a:r>
              <a:rPr sz="1050" b="0">
                <a:solidFill>
                  <a:srgbClr val="1F1F1F"/>
                </a:solidFill>
                <a:latin typeface="Calibri"/>
              </a:rPr>
              <a:t>, while 1,500 Wh to 2,000</a:t>
            </a:r>
          </a:p>
        </p:txBody>
      </p:sp>
      <p:sp>
        <p:nvSpPr>
          <p:cNvPr id="44" name="TextBox 43"/>
          <p:cNvSpPr txBox="1"/>
          <p:nvPr/>
        </p:nvSpPr>
        <p:spPr>
          <a:xfrm>
            <a:off x="806576" y="5851016"/>
            <a:ext cx="777850" cy="179069"/>
          </a:xfrm>
          <a:prstGeom prst="rect">
            <a:avLst/>
          </a:prstGeom>
          <a:noFill/>
        </p:spPr>
        <p:txBody>
          <a:bodyPr wrap="none" lIns="0" rIns="0" tIns="0" bIns="0">
            <a:spAutoFit/>
          </a:bodyPr>
          <a:lstStyle/>
          <a:p>
            <a:r>
              <a:rPr sz="1050" b="0">
                <a:solidFill>
                  <a:srgbClr val="1F1F1F"/>
                </a:solidFill>
                <a:latin typeface="Calibri"/>
              </a:rPr>
              <a:t>Wh trades at</a:t>
            </a:r>
          </a:p>
        </p:txBody>
      </p:sp>
      <p:pic>
        <p:nvPicPr>
          <p:cNvPr id="45" name="Picture 44" descr="lock.png"/>
          <p:cNvPicPr>
            <a:picLocks noChangeAspect="1"/>
          </p:cNvPicPr>
          <p:nvPr/>
        </p:nvPicPr>
        <p:blipFill>
          <a:blip r:embed="rId6"/>
          <a:stretch>
            <a:fillRect/>
          </a:stretch>
        </p:blipFill>
        <p:spPr>
          <a:xfrm>
            <a:off x="1531376" y="5841682"/>
            <a:ext cx="122849" cy="178689"/>
          </a:xfrm>
          <a:prstGeom prst="rect">
            <a:avLst/>
          </a:prstGeom>
        </p:spPr>
      </p:pic>
      <p:sp>
        <p:nvSpPr>
          <p:cNvPr id="46" name="TextBox 45"/>
          <p:cNvSpPr txBox="1"/>
          <p:nvPr/>
        </p:nvSpPr>
        <p:spPr>
          <a:xfrm>
            <a:off x="1691258" y="5851016"/>
            <a:ext cx="2062125" cy="179069"/>
          </a:xfrm>
          <a:prstGeom prst="rect">
            <a:avLst/>
          </a:prstGeom>
          <a:noFill/>
        </p:spPr>
        <p:txBody>
          <a:bodyPr wrap="none" lIns="0" rIns="0" tIns="0" bIns="0">
            <a:spAutoFit/>
          </a:bodyPr>
          <a:lstStyle/>
          <a:p>
            <a:r>
              <a:rPr sz="1050" b="0">
                <a:solidFill>
                  <a:srgbClr val="1F1F1F"/>
                </a:solidFill>
                <a:latin typeface="Calibri"/>
              </a:rPr>
              <a:t>, which keeps the full energy storage</a:t>
            </a:r>
          </a:p>
        </p:txBody>
      </p:sp>
      <p:sp>
        <p:nvSpPr>
          <p:cNvPr id="47" name="TextBox 46"/>
          <p:cNvSpPr txBox="1"/>
          <p:nvPr/>
        </p:nvSpPr>
        <p:spPr>
          <a:xfrm>
            <a:off x="806576" y="6011036"/>
            <a:ext cx="1294060" cy="179069"/>
          </a:xfrm>
          <a:prstGeom prst="rect">
            <a:avLst/>
          </a:prstGeom>
          <a:noFill/>
        </p:spPr>
        <p:txBody>
          <a:bodyPr wrap="none" lIns="0" rIns="0" tIns="0" bIns="0">
            <a:spAutoFit/>
          </a:bodyPr>
          <a:lstStyle/>
          <a:p>
            <a:r>
              <a:rPr sz="1050" b="0">
                <a:solidFill>
                  <a:srgbClr val="1F1F1F"/>
                </a:solidFill>
                <a:latin typeface="Calibri"/>
              </a:rPr>
              <a:t>capacity spread within</a:t>
            </a:r>
          </a:p>
        </p:txBody>
      </p:sp>
      <p:pic>
        <p:nvPicPr>
          <p:cNvPr id="48" name="Picture 47" descr="lock.png"/>
          <p:cNvPicPr>
            <a:picLocks noChangeAspect="1"/>
          </p:cNvPicPr>
          <p:nvPr/>
        </p:nvPicPr>
        <p:blipFill>
          <a:blip r:embed="rId6"/>
          <a:stretch>
            <a:fillRect/>
          </a:stretch>
        </p:blipFill>
        <p:spPr>
          <a:xfrm>
            <a:off x="2047586" y="6001702"/>
            <a:ext cx="122849" cy="178689"/>
          </a:xfrm>
          <a:prstGeom prst="rect">
            <a:avLst/>
          </a:prstGeom>
        </p:spPr>
      </p:pic>
      <p:sp>
        <p:nvSpPr>
          <p:cNvPr id="49" name="TextBox 48"/>
          <p:cNvSpPr txBox="1"/>
          <p:nvPr/>
        </p:nvSpPr>
        <p:spPr>
          <a:xfrm>
            <a:off x="2207469"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2890353" cy="179069"/>
          </a:xfrm>
          <a:prstGeom prst="rect">
            <a:avLst/>
          </a:prstGeom>
          <a:noFill/>
        </p:spPr>
        <p:txBody>
          <a:bodyPr wrap="none" lIns="0" rIns="0" tIns="0" bIns="0">
            <a:spAutoFit/>
          </a:bodyPr>
          <a:lstStyle/>
          <a:p>
            <a:r>
              <a:rPr sz="1050" b="0">
                <a:solidFill>
                  <a:srgbClr val="1F1F1F"/>
                </a:solidFill>
                <a:latin typeface="Calibri"/>
              </a:rPr>
              <a:t>1,000 Wh to Below 1,500 Wh posts the fastest price</a:t>
            </a:r>
          </a:p>
        </p:txBody>
      </p:sp>
      <p:sp>
        <p:nvSpPr>
          <p:cNvPr id="51" name="TextBox 50"/>
          <p:cNvSpPr txBox="1"/>
          <p:nvPr/>
        </p:nvSpPr>
        <p:spPr>
          <a:xfrm>
            <a:off x="4732401" y="5690996"/>
            <a:ext cx="698934" cy="179069"/>
          </a:xfrm>
          <a:prstGeom prst="rect">
            <a:avLst/>
          </a:prstGeom>
          <a:noFill/>
        </p:spPr>
        <p:txBody>
          <a:bodyPr wrap="none" lIns="0" rIns="0" tIns="0" bIns="0">
            <a:spAutoFit/>
          </a:bodyPr>
          <a:lstStyle/>
          <a:p>
            <a:r>
              <a:rPr sz="1050" b="0">
                <a:solidFill>
                  <a:srgbClr val="1F1F1F"/>
                </a:solidFill>
                <a:latin typeface="Calibri"/>
              </a:rPr>
              <a:t>growth at a</a:t>
            </a:r>
          </a:p>
        </p:txBody>
      </p:sp>
      <p:pic>
        <p:nvPicPr>
          <p:cNvPr id="52" name="Picture 51" descr="lock.png"/>
          <p:cNvPicPr>
            <a:picLocks noChangeAspect="1"/>
          </p:cNvPicPr>
          <p:nvPr/>
        </p:nvPicPr>
        <p:blipFill>
          <a:blip r:embed="rId6"/>
          <a:stretch>
            <a:fillRect/>
          </a:stretch>
        </p:blipFill>
        <p:spPr>
          <a:xfrm>
            <a:off x="5378284" y="5681662"/>
            <a:ext cx="122849" cy="178689"/>
          </a:xfrm>
          <a:prstGeom prst="rect">
            <a:avLst/>
          </a:prstGeom>
        </p:spPr>
      </p:pic>
      <p:sp>
        <p:nvSpPr>
          <p:cNvPr id="53" name="TextBox 52"/>
          <p:cNvSpPr txBox="1"/>
          <p:nvPr/>
        </p:nvSpPr>
        <p:spPr>
          <a:xfrm>
            <a:off x="5538166"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4" name="TextBox 53"/>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5" name="Picture 54" descr="lock.png"/>
          <p:cNvPicPr>
            <a:picLocks noChangeAspect="1"/>
          </p:cNvPicPr>
          <p:nvPr/>
        </p:nvPicPr>
        <p:blipFill>
          <a:blip r:embed="rId6"/>
          <a:stretch>
            <a:fillRect/>
          </a:stretch>
        </p:blipFill>
        <p:spPr>
          <a:xfrm>
            <a:off x="5577007" y="5841682"/>
            <a:ext cx="122849" cy="178689"/>
          </a:xfrm>
          <a:prstGeom prst="rect">
            <a:avLst/>
          </a:prstGeom>
        </p:spPr>
      </p:pic>
      <p:sp>
        <p:nvSpPr>
          <p:cNvPr id="56" name="TextBox 55"/>
          <p:cNvSpPr txBox="1"/>
          <p:nvPr/>
        </p:nvSpPr>
        <p:spPr>
          <a:xfrm>
            <a:off x="5736889" y="5851016"/>
            <a:ext cx="1784225" cy="179069"/>
          </a:xfrm>
          <a:prstGeom prst="rect">
            <a:avLst/>
          </a:prstGeom>
          <a:noFill/>
        </p:spPr>
        <p:txBody>
          <a:bodyPr wrap="none" lIns="0" rIns="0" tIns="0" bIns="0">
            <a:spAutoFit/>
          </a:bodyPr>
          <a:lstStyle/>
          <a:p>
            <a:r>
              <a:rPr sz="1050" b="0">
                <a:solidFill>
                  <a:srgbClr val="1F1F1F"/>
                </a:solidFill>
                <a:latin typeface="Calibri"/>
              </a:rPr>
              <a:t>for 500 Wh to Below 1,000 Wh.</a:t>
            </a:r>
          </a:p>
        </p:txBody>
      </p:sp>
      <p:sp>
        <p:nvSpPr>
          <p:cNvPr id="57" name="TextBox 56"/>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8" name="Picture 57" descr="lock.png"/>
          <p:cNvPicPr>
            <a:picLocks noChangeAspect="1"/>
          </p:cNvPicPr>
          <p:nvPr/>
        </p:nvPicPr>
        <p:blipFill>
          <a:blip r:embed="rId6"/>
          <a:stretch>
            <a:fillRect/>
          </a:stretch>
        </p:blipFill>
        <p:spPr>
          <a:xfrm>
            <a:off x="10841019" y="5521642"/>
            <a:ext cx="122849" cy="178689"/>
          </a:xfrm>
          <a:prstGeom prst="rect">
            <a:avLst/>
          </a:prstGeom>
        </p:spPr>
      </p:pic>
      <p:sp>
        <p:nvSpPr>
          <p:cNvPr id="59" name="TextBox 58"/>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0" name="TextBox 59"/>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1" name="Picture 60" descr="lock.png"/>
          <p:cNvPicPr>
            <a:picLocks noChangeAspect="1"/>
          </p:cNvPicPr>
          <p:nvPr/>
        </p:nvPicPr>
        <p:blipFill>
          <a:blip r:embed="rId6"/>
          <a:stretch>
            <a:fillRect/>
          </a:stretch>
        </p:blipFill>
        <p:spPr>
          <a:xfrm>
            <a:off x="9342394" y="5681662"/>
            <a:ext cx="122849" cy="178689"/>
          </a:xfrm>
          <a:prstGeom prst="rect">
            <a:avLst/>
          </a:prstGeom>
        </p:spPr>
      </p:pic>
      <p:sp>
        <p:nvSpPr>
          <p:cNvPr id="62" name="TextBox 61"/>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3" name="TextBox 62"/>
          <p:cNvSpPr txBox="1"/>
          <p:nvPr/>
        </p:nvSpPr>
        <p:spPr>
          <a:xfrm>
            <a:off x="8658225" y="5851016"/>
            <a:ext cx="3143250" cy="179069"/>
          </a:xfrm>
          <a:prstGeom prst="rect">
            <a:avLst/>
          </a:prstGeom>
          <a:noFill/>
        </p:spPr>
        <p:txBody>
          <a:bodyPr wrap="none" lIns="0" rIns="0" tIns="0" bIns="0">
            <a:spAutoFit/>
          </a:bodyPr>
          <a:lstStyle/>
          <a:p>
            <a:r>
              <a:rPr sz="1050" b="0">
                <a:solidFill>
                  <a:srgbClr val="1F1F1F"/>
                </a:solidFill>
                <a:latin typeface="Calibri"/>
              </a:rPr>
              <a:t>highest and lowest priced energy storage capacity moves</a:t>
            </a:r>
          </a:p>
        </p:txBody>
      </p:sp>
      <p:sp>
        <p:nvSpPr>
          <p:cNvPr id="64" name="TextBox 63"/>
          <p:cNvSpPr txBox="1"/>
          <p:nvPr/>
        </p:nvSpPr>
        <p:spPr>
          <a:xfrm>
            <a:off x="8658225" y="6011036"/>
            <a:ext cx="340295" cy="179069"/>
          </a:xfrm>
          <a:prstGeom prst="rect">
            <a:avLst/>
          </a:prstGeom>
          <a:noFill/>
        </p:spPr>
        <p:txBody>
          <a:bodyPr wrap="none" lIns="0" rIns="0" tIns="0" bIns="0">
            <a:spAutoFit/>
          </a:bodyPr>
          <a:lstStyle/>
          <a:p>
            <a:r>
              <a:rPr sz="1050" b="0">
                <a:solidFill>
                  <a:srgbClr val="1F1F1F"/>
                </a:solidFill>
                <a:latin typeface="Calibri"/>
              </a:rPr>
              <a:t>from</a:t>
            </a:r>
          </a:p>
        </p:txBody>
      </p:sp>
      <p:pic>
        <p:nvPicPr>
          <p:cNvPr id="65" name="Picture 64" descr="lock.png"/>
          <p:cNvPicPr>
            <a:picLocks noChangeAspect="1"/>
          </p:cNvPicPr>
          <p:nvPr/>
        </p:nvPicPr>
        <p:blipFill>
          <a:blip r:embed="rId6"/>
          <a:stretch>
            <a:fillRect/>
          </a:stretch>
        </p:blipFill>
        <p:spPr>
          <a:xfrm>
            <a:off x="8945469" y="6001702"/>
            <a:ext cx="122849" cy="178689"/>
          </a:xfrm>
          <a:prstGeom prst="rect">
            <a:avLst/>
          </a:prstGeom>
        </p:spPr>
      </p:pic>
      <p:sp>
        <p:nvSpPr>
          <p:cNvPr id="66" name="TextBox 65"/>
          <p:cNvSpPr txBox="1"/>
          <p:nvPr/>
        </p:nvSpPr>
        <p:spPr>
          <a:xfrm>
            <a:off x="9105352"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7" name="Picture 66" descr="lock.png"/>
          <p:cNvPicPr>
            <a:picLocks noChangeAspect="1"/>
          </p:cNvPicPr>
          <p:nvPr/>
        </p:nvPicPr>
        <p:blipFill>
          <a:blip r:embed="rId6"/>
          <a:stretch>
            <a:fillRect/>
          </a:stretch>
        </p:blipFill>
        <p:spPr>
          <a:xfrm>
            <a:off x="9675705" y="6001702"/>
            <a:ext cx="122849" cy="178689"/>
          </a:xfrm>
          <a:prstGeom prst="rect">
            <a:avLst/>
          </a:prstGeom>
        </p:spPr>
      </p:pic>
      <p:sp>
        <p:nvSpPr>
          <p:cNvPr id="68" name="TextBox 67"/>
          <p:cNvSpPr txBox="1"/>
          <p:nvPr/>
        </p:nvSpPr>
        <p:spPr>
          <a:xfrm>
            <a:off x="9835587"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9" name="Picture 68" descr="lock.png"/>
          <p:cNvPicPr>
            <a:picLocks noChangeAspect="1"/>
          </p:cNvPicPr>
          <p:nvPr/>
        </p:nvPicPr>
        <p:blipFill>
          <a:blip r:embed="rId6"/>
          <a:stretch>
            <a:fillRect/>
          </a:stretch>
        </p:blipFill>
        <p:spPr>
          <a:xfrm>
            <a:off x="3418190" y="3048804"/>
            <a:ext cx="454926" cy="661711"/>
          </a:xfrm>
          <a:prstGeom prst="rect">
            <a:avLst/>
          </a:prstGeom>
        </p:spPr>
      </p:pic>
      <p:pic>
        <p:nvPicPr>
          <p:cNvPr id="70" name="Picture 69" descr="lock.png"/>
          <p:cNvPicPr>
            <a:picLocks noChangeAspect="1"/>
          </p:cNvPicPr>
          <p:nvPr/>
        </p:nvPicPr>
        <p:blipFill>
          <a:blip r:embed="rId6"/>
          <a:stretch>
            <a:fillRect/>
          </a:stretch>
        </p:blipFill>
        <p:spPr>
          <a:xfrm>
            <a:off x="9403270" y="2219134"/>
            <a:ext cx="256698" cy="373379"/>
          </a:xfrm>
          <a:prstGeom prst="rect">
            <a:avLst/>
          </a:prstGeom>
        </p:spPr>
      </p:pic>
      <p:sp>
        <p:nvSpPr>
          <p:cNvPr id="71" name="lockshield_11"/>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15"/>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Pricing Assessment: Region Benchmarking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 average price and price range across energy storage capacitys, 2026 (US$/Units)</a:t>
            </a:r>
          </a:p>
        </p:txBody>
      </p:sp>
      <p:sp>
        <p:nvSpPr>
          <p:cNvPr id="8" name="Rectangle 7"/>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9" name="Rectangle 8"/>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0" name="TextBox 9"/>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Energy Storage Capacitys by Region (US$/Units), Ranked by Average</a:t>
            </a:r>
          </a:p>
        </p:txBody>
      </p:sp>
      <p:graphicFrame>
        <p:nvGraphicFramePr>
          <p:cNvPr id="11" name="FactMR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2" name="TextBox 11"/>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3" name="Rectangle 12"/>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4" name="TextBox 13"/>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5" name="Table 14"/>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energy storage capacity price in each region; ranked by average price. Other geographies grouped as 'Other' are excluded from the ranking.</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4" name="Picture 33" descr="lock.png"/>
          <p:cNvPicPr>
            <a:picLocks noChangeAspect="1"/>
          </p:cNvPicPr>
          <p:nvPr/>
        </p:nvPicPr>
        <p:blipFill>
          <a:blip r:embed="rId5"/>
          <a:stretch>
            <a:fillRect/>
          </a:stretch>
        </p:blipFill>
        <p:spPr>
          <a:xfrm>
            <a:off x="5708750" y="1099058"/>
            <a:ext cx="152098" cy="221234"/>
          </a:xfrm>
          <a:prstGeom prst="rect">
            <a:avLst/>
          </a:prstGeom>
        </p:spPr>
      </p:pic>
      <p:sp>
        <p:nvSpPr>
          <p:cNvPr id="35" name="TextBox 34"/>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5019981" cy="138226"/>
          </a:xfrm>
          <a:prstGeom prst="rect">
            <a:avLst/>
          </a:prstGeom>
          <a:noFill/>
        </p:spPr>
        <p:txBody>
          <a:bodyPr wrap="none" lIns="0" rIns="0" tIns="0" bIns="0">
            <a:spAutoFit/>
          </a:bodyPr>
          <a:lstStyle/>
          <a:p>
            <a:r>
              <a:rPr sz="781" b="0">
                <a:solidFill>
                  <a:srgbClr val="59636E"/>
                </a:solidFill>
                <a:latin typeface="Calibri"/>
              </a:rPr>
              <a:t>Bar spans the lowest to highest energy storage capacity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72501" y="1824515"/>
            <a:ext cx="91492" cy="133080"/>
          </a:xfrm>
          <a:prstGeom prst="rect">
            <a:avLst/>
          </a:prstGeom>
        </p:spPr>
      </p:pic>
      <p:sp>
        <p:nvSpPr>
          <p:cNvPr id="38" name="TextBox 37"/>
          <p:cNvSpPr txBox="1"/>
          <p:nvPr/>
        </p:nvSpPr>
        <p:spPr>
          <a:xfrm>
            <a:off x="5491576" y="1831467"/>
            <a:ext cx="1880145" cy="138226"/>
          </a:xfrm>
          <a:prstGeom prst="rect">
            <a:avLst/>
          </a:prstGeom>
          <a:noFill/>
        </p:spPr>
        <p:txBody>
          <a:bodyPr wrap="none" lIns="0" rIns="0" tIns="0" bIns="0">
            <a:spAutoFit/>
          </a:bodyPr>
          <a:lstStyle/>
          <a:p>
            <a:r>
              <a:rPr sz="781"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2825762" cy="179069"/>
          </a:xfrm>
          <a:prstGeom prst="rect">
            <a:avLst/>
          </a:prstGeom>
          <a:noFill/>
        </p:spPr>
        <p:txBody>
          <a:bodyPr wrap="none" lIns="0" rIns="0" tIns="0" bIns="0">
            <a:spAutoFit/>
          </a:bodyPr>
          <a:lstStyle/>
          <a:p>
            <a:r>
              <a:rPr sz="1050" b="0">
                <a:solidFill>
                  <a:srgbClr val="1F1F1F"/>
                </a:solidFill>
                <a:latin typeface="Calibri"/>
              </a:rPr>
              <a:t>Western Europe shows the widest gap between its</a:t>
            </a:r>
          </a:p>
        </p:txBody>
      </p:sp>
      <p:sp>
        <p:nvSpPr>
          <p:cNvPr id="55" name="TextBox 54"/>
          <p:cNvSpPr txBox="1"/>
          <p:nvPr/>
        </p:nvSpPr>
        <p:spPr>
          <a:xfrm>
            <a:off x="8658225" y="5690996"/>
            <a:ext cx="3130487" cy="179069"/>
          </a:xfrm>
          <a:prstGeom prst="rect">
            <a:avLst/>
          </a:prstGeom>
          <a:noFill/>
        </p:spPr>
        <p:txBody>
          <a:bodyPr wrap="none" lIns="0" rIns="0" tIns="0" bIns="0">
            <a:spAutoFit/>
          </a:bodyPr>
          <a:lstStyle/>
          <a:p>
            <a:r>
              <a:rPr sz="1050" b="0">
                <a:solidFill>
                  <a:srgbClr val="1F1F1F"/>
                </a:solidFill>
                <a:latin typeface="Calibri"/>
              </a:rPr>
              <a:t>cheapest and most expensive energy storage capacity at</a:t>
            </a:r>
          </a:p>
        </p:txBody>
      </p:sp>
      <p:pic>
        <p:nvPicPr>
          <p:cNvPr id="56" name="Picture 55" descr="lock.png"/>
          <p:cNvPicPr>
            <a:picLocks noChangeAspect="1"/>
          </p:cNvPicPr>
          <p:nvPr/>
        </p:nvPicPr>
        <p:blipFill>
          <a:blip r:embed="rId5"/>
          <a:stretch>
            <a:fillRect/>
          </a:stretch>
        </p:blipFill>
        <p:spPr>
          <a:xfrm>
            <a:off x="8645369" y="5841682"/>
            <a:ext cx="122849" cy="178689"/>
          </a:xfrm>
          <a:prstGeom prst="rect">
            <a:avLst/>
          </a:prstGeom>
        </p:spPr>
      </p:pic>
      <p:sp>
        <p:nvSpPr>
          <p:cNvPr id="57" name="TextBox 56"/>
          <p:cNvSpPr txBox="1"/>
          <p:nvPr/>
        </p:nvSpPr>
        <p:spPr>
          <a:xfrm>
            <a:off x="8805252" y="5851016"/>
            <a:ext cx="2730437" cy="179069"/>
          </a:xfrm>
          <a:prstGeom prst="rect">
            <a:avLst/>
          </a:prstGeom>
          <a:noFill/>
        </p:spPr>
        <p:txBody>
          <a:bodyPr wrap="none" lIns="0" rIns="0" tIns="0" bIns="0">
            <a:spAutoFit/>
          </a:bodyPr>
          <a:lstStyle/>
          <a:p>
            <a:r>
              <a:rPr sz="1050" b="0">
                <a:solidFill>
                  <a:srgbClr val="1F1F1F"/>
                </a:solidFill>
                <a:latin typeface="Calibri"/>
              </a:rPr>
              <a:t>, so product mix shifts move its average price the</a:t>
            </a:r>
          </a:p>
        </p:txBody>
      </p:sp>
      <p:sp>
        <p:nvSpPr>
          <p:cNvPr id="58" name="TextBox 57"/>
          <p:cNvSpPr txBox="1"/>
          <p:nvPr/>
        </p:nvSpPr>
        <p:spPr>
          <a:xfrm>
            <a:off x="8658225" y="6011036"/>
            <a:ext cx="383530" cy="179069"/>
          </a:xfrm>
          <a:prstGeom prst="rect">
            <a:avLst/>
          </a:prstGeom>
          <a:noFill/>
        </p:spPr>
        <p:txBody>
          <a:bodyPr wrap="none" lIns="0" rIns="0" tIns="0" bIns="0">
            <a:spAutoFit/>
          </a:bodyPr>
          <a:lstStyle/>
          <a:p>
            <a:r>
              <a:rPr sz="1050" b="0">
                <a:solidFill>
                  <a:srgbClr val="1F1F1F"/>
                </a:solidFill>
                <a:latin typeface="Calibri"/>
              </a:rPr>
              <a:t>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1"/>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Price Positioning &amp; Key Findings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positioning of each region on a common axis with FMI's key findings on where premiums and discounts sit</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Average selling price and price range by region on a shared price scale (US$/Units).</a:t>
            </a:r>
          </a:p>
        </p:txBody>
      </p:sp>
      <p:sp>
        <p:nvSpPr>
          <p:cNvPr id="9" name="Rectangle 8"/>
          <p:cNvSpPr/>
          <p:nvPr/>
        </p:nvSpPr>
        <p:spPr>
          <a:xfrm>
            <a:off x="142875" y="1317574"/>
            <a:ext cx="769620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&amp; Range by Region</a:t>
            </a:r>
          </a:p>
        </p:txBody>
      </p:sp>
      <p:cxnSp>
        <p:nvCxnSpPr>
          <p:cNvPr id="11" name="Connector 10"/>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1,376</a:t>
            </a:r>
          </a:p>
        </p:txBody>
      </p:sp>
      <p:cxnSp>
        <p:nvCxnSpPr>
          <p:cNvPr id="13" name="Connector 12"/>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2,718</a:t>
            </a:r>
          </a:p>
        </p:txBody>
      </p:sp>
      <p:cxnSp>
        <p:nvCxnSpPr>
          <p:cNvPr id="15" name="Connector 14"/>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4,060</a:t>
            </a:r>
          </a:p>
        </p:txBody>
      </p:sp>
      <p:cxnSp>
        <p:nvCxnSpPr>
          <p:cNvPr id="17" name="Connector 16"/>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5,402</a:t>
            </a:r>
          </a:p>
        </p:txBody>
      </p:sp>
      <p:cxnSp>
        <p:nvCxnSpPr>
          <p:cNvPr id="19" name="Connector 18"/>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6,743</a:t>
            </a:r>
          </a:p>
        </p:txBody>
      </p:sp>
      <p:cxnSp>
        <p:nvCxnSpPr>
          <p:cNvPr id="21" name="Connector 20"/>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8,085</a:t>
            </a:r>
          </a:p>
        </p:txBody>
      </p:sp>
      <p:sp>
        <p:nvSpPr>
          <p:cNvPr id="23" name="TextBox 22"/>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North America</a:t>
            </a:r>
          </a:p>
        </p:txBody>
      </p:sp>
      <p:sp>
        <p:nvSpPr>
          <p:cNvPr id="24" name="Rectangle 23"/>
          <p:cNvSpPr/>
          <p:nvPr/>
        </p:nvSpPr>
        <p:spPr>
          <a:xfrm>
            <a:off x="4422076" y="2076093"/>
            <a:ext cx="2504980"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86804"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Latin America</a:t>
            </a:r>
          </a:p>
        </p:txBody>
      </p:sp>
      <p:sp>
        <p:nvSpPr>
          <p:cNvPr id="27" name="Rectangle 26"/>
          <p:cNvSpPr/>
          <p:nvPr/>
        </p:nvSpPr>
        <p:spPr>
          <a:xfrm>
            <a:off x="3123629" y="2696587"/>
            <a:ext cx="176481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06875"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Western Europe</a:t>
            </a:r>
          </a:p>
        </p:txBody>
      </p:sp>
      <p:sp>
        <p:nvSpPr>
          <p:cNvPr id="30" name="Rectangle 29"/>
          <p:cNvSpPr/>
          <p:nvPr/>
        </p:nvSpPr>
        <p:spPr>
          <a:xfrm>
            <a:off x="3997618" y="3317082"/>
            <a:ext cx="228373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15111"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Eastern Europe</a:t>
            </a:r>
          </a:p>
        </p:txBody>
      </p:sp>
      <p:sp>
        <p:nvSpPr>
          <p:cNvPr id="33" name="Rectangle 32"/>
          <p:cNvSpPr/>
          <p:nvPr/>
        </p:nvSpPr>
        <p:spPr>
          <a:xfrm>
            <a:off x="3297642" y="3937576"/>
            <a:ext cx="1847343"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438867"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East Asia</a:t>
            </a:r>
          </a:p>
        </p:txBody>
      </p:sp>
      <p:sp>
        <p:nvSpPr>
          <p:cNvPr id="36" name="Rectangle 35"/>
          <p:cNvSpPr/>
          <p:nvPr/>
        </p:nvSpPr>
        <p:spPr>
          <a:xfrm>
            <a:off x="2264296" y="4558070"/>
            <a:ext cx="1244262"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015828"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South Asia &amp; Pacific</a:t>
            </a:r>
          </a:p>
        </p:txBody>
      </p:sp>
      <p:sp>
        <p:nvSpPr>
          <p:cNvPr id="39" name="Rectangle 38"/>
          <p:cNvSpPr/>
          <p:nvPr/>
        </p:nvSpPr>
        <p:spPr>
          <a:xfrm>
            <a:off x="2045494" y="5178565"/>
            <a:ext cx="1144868"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725253"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Middle East &amp; Africa</a:t>
            </a:r>
          </a:p>
        </p:txBody>
      </p:sp>
      <p:sp>
        <p:nvSpPr>
          <p:cNvPr id="42" name="Rectangle 41"/>
          <p:cNvSpPr/>
          <p:nvPr/>
        </p:nvSpPr>
        <p:spPr>
          <a:xfrm>
            <a:off x="2925023" y="5799059"/>
            <a:ext cx="1648779"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933419"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52423"/>
                </a:solidFill>
                <a:latin typeface="Segoe UI"/>
              </a:rPr>
              <a:t>Average Price</a:t>
            </a:r>
          </a:p>
        </p:txBody>
      </p:sp>
      <p:sp>
        <p:nvSpPr>
          <p:cNvPr id="46" name="Rectangle 45"/>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52423"/>
                </a:solidFill>
                <a:latin typeface="Segoe UI"/>
              </a:rPr>
              <a:t>Price Range</a:t>
            </a:r>
          </a:p>
        </p:txBody>
      </p:sp>
      <p:sp>
        <p:nvSpPr>
          <p:cNvPr id="48" name="Rectangle 47"/>
          <p:cNvSpPr/>
          <p:nvPr/>
        </p:nvSpPr>
        <p:spPr>
          <a:xfrm>
            <a:off x="7915275" y="1317574"/>
            <a:ext cx="4133850" cy="39245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Key Findings</a:t>
            </a:r>
          </a:p>
        </p:txBody>
      </p:sp>
      <p:sp>
        <p:nvSpPr>
          <p:cNvPr id="50" name="Rectangle 49"/>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52" name="Rectangle 51"/>
          <p:cNvSpPr/>
          <p:nvPr/>
        </p:nvSpPr>
        <p:spPr>
          <a:xfrm>
            <a:off x="7915275" y="5351641"/>
            <a:ext cx="4133850" cy="120474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Note: the above information is indicative in nature and does not constitute any form of analysis.</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4" name="TextBox 53"/>
          <p:cNvSpPr txBox="1"/>
          <p:nvPr/>
        </p:nvSpPr>
        <p:spPr>
          <a:xfrm>
            <a:off x="8048625" y="1736673"/>
            <a:ext cx="3406485" cy="194310"/>
          </a:xfrm>
          <a:prstGeom prst="rect">
            <a:avLst/>
          </a:prstGeom>
          <a:noFill/>
        </p:spPr>
        <p:txBody>
          <a:bodyPr wrap="none" lIns="0" rIns="0" tIns="0" bIns="0">
            <a:spAutoFit/>
          </a:bodyPr>
          <a:lstStyle/>
          <a:p>
            <a:r>
              <a:rPr sz="1150" b="0">
                <a:solidFill>
                  <a:srgbClr val="252423"/>
                </a:solidFill>
                <a:latin typeface="Segoe UI"/>
              </a:rPr>
              <a:t>1,000 wh to below 1,500 wh segment is expected to</a:t>
            </a:r>
          </a:p>
        </p:txBody>
      </p:sp>
      <p:sp>
        <p:nvSpPr>
          <p:cNvPr id="55" name="TextBox 54"/>
          <p:cNvSpPr txBox="1"/>
          <p:nvPr/>
        </p:nvSpPr>
        <p:spPr>
          <a:xfrm>
            <a:off x="8048625" y="1911934"/>
            <a:ext cx="2860224" cy="194310"/>
          </a:xfrm>
          <a:prstGeom prst="rect">
            <a:avLst/>
          </a:prstGeom>
          <a:noFill/>
        </p:spPr>
        <p:txBody>
          <a:bodyPr wrap="none" lIns="0" rIns="0" tIns="0" bIns="0">
            <a:spAutoFit/>
          </a:bodyPr>
          <a:lstStyle/>
          <a:p>
            <a:r>
              <a:rPr sz="1150" b="0">
                <a:solidFill>
                  <a:srgbClr val="252423"/>
                </a:solidFill>
                <a:latin typeface="Segoe UI"/>
              </a:rPr>
              <a:t>command the highest average price of US$</a:t>
            </a:r>
          </a:p>
        </p:txBody>
      </p:sp>
      <p:pic>
        <p:nvPicPr>
          <p:cNvPr id="56" name="Picture 55" descr="lock.png"/>
          <p:cNvPicPr>
            <a:picLocks noChangeAspect="1"/>
          </p:cNvPicPr>
          <p:nvPr/>
        </p:nvPicPr>
        <p:blipFill>
          <a:blip r:embed="rId4"/>
          <a:stretch>
            <a:fillRect/>
          </a:stretch>
        </p:blipFill>
        <p:spPr>
          <a:xfrm>
            <a:off x="10858003" y="1901710"/>
            <a:ext cx="134549" cy="195707"/>
          </a:xfrm>
          <a:prstGeom prst="rect">
            <a:avLst/>
          </a:prstGeom>
        </p:spPr>
      </p:pic>
      <p:sp>
        <p:nvSpPr>
          <p:cNvPr id="57" name="TextBox 56"/>
          <p:cNvSpPr txBox="1"/>
          <p:nvPr/>
        </p:nvSpPr>
        <p:spPr>
          <a:xfrm>
            <a:off x="11033112" y="1911934"/>
            <a:ext cx="755389" cy="194310"/>
          </a:xfrm>
          <a:prstGeom prst="rect">
            <a:avLst/>
          </a:prstGeom>
          <a:noFill/>
        </p:spPr>
        <p:txBody>
          <a:bodyPr wrap="none" lIns="0" rIns="0" tIns="0" bIns="0">
            <a:spAutoFit/>
          </a:bodyPr>
          <a:lstStyle/>
          <a:p>
            <a:r>
              <a:rPr sz="1150" b="0">
                <a:solidFill>
                  <a:srgbClr val="252423"/>
                </a:solidFill>
                <a:latin typeface="Segoe UI"/>
              </a:rPr>
              <a:t>per Unit in</a:t>
            </a:r>
          </a:p>
        </p:txBody>
      </p:sp>
      <p:sp>
        <p:nvSpPr>
          <p:cNvPr id="58" name="TextBox 57"/>
          <p:cNvSpPr txBox="1"/>
          <p:nvPr/>
        </p:nvSpPr>
        <p:spPr>
          <a:xfrm>
            <a:off x="8048625" y="2087194"/>
            <a:ext cx="3612742" cy="194310"/>
          </a:xfrm>
          <a:prstGeom prst="rect">
            <a:avLst/>
          </a:prstGeom>
          <a:noFill/>
        </p:spPr>
        <p:txBody>
          <a:bodyPr wrap="none" lIns="0" rIns="0" tIns="0" bIns="0">
            <a:spAutoFit/>
          </a:bodyPr>
          <a:lstStyle/>
          <a:p>
            <a:r>
              <a:rPr sz="1150" b="0">
                <a:solidFill>
                  <a:srgbClr val="252423"/>
                </a:solidFill>
                <a:latin typeface="Segoe UI"/>
              </a:rPr>
              <a:t>2036. Average selling price of lithium polymer portable</a:t>
            </a:r>
          </a:p>
        </p:txBody>
      </p:sp>
      <p:sp>
        <p:nvSpPr>
          <p:cNvPr id="59" name="TextBox 58"/>
          <p:cNvSpPr txBox="1"/>
          <p:nvPr/>
        </p:nvSpPr>
        <p:spPr>
          <a:xfrm>
            <a:off x="8048625" y="2262454"/>
            <a:ext cx="2317943" cy="194310"/>
          </a:xfrm>
          <a:prstGeom prst="rect">
            <a:avLst/>
          </a:prstGeom>
          <a:noFill/>
        </p:spPr>
        <p:txBody>
          <a:bodyPr wrap="none" lIns="0" rIns="0" tIns="0" bIns="0">
            <a:spAutoFit/>
          </a:bodyPr>
          <a:lstStyle/>
          <a:p>
            <a:r>
              <a:rPr sz="1150" b="0">
                <a:solidFill>
                  <a:srgbClr val="252423"/>
                </a:solidFill>
                <a:latin typeface="Segoe UI"/>
              </a:rPr>
              <a:t>energy storage is estimated at US$</a:t>
            </a:r>
          </a:p>
        </p:txBody>
      </p:sp>
      <p:pic>
        <p:nvPicPr>
          <p:cNvPr id="60" name="Picture 59" descr="lock.png"/>
          <p:cNvPicPr>
            <a:picLocks noChangeAspect="1"/>
          </p:cNvPicPr>
          <p:nvPr/>
        </p:nvPicPr>
        <p:blipFill>
          <a:blip r:embed="rId4"/>
          <a:stretch>
            <a:fillRect/>
          </a:stretch>
        </p:blipFill>
        <p:spPr>
          <a:xfrm>
            <a:off x="10315722" y="2252230"/>
            <a:ext cx="134549" cy="195707"/>
          </a:xfrm>
          <a:prstGeom prst="rect">
            <a:avLst/>
          </a:prstGeom>
        </p:spPr>
      </p:pic>
      <p:sp>
        <p:nvSpPr>
          <p:cNvPr id="61" name="TextBox 60"/>
          <p:cNvSpPr txBox="1"/>
          <p:nvPr/>
        </p:nvSpPr>
        <p:spPr>
          <a:xfrm>
            <a:off x="10490831" y="2262454"/>
            <a:ext cx="1110245" cy="194310"/>
          </a:xfrm>
          <a:prstGeom prst="rect">
            <a:avLst/>
          </a:prstGeom>
          <a:noFill/>
        </p:spPr>
        <p:txBody>
          <a:bodyPr wrap="none" lIns="0" rIns="0" tIns="0" bIns="0">
            <a:spAutoFit/>
          </a:bodyPr>
          <a:lstStyle/>
          <a:p>
            <a:r>
              <a:rPr sz="1150" b="0">
                <a:solidFill>
                  <a:srgbClr val="252423"/>
                </a:solidFill>
                <a:latin typeface="Segoe UI"/>
              </a:rPr>
              <a:t>per Unit in 2025</a:t>
            </a:r>
          </a:p>
        </p:txBody>
      </p:sp>
      <p:sp>
        <p:nvSpPr>
          <p:cNvPr id="62" name="TextBox 61"/>
          <p:cNvSpPr txBox="1"/>
          <p:nvPr/>
        </p:nvSpPr>
        <p:spPr>
          <a:xfrm>
            <a:off x="8048625" y="2437714"/>
            <a:ext cx="2323029" cy="194310"/>
          </a:xfrm>
          <a:prstGeom prst="rect">
            <a:avLst/>
          </a:prstGeom>
          <a:noFill/>
        </p:spPr>
        <p:txBody>
          <a:bodyPr wrap="none" lIns="0" rIns="0" tIns="0" bIns="0">
            <a:spAutoFit/>
          </a:bodyPr>
          <a:lstStyle/>
          <a:p>
            <a:r>
              <a:rPr sz="1150" b="0">
                <a:solidFill>
                  <a:srgbClr val="252423"/>
                </a:solidFill>
                <a:latin typeface="Segoe UI"/>
              </a:rPr>
              <a:t>and is projected to increase to US$</a:t>
            </a:r>
          </a:p>
        </p:txBody>
      </p:sp>
      <p:pic>
        <p:nvPicPr>
          <p:cNvPr id="63" name="Picture 62" descr="lock.png"/>
          <p:cNvPicPr>
            <a:picLocks noChangeAspect="1"/>
          </p:cNvPicPr>
          <p:nvPr/>
        </p:nvPicPr>
        <p:blipFill>
          <a:blip r:embed="rId4"/>
          <a:stretch>
            <a:fillRect/>
          </a:stretch>
        </p:blipFill>
        <p:spPr>
          <a:xfrm>
            <a:off x="10320808" y="2427490"/>
            <a:ext cx="134549" cy="195707"/>
          </a:xfrm>
          <a:prstGeom prst="rect">
            <a:avLst/>
          </a:prstGeom>
        </p:spPr>
      </p:pic>
      <p:sp>
        <p:nvSpPr>
          <p:cNvPr id="64" name="TextBox 63"/>
          <p:cNvSpPr txBox="1"/>
          <p:nvPr/>
        </p:nvSpPr>
        <p:spPr>
          <a:xfrm>
            <a:off x="10495917" y="2437714"/>
            <a:ext cx="1180417" cy="194310"/>
          </a:xfrm>
          <a:prstGeom prst="rect">
            <a:avLst/>
          </a:prstGeom>
          <a:noFill/>
        </p:spPr>
        <p:txBody>
          <a:bodyPr wrap="none" lIns="0" rIns="0" tIns="0" bIns="0">
            <a:spAutoFit/>
          </a:bodyPr>
          <a:lstStyle/>
          <a:p>
            <a:r>
              <a:rPr sz="1150" b="0">
                <a:solidFill>
                  <a:srgbClr val="252423"/>
                </a:solidFill>
                <a:latin typeface="Segoe UI"/>
              </a:rPr>
              <a:t>per Unit by 2036.</a:t>
            </a:r>
          </a:p>
        </p:txBody>
      </p:sp>
      <p:sp>
        <p:nvSpPr>
          <p:cNvPr id="65" name="TextBox 64"/>
          <p:cNvSpPr txBox="1"/>
          <p:nvPr/>
        </p:nvSpPr>
        <p:spPr>
          <a:xfrm>
            <a:off x="8048625" y="2665551"/>
            <a:ext cx="3662322" cy="194310"/>
          </a:xfrm>
          <a:prstGeom prst="rect">
            <a:avLst/>
          </a:prstGeom>
          <a:noFill/>
        </p:spPr>
        <p:txBody>
          <a:bodyPr wrap="none" lIns="0" rIns="0" tIns="0" bIns="0">
            <a:spAutoFit/>
          </a:bodyPr>
          <a:lstStyle/>
          <a:p>
            <a:r>
              <a:rPr sz="1150" b="0">
                <a:solidFill>
                  <a:srgbClr val="252423"/>
                </a:solidFill>
                <a:latin typeface="Segoe UI"/>
              </a:rPr>
              <a:t>North America is the highest-priced region, while South</a:t>
            </a:r>
          </a:p>
        </p:txBody>
      </p:sp>
      <p:sp>
        <p:nvSpPr>
          <p:cNvPr id="66" name="TextBox 65"/>
          <p:cNvSpPr txBox="1"/>
          <p:nvPr/>
        </p:nvSpPr>
        <p:spPr>
          <a:xfrm>
            <a:off x="8048625" y="2840811"/>
            <a:ext cx="3664564" cy="194310"/>
          </a:xfrm>
          <a:prstGeom prst="rect">
            <a:avLst/>
          </a:prstGeom>
          <a:noFill/>
        </p:spPr>
        <p:txBody>
          <a:bodyPr wrap="none" lIns="0" rIns="0" tIns="0" bIns="0">
            <a:spAutoFit/>
          </a:bodyPr>
          <a:lstStyle/>
          <a:p>
            <a:r>
              <a:rPr sz="1150" b="0">
                <a:solidFill>
                  <a:srgbClr val="252423"/>
                </a:solidFill>
                <a:latin typeface="Segoe UI"/>
              </a:rPr>
              <a:t>Asia &amp; Pacific is the most price-competitive market. The</a:t>
            </a:r>
          </a:p>
        </p:txBody>
      </p:sp>
      <p:sp>
        <p:nvSpPr>
          <p:cNvPr id="67" name="TextBox 66"/>
          <p:cNvSpPr txBox="1"/>
          <p:nvPr/>
        </p:nvSpPr>
        <p:spPr>
          <a:xfrm>
            <a:off x="8048625" y="3016071"/>
            <a:ext cx="3782842" cy="194310"/>
          </a:xfrm>
          <a:prstGeom prst="rect">
            <a:avLst/>
          </a:prstGeom>
          <a:noFill/>
        </p:spPr>
        <p:txBody>
          <a:bodyPr wrap="none" lIns="0" rIns="0" tIns="0" bIns="0">
            <a:spAutoFit/>
          </a:bodyPr>
          <a:lstStyle/>
          <a:p>
            <a:r>
              <a:rPr sz="1150" b="0">
                <a:solidFill>
                  <a:srgbClr val="252423"/>
                </a:solidFill>
                <a:latin typeface="Segoe UI"/>
              </a:rPr>
              <a:t>orange dot is each region's average selling price; the blue</a:t>
            </a:r>
          </a:p>
        </p:txBody>
      </p:sp>
      <p:sp>
        <p:nvSpPr>
          <p:cNvPr id="68" name="TextBox 67"/>
          <p:cNvSpPr txBox="1"/>
          <p:nvPr/>
        </p:nvSpPr>
        <p:spPr>
          <a:xfrm>
            <a:off x="8048625" y="3191331"/>
            <a:ext cx="3848100" cy="194310"/>
          </a:xfrm>
          <a:prstGeom prst="rect">
            <a:avLst/>
          </a:prstGeom>
          <a:noFill/>
        </p:spPr>
        <p:txBody>
          <a:bodyPr wrap="none" lIns="0" rIns="0" tIns="0" bIns="0">
            <a:spAutoFit/>
          </a:bodyPr>
          <a:lstStyle/>
          <a:p>
            <a:r>
              <a:rPr sz="1150" b="0">
                <a:solidFill>
                  <a:srgbClr val="252423"/>
                </a:solidFill>
                <a:latin typeface="Segoe UI"/>
              </a:rPr>
              <a:t>band is its full low-to-high price range, all derived as Value</a:t>
            </a:r>
          </a:p>
        </p:txBody>
      </p:sp>
      <p:sp>
        <p:nvSpPr>
          <p:cNvPr id="69" name="TextBox 68"/>
          <p:cNvSpPr txBox="1"/>
          <p:nvPr/>
        </p:nvSpPr>
        <p:spPr>
          <a:xfrm>
            <a:off x="8048625" y="3366591"/>
            <a:ext cx="744122" cy="194310"/>
          </a:xfrm>
          <a:prstGeom prst="rect">
            <a:avLst/>
          </a:prstGeom>
          <a:noFill/>
        </p:spPr>
        <p:txBody>
          <a:bodyPr wrap="none" lIns="0" rIns="0" tIns="0" bIns="0">
            <a:spAutoFit/>
          </a:bodyPr>
          <a:lstStyle/>
          <a:p>
            <a:r>
              <a:rPr sz="1150" b="0">
                <a:solidFill>
                  <a:srgbClr val="252423"/>
                </a:solidFill>
                <a:latin typeface="Segoe UI"/>
              </a:rPr>
              <a:t>÷ Volume.</a:t>
            </a:r>
          </a:p>
        </p:txBody>
      </p:sp>
      <p:sp>
        <p:nvSpPr>
          <p:cNvPr id="70" name="TextBox 69"/>
          <p:cNvSpPr txBox="1"/>
          <p:nvPr/>
        </p:nvSpPr>
        <p:spPr>
          <a:xfrm>
            <a:off x="8048625" y="3594429"/>
            <a:ext cx="3143169" cy="194310"/>
          </a:xfrm>
          <a:prstGeom prst="rect">
            <a:avLst/>
          </a:prstGeom>
          <a:noFill/>
        </p:spPr>
        <p:txBody>
          <a:bodyPr wrap="none" lIns="0" rIns="0" tIns="0" bIns="0">
            <a:spAutoFit/>
          </a:bodyPr>
          <a:lstStyle/>
          <a:p>
            <a:r>
              <a:rPr sz="1150" b="0">
                <a:solidFill>
                  <a:srgbClr val="252423"/>
                </a:solidFill>
                <a:latin typeface="Segoe UI"/>
              </a:rPr>
              <a:t>Narrow bands point to commoditised, price-led</a:t>
            </a:r>
          </a:p>
        </p:txBody>
      </p:sp>
      <p:sp>
        <p:nvSpPr>
          <p:cNvPr id="71" name="TextBox 70"/>
          <p:cNvSpPr txBox="1"/>
          <p:nvPr/>
        </p:nvSpPr>
        <p:spPr>
          <a:xfrm>
            <a:off x="8048625" y="3769689"/>
            <a:ext cx="3749320" cy="194310"/>
          </a:xfrm>
          <a:prstGeom prst="rect">
            <a:avLst/>
          </a:prstGeom>
          <a:noFill/>
        </p:spPr>
        <p:txBody>
          <a:bodyPr wrap="none" lIns="0" rIns="0" tIns="0" bIns="0">
            <a:spAutoFit/>
          </a:bodyPr>
          <a:lstStyle/>
          <a:p>
            <a:r>
              <a:rPr sz="1150" b="0">
                <a:solidFill>
                  <a:srgbClr val="252423"/>
                </a:solidFill>
                <a:latin typeface="Segoe UI"/>
              </a:rPr>
              <a:t>competition; wider bands flag premiumisation headroom</a:t>
            </a:r>
          </a:p>
        </p:txBody>
      </p:sp>
      <p:sp>
        <p:nvSpPr>
          <p:cNvPr id="72" name="TextBox 71"/>
          <p:cNvSpPr txBox="1"/>
          <p:nvPr/>
        </p:nvSpPr>
        <p:spPr>
          <a:xfrm>
            <a:off x="8048625" y="3944949"/>
            <a:ext cx="1814243" cy="194310"/>
          </a:xfrm>
          <a:prstGeom prst="rect">
            <a:avLst/>
          </a:prstGeom>
          <a:noFill/>
        </p:spPr>
        <p:txBody>
          <a:bodyPr wrap="none" lIns="0" rIns="0" tIns="0" bIns="0">
            <a:spAutoFit/>
          </a:bodyPr>
          <a:lstStyle/>
          <a:p>
            <a:r>
              <a:rPr sz="1150" b="0">
                <a:solidFill>
                  <a:srgbClr val="252423"/>
                </a:solidFill>
                <a:latin typeface="Segoe UI"/>
              </a:rPr>
              <a:t>to trade buyers up the mix.</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Key Pricing Drivers Influencing Lithium Polymer Portable Energy Storage Market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input costs, market conditions and competitive forces shaping pricing strategies and profitability</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Analysis of input costs, market conditions, and competitive forces shaping pricing strategies and profitability across the value chain</a:t>
            </a:r>
          </a:p>
        </p:txBody>
      </p:sp>
      <p:sp>
        <p:nvSpPr>
          <p:cNvPr id="9" name="Rectangle 8"/>
          <p:cNvSpPr/>
          <p:nvPr/>
        </p:nvSpPr>
        <p:spPr>
          <a:xfrm>
            <a:off x="142875" y="1354081"/>
            <a:ext cx="655320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6362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Impacting Factors</a:t>
            </a:r>
          </a:p>
        </p:txBody>
      </p:sp>
      <p:sp>
        <p:nvSpPr>
          <p:cNvPr id="11" name="Freeform 10"/>
          <p:cNvSpPr/>
          <p:nvPr/>
        </p:nvSpPr>
        <p:spPr>
          <a:xfrm>
            <a:off x="30575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051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3431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9812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6287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3419475" y="2192281"/>
            <a:ext cx="0" cy="1886379"/>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419475" y="2552548"/>
            <a:ext cx="1108786" cy="1526112"/>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419475" y="3495737"/>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19475" y="4078660"/>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19475" y="4078660"/>
            <a:ext cx="1108786" cy="152611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19475" y="4078660"/>
            <a:ext cx="0" cy="1886379"/>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310689" y="4078660"/>
            <a:ext cx="1108786" cy="152611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625422" y="4078660"/>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625422" y="3495737"/>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310689" y="2552548"/>
            <a:ext cx="1108786" cy="1526112"/>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22574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861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622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522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316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3286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861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7208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3994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2200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871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48050" y="3634709"/>
            <a:ext cx="285750" cy="123825"/>
          </a:xfrm>
          <a:prstGeom prst="rect">
            <a:avLst/>
          </a:prstGeom>
          <a:noFill/>
        </p:spPr>
        <p:txBody>
          <a:bodyPr wrap="none" lIns="0" rIns="0" tIns="0" bIns="0" anchor="ctr">
            <a:spAutoFit/>
          </a:bodyPr>
          <a:lstStyle/>
          <a:p>
            <a:pPr algn="l"/>
            <a:r>
              <a:rPr sz="1100" b="0">
                <a:solidFill>
                  <a:srgbClr val="605E5C"/>
                </a:solidFill>
                <a:latin typeface="Segoe UI"/>
              </a:rPr>
              <a:t>2</a:t>
            </a:r>
          </a:p>
        </p:txBody>
      </p:sp>
      <p:sp>
        <p:nvSpPr>
          <p:cNvPr id="38" name="TextBox 37"/>
          <p:cNvSpPr txBox="1"/>
          <p:nvPr/>
        </p:nvSpPr>
        <p:spPr>
          <a:xfrm>
            <a:off x="3448050" y="3257434"/>
            <a:ext cx="285750" cy="123825"/>
          </a:xfrm>
          <a:prstGeom prst="rect">
            <a:avLst/>
          </a:prstGeom>
          <a:noFill/>
        </p:spPr>
        <p:txBody>
          <a:bodyPr wrap="none" lIns="0" rIns="0" tIns="0" bIns="0" anchor="ctr">
            <a:spAutoFit/>
          </a:bodyPr>
          <a:lstStyle/>
          <a:p>
            <a:pPr algn="l"/>
            <a:r>
              <a:rPr sz="1100" b="0">
                <a:solidFill>
                  <a:srgbClr val="605E5C"/>
                </a:solidFill>
                <a:latin typeface="Segoe UI"/>
              </a:rPr>
              <a:t>4</a:t>
            </a:r>
          </a:p>
        </p:txBody>
      </p:sp>
      <p:sp>
        <p:nvSpPr>
          <p:cNvPr id="39" name="TextBox 38"/>
          <p:cNvSpPr txBox="1"/>
          <p:nvPr/>
        </p:nvSpPr>
        <p:spPr>
          <a:xfrm>
            <a:off x="3448050" y="2880158"/>
            <a:ext cx="285750" cy="123825"/>
          </a:xfrm>
          <a:prstGeom prst="rect">
            <a:avLst/>
          </a:prstGeom>
          <a:noFill/>
        </p:spPr>
        <p:txBody>
          <a:bodyPr wrap="none" lIns="0" rIns="0" tIns="0" bIns="0" anchor="ctr">
            <a:spAutoFit/>
          </a:bodyPr>
          <a:lstStyle/>
          <a:p>
            <a:pPr algn="l"/>
            <a:r>
              <a:rPr sz="1100" b="0">
                <a:solidFill>
                  <a:srgbClr val="605E5C"/>
                </a:solidFill>
                <a:latin typeface="Segoe UI"/>
              </a:rPr>
              <a:t>6</a:t>
            </a:r>
          </a:p>
        </p:txBody>
      </p:sp>
      <p:sp>
        <p:nvSpPr>
          <p:cNvPr id="40" name="TextBox 39"/>
          <p:cNvSpPr txBox="1"/>
          <p:nvPr/>
        </p:nvSpPr>
        <p:spPr>
          <a:xfrm>
            <a:off x="3448050" y="2502882"/>
            <a:ext cx="285750" cy="123825"/>
          </a:xfrm>
          <a:prstGeom prst="rect">
            <a:avLst/>
          </a:prstGeom>
          <a:noFill/>
        </p:spPr>
        <p:txBody>
          <a:bodyPr wrap="none" lIns="0" rIns="0" tIns="0" bIns="0" anchor="ctr">
            <a:spAutoFit/>
          </a:bodyPr>
          <a:lstStyle/>
          <a:p>
            <a:pPr algn="l"/>
            <a:r>
              <a:rPr sz="1100" b="0">
                <a:solidFill>
                  <a:srgbClr val="605E5C"/>
                </a:solidFill>
                <a:latin typeface="Segoe UI"/>
              </a:rPr>
              <a:t>8</a:t>
            </a:r>
          </a:p>
        </p:txBody>
      </p:sp>
      <p:sp>
        <p:nvSpPr>
          <p:cNvPr id="41" name="TextBox 40"/>
          <p:cNvSpPr txBox="1"/>
          <p:nvPr/>
        </p:nvSpPr>
        <p:spPr>
          <a:xfrm>
            <a:off x="3448050" y="2125606"/>
            <a:ext cx="285750" cy="123825"/>
          </a:xfrm>
          <a:prstGeom prst="rect">
            <a:avLst/>
          </a:prstGeom>
          <a:noFill/>
        </p:spPr>
        <p:txBody>
          <a:bodyPr wrap="none" lIns="0" rIns="0" tIns="0" bIns="0" anchor="ctr">
            <a:spAutoFit/>
          </a:bodyPr>
          <a:lstStyle/>
          <a:p>
            <a:pPr algn="l"/>
            <a:r>
              <a:rPr sz="1100" b="0">
                <a:solidFill>
                  <a:srgbClr val="605E5C"/>
                </a:solidFill>
                <a:latin typeface="Segoe UI"/>
              </a:rPr>
              <a:t>10</a:t>
            </a:r>
          </a:p>
        </p:txBody>
      </p:sp>
      <p:sp>
        <p:nvSpPr>
          <p:cNvPr id="42" name="TextBox 41"/>
          <p:cNvSpPr txBox="1"/>
          <p:nvPr/>
        </p:nvSpPr>
        <p:spPr>
          <a:xfrm>
            <a:off x="2762250" y="1839856"/>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3" name="TextBox 42"/>
          <p:cNvSpPr txBox="1"/>
          <p:nvPr/>
        </p:nvSpPr>
        <p:spPr>
          <a:xfrm>
            <a:off x="3994206" y="224014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4" name="TextBox 43"/>
          <p:cNvSpPr txBox="1"/>
          <p:nvPr/>
        </p:nvSpPr>
        <p:spPr>
          <a:xfrm>
            <a:off x="4755597" y="3288108"/>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5" name="TextBox 44"/>
          <p:cNvSpPr txBox="1"/>
          <p:nvPr/>
        </p:nvSpPr>
        <p:spPr>
          <a:xfrm>
            <a:off x="4755597" y="458346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6" name="TextBox 45"/>
          <p:cNvSpPr txBox="1"/>
          <p:nvPr/>
        </p:nvSpPr>
        <p:spPr>
          <a:xfrm>
            <a:off x="3994206" y="5631427"/>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7" name="TextBox 46"/>
          <p:cNvSpPr txBox="1"/>
          <p:nvPr/>
        </p:nvSpPr>
        <p:spPr>
          <a:xfrm>
            <a:off x="2762250" y="6031714"/>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8" name="TextBox 47"/>
          <p:cNvSpPr txBox="1"/>
          <p:nvPr/>
        </p:nvSpPr>
        <p:spPr>
          <a:xfrm>
            <a:off x="1530294" y="5631427"/>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9" name="TextBox 48"/>
          <p:cNvSpPr txBox="1"/>
          <p:nvPr/>
        </p:nvSpPr>
        <p:spPr>
          <a:xfrm>
            <a:off x="768903" y="458346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0" name="TextBox 49"/>
          <p:cNvSpPr txBox="1"/>
          <p:nvPr/>
        </p:nvSpPr>
        <p:spPr>
          <a:xfrm>
            <a:off x="768903" y="3288108"/>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1" name="TextBox 50"/>
          <p:cNvSpPr txBox="1"/>
          <p:nvPr/>
        </p:nvSpPr>
        <p:spPr>
          <a:xfrm>
            <a:off x="1530294" y="224014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2" name="Rectangle 51"/>
          <p:cNvSpPr/>
          <p:nvPr/>
        </p:nvSpPr>
        <p:spPr>
          <a:xfrm>
            <a:off x="6772275" y="1354081"/>
            <a:ext cx="5276850" cy="347944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05625" y="1439806"/>
            <a:ext cx="5010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54" name="Rectangle 53"/>
          <p:cNvSpPr/>
          <p:nvPr/>
        </p:nvSpPr>
        <p:spPr>
          <a:xfrm>
            <a:off x="6905625" y="1677931"/>
            <a:ext cx="5010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05625" y="1763656"/>
            <a:ext cx="501015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Pricing across the Lithium Polymer Portable Energy Storage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Demand strength, competitive intensity and supply-chain reliability together define the ceiling on pricing power across the Lithium Polymer Portable Energy Storage Market.</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Regulatory, currency and brand factors add second-order effects while aftermarket and service costs exert the least pressure collectively creating a pricing balance that must be monitored to stay competitive and profitable.</a:t>
            </a:r>
          </a:p>
        </p:txBody>
      </p:sp>
      <p:sp>
        <p:nvSpPr>
          <p:cNvPr id="56" name="Rectangle 55"/>
          <p:cNvSpPr/>
          <p:nvPr/>
        </p:nvSpPr>
        <p:spPr>
          <a:xfrm>
            <a:off x="6772275" y="4943046"/>
            <a:ext cx="5276850" cy="168635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05625" y="5028771"/>
            <a:ext cx="5010150" cy="209550"/>
          </a:xfrm>
          <a:prstGeom prst="rect">
            <a:avLst/>
          </a:prstGeom>
          <a:noFill/>
        </p:spPr>
        <p:txBody>
          <a:bodyPr wrap="square" lIns="0" rIns="19050" tIns="9525" bIns="9525">
            <a:spAutoFit/>
          </a:bodyPr>
          <a:lstStyle/>
          <a:p>
            <a:pPr algn="l"/>
            <a:r>
              <a:rPr sz="1300" b="1">
                <a:solidFill>
                  <a:srgbClr val="007BA5"/>
                </a:solidFill>
                <a:latin typeface="Segoe UI"/>
              </a:rPr>
              <a:t>Highest-Impact Drivers</a:t>
            </a:r>
          </a:p>
        </p:txBody>
      </p:sp>
      <p:sp>
        <p:nvSpPr>
          <p:cNvPr id="58" name="Rectangle 57"/>
          <p:cNvSpPr/>
          <p:nvPr/>
        </p:nvSpPr>
        <p:spPr>
          <a:xfrm>
            <a:off x="6905625" y="5266896"/>
            <a:ext cx="5010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905625" y="5352621"/>
            <a:ext cx="501015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3023360" y="1898910"/>
            <a:ext cx="714399" cy="186689"/>
          </a:xfrm>
          <a:prstGeom prst="rect">
            <a:avLst/>
          </a:prstGeom>
          <a:noFill/>
        </p:spPr>
        <p:txBody>
          <a:bodyPr wrap="none" lIns="0" rIns="0" tIns="0" bIns="0">
            <a:spAutoFit/>
          </a:bodyPr>
          <a:lstStyle/>
          <a:p>
            <a:r>
              <a:rPr sz="1100" b="0">
                <a:solidFill>
                  <a:srgbClr val="252423"/>
                </a:solidFill>
                <a:latin typeface="Segoe UI"/>
              </a:rPr>
              <a:t>Input Cost</a:t>
            </a:r>
          </a:p>
        </p:txBody>
      </p:sp>
      <p:pic>
        <p:nvPicPr>
          <p:cNvPr id="62" name="Picture 61" descr="lock.png"/>
          <p:cNvPicPr>
            <a:picLocks noChangeAspect="1"/>
          </p:cNvPicPr>
          <p:nvPr/>
        </p:nvPicPr>
        <p:blipFill>
          <a:blip r:embed="rId4"/>
          <a:stretch>
            <a:fillRect/>
          </a:stretch>
        </p:blipFill>
        <p:spPr>
          <a:xfrm>
            <a:off x="3685812" y="1889132"/>
            <a:ext cx="128699" cy="187198"/>
          </a:xfrm>
          <a:prstGeom prst="rect">
            <a:avLst/>
          </a:prstGeom>
        </p:spPr>
      </p:pic>
      <p:sp>
        <p:nvSpPr>
          <p:cNvPr id="63" name="TextBox 62"/>
          <p:cNvSpPr txBox="1"/>
          <p:nvPr/>
        </p:nvSpPr>
        <p:spPr>
          <a:xfrm>
            <a:off x="4079959" y="2262317"/>
            <a:ext cx="1200121" cy="139750"/>
          </a:xfrm>
          <a:prstGeom prst="rect">
            <a:avLst/>
          </a:prstGeom>
          <a:noFill/>
        </p:spPr>
        <p:txBody>
          <a:bodyPr wrap="none" lIns="0" rIns="0" tIns="0" bIns="0">
            <a:spAutoFit/>
          </a:bodyPr>
          <a:lstStyle/>
          <a:p>
            <a:r>
              <a:rPr sz="791" b="0">
                <a:solidFill>
                  <a:srgbClr val="252423"/>
                </a:solidFill>
                <a:latin typeface="Segoe UI"/>
              </a:rPr>
              <a:t>Labor &amp; Production Costs</a:t>
            </a:r>
          </a:p>
        </p:txBody>
      </p:sp>
      <p:pic>
        <p:nvPicPr>
          <p:cNvPr id="64" name="Picture 63" descr="lock.png"/>
          <p:cNvPicPr>
            <a:picLocks noChangeAspect="1"/>
          </p:cNvPicPr>
          <p:nvPr/>
        </p:nvPicPr>
        <p:blipFill>
          <a:blip r:embed="rId4"/>
          <a:stretch>
            <a:fillRect/>
          </a:stretch>
        </p:blipFill>
        <p:spPr>
          <a:xfrm>
            <a:off x="4599863" y="2375977"/>
            <a:ext cx="92663" cy="134782"/>
          </a:xfrm>
          <a:prstGeom prst="rect">
            <a:avLst/>
          </a:prstGeom>
        </p:spPr>
      </p:pic>
      <p:sp>
        <p:nvSpPr>
          <p:cNvPr id="65" name="TextBox 64"/>
          <p:cNvSpPr txBox="1"/>
          <p:nvPr/>
        </p:nvSpPr>
        <p:spPr>
          <a:xfrm>
            <a:off x="4850373" y="3310282"/>
            <a:ext cx="1191098" cy="139750"/>
          </a:xfrm>
          <a:prstGeom prst="rect">
            <a:avLst/>
          </a:prstGeom>
          <a:noFill/>
        </p:spPr>
        <p:txBody>
          <a:bodyPr wrap="none" lIns="0" rIns="0" tIns="0" bIns="0">
            <a:spAutoFit/>
          </a:bodyPr>
          <a:lstStyle/>
          <a:p>
            <a:r>
              <a:rPr sz="791" b="0">
                <a:solidFill>
                  <a:srgbClr val="252423"/>
                </a:solidFill>
                <a:latin typeface="Segoe UI"/>
              </a:rPr>
              <a:t>Technology &amp; Innovation</a:t>
            </a:r>
          </a:p>
        </p:txBody>
      </p:sp>
      <p:pic>
        <p:nvPicPr>
          <p:cNvPr id="66" name="Picture 65" descr="lock.png"/>
          <p:cNvPicPr>
            <a:picLocks noChangeAspect="1"/>
          </p:cNvPicPr>
          <p:nvPr/>
        </p:nvPicPr>
        <p:blipFill>
          <a:blip r:embed="rId4"/>
          <a:stretch>
            <a:fillRect/>
          </a:stretch>
        </p:blipFill>
        <p:spPr>
          <a:xfrm>
            <a:off x="5361254" y="3423942"/>
            <a:ext cx="92663" cy="134782"/>
          </a:xfrm>
          <a:prstGeom prst="rect">
            <a:avLst/>
          </a:prstGeom>
        </p:spPr>
      </p:pic>
      <p:sp>
        <p:nvSpPr>
          <p:cNvPr id="67" name="TextBox 66"/>
          <p:cNvSpPr txBox="1"/>
          <p:nvPr/>
        </p:nvSpPr>
        <p:spPr>
          <a:xfrm>
            <a:off x="4864324" y="4605637"/>
            <a:ext cx="1173194" cy="139750"/>
          </a:xfrm>
          <a:prstGeom prst="rect">
            <a:avLst/>
          </a:prstGeom>
          <a:noFill/>
        </p:spPr>
        <p:txBody>
          <a:bodyPr wrap="none" lIns="0" rIns="0" tIns="0" bIns="0">
            <a:spAutoFit/>
          </a:bodyPr>
          <a:lstStyle/>
          <a:p>
            <a:r>
              <a:rPr sz="791" b="0">
                <a:solidFill>
                  <a:srgbClr val="252423"/>
                </a:solidFill>
                <a:latin typeface="Segoe UI"/>
              </a:rPr>
              <a:t>Supply Chain &amp; Logistics</a:t>
            </a:r>
          </a:p>
        </p:txBody>
      </p:sp>
      <p:pic>
        <p:nvPicPr>
          <p:cNvPr id="68" name="Picture 67" descr="lock.png"/>
          <p:cNvPicPr>
            <a:picLocks noChangeAspect="1"/>
          </p:cNvPicPr>
          <p:nvPr/>
        </p:nvPicPr>
        <p:blipFill>
          <a:blip r:embed="rId4"/>
          <a:stretch>
            <a:fillRect/>
          </a:stretch>
        </p:blipFill>
        <p:spPr>
          <a:xfrm>
            <a:off x="5361254" y="4719297"/>
            <a:ext cx="92663" cy="134782"/>
          </a:xfrm>
          <a:prstGeom prst="rect">
            <a:avLst/>
          </a:prstGeom>
        </p:spPr>
      </p:pic>
      <p:sp>
        <p:nvSpPr>
          <p:cNvPr id="69" name="TextBox 68"/>
          <p:cNvSpPr txBox="1"/>
          <p:nvPr/>
        </p:nvSpPr>
        <p:spPr>
          <a:xfrm>
            <a:off x="4238207" y="5653601"/>
            <a:ext cx="902647" cy="139750"/>
          </a:xfrm>
          <a:prstGeom prst="rect">
            <a:avLst/>
          </a:prstGeom>
          <a:noFill/>
        </p:spPr>
        <p:txBody>
          <a:bodyPr wrap="none" lIns="0" rIns="0" tIns="0" bIns="0">
            <a:spAutoFit/>
          </a:bodyPr>
          <a:lstStyle/>
          <a:p>
            <a:r>
              <a:rPr sz="791" b="0">
                <a:solidFill>
                  <a:srgbClr val="252423"/>
                </a:solidFill>
                <a:latin typeface="Segoe UI"/>
              </a:rPr>
              <a:t>Demand &amp; Market</a:t>
            </a:r>
          </a:p>
        </p:txBody>
      </p:sp>
      <p:sp>
        <p:nvSpPr>
          <p:cNvPr id="70" name="TextBox 69"/>
          <p:cNvSpPr txBox="1"/>
          <p:nvPr/>
        </p:nvSpPr>
        <p:spPr>
          <a:xfrm>
            <a:off x="4356504" y="5774302"/>
            <a:ext cx="555152" cy="139750"/>
          </a:xfrm>
          <a:prstGeom prst="rect">
            <a:avLst/>
          </a:prstGeom>
          <a:noFill/>
        </p:spPr>
        <p:txBody>
          <a:bodyPr wrap="none" lIns="0" rIns="0" tIns="0" bIns="0">
            <a:spAutoFit/>
          </a:bodyPr>
          <a:lstStyle/>
          <a:p>
            <a:r>
              <a:rPr sz="791" b="0">
                <a:solidFill>
                  <a:srgbClr val="252423"/>
                </a:solidFill>
                <a:latin typeface="Segoe UI"/>
              </a:rPr>
              <a:t>Conditions</a:t>
            </a:r>
          </a:p>
        </p:txBody>
      </p:sp>
      <p:pic>
        <p:nvPicPr>
          <p:cNvPr id="71" name="Picture 70" descr="lock.png"/>
          <p:cNvPicPr>
            <a:picLocks noChangeAspect="1"/>
          </p:cNvPicPr>
          <p:nvPr/>
        </p:nvPicPr>
        <p:blipFill>
          <a:blip r:embed="rId4"/>
          <a:stretch>
            <a:fillRect/>
          </a:stretch>
        </p:blipFill>
        <p:spPr>
          <a:xfrm>
            <a:off x="4852918" y="5767261"/>
            <a:ext cx="92663" cy="134782"/>
          </a:xfrm>
          <a:prstGeom prst="rect">
            <a:avLst/>
          </a:prstGeom>
        </p:spPr>
      </p:pic>
      <p:sp>
        <p:nvSpPr>
          <p:cNvPr id="72" name="TextBox 71"/>
          <p:cNvSpPr txBox="1"/>
          <p:nvPr/>
        </p:nvSpPr>
        <p:spPr>
          <a:xfrm>
            <a:off x="2847947" y="6114238"/>
            <a:ext cx="1108355" cy="139750"/>
          </a:xfrm>
          <a:prstGeom prst="rect">
            <a:avLst/>
          </a:prstGeom>
          <a:noFill/>
        </p:spPr>
        <p:txBody>
          <a:bodyPr wrap="none" lIns="0" rIns="0" tIns="0" bIns="0">
            <a:spAutoFit/>
          </a:bodyPr>
          <a:lstStyle/>
          <a:p>
            <a:r>
              <a:rPr sz="791" b="0">
                <a:solidFill>
                  <a:srgbClr val="252423"/>
                </a:solidFill>
                <a:latin typeface="Segoe UI"/>
              </a:rPr>
              <a:t>Competitive Landscape</a:t>
            </a:r>
          </a:p>
        </p:txBody>
      </p:sp>
      <p:pic>
        <p:nvPicPr>
          <p:cNvPr id="73" name="Picture 72" descr="lock.png"/>
          <p:cNvPicPr>
            <a:picLocks noChangeAspect="1"/>
          </p:cNvPicPr>
          <p:nvPr/>
        </p:nvPicPr>
        <p:blipFill>
          <a:blip r:embed="rId4"/>
          <a:stretch>
            <a:fillRect/>
          </a:stretch>
        </p:blipFill>
        <p:spPr>
          <a:xfrm>
            <a:off x="3897563" y="6107197"/>
            <a:ext cx="92663" cy="134782"/>
          </a:xfrm>
          <a:prstGeom prst="rect">
            <a:avLst/>
          </a:prstGeom>
        </p:spPr>
      </p:pic>
      <p:sp>
        <p:nvSpPr>
          <p:cNvPr id="74" name="TextBox 73"/>
          <p:cNvSpPr txBox="1"/>
          <p:nvPr/>
        </p:nvSpPr>
        <p:spPr>
          <a:xfrm>
            <a:off x="1617407" y="5653601"/>
            <a:ext cx="1198761" cy="139750"/>
          </a:xfrm>
          <a:prstGeom prst="rect">
            <a:avLst/>
          </a:prstGeom>
          <a:noFill/>
        </p:spPr>
        <p:txBody>
          <a:bodyPr wrap="none" lIns="0" rIns="0" tIns="0" bIns="0">
            <a:spAutoFit/>
          </a:bodyPr>
          <a:lstStyle/>
          <a:p>
            <a:r>
              <a:rPr sz="791" b="0">
                <a:solidFill>
                  <a:srgbClr val="252423"/>
                </a:solidFill>
                <a:latin typeface="Segoe UI"/>
              </a:rPr>
              <a:t>Regulatory &amp; Compliance</a:t>
            </a:r>
          </a:p>
        </p:txBody>
      </p:sp>
      <p:sp>
        <p:nvSpPr>
          <p:cNvPr id="75" name="TextBox 74"/>
          <p:cNvSpPr txBox="1"/>
          <p:nvPr/>
        </p:nvSpPr>
        <p:spPr>
          <a:xfrm>
            <a:off x="2011741" y="5774302"/>
            <a:ext cx="316855" cy="139750"/>
          </a:xfrm>
          <a:prstGeom prst="rect">
            <a:avLst/>
          </a:prstGeom>
          <a:noFill/>
        </p:spPr>
        <p:txBody>
          <a:bodyPr wrap="none" lIns="0" rIns="0" tIns="0" bIns="0">
            <a:spAutoFit/>
          </a:bodyPr>
          <a:lstStyle/>
          <a:p>
            <a:r>
              <a:rPr sz="791" b="0">
                <a:solidFill>
                  <a:srgbClr val="252423"/>
                </a:solidFill>
                <a:latin typeface="Segoe UI"/>
              </a:rPr>
              <a:t>Costs</a:t>
            </a:r>
          </a:p>
        </p:txBody>
      </p:sp>
      <p:pic>
        <p:nvPicPr>
          <p:cNvPr id="76" name="Picture 75" descr="lock.png"/>
          <p:cNvPicPr>
            <a:picLocks noChangeAspect="1"/>
          </p:cNvPicPr>
          <p:nvPr/>
        </p:nvPicPr>
        <p:blipFill>
          <a:blip r:embed="rId4"/>
          <a:stretch>
            <a:fillRect/>
          </a:stretch>
        </p:blipFill>
        <p:spPr>
          <a:xfrm>
            <a:off x="2269857" y="5767261"/>
            <a:ext cx="92663" cy="134782"/>
          </a:xfrm>
          <a:prstGeom prst="rect">
            <a:avLst/>
          </a:prstGeom>
        </p:spPr>
      </p:pic>
      <p:sp>
        <p:nvSpPr>
          <p:cNvPr id="77" name="TextBox 76"/>
          <p:cNvSpPr txBox="1"/>
          <p:nvPr/>
        </p:nvSpPr>
        <p:spPr>
          <a:xfrm>
            <a:off x="808361" y="4605637"/>
            <a:ext cx="1246416" cy="139750"/>
          </a:xfrm>
          <a:prstGeom prst="rect">
            <a:avLst/>
          </a:prstGeom>
          <a:noFill/>
        </p:spPr>
        <p:txBody>
          <a:bodyPr wrap="none" lIns="0" rIns="0" tIns="0" bIns="0">
            <a:spAutoFit/>
          </a:bodyPr>
          <a:lstStyle/>
          <a:p>
            <a:r>
              <a:rPr sz="791" b="0">
                <a:solidFill>
                  <a:srgbClr val="252423"/>
                </a:solidFill>
                <a:latin typeface="Segoe UI"/>
              </a:rPr>
              <a:t>Currency &amp; Trade Dynamics</a:t>
            </a:r>
          </a:p>
        </p:txBody>
      </p:sp>
      <p:pic>
        <p:nvPicPr>
          <p:cNvPr id="78" name="Picture 77" descr="lock.png"/>
          <p:cNvPicPr>
            <a:picLocks noChangeAspect="1"/>
          </p:cNvPicPr>
          <p:nvPr/>
        </p:nvPicPr>
        <p:blipFill>
          <a:blip r:embed="rId4"/>
          <a:stretch>
            <a:fillRect/>
          </a:stretch>
        </p:blipFill>
        <p:spPr>
          <a:xfrm>
            <a:off x="1374560" y="4719297"/>
            <a:ext cx="92663" cy="134782"/>
          </a:xfrm>
          <a:prstGeom prst="rect">
            <a:avLst/>
          </a:prstGeom>
        </p:spPr>
      </p:pic>
      <p:sp>
        <p:nvSpPr>
          <p:cNvPr id="79" name="TextBox 78"/>
          <p:cNvSpPr txBox="1"/>
          <p:nvPr/>
        </p:nvSpPr>
        <p:spPr>
          <a:xfrm>
            <a:off x="852286" y="3310282"/>
            <a:ext cx="1202491" cy="139750"/>
          </a:xfrm>
          <a:prstGeom prst="rect">
            <a:avLst/>
          </a:prstGeom>
          <a:noFill/>
        </p:spPr>
        <p:txBody>
          <a:bodyPr wrap="none" lIns="0" rIns="0" tIns="0" bIns="0">
            <a:spAutoFit/>
          </a:bodyPr>
          <a:lstStyle/>
          <a:p>
            <a:r>
              <a:rPr sz="791" b="0">
                <a:solidFill>
                  <a:srgbClr val="252423"/>
                </a:solidFill>
                <a:latin typeface="Segoe UI"/>
              </a:rPr>
              <a:t>Brand &amp; Value Perception</a:t>
            </a:r>
          </a:p>
        </p:txBody>
      </p:sp>
      <p:pic>
        <p:nvPicPr>
          <p:cNvPr id="80" name="Picture 79" descr="lock.png"/>
          <p:cNvPicPr>
            <a:picLocks noChangeAspect="1"/>
          </p:cNvPicPr>
          <p:nvPr/>
        </p:nvPicPr>
        <p:blipFill>
          <a:blip r:embed="rId4"/>
          <a:stretch>
            <a:fillRect/>
          </a:stretch>
        </p:blipFill>
        <p:spPr>
          <a:xfrm>
            <a:off x="1374560" y="3423942"/>
            <a:ext cx="92663" cy="134782"/>
          </a:xfrm>
          <a:prstGeom prst="rect">
            <a:avLst/>
          </a:prstGeom>
        </p:spPr>
      </p:pic>
      <p:sp>
        <p:nvSpPr>
          <p:cNvPr id="81" name="TextBox 80"/>
          <p:cNvSpPr txBox="1"/>
          <p:nvPr/>
        </p:nvSpPr>
        <p:spPr>
          <a:xfrm>
            <a:off x="1565328" y="2262317"/>
            <a:ext cx="1250840" cy="139750"/>
          </a:xfrm>
          <a:prstGeom prst="rect">
            <a:avLst/>
          </a:prstGeom>
          <a:noFill/>
        </p:spPr>
        <p:txBody>
          <a:bodyPr wrap="none" lIns="0" rIns="0" tIns="0" bIns="0">
            <a:spAutoFit/>
          </a:bodyPr>
          <a:lstStyle/>
          <a:p>
            <a:r>
              <a:rPr sz="791" b="0">
                <a:solidFill>
                  <a:srgbClr val="252423"/>
                </a:solidFill>
                <a:latin typeface="Segoe UI"/>
              </a:rPr>
              <a:t>Aftermarket &amp; Service Costs</a:t>
            </a:r>
          </a:p>
        </p:txBody>
      </p:sp>
      <p:pic>
        <p:nvPicPr>
          <p:cNvPr id="82" name="Picture 81" descr="lock.png"/>
          <p:cNvPicPr>
            <a:picLocks noChangeAspect="1"/>
          </p:cNvPicPr>
          <p:nvPr/>
        </p:nvPicPr>
        <p:blipFill>
          <a:blip r:embed="rId4"/>
          <a:stretch>
            <a:fillRect/>
          </a:stretch>
        </p:blipFill>
        <p:spPr>
          <a:xfrm>
            <a:off x="2135951" y="2375977"/>
            <a:ext cx="92663" cy="134782"/>
          </a:xfrm>
          <a:prstGeom prst="rect">
            <a:avLst/>
          </a:prstGeom>
        </p:spPr>
      </p:pic>
      <p:sp>
        <p:nvSpPr>
          <p:cNvPr id="83" name="TextBox 82"/>
          <p:cNvSpPr txBox="1"/>
          <p:nvPr/>
        </p:nvSpPr>
        <p:spPr>
          <a:xfrm>
            <a:off x="6905625" y="5362146"/>
            <a:ext cx="801985" cy="186689"/>
          </a:xfrm>
          <a:prstGeom prst="rect">
            <a:avLst/>
          </a:prstGeom>
          <a:noFill/>
        </p:spPr>
        <p:txBody>
          <a:bodyPr wrap="none" lIns="0" rIns="0" tIns="0" bIns="0">
            <a:spAutoFit/>
          </a:bodyPr>
          <a:lstStyle/>
          <a:p>
            <a:r>
              <a:rPr sz="1100" b="0">
                <a:solidFill>
                  <a:srgbClr val="252423"/>
                </a:solidFill>
                <a:latin typeface="Segoe UI"/>
              </a:rPr>
              <a:t>▪ Input Cost</a:t>
            </a:r>
          </a:p>
        </p:txBody>
      </p:sp>
      <p:pic>
        <p:nvPicPr>
          <p:cNvPr id="84" name="Picture 83" descr="lock.png"/>
          <p:cNvPicPr>
            <a:picLocks noChangeAspect="1"/>
          </p:cNvPicPr>
          <p:nvPr/>
        </p:nvPicPr>
        <p:blipFill>
          <a:blip r:embed="rId4"/>
          <a:stretch>
            <a:fillRect/>
          </a:stretch>
        </p:blipFill>
        <p:spPr>
          <a:xfrm>
            <a:off x="7655661" y="5352366"/>
            <a:ext cx="128699" cy="187198"/>
          </a:xfrm>
          <a:prstGeom prst="rect">
            <a:avLst/>
          </a:prstGeom>
        </p:spPr>
      </p:pic>
      <p:sp>
        <p:nvSpPr>
          <p:cNvPr id="85" name="TextBox 84"/>
          <p:cNvSpPr txBox="1"/>
          <p:nvPr/>
        </p:nvSpPr>
        <p:spPr>
          <a:xfrm>
            <a:off x="7823157" y="5362146"/>
            <a:ext cx="1874232" cy="186689"/>
          </a:xfrm>
          <a:prstGeom prst="rect">
            <a:avLst/>
          </a:prstGeom>
          <a:noFill/>
        </p:spPr>
        <p:txBody>
          <a:bodyPr wrap="none" lIns="0" rIns="0" tIns="0" bIns="0">
            <a:spAutoFit/>
          </a:bodyPr>
          <a:lstStyle/>
          <a:p>
            <a:r>
              <a:rPr sz="1100" b="0">
                <a:solidFill>
                  <a:srgbClr val="252423"/>
                </a:solidFill>
                <a:latin typeface="Segoe UI"/>
              </a:rPr>
              <a:t>/ 10 · dominant cost pressure</a:t>
            </a:r>
          </a:p>
        </p:txBody>
      </p:sp>
      <p:sp>
        <p:nvSpPr>
          <p:cNvPr id="86" name="TextBox 85"/>
          <p:cNvSpPr txBox="1"/>
          <p:nvPr/>
        </p:nvSpPr>
        <p:spPr>
          <a:xfrm>
            <a:off x="6905625" y="5580078"/>
            <a:ext cx="2015040" cy="186689"/>
          </a:xfrm>
          <a:prstGeom prst="rect">
            <a:avLst/>
          </a:prstGeom>
          <a:noFill/>
        </p:spPr>
        <p:txBody>
          <a:bodyPr wrap="none" lIns="0" rIns="0" tIns="0" bIns="0">
            <a:spAutoFit/>
          </a:bodyPr>
          <a:lstStyle/>
          <a:p>
            <a:r>
              <a:rPr sz="1100" b="0">
                <a:solidFill>
                  <a:srgbClr val="252423"/>
                </a:solidFill>
                <a:latin typeface="Segoe UI"/>
              </a:rPr>
              <a:t>▪ Demand &amp; Market Conditions</a:t>
            </a:r>
          </a:p>
        </p:txBody>
      </p:sp>
      <p:pic>
        <p:nvPicPr>
          <p:cNvPr id="87" name="Picture 86" descr="lock.png"/>
          <p:cNvPicPr>
            <a:picLocks noChangeAspect="1"/>
          </p:cNvPicPr>
          <p:nvPr/>
        </p:nvPicPr>
        <p:blipFill>
          <a:blip r:embed="rId4"/>
          <a:stretch>
            <a:fillRect/>
          </a:stretch>
        </p:blipFill>
        <p:spPr>
          <a:xfrm>
            <a:off x="8868717" y="5570298"/>
            <a:ext cx="128699" cy="187198"/>
          </a:xfrm>
          <a:prstGeom prst="rect">
            <a:avLst/>
          </a:prstGeom>
        </p:spPr>
      </p:pic>
      <p:sp>
        <p:nvSpPr>
          <p:cNvPr id="88" name="TextBox 87"/>
          <p:cNvSpPr txBox="1"/>
          <p:nvPr/>
        </p:nvSpPr>
        <p:spPr>
          <a:xfrm>
            <a:off x="9036212" y="5580078"/>
            <a:ext cx="1634668" cy="186689"/>
          </a:xfrm>
          <a:prstGeom prst="rect">
            <a:avLst/>
          </a:prstGeom>
          <a:noFill/>
        </p:spPr>
        <p:txBody>
          <a:bodyPr wrap="none" lIns="0" rIns="0" tIns="0" bIns="0">
            <a:spAutoFit/>
          </a:bodyPr>
          <a:lstStyle/>
          <a:p>
            <a:r>
              <a:rPr sz="1100" b="0">
                <a:solidFill>
                  <a:srgbClr val="252423"/>
                </a:solidFill>
                <a:latin typeface="Segoe UI"/>
              </a:rPr>
              <a:t>/ 10 · major cost pressure</a:t>
            </a:r>
          </a:p>
        </p:txBody>
      </p:sp>
      <p:sp>
        <p:nvSpPr>
          <p:cNvPr id="89" name="TextBox 88"/>
          <p:cNvSpPr txBox="1"/>
          <p:nvPr/>
        </p:nvSpPr>
        <p:spPr>
          <a:xfrm>
            <a:off x="6905625" y="5798010"/>
            <a:ext cx="1597334" cy="186689"/>
          </a:xfrm>
          <a:prstGeom prst="rect">
            <a:avLst/>
          </a:prstGeom>
          <a:noFill/>
        </p:spPr>
        <p:txBody>
          <a:bodyPr wrap="none" lIns="0" rIns="0" tIns="0" bIns="0">
            <a:spAutoFit/>
          </a:bodyPr>
          <a:lstStyle/>
          <a:p>
            <a:r>
              <a:rPr sz="1100" b="0">
                <a:solidFill>
                  <a:srgbClr val="252423"/>
                </a:solidFill>
                <a:latin typeface="Segoe UI"/>
              </a:rPr>
              <a:t>▪ Competitive Landscape</a:t>
            </a:r>
          </a:p>
        </p:txBody>
      </p:sp>
      <p:pic>
        <p:nvPicPr>
          <p:cNvPr id="90" name="Picture 89" descr="lock.png"/>
          <p:cNvPicPr>
            <a:picLocks noChangeAspect="1"/>
          </p:cNvPicPr>
          <p:nvPr/>
        </p:nvPicPr>
        <p:blipFill>
          <a:blip r:embed="rId4"/>
          <a:stretch>
            <a:fillRect/>
          </a:stretch>
        </p:blipFill>
        <p:spPr>
          <a:xfrm>
            <a:off x="8451011" y="5788230"/>
            <a:ext cx="128699" cy="187198"/>
          </a:xfrm>
          <a:prstGeom prst="rect">
            <a:avLst/>
          </a:prstGeom>
        </p:spPr>
      </p:pic>
      <p:sp>
        <p:nvSpPr>
          <p:cNvPr id="91" name="TextBox 90"/>
          <p:cNvSpPr txBox="1"/>
          <p:nvPr/>
        </p:nvSpPr>
        <p:spPr>
          <a:xfrm>
            <a:off x="8618507" y="5798010"/>
            <a:ext cx="1433035" cy="186689"/>
          </a:xfrm>
          <a:prstGeom prst="rect">
            <a:avLst/>
          </a:prstGeom>
          <a:noFill/>
        </p:spPr>
        <p:txBody>
          <a:bodyPr wrap="none" lIns="0" rIns="0" tIns="0" bIns="0">
            <a:spAutoFit/>
          </a:bodyPr>
          <a:lstStyle/>
          <a:p>
            <a:r>
              <a:rPr sz="1100" b="0">
                <a:solidFill>
                  <a:srgbClr val="252423"/>
                </a:solidFill>
                <a:latin typeface="Segoe UI"/>
              </a:rPr>
              <a:t>/ 10 · key pricing lever</a:t>
            </a:r>
          </a:p>
        </p:txBody>
      </p:sp>
      <p:sp>
        <p:nvSpPr>
          <p:cNvPr id="92" name="TextBox 91"/>
          <p:cNvSpPr txBox="1"/>
          <p:nvPr/>
        </p:nvSpPr>
        <p:spPr>
          <a:xfrm>
            <a:off x="6905625" y="6015942"/>
            <a:ext cx="1687388" cy="186689"/>
          </a:xfrm>
          <a:prstGeom prst="rect">
            <a:avLst/>
          </a:prstGeom>
          <a:noFill/>
        </p:spPr>
        <p:txBody>
          <a:bodyPr wrap="none" lIns="0" rIns="0" tIns="0" bIns="0">
            <a:spAutoFit/>
          </a:bodyPr>
          <a:lstStyle/>
          <a:p>
            <a:r>
              <a:rPr sz="1100" b="0">
                <a:solidFill>
                  <a:srgbClr val="252423"/>
                </a:solidFill>
                <a:latin typeface="Segoe UI"/>
              </a:rPr>
              <a:t>▪ Supply Chain &amp; Logistics</a:t>
            </a:r>
          </a:p>
        </p:txBody>
      </p:sp>
      <p:pic>
        <p:nvPicPr>
          <p:cNvPr id="93" name="Picture 92" descr="lock.png"/>
          <p:cNvPicPr>
            <a:picLocks noChangeAspect="1"/>
          </p:cNvPicPr>
          <p:nvPr/>
        </p:nvPicPr>
        <p:blipFill>
          <a:blip r:embed="rId4"/>
          <a:stretch>
            <a:fillRect/>
          </a:stretch>
        </p:blipFill>
        <p:spPr>
          <a:xfrm>
            <a:off x="8541065" y="6006162"/>
            <a:ext cx="128699" cy="187198"/>
          </a:xfrm>
          <a:prstGeom prst="rect">
            <a:avLst/>
          </a:prstGeom>
        </p:spPr>
      </p:pic>
      <p:sp>
        <p:nvSpPr>
          <p:cNvPr id="94" name="TextBox 93"/>
          <p:cNvSpPr txBox="1"/>
          <p:nvPr/>
        </p:nvSpPr>
        <p:spPr>
          <a:xfrm>
            <a:off x="8708560" y="6015942"/>
            <a:ext cx="1433035" cy="186689"/>
          </a:xfrm>
          <a:prstGeom prst="rect">
            <a:avLst/>
          </a:prstGeom>
          <a:noFill/>
        </p:spPr>
        <p:txBody>
          <a:bodyPr wrap="none" lIns="0" rIns="0" tIns="0" bIns="0">
            <a:spAutoFit/>
          </a:bodyPr>
          <a:lstStyle/>
          <a:p>
            <a:r>
              <a:rPr sz="1100" b="0">
                <a:solidFill>
                  <a:srgbClr val="252423"/>
                </a:solidFill>
                <a:latin typeface="Segoe UI"/>
              </a:rPr>
              <a:t>/ 10 · key pricing lever</a:t>
            </a:r>
          </a:p>
        </p:txBody>
      </p:sp>
      <p:sp>
        <p:nvSpPr>
          <p:cNvPr id="95" name="TextBox 94"/>
          <p:cNvSpPr txBox="1"/>
          <p:nvPr/>
        </p:nvSpPr>
        <p:spPr>
          <a:xfrm>
            <a:off x="6905625" y="6233874"/>
            <a:ext cx="1751205" cy="186689"/>
          </a:xfrm>
          <a:prstGeom prst="rect">
            <a:avLst/>
          </a:prstGeom>
          <a:noFill/>
        </p:spPr>
        <p:txBody>
          <a:bodyPr wrap="none" lIns="0" rIns="0" tIns="0" bIns="0">
            <a:spAutoFit/>
          </a:bodyPr>
          <a:lstStyle/>
          <a:p>
            <a:r>
              <a:rPr sz="1100" b="0">
                <a:solidFill>
                  <a:srgbClr val="252423"/>
                </a:solidFill>
                <a:latin typeface="Segoe UI"/>
              </a:rPr>
              <a:t>▪ Labor &amp; Production Costs</a:t>
            </a:r>
          </a:p>
        </p:txBody>
      </p:sp>
      <p:pic>
        <p:nvPicPr>
          <p:cNvPr id="96" name="Picture 95" descr="lock.png"/>
          <p:cNvPicPr>
            <a:picLocks noChangeAspect="1"/>
          </p:cNvPicPr>
          <p:nvPr/>
        </p:nvPicPr>
        <p:blipFill>
          <a:blip r:embed="rId4"/>
          <a:stretch>
            <a:fillRect/>
          </a:stretch>
        </p:blipFill>
        <p:spPr>
          <a:xfrm>
            <a:off x="8604882" y="6224094"/>
            <a:ext cx="128699" cy="187198"/>
          </a:xfrm>
          <a:prstGeom prst="rect">
            <a:avLst/>
          </a:prstGeom>
        </p:spPr>
      </p:pic>
      <p:sp>
        <p:nvSpPr>
          <p:cNvPr id="97" name="TextBox 96"/>
          <p:cNvSpPr txBox="1"/>
          <p:nvPr/>
        </p:nvSpPr>
        <p:spPr>
          <a:xfrm>
            <a:off x="8772378" y="6233874"/>
            <a:ext cx="1497803" cy="186689"/>
          </a:xfrm>
          <a:prstGeom prst="rect">
            <a:avLst/>
          </a:prstGeom>
          <a:noFill/>
        </p:spPr>
        <p:txBody>
          <a:bodyPr wrap="none" lIns="0" rIns="0" tIns="0" bIns="0">
            <a:spAutoFit/>
          </a:bodyPr>
          <a:lstStyle/>
          <a:p>
            <a:r>
              <a:rPr sz="1100" b="0">
                <a:solidFill>
                  <a:srgbClr val="252423"/>
                </a:solidFill>
                <a:latin typeface="Segoe UI"/>
              </a:rPr>
              <a:t>/ 10 · supporting factor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Factors Impacting Pricing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Factors affecting the pricing decision of the product: category, price impact, direction of pressure and rationale</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cost, demand, efficiency and regulatory forces shaping and impacting achievable selling prices grouped by category, with each factor's direction, impact and score.</a:t>
            </a:r>
          </a:p>
        </p:txBody>
      </p:sp>
      <p:sp>
        <p:nvSpPr>
          <p:cNvPr id="9" name="Rectangle 8"/>
          <p:cNvSpPr/>
          <p:nvPr/>
        </p:nvSpPr>
        <p:spPr>
          <a:xfrm>
            <a:off x="142875" y="1314450"/>
            <a:ext cx="11906250" cy="3286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652357"/>
                <a:gridCol w="2643634"/>
                <a:gridCol w="1115643"/>
                <a:gridCol w="1198370"/>
                <a:gridCol w="1112810"/>
                <a:gridCol w="3164385"/>
              </a:tblGrid>
              <a:tr h="246126">
                <a:tc>
                  <a:txBody>
                    <a:bodyPr wrap="none"/>
                    <a:lstStyle/>
                    <a:p>
                      <a:pPr algn="l"/>
                      <a:r>
                        <a:rPr sz="1100" b="1">
                          <a:solidFill>
                            <a:srgbClr val="FFFFFF"/>
                          </a:solidFill>
                          <a:latin typeface="Segoe UI"/>
                        </a:rPr>
                        <a:t>Factor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Category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Price Impact</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Direction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Score (0–10)</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How It Shapes Price</a:t>
                      </a:r>
                      <a:endParaRPr sz="1100"/>
                    </a:p>
                  </a:txBody>
                  <a:tcPr marL="47625" marR="38100" marT="19050" marB="19050" anchor="ctr">
                    <a:solidFill>
                      <a:srgbClr val="007BA5"/>
                    </a:solidFill>
                  </a:tcPr>
                </a:tc>
              </a:tr>
              <a:tr h="273520">
                <a:tc>
                  <a:txBody>
                    <a:bodyPr wrap="none"/>
                    <a:lstStyle/>
                    <a:p>
                      <a:pPr algn="l"/>
                      <a:r>
                        <a:rPr sz="1100" b="1">
                          <a:solidFill>
                            <a:srgbClr val="252423"/>
                          </a:solidFill>
                          <a:latin typeface="Segoe UI"/>
                        </a:rPr>
                        <a:t>Input Cost</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Labor &amp; Production Costs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Labour and production expenses.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Supply Chain &amp; Logistics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Demand &amp; Market Conditions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and broader market conditions.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Competitive Landscape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Brand &amp; Value Perception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Brand strength and value perception.</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Technology &amp; Innovation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Aftermarket &amp; Service Costs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Innovation &amp; Operating Efficiency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Aftermarket and service costs.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Regulatory &amp; Compliance Costs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Regulatory, Currency &amp; Macro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Currency &amp; Trade Dynamics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Regulatory, Currency &amp; Macro</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Currency and trade dynamics.</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75297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07BA5"/>
                </a:solidFill>
                <a:latin typeface="Segoe UI"/>
              </a:rPr>
              <a:t>What the Factors Imply</a:t>
            </a:r>
          </a:p>
        </p:txBody>
      </p:sp>
      <p:sp>
        <p:nvSpPr>
          <p:cNvPr id="14" name="Rectangle 13"/>
          <p:cNvSpPr/>
          <p:nvPr/>
        </p:nvSpPr>
        <p:spPr>
          <a:xfrm>
            <a:off x="276225" y="50768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8150788" y="2764346"/>
            <a:ext cx="330041" cy="480060"/>
          </a:xfrm>
          <a:prstGeom prst="rect">
            <a:avLst/>
          </a:prstGeom>
        </p:spPr>
      </p:pic>
      <p:sp>
        <p:nvSpPr>
          <p:cNvPr id="18" name="TextBox 17"/>
          <p:cNvSpPr txBox="1"/>
          <p:nvPr/>
        </p:nvSpPr>
        <p:spPr>
          <a:xfrm>
            <a:off x="276225" y="5172075"/>
            <a:ext cx="5902836" cy="194310"/>
          </a:xfrm>
          <a:prstGeom prst="rect">
            <a:avLst/>
          </a:prstGeom>
          <a:noFill/>
        </p:spPr>
        <p:txBody>
          <a:bodyPr wrap="none" lIns="0" rIns="0" tIns="0" bIns="0">
            <a:spAutoFit/>
          </a:bodyPr>
          <a:lstStyle/>
          <a:p>
            <a:r>
              <a:rPr sz="1150" b="0">
                <a:solidFill>
                  <a:srgbClr val="252423"/>
                </a:solidFill>
                <a:latin typeface="Segoe U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6128215" y="5161851"/>
            <a:ext cx="134549" cy="195707"/>
          </a:xfrm>
          <a:prstGeom prst="rect">
            <a:avLst/>
          </a:prstGeom>
        </p:spPr>
      </p:pic>
      <p:sp>
        <p:nvSpPr>
          <p:cNvPr id="20" name="TextBox 19"/>
          <p:cNvSpPr txBox="1"/>
          <p:nvPr/>
        </p:nvSpPr>
        <p:spPr>
          <a:xfrm>
            <a:off x="6303324" y="5172075"/>
            <a:ext cx="319521" cy="194310"/>
          </a:xfrm>
          <a:prstGeom prst="rect">
            <a:avLst/>
          </a:prstGeom>
          <a:noFill/>
        </p:spPr>
        <p:txBody>
          <a:bodyPr wrap="none" lIns="0" rIns="0" tIns="0" bIns="0">
            <a:spAutoFit/>
          </a:bodyPr>
          <a:lstStyle/>
          <a:p>
            <a:r>
              <a:rPr sz="1150" b="0">
                <a:solidFill>
                  <a:srgbClr val="252423"/>
                </a:solidFill>
                <a:latin typeface="Segoe UI"/>
              </a:rPr>
              <a:t>and</a:t>
            </a:r>
          </a:p>
        </p:txBody>
      </p:sp>
      <p:pic>
        <p:nvPicPr>
          <p:cNvPr id="21" name="Picture 20" descr="lock.png"/>
          <p:cNvPicPr>
            <a:picLocks noChangeAspect="1"/>
          </p:cNvPicPr>
          <p:nvPr/>
        </p:nvPicPr>
        <p:blipFill>
          <a:blip r:embed="rId4"/>
          <a:stretch>
            <a:fillRect/>
          </a:stretch>
        </p:blipFill>
        <p:spPr>
          <a:xfrm>
            <a:off x="6572000" y="5161851"/>
            <a:ext cx="134549" cy="195707"/>
          </a:xfrm>
          <a:prstGeom prst="rect">
            <a:avLst/>
          </a:prstGeom>
        </p:spPr>
      </p:pic>
      <p:sp>
        <p:nvSpPr>
          <p:cNvPr id="22" name="TextBox 21"/>
          <p:cNvSpPr txBox="1"/>
          <p:nvPr/>
        </p:nvSpPr>
        <p:spPr>
          <a:xfrm>
            <a:off x="6747109" y="5172075"/>
            <a:ext cx="406524" cy="194310"/>
          </a:xfrm>
          <a:prstGeom prst="rect">
            <a:avLst/>
          </a:prstGeom>
          <a:noFill/>
        </p:spPr>
        <p:txBody>
          <a:bodyPr wrap="none" lIns="0" rIns="0" tIns="0" bIns="0">
            <a:spAutoFit/>
          </a:bodyPr>
          <a:lstStyle/>
          <a:p>
            <a:r>
              <a:rPr sz="1150" b="0">
                <a:solidFill>
                  <a:srgbClr val="252423"/>
                </a:solidFill>
                <a:latin typeface="Segoe UI"/>
              </a:rPr>
              <a:t>/ 10).</a:t>
            </a:r>
          </a:p>
        </p:txBody>
      </p:sp>
      <p:sp>
        <p:nvSpPr>
          <p:cNvPr id="23" name="TextBox 22"/>
          <p:cNvSpPr txBox="1"/>
          <p:nvPr/>
        </p:nvSpPr>
        <p:spPr>
          <a:xfrm>
            <a:off x="276225" y="5399913"/>
            <a:ext cx="9012799" cy="194310"/>
          </a:xfrm>
          <a:prstGeom prst="rect">
            <a:avLst/>
          </a:prstGeom>
          <a:noFill/>
        </p:spPr>
        <p:txBody>
          <a:bodyPr wrap="none" lIns="0" rIns="0" tIns="0" bIns="0">
            <a:spAutoFit/>
          </a:bodyPr>
          <a:lstStyle/>
          <a:p>
            <a:r>
              <a:rPr sz="1150" b="0">
                <a:solidFill>
                  <a:srgbClr val="252423"/>
                </a:solidFill>
                <a:latin typeface="Segoe UI"/>
              </a:rPr>
              <a:t>▪ 8 of 10 factors exert upward pressure on price; the rest pull prices down chiefly Technology &amp; Innovation and the Competitive Landscape.</a:t>
            </a:r>
          </a:p>
        </p:txBody>
      </p:sp>
      <p:sp>
        <p:nvSpPr>
          <p:cNvPr id="24" name="TextBox 23"/>
          <p:cNvSpPr txBox="1"/>
          <p:nvPr/>
        </p:nvSpPr>
        <p:spPr>
          <a:xfrm>
            <a:off x="276225" y="5627750"/>
            <a:ext cx="8718051" cy="194310"/>
          </a:xfrm>
          <a:prstGeom prst="rect">
            <a:avLst/>
          </a:prstGeom>
          <a:noFill/>
        </p:spPr>
        <p:txBody>
          <a:bodyPr wrap="none" lIns="0" rIns="0" tIns="0" bIns="0">
            <a:spAutoFit/>
          </a:bodyPr>
          <a:lstStyle/>
          <a:p>
            <a:r>
              <a:rPr sz="1150" b="0">
                <a:solidFill>
                  <a:srgbClr val="252423"/>
                </a:solidFill>
                <a:latin typeface="Segoe UI"/>
              </a:rPr>
              <a:t>▪ Cost-side factors set the price floor; demand, brand and competitive forces determine how much of that cost can be passed through.</a:t>
            </a:r>
          </a:p>
        </p:txBody>
      </p:sp>
      <p:sp>
        <p:nvSpPr>
          <p:cNvPr id="25" name="TextBox 24"/>
          <p:cNvSpPr txBox="1"/>
          <p:nvPr/>
        </p:nvSpPr>
        <p:spPr>
          <a:xfrm>
            <a:off x="276225" y="5855588"/>
            <a:ext cx="7590046" cy="194310"/>
          </a:xfrm>
          <a:prstGeom prst="rect">
            <a:avLst/>
          </a:prstGeom>
          <a:noFill/>
        </p:spPr>
        <p:txBody>
          <a:bodyPr wrap="none" lIns="0" rIns="0" tIns="0" bIns="0">
            <a:spAutoFit/>
          </a:bodyPr>
          <a:lstStyle/>
          <a:p>
            <a:r>
              <a:rPr sz="1150" b="0">
                <a:solidFill>
                  <a:srgbClr val="252423"/>
                </a:solidFill>
                <a:latin typeface="Segoe UI"/>
              </a:rPr>
              <a:t>▪ Aftermarket &amp; Service Costs exerts the least pressure a second-order effect to monitor rather than actively manage.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Regional Price Assessment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price assessment across the value chain, from manufacturer to retail, and average price by geography, 2026–2036</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Regional price assessment across the value chain (US$/Units) and price trajectory to 2036.</a:t>
            </a:r>
          </a:p>
        </p:txBody>
      </p:sp>
      <p:sp>
        <p:nvSpPr>
          <p:cNvPr id="9" name="Rectangle 8"/>
          <p:cNvSpPr/>
          <p:nvPr/>
        </p:nvSpPr>
        <p:spPr>
          <a:xfrm>
            <a:off x="142875" y="1317574"/>
            <a:ext cx="5905500" cy="273805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Regional Price by Value-Chain Level (US$/Units)</a:t>
            </a:r>
          </a:p>
        </p:txBody>
      </p:sp>
      <p:graphicFrame>
        <p:nvGraphicFramePr>
          <p:cNvPr id="11" name="Table 10"/>
          <p:cNvGraphicFramePr>
            <a:graphicFrameLocks noGrp="1"/>
          </p:cNvGraphicFramePr>
          <p:nvPr/>
        </p:nvGraphicFramePr>
        <p:xfrm>
          <a:off x="152400" y="1574749"/>
          <a:ext cx="5886449" cy="2271331"/>
        </p:xfrm>
        <a:graphic>
          <a:graphicData uri="http://schemas.openxmlformats.org/drawingml/2006/table">
            <a:tbl>
              <a:tblPr>
                <a:tableStyleId>{5C22544A-7EE6-4342-B048-85BDC9FD1C3A}</a:tableStyleId>
              </a:tblPr>
              <a:tblGrid>
                <a:gridCol w="1648783"/>
                <a:gridCol w="1137506"/>
                <a:gridCol w="1016414"/>
                <a:gridCol w="701575"/>
                <a:gridCol w="1382171"/>
              </a:tblGrid>
              <a:tr h="246126">
                <a:tc>
                  <a:txBody>
                    <a:bodyPr wrap="none"/>
                    <a:lstStyle/>
                    <a:p>
                      <a:pPr algn="l"/>
                      <a:r>
                        <a:rPr sz="1100" b="1">
                          <a:solidFill>
                            <a:srgbClr val="FFFFFF"/>
                          </a:solidFill>
                          <a:latin typeface="Segoe UI"/>
                        </a:rPr>
                        <a:t>Geography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Manufacturer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Distribution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Retail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Total Margin (%)</a:t>
                      </a:r>
                      <a:endParaRPr sz="1100"/>
                    </a:p>
                  </a:txBody>
                  <a:tcPr marL="47625" marR="38100" marT="19050" marB="19050" anchor="ctr">
                    <a:solidFill>
                      <a:srgbClr val="007BA5"/>
                    </a:solidFill>
                  </a:tcPr>
                </a:tc>
              </a:tr>
              <a:tr h="289315">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6200775" y="1317574"/>
            <a:ext cx="5848350" cy="273805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by Geography (US$/Units)</a:t>
            </a:r>
          </a:p>
        </p:txBody>
      </p:sp>
      <p:graphicFrame>
        <p:nvGraphicFramePr>
          <p:cNvPr id="15" name="Table 14"/>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157367"/>
                <a:gridCol w="917983"/>
                <a:gridCol w="917983"/>
                <a:gridCol w="917983"/>
                <a:gridCol w="917983"/>
              </a:tblGrid>
              <a:tr h="246126">
                <a:tc>
                  <a:txBody>
                    <a:bodyPr wrap="none"/>
                    <a:lstStyle/>
                    <a:p>
                      <a:pPr algn="l"/>
                      <a:r>
                        <a:rPr sz="1100" b="1">
                          <a:solidFill>
                            <a:srgbClr val="FFFFFF"/>
                          </a:solidFill>
                          <a:latin typeface="Segoe UI"/>
                        </a:rPr>
                        <a:t>Geography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r>
              <a:tr h="289315">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142875" y="4201658"/>
            <a:ext cx="119062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07BA5"/>
                </a:solidFill>
                <a:latin typeface="Segoe UI"/>
              </a:rPr>
              <a:t>What This Section Covers</a:t>
            </a:r>
          </a:p>
        </p:txBody>
      </p:sp>
      <p:sp>
        <p:nvSpPr>
          <p:cNvPr id="19" name="Rectangle 18"/>
          <p:cNvSpPr/>
          <p:nvPr/>
        </p:nvSpPr>
        <p:spPr>
          <a:xfrm>
            <a:off x="276225" y="4525508"/>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Manufacturer-level pricing ex-works / producer price benchmarked for each geography.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Distribution &amp; channel pricing logistics and channel margin layered onto the producer price.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Retail / end-market pricing the average price paid by the end customer across geographies.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Value-chain margin build-up cumulative margin from manufacturer to retail, by geography (prices derived as Value ÷ Volume).</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3733326"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10016943" y="2566777"/>
            <a:ext cx="366712" cy="533400"/>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Global Pricing Benchmarking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Benchmarking of price range by region and sub-segment against the weighted average price of each region</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Development-stage price assumptions and manufacturer benchmarking price range by energy storage capacity type and region (US$/Units).</a:t>
            </a:r>
          </a:p>
        </p:txBody>
      </p:sp>
      <p:sp>
        <p:nvSpPr>
          <p:cNvPr id="9" name="Rectangle 8"/>
          <p:cNvSpPr/>
          <p:nvPr/>
        </p:nvSpPr>
        <p:spPr>
          <a:xfrm>
            <a:off x="142875" y="1314450"/>
            <a:ext cx="11906250" cy="30003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Benchmarking by Region &amp; Energy Storage Capacity (US$/Units)</a:t>
            </a:r>
          </a:p>
        </p:txBody>
      </p:sp>
      <p:graphicFrame>
        <p:nvGraphicFramePr>
          <p:cNvPr id="11" name="Table 10"/>
          <p:cNvGraphicFramePr>
            <a:graphicFrameLocks noGrp="1"/>
          </p:cNvGraphicFramePr>
          <p:nvPr/>
        </p:nvGraphicFramePr>
        <p:xfrm>
          <a:off x="152400" y="1571625"/>
          <a:ext cx="11887201" cy="2533649"/>
        </p:xfrm>
        <a:graphic>
          <a:graphicData uri="http://schemas.openxmlformats.org/drawingml/2006/table">
            <a:tbl>
              <a:tblPr>
                <a:tableStyleId>{5C22544A-7EE6-4342-B048-85BDC9FD1C3A}</a:tableStyleId>
              </a:tblPr>
              <a:tblGrid>
                <a:gridCol w="1822885"/>
                <a:gridCol w="2516079"/>
                <a:gridCol w="2516079"/>
                <a:gridCol w="2516079"/>
                <a:gridCol w="2516079"/>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500 Wh to Below 1,000 Wh</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1,000 Wh to Below 1,500 Wh</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1,500 Wh to 2,000 Wh</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Weighted Avg</a:t>
                      </a:r>
                      <a:endParaRPr sz="1100"/>
                    </a:p>
                  </a:txBody>
                  <a:tcPr marL="47625" marR="38100" marT="19050" marB="19050" anchor="ctr">
                    <a:solidFill>
                      <a:srgbClr val="007BA5"/>
                    </a:solidFill>
                  </a:tcPr>
                </a:tc>
              </a:tr>
              <a:tr h="326789">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1148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4457700"/>
            <a:ext cx="11906250" cy="2085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Benchmarking Insights</a:t>
            </a:r>
          </a:p>
        </p:txBody>
      </p:sp>
      <p:sp>
        <p:nvSpPr>
          <p:cNvPr id="15" name="Rectangle 14"/>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67275"/>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4"/>
          <a:stretch>
            <a:fillRect/>
          </a:stretch>
        </p:blipFill>
        <p:spPr>
          <a:xfrm>
            <a:off x="6820753" y="2694812"/>
            <a:ext cx="366712" cy="533400"/>
          </a:xfrm>
          <a:prstGeom prst="rect">
            <a:avLst/>
          </a:prstGeom>
        </p:spPr>
      </p:pic>
      <p:sp>
        <p:nvSpPr>
          <p:cNvPr id="19" name="TextBox 18"/>
          <p:cNvSpPr txBox="1"/>
          <p:nvPr/>
        </p:nvSpPr>
        <p:spPr>
          <a:xfrm>
            <a:off x="276225" y="4876800"/>
            <a:ext cx="5091944" cy="194310"/>
          </a:xfrm>
          <a:prstGeom prst="rect">
            <a:avLst/>
          </a:prstGeom>
          <a:noFill/>
        </p:spPr>
        <p:txBody>
          <a:bodyPr wrap="none" lIns="0" rIns="0" tIns="0" bIns="0">
            <a:spAutoFit/>
          </a:bodyPr>
          <a:lstStyle/>
          <a:p>
            <a:r>
              <a:rPr sz="1150" b="0">
                <a:solidFill>
                  <a:srgbClr val="252423"/>
                </a:solidFill>
                <a:latin typeface="Segoe U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5317323" y="4866576"/>
            <a:ext cx="134549" cy="195707"/>
          </a:xfrm>
          <a:prstGeom prst="rect">
            <a:avLst/>
          </a:prstGeom>
        </p:spPr>
      </p:pic>
      <p:sp>
        <p:nvSpPr>
          <p:cNvPr id="21" name="TextBox 20"/>
          <p:cNvSpPr txBox="1"/>
          <p:nvPr/>
        </p:nvSpPr>
        <p:spPr>
          <a:xfrm>
            <a:off x="5492432" y="4876800"/>
            <a:ext cx="4036580" cy="194310"/>
          </a:xfrm>
          <a:prstGeom prst="rect">
            <a:avLst/>
          </a:prstGeom>
          <a:noFill/>
        </p:spPr>
        <p:txBody>
          <a:bodyPr wrap="none" lIns="0" rIns="0" tIns="0" bIns="0">
            <a:spAutoFit/>
          </a:bodyPr>
          <a:lstStyle/>
          <a:p>
            <a:r>
              <a:rPr sz="1150" b="0">
                <a:solidFill>
                  <a:srgbClr val="252423"/>
                </a:solidFill>
                <a:latin typeface="Segoe UI"/>
              </a:rPr>
              <a:t>US$/Units) and 'South Asia &amp; Pacific' the most competitive (~</a:t>
            </a:r>
          </a:p>
        </p:txBody>
      </p:sp>
      <p:pic>
        <p:nvPicPr>
          <p:cNvPr id="22" name="Picture 21" descr="lock.png"/>
          <p:cNvPicPr>
            <a:picLocks noChangeAspect="1"/>
          </p:cNvPicPr>
          <p:nvPr/>
        </p:nvPicPr>
        <p:blipFill>
          <a:blip r:embed="rId4"/>
          <a:stretch>
            <a:fillRect/>
          </a:stretch>
        </p:blipFill>
        <p:spPr>
          <a:xfrm>
            <a:off x="9478166" y="4866576"/>
            <a:ext cx="134549" cy="195707"/>
          </a:xfrm>
          <a:prstGeom prst="rect">
            <a:avLst/>
          </a:prstGeom>
        </p:spPr>
      </p:pic>
      <p:sp>
        <p:nvSpPr>
          <p:cNvPr id="23" name="TextBox 22"/>
          <p:cNvSpPr txBox="1"/>
          <p:nvPr/>
        </p:nvSpPr>
        <p:spPr>
          <a:xfrm>
            <a:off x="9653276" y="4876800"/>
            <a:ext cx="795895" cy="194310"/>
          </a:xfrm>
          <a:prstGeom prst="rect">
            <a:avLst/>
          </a:prstGeom>
          <a:noFill/>
        </p:spPr>
        <p:txBody>
          <a:bodyPr wrap="none" lIns="0" rIns="0" tIns="0" bIns="0">
            <a:spAutoFit/>
          </a:bodyPr>
          <a:lstStyle/>
          <a:p>
            <a:r>
              <a:rPr sz="1150" b="0">
                <a:solidFill>
                  <a:srgbClr val="252423"/>
                </a:solidFill>
                <a:latin typeface="Segoe UI"/>
              </a:rPr>
              <a:t>US$/Units).</a:t>
            </a:r>
          </a:p>
        </p:txBody>
      </p:sp>
      <p:sp>
        <p:nvSpPr>
          <p:cNvPr id="24" name="TextBox 23"/>
          <p:cNvSpPr txBox="1"/>
          <p:nvPr/>
        </p:nvSpPr>
        <p:spPr>
          <a:xfrm>
            <a:off x="276225" y="5104638"/>
            <a:ext cx="7155725" cy="194310"/>
          </a:xfrm>
          <a:prstGeom prst="rect">
            <a:avLst/>
          </a:prstGeom>
          <a:noFill/>
        </p:spPr>
        <p:txBody>
          <a:bodyPr wrap="none" lIns="0" rIns="0" tIns="0" bIns="0">
            <a:spAutoFit/>
          </a:bodyPr>
          <a:lstStyle/>
          <a:p>
            <a:r>
              <a:rPr sz="1150" b="0">
                <a:solidFill>
                  <a:srgbClr val="252423"/>
                </a:solidFill>
                <a:latin typeface="Segoe UI"/>
              </a:rPr>
              <a:t>▪ Price ranges are benchmarked per energy storage capacity type at 2026, derived as Value ÷ Volume with a ±</a:t>
            </a:r>
          </a:p>
        </p:txBody>
      </p:sp>
      <p:pic>
        <p:nvPicPr>
          <p:cNvPr id="25" name="Picture 24" descr="lock.png"/>
          <p:cNvPicPr>
            <a:picLocks noChangeAspect="1"/>
          </p:cNvPicPr>
          <p:nvPr/>
        </p:nvPicPr>
        <p:blipFill>
          <a:blip r:embed="rId4"/>
          <a:stretch>
            <a:fillRect/>
          </a:stretch>
        </p:blipFill>
        <p:spPr>
          <a:xfrm>
            <a:off x="7381103" y="5094414"/>
            <a:ext cx="134549" cy="195707"/>
          </a:xfrm>
          <a:prstGeom prst="rect">
            <a:avLst/>
          </a:prstGeom>
        </p:spPr>
      </p:pic>
      <p:sp>
        <p:nvSpPr>
          <p:cNvPr id="26" name="TextBox 25"/>
          <p:cNvSpPr txBox="1"/>
          <p:nvPr/>
        </p:nvSpPr>
        <p:spPr>
          <a:xfrm>
            <a:off x="7556213" y="5104638"/>
            <a:ext cx="1575258" cy="194310"/>
          </a:xfrm>
          <a:prstGeom prst="rect">
            <a:avLst/>
          </a:prstGeom>
          <a:noFill/>
        </p:spPr>
        <p:txBody>
          <a:bodyPr wrap="none" lIns="0" rIns="0" tIns="0" bIns="0">
            <a:spAutoFit/>
          </a:bodyPr>
          <a:lstStyle/>
          <a:p>
            <a:r>
              <a:rPr sz="1150" b="0">
                <a:solidFill>
                  <a:srgbClr val="252423"/>
                </a:solidFill>
                <a:latin typeface="Segoe UI"/>
              </a:rPr>
              <a:t>observed trading band.</a:t>
            </a:r>
          </a:p>
        </p:txBody>
      </p:sp>
      <p:sp>
        <p:nvSpPr>
          <p:cNvPr id="27" name="TextBox 26"/>
          <p:cNvSpPr txBox="1"/>
          <p:nvPr/>
        </p:nvSpPr>
        <p:spPr>
          <a:xfrm>
            <a:off x="276225" y="5332475"/>
            <a:ext cx="2362710" cy="194310"/>
          </a:xfrm>
          <a:prstGeom prst="rect">
            <a:avLst/>
          </a:prstGeom>
          <a:noFill/>
        </p:spPr>
        <p:txBody>
          <a:bodyPr wrap="none" lIns="0" rIns="0" tIns="0" bIns="0">
            <a:spAutoFit/>
          </a:bodyPr>
          <a:lstStyle/>
          <a:p>
            <a:r>
              <a:rPr sz="1150" b="0">
                <a:solidFill>
                  <a:srgbClr val="252423"/>
                </a:solidFill>
                <a:latin typeface="Segoe UI"/>
              </a:rPr>
              <a:t>▪ Cross-region price dispersion of ~</a:t>
            </a:r>
          </a:p>
        </p:txBody>
      </p:sp>
      <p:pic>
        <p:nvPicPr>
          <p:cNvPr id="28" name="Picture 27" descr="lock.png"/>
          <p:cNvPicPr>
            <a:picLocks noChangeAspect="1"/>
          </p:cNvPicPr>
          <p:nvPr/>
        </p:nvPicPr>
        <p:blipFill>
          <a:blip r:embed="rId4"/>
          <a:stretch>
            <a:fillRect/>
          </a:stretch>
        </p:blipFill>
        <p:spPr>
          <a:xfrm>
            <a:off x="2588089" y="5322252"/>
            <a:ext cx="134549" cy="195707"/>
          </a:xfrm>
          <a:prstGeom prst="rect">
            <a:avLst/>
          </a:prstGeom>
        </p:spPr>
      </p:pic>
      <p:sp>
        <p:nvSpPr>
          <p:cNvPr id="29" name="TextBox 28"/>
          <p:cNvSpPr txBox="1"/>
          <p:nvPr/>
        </p:nvSpPr>
        <p:spPr>
          <a:xfrm>
            <a:off x="2763198" y="5332475"/>
            <a:ext cx="3910489" cy="194310"/>
          </a:xfrm>
          <a:prstGeom prst="rect">
            <a:avLst/>
          </a:prstGeom>
          <a:noFill/>
        </p:spPr>
        <p:txBody>
          <a:bodyPr wrap="none" lIns="0" rIns="0" tIns="0" bIns="0">
            <a:spAutoFit/>
          </a:bodyPr>
          <a:lstStyle/>
          <a:p>
            <a:r>
              <a:rPr sz="1150" b="0">
                <a:solidFill>
                  <a:srgbClr val="252423"/>
                </a:solidFill>
                <a:latin typeface="Segoe UI"/>
              </a:rPr>
              <a:t>× reflects differences in mix, logistics and channel structure.</a:t>
            </a:r>
          </a:p>
        </p:txBody>
      </p:sp>
      <p:sp>
        <p:nvSpPr>
          <p:cNvPr id="30" name="TextBox 29"/>
          <p:cNvSpPr txBox="1"/>
          <p:nvPr/>
        </p:nvSpPr>
        <p:spPr>
          <a:xfrm>
            <a:off x="276225" y="5560313"/>
            <a:ext cx="6194900" cy="194310"/>
          </a:xfrm>
          <a:prstGeom prst="rect">
            <a:avLst/>
          </a:prstGeom>
          <a:noFill/>
        </p:spPr>
        <p:txBody>
          <a:bodyPr wrap="none" lIns="0" rIns="0" tIns="0" bIns="0">
            <a:spAutoFit/>
          </a:bodyPr>
          <a:lstStyle/>
          <a:p>
            <a:r>
              <a:rPr sz="1150" b="0">
                <a:solidFill>
                  <a:srgbClr val="252423"/>
                </a:solidFill>
                <a:latin typeface="Segoe UI"/>
              </a:rPr>
              <a:t>▪ Benchmarks support price-corridor setting and margin-defence decisions across geographies.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Price Forecast &amp; Dynamics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forecast by sub-segment, 2026–2036, with the factors and dynamics shaping the trajectory</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Forward price trajectory to 2036 by energy storage capacity type and the structural factors shaping it (US$/Units).</a:t>
            </a:r>
          </a:p>
        </p:txBody>
      </p:sp>
      <p:sp>
        <p:nvSpPr>
          <p:cNvPr id="9" name="Rectangle 8"/>
          <p:cNvSpPr/>
          <p:nvPr/>
        </p:nvSpPr>
        <p:spPr>
          <a:xfrm>
            <a:off x="142875" y="1317574"/>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Forecast to 2036 by Energy Storage Capacity (US$/Units)</a:t>
            </a:r>
          </a:p>
        </p:txBody>
      </p:sp>
      <p:graphicFrame>
        <p:nvGraphicFramePr>
          <p:cNvPr id="11" name="Table 10"/>
          <p:cNvGraphicFramePr>
            <a:graphicFrameLocks noGrp="1"/>
          </p:cNvGraphicFramePr>
          <p:nvPr/>
        </p:nvGraphicFramePr>
        <p:xfrm>
          <a:off x="152400" y="1574749"/>
          <a:ext cx="11887202" cy="1504674"/>
        </p:xfrm>
        <a:graphic>
          <a:graphicData uri="http://schemas.openxmlformats.org/drawingml/2006/table">
            <a:tbl>
              <a:tblPr>
                <a:tableStyleId>{5C22544A-7EE6-4342-B048-85BDC9FD1C3A}</a:tableStyleId>
              </a:tblPr>
              <a:tblGrid>
                <a:gridCol w="4171412"/>
                <a:gridCol w="1285965"/>
                <a:gridCol w="1285965"/>
                <a:gridCol w="1285965"/>
                <a:gridCol w="1285965"/>
                <a:gridCol w="1285965"/>
                <a:gridCol w="1285965"/>
              </a:tblGrid>
              <a:tr h="246126">
                <a:tc>
                  <a:txBody>
                    <a:bodyPr wrap="none"/>
                    <a:lstStyle/>
                    <a:p>
                      <a:pPr algn="l"/>
                      <a:r>
                        <a:rPr sz="1100" b="1">
                          <a:solidFill>
                            <a:srgbClr val="FFFFFF"/>
                          </a:solidFill>
                          <a:latin typeface="Segoe UI"/>
                        </a:rPr>
                        <a:t>Energy Storage Capacity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r>
              <a:tr h="419516">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19516">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398495"/>
            <a:ext cx="5905500" cy="3181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Factors Impacting Pricing</a:t>
            </a:r>
          </a:p>
        </p:txBody>
      </p:sp>
      <p:graphicFrame>
        <p:nvGraphicFramePr>
          <p:cNvPr id="15" name="Table 14"/>
          <p:cNvGraphicFramePr>
            <a:graphicFrameLocks noGrp="1"/>
          </p:cNvGraphicFramePr>
          <p:nvPr/>
        </p:nvGraphicFramePr>
        <p:xfrm>
          <a:off x="152400" y="3655670"/>
          <a:ext cx="5886450" cy="2714626"/>
        </p:xfrm>
        <a:graphic>
          <a:graphicData uri="http://schemas.openxmlformats.org/drawingml/2006/table">
            <a:tbl>
              <a:tblPr>
                <a:tableStyleId>{5C22544A-7EE6-4342-B048-85BDC9FD1C3A}</a:tableStyleId>
              </a:tblPr>
              <a:tblGrid>
                <a:gridCol w="2887354"/>
                <a:gridCol w="1499548"/>
                <a:gridCol w="1499548"/>
              </a:tblGrid>
              <a:tr h="246126">
                <a:tc>
                  <a:txBody>
                    <a:bodyPr wrap="none"/>
                    <a:lstStyle/>
                    <a:p>
                      <a:pPr algn="l"/>
                      <a:r>
                        <a:rPr sz="1100" b="1">
                          <a:solidFill>
                            <a:srgbClr val="FFFFFF"/>
                          </a:solidFill>
                          <a:latin typeface="Segoe UI"/>
                        </a:rPr>
                        <a:t>Pricing Factor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Direction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Impact (H/M/L)</a:t>
                      </a:r>
                      <a:endParaRPr sz="1100"/>
                    </a:p>
                  </a:txBody>
                  <a:tcPr marL="47625" marR="38100" marT="19050" marB="19050" anchor="ctr">
                    <a:solidFill>
                      <a:srgbClr val="007BA5"/>
                    </a:solidFill>
                  </a:tcPr>
                </a:tc>
              </a:tr>
              <a:tr h="246850">
                <a:tc>
                  <a:txBody>
                    <a:bodyPr wrap="none"/>
                    <a:lstStyle/>
                    <a:p>
                      <a:pPr algn="l"/>
                      <a:r>
                        <a:rPr sz="1100" b="1">
                          <a:solidFill>
                            <a:srgbClr val="252423"/>
                          </a:solidFill>
                          <a:latin typeface="Segoe UI"/>
                        </a:rPr>
                        <a:t>Input Cost</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Labor &amp; Production Costs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Technology &amp; Innovation</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Supply Chain &amp; Logistics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Demand &amp; Market Conditions</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Competitive Landscape</a:t>
                      </a:r>
                      <a:endParaRPr sz="1100"/>
                    </a:p>
                  </a:txBody>
                  <a:tcPr marL="47625" marR="38100" marT="19050" marB="19050" anchor="ctr">
                    <a:solidFill>
                      <a:srgbClr val="F2FAFD"/>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Regulatory &amp; Compliance Costs</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Currency &amp; Trade Dynamics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Brand &amp; Value Perception</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Aftermarket &amp; Service Costs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r>
            </a:tbl>
          </a:graphicData>
        </a:graphic>
      </p:graphicFrame>
      <p:sp>
        <p:nvSpPr>
          <p:cNvPr id="16" name="TextBox 15"/>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6200775" y="3398495"/>
            <a:ext cx="5848350" cy="31578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07BA5"/>
                </a:solidFill>
                <a:latin typeface="Segoe UI"/>
              </a:rPr>
              <a:t>Pricing Dynamics &amp; Outlook</a:t>
            </a:r>
          </a:p>
        </p:txBody>
      </p:sp>
      <p:sp>
        <p:nvSpPr>
          <p:cNvPr id="19" name="Rectangle 18"/>
          <p:cNvSpPr/>
          <p:nvPr/>
        </p:nvSpPr>
        <p:spPr>
          <a:xfrm>
            <a:off x="6334125" y="3722345"/>
            <a:ext cx="5581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7995016" y="2183449"/>
            <a:ext cx="366712" cy="533400"/>
          </a:xfrm>
          <a:prstGeom prst="rect">
            <a:avLst/>
          </a:prstGeom>
        </p:spPr>
      </p:pic>
      <p:sp>
        <p:nvSpPr>
          <p:cNvPr id="23" name="TextBox 22"/>
          <p:cNvSpPr txBox="1"/>
          <p:nvPr/>
        </p:nvSpPr>
        <p:spPr>
          <a:xfrm>
            <a:off x="6334125" y="3817595"/>
            <a:ext cx="4343643" cy="194310"/>
          </a:xfrm>
          <a:prstGeom prst="rect">
            <a:avLst/>
          </a:prstGeom>
          <a:noFill/>
        </p:spPr>
        <p:txBody>
          <a:bodyPr wrap="none" lIns="0" rIns="0" tIns="0" bIns="0">
            <a:spAutoFit/>
          </a:bodyPr>
          <a:lstStyle/>
          <a:p>
            <a:r>
              <a:rPr sz="1150" b="0">
                <a:solidFill>
                  <a:srgbClr val="252423"/>
                </a:solidFill>
                <a:latin typeface="Segoe UI"/>
              </a:rPr>
              <a:t>▪ Average energy storage capacity price is projected to rise from ~</a:t>
            </a:r>
          </a:p>
        </p:txBody>
      </p:sp>
      <p:pic>
        <p:nvPicPr>
          <p:cNvPr id="24" name="Picture 23" descr="lock.png"/>
          <p:cNvPicPr>
            <a:picLocks noChangeAspect="1"/>
          </p:cNvPicPr>
          <p:nvPr/>
        </p:nvPicPr>
        <p:blipFill>
          <a:blip r:embed="rId4"/>
          <a:stretch>
            <a:fillRect/>
          </a:stretch>
        </p:blipFill>
        <p:spPr>
          <a:xfrm>
            <a:off x="10626921" y="3807371"/>
            <a:ext cx="134549" cy="195707"/>
          </a:xfrm>
          <a:prstGeom prst="rect">
            <a:avLst/>
          </a:prstGeom>
        </p:spPr>
      </p:pic>
      <p:sp>
        <p:nvSpPr>
          <p:cNvPr id="25" name="TextBox 24"/>
          <p:cNvSpPr txBox="1"/>
          <p:nvPr/>
        </p:nvSpPr>
        <p:spPr>
          <a:xfrm>
            <a:off x="10802031" y="3817595"/>
            <a:ext cx="351166" cy="194310"/>
          </a:xfrm>
          <a:prstGeom prst="rect">
            <a:avLst/>
          </a:prstGeom>
          <a:noFill/>
        </p:spPr>
        <p:txBody>
          <a:bodyPr wrap="none" lIns="0" rIns="0" tIns="0" bIns="0">
            <a:spAutoFit/>
          </a:bodyPr>
          <a:lstStyle/>
          <a:p>
            <a:r>
              <a:rPr sz="1150" b="0">
                <a:solidFill>
                  <a:srgbClr val="252423"/>
                </a:solidFill>
                <a:latin typeface="Segoe UI"/>
              </a:rPr>
              <a:t>to ~</a:t>
            </a:r>
          </a:p>
        </p:txBody>
      </p:sp>
      <p:pic>
        <p:nvPicPr>
          <p:cNvPr id="26" name="Picture 25" descr="lock.png"/>
          <p:cNvPicPr>
            <a:picLocks noChangeAspect="1"/>
          </p:cNvPicPr>
          <p:nvPr/>
        </p:nvPicPr>
        <p:blipFill>
          <a:blip r:embed="rId4"/>
          <a:stretch>
            <a:fillRect/>
          </a:stretch>
        </p:blipFill>
        <p:spPr>
          <a:xfrm>
            <a:off x="11102352" y="3807371"/>
            <a:ext cx="134549" cy="195707"/>
          </a:xfrm>
          <a:prstGeom prst="rect">
            <a:avLst/>
          </a:prstGeom>
        </p:spPr>
      </p:pic>
      <p:sp>
        <p:nvSpPr>
          <p:cNvPr id="27" name="TextBox 26"/>
          <p:cNvSpPr txBox="1"/>
          <p:nvPr/>
        </p:nvSpPr>
        <p:spPr>
          <a:xfrm>
            <a:off x="6334125" y="3992855"/>
            <a:ext cx="1525575" cy="194310"/>
          </a:xfrm>
          <a:prstGeom prst="rect">
            <a:avLst/>
          </a:prstGeom>
          <a:noFill/>
        </p:spPr>
        <p:txBody>
          <a:bodyPr wrap="none" lIns="0" rIns="0" tIns="0" bIns="0">
            <a:spAutoFit/>
          </a:bodyPr>
          <a:lstStyle/>
          <a:p>
            <a:r>
              <a:rPr sz="1150" b="0">
                <a:solidFill>
                  <a:srgbClr val="252423"/>
                </a:solidFill>
                <a:latin typeface="Segoe UI"/>
              </a:rPr>
              <a:t>US$/Units by 2036 a +</a:t>
            </a:r>
          </a:p>
        </p:txBody>
      </p:sp>
      <p:pic>
        <p:nvPicPr>
          <p:cNvPr id="28" name="Picture 27" descr="lock.png"/>
          <p:cNvPicPr>
            <a:picLocks noChangeAspect="1"/>
          </p:cNvPicPr>
          <p:nvPr/>
        </p:nvPicPr>
        <p:blipFill>
          <a:blip r:embed="rId4"/>
          <a:stretch>
            <a:fillRect/>
          </a:stretch>
        </p:blipFill>
        <p:spPr>
          <a:xfrm>
            <a:off x="7808854" y="3982631"/>
            <a:ext cx="134549" cy="195707"/>
          </a:xfrm>
          <a:prstGeom prst="rect">
            <a:avLst/>
          </a:prstGeom>
        </p:spPr>
      </p:pic>
      <p:sp>
        <p:nvSpPr>
          <p:cNvPr id="29" name="TextBox 28"/>
          <p:cNvSpPr txBox="1"/>
          <p:nvPr/>
        </p:nvSpPr>
        <p:spPr>
          <a:xfrm>
            <a:off x="7983963" y="399285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30" name="TextBox 29"/>
          <p:cNvSpPr txBox="1"/>
          <p:nvPr/>
        </p:nvSpPr>
        <p:spPr>
          <a:xfrm>
            <a:off x="6334125" y="4220692"/>
            <a:ext cx="5171008" cy="194310"/>
          </a:xfrm>
          <a:prstGeom prst="rect">
            <a:avLst/>
          </a:prstGeom>
          <a:noFill/>
        </p:spPr>
        <p:txBody>
          <a:bodyPr wrap="none" lIns="0" rIns="0" tIns="0" bIns="0">
            <a:spAutoFit/>
          </a:bodyPr>
          <a:lstStyle/>
          <a:p>
            <a:r>
              <a:rPr sz="1150" b="0">
                <a:solidFill>
                  <a:srgbClr val="252423"/>
                </a:solidFill>
                <a:latin typeface="Segoe UI"/>
              </a:rPr>
              <a:t>▪ '1,000 Wh to Below 1,500 Wh' shows the strongest forecast price appreciation</a:t>
            </a:r>
          </a:p>
        </p:txBody>
      </p:sp>
      <p:sp>
        <p:nvSpPr>
          <p:cNvPr id="31" name="TextBox 30"/>
          <p:cNvSpPr txBox="1"/>
          <p:nvPr/>
        </p:nvSpPr>
        <p:spPr>
          <a:xfrm>
            <a:off x="6334125" y="4395952"/>
            <a:ext cx="220253" cy="194310"/>
          </a:xfrm>
          <a:prstGeom prst="rect">
            <a:avLst/>
          </a:prstGeom>
          <a:noFill/>
        </p:spPr>
        <p:txBody>
          <a:bodyPr wrap="none" lIns="0" rIns="0" tIns="0" bIns="0">
            <a:spAutoFit/>
          </a:bodyPr>
          <a:lstStyle/>
          <a:p>
            <a:r>
              <a:rPr sz="1150" b="0">
                <a:solidFill>
                  <a:srgbClr val="252423"/>
                </a:solidFill>
                <a:latin typeface="Segoe UI"/>
              </a:rPr>
              <a:t>(+</a:t>
            </a:r>
          </a:p>
        </p:txBody>
      </p:sp>
      <p:pic>
        <p:nvPicPr>
          <p:cNvPr id="32" name="Picture 31" descr="lock.png"/>
          <p:cNvPicPr>
            <a:picLocks noChangeAspect="1"/>
          </p:cNvPicPr>
          <p:nvPr/>
        </p:nvPicPr>
        <p:blipFill>
          <a:blip r:embed="rId4"/>
          <a:stretch>
            <a:fillRect/>
          </a:stretch>
        </p:blipFill>
        <p:spPr>
          <a:xfrm>
            <a:off x="6503532" y="4385729"/>
            <a:ext cx="134549" cy="195707"/>
          </a:xfrm>
          <a:prstGeom prst="rect">
            <a:avLst/>
          </a:prstGeom>
        </p:spPr>
      </p:pic>
      <p:sp>
        <p:nvSpPr>
          <p:cNvPr id="33" name="TextBox 32"/>
          <p:cNvSpPr txBox="1"/>
          <p:nvPr/>
        </p:nvSpPr>
        <p:spPr>
          <a:xfrm>
            <a:off x="6678641" y="4395952"/>
            <a:ext cx="1252288" cy="194310"/>
          </a:xfrm>
          <a:prstGeom prst="rect">
            <a:avLst/>
          </a:prstGeom>
          <a:noFill/>
        </p:spPr>
        <p:txBody>
          <a:bodyPr wrap="none" lIns="0" rIns="0" tIns="0" bIns="0">
            <a:spAutoFit/>
          </a:bodyPr>
          <a:lstStyle/>
          <a:p>
            <a:r>
              <a:rPr sz="1150" b="0">
                <a:solidFill>
                  <a:srgbClr val="252423"/>
                </a:solidFill>
                <a:latin typeface="Segoe UI"/>
              </a:rPr>
              <a:t>) over the horizon.</a:t>
            </a:r>
          </a:p>
        </p:txBody>
      </p:sp>
      <p:sp>
        <p:nvSpPr>
          <p:cNvPr id="34" name="TextBox 33"/>
          <p:cNvSpPr txBox="1"/>
          <p:nvPr/>
        </p:nvSpPr>
        <p:spPr>
          <a:xfrm>
            <a:off x="6334125" y="4623790"/>
            <a:ext cx="5399470" cy="194310"/>
          </a:xfrm>
          <a:prstGeom prst="rect">
            <a:avLst/>
          </a:prstGeom>
          <a:noFill/>
        </p:spPr>
        <p:txBody>
          <a:bodyPr wrap="none" lIns="0" rIns="0" tIns="0" bIns="0">
            <a:spAutoFit/>
          </a:bodyPr>
          <a:lstStyle/>
          <a:p>
            <a:r>
              <a:rPr sz="1150" b="0">
                <a:solidFill>
                  <a:srgbClr val="252423"/>
                </a:solidFill>
                <a:latin typeface="Segoe UI"/>
              </a:rPr>
              <a:t>▪ Upward pressure is led by input cost and demand &amp; market conditions; efficiency</a:t>
            </a:r>
          </a:p>
        </p:txBody>
      </p:sp>
      <p:sp>
        <p:nvSpPr>
          <p:cNvPr id="35" name="TextBox 34"/>
          <p:cNvSpPr txBox="1"/>
          <p:nvPr/>
        </p:nvSpPr>
        <p:spPr>
          <a:xfrm>
            <a:off x="6334125" y="4799050"/>
            <a:ext cx="3012140" cy="194310"/>
          </a:xfrm>
          <a:prstGeom prst="rect">
            <a:avLst/>
          </a:prstGeom>
          <a:noFill/>
        </p:spPr>
        <p:txBody>
          <a:bodyPr wrap="none" lIns="0" rIns="0" tIns="0" bIns="0">
            <a:spAutoFit/>
          </a:bodyPr>
          <a:lstStyle/>
          <a:p>
            <a:r>
              <a:rPr sz="1150" b="0">
                <a:solidFill>
                  <a:srgbClr val="252423"/>
                </a:solidFill>
                <a:latin typeface="Segoe UI"/>
              </a:rPr>
              <a:t>and competitive intensity work the other way.</a:t>
            </a:r>
          </a:p>
        </p:txBody>
      </p:sp>
      <p:sp>
        <p:nvSpPr>
          <p:cNvPr id="36" name="TextBox 35"/>
          <p:cNvSpPr txBox="1"/>
          <p:nvPr/>
        </p:nvSpPr>
        <p:spPr>
          <a:xfrm>
            <a:off x="6334125" y="5026888"/>
            <a:ext cx="5562600" cy="194310"/>
          </a:xfrm>
          <a:prstGeom prst="rect">
            <a:avLst/>
          </a:prstGeom>
          <a:noFill/>
        </p:spPr>
        <p:txBody>
          <a:bodyPr wrap="none" lIns="0" rIns="0" tIns="0" bIns="0">
            <a:spAutoFit/>
          </a:bodyPr>
          <a:lstStyle/>
          <a:p>
            <a:r>
              <a:rPr sz="1150" b="0">
                <a:solidFill>
                  <a:srgbClr val="252423"/>
                </a:solidFill>
                <a:latin typeface="Segoe UI"/>
              </a:rPr>
              <a:t>▪ Net outlook: modest, structural price appreciation mix and geography will determine</a:t>
            </a:r>
          </a:p>
        </p:txBody>
      </p:sp>
      <p:sp>
        <p:nvSpPr>
          <p:cNvPr id="37" name="TextBox 36"/>
          <p:cNvSpPr txBox="1"/>
          <p:nvPr/>
        </p:nvSpPr>
        <p:spPr>
          <a:xfrm>
            <a:off x="6334125" y="5202148"/>
            <a:ext cx="1088534" cy="194310"/>
          </a:xfrm>
          <a:prstGeom prst="rect">
            <a:avLst/>
          </a:prstGeom>
          <a:noFill/>
        </p:spPr>
        <p:txBody>
          <a:bodyPr wrap="none" lIns="0" rIns="0" tIns="0" bIns="0">
            <a:spAutoFit/>
          </a:bodyPr>
          <a:lstStyle/>
          <a:p>
            <a:r>
              <a:rPr sz="1150" b="0">
                <a:solidFill>
                  <a:srgbClr val="252423"/>
                </a:solidFill>
                <a:latin typeface="Segoe UI"/>
              </a:rPr>
              <a:t>realised pricing.</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Competitor Pricing Strategies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leading players position price: tier, price position versus peers and strategy focus</a:t>
            </a:r>
          </a:p>
        </p:txBody>
      </p:sp>
      <p:sp>
        <p:nvSpPr>
          <p:cNvPr id="8" name="Rectangle 7"/>
          <p:cNvSpPr/>
          <p:nvPr/>
        </p:nvSpPr>
        <p:spPr>
          <a:xfrm>
            <a:off x="142875" y="1007261"/>
            <a:ext cx="769620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Competitor pricing strategies how leading players position price and the levers they use to sustain it.</a:t>
            </a:r>
          </a:p>
        </p:txBody>
      </p:sp>
      <p:sp>
        <p:nvSpPr>
          <p:cNvPr id="9" name="Rectangle 8"/>
          <p:cNvSpPr/>
          <p:nvPr/>
        </p:nvSpPr>
        <p:spPr>
          <a:xfrm>
            <a:off x="142875" y="1317574"/>
            <a:ext cx="7696200" cy="39245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1712405"/>
                <a:gridCol w="578424"/>
                <a:gridCol w="1299361"/>
                <a:gridCol w="1206921"/>
                <a:gridCol w="2880039"/>
              </a:tblGrid>
              <a:tr h="246126">
                <a:tc>
                  <a:txBody>
                    <a:bodyPr wrap="none"/>
                    <a:lstStyle/>
                    <a:p>
                      <a:pPr algn="l"/>
                      <a:r>
                        <a:rPr sz="1100" b="1">
                          <a:solidFill>
                            <a:srgbClr val="FFFFFF"/>
                          </a:solidFill>
                          <a:latin typeface="Segoe UI"/>
                        </a:rPr>
                        <a:t>Company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Tier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Price Position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ASP vs Peers</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Strategy Focus</a:t>
                      </a:r>
                      <a:endParaRPr sz="1100"/>
                    </a:p>
                  </a:txBody>
                  <a:tcPr marL="47625" marR="38100" marT="19050" marB="19050" anchor="ctr">
                    <a:solidFill>
                      <a:srgbClr val="007BA5"/>
                    </a:solidFill>
                  </a:tcPr>
                </a:tc>
              </a:tr>
              <a:tr h="562270">
                <a:tc>
                  <a:txBody>
                    <a:bodyPr wrap="none"/>
                    <a:lstStyle/>
                    <a:p>
                      <a:pPr algn="l"/>
                      <a:r>
                        <a:rPr sz="1100" b="1">
                          <a:solidFill>
                            <a:srgbClr val="252423"/>
                          </a:solidFill>
                          <a:latin typeface="Segoe UI"/>
                        </a:rPr>
                        <a:t>EcoFlow</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Business Overview</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Value-based premium pricing</a:t>
                      </a:r>
                      <a:endParaRPr sz="1100"/>
                    </a:p>
                  </a:txBody>
                  <a:tcPr marL="47625" marR="38100" marT="19050" marB="19050" anchor="ctr">
                    <a:solidFill>
                      <a:srgbClr val="F2FAFD"/>
                    </a:solidFill>
                  </a:tcPr>
                </a:tc>
              </a:tr>
              <a:tr h="562270">
                <a:tc>
                  <a:txBody>
                    <a:bodyPr wrap="none"/>
                    <a:lstStyle/>
                    <a:p>
                      <a:pPr algn="l"/>
                      <a:r>
                        <a:rPr sz="1100" b="1">
                          <a:solidFill>
                            <a:srgbClr val="252423"/>
                          </a:solidFill>
                          <a:latin typeface="Segoe UI"/>
                        </a:rPr>
                        <a:t>Relevant Portfolio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Footprint</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 pricing with mix upsell</a:t>
                      </a:r>
                      <a:endParaRPr sz="1100"/>
                    </a:p>
                  </a:txBody>
                  <a:tcPr marL="47625" marR="38100" marT="19050" marB="19050" anchor="ctr">
                    <a:solidFill>
                      <a:srgbClr val="F2FAFD"/>
                    </a:solidFill>
                  </a:tcPr>
                </a:tc>
              </a:tr>
              <a:tr h="562270">
                <a:tc>
                  <a:txBody>
                    <a:bodyPr wrap="none"/>
                    <a:lstStyle/>
                    <a:p>
                      <a:pPr algn="l"/>
                      <a:r>
                        <a:rPr sz="1100" b="1">
                          <a:solidFill>
                            <a:srgbClr val="252423"/>
                          </a:solidFill>
                          <a:latin typeface="Segoe UI"/>
                        </a:rPr>
                        <a:t>Pricing</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SWOT</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Competitive / discount-led pricing</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5351641"/>
            <a:ext cx="7696200" cy="36507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Note: competitor figures are indicative derived from market modelling and expert validation, not company disclosures.</a:t>
            </a:r>
          </a:p>
        </p:txBody>
      </p:sp>
      <p:sp>
        <p:nvSpPr>
          <p:cNvPr id="13" name="Rectangle 12"/>
          <p:cNvSpPr/>
          <p:nvPr/>
        </p:nvSpPr>
        <p:spPr>
          <a:xfrm>
            <a:off x="7915275" y="1317574"/>
            <a:ext cx="41338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Competitive Pricing Themes</a:t>
            </a:r>
          </a:p>
        </p:txBody>
      </p:sp>
      <p:sp>
        <p:nvSpPr>
          <p:cNvPr id="15" name="Rectangle 14"/>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Emerging players compete on value pricing, trading margin for access and volume in price-sensitive regions.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Across tiers, R&amp;D investment and selective M&amp;A are the primary levers to move up the price ladder over time.</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4"/>
          <a:stretch>
            <a:fillRect/>
          </a:stretch>
        </p:blipFill>
        <p:spPr>
          <a:xfrm>
            <a:off x="4178029" y="3086680"/>
            <a:ext cx="330041" cy="480060"/>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Value Chain &amp; Stakeholder Mapping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Mapping of the value chain stages, the stakeholders at each stage and the value added along the chain</a:t>
            </a:r>
          </a:p>
        </p:txBody>
      </p:sp>
      <p:sp>
        <p:nvSpPr>
          <p:cNvPr id="8" name="TextBox 7"/>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05E5C"/>
                </a:solidFill>
                <a:latin typeface="Segoe UI"/>
              </a:rPr>
              <a:t>End-to-end value chain with the key stakeholders at each stage and their indicative contribution to value addition.</a:t>
            </a:r>
          </a:p>
        </p:txBody>
      </p:sp>
      <p:sp>
        <p:nvSpPr>
          <p:cNvPr id="9" name="Right Arrow 8"/>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Raw Material</a:t>
            </a:r>
          </a:p>
          <a:p>
            <a:pPr algn="ctr">
              <a:lnSpc>
                <a:spcPct val="100000"/>
              </a:lnSpc>
            </a:pPr>
            <a:r>
              <a:rPr sz="1100" b="1">
                <a:solidFill>
                  <a:srgbClr val="0E3A5F"/>
                </a:solidFill>
                <a:latin typeface="Segoe UI"/>
              </a:rPr>
              <a:t>Suppliers</a:t>
            </a:r>
          </a:p>
        </p:txBody>
      </p:sp>
      <p:sp>
        <p:nvSpPr>
          <p:cNvPr id="14" name="Oval 13"/>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3950" y="1719155"/>
            <a:ext cx="800100" cy="766655"/>
          </a:xfrm>
          <a:prstGeom prst="ellipse">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0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20" name="Rectangle 19"/>
          <p:cNvSpPr/>
          <p:nvPr/>
        </p:nvSpPr>
        <p:spPr>
          <a:xfrm>
            <a:off x="457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905646"/>
            <a:ext cx="2133600" cy="4563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Raw Material Suppliers</a:t>
            </a:r>
          </a:p>
        </p:txBody>
      </p:sp>
      <p:sp>
        <p:nvSpPr>
          <p:cNvPr id="23" name="TextBox 22"/>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24" name="TextBox 23"/>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Growers and primary producers supply core inputs; some forward-integrate into small-scale processing.</a:t>
            </a:r>
          </a:p>
        </p:txBody>
      </p:sp>
      <p:sp>
        <p:nvSpPr>
          <p:cNvPr id="25" name="TextBox 24"/>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Manufacturers</a:t>
            </a:r>
          </a:p>
        </p:txBody>
      </p:sp>
      <p:sp>
        <p:nvSpPr>
          <p:cNvPr id="26" name="Oval 25"/>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409950" y="1719155"/>
            <a:ext cx="800100" cy="766655"/>
          </a:xfrm>
          <a:prstGeom prst="ellipse">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286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33" name="Rectangle 32"/>
          <p:cNvSpPr/>
          <p:nvPr/>
        </p:nvSpPr>
        <p:spPr>
          <a:xfrm>
            <a:off x="2743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0" y="2905646"/>
            <a:ext cx="2133600" cy="4563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Manufacturers / Processors</a:t>
            </a:r>
          </a:p>
        </p:txBody>
      </p:sp>
      <p:sp>
        <p:nvSpPr>
          <p:cNvPr id="36" name="TextBox 35"/>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37" name="TextBox 36"/>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Convert inputs into finished and semi-finished product the single largest value-addition stage.</a:t>
            </a:r>
          </a:p>
        </p:txBody>
      </p:sp>
      <p:sp>
        <p:nvSpPr>
          <p:cNvPr id="38" name="TextBox 37"/>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Distributors</a:t>
            </a:r>
          </a:p>
        </p:txBody>
      </p:sp>
      <p:sp>
        <p:nvSpPr>
          <p:cNvPr id="39" name="Oval 38"/>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95950" y="1719155"/>
            <a:ext cx="800100" cy="766655"/>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972175" y="2148117"/>
            <a:ext cx="85725" cy="82142"/>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53150" y="2148117"/>
            <a:ext cx="85725" cy="82142"/>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572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46" name="Rectangle 45"/>
          <p:cNvSpPr/>
          <p:nvPr/>
        </p:nvSpPr>
        <p:spPr>
          <a:xfrm>
            <a:off x="5029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0" y="2905646"/>
            <a:ext cx="2133600" cy="4563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Distributors &amp; Wholesalers</a:t>
            </a:r>
          </a:p>
        </p:txBody>
      </p:sp>
      <p:sp>
        <p:nvSpPr>
          <p:cNvPr id="49" name="TextBox 48"/>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50" name="TextBox 49"/>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Move product to market, hold inventory and provide logistics, reach and credit to downstream channels.</a:t>
            </a:r>
          </a:p>
        </p:txBody>
      </p:sp>
      <p:sp>
        <p:nvSpPr>
          <p:cNvPr id="51" name="TextBox 50"/>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Retailers</a:t>
            </a:r>
          </a:p>
        </p:txBody>
      </p:sp>
      <p:sp>
        <p:nvSpPr>
          <p:cNvPr id="52" name="Oval 51"/>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981950" y="1719155"/>
            <a:ext cx="800100" cy="766655"/>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43900" y="2138990"/>
            <a:ext cx="76200" cy="10952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858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58" name="Rectangle 57"/>
          <p:cNvSpPr/>
          <p:nvPr/>
        </p:nvSpPr>
        <p:spPr>
          <a:xfrm>
            <a:off x="7315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15200" y="2905646"/>
            <a:ext cx="2133600" cy="4563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Retailers &amp; Channels</a:t>
            </a:r>
          </a:p>
        </p:txBody>
      </p:sp>
      <p:sp>
        <p:nvSpPr>
          <p:cNvPr id="61" name="TextBox 60"/>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62" name="TextBox 61"/>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Sell to end customers across offline and online channels, capturing point-of-sale margin and brand visibility.</a:t>
            </a:r>
          </a:p>
        </p:txBody>
      </p:sp>
      <p:sp>
        <p:nvSpPr>
          <p:cNvPr id="63" name="TextBox 62"/>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End Users</a:t>
            </a:r>
          </a:p>
        </p:txBody>
      </p:sp>
      <p:sp>
        <p:nvSpPr>
          <p:cNvPr id="64" name="Oval 63"/>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267950" y="1719155"/>
            <a:ext cx="800100" cy="766655"/>
          </a:xfrm>
          <a:prstGeom prst="ellipse">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144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69" name="Rectangle 68"/>
          <p:cNvSpPr/>
          <p:nvPr/>
        </p:nvSpPr>
        <p:spPr>
          <a:xfrm>
            <a:off x="9601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601200" y="2905646"/>
            <a:ext cx="2133600" cy="4563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End Users</a:t>
            </a:r>
          </a:p>
        </p:txBody>
      </p:sp>
      <p:sp>
        <p:nvSpPr>
          <p:cNvPr id="72" name="TextBox 71"/>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73" name="TextBox 72"/>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Consumers and downstream industries; large end users sometimes backward-integrate to secure supply and cost.</a:t>
            </a:r>
          </a:p>
        </p:txBody>
      </p:sp>
      <p:sp>
        <p:nvSpPr>
          <p:cNvPr id="74" name="Rectangle 73"/>
          <p:cNvSpPr/>
          <p:nvPr/>
        </p:nvSpPr>
        <p:spPr>
          <a:xfrm>
            <a:off x="381000" y="5315134"/>
            <a:ext cx="11430000" cy="120474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07BA5"/>
                </a:solidFill>
                <a:latin typeface="Segoe UI"/>
              </a:rPr>
              <a:t>Value-Added Read-out</a:t>
            </a:r>
          </a:p>
        </p:txBody>
      </p:sp>
      <p:sp>
        <p:nvSpPr>
          <p:cNvPr id="76" name="Rectangle 75"/>
          <p:cNvSpPr/>
          <p:nvPr/>
        </p:nvSpPr>
        <p:spPr>
          <a:xfrm>
            <a:off x="514350" y="5625447"/>
            <a:ext cx="111633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78" name="TextBox 7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8063680" cy="153161"/>
          </a:xfrm>
          <a:prstGeom prst="rect">
            <a:avLst/>
          </a:prstGeom>
          <a:noFill/>
        </p:spPr>
        <p:txBody>
          <a:bodyPr wrap="none" lIns="0" rIns="0" tIns="0" bIns="0">
            <a:spAutoFit/>
          </a:bodyPr>
          <a:lstStyle/>
          <a:p>
            <a:r>
              <a:rPr sz="879" b="0">
                <a:solidFill>
                  <a:srgbClr val="252423"/>
                </a:solidFill>
                <a:latin typeface="Segoe UI"/>
              </a:rPr>
              <a:t>▪ The Lithium Polymer Portable Energy Storage Market value chain runs from raw-material suppliers through manufacturers, distributors and retailers to end users.</a:t>
            </a:r>
          </a:p>
        </p:txBody>
      </p:sp>
      <p:sp>
        <p:nvSpPr>
          <p:cNvPr id="85" name="TextBox 84"/>
          <p:cNvSpPr txBox="1"/>
          <p:nvPr/>
        </p:nvSpPr>
        <p:spPr>
          <a:xfrm>
            <a:off x="514350" y="5891458"/>
            <a:ext cx="3337659" cy="153161"/>
          </a:xfrm>
          <a:prstGeom prst="rect">
            <a:avLst/>
          </a:prstGeom>
          <a:noFill/>
        </p:spPr>
        <p:txBody>
          <a:bodyPr wrap="none" lIns="0" rIns="0" tIns="0" bIns="0">
            <a:spAutoFit/>
          </a:bodyPr>
          <a:lstStyle/>
          <a:p>
            <a:r>
              <a:rPr sz="879" b="0">
                <a:solidFill>
                  <a:srgbClr val="252423"/>
                </a:solidFill>
                <a:latin typeface="Segoe U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795210" y="5883635"/>
            <a:ext cx="102959" cy="149758"/>
          </a:xfrm>
          <a:prstGeom prst="rect">
            <a:avLst/>
          </a:prstGeom>
        </p:spPr>
      </p:pic>
      <p:sp>
        <p:nvSpPr>
          <p:cNvPr id="87" name="TextBox 86"/>
          <p:cNvSpPr txBox="1"/>
          <p:nvPr/>
        </p:nvSpPr>
        <p:spPr>
          <a:xfrm>
            <a:off x="3929207" y="5891458"/>
            <a:ext cx="2297569" cy="153161"/>
          </a:xfrm>
          <a:prstGeom prst="rect">
            <a:avLst/>
          </a:prstGeom>
          <a:noFill/>
        </p:spPr>
        <p:txBody>
          <a:bodyPr wrap="none" lIns="0" rIns="0" tIns="0" bIns="0">
            <a:spAutoFit/>
          </a:bodyPr>
          <a:lstStyle/>
          <a:p>
            <a:r>
              <a:rPr sz="879" b="0">
                <a:solidFill>
                  <a:srgbClr val="252423"/>
                </a:solidFill>
                <a:latin typeface="Segoe UI"/>
              </a:rPr>
              <a:t>), reflecting processing and scale advantages.</a:t>
            </a:r>
          </a:p>
        </p:txBody>
      </p:sp>
      <p:sp>
        <p:nvSpPr>
          <p:cNvPr id="88" name="TextBox 87"/>
          <p:cNvSpPr txBox="1"/>
          <p:nvPr/>
        </p:nvSpPr>
        <p:spPr>
          <a:xfrm>
            <a:off x="514350" y="6065804"/>
            <a:ext cx="6159640" cy="153161"/>
          </a:xfrm>
          <a:prstGeom prst="rect">
            <a:avLst/>
          </a:prstGeom>
          <a:noFill/>
        </p:spPr>
        <p:txBody>
          <a:bodyPr wrap="none" lIns="0" rIns="0" tIns="0" bIns="0">
            <a:spAutoFit/>
          </a:bodyPr>
          <a:lstStyle/>
          <a:p>
            <a:r>
              <a:rPr sz="879" b="0">
                <a:solidFill>
                  <a:srgbClr val="252423"/>
                </a:solidFill>
                <a:latin typeface="Segoe UI"/>
              </a:rPr>
              <a:t>▪ Forward and backward integration is common some suppliers process, and some large end users produce their own input.</a:t>
            </a:r>
          </a:p>
        </p:txBody>
      </p:sp>
      <p:sp>
        <p:nvSpPr>
          <p:cNvPr id="89" name="TextBox 88"/>
          <p:cNvSpPr txBox="1"/>
          <p:nvPr/>
        </p:nvSpPr>
        <p:spPr>
          <a:xfrm>
            <a:off x="514350" y="6240149"/>
            <a:ext cx="4041824" cy="153161"/>
          </a:xfrm>
          <a:prstGeom prst="rect">
            <a:avLst/>
          </a:prstGeom>
          <a:noFill/>
        </p:spPr>
        <p:txBody>
          <a:bodyPr wrap="none" lIns="0" rIns="0" tIns="0" bIns="0">
            <a:spAutoFit/>
          </a:bodyPr>
          <a:lstStyle/>
          <a:p>
            <a:r>
              <a:rPr sz="879" b="0">
                <a:solidFill>
                  <a:srgbClr val="252423"/>
                </a:solidFill>
                <a:latin typeface="Segoe UI"/>
              </a:rPr>
              <a:t>▪ Percentages show each stage's indicative share of value added along the chain.</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Industry-Wide Operating Margin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Operating margin by region and value chain node, highlighting where value concentrates along the chain</a:t>
            </a:r>
          </a:p>
        </p:txBody>
      </p:sp>
      <p:sp>
        <p:nvSpPr>
          <p:cNvPr id="8" name="Rectangle 7"/>
          <p:cNvSpPr/>
          <p:nvPr/>
        </p:nvSpPr>
        <p:spPr>
          <a:xfrm>
            <a:off x="142875" y="981075"/>
            <a:ext cx="11906250" cy="3667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Lithium Polymer Portable Energy Storage Market Operating Margin by Region &amp; Node</a:t>
            </a:r>
          </a:p>
        </p:txBody>
      </p:sp>
      <p:graphicFrame>
        <p:nvGraphicFramePr>
          <p:cNvPr id="10" name="Table 9"/>
          <p:cNvGraphicFramePr>
            <a:graphicFrameLocks noGrp="1"/>
          </p:cNvGraphicFramePr>
          <p:nvPr/>
        </p:nvGraphicFramePr>
        <p:xfrm>
          <a:off x="152400" y="1238250"/>
          <a:ext cx="11887200" cy="3200406"/>
        </p:xfrm>
        <a:graphic>
          <a:graphicData uri="http://schemas.openxmlformats.org/drawingml/2006/table">
            <a:tbl>
              <a:tblPr>
                <a:tableStyleId>{5C22544A-7EE6-4342-B048-85BDC9FD1C3A}</a:tableStyleId>
              </a:tblPr>
              <a:tblGrid>
                <a:gridCol w="1309616"/>
                <a:gridCol w="2644396"/>
                <a:gridCol w="2644396"/>
                <a:gridCol w="2644396"/>
                <a:gridCol w="2644396"/>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Node of Supply Chain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Operating Margin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Comparison to Parent Market</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Notes</a:t>
                      </a:r>
                      <a:endParaRPr sz="1100"/>
                    </a:p>
                  </a:txBody>
                  <a:tcPr marL="47625" marR="38100" marT="19050" marB="19050" anchor="ctr">
                    <a:solidFill>
                      <a:srgbClr val="007BA5"/>
                    </a:solidFill>
                  </a:tcPr>
                </a:tc>
              </a:tr>
              <a:tr h="246190">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r h="246190">
                <a:tc>
                  <a:txBody>
                    <a:bodyPr wrap="none"/>
                    <a:lstStyle/>
                    <a:p>
                      <a:pPr algn="l"/>
                      <a:r>
                        <a:rPr sz="1100" b="1">
                          <a:solidFill>
                            <a:srgbClr val="252423"/>
                          </a:solidFill>
                          <a:latin typeface="Segoe UI"/>
                        </a:rPr>
                        <a:t>Latin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r h="246190">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781550"/>
            <a:ext cx="11906250" cy="1847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07BA5"/>
                </a:solidFill>
                <a:latin typeface="Segoe UI"/>
              </a:rPr>
              <a:t>How to Read This</a:t>
            </a:r>
          </a:p>
        </p:txBody>
      </p:sp>
      <p:sp>
        <p:nvSpPr>
          <p:cNvPr id="14" name="Rectangle 13"/>
          <p:cNvSpPr/>
          <p:nvPr/>
        </p:nvSpPr>
        <p:spPr>
          <a:xfrm>
            <a:off x="276225" y="5105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Node of Supply Chain: each major stage, from raw-material suppliers through to retailers.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Operating Margin: the indicative margin earned at each node, by region.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Margins are broken down by both region and node to surface where value concentrates along the chain.</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564118" y="2694815"/>
            <a:ext cx="366712" cy="533400"/>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Buyers Assessment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Assessment of buyers and end users by volume, average price and revenue, highlighting purchasing power</a:t>
            </a:r>
          </a:p>
        </p:txBody>
      </p:sp>
      <p:sp>
        <p:nvSpPr>
          <p:cNvPr id="8" name="Rectangle 7"/>
          <p:cNvSpPr/>
          <p:nvPr/>
        </p:nvSpPr>
        <p:spPr>
          <a:xfrm>
            <a:off x="142875" y="981075"/>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Lithium Polymer Portable Energy Storage Market Buyers / End-User Assessment</a:t>
            </a:r>
          </a:p>
        </p:txBody>
      </p:sp>
      <p:graphicFrame>
        <p:nvGraphicFramePr>
          <p:cNvPr id="10" name="Table 9"/>
          <p:cNvGraphicFramePr>
            <a:graphicFrameLocks noGrp="1"/>
          </p:cNvGraphicFramePr>
          <p:nvPr/>
        </p:nvGraphicFramePr>
        <p:xfrm>
          <a:off x="152400" y="1238250"/>
          <a:ext cx="11887200" cy="2905122"/>
        </p:xfrm>
        <a:graphic>
          <a:graphicData uri="http://schemas.openxmlformats.org/drawingml/2006/table">
            <a:tbl>
              <a:tblPr>
                <a:tableStyleId>{5C22544A-7EE6-4342-B048-85BDC9FD1C3A}</a:tableStyleId>
              </a:tblPr>
              <a:tblGrid>
                <a:gridCol w="1363042"/>
                <a:gridCol w="1451185"/>
                <a:gridCol w="1127469"/>
                <a:gridCol w="1102556"/>
                <a:gridCol w="1521745"/>
                <a:gridCol w="1267951"/>
                <a:gridCol w="1392122"/>
                <a:gridCol w="1181169"/>
                <a:gridCol w="1479961"/>
              </a:tblGrid>
              <a:tr h="438912">
                <a:tc>
                  <a:txBody>
                    <a:bodyPr wrap="none"/>
                    <a:lstStyle/>
                    <a:p>
                      <a:pPr algn="l"/>
                      <a:r>
                        <a:rPr sz="1100" b="1">
                          <a:solidFill>
                            <a:srgbClr val="FFFFFF"/>
                          </a:solidFill>
                          <a:latin typeface="Segoe UI"/>
                        </a:rPr>
                        <a:t>Company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Buyer Category</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Buyer / End-User Type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Procurement Vol.</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Avg Price (US$/Units)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Revenue (US$ Mn)</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Key Selection Factor</a:t>
                      </a:r>
                      <a:endParaRPr sz="1100"/>
                    </a:p>
                  </a:txBody>
                  <a:tcPr marL="47625" marR="38100" marT="19050" marB="19050" anchor="ctr">
                    <a:solidFill>
                      <a:srgbClr val="007BA5"/>
                    </a:solidFill>
                  </a:tcPr>
                </a:tc>
              </a:tr>
              <a:tr h="246621">
                <a:tc>
                  <a:txBody>
                    <a:bodyPr wrap="none"/>
                    <a:lstStyle/>
                    <a:p>
                      <a:pPr algn="l"/>
                      <a:r>
                        <a:rPr sz="1100" b="1">
                          <a:solidFill>
                            <a:srgbClr val="252423"/>
                          </a:solidFill>
                          <a:latin typeface="Segoe UI"/>
                        </a:rPr>
                        <a:t>EcoFlow</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United States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Business Overview</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Canada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Quality &amp; compliance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Relevant Portfolio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Retailer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Footprint</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Brazil</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Others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Contract / OEM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Capacity &amp; scale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Pricing</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Chile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SWOT</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Rest of 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Price &amp; reliability</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Developments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Germany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Retailer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Jackery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Italy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Western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Others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Contract / OEM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Lead time &amp; service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BLUETTI</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France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Goal Zero</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United Kingdom</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Western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Brand &amp; support</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4862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07BA5"/>
                </a:solidFill>
                <a:latin typeface="Segoe UI"/>
              </a:rPr>
              <a:t>Notes</a:t>
            </a:r>
          </a:p>
        </p:txBody>
      </p:sp>
      <p:sp>
        <p:nvSpPr>
          <p:cNvPr id="14" name="Rectangle 13"/>
          <p:cNvSpPr/>
          <p:nvPr/>
        </p:nvSpPr>
        <p:spPr>
          <a:xfrm>
            <a:off x="276225" y="48101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8452328" y="2643566"/>
            <a:ext cx="366712" cy="533400"/>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Dynamics by Region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growth driver, restraint and opportunity shaping each region of the global market</a:t>
            </a:r>
          </a:p>
        </p:txBody>
      </p:sp>
      <p:sp>
        <p:nvSpPr>
          <p:cNvPr id="8" name="TextBox 7"/>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52423"/>
                </a:solidFill>
                <a:latin typeface="Segoe UI"/>
              </a:rPr>
              <a:t>Demand Dynamics by Region  ·  ranked by 2036 value</a:t>
            </a:r>
          </a:p>
        </p:txBody>
      </p:sp>
      <p:sp>
        <p:nvSpPr>
          <p:cNvPr id="9" name="Rectangle 8"/>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E3A5F"/>
                </a:solidFill>
                <a:latin typeface="Segoe UI"/>
              </a:rPr>
              <a:t>Region</a:t>
            </a:r>
          </a:p>
        </p:txBody>
      </p:sp>
      <p:sp>
        <p:nvSpPr>
          <p:cNvPr id="11" name="TextBox 10"/>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E3A5F"/>
                </a:solidFill>
                <a:latin typeface="Segoe UI"/>
              </a:rPr>
              <a:t>Growth Drivers</a:t>
            </a:r>
          </a:p>
        </p:txBody>
      </p:sp>
      <p:sp>
        <p:nvSpPr>
          <p:cNvPr id="12" name="TextBox 11"/>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E3A5F"/>
                </a:solidFill>
                <a:latin typeface="Segoe UI"/>
              </a:rPr>
              <a:t>Restraints</a:t>
            </a:r>
          </a:p>
        </p:txBody>
      </p:sp>
      <p:sp>
        <p:nvSpPr>
          <p:cNvPr id="13" name="TextBox 12"/>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E3A5F"/>
                </a:solidFill>
                <a:latin typeface="Segoe UI"/>
              </a:rPr>
              <a:t>Priority Opportunities</a:t>
            </a:r>
          </a:p>
        </p:txBody>
      </p:sp>
      <p:sp>
        <p:nvSpPr>
          <p:cNvPr id="14" name="Rectangle 13"/>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North America</a:t>
            </a:r>
          </a:p>
        </p:txBody>
      </p:sp>
      <p:sp>
        <p:nvSpPr>
          <p:cNvPr id="16" name="TextBox 15"/>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7" name="TextBox 16"/>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8" name="TextBox 17"/>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9" name="Rectangle 18"/>
          <p:cNvSpPr/>
          <p:nvPr/>
        </p:nvSpPr>
        <p:spPr>
          <a:xfrm>
            <a:off x="142875" y="2029468"/>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South Asia &amp; Pacific</a:t>
            </a:r>
          </a:p>
        </p:txBody>
      </p:sp>
      <p:sp>
        <p:nvSpPr>
          <p:cNvPr id="21" name="TextBox 20"/>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2" name="TextBox 21"/>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Competitive intensity at scale.</a:t>
            </a:r>
          </a:p>
        </p:txBody>
      </p:sp>
      <p:sp>
        <p:nvSpPr>
          <p:cNvPr id="23" name="TextBox 22"/>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4" name="Rectangle 23"/>
          <p:cNvSpPr/>
          <p:nvPr/>
        </p:nvSpPr>
        <p:spPr>
          <a:xfrm>
            <a:off x="142875" y="2540572"/>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0025" y="2540572"/>
            <a:ext cx="1428750" cy="702767"/>
          </a:xfrm>
          <a:prstGeom prst="rect">
            <a:avLst/>
          </a:prstGeom>
          <a:noFill/>
        </p:spPr>
        <p:txBody>
          <a:bodyPr wrap="square" lIns="28575" rIns="28575" tIns="9525" bIns="9525" anchor="ctr">
            <a:spAutoFit/>
          </a:bodyPr>
          <a:lstStyle/>
          <a:p>
            <a:pPr algn="l"/>
            <a:r>
              <a:rPr sz="1100" b="1">
                <a:solidFill>
                  <a:srgbClr val="252423"/>
                </a:solidFill>
                <a:latin typeface="Segoe UI"/>
              </a:rPr>
              <a:t>East Asia</a:t>
            </a:r>
          </a:p>
        </p:txBody>
      </p:sp>
      <p:sp>
        <p:nvSpPr>
          <p:cNvPr id="26" name="TextBox 25"/>
          <p:cNvSpPr txBox="1"/>
          <p:nvPr/>
        </p:nvSpPr>
        <p:spPr>
          <a:xfrm>
            <a:off x="1724025" y="2567952"/>
            <a:ext cx="3676650" cy="64800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7" name="TextBox 26"/>
          <p:cNvSpPr txBox="1"/>
          <p:nvPr/>
        </p:nvSpPr>
        <p:spPr>
          <a:xfrm>
            <a:off x="5534025" y="2567952"/>
            <a:ext cx="2724150" cy="64800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8" name="TextBox 27"/>
          <p:cNvSpPr txBox="1"/>
          <p:nvPr/>
        </p:nvSpPr>
        <p:spPr>
          <a:xfrm>
            <a:off x="8391525" y="2567952"/>
            <a:ext cx="3581400" cy="64800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9" name="Rectangle 28"/>
          <p:cNvSpPr/>
          <p:nvPr/>
        </p:nvSpPr>
        <p:spPr>
          <a:xfrm>
            <a:off x="142875" y="3243339"/>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0025" y="3243339"/>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Latin America</a:t>
            </a:r>
          </a:p>
        </p:txBody>
      </p:sp>
      <p:sp>
        <p:nvSpPr>
          <p:cNvPr id="31" name="TextBox 30"/>
          <p:cNvSpPr txBox="1"/>
          <p:nvPr/>
        </p:nvSpPr>
        <p:spPr>
          <a:xfrm>
            <a:off x="1724025" y="3270720"/>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2" name="TextBox 31"/>
          <p:cNvSpPr txBox="1"/>
          <p:nvPr/>
        </p:nvSpPr>
        <p:spPr>
          <a:xfrm>
            <a:off x="5534025" y="3270720"/>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3" name="TextBox 32"/>
          <p:cNvSpPr txBox="1"/>
          <p:nvPr/>
        </p:nvSpPr>
        <p:spPr>
          <a:xfrm>
            <a:off x="8391525" y="3270720"/>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4" name="Rectangle 33"/>
          <p:cNvSpPr/>
          <p:nvPr/>
        </p:nvSpPr>
        <p:spPr>
          <a:xfrm>
            <a:off x="142875" y="3754443"/>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0025" y="3754443"/>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Middle East &amp; Africa</a:t>
            </a:r>
          </a:p>
        </p:txBody>
      </p:sp>
      <p:sp>
        <p:nvSpPr>
          <p:cNvPr id="36" name="TextBox 35"/>
          <p:cNvSpPr txBox="1"/>
          <p:nvPr/>
        </p:nvSpPr>
        <p:spPr>
          <a:xfrm>
            <a:off x="1724025" y="3781823"/>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7" name="TextBox 36"/>
          <p:cNvSpPr txBox="1"/>
          <p:nvPr/>
        </p:nvSpPr>
        <p:spPr>
          <a:xfrm>
            <a:off x="5534025" y="3781823"/>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8" name="TextBox 37"/>
          <p:cNvSpPr txBox="1"/>
          <p:nvPr/>
        </p:nvSpPr>
        <p:spPr>
          <a:xfrm>
            <a:off x="8391525" y="3781823"/>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9" name="Rectangle 38"/>
          <p:cNvSpPr/>
          <p:nvPr/>
        </p:nvSpPr>
        <p:spPr>
          <a:xfrm>
            <a:off x="142875" y="4265546"/>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0025" y="4265546"/>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Eastern Europe</a:t>
            </a:r>
          </a:p>
        </p:txBody>
      </p:sp>
      <p:sp>
        <p:nvSpPr>
          <p:cNvPr id="41" name="TextBox 40"/>
          <p:cNvSpPr txBox="1"/>
          <p:nvPr/>
        </p:nvSpPr>
        <p:spPr>
          <a:xfrm>
            <a:off x="1724025" y="4292927"/>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2" name="TextBox 41"/>
          <p:cNvSpPr txBox="1"/>
          <p:nvPr/>
        </p:nvSpPr>
        <p:spPr>
          <a:xfrm>
            <a:off x="5534025" y="4292927"/>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3" name="TextBox 42"/>
          <p:cNvSpPr txBox="1"/>
          <p:nvPr/>
        </p:nvSpPr>
        <p:spPr>
          <a:xfrm>
            <a:off x="8391525" y="4292927"/>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4" name="Rectangle 43"/>
          <p:cNvSpPr/>
          <p:nvPr/>
        </p:nvSpPr>
        <p:spPr>
          <a:xfrm>
            <a:off x="142875" y="4776650"/>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0025" y="4776650"/>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Western Europe</a:t>
            </a:r>
          </a:p>
        </p:txBody>
      </p:sp>
      <p:sp>
        <p:nvSpPr>
          <p:cNvPr id="46" name="TextBox 45"/>
          <p:cNvSpPr txBox="1"/>
          <p:nvPr/>
        </p:nvSpPr>
        <p:spPr>
          <a:xfrm>
            <a:off x="1724025" y="4804030"/>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5534025" y="4804030"/>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8" name="TextBox 47"/>
          <p:cNvSpPr txBox="1"/>
          <p:nvPr/>
        </p:nvSpPr>
        <p:spPr>
          <a:xfrm>
            <a:off x="8391525" y="4804030"/>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cxnSp>
        <p:nvCxnSpPr>
          <p:cNvPr id="49" name="Connector 48"/>
          <p:cNvCxnSpPr/>
          <p:nvPr/>
        </p:nvCxnSpPr>
        <p:spPr>
          <a:xfrm>
            <a:off x="142875" y="5287753"/>
            <a:ext cx="11906250" cy="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00025" y="5306007"/>
            <a:ext cx="3810000" cy="182537"/>
          </a:xfrm>
          <a:prstGeom prst="rect">
            <a:avLst/>
          </a:prstGeom>
          <a:noFill/>
        </p:spPr>
        <p:txBody>
          <a:bodyPr wrap="square" lIns="28575" rIns="28575" tIns="9525" bIns="9525" anchor="ctr">
            <a:spAutoFit/>
          </a:bodyPr>
          <a:lstStyle/>
          <a:p>
            <a:pPr algn="l"/>
            <a:r>
              <a:rPr sz="1100" b="0">
                <a:solidFill>
                  <a:srgbClr val="605E5C"/>
                </a:solidFill>
                <a:latin typeface="Segoe UI"/>
              </a:rPr>
              <a:t>Source: FMI Analysis, 2026</a:t>
            </a:r>
          </a:p>
        </p:txBody>
      </p:sp>
      <p:sp>
        <p:nvSpPr>
          <p:cNvPr id="51" name="Rounded Rectangle 50"/>
          <p:cNvSpPr/>
          <p:nvPr/>
        </p:nvSpPr>
        <p:spPr>
          <a:xfrm>
            <a:off x="142875" y="5561559"/>
            <a:ext cx="11906250" cy="994827"/>
          </a:xfrm>
          <a:prstGeom prst="roundRect">
            <a:avLst>
              <a:gd name="adj" fmla="val 479"/>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225" y="5598066"/>
            <a:ext cx="3810000" cy="219044"/>
          </a:xfrm>
          <a:prstGeom prst="rect">
            <a:avLst/>
          </a:prstGeom>
          <a:noFill/>
        </p:spPr>
        <p:txBody>
          <a:bodyPr wrap="square" lIns="28575" rIns="28575" tIns="9525" bIns="9525" anchor="ctr">
            <a:spAutoFit/>
          </a:bodyPr>
          <a:lstStyle/>
          <a:p>
            <a:pPr algn="l"/>
            <a:r>
              <a:rPr sz="1200" b="1">
                <a:solidFill>
                  <a:srgbClr val="0E3A5F"/>
                </a:solidFill>
                <a:latin typeface="Segoe UI"/>
              </a:rPr>
              <a:t>KEY TAKEAWAY</a:t>
            </a:r>
          </a:p>
        </p:txBody>
      </p:sp>
      <p:cxnSp>
        <p:nvCxnSpPr>
          <p:cNvPr id="53" name="Connector 52"/>
          <p:cNvCxnSpPr/>
          <p:nvPr/>
        </p:nvCxnSpPr>
        <p:spPr>
          <a:xfrm>
            <a:off x="276225" y="5835364"/>
            <a:ext cx="11639550" cy="0"/>
          </a:xfrm>
          <a:prstGeom prst="line">
            <a:avLst/>
          </a:prstGeom>
          <a:ln w="15875">
            <a:solidFill>
              <a:srgbClr val="0E3A5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76225" y="5890125"/>
            <a:ext cx="1152525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5" name="TextBox 5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6" name="TextBox 55"/>
          <p:cNvSpPr txBox="1"/>
          <p:nvPr/>
        </p:nvSpPr>
        <p:spPr>
          <a:xfrm>
            <a:off x="1752600" y="1606276"/>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57" name="Picture 56" descr="lock.png"/>
          <p:cNvPicPr>
            <a:picLocks noChangeAspect="1"/>
          </p:cNvPicPr>
          <p:nvPr/>
        </p:nvPicPr>
        <p:blipFill>
          <a:blip r:embed="rId4"/>
          <a:stretch>
            <a:fillRect/>
          </a:stretch>
        </p:blipFill>
        <p:spPr>
          <a:xfrm>
            <a:off x="2498241" y="1596497"/>
            <a:ext cx="128699" cy="187198"/>
          </a:xfrm>
          <a:prstGeom prst="rect">
            <a:avLst/>
          </a:prstGeom>
        </p:spPr>
      </p:pic>
      <p:sp>
        <p:nvSpPr>
          <p:cNvPr id="58" name="TextBox 57"/>
          <p:cNvSpPr txBox="1"/>
          <p:nvPr/>
        </p:nvSpPr>
        <p:spPr>
          <a:xfrm>
            <a:off x="2665737" y="1606276"/>
            <a:ext cx="1808146" cy="186689"/>
          </a:xfrm>
          <a:prstGeom prst="rect">
            <a:avLst/>
          </a:prstGeom>
          <a:noFill/>
        </p:spPr>
        <p:txBody>
          <a:bodyPr wrap="none" lIns="0" rIns="0" tIns="0" bIns="0">
            <a:spAutoFit/>
          </a:bodyPr>
          <a:lstStyle/>
          <a:p>
            <a:r>
              <a:rPr sz="1100" b="0">
                <a:solidFill>
                  <a:srgbClr val="252423"/>
                </a:solidFill>
                <a:latin typeface="Segoe UI"/>
              </a:rPr>
              <a:t>share), Above-market pace (</a:t>
            </a:r>
          </a:p>
        </p:txBody>
      </p:sp>
      <p:pic>
        <p:nvPicPr>
          <p:cNvPr id="59" name="Picture 58" descr="lock.png"/>
          <p:cNvPicPr>
            <a:picLocks noChangeAspect="1"/>
          </p:cNvPicPr>
          <p:nvPr/>
        </p:nvPicPr>
        <p:blipFill>
          <a:blip r:embed="rId4"/>
          <a:stretch>
            <a:fillRect/>
          </a:stretch>
        </p:blipFill>
        <p:spPr>
          <a:xfrm>
            <a:off x="4421935" y="1596497"/>
            <a:ext cx="128699" cy="187198"/>
          </a:xfrm>
          <a:prstGeom prst="rect">
            <a:avLst/>
          </a:prstGeom>
        </p:spPr>
      </p:pic>
      <p:sp>
        <p:nvSpPr>
          <p:cNvPr id="60" name="TextBox 59"/>
          <p:cNvSpPr txBox="1"/>
          <p:nvPr/>
        </p:nvSpPr>
        <p:spPr>
          <a:xfrm>
            <a:off x="4589431" y="1606276"/>
            <a:ext cx="518492" cy="186689"/>
          </a:xfrm>
          <a:prstGeom prst="rect">
            <a:avLst/>
          </a:prstGeom>
          <a:noFill/>
        </p:spPr>
        <p:txBody>
          <a:bodyPr wrap="none" lIns="0" rIns="0" tIns="0" bIns="0">
            <a:spAutoFit/>
          </a:bodyPr>
          <a:lstStyle/>
          <a:p>
            <a:r>
              <a:rPr sz="1100" b="0">
                <a:solidFill>
                  <a:srgbClr val="252423"/>
                </a:solidFill>
                <a:latin typeface="Segoe UI"/>
              </a:rPr>
              <a:t>), 1,500</a:t>
            </a:r>
          </a:p>
        </p:txBody>
      </p:sp>
      <p:sp>
        <p:nvSpPr>
          <p:cNvPr id="61" name="TextBox 60"/>
          <p:cNvSpPr txBox="1"/>
          <p:nvPr/>
        </p:nvSpPr>
        <p:spPr>
          <a:xfrm>
            <a:off x="1752600" y="1773915"/>
            <a:ext cx="3098495" cy="186689"/>
          </a:xfrm>
          <a:prstGeom prst="rect">
            <a:avLst/>
          </a:prstGeom>
          <a:noFill/>
        </p:spPr>
        <p:txBody>
          <a:bodyPr wrap="none" lIns="0" rIns="0" tIns="0" bIns="0">
            <a:spAutoFit/>
          </a:bodyPr>
          <a:lstStyle/>
          <a:p>
            <a:r>
              <a:rPr sz="1100" b="0">
                <a:solidFill>
                  <a:srgbClr val="252423"/>
                </a:solidFill>
                <a:latin typeface="Segoe UI"/>
              </a:rPr>
              <a:t>Wh to 2,000 Wh demand, Accelerating vs history.</a:t>
            </a:r>
          </a:p>
        </p:txBody>
      </p:sp>
      <p:sp>
        <p:nvSpPr>
          <p:cNvPr id="62" name="TextBox 61"/>
          <p:cNvSpPr txBox="1"/>
          <p:nvPr/>
        </p:nvSpPr>
        <p:spPr>
          <a:xfrm>
            <a:off x="5562600" y="1690095"/>
            <a:ext cx="1200045" cy="186689"/>
          </a:xfrm>
          <a:prstGeom prst="rect">
            <a:avLst/>
          </a:prstGeom>
          <a:noFill/>
        </p:spPr>
        <p:txBody>
          <a:bodyPr wrap="none" lIns="0" rIns="0" tIns="0" bIns="0">
            <a:spAutoFit/>
          </a:bodyPr>
          <a:lstStyle/>
          <a:p>
            <a:r>
              <a:rPr sz="1100" b="0">
                <a:solidFill>
                  <a:srgbClr val="252423"/>
                </a:solidFill>
                <a:latin typeface="Segoe UI"/>
              </a:rPr>
              <a:t>Rising realisation (</a:t>
            </a:r>
          </a:p>
        </p:txBody>
      </p:sp>
      <p:pic>
        <p:nvPicPr>
          <p:cNvPr id="63" name="Picture 62" descr="lock.png"/>
          <p:cNvPicPr>
            <a:picLocks noChangeAspect="1"/>
          </p:cNvPicPr>
          <p:nvPr/>
        </p:nvPicPr>
        <p:blipFill>
          <a:blip r:embed="rId4"/>
          <a:stretch>
            <a:fillRect/>
          </a:stretch>
        </p:blipFill>
        <p:spPr>
          <a:xfrm>
            <a:off x="6710697" y="1680317"/>
            <a:ext cx="128699" cy="187198"/>
          </a:xfrm>
          <a:prstGeom prst="rect">
            <a:avLst/>
          </a:prstGeom>
        </p:spPr>
      </p:pic>
      <p:sp>
        <p:nvSpPr>
          <p:cNvPr id="64" name="TextBox 63"/>
          <p:cNvSpPr txBox="1"/>
          <p:nvPr/>
        </p:nvSpPr>
        <p:spPr>
          <a:xfrm>
            <a:off x="6878193" y="1690095"/>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65" name="TextBox 64"/>
          <p:cNvSpPr txBox="1"/>
          <p:nvPr/>
        </p:nvSpPr>
        <p:spPr>
          <a:xfrm>
            <a:off x="8420100" y="1606276"/>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66" name="Picture 65" descr="lock.png"/>
          <p:cNvPicPr>
            <a:picLocks noChangeAspect="1"/>
          </p:cNvPicPr>
          <p:nvPr/>
        </p:nvPicPr>
        <p:blipFill>
          <a:blip r:embed="rId4"/>
          <a:stretch>
            <a:fillRect/>
          </a:stretch>
        </p:blipFill>
        <p:spPr>
          <a:xfrm>
            <a:off x="10652522" y="1596497"/>
            <a:ext cx="128699" cy="187198"/>
          </a:xfrm>
          <a:prstGeom prst="rect">
            <a:avLst/>
          </a:prstGeom>
        </p:spPr>
      </p:pic>
      <p:sp>
        <p:nvSpPr>
          <p:cNvPr id="67" name="TextBox 66"/>
          <p:cNvSpPr txBox="1"/>
          <p:nvPr/>
        </p:nvSpPr>
        <p:spPr>
          <a:xfrm>
            <a:off x="10820018" y="1606276"/>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68" name="Picture 67" descr="lock.png"/>
          <p:cNvPicPr>
            <a:picLocks noChangeAspect="1"/>
          </p:cNvPicPr>
          <p:nvPr/>
        </p:nvPicPr>
        <p:blipFill>
          <a:blip r:embed="rId4"/>
          <a:stretch>
            <a:fillRect/>
          </a:stretch>
        </p:blipFill>
        <p:spPr>
          <a:xfrm>
            <a:off x="10916848" y="1596497"/>
            <a:ext cx="128699" cy="187198"/>
          </a:xfrm>
          <a:prstGeom prst="rect">
            <a:avLst/>
          </a:prstGeom>
        </p:spPr>
      </p:pic>
      <p:sp>
        <p:nvSpPr>
          <p:cNvPr id="69" name="TextBox 68"/>
          <p:cNvSpPr txBox="1"/>
          <p:nvPr/>
        </p:nvSpPr>
        <p:spPr>
          <a:xfrm>
            <a:off x="11084343" y="1606276"/>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70" name="TextBox 69"/>
          <p:cNvSpPr txBox="1"/>
          <p:nvPr/>
        </p:nvSpPr>
        <p:spPr>
          <a:xfrm>
            <a:off x="8420100" y="1773915"/>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71" name="TextBox 70"/>
          <p:cNvSpPr txBox="1"/>
          <p:nvPr/>
        </p:nvSpPr>
        <p:spPr>
          <a:xfrm>
            <a:off x="1752600" y="2117380"/>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72" name="Picture 71" descr="lock.png"/>
          <p:cNvPicPr>
            <a:picLocks noChangeAspect="1"/>
          </p:cNvPicPr>
          <p:nvPr/>
        </p:nvPicPr>
        <p:blipFill>
          <a:blip r:embed="rId4"/>
          <a:stretch>
            <a:fillRect/>
          </a:stretch>
        </p:blipFill>
        <p:spPr>
          <a:xfrm>
            <a:off x="2498241" y="2107601"/>
            <a:ext cx="128699" cy="187198"/>
          </a:xfrm>
          <a:prstGeom prst="rect">
            <a:avLst/>
          </a:prstGeom>
        </p:spPr>
      </p:pic>
      <p:sp>
        <p:nvSpPr>
          <p:cNvPr id="73" name="TextBox 72"/>
          <p:cNvSpPr txBox="1"/>
          <p:nvPr/>
        </p:nvSpPr>
        <p:spPr>
          <a:xfrm>
            <a:off x="2665737" y="2117380"/>
            <a:ext cx="1808146" cy="186689"/>
          </a:xfrm>
          <a:prstGeom prst="rect">
            <a:avLst/>
          </a:prstGeom>
          <a:noFill/>
        </p:spPr>
        <p:txBody>
          <a:bodyPr wrap="none" lIns="0" rIns="0" tIns="0" bIns="0">
            <a:spAutoFit/>
          </a:bodyPr>
          <a:lstStyle/>
          <a:p>
            <a:r>
              <a:rPr sz="1100" b="0">
                <a:solidFill>
                  <a:srgbClr val="252423"/>
                </a:solidFill>
                <a:latin typeface="Segoe UI"/>
              </a:rPr>
              <a:t>share), Above-market pace (</a:t>
            </a:r>
          </a:p>
        </p:txBody>
      </p:sp>
      <p:pic>
        <p:nvPicPr>
          <p:cNvPr id="74" name="Picture 73" descr="lock.png"/>
          <p:cNvPicPr>
            <a:picLocks noChangeAspect="1"/>
          </p:cNvPicPr>
          <p:nvPr/>
        </p:nvPicPr>
        <p:blipFill>
          <a:blip r:embed="rId4"/>
          <a:stretch>
            <a:fillRect/>
          </a:stretch>
        </p:blipFill>
        <p:spPr>
          <a:xfrm>
            <a:off x="4421935" y="2107601"/>
            <a:ext cx="128699" cy="187198"/>
          </a:xfrm>
          <a:prstGeom prst="rect">
            <a:avLst/>
          </a:prstGeom>
        </p:spPr>
      </p:pic>
      <p:sp>
        <p:nvSpPr>
          <p:cNvPr id="75" name="TextBox 74"/>
          <p:cNvSpPr txBox="1"/>
          <p:nvPr/>
        </p:nvSpPr>
        <p:spPr>
          <a:xfrm>
            <a:off x="4589431" y="2117380"/>
            <a:ext cx="518492" cy="186689"/>
          </a:xfrm>
          <a:prstGeom prst="rect">
            <a:avLst/>
          </a:prstGeom>
          <a:noFill/>
        </p:spPr>
        <p:txBody>
          <a:bodyPr wrap="none" lIns="0" rIns="0" tIns="0" bIns="0">
            <a:spAutoFit/>
          </a:bodyPr>
          <a:lstStyle/>
          <a:p>
            <a:r>
              <a:rPr sz="1100" b="0">
                <a:solidFill>
                  <a:srgbClr val="252423"/>
                </a:solidFill>
                <a:latin typeface="Segoe UI"/>
              </a:rPr>
              <a:t>), 1,500</a:t>
            </a:r>
          </a:p>
        </p:txBody>
      </p:sp>
      <p:sp>
        <p:nvSpPr>
          <p:cNvPr id="76" name="TextBox 75"/>
          <p:cNvSpPr txBox="1"/>
          <p:nvPr/>
        </p:nvSpPr>
        <p:spPr>
          <a:xfrm>
            <a:off x="1752600" y="2285020"/>
            <a:ext cx="3098495" cy="186689"/>
          </a:xfrm>
          <a:prstGeom prst="rect">
            <a:avLst/>
          </a:prstGeom>
          <a:noFill/>
        </p:spPr>
        <p:txBody>
          <a:bodyPr wrap="none" lIns="0" rIns="0" tIns="0" bIns="0">
            <a:spAutoFit/>
          </a:bodyPr>
          <a:lstStyle/>
          <a:p>
            <a:r>
              <a:rPr sz="1100" b="0">
                <a:solidFill>
                  <a:srgbClr val="252423"/>
                </a:solidFill>
                <a:latin typeface="Segoe UI"/>
              </a:rPr>
              <a:t>Wh to 2,000 Wh demand, Accelerating vs history.</a:t>
            </a:r>
          </a:p>
        </p:txBody>
      </p:sp>
      <p:sp>
        <p:nvSpPr>
          <p:cNvPr id="77" name="TextBox 76"/>
          <p:cNvSpPr txBox="1"/>
          <p:nvPr/>
        </p:nvSpPr>
        <p:spPr>
          <a:xfrm>
            <a:off x="8420100" y="2117380"/>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78" name="Picture 77" descr="lock.png"/>
          <p:cNvPicPr>
            <a:picLocks noChangeAspect="1"/>
          </p:cNvPicPr>
          <p:nvPr/>
        </p:nvPicPr>
        <p:blipFill>
          <a:blip r:embed="rId4"/>
          <a:stretch>
            <a:fillRect/>
          </a:stretch>
        </p:blipFill>
        <p:spPr>
          <a:xfrm>
            <a:off x="10652522" y="2107601"/>
            <a:ext cx="128699" cy="187198"/>
          </a:xfrm>
          <a:prstGeom prst="rect">
            <a:avLst/>
          </a:prstGeom>
        </p:spPr>
      </p:pic>
      <p:sp>
        <p:nvSpPr>
          <p:cNvPr id="79" name="TextBox 78"/>
          <p:cNvSpPr txBox="1"/>
          <p:nvPr/>
        </p:nvSpPr>
        <p:spPr>
          <a:xfrm>
            <a:off x="10820018" y="2117380"/>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0" name="Picture 79" descr="lock.png"/>
          <p:cNvPicPr>
            <a:picLocks noChangeAspect="1"/>
          </p:cNvPicPr>
          <p:nvPr/>
        </p:nvPicPr>
        <p:blipFill>
          <a:blip r:embed="rId4"/>
          <a:stretch>
            <a:fillRect/>
          </a:stretch>
        </p:blipFill>
        <p:spPr>
          <a:xfrm>
            <a:off x="10916848" y="2107601"/>
            <a:ext cx="128699" cy="187198"/>
          </a:xfrm>
          <a:prstGeom prst="rect">
            <a:avLst/>
          </a:prstGeom>
        </p:spPr>
      </p:pic>
      <p:sp>
        <p:nvSpPr>
          <p:cNvPr id="81" name="TextBox 80"/>
          <p:cNvSpPr txBox="1"/>
          <p:nvPr/>
        </p:nvSpPr>
        <p:spPr>
          <a:xfrm>
            <a:off x="11084343" y="2117380"/>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82" name="TextBox 81"/>
          <p:cNvSpPr txBox="1"/>
          <p:nvPr/>
        </p:nvSpPr>
        <p:spPr>
          <a:xfrm>
            <a:off x="8420100" y="2285020"/>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83" name="TextBox 82"/>
          <p:cNvSpPr txBox="1"/>
          <p:nvPr/>
        </p:nvSpPr>
        <p:spPr>
          <a:xfrm>
            <a:off x="1752600" y="2724315"/>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84" name="Picture 83" descr="lock.png"/>
          <p:cNvPicPr>
            <a:picLocks noChangeAspect="1"/>
          </p:cNvPicPr>
          <p:nvPr/>
        </p:nvPicPr>
        <p:blipFill>
          <a:blip r:embed="rId4"/>
          <a:stretch>
            <a:fillRect/>
          </a:stretch>
        </p:blipFill>
        <p:spPr>
          <a:xfrm>
            <a:off x="2498241" y="2714536"/>
            <a:ext cx="128699" cy="187198"/>
          </a:xfrm>
          <a:prstGeom prst="rect">
            <a:avLst/>
          </a:prstGeom>
        </p:spPr>
      </p:pic>
      <p:sp>
        <p:nvSpPr>
          <p:cNvPr id="85" name="TextBox 84"/>
          <p:cNvSpPr txBox="1"/>
          <p:nvPr/>
        </p:nvSpPr>
        <p:spPr>
          <a:xfrm>
            <a:off x="2665737" y="2724315"/>
            <a:ext cx="1662801" cy="186689"/>
          </a:xfrm>
          <a:prstGeom prst="rect">
            <a:avLst/>
          </a:prstGeom>
          <a:noFill/>
        </p:spPr>
        <p:txBody>
          <a:bodyPr wrap="none" lIns="0" rIns="0" tIns="0" bIns="0">
            <a:spAutoFit/>
          </a:bodyPr>
          <a:lstStyle/>
          <a:p>
            <a:r>
              <a:rPr sz="1100" b="0">
                <a:solidFill>
                  <a:srgbClr val="252423"/>
                </a:solidFill>
                <a:latin typeface="Segoe UI"/>
              </a:rPr>
              <a:t>share), Installed demand (</a:t>
            </a:r>
          </a:p>
        </p:txBody>
      </p:sp>
      <p:pic>
        <p:nvPicPr>
          <p:cNvPr id="86" name="Picture 85" descr="lock.png"/>
          <p:cNvPicPr>
            <a:picLocks noChangeAspect="1"/>
          </p:cNvPicPr>
          <p:nvPr/>
        </p:nvPicPr>
        <p:blipFill>
          <a:blip r:embed="rId4"/>
          <a:stretch>
            <a:fillRect/>
          </a:stretch>
        </p:blipFill>
        <p:spPr>
          <a:xfrm>
            <a:off x="4276590" y="2714536"/>
            <a:ext cx="128699" cy="187198"/>
          </a:xfrm>
          <a:prstGeom prst="rect">
            <a:avLst/>
          </a:prstGeom>
        </p:spPr>
      </p:pic>
      <p:sp>
        <p:nvSpPr>
          <p:cNvPr id="87" name="TextBox 86"/>
          <p:cNvSpPr txBox="1"/>
          <p:nvPr/>
        </p:nvSpPr>
        <p:spPr>
          <a:xfrm>
            <a:off x="4444086" y="2724315"/>
            <a:ext cx="504547"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88" name="TextBox 87"/>
          <p:cNvSpPr txBox="1"/>
          <p:nvPr/>
        </p:nvSpPr>
        <p:spPr>
          <a:xfrm>
            <a:off x="1752600" y="2891955"/>
            <a:ext cx="3468209" cy="186689"/>
          </a:xfrm>
          <a:prstGeom prst="rect">
            <a:avLst/>
          </a:prstGeom>
          <a:noFill/>
        </p:spPr>
        <p:txBody>
          <a:bodyPr wrap="none" lIns="0" rIns="0" tIns="0" bIns="0">
            <a:spAutoFit/>
          </a:bodyPr>
          <a:lstStyle/>
          <a:p>
            <a:r>
              <a:rPr sz="1100" b="0">
                <a:solidFill>
                  <a:srgbClr val="252423"/>
                </a:solidFill>
                <a:latin typeface="Segoe UI"/>
              </a:rPr>
              <a:t>1,500 Wh to 2,000 Wh demand, Accelerating vs history.</a:t>
            </a:r>
          </a:p>
        </p:txBody>
      </p:sp>
      <p:sp>
        <p:nvSpPr>
          <p:cNvPr id="89" name="TextBox 88"/>
          <p:cNvSpPr txBox="1"/>
          <p:nvPr/>
        </p:nvSpPr>
        <p:spPr>
          <a:xfrm>
            <a:off x="5562600" y="2808135"/>
            <a:ext cx="1381534" cy="186689"/>
          </a:xfrm>
          <a:prstGeom prst="rect">
            <a:avLst/>
          </a:prstGeom>
          <a:noFill/>
        </p:spPr>
        <p:txBody>
          <a:bodyPr wrap="none" lIns="0" rIns="0" tIns="0" bIns="0">
            <a:spAutoFit/>
          </a:bodyPr>
          <a:lstStyle/>
          <a:p>
            <a:r>
              <a:rPr sz="1100" b="0">
                <a:solidFill>
                  <a:srgbClr val="252423"/>
                </a:solidFill>
                <a:latin typeface="Segoe UI"/>
              </a:rPr>
              <a:t>Trails market pace by</a:t>
            </a:r>
          </a:p>
        </p:txBody>
      </p:sp>
      <p:pic>
        <p:nvPicPr>
          <p:cNvPr id="90" name="Picture 89" descr="lock.png"/>
          <p:cNvPicPr>
            <a:picLocks noChangeAspect="1"/>
          </p:cNvPicPr>
          <p:nvPr/>
        </p:nvPicPr>
        <p:blipFill>
          <a:blip r:embed="rId4"/>
          <a:stretch>
            <a:fillRect/>
          </a:stretch>
        </p:blipFill>
        <p:spPr>
          <a:xfrm>
            <a:off x="6892186" y="2798356"/>
            <a:ext cx="128699" cy="187198"/>
          </a:xfrm>
          <a:prstGeom prst="rect">
            <a:avLst/>
          </a:prstGeom>
        </p:spPr>
      </p:pic>
      <p:sp>
        <p:nvSpPr>
          <p:cNvPr id="91" name="TextBox 90"/>
          <p:cNvSpPr txBox="1"/>
          <p:nvPr/>
        </p:nvSpPr>
        <p:spPr>
          <a:xfrm>
            <a:off x="7059682" y="2808135"/>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92" name="TextBox 91"/>
          <p:cNvSpPr txBox="1"/>
          <p:nvPr/>
        </p:nvSpPr>
        <p:spPr>
          <a:xfrm>
            <a:off x="8420100" y="2724315"/>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93" name="Picture 92" descr="lock.png"/>
          <p:cNvPicPr>
            <a:picLocks noChangeAspect="1"/>
          </p:cNvPicPr>
          <p:nvPr/>
        </p:nvPicPr>
        <p:blipFill>
          <a:blip r:embed="rId4"/>
          <a:stretch>
            <a:fillRect/>
          </a:stretch>
        </p:blipFill>
        <p:spPr>
          <a:xfrm>
            <a:off x="10652522" y="2714536"/>
            <a:ext cx="128699" cy="187198"/>
          </a:xfrm>
          <a:prstGeom prst="rect">
            <a:avLst/>
          </a:prstGeom>
        </p:spPr>
      </p:pic>
      <p:sp>
        <p:nvSpPr>
          <p:cNvPr id="94" name="TextBox 93"/>
          <p:cNvSpPr txBox="1"/>
          <p:nvPr/>
        </p:nvSpPr>
        <p:spPr>
          <a:xfrm>
            <a:off x="10820018" y="2724315"/>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95" name="Picture 94" descr="lock.png"/>
          <p:cNvPicPr>
            <a:picLocks noChangeAspect="1"/>
          </p:cNvPicPr>
          <p:nvPr/>
        </p:nvPicPr>
        <p:blipFill>
          <a:blip r:embed="rId4"/>
          <a:stretch>
            <a:fillRect/>
          </a:stretch>
        </p:blipFill>
        <p:spPr>
          <a:xfrm>
            <a:off x="10916848" y="2714536"/>
            <a:ext cx="128699" cy="187198"/>
          </a:xfrm>
          <a:prstGeom prst="rect">
            <a:avLst/>
          </a:prstGeom>
        </p:spPr>
      </p:pic>
      <p:sp>
        <p:nvSpPr>
          <p:cNvPr id="96" name="TextBox 95"/>
          <p:cNvSpPr txBox="1"/>
          <p:nvPr/>
        </p:nvSpPr>
        <p:spPr>
          <a:xfrm>
            <a:off x="11084343" y="2724315"/>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97" name="TextBox 96"/>
          <p:cNvSpPr txBox="1"/>
          <p:nvPr/>
        </p:nvSpPr>
        <p:spPr>
          <a:xfrm>
            <a:off x="8420100" y="2891955"/>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98" name="TextBox 97"/>
          <p:cNvSpPr txBox="1"/>
          <p:nvPr/>
        </p:nvSpPr>
        <p:spPr>
          <a:xfrm>
            <a:off x="1752600" y="3331251"/>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99" name="Picture 98" descr="lock.png"/>
          <p:cNvPicPr>
            <a:picLocks noChangeAspect="1"/>
          </p:cNvPicPr>
          <p:nvPr/>
        </p:nvPicPr>
        <p:blipFill>
          <a:blip r:embed="rId4"/>
          <a:stretch>
            <a:fillRect/>
          </a:stretch>
        </p:blipFill>
        <p:spPr>
          <a:xfrm>
            <a:off x="3066808" y="3321472"/>
            <a:ext cx="128699" cy="187198"/>
          </a:xfrm>
          <a:prstGeom prst="rect">
            <a:avLst/>
          </a:prstGeom>
        </p:spPr>
      </p:pic>
      <p:sp>
        <p:nvSpPr>
          <p:cNvPr id="100" name="TextBox 99"/>
          <p:cNvSpPr txBox="1"/>
          <p:nvPr/>
        </p:nvSpPr>
        <p:spPr>
          <a:xfrm>
            <a:off x="3234304" y="3331251"/>
            <a:ext cx="2128299" cy="186689"/>
          </a:xfrm>
          <a:prstGeom prst="rect">
            <a:avLst/>
          </a:prstGeom>
          <a:noFill/>
        </p:spPr>
        <p:txBody>
          <a:bodyPr wrap="none" lIns="0" rIns="0" tIns="0" bIns="0">
            <a:spAutoFit/>
          </a:bodyPr>
          <a:lstStyle/>
          <a:p>
            <a:r>
              <a:rPr sz="1100" b="0">
                <a:solidFill>
                  <a:srgbClr val="252423"/>
                </a:solidFill>
                <a:latin typeface="Segoe UI"/>
              </a:rPr>
              <a:t>), 1,500 Wh to 2,000 Wh demand,</a:t>
            </a:r>
          </a:p>
        </p:txBody>
      </p:sp>
      <p:sp>
        <p:nvSpPr>
          <p:cNvPr id="101" name="TextBox 100"/>
          <p:cNvSpPr txBox="1"/>
          <p:nvPr/>
        </p:nvSpPr>
        <p:spPr>
          <a:xfrm>
            <a:off x="1752600" y="3498891"/>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02" name="TextBox 101"/>
          <p:cNvSpPr txBox="1"/>
          <p:nvPr/>
        </p:nvSpPr>
        <p:spPr>
          <a:xfrm>
            <a:off x="5562600" y="3415071"/>
            <a:ext cx="1200045" cy="186689"/>
          </a:xfrm>
          <a:prstGeom prst="rect">
            <a:avLst/>
          </a:prstGeom>
          <a:noFill/>
        </p:spPr>
        <p:txBody>
          <a:bodyPr wrap="none" lIns="0" rIns="0" tIns="0" bIns="0">
            <a:spAutoFit/>
          </a:bodyPr>
          <a:lstStyle/>
          <a:p>
            <a:r>
              <a:rPr sz="1100" b="0">
                <a:solidFill>
                  <a:srgbClr val="252423"/>
                </a:solidFill>
                <a:latin typeface="Segoe UI"/>
              </a:rPr>
              <a:t>Rising realisation (</a:t>
            </a:r>
          </a:p>
        </p:txBody>
      </p:sp>
      <p:pic>
        <p:nvPicPr>
          <p:cNvPr id="103" name="Picture 102" descr="lock.png"/>
          <p:cNvPicPr>
            <a:picLocks noChangeAspect="1"/>
          </p:cNvPicPr>
          <p:nvPr/>
        </p:nvPicPr>
        <p:blipFill>
          <a:blip r:embed="rId4"/>
          <a:stretch>
            <a:fillRect/>
          </a:stretch>
        </p:blipFill>
        <p:spPr>
          <a:xfrm>
            <a:off x="6710697" y="3405292"/>
            <a:ext cx="128699" cy="187198"/>
          </a:xfrm>
          <a:prstGeom prst="rect">
            <a:avLst/>
          </a:prstGeom>
        </p:spPr>
      </p:pic>
      <p:sp>
        <p:nvSpPr>
          <p:cNvPr id="104" name="TextBox 103"/>
          <p:cNvSpPr txBox="1"/>
          <p:nvPr/>
        </p:nvSpPr>
        <p:spPr>
          <a:xfrm>
            <a:off x="6878193" y="3415071"/>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05" name="TextBox 104"/>
          <p:cNvSpPr txBox="1"/>
          <p:nvPr/>
        </p:nvSpPr>
        <p:spPr>
          <a:xfrm>
            <a:off x="8420100" y="3331251"/>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106" name="Picture 105" descr="lock.png"/>
          <p:cNvPicPr>
            <a:picLocks noChangeAspect="1"/>
          </p:cNvPicPr>
          <p:nvPr/>
        </p:nvPicPr>
        <p:blipFill>
          <a:blip r:embed="rId4"/>
          <a:stretch>
            <a:fillRect/>
          </a:stretch>
        </p:blipFill>
        <p:spPr>
          <a:xfrm>
            <a:off x="10652522" y="3321472"/>
            <a:ext cx="128699" cy="187198"/>
          </a:xfrm>
          <a:prstGeom prst="rect">
            <a:avLst/>
          </a:prstGeom>
        </p:spPr>
      </p:pic>
      <p:sp>
        <p:nvSpPr>
          <p:cNvPr id="107" name="TextBox 106"/>
          <p:cNvSpPr txBox="1"/>
          <p:nvPr/>
        </p:nvSpPr>
        <p:spPr>
          <a:xfrm>
            <a:off x="10820018" y="3331251"/>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08" name="Picture 107" descr="lock.png"/>
          <p:cNvPicPr>
            <a:picLocks noChangeAspect="1"/>
          </p:cNvPicPr>
          <p:nvPr/>
        </p:nvPicPr>
        <p:blipFill>
          <a:blip r:embed="rId4"/>
          <a:stretch>
            <a:fillRect/>
          </a:stretch>
        </p:blipFill>
        <p:spPr>
          <a:xfrm>
            <a:off x="10916848" y="3321472"/>
            <a:ext cx="128699" cy="187198"/>
          </a:xfrm>
          <a:prstGeom prst="rect">
            <a:avLst/>
          </a:prstGeom>
        </p:spPr>
      </p:pic>
      <p:sp>
        <p:nvSpPr>
          <p:cNvPr id="109" name="TextBox 108"/>
          <p:cNvSpPr txBox="1"/>
          <p:nvPr/>
        </p:nvSpPr>
        <p:spPr>
          <a:xfrm>
            <a:off x="11084343" y="3331251"/>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110" name="TextBox 109"/>
          <p:cNvSpPr txBox="1"/>
          <p:nvPr/>
        </p:nvSpPr>
        <p:spPr>
          <a:xfrm>
            <a:off x="8420100" y="3498891"/>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111" name="TextBox 110"/>
          <p:cNvSpPr txBox="1"/>
          <p:nvPr/>
        </p:nvSpPr>
        <p:spPr>
          <a:xfrm>
            <a:off x="1752600" y="3842354"/>
            <a:ext cx="1220812" cy="186689"/>
          </a:xfrm>
          <a:prstGeom prst="rect">
            <a:avLst/>
          </a:prstGeom>
          <a:noFill/>
        </p:spPr>
        <p:txBody>
          <a:bodyPr wrap="none" lIns="0" rIns="0" tIns="0" bIns="0">
            <a:spAutoFit/>
          </a:bodyPr>
          <a:lstStyle/>
          <a:p>
            <a:r>
              <a:rPr sz="1100" b="0">
                <a:solidFill>
                  <a:srgbClr val="252423"/>
                </a:solidFill>
                <a:latin typeface="Segoe UI"/>
              </a:rPr>
              <a:t>Installed demand (</a:t>
            </a:r>
          </a:p>
        </p:txBody>
      </p:sp>
      <p:pic>
        <p:nvPicPr>
          <p:cNvPr id="112" name="Picture 111" descr="lock.png"/>
          <p:cNvPicPr>
            <a:picLocks noChangeAspect="1"/>
          </p:cNvPicPr>
          <p:nvPr/>
        </p:nvPicPr>
        <p:blipFill>
          <a:blip r:embed="rId4"/>
          <a:stretch>
            <a:fillRect/>
          </a:stretch>
        </p:blipFill>
        <p:spPr>
          <a:xfrm>
            <a:off x="2921463" y="3832575"/>
            <a:ext cx="128699" cy="187198"/>
          </a:xfrm>
          <a:prstGeom prst="rect">
            <a:avLst/>
          </a:prstGeom>
        </p:spPr>
      </p:pic>
      <p:sp>
        <p:nvSpPr>
          <p:cNvPr id="113" name="TextBox 112"/>
          <p:cNvSpPr txBox="1"/>
          <p:nvPr/>
        </p:nvSpPr>
        <p:spPr>
          <a:xfrm>
            <a:off x="3088959" y="3842354"/>
            <a:ext cx="1906987" cy="186689"/>
          </a:xfrm>
          <a:prstGeom prst="rect">
            <a:avLst/>
          </a:prstGeom>
          <a:noFill/>
        </p:spPr>
        <p:txBody>
          <a:bodyPr wrap="none" lIns="0" rIns="0" tIns="0" bIns="0">
            <a:spAutoFit/>
          </a:bodyPr>
          <a:lstStyle/>
          <a:p>
            <a:r>
              <a:rPr sz="1100" b="0">
                <a:solidFill>
                  <a:srgbClr val="252423"/>
                </a:solidFill>
                <a:latin typeface="Segoe UI"/>
              </a:rPr>
              <a:t>CAGR), 1,500 Wh to 2,000 Wh</a:t>
            </a:r>
          </a:p>
        </p:txBody>
      </p:sp>
      <p:sp>
        <p:nvSpPr>
          <p:cNvPr id="114" name="TextBox 113"/>
          <p:cNvSpPr txBox="1"/>
          <p:nvPr/>
        </p:nvSpPr>
        <p:spPr>
          <a:xfrm>
            <a:off x="1752600" y="4009994"/>
            <a:ext cx="2065769" cy="186689"/>
          </a:xfrm>
          <a:prstGeom prst="rect">
            <a:avLst/>
          </a:prstGeom>
          <a:noFill/>
        </p:spPr>
        <p:txBody>
          <a:bodyPr wrap="none" lIns="0" rIns="0" tIns="0" bIns="0">
            <a:spAutoFit/>
          </a:bodyPr>
          <a:lstStyle/>
          <a:p>
            <a:r>
              <a:rPr sz="1100" b="0">
                <a:solidFill>
                  <a:srgbClr val="252423"/>
                </a:solidFill>
                <a:latin typeface="Segoe UI"/>
              </a:rPr>
              <a:t>demand, Accelerating vs history.</a:t>
            </a:r>
          </a:p>
        </p:txBody>
      </p:sp>
      <p:sp>
        <p:nvSpPr>
          <p:cNvPr id="115" name="TextBox 114"/>
          <p:cNvSpPr txBox="1"/>
          <p:nvPr/>
        </p:nvSpPr>
        <p:spPr>
          <a:xfrm>
            <a:off x="5562600" y="3926174"/>
            <a:ext cx="1381534" cy="186689"/>
          </a:xfrm>
          <a:prstGeom prst="rect">
            <a:avLst/>
          </a:prstGeom>
          <a:noFill/>
        </p:spPr>
        <p:txBody>
          <a:bodyPr wrap="none" lIns="0" rIns="0" tIns="0" bIns="0">
            <a:spAutoFit/>
          </a:bodyPr>
          <a:lstStyle/>
          <a:p>
            <a:r>
              <a:rPr sz="1100" b="0">
                <a:solidFill>
                  <a:srgbClr val="252423"/>
                </a:solidFill>
                <a:latin typeface="Segoe UI"/>
              </a:rPr>
              <a:t>Trails market pace by</a:t>
            </a:r>
          </a:p>
        </p:txBody>
      </p:sp>
      <p:pic>
        <p:nvPicPr>
          <p:cNvPr id="116" name="Picture 115" descr="lock.png"/>
          <p:cNvPicPr>
            <a:picLocks noChangeAspect="1"/>
          </p:cNvPicPr>
          <p:nvPr/>
        </p:nvPicPr>
        <p:blipFill>
          <a:blip r:embed="rId4"/>
          <a:stretch>
            <a:fillRect/>
          </a:stretch>
        </p:blipFill>
        <p:spPr>
          <a:xfrm>
            <a:off x="6892186" y="3916395"/>
            <a:ext cx="128699" cy="187198"/>
          </a:xfrm>
          <a:prstGeom prst="rect">
            <a:avLst/>
          </a:prstGeom>
        </p:spPr>
      </p:pic>
      <p:sp>
        <p:nvSpPr>
          <p:cNvPr id="117" name="TextBox 116"/>
          <p:cNvSpPr txBox="1"/>
          <p:nvPr/>
        </p:nvSpPr>
        <p:spPr>
          <a:xfrm>
            <a:off x="7059682" y="3926174"/>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118" name="TextBox 117"/>
          <p:cNvSpPr txBox="1"/>
          <p:nvPr/>
        </p:nvSpPr>
        <p:spPr>
          <a:xfrm>
            <a:off x="8420100" y="3842354"/>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119" name="Picture 118" descr="lock.png"/>
          <p:cNvPicPr>
            <a:picLocks noChangeAspect="1"/>
          </p:cNvPicPr>
          <p:nvPr/>
        </p:nvPicPr>
        <p:blipFill>
          <a:blip r:embed="rId4"/>
          <a:stretch>
            <a:fillRect/>
          </a:stretch>
        </p:blipFill>
        <p:spPr>
          <a:xfrm>
            <a:off x="10652522" y="3832575"/>
            <a:ext cx="128699" cy="187198"/>
          </a:xfrm>
          <a:prstGeom prst="rect">
            <a:avLst/>
          </a:prstGeom>
        </p:spPr>
      </p:pic>
      <p:sp>
        <p:nvSpPr>
          <p:cNvPr id="120" name="TextBox 119"/>
          <p:cNvSpPr txBox="1"/>
          <p:nvPr/>
        </p:nvSpPr>
        <p:spPr>
          <a:xfrm>
            <a:off x="10820018" y="3842354"/>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21" name="Picture 120" descr="lock.png"/>
          <p:cNvPicPr>
            <a:picLocks noChangeAspect="1"/>
          </p:cNvPicPr>
          <p:nvPr/>
        </p:nvPicPr>
        <p:blipFill>
          <a:blip r:embed="rId4"/>
          <a:stretch>
            <a:fillRect/>
          </a:stretch>
        </p:blipFill>
        <p:spPr>
          <a:xfrm>
            <a:off x="10916848" y="3832575"/>
            <a:ext cx="128699" cy="187198"/>
          </a:xfrm>
          <a:prstGeom prst="rect">
            <a:avLst/>
          </a:prstGeom>
        </p:spPr>
      </p:pic>
      <p:sp>
        <p:nvSpPr>
          <p:cNvPr id="122" name="TextBox 121"/>
          <p:cNvSpPr txBox="1"/>
          <p:nvPr/>
        </p:nvSpPr>
        <p:spPr>
          <a:xfrm>
            <a:off x="11084343" y="3842354"/>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123" name="TextBox 122"/>
          <p:cNvSpPr txBox="1"/>
          <p:nvPr/>
        </p:nvSpPr>
        <p:spPr>
          <a:xfrm>
            <a:off x="8420100" y="4009994"/>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124" name="TextBox 123"/>
          <p:cNvSpPr txBox="1"/>
          <p:nvPr/>
        </p:nvSpPr>
        <p:spPr>
          <a:xfrm>
            <a:off x="1752600" y="4353458"/>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125" name="Picture 124" descr="lock.png"/>
          <p:cNvPicPr>
            <a:picLocks noChangeAspect="1"/>
          </p:cNvPicPr>
          <p:nvPr/>
        </p:nvPicPr>
        <p:blipFill>
          <a:blip r:embed="rId4"/>
          <a:stretch>
            <a:fillRect/>
          </a:stretch>
        </p:blipFill>
        <p:spPr>
          <a:xfrm>
            <a:off x="3066808" y="4343679"/>
            <a:ext cx="128699" cy="187198"/>
          </a:xfrm>
          <a:prstGeom prst="rect">
            <a:avLst/>
          </a:prstGeom>
        </p:spPr>
      </p:pic>
      <p:sp>
        <p:nvSpPr>
          <p:cNvPr id="126" name="TextBox 125"/>
          <p:cNvSpPr txBox="1"/>
          <p:nvPr/>
        </p:nvSpPr>
        <p:spPr>
          <a:xfrm>
            <a:off x="3234304" y="4353458"/>
            <a:ext cx="1959404" cy="186689"/>
          </a:xfrm>
          <a:prstGeom prst="rect">
            <a:avLst/>
          </a:prstGeom>
          <a:noFill/>
        </p:spPr>
        <p:txBody>
          <a:bodyPr wrap="none" lIns="0" rIns="0" tIns="0" bIns="0">
            <a:spAutoFit/>
          </a:bodyPr>
          <a:lstStyle/>
          <a:p>
            <a:r>
              <a:rPr sz="1100" b="0">
                <a:solidFill>
                  <a:srgbClr val="252423"/>
                </a:solidFill>
                <a:latin typeface="Segoe UI"/>
              </a:rPr>
              <a:t>), 1,000 Wh to Below 1,500 Wh</a:t>
            </a:r>
          </a:p>
        </p:txBody>
      </p:sp>
      <p:sp>
        <p:nvSpPr>
          <p:cNvPr id="127" name="TextBox 126"/>
          <p:cNvSpPr txBox="1"/>
          <p:nvPr/>
        </p:nvSpPr>
        <p:spPr>
          <a:xfrm>
            <a:off x="1752600" y="4521098"/>
            <a:ext cx="2065769" cy="186689"/>
          </a:xfrm>
          <a:prstGeom prst="rect">
            <a:avLst/>
          </a:prstGeom>
          <a:noFill/>
        </p:spPr>
        <p:txBody>
          <a:bodyPr wrap="none" lIns="0" rIns="0" tIns="0" bIns="0">
            <a:spAutoFit/>
          </a:bodyPr>
          <a:lstStyle/>
          <a:p>
            <a:r>
              <a:rPr sz="1100" b="0">
                <a:solidFill>
                  <a:srgbClr val="252423"/>
                </a:solidFill>
                <a:latin typeface="Segoe UI"/>
              </a:rPr>
              <a:t>demand, Accelerating vs history.</a:t>
            </a:r>
          </a:p>
        </p:txBody>
      </p:sp>
      <p:sp>
        <p:nvSpPr>
          <p:cNvPr id="128" name="TextBox 127"/>
          <p:cNvSpPr txBox="1"/>
          <p:nvPr/>
        </p:nvSpPr>
        <p:spPr>
          <a:xfrm>
            <a:off x="5562600" y="4437278"/>
            <a:ext cx="1200045" cy="186689"/>
          </a:xfrm>
          <a:prstGeom prst="rect">
            <a:avLst/>
          </a:prstGeom>
          <a:noFill/>
        </p:spPr>
        <p:txBody>
          <a:bodyPr wrap="none" lIns="0" rIns="0" tIns="0" bIns="0">
            <a:spAutoFit/>
          </a:bodyPr>
          <a:lstStyle/>
          <a:p>
            <a:r>
              <a:rPr sz="1100" b="0">
                <a:solidFill>
                  <a:srgbClr val="252423"/>
                </a:solidFill>
                <a:latin typeface="Segoe UI"/>
              </a:rPr>
              <a:t>Rising realisation (</a:t>
            </a:r>
          </a:p>
        </p:txBody>
      </p:sp>
      <p:pic>
        <p:nvPicPr>
          <p:cNvPr id="129" name="Picture 128" descr="lock.png"/>
          <p:cNvPicPr>
            <a:picLocks noChangeAspect="1"/>
          </p:cNvPicPr>
          <p:nvPr/>
        </p:nvPicPr>
        <p:blipFill>
          <a:blip r:embed="rId4"/>
          <a:stretch>
            <a:fillRect/>
          </a:stretch>
        </p:blipFill>
        <p:spPr>
          <a:xfrm>
            <a:off x="6710697" y="4427499"/>
            <a:ext cx="128699" cy="187198"/>
          </a:xfrm>
          <a:prstGeom prst="rect">
            <a:avLst/>
          </a:prstGeom>
        </p:spPr>
      </p:pic>
      <p:sp>
        <p:nvSpPr>
          <p:cNvPr id="130" name="TextBox 129"/>
          <p:cNvSpPr txBox="1"/>
          <p:nvPr/>
        </p:nvSpPr>
        <p:spPr>
          <a:xfrm>
            <a:off x="6878193" y="4437278"/>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31" name="TextBox 130"/>
          <p:cNvSpPr txBox="1"/>
          <p:nvPr/>
        </p:nvSpPr>
        <p:spPr>
          <a:xfrm>
            <a:off x="8420100" y="4353458"/>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132" name="Picture 131" descr="lock.png"/>
          <p:cNvPicPr>
            <a:picLocks noChangeAspect="1"/>
          </p:cNvPicPr>
          <p:nvPr/>
        </p:nvPicPr>
        <p:blipFill>
          <a:blip r:embed="rId4"/>
          <a:stretch>
            <a:fillRect/>
          </a:stretch>
        </p:blipFill>
        <p:spPr>
          <a:xfrm>
            <a:off x="10652522" y="4343679"/>
            <a:ext cx="128699" cy="187198"/>
          </a:xfrm>
          <a:prstGeom prst="rect">
            <a:avLst/>
          </a:prstGeom>
        </p:spPr>
      </p:pic>
      <p:sp>
        <p:nvSpPr>
          <p:cNvPr id="133" name="TextBox 132"/>
          <p:cNvSpPr txBox="1"/>
          <p:nvPr/>
        </p:nvSpPr>
        <p:spPr>
          <a:xfrm>
            <a:off x="10820018" y="4353458"/>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34" name="Picture 133" descr="lock.png"/>
          <p:cNvPicPr>
            <a:picLocks noChangeAspect="1"/>
          </p:cNvPicPr>
          <p:nvPr/>
        </p:nvPicPr>
        <p:blipFill>
          <a:blip r:embed="rId4"/>
          <a:stretch>
            <a:fillRect/>
          </a:stretch>
        </p:blipFill>
        <p:spPr>
          <a:xfrm>
            <a:off x="10916848" y="4343679"/>
            <a:ext cx="128699" cy="187198"/>
          </a:xfrm>
          <a:prstGeom prst="rect">
            <a:avLst/>
          </a:prstGeom>
        </p:spPr>
      </p:pic>
      <p:sp>
        <p:nvSpPr>
          <p:cNvPr id="135" name="TextBox 134"/>
          <p:cNvSpPr txBox="1"/>
          <p:nvPr/>
        </p:nvSpPr>
        <p:spPr>
          <a:xfrm>
            <a:off x="11084343" y="4353458"/>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136" name="TextBox 135"/>
          <p:cNvSpPr txBox="1"/>
          <p:nvPr/>
        </p:nvSpPr>
        <p:spPr>
          <a:xfrm>
            <a:off x="8420100" y="4521098"/>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137" name="TextBox 136"/>
          <p:cNvSpPr txBox="1"/>
          <p:nvPr/>
        </p:nvSpPr>
        <p:spPr>
          <a:xfrm>
            <a:off x="1752600" y="4864561"/>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138" name="Picture 137" descr="lock.png"/>
          <p:cNvPicPr>
            <a:picLocks noChangeAspect="1"/>
          </p:cNvPicPr>
          <p:nvPr/>
        </p:nvPicPr>
        <p:blipFill>
          <a:blip r:embed="rId4"/>
          <a:stretch>
            <a:fillRect/>
          </a:stretch>
        </p:blipFill>
        <p:spPr>
          <a:xfrm>
            <a:off x="3066808" y="4854782"/>
            <a:ext cx="128699" cy="187198"/>
          </a:xfrm>
          <a:prstGeom prst="rect">
            <a:avLst/>
          </a:prstGeom>
        </p:spPr>
      </p:pic>
      <p:sp>
        <p:nvSpPr>
          <p:cNvPr id="139" name="TextBox 138"/>
          <p:cNvSpPr txBox="1"/>
          <p:nvPr/>
        </p:nvSpPr>
        <p:spPr>
          <a:xfrm>
            <a:off x="3234304" y="4864561"/>
            <a:ext cx="2128299" cy="186689"/>
          </a:xfrm>
          <a:prstGeom prst="rect">
            <a:avLst/>
          </a:prstGeom>
          <a:noFill/>
        </p:spPr>
        <p:txBody>
          <a:bodyPr wrap="none" lIns="0" rIns="0" tIns="0" bIns="0">
            <a:spAutoFit/>
          </a:bodyPr>
          <a:lstStyle/>
          <a:p>
            <a:r>
              <a:rPr sz="1100" b="0">
                <a:solidFill>
                  <a:srgbClr val="252423"/>
                </a:solidFill>
                <a:latin typeface="Segoe UI"/>
              </a:rPr>
              <a:t>), 1,500 Wh to 2,000 Wh demand,</a:t>
            </a:r>
          </a:p>
        </p:txBody>
      </p:sp>
      <p:sp>
        <p:nvSpPr>
          <p:cNvPr id="140" name="TextBox 139"/>
          <p:cNvSpPr txBox="1"/>
          <p:nvPr/>
        </p:nvSpPr>
        <p:spPr>
          <a:xfrm>
            <a:off x="1752600" y="5032201"/>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41" name="TextBox 140"/>
          <p:cNvSpPr txBox="1"/>
          <p:nvPr/>
        </p:nvSpPr>
        <p:spPr>
          <a:xfrm>
            <a:off x="5562600" y="4948381"/>
            <a:ext cx="2185828" cy="186689"/>
          </a:xfrm>
          <a:prstGeom prst="rect">
            <a:avLst/>
          </a:prstGeom>
          <a:noFill/>
        </p:spPr>
        <p:txBody>
          <a:bodyPr wrap="none" lIns="0" rIns="0" tIns="0" bIns="0">
            <a:spAutoFit/>
          </a:bodyPr>
          <a:lstStyle/>
          <a:p>
            <a:r>
              <a:rPr sz="1100" b="0">
                <a:solidFill>
                  <a:srgbClr val="252423"/>
                </a:solidFill>
                <a:latin typeface="Segoe UI"/>
              </a:rPr>
              <a:t>Sub-scale base, Rising realisation (</a:t>
            </a:r>
          </a:p>
        </p:txBody>
      </p:sp>
      <p:pic>
        <p:nvPicPr>
          <p:cNvPr id="142" name="Picture 141" descr="lock.png"/>
          <p:cNvPicPr>
            <a:picLocks noChangeAspect="1"/>
          </p:cNvPicPr>
          <p:nvPr/>
        </p:nvPicPr>
        <p:blipFill>
          <a:blip r:embed="rId4"/>
          <a:stretch>
            <a:fillRect/>
          </a:stretch>
        </p:blipFill>
        <p:spPr>
          <a:xfrm>
            <a:off x="7696480" y="4938601"/>
            <a:ext cx="128699" cy="187198"/>
          </a:xfrm>
          <a:prstGeom prst="rect">
            <a:avLst/>
          </a:prstGeom>
        </p:spPr>
      </p:pic>
      <p:sp>
        <p:nvSpPr>
          <p:cNvPr id="143" name="TextBox 142"/>
          <p:cNvSpPr txBox="1"/>
          <p:nvPr/>
        </p:nvSpPr>
        <p:spPr>
          <a:xfrm>
            <a:off x="7863976" y="4948381"/>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44" name="TextBox 143"/>
          <p:cNvSpPr txBox="1"/>
          <p:nvPr/>
        </p:nvSpPr>
        <p:spPr>
          <a:xfrm>
            <a:off x="8420100" y="4864561"/>
            <a:ext cx="2284370" cy="186689"/>
          </a:xfrm>
          <a:prstGeom prst="rect">
            <a:avLst/>
          </a:prstGeom>
          <a:noFill/>
        </p:spPr>
        <p:txBody>
          <a:bodyPr wrap="none" lIns="0" rIns="0" tIns="0" bIns="0">
            <a:spAutoFit/>
          </a:bodyPr>
          <a:lstStyle/>
          <a:p>
            <a:r>
              <a:rPr sz="1100" b="0">
                <a:solidFill>
                  <a:srgbClr val="252423"/>
                </a:solidFill>
                <a:latin typeface="Segoe UI"/>
              </a:rPr>
              <a:t>Scale 1,000 Wh to Below 1,500 Wh (</a:t>
            </a:r>
          </a:p>
        </p:txBody>
      </p:sp>
      <p:pic>
        <p:nvPicPr>
          <p:cNvPr id="145" name="Picture 144" descr="lock.png"/>
          <p:cNvPicPr>
            <a:picLocks noChangeAspect="1"/>
          </p:cNvPicPr>
          <p:nvPr/>
        </p:nvPicPr>
        <p:blipFill>
          <a:blip r:embed="rId4"/>
          <a:stretch>
            <a:fillRect/>
          </a:stretch>
        </p:blipFill>
        <p:spPr>
          <a:xfrm>
            <a:off x="10652522" y="4854782"/>
            <a:ext cx="128699" cy="187198"/>
          </a:xfrm>
          <a:prstGeom prst="rect">
            <a:avLst/>
          </a:prstGeom>
        </p:spPr>
      </p:pic>
      <p:sp>
        <p:nvSpPr>
          <p:cNvPr id="146" name="TextBox 145"/>
          <p:cNvSpPr txBox="1"/>
          <p:nvPr/>
        </p:nvSpPr>
        <p:spPr>
          <a:xfrm>
            <a:off x="10820018" y="4864561"/>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47" name="Picture 146" descr="lock.png"/>
          <p:cNvPicPr>
            <a:picLocks noChangeAspect="1"/>
          </p:cNvPicPr>
          <p:nvPr/>
        </p:nvPicPr>
        <p:blipFill>
          <a:blip r:embed="rId4"/>
          <a:stretch>
            <a:fillRect/>
          </a:stretch>
        </p:blipFill>
        <p:spPr>
          <a:xfrm>
            <a:off x="10916848" y="4854782"/>
            <a:ext cx="128699" cy="187198"/>
          </a:xfrm>
          <a:prstGeom prst="rect">
            <a:avLst/>
          </a:prstGeom>
        </p:spPr>
      </p:pic>
      <p:sp>
        <p:nvSpPr>
          <p:cNvPr id="148" name="TextBox 147"/>
          <p:cNvSpPr txBox="1"/>
          <p:nvPr/>
        </p:nvSpPr>
        <p:spPr>
          <a:xfrm>
            <a:off x="11084343" y="4864561"/>
            <a:ext cx="564604"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149" name="TextBox 148"/>
          <p:cNvSpPr txBox="1"/>
          <p:nvPr/>
        </p:nvSpPr>
        <p:spPr>
          <a:xfrm>
            <a:off x="8420100" y="5032201"/>
            <a:ext cx="744929" cy="186689"/>
          </a:xfrm>
          <a:prstGeom prst="rect">
            <a:avLst/>
          </a:prstGeom>
          <a:noFill/>
        </p:spPr>
        <p:txBody>
          <a:bodyPr wrap="none" lIns="0" rIns="0" tIns="0" bIns="0">
            <a:spAutoFit/>
          </a:bodyPr>
          <a:lstStyle/>
          <a:p>
            <a:r>
              <a:rPr sz="1100" b="0">
                <a:solidFill>
                  <a:srgbClr val="252423"/>
                </a:solidFill>
                <a:latin typeface="Segoe UI"/>
              </a:rPr>
              <a:t>headroom.</a:t>
            </a:r>
          </a:p>
        </p:txBody>
      </p:sp>
      <p:sp>
        <p:nvSpPr>
          <p:cNvPr id="150" name="TextBox 149"/>
          <p:cNvSpPr txBox="1"/>
          <p:nvPr/>
        </p:nvSpPr>
        <p:spPr>
          <a:xfrm>
            <a:off x="304800" y="5935287"/>
            <a:ext cx="4843731" cy="186689"/>
          </a:xfrm>
          <a:prstGeom prst="rect">
            <a:avLst/>
          </a:prstGeom>
          <a:noFill/>
        </p:spPr>
        <p:txBody>
          <a:bodyPr wrap="none" lIns="0" rIns="0" tIns="0" bIns="0">
            <a:spAutoFit/>
          </a:bodyPr>
          <a:lstStyle/>
          <a:p>
            <a:r>
              <a:rPr sz="1100" b="0">
                <a:solidFill>
                  <a:srgbClr val="252423"/>
                </a:solidFill>
                <a:latin typeface="Segoe UI"/>
              </a:rPr>
              <a:t>▪ North America, South Asia &amp; Pacific, East Asia anchor scale with a combined</a:t>
            </a:r>
          </a:p>
        </p:txBody>
      </p:sp>
      <p:pic>
        <p:nvPicPr>
          <p:cNvPr id="151" name="Picture 150" descr="lock.png"/>
          <p:cNvPicPr>
            <a:picLocks noChangeAspect="1"/>
          </p:cNvPicPr>
          <p:nvPr/>
        </p:nvPicPr>
        <p:blipFill>
          <a:blip r:embed="rId4"/>
          <a:stretch>
            <a:fillRect/>
          </a:stretch>
        </p:blipFill>
        <p:spPr>
          <a:xfrm>
            <a:off x="5096582" y="5925508"/>
            <a:ext cx="128699" cy="187198"/>
          </a:xfrm>
          <a:prstGeom prst="rect">
            <a:avLst/>
          </a:prstGeom>
        </p:spPr>
      </p:pic>
      <p:sp>
        <p:nvSpPr>
          <p:cNvPr id="152" name="TextBox 151"/>
          <p:cNvSpPr txBox="1"/>
          <p:nvPr/>
        </p:nvSpPr>
        <p:spPr>
          <a:xfrm>
            <a:off x="5264078" y="5935287"/>
            <a:ext cx="5000138" cy="186689"/>
          </a:xfrm>
          <a:prstGeom prst="rect">
            <a:avLst/>
          </a:prstGeom>
          <a:noFill/>
        </p:spPr>
        <p:txBody>
          <a:bodyPr wrap="none" lIns="0" rIns="0" tIns="0" bIns="0">
            <a:spAutoFit/>
          </a:bodyPr>
          <a:lstStyle/>
          <a:p>
            <a:r>
              <a:rPr sz="1100" b="0">
                <a:solidFill>
                  <a:srgbClr val="252423"/>
                </a:solidFill>
                <a:latin typeface="Segoe UI"/>
              </a:rPr>
              <a:t>of Global value in 2036, while 'South Asia &amp; Pacific' offers the steepest upside at</a:t>
            </a:r>
          </a:p>
        </p:txBody>
      </p:sp>
      <p:pic>
        <p:nvPicPr>
          <p:cNvPr id="153" name="Picture 152" descr="lock.png"/>
          <p:cNvPicPr>
            <a:picLocks noChangeAspect="1"/>
          </p:cNvPicPr>
          <p:nvPr/>
        </p:nvPicPr>
        <p:blipFill>
          <a:blip r:embed="rId4"/>
          <a:stretch>
            <a:fillRect/>
          </a:stretch>
        </p:blipFill>
        <p:spPr>
          <a:xfrm>
            <a:off x="10212269" y="5925508"/>
            <a:ext cx="128699" cy="187198"/>
          </a:xfrm>
          <a:prstGeom prst="rect">
            <a:avLst/>
          </a:prstGeom>
        </p:spPr>
      </p:pic>
      <p:sp>
        <p:nvSpPr>
          <p:cNvPr id="154" name="TextBox 153"/>
          <p:cNvSpPr txBox="1"/>
          <p:nvPr/>
        </p:nvSpPr>
        <p:spPr>
          <a:xfrm>
            <a:off x="10379764" y="5935287"/>
            <a:ext cx="1024056" cy="186689"/>
          </a:xfrm>
          <a:prstGeom prst="rect">
            <a:avLst/>
          </a:prstGeom>
          <a:noFill/>
        </p:spPr>
        <p:txBody>
          <a:bodyPr wrap="none" lIns="0" rIns="0" tIns="0" bIns="0">
            <a:spAutoFit/>
          </a:bodyPr>
          <a:lstStyle/>
          <a:p>
            <a:r>
              <a:rPr sz="1100" b="0">
                <a:solidFill>
                  <a:srgbClr val="252423"/>
                </a:solidFill>
                <a:latin typeface="Segoe UI"/>
              </a:rPr>
              <a:t>CAGR against a</a:t>
            </a:r>
          </a:p>
        </p:txBody>
      </p:sp>
      <p:sp>
        <p:nvSpPr>
          <p:cNvPr id="155" name="TextBox 154"/>
          <p:cNvSpPr txBox="1"/>
          <p:nvPr/>
        </p:nvSpPr>
        <p:spPr>
          <a:xfrm>
            <a:off x="304800" y="6102927"/>
            <a:ext cx="999418" cy="186689"/>
          </a:xfrm>
          <a:prstGeom prst="rect">
            <a:avLst/>
          </a:prstGeom>
          <a:noFill/>
        </p:spPr>
        <p:txBody>
          <a:bodyPr wrap="none" lIns="0" rIns="0" tIns="0" bIns="0">
            <a:spAutoFit/>
          </a:bodyPr>
          <a:lstStyle/>
          <a:p>
            <a:r>
              <a:rPr sz="1100" b="0">
                <a:solidFill>
                  <a:srgbClr val="252423"/>
                </a:solidFill>
                <a:latin typeface="Segoe UI"/>
              </a:rPr>
              <a:t>market pace of</a:t>
            </a:r>
          </a:p>
        </p:txBody>
      </p:sp>
      <p:pic>
        <p:nvPicPr>
          <p:cNvPr id="156" name="Picture 155" descr="lock.png"/>
          <p:cNvPicPr>
            <a:picLocks noChangeAspect="1"/>
          </p:cNvPicPr>
          <p:nvPr/>
        </p:nvPicPr>
        <p:blipFill>
          <a:blip r:embed="rId4"/>
          <a:stretch>
            <a:fillRect/>
          </a:stretch>
        </p:blipFill>
        <p:spPr>
          <a:xfrm>
            <a:off x="1252270" y="6093148"/>
            <a:ext cx="128699" cy="187198"/>
          </a:xfrm>
          <a:prstGeom prst="rect">
            <a:avLst/>
          </a:prstGeom>
        </p:spPr>
      </p:pic>
      <p:sp>
        <p:nvSpPr>
          <p:cNvPr id="157" name="TextBox 156"/>
          <p:cNvSpPr txBox="1"/>
          <p:nvPr/>
        </p:nvSpPr>
        <p:spPr>
          <a:xfrm>
            <a:off x="1419766" y="6102927"/>
            <a:ext cx="9519588" cy="186689"/>
          </a:xfrm>
          <a:prstGeom prst="rect">
            <a:avLst/>
          </a:prstGeom>
          <a:noFill/>
        </p:spPr>
        <p:txBody>
          <a:bodyPr wrap="none" lIns="0" rIns="0" tIns="0" bIns="0">
            <a:spAutoFit/>
          </a:bodyPr>
          <a:lstStyle/>
          <a:p>
            <a:r>
              <a:rPr sz="1100" b="0">
                <a:solidFill>
                  <a:srgbClr val="252423"/>
                </a:solidFill>
                <a:latin typeface="Segoe UI"/>
              </a:rPr>
              <a:t>. 5 of 7 regions grow at or above that pace, so entry logic has to differ by region scale defence in the leaders, mix and premiumisation in the mid-tier, and</a:t>
            </a:r>
          </a:p>
        </p:txBody>
      </p:sp>
      <p:sp>
        <p:nvSpPr>
          <p:cNvPr id="158" name="TextBox 157"/>
          <p:cNvSpPr txBox="1"/>
          <p:nvPr/>
        </p:nvSpPr>
        <p:spPr>
          <a:xfrm>
            <a:off x="304800" y="6270567"/>
            <a:ext cx="2977349" cy="186689"/>
          </a:xfrm>
          <a:prstGeom prst="rect">
            <a:avLst/>
          </a:prstGeom>
          <a:noFill/>
        </p:spPr>
        <p:txBody>
          <a:bodyPr wrap="none" lIns="0" rIns="0" tIns="0" bIns="0">
            <a:spAutoFit/>
          </a:bodyPr>
          <a:lstStyle/>
          <a:p>
            <a:r>
              <a:rPr sz="1100" b="0">
                <a:solidFill>
                  <a:srgbClr val="252423"/>
                </a:solidFill>
                <a:latin typeface="Segoe UI"/>
              </a:rPr>
              <a:t>availability-led expansion in the fastest movers.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Global Driving Factors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economic and supply-side factors scored by their impact on the global market</a:t>
            </a:r>
          </a:p>
        </p:txBody>
      </p:sp>
      <p:sp>
        <p:nvSpPr>
          <p:cNvPr id="8" name="Oval 7"/>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2438400" y="1609633"/>
            <a:ext cx="2324100" cy="3276539"/>
          </a:xfrm>
          <a:custGeom>
            <a:avLst/>
            <a:gdLst/>
            <a:ahLst/>
            <a:cxnLst/>
            <a:rect l="l" t="t" r="r" b="b"/>
            <a:pathLst>
              <a:path w="244" h="359">
                <a:moveTo>
                  <a:pt x="244" y="0"/>
                </a:moveTo>
                <a:lnTo>
                  <a:pt x="179" y="114"/>
                </a:lnTo>
                <a:lnTo>
                  <a:pt x="49" y="94"/>
                </a:lnTo>
                <a:lnTo>
                  <a:pt x="48" y="205"/>
                </a:lnTo>
                <a:lnTo>
                  <a:pt x="0" y="306"/>
                </a:lnTo>
                <a:lnTo>
                  <a:pt x="107" y="359"/>
                </a:lnTo>
                <a:lnTo>
                  <a:pt x="203" y="334"/>
                </a:lnTo>
                <a:lnTo>
                  <a:pt x="244" y="352"/>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29" name="Oval 28"/>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1" name="Oval 30"/>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3" name="Oval 32"/>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5" name="Oval 34"/>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7" name="Oval 36"/>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9" name="Oval 38"/>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41" name="Oval 40"/>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43" name="Rectangle 42"/>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actMR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05E5C"/>
                </a:solidFill>
                <a:latin typeface="Segoe UI"/>
              </a:rPr>
              <a:t>0%</a:t>
            </a:r>
          </a:p>
        </p:txBody>
      </p:sp>
      <p:sp>
        <p:nvSpPr>
          <p:cNvPr id="45" name="FactMR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05E5C"/>
                </a:solidFill>
                <a:latin typeface="Segoe UI"/>
              </a:rPr>
              <a:t>10%</a:t>
            </a:r>
          </a:p>
        </p:txBody>
      </p:sp>
      <p:sp>
        <p:nvSpPr>
          <p:cNvPr id="46" name="FactMR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05E5C"/>
                </a:solidFill>
                <a:latin typeface="Segoe UI"/>
              </a:rPr>
              <a:t>20%</a:t>
            </a:r>
          </a:p>
        </p:txBody>
      </p:sp>
      <p:sp>
        <p:nvSpPr>
          <p:cNvPr id="47" name="FactMR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05E5C"/>
                </a:solidFill>
                <a:latin typeface="Segoe UI"/>
              </a:rPr>
              <a:t>30%</a:t>
            </a:r>
          </a:p>
        </p:txBody>
      </p:sp>
      <p:sp>
        <p:nvSpPr>
          <p:cNvPr id="48" name="FactMR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05E5C"/>
                </a:solidFill>
                <a:latin typeface="Segoe UI"/>
              </a:rPr>
              <a:t>40%</a:t>
            </a:r>
          </a:p>
        </p:txBody>
      </p:sp>
      <p:sp>
        <p:nvSpPr>
          <p:cNvPr id="49" name="FactMR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05E5C"/>
                </a:solidFill>
                <a:latin typeface="Segoe UI"/>
              </a:rPr>
              <a:t>50%</a:t>
            </a:r>
          </a:p>
        </p:txBody>
      </p:sp>
      <p:sp>
        <p:nvSpPr>
          <p:cNvPr id="50" name="FactMR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05E5C"/>
                </a:solidFill>
                <a:latin typeface="Segoe UI"/>
              </a:rPr>
              <a:t>60%</a:t>
            </a:r>
          </a:p>
        </p:txBody>
      </p:sp>
      <p:sp>
        <p:nvSpPr>
          <p:cNvPr id="51" name="FactMR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05E5C"/>
                </a:solidFill>
                <a:latin typeface="Segoe UI"/>
              </a:rPr>
              <a:t>70%</a:t>
            </a:r>
          </a:p>
        </p:txBody>
      </p:sp>
      <p:sp>
        <p:nvSpPr>
          <p:cNvPr id="52" name="FactMR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05E5C"/>
                </a:solidFill>
                <a:latin typeface="Segoe UI"/>
              </a:rPr>
              <a:t>80%</a:t>
            </a:r>
          </a:p>
        </p:txBody>
      </p:sp>
      <p:sp>
        <p:nvSpPr>
          <p:cNvPr id="53" name="FactMR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05E5C"/>
                </a:solidFill>
                <a:latin typeface="Segoe UI"/>
              </a:rPr>
              <a:t>90%</a:t>
            </a:r>
          </a:p>
        </p:txBody>
      </p:sp>
      <p:sp>
        <p:nvSpPr>
          <p:cNvPr id="54" name="FactMR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05E5C"/>
                </a:solidFill>
                <a:latin typeface="Segoe UI"/>
              </a:rPr>
              <a:t>100%</a:t>
            </a:r>
          </a:p>
        </p:txBody>
      </p:sp>
      <p:cxnSp>
        <p:nvCxnSpPr>
          <p:cNvPr id="55" name="Connector 54"/>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E3A5F"/>
                </a:solidFill>
                <a:latin typeface="Segoe UI"/>
              </a:rPr>
              <a:t>Economic and Supply-side Factors</a:t>
            </a:r>
          </a:p>
        </p:txBody>
      </p:sp>
      <p:cxnSp>
        <p:nvCxnSpPr>
          <p:cNvPr id="57" name="Connector 56"/>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9" name="TextBox 58"/>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0" name="TextBox 59"/>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1" name="TextBox 60"/>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Portfolio breadth spans 3 energy storage capacity lines and 4 system application routes, giving producers focused reformulation and channel latitude.</a:t>
            </a:r>
          </a:p>
        </p:txBody>
      </p:sp>
      <p:sp>
        <p:nvSpPr>
          <p:cNvPr id="62" name="TextBox 61"/>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3" name="TextBox 62"/>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Note: the dynamics framing is indicative factors, impact ratings and narrative are generated from the loaded dataset's own values.</a:t>
            </a:r>
          </a:p>
        </p:txBody>
      </p:sp>
      <p:sp>
        <p:nvSpPr>
          <p:cNvPr id="64" name="TextBox 6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5" name="TextBox 64"/>
          <p:cNvSpPr txBox="1"/>
          <p:nvPr/>
        </p:nvSpPr>
        <p:spPr>
          <a:xfrm>
            <a:off x="3366358" y="1322601"/>
            <a:ext cx="1225859" cy="173278"/>
          </a:xfrm>
          <a:prstGeom prst="rect">
            <a:avLst/>
          </a:prstGeom>
          <a:noFill/>
        </p:spPr>
        <p:txBody>
          <a:bodyPr wrap="none" lIns="0" rIns="0" tIns="0" bIns="0">
            <a:spAutoFit/>
          </a:bodyPr>
          <a:lstStyle/>
          <a:p>
            <a:r>
              <a:rPr sz="1011" b="0">
                <a:solidFill>
                  <a:srgbClr val="252423"/>
                </a:solidFill>
                <a:latin typeface="Segoe U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01245" y="1561215"/>
            <a:ext cx="1176129" cy="173278"/>
          </a:xfrm>
          <a:prstGeom prst="rect">
            <a:avLst/>
          </a:prstGeom>
          <a:noFill/>
        </p:spPr>
        <p:txBody>
          <a:bodyPr wrap="none" lIns="0" rIns="0" tIns="0" bIns="0">
            <a:spAutoFit/>
          </a:bodyPr>
          <a:lstStyle/>
          <a:p>
            <a:r>
              <a:rPr sz="1011" b="0">
                <a:solidFill>
                  <a:srgbClr val="252423"/>
                </a:solidFill>
                <a:latin typeface="Segoe U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873936" y="2311939"/>
            <a:ext cx="828489" cy="173278"/>
          </a:xfrm>
          <a:prstGeom prst="rect">
            <a:avLst/>
          </a:prstGeom>
          <a:noFill/>
        </p:spPr>
        <p:txBody>
          <a:bodyPr wrap="none" lIns="0" rIns="0" tIns="0" bIns="0">
            <a:spAutoFit/>
          </a:bodyPr>
          <a:lstStyle/>
          <a:p>
            <a:r>
              <a:rPr sz="1011" b="0">
                <a:solidFill>
                  <a:srgbClr val="252423"/>
                </a:solidFill>
                <a:latin typeface="Segoe U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915921" y="3278069"/>
            <a:ext cx="1300943" cy="173278"/>
          </a:xfrm>
          <a:prstGeom prst="rect">
            <a:avLst/>
          </a:prstGeom>
          <a:noFill/>
        </p:spPr>
        <p:txBody>
          <a:bodyPr wrap="none" lIns="0" rIns="0" tIns="0" bIns="0">
            <a:spAutoFit/>
          </a:bodyPr>
          <a:lstStyle/>
          <a:p>
            <a:r>
              <a:rPr sz="1011" b="0">
                <a:solidFill>
                  <a:srgbClr val="252423"/>
                </a:solidFill>
                <a:latin typeface="Segoe U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052756" y="4350392"/>
            <a:ext cx="1164108" cy="173278"/>
          </a:xfrm>
          <a:prstGeom prst="rect">
            <a:avLst/>
          </a:prstGeom>
          <a:noFill/>
        </p:spPr>
        <p:txBody>
          <a:bodyPr wrap="none" lIns="0" rIns="0" tIns="0" bIns="0">
            <a:spAutoFit/>
          </a:bodyPr>
          <a:lstStyle/>
          <a:p>
            <a:r>
              <a:rPr sz="1011" b="0">
                <a:solidFill>
                  <a:srgbClr val="252423"/>
                </a:solidFill>
                <a:latin typeface="Segoe U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658824" y="5316521"/>
            <a:ext cx="1043601" cy="173278"/>
          </a:xfrm>
          <a:prstGeom prst="rect">
            <a:avLst/>
          </a:prstGeom>
          <a:noFill/>
        </p:spPr>
        <p:txBody>
          <a:bodyPr wrap="none" lIns="0" rIns="0" tIns="0" bIns="0">
            <a:spAutoFit/>
          </a:bodyPr>
          <a:lstStyle/>
          <a:p>
            <a:r>
              <a:rPr sz="1011" b="0">
                <a:solidFill>
                  <a:srgbClr val="252423"/>
                </a:solidFill>
                <a:latin typeface="Segoe U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780812" y="6067245"/>
            <a:ext cx="796562" cy="173278"/>
          </a:xfrm>
          <a:prstGeom prst="rect">
            <a:avLst/>
          </a:prstGeom>
          <a:noFill/>
        </p:spPr>
        <p:txBody>
          <a:bodyPr wrap="none" lIns="0" rIns="0" tIns="0" bIns="0">
            <a:spAutoFit/>
          </a:bodyPr>
          <a:lstStyle/>
          <a:p>
            <a:r>
              <a:rPr sz="1011" b="0">
                <a:solidFill>
                  <a:srgbClr val="252423"/>
                </a:solidFill>
                <a:latin typeface="Segoe U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549778" y="6305860"/>
            <a:ext cx="1042440" cy="173278"/>
          </a:xfrm>
          <a:prstGeom prst="rect">
            <a:avLst/>
          </a:prstGeom>
          <a:noFill/>
        </p:spPr>
        <p:txBody>
          <a:bodyPr wrap="none" lIns="0" rIns="0" tIns="0" bIns="0">
            <a:spAutoFit/>
          </a:bodyPr>
          <a:lstStyle/>
          <a:p>
            <a:r>
              <a:rPr sz="1011" b="0">
                <a:solidFill>
                  <a:srgbClr val="252423"/>
                </a:solidFill>
                <a:latin typeface="Segoe U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583920" cy="186689"/>
          </a:xfrm>
          <a:prstGeom prst="rect">
            <a:avLst/>
          </a:prstGeom>
          <a:noFill/>
        </p:spPr>
        <p:txBody>
          <a:bodyPr wrap="none" lIns="0" rIns="0" tIns="0" bIns="0">
            <a:spAutoFit/>
          </a:bodyPr>
          <a:lstStyle/>
          <a:p>
            <a:r>
              <a:rPr sz="1100" b="0">
                <a:solidFill>
                  <a:srgbClr val="252423"/>
                </a:solidFill>
                <a:latin typeface="Segoe UI"/>
              </a:rPr>
              <a:t>▪ Supply-side conditions are led by Production Scale-up (</a:t>
            </a:r>
          </a:p>
        </p:txBody>
      </p:sp>
      <p:pic>
        <p:nvPicPr>
          <p:cNvPr id="82" name="Picture 81" descr="lock.png"/>
          <p:cNvPicPr>
            <a:picLocks noChangeAspect="1"/>
          </p:cNvPicPr>
          <p:nvPr/>
        </p:nvPicPr>
        <p:blipFill>
          <a:blip r:embed="rId4"/>
          <a:stretch>
            <a:fillRect/>
          </a:stretch>
        </p:blipFill>
        <p:spPr>
          <a:xfrm>
            <a:off x="8532596" y="1486975"/>
            <a:ext cx="128699" cy="187198"/>
          </a:xfrm>
          <a:prstGeom prst="rect">
            <a:avLst/>
          </a:prstGeom>
        </p:spPr>
      </p:pic>
      <p:sp>
        <p:nvSpPr>
          <p:cNvPr id="83" name="TextBox 82"/>
          <p:cNvSpPr txBox="1"/>
          <p:nvPr/>
        </p:nvSpPr>
        <p:spPr>
          <a:xfrm>
            <a:off x="8700092" y="1496754"/>
            <a:ext cx="1290359" cy="186689"/>
          </a:xfrm>
          <a:prstGeom prst="rect">
            <a:avLst/>
          </a:prstGeom>
          <a:noFill/>
        </p:spPr>
        <p:txBody>
          <a:bodyPr wrap="none" lIns="0" rIns="0" tIns="0" bIns="0">
            <a:spAutoFit/>
          </a:bodyPr>
          <a:lstStyle/>
          <a:p>
            <a:r>
              <a:rPr sz="1100" b="0">
                <a:solidFill>
                  <a:srgbClr val="252423"/>
                </a:solidFill>
                <a:latin typeface="Segoe UI"/>
              </a:rPr>
              <a:t>/10), Capacity Add (</a:t>
            </a:r>
          </a:p>
        </p:txBody>
      </p:sp>
      <p:pic>
        <p:nvPicPr>
          <p:cNvPr id="84" name="Picture 83" descr="lock.png"/>
          <p:cNvPicPr>
            <a:picLocks noChangeAspect="1"/>
          </p:cNvPicPr>
          <p:nvPr/>
        </p:nvPicPr>
        <p:blipFill>
          <a:blip r:embed="rId4"/>
          <a:stretch>
            <a:fillRect/>
          </a:stretch>
        </p:blipFill>
        <p:spPr>
          <a:xfrm>
            <a:off x="9938503" y="1486975"/>
            <a:ext cx="128699" cy="187198"/>
          </a:xfrm>
          <a:prstGeom prst="rect">
            <a:avLst/>
          </a:prstGeom>
        </p:spPr>
      </p:pic>
      <p:sp>
        <p:nvSpPr>
          <p:cNvPr id="85" name="TextBox 84"/>
          <p:cNvSpPr txBox="1"/>
          <p:nvPr/>
        </p:nvSpPr>
        <p:spPr>
          <a:xfrm>
            <a:off x="10105999" y="1496754"/>
            <a:ext cx="1574670" cy="186689"/>
          </a:xfrm>
          <a:prstGeom prst="rect">
            <a:avLst/>
          </a:prstGeom>
          <a:noFill/>
        </p:spPr>
        <p:txBody>
          <a:bodyPr wrap="none" lIns="0" rIns="0" tIns="0" bIns="0">
            <a:spAutoFit/>
          </a:bodyPr>
          <a:lstStyle/>
          <a:p>
            <a:r>
              <a:rPr sz="1100" b="0">
                <a:solidFill>
                  <a:srgbClr val="252423"/>
                </a:solidFill>
                <a:latin typeface="Segoe UI"/>
              </a:rPr>
              <a:t>/10), Geographic Spread</a:t>
            </a:r>
          </a:p>
        </p:txBody>
      </p:sp>
      <p:sp>
        <p:nvSpPr>
          <p:cNvPr id="86" name="TextBox 85"/>
          <p:cNvSpPr txBox="1"/>
          <p:nvPr/>
        </p:nvSpPr>
        <p:spPr>
          <a:xfrm>
            <a:off x="5000625" y="1664394"/>
            <a:ext cx="118491"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7" name="Picture 86" descr="lock.png"/>
          <p:cNvPicPr>
            <a:picLocks noChangeAspect="1"/>
          </p:cNvPicPr>
          <p:nvPr/>
        </p:nvPicPr>
        <p:blipFill>
          <a:blip r:embed="rId4"/>
          <a:stretch>
            <a:fillRect/>
          </a:stretch>
        </p:blipFill>
        <p:spPr>
          <a:xfrm>
            <a:off x="5067168" y="1654615"/>
            <a:ext cx="128699" cy="187198"/>
          </a:xfrm>
          <a:prstGeom prst="rect">
            <a:avLst/>
          </a:prstGeom>
        </p:spPr>
      </p:pic>
      <p:sp>
        <p:nvSpPr>
          <p:cNvPr id="88" name="TextBox 87"/>
          <p:cNvSpPr txBox="1"/>
          <p:nvPr/>
        </p:nvSpPr>
        <p:spPr>
          <a:xfrm>
            <a:off x="5234664" y="1664394"/>
            <a:ext cx="3584299" cy="186689"/>
          </a:xfrm>
          <a:prstGeom prst="rect">
            <a:avLst/>
          </a:prstGeom>
          <a:noFill/>
        </p:spPr>
        <p:txBody>
          <a:bodyPr wrap="none" lIns="0" rIns="0" tIns="0" bIns="0">
            <a:spAutoFit/>
          </a:bodyPr>
          <a:lstStyle/>
          <a:p>
            <a:r>
              <a:rPr sz="1100" b="0">
                <a:solidFill>
                  <a:srgbClr val="252423"/>
                </a:solidFill>
                <a:latin typeface="Segoe UI"/>
              </a:rPr>
              <a:t>/10) on a 0-10 scale scored from the global dataset itself.</a:t>
            </a:r>
          </a:p>
        </p:txBody>
      </p:sp>
      <p:sp>
        <p:nvSpPr>
          <p:cNvPr id="89" name="TextBox 88"/>
          <p:cNvSpPr txBox="1"/>
          <p:nvPr/>
        </p:nvSpPr>
        <p:spPr>
          <a:xfrm>
            <a:off x="5000625" y="1953097"/>
            <a:ext cx="1345066" cy="186689"/>
          </a:xfrm>
          <a:prstGeom prst="rect">
            <a:avLst/>
          </a:prstGeom>
          <a:noFill/>
        </p:spPr>
        <p:txBody>
          <a:bodyPr wrap="none" lIns="0" rIns="0" tIns="0" bIns="0">
            <a:spAutoFit/>
          </a:bodyPr>
          <a:lstStyle/>
          <a:p>
            <a:r>
              <a:rPr sz="1100" b="0">
                <a:solidFill>
                  <a:srgbClr val="252423"/>
                </a:solidFill>
                <a:latin typeface="Segoe UI"/>
              </a:rPr>
              <a:t>▪ Volume expands at</a:t>
            </a:r>
          </a:p>
        </p:txBody>
      </p:sp>
      <p:pic>
        <p:nvPicPr>
          <p:cNvPr id="90" name="Picture 89" descr="lock.png"/>
          <p:cNvPicPr>
            <a:picLocks noChangeAspect="1"/>
          </p:cNvPicPr>
          <p:nvPr/>
        </p:nvPicPr>
        <p:blipFill>
          <a:blip r:embed="rId4"/>
          <a:stretch>
            <a:fillRect/>
          </a:stretch>
        </p:blipFill>
        <p:spPr>
          <a:xfrm>
            <a:off x="6293742" y="1943318"/>
            <a:ext cx="128699" cy="187198"/>
          </a:xfrm>
          <a:prstGeom prst="rect">
            <a:avLst/>
          </a:prstGeom>
        </p:spPr>
      </p:pic>
      <p:sp>
        <p:nvSpPr>
          <p:cNvPr id="91" name="TextBox 90"/>
          <p:cNvSpPr txBox="1"/>
          <p:nvPr/>
        </p:nvSpPr>
        <p:spPr>
          <a:xfrm>
            <a:off x="6461238" y="1953097"/>
            <a:ext cx="3221820" cy="186689"/>
          </a:xfrm>
          <a:prstGeom prst="rect">
            <a:avLst/>
          </a:prstGeom>
          <a:noFill/>
        </p:spPr>
        <p:txBody>
          <a:bodyPr wrap="none" lIns="0" rIns="0" tIns="0" bIns="0">
            <a:spAutoFit/>
          </a:bodyPr>
          <a:lstStyle/>
          <a:p>
            <a:r>
              <a:rPr sz="1100" b="0">
                <a:solidFill>
                  <a:srgbClr val="252423"/>
                </a:solidFill>
                <a:latin typeface="Segoe UI"/>
              </a:rPr>
              <a:t>CAGR (2026–2036) while average realisation moves</a:t>
            </a:r>
          </a:p>
        </p:txBody>
      </p:sp>
      <p:pic>
        <p:nvPicPr>
          <p:cNvPr id="92" name="Picture 91" descr="lock.png"/>
          <p:cNvPicPr>
            <a:picLocks noChangeAspect="1"/>
          </p:cNvPicPr>
          <p:nvPr/>
        </p:nvPicPr>
        <p:blipFill>
          <a:blip r:embed="rId4"/>
          <a:stretch>
            <a:fillRect/>
          </a:stretch>
        </p:blipFill>
        <p:spPr>
          <a:xfrm>
            <a:off x="9631110" y="1943318"/>
            <a:ext cx="128699" cy="187198"/>
          </a:xfrm>
          <a:prstGeom prst="rect">
            <a:avLst/>
          </a:prstGeom>
        </p:spPr>
      </p:pic>
      <p:sp>
        <p:nvSpPr>
          <p:cNvPr id="93" name="TextBox 92"/>
          <p:cNvSpPr txBox="1"/>
          <p:nvPr/>
        </p:nvSpPr>
        <p:spPr>
          <a:xfrm>
            <a:off x="9798606" y="1953097"/>
            <a:ext cx="2008726" cy="186689"/>
          </a:xfrm>
          <a:prstGeom prst="rect">
            <a:avLst/>
          </a:prstGeom>
          <a:noFill/>
        </p:spPr>
        <p:txBody>
          <a:bodyPr wrap="none" lIns="0" rIns="0" tIns="0" bIns="0">
            <a:spAutoFit/>
          </a:bodyPr>
          <a:lstStyle/>
          <a:p>
            <a:r>
              <a:rPr sz="1100" b="0">
                <a:solidFill>
                  <a:srgbClr val="252423"/>
                </a:solidFill>
                <a:latin typeface="Segoe UI"/>
              </a:rPr>
              <a:t>a year the balance of those two</a:t>
            </a:r>
          </a:p>
        </p:txBody>
      </p:sp>
      <p:sp>
        <p:nvSpPr>
          <p:cNvPr id="94" name="TextBox 93"/>
          <p:cNvSpPr txBox="1"/>
          <p:nvPr/>
        </p:nvSpPr>
        <p:spPr>
          <a:xfrm>
            <a:off x="5000625" y="2120737"/>
            <a:ext cx="2223060" cy="186689"/>
          </a:xfrm>
          <a:prstGeom prst="rect">
            <a:avLst/>
          </a:prstGeom>
          <a:noFill/>
        </p:spPr>
        <p:txBody>
          <a:bodyPr wrap="none" lIns="0" rIns="0" tIns="0" bIns="0">
            <a:spAutoFit/>
          </a:bodyPr>
          <a:lstStyle/>
          <a:p>
            <a:r>
              <a:rPr sz="1100" b="0">
                <a:solidFill>
                  <a:srgbClr val="252423"/>
                </a:solidFill>
                <a:latin typeface="Segoe UI"/>
              </a:rPr>
              <a:t>sets the cost-pass-through picture.</a:t>
            </a:r>
          </a:p>
        </p:txBody>
      </p:sp>
      <p:sp>
        <p:nvSpPr>
          <p:cNvPr id="95" name="TextBox 94"/>
          <p:cNvSpPr txBox="1"/>
          <p:nvPr/>
        </p:nvSpPr>
        <p:spPr>
          <a:xfrm>
            <a:off x="5000625" y="2401990"/>
            <a:ext cx="2974203" cy="186689"/>
          </a:xfrm>
          <a:prstGeom prst="rect">
            <a:avLst/>
          </a:prstGeom>
          <a:noFill/>
        </p:spPr>
        <p:txBody>
          <a:bodyPr wrap="none" lIns="0" rIns="0" tIns="0" bIns="0">
            <a:spAutoFit/>
          </a:bodyPr>
          <a:lstStyle/>
          <a:p>
            <a:r>
              <a:rPr sz="1100" b="0">
                <a:solidFill>
                  <a:srgbClr val="252423"/>
                </a:solidFill>
                <a:latin typeface="Segoe UI"/>
              </a:rPr>
              <a:t>▪ Supply is concentrated: 'North America' holds</a:t>
            </a:r>
          </a:p>
        </p:txBody>
      </p:sp>
      <p:pic>
        <p:nvPicPr>
          <p:cNvPr id="96" name="Picture 95" descr="lock.png"/>
          <p:cNvPicPr>
            <a:picLocks noChangeAspect="1"/>
          </p:cNvPicPr>
          <p:nvPr/>
        </p:nvPicPr>
        <p:blipFill>
          <a:blip r:embed="rId4"/>
          <a:stretch>
            <a:fillRect/>
          </a:stretch>
        </p:blipFill>
        <p:spPr>
          <a:xfrm>
            <a:off x="7922879" y="2392211"/>
            <a:ext cx="128699" cy="187198"/>
          </a:xfrm>
          <a:prstGeom prst="rect">
            <a:avLst/>
          </a:prstGeom>
        </p:spPr>
      </p:pic>
      <p:sp>
        <p:nvSpPr>
          <p:cNvPr id="97" name="TextBox 96"/>
          <p:cNvSpPr txBox="1"/>
          <p:nvPr/>
        </p:nvSpPr>
        <p:spPr>
          <a:xfrm>
            <a:off x="8090375" y="2401990"/>
            <a:ext cx="1966379" cy="186689"/>
          </a:xfrm>
          <a:prstGeom prst="rect">
            <a:avLst/>
          </a:prstGeom>
          <a:noFill/>
        </p:spPr>
        <p:txBody>
          <a:bodyPr wrap="none" lIns="0" rIns="0" tIns="0" bIns="0">
            <a:spAutoFit/>
          </a:bodyPr>
          <a:lstStyle/>
          <a:p>
            <a:r>
              <a:rPr sz="1100" b="0">
                <a:solidFill>
                  <a:srgbClr val="252423"/>
                </a:solidFill>
                <a:latin typeface="Segoe UI"/>
              </a:rPr>
              <a:t>of 2036 value across 7 regions.</a:t>
            </a:r>
          </a:p>
        </p:txBody>
      </p:sp>
      <p:sp>
        <p:nvSpPr>
          <p:cNvPr id="98" name="TextBox 97"/>
          <p:cNvSpPr txBox="1"/>
          <p:nvPr/>
        </p:nvSpPr>
        <p:spPr>
          <a:xfrm>
            <a:off x="5000625" y="3132138"/>
            <a:ext cx="3162718" cy="186689"/>
          </a:xfrm>
          <a:prstGeom prst="rect">
            <a:avLst/>
          </a:prstGeom>
          <a:noFill/>
        </p:spPr>
        <p:txBody>
          <a:bodyPr wrap="none" lIns="0" rIns="0" tIns="0" bIns="0">
            <a:spAutoFit/>
          </a:bodyPr>
          <a:lstStyle/>
          <a:p>
            <a:r>
              <a:rPr sz="1100" b="0">
                <a:solidFill>
                  <a:srgbClr val="252423"/>
                </a:solidFill>
                <a:latin typeface="Segoe UI"/>
              </a:rPr>
              <a:t>▪ Capacity added between 2026 and 2036 is worth</a:t>
            </a:r>
          </a:p>
        </p:txBody>
      </p:sp>
      <p:pic>
        <p:nvPicPr>
          <p:cNvPr id="99" name="Picture 98" descr="lock.png"/>
          <p:cNvPicPr>
            <a:picLocks noChangeAspect="1"/>
          </p:cNvPicPr>
          <p:nvPr/>
        </p:nvPicPr>
        <p:blipFill>
          <a:blip r:embed="rId4"/>
          <a:stretch>
            <a:fillRect/>
          </a:stretch>
        </p:blipFill>
        <p:spPr>
          <a:xfrm>
            <a:off x="8111394" y="3122359"/>
            <a:ext cx="128699" cy="187198"/>
          </a:xfrm>
          <a:prstGeom prst="rect">
            <a:avLst/>
          </a:prstGeom>
        </p:spPr>
      </p:pic>
      <p:sp>
        <p:nvSpPr>
          <p:cNvPr id="100" name="TextBox 99"/>
          <p:cNvSpPr txBox="1"/>
          <p:nvPr/>
        </p:nvSpPr>
        <p:spPr>
          <a:xfrm>
            <a:off x="8278890" y="3132138"/>
            <a:ext cx="704304" cy="186689"/>
          </a:xfrm>
          <a:prstGeom prst="rect">
            <a:avLst/>
          </a:prstGeom>
          <a:noFill/>
        </p:spPr>
        <p:txBody>
          <a:bodyPr wrap="none" lIns="0" rIns="0" tIns="0" bIns="0">
            <a:spAutoFit/>
          </a:bodyPr>
          <a:lstStyle/>
          <a:p>
            <a:r>
              <a:rPr sz="1100" b="0">
                <a:solidFill>
                  <a:srgbClr val="252423"/>
                </a:solidFill>
                <a:latin typeface="Segoe UI"/>
              </a:rPr>
              <a:t>US$ Mn, a</a:t>
            </a:r>
          </a:p>
        </p:txBody>
      </p:sp>
      <p:pic>
        <p:nvPicPr>
          <p:cNvPr id="101" name="Picture 100" descr="lock.png"/>
          <p:cNvPicPr>
            <a:picLocks noChangeAspect="1"/>
          </p:cNvPicPr>
          <p:nvPr/>
        </p:nvPicPr>
        <p:blipFill>
          <a:blip r:embed="rId4"/>
          <a:stretch>
            <a:fillRect/>
          </a:stretch>
        </p:blipFill>
        <p:spPr>
          <a:xfrm>
            <a:off x="8931246" y="3122359"/>
            <a:ext cx="128699" cy="187198"/>
          </a:xfrm>
          <a:prstGeom prst="rect">
            <a:avLst/>
          </a:prstGeom>
        </p:spPr>
      </p:pic>
      <p:sp>
        <p:nvSpPr>
          <p:cNvPr id="102" name="TextBox 101"/>
          <p:cNvSpPr txBox="1"/>
          <p:nvPr/>
        </p:nvSpPr>
        <p:spPr>
          <a:xfrm>
            <a:off x="9098742" y="3132138"/>
            <a:ext cx="1964273" cy="186689"/>
          </a:xfrm>
          <a:prstGeom prst="rect">
            <a:avLst/>
          </a:prstGeom>
          <a:noFill/>
        </p:spPr>
        <p:txBody>
          <a:bodyPr wrap="none" lIns="0" rIns="0" tIns="0" bIns="0">
            <a:spAutoFit/>
          </a:bodyPr>
          <a:lstStyle/>
          <a:p>
            <a:r>
              <a:rPr sz="1100" b="0">
                <a:solidFill>
                  <a:srgbClr val="252423"/>
                </a:solidFill>
                <a:latin typeface="Segoe UI"/>
              </a:rPr>
              <a:t>× expansion on the 2026 base.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Global Driving Factors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demand-side factors scored by their impact on the global market</a:t>
            </a:r>
          </a:p>
        </p:txBody>
      </p:sp>
      <p:sp>
        <p:nvSpPr>
          <p:cNvPr id="8" name="Oval 7"/>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7429500" y="1609633"/>
            <a:ext cx="2324100" cy="3769389"/>
          </a:xfrm>
          <a:custGeom>
            <a:avLst/>
            <a:gdLst/>
            <a:ahLst/>
            <a:cxnLst/>
            <a:rect l="l" t="t" r="r" b="b"/>
            <a:pathLst>
              <a:path w="244" h="413">
                <a:moveTo>
                  <a:pt x="0" y="0"/>
                </a:moveTo>
                <a:lnTo>
                  <a:pt x="67" y="112"/>
                </a:lnTo>
                <a:lnTo>
                  <a:pt x="73" y="192"/>
                </a:lnTo>
                <a:lnTo>
                  <a:pt x="79" y="232"/>
                </a:lnTo>
                <a:lnTo>
                  <a:pt x="244" y="306"/>
                </a:lnTo>
                <a:lnTo>
                  <a:pt x="116" y="342"/>
                </a:lnTo>
                <a:lnTo>
                  <a:pt x="61" y="376"/>
                </a:lnTo>
                <a:lnTo>
                  <a:pt x="0" y="413"/>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29" name="Oval 28"/>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1" name="Oval 30"/>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3" name="Oval 32"/>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5" name="Oval 34"/>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7" name="Oval 36"/>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9" name="Oval 38"/>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41" name="Oval 40"/>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43" name="Rectangle 42"/>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actMR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05E5C"/>
                </a:solidFill>
                <a:latin typeface="Segoe UI"/>
              </a:rPr>
              <a:t>0%</a:t>
            </a:r>
          </a:p>
        </p:txBody>
      </p:sp>
      <p:sp>
        <p:nvSpPr>
          <p:cNvPr id="45" name="FactMR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05E5C"/>
                </a:solidFill>
                <a:latin typeface="Segoe UI"/>
              </a:rPr>
              <a:t>10%</a:t>
            </a:r>
          </a:p>
        </p:txBody>
      </p:sp>
      <p:sp>
        <p:nvSpPr>
          <p:cNvPr id="46" name="FactMR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05E5C"/>
                </a:solidFill>
                <a:latin typeface="Segoe UI"/>
              </a:rPr>
              <a:t>20%</a:t>
            </a:r>
          </a:p>
        </p:txBody>
      </p:sp>
      <p:sp>
        <p:nvSpPr>
          <p:cNvPr id="47" name="FactMR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05E5C"/>
                </a:solidFill>
                <a:latin typeface="Segoe UI"/>
              </a:rPr>
              <a:t>30%</a:t>
            </a:r>
          </a:p>
        </p:txBody>
      </p:sp>
      <p:sp>
        <p:nvSpPr>
          <p:cNvPr id="48" name="FactMR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05E5C"/>
                </a:solidFill>
                <a:latin typeface="Segoe UI"/>
              </a:rPr>
              <a:t>40%</a:t>
            </a:r>
          </a:p>
        </p:txBody>
      </p:sp>
      <p:sp>
        <p:nvSpPr>
          <p:cNvPr id="49" name="FactMR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05E5C"/>
                </a:solidFill>
                <a:latin typeface="Segoe UI"/>
              </a:rPr>
              <a:t>50%</a:t>
            </a:r>
          </a:p>
        </p:txBody>
      </p:sp>
      <p:sp>
        <p:nvSpPr>
          <p:cNvPr id="50" name="FactMR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05E5C"/>
                </a:solidFill>
                <a:latin typeface="Segoe UI"/>
              </a:rPr>
              <a:t>60%</a:t>
            </a:r>
          </a:p>
        </p:txBody>
      </p:sp>
      <p:sp>
        <p:nvSpPr>
          <p:cNvPr id="51" name="FactMR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05E5C"/>
                </a:solidFill>
                <a:latin typeface="Segoe UI"/>
              </a:rPr>
              <a:t>70%</a:t>
            </a:r>
          </a:p>
        </p:txBody>
      </p:sp>
      <p:sp>
        <p:nvSpPr>
          <p:cNvPr id="52" name="FactMR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05E5C"/>
                </a:solidFill>
                <a:latin typeface="Segoe UI"/>
              </a:rPr>
              <a:t>80%</a:t>
            </a:r>
          </a:p>
        </p:txBody>
      </p:sp>
      <p:sp>
        <p:nvSpPr>
          <p:cNvPr id="53" name="FactMR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05E5C"/>
                </a:solidFill>
                <a:latin typeface="Segoe UI"/>
              </a:rPr>
              <a:t>90%</a:t>
            </a:r>
          </a:p>
        </p:txBody>
      </p:sp>
      <p:sp>
        <p:nvSpPr>
          <p:cNvPr id="54" name="FactMR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05E5C"/>
                </a:solidFill>
                <a:latin typeface="Segoe UI"/>
              </a:rPr>
              <a:t>100%</a:t>
            </a:r>
          </a:p>
        </p:txBody>
      </p:sp>
      <p:cxnSp>
        <p:nvCxnSpPr>
          <p:cNvPr id="55" name="Connector 54"/>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E3A5F"/>
                </a:solidFill>
                <a:latin typeface="Segoe UI"/>
              </a:rPr>
              <a:t>Demand-side Factors</a:t>
            </a:r>
          </a:p>
        </p:txBody>
      </p:sp>
      <p:cxnSp>
        <p:nvCxnSpPr>
          <p:cNvPr id="57" name="Connector 56"/>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9" name="TextBox 58"/>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0" name="TextBox 59"/>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1" name="TextBox 60"/>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2" name="TextBox 61"/>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3" name="TextBox 62"/>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Note: the dynamics framing is indicative factors, impact ratings and narrative are generated from the loaded dataset's own values.</a:t>
            </a:r>
          </a:p>
        </p:txBody>
      </p:sp>
      <p:sp>
        <p:nvSpPr>
          <p:cNvPr id="64" name="TextBox 6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5" name="TextBox 64"/>
          <p:cNvSpPr txBox="1"/>
          <p:nvPr/>
        </p:nvSpPr>
        <p:spPr>
          <a:xfrm>
            <a:off x="7534275" y="1322601"/>
            <a:ext cx="1010983" cy="173278"/>
          </a:xfrm>
          <a:prstGeom prst="rect">
            <a:avLst/>
          </a:prstGeom>
          <a:noFill/>
        </p:spPr>
        <p:txBody>
          <a:bodyPr wrap="none" lIns="0" rIns="0" tIns="0" bIns="0">
            <a:spAutoFit/>
          </a:bodyPr>
          <a:lstStyle/>
          <a:p>
            <a:r>
              <a:rPr sz="1011" b="0">
                <a:solidFill>
                  <a:srgbClr val="252423"/>
                </a:solidFill>
                <a:latin typeface="Segoe UI"/>
              </a:rPr>
              <a:t>Demand Growth</a:t>
            </a:r>
          </a:p>
        </p:txBody>
      </p:sp>
      <p:pic>
        <p:nvPicPr>
          <p:cNvPr id="66" name="Picture 65" descr="lock.png"/>
          <p:cNvPicPr>
            <a:picLocks noChangeAspect="1"/>
          </p:cNvPicPr>
          <p:nvPr/>
        </p:nvPicPr>
        <p:blipFill>
          <a:blip r:embed="rId4"/>
          <a:stretch>
            <a:fillRect/>
          </a:stretch>
        </p:blipFill>
        <p:spPr>
          <a:xfrm>
            <a:off x="8491370" y="1313604"/>
            <a:ext cx="118403" cy="172222"/>
          </a:xfrm>
          <a:prstGeom prst="rect">
            <a:avLst/>
          </a:prstGeom>
        </p:spPr>
      </p:pic>
      <p:sp>
        <p:nvSpPr>
          <p:cNvPr id="67" name="TextBox 66"/>
          <p:cNvSpPr txBox="1"/>
          <p:nvPr/>
        </p:nvSpPr>
        <p:spPr>
          <a:xfrm>
            <a:off x="8549119" y="1561215"/>
            <a:ext cx="959524" cy="173278"/>
          </a:xfrm>
          <a:prstGeom prst="rect">
            <a:avLst/>
          </a:prstGeom>
          <a:noFill/>
        </p:spPr>
        <p:txBody>
          <a:bodyPr wrap="none" lIns="0" rIns="0" tIns="0" bIns="0">
            <a:spAutoFit/>
          </a:bodyPr>
          <a:lstStyle/>
          <a:p>
            <a:r>
              <a:rPr sz="1011" b="0">
                <a:solidFill>
                  <a:srgbClr val="252423"/>
                </a:solidFill>
                <a:latin typeface="Segoe UI"/>
              </a:rPr>
              <a:t>Premiumisation</a:t>
            </a:r>
          </a:p>
        </p:txBody>
      </p:sp>
      <p:pic>
        <p:nvPicPr>
          <p:cNvPr id="68" name="Picture 67" descr="lock.png"/>
          <p:cNvPicPr>
            <a:picLocks noChangeAspect="1"/>
          </p:cNvPicPr>
          <p:nvPr/>
        </p:nvPicPr>
        <p:blipFill>
          <a:blip r:embed="rId4"/>
          <a:stretch>
            <a:fillRect/>
          </a:stretch>
        </p:blipFill>
        <p:spPr>
          <a:xfrm>
            <a:off x="9454754" y="1552218"/>
            <a:ext cx="118403" cy="172222"/>
          </a:xfrm>
          <a:prstGeom prst="rect">
            <a:avLst/>
          </a:prstGeom>
        </p:spPr>
      </p:pic>
      <p:sp>
        <p:nvSpPr>
          <p:cNvPr id="69" name="TextBox 68"/>
          <p:cNvSpPr txBox="1"/>
          <p:nvPr/>
        </p:nvSpPr>
        <p:spPr>
          <a:xfrm>
            <a:off x="9424068" y="2311939"/>
            <a:ext cx="816691" cy="173278"/>
          </a:xfrm>
          <a:prstGeom prst="rect">
            <a:avLst/>
          </a:prstGeom>
          <a:noFill/>
        </p:spPr>
        <p:txBody>
          <a:bodyPr wrap="none" lIns="0" rIns="0" tIns="0" bIns="0">
            <a:spAutoFit/>
          </a:bodyPr>
          <a:lstStyle/>
          <a:p>
            <a:r>
              <a:rPr sz="1011" b="0">
                <a:solidFill>
                  <a:srgbClr val="252423"/>
                </a:solidFill>
                <a:latin typeface="Segoe UI"/>
              </a:rPr>
              <a:t>App. Breadth</a:t>
            </a:r>
          </a:p>
        </p:txBody>
      </p:sp>
      <p:pic>
        <p:nvPicPr>
          <p:cNvPr id="70" name="Picture 69" descr="lock.png"/>
          <p:cNvPicPr>
            <a:picLocks noChangeAspect="1"/>
          </p:cNvPicPr>
          <p:nvPr/>
        </p:nvPicPr>
        <p:blipFill>
          <a:blip r:embed="rId4"/>
          <a:stretch>
            <a:fillRect/>
          </a:stretch>
        </p:blipFill>
        <p:spPr>
          <a:xfrm>
            <a:off x="10186871" y="2302942"/>
            <a:ext cx="118403" cy="172222"/>
          </a:xfrm>
          <a:prstGeom prst="rect">
            <a:avLst/>
          </a:prstGeom>
        </p:spPr>
      </p:pic>
      <p:sp>
        <p:nvSpPr>
          <p:cNvPr id="71" name="TextBox 70"/>
          <p:cNvSpPr txBox="1"/>
          <p:nvPr/>
        </p:nvSpPr>
        <p:spPr>
          <a:xfrm>
            <a:off x="9909628" y="3278069"/>
            <a:ext cx="861624" cy="173278"/>
          </a:xfrm>
          <a:prstGeom prst="rect">
            <a:avLst/>
          </a:prstGeom>
          <a:noFill/>
        </p:spPr>
        <p:txBody>
          <a:bodyPr wrap="none" lIns="0" rIns="0" tIns="0" bIns="0">
            <a:spAutoFit/>
          </a:bodyPr>
          <a:lstStyle/>
          <a:p>
            <a:r>
              <a:rPr sz="1011" b="0">
                <a:solidFill>
                  <a:srgbClr val="252423"/>
                </a:solidFill>
                <a:latin typeface="Segoe UI"/>
              </a:rPr>
              <a:t>Emerging Pull</a:t>
            </a:r>
          </a:p>
        </p:txBody>
      </p:sp>
      <p:pic>
        <p:nvPicPr>
          <p:cNvPr id="72" name="Picture 71" descr="lock.png"/>
          <p:cNvPicPr>
            <a:picLocks noChangeAspect="1"/>
          </p:cNvPicPr>
          <p:nvPr/>
        </p:nvPicPr>
        <p:blipFill>
          <a:blip r:embed="rId4"/>
          <a:stretch>
            <a:fillRect/>
          </a:stretch>
        </p:blipFill>
        <p:spPr>
          <a:xfrm>
            <a:off x="10717365" y="3269072"/>
            <a:ext cx="118403" cy="172222"/>
          </a:xfrm>
          <a:prstGeom prst="rect">
            <a:avLst/>
          </a:prstGeom>
        </p:spPr>
      </p:pic>
      <p:sp>
        <p:nvSpPr>
          <p:cNvPr id="73" name="TextBox 72"/>
          <p:cNvSpPr txBox="1"/>
          <p:nvPr/>
        </p:nvSpPr>
        <p:spPr>
          <a:xfrm>
            <a:off x="9909628" y="4350392"/>
            <a:ext cx="1216976" cy="173278"/>
          </a:xfrm>
          <a:prstGeom prst="rect">
            <a:avLst/>
          </a:prstGeom>
          <a:noFill/>
        </p:spPr>
        <p:txBody>
          <a:bodyPr wrap="none" lIns="0" rIns="0" tIns="0" bIns="0">
            <a:spAutoFit/>
          </a:bodyPr>
          <a:lstStyle/>
          <a:p>
            <a:r>
              <a:rPr sz="1011" b="0">
                <a:solidFill>
                  <a:srgbClr val="252423"/>
                </a:solidFill>
                <a:latin typeface="Segoe UI"/>
              </a:rPr>
              <a:t>Volume Momentum</a:t>
            </a:r>
          </a:p>
        </p:txBody>
      </p:sp>
      <p:pic>
        <p:nvPicPr>
          <p:cNvPr id="74" name="Picture 73" descr="lock.png"/>
          <p:cNvPicPr>
            <a:picLocks noChangeAspect="1"/>
          </p:cNvPicPr>
          <p:nvPr/>
        </p:nvPicPr>
        <p:blipFill>
          <a:blip r:embed="rId4"/>
          <a:stretch>
            <a:fillRect/>
          </a:stretch>
        </p:blipFill>
        <p:spPr>
          <a:xfrm>
            <a:off x="11072716" y="4341395"/>
            <a:ext cx="118403" cy="172222"/>
          </a:xfrm>
          <a:prstGeom prst="rect">
            <a:avLst/>
          </a:prstGeom>
        </p:spPr>
      </p:pic>
      <p:sp>
        <p:nvSpPr>
          <p:cNvPr id="75" name="TextBox 74"/>
          <p:cNvSpPr txBox="1"/>
          <p:nvPr/>
        </p:nvSpPr>
        <p:spPr>
          <a:xfrm>
            <a:off x="9424068" y="5316521"/>
            <a:ext cx="1104709" cy="173278"/>
          </a:xfrm>
          <a:prstGeom prst="rect">
            <a:avLst/>
          </a:prstGeom>
          <a:noFill/>
        </p:spPr>
        <p:txBody>
          <a:bodyPr wrap="none" lIns="0" rIns="0" tIns="0" bIns="0">
            <a:spAutoFit/>
          </a:bodyPr>
          <a:lstStyle/>
          <a:p>
            <a:r>
              <a:rPr sz="1011" b="0">
                <a:solidFill>
                  <a:srgbClr val="252423"/>
                </a:solidFill>
                <a:latin typeface="Segoe UI"/>
              </a:rPr>
              <a:t>Category Maturity</a:t>
            </a:r>
          </a:p>
        </p:txBody>
      </p:sp>
      <p:pic>
        <p:nvPicPr>
          <p:cNvPr id="76" name="Picture 75" descr="lock.png"/>
          <p:cNvPicPr>
            <a:picLocks noChangeAspect="1"/>
          </p:cNvPicPr>
          <p:nvPr/>
        </p:nvPicPr>
        <p:blipFill>
          <a:blip r:embed="rId4"/>
          <a:stretch>
            <a:fillRect/>
          </a:stretch>
        </p:blipFill>
        <p:spPr>
          <a:xfrm>
            <a:off x="10474889" y="5307524"/>
            <a:ext cx="118403" cy="172222"/>
          </a:xfrm>
          <a:prstGeom prst="rect">
            <a:avLst/>
          </a:prstGeom>
        </p:spPr>
      </p:pic>
      <p:sp>
        <p:nvSpPr>
          <p:cNvPr id="77" name="TextBox 76"/>
          <p:cNvSpPr txBox="1"/>
          <p:nvPr/>
        </p:nvSpPr>
        <p:spPr>
          <a:xfrm>
            <a:off x="8549119" y="6067245"/>
            <a:ext cx="993188" cy="173278"/>
          </a:xfrm>
          <a:prstGeom prst="rect">
            <a:avLst/>
          </a:prstGeom>
          <a:noFill/>
        </p:spPr>
        <p:txBody>
          <a:bodyPr wrap="none" lIns="0" rIns="0" tIns="0" bIns="0">
            <a:spAutoFit/>
          </a:bodyPr>
          <a:lstStyle/>
          <a:p>
            <a:r>
              <a:rPr sz="1011" b="0">
                <a:solidFill>
                  <a:srgbClr val="252423"/>
                </a:solidFill>
                <a:latin typeface="Segoe UI"/>
              </a:rPr>
              <a:t>Adoption Depth</a:t>
            </a:r>
          </a:p>
        </p:txBody>
      </p:sp>
      <p:pic>
        <p:nvPicPr>
          <p:cNvPr id="78" name="Picture 77" descr="lock.png"/>
          <p:cNvPicPr>
            <a:picLocks noChangeAspect="1"/>
          </p:cNvPicPr>
          <p:nvPr/>
        </p:nvPicPr>
        <p:blipFill>
          <a:blip r:embed="rId4"/>
          <a:stretch>
            <a:fillRect/>
          </a:stretch>
        </p:blipFill>
        <p:spPr>
          <a:xfrm>
            <a:off x="9488419" y="6058248"/>
            <a:ext cx="118403" cy="172222"/>
          </a:xfrm>
          <a:prstGeom prst="rect">
            <a:avLst/>
          </a:prstGeom>
        </p:spPr>
      </p:pic>
      <p:sp>
        <p:nvSpPr>
          <p:cNvPr id="79" name="TextBox 78"/>
          <p:cNvSpPr txBox="1"/>
          <p:nvPr/>
        </p:nvSpPr>
        <p:spPr>
          <a:xfrm>
            <a:off x="7534275" y="6305860"/>
            <a:ext cx="1030787" cy="173278"/>
          </a:xfrm>
          <a:prstGeom prst="rect">
            <a:avLst/>
          </a:prstGeom>
          <a:noFill/>
        </p:spPr>
        <p:txBody>
          <a:bodyPr wrap="none" lIns="0" rIns="0" tIns="0" bIns="0">
            <a:spAutoFit/>
          </a:bodyPr>
          <a:lstStyle/>
          <a:p>
            <a:r>
              <a:rPr sz="1011" b="0">
                <a:solidFill>
                  <a:srgbClr val="252423"/>
                </a:solidFill>
                <a:latin typeface="Segoe UI"/>
              </a:rPr>
              <a:t>Consumer Reach</a:t>
            </a:r>
          </a:p>
        </p:txBody>
      </p:sp>
      <p:pic>
        <p:nvPicPr>
          <p:cNvPr id="80" name="Picture 79" descr="lock.png"/>
          <p:cNvPicPr>
            <a:picLocks noChangeAspect="1"/>
          </p:cNvPicPr>
          <p:nvPr/>
        </p:nvPicPr>
        <p:blipFill>
          <a:blip r:embed="rId4"/>
          <a:stretch>
            <a:fillRect/>
          </a:stretch>
        </p:blipFill>
        <p:spPr>
          <a:xfrm>
            <a:off x="8511173" y="6296863"/>
            <a:ext cx="118403" cy="172222"/>
          </a:xfrm>
          <a:prstGeom prst="rect">
            <a:avLst/>
          </a:prstGeom>
        </p:spPr>
      </p:pic>
      <p:sp>
        <p:nvSpPr>
          <p:cNvPr id="81" name="TextBox 80"/>
          <p:cNvSpPr txBox="1"/>
          <p:nvPr/>
        </p:nvSpPr>
        <p:spPr>
          <a:xfrm>
            <a:off x="209550" y="1496754"/>
            <a:ext cx="3455406" cy="186689"/>
          </a:xfrm>
          <a:prstGeom prst="rect">
            <a:avLst/>
          </a:prstGeom>
          <a:noFill/>
        </p:spPr>
        <p:txBody>
          <a:bodyPr wrap="none" lIns="0" rIns="0" tIns="0" bIns="0">
            <a:spAutoFit/>
          </a:bodyPr>
          <a:lstStyle/>
          <a:p>
            <a:r>
              <a:rPr sz="1100" b="0">
                <a:solidFill>
                  <a:srgbClr val="252423"/>
                </a:solidFill>
                <a:latin typeface="Segoe UI"/>
              </a:rPr>
              <a:t>▪ Demand-side conditions are led by Demand Growth (</a:t>
            </a:r>
          </a:p>
        </p:txBody>
      </p:sp>
      <p:pic>
        <p:nvPicPr>
          <p:cNvPr id="82" name="Picture 81" descr="lock.png"/>
          <p:cNvPicPr>
            <a:picLocks noChangeAspect="1"/>
          </p:cNvPicPr>
          <p:nvPr/>
        </p:nvPicPr>
        <p:blipFill>
          <a:blip r:embed="rId4"/>
          <a:stretch>
            <a:fillRect/>
          </a:stretch>
        </p:blipFill>
        <p:spPr>
          <a:xfrm>
            <a:off x="3613008" y="1486975"/>
            <a:ext cx="128699" cy="187198"/>
          </a:xfrm>
          <a:prstGeom prst="rect">
            <a:avLst/>
          </a:prstGeom>
        </p:spPr>
      </p:pic>
      <p:sp>
        <p:nvSpPr>
          <p:cNvPr id="83" name="TextBox 82"/>
          <p:cNvSpPr txBox="1"/>
          <p:nvPr/>
        </p:nvSpPr>
        <p:spPr>
          <a:xfrm>
            <a:off x="3780504" y="1496754"/>
            <a:ext cx="1712627" cy="186689"/>
          </a:xfrm>
          <a:prstGeom prst="rect">
            <a:avLst/>
          </a:prstGeom>
          <a:noFill/>
        </p:spPr>
        <p:txBody>
          <a:bodyPr wrap="none" lIns="0" rIns="0" tIns="0" bIns="0">
            <a:spAutoFit/>
          </a:bodyPr>
          <a:lstStyle/>
          <a:p>
            <a:r>
              <a:rPr sz="1100" b="0">
                <a:solidFill>
                  <a:srgbClr val="252423"/>
                </a:solidFill>
                <a:latin typeface="Segoe UI"/>
              </a:rPr>
              <a:t>/10), Volume Momentum (</a:t>
            </a:r>
          </a:p>
        </p:txBody>
      </p:sp>
      <p:pic>
        <p:nvPicPr>
          <p:cNvPr id="84" name="Picture 83" descr="lock.png"/>
          <p:cNvPicPr>
            <a:picLocks noChangeAspect="1"/>
          </p:cNvPicPr>
          <p:nvPr/>
        </p:nvPicPr>
        <p:blipFill>
          <a:blip r:embed="rId4"/>
          <a:stretch>
            <a:fillRect/>
          </a:stretch>
        </p:blipFill>
        <p:spPr>
          <a:xfrm>
            <a:off x="5441183" y="1486975"/>
            <a:ext cx="128699" cy="187198"/>
          </a:xfrm>
          <a:prstGeom prst="rect">
            <a:avLst/>
          </a:prstGeom>
        </p:spPr>
      </p:pic>
      <p:sp>
        <p:nvSpPr>
          <p:cNvPr id="85" name="TextBox 84"/>
          <p:cNvSpPr txBox="1"/>
          <p:nvPr/>
        </p:nvSpPr>
        <p:spPr>
          <a:xfrm>
            <a:off x="5608678" y="1496754"/>
            <a:ext cx="1429756" cy="186689"/>
          </a:xfrm>
          <a:prstGeom prst="rect">
            <a:avLst/>
          </a:prstGeom>
          <a:noFill/>
        </p:spPr>
        <p:txBody>
          <a:bodyPr wrap="none" lIns="0" rIns="0" tIns="0" bIns="0">
            <a:spAutoFit/>
          </a:bodyPr>
          <a:lstStyle/>
          <a:p>
            <a:r>
              <a:rPr sz="1100" b="0">
                <a:solidFill>
                  <a:srgbClr val="252423"/>
                </a:solidFill>
                <a:latin typeface="Segoe UI"/>
              </a:rPr>
              <a:t>/10), Consumer Reach</a:t>
            </a:r>
          </a:p>
        </p:txBody>
      </p:sp>
      <p:sp>
        <p:nvSpPr>
          <p:cNvPr id="86" name="TextBox 85"/>
          <p:cNvSpPr txBox="1"/>
          <p:nvPr/>
        </p:nvSpPr>
        <p:spPr>
          <a:xfrm>
            <a:off x="209550" y="1664394"/>
            <a:ext cx="118491"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7" name="Picture 86" descr="lock.png"/>
          <p:cNvPicPr>
            <a:picLocks noChangeAspect="1"/>
          </p:cNvPicPr>
          <p:nvPr/>
        </p:nvPicPr>
        <p:blipFill>
          <a:blip r:embed="rId4"/>
          <a:stretch>
            <a:fillRect/>
          </a:stretch>
        </p:blipFill>
        <p:spPr>
          <a:xfrm>
            <a:off x="276093" y="1654615"/>
            <a:ext cx="128699" cy="187198"/>
          </a:xfrm>
          <a:prstGeom prst="rect">
            <a:avLst/>
          </a:prstGeom>
        </p:spPr>
      </p:pic>
      <p:sp>
        <p:nvSpPr>
          <p:cNvPr id="88" name="TextBox 87"/>
          <p:cNvSpPr txBox="1"/>
          <p:nvPr/>
        </p:nvSpPr>
        <p:spPr>
          <a:xfrm>
            <a:off x="443589" y="1664394"/>
            <a:ext cx="3584299" cy="186689"/>
          </a:xfrm>
          <a:prstGeom prst="rect">
            <a:avLst/>
          </a:prstGeom>
          <a:noFill/>
        </p:spPr>
        <p:txBody>
          <a:bodyPr wrap="none" lIns="0" rIns="0" tIns="0" bIns="0">
            <a:spAutoFit/>
          </a:bodyPr>
          <a:lstStyle/>
          <a:p>
            <a:r>
              <a:rPr sz="1100" b="0">
                <a:solidFill>
                  <a:srgbClr val="252423"/>
                </a:solidFill>
                <a:latin typeface="Segoe UI"/>
              </a:rPr>
              <a:t>/10) on a 0-10 scale scored from the global dataset itself.</a:t>
            </a:r>
          </a:p>
        </p:txBody>
      </p:sp>
      <p:sp>
        <p:nvSpPr>
          <p:cNvPr id="89" name="TextBox 88"/>
          <p:cNvSpPr txBox="1"/>
          <p:nvPr/>
        </p:nvSpPr>
        <p:spPr>
          <a:xfrm>
            <a:off x="209550" y="1945648"/>
            <a:ext cx="1075740" cy="186689"/>
          </a:xfrm>
          <a:prstGeom prst="rect">
            <a:avLst/>
          </a:prstGeom>
          <a:noFill/>
        </p:spPr>
        <p:txBody>
          <a:bodyPr wrap="none" lIns="0" rIns="0" tIns="0" bIns="0">
            <a:spAutoFit/>
          </a:bodyPr>
          <a:lstStyle/>
          <a:p>
            <a:r>
              <a:rPr sz="1100" b="0">
                <a:solidFill>
                  <a:srgbClr val="252423"/>
                </a:solidFill>
                <a:latin typeface="Segoe UI"/>
              </a:rPr>
              <a:t>▪ Value grows at</a:t>
            </a:r>
          </a:p>
        </p:txBody>
      </p:sp>
      <p:pic>
        <p:nvPicPr>
          <p:cNvPr id="90" name="Picture 89" descr="lock.png"/>
          <p:cNvPicPr>
            <a:picLocks noChangeAspect="1"/>
          </p:cNvPicPr>
          <p:nvPr/>
        </p:nvPicPr>
        <p:blipFill>
          <a:blip r:embed="rId4"/>
          <a:stretch>
            <a:fillRect/>
          </a:stretch>
        </p:blipFill>
        <p:spPr>
          <a:xfrm>
            <a:off x="1233342" y="1935869"/>
            <a:ext cx="128699" cy="187198"/>
          </a:xfrm>
          <a:prstGeom prst="rect">
            <a:avLst/>
          </a:prstGeom>
        </p:spPr>
      </p:pic>
      <p:sp>
        <p:nvSpPr>
          <p:cNvPr id="91" name="TextBox 90"/>
          <p:cNvSpPr txBox="1"/>
          <p:nvPr/>
        </p:nvSpPr>
        <p:spPr>
          <a:xfrm>
            <a:off x="1400837" y="1945648"/>
            <a:ext cx="1170867" cy="186689"/>
          </a:xfrm>
          <a:prstGeom prst="rect">
            <a:avLst/>
          </a:prstGeom>
          <a:noFill/>
        </p:spPr>
        <p:txBody>
          <a:bodyPr wrap="none" lIns="0" rIns="0" tIns="0" bIns="0">
            <a:spAutoFit/>
          </a:bodyPr>
          <a:lstStyle/>
          <a:p>
            <a:r>
              <a:rPr sz="1100" b="0">
                <a:solidFill>
                  <a:srgbClr val="252423"/>
                </a:solidFill>
                <a:latin typeface="Segoe UI"/>
              </a:rPr>
              <a:t>against volume at</a:t>
            </a:r>
          </a:p>
        </p:txBody>
      </p:sp>
      <p:pic>
        <p:nvPicPr>
          <p:cNvPr id="92" name="Picture 91" descr="lock.png"/>
          <p:cNvPicPr>
            <a:picLocks noChangeAspect="1"/>
          </p:cNvPicPr>
          <p:nvPr/>
        </p:nvPicPr>
        <p:blipFill>
          <a:blip r:embed="rId4"/>
          <a:stretch>
            <a:fillRect/>
          </a:stretch>
        </p:blipFill>
        <p:spPr>
          <a:xfrm>
            <a:off x="2519757" y="1935869"/>
            <a:ext cx="128699" cy="187198"/>
          </a:xfrm>
          <a:prstGeom prst="rect">
            <a:avLst/>
          </a:prstGeom>
        </p:spPr>
      </p:pic>
      <p:sp>
        <p:nvSpPr>
          <p:cNvPr id="93" name="TextBox 92"/>
          <p:cNvSpPr txBox="1"/>
          <p:nvPr/>
        </p:nvSpPr>
        <p:spPr>
          <a:xfrm>
            <a:off x="2687253" y="1945648"/>
            <a:ext cx="2405431" cy="186689"/>
          </a:xfrm>
          <a:prstGeom prst="rect">
            <a:avLst/>
          </a:prstGeom>
          <a:noFill/>
        </p:spPr>
        <p:txBody>
          <a:bodyPr wrap="none" lIns="0" rIns="0" tIns="0" bIns="0">
            <a:spAutoFit/>
          </a:bodyPr>
          <a:lstStyle/>
          <a:p>
            <a:r>
              <a:rPr sz="1100" b="0">
                <a:solidFill>
                  <a:srgbClr val="252423"/>
                </a:solidFill>
                <a:latin typeface="Segoe UI"/>
              </a:rPr>
              <a:t>a premiumising market through 2036.</a:t>
            </a:r>
          </a:p>
        </p:txBody>
      </p:sp>
      <p:sp>
        <p:nvSpPr>
          <p:cNvPr id="94" name="TextBox 93"/>
          <p:cNvSpPr txBox="1"/>
          <p:nvPr/>
        </p:nvSpPr>
        <p:spPr>
          <a:xfrm>
            <a:off x="209550" y="2226902"/>
            <a:ext cx="2029800" cy="186689"/>
          </a:xfrm>
          <a:prstGeom prst="rect">
            <a:avLst/>
          </a:prstGeom>
          <a:noFill/>
        </p:spPr>
        <p:txBody>
          <a:bodyPr wrap="none" lIns="0" rIns="0" tIns="0" bIns="0">
            <a:spAutoFit/>
          </a:bodyPr>
          <a:lstStyle/>
          <a:p>
            <a:r>
              <a:rPr sz="1100" b="0">
                <a:solidFill>
                  <a:srgbClr val="252423"/>
                </a:solidFill>
                <a:latin typeface="Segoe UI"/>
              </a:rPr>
              <a:t>▪ '1,500 Wh to 2,000 Wh' carries</a:t>
            </a:r>
          </a:p>
        </p:txBody>
      </p:sp>
      <p:pic>
        <p:nvPicPr>
          <p:cNvPr id="95" name="Picture 94" descr="lock.png"/>
          <p:cNvPicPr>
            <a:picLocks noChangeAspect="1"/>
          </p:cNvPicPr>
          <p:nvPr/>
        </p:nvPicPr>
        <p:blipFill>
          <a:blip r:embed="rId4"/>
          <a:stretch>
            <a:fillRect/>
          </a:stretch>
        </p:blipFill>
        <p:spPr>
          <a:xfrm>
            <a:off x="2187401" y="2217123"/>
            <a:ext cx="128699" cy="187198"/>
          </a:xfrm>
          <a:prstGeom prst="rect">
            <a:avLst/>
          </a:prstGeom>
        </p:spPr>
      </p:pic>
      <p:sp>
        <p:nvSpPr>
          <p:cNvPr id="96" name="TextBox 95"/>
          <p:cNvSpPr txBox="1"/>
          <p:nvPr/>
        </p:nvSpPr>
        <p:spPr>
          <a:xfrm>
            <a:off x="2354897" y="2226902"/>
            <a:ext cx="4487804" cy="186689"/>
          </a:xfrm>
          <a:prstGeom prst="rect">
            <a:avLst/>
          </a:prstGeom>
          <a:noFill/>
        </p:spPr>
        <p:txBody>
          <a:bodyPr wrap="none" lIns="0" rIns="0" tIns="0" bIns="0">
            <a:spAutoFit/>
          </a:bodyPr>
          <a:lstStyle/>
          <a:p>
            <a:r>
              <a:rPr sz="1100" b="0">
                <a:solidFill>
                  <a:srgbClr val="252423"/>
                </a:solidFill>
                <a:latin typeface="Segoe UI"/>
              </a:rPr>
              <a:t>of energy storage capacity demand while '1,000 Wh to Below 1,500 Wh'</a:t>
            </a:r>
          </a:p>
        </p:txBody>
      </p:sp>
      <p:sp>
        <p:nvSpPr>
          <p:cNvPr id="97" name="TextBox 96"/>
          <p:cNvSpPr txBox="1"/>
          <p:nvPr/>
        </p:nvSpPr>
        <p:spPr>
          <a:xfrm>
            <a:off x="209550" y="2394542"/>
            <a:ext cx="1403332" cy="186689"/>
          </a:xfrm>
          <a:prstGeom prst="rect">
            <a:avLst/>
          </a:prstGeom>
          <a:noFill/>
        </p:spPr>
        <p:txBody>
          <a:bodyPr wrap="none" lIns="0" rIns="0" tIns="0" bIns="0">
            <a:spAutoFit/>
          </a:bodyPr>
          <a:lstStyle/>
          <a:p>
            <a:r>
              <a:rPr sz="1100" b="0">
                <a:solidFill>
                  <a:srgbClr val="252423"/>
                </a:solidFill>
                <a:latin typeface="Segoe UI"/>
              </a:rPr>
              <a:t>compounds fastest at</a:t>
            </a:r>
          </a:p>
        </p:txBody>
      </p:sp>
      <p:pic>
        <p:nvPicPr>
          <p:cNvPr id="98" name="Picture 97" descr="lock.png"/>
          <p:cNvPicPr>
            <a:picLocks noChangeAspect="1"/>
          </p:cNvPicPr>
          <p:nvPr/>
        </p:nvPicPr>
        <p:blipFill>
          <a:blip r:embed="rId4"/>
          <a:stretch>
            <a:fillRect/>
          </a:stretch>
        </p:blipFill>
        <p:spPr>
          <a:xfrm>
            <a:off x="1560934" y="2384763"/>
            <a:ext cx="128699" cy="187198"/>
          </a:xfrm>
          <a:prstGeom prst="rect">
            <a:avLst/>
          </a:prstGeom>
        </p:spPr>
      </p:pic>
      <p:sp>
        <p:nvSpPr>
          <p:cNvPr id="99" name="TextBox 98"/>
          <p:cNvSpPr txBox="1"/>
          <p:nvPr/>
        </p:nvSpPr>
        <p:spPr>
          <a:xfrm>
            <a:off x="1728430" y="2394542"/>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00" name="TextBox 99"/>
          <p:cNvSpPr txBox="1"/>
          <p:nvPr/>
        </p:nvSpPr>
        <p:spPr>
          <a:xfrm>
            <a:off x="209550" y="2683244"/>
            <a:ext cx="2703662" cy="186689"/>
          </a:xfrm>
          <a:prstGeom prst="rect">
            <a:avLst/>
          </a:prstGeom>
          <a:noFill/>
        </p:spPr>
        <p:txBody>
          <a:bodyPr wrap="none" lIns="0" rIns="0" tIns="0" bIns="0">
            <a:spAutoFit/>
          </a:bodyPr>
          <a:lstStyle/>
          <a:p>
            <a:r>
              <a:rPr sz="1100" b="0">
                <a:solidFill>
                  <a:srgbClr val="252423"/>
                </a:solidFill>
                <a:latin typeface="Segoe UI"/>
              </a:rPr>
              <a:t>▪ Pull is strongest in 'South Asia &amp; Pacific' (</a:t>
            </a:r>
          </a:p>
        </p:txBody>
      </p:sp>
      <p:pic>
        <p:nvPicPr>
          <p:cNvPr id="101" name="Picture 100" descr="lock.png"/>
          <p:cNvPicPr>
            <a:picLocks noChangeAspect="1"/>
          </p:cNvPicPr>
          <p:nvPr/>
        </p:nvPicPr>
        <p:blipFill>
          <a:blip r:embed="rId4"/>
          <a:stretch>
            <a:fillRect/>
          </a:stretch>
        </p:blipFill>
        <p:spPr>
          <a:xfrm>
            <a:off x="2861264" y="2673465"/>
            <a:ext cx="128699" cy="187198"/>
          </a:xfrm>
          <a:prstGeom prst="rect">
            <a:avLst/>
          </a:prstGeom>
        </p:spPr>
      </p:pic>
      <p:sp>
        <p:nvSpPr>
          <p:cNvPr id="102" name="TextBox 101"/>
          <p:cNvSpPr txBox="1"/>
          <p:nvPr/>
        </p:nvSpPr>
        <p:spPr>
          <a:xfrm>
            <a:off x="3028759" y="2683244"/>
            <a:ext cx="595952" cy="186689"/>
          </a:xfrm>
          <a:prstGeom prst="rect">
            <a:avLst/>
          </a:prstGeom>
          <a:noFill/>
        </p:spPr>
        <p:txBody>
          <a:bodyPr wrap="none" lIns="0" rIns="0" tIns="0" bIns="0">
            <a:spAutoFit/>
          </a:bodyPr>
          <a:lstStyle/>
          <a:p>
            <a:r>
              <a:rPr sz="1100" b="0">
                <a:solidFill>
                  <a:srgbClr val="252423"/>
                </a:solidFill>
                <a:latin typeface="Segoe UI"/>
              </a:rPr>
              <a:t>CAGR, +</a:t>
            </a:r>
          </a:p>
        </p:txBody>
      </p:sp>
      <p:pic>
        <p:nvPicPr>
          <p:cNvPr id="103" name="Picture 102" descr="lock.png"/>
          <p:cNvPicPr>
            <a:picLocks noChangeAspect="1"/>
          </p:cNvPicPr>
          <p:nvPr/>
        </p:nvPicPr>
        <p:blipFill>
          <a:blip r:embed="rId4"/>
          <a:stretch>
            <a:fillRect/>
          </a:stretch>
        </p:blipFill>
        <p:spPr>
          <a:xfrm>
            <a:off x="3572763" y="2673465"/>
            <a:ext cx="128699" cy="187198"/>
          </a:xfrm>
          <a:prstGeom prst="rect">
            <a:avLst/>
          </a:prstGeom>
        </p:spPr>
      </p:pic>
      <p:sp>
        <p:nvSpPr>
          <p:cNvPr id="104" name="TextBox 103"/>
          <p:cNvSpPr txBox="1"/>
          <p:nvPr/>
        </p:nvSpPr>
        <p:spPr>
          <a:xfrm>
            <a:off x="3740259" y="2683244"/>
            <a:ext cx="3024254" cy="186689"/>
          </a:xfrm>
          <a:prstGeom prst="rect">
            <a:avLst/>
          </a:prstGeom>
          <a:noFill/>
        </p:spPr>
        <p:txBody>
          <a:bodyPr wrap="none" lIns="0" rIns="0" tIns="0" bIns="0">
            <a:spAutoFit/>
          </a:bodyPr>
          <a:lstStyle/>
          <a:p>
            <a:r>
              <a:rPr sz="1100" b="0">
                <a:solidFill>
                  <a:srgbClr val="252423"/>
                </a:solidFill>
                <a:latin typeface="Segoe UI"/>
              </a:rPr>
              <a:t>BPS versus the market), with 5 of 7 regions at or</a:t>
            </a:r>
          </a:p>
        </p:txBody>
      </p:sp>
      <p:sp>
        <p:nvSpPr>
          <p:cNvPr id="105" name="TextBox 104"/>
          <p:cNvSpPr txBox="1"/>
          <p:nvPr/>
        </p:nvSpPr>
        <p:spPr>
          <a:xfrm>
            <a:off x="209550" y="2850884"/>
            <a:ext cx="810946" cy="186689"/>
          </a:xfrm>
          <a:prstGeom prst="rect">
            <a:avLst/>
          </a:prstGeom>
          <a:noFill/>
        </p:spPr>
        <p:txBody>
          <a:bodyPr wrap="none" lIns="0" rIns="0" tIns="0" bIns="0">
            <a:spAutoFit/>
          </a:bodyPr>
          <a:lstStyle/>
          <a:p>
            <a:r>
              <a:rPr sz="1100" b="0">
                <a:solidFill>
                  <a:srgbClr val="252423"/>
                </a:solidFill>
                <a:latin typeface="Segoe UI"/>
              </a:rPr>
              <a:t>above pace.</a:t>
            </a:r>
          </a:p>
        </p:txBody>
      </p:sp>
      <p:sp>
        <p:nvSpPr>
          <p:cNvPr id="106" name="TextBox 105"/>
          <p:cNvSpPr txBox="1"/>
          <p:nvPr/>
        </p:nvSpPr>
        <p:spPr>
          <a:xfrm>
            <a:off x="209550" y="3139587"/>
            <a:ext cx="6399752" cy="186689"/>
          </a:xfrm>
          <a:prstGeom prst="rect">
            <a:avLst/>
          </a:prstGeom>
          <a:noFill/>
        </p:spPr>
        <p:txBody>
          <a:bodyPr wrap="none" lIns="0" rIns="0" tIns="0" bIns="0">
            <a:spAutoFit/>
          </a:bodyPr>
          <a:lstStyle/>
          <a:p>
            <a:r>
              <a:rPr sz="1100" b="0">
                <a:solidFill>
                  <a:srgbClr val="252423"/>
                </a:solidFill>
                <a:latin typeface="Segoe UI"/>
              </a:rPr>
              <a:t>▪ Reach runs through 4 system application routes, led by 'Professional &amp; Specialized Portable Power' at</a:t>
            </a:r>
          </a:p>
        </p:txBody>
      </p:sp>
      <p:pic>
        <p:nvPicPr>
          <p:cNvPr id="107" name="Picture 106" descr="lock.png"/>
          <p:cNvPicPr>
            <a:picLocks noChangeAspect="1"/>
          </p:cNvPicPr>
          <p:nvPr/>
        </p:nvPicPr>
        <p:blipFill>
          <a:blip r:embed="rId4"/>
          <a:stretch>
            <a:fillRect/>
          </a:stretch>
        </p:blipFill>
        <p:spPr>
          <a:xfrm>
            <a:off x="6557353" y="3129808"/>
            <a:ext cx="128699" cy="187198"/>
          </a:xfrm>
          <a:prstGeom prst="rect">
            <a:avLst/>
          </a:prstGeom>
        </p:spPr>
      </p:pic>
      <p:sp>
        <p:nvSpPr>
          <p:cNvPr id="108" name="TextBox 107"/>
          <p:cNvSpPr txBox="1"/>
          <p:nvPr/>
        </p:nvSpPr>
        <p:spPr>
          <a:xfrm>
            <a:off x="6724849" y="3139587"/>
            <a:ext cx="308942" cy="186689"/>
          </a:xfrm>
          <a:prstGeom prst="rect">
            <a:avLst/>
          </a:prstGeom>
          <a:noFill/>
        </p:spPr>
        <p:txBody>
          <a:bodyPr wrap="none" lIns="0" rIns="0" tIns="0" bIns="0">
            <a:spAutoFit/>
          </a:bodyPr>
          <a:lstStyle/>
          <a:p>
            <a:r>
              <a:rPr sz="1100" b="0">
                <a:solidFill>
                  <a:srgbClr val="252423"/>
                </a:solidFill>
                <a:latin typeface="Segoe UI"/>
              </a:rPr>
              <a:t>and</a:t>
            </a:r>
          </a:p>
        </p:txBody>
      </p:sp>
      <p:sp>
        <p:nvSpPr>
          <p:cNvPr id="109" name="TextBox 108"/>
          <p:cNvSpPr txBox="1"/>
          <p:nvPr/>
        </p:nvSpPr>
        <p:spPr>
          <a:xfrm>
            <a:off x="209550" y="3307227"/>
            <a:ext cx="3481131" cy="186689"/>
          </a:xfrm>
          <a:prstGeom prst="rect">
            <a:avLst/>
          </a:prstGeom>
          <a:noFill/>
        </p:spPr>
        <p:txBody>
          <a:bodyPr wrap="none" lIns="0" rIns="0" tIns="0" bIns="0">
            <a:spAutoFit/>
          </a:bodyPr>
          <a:lstStyle/>
          <a:p>
            <a:r>
              <a:rPr sz="1100" b="0">
                <a:solidFill>
                  <a:srgbClr val="252423"/>
                </a:solidFill>
                <a:latin typeface="Segoe UI"/>
              </a:rPr>
              <a:t>with 'Outdoor &amp; Recreational Power' growing fastest at</a:t>
            </a:r>
          </a:p>
        </p:txBody>
      </p:sp>
      <p:pic>
        <p:nvPicPr>
          <p:cNvPr id="110" name="Picture 109" descr="lock.png"/>
          <p:cNvPicPr>
            <a:picLocks noChangeAspect="1"/>
          </p:cNvPicPr>
          <p:nvPr/>
        </p:nvPicPr>
        <p:blipFill>
          <a:blip r:embed="rId4"/>
          <a:stretch>
            <a:fillRect/>
          </a:stretch>
        </p:blipFill>
        <p:spPr>
          <a:xfrm>
            <a:off x="3638733" y="3297448"/>
            <a:ext cx="128699" cy="187198"/>
          </a:xfrm>
          <a:prstGeom prst="rect">
            <a:avLst/>
          </a:prstGeom>
        </p:spPr>
      </p:pic>
      <p:sp>
        <p:nvSpPr>
          <p:cNvPr id="111" name="TextBox 110"/>
          <p:cNvSpPr txBox="1"/>
          <p:nvPr/>
        </p:nvSpPr>
        <p:spPr>
          <a:xfrm>
            <a:off x="3806229" y="3307227"/>
            <a:ext cx="106486" cy="186689"/>
          </a:xfrm>
          <a:prstGeom prst="rect">
            <a:avLst/>
          </a:prstGeom>
          <a:noFill/>
        </p:spPr>
        <p:txBody>
          <a:bodyPr wrap="none" lIns="0" rIns="0" tIns="0" bIns="0">
            <a:spAutoFit/>
          </a:bodyPr>
          <a:lstStyle/>
          <a:p>
            <a:r>
              <a:rPr sz="1100" b="0">
                <a:solidFill>
                  <a:srgbClr val="252423"/>
                </a:solidFill>
                <a:latin typeface="Segoe UI"/>
              </a:rPr>
              <a:t>.</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Restraints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key restraints on the global market and the likelihood of their impact across 2021–2036</a:t>
            </a:r>
          </a:p>
        </p:txBody>
      </p:sp>
      <p:sp>
        <p:nvSpPr>
          <p:cNvPr id="8" name="Rounded Rectangle 7"/>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Segoe UI"/>
              </a:rPr>
              <a:t>Market Restraints</a:t>
            </a:r>
          </a:p>
        </p:txBody>
      </p:sp>
      <p:sp>
        <p:nvSpPr>
          <p:cNvPr id="10" name="Rectangle 9"/>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500 Wh to Below 1,000 Wh Lags the Category and Dilutes Blended Growth</a:t>
            </a:r>
          </a:p>
        </p:txBody>
      </p:sp>
      <p:sp>
        <p:nvSpPr>
          <p:cNvPr id="12" name="TextBox 11"/>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14" name="TextBox 13"/>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15" name="Rectangle 14"/>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17" name="TextBox 16"/>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18" name="Rectangle 17"/>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20" name="TextBox 19"/>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21" name="Rectangle 20"/>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23" name="TextBox 22"/>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24" name="Rectangle 23"/>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cxnSp>
        <p:nvCxnSpPr>
          <p:cNvPr id="26" name="Connector 25"/>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Uneven Region Performance Caps the Blended Rate</a:t>
            </a:r>
          </a:p>
        </p:txBody>
      </p:sp>
      <p:sp>
        <p:nvSpPr>
          <p:cNvPr id="29" name="TextBox 28"/>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0" name="TextBox 29"/>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31" name="TextBox 30"/>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32" name="Rectangle 31"/>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34" name="TextBox 33"/>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35" name="Rectangle 34"/>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37" name="TextBox 36"/>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38" name="Rectangle 37"/>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40" name="TextBox 39"/>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41" name="Rectangle 40"/>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cxnSp>
        <p:nvCxnSpPr>
          <p:cNvPr id="43" name="Connector 42"/>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Concentration Risk Limits Pricing and Sourcing Flexibility</a:t>
            </a:r>
          </a:p>
        </p:txBody>
      </p:sp>
      <p:sp>
        <p:nvSpPr>
          <p:cNvPr id="46" name="TextBox 45"/>
          <p:cNvSpPr txBox="1"/>
          <p:nvPr/>
        </p:nvSpPr>
        <p:spPr>
          <a:xfrm>
            <a:off x="161925" y="5205612"/>
            <a:ext cx="9439275"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48" name="TextBox 47"/>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49" name="Rectangle 48"/>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1" name="TextBox 50"/>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52" name="Rectangle 51"/>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4" name="TextBox 53"/>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55" name="Rectangle 54"/>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7" name="TextBox 56"/>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58" name="Rectangle 57"/>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190500" y="1753513"/>
            <a:ext cx="2676155" cy="186689"/>
          </a:xfrm>
          <a:prstGeom prst="rect">
            <a:avLst/>
          </a:prstGeom>
          <a:noFill/>
        </p:spPr>
        <p:txBody>
          <a:bodyPr wrap="none" lIns="0" rIns="0" tIns="0" bIns="0">
            <a:spAutoFit/>
          </a:bodyPr>
          <a:lstStyle/>
          <a:p>
            <a:r>
              <a:rPr sz="1100" b="0">
                <a:solidFill>
                  <a:srgbClr val="252423"/>
                </a:solidFill>
                <a:latin typeface="Segoe UI"/>
              </a:rPr>
              <a:t>'500 Wh to Below 1,000 Wh' grows at only</a:t>
            </a:r>
          </a:p>
        </p:txBody>
      </p:sp>
      <p:pic>
        <p:nvPicPr>
          <p:cNvPr id="62" name="Picture 61" descr="lock.png"/>
          <p:cNvPicPr>
            <a:picLocks noChangeAspect="1"/>
          </p:cNvPicPr>
          <p:nvPr/>
        </p:nvPicPr>
        <p:blipFill>
          <a:blip r:embed="rId4"/>
          <a:stretch>
            <a:fillRect/>
          </a:stretch>
        </p:blipFill>
        <p:spPr>
          <a:xfrm>
            <a:off x="2814707" y="1743734"/>
            <a:ext cx="128699" cy="187198"/>
          </a:xfrm>
          <a:prstGeom prst="rect">
            <a:avLst/>
          </a:prstGeom>
        </p:spPr>
      </p:pic>
      <p:sp>
        <p:nvSpPr>
          <p:cNvPr id="63" name="TextBox 62"/>
          <p:cNvSpPr txBox="1"/>
          <p:nvPr/>
        </p:nvSpPr>
        <p:spPr>
          <a:xfrm>
            <a:off x="2982203" y="1753513"/>
            <a:ext cx="1712350" cy="186689"/>
          </a:xfrm>
          <a:prstGeom prst="rect">
            <a:avLst/>
          </a:prstGeom>
          <a:noFill/>
        </p:spPr>
        <p:txBody>
          <a:bodyPr wrap="none" lIns="0" rIns="0" tIns="0" bIns="0">
            <a:spAutoFit/>
          </a:bodyPr>
          <a:lstStyle/>
          <a:p>
            <a:r>
              <a:rPr sz="1100" b="0">
                <a:solidFill>
                  <a:srgbClr val="252423"/>
                </a:solidFill>
                <a:latin typeface="Segoe UI"/>
              </a:rPr>
              <a:t>CAGR against the market's</a:t>
            </a:r>
          </a:p>
        </p:txBody>
      </p:sp>
      <p:pic>
        <p:nvPicPr>
          <p:cNvPr id="64" name="Picture 63" descr="lock.png"/>
          <p:cNvPicPr>
            <a:picLocks noChangeAspect="1"/>
          </p:cNvPicPr>
          <p:nvPr/>
        </p:nvPicPr>
        <p:blipFill>
          <a:blip r:embed="rId4"/>
          <a:stretch>
            <a:fillRect/>
          </a:stretch>
        </p:blipFill>
        <p:spPr>
          <a:xfrm>
            <a:off x="4642604" y="1743734"/>
            <a:ext cx="128699" cy="187198"/>
          </a:xfrm>
          <a:prstGeom prst="rect">
            <a:avLst/>
          </a:prstGeom>
        </p:spPr>
      </p:pic>
      <p:sp>
        <p:nvSpPr>
          <p:cNvPr id="65" name="TextBox 64"/>
          <p:cNvSpPr txBox="1"/>
          <p:nvPr/>
        </p:nvSpPr>
        <p:spPr>
          <a:xfrm>
            <a:off x="4810100" y="1753513"/>
            <a:ext cx="310033" cy="186689"/>
          </a:xfrm>
          <a:prstGeom prst="rect">
            <a:avLst/>
          </a:prstGeom>
          <a:noFill/>
        </p:spPr>
        <p:txBody>
          <a:bodyPr wrap="none" lIns="0" rIns="0" tIns="0" bIns="0">
            <a:spAutoFit/>
          </a:bodyPr>
          <a:lstStyle/>
          <a:p>
            <a:r>
              <a:rPr sz="1100" b="0">
                <a:solidFill>
                  <a:srgbClr val="252423"/>
                </a:solidFill>
                <a:latin typeface="Segoe UI"/>
              </a:rPr>
              <a:t>, a -</a:t>
            </a:r>
          </a:p>
        </p:txBody>
      </p:sp>
      <p:pic>
        <p:nvPicPr>
          <p:cNvPr id="66" name="Picture 65" descr="lock.png"/>
          <p:cNvPicPr>
            <a:picLocks noChangeAspect="1"/>
          </p:cNvPicPr>
          <p:nvPr/>
        </p:nvPicPr>
        <p:blipFill>
          <a:blip r:embed="rId4"/>
          <a:stretch>
            <a:fillRect/>
          </a:stretch>
        </p:blipFill>
        <p:spPr>
          <a:xfrm>
            <a:off x="5068185" y="1743734"/>
            <a:ext cx="128699" cy="187198"/>
          </a:xfrm>
          <a:prstGeom prst="rect">
            <a:avLst/>
          </a:prstGeom>
        </p:spPr>
      </p:pic>
      <p:sp>
        <p:nvSpPr>
          <p:cNvPr id="67" name="TextBox 66"/>
          <p:cNvSpPr txBox="1"/>
          <p:nvPr/>
        </p:nvSpPr>
        <p:spPr>
          <a:xfrm>
            <a:off x="5235681" y="1753513"/>
            <a:ext cx="3040156" cy="186689"/>
          </a:xfrm>
          <a:prstGeom prst="rect">
            <a:avLst/>
          </a:prstGeom>
          <a:noFill/>
        </p:spPr>
        <p:txBody>
          <a:bodyPr wrap="none" lIns="0" rIns="0" tIns="0" bIns="0">
            <a:spAutoFit/>
          </a:bodyPr>
          <a:lstStyle/>
          <a:p>
            <a:r>
              <a:rPr sz="1100" b="0">
                <a:solidFill>
                  <a:srgbClr val="252423"/>
                </a:solidFill>
                <a:latin typeface="Segoe UI"/>
              </a:rPr>
              <a:t>BPS gap, and '1,500 Wh to 2,000 Wh' surrenders</a:t>
            </a:r>
          </a:p>
        </p:txBody>
      </p:sp>
      <p:pic>
        <p:nvPicPr>
          <p:cNvPr id="68" name="Picture 67" descr="lock.png"/>
          <p:cNvPicPr>
            <a:picLocks noChangeAspect="1"/>
          </p:cNvPicPr>
          <p:nvPr/>
        </p:nvPicPr>
        <p:blipFill>
          <a:blip r:embed="rId4"/>
          <a:stretch>
            <a:fillRect/>
          </a:stretch>
        </p:blipFill>
        <p:spPr>
          <a:xfrm>
            <a:off x="8223890" y="1743734"/>
            <a:ext cx="128699" cy="187198"/>
          </a:xfrm>
          <a:prstGeom prst="rect">
            <a:avLst/>
          </a:prstGeom>
        </p:spPr>
      </p:pic>
      <p:sp>
        <p:nvSpPr>
          <p:cNvPr id="69" name="TextBox 68"/>
          <p:cNvSpPr txBox="1"/>
          <p:nvPr/>
        </p:nvSpPr>
        <p:spPr>
          <a:xfrm>
            <a:off x="8391385" y="1753513"/>
            <a:ext cx="472614" cy="186689"/>
          </a:xfrm>
          <a:prstGeom prst="rect">
            <a:avLst/>
          </a:prstGeom>
          <a:noFill/>
        </p:spPr>
        <p:txBody>
          <a:bodyPr wrap="none" lIns="0" rIns="0" tIns="0" bIns="0">
            <a:spAutoFit/>
          </a:bodyPr>
          <a:lstStyle/>
          <a:p>
            <a:r>
              <a:rPr sz="1100" b="0">
                <a:solidFill>
                  <a:srgbClr val="252423"/>
                </a:solidFill>
                <a:latin typeface="Segoe UI"/>
              </a:rPr>
              <a:t>BPS of</a:t>
            </a:r>
          </a:p>
        </p:txBody>
      </p:sp>
      <p:sp>
        <p:nvSpPr>
          <p:cNvPr id="70" name="TextBox 69"/>
          <p:cNvSpPr txBox="1"/>
          <p:nvPr/>
        </p:nvSpPr>
        <p:spPr>
          <a:xfrm>
            <a:off x="190500" y="1921153"/>
            <a:ext cx="9278698" cy="186689"/>
          </a:xfrm>
          <a:prstGeom prst="rect">
            <a:avLst/>
          </a:prstGeom>
          <a:noFill/>
        </p:spPr>
        <p:txBody>
          <a:bodyPr wrap="none" lIns="0" rIns="0" tIns="0" bIns="0">
            <a:spAutoFit/>
          </a:bodyPr>
          <a:lstStyle/>
          <a:p>
            <a:r>
              <a:rPr sz="1100" b="0">
                <a:solidFill>
                  <a:srgbClr val="252423"/>
                </a:solidFill>
                <a:latin typeface="Segoe UI"/>
              </a:rPr>
              <a:t>energy storage capacity share between 2026 and 2036. Because these lines still carry meaningful volume, the drag is absorbed by the whole category:</a:t>
            </a:r>
          </a:p>
        </p:txBody>
      </p:sp>
      <p:sp>
        <p:nvSpPr>
          <p:cNvPr id="71" name="TextBox 70"/>
          <p:cNvSpPr txBox="1"/>
          <p:nvPr/>
        </p:nvSpPr>
        <p:spPr>
          <a:xfrm>
            <a:off x="190500" y="2088793"/>
            <a:ext cx="9382125" cy="186689"/>
          </a:xfrm>
          <a:prstGeom prst="rect">
            <a:avLst/>
          </a:prstGeom>
          <a:noFill/>
        </p:spPr>
        <p:txBody>
          <a:bodyPr wrap="none" lIns="0" rIns="0" tIns="0" bIns="0">
            <a:spAutoFit/>
          </a:bodyPr>
          <a:lstStyle/>
          <a:p>
            <a:r>
              <a:rPr sz="1100" b="0">
                <a:solidFill>
                  <a:srgbClr val="252423"/>
                </a:solidFill>
                <a:latin typeface="Segoe UI"/>
              </a:rPr>
              <a:t>blended growth sits below what the leading lines achieve on their own. Rationalising or repositioning the lagging end of a 3-line portfolio is therefore a</a:t>
            </a:r>
          </a:p>
        </p:txBody>
      </p:sp>
      <p:sp>
        <p:nvSpPr>
          <p:cNvPr id="72" name="TextBox 71"/>
          <p:cNvSpPr txBox="1"/>
          <p:nvPr/>
        </p:nvSpPr>
        <p:spPr>
          <a:xfrm>
            <a:off x="190500" y="2256433"/>
            <a:ext cx="2989892" cy="186689"/>
          </a:xfrm>
          <a:prstGeom prst="rect">
            <a:avLst/>
          </a:prstGeom>
          <a:noFill/>
        </p:spPr>
        <p:txBody>
          <a:bodyPr wrap="none" lIns="0" rIns="0" tIns="0" bIns="0">
            <a:spAutoFit/>
          </a:bodyPr>
          <a:lstStyle/>
          <a:p>
            <a:r>
              <a:rPr sz="1100" b="0">
                <a:solidFill>
                  <a:srgbClr val="252423"/>
                </a:solidFill>
                <a:latin typeface="Segoe UI"/>
              </a:rPr>
              <a:t>precondition for realising the headline forecast.</a:t>
            </a:r>
          </a:p>
        </p:txBody>
      </p:sp>
      <p:sp>
        <p:nvSpPr>
          <p:cNvPr id="73" name="TextBox 72"/>
          <p:cNvSpPr txBox="1"/>
          <p:nvPr/>
        </p:nvSpPr>
        <p:spPr>
          <a:xfrm>
            <a:off x="190500" y="3498419"/>
            <a:ext cx="1507549" cy="186689"/>
          </a:xfrm>
          <a:prstGeom prst="rect">
            <a:avLst/>
          </a:prstGeom>
          <a:noFill/>
        </p:spPr>
        <p:txBody>
          <a:bodyPr wrap="none" lIns="0" rIns="0" tIns="0" bIns="0">
            <a:spAutoFit/>
          </a:bodyPr>
          <a:lstStyle/>
          <a:p>
            <a:r>
              <a:rPr sz="1100" b="0">
                <a:solidFill>
                  <a:srgbClr val="252423"/>
                </a:solidFill>
                <a:latin typeface="Segoe UI"/>
              </a:rPr>
              <a:t>'East Asia' grows at just</a:t>
            </a:r>
          </a:p>
        </p:txBody>
      </p:sp>
      <p:pic>
        <p:nvPicPr>
          <p:cNvPr id="74" name="Picture 73" descr="lock.png"/>
          <p:cNvPicPr>
            <a:picLocks noChangeAspect="1"/>
          </p:cNvPicPr>
          <p:nvPr/>
        </p:nvPicPr>
        <p:blipFill>
          <a:blip r:embed="rId4"/>
          <a:stretch>
            <a:fillRect/>
          </a:stretch>
        </p:blipFill>
        <p:spPr>
          <a:xfrm>
            <a:off x="1646101" y="3488640"/>
            <a:ext cx="128699" cy="187198"/>
          </a:xfrm>
          <a:prstGeom prst="rect">
            <a:avLst/>
          </a:prstGeom>
        </p:spPr>
      </p:pic>
      <p:sp>
        <p:nvSpPr>
          <p:cNvPr id="75" name="TextBox 74"/>
          <p:cNvSpPr txBox="1"/>
          <p:nvPr/>
        </p:nvSpPr>
        <p:spPr>
          <a:xfrm>
            <a:off x="1813596" y="3498419"/>
            <a:ext cx="526102" cy="186689"/>
          </a:xfrm>
          <a:prstGeom prst="rect">
            <a:avLst/>
          </a:prstGeom>
          <a:noFill/>
        </p:spPr>
        <p:txBody>
          <a:bodyPr wrap="none" lIns="0" rIns="0" tIns="0" bIns="0">
            <a:spAutoFit/>
          </a:bodyPr>
          <a:lstStyle/>
          <a:p>
            <a:r>
              <a:rPr sz="1100" b="0">
                <a:solidFill>
                  <a:srgbClr val="252423"/>
                </a:solidFill>
                <a:latin typeface="Segoe UI"/>
              </a:rPr>
              <a:t>CAGR -</a:t>
            </a:r>
          </a:p>
        </p:txBody>
      </p:sp>
      <p:pic>
        <p:nvPicPr>
          <p:cNvPr id="76" name="Picture 75" descr="lock.png"/>
          <p:cNvPicPr>
            <a:picLocks noChangeAspect="1"/>
          </p:cNvPicPr>
          <p:nvPr/>
        </p:nvPicPr>
        <p:blipFill>
          <a:blip r:embed="rId4"/>
          <a:stretch>
            <a:fillRect/>
          </a:stretch>
        </p:blipFill>
        <p:spPr>
          <a:xfrm>
            <a:off x="2287750" y="3488640"/>
            <a:ext cx="128699" cy="187198"/>
          </a:xfrm>
          <a:prstGeom prst="rect">
            <a:avLst/>
          </a:prstGeom>
        </p:spPr>
      </p:pic>
      <p:sp>
        <p:nvSpPr>
          <p:cNvPr id="77" name="TextBox 76"/>
          <p:cNvSpPr txBox="1"/>
          <p:nvPr/>
        </p:nvSpPr>
        <p:spPr>
          <a:xfrm>
            <a:off x="2455246" y="3498419"/>
            <a:ext cx="6533884" cy="186689"/>
          </a:xfrm>
          <a:prstGeom prst="rect">
            <a:avLst/>
          </a:prstGeom>
          <a:noFill/>
        </p:spPr>
        <p:txBody>
          <a:bodyPr wrap="none" lIns="0" rIns="0" tIns="0" bIns="0">
            <a:spAutoFit/>
          </a:bodyPr>
          <a:lstStyle/>
          <a:p>
            <a:r>
              <a:rPr sz="1100" b="0">
                <a:solidFill>
                  <a:srgbClr val="252423"/>
                </a:solidFill>
                <a:latin typeface="Segoe UI"/>
              </a:rPr>
              <a:t>BPS against the market and 2 of 7 regions sit below the market pace altogether. Demand is therefore not</a:t>
            </a:r>
          </a:p>
        </p:txBody>
      </p:sp>
      <p:sp>
        <p:nvSpPr>
          <p:cNvPr id="78" name="TextBox 77"/>
          <p:cNvSpPr txBox="1"/>
          <p:nvPr/>
        </p:nvSpPr>
        <p:spPr>
          <a:xfrm>
            <a:off x="190500" y="3666059"/>
            <a:ext cx="9225390" cy="186689"/>
          </a:xfrm>
          <a:prstGeom prst="rect">
            <a:avLst/>
          </a:prstGeom>
          <a:noFill/>
        </p:spPr>
        <p:txBody>
          <a:bodyPr wrap="none" lIns="0" rIns="0" tIns="0" bIns="0">
            <a:spAutoFit/>
          </a:bodyPr>
          <a:lstStyle/>
          <a:p>
            <a:r>
              <a:rPr sz="1100" b="0">
                <a:solidFill>
                  <a:srgbClr val="252423"/>
                </a:solidFill>
                <a:latin typeface="Segoe UI"/>
              </a:rPr>
              <a:t>uniformly available: suppliers carrying a broad geographic footprint fund presence in slow regions out of returns earned in the fast ones. With 'North</a:t>
            </a:r>
          </a:p>
        </p:txBody>
      </p:sp>
      <p:sp>
        <p:nvSpPr>
          <p:cNvPr id="79" name="TextBox 78"/>
          <p:cNvSpPr txBox="1"/>
          <p:nvPr/>
        </p:nvSpPr>
        <p:spPr>
          <a:xfrm>
            <a:off x="190500" y="3833699"/>
            <a:ext cx="767060" cy="186689"/>
          </a:xfrm>
          <a:prstGeom prst="rect">
            <a:avLst/>
          </a:prstGeom>
          <a:noFill/>
        </p:spPr>
        <p:txBody>
          <a:bodyPr wrap="none" lIns="0" rIns="0" tIns="0" bIns="0">
            <a:spAutoFit/>
          </a:bodyPr>
          <a:lstStyle/>
          <a:p>
            <a:r>
              <a:rPr sz="1100" b="0">
                <a:solidFill>
                  <a:srgbClr val="252423"/>
                </a:solidFill>
                <a:latin typeface="Segoe UI"/>
              </a:rPr>
              <a:t>America' at</a:t>
            </a:r>
          </a:p>
        </p:txBody>
      </p:sp>
      <p:pic>
        <p:nvPicPr>
          <p:cNvPr id="80" name="Picture 79" descr="lock.png"/>
          <p:cNvPicPr>
            <a:picLocks noChangeAspect="1"/>
          </p:cNvPicPr>
          <p:nvPr/>
        </p:nvPicPr>
        <p:blipFill>
          <a:blip r:embed="rId4"/>
          <a:stretch>
            <a:fillRect/>
          </a:stretch>
        </p:blipFill>
        <p:spPr>
          <a:xfrm>
            <a:off x="905611" y="3823920"/>
            <a:ext cx="128699" cy="187198"/>
          </a:xfrm>
          <a:prstGeom prst="rect">
            <a:avLst/>
          </a:prstGeom>
        </p:spPr>
      </p:pic>
      <p:sp>
        <p:nvSpPr>
          <p:cNvPr id="81" name="TextBox 80"/>
          <p:cNvSpPr txBox="1"/>
          <p:nvPr/>
        </p:nvSpPr>
        <p:spPr>
          <a:xfrm>
            <a:off x="1073107" y="3833699"/>
            <a:ext cx="6135696" cy="186689"/>
          </a:xfrm>
          <a:prstGeom prst="rect">
            <a:avLst/>
          </a:prstGeom>
          <a:noFill/>
        </p:spPr>
        <p:txBody>
          <a:bodyPr wrap="none" lIns="0" rIns="0" tIns="0" bIns="0">
            <a:spAutoFit/>
          </a:bodyPr>
          <a:lstStyle/>
          <a:p>
            <a:r>
              <a:rPr sz="1100" b="0">
                <a:solidFill>
                  <a:srgbClr val="252423"/>
                </a:solidFill>
                <a:latin typeface="Segoe UI"/>
              </a:rPr>
              <a:t>of value, a shortfall in a single leading region is difficult to offset elsewhere in the forecast window.</a:t>
            </a:r>
          </a:p>
        </p:txBody>
      </p:sp>
      <p:sp>
        <p:nvSpPr>
          <p:cNvPr id="82" name="TextBox 81"/>
          <p:cNvSpPr txBox="1"/>
          <p:nvPr/>
        </p:nvSpPr>
        <p:spPr>
          <a:xfrm>
            <a:off x="190500" y="5342043"/>
            <a:ext cx="3584529" cy="186689"/>
          </a:xfrm>
          <a:prstGeom prst="rect">
            <a:avLst/>
          </a:prstGeom>
          <a:noFill/>
        </p:spPr>
        <p:txBody>
          <a:bodyPr wrap="none" lIns="0" rIns="0" tIns="0" bIns="0">
            <a:spAutoFit/>
          </a:bodyPr>
          <a:lstStyle/>
          <a:p>
            <a:r>
              <a:rPr sz="1100" b="0">
                <a:solidFill>
                  <a:srgbClr val="252423"/>
                </a:solidFill>
                <a:latin typeface="Segoe UI"/>
              </a:rPr>
              <a:t>The market is concentrated: 'North America' accounts for</a:t>
            </a:r>
          </a:p>
        </p:txBody>
      </p:sp>
      <p:pic>
        <p:nvPicPr>
          <p:cNvPr id="83" name="Picture 82" descr="lock.png"/>
          <p:cNvPicPr>
            <a:picLocks noChangeAspect="1"/>
          </p:cNvPicPr>
          <p:nvPr/>
        </p:nvPicPr>
        <p:blipFill>
          <a:blip r:embed="rId4"/>
          <a:stretch>
            <a:fillRect/>
          </a:stretch>
        </p:blipFill>
        <p:spPr>
          <a:xfrm>
            <a:off x="3723081" y="5332264"/>
            <a:ext cx="128699" cy="187198"/>
          </a:xfrm>
          <a:prstGeom prst="rect">
            <a:avLst/>
          </a:prstGeom>
        </p:spPr>
      </p:pic>
      <p:sp>
        <p:nvSpPr>
          <p:cNvPr id="84" name="TextBox 83"/>
          <p:cNvSpPr txBox="1"/>
          <p:nvPr/>
        </p:nvSpPr>
        <p:spPr>
          <a:xfrm>
            <a:off x="3890577" y="5342043"/>
            <a:ext cx="3882052" cy="186689"/>
          </a:xfrm>
          <a:prstGeom prst="rect">
            <a:avLst/>
          </a:prstGeom>
          <a:noFill/>
        </p:spPr>
        <p:txBody>
          <a:bodyPr wrap="none" lIns="0" rIns="0" tIns="0" bIns="0">
            <a:spAutoFit/>
          </a:bodyPr>
          <a:lstStyle/>
          <a:p>
            <a:r>
              <a:rPr sz="1100" b="0">
                <a:solidFill>
                  <a:srgbClr val="252423"/>
                </a:solidFill>
                <a:latin typeface="Segoe UI"/>
              </a:rPr>
              <a:t>of 2036 value and the leading energy storage capacity line for</a:t>
            </a:r>
          </a:p>
        </p:txBody>
      </p:sp>
      <p:pic>
        <p:nvPicPr>
          <p:cNvPr id="85" name="Picture 84" descr="lock.png"/>
          <p:cNvPicPr>
            <a:picLocks noChangeAspect="1"/>
          </p:cNvPicPr>
          <p:nvPr/>
        </p:nvPicPr>
        <p:blipFill>
          <a:blip r:embed="rId4"/>
          <a:stretch>
            <a:fillRect/>
          </a:stretch>
        </p:blipFill>
        <p:spPr>
          <a:xfrm>
            <a:off x="7720681" y="5332264"/>
            <a:ext cx="128699" cy="187198"/>
          </a:xfrm>
          <a:prstGeom prst="rect">
            <a:avLst/>
          </a:prstGeom>
        </p:spPr>
      </p:pic>
      <p:sp>
        <p:nvSpPr>
          <p:cNvPr id="86" name="TextBox 85"/>
          <p:cNvSpPr txBox="1"/>
          <p:nvPr/>
        </p:nvSpPr>
        <p:spPr>
          <a:xfrm>
            <a:off x="7888177" y="5342043"/>
            <a:ext cx="983665" cy="186689"/>
          </a:xfrm>
          <a:prstGeom prst="rect">
            <a:avLst/>
          </a:prstGeom>
          <a:noFill/>
        </p:spPr>
        <p:txBody>
          <a:bodyPr wrap="none" lIns="0" rIns="0" tIns="0" bIns="0">
            <a:spAutoFit/>
          </a:bodyPr>
          <a:lstStyle/>
          <a:p>
            <a:r>
              <a:rPr sz="1100" b="0">
                <a:solidFill>
                  <a:srgbClr val="252423"/>
                </a:solidFill>
                <a:latin typeface="Segoe UI"/>
              </a:rPr>
              <a:t>of its segment.</a:t>
            </a:r>
          </a:p>
        </p:txBody>
      </p:sp>
      <p:sp>
        <p:nvSpPr>
          <p:cNvPr id="87" name="TextBox 86"/>
          <p:cNvSpPr txBox="1"/>
          <p:nvPr/>
        </p:nvSpPr>
        <p:spPr>
          <a:xfrm>
            <a:off x="190500" y="5509683"/>
            <a:ext cx="1692470" cy="186689"/>
          </a:xfrm>
          <a:prstGeom prst="rect">
            <a:avLst/>
          </a:prstGeom>
          <a:noFill/>
        </p:spPr>
        <p:txBody>
          <a:bodyPr wrap="none" lIns="0" rIns="0" tIns="0" bIns="0">
            <a:spAutoFit/>
          </a:bodyPr>
          <a:lstStyle/>
          <a:p>
            <a:r>
              <a:rPr sz="1100" b="0">
                <a:solidFill>
                  <a:srgbClr val="252423"/>
                </a:solidFill>
                <a:latin typeface="Segoe UI"/>
              </a:rPr>
              <a:t>Average realisation moves</a:t>
            </a:r>
          </a:p>
        </p:txBody>
      </p:sp>
      <p:pic>
        <p:nvPicPr>
          <p:cNvPr id="88" name="Picture 87" descr="lock.png"/>
          <p:cNvPicPr>
            <a:picLocks noChangeAspect="1"/>
          </p:cNvPicPr>
          <p:nvPr/>
        </p:nvPicPr>
        <p:blipFill>
          <a:blip r:embed="rId4"/>
          <a:stretch>
            <a:fillRect/>
          </a:stretch>
        </p:blipFill>
        <p:spPr>
          <a:xfrm>
            <a:off x="1831021" y="5499904"/>
            <a:ext cx="128699" cy="187198"/>
          </a:xfrm>
          <a:prstGeom prst="rect">
            <a:avLst/>
          </a:prstGeom>
        </p:spPr>
      </p:pic>
      <p:sp>
        <p:nvSpPr>
          <p:cNvPr id="89" name="TextBox 88"/>
          <p:cNvSpPr txBox="1"/>
          <p:nvPr/>
        </p:nvSpPr>
        <p:spPr>
          <a:xfrm>
            <a:off x="1998517" y="5509683"/>
            <a:ext cx="7267185" cy="186689"/>
          </a:xfrm>
          <a:prstGeom prst="rect">
            <a:avLst/>
          </a:prstGeom>
          <a:noFill/>
        </p:spPr>
        <p:txBody>
          <a:bodyPr wrap="none" lIns="0" rIns="0" tIns="0" bIns="0">
            <a:spAutoFit/>
          </a:bodyPr>
          <a:lstStyle/>
          <a:p>
            <a:r>
              <a:rPr sz="1100" b="0">
                <a:solidFill>
                  <a:srgbClr val="252423"/>
                </a:solidFill>
                <a:latin typeface="Segoe UI"/>
              </a:rPr>
              <a:t>a year, so cost movements cannot be passed on evenly across 7 regions. The practical constraint is the same in either</a:t>
            </a:r>
          </a:p>
        </p:txBody>
      </p:sp>
      <p:sp>
        <p:nvSpPr>
          <p:cNvPr id="90" name="TextBox 89"/>
          <p:cNvSpPr txBox="1"/>
          <p:nvPr/>
        </p:nvSpPr>
        <p:spPr>
          <a:xfrm>
            <a:off x="190500" y="5677323"/>
            <a:ext cx="9247994" cy="186689"/>
          </a:xfrm>
          <a:prstGeom prst="rect">
            <a:avLst/>
          </a:prstGeom>
          <a:noFill/>
        </p:spPr>
        <p:txBody>
          <a:bodyPr wrap="none" lIns="0" rIns="0" tIns="0" bIns="0">
            <a:spAutoFit/>
          </a:bodyPr>
          <a:lstStyle/>
          <a:p>
            <a:r>
              <a:rPr sz="1100" b="0">
                <a:solidFill>
                  <a:srgbClr val="252423"/>
                </a:solidFill>
                <a:latin typeface="Segoe UI"/>
              </a:rPr>
              <a:t>case commercial terms set for the market as a whole underserve part of it, and margin is lost in the mismatch rather than in the headline growth rate.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Opportunities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key opportunities in the global market and the likelihood of their impact across 2021–2036</a:t>
            </a:r>
          </a:p>
        </p:txBody>
      </p:sp>
      <p:sp>
        <p:nvSpPr>
          <p:cNvPr id="8" name="Rounded Rectangle 7"/>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Segoe UI"/>
              </a:rPr>
              <a:t>Market Opportunities</a:t>
            </a:r>
          </a:p>
        </p:txBody>
      </p:sp>
      <p:sp>
        <p:nvSpPr>
          <p:cNvPr id="10" name="Rectangle 9"/>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United States Carries the Largest Absolute Opportunity</a:t>
            </a:r>
          </a:p>
        </p:txBody>
      </p:sp>
      <p:sp>
        <p:nvSpPr>
          <p:cNvPr id="12" name="TextBox 11"/>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14" name="TextBox 13"/>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15" name="Rectangle 14"/>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17" name="TextBox 16"/>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18" name="Rectangle 17"/>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20" name="TextBox 19"/>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21" name="Rectangle 20"/>
          <p:cNvSpPr/>
          <p:nvPr/>
        </p:nvSpPr>
        <p:spPr>
          <a:xfrm>
            <a:off x="981075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23" name="TextBox 22"/>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24" name="Rectangle 23"/>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cxnSp>
        <p:nvCxnSpPr>
          <p:cNvPr id="26" name="Connector 25"/>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Türkiye Offers Under-penetrated, Above-pace Headroom</a:t>
            </a:r>
          </a:p>
        </p:txBody>
      </p:sp>
      <p:sp>
        <p:nvSpPr>
          <p:cNvPr id="29" name="TextBox 28"/>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0" name="TextBox 29"/>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31" name="TextBox 30"/>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32" name="Rectangle 31"/>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34" name="TextBox 33"/>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35" name="Rectangle 34"/>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37" name="TextBox 36"/>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38" name="Rectangle 37"/>
          <p:cNvSpPr/>
          <p:nvPr/>
        </p:nvSpPr>
        <p:spPr>
          <a:xfrm>
            <a:off x="9810750" y="421078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40" name="TextBox 39"/>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41" name="Rectangle 40"/>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cxnSp>
        <p:nvCxnSpPr>
          <p:cNvPr id="43" name="Connector 42"/>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Outdoor &amp; Recreational Power Opens the Fastest Route to Market</a:t>
            </a:r>
          </a:p>
        </p:txBody>
      </p:sp>
      <p:sp>
        <p:nvSpPr>
          <p:cNvPr id="46" name="TextBox 45"/>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48" name="TextBox 47"/>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49" name="Rectangle 48"/>
          <p:cNvSpPr/>
          <p:nvPr/>
        </p:nvSpPr>
        <p:spPr>
          <a:xfrm>
            <a:off x="9810750" y="544291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51" name="TextBox 50"/>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52" name="Rectangle 51"/>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54" name="TextBox 53"/>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55" name="Rectangle 54"/>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57" name="TextBox 56"/>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58" name="Rectangle 57"/>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190500" y="1746064"/>
            <a:ext cx="1296835" cy="186689"/>
          </a:xfrm>
          <a:prstGeom prst="rect">
            <a:avLst/>
          </a:prstGeom>
          <a:noFill/>
        </p:spPr>
        <p:txBody>
          <a:bodyPr wrap="none" lIns="0" rIns="0" tIns="0" bIns="0">
            <a:spAutoFit/>
          </a:bodyPr>
          <a:lstStyle/>
          <a:p>
            <a:r>
              <a:rPr sz="1100" b="0">
                <a:solidFill>
                  <a:srgbClr val="252423"/>
                </a:solidFill>
                <a:latin typeface="Segoe UI"/>
              </a:rPr>
              <a:t>'United States' adds</a:t>
            </a:r>
          </a:p>
        </p:txBody>
      </p:sp>
      <p:pic>
        <p:nvPicPr>
          <p:cNvPr id="62" name="Picture 61" descr="lock.png"/>
          <p:cNvPicPr>
            <a:picLocks noChangeAspect="1"/>
          </p:cNvPicPr>
          <p:nvPr/>
        </p:nvPicPr>
        <p:blipFill>
          <a:blip r:embed="rId4"/>
          <a:stretch>
            <a:fillRect/>
          </a:stretch>
        </p:blipFill>
        <p:spPr>
          <a:xfrm>
            <a:off x="1435387" y="1736285"/>
            <a:ext cx="128699" cy="187198"/>
          </a:xfrm>
          <a:prstGeom prst="rect">
            <a:avLst/>
          </a:prstGeom>
        </p:spPr>
      </p:pic>
      <p:sp>
        <p:nvSpPr>
          <p:cNvPr id="63" name="TextBox 62"/>
          <p:cNvSpPr txBox="1"/>
          <p:nvPr/>
        </p:nvSpPr>
        <p:spPr>
          <a:xfrm>
            <a:off x="1602882" y="1746064"/>
            <a:ext cx="7441977" cy="186689"/>
          </a:xfrm>
          <a:prstGeom prst="rect">
            <a:avLst/>
          </a:prstGeom>
          <a:noFill/>
        </p:spPr>
        <p:txBody>
          <a:bodyPr wrap="none" lIns="0" rIns="0" tIns="0" bIns="0">
            <a:spAutoFit/>
          </a:bodyPr>
          <a:lstStyle/>
          <a:p>
            <a:r>
              <a:rPr sz="1100" b="0">
                <a:solidFill>
                  <a:srgbClr val="252423"/>
                </a:solidFill>
                <a:latin typeface="Segoe UI"/>
              </a:rPr>
              <a:t>US$ Mn between 2026 and 2036 the single largest absolute increment of any geography in the dataset. Capturing it is a</a:t>
            </a:r>
          </a:p>
        </p:txBody>
      </p:sp>
      <p:sp>
        <p:nvSpPr>
          <p:cNvPr id="64" name="TextBox 63"/>
          <p:cNvSpPr txBox="1"/>
          <p:nvPr/>
        </p:nvSpPr>
        <p:spPr>
          <a:xfrm>
            <a:off x="190500" y="1913704"/>
            <a:ext cx="5756236" cy="186689"/>
          </a:xfrm>
          <a:prstGeom prst="rect">
            <a:avLst/>
          </a:prstGeom>
          <a:noFill/>
        </p:spPr>
        <p:txBody>
          <a:bodyPr wrap="none" lIns="0" rIns="0" tIns="0" bIns="0">
            <a:spAutoFit/>
          </a:bodyPr>
          <a:lstStyle/>
          <a:p>
            <a:r>
              <a:rPr sz="1100" b="0">
                <a:solidFill>
                  <a:srgbClr val="252423"/>
                </a:solidFill>
                <a:latin typeface="Segoe UI"/>
              </a:rPr>
              <a:t>question of scale execution 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5894787" y="1903925"/>
            <a:ext cx="128699" cy="187198"/>
          </a:xfrm>
          <a:prstGeom prst="rect">
            <a:avLst/>
          </a:prstGeom>
        </p:spPr>
      </p:pic>
      <p:sp>
        <p:nvSpPr>
          <p:cNvPr id="66" name="TextBox 65"/>
          <p:cNvSpPr txBox="1"/>
          <p:nvPr/>
        </p:nvSpPr>
        <p:spPr>
          <a:xfrm>
            <a:off x="6062283" y="1913704"/>
            <a:ext cx="2940433" cy="186689"/>
          </a:xfrm>
          <a:prstGeom prst="rect">
            <a:avLst/>
          </a:prstGeom>
          <a:noFill/>
        </p:spPr>
        <p:txBody>
          <a:bodyPr wrap="none" lIns="0" rIns="0" tIns="0" bIns="0">
            <a:spAutoFit/>
          </a:bodyPr>
          <a:lstStyle/>
          <a:p>
            <a:r>
              <a:rPr sz="1100" b="0">
                <a:solidFill>
                  <a:srgbClr val="252423"/>
                </a:solidFill>
                <a:latin typeface="Segoe UI"/>
              </a:rPr>
              <a:t>at the market level. Prioritising supply, channel</a:t>
            </a:r>
          </a:p>
        </p:txBody>
      </p:sp>
      <p:sp>
        <p:nvSpPr>
          <p:cNvPr id="67" name="TextBox 66"/>
          <p:cNvSpPr txBox="1"/>
          <p:nvPr/>
        </p:nvSpPr>
        <p:spPr>
          <a:xfrm>
            <a:off x="190500" y="2081344"/>
            <a:ext cx="4126395" cy="186689"/>
          </a:xfrm>
          <a:prstGeom prst="rect">
            <a:avLst/>
          </a:prstGeom>
          <a:noFill/>
        </p:spPr>
        <p:txBody>
          <a:bodyPr wrap="none" lIns="0" rIns="0" tIns="0" bIns="0">
            <a:spAutoFit/>
          </a:bodyPr>
          <a:lstStyle/>
          <a:p>
            <a:r>
              <a:rPr sz="1100" b="0">
                <a:solidFill>
                  <a:srgbClr val="252423"/>
                </a:solidFill>
                <a:latin typeface="Segoe UI"/>
              </a:rPr>
              <a:t>coverage and service levels there converts the largest share of the</a:t>
            </a:r>
          </a:p>
        </p:txBody>
      </p:sp>
      <p:pic>
        <p:nvPicPr>
          <p:cNvPr id="68" name="Picture 67" descr="lock.png"/>
          <p:cNvPicPr>
            <a:picLocks noChangeAspect="1"/>
          </p:cNvPicPr>
          <p:nvPr/>
        </p:nvPicPr>
        <p:blipFill>
          <a:blip r:embed="rId4"/>
          <a:stretch>
            <a:fillRect/>
          </a:stretch>
        </p:blipFill>
        <p:spPr>
          <a:xfrm>
            <a:off x="4264947" y="2071565"/>
            <a:ext cx="128699" cy="187198"/>
          </a:xfrm>
          <a:prstGeom prst="rect">
            <a:avLst/>
          </a:prstGeom>
        </p:spPr>
      </p:pic>
      <p:sp>
        <p:nvSpPr>
          <p:cNvPr id="69" name="TextBox 68"/>
          <p:cNvSpPr txBox="1"/>
          <p:nvPr/>
        </p:nvSpPr>
        <p:spPr>
          <a:xfrm>
            <a:off x="4432443" y="2081344"/>
            <a:ext cx="3556336" cy="186689"/>
          </a:xfrm>
          <a:prstGeom prst="rect">
            <a:avLst/>
          </a:prstGeom>
          <a:noFill/>
        </p:spPr>
        <p:txBody>
          <a:bodyPr wrap="none" lIns="0" rIns="0" tIns="0" bIns="0">
            <a:spAutoFit/>
          </a:bodyPr>
          <a:lstStyle/>
          <a:p>
            <a:r>
              <a:rPr sz="1100" b="0">
                <a:solidFill>
                  <a:srgbClr val="252423"/>
                </a:solidFill>
                <a:latin typeface="Segoe UI"/>
              </a:rPr>
              <a:t>US$ Mn the whole market adds over the forecast period.</a:t>
            </a:r>
          </a:p>
        </p:txBody>
      </p:sp>
      <p:sp>
        <p:nvSpPr>
          <p:cNvPr id="70" name="TextBox 69"/>
          <p:cNvSpPr txBox="1"/>
          <p:nvPr/>
        </p:nvSpPr>
        <p:spPr>
          <a:xfrm>
            <a:off x="190500" y="3498419"/>
            <a:ext cx="1511092" cy="186689"/>
          </a:xfrm>
          <a:prstGeom prst="rect">
            <a:avLst/>
          </a:prstGeom>
          <a:noFill/>
        </p:spPr>
        <p:txBody>
          <a:bodyPr wrap="none" lIns="0" rIns="0" tIns="0" bIns="0">
            <a:spAutoFit/>
          </a:bodyPr>
          <a:lstStyle/>
          <a:p>
            <a:r>
              <a:rPr sz="1100" b="0">
                <a:solidFill>
                  <a:srgbClr val="252423"/>
                </a:solidFill>
                <a:latin typeface="Segoe UI"/>
              </a:rPr>
              <a:t>'Türkiye' compounds at</a:t>
            </a:r>
          </a:p>
        </p:txBody>
      </p:sp>
      <p:pic>
        <p:nvPicPr>
          <p:cNvPr id="71" name="Picture 70" descr="lock.png"/>
          <p:cNvPicPr>
            <a:picLocks noChangeAspect="1"/>
          </p:cNvPicPr>
          <p:nvPr/>
        </p:nvPicPr>
        <p:blipFill>
          <a:blip r:embed="rId4"/>
          <a:stretch>
            <a:fillRect/>
          </a:stretch>
        </p:blipFill>
        <p:spPr>
          <a:xfrm>
            <a:off x="1649643" y="3488640"/>
            <a:ext cx="128699" cy="187198"/>
          </a:xfrm>
          <a:prstGeom prst="rect">
            <a:avLst/>
          </a:prstGeom>
        </p:spPr>
      </p:pic>
      <p:sp>
        <p:nvSpPr>
          <p:cNvPr id="72" name="TextBox 71"/>
          <p:cNvSpPr txBox="1"/>
          <p:nvPr/>
        </p:nvSpPr>
        <p:spPr>
          <a:xfrm>
            <a:off x="1817139" y="3498419"/>
            <a:ext cx="7686950" cy="186689"/>
          </a:xfrm>
          <a:prstGeom prst="rect">
            <a:avLst/>
          </a:prstGeom>
          <a:noFill/>
        </p:spPr>
        <p:txBody>
          <a:bodyPr wrap="none" lIns="0" rIns="0" tIns="0" bIns="0">
            <a:spAutoFit/>
          </a:bodyPr>
          <a:lstStyle/>
          <a:p>
            <a:r>
              <a:rPr sz="1100" b="0">
                <a:solidFill>
                  <a:srgbClr val="252423"/>
                </a:solidFill>
                <a:latin typeface="Segoe UI"/>
              </a:rPr>
              <a:t>CAGR from a below-median base one of 5 geographies in the dataset combining above-median growth with below-median</a:t>
            </a:r>
          </a:p>
        </p:txBody>
      </p:sp>
      <p:sp>
        <p:nvSpPr>
          <p:cNvPr id="73" name="TextBox 72"/>
          <p:cNvSpPr txBox="1"/>
          <p:nvPr/>
        </p:nvSpPr>
        <p:spPr>
          <a:xfrm>
            <a:off x="190500" y="3666059"/>
            <a:ext cx="5712311" cy="186689"/>
          </a:xfrm>
          <a:prstGeom prst="rect">
            <a:avLst/>
          </a:prstGeom>
          <a:noFill/>
        </p:spPr>
        <p:txBody>
          <a:bodyPr wrap="none" lIns="0" rIns="0" tIns="0" bIns="0">
            <a:spAutoFit/>
          </a:bodyPr>
          <a:lstStyle/>
          <a:p>
            <a:r>
              <a:rPr sz="1100" b="0">
                <a:solidFill>
                  <a:srgbClr val="252423"/>
                </a:solidFill>
                <a:latin typeface="Segoe UI"/>
              </a:rPr>
              <a:t>size. That 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5850862" y="3656280"/>
            <a:ext cx="128699" cy="187198"/>
          </a:xfrm>
          <a:prstGeom prst="rect">
            <a:avLst/>
          </a:prstGeom>
        </p:spPr>
      </p:pic>
      <p:sp>
        <p:nvSpPr>
          <p:cNvPr id="75" name="TextBox 74"/>
          <p:cNvSpPr txBox="1"/>
          <p:nvPr/>
        </p:nvSpPr>
        <p:spPr>
          <a:xfrm>
            <a:off x="6018358" y="3666059"/>
            <a:ext cx="2248874" cy="186689"/>
          </a:xfrm>
          <a:prstGeom prst="rect">
            <a:avLst/>
          </a:prstGeom>
          <a:noFill/>
        </p:spPr>
        <p:txBody>
          <a:bodyPr wrap="none" lIns="0" rIns="0" tIns="0" bIns="0">
            <a:spAutoFit/>
          </a:bodyPr>
          <a:lstStyle/>
          <a:p>
            <a:r>
              <a:rPr sz="1100" b="0">
                <a:solidFill>
                  <a:srgbClr val="252423"/>
                </a:solidFill>
                <a:latin typeface="Segoe UI"/>
              </a:rPr>
              <a:t>-share leaders, while growth runs +</a:t>
            </a:r>
          </a:p>
        </p:txBody>
      </p:sp>
      <p:pic>
        <p:nvPicPr>
          <p:cNvPr id="76" name="Picture 75" descr="lock.png"/>
          <p:cNvPicPr>
            <a:picLocks noChangeAspect="1"/>
          </p:cNvPicPr>
          <p:nvPr/>
        </p:nvPicPr>
        <p:blipFill>
          <a:blip r:embed="rId4"/>
          <a:stretch>
            <a:fillRect/>
          </a:stretch>
        </p:blipFill>
        <p:spPr>
          <a:xfrm>
            <a:off x="8215284" y="3656280"/>
            <a:ext cx="128699" cy="187198"/>
          </a:xfrm>
          <a:prstGeom prst="rect">
            <a:avLst/>
          </a:prstGeom>
        </p:spPr>
      </p:pic>
      <p:sp>
        <p:nvSpPr>
          <p:cNvPr id="77" name="TextBox 76"/>
          <p:cNvSpPr txBox="1"/>
          <p:nvPr/>
        </p:nvSpPr>
        <p:spPr>
          <a:xfrm>
            <a:off x="8382780" y="3666059"/>
            <a:ext cx="887895" cy="186689"/>
          </a:xfrm>
          <a:prstGeom prst="rect">
            <a:avLst/>
          </a:prstGeom>
          <a:noFill/>
        </p:spPr>
        <p:txBody>
          <a:bodyPr wrap="none" lIns="0" rIns="0" tIns="0" bIns="0">
            <a:spAutoFit/>
          </a:bodyPr>
          <a:lstStyle/>
          <a:p>
            <a:r>
              <a:rPr sz="1100" b="0">
                <a:solidFill>
                  <a:srgbClr val="252423"/>
                </a:solidFill>
                <a:latin typeface="Segoe UI"/>
              </a:rPr>
              <a:t>BPS ahead of</a:t>
            </a:r>
          </a:p>
        </p:txBody>
      </p:sp>
      <p:sp>
        <p:nvSpPr>
          <p:cNvPr id="78" name="TextBox 77"/>
          <p:cNvSpPr txBox="1"/>
          <p:nvPr/>
        </p:nvSpPr>
        <p:spPr>
          <a:xfrm>
            <a:off x="190500" y="3833699"/>
            <a:ext cx="5983820" cy="186689"/>
          </a:xfrm>
          <a:prstGeom prst="rect">
            <a:avLst/>
          </a:prstGeom>
          <a:noFill/>
        </p:spPr>
        <p:txBody>
          <a:bodyPr wrap="none" lIns="0" rIns="0" tIns="0" bIns="0">
            <a:spAutoFit/>
          </a:bodyPr>
          <a:lstStyle/>
          <a:p>
            <a:r>
              <a:rPr sz="1100" b="0">
                <a:solidFill>
                  <a:srgbClr val="252423"/>
                </a:solidFill>
                <a:latin typeface="Segoe UI"/>
              </a:rPr>
              <a:t>the market. Early distribution and reference accounts established here compound through 2036.</a:t>
            </a:r>
          </a:p>
        </p:txBody>
      </p:sp>
      <p:sp>
        <p:nvSpPr>
          <p:cNvPr id="79" name="TextBox 78"/>
          <p:cNvSpPr txBox="1"/>
          <p:nvPr/>
        </p:nvSpPr>
        <p:spPr>
          <a:xfrm>
            <a:off x="190500" y="5250774"/>
            <a:ext cx="2605840" cy="186689"/>
          </a:xfrm>
          <a:prstGeom prst="rect">
            <a:avLst/>
          </a:prstGeom>
          <a:noFill/>
        </p:spPr>
        <p:txBody>
          <a:bodyPr wrap="none" lIns="0" rIns="0" tIns="0" bIns="0">
            <a:spAutoFit/>
          </a:bodyPr>
          <a:lstStyle/>
          <a:p>
            <a:r>
              <a:rPr sz="1100" b="0">
                <a:solidFill>
                  <a:srgbClr val="252423"/>
                </a:solidFill>
                <a:latin typeface="Segoe UI"/>
              </a:rPr>
              <a:t>'Outdoor &amp; Recreational Power' grows at</a:t>
            </a:r>
          </a:p>
        </p:txBody>
      </p:sp>
      <p:pic>
        <p:nvPicPr>
          <p:cNvPr id="80" name="Picture 79" descr="lock.png"/>
          <p:cNvPicPr>
            <a:picLocks noChangeAspect="1"/>
          </p:cNvPicPr>
          <p:nvPr/>
        </p:nvPicPr>
        <p:blipFill>
          <a:blip r:embed="rId4"/>
          <a:stretch>
            <a:fillRect/>
          </a:stretch>
        </p:blipFill>
        <p:spPr>
          <a:xfrm>
            <a:off x="2744392" y="5240995"/>
            <a:ext cx="128699" cy="187198"/>
          </a:xfrm>
          <a:prstGeom prst="rect">
            <a:avLst/>
          </a:prstGeom>
        </p:spPr>
      </p:pic>
      <p:sp>
        <p:nvSpPr>
          <p:cNvPr id="81" name="TextBox 80"/>
          <p:cNvSpPr txBox="1"/>
          <p:nvPr/>
        </p:nvSpPr>
        <p:spPr>
          <a:xfrm>
            <a:off x="2911888" y="5250774"/>
            <a:ext cx="3663775" cy="186689"/>
          </a:xfrm>
          <a:prstGeom prst="rect">
            <a:avLst/>
          </a:prstGeom>
          <a:noFill/>
        </p:spPr>
        <p:txBody>
          <a:bodyPr wrap="none" lIns="0" rIns="0" tIns="0" bIns="0">
            <a:spAutoFit/>
          </a:bodyPr>
          <a:lstStyle/>
          <a:p>
            <a:r>
              <a:rPr sz="1100" b="0">
                <a:solidFill>
                  <a:srgbClr val="252423"/>
                </a:solidFill>
                <a:latin typeface="Segoe UI"/>
              </a:rPr>
              <a:t>CAGR, the fastest of 4 system application routes, and adds</a:t>
            </a:r>
          </a:p>
        </p:txBody>
      </p:sp>
      <p:pic>
        <p:nvPicPr>
          <p:cNvPr id="82" name="Picture 81" descr="lock.png"/>
          <p:cNvPicPr>
            <a:picLocks noChangeAspect="1"/>
          </p:cNvPicPr>
          <p:nvPr/>
        </p:nvPicPr>
        <p:blipFill>
          <a:blip r:embed="rId4"/>
          <a:stretch>
            <a:fillRect/>
          </a:stretch>
        </p:blipFill>
        <p:spPr>
          <a:xfrm>
            <a:off x="6523715" y="5240995"/>
            <a:ext cx="128699" cy="187198"/>
          </a:xfrm>
          <a:prstGeom prst="rect">
            <a:avLst/>
          </a:prstGeom>
        </p:spPr>
      </p:pic>
      <p:sp>
        <p:nvSpPr>
          <p:cNvPr id="83" name="TextBox 82"/>
          <p:cNvSpPr txBox="1"/>
          <p:nvPr/>
        </p:nvSpPr>
        <p:spPr>
          <a:xfrm>
            <a:off x="6691211" y="5250774"/>
            <a:ext cx="2438233" cy="186689"/>
          </a:xfrm>
          <a:prstGeom prst="rect">
            <a:avLst/>
          </a:prstGeom>
          <a:noFill/>
        </p:spPr>
        <p:txBody>
          <a:bodyPr wrap="none" lIns="0" rIns="0" tIns="0" bIns="0">
            <a:spAutoFit/>
          </a:bodyPr>
          <a:lstStyle/>
          <a:p>
            <a:r>
              <a:rPr sz="1100" b="0">
                <a:solidFill>
                  <a:srgbClr val="252423"/>
                </a:solidFill>
                <a:latin typeface="Segoe UI"/>
              </a:rPr>
              <a:t>US$ Mn over the forecast period while</a:t>
            </a:r>
          </a:p>
        </p:txBody>
      </p:sp>
      <p:sp>
        <p:nvSpPr>
          <p:cNvPr id="84" name="TextBox 83"/>
          <p:cNvSpPr txBox="1"/>
          <p:nvPr/>
        </p:nvSpPr>
        <p:spPr>
          <a:xfrm>
            <a:off x="190500" y="5418414"/>
            <a:ext cx="3417638" cy="186689"/>
          </a:xfrm>
          <a:prstGeom prst="rect">
            <a:avLst/>
          </a:prstGeom>
          <a:noFill/>
        </p:spPr>
        <p:txBody>
          <a:bodyPr wrap="none" lIns="0" rIns="0" tIns="0" bIns="0">
            <a:spAutoFit/>
          </a:bodyPr>
          <a:lstStyle/>
          <a:p>
            <a:r>
              <a:rPr sz="1100" b="0">
                <a:solidFill>
                  <a:srgbClr val="252423"/>
                </a:solidFill>
                <a:latin typeface="Segoe UI"/>
              </a:rPr>
              <a:t>'Professional &amp; Specialized Portable Power' still carries</a:t>
            </a:r>
          </a:p>
        </p:txBody>
      </p:sp>
      <p:pic>
        <p:nvPicPr>
          <p:cNvPr id="85" name="Picture 84" descr="lock.png"/>
          <p:cNvPicPr>
            <a:picLocks noChangeAspect="1"/>
          </p:cNvPicPr>
          <p:nvPr/>
        </p:nvPicPr>
        <p:blipFill>
          <a:blip r:embed="rId4"/>
          <a:stretch>
            <a:fillRect/>
          </a:stretch>
        </p:blipFill>
        <p:spPr>
          <a:xfrm>
            <a:off x="3556189" y="5408635"/>
            <a:ext cx="128699" cy="187198"/>
          </a:xfrm>
          <a:prstGeom prst="rect">
            <a:avLst/>
          </a:prstGeom>
        </p:spPr>
      </p:pic>
      <p:sp>
        <p:nvSpPr>
          <p:cNvPr id="86" name="TextBox 85"/>
          <p:cNvSpPr txBox="1"/>
          <p:nvPr/>
        </p:nvSpPr>
        <p:spPr>
          <a:xfrm>
            <a:off x="3723685" y="5418414"/>
            <a:ext cx="5677974" cy="186689"/>
          </a:xfrm>
          <a:prstGeom prst="rect">
            <a:avLst/>
          </a:prstGeom>
          <a:noFill/>
        </p:spPr>
        <p:txBody>
          <a:bodyPr wrap="none" lIns="0" rIns="0" tIns="0" bIns="0">
            <a:spAutoFit/>
          </a:bodyPr>
          <a:lstStyle/>
          <a:p>
            <a:r>
              <a:rPr sz="1100" b="0">
                <a:solidFill>
                  <a:srgbClr val="252423"/>
                </a:solidFill>
                <a:latin typeface="Segoe UI"/>
              </a:rPr>
              <a:t>of demand today. Pairing the incumbent route for volume with the fastest route for growth</a:t>
            </a:r>
          </a:p>
        </p:txBody>
      </p:sp>
      <p:sp>
        <p:nvSpPr>
          <p:cNvPr id="87" name="TextBox 86"/>
          <p:cNvSpPr txBox="1"/>
          <p:nvPr/>
        </p:nvSpPr>
        <p:spPr>
          <a:xfrm>
            <a:off x="190500" y="5586054"/>
            <a:ext cx="3134576" cy="186689"/>
          </a:xfrm>
          <a:prstGeom prst="rect">
            <a:avLst/>
          </a:prstGeom>
          <a:noFill/>
        </p:spPr>
        <p:txBody>
          <a:bodyPr wrap="none" lIns="0" rIns="0" tIns="0" bIns="0">
            <a:spAutoFit/>
          </a:bodyPr>
          <a:lstStyle/>
          <a:p>
            <a:r>
              <a:rPr sz="1100" b="0">
                <a:solidFill>
                  <a:srgbClr val="252423"/>
                </a:solidFill>
                <a:latin typeface="Segoe UI"/>
              </a:rPr>
              <a:t>and leading with '1,000 Wh to Below 1,500 Wh' at</a:t>
            </a:r>
          </a:p>
        </p:txBody>
      </p:sp>
      <p:pic>
        <p:nvPicPr>
          <p:cNvPr id="88" name="Picture 87" descr="lock.png"/>
          <p:cNvPicPr>
            <a:picLocks noChangeAspect="1"/>
          </p:cNvPicPr>
          <p:nvPr/>
        </p:nvPicPr>
        <p:blipFill>
          <a:blip r:embed="rId4"/>
          <a:stretch>
            <a:fillRect/>
          </a:stretch>
        </p:blipFill>
        <p:spPr>
          <a:xfrm>
            <a:off x="3273127" y="5576275"/>
            <a:ext cx="128699" cy="187198"/>
          </a:xfrm>
          <a:prstGeom prst="rect">
            <a:avLst/>
          </a:prstGeom>
        </p:spPr>
      </p:pic>
      <p:sp>
        <p:nvSpPr>
          <p:cNvPr id="89" name="TextBox 88"/>
          <p:cNvSpPr txBox="1"/>
          <p:nvPr/>
        </p:nvSpPr>
        <p:spPr>
          <a:xfrm>
            <a:off x="3440623" y="5586054"/>
            <a:ext cx="3396475" cy="186689"/>
          </a:xfrm>
          <a:prstGeom prst="rect">
            <a:avLst/>
          </a:prstGeom>
          <a:noFill/>
        </p:spPr>
        <p:txBody>
          <a:bodyPr wrap="none" lIns="0" rIns="0" tIns="0" bIns="0">
            <a:spAutoFit/>
          </a:bodyPr>
          <a:lstStyle/>
          <a:p>
            <a:r>
              <a:rPr sz="1100" b="0">
                <a:solidFill>
                  <a:srgbClr val="252423"/>
                </a:solidFill>
                <a:latin typeface="Segoe UI"/>
              </a:rPr>
              <a:t>is the highest-yield combination the dataset supports.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Lithium Polymer Portable Energy Storage Market Recent Developments &amp; Milestones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Recent developments and milestones shaping the global market, by year</a:t>
            </a:r>
          </a:p>
        </p:txBody>
      </p:sp>
      <p:sp>
        <p:nvSpPr>
          <p:cNvPr id="8" name="Rectangle 7"/>
          <p:cNvSpPr/>
          <p:nvPr/>
        </p:nvSpPr>
        <p:spPr>
          <a:xfrm>
            <a:off x="142875" y="1025515"/>
            <a:ext cx="11906250" cy="292059"/>
          </a:xfrm>
          <a:prstGeom prst="rect">
            <a:avLst/>
          </a:prstGeom>
          <a:solidFill>
            <a:srgbClr val="1F5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Segoe UI"/>
              </a:rPr>
              <a:t>Year</a:t>
            </a:r>
          </a:p>
        </p:txBody>
      </p:sp>
      <p:sp>
        <p:nvSpPr>
          <p:cNvPr id="10" name="TextBox 9"/>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Segoe UI"/>
              </a:rPr>
              <a:t>Recent Development</a:t>
            </a:r>
          </a:p>
        </p:txBody>
      </p:sp>
      <p:sp>
        <p:nvSpPr>
          <p:cNvPr id="11" name="Rectangle 10"/>
          <p:cNvSpPr/>
          <p:nvPr/>
        </p:nvSpPr>
        <p:spPr>
          <a:xfrm>
            <a:off x="142875" y="1317574"/>
            <a:ext cx="11906250" cy="1296013"/>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1F5C8B"/>
                </a:solidFill>
                <a:latin typeface="Segoe UI"/>
              </a:rPr>
              <a:t>2025</a:t>
            </a:r>
          </a:p>
        </p:txBody>
      </p:sp>
      <p:cxnSp>
        <p:nvCxnSpPr>
          <p:cNvPr id="13" name="Connector 12"/>
          <p:cNvCxnSpPr/>
          <p:nvPr/>
        </p:nvCxnSpPr>
        <p:spPr>
          <a:xfrm>
            <a:off x="1571625" y="1317574"/>
            <a:ext cx="0" cy="1296013"/>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5" name="Rectangle 14"/>
          <p:cNvSpPr/>
          <p:nvPr/>
        </p:nvSpPr>
        <p:spPr>
          <a:xfrm>
            <a:off x="142875" y="2613586"/>
            <a:ext cx="11906250" cy="985700"/>
          </a:xfrm>
          <a:prstGeom prst="rect">
            <a:avLst/>
          </a:prstGeom>
          <a:solidFill>
            <a:srgbClr val="F2FAFD"/>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2026</a:t>
            </a:r>
          </a:p>
        </p:txBody>
      </p:sp>
      <p:cxnSp>
        <p:nvCxnSpPr>
          <p:cNvPr id="17" name="Connector 16"/>
          <p:cNvCxnSpPr/>
          <p:nvPr/>
        </p:nvCxnSpPr>
        <p:spPr>
          <a:xfrm>
            <a:off x="1571625" y="26135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9" name="Rectangle 18"/>
          <p:cNvSpPr/>
          <p:nvPr/>
        </p:nvSpPr>
        <p:spPr>
          <a:xfrm>
            <a:off x="142875" y="3599286"/>
            <a:ext cx="11906250" cy="985700"/>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2030</a:t>
            </a:r>
          </a:p>
        </p:txBody>
      </p:sp>
      <p:cxnSp>
        <p:nvCxnSpPr>
          <p:cNvPr id="21" name="Connector 20"/>
          <p:cNvCxnSpPr/>
          <p:nvPr/>
        </p:nvCxnSpPr>
        <p:spPr>
          <a:xfrm>
            <a:off x="1571625" y="35992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3" name="Rectangle 22"/>
          <p:cNvSpPr/>
          <p:nvPr/>
        </p:nvSpPr>
        <p:spPr>
          <a:xfrm>
            <a:off x="142875" y="4584986"/>
            <a:ext cx="11906250" cy="985700"/>
          </a:xfrm>
          <a:prstGeom prst="rect">
            <a:avLst/>
          </a:prstGeom>
          <a:solidFill>
            <a:srgbClr val="F2FAFD"/>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2031</a:t>
            </a:r>
          </a:p>
        </p:txBody>
      </p:sp>
      <p:cxnSp>
        <p:nvCxnSpPr>
          <p:cNvPr id="25" name="Connector 24"/>
          <p:cNvCxnSpPr/>
          <p:nvPr/>
        </p:nvCxnSpPr>
        <p:spPr>
          <a:xfrm>
            <a:off x="1571625" y="45849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7" name="Rectangle 26"/>
          <p:cNvSpPr/>
          <p:nvPr/>
        </p:nvSpPr>
        <p:spPr>
          <a:xfrm>
            <a:off x="142875" y="5570686"/>
            <a:ext cx="11906250" cy="985700"/>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2036</a:t>
            </a:r>
          </a:p>
        </p:txBody>
      </p:sp>
      <p:cxnSp>
        <p:nvCxnSpPr>
          <p:cNvPr id="29" name="Connector 28"/>
          <p:cNvCxnSpPr/>
          <p:nvPr/>
        </p:nvCxnSpPr>
        <p:spPr>
          <a:xfrm>
            <a:off x="1571625" y="55706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1" name="TextBox 3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32" name="TextBox 31"/>
          <p:cNvSpPr txBox="1"/>
          <p:nvPr/>
        </p:nvSpPr>
        <p:spPr>
          <a:xfrm>
            <a:off x="1743075" y="1714119"/>
            <a:ext cx="3823786" cy="186689"/>
          </a:xfrm>
          <a:prstGeom prst="rect">
            <a:avLst/>
          </a:prstGeom>
          <a:noFill/>
        </p:spPr>
        <p:txBody>
          <a:bodyPr wrap="none" lIns="0" rIns="0" tIns="0" bIns="0">
            <a:spAutoFit/>
          </a:bodyPr>
          <a:lstStyle/>
          <a:p>
            <a:r>
              <a:rPr sz="1100" b="0">
                <a:solidFill>
                  <a:srgbClr val="252423"/>
                </a:solidFill>
                <a:latin typeface="Segoe U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514912" y="1704340"/>
            <a:ext cx="128699" cy="187198"/>
          </a:xfrm>
          <a:prstGeom prst="rect">
            <a:avLst/>
          </a:prstGeom>
        </p:spPr>
      </p:pic>
      <p:sp>
        <p:nvSpPr>
          <p:cNvPr id="34" name="TextBox 33"/>
          <p:cNvSpPr txBox="1"/>
          <p:nvPr/>
        </p:nvSpPr>
        <p:spPr>
          <a:xfrm>
            <a:off x="5682408" y="1714119"/>
            <a:ext cx="1002224" cy="186689"/>
          </a:xfrm>
          <a:prstGeom prst="rect">
            <a:avLst/>
          </a:prstGeom>
          <a:noFill/>
        </p:spPr>
        <p:txBody>
          <a:bodyPr wrap="none" lIns="0" rIns="0" tIns="0" bIns="0">
            <a:spAutoFit/>
          </a:bodyPr>
          <a:lstStyle/>
          <a:p>
            <a:r>
              <a:rPr sz="1100" b="0">
                <a:solidFill>
                  <a:srgbClr val="252423"/>
                </a:solidFill>
                <a:latin typeface="Segoe UI"/>
              </a:rPr>
              <a:t>year on year to</a:t>
            </a:r>
          </a:p>
        </p:txBody>
      </p:sp>
      <p:pic>
        <p:nvPicPr>
          <p:cNvPr id="35" name="Picture 34" descr="lock.png"/>
          <p:cNvPicPr>
            <a:picLocks noChangeAspect="1"/>
          </p:cNvPicPr>
          <p:nvPr/>
        </p:nvPicPr>
        <p:blipFill>
          <a:blip r:embed="rId4"/>
          <a:stretch>
            <a:fillRect/>
          </a:stretch>
        </p:blipFill>
        <p:spPr>
          <a:xfrm>
            <a:off x="6632684" y="1704340"/>
            <a:ext cx="128699" cy="187198"/>
          </a:xfrm>
          <a:prstGeom prst="rect">
            <a:avLst/>
          </a:prstGeom>
        </p:spPr>
      </p:pic>
      <p:sp>
        <p:nvSpPr>
          <p:cNvPr id="36" name="TextBox 35"/>
          <p:cNvSpPr txBox="1"/>
          <p:nvPr/>
        </p:nvSpPr>
        <p:spPr>
          <a:xfrm>
            <a:off x="6800180" y="1714119"/>
            <a:ext cx="4839565" cy="186689"/>
          </a:xfrm>
          <a:prstGeom prst="rect">
            <a:avLst/>
          </a:prstGeom>
          <a:noFill/>
        </p:spPr>
        <p:txBody>
          <a:bodyPr wrap="none" lIns="0" rIns="0" tIns="0" bIns="0">
            <a:spAutoFit/>
          </a:bodyPr>
          <a:lstStyle/>
          <a:p>
            <a:r>
              <a:rPr sz="1100" b="0">
                <a:solidFill>
                  <a:srgbClr val="252423"/>
                </a:solidFill>
                <a:latin typeface="Segoe UI"/>
              </a:rPr>
              <a:t>US$ Mn, the steepest single-year move of the 2021–2025 period. Demand for</a:t>
            </a:r>
          </a:p>
        </p:txBody>
      </p:sp>
      <p:sp>
        <p:nvSpPr>
          <p:cNvPr id="37" name="TextBox 36"/>
          <p:cNvSpPr txBox="1"/>
          <p:nvPr/>
        </p:nvSpPr>
        <p:spPr>
          <a:xfrm>
            <a:off x="1743075" y="1881759"/>
            <a:ext cx="1504833" cy="186689"/>
          </a:xfrm>
          <a:prstGeom prst="rect">
            <a:avLst/>
          </a:prstGeom>
          <a:noFill/>
        </p:spPr>
        <p:txBody>
          <a:bodyPr wrap="none" lIns="0" rIns="0" tIns="0" bIns="0">
            <a:spAutoFit/>
          </a:bodyPr>
          <a:lstStyle/>
          <a:p>
            <a:r>
              <a:rPr sz="1100" b="0">
                <a:solidFill>
                  <a:srgbClr val="252423"/>
                </a:solidFill>
                <a:latin typeface="Segoe UI"/>
              </a:rPr>
              <a:t>'1,500 Wh to 2,000 Wh'</a:t>
            </a:r>
          </a:p>
        </p:txBody>
      </p:sp>
      <p:pic>
        <p:nvPicPr>
          <p:cNvPr id="38" name="Picture 37" descr="lock.png"/>
          <p:cNvPicPr>
            <a:picLocks noChangeAspect="1"/>
          </p:cNvPicPr>
          <p:nvPr/>
        </p:nvPicPr>
        <p:blipFill>
          <a:blip r:embed="rId4"/>
          <a:stretch>
            <a:fillRect/>
          </a:stretch>
        </p:blipFill>
        <p:spPr>
          <a:xfrm>
            <a:off x="3195960" y="1871980"/>
            <a:ext cx="128699" cy="187198"/>
          </a:xfrm>
          <a:prstGeom prst="rect">
            <a:avLst/>
          </a:prstGeom>
        </p:spPr>
      </p:pic>
      <p:sp>
        <p:nvSpPr>
          <p:cNvPr id="39" name="TextBox 38"/>
          <p:cNvSpPr txBox="1"/>
          <p:nvPr/>
        </p:nvSpPr>
        <p:spPr>
          <a:xfrm>
            <a:off x="3363456" y="1881759"/>
            <a:ext cx="8358792" cy="186689"/>
          </a:xfrm>
          <a:prstGeom prst="rect">
            <a:avLst/>
          </a:prstGeom>
          <a:noFill/>
        </p:spPr>
        <p:txBody>
          <a:bodyPr wrap="none" lIns="0" rIns="0" tIns="0" bIns="0">
            <a:spAutoFit/>
          </a:bodyPr>
          <a:lstStyle/>
          <a:p>
            <a:r>
              <a:rPr sz="1100" b="0">
                <a:solidFill>
                  <a:srgbClr val="252423"/>
                </a:solidFill>
                <a:latin typeface="Segoe UI"/>
              </a:rPr>
              <a:t>of energy storage capacity value by 2036 set the pace, and the 4 system application routes tracked here all carried volume through the</a:t>
            </a:r>
          </a:p>
        </p:txBody>
      </p:sp>
      <p:sp>
        <p:nvSpPr>
          <p:cNvPr id="40" name="TextBox 39"/>
          <p:cNvSpPr txBox="1"/>
          <p:nvPr/>
        </p:nvSpPr>
        <p:spPr>
          <a:xfrm>
            <a:off x="1743075" y="2049399"/>
            <a:ext cx="366872" cy="186689"/>
          </a:xfrm>
          <a:prstGeom prst="rect">
            <a:avLst/>
          </a:prstGeom>
          <a:noFill/>
        </p:spPr>
        <p:txBody>
          <a:bodyPr wrap="none" lIns="0" rIns="0" tIns="0" bIns="0">
            <a:spAutoFit/>
          </a:bodyPr>
          <a:lstStyle/>
          <a:p>
            <a:r>
              <a:rPr sz="1100" b="0">
                <a:solidFill>
                  <a:srgbClr val="252423"/>
                </a:solidFill>
                <a:latin typeface="Segoe UI"/>
              </a:rPr>
              <a:t>year.</a:t>
            </a:r>
          </a:p>
        </p:txBody>
      </p:sp>
      <p:sp>
        <p:nvSpPr>
          <p:cNvPr id="41" name="TextBox 40"/>
          <p:cNvSpPr txBox="1"/>
          <p:nvPr/>
        </p:nvSpPr>
        <p:spPr>
          <a:xfrm>
            <a:off x="1743075" y="2945502"/>
            <a:ext cx="5888732" cy="179984"/>
          </a:xfrm>
          <a:prstGeom prst="rect">
            <a:avLst/>
          </a:prstGeom>
          <a:noFill/>
        </p:spPr>
        <p:txBody>
          <a:bodyPr wrap="none" lIns="0" rIns="0" tIns="0" bIns="0">
            <a:spAutoFit/>
          </a:bodyPr>
          <a:lstStyle/>
          <a:p>
            <a:r>
              <a:rPr sz="1055" b="0">
                <a:solidFill>
                  <a:srgbClr val="252423"/>
                </a:solidFill>
                <a:latin typeface="Segoe UI"/>
              </a:rPr>
              <a:t>Base year for the forecast: the global market is estimated at 650.0 US$ Mn, having compounded at</a:t>
            </a:r>
          </a:p>
        </p:txBody>
      </p:sp>
      <p:pic>
        <p:nvPicPr>
          <p:cNvPr id="42" name="Picture 41" descr="lock.png"/>
          <p:cNvPicPr>
            <a:picLocks noChangeAspect="1"/>
          </p:cNvPicPr>
          <p:nvPr/>
        </p:nvPicPr>
        <p:blipFill>
          <a:blip r:embed="rId4"/>
          <a:stretch>
            <a:fillRect/>
          </a:stretch>
        </p:blipFill>
        <p:spPr>
          <a:xfrm>
            <a:off x="7578888" y="2936114"/>
            <a:ext cx="123551" cy="179710"/>
          </a:xfrm>
          <a:prstGeom prst="rect">
            <a:avLst/>
          </a:prstGeom>
        </p:spPr>
      </p:pic>
      <p:sp>
        <p:nvSpPr>
          <p:cNvPr id="43" name="TextBox 42"/>
          <p:cNvSpPr txBox="1"/>
          <p:nvPr/>
        </p:nvSpPr>
        <p:spPr>
          <a:xfrm>
            <a:off x="7739684" y="2945502"/>
            <a:ext cx="2480295" cy="179984"/>
          </a:xfrm>
          <a:prstGeom prst="rect">
            <a:avLst/>
          </a:prstGeom>
          <a:noFill/>
        </p:spPr>
        <p:txBody>
          <a:bodyPr wrap="none" lIns="0" rIns="0" tIns="0" bIns="0">
            <a:spAutoFit/>
          </a:bodyPr>
          <a:lstStyle/>
          <a:p>
            <a:r>
              <a:rPr sz="1055" b="0">
                <a:solidFill>
                  <a:srgbClr val="252423"/>
                </a:solidFill>
                <a:latin typeface="Segoe UI"/>
              </a:rPr>
              <a:t>across 2021–2025. 'North America' holds</a:t>
            </a:r>
          </a:p>
        </p:txBody>
      </p:sp>
      <p:pic>
        <p:nvPicPr>
          <p:cNvPr id="44" name="Picture 43" descr="lock.png"/>
          <p:cNvPicPr>
            <a:picLocks noChangeAspect="1"/>
          </p:cNvPicPr>
          <p:nvPr/>
        </p:nvPicPr>
        <p:blipFill>
          <a:blip r:embed="rId4"/>
          <a:stretch>
            <a:fillRect/>
          </a:stretch>
        </p:blipFill>
        <p:spPr>
          <a:xfrm>
            <a:off x="10167061" y="2936114"/>
            <a:ext cx="123551" cy="179710"/>
          </a:xfrm>
          <a:prstGeom prst="rect">
            <a:avLst/>
          </a:prstGeom>
        </p:spPr>
      </p:pic>
      <p:sp>
        <p:nvSpPr>
          <p:cNvPr id="45" name="TextBox 44"/>
          <p:cNvSpPr txBox="1"/>
          <p:nvPr/>
        </p:nvSpPr>
        <p:spPr>
          <a:xfrm>
            <a:off x="10327857" y="2945502"/>
            <a:ext cx="1059411" cy="179984"/>
          </a:xfrm>
          <a:prstGeom prst="rect">
            <a:avLst/>
          </a:prstGeom>
          <a:noFill/>
        </p:spPr>
        <p:txBody>
          <a:bodyPr wrap="none" lIns="0" rIns="0" tIns="0" bIns="0">
            <a:spAutoFit/>
          </a:bodyPr>
          <a:lstStyle/>
          <a:p>
            <a:r>
              <a:rPr sz="1055" b="0">
                <a:solidFill>
                  <a:srgbClr val="252423"/>
                </a:solidFill>
                <a:latin typeface="Segoe UI"/>
              </a:rPr>
              <a:t>of value across 7</a:t>
            </a:r>
          </a:p>
        </p:txBody>
      </p:sp>
      <p:sp>
        <p:nvSpPr>
          <p:cNvPr id="46" name="TextBox 45"/>
          <p:cNvSpPr txBox="1"/>
          <p:nvPr/>
        </p:nvSpPr>
        <p:spPr>
          <a:xfrm>
            <a:off x="1743075" y="3106436"/>
            <a:ext cx="6135109" cy="179984"/>
          </a:xfrm>
          <a:prstGeom prst="rect">
            <a:avLst/>
          </a:prstGeom>
          <a:noFill/>
        </p:spPr>
        <p:txBody>
          <a:bodyPr wrap="none" lIns="0" rIns="0" tIns="0" bIns="0">
            <a:spAutoFit/>
          </a:bodyPr>
          <a:lstStyle/>
          <a:p>
            <a:r>
              <a:rPr sz="1055" b="0">
                <a:solidFill>
                  <a:srgbClr val="252423"/>
                </a:solidFill>
                <a:latin typeface="Segoe UI"/>
              </a:rPr>
              <a:t>regions, and the forecast is built from 7 segment breakdowns covering 3 energy storage capacity lines.</a:t>
            </a:r>
          </a:p>
        </p:txBody>
      </p:sp>
      <p:sp>
        <p:nvSpPr>
          <p:cNvPr id="47" name="TextBox 46"/>
          <p:cNvSpPr txBox="1"/>
          <p:nvPr/>
        </p:nvSpPr>
        <p:spPr>
          <a:xfrm>
            <a:off x="1743075" y="3931201"/>
            <a:ext cx="1166838" cy="179984"/>
          </a:xfrm>
          <a:prstGeom prst="rect">
            <a:avLst/>
          </a:prstGeom>
          <a:noFill/>
        </p:spPr>
        <p:txBody>
          <a:bodyPr wrap="none" lIns="0" rIns="0" tIns="0" bIns="0">
            <a:spAutoFit/>
          </a:bodyPr>
          <a:lstStyle/>
          <a:p>
            <a:r>
              <a:rPr sz="1055" b="0">
                <a:solidFill>
                  <a:srgbClr val="252423"/>
                </a:solidFill>
                <a:latin typeface="Segoe UI"/>
              </a:rPr>
              <a:t>The market passes</a:t>
            </a:r>
          </a:p>
        </p:txBody>
      </p:sp>
      <p:pic>
        <p:nvPicPr>
          <p:cNvPr id="48" name="Picture 47" descr="lock.png"/>
          <p:cNvPicPr>
            <a:picLocks noChangeAspect="1"/>
          </p:cNvPicPr>
          <p:nvPr/>
        </p:nvPicPr>
        <p:blipFill>
          <a:blip r:embed="rId4"/>
          <a:stretch>
            <a:fillRect/>
          </a:stretch>
        </p:blipFill>
        <p:spPr>
          <a:xfrm>
            <a:off x="2856994" y="3921813"/>
            <a:ext cx="123551" cy="179710"/>
          </a:xfrm>
          <a:prstGeom prst="rect">
            <a:avLst/>
          </a:prstGeom>
        </p:spPr>
      </p:pic>
      <p:sp>
        <p:nvSpPr>
          <p:cNvPr id="49" name="TextBox 48"/>
          <p:cNvSpPr txBox="1"/>
          <p:nvPr/>
        </p:nvSpPr>
        <p:spPr>
          <a:xfrm>
            <a:off x="3017790" y="3931201"/>
            <a:ext cx="3196866" cy="179984"/>
          </a:xfrm>
          <a:prstGeom prst="rect">
            <a:avLst/>
          </a:prstGeom>
          <a:noFill/>
        </p:spPr>
        <p:txBody>
          <a:bodyPr wrap="none" lIns="0" rIns="0" tIns="0" bIns="0">
            <a:spAutoFit/>
          </a:bodyPr>
          <a:lstStyle/>
          <a:p>
            <a:r>
              <a:rPr sz="1055" b="0">
                <a:solidFill>
                  <a:srgbClr val="252423"/>
                </a:solidFill>
                <a:latin typeface="Segoe UI"/>
              </a:rPr>
              <a:t>US$ Mn one and a half times the 2026 base reaching</a:t>
            </a:r>
          </a:p>
        </p:txBody>
      </p:sp>
      <p:pic>
        <p:nvPicPr>
          <p:cNvPr id="50" name="Picture 49" descr="lock.png"/>
          <p:cNvPicPr>
            <a:picLocks noChangeAspect="1"/>
          </p:cNvPicPr>
          <p:nvPr/>
        </p:nvPicPr>
        <p:blipFill>
          <a:blip r:embed="rId4"/>
          <a:stretch>
            <a:fillRect/>
          </a:stretch>
        </p:blipFill>
        <p:spPr>
          <a:xfrm>
            <a:off x="6161738" y="3921813"/>
            <a:ext cx="123551" cy="179710"/>
          </a:xfrm>
          <a:prstGeom prst="rect">
            <a:avLst/>
          </a:prstGeom>
        </p:spPr>
      </p:pic>
      <p:sp>
        <p:nvSpPr>
          <p:cNvPr id="51" name="TextBox 50"/>
          <p:cNvSpPr txBox="1"/>
          <p:nvPr/>
        </p:nvSpPr>
        <p:spPr>
          <a:xfrm>
            <a:off x="6322534" y="3931201"/>
            <a:ext cx="4298063" cy="179984"/>
          </a:xfrm>
          <a:prstGeom prst="rect">
            <a:avLst/>
          </a:prstGeom>
          <a:noFill/>
        </p:spPr>
        <p:txBody>
          <a:bodyPr wrap="none" lIns="0" rIns="0" tIns="0" bIns="0">
            <a:spAutoFit/>
          </a:bodyPr>
          <a:lstStyle/>
          <a:p>
            <a:r>
              <a:rPr sz="1055" b="0">
                <a:solidFill>
                  <a:srgbClr val="252423"/>
                </a:solidFill>
                <a:latin typeface="Segoe UI"/>
              </a:rPr>
              <a:t>US$ Mn. Growth by this point is led by '1,000 Wh to Below 1,500 Wh' at</a:t>
            </a:r>
          </a:p>
        </p:txBody>
      </p:sp>
      <p:pic>
        <p:nvPicPr>
          <p:cNvPr id="52" name="Picture 51" descr="lock.png"/>
          <p:cNvPicPr>
            <a:picLocks noChangeAspect="1"/>
          </p:cNvPicPr>
          <p:nvPr/>
        </p:nvPicPr>
        <p:blipFill>
          <a:blip r:embed="rId4"/>
          <a:stretch>
            <a:fillRect/>
          </a:stretch>
        </p:blipFill>
        <p:spPr>
          <a:xfrm>
            <a:off x="10567679" y="3921813"/>
            <a:ext cx="123551" cy="179710"/>
          </a:xfrm>
          <a:prstGeom prst="rect">
            <a:avLst/>
          </a:prstGeom>
        </p:spPr>
      </p:pic>
      <p:sp>
        <p:nvSpPr>
          <p:cNvPr id="53" name="TextBox 52"/>
          <p:cNvSpPr txBox="1"/>
          <p:nvPr/>
        </p:nvSpPr>
        <p:spPr>
          <a:xfrm>
            <a:off x="10728475" y="3931201"/>
            <a:ext cx="677841" cy="179984"/>
          </a:xfrm>
          <a:prstGeom prst="rect">
            <a:avLst/>
          </a:prstGeom>
          <a:noFill/>
        </p:spPr>
        <p:txBody>
          <a:bodyPr wrap="none" lIns="0" rIns="0" tIns="0" bIns="0">
            <a:spAutoFit/>
          </a:bodyPr>
          <a:lstStyle/>
          <a:p>
            <a:r>
              <a:rPr sz="1055" b="0">
                <a:solidFill>
                  <a:srgbClr val="252423"/>
                </a:solidFill>
                <a:latin typeface="Segoe UI"/>
              </a:rPr>
              <a:t>CAGR and</a:t>
            </a:r>
          </a:p>
        </p:txBody>
      </p:sp>
      <p:sp>
        <p:nvSpPr>
          <p:cNvPr id="54" name="TextBox 53"/>
          <p:cNvSpPr txBox="1"/>
          <p:nvPr/>
        </p:nvSpPr>
        <p:spPr>
          <a:xfrm>
            <a:off x="1743075" y="4092135"/>
            <a:ext cx="2583109" cy="179984"/>
          </a:xfrm>
          <a:prstGeom prst="rect">
            <a:avLst/>
          </a:prstGeom>
          <a:noFill/>
        </p:spPr>
        <p:txBody>
          <a:bodyPr wrap="none" lIns="0" rIns="0" tIns="0" bIns="0">
            <a:spAutoFit/>
          </a:bodyPr>
          <a:lstStyle/>
          <a:p>
            <a:r>
              <a:rPr sz="1055" b="0">
                <a:solidFill>
                  <a:srgbClr val="252423"/>
                </a:solidFill>
                <a:latin typeface="Segoe UI"/>
              </a:rPr>
              <a:t>by 'South Asia &amp; Pacific' among regions at</a:t>
            </a:r>
          </a:p>
        </p:txBody>
      </p:sp>
      <p:pic>
        <p:nvPicPr>
          <p:cNvPr id="55" name="Picture 54" descr="lock.png"/>
          <p:cNvPicPr>
            <a:picLocks noChangeAspect="1"/>
          </p:cNvPicPr>
          <p:nvPr/>
        </p:nvPicPr>
        <p:blipFill>
          <a:blip r:embed="rId4"/>
          <a:stretch>
            <a:fillRect/>
          </a:stretch>
        </p:blipFill>
        <p:spPr>
          <a:xfrm>
            <a:off x="4273266" y="4082747"/>
            <a:ext cx="123551" cy="179710"/>
          </a:xfrm>
          <a:prstGeom prst="rect">
            <a:avLst/>
          </a:prstGeom>
        </p:spPr>
      </p:pic>
      <p:sp>
        <p:nvSpPr>
          <p:cNvPr id="56" name="TextBox 55"/>
          <p:cNvSpPr txBox="1"/>
          <p:nvPr/>
        </p:nvSpPr>
        <p:spPr>
          <a:xfrm>
            <a:off x="4434062" y="4092135"/>
            <a:ext cx="3427031" cy="179984"/>
          </a:xfrm>
          <a:prstGeom prst="rect">
            <a:avLst/>
          </a:prstGeom>
          <a:noFill/>
        </p:spPr>
        <p:txBody>
          <a:bodyPr wrap="none" lIns="0" rIns="0" tIns="0" bIns="0">
            <a:spAutoFit/>
          </a:bodyPr>
          <a:lstStyle/>
          <a:p>
            <a:r>
              <a:rPr sz="1055" b="0">
                <a:solidFill>
                  <a:srgbClr val="252423"/>
                </a:solidFill>
                <a:latin typeface="Segoe UI"/>
              </a:rPr>
              <a:t>, with 5 of 7 regions running at or above the market rate.</a:t>
            </a:r>
          </a:p>
        </p:txBody>
      </p:sp>
      <p:sp>
        <p:nvSpPr>
          <p:cNvPr id="57" name="TextBox 56"/>
          <p:cNvSpPr txBox="1"/>
          <p:nvPr/>
        </p:nvSpPr>
        <p:spPr>
          <a:xfrm>
            <a:off x="1743075" y="4916901"/>
            <a:ext cx="2359967" cy="179984"/>
          </a:xfrm>
          <a:prstGeom prst="rect">
            <a:avLst/>
          </a:prstGeom>
          <a:noFill/>
        </p:spPr>
        <p:txBody>
          <a:bodyPr wrap="none" lIns="0" rIns="0" tIns="0" bIns="0">
            <a:spAutoFit/>
          </a:bodyPr>
          <a:lstStyle/>
          <a:p>
            <a:r>
              <a:rPr sz="1055" b="0">
                <a:solidFill>
                  <a:srgbClr val="252423"/>
                </a:solidFill>
                <a:latin typeface="Segoe UI"/>
              </a:rPr>
              <a:t>Mid-horizon checkpoint: value reaches</a:t>
            </a:r>
          </a:p>
        </p:txBody>
      </p:sp>
      <p:pic>
        <p:nvPicPr>
          <p:cNvPr id="58" name="Picture 57" descr="lock.png"/>
          <p:cNvPicPr>
            <a:picLocks noChangeAspect="1"/>
          </p:cNvPicPr>
          <p:nvPr/>
        </p:nvPicPr>
        <p:blipFill>
          <a:blip r:embed="rId4"/>
          <a:stretch>
            <a:fillRect/>
          </a:stretch>
        </p:blipFill>
        <p:spPr>
          <a:xfrm>
            <a:off x="4050124" y="4907513"/>
            <a:ext cx="123551" cy="179710"/>
          </a:xfrm>
          <a:prstGeom prst="rect">
            <a:avLst/>
          </a:prstGeom>
        </p:spPr>
      </p:pic>
      <p:sp>
        <p:nvSpPr>
          <p:cNvPr id="59" name="TextBox 58"/>
          <p:cNvSpPr txBox="1"/>
          <p:nvPr/>
        </p:nvSpPr>
        <p:spPr>
          <a:xfrm>
            <a:off x="4210920" y="4916901"/>
            <a:ext cx="574143" cy="179984"/>
          </a:xfrm>
          <a:prstGeom prst="rect">
            <a:avLst/>
          </a:prstGeom>
          <a:noFill/>
        </p:spPr>
        <p:txBody>
          <a:bodyPr wrap="none" lIns="0" rIns="0" tIns="0" bIns="0">
            <a:spAutoFit/>
          </a:bodyPr>
          <a:lstStyle/>
          <a:p>
            <a:r>
              <a:rPr sz="1055" b="0">
                <a:solidFill>
                  <a:srgbClr val="252423"/>
                </a:solidFill>
                <a:latin typeface="Segoe UI"/>
              </a:rPr>
              <a:t>US$ Mn,</a:t>
            </a:r>
          </a:p>
        </p:txBody>
      </p:sp>
      <p:pic>
        <p:nvPicPr>
          <p:cNvPr id="60" name="Picture 59" descr="lock.png"/>
          <p:cNvPicPr>
            <a:picLocks noChangeAspect="1"/>
          </p:cNvPicPr>
          <p:nvPr/>
        </p:nvPicPr>
        <p:blipFill>
          <a:blip r:embed="rId4"/>
          <a:stretch>
            <a:fillRect/>
          </a:stretch>
        </p:blipFill>
        <p:spPr>
          <a:xfrm>
            <a:off x="4732144" y="4907513"/>
            <a:ext cx="123551" cy="179710"/>
          </a:xfrm>
          <a:prstGeom prst="rect">
            <a:avLst/>
          </a:prstGeom>
        </p:spPr>
      </p:pic>
      <p:sp>
        <p:nvSpPr>
          <p:cNvPr id="61" name="TextBox 60"/>
          <p:cNvSpPr txBox="1"/>
          <p:nvPr/>
        </p:nvSpPr>
        <p:spPr>
          <a:xfrm>
            <a:off x="4892940" y="4916901"/>
            <a:ext cx="2798401" cy="179984"/>
          </a:xfrm>
          <a:prstGeom prst="rect">
            <a:avLst/>
          </a:prstGeom>
          <a:noFill/>
        </p:spPr>
        <p:txBody>
          <a:bodyPr wrap="none" lIns="0" rIns="0" tIns="0" bIns="0">
            <a:spAutoFit/>
          </a:bodyPr>
          <a:lstStyle/>
          <a:p>
            <a:r>
              <a:rPr sz="1055" b="0">
                <a:solidFill>
                  <a:srgbClr val="252423"/>
                </a:solidFill>
                <a:latin typeface="Segoe UI"/>
              </a:rPr>
              <a:t>× the 2026 base. Average realisation stands at</a:t>
            </a:r>
          </a:p>
        </p:txBody>
      </p:sp>
      <p:pic>
        <p:nvPicPr>
          <p:cNvPr id="62" name="Picture 61" descr="lock.png"/>
          <p:cNvPicPr>
            <a:picLocks noChangeAspect="1"/>
          </p:cNvPicPr>
          <p:nvPr/>
        </p:nvPicPr>
        <p:blipFill>
          <a:blip r:embed="rId4"/>
          <a:stretch>
            <a:fillRect/>
          </a:stretch>
        </p:blipFill>
        <p:spPr>
          <a:xfrm>
            <a:off x="7638424" y="4907513"/>
            <a:ext cx="123551" cy="179710"/>
          </a:xfrm>
          <a:prstGeom prst="rect">
            <a:avLst/>
          </a:prstGeom>
        </p:spPr>
      </p:pic>
      <p:sp>
        <p:nvSpPr>
          <p:cNvPr id="63" name="TextBox 62"/>
          <p:cNvSpPr txBox="1"/>
          <p:nvPr/>
        </p:nvSpPr>
        <p:spPr>
          <a:xfrm>
            <a:off x="7799220" y="4916901"/>
            <a:ext cx="2013215" cy="179984"/>
          </a:xfrm>
          <a:prstGeom prst="rect">
            <a:avLst/>
          </a:prstGeom>
          <a:noFill/>
        </p:spPr>
        <p:txBody>
          <a:bodyPr wrap="none" lIns="0" rIns="0" tIns="0" bIns="0">
            <a:spAutoFit/>
          </a:bodyPr>
          <a:lstStyle/>
          <a:p>
            <a:r>
              <a:rPr sz="1055" b="0">
                <a:solidFill>
                  <a:srgbClr val="252423"/>
                </a:solidFill>
                <a:latin typeface="Segoe UI"/>
              </a:rPr>
              <a:t>US$/Units, and mix has moved +</a:t>
            </a:r>
          </a:p>
        </p:txBody>
      </p:sp>
      <p:pic>
        <p:nvPicPr>
          <p:cNvPr id="64" name="Picture 63" descr="lock.png"/>
          <p:cNvPicPr>
            <a:picLocks noChangeAspect="1"/>
          </p:cNvPicPr>
          <p:nvPr/>
        </p:nvPicPr>
        <p:blipFill>
          <a:blip r:embed="rId4"/>
          <a:stretch>
            <a:fillRect/>
          </a:stretch>
        </p:blipFill>
        <p:spPr>
          <a:xfrm>
            <a:off x="9759517" y="4907513"/>
            <a:ext cx="123551" cy="179710"/>
          </a:xfrm>
          <a:prstGeom prst="rect">
            <a:avLst/>
          </a:prstGeom>
        </p:spPr>
      </p:pic>
      <p:sp>
        <p:nvSpPr>
          <p:cNvPr id="65" name="TextBox 64"/>
          <p:cNvSpPr txBox="1"/>
          <p:nvPr/>
        </p:nvSpPr>
        <p:spPr>
          <a:xfrm>
            <a:off x="9920313" y="4916901"/>
            <a:ext cx="1535916" cy="179984"/>
          </a:xfrm>
          <a:prstGeom prst="rect">
            <a:avLst/>
          </a:prstGeom>
          <a:noFill/>
        </p:spPr>
        <p:txBody>
          <a:bodyPr wrap="none" lIns="0" rIns="0" tIns="0" bIns="0">
            <a:spAutoFit/>
          </a:bodyPr>
          <a:lstStyle/>
          <a:p>
            <a:r>
              <a:rPr sz="1055" b="0">
                <a:solidFill>
                  <a:srgbClr val="252423"/>
                </a:solidFill>
                <a:latin typeface="Segoe UI"/>
              </a:rPr>
              <a:t>BPS toward '1,000 Wh to</a:t>
            </a:r>
          </a:p>
        </p:txBody>
      </p:sp>
      <p:sp>
        <p:nvSpPr>
          <p:cNvPr id="66" name="TextBox 65"/>
          <p:cNvSpPr txBox="1"/>
          <p:nvPr/>
        </p:nvSpPr>
        <p:spPr>
          <a:xfrm>
            <a:off x="1743075" y="5077835"/>
            <a:ext cx="3338864" cy="179984"/>
          </a:xfrm>
          <a:prstGeom prst="rect">
            <a:avLst/>
          </a:prstGeom>
          <a:noFill/>
        </p:spPr>
        <p:txBody>
          <a:bodyPr wrap="none" lIns="0" rIns="0" tIns="0" bIns="0">
            <a:spAutoFit/>
          </a:bodyPr>
          <a:lstStyle/>
          <a:p>
            <a:r>
              <a:rPr sz="1055" b="0">
                <a:solidFill>
                  <a:srgbClr val="252423"/>
                </a:solidFill>
                <a:latin typeface="Segoe UI"/>
              </a:rPr>
              <a:t>Below 1,500 Wh' while '1,500 Wh to 2,000 Wh' gives up</a:t>
            </a:r>
          </a:p>
        </p:txBody>
      </p:sp>
      <p:pic>
        <p:nvPicPr>
          <p:cNvPr id="67" name="Picture 66" descr="lock.png"/>
          <p:cNvPicPr>
            <a:picLocks noChangeAspect="1"/>
          </p:cNvPicPr>
          <p:nvPr/>
        </p:nvPicPr>
        <p:blipFill>
          <a:blip r:embed="rId4"/>
          <a:stretch>
            <a:fillRect/>
          </a:stretch>
        </p:blipFill>
        <p:spPr>
          <a:xfrm>
            <a:off x="5029021" y="5068447"/>
            <a:ext cx="123551" cy="179710"/>
          </a:xfrm>
          <a:prstGeom prst="rect">
            <a:avLst/>
          </a:prstGeom>
        </p:spPr>
      </p:pic>
      <p:sp>
        <p:nvSpPr>
          <p:cNvPr id="68" name="TextBox 67"/>
          <p:cNvSpPr txBox="1"/>
          <p:nvPr/>
        </p:nvSpPr>
        <p:spPr>
          <a:xfrm>
            <a:off x="5189817" y="5077835"/>
            <a:ext cx="328707" cy="179984"/>
          </a:xfrm>
          <a:prstGeom prst="rect">
            <a:avLst/>
          </a:prstGeom>
          <a:noFill/>
        </p:spPr>
        <p:txBody>
          <a:bodyPr wrap="none" lIns="0" rIns="0" tIns="0" bIns="0">
            <a:spAutoFit/>
          </a:bodyPr>
          <a:lstStyle/>
          <a:p>
            <a:r>
              <a:rPr sz="1055" b="0">
                <a:solidFill>
                  <a:srgbClr val="252423"/>
                </a:solidFill>
                <a:latin typeface="Segoe UI"/>
              </a:rPr>
              <a:t>BPS.</a:t>
            </a:r>
          </a:p>
        </p:txBody>
      </p:sp>
      <p:sp>
        <p:nvSpPr>
          <p:cNvPr id="69" name="TextBox 68"/>
          <p:cNvSpPr txBox="1"/>
          <p:nvPr/>
        </p:nvSpPr>
        <p:spPr>
          <a:xfrm>
            <a:off x="1743075" y="5902601"/>
            <a:ext cx="3728239" cy="179984"/>
          </a:xfrm>
          <a:prstGeom prst="rect">
            <a:avLst/>
          </a:prstGeom>
          <a:noFill/>
        </p:spPr>
        <p:txBody>
          <a:bodyPr wrap="none" lIns="0" rIns="0" tIns="0" bIns="0">
            <a:spAutoFit/>
          </a:bodyPr>
          <a:lstStyle/>
          <a:p>
            <a:r>
              <a:rPr sz="1055" b="0">
                <a:solidFill>
                  <a:srgbClr val="252423"/>
                </a:solidFill>
                <a:latin typeface="Segoe UI"/>
              </a:rPr>
              <a:t>Forecast outcome: the global market reaches 1,950 US$ Mn, a</a:t>
            </a:r>
          </a:p>
        </p:txBody>
      </p:sp>
      <p:pic>
        <p:nvPicPr>
          <p:cNvPr id="70" name="Picture 69" descr="lock.png"/>
          <p:cNvPicPr>
            <a:picLocks noChangeAspect="1"/>
          </p:cNvPicPr>
          <p:nvPr/>
        </p:nvPicPr>
        <p:blipFill>
          <a:blip r:embed="rId4"/>
          <a:stretch>
            <a:fillRect/>
          </a:stretch>
        </p:blipFill>
        <p:spPr>
          <a:xfrm>
            <a:off x="5418395" y="5893213"/>
            <a:ext cx="123551" cy="179710"/>
          </a:xfrm>
          <a:prstGeom prst="rect">
            <a:avLst/>
          </a:prstGeom>
        </p:spPr>
      </p:pic>
      <p:sp>
        <p:nvSpPr>
          <p:cNvPr id="71" name="TextBox 70"/>
          <p:cNvSpPr txBox="1"/>
          <p:nvPr/>
        </p:nvSpPr>
        <p:spPr>
          <a:xfrm>
            <a:off x="5579191" y="5902601"/>
            <a:ext cx="1580478" cy="179984"/>
          </a:xfrm>
          <a:prstGeom prst="rect">
            <a:avLst/>
          </a:prstGeom>
          <a:noFill/>
        </p:spPr>
        <p:txBody>
          <a:bodyPr wrap="none" lIns="0" rIns="0" tIns="0" bIns="0">
            <a:spAutoFit/>
          </a:bodyPr>
          <a:lstStyle/>
          <a:p>
            <a:r>
              <a:rPr sz="1055" b="0">
                <a:solidFill>
                  <a:srgbClr val="252423"/>
                </a:solidFill>
                <a:latin typeface="Segoe UI"/>
              </a:rPr>
              <a:t>× expansion on 2026 and</a:t>
            </a:r>
          </a:p>
        </p:txBody>
      </p:sp>
      <p:pic>
        <p:nvPicPr>
          <p:cNvPr id="72" name="Picture 71" descr="lock.png"/>
          <p:cNvPicPr>
            <a:picLocks noChangeAspect="1"/>
          </p:cNvPicPr>
          <p:nvPr/>
        </p:nvPicPr>
        <p:blipFill>
          <a:blip r:embed="rId4"/>
          <a:stretch>
            <a:fillRect/>
          </a:stretch>
        </p:blipFill>
        <p:spPr>
          <a:xfrm>
            <a:off x="7106751" y="5893213"/>
            <a:ext cx="123551" cy="179710"/>
          </a:xfrm>
          <a:prstGeom prst="rect">
            <a:avLst/>
          </a:prstGeom>
        </p:spPr>
      </p:pic>
      <p:sp>
        <p:nvSpPr>
          <p:cNvPr id="73" name="TextBox 72"/>
          <p:cNvSpPr txBox="1"/>
          <p:nvPr/>
        </p:nvSpPr>
        <p:spPr>
          <a:xfrm>
            <a:off x="7267547" y="5902601"/>
            <a:ext cx="4113704" cy="179984"/>
          </a:xfrm>
          <a:prstGeom prst="rect">
            <a:avLst/>
          </a:prstGeom>
          <a:noFill/>
        </p:spPr>
        <p:txBody>
          <a:bodyPr wrap="none" lIns="0" rIns="0" tIns="0" bIns="0">
            <a:spAutoFit/>
          </a:bodyPr>
          <a:lstStyle/>
          <a:p>
            <a:r>
              <a:rPr sz="1055" b="0">
                <a:solidFill>
                  <a:srgbClr val="252423"/>
                </a:solidFill>
                <a:latin typeface="Segoe UI"/>
              </a:rPr>
              <a:t>US$ Mn of incremental value at 11.6% CAGR. Volume compounds at</a:t>
            </a:r>
          </a:p>
        </p:txBody>
      </p:sp>
      <p:pic>
        <p:nvPicPr>
          <p:cNvPr id="74" name="Picture 73" descr="lock.png"/>
          <p:cNvPicPr>
            <a:picLocks noChangeAspect="1"/>
          </p:cNvPicPr>
          <p:nvPr/>
        </p:nvPicPr>
        <p:blipFill>
          <a:blip r:embed="rId4"/>
          <a:stretch>
            <a:fillRect/>
          </a:stretch>
        </p:blipFill>
        <p:spPr>
          <a:xfrm>
            <a:off x="11328333" y="5893213"/>
            <a:ext cx="123551" cy="179710"/>
          </a:xfrm>
          <a:prstGeom prst="rect">
            <a:avLst/>
          </a:prstGeom>
        </p:spPr>
      </p:pic>
      <p:sp>
        <p:nvSpPr>
          <p:cNvPr id="75" name="TextBox 74"/>
          <p:cNvSpPr txBox="1"/>
          <p:nvPr/>
        </p:nvSpPr>
        <p:spPr>
          <a:xfrm>
            <a:off x="1743075" y="6063535"/>
            <a:ext cx="2541424" cy="179984"/>
          </a:xfrm>
          <a:prstGeom prst="rect">
            <a:avLst/>
          </a:prstGeom>
          <a:noFill/>
        </p:spPr>
        <p:txBody>
          <a:bodyPr wrap="none" lIns="0" rIns="0" tIns="0" bIns="0">
            <a:spAutoFit/>
          </a:bodyPr>
          <a:lstStyle/>
          <a:p>
            <a:r>
              <a:rPr sz="1055" b="0">
                <a:solidFill>
                  <a:srgbClr val="252423"/>
                </a:solidFill>
                <a:latin typeface="Segoe UI"/>
              </a:rPr>
              <a:t>over the same window, leaving realisation</a:t>
            </a:r>
          </a:p>
        </p:txBody>
      </p:sp>
      <p:pic>
        <p:nvPicPr>
          <p:cNvPr id="76" name="Picture 75" descr="lock.png"/>
          <p:cNvPicPr>
            <a:picLocks noChangeAspect="1"/>
          </p:cNvPicPr>
          <p:nvPr/>
        </p:nvPicPr>
        <p:blipFill>
          <a:blip r:embed="rId4"/>
          <a:stretch>
            <a:fillRect/>
          </a:stretch>
        </p:blipFill>
        <p:spPr>
          <a:xfrm>
            <a:off x="4231581" y="6054147"/>
            <a:ext cx="123551" cy="179710"/>
          </a:xfrm>
          <a:prstGeom prst="rect">
            <a:avLst/>
          </a:prstGeom>
        </p:spPr>
      </p:pic>
      <p:sp>
        <p:nvSpPr>
          <p:cNvPr id="77" name="TextBox 76"/>
          <p:cNvSpPr txBox="1"/>
          <p:nvPr/>
        </p:nvSpPr>
        <p:spPr>
          <a:xfrm>
            <a:off x="4392377" y="6063535"/>
            <a:ext cx="4571493" cy="179984"/>
          </a:xfrm>
          <a:prstGeom prst="rect">
            <a:avLst/>
          </a:prstGeom>
          <a:noFill/>
        </p:spPr>
        <p:txBody>
          <a:bodyPr wrap="none" lIns="0" rIns="0" tIns="0" bIns="0">
            <a:spAutoFit/>
          </a:bodyPr>
          <a:lstStyle/>
          <a:p>
            <a:r>
              <a:rPr sz="1055" b="0">
                <a:solidFill>
                  <a:srgbClr val="252423"/>
                </a:solidFill>
                <a:latin typeface="Segoe UI"/>
              </a:rPr>
              <a:t>a year the gap between the two is the premiumisation the forecast assumes.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Porter's Five Forces Analysis Global Lithium Polymer Portable Energy Storage Market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supplier power, buyer power, competition, substitutes and entry barriers shaping the market's profitability</a:t>
            </a:r>
          </a:p>
        </p:txBody>
      </p:sp>
      <p:sp>
        <p:nvSpPr>
          <p:cNvPr id="8" name="TextBox 7"/>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05E5C"/>
                </a:solidFill>
                <a:latin typeface="Segoe UI"/>
              </a:rPr>
              <a:t>Supplier power, buyer power, competitive intensity, substitution and entry barriers scored from the global dataset 3 energy storage capacity lines, 4 system application routes and 7 regions at 11.6% CAGR.</a:t>
            </a:r>
          </a:p>
        </p:txBody>
      </p:sp>
      <p:sp>
        <p:nvSpPr>
          <p:cNvPr id="9" name="Oval 8"/>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Segoe UI"/>
              </a:rPr>
              <a:t>$</a:t>
            </a:r>
          </a:p>
        </p:txBody>
      </p:sp>
      <p:sp>
        <p:nvSpPr>
          <p:cNvPr id="11" name="TextBox 10"/>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Bargaining Power of Suppliers</a:t>
            </a:r>
          </a:p>
        </p:txBody>
      </p:sp>
      <p:sp>
        <p:nvSpPr>
          <p:cNvPr id="12" name="TextBox 11"/>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4" name="TextBox 13"/>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Buyers can rebalance across 3 energy storage capacity lines, which caps supplier leverage in commodity grades.</a:t>
            </a:r>
          </a:p>
        </p:txBody>
      </p:sp>
      <p:sp>
        <p:nvSpPr>
          <p:cNvPr id="15" name="Oval 14"/>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Bargaining Power of Buyers</a:t>
            </a:r>
          </a:p>
        </p:txBody>
      </p:sp>
      <p:sp>
        <p:nvSpPr>
          <p:cNvPr id="21" name="TextBox 20"/>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2" name="TextBox 21"/>
          <p:cNvSpPr txBox="1"/>
          <p:nvPr/>
        </p:nvSpPr>
        <p:spPr>
          <a:xfrm>
            <a:off x="2628900" y="4037375"/>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3" name="TextBox 22"/>
          <p:cNvSpPr txBox="1"/>
          <p:nvPr/>
        </p:nvSpPr>
        <p:spPr>
          <a:xfrm>
            <a:off x="2628900" y="4721889"/>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Switching is easiest where 3 comparable energy storage capacity lines compete for the same demand.</a:t>
            </a:r>
          </a:p>
        </p:txBody>
      </p:sp>
      <p:sp>
        <p:nvSpPr>
          <p:cNvPr id="24" name="Oval 23"/>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Intensity of Competition</a:t>
            </a:r>
          </a:p>
        </p:txBody>
      </p:sp>
      <p:sp>
        <p:nvSpPr>
          <p:cNvPr id="32" name="TextBox 31"/>
          <p:cNvSpPr txBox="1"/>
          <p:nvPr/>
        </p:nvSpPr>
        <p:spPr>
          <a:xfrm>
            <a:off x="50101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3" name="TextBox 32"/>
          <p:cNvSpPr txBox="1"/>
          <p:nvPr/>
        </p:nvSpPr>
        <p:spPr>
          <a:xfrm>
            <a:off x="50101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4" name="TextBox 33"/>
          <p:cNvSpPr txBox="1"/>
          <p:nvPr/>
        </p:nvSpPr>
        <p:spPr>
          <a:xfrm>
            <a:off x="501015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5" name="Oval 34"/>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Threat of Substitutes</a:t>
            </a:r>
          </a:p>
        </p:txBody>
      </p:sp>
      <p:sp>
        <p:nvSpPr>
          <p:cNvPr id="40" name="TextBox 39"/>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1" name="TextBox 40"/>
          <p:cNvSpPr txBox="1"/>
          <p:nvPr/>
        </p:nvSpPr>
        <p:spPr>
          <a:xfrm>
            <a:off x="73914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2" name="TextBox 41"/>
          <p:cNvSpPr txBox="1"/>
          <p:nvPr/>
        </p:nvSpPr>
        <p:spPr>
          <a:xfrm>
            <a:off x="739140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3" name="Oval 42"/>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Threat of New Entrants</a:t>
            </a:r>
          </a:p>
        </p:txBody>
      </p:sp>
      <p:sp>
        <p:nvSpPr>
          <p:cNvPr id="51" name="TextBox 50"/>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2" name="TextBox 51"/>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3" name="TextBox 52"/>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5" name="TextBox 54"/>
          <p:cNvSpPr txBox="1"/>
          <p:nvPr/>
        </p:nvSpPr>
        <p:spPr>
          <a:xfrm>
            <a:off x="276225" y="2848734"/>
            <a:ext cx="2107370" cy="186689"/>
          </a:xfrm>
          <a:prstGeom prst="rect">
            <a:avLst/>
          </a:prstGeom>
          <a:noFill/>
        </p:spPr>
        <p:txBody>
          <a:bodyPr wrap="none" lIns="0" rIns="0" tIns="0" bIns="0">
            <a:spAutoFit/>
          </a:bodyPr>
          <a:lstStyle/>
          <a:p>
            <a:r>
              <a:rPr sz="1100" b="0">
                <a:solidFill>
                  <a:srgbClr val="252423"/>
                </a:solidFill>
                <a:latin typeface="Segoe UI"/>
              </a:rPr>
              <a:t>▸ Assessed high. 'North America'</a:t>
            </a:r>
          </a:p>
        </p:txBody>
      </p:sp>
      <p:sp>
        <p:nvSpPr>
          <p:cNvPr id="56" name="TextBox 55"/>
          <p:cNvSpPr txBox="1"/>
          <p:nvPr/>
        </p:nvSpPr>
        <p:spPr>
          <a:xfrm>
            <a:off x="276225" y="3016374"/>
            <a:ext cx="578792" cy="186689"/>
          </a:xfrm>
          <a:prstGeom prst="rect">
            <a:avLst/>
          </a:prstGeom>
          <a:noFill/>
        </p:spPr>
        <p:txBody>
          <a:bodyPr wrap="none" lIns="0" rIns="0" tIns="0" bIns="0">
            <a:spAutoFit/>
          </a:bodyPr>
          <a:lstStyle/>
          <a:p>
            <a:r>
              <a:rPr sz="1100" b="0">
                <a:solidFill>
                  <a:srgbClr val="252423"/>
                </a:solidFill>
                <a:latin typeface="Segoe UI"/>
              </a:rPr>
              <a:t>supplies</a:t>
            </a:r>
          </a:p>
        </p:txBody>
      </p:sp>
      <p:pic>
        <p:nvPicPr>
          <p:cNvPr id="57" name="Picture 56" descr="lock.png"/>
          <p:cNvPicPr>
            <a:picLocks noChangeAspect="1"/>
          </p:cNvPicPr>
          <p:nvPr/>
        </p:nvPicPr>
        <p:blipFill>
          <a:blip r:embed="rId4"/>
          <a:stretch>
            <a:fillRect/>
          </a:stretch>
        </p:blipFill>
        <p:spPr>
          <a:xfrm>
            <a:off x="803069" y="3006595"/>
            <a:ext cx="128699" cy="187198"/>
          </a:xfrm>
          <a:prstGeom prst="rect">
            <a:avLst/>
          </a:prstGeom>
        </p:spPr>
      </p:pic>
      <p:sp>
        <p:nvSpPr>
          <p:cNvPr id="58" name="TextBox 57"/>
          <p:cNvSpPr txBox="1"/>
          <p:nvPr/>
        </p:nvSpPr>
        <p:spPr>
          <a:xfrm>
            <a:off x="970564" y="3016374"/>
            <a:ext cx="1326299" cy="186689"/>
          </a:xfrm>
          <a:prstGeom prst="rect">
            <a:avLst/>
          </a:prstGeom>
          <a:noFill/>
        </p:spPr>
        <p:txBody>
          <a:bodyPr wrap="none" lIns="0" rIns="0" tIns="0" bIns="0">
            <a:spAutoFit/>
          </a:bodyPr>
          <a:lstStyle/>
          <a:p>
            <a:r>
              <a:rPr sz="1100" b="0">
                <a:solidFill>
                  <a:srgbClr val="252423"/>
                </a:solidFill>
                <a:latin typeface="Segoe UI"/>
              </a:rPr>
              <a:t>of 2036 value across</a:t>
            </a:r>
          </a:p>
        </p:txBody>
      </p:sp>
      <p:sp>
        <p:nvSpPr>
          <p:cNvPr id="59" name="TextBox 58"/>
          <p:cNvSpPr txBox="1"/>
          <p:nvPr/>
        </p:nvSpPr>
        <p:spPr>
          <a:xfrm>
            <a:off x="276225" y="3184014"/>
            <a:ext cx="2114550" cy="186689"/>
          </a:xfrm>
          <a:prstGeom prst="rect">
            <a:avLst/>
          </a:prstGeom>
          <a:noFill/>
        </p:spPr>
        <p:txBody>
          <a:bodyPr wrap="none" lIns="0" rIns="0" tIns="0" bIns="0">
            <a:spAutoFit/>
          </a:bodyPr>
          <a:lstStyle/>
          <a:p>
            <a:r>
              <a:rPr sz="1100" b="0">
                <a:solidFill>
                  <a:srgbClr val="252423"/>
                </a:solidFill>
                <a:latin typeface="Segoe UI"/>
              </a:rPr>
              <a:t>7 regions, concentrating upstream</a:t>
            </a:r>
          </a:p>
        </p:txBody>
      </p:sp>
      <p:sp>
        <p:nvSpPr>
          <p:cNvPr id="60" name="TextBox 59"/>
          <p:cNvSpPr txBox="1"/>
          <p:nvPr/>
        </p:nvSpPr>
        <p:spPr>
          <a:xfrm>
            <a:off x="276225" y="3351654"/>
            <a:ext cx="628711" cy="186689"/>
          </a:xfrm>
          <a:prstGeom prst="rect">
            <a:avLst/>
          </a:prstGeom>
          <a:noFill/>
        </p:spPr>
        <p:txBody>
          <a:bodyPr wrap="none" lIns="0" rIns="0" tIns="0" bIns="0">
            <a:spAutoFit/>
          </a:bodyPr>
          <a:lstStyle/>
          <a:p>
            <a:r>
              <a:rPr sz="1100" b="0">
                <a:solidFill>
                  <a:srgbClr val="252423"/>
                </a:solidFill>
                <a:latin typeface="Segoe UI"/>
              </a:rPr>
              <a:t>leverage.</a:t>
            </a:r>
          </a:p>
        </p:txBody>
      </p:sp>
      <p:sp>
        <p:nvSpPr>
          <p:cNvPr id="61" name="TextBox 60"/>
          <p:cNvSpPr txBox="1"/>
          <p:nvPr/>
        </p:nvSpPr>
        <p:spPr>
          <a:xfrm>
            <a:off x="276225" y="3715785"/>
            <a:ext cx="1820983" cy="186689"/>
          </a:xfrm>
          <a:prstGeom prst="rect">
            <a:avLst/>
          </a:prstGeom>
          <a:noFill/>
        </p:spPr>
        <p:txBody>
          <a:bodyPr wrap="none" lIns="0" rIns="0" tIns="0" bIns="0">
            <a:spAutoFit/>
          </a:bodyPr>
          <a:lstStyle/>
          <a:p>
            <a:r>
              <a:rPr sz="1100" b="0">
                <a:solidFill>
                  <a:srgbClr val="252423"/>
                </a:solidFill>
                <a:latin typeface="Segoe UI"/>
              </a:rPr>
              <a:t>▸ Average realisation moves</a:t>
            </a:r>
          </a:p>
        </p:txBody>
      </p:sp>
      <p:pic>
        <p:nvPicPr>
          <p:cNvPr id="62" name="Picture 61" descr="lock.png"/>
          <p:cNvPicPr>
            <a:picLocks noChangeAspect="1"/>
          </p:cNvPicPr>
          <p:nvPr/>
        </p:nvPicPr>
        <p:blipFill>
          <a:blip r:embed="rId4"/>
          <a:stretch>
            <a:fillRect/>
          </a:stretch>
        </p:blipFill>
        <p:spPr>
          <a:xfrm>
            <a:off x="2045260" y="3706006"/>
            <a:ext cx="128699" cy="187198"/>
          </a:xfrm>
          <a:prstGeom prst="rect">
            <a:avLst/>
          </a:prstGeom>
        </p:spPr>
      </p:pic>
      <p:sp>
        <p:nvSpPr>
          <p:cNvPr id="63" name="TextBox 62"/>
          <p:cNvSpPr txBox="1"/>
          <p:nvPr/>
        </p:nvSpPr>
        <p:spPr>
          <a:xfrm>
            <a:off x="276225" y="3883425"/>
            <a:ext cx="1917666" cy="186689"/>
          </a:xfrm>
          <a:prstGeom prst="rect">
            <a:avLst/>
          </a:prstGeom>
          <a:noFill/>
        </p:spPr>
        <p:txBody>
          <a:bodyPr wrap="none" lIns="0" rIns="0" tIns="0" bIns="0">
            <a:spAutoFit/>
          </a:bodyPr>
          <a:lstStyle/>
          <a:p>
            <a:r>
              <a:rPr sz="1100" b="0">
                <a:solidFill>
                  <a:srgbClr val="252423"/>
                </a:solidFill>
                <a:latin typeface="Segoe UI"/>
              </a:rPr>
              <a:t>a year (2026–2036), indicating</a:t>
            </a:r>
          </a:p>
        </p:txBody>
      </p:sp>
      <p:sp>
        <p:nvSpPr>
          <p:cNvPr id="64" name="TextBox 63"/>
          <p:cNvSpPr txBox="1"/>
          <p:nvPr/>
        </p:nvSpPr>
        <p:spPr>
          <a:xfrm>
            <a:off x="276225" y="4051065"/>
            <a:ext cx="1833850" cy="186689"/>
          </a:xfrm>
          <a:prstGeom prst="rect">
            <a:avLst/>
          </a:prstGeom>
          <a:noFill/>
        </p:spPr>
        <p:txBody>
          <a:bodyPr wrap="none" lIns="0" rIns="0" tIns="0" bIns="0">
            <a:spAutoFit/>
          </a:bodyPr>
          <a:lstStyle/>
          <a:p>
            <a:r>
              <a:rPr sz="1100" b="0">
                <a:solidFill>
                  <a:srgbClr val="252423"/>
                </a:solidFill>
                <a:latin typeface="Segoe UI"/>
              </a:rPr>
              <a:t>input costs are being passed</a:t>
            </a:r>
          </a:p>
        </p:txBody>
      </p:sp>
      <p:sp>
        <p:nvSpPr>
          <p:cNvPr id="65" name="TextBox 64"/>
          <p:cNvSpPr txBox="1"/>
          <p:nvPr/>
        </p:nvSpPr>
        <p:spPr>
          <a:xfrm>
            <a:off x="276225" y="4218705"/>
            <a:ext cx="604137" cy="186689"/>
          </a:xfrm>
          <a:prstGeom prst="rect">
            <a:avLst/>
          </a:prstGeom>
          <a:noFill/>
        </p:spPr>
        <p:txBody>
          <a:bodyPr wrap="none" lIns="0" rIns="0" tIns="0" bIns="0">
            <a:spAutoFit/>
          </a:bodyPr>
          <a:lstStyle/>
          <a:p>
            <a:r>
              <a:rPr sz="1100" b="0">
                <a:solidFill>
                  <a:srgbClr val="252423"/>
                </a:solidFill>
                <a:latin typeface="Segoe UI"/>
              </a:rPr>
              <a:t>through.</a:t>
            </a:r>
          </a:p>
        </p:txBody>
      </p:sp>
      <p:sp>
        <p:nvSpPr>
          <p:cNvPr id="66" name="TextBox 65"/>
          <p:cNvSpPr txBox="1"/>
          <p:nvPr/>
        </p:nvSpPr>
        <p:spPr>
          <a:xfrm>
            <a:off x="2657475" y="2868194"/>
            <a:ext cx="1989145" cy="186689"/>
          </a:xfrm>
          <a:prstGeom prst="rect">
            <a:avLst/>
          </a:prstGeom>
          <a:noFill/>
        </p:spPr>
        <p:txBody>
          <a:bodyPr wrap="none" lIns="0" rIns="0" tIns="0" bIns="0">
            <a:spAutoFit/>
          </a:bodyPr>
          <a:lstStyle/>
          <a:p>
            <a:r>
              <a:rPr sz="1100" b="0">
                <a:solidFill>
                  <a:srgbClr val="252423"/>
                </a:solidFill>
                <a:latin typeface="Segoe UI"/>
              </a:rPr>
              <a:t>▸ Assessed moderate. Demand</a:t>
            </a:r>
          </a:p>
        </p:txBody>
      </p:sp>
      <p:sp>
        <p:nvSpPr>
          <p:cNvPr id="67" name="TextBox 66"/>
          <p:cNvSpPr txBox="1"/>
          <p:nvPr/>
        </p:nvSpPr>
        <p:spPr>
          <a:xfrm>
            <a:off x="2657475" y="3035834"/>
            <a:ext cx="1580064" cy="186689"/>
          </a:xfrm>
          <a:prstGeom prst="rect">
            <a:avLst/>
          </a:prstGeom>
          <a:noFill/>
        </p:spPr>
        <p:txBody>
          <a:bodyPr wrap="none" lIns="0" rIns="0" tIns="0" bIns="0">
            <a:spAutoFit/>
          </a:bodyPr>
          <a:lstStyle/>
          <a:p>
            <a:r>
              <a:rPr sz="1100" b="0">
                <a:solidFill>
                  <a:srgbClr val="252423"/>
                </a:solidFill>
                <a:latin typeface="Segoe UI"/>
              </a:rPr>
              <a:t>routes through 4 system</a:t>
            </a:r>
          </a:p>
        </p:txBody>
      </p:sp>
      <p:sp>
        <p:nvSpPr>
          <p:cNvPr id="68" name="TextBox 67"/>
          <p:cNvSpPr txBox="1"/>
          <p:nvPr/>
        </p:nvSpPr>
        <p:spPr>
          <a:xfrm>
            <a:off x="2657475" y="3203474"/>
            <a:ext cx="1750690" cy="186689"/>
          </a:xfrm>
          <a:prstGeom prst="rect">
            <a:avLst/>
          </a:prstGeom>
          <a:noFill/>
        </p:spPr>
        <p:txBody>
          <a:bodyPr wrap="none" lIns="0" rIns="0" tIns="0" bIns="0">
            <a:spAutoFit/>
          </a:bodyPr>
          <a:lstStyle/>
          <a:p>
            <a:r>
              <a:rPr sz="1100" b="0">
                <a:solidFill>
                  <a:srgbClr val="252423"/>
                </a:solidFill>
                <a:latin typeface="Segoe UI"/>
              </a:rPr>
              <a:t>application channels led by</a:t>
            </a:r>
          </a:p>
        </p:txBody>
      </p:sp>
      <p:sp>
        <p:nvSpPr>
          <p:cNvPr id="69" name="TextBox 68"/>
          <p:cNvSpPr txBox="1"/>
          <p:nvPr/>
        </p:nvSpPr>
        <p:spPr>
          <a:xfrm>
            <a:off x="2657475" y="3371114"/>
            <a:ext cx="1726065" cy="186689"/>
          </a:xfrm>
          <a:prstGeom prst="rect">
            <a:avLst/>
          </a:prstGeom>
          <a:noFill/>
        </p:spPr>
        <p:txBody>
          <a:bodyPr wrap="none" lIns="0" rIns="0" tIns="0" bIns="0">
            <a:spAutoFit/>
          </a:bodyPr>
          <a:lstStyle/>
          <a:p>
            <a:r>
              <a:rPr sz="1100" b="0">
                <a:solidFill>
                  <a:srgbClr val="252423"/>
                </a:solidFill>
                <a:latin typeface="Segoe UI"/>
              </a:rPr>
              <a:t>'Professional &amp; Specialized</a:t>
            </a:r>
          </a:p>
        </p:txBody>
      </p:sp>
      <p:sp>
        <p:nvSpPr>
          <p:cNvPr id="70" name="TextBox 69"/>
          <p:cNvSpPr txBox="1"/>
          <p:nvPr/>
        </p:nvSpPr>
        <p:spPr>
          <a:xfrm>
            <a:off x="2657475" y="3538754"/>
            <a:ext cx="1202697" cy="186689"/>
          </a:xfrm>
          <a:prstGeom prst="rect">
            <a:avLst/>
          </a:prstGeom>
          <a:noFill/>
        </p:spPr>
        <p:txBody>
          <a:bodyPr wrap="none" lIns="0" rIns="0" tIns="0" bIns="0">
            <a:spAutoFit/>
          </a:bodyPr>
          <a:lstStyle/>
          <a:p>
            <a:r>
              <a:rPr sz="1100" b="0">
                <a:solidFill>
                  <a:srgbClr val="252423"/>
                </a:solidFill>
                <a:latin typeface="Segoe UI"/>
              </a:rPr>
              <a:t>Portable Power' at</a:t>
            </a:r>
          </a:p>
        </p:txBody>
      </p:sp>
      <p:pic>
        <p:nvPicPr>
          <p:cNvPr id="71" name="Picture 70" descr="lock.png"/>
          <p:cNvPicPr>
            <a:picLocks noChangeAspect="1"/>
          </p:cNvPicPr>
          <p:nvPr/>
        </p:nvPicPr>
        <p:blipFill>
          <a:blip r:embed="rId4"/>
          <a:stretch>
            <a:fillRect/>
          </a:stretch>
        </p:blipFill>
        <p:spPr>
          <a:xfrm>
            <a:off x="3808224" y="3528975"/>
            <a:ext cx="128699" cy="187198"/>
          </a:xfrm>
          <a:prstGeom prst="rect">
            <a:avLst/>
          </a:prstGeom>
        </p:spPr>
      </p:pic>
      <p:sp>
        <p:nvSpPr>
          <p:cNvPr id="72" name="TextBox 71"/>
          <p:cNvSpPr txBox="1"/>
          <p:nvPr/>
        </p:nvSpPr>
        <p:spPr>
          <a:xfrm>
            <a:off x="3975719" y="3538754"/>
            <a:ext cx="523130" cy="186689"/>
          </a:xfrm>
          <a:prstGeom prst="rect">
            <a:avLst/>
          </a:prstGeom>
          <a:noFill/>
        </p:spPr>
        <p:txBody>
          <a:bodyPr wrap="none" lIns="0" rIns="0" tIns="0" bIns="0">
            <a:spAutoFit/>
          </a:bodyPr>
          <a:lstStyle/>
          <a:p>
            <a:r>
              <a:rPr sz="1100" b="0">
                <a:solidFill>
                  <a:srgbClr val="252423"/>
                </a:solidFill>
                <a:latin typeface="Segoe UI"/>
              </a:rPr>
              <a:t>, giving</a:t>
            </a:r>
          </a:p>
        </p:txBody>
      </p:sp>
      <p:sp>
        <p:nvSpPr>
          <p:cNvPr id="73" name="TextBox 72"/>
          <p:cNvSpPr txBox="1"/>
          <p:nvPr/>
        </p:nvSpPr>
        <p:spPr>
          <a:xfrm>
            <a:off x="2657475" y="3706394"/>
            <a:ext cx="1203874" cy="186689"/>
          </a:xfrm>
          <a:prstGeom prst="rect">
            <a:avLst/>
          </a:prstGeom>
          <a:noFill/>
        </p:spPr>
        <p:txBody>
          <a:bodyPr wrap="none" lIns="0" rIns="0" tIns="0" bIns="0">
            <a:spAutoFit/>
          </a:bodyPr>
          <a:lstStyle/>
          <a:p>
            <a:r>
              <a:rPr sz="1100" b="0">
                <a:solidFill>
                  <a:srgbClr val="252423"/>
                </a:solidFill>
                <a:latin typeface="Segoe UI"/>
              </a:rPr>
              <a:t>large buyers scale.</a:t>
            </a:r>
          </a:p>
        </p:txBody>
      </p:sp>
      <p:sp>
        <p:nvSpPr>
          <p:cNvPr id="74" name="TextBox 73"/>
          <p:cNvSpPr txBox="1"/>
          <p:nvPr/>
        </p:nvSpPr>
        <p:spPr>
          <a:xfrm>
            <a:off x="2657475" y="4082537"/>
            <a:ext cx="1541958" cy="186689"/>
          </a:xfrm>
          <a:prstGeom prst="rect">
            <a:avLst/>
          </a:prstGeom>
          <a:noFill/>
        </p:spPr>
        <p:txBody>
          <a:bodyPr wrap="none" lIns="0" rIns="0" tIns="0" bIns="0">
            <a:spAutoFit/>
          </a:bodyPr>
          <a:lstStyle/>
          <a:p>
            <a:r>
              <a:rPr sz="1100" b="0">
                <a:solidFill>
                  <a:srgbClr val="252423"/>
                </a:solidFill>
                <a:latin typeface="Segoe UI"/>
              </a:rPr>
              <a:t>▸ Price sensitivity tracks</a:t>
            </a:r>
          </a:p>
        </p:txBody>
      </p:sp>
      <p:sp>
        <p:nvSpPr>
          <p:cNvPr id="75" name="TextBox 74"/>
          <p:cNvSpPr txBox="1"/>
          <p:nvPr/>
        </p:nvSpPr>
        <p:spPr>
          <a:xfrm>
            <a:off x="2657475" y="4250177"/>
            <a:ext cx="1212051" cy="186689"/>
          </a:xfrm>
          <a:prstGeom prst="rect">
            <a:avLst/>
          </a:prstGeom>
          <a:noFill/>
        </p:spPr>
        <p:txBody>
          <a:bodyPr wrap="none" lIns="0" rIns="0" tIns="0" bIns="0">
            <a:spAutoFit/>
          </a:bodyPr>
          <a:lstStyle/>
          <a:p>
            <a:r>
              <a:rPr sz="1100" b="0">
                <a:solidFill>
                  <a:srgbClr val="252423"/>
                </a:solidFill>
                <a:latin typeface="Segoe UI"/>
              </a:rPr>
              <a:t>realisation moving</a:t>
            </a:r>
          </a:p>
        </p:txBody>
      </p:sp>
      <p:pic>
        <p:nvPicPr>
          <p:cNvPr id="76" name="Picture 75" descr="lock.png"/>
          <p:cNvPicPr>
            <a:picLocks noChangeAspect="1"/>
          </p:cNvPicPr>
          <p:nvPr/>
        </p:nvPicPr>
        <p:blipFill>
          <a:blip r:embed="rId4"/>
          <a:stretch>
            <a:fillRect/>
          </a:stretch>
        </p:blipFill>
        <p:spPr>
          <a:xfrm>
            <a:off x="3817577" y="4240398"/>
            <a:ext cx="128699" cy="187198"/>
          </a:xfrm>
          <a:prstGeom prst="rect">
            <a:avLst/>
          </a:prstGeom>
        </p:spPr>
      </p:pic>
      <p:sp>
        <p:nvSpPr>
          <p:cNvPr id="77" name="TextBox 76"/>
          <p:cNvSpPr txBox="1"/>
          <p:nvPr/>
        </p:nvSpPr>
        <p:spPr>
          <a:xfrm>
            <a:off x="3985073" y="4250177"/>
            <a:ext cx="446178" cy="186689"/>
          </a:xfrm>
          <a:prstGeom prst="rect">
            <a:avLst/>
          </a:prstGeom>
          <a:noFill/>
        </p:spPr>
        <p:txBody>
          <a:bodyPr wrap="none" lIns="0" rIns="0" tIns="0" bIns="0">
            <a:spAutoFit/>
          </a:bodyPr>
          <a:lstStyle/>
          <a:p>
            <a:r>
              <a:rPr sz="1100" b="0">
                <a:solidFill>
                  <a:srgbClr val="252423"/>
                </a:solidFill>
                <a:latin typeface="Segoe UI"/>
              </a:rPr>
              <a:t>a year</a:t>
            </a:r>
          </a:p>
        </p:txBody>
      </p:sp>
      <p:sp>
        <p:nvSpPr>
          <p:cNvPr id="78" name="TextBox 77"/>
          <p:cNvSpPr txBox="1"/>
          <p:nvPr/>
        </p:nvSpPr>
        <p:spPr>
          <a:xfrm>
            <a:off x="2657475" y="4417817"/>
            <a:ext cx="1656202" cy="186689"/>
          </a:xfrm>
          <a:prstGeom prst="rect">
            <a:avLst/>
          </a:prstGeom>
          <a:noFill/>
        </p:spPr>
        <p:txBody>
          <a:bodyPr wrap="none" lIns="0" rIns="0" tIns="0" bIns="0">
            <a:spAutoFit/>
          </a:bodyPr>
          <a:lstStyle/>
          <a:p>
            <a:r>
              <a:rPr sz="1100" b="0">
                <a:solidFill>
                  <a:srgbClr val="252423"/>
                </a:solidFill>
                <a:latin typeface="Segoe UI"/>
              </a:rPr>
              <a:t>against volume growth of</a:t>
            </a:r>
          </a:p>
        </p:txBody>
      </p:sp>
      <p:pic>
        <p:nvPicPr>
          <p:cNvPr id="79" name="Picture 78" descr="lock.png"/>
          <p:cNvPicPr>
            <a:picLocks noChangeAspect="1"/>
          </p:cNvPicPr>
          <p:nvPr/>
        </p:nvPicPr>
        <p:blipFill>
          <a:blip r:embed="rId4"/>
          <a:stretch>
            <a:fillRect/>
          </a:stretch>
        </p:blipFill>
        <p:spPr>
          <a:xfrm>
            <a:off x="4261728" y="4408038"/>
            <a:ext cx="128699" cy="187198"/>
          </a:xfrm>
          <a:prstGeom prst="rect">
            <a:avLst/>
          </a:prstGeom>
        </p:spPr>
      </p:pic>
      <p:sp>
        <p:nvSpPr>
          <p:cNvPr id="80" name="TextBox 79"/>
          <p:cNvSpPr txBox="1"/>
          <p:nvPr/>
        </p:nvSpPr>
        <p:spPr>
          <a:xfrm>
            <a:off x="4429224" y="441781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81" name="TextBox 80"/>
          <p:cNvSpPr txBox="1"/>
          <p:nvPr/>
        </p:nvSpPr>
        <p:spPr>
          <a:xfrm>
            <a:off x="5038725" y="2848734"/>
            <a:ext cx="2002485" cy="186689"/>
          </a:xfrm>
          <a:prstGeom prst="rect">
            <a:avLst/>
          </a:prstGeom>
          <a:noFill/>
        </p:spPr>
        <p:txBody>
          <a:bodyPr wrap="none" lIns="0" rIns="0" tIns="0" bIns="0">
            <a:spAutoFit/>
          </a:bodyPr>
          <a:lstStyle/>
          <a:p>
            <a:r>
              <a:rPr sz="1100" b="0">
                <a:solidFill>
                  <a:srgbClr val="252423"/>
                </a:solidFill>
                <a:latin typeface="Segoe UI"/>
              </a:rPr>
              <a:t>▸ Assessed moderate. 3 energy</a:t>
            </a:r>
          </a:p>
        </p:txBody>
      </p:sp>
      <p:sp>
        <p:nvSpPr>
          <p:cNvPr id="82" name="TextBox 81"/>
          <p:cNvSpPr txBox="1"/>
          <p:nvPr/>
        </p:nvSpPr>
        <p:spPr>
          <a:xfrm>
            <a:off x="5038725" y="3016374"/>
            <a:ext cx="1979275" cy="186689"/>
          </a:xfrm>
          <a:prstGeom prst="rect">
            <a:avLst/>
          </a:prstGeom>
          <a:noFill/>
        </p:spPr>
        <p:txBody>
          <a:bodyPr wrap="none" lIns="0" rIns="0" tIns="0" bIns="0">
            <a:spAutoFit/>
          </a:bodyPr>
          <a:lstStyle/>
          <a:p>
            <a:r>
              <a:rPr sz="1100" b="0">
                <a:solidFill>
                  <a:srgbClr val="252423"/>
                </a:solidFill>
                <a:latin typeface="Segoe UI"/>
              </a:rPr>
              <a:t>storage capacity lines compete</a:t>
            </a:r>
          </a:p>
        </p:txBody>
      </p:sp>
      <p:sp>
        <p:nvSpPr>
          <p:cNvPr id="83" name="TextBox 82"/>
          <p:cNvSpPr txBox="1"/>
          <p:nvPr/>
        </p:nvSpPr>
        <p:spPr>
          <a:xfrm>
            <a:off x="5038725" y="3184014"/>
            <a:ext cx="1937320" cy="186689"/>
          </a:xfrm>
          <a:prstGeom prst="rect">
            <a:avLst/>
          </a:prstGeom>
          <a:noFill/>
        </p:spPr>
        <p:txBody>
          <a:bodyPr wrap="none" lIns="0" rIns="0" tIns="0" bIns="0">
            <a:spAutoFit/>
          </a:bodyPr>
          <a:lstStyle/>
          <a:p>
            <a:r>
              <a:rPr sz="1100" b="0">
                <a:solidFill>
                  <a:srgbClr val="252423"/>
                </a:solidFill>
                <a:latin typeface="Segoe UI"/>
              </a:rPr>
              <a:t>inside the segment; the leader</a:t>
            </a:r>
          </a:p>
        </p:txBody>
      </p:sp>
      <p:sp>
        <p:nvSpPr>
          <p:cNvPr id="84" name="TextBox 83"/>
          <p:cNvSpPr txBox="1"/>
          <p:nvPr/>
        </p:nvSpPr>
        <p:spPr>
          <a:xfrm>
            <a:off x="5038725" y="3351654"/>
            <a:ext cx="412625" cy="186689"/>
          </a:xfrm>
          <a:prstGeom prst="rect">
            <a:avLst/>
          </a:prstGeom>
          <a:noFill/>
        </p:spPr>
        <p:txBody>
          <a:bodyPr wrap="none" lIns="0" rIns="0" tIns="0" bIns="0">
            <a:spAutoFit/>
          </a:bodyPr>
          <a:lstStyle/>
          <a:p>
            <a:r>
              <a:rPr sz="1100" b="0">
                <a:solidFill>
                  <a:srgbClr val="252423"/>
                </a:solidFill>
                <a:latin typeface="Segoe UI"/>
              </a:rPr>
              <a:t>holds</a:t>
            </a:r>
          </a:p>
        </p:txBody>
      </p:sp>
      <p:pic>
        <p:nvPicPr>
          <p:cNvPr id="85" name="Picture 84" descr="lock.png"/>
          <p:cNvPicPr>
            <a:picLocks noChangeAspect="1"/>
          </p:cNvPicPr>
          <p:nvPr/>
        </p:nvPicPr>
        <p:blipFill>
          <a:blip r:embed="rId4"/>
          <a:stretch>
            <a:fillRect/>
          </a:stretch>
        </p:blipFill>
        <p:spPr>
          <a:xfrm>
            <a:off x="5399402" y="3341875"/>
            <a:ext cx="128699" cy="187198"/>
          </a:xfrm>
          <a:prstGeom prst="rect">
            <a:avLst/>
          </a:prstGeom>
        </p:spPr>
      </p:pic>
      <p:sp>
        <p:nvSpPr>
          <p:cNvPr id="86" name="TextBox 85"/>
          <p:cNvSpPr txBox="1"/>
          <p:nvPr/>
        </p:nvSpPr>
        <p:spPr>
          <a:xfrm>
            <a:off x="5566898" y="3351654"/>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87" name="TextBox 86"/>
          <p:cNvSpPr txBox="1"/>
          <p:nvPr/>
        </p:nvSpPr>
        <p:spPr>
          <a:xfrm>
            <a:off x="5038725" y="3715785"/>
            <a:ext cx="2087602" cy="186689"/>
          </a:xfrm>
          <a:prstGeom prst="rect">
            <a:avLst/>
          </a:prstGeom>
          <a:noFill/>
        </p:spPr>
        <p:txBody>
          <a:bodyPr wrap="none" lIns="0" rIns="0" tIns="0" bIns="0">
            <a:spAutoFit/>
          </a:bodyPr>
          <a:lstStyle/>
          <a:p>
            <a:r>
              <a:rPr sz="1100" b="0">
                <a:solidFill>
                  <a:srgbClr val="252423"/>
                </a:solidFill>
                <a:latin typeface="Segoe UI"/>
              </a:rPr>
              <a:t>▸ Growth is unevenly distributed</a:t>
            </a:r>
          </a:p>
        </p:txBody>
      </p:sp>
      <p:sp>
        <p:nvSpPr>
          <p:cNvPr id="88" name="TextBox 87"/>
          <p:cNvSpPr txBox="1"/>
          <p:nvPr/>
        </p:nvSpPr>
        <p:spPr>
          <a:xfrm>
            <a:off x="5038725" y="3883425"/>
            <a:ext cx="2069909" cy="186689"/>
          </a:xfrm>
          <a:prstGeom prst="rect">
            <a:avLst/>
          </a:prstGeom>
          <a:noFill/>
        </p:spPr>
        <p:txBody>
          <a:bodyPr wrap="none" lIns="0" rIns="0" tIns="0" bIns="0">
            <a:spAutoFit/>
          </a:bodyPr>
          <a:lstStyle/>
          <a:p>
            <a:r>
              <a:rPr sz="1100" b="0">
                <a:solidFill>
                  <a:srgbClr val="252423"/>
                </a:solidFill>
                <a:latin typeface="Segoe UI"/>
              </a:rPr>
              <a:t>'1,000 Wh to Below 1,500 Wh' at</a:t>
            </a:r>
          </a:p>
        </p:txBody>
      </p:sp>
      <p:pic>
        <p:nvPicPr>
          <p:cNvPr id="89" name="Picture 88" descr="lock.png"/>
          <p:cNvPicPr>
            <a:picLocks noChangeAspect="1"/>
          </p:cNvPicPr>
          <p:nvPr/>
        </p:nvPicPr>
        <p:blipFill>
          <a:blip r:embed="rId4"/>
          <a:stretch>
            <a:fillRect/>
          </a:stretch>
        </p:blipFill>
        <p:spPr>
          <a:xfrm>
            <a:off x="5025257" y="4041286"/>
            <a:ext cx="128699" cy="187198"/>
          </a:xfrm>
          <a:prstGeom prst="rect">
            <a:avLst/>
          </a:prstGeom>
        </p:spPr>
      </p:pic>
      <p:sp>
        <p:nvSpPr>
          <p:cNvPr id="90" name="TextBox 89"/>
          <p:cNvSpPr txBox="1"/>
          <p:nvPr/>
        </p:nvSpPr>
        <p:spPr>
          <a:xfrm>
            <a:off x="5192753" y="4051065"/>
            <a:ext cx="1640440" cy="186689"/>
          </a:xfrm>
          <a:prstGeom prst="rect">
            <a:avLst/>
          </a:prstGeom>
          <a:noFill/>
        </p:spPr>
        <p:txBody>
          <a:bodyPr wrap="none" lIns="0" rIns="0" tIns="0" bIns="0">
            <a:spAutoFit/>
          </a:bodyPr>
          <a:lstStyle/>
          <a:p>
            <a:r>
              <a:rPr sz="1100" b="0">
                <a:solidFill>
                  <a:srgbClr val="252423"/>
                </a:solidFill>
                <a:latin typeface="Segoe UI"/>
              </a:rPr>
              <a:t>against '500 Wh to Below</a:t>
            </a:r>
          </a:p>
        </p:txBody>
      </p:sp>
      <p:sp>
        <p:nvSpPr>
          <p:cNvPr id="91" name="TextBox 90"/>
          <p:cNvSpPr txBox="1"/>
          <p:nvPr/>
        </p:nvSpPr>
        <p:spPr>
          <a:xfrm>
            <a:off x="5038725" y="4218705"/>
            <a:ext cx="844549" cy="186689"/>
          </a:xfrm>
          <a:prstGeom prst="rect">
            <a:avLst/>
          </a:prstGeom>
          <a:noFill/>
        </p:spPr>
        <p:txBody>
          <a:bodyPr wrap="none" lIns="0" rIns="0" tIns="0" bIns="0">
            <a:spAutoFit/>
          </a:bodyPr>
          <a:lstStyle/>
          <a:p>
            <a:r>
              <a:rPr sz="1100" b="0">
                <a:solidFill>
                  <a:srgbClr val="252423"/>
                </a:solidFill>
                <a:latin typeface="Segoe UI"/>
              </a:rPr>
              <a:t>1,000 Wh' at</a:t>
            </a:r>
          </a:p>
        </p:txBody>
      </p:sp>
      <p:pic>
        <p:nvPicPr>
          <p:cNvPr id="92" name="Picture 91" descr="lock.png"/>
          <p:cNvPicPr>
            <a:picLocks noChangeAspect="1"/>
          </p:cNvPicPr>
          <p:nvPr/>
        </p:nvPicPr>
        <p:blipFill>
          <a:blip r:embed="rId4"/>
          <a:stretch>
            <a:fillRect/>
          </a:stretch>
        </p:blipFill>
        <p:spPr>
          <a:xfrm>
            <a:off x="5831326" y="4208926"/>
            <a:ext cx="128699" cy="187198"/>
          </a:xfrm>
          <a:prstGeom prst="rect">
            <a:avLst/>
          </a:prstGeom>
        </p:spPr>
      </p:pic>
      <p:sp>
        <p:nvSpPr>
          <p:cNvPr id="93" name="TextBox 92"/>
          <p:cNvSpPr txBox="1"/>
          <p:nvPr/>
        </p:nvSpPr>
        <p:spPr>
          <a:xfrm>
            <a:off x="5998822" y="4218705"/>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94" name="TextBox 93"/>
          <p:cNvSpPr txBox="1"/>
          <p:nvPr/>
        </p:nvSpPr>
        <p:spPr>
          <a:xfrm>
            <a:off x="5038725" y="4575387"/>
            <a:ext cx="2114550" cy="186689"/>
          </a:xfrm>
          <a:prstGeom prst="rect">
            <a:avLst/>
          </a:prstGeom>
          <a:noFill/>
        </p:spPr>
        <p:txBody>
          <a:bodyPr wrap="none" lIns="0" rIns="0" tIns="0" bIns="0">
            <a:spAutoFit/>
          </a:bodyPr>
          <a:lstStyle/>
          <a:p>
            <a:r>
              <a:rPr sz="1100" b="0">
                <a:solidFill>
                  <a:srgbClr val="252423"/>
                </a:solidFill>
                <a:latin typeface="Segoe UI"/>
              </a:rPr>
              <a:t>▸ 5 of 7 regions grow at or above</a:t>
            </a:r>
          </a:p>
        </p:txBody>
      </p:sp>
      <p:sp>
        <p:nvSpPr>
          <p:cNvPr id="95" name="TextBox 94"/>
          <p:cNvSpPr txBox="1"/>
          <p:nvPr/>
        </p:nvSpPr>
        <p:spPr>
          <a:xfrm>
            <a:off x="5038725" y="4743027"/>
            <a:ext cx="275927" cy="186689"/>
          </a:xfrm>
          <a:prstGeom prst="rect">
            <a:avLst/>
          </a:prstGeom>
          <a:noFill/>
        </p:spPr>
        <p:txBody>
          <a:bodyPr wrap="none" lIns="0" rIns="0" tIns="0" bIns="0">
            <a:spAutoFit/>
          </a:bodyPr>
          <a:lstStyle/>
          <a:p>
            <a:r>
              <a:rPr sz="1100" b="0">
                <a:solidFill>
                  <a:srgbClr val="252423"/>
                </a:solidFill>
                <a:latin typeface="Segoe UI"/>
              </a:rPr>
              <a:t>the</a:t>
            </a:r>
          </a:p>
        </p:txBody>
      </p:sp>
      <p:pic>
        <p:nvPicPr>
          <p:cNvPr id="96" name="Picture 95" descr="lock.png"/>
          <p:cNvPicPr>
            <a:picLocks noChangeAspect="1"/>
          </p:cNvPicPr>
          <p:nvPr/>
        </p:nvPicPr>
        <p:blipFill>
          <a:blip r:embed="rId4"/>
          <a:stretch>
            <a:fillRect/>
          </a:stretch>
        </p:blipFill>
        <p:spPr>
          <a:xfrm>
            <a:off x="5262703" y="4733248"/>
            <a:ext cx="128699" cy="187198"/>
          </a:xfrm>
          <a:prstGeom prst="rect">
            <a:avLst/>
          </a:prstGeom>
        </p:spPr>
      </p:pic>
      <p:sp>
        <p:nvSpPr>
          <p:cNvPr id="97" name="TextBox 96"/>
          <p:cNvSpPr txBox="1"/>
          <p:nvPr/>
        </p:nvSpPr>
        <p:spPr>
          <a:xfrm>
            <a:off x="5430199" y="4743027"/>
            <a:ext cx="1397505" cy="186689"/>
          </a:xfrm>
          <a:prstGeom prst="rect">
            <a:avLst/>
          </a:prstGeom>
          <a:noFill/>
        </p:spPr>
        <p:txBody>
          <a:bodyPr wrap="none" lIns="0" rIns="0" tIns="0" bIns="0">
            <a:spAutoFit/>
          </a:bodyPr>
          <a:lstStyle/>
          <a:p>
            <a:r>
              <a:rPr sz="1100" b="0">
                <a:solidFill>
                  <a:srgbClr val="252423"/>
                </a:solidFill>
                <a:latin typeface="Segoe UI"/>
              </a:rPr>
              <a:t>market pace, keeping</a:t>
            </a:r>
          </a:p>
        </p:txBody>
      </p:sp>
      <p:sp>
        <p:nvSpPr>
          <p:cNvPr id="98" name="TextBox 97"/>
          <p:cNvSpPr txBox="1"/>
          <p:nvPr/>
        </p:nvSpPr>
        <p:spPr>
          <a:xfrm>
            <a:off x="5038725" y="4910667"/>
            <a:ext cx="1084322" cy="186689"/>
          </a:xfrm>
          <a:prstGeom prst="rect">
            <a:avLst/>
          </a:prstGeom>
          <a:noFill/>
        </p:spPr>
        <p:txBody>
          <a:bodyPr wrap="none" lIns="0" rIns="0" tIns="0" bIns="0">
            <a:spAutoFit/>
          </a:bodyPr>
          <a:lstStyle/>
          <a:p>
            <a:r>
              <a:rPr sz="1100" b="0">
                <a:solidFill>
                  <a:srgbClr val="252423"/>
                </a:solidFill>
                <a:latin typeface="Segoe UI"/>
              </a:rPr>
              <a:t>share contested.</a:t>
            </a:r>
          </a:p>
        </p:txBody>
      </p:sp>
      <p:sp>
        <p:nvSpPr>
          <p:cNvPr id="99" name="TextBox 98"/>
          <p:cNvSpPr txBox="1"/>
          <p:nvPr/>
        </p:nvSpPr>
        <p:spPr>
          <a:xfrm>
            <a:off x="7419975" y="2860746"/>
            <a:ext cx="1862435" cy="186689"/>
          </a:xfrm>
          <a:prstGeom prst="rect">
            <a:avLst/>
          </a:prstGeom>
          <a:noFill/>
        </p:spPr>
        <p:txBody>
          <a:bodyPr wrap="none" lIns="0" rIns="0" tIns="0" bIns="0">
            <a:spAutoFit/>
          </a:bodyPr>
          <a:lstStyle/>
          <a:p>
            <a:r>
              <a:rPr sz="1100" b="0">
                <a:solidFill>
                  <a:srgbClr val="252423"/>
                </a:solidFill>
                <a:latin typeface="Segoe UI"/>
              </a:rPr>
              <a:t>▸ Assessed low. '1,500 Wh to</a:t>
            </a:r>
          </a:p>
        </p:txBody>
      </p:sp>
      <p:sp>
        <p:nvSpPr>
          <p:cNvPr id="100" name="TextBox 99"/>
          <p:cNvSpPr txBox="1"/>
          <p:nvPr/>
        </p:nvSpPr>
        <p:spPr>
          <a:xfrm>
            <a:off x="7419975" y="3028386"/>
            <a:ext cx="1033090" cy="186689"/>
          </a:xfrm>
          <a:prstGeom prst="rect">
            <a:avLst/>
          </a:prstGeom>
          <a:noFill/>
        </p:spPr>
        <p:txBody>
          <a:bodyPr wrap="none" lIns="0" rIns="0" tIns="0" bIns="0">
            <a:spAutoFit/>
          </a:bodyPr>
          <a:lstStyle/>
          <a:p>
            <a:r>
              <a:rPr sz="1100" b="0">
                <a:solidFill>
                  <a:srgbClr val="252423"/>
                </a:solidFill>
                <a:latin typeface="Segoe UI"/>
              </a:rPr>
              <a:t>2,000 Wh' loses</a:t>
            </a:r>
          </a:p>
        </p:txBody>
      </p:sp>
      <p:pic>
        <p:nvPicPr>
          <p:cNvPr id="101" name="Picture 100" descr="lock.png"/>
          <p:cNvPicPr>
            <a:picLocks noChangeAspect="1"/>
          </p:cNvPicPr>
          <p:nvPr/>
        </p:nvPicPr>
        <p:blipFill>
          <a:blip r:embed="rId4"/>
          <a:stretch>
            <a:fillRect/>
          </a:stretch>
        </p:blipFill>
        <p:spPr>
          <a:xfrm>
            <a:off x="8401117" y="3018607"/>
            <a:ext cx="128699" cy="187198"/>
          </a:xfrm>
          <a:prstGeom prst="rect">
            <a:avLst/>
          </a:prstGeom>
        </p:spPr>
      </p:pic>
      <p:sp>
        <p:nvSpPr>
          <p:cNvPr id="102" name="TextBox 101"/>
          <p:cNvSpPr txBox="1"/>
          <p:nvPr/>
        </p:nvSpPr>
        <p:spPr>
          <a:xfrm>
            <a:off x="8568612" y="3028386"/>
            <a:ext cx="842026" cy="186689"/>
          </a:xfrm>
          <a:prstGeom prst="rect">
            <a:avLst/>
          </a:prstGeom>
          <a:noFill/>
        </p:spPr>
        <p:txBody>
          <a:bodyPr wrap="none" lIns="0" rIns="0" tIns="0" bIns="0">
            <a:spAutoFit/>
          </a:bodyPr>
          <a:lstStyle/>
          <a:p>
            <a:r>
              <a:rPr sz="1100" b="0">
                <a:solidFill>
                  <a:srgbClr val="252423"/>
                </a:solidFill>
                <a:latin typeface="Segoe UI"/>
              </a:rPr>
              <a:t>BPS of share</a:t>
            </a:r>
          </a:p>
        </p:txBody>
      </p:sp>
      <p:sp>
        <p:nvSpPr>
          <p:cNvPr id="103" name="TextBox 102"/>
          <p:cNvSpPr txBox="1"/>
          <p:nvPr/>
        </p:nvSpPr>
        <p:spPr>
          <a:xfrm>
            <a:off x="7419975" y="3196026"/>
            <a:ext cx="2080533" cy="186689"/>
          </a:xfrm>
          <a:prstGeom prst="rect">
            <a:avLst/>
          </a:prstGeom>
          <a:noFill/>
        </p:spPr>
        <p:txBody>
          <a:bodyPr wrap="none" lIns="0" rIns="0" tIns="0" bIns="0">
            <a:spAutoFit/>
          </a:bodyPr>
          <a:lstStyle/>
          <a:p>
            <a:r>
              <a:rPr sz="1100" b="0">
                <a:solidFill>
                  <a:srgbClr val="252423"/>
                </a:solidFill>
                <a:latin typeface="Segoe UI"/>
              </a:rPr>
              <a:t>to '1,000 Wh to Below 1,500 Wh'</a:t>
            </a:r>
          </a:p>
        </p:txBody>
      </p:sp>
      <p:sp>
        <p:nvSpPr>
          <p:cNvPr id="104" name="TextBox 103"/>
          <p:cNvSpPr txBox="1"/>
          <p:nvPr/>
        </p:nvSpPr>
        <p:spPr>
          <a:xfrm>
            <a:off x="7419975" y="3363666"/>
            <a:ext cx="213990"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05" name="Picture 104" descr="lock.png"/>
          <p:cNvPicPr>
            <a:picLocks noChangeAspect="1"/>
          </p:cNvPicPr>
          <p:nvPr/>
        </p:nvPicPr>
        <p:blipFill>
          <a:blip r:embed="rId4"/>
          <a:stretch>
            <a:fillRect/>
          </a:stretch>
        </p:blipFill>
        <p:spPr>
          <a:xfrm>
            <a:off x="7582016" y="3353887"/>
            <a:ext cx="128699" cy="187198"/>
          </a:xfrm>
          <a:prstGeom prst="rect">
            <a:avLst/>
          </a:prstGeom>
        </p:spPr>
      </p:pic>
      <p:sp>
        <p:nvSpPr>
          <p:cNvPr id="106" name="TextBox 105"/>
          <p:cNvSpPr txBox="1"/>
          <p:nvPr/>
        </p:nvSpPr>
        <p:spPr>
          <a:xfrm>
            <a:off x="7749512" y="3363666"/>
            <a:ext cx="1646733" cy="186689"/>
          </a:xfrm>
          <a:prstGeom prst="rect">
            <a:avLst/>
          </a:prstGeom>
          <a:noFill/>
        </p:spPr>
        <p:txBody>
          <a:bodyPr wrap="none" lIns="0" rIns="0" tIns="0" bIns="0">
            <a:spAutoFit/>
          </a:bodyPr>
          <a:lstStyle/>
          <a:p>
            <a:r>
              <a:rPr sz="1100" b="0">
                <a:solidFill>
                  <a:srgbClr val="252423"/>
                </a:solidFill>
                <a:latin typeface="Segoe UI"/>
              </a:rPr>
              <a:t>BPS) by 2036 substitution</a:t>
            </a:r>
          </a:p>
        </p:txBody>
      </p:sp>
      <p:sp>
        <p:nvSpPr>
          <p:cNvPr id="107" name="TextBox 106"/>
          <p:cNvSpPr txBox="1"/>
          <p:nvPr/>
        </p:nvSpPr>
        <p:spPr>
          <a:xfrm>
            <a:off x="7419975" y="3531306"/>
            <a:ext cx="1514673" cy="186689"/>
          </a:xfrm>
          <a:prstGeom prst="rect">
            <a:avLst/>
          </a:prstGeom>
          <a:noFill/>
        </p:spPr>
        <p:txBody>
          <a:bodyPr wrap="none" lIns="0" rIns="0" tIns="0" bIns="0">
            <a:spAutoFit/>
          </a:bodyPr>
          <a:lstStyle/>
          <a:p>
            <a:r>
              <a:rPr sz="1100" b="0">
                <a:solidFill>
                  <a:srgbClr val="252423"/>
                </a:solidFill>
                <a:latin typeface="Segoe UI"/>
              </a:rPr>
              <a:t>is visible inside the mix.</a:t>
            </a:r>
          </a:p>
        </p:txBody>
      </p:sp>
      <p:sp>
        <p:nvSpPr>
          <p:cNvPr id="108" name="TextBox 107"/>
          <p:cNvSpPr txBox="1"/>
          <p:nvPr/>
        </p:nvSpPr>
        <p:spPr>
          <a:xfrm>
            <a:off x="7419975" y="3983820"/>
            <a:ext cx="1750105" cy="186689"/>
          </a:xfrm>
          <a:prstGeom prst="rect">
            <a:avLst/>
          </a:prstGeom>
          <a:noFill/>
        </p:spPr>
        <p:txBody>
          <a:bodyPr wrap="none" lIns="0" rIns="0" tIns="0" bIns="0">
            <a:spAutoFit/>
          </a:bodyPr>
          <a:lstStyle/>
          <a:p>
            <a:r>
              <a:rPr sz="1100" b="0">
                <a:solidFill>
                  <a:srgbClr val="252423"/>
                </a:solidFill>
                <a:latin typeface="Segoe UI"/>
              </a:rPr>
              <a:t>▸ The slowest line grows at</a:t>
            </a:r>
          </a:p>
        </p:txBody>
      </p:sp>
      <p:pic>
        <p:nvPicPr>
          <p:cNvPr id="109" name="Picture 108" descr="lock.png"/>
          <p:cNvPicPr>
            <a:picLocks noChangeAspect="1"/>
          </p:cNvPicPr>
          <p:nvPr/>
        </p:nvPicPr>
        <p:blipFill>
          <a:blip r:embed="rId4"/>
          <a:stretch>
            <a:fillRect/>
          </a:stretch>
        </p:blipFill>
        <p:spPr>
          <a:xfrm>
            <a:off x="9118132" y="3974041"/>
            <a:ext cx="128699" cy="187198"/>
          </a:xfrm>
          <a:prstGeom prst="rect">
            <a:avLst/>
          </a:prstGeom>
        </p:spPr>
      </p:pic>
      <p:sp>
        <p:nvSpPr>
          <p:cNvPr id="110" name="TextBox 109"/>
          <p:cNvSpPr txBox="1"/>
          <p:nvPr/>
        </p:nvSpPr>
        <p:spPr>
          <a:xfrm>
            <a:off x="9285628" y="3983820"/>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11" name="TextBox 110"/>
          <p:cNvSpPr txBox="1"/>
          <p:nvPr/>
        </p:nvSpPr>
        <p:spPr>
          <a:xfrm>
            <a:off x="7419975" y="4151460"/>
            <a:ext cx="132134"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12" name="Picture 111" descr="lock.png"/>
          <p:cNvPicPr>
            <a:picLocks noChangeAspect="1"/>
          </p:cNvPicPr>
          <p:nvPr/>
        </p:nvPicPr>
        <p:blipFill>
          <a:blip r:embed="rId4"/>
          <a:stretch>
            <a:fillRect/>
          </a:stretch>
        </p:blipFill>
        <p:spPr>
          <a:xfrm>
            <a:off x="7500161" y="4141681"/>
            <a:ext cx="128699" cy="187198"/>
          </a:xfrm>
          <a:prstGeom prst="rect">
            <a:avLst/>
          </a:prstGeom>
        </p:spPr>
      </p:pic>
      <p:sp>
        <p:nvSpPr>
          <p:cNvPr id="113" name="TextBox 112"/>
          <p:cNvSpPr txBox="1"/>
          <p:nvPr/>
        </p:nvSpPr>
        <p:spPr>
          <a:xfrm>
            <a:off x="7667656" y="4151460"/>
            <a:ext cx="1528273" cy="186689"/>
          </a:xfrm>
          <a:prstGeom prst="rect">
            <a:avLst/>
          </a:prstGeom>
          <a:noFill/>
        </p:spPr>
        <p:txBody>
          <a:bodyPr wrap="none" lIns="0" rIns="0" tIns="0" bIns="0">
            <a:spAutoFit/>
          </a:bodyPr>
          <a:lstStyle/>
          <a:p>
            <a:r>
              <a:rPr sz="1100" b="0">
                <a:solidFill>
                  <a:srgbClr val="252423"/>
                </a:solidFill>
                <a:latin typeface="Segoe UI"/>
              </a:rPr>
              <a:t>BPS against the market.</a:t>
            </a:r>
          </a:p>
        </p:txBody>
      </p:sp>
      <p:sp>
        <p:nvSpPr>
          <p:cNvPr id="114" name="TextBox 113"/>
          <p:cNvSpPr txBox="1"/>
          <p:nvPr/>
        </p:nvSpPr>
        <p:spPr>
          <a:xfrm>
            <a:off x="7419975" y="4584514"/>
            <a:ext cx="1375459" cy="186689"/>
          </a:xfrm>
          <a:prstGeom prst="rect">
            <a:avLst/>
          </a:prstGeom>
          <a:noFill/>
        </p:spPr>
        <p:txBody>
          <a:bodyPr wrap="none" lIns="0" rIns="0" tIns="0" bIns="0">
            <a:spAutoFit/>
          </a:bodyPr>
          <a:lstStyle/>
          <a:p>
            <a:r>
              <a:rPr sz="1100" b="0">
                <a:solidFill>
                  <a:srgbClr val="252423"/>
                </a:solidFill>
                <a:latin typeface="Segoe UI"/>
              </a:rPr>
              <a:t>▸ Realisation moving</a:t>
            </a:r>
          </a:p>
        </p:txBody>
      </p:sp>
      <p:pic>
        <p:nvPicPr>
          <p:cNvPr id="115" name="Picture 114" descr="lock.png"/>
          <p:cNvPicPr>
            <a:picLocks noChangeAspect="1"/>
          </p:cNvPicPr>
          <p:nvPr/>
        </p:nvPicPr>
        <p:blipFill>
          <a:blip r:embed="rId4"/>
          <a:stretch>
            <a:fillRect/>
          </a:stretch>
        </p:blipFill>
        <p:spPr>
          <a:xfrm>
            <a:off x="8743486" y="4574735"/>
            <a:ext cx="128699" cy="187198"/>
          </a:xfrm>
          <a:prstGeom prst="rect">
            <a:avLst/>
          </a:prstGeom>
        </p:spPr>
      </p:pic>
      <p:sp>
        <p:nvSpPr>
          <p:cNvPr id="116" name="TextBox 115"/>
          <p:cNvSpPr txBox="1"/>
          <p:nvPr/>
        </p:nvSpPr>
        <p:spPr>
          <a:xfrm>
            <a:off x="8910981" y="4584514"/>
            <a:ext cx="446178" cy="186689"/>
          </a:xfrm>
          <a:prstGeom prst="rect">
            <a:avLst/>
          </a:prstGeom>
          <a:noFill/>
        </p:spPr>
        <p:txBody>
          <a:bodyPr wrap="none" lIns="0" rIns="0" tIns="0" bIns="0">
            <a:spAutoFit/>
          </a:bodyPr>
          <a:lstStyle/>
          <a:p>
            <a:r>
              <a:rPr sz="1100" b="0">
                <a:solidFill>
                  <a:srgbClr val="252423"/>
                </a:solidFill>
                <a:latin typeface="Segoe UI"/>
              </a:rPr>
              <a:t>a year</a:t>
            </a:r>
          </a:p>
        </p:txBody>
      </p:sp>
      <p:sp>
        <p:nvSpPr>
          <p:cNvPr id="117" name="TextBox 116"/>
          <p:cNvSpPr txBox="1"/>
          <p:nvPr/>
        </p:nvSpPr>
        <p:spPr>
          <a:xfrm>
            <a:off x="7419975" y="4752154"/>
            <a:ext cx="2062815" cy="186689"/>
          </a:xfrm>
          <a:prstGeom prst="rect">
            <a:avLst/>
          </a:prstGeom>
          <a:noFill/>
        </p:spPr>
        <p:txBody>
          <a:bodyPr wrap="none" lIns="0" rIns="0" tIns="0" bIns="0">
            <a:spAutoFit/>
          </a:bodyPr>
          <a:lstStyle/>
          <a:p>
            <a:r>
              <a:rPr sz="1100" b="0">
                <a:solidFill>
                  <a:srgbClr val="252423"/>
                </a:solidFill>
                <a:latin typeface="Segoe UI"/>
              </a:rPr>
              <a:t>widens the price gap substitutes</a:t>
            </a:r>
          </a:p>
        </p:txBody>
      </p:sp>
      <p:sp>
        <p:nvSpPr>
          <p:cNvPr id="118" name="TextBox 117"/>
          <p:cNvSpPr txBox="1"/>
          <p:nvPr/>
        </p:nvSpPr>
        <p:spPr>
          <a:xfrm>
            <a:off x="7419975" y="4919794"/>
            <a:ext cx="763513" cy="186689"/>
          </a:xfrm>
          <a:prstGeom prst="rect">
            <a:avLst/>
          </a:prstGeom>
          <a:noFill/>
        </p:spPr>
        <p:txBody>
          <a:bodyPr wrap="none" lIns="0" rIns="0" tIns="0" bIns="0">
            <a:spAutoFit/>
          </a:bodyPr>
          <a:lstStyle/>
          <a:p>
            <a:r>
              <a:rPr sz="1100" b="0">
                <a:solidFill>
                  <a:srgbClr val="252423"/>
                </a:solidFill>
                <a:latin typeface="Segoe UI"/>
              </a:rPr>
              <a:t>must close.</a:t>
            </a:r>
          </a:p>
        </p:txBody>
      </p:sp>
      <p:sp>
        <p:nvSpPr>
          <p:cNvPr id="119" name="TextBox 118"/>
          <p:cNvSpPr txBox="1"/>
          <p:nvPr/>
        </p:nvSpPr>
        <p:spPr>
          <a:xfrm>
            <a:off x="9801225" y="2932554"/>
            <a:ext cx="1835231" cy="186689"/>
          </a:xfrm>
          <a:prstGeom prst="rect">
            <a:avLst/>
          </a:prstGeom>
          <a:noFill/>
        </p:spPr>
        <p:txBody>
          <a:bodyPr wrap="none" lIns="0" rIns="0" tIns="0" bIns="0">
            <a:spAutoFit/>
          </a:bodyPr>
          <a:lstStyle/>
          <a:p>
            <a:r>
              <a:rPr sz="1100" b="0">
                <a:solidFill>
                  <a:srgbClr val="252423"/>
                </a:solidFill>
                <a:latin typeface="Segoe UI"/>
              </a:rPr>
              <a:t>▸ Assessed high. The market</a:t>
            </a:r>
          </a:p>
        </p:txBody>
      </p:sp>
      <p:sp>
        <p:nvSpPr>
          <p:cNvPr id="120" name="TextBox 119"/>
          <p:cNvSpPr txBox="1"/>
          <p:nvPr/>
        </p:nvSpPr>
        <p:spPr>
          <a:xfrm>
            <a:off x="9801225" y="3100194"/>
            <a:ext cx="606047" cy="186689"/>
          </a:xfrm>
          <a:prstGeom prst="rect">
            <a:avLst/>
          </a:prstGeom>
          <a:noFill/>
        </p:spPr>
        <p:txBody>
          <a:bodyPr wrap="none" lIns="0" rIns="0" tIns="0" bIns="0">
            <a:spAutoFit/>
          </a:bodyPr>
          <a:lstStyle/>
          <a:p>
            <a:r>
              <a:rPr sz="1100" b="0">
                <a:solidFill>
                  <a:srgbClr val="252423"/>
                </a:solidFill>
                <a:latin typeface="Segoe UI"/>
              </a:rPr>
              <a:t>grows at</a:t>
            </a:r>
          </a:p>
        </p:txBody>
      </p:sp>
      <p:pic>
        <p:nvPicPr>
          <p:cNvPr id="121" name="Picture 120" descr="lock.png"/>
          <p:cNvPicPr>
            <a:picLocks noChangeAspect="1"/>
          </p:cNvPicPr>
          <p:nvPr/>
        </p:nvPicPr>
        <p:blipFill>
          <a:blip r:embed="rId4"/>
          <a:stretch>
            <a:fillRect/>
          </a:stretch>
        </p:blipFill>
        <p:spPr>
          <a:xfrm>
            <a:off x="10355324" y="3090415"/>
            <a:ext cx="128699" cy="187198"/>
          </a:xfrm>
          <a:prstGeom prst="rect">
            <a:avLst/>
          </a:prstGeom>
        </p:spPr>
      </p:pic>
      <p:sp>
        <p:nvSpPr>
          <p:cNvPr id="122" name="TextBox 121"/>
          <p:cNvSpPr txBox="1"/>
          <p:nvPr/>
        </p:nvSpPr>
        <p:spPr>
          <a:xfrm>
            <a:off x="10522820" y="3100194"/>
            <a:ext cx="1036334" cy="186689"/>
          </a:xfrm>
          <a:prstGeom prst="rect">
            <a:avLst/>
          </a:prstGeom>
          <a:noFill/>
        </p:spPr>
        <p:txBody>
          <a:bodyPr wrap="none" lIns="0" rIns="0" tIns="0" bIns="0">
            <a:spAutoFit/>
          </a:bodyPr>
          <a:lstStyle/>
          <a:p>
            <a:r>
              <a:rPr sz="1100" b="0">
                <a:solidFill>
                  <a:srgbClr val="252423"/>
                </a:solidFill>
                <a:latin typeface="Segoe UI"/>
              </a:rPr>
              <a:t>CAGR and adds</a:t>
            </a:r>
          </a:p>
        </p:txBody>
      </p:sp>
      <p:pic>
        <p:nvPicPr>
          <p:cNvPr id="123" name="Picture 122" descr="lock.png"/>
          <p:cNvPicPr>
            <a:picLocks noChangeAspect="1"/>
          </p:cNvPicPr>
          <p:nvPr/>
        </p:nvPicPr>
        <p:blipFill>
          <a:blip r:embed="rId4"/>
          <a:stretch>
            <a:fillRect/>
          </a:stretch>
        </p:blipFill>
        <p:spPr>
          <a:xfrm>
            <a:off x="11507206" y="3090415"/>
            <a:ext cx="128699" cy="187198"/>
          </a:xfrm>
          <a:prstGeom prst="rect">
            <a:avLst/>
          </a:prstGeom>
        </p:spPr>
      </p:pic>
      <p:sp>
        <p:nvSpPr>
          <p:cNvPr id="124" name="TextBox 123"/>
          <p:cNvSpPr txBox="1"/>
          <p:nvPr/>
        </p:nvSpPr>
        <p:spPr>
          <a:xfrm>
            <a:off x="9801225" y="3267834"/>
            <a:ext cx="2114550" cy="186689"/>
          </a:xfrm>
          <a:prstGeom prst="rect">
            <a:avLst/>
          </a:prstGeom>
          <a:noFill/>
        </p:spPr>
        <p:txBody>
          <a:bodyPr wrap="none" lIns="0" rIns="0" tIns="0" bIns="0">
            <a:spAutoFit/>
          </a:bodyPr>
          <a:lstStyle/>
          <a:p>
            <a:r>
              <a:rPr sz="1100" b="0">
                <a:solidFill>
                  <a:srgbClr val="252423"/>
                </a:solidFill>
                <a:latin typeface="Segoe UI"/>
              </a:rPr>
              <a:t>US$ Mn by 2036, attracting entry.</a:t>
            </a:r>
          </a:p>
        </p:txBody>
      </p:sp>
      <p:sp>
        <p:nvSpPr>
          <p:cNvPr id="125" name="TextBox 124"/>
          <p:cNvSpPr txBox="1"/>
          <p:nvPr/>
        </p:nvSpPr>
        <p:spPr>
          <a:xfrm>
            <a:off x="9801225" y="3708336"/>
            <a:ext cx="2114550" cy="186689"/>
          </a:xfrm>
          <a:prstGeom prst="rect">
            <a:avLst/>
          </a:prstGeom>
          <a:noFill/>
        </p:spPr>
        <p:txBody>
          <a:bodyPr wrap="none" lIns="0" rIns="0" tIns="0" bIns="0">
            <a:spAutoFit/>
          </a:bodyPr>
          <a:lstStyle/>
          <a:p>
            <a:r>
              <a:rPr sz="1100" b="0">
                <a:solidFill>
                  <a:srgbClr val="252423"/>
                </a:solidFill>
                <a:latin typeface="Segoe UI"/>
              </a:rPr>
              <a:t>▸ Demand spreads over 7 regions</a:t>
            </a:r>
          </a:p>
        </p:txBody>
      </p:sp>
      <p:sp>
        <p:nvSpPr>
          <p:cNvPr id="126" name="TextBox 125"/>
          <p:cNvSpPr txBox="1"/>
          <p:nvPr/>
        </p:nvSpPr>
        <p:spPr>
          <a:xfrm>
            <a:off x="9801225" y="3875976"/>
            <a:ext cx="1622164" cy="186689"/>
          </a:xfrm>
          <a:prstGeom prst="rect">
            <a:avLst/>
          </a:prstGeom>
          <a:noFill/>
        </p:spPr>
        <p:txBody>
          <a:bodyPr wrap="none" lIns="0" rIns="0" tIns="0" bIns="0">
            <a:spAutoFit/>
          </a:bodyPr>
          <a:lstStyle/>
          <a:p>
            <a:r>
              <a:rPr sz="1100" b="0">
                <a:solidFill>
                  <a:srgbClr val="252423"/>
                </a:solidFill>
                <a:latin typeface="Segoe UI"/>
              </a:rPr>
              <a:t>with no single one above</a:t>
            </a:r>
          </a:p>
        </p:txBody>
      </p:sp>
      <p:pic>
        <p:nvPicPr>
          <p:cNvPr id="127" name="Picture 126" descr="lock.png"/>
          <p:cNvPicPr>
            <a:picLocks noChangeAspect="1"/>
          </p:cNvPicPr>
          <p:nvPr/>
        </p:nvPicPr>
        <p:blipFill>
          <a:blip r:embed="rId4"/>
          <a:stretch>
            <a:fillRect/>
          </a:stretch>
        </p:blipFill>
        <p:spPr>
          <a:xfrm>
            <a:off x="11371440" y="3866197"/>
            <a:ext cx="128699" cy="187198"/>
          </a:xfrm>
          <a:prstGeom prst="rect">
            <a:avLst/>
          </a:prstGeom>
        </p:spPr>
      </p:pic>
      <p:sp>
        <p:nvSpPr>
          <p:cNvPr id="128" name="TextBox 127"/>
          <p:cNvSpPr txBox="1"/>
          <p:nvPr/>
        </p:nvSpPr>
        <p:spPr>
          <a:xfrm>
            <a:off x="11538936" y="3875976"/>
            <a:ext cx="285750" cy="186689"/>
          </a:xfrm>
          <a:prstGeom prst="rect">
            <a:avLst/>
          </a:prstGeom>
          <a:noFill/>
        </p:spPr>
        <p:txBody>
          <a:bodyPr wrap="none" lIns="0" rIns="0" tIns="0" bIns="0">
            <a:spAutoFit/>
          </a:bodyPr>
          <a:lstStyle/>
          <a:p>
            <a:r>
              <a:rPr sz="1100" b="0">
                <a:solidFill>
                  <a:srgbClr val="252423"/>
                </a:solidFill>
                <a:latin typeface="Segoe UI"/>
              </a:rPr>
              <a:t>, so</a:t>
            </a:r>
          </a:p>
        </p:txBody>
      </p:sp>
      <p:sp>
        <p:nvSpPr>
          <p:cNvPr id="129" name="TextBox 128"/>
          <p:cNvSpPr txBox="1"/>
          <p:nvPr/>
        </p:nvSpPr>
        <p:spPr>
          <a:xfrm>
            <a:off x="9801225" y="4043616"/>
            <a:ext cx="1604228" cy="186689"/>
          </a:xfrm>
          <a:prstGeom prst="rect">
            <a:avLst/>
          </a:prstGeom>
          <a:noFill/>
        </p:spPr>
        <p:txBody>
          <a:bodyPr wrap="none" lIns="0" rIns="0" tIns="0" bIns="0">
            <a:spAutoFit/>
          </a:bodyPr>
          <a:lstStyle/>
          <a:p>
            <a:r>
              <a:rPr sz="1100" b="0">
                <a:solidFill>
                  <a:srgbClr val="252423"/>
                </a:solidFill>
                <a:latin typeface="Segoe UI"/>
              </a:rPr>
              <a:t>regional entry is feasible.</a:t>
            </a:r>
          </a:p>
        </p:txBody>
      </p:sp>
      <p:sp>
        <p:nvSpPr>
          <p:cNvPr id="130" name="TextBox 129"/>
          <p:cNvSpPr txBox="1"/>
          <p:nvPr/>
        </p:nvSpPr>
        <p:spPr>
          <a:xfrm>
            <a:off x="9801225" y="4400299"/>
            <a:ext cx="1790317" cy="186689"/>
          </a:xfrm>
          <a:prstGeom prst="rect">
            <a:avLst/>
          </a:prstGeom>
          <a:noFill/>
        </p:spPr>
        <p:txBody>
          <a:bodyPr wrap="none" lIns="0" rIns="0" tIns="0" bIns="0">
            <a:spAutoFit/>
          </a:bodyPr>
          <a:lstStyle/>
          <a:p>
            <a:r>
              <a:rPr sz="1100" b="0">
                <a:solidFill>
                  <a:srgbClr val="252423"/>
                </a:solidFill>
                <a:latin typeface="Segoe UI"/>
              </a:rPr>
              <a:t>▸ Incumbent scale in 'North</a:t>
            </a:r>
          </a:p>
        </p:txBody>
      </p:sp>
      <p:sp>
        <p:nvSpPr>
          <p:cNvPr id="131" name="TextBox 130"/>
          <p:cNvSpPr txBox="1"/>
          <p:nvPr/>
        </p:nvSpPr>
        <p:spPr>
          <a:xfrm>
            <a:off x="9801225" y="4567939"/>
            <a:ext cx="2067999" cy="186689"/>
          </a:xfrm>
          <a:prstGeom prst="rect">
            <a:avLst/>
          </a:prstGeom>
          <a:noFill/>
        </p:spPr>
        <p:txBody>
          <a:bodyPr wrap="none" lIns="0" rIns="0" tIns="0" bIns="0">
            <a:spAutoFit/>
          </a:bodyPr>
          <a:lstStyle/>
          <a:p>
            <a:r>
              <a:rPr sz="1100" b="0">
                <a:solidFill>
                  <a:srgbClr val="252423"/>
                </a:solidFill>
                <a:latin typeface="Segoe UI"/>
              </a:rPr>
              <a:t>America' and '1,500 Wh to 2,000</a:t>
            </a:r>
          </a:p>
        </p:txBody>
      </p:sp>
      <p:sp>
        <p:nvSpPr>
          <p:cNvPr id="132" name="TextBox 131"/>
          <p:cNvSpPr txBox="1"/>
          <p:nvPr/>
        </p:nvSpPr>
        <p:spPr>
          <a:xfrm>
            <a:off x="9801225" y="4735579"/>
            <a:ext cx="398437" cy="186689"/>
          </a:xfrm>
          <a:prstGeom prst="rect">
            <a:avLst/>
          </a:prstGeom>
          <a:noFill/>
        </p:spPr>
        <p:txBody>
          <a:bodyPr wrap="none" lIns="0" rIns="0" tIns="0" bIns="0">
            <a:spAutoFit/>
          </a:bodyPr>
          <a:lstStyle/>
          <a:p>
            <a:r>
              <a:rPr sz="1100" b="0">
                <a:solidFill>
                  <a:srgbClr val="252423"/>
                </a:solidFill>
                <a:latin typeface="Segoe UI"/>
              </a:rPr>
              <a:t>Wh' (</a:t>
            </a:r>
          </a:p>
        </p:txBody>
      </p:sp>
      <p:pic>
        <p:nvPicPr>
          <p:cNvPr id="133" name="Picture 132" descr="lock.png"/>
          <p:cNvPicPr>
            <a:picLocks noChangeAspect="1"/>
          </p:cNvPicPr>
          <p:nvPr/>
        </p:nvPicPr>
        <p:blipFill>
          <a:blip r:embed="rId4"/>
          <a:stretch>
            <a:fillRect/>
          </a:stretch>
        </p:blipFill>
        <p:spPr>
          <a:xfrm>
            <a:off x="10147714" y="4725800"/>
            <a:ext cx="128699" cy="187198"/>
          </a:xfrm>
          <a:prstGeom prst="rect">
            <a:avLst/>
          </a:prstGeom>
        </p:spPr>
      </p:pic>
      <p:sp>
        <p:nvSpPr>
          <p:cNvPr id="134" name="TextBox 133"/>
          <p:cNvSpPr txBox="1"/>
          <p:nvPr/>
        </p:nvSpPr>
        <p:spPr>
          <a:xfrm>
            <a:off x="10315210" y="4735579"/>
            <a:ext cx="1578452" cy="186689"/>
          </a:xfrm>
          <a:prstGeom prst="rect">
            <a:avLst/>
          </a:prstGeom>
          <a:noFill/>
        </p:spPr>
        <p:txBody>
          <a:bodyPr wrap="none" lIns="0" rIns="0" tIns="0" bIns="0">
            <a:spAutoFit/>
          </a:bodyPr>
          <a:lstStyle/>
          <a:p>
            <a:r>
              <a:rPr sz="1100" b="0">
                <a:solidFill>
                  <a:srgbClr val="252423"/>
                </a:solidFill>
                <a:latin typeface="Segoe UI"/>
              </a:rPr>
              <a:t>of segment) remains the</a:t>
            </a:r>
          </a:p>
        </p:txBody>
      </p:sp>
      <p:sp>
        <p:nvSpPr>
          <p:cNvPr id="135" name="TextBox 134"/>
          <p:cNvSpPr txBox="1"/>
          <p:nvPr/>
        </p:nvSpPr>
        <p:spPr>
          <a:xfrm>
            <a:off x="9801225" y="4903219"/>
            <a:ext cx="1079782" cy="186689"/>
          </a:xfrm>
          <a:prstGeom prst="rect">
            <a:avLst/>
          </a:prstGeom>
          <a:noFill/>
        </p:spPr>
        <p:txBody>
          <a:bodyPr wrap="none" lIns="0" rIns="0" tIns="0" bIns="0">
            <a:spAutoFit/>
          </a:bodyPr>
          <a:lstStyle/>
          <a:p>
            <a:r>
              <a:rPr sz="1100" b="0">
                <a:solidFill>
                  <a:srgbClr val="252423"/>
                </a:solidFill>
                <a:latin typeface="Segoe UI"/>
              </a:rPr>
              <a:t>principal barrier.</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actMR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771775"/>
            <a:ext cx="7239000" cy="247650"/>
          </a:xfrm>
          <a:prstGeom prst="rect">
            <a:avLst/>
          </a:prstGeom>
          <a:noFill/>
        </p:spPr>
        <p:txBody>
          <a:bodyPr wrap="none" lIns="0" tIns="0">
            <a:spAutoFit/>
          </a:bodyPr>
          <a:lstStyle/>
          <a:p>
            <a:r>
              <a:rPr sz="1400" b="0">
                <a:solidFill>
                  <a:srgbClr val="9FDDF5"/>
                </a:solidFill>
                <a:latin typeface="Calibri"/>
              </a:rPr>
              <a:t>Lithium Polymer Portable Energy Storage Market</a:t>
            </a:r>
          </a:p>
        </p:txBody>
      </p:sp>
      <p:sp>
        <p:nvSpPr>
          <p:cNvPr id="6" name="FactMR Breaker Title"/>
          <p:cNvSpPr txBox="1"/>
          <p:nvPr/>
        </p:nvSpPr>
        <p:spPr>
          <a:xfrm>
            <a:off x="914400" y="3076575"/>
            <a:ext cx="7239000" cy="9715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2386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Competitive Landscape</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Share by Leading Players</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Advice for Market Vendors / Suppliers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Strategic advice for vendors and suppliers on pricing, product, geography, channel and competitive risk</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Strategic advice for vendors and suppliers where to compete, how to price, and which risks to manage across the Lithium Polymer Portable Energy Storage Market.</a:t>
            </a:r>
          </a:p>
        </p:txBody>
      </p:sp>
      <p:sp>
        <p:nvSpPr>
          <p:cNvPr id="9" name="Rectangle 8"/>
          <p:cNvSpPr/>
          <p:nvPr/>
        </p:nvSpPr>
        <p:spPr>
          <a:xfrm>
            <a:off x="142875" y="1354081"/>
            <a:ext cx="5857875"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07BA5"/>
                </a:solidFill>
                <a:latin typeface="Segoe UI"/>
              </a:rPr>
              <a:t>Pricing &amp; Margin Strategy</a:t>
            </a:r>
          </a:p>
        </p:txBody>
      </p:sp>
      <p:sp>
        <p:nvSpPr>
          <p:cNvPr id="11" name="Rectangle 10"/>
          <p:cNvSpPr/>
          <p:nvPr/>
        </p:nvSpPr>
        <p:spPr>
          <a:xfrm>
            <a:off x="276225" y="1677931"/>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3" name="Rectangle 12"/>
          <p:cNvSpPr/>
          <p:nvPr/>
        </p:nvSpPr>
        <p:spPr>
          <a:xfrm>
            <a:off x="6191250" y="1354081"/>
            <a:ext cx="5857875"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07BA5"/>
                </a:solidFill>
                <a:latin typeface="Segoe UI"/>
              </a:rPr>
              <a:t>Product &amp; Innovation</a:t>
            </a:r>
          </a:p>
        </p:txBody>
      </p:sp>
      <p:sp>
        <p:nvSpPr>
          <p:cNvPr id="15" name="Rectangle 14"/>
          <p:cNvSpPr/>
          <p:nvPr/>
        </p:nvSpPr>
        <p:spPr>
          <a:xfrm>
            <a:off x="6324600" y="1677931"/>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7" name="Rectangle 16"/>
          <p:cNvSpPr/>
          <p:nvPr/>
        </p:nvSpPr>
        <p:spPr>
          <a:xfrm>
            <a:off x="142875" y="4046502"/>
            <a:ext cx="5857875" cy="250988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07BA5"/>
                </a:solidFill>
                <a:latin typeface="Segoe UI"/>
              </a:rPr>
              <a:t>Geographic &amp; Channel Expansion</a:t>
            </a:r>
          </a:p>
        </p:txBody>
      </p:sp>
      <p:sp>
        <p:nvSpPr>
          <p:cNvPr id="19" name="Rectangle 18"/>
          <p:cNvSpPr/>
          <p:nvPr/>
        </p:nvSpPr>
        <p:spPr>
          <a:xfrm>
            <a:off x="276225" y="4370352"/>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retail, hospital/clinic and online channels online is the fastest-shifting route to end customers.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Build reliable distribution and logistics partnerships to convert demand into fulfilled volume.</a:t>
            </a:r>
          </a:p>
        </p:txBody>
      </p:sp>
      <p:sp>
        <p:nvSpPr>
          <p:cNvPr id="21" name="Rectangle 20"/>
          <p:cNvSpPr/>
          <p:nvPr/>
        </p:nvSpPr>
        <p:spPr>
          <a:xfrm>
            <a:off x="6191250" y="4046502"/>
            <a:ext cx="5857875" cy="250988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07BA5"/>
                </a:solidFill>
                <a:latin typeface="Segoe UI"/>
              </a:rPr>
              <a:t>Competitive &amp; Risk Positioning</a:t>
            </a:r>
          </a:p>
        </p:txBody>
      </p:sp>
      <p:sp>
        <p:nvSpPr>
          <p:cNvPr id="23" name="Rectangle 22"/>
          <p:cNvSpPr/>
          <p:nvPr/>
        </p:nvSpPr>
        <p:spPr>
          <a:xfrm>
            <a:off x="6324600" y="4370352"/>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6" name="TextBox 25"/>
          <p:cNvSpPr txBox="1"/>
          <p:nvPr/>
        </p:nvSpPr>
        <p:spPr>
          <a:xfrm>
            <a:off x="276225" y="1773181"/>
            <a:ext cx="3506623" cy="194310"/>
          </a:xfrm>
          <a:prstGeom prst="rect">
            <a:avLst/>
          </a:prstGeom>
          <a:noFill/>
        </p:spPr>
        <p:txBody>
          <a:bodyPr wrap="none" lIns="0" rIns="0" tIns="0" bIns="0">
            <a:spAutoFit/>
          </a:bodyPr>
          <a:lstStyle/>
          <a:p>
            <a:r>
              <a:rPr sz="1150" b="0">
                <a:solidFill>
                  <a:srgbClr val="252423"/>
                </a:solidFill>
                <a:latin typeface="Segoe U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732002" y="1762957"/>
            <a:ext cx="134549" cy="195707"/>
          </a:xfrm>
          <a:prstGeom prst="rect">
            <a:avLst/>
          </a:prstGeom>
        </p:spPr>
      </p:pic>
      <p:sp>
        <p:nvSpPr>
          <p:cNvPr id="28" name="TextBox 27"/>
          <p:cNvSpPr txBox="1"/>
          <p:nvPr/>
        </p:nvSpPr>
        <p:spPr>
          <a:xfrm>
            <a:off x="3907111" y="1773181"/>
            <a:ext cx="845485" cy="194310"/>
          </a:xfrm>
          <a:prstGeom prst="rect">
            <a:avLst/>
          </a:prstGeom>
          <a:noFill/>
        </p:spPr>
        <p:txBody>
          <a:bodyPr wrap="none" lIns="0" rIns="0" tIns="0" bIns="0">
            <a:spAutoFit/>
          </a:bodyPr>
          <a:lstStyle/>
          <a:p>
            <a:r>
              <a:rPr sz="1150" b="0">
                <a:solidFill>
                  <a:srgbClr val="252423"/>
                </a:solidFill>
                <a:latin typeface="Segoe UI"/>
              </a:rPr>
              <a:t>share, avoid</a:t>
            </a:r>
          </a:p>
        </p:txBody>
      </p:sp>
      <p:sp>
        <p:nvSpPr>
          <p:cNvPr id="29" name="TextBox 28"/>
          <p:cNvSpPr txBox="1"/>
          <p:nvPr/>
        </p:nvSpPr>
        <p:spPr>
          <a:xfrm>
            <a:off x="276225" y="1948441"/>
            <a:ext cx="5088133" cy="194310"/>
          </a:xfrm>
          <a:prstGeom prst="rect">
            <a:avLst/>
          </a:prstGeom>
          <a:noFill/>
        </p:spPr>
        <p:txBody>
          <a:bodyPr wrap="none" lIns="0" rIns="0" tIns="0" bIns="0">
            <a:spAutoFit/>
          </a:bodyPr>
          <a:lstStyle/>
          <a:p>
            <a:r>
              <a:rPr sz="1150" b="0">
                <a:solidFill>
                  <a:srgbClr val="252423"/>
                </a:solidFill>
                <a:latin typeface="Segoe UI"/>
              </a:rPr>
              <a:t>value-destructive discounting compete on mix and service, not headline price.</a:t>
            </a:r>
          </a:p>
        </p:txBody>
      </p:sp>
      <p:sp>
        <p:nvSpPr>
          <p:cNvPr id="30" name="TextBox 29"/>
          <p:cNvSpPr txBox="1"/>
          <p:nvPr/>
        </p:nvSpPr>
        <p:spPr>
          <a:xfrm>
            <a:off x="276225" y="2176279"/>
            <a:ext cx="5387935" cy="194310"/>
          </a:xfrm>
          <a:prstGeom prst="rect">
            <a:avLst/>
          </a:prstGeom>
          <a:noFill/>
        </p:spPr>
        <p:txBody>
          <a:bodyPr wrap="none" lIns="0" rIns="0" tIns="0" bIns="0">
            <a:spAutoFit/>
          </a:bodyPr>
          <a:lstStyle/>
          <a:p>
            <a:r>
              <a:rPr sz="1150" b="0">
                <a:solidFill>
                  <a:srgbClr val="252423"/>
                </a:solidFill>
                <a:latin typeface="Segoe UI"/>
              </a:rPr>
              <a:t>▪ Premiumise toward higher-value formulations (e.g. '1,500 Wh to 2,000 Wh') to lift</a:t>
            </a:r>
          </a:p>
        </p:txBody>
      </p:sp>
      <p:sp>
        <p:nvSpPr>
          <p:cNvPr id="31" name="TextBox 30"/>
          <p:cNvSpPr txBox="1"/>
          <p:nvPr/>
        </p:nvSpPr>
        <p:spPr>
          <a:xfrm>
            <a:off x="276225" y="2351539"/>
            <a:ext cx="3519170" cy="194310"/>
          </a:xfrm>
          <a:prstGeom prst="rect">
            <a:avLst/>
          </a:prstGeom>
          <a:noFill/>
        </p:spPr>
        <p:txBody>
          <a:bodyPr wrap="none" lIns="0" rIns="0" tIns="0" bIns="0">
            <a:spAutoFit/>
          </a:bodyPr>
          <a:lstStyle/>
          <a:p>
            <a:r>
              <a:rPr sz="1150" b="0">
                <a:solidFill>
                  <a:srgbClr val="252423"/>
                </a:solidFill>
                <a:latin typeface="Segoe UI"/>
              </a:rPr>
              <a:t>blended ASP and defend margin as input costs move.</a:t>
            </a:r>
          </a:p>
        </p:txBody>
      </p:sp>
      <p:sp>
        <p:nvSpPr>
          <p:cNvPr id="32" name="TextBox 31"/>
          <p:cNvSpPr txBox="1"/>
          <p:nvPr/>
        </p:nvSpPr>
        <p:spPr>
          <a:xfrm>
            <a:off x="276225" y="2579377"/>
            <a:ext cx="5212976" cy="194310"/>
          </a:xfrm>
          <a:prstGeom prst="rect">
            <a:avLst/>
          </a:prstGeom>
          <a:noFill/>
        </p:spPr>
        <p:txBody>
          <a:bodyPr wrap="none" lIns="0" rIns="0" tIns="0" bIns="0">
            <a:spAutoFit/>
          </a:bodyPr>
          <a:lstStyle/>
          <a:p>
            <a:r>
              <a:rPr sz="1150" b="0">
                <a:solidFill>
                  <a:srgbClr val="252423"/>
                </a:solidFill>
                <a:latin typeface="Segoe UI"/>
              </a:rPr>
              <a:t>▪ Set transparent, corridor-based regional pricing to limit grey-market arbitrage.</a:t>
            </a:r>
          </a:p>
        </p:txBody>
      </p:sp>
      <p:sp>
        <p:nvSpPr>
          <p:cNvPr id="33" name="TextBox 32"/>
          <p:cNvSpPr txBox="1"/>
          <p:nvPr/>
        </p:nvSpPr>
        <p:spPr>
          <a:xfrm>
            <a:off x="6324600" y="1773181"/>
            <a:ext cx="5400303" cy="194310"/>
          </a:xfrm>
          <a:prstGeom prst="rect">
            <a:avLst/>
          </a:prstGeom>
          <a:noFill/>
        </p:spPr>
        <p:txBody>
          <a:bodyPr wrap="none" lIns="0" rIns="0" tIns="0" bIns="0">
            <a:spAutoFit/>
          </a:bodyPr>
          <a:lstStyle/>
          <a:p>
            <a:r>
              <a:rPr sz="1150" b="0">
                <a:solidFill>
                  <a:srgbClr val="252423"/>
                </a:solidFill>
                <a:latin typeface="Segoe UI"/>
              </a:rPr>
              <a:t>▪ Prioritise R&amp;D in the fastest-growing formulations a differentiated portfolio is the</a:t>
            </a:r>
          </a:p>
        </p:txBody>
      </p:sp>
      <p:sp>
        <p:nvSpPr>
          <p:cNvPr id="34" name="TextBox 33"/>
          <p:cNvSpPr txBox="1"/>
          <p:nvPr/>
        </p:nvSpPr>
        <p:spPr>
          <a:xfrm>
            <a:off x="6324600" y="1948441"/>
            <a:ext cx="2365964" cy="194310"/>
          </a:xfrm>
          <a:prstGeom prst="rect">
            <a:avLst/>
          </a:prstGeom>
          <a:noFill/>
        </p:spPr>
        <p:txBody>
          <a:bodyPr wrap="none" lIns="0" rIns="0" tIns="0" bIns="0">
            <a:spAutoFit/>
          </a:bodyPr>
          <a:lstStyle/>
          <a:p>
            <a:r>
              <a:rPr sz="1150" b="0">
                <a:solidFill>
                  <a:srgbClr val="252423"/>
                </a:solidFill>
                <a:latin typeface="Segoe UI"/>
              </a:rPr>
              <a:t>clearest route to out-growing the ~</a:t>
            </a:r>
          </a:p>
        </p:txBody>
      </p:sp>
      <p:pic>
        <p:nvPicPr>
          <p:cNvPr id="35" name="Picture 34" descr="lock.png"/>
          <p:cNvPicPr>
            <a:picLocks noChangeAspect="1"/>
          </p:cNvPicPr>
          <p:nvPr/>
        </p:nvPicPr>
        <p:blipFill>
          <a:blip r:embed="rId4"/>
          <a:stretch>
            <a:fillRect/>
          </a:stretch>
        </p:blipFill>
        <p:spPr>
          <a:xfrm>
            <a:off x="8639718" y="1938217"/>
            <a:ext cx="134549" cy="195707"/>
          </a:xfrm>
          <a:prstGeom prst="rect">
            <a:avLst/>
          </a:prstGeom>
        </p:spPr>
      </p:pic>
      <p:sp>
        <p:nvSpPr>
          <p:cNvPr id="36" name="TextBox 35"/>
          <p:cNvSpPr txBox="1"/>
          <p:nvPr/>
        </p:nvSpPr>
        <p:spPr>
          <a:xfrm>
            <a:off x="8814827" y="1948441"/>
            <a:ext cx="969539" cy="194310"/>
          </a:xfrm>
          <a:prstGeom prst="rect">
            <a:avLst/>
          </a:prstGeom>
          <a:noFill/>
        </p:spPr>
        <p:txBody>
          <a:bodyPr wrap="none" lIns="0" rIns="0" tIns="0" bIns="0">
            <a:spAutoFit/>
          </a:bodyPr>
          <a:lstStyle/>
          <a:p>
            <a:r>
              <a:rPr sz="1150" b="0">
                <a:solidFill>
                  <a:srgbClr val="252423"/>
                </a:solidFill>
                <a:latin typeface="Segoe UI"/>
              </a:rPr>
              <a:t>market CAGR.</a:t>
            </a:r>
          </a:p>
        </p:txBody>
      </p:sp>
      <p:sp>
        <p:nvSpPr>
          <p:cNvPr id="37" name="TextBox 36"/>
          <p:cNvSpPr txBox="1"/>
          <p:nvPr/>
        </p:nvSpPr>
        <p:spPr>
          <a:xfrm>
            <a:off x="6324600" y="2176279"/>
            <a:ext cx="5205983" cy="194310"/>
          </a:xfrm>
          <a:prstGeom prst="rect">
            <a:avLst/>
          </a:prstGeom>
          <a:noFill/>
        </p:spPr>
        <p:txBody>
          <a:bodyPr wrap="none" lIns="0" rIns="0" tIns="0" bIns="0">
            <a:spAutoFit/>
          </a:bodyPr>
          <a:lstStyle/>
          <a:p>
            <a:r>
              <a:rPr sz="1150" b="0">
                <a:solidFill>
                  <a:srgbClr val="252423"/>
                </a:solidFill>
                <a:latin typeface="Segoe UI"/>
              </a:rPr>
              <a:t>▪ Pursue certification and clinical validation to build switching costs and support</a:t>
            </a:r>
          </a:p>
        </p:txBody>
      </p:sp>
      <p:sp>
        <p:nvSpPr>
          <p:cNvPr id="38" name="TextBox 37"/>
          <p:cNvSpPr txBox="1"/>
          <p:nvPr/>
        </p:nvSpPr>
        <p:spPr>
          <a:xfrm>
            <a:off x="6324600" y="2351539"/>
            <a:ext cx="1456797" cy="194310"/>
          </a:xfrm>
          <a:prstGeom prst="rect">
            <a:avLst/>
          </a:prstGeom>
          <a:noFill/>
        </p:spPr>
        <p:txBody>
          <a:bodyPr wrap="none" lIns="0" rIns="0" tIns="0" bIns="0">
            <a:spAutoFit/>
          </a:bodyPr>
          <a:lstStyle/>
          <a:p>
            <a:r>
              <a:rPr sz="1150" b="0">
                <a:solidFill>
                  <a:srgbClr val="252423"/>
                </a:solidFill>
                <a:latin typeface="Segoe UI"/>
              </a:rPr>
              <a:t>premium positioning.</a:t>
            </a:r>
          </a:p>
        </p:txBody>
      </p:sp>
      <p:sp>
        <p:nvSpPr>
          <p:cNvPr id="39" name="TextBox 38"/>
          <p:cNvSpPr txBox="1"/>
          <p:nvPr/>
        </p:nvSpPr>
        <p:spPr>
          <a:xfrm>
            <a:off x="6324600" y="2579377"/>
            <a:ext cx="4284354" cy="194310"/>
          </a:xfrm>
          <a:prstGeom prst="rect">
            <a:avLst/>
          </a:prstGeom>
          <a:noFill/>
        </p:spPr>
        <p:txBody>
          <a:bodyPr wrap="none" lIns="0" rIns="0" tIns="0" bIns="0">
            <a:spAutoFit/>
          </a:bodyPr>
          <a:lstStyle/>
          <a:p>
            <a:r>
              <a:rPr sz="1150" b="0">
                <a:solidFill>
                  <a:srgbClr val="252423"/>
                </a:solidFill>
                <a:latin typeface="Segoe UI"/>
              </a:rPr>
              <a:t>▪ Localise formats and pack sizes to each channel and geography.</a:t>
            </a:r>
          </a:p>
        </p:txBody>
      </p:sp>
      <p:sp>
        <p:nvSpPr>
          <p:cNvPr id="40" name="TextBox 39"/>
          <p:cNvSpPr txBox="1"/>
          <p:nvPr/>
        </p:nvSpPr>
        <p:spPr>
          <a:xfrm>
            <a:off x="6324600" y="4465602"/>
            <a:ext cx="2958659" cy="194310"/>
          </a:xfrm>
          <a:prstGeom prst="rect">
            <a:avLst/>
          </a:prstGeom>
          <a:noFill/>
        </p:spPr>
        <p:txBody>
          <a:bodyPr wrap="none" lIns="0" rIns="0" tIns="0" bIns="0">
            <a:spAutoFit/>
          </a:bodyPr>
          <a:lstStyle/>
          <a:p>
            <a:r>
              <a:rPr sz="1150" b="0">
                <a:solidFill>
                  <a:srgbClr val="252423"/>
                </a:solidFill>
                <a:latin typeface="Segoe UI"/>
              </a:rPr>
              <a:t>▪ Benchmark relentlessly against 'EcoFlow' (~</a:t>
            </a:r>
          </a:p>
        </p:txBody>
      </p:sp>
      <p:pic>
        <p:nvPicPr>
          <p:cNvPr id="41" name="Picture 40" descr="lock.png"/>
          <p:cNvPicPr>
            <a:picLocks noChangeAspect="1"/>
          </p:cNvPicPr>
          <p:nvPr/>
        </p:nvPicPr>
        <p:blipFill>
          <a:blip r:embed="rId4"/>
          <a:stretch>
            <a:fillRect/>
          </a:stretch>
        </p:blipFill>
        <p:spPr>
          <a:xfrm>
            <a:off x="9232413" y="4455378"/>
            <a:ext cx="134549" cy="195707"/>
          </a:xfrm>
          <a:prstGeom prst="rect">
            <a:avLst/>
          </a:prstGeom>
        </p:spPr>
      </p:pic>
      <p:sp>
        <p:nvSpPr>
          <p:cNvPr id="42" name="TextBox 41"/>
          <p:cNvSpPr txBox="1"/>
          <p:nvPr/>
        </p:nvSpPr>
        <p:spPr>
          <a:xfrm>
            <a:off x="9407522" y="4465602"/>
            <a:ext cx="2397342" cy="194310"/>
          </a:xfrm>
          <a:prstGeom prst="rect">
            <a:avLst/>
          </a:prstGeom>
          <a:noFill/>
        </p:spPr>
        <p:txBody>
          <a:bodyPr wrap="none" lIns="0" rIns="0" tIns="0" bIns="0">
            <a:spAutoFit/>
          </a:bodyPr>
          <a:lstStyle/>
          <a:p>
            <a:r>
              <a:rPr sz="1150" b="0">
                <a:solidFill>
                  <a:srgbClr val="252423"/>
                </a:solidFill>
                <a:latin typeface="Segoe UI"/>
              </a:rPr>
              <a:t>share) match on service and lead on</a:t>
            </a:r>
          </a:p>
        </p:txBody>
      </p:sp>
      <p:sp>
        <p:nvSpPr>
          <p:cNvPr id="43" name="TextBox 42"/>
          <p:cNvSpPr txBox="1"/>
          <p:nvPr/>
        </p:nvSpPr>
        <p:spPr>
          <a:xfrm>
            <a:off x="6324600" y="4640861"/>
            <a:ext cx="1666356" cy="194310"/>
          </a:xfrm>
          <a:prstGeom prst="rect">
            <a:avLst/>
          </a:prstGeom>
          <a:noFill/>
        </p:spPr>
        <p:txBody>
          <a:bodyPr wrap="none" lIns="0" rIns="0" tIns="0" bIns="0">
            <a:spAutoFit/>
          </a:bodyPr>
          <a:lstStyle/>
          <a:p>
            <a:r>
              <a:rPr sz="1150" b="0">
                <a:solidFill>
                  <a:srgbClr val="252423"/>
                </a:solidFill>
                <a:latin typeface="Segoe UI"/>
              </a:rPr>
              <a:t>innovation to take share.</a:t>
            </a:r>
          </a:p>
        </p:txBody>
      </p:sp>
      <p:sp>
        <p:nvSpPr>
          <p:cNvPr id="44" name="TextBox 43"/>
          <p:cNvSpPr txBox="1"/>
          <p:nvPr/>
        </p:nvSpPr>
        <p:spPr>
          <a:xfrm>
            <a:off x="6324600" y="4868699"/>
            <a:ext cx="5044694" cy="194310"/>
          </a:xfrm>
          <a:prstGeom prst="rect">
            <a:avLst/>
          </a:prstGeom>
          <a:noFill/>
        </p:spPr>
        <p:txBody>
          <a:bodyPr wrap="none" lIns="0" rIns="0" tIns="0" bIns="0">
            <a:spAutoFit/>
          </a:bodyPr>
          <a:lstStyle/>
          <a:p>
            <a:r>
              <a:rPr sz="1150" b="0">
                <a:solidFill>
                  <a:srgbClr val="252423"/>
                </a:solidFill>
                <a:latin typeface="Segoe UI"/>
              </a:rPr>
              <a:t>▪ Diversify the customer base to cut dependence on a few large accounts and</a:t>
            </a:r>
          </a:p>
        </p:txBody>
      </p:sp>
      <p:sp>
        <p:nvSpPr>
          <p:cNvPr id="45" name="TextBox 44"/>
          <p:cNvSpPr txBox="1"/>
          <p:nvPr/>
        </p:nvSpPr>
        <p:spPr>
          <a:xfrm>
            <a:off x="6324600" y="5043959"/>
            <a:ext cx="1587983" cy="194310"/>
          </a:xfrm>
          <a:prstGeom prst="rect">
            <a:avLst/>
          </a:prstGeom>
          <a:noFill/>
        </p:spPr>
        <p:txBody>
          <a:bodyPr wrap="none" lIns="0" rIns="0" tIns="0" bIns="0">
            <a:spAutoFit/>
          </a:bodyPr>
          <a:lstStyle/>
          <a:p>
            <a:r>
              <a:rPr sz="1150" b="0">
                <a:solidFill>
                  <a:srgbClr val="252423"/>
                </a:solidFill>
                <a:latin typeface="Segoe UI"/>
              </a:rPr>
              <a:t>single-region exposure.</a:t>
            </a:r>
          </a:p>
        </p:txBody>
      </p:sp>
      <p:sp>
        <p:nvSpPr>
          <p:cNvPr id="46" name="TextBox 45"/>
          <p:cNvSpPr txBox="1"/>
          <p:nvPr/>
        </p:nvSpPr>
        <p:spPr>
          <a:xfrm>
            <a:off x="6324600" y="5271797"/>
            <a:ext cx="5334846" cy="194310"/>
          </a:xfrm>
          <a:prstGeom prst="rect">
            <a:avLst/>
          </a:prstGeom>
          <a:noFill/>
        </p:spPr>
        <p:txBody>
          <a:bodyPr wrap="none" lIns="0" rIns="0" tIns="0" bIns="0">
            <a:spAutoFit/>
          </a:bodyPr>
          <a:lstStyle/>
          <a:p>
            <a:r>
              <a:rPr sz="1150" b="0">
                <a:solidFill>
                  <a:srgbClr val="252423"/>
                </a:solidFill>
                <a:latin typeface="Segoe UI"/>
              </a:rPr>
              <a:t>▪ Stress-test for regulatory, currency and supply shocks; keep flexible capacity and</a:t>
            </a:r>
          </a:p>
        </p:txBody>
      </p:sp>
      <p:sp>
        <p:nvSpPr>
          <p:cNvPr id="47" name="TextBox 46"/>
          <p:cNvSpPr txBox="1"/>
          <p:nvPr/>
        </p:nvSpPr>
        <p:spPr>
          <a:xfrm>
            <a:off x="6324600" y="5447057"/>
            <a:ext cx="979282" cy="194310"/>
          </a:xfrm>
          <a:prstGeom prst="rect">
            <a:avLst/>
          </a:prstGeom>
          <a:noFill/>
        </p:spPr>
        <p:txBody>
          <a:bodyPr wrap="none" lIns="0" rIns="0" tIns="0" bIns="0">
            <a:spAutoFit/>
          </a:bodyPr>
          <a:lstStyle/>
          <a:p>
            <a:r>
              <a:rPr sz="1150" b="0">
                <a:solidFill>
                  <a:srgbClr val="252423"/>
                </a:solidFill>
                <a:latin typeface="Segoe UI"/>
              </a:rPr>
              <a:t>dual sourcing.</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Company Value Share (Global)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company in the global market, 2025, highlighting leadership and the long tail</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Target market value share by key companies leadership, concentration and how the competitive mix shifts by region.</a:t>
            </a:r>
          </a:p>
        </p:txBody>
      </p:sp>
      <p:sp>
        <p:nvSpPr>
          <p:cNvPr id="9" name="Rectangle 8"/>
          <p:cNvSpPr/>
          <p:nvPr/>
        </p:nvSpPr>
        <p:spPr>
          <a:xfrm>
            <a:off x="142875" y="1354081"/>
            <a:ext cx="754380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Share by Key Company (US$ Mn, 2026)</a:t>
            </a:r>
          </a:p>
        </p:txBody>
      </p:sp>
      <p:graphicFrame>
        <p:nvGraphicFramePr>
          <p:cNvPr id="11" name="Chart 10"/>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2" name="TextBox 11"/>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52423"/>
                </a:solidFill>
                <a:latin typeface="Segoe UI"/>
              </a:rPr>
              <a:t>100% =</a:t>
            </a:r>
          </a:p>
          <a:p>
            <a:pPr algn="ctr"/>
            <a:r>
              <a:rPr sz="1300" b="1">
                <a:solidFill>
                  <a:srgbClr val="252423"/>
                </a:solidFill>
                <a:latin typeface="Segoe UI"/>
              </a:rPr>
              <a:t>650.0 US$ Mn</a:t>
            </a:r>
          </a:p>
        </p:txBody>
      </p:sp>
      <p:sp>
        <p:nvSpPr>
          <p:cNvPr id="13" name="Rectangle 12"/>
          <p:cNvSpPr/>
          <p:nvPr/>
        </p:nvSpPr>
        <p:spPr>
          <a:xfrm>
            <a:off x="7800975" y="1354081"/>
            <a:ext cx="424815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15" name="Rectangle 14"/>
          <p:cNvSpPr/>
          <p:nvPr/>
        </p:nvSpPr>
        <p:spPr>
          <a:xfrm>
            <a:off x="7934325" y="1677931"/>
            <a:ext cx="39814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7934325" y="1773181"/>
            <a:ext cx="3962400" cy="194310"/>
          </a:xfrm>
          <a:prstGeom prst="rect">
            <a:avLst/>
          </a:prstGeom>
          <a:noFill/>
        </p:spPr>
        <p:txBody>
          <a:bodyPr wrap="none" lIns="0" rIns="0" tIns="0" bIns="0">
            <a:spAutoFit/>
          </a:bodyPr>
          <a:lstStyle/>
          <a:p>
            <a:r>
              <a:rPr sz="1150" b="0">
                <a:solidFill>
                  <a:srgbClr val="252423"/>
                </a:solidFill>
                <a:latin typeface="Segoe UI"/>
              </a:rPr>
              <a:t>EcoFlow accounted for the largest share of the global lithium</a:t>
            </a:r>
          </a:p>
        </p:txBody>
      </p:sp>
      <p:sp>
        <p:nvSpPr>
          <p:cNvPr id="20" name="TextBox 19"/>
          <p:cNvSpPr txBox="1"/>
          <p:nvPr/>
        </p:nvSpPr>
        <p:spPr>
          <a:xfrm>
            <a:off x="7934325" y="1948441"/>
            <a:ext cx="3951316" cy="194310"/>
          </a:xfrm>
          <a:prstGeom prst="rect">
            <a:avLst/>
          </a:prstGeom>
          <a:noFill/>
        </p:spPr>
        <p:txBody>
          <a:bodyPr wrap="none" lIns="0" rIns="0" tIns="0" bIns="0">
            <a:spAutoFit/>
          </a:bodyPr>
          <a:lstStyle/>
          <a:p>
            <a:r>
              <a:rPr sz="1150" b="0">
                <a:solidFill>
                  <a:srgbClr val="252423"/>
                </a:solidFill>
                <a:latin typeface="Segoe UI"/>
              </a:rPr>
              <a:t>polymer portable energy storage market in 2026. The global</a:t>
            </a:r>
          </a:p>
        </p:txBody>
      </p:sp>
      <p:sp>
        <p:nvSpPr>
          <p:cNvPr id="21" name="TextBox 20"/>
          <p:cNvSpPr txBox="1"/>
          <p:nvPr/>
        </p:nvSpPr>
        <p:spPr>
          <a:xfrm>
            <a:off x="7934325" y="2123701"/>
            <a:ext cx="3312664" cy="194310"/>
          </a:xfrm>
          <a:prstGeom prst="rect">
            <a:avLst/>
          </a:prstGeom>
          <a:noFill/>
        </p:spPr>
        <p:txBody>
          <a:bodyPr wrap="none" lIns="0" rIns="0" tIns="0" bIns="0">
            <a:spAutoFit/>
          </a:bodyPr>
          <a:lstStyle/>
          <a:p>
            <a:r>
              <a:rPr sz="1150" b="0">
                <a:solidFill>
                  <a:srgbClr val="252423"/>
                </a:solidFill>
                <a:latin typeface="Segoe UI"/>
              </a:rPr>
              <a:t>lithium polymer portable energy storage market is</a:t>
            </a:r>
          </a:p>
        </p:txBody>
      </p:sp>
      <p:sp>
        <p:nvSpPr>
          <p:cNvPr id="22" name="TextBox 21"/>
          <p:cNvSpPr txBox="1"/>
          <p:nvPr/>
        </p:nvSpPr>
        <p:spPr>
          <a:xfrm>
            <a:off x="7934325" y="2298961"/>
            <a:ext cx="3729959" cy="194310"/>
          </a:xfrm>
          <a:prstGeom prst="rect">
            <a:avLst/>
          </a:prstGeom>
          <a:noFill/>
        </p:spPr>
        <p:txBody>
          <a:bodyPr wrap="none" lIns="0" rIns="0" tIns="0" bIns="0">
            <a:spAutoFit/>
          </a:bodyPr>
          <a:lstStyle/>
          <a:p>
            <a:r>
              <a:rPr sz="1150" b="0">
                <a:solidFill>
                  <a:srgbClr val="252423"/>
                </a:solidFill>
                <a:latin typeface="Segoe UI"/>
              </a:rPr>
              <a:t>fragmented, with the top three players accounting for an</a:t>
            </a:r>
          </a:p>
        </p:txBody>
      </p:sp>
      <p:sp>
        <p:nvSpPr>
          <p:cNvPr id="23" name="TextBox 22"/>
          <p:cNvSpPr txBox="1"/>
          <p:nvPr/>
        </p:nvSpPr>
        <p:spPr>
          <a:xfrm>
            <a:off x="7934325" y="2474221"/>
            <a:ext cx="712013" cy="194310"/>
          </a:xfrm>
          <a:prstGeom prst="rect">
            <a:avLst/>
          </a:prstGeom>
          <a:noFill/>
        </p:spPr>
        <p:txBody>
          <a:bodyPr wrap="none" lIns="0" rIns="0" tIns="0" bIns="0">
            <a:spAutoFit/>
          </a:bodyPr>
          <a:lstStyle/>
          <a:p>
            <a:r>
              <a:rPr sz="1150" b="0">
                <a:solidFill>
                  <a:srgbClr val="252423"/>
                </a:solidFill>
                <a:latin typeface="Segoe UI"/>
              </a:rPr>
              <a:t>estimated</a:t>
            </a:r>
          </a:p>
        </p:txBody>
      </p:sp>
      <p:pic>
        <p:nvPicPr>
          <p:cNvPr id="24" name="Picture 23" descr="lock.png"/>
          <p:cNvPicPr>
            <a:picLocks noChangeAspect="1"/>
          </p:cNvPicPr>
          <p:nvPr/>
        </p:nvPicPr>
        <p:blipFill>
          <a:blip r:embed="rId5"/>
          <a:stretch>
            <a:fillRect/>
          </a:stretch>
        </p:blipFill>
        <p:spPr>
          <a:xfrm>
            <a:off x="8595492" y="2463997"/>
            <a:ext cx="134549" cy="195707"/>
          </a:xfrm>
          <a:prstGeom prst="rect">
            <a:avLst/>
          </a:prstGeom>
        </p:spPr>
      </p:pic>
      <p:sp>
        <p:nvSpPr>
          <p:cNvPr id="25" name="TextBox 24"/>
          <p:cNvSpPr txBox="1"/>
          <p:nvPr/>
        </p:nvSpPr>
        <p:spPr>
          <a:xfrm>
            <a:off x="8770601" y="2474221"/>
            <a:ext cx="1876606" cy="194310"/>
          </a:xfrm>
          <a:prstGeom prst="rect">
            <a:avLst/>
          </a:prstGeom>
          <a:noFill/>
        </p:spPr>
        <p:txBody>
          <a:bodyPr wrap="none" lIns="0" rIns="0" tIns="0" bIns="0">
            <a:spAutoFit/>
          </a:bodyPr>
          <a:lstStyle/>
          <a:p>
            <a:r>
              <a:rPr sz="1150" b="0">
                <a:solidFill>
                  <a:srgbClr val="252423"/>
                </a:solidFill>
                <a:latin typeface="Segoe UI"/>
              </a:rPr>
              <a:t>share of the market in 2026.</a:t>
            </a:r>
          </a:p>
        </p:txBody>
      </p:sp>
      <p:sp>
        <p:nvSpPr>
          <p:cNvPr id="26" name="TextBox 25"/>
          <p:cNvSpPr txBox="1"/>
          <p:nvPr/>
        </p:nvSpPr>
        <p:spPr>
          <a:xfrm>
            <a:off x="7934325" y="2702058"/>
            <a:ext cx="2408685" cy="194310"/>
          </a:xfrm>
          <a:prstGeom prst="rect">
            <a:avLst/>
          </a:prstGeom>
          <a:noFill/>
        </p:spPr>
        <p:txBody>
          <a:bodyPr wrap="none" lIns="0" rIns="0" tIns="0" bIns="0">
            <a:spAutoFit/>
          </a:bodyPr>
          <a:lstStyle/>
          <a:p>
            <a:r>
              <a:rPr sz="1150" b="0">
                <a:solidFill>
                  <a:srgbClr val="252423"/>
                </a:solidFill>
                <a:latin typeface="Segoe UI"/>
              </a:rPr>
              <a:t>EcoFlow accounted for an estimated</a:t>
            </a:r>
          </a:p>
        </p:txBody>
      </p:sp>
      <p:pic>
        <p:nvPicPr>
          <p:cNvPr id="27" name="Picture 26" descr="lock.png"/>
          <p:cNvPicPr>
            <a:picLocks noChangeAspect="1"/>
          </p:cNvPicPr>
          <p:nvPr/>
        </p:nvPicPr>
        <p:blipFill>
          <a:blip r:embed="rId5"/>
          <a:stretch>
            <a:fillRect/>
          </a:stretch>
        </p:blipFill>
        <p:spPr>
          <a:xfrm>
            <a:off x="10292164" y="2691835"/>
            <a:ext cx="134549" cy="195707"/>
          </a:xfrm>
          <a:prstGeom prst="rect">
            <a:avLst/>
          </a:prstGeom>
        </p:spPr>
      </p:pic>
      <p:sp>
        <p:nvSpPr>
          <p:cNvPr id="28" name="TextBox 27"/>
          <p:cNvSpPr txBox="1"/>
          <p:nvPr/>
        </p:nvSpPr>
        <p:spPr>
          <a:xfrm>
            <a:off x="10467273" y="2702058"/>
            <a:ext cx="1363720" cy="194310"/>
          </a:xfrm>
          <a:prstGeom prst="rect">
            <a:avLst/>
          </a:prstGeom>
          <a:noFill/>
        </p:spPr>
        <p:txBody>
          <a:bodyPr wrap="none" lIns="0" rIns="0" tIns="0" bIns="0">
            <a:spAutoFit/>
          </a:bodyPr>
          <a:lstStyle/>
          <a:p>
            <a:r>
              <a:rPr sz="1150" b="0">
                <a:solidFill>
                  <a:srgbClr val="252423"/>
                </a:solidFill>
                <a:latin typeface="Segoe UI"/>
              </a:rPr>
              <a:t>share of the market,</a:t>
            </a:r>
          </a:p>
        </p:txBody>
      </p:sp>
      <p:sp>
        <p:nvSpPr>
          <p:cNvPr id="29" name="TextBox 28"/>
          <p:cNvSpPr txBox="1"/>
          <p:nvPr/>
        </p:nvSpPr>
        <p:spPr>
          <a:xfrm>
            <a:off x="7934325" y="2877318"/>
            <a:ext cx="2362866" cy="194310"/>
          </a:xfrm>
          <a:prstGeom prst="rect">
            <a:avLst/>
          </a:prstGeom>
          <a:noFill/>
        </p:spPr>
        <p:txBody>
          <a:bodyPr wrap="none" lIns="0" rIns="0" tIns="0" bIns="0">
            <a:spAutoFit/>
          </a:bodyPr>
          <a:lstStyle/>
          <a:p>
            <a:r>
              <a:rPr sz="1150" b="0">
                <a:solidFill>
                  <a:srgbClr val="252423"/>
                </a:solidFill>
                <a:latin typeface="Segoe UI"/>
              </a:rPr>
              <a:t>followed by Business Overview with</a:t>
            </a:r>
          </a:p>
        </p:txBody>
      </p:sp>
      <p:pic>
        <p:nvPicPr>
          <p:cNvPr id="30" name="Picture 29" descr="lock.png"/>
          <p:cNvPicPr>
            <a:picLocks noChangeAspect="1"/>
          </p:cNvPicPr>
          <p:nvPr/>
        </p:nvPicPr>
        <p:blipFill>
          <a:blip r:embed="rId5"/>
          <a:stretch>
            <a:fillRect/>
          </a:stretch>
        </p:blipFill>
        <p:spPr>
          <a:xfrm>
            <a:off x="10246345" y="2867095"/>
            <a:ext cx="134549" cy="195707"/>
          </a:xfrm>
          <a:prstGeom prst="rect">
            <a:avLst/>
          </a:prstGeom>
        </p:spPr>
      </p:pic>
      <p:sp>
        <p:nvSpPr>
          <p:cNvPr id="31" name="TextBox 30"/>
          <p:cNvSpPr txBox="1"/>
          <p:nvPr/>
        </p:nvSpPr>
        <p:spPr>
          <a:xfrm>
            <a:off x="10421454" y="2877318"/>
            <a:ext cx="1116752" cy="194310"/>
          </a:xfrm>
          <a:prstGeom prst="rect">
            <a:avLst/>
          </a:prstGeom>
          <a:noFill/>
        </p:spPr>
        <p:txBody>
          <a:bodyPr wrap="none" lIns="0" rIns="0" tIns="0" bIns="0">
            <a:spAutoFit/>
          </a:bodyPr>
          <a:lstStyle/>
          <a:p>
            <a:r>
              <a:rPr sz="1150" b="0">
                <a:solidFill>
                  <a:srgbClr val="252423"/>
                </a:solidFill>
                <a:latin typeface="Segoe UI"/>
              </a:rPr>
              <a:t>. Key players are</a:t>
            </a:r>
          </a:p>
        </p:txBody>
      </p:sp>
      <p:sp>
        <p:nvSpPr>
          <p:cNvPr id="32" name="TextBox 31"/>
          <p:cNvSpPr txBox="1"/>
          <p:nvPr/>
        </p:nvSpPr>
        <p:spPr>
          <a:xfrm>
            <a:off x="7934325" y="3052578"/>
            <a:ext cx="3882240" cy="194310"/>
          </a:xfrm>
          <a:prstGeom prst="rect">
            <a:avLst/>
          </a:prstGeom>
          <a:noFill/>
        </p:spPr>
        <p:txBody>
          <a:bodyPr wrap="none" lIns="0" rIns="0" tIns="0" bIns="0">
            <a:spAutoFit/>
          </a:bodyPr>
          <a:lstStyle/>
          <a:p>
            <a:r>
              <a:rPr sz="1150" b="0">
                <a:solidFill>
                  <a:srgbClr val="252423"/>
                </a:solidFill>
                <a:latin typeface="Segoe UI"/>
              </a:rPr>
              <a:t>focusing on product innovation, geographic expansion and</a:t>
            </a:r>
          </a:p>
        </p:txBody>
      </p:sp>
      <p:sp>
        <p:nvSpPr>
          <p:cNvPr id="33" name="TextBox 32"/>
          <p:cNvSpPr txBox="1"/>
          <p:nvPr/>
        </p:nvSpPr>
        <p:spPr>
          <a:xfrm>
            <a:off x="7934325" y="3227838"/>
            <a:ext cx="3798990" cy="194310"/>
          </a:xfrm>
          <a:prstGeom prst="rect">
            <a:avLst/>
          </a:prstGeom>
          <a:noFill/>
        </p:spPr>
        <p:txBody>
          <a:bodyPr wrap="none" lIns="0" rIns="0" tIns="0" bIns="0">
            <a:spAutoFit/>
          </a:bodyPr>
          <a:lstStyle/>
          <a:p>
            <a:r>
              <a:rPr sz="1150" b="0">
                <a:solidFill>
                  <a:srgbClr val="252423"/>
                </a:solidFill>
                <a:latin typeface="Segoe UI"/>
              </a:rPr>
              <a:t>strategic partnerships to strengthen their market position.</a:t>
            </a:r>
          </a:p>
        </p:txBody>
      </p:sp>
      <p:sp>
        <p:nvSpPr>
          <p:cNvPr id="34" name="TextBox 33"/>
          <p:cNvSpPr txBox="1"/>
          <p:nvPr/>
        </p:nvSpPr>
        <p:spPr>
          <a:xfrm>
            <a:off x="7934325" y="3455676"/>
            <a:ext cx="3961728" cy="194310"/>
          </a:xfrm>
          <a:prstGeom prst="rect">
            <a:avLst/>
          </a:prstGeom>
          <a:noFill/>
        </p:spPr>
        <p:txBody>
          <a:bodyPr wrap="none" lIns="0" rIns="0" tIns="0" bIns="0">
            <a:spAutoFit/>
          </a:bodyPr>
          <a:lstStyle/>
          <a:p>
            <a:r>
              <a:rPr sz="1150" b="0">
                <a:solidFill>
                  <a:srgbClr val="252423"/>
                </a:solidFill>
                <a:latin typeface="Segoe UI"/>
              </a:rPr>
              <a:t>Regional share differs from the global picture use the region</a:t>
            </a:r>
          </a:p>
        </p:txBody>
      </p:sp>
      <p:sp>
        <p:nvSpPr>
          <p:cNvPr id="35" name="TextBox 34"/>
          <p:cNvSpPr txBox="1"/>
          <p:nvPr/>
        </p:nvSpPr>
        <p:spPr>
          <a:xfrm>
            <a:off x="7934325" y="3630936"/>
            <a:ext cx="3721736" cy="194310"/>
          </a:xfrm>
          <a:prstGeom prst="rect">
            <a:avLst/>
          </a:prstGeom>
          <a:noFill/>
        </p:spPr>
        <p:txBody>
          <a:bodyPr wrap="none" lIns="0" rIns="0" tIns="0" bIns="0">
            <a:spAutoFit/>
          </a:bodyPr>
          <a:lstStyle/>
          <a:p>
            <a:r>
              <a:rPr sz="1150" b="0">
                <a:solidFill>
                  <a:srgbClr val="252423"/>
                </a:solidFill>
                <a:latin typeface="Segoe UI"/>
              </a:rPr>
              <a:t>selector to see how leadership shifts across geographies.</a:t>
            </a:r>
          </a:p>
        </p:txBody>
      </p:sp>
      <p:sp>
        <p:nvSpPr>
          <p:cNvPr id="36" name="lockshield_11"/>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Company Share by Product Type (Top 3)</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company value share within each leading energy storage capacity, highlighting where leadership differs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Company value share within each of the leading product types where each player concentrates, and how leadership varies by formulation.</a:t>
            </a:r>
          </a:p>
        </p:txBody>
      </p:sp>
      <p:sp>
        <p:nvSpPr>
          <p:cNvPr id="9" name="Rectangle 8"/>
          <p:cNvSpPr/>
          <p:nvPr/>
        </p:nvSpPr>
        <p:spPr>
          <a:xfrm>
            <a:off x="14287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1,500 Wh to 2,000 Wh</a:t>
            </a:r>
          </a:p>
        </p:txBody>
      </p:sp>
      <p:graphicFrame>
        <p:nvGraphicFramePr>
          <p:cNvPr id="11" name="Chart 10"/>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2" name="Rectangle 11"/>
          <p:cNvSpPr/>
          <p:nvPr/>
        </p:nvSpPr>
        <p:spPr>
          <a:xfrm>
            <a:off x="412432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1,000 Wh to Below 1,500 Wh</a:t>
            </a:r>
          </a:p>
        </p:txBody>
      </p:sp>
      <p:graphicFrame>
        <p:nvGraphicFramePr>
          <p:cNvPr id="14" name="Chart 13"/>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5" name="Rectangle 14"/>
          <p:cNvSpPr/>
          <p:nvPr/>
        </p:nvSpPr>
        <p:spPr>
          <a:xfrm>
            <a:off x="8105775" y="1299320"/>
            <a:ext cx="39433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500 Wh to Below 1,000 Wh</a:t>
            </a:r>
          </a:p>
        </p:txBody>
      </p:sp>
      <p:graphicFrame>
        <p:nvGraphicFramePr>
          <p:cNvPr id="17" name="Chart 16"/>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8" name="Rectangle 17"/>
          <p:cNvSpPr/>
          <p:nvPr/>
        </p:nvSpPr>
        <p:spPr>
          <a:xfrm>
            <a:off x="142875" y="4603240"/>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Company Share Key Takeaways</a:t>
            </a:r>
          </a:p>
        </p:txBody>
      </p:sp>
      <p:sp>
        <p:nvSpPr>
          <p:cNvPr id="20" name="Rectangle 19"/>
          <p:cNvSpPr/>
          <p:nvPr/>
        </p:nvSpPr>
        <p:spPr>
          <a:xfrm>
            <a:off x="276225" y="492709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935852" cy="194310"/>
          </a:xfrm>
          <a:prstGeom prst="rect">
            <a:avLst/>
          </a:prstGeom>
          <a:noFill/>
        </p:spPr>
        <p:txBody>
          <a:bodyPr wrap="none" lIns="0" rIns="0" tIns="0" bIns="0">
            <a:spAutoFit/>
          </a:bodyPr>
          <a:lstStyle/>
          <a:p>
            <a:r>
              <a:rPr sz="1150" b="0">
                <a:solidFill>
                  <a:srgbClr val="252423"/>
                </a:solidFill>
                <a:latin typeface="Segoe UI"/>
              </a:rPr>
              <a:t>▪ 1,500 Wh to 2,000 Wh: 'EcoFlow' leads at ~</a:t>
            </a:r>
          </a:p>
        </p:txBody>
      </p:sp>
      <p:pic>
        <p:nvPicPr>
          <p:cNvPr id="27" name="Picture 26" descr="lock.png"/>
          <p:cNvPicPr>
            <a:picLocks noChangeAspect="1"/>
          </p:cNvPicPr>
          <p:nvPr/>
        </p:nvPicPr>
        <p:blipFill>
          <a:blip r:embed="rId7"/>
          <a:stretch>
            <a:fillRect/>
          </a:stretch>
        </p:blipFill>
        <p:spPr>
          <a:xfrm>
            <a:off x="3161231" y="5012116"/>
            <a:ext cx="134549" cy="195707"/>
          </a:xfrm>
          <a:prstGeom prst="rect">
            <a:avLst/>
          </a:prstGeom>
        </p:spPr>
      </p:pic>
      <p:sp>
        <p:nvSpPr>
          <p:cNvPr id="28" name="TextBox 27"/>
          <p:cNvSpPr txBox="1"/>
          <p:nvPr/>
        </p:nvSpPr>
        <p:spPr>
          <a:xfrm>
            <a:off x="3336340" y="5022340"/>
            <a:ext cx="1600842" cy="194310"/>
          </a:xfrm>
          <a:prstGeom prst="rect">
            <a:avLst/>
          </a:prstGeom>
          <a:noFill/>
        </p:spPr>
        <p:txBody>
          <a:bodyPr wrap="none" lIns="0" rIns="0" tIns="0" bIns="0">
            <a:spAutoFit/>
          </a:bodyPr>
          <a:lstStyle/>
          <a:p>
            <a:r>
              <a:rPr sz="1150" b="0">
                <a:solidFill>
                  <a:srgbClr val="252423"/>
                </a:solidFill>
                <a:latin typeface="Segoe UI"/>
              </a:rPr>
              <a:t>, ahead of 'Footprint' (~</a:t>
            </a:r>
          </a:p>
        </p:txBody>
      </p:sp>
      <p:pic>
        <p:nvPicPr>
          <p:cNvPr id="29" name="Picture 28" descr="lock.png"/>
          <p:cNvPicPr>
            <a:picLocks noChangeAspect="1"/>
          </p:cNvPicPr>
          <p:nvPr/>
        </p:nvPicPr>
        <p:blipFill>
          <a:blip r:embed="rId7"/>
          <a:stretch>
            <a:fillRect/>
          </a:stretch>
        </p:blipFill>
        <p:spPr>
          <a:xfrm>
            <a:off x="4886336" y="5012116"/>
            <a:ext cx="134549" cy="195707"/>
          </a:xfrm>
          <a:prstGeom prst="rect">
            <a:avLst/>
          </a:prstGeom>
        </p:spPr>
      </p:pic>
      <p:sp>
        <p:nvSpPr>
          <p:cNvPr id="30" name="TextBox 29"/>
          <p:cNvSpPr txBox="1"/>
          <p:nvPr/>
        </p:nvSpPr>
        <p:spPr>
          <a:xfrm>
            <a:off x="5061446" y="5022340"/>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31" name="Picture 30" descr="lock.png"/>
          <p:cNvPicPr>
            <a:picLocks noChangeAspect="1"/>
          </p:cNvPicPr>
          <p:nvPr/>
        </p:nvPicPr>
        <p:blipFill>
          <a:blip r:embed="rId7"/>
          <a:stretch>
            <a:fillRect/>
          </a:stretch>
        </p:blipFill>
        <p:spPr>
          <a:xfrm>
            <a:off x="6517869" y="5012116"/>
            <a:ext cx="134549" cy="195707"/>
          </a:xfrm>
          <a:prstGeom prst="rect">
            <a:avLst/>
          </a:prstGeom>
        </p:spPr>
      </p:pic>
      <p:sp>
        <p:nvSpPr>
          <p:cNvPr id="32" name="TextBox 31"/>
          <p:cNvSpPr txBox="1"/>
          <p:nvPr/>
        </p:nvSpPr>
        <p:spPr>
          <a:xfrm>
            <a:off x="6692979" y="5022340"/>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33" name="Picture 32" descr="lock.png"/>
          <p:cNvPicPr>
            <a:picLocks noChangeAspect="1"/>
          </p:cNvPicPr>
          <p:nvPr/>
        </p:nvPicPr>
        <p:blipFill>
          <a:blip r:embed="rId7"/>
          <a:stretch>
            <a:fillRect/>
          </a:stretch>
        </p:blipFill>
        <p:spPr>
          <a:xfrm>
            <a:off x="8407624" y="5012116"/>
            <a:ext cx="134549" cy="195707"/>
          </a:xfrm>
          <a:prstGeom prst="rect">
            <a:avLst/>
          </a:prstGeom>
        </p:spPr>
      </p:pic>
      <p:sp>
        <p:nvSpPr>
          <p:cNvPr id="34" name="TextBox 33"/>
          <p:cNvSpPr txBox="1"/>
          <p:nvPr/>
        </p:nvSpPr>
        <p:spPr>
          <a:xfrm>
            <a:off x="8582733" y="5022340"/>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5" name="TextBox 34"/>
          <p:cNvSpPr txBox="1"/>
          <p:nvPr/>
        </p:nvSpPr>
        <p:spPr>
          <a:xfrm>
            <a:off x="276225" y="5250177"/>
            <a:ext cx="3985020" cy="194310"/>
          </a:xfrm>
          <a:prstGeom prst="rect">
            <a:avLst/>
          </a:prstGeom>
          <a:noFill/>
        </p:spPr>
        <p:txBody>
          <a:bodyPr wrap="none" lIns="0" rIns="0" tIns="0" bIns="0">
            <a:spAutoFit/>
          </a:bodyPr>
          <a:lstStyle/>
          <a:p>
            <a:r>
              <a:rPr sz="1150" b="0">
                <a:solidFill>
                  <a:srgbClr val="252423"/>
                </a:solidFill>
                <a:latin typeface="Segoe UI"/>
              </a:rPr>
              <a:t>▪ 1,000 Wh to Below 1,500 Wh: 'Relevant Portfolio' leads at ~</a:t>
            </a:r>
          </a:p>
        </p:txBody>
      </p:sp>
      <p:pic>
        <p:nvPicPr>
          <p:cNvPr id="36" name="Picture 35" descr="lock.png"/>
          <p:cNvPicPr>
            <a:picLocks noChangeAspect="1"/>
          </p:cNvPicPr>
          <p:nvPr/>
        </p:nvPicPr>
        <p:blipFill>
          <a:blip r:embed="rId7"/>
          <a:stretch>
            <a:fillRect/>
          </a:stretch>
        </p:blipFill>
        <p:spPr>
          <a:xfrm>
            <a:off x="4210399" y="5239954"/>
            <a:ext cx="134549" cy="195707"/>
          </a:xfrm>
          <a:prstGeom prst="rect">
            <a:avLst/>
          </a:prstGeom>
        </p:spPr>
      </p:pic>
      <p:sp>
        <p:nvSpPr>
          <p:cNvPr id="37" name="TextBox 36"/>
          <p:cNvSpPr txBox="1"/>
          <p:nvPr/>
        </p:nvSpPr>
        <p:spPr>
          <a:xfrm>
            <a:off x="4385509" y="5250177"/>
            <a:ext cx="2185692" cy="194310"/>
          </a:xfrm>
          <a:prstGeom prst="rect">
            <a:avLst/>
          </a:prstGeom>
          <a:noFill/>
        </p:spPr>
        <p:txBody>
          <a:bodyPr wrap="none" lIns="0" rIns="0" tIns="0" bIns="0">
            <a:spAutoFit/>
          </a:bodyPr>
          <a:lstStyle/>
          <a:p>
            <a:r>
              <a:rPr sz="1150" b="0">
                <a:solidFill>
                  <a:srgbClr val="252423"/>
                </a:solidFill>
                <a:latin typeface="Segoe UI"/>
              </a:rPr>
              <a:t>, ahead of 'Business Overview' (~</a:t>
            </a:r>
          </a:p>
        </p:txBody>
      </p:sp>
      <p:pic>
        <p:nvPicPr>
          <p:cNvPr id="38" name="Picture 37" descr="lock.png"/>
          <p:cNvPicPr>
            <a:picLocks noChangeAspect="1"/>
          </p:cNvPicPr>
          <p:nvPr/>
        </p:nvPicPr>
        <p:blipFill>
          <a:blip r:embed="rId7"/>
          <a:stretch>
            <a:fillRect/>
          </a:stretch>
        </p:blipFill>
        <p:spPr>
          <a:xfrm>
            <a:off x="6520355" y="5239954"/>
            <a:ext cx="134549" cy="195707"/>
          </a:xfrm>
          <a:prstGeom prst="rect">
            <a:avLst/>
          </a:prstGeom>
        </p:spPr>
      </p:pic>
      <p:sp>
        <p:nvSpPr>
          <p:cNvPr id="39" name="TextBox 38"/>
          <p:cNvSpPr txBox="1"/>
          <p:nvPr/>
        </p:nvSpPr>
        <p:spPr>
          <a:xfrm>
            <a:off x="6695465" y="5250177"/>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0" name="Picture 39" descr="lock.png"/>
          <p:cNvPicPr>
            <a:picLocks noChangeAspect="1"/>
          </p:cNvPicPr>
          <p:nvPr/>
        </p:nvPicPr>
        <p:blipFill>
          <a:blip r:embed="rId7"/>
          <a:stretch>
            <a:fillRect/>
          </a:stretch>
        </p:blipFill>
        <p:spPr>
          <a:xfrm>
            <a:off x="8151888" y="5239954"/>
            <a:ext cx="134549" cy="195707"/>
          </a:xfrm>
          <a:prstGeom prst="rect">
            <a:avLst/>
          </a:prstGeom>
        </p:spPr>
      </p:pic>
      <p:sp>
        <p:nvSpPr>
          <p:cNvPr id="41" name="TextBox 40"/>
          <p:cNvSpPr txBox="1"/>
          <p:nvPr/>
        </p:nvSpPr>
        <p:spPr>
          <a:xfrm>
            <a:off x="8326998" y="5250177"/>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42" name="Picture 41" descr="lock.png"/>
          <p:cNvPicPr>
            <a:picLocks noChangeAspect="1"/>
          </p:cNvPicPr>
          <p:nvPr/>
        </p:nvPicPr>
        <p:blipFill>
          <a:blip r:embed="rId7"/>
          <a:stretch>
            <a:fillRect/>
          </a:stretch>
        </p:blipFill>
        <p:spPr>
          <a:xfrm>
            <a:off x="10041643" y="5239954"/>
            <a:ext cx="134549" cy="195707"/>
          </a:xfrm>
          <a:prstGeom prst="rect">
            <a:avLst/>
          </a:prstGeom>
        </p:spPr>
      </p:pic>
      <p:sp>
        <p:nvSpPr>
          <p:cNvPr id="43" name="TextBox 42"/>
          <p:cNvSpPr txBox="1"/>
          <p:nvPr/>
        </p:nvSpPr>
        <p:spPr>
          <a:xfrm>
            <a:off x="10216752" y="525017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478015"/>
            <a:ext cx="3252199" cy="194310"/>
          </a:xfrm>
          <a:prstGeom prst="rect">
            <a:avLst/>
          </a:prstGeom>
          <a:noFill/>
        </p:spPr>
        <p:txBody>
          <a:bodyPr wrap="none" lIns="0" rIns="0" tIns="0" bIns="0">
            <a:spAutoFit/>
          </a:bodyPr>
          <a:lstStyle/>
          <a:p>
            <a:r>
              <a:rPr sz="1150" b="0">
                <a:solidFill>
                  <a:srgbClr val="252423"/>
                </a:solidFill>
                <a:latin typeface="Segoe UI"/>
              </a:rPr>
              <a:t>▪ 500 Wh to Below 1,000 Wh: 'EcoFlow' leads at ~</a:t>
            </a:r>
          </a:p>
        </p:txBody>
      </p:sp>
      <p:pic>
        <p:nvPicPr>
          <p:cNvPr id="45" name="Picture 44" descr="lock.png"/>
          <p:cNvPicPr>
            <a:picLocks noChangeAspect="1"/>
          </p:cNvPicPr>
          <p:nvPr/>
        </p:nvPicPr>
        <p:blipFill>
          <a:blip r:embed="rId7"/>
          <a:stretch>
            <a:fillRect/>
          </a:stretch>
        </p:blipFill>
        <p:spPr>
          <a:xfrm>
            <a:off x="3477578" y="5467792"/>
            <a:ext cx="134549" cy="195707"/>
          </a:xfrm>
          <a:prstGeom prst="rect">
            <a:avLst/>
          </a:prstGeom>
        </p:spPr>
      </p:pic>
      <p:sp>
        <p:nvSpPr>
          <p:cNvPr id="46" name="TextBox 45"/>
          <p:cNvSpPr txBox="1"/>
          <p:nvPr/>
        </p:nvSpPr>
        <p:spPr>
          <a:xfrm>
            <a:off x="3652687" y="5478015"/>
            <a:ext cx="2185692" cy="194310"/>
          </a:xfrm>
          <a:prstGeom prst="rect">
            <a:avLst/>
          </a:prstGeom>
          <a:noFill/>
        </p:spPr>
        <p:txBody>
          <a:bodyPr wrap="none" lIns="0" rIns="0" tIns="0" bIns="0">
            <a:spAutoFit/>
          </a:bodyPr>
          <a:lstStyle/>
          <a:p>
            <a:r>
              <a:rPr sz="1150" b="0">
                <a:solidFill>
                  <a:srgbClr val="252423"/>
                </a:solidFill>
                <a:latin typeface="Segoe UI"/>
              </a:rPr>
              <a:t>, ahead of 'Business Overview' (~</a:t>
            </a:r>
          </a:p>
        </p:txBody>
      </p:sp>
      <p:pic>
        <p:nvPicPr>
          <p:cNvPr id="47" name="Picture 46" descr="lock.png"/>
          <p:cNvPicPr>
            <a:picLocks noChangeAspect="1"/>
          </p:cNvPicPr>
          <p:nvPr/>
        </p:nvPicPr>
        <p:blipFill>
          <a:blip r:embed="rId7"/>
          <a:stretch>
            <a:fillRect/>
          </a:stretch>
        </p:blipFill>
        <p:spPr>
          <a:xfrm>
            <a:off x="5787534" y="5467792"/>
            <a:ext cx="134549" cy="195707"/>
          </a:xfrm>
          <a:prstGeom prst="rect">
            <a:avLst/>
          </a:prstGeom>
        </p:spPr>
      </p:pic>
      <p:sp>
        <p:nvSpPr>
          <p:cNvPr id="48" name="TextBox 47"/>
          <p:cNvSpPr txBox="1"/>
          <p:nvPr/>
        </p:nvSpPr>
        <p:spPr>
          <a:xfrm>
            <a:off x="5962643" y="5478015"/>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9" name="Picture 48" descr="lock.png"/>
          <p:cNvPicPr>
            <a:picLocks noChangeAspect="1"/>
          </p:cNvPicPr>
          <p:nvPr/>
        </p:nvPicPr>
        <p:blipFill>
          <a:blip r:embed="rId7"/>
          <a:stretch>
            <a:fillRect/>
          </a:stretch>
        </p:blipFill>
        <p:spPr>
          <a:xfrm>
            <a:off x="7419067" y="5467792"/>
            <a:ext cx="134549" cy="195707"/>
          </a:xfrm>
          <a:prstGeom prst="rect">
            <a:avLst/>
          </a:prstGeom>
        </p:spPr>
      </p:pic>
      <p:sp>
        <p:nvSpPr>
          <p:cNvPr id="50" name="TextBox 49"/>
          <p:cNvSpPr txBox="1"/>
          <p:nvPr/>
        </p:nvSpPr>
        <p:spPr>
          <a:xfrm>
            <a:off x="7594176" y="5478015"/>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51" name="Picture 50" descr="lock.png"/>
          <p:cNvPicPr>
            <a:picLocks noChangeAspect="1"/>
          </p:cNvPicPr>
          <p:nvPr/>
        </p:nvPicPr>
        <p:blipFill>
          <a:blip r:embed="rId7"/>
          <a:stretch>
            <a:fillRect/>
          </a:stretch>
        </p:blipFill>
        <p:spPr>
          <a:xfrm>
            <a:off x="9308821" y="5467792"/>
            <a:ext cx="134549" cy="195707"/>
          </a:xfrm>
          <a:prstGeom prst="rect">
            <a:avLst/>
          </a:prstGeom>
        </p:spPr>
      </p:pic>
      <p:sp>
        <p:nvSpPr>
          <p:cNvPr id="52" name="TextBox 51"/>
          <p:cNvSpPr txBox="1"/>
          <p:nvPr/>
        </p:nvSpPr>
        <p:spPr>
          <a:xfrm>
            <a:off x="9483931" y="547801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3" name="TextBox 52"/>
          <p:cNvSpPr txBox="1"/>
          <p:nvPr/>
        </p:nvSpPr>
        <p:spPr>
          <a:xfrm>
            <a:off x="276225" y="5705853"/>
            <a:ext cx="9657147" cy="194310"/>
          </a:xfrm>
          <a:prstGeom prst="rect">
            <a:avLst/>
          </a:prstGeom>
          <a:noFill/>
        </p:spPr>
        <p:txBody>
          <a:bodyPr wrap="none" lIns="0" rIns="0" tIns="0" bIns="0">
            <a:spAutoFit/>
          </a:bodyPr>
          <a:lstStyle/>
          <a:p>
            <a:r>
              <a:rPr sz="1150" b="0">
                <a:solidFill>
                  <a:srgbClr val="252423"/>
                </a:solidFill>
                <a:latin typeface="Segoe UI"/>
              </a:rPr>
              <a:t>▪ Leadership shifts across formulations a strong position in one product type does not carry over to the others, so product-level targeting is essential.</a:t>
            </a:r>
          </a:p>
        </p:txBody>
      </p:sp>
      <p:sp>
        <p:nvSpPr>
          <p:cNvPr id="54" name="TextBox 53"/>
          <p:cNvSpPr txBox="1"/>
          <p:nvPr/>
        </p:nvSpPr>
        <p:spPr>
          <a:xfrm>
            <a:off x="276225" y="5933691"/>
            <a:ext cx="7791226" cy="194310"/>
          </a:xfrm>
          <a:prstGeom prst="rect">
            <a:avLst/>
          </a:prstGeom>
          <a:noFill/>
        </p:spPr>
        <p:txBody>
          <a:bodyPr wrap="none" lIns="0" rIns="0" tIns="0" bIns="0">
            <a:spAutoFit/>
          </a:bodyPr>
          <a:lstStyle/>
          <a:p>
            <a:r>
              <a:rPr sz="1150" b="0">
                <a:solidFill>
                  <a:srgbClr val="252423"/>
                </a:solidFill>
                <a:latin typeface="Segoe UI"/>
              </a:rPr>
              <a:t>▪ Note: competitor figures are indicative derived from market modelling and expert validation, not company disclosures.</a:t>
            </a:r>
          </a:p>
        </p:txBody>
      </p:sp>
      <p:sp>
        <p:nvSpPr>
          <p:cNvPr id="55" name="lockshield_11"/>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4"/>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7"/>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Company Share by Region (Top 3)</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Company value share within the largest regions, highlighting where leadership shifts across geographies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Company value share within each of the largest regions where each player concentrates, and how leadership varies by geography.</a:t>
            </a:r>
          </a:p>
        </p:txBody>
      </p:sp>
      <p:sp>
        <p:nvSpPr>
          <p:cNvPr id="9" name="Rectangle 8"/>
          <p:cNvSpPr/>
          <p:nvPr/>
        </p:nvSpPr>
        <p:spPr>
          <a:xfrm>
            <a:off x="14287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a:t>
            </a:r>
          </a:p>
        </p:txBody>
      </p:sp>
      <p:graphicFrame>
        <p:nvGraphicFramePr>
          <p:cNvPr id="11" name="Chart 10"/>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2" name="Rectangle 11"/>
          <p:cNvSpPr/>
          <p:nvPr/>
        </p:nvSpPr>
        <p:spPr>
          <a:xfrm>
            <a:off x="412432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&amp; Pacific</a:t>
            </a:r>
          </a:p>
        </p:txBody>
      </p:sp>
      <p:graphicFrame>
        <p:nvGraphicFramePr>
          <p:cNvPr id="14" name="Chart 13"/>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5" name="Rectangle 14"/>
          <p:cNvSpPr/>
          <p:nvPr/>
        </p:nvSpPr>
        <p:spPr>
          <a:xfrm>
            <a:off x="8105775" y="1299320"/>
            <a:ext cx="39433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a:t>
            </a:r>
          </a:p>
        </p:txBody>
      </p:sp>
      <p:graphicFrame>
        <p:nvGraphicFramePr>
          <p:cNvPr id="17" name="Chart 16"/>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8" name="Rectangle 17"/>
          <p:cNvSpPr/>
          <p:nvPr/>
        </p:nvSpPr>
        <p:spPr>
          <a:xfrm>
            <a:off x="142875" y="4603240"/>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Company Share Key Takeaways</a:t>
            </a:r>
          </a:p>
        </p:txBody>
      </p:sp>
      <p:sp>
        <p:nvSpPr>
          <p:cNvPr id="20" name="Rectangle 19"/>
          <p:cNvSpPr/>
          <p:nvPr/>
        </p:nvSpPr>
        <p:spPr>
          <a:xfrm>
            <a:off x="276225" y="492709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452146" cy="194310"/>
          </a:xfrm>
          <a:prstGeom prst="rect">
            <a:avLst/>
          </a:prstGeom>
          <a:noFill/>
        </p:spPr>
        <p:txBody>
          <a:bodyPr wrap="none" lIns="0" rIns="0" tIns="0" bIns="0">
            <a:spAutoFit/>
          </a:bodyPr>
          <a:lstStyle/>
          <a:p>
            <a:r>
              <a:rPr sz="1150" b="0">
                <a:solidFill>
                  <a:srgbClr val="252423"/>
                </a:solidFill>
                <a:latin typeface="Segoe UI"/>
              </a:rPr>
              <a:t>▪ North America: 'EcoFlow' leads at ~</a:t>
            </a:r>
          </a:p>
        </p:txBody>
      </p:sp>
      <p:pic>
        <p:nvPicPr>
          <p:cNvPr id="27" name="Picture 26" descr="lock.png"/>
          <p:cNvPicPr>
            <a:picLocks noChangeAspect="1"/>
          </p:cNvPicPr>
          <p:nvPr/>
        </p:nvPicPr>
        <p:blipFill>
          <a:blip r:embed="rId7"/>
          <a:stretch>
            <a:fillRect/>
          </a:stretch>
        </p:blipFill>
        <p:spPr>
          <a:xfrm>
            <a:off x="2677525" y="5012116"/>
            <a:ext cx="134549" cy="195707"/>
          </a:xfrm>
          <a:prstGeom prst="rect">
            <a:avLst/>
          </a:prstGeom>
        </p:spPr>
      </p:pic>
      <p:sp>
        <p:nvSpPr>
          <p:cNvPr id="28" name="TextBox 27"/>
          <p:cNvSpPr txBox="1"/>
          <p:nvPr/>
        </p:nvSpPr>
        <p:spPr>
          <a:xfrm>
            <a:off x="2852634" y="5022340"/>
            <a:ext cx="2185692" cy="194310"/>
          </a:xfrm>
          <a:prstGeom prst="rect">
            <a:avLst/>
          </a:prstGeom>
          <a:noFill/>
        </p:spPr>
        <p:txBody>
          <a:bodyPr wrap="none" lIns="0" rIns="0" tIns="0" bIns="0">
            <a:spAutoFit/>
          </a:bodyPr>
          <a:lstStyle/>
          <a:p>
            <a:r>
              <a:rPr sz="1150" b="0">
                <a:solidFill>
                  <a:srgbClr val="252423"/>
                </a:solidFill>
                <a:latin typeface="Segoe UI"/>
              </a:rPr>
              <a:t>, ahead of 'Business Overview' (~</a:t>
            </a:r>
          </a:p>
        </p:txBody>
      </p:sp>
      <p:pic>
        <p:nvPicPr>
          <p:cNvPr id="29" name="Picture 28" descr="lock.png"/>
          <p:cNvPicPr>
            <a:picLocks noChangeAspect="1"/>
          </p:cNvPicPr>
          <p:nvPr/>
        </p:nvPicPr>
        <p:blipFill>
          <a:blip r:embed="rId7"/>
          <a:stretch>
            <a:fillRect/>
          </a:stretch>
        </p:blipFill>
        <p:spPr>
          <a:xfrm>
            <a:off x="4987481" y="5012116"/>
            <a:ext cx="134549" cy="195707"/>
          </a:xfrm>
          <a:prstGeom prst="rect">
            <a:avLst/>
          </a:prstGeom>
        </p:spPr>
      </p:pic>
      <p:sp>
        <p:nvSpPr>
          <p:cNvPr id="30" name="TextBox 29"/>
          <p:cNvSpPr txBox="1"/>
          <p:nvPr/>
        </p:nvSpPr>
        <p:spPr>
          <a:xfrm>
            <a:off x="5162590" y="5022340"/>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31" name="Picture 30" descr="lock.png"/>
          <p:cNvPicPr>
            <a:picLocks noChangeAspect="1"/>
          </p:cNvPicPr>
          <p:nvPr/>
        </p:nvPicPr>
        <p:blipFill>
          <a:blip r:embed="rId7"/>
          <a:stretch>
            <a:fillRect/>
          </a:stretch>
        </p:blipFill>
        <p:spPr>
          <a:xfrm>
            <a:off x="6619014" y="5012116"/>
            <a:ext cx="134549" cy="195707"/>
          </a:xfrm>
          <a:prstGeom prst="rect">
            <a:avLst/>
          </a:prstGeom>
        </p:spPr>
      </p:pic>
      <p:sp>
        <p:nvSpPr>
          <p:cNvPr id="32" name="TextBox 31"/>
          <p:cNvSpPr txBox="1"/>
          <p:nvPr/>
        </p:nvSpPr>
        <p:spPr>
          <a:xfrm>
            <a:off x="6794123" y="5022340"/>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33" name="Picture 32" descr="lock.png"/>
          <p:cNvPicPr>
            <a:picLocks noChangeAspect="1"/>
          </p:cNvPicPr>
          <p:nvPr/>
        </p:nvPicPr>
        <p:blipFill>
          <a:blip r:embed="rId7"/>
          <a:stretch>
            <a:fillRect/>
          </a:stretch>
        </p:blipFill>
        <p:spPr>
          <a:xfrm>
            <a:off x="8508769" y="5012116"/>
            <a:ext cx="134549" cy="195707"/>
          </a:xfrm>
          <a:prstGeom prst="rect">
            <a:avLst/>
          </a:prstGeom>
        </p:spPr>
      </p:pic>
      <p:sp>
        <p:nvSpPr>
          <p:cNvPr id="34" name="TextBox 33"/>
          <p:cNvSpPr txBox="1"/>
          <p:nvPr/>
        </p:nvSpPr>
        <p:spPr>
          <a:xfrm>
            <a:off x="8683878" y="5022340"/>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5" name="TextBox 34"/>
          <p:cNvSpPr txBox="1"/>
          <p:nvPr/>
        </p:nvSpPr>
        <p:spPr>
          <a:xfrm>
            <a:off x="276225" y="5250177"/>
            <a:ext cx="3454756" cy="194310"/>
          </a:xfrm>
          <a:prstGeom prst="rect">
            <a:avLst/>
          </a:prstGeom>
          <a:noFill/>
        </p:spPr>
        <p:txBody>
          <a:bodyPr wrap="none" lIns="0" rIns="0" tIns="0" bIns="0">
            <a:spAutoFit/>
          </a:bodyPr>
          <a:lstStyle/>
          <a:p>
            <a:r>
              <a:rPr sz="1150" b="0">
                <a:solidFill>
                  <a:srgbClr val="252423"/>
                </a:solidFill>
                <a:latin typeface="Segoe UI"/>
              </a:rPr>
              <a:t>▪ South Asia &amp; Pacific: 'Business Overview' leads at ~</a:t>
            </a:r>
          </a:p>
        </p:txBody>
      </p:sp>
      <p:pic>
        <p:nvPicPr>
          <p:cNvPr id="36" name="Picture 35" descr="lock.png"/>
          <p:cNvPicPr>
            <a:picLocks noChangeAspect="1"/>
          </p:cNvPicPr>
          <p:nvPr/>
        </p:nvPicPr>
        <p:blipFill>
          <a:blip r:embed="rId7"/>
          <a:stretch>
            <a:fillRect/>
          </a:stretch>
        </p:blipFill>
        <p:spPr>
          <a:xfrm>
            <a:off x="3680135" y="5239954"/>
            <a:ext cx="134549" cy="195707"/>
          </a:xfrm>
          <a:prstGeom prst="rect">
            <a:avLst/>
          </a:prstGeom>
        </p:spPr>
      </p:pic>
      <p:sp>
        <p:nvSpPr>
          <p:cNvPr id="37" name="TextBox 36"/>
          <p:cNvSpPr txBox="1"/>
          <p:nvPr/>
        </p:nvSpPr>
        <p:spPr>
          <a:xfrm>
            <a:off x="3855244" y="5250177"/>
            <a:ext cx="2151671" cy="194310"/>
          </a:xfrm>
          <a:prstGeom prst="rect">
            <a:avLst/>
          </a:prstGeom>
          <a:noFill/>
        </p:spPr>
        <p:txBody>
          <a:bodyPr wrap="none" lIns="0" rIns="0" tIns="0" bIns="0">
            <a:spAutoFit/>
          </a:bodyPr>
          <a:lstStyle/>
          <a:p>
            <a:r>
              <a:rPr sz="1150" b="0">
                <a:solidFill>
                  <a:srgbClr val="252423"/>
                </a:solidFill>
                <a:latin typeface="Segoe UI"/>
              </a:rPr>
              <a:t>, ahead of 'Relevant Portfolio' (~</a:t>
            </a:r>
          </a:p>
        </p:txBody>
      </p:sp>
      <p:pic>
        <p:nvPicPr>
          <p:cNvPr id="38" name="Picture 37" descr="lock.png"/>
          <p:cNvPicPr>
            <a:picLocks noChangeAspect="1"/>
          </p:cNvPicPr>
          <p:nvPr/>
        </p:nvPicPr>
        <p:blipFill>
          <a:blip r:embed="rId7"/>
          <a:stretch>
            <a:fillRect/>
          </a:stretch>
        </p:blipFill>
        <p:spPr>
          <a:xfrm>
            <a:off x="5956070" y="5239954"/>
            <a:ext cx="134549" cy="195707"/>
          </a:xfrm>
          <a:prstGeom prst="rect">
            <a:avLst/>
          </a:prstGeom>
        </p:spPr>
      </p:pic>
      <p:sp>
        <p:nvSpPr>
          <p:cNvPr id="39" name="TextBox 38"/>
          <p:cNvSpPr txBox="1"/>
          <p:nvPr/>
        </p:nvSpPr>
        <p:spPr>
          <a:xfrm>
            <a:off x="6131179" y="5250177"/>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0" name="Picture 39" descr="lock.png"/>
          <p:cNvPicPr>
            <a:picLocks noChangeAspect="1"/>
          </p:cNvPicPr>
          <p:nvPr/>
        </p:nvPicPr>
        <p:blipFill>
          <a:blip r:embed="rId7"/>
          <a:stretch>
            <a:fillRect/>
          </a:stretch>
        </p:blipFill>
        <p:spPr>
          <a:xfrm>
            <a:off x="7587603" y="5239954"/>
            <a:ext cx="134549" cy="195707"/>
          </a:xfrm>
          <a:prstGeom prst="rect">
            <a:avLst/>
          </a:prstGeom>
        </p:spPr>
      </p:pic>
      <p:sp>
        <p:nvSpPr>
          <p:cNvPr id="41" name="TextBox 40"/>
          <p:cNvSpPr txBox="1"/>
          <p:nvPr/>
        </p:nvSpPr>
        <p:spPr>
          <a:xfrm>
            <a:off x="7762712" y="5250177"/>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42" name="Picture 41" descr="lock.png"/>
          <p:cNvPicPr>
            <a:picLocks noChangeAspect="1"/>
          </p:cNvPicPr>
          <p:nvPr/>
        </p:nvPicPr>
        <p:blipFill>
          <a:blip r:embed="rId7"/>
          <a:stretch>
            <a:fillRect/>
          </a:stretch>
        </p:blipFill>
        <p:spPr>
          <a:xfrm>
            <a:off x="9477357" y="5239954"/>
            <a:ext cx="134549" cy="195707"/>
          </a:xfrm>
          <a:prstGeom prst="rect">
            <a:avLst/>
          </a:prstGeom>
        </p:spPr>
      </p:pic>
      <p:sp>
        <p:nvSpPr>
          <p:cNvPr id="43" name="TextBox 42"/>
          <p:cNvSpPr txBox="1"/>
          <p:nvPr/>
        </p:nvSpPr>
        <p:spPr>
          <a:xfrm>
            <a:off x="9652467" y="525017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478015"/>
            <a:ext cx="2697687" cy="194310"/>
          </a:xfrm>
          <a:prstGeom prst="rect">
            <a:avLst/>
          </a:prstGeom>
          <a:noFill/>
        </p:spPr>
        <p:txBody>
          <a:bodyPr wrap="none" lIns="0" rIns="0" tIns="0" bIns="0">
            <a:spAutoFit/>
          </a:bodyPr>
          <a:lstStyle/>
          <a:p>
            <a:r>
              <a:rPr sz="1150" b="0">
                <a:solidFill>
                  <a:srgbClr val="252423"/>
                </a:solidFill>
                <a:latin typeface="Segoe UI"/>
              </a:rPr>
              <a:t>▪ East Asia: 'Relevant Portfolio' leads at ~</a:t>
            </a:r>
          </a:p>
        </p:txBody>
      </p:sp>
      <p:pic>
        <p:nvPicPr>
          <p:cNvPr id="45" name="Picture 44" descr="lock.png"/>
          <p:cNvPicPr>
            <a:picLocks noChangeAspect="1"/>
          </p:cNvPicPr>
          <p:nvPr/>
        </p:nvPicPr>
        <p:blipFill>
          <a:blip r:embed="rId7"/>
          <a:stretch>
            <a:fillRect/>
          </a:stretch>
        </p:blipFill>
        <p:spPr>
          <a:xfrm>
            <a:off x="2923066" y="5467792"/>
            <a:ext cx="134549" cy="195707"/>
          </a:xfrm>
          <a:prstGeom prst="rect">
            <a:avLst/>
          </a:prstGeom>
        </p:spPr>
      </p:pic>
      <p:sp>
        <p:nvSpPr>
          <p:cNvPr id="46" name="TextBox 45"/>
          <p:cNvSpPr txBox="1"/>
          <p:nvPr/>
        </p:nvSpPr>
        <p:spPr>
          <a:xfrm>
            <a:off x="3098176" y="5478015"/>
            <a:ext cx="2185692" cy="194310"/>
          </a:xfrm>
          <a:prstGeom prst="rect">
            <a:avLst/>
          </a:prstGeom>
          <a:noFill/>
        </p:spPr>
        <p:txBody>
          <a:bodyPr wrap="none" lIns="0" rIns="0" tIns="0" bIns="0">
            <a:spAutoFit/>
          </a:bodyPr>
          <a:lstStyle/>
          <a:p>
            <a:r>
              <a:rPr sz="1150" b="0">
                <a:solidFill>
                  <a:srgbClr val="252423"/>
                </a:solidFill>
                <a:latin typeface="Segoe UI"/>
              </a:rPr>
              <a:t>, ahead of 'Business Overview' (~</a:t>
            </a:r>
          </a:p>
        </p:txBody>
      </p:sp>
      <p:pic>
        <p:nvPicPr>
          <p:cNvPr id="47" name="Picture 46" descr="lock.png"/>
          <p:cNvPicPr>
            <a:picLocks noChangeAspect="1"/>
          </p:cNvPicPr>
          <p:nvPr/>
        </p:nvPicPr>
        <p:blipFill>
          <a:blip r:embed="rId7"/>
          <a:stretch>
            <a:fillRect/>
          </a:stretch>
        </p:blipFill>
        <p:spPr>
          <a:xfrm>
            <a:off x="5233022" y="5467792"/>
            <a:ext cx="134549" cy="195707"/>
          </a:xfrm>
          <a:prstGeom prst="rect">
            <a:avLst/>
          </a:prstGeom>
        </p:spPr>
      </p:pic>
      <p:sp>
        <p:nvSpPr>
          <p:cNvPr id="48" name="TextBox 47"/>
          <p:cNvSpPr txBox="1"/>
          <p:nvPr/>
        </p:nvSpPr>
        <p:spPr>
          <a:xfrm>
            <a:off x="5408132" y="5478015"/>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9" name="Picture 48" descr="lock.png"/>
          <p:cNvPicPr>
            <a:picLocks noChangeAspect="1"/>
          </p:cNvPicPr>
          <p:nvPr/>
        </p:nvPicPr>
        <p:blipFill>
          <a:blip r:embed="rId7"/>
          <a:stretch>
            <a:fillRect/>
          </a:stretch>
        </p:blipFill>
        <p:spPr>
          <a:xfrm>
            <a:off x="6864555" y="5467792"/>
            <a:ext cx="134549" cy="195707"/>
          </a:xfrm>
          <a:prstGeom prst="rect">
            <a:avLst/>
          </a:prstGeom>
        </p:spPr>
      </p:pic>
      <p:sp>
        <p:nvSpPr>
          <p:cNvPr id="50" name="TextBox 49"/>
          <p:cNvSpPr txBox="1"/>
          <p:nvPr/>
        </p:nvSpPr>
        <p:spPr>
          <a:xfrm>
            <a:off x="7039665" y="5478015"/>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51" name="Picture 50" descr="lock.png"/>
          <p:cNvPicPr>
            <a:picLocks noChangeAspect="1"/>
          </p:cNvPicPr>
          <p:nvPr/>
        </p:nvPicPr>
        <p:blipFill>
          <a:blip r:embed="rId7"/>
          <a:stretch>
            <a:fillRect/>
          </a:stretch>
        </p:blipFill>
        <p:spPr>
          <a:xfrm>
            <a:off x="8754310" y="5467792"/>
            <a:ext cx="134549" cy="195707"/>
          </a:xfrm>
          <a:prstGeom prst="rect">
            <a:avLst/>
          </a:prstGeom>
        </p:spPr>
      </p:pic>
      <p:sp>
        <p:nvSpPr>
          <p:cNvPr id="52" name="TextBox 51"/>
          <p:cNvSpPr txBox="1"/>
          <p:nvPr/>
        </p:nvSpPr>
        <p:spPr>
          <a:xfrm>
            <a:off x="8929419" y="547801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3" name="TextBox 52"/>
          <p:cNvSpPr txBox="1"/>
          <p:nvPr/>
        </p:nvSpPr>
        <p:spPr>
          <a:xfrm>
            <a:off x="276225" y="5705853"/>
            <a:ext cx="10592548" cy="194310"/>
          </a:xfrm>
          <a:prstGeom prst="rect">
            <a:avLst/>
          </a:prstGeom>
          <a:noFill/>
        </p:spPr>
        <p:txBody>
          <a:bodyPr wrap="none" lIns="0" rIns="0" tIns="0" bIns="0">
            <a:spAutoFit/>
          </a:bodyPr>
          <a:lstStyle/>
          <a:p>
            <a:r>
              <a:rPr sz="1150" b="0">
                <a:solidFill>
                  <a:srgbClr val="252423"/>
                </a:solidFill>
                <a:latin typeface="Segoe U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933691"/>
            <a:ext cx="7791226" cy="194310"/>
          </a:xfrm>
          <a:prstGeom prst="rect">
            <a:avLst/>
          </a:prstGeom>
          <a:noFill/>
        </p:spPr>
        <p:txBody>
          <a:bodyPr wrap="none" lIns="0" rIns="0" tIns="0" bIns="0">
            <a:spAutoFit/>
          </a:bodyPr>
          <a:lstStyle/>
          <a:p>
            <a:r>
              <a:rPr sz="1150" b="0">
                <a:solidFill>
                  <a:srgbClr val="252423"/>
                </a:solidFill>
                <a:latin typeface="Segoe UI"/>
              </a:rPr>
              <a:t>▪ Note: competitor figures are indicative derived from market modelling and expert validation, not company disclosures.</a:t>
            </a:r>
          </a:p>
        </p:txBody>
      </p:sp>
      <p:sp>
        <p:nvSpPr>
          <p:cNvPr id="55" name="lockshield_11"/>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4"/>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7"/>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Who Shaped Growth</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Ranking of the players that shaped growth, by value share, growth role and signature move</a:t>
            </a:r>
          </a:p>
        </p:txBody>
      </p:sp>
      <p:sp>
        <p:nvSpPr>
          <p:cNvPr id="8" name="TextBox 7"/>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05E5C"/>
                </a:solidFill>
                <a:latin typeface="Segoe UI"/>
              </a:rPr>
              <a:t>A framework to identify the companies that most influenced annual Lithium Polymer Portable Energy Storage Market growth, ranked by growth-shaping impact.</a:t>
            </a:r>
          </a:p>
        </p:txBody>
      </p:sp>
      <p:sp>
        <p:nvSpPr>
          <p:cNvPr id="9" name="Rounded Rectangle 8"/>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E3A5F"/>
                </a:solidFill>
                <a:latin typeface="Segoe UI"/>
              </a:rPr>
              <a:t>RANKED BY GROWTH-SHAPING IMPACT</a:t>
            </a:r>
          </a:p>
        </p:txBody>
      </p:sp>
      <p:sp>
        <p:nvSpPr>
          <p:cNvPr id="11" name="TextBox 10"/>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05E5C"/>
                </a:solidFill>
                <a:latin typeface="Segoe UI"/>
              </a:rPr>
              <a:t>Ranked by overall contribution to category growth, not share alone.</a:t>
            </a:r>
          </a:p>
        </p:txBody>
      </p:sp>
      <p:cxnSp>
        <p:nvCxnSpPr>
          <p:cNvPr id="12" name="Connector 11"/>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3875" y="1792170"/>
            <a:ext cx="11106150" cy="0"/>
          </a:xfrm>
          <a:prstGeom prst="line">
            <a:avLst/>
          </a:prstGeom>
          <a:ln w="25400">
            <a:solidFill>
              <a:srgbClr val="0E3A5F"/>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52525" y="1655267"/>
            <a:ext cx="285750" cy="273805"/>
          </a:xfrm>
          <a:prstGeom prst="ellipse">
            <a:avLst/>
          </a:prstGeom>
          <a:solidFill>
            <a:srgbClr val="0E5AA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18" name="Rounded Rectangle 17"/>
          <p:cNvSpPr/>
          <p:nvPr/>
        </p:nvSpPr>
        <p:spPr>
          <a:xfrm>
            <a:off x="142875" y="1992961"/>
            <a:ext cx="2305050" cy="2135683"/>
          </a:xfrm>
          <a:prstGeom prst="roundRect">
            <a:avLst>
              <a:gd name="adj" fmla="val 3719"/>
            </a:avLst>
          </a:prstGeom>
          <a:solidFill>
            <a:srgbClr val="FFFFFF"/>
          </a:solidFill>
          <a:ln w="2032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2875" y="1992961"/>
            <a:ext cx="2305050" cy="310313"/>
          </a:xfrm>
          <a:prstGeom prst="roundRect">
            <a:avLst>
              <a:gd name="adj" fmla="val 3719"/>
            </a:avLst>
          </a:prstGeom>
          <a:solidFill>
            <a:srgbClr val="0E5AA7"/>
          </a:solidFill>
          <a:ln w="1270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22" name="TextBox 21"/>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EcoFlow</a:t>
            </a:r>
          </a:p>
        </p:txBody>
      </p:sp>
      <p:sp>
        <p:nvSpPr>
          <p:cNvPr id="23" name="TextBox 22"/>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4" name="TextBox 23"/>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25" name="Connector 24"/>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7" name="TextBox 26"/>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28" name="TextBox 27"/>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5AA7"/>
                </a:solidFill>
                <a:latin typeface="Segoe UI"/>
              </a:rPr>
              <a:t>Market leader</a:t>
            </a:r>
          </a:p>
        </p:txBody>
      </p:sp>
      <p:cxnSp>
        <p:nvCxnSpPr>
          <p:cNvPr id="29" name="Connector 28"/>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1" name="TextBox 30"/>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32" name="TextBox 31"/>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Expanded reach across its core segment</a:t>
            </a:r>
          </a:p>
        </p:txBody>
      </p:sp>
      <p:cxnSp>
        <p:nvCxnSpPr>
          <p:cNvPr id="33" name="Connector 32"/>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5" name="TextBox 34"/>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36" name="TextBox 35"/>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New launch</a:t>
            </a:r>
          </a:p>
        </p:txBody>
      </p:sp>
      <p:sp>
        <p:nvSpPr>
          <p:cNvPr id="37" name="Oval 36"/>
          <p:cNvSpPr/>
          <p:nvPr/>
        </p:nvSpPr>
        <p:spPr>
          <a:xfrm>
            <a:off x="3552825" y="1655267"/>
            <a:ext cx="285750" cy="273805"/>
          </a:xfrm>
          <a:prstGeom prst="ellipse">
            <a:avLst/>
          </a:prstGeom>
          <a:solidFill>
            <a:srgbClr val="E883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9" name="Rounded Rectangle 38"/>
          <p:cNvSpPr/>
          <p:nvPr/>
        </p:nvSpPr>
        <p:spPr>
          <a:xfrm>
            <a:off x="2543175" y="1992961"/>
            <a:ext cx="2305050" cy="2135683"/>
          </a:xfrm>
          <a:prstGeom prst="roundRect">
            <a:avLst>
              <a:gd name="adj" fmla="val 3719"/>
            </a:avLst>
          </a:prstGeom>
          <a:solidFill>
            <a:srgbClr val="FFFFFF"/>
          </a:solidFill>
          <a:ln w="2032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543175" y="1992961"/>
            <a:ext cx="2305050" cy="310313"/>
          </a:xfrm>
          <a:prstGeom prst="roundRect">
            <a:avLst>
              <a:gd name="adj" fmla="val 3719"/>
            </a:avLst>
          </a:prstGeom>
          <a:solidFill>
            <a:srgbClr val="E8833A"/>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43" name="TextBox 42"/>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Business Overview</a:t>
            </a:r>
          </a:p>
        </p:txBody>
      </p:sp>
      <p:sp>
        <p:nvSpPr>
          <p:cNvPr id="44" name="TextBox 43"/>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5" name="TextBox 44"/>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46" name="Connector 45"/>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8" name="TextBox 47"/>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49" name="TextBox 48"/>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E8833A"/>
                </a:solidFill>
                <a:latin typeface="Segoe UI"/>
              </a:rPr>
              <a:t>Portfolio expander</a:t>
            </a:r>
          </a:p>
        </p:txBody>
      </p:sp>
      <p:cxnSp>
        <p:nvCxnSpPr>
          <p:cNvPr id="50" name="Connector 49"/>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2" name="TextBox 51"/>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53" name="TextBox 52"/>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Drove new customer adoption</a:t>
            </a:r>
          </a:p>
        </p:txBody>
      </p:sp>
      <p:cxnSp>
        <p:nvCxnSpPr>
          <p:cNvPr id="54" name="Connector 53"/>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6" name="TextBox 55"/>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57" name="TextBox 56"/>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Channel expansion</a:t>
            </a:r>
          </a:p>
        </p:txBody>
      </p:sp>
      <p:sp>
        <p:nvSpPr>
          <p:cNvPr id="58" name="Oval 57"/>
          <p:cNvSpPr/>
          <p:nvPr/>
        </p:nvSpPr>
        <p:spPr>
          <a:xfrm>
            <a:off x="5953125" y="1655267"/>
            <a:ext cx="285750" cy="273805"/>
          </a:xfrm>
          <a:prstGeom prst="ellipse">
            <a:avLst/>
          </a:prstGeom>
          <a:solidFill>
            <a:srgbClr val="5B7C9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3</a:t>
            </a:r>
          </a:p>
        </p:txBody>
      </p:sp>
      <p:sp>
        <p:nvSpPr>
          <p:cNvPr id="60" name="Rounded Rectangle 59"/>
          <p:cNvSpPr/>
          <p:nvPr/>
        </p:nvSpPr>
        <p:spPr>
          <a:xfrm>
            <a:off x="4943475" y="1992961"/>
            <a:ext cx="2305050" cy="2135683"/>
          </a:xfrm>
          <a:prstGeom prst="roundRect">
            <a:avLst>
              <a:gd name="adj" fmla="val 3719"/>
            </a:avLst>
          </a:prstGeom>
          <a:solidFill>
            <a:srgbClr val="FFFFFF"/>
          </a:solidFill>
          <a:ln w="2032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4943475" y="1992961"/>
            <a:ext cx="2305050" cy="310313"/>
          </a:xfrm>
          <a:prstGeom prst="roundRect">
            <a:avLst>
              <a:gd name="adj" fmla="val 371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64" name="TextBox 63"/>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Relevant Portfolio</a:t>
            </a:r>
          </a:p>
        </p:txBody>
      </p:sp>
      <p:sp>
        <p:nvSpPr>
          <p:cNvPr id="65" name="TextBox 64"/>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6" name="TextBox 65"/>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67" name="Connector 66"/>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9" name="TextBox 68"/>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70" name="TextBox 69"/>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5B7C99"/>
                </a:solidFill>
                <a:latin typeface="Segoe UI"/>
              </a:rPr>
              <a:t>Access builder</a:t>
            </a:r>
          </a:p>
        </p:txBody>
      </p:sp>
      <p:cxnSp>
        <p:nvCxnSpPr>
          <p:cNvPr id="71" name="Connector 70"/>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3" name="TextBox 72"/>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74" name="TextBox 73"/>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Won through wider channel availability</a:t>
            </a:r>
          </a:p>
        </p:txBody>
      </p:sp>
      <p:cxnSp>
        <p:nvCxnSpPr>
          <p:cNvPr id="75" name="Connector 74"/>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7" name="TextBox 76"/>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78" name="TextBox 77"/>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Pricing strategy</a:t>
            </a:r>
          </a:p>
        </p:txBody>
      </p:sp>
      <p:sp>
        <p:nvSpPr>
          <p:cNvPr id="79" name="Oval 78"/>
          <p:cNvSpPr/>
          <p:nvPr/>
        </p:nvSpPr>
        <p:spPr>
          <a:xfrm>
            <a:off x="8353425" y="1655267"/>
            <a:ext cx="285750" cy="273805"/>
          </a:xfrm>
          <a:prstGeom prst="ellipse">
            <a:avLst/>
          </a:prstGeom>
          <a:solidFill>
            <a:srgbClr val="8A55C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4</a:t>
            </a:r>
          </a:p>
        </p:txBody>
      </p:sp>
      <p:sp>
        <p:nvSpPr>
          <p:cNvPr id="81" name="Rounded Rectangle 80"/>
          <p:cNvSpPr/>
          <p:nvPr/>
        </p:nvSpPr>
        <p:spPr>
          <a:xfrm>
            <a:off x="7343775" y="1992961"/>
            <a:ext cx="2305050" cy="2135683"/>
          </a:xfrm>
          <a:prstGeom prst="roundRect">
            <a:avLst>
              <a:gd name="adj" fmla="val 3719"/>
            </a:avLst>
          </a:prstGeom>
          <a:solidFill>
            <a:srgbClr val="FFFFFF"/>
          </a:solidFill>
          <a:ln w="2032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343775" y="1992961"/>
            <a:ext cx="2305050" cy="310313"/>
          </a:xfrm>
          <a:prstGeom prst="roundRect">
            <a:avLst>
              <a:gd name="adj" fmla="val 3719"/>
            </a:avLst>
          </a:prstGeom>
          <a:solidFill>
            <a:srgbClr val="8A55C8"/>
          </a:solidFill>
          <a:ln w="1270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85" name="TextBox 84"/>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Footprint</a:t>
            </a:r>
          </a:p>
        </p:txBody>
      </p:sp>
      <p:sp>
        <p:nvSpPr>
          <p:cNvPr id="86" name="TextBox 85"/>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87" name="TextBox 86"/>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88" name="Connector 87"/>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0" name="TextBox 89"/>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91" name="TextBox 90"/>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8A55C8"/>
                </a:solidFill>
                <a:latin typeface="Segoe UI"/>
              </a:rPr>
              <a:t>Premiumiser</a:t>
            </a:r>
          </a:p>
        </p:txBody>
      </p:sp>
      <p:cxnSp>
        <p:nvCxnSpPr>
          <p:cNvPr id="92" name="Connector 91"/>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4" name="TextBox 93"/>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95" name="TextBox 94"/>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Supported premium SKU growth</a:t>
            </a:r>
          </a:p>
        </p:txBody>
      </p:sp>
      <p:cxnSp>
        <p:nvCxnSpPr>
          <p:cNvPr id="96" name="Connector 95"/>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8" name="TextBox 97"/>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99" name="TextBox 98"/>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Portfolio/brand investment</a:t>
            </a:r>
          </a:p>
        </p:txBody>
      </p:sp>
      <p:sp>
        <p:nvSpPr>
          <p:cNvPr id="100" name="Oval 99"/>
          <p:cNvSpPr/>
          <p:nvPr/>
        </p:nvSpPr>
        <p:spPr>
          <a:xfrm>
            <a:off x="10753725" y="1655267"/>
            <a:ext cx="285750" cy="273805"/>
          </a:xfrm>
          <a:prstGeom prst="ellipse">
            <a:avLst/>
          </a:prstGeom>
          <a:solidFill>
            <a:srgbClr val="D99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5</a:t>
            </a:r>
          </a:p>
        </p:txBody>
      </p:sp>
      <p:sp>
        <p:nvSpPr>
          <p:cNvPr id="102" name="Rounded Rectangle 101"/>
          <p:cNvSpPr/>
          <p:nvPr/>
        </p:nvSpPr>
        <p:spPr>
          <a:xfrm>
            <a:off x="9744075" y="1992961"/>
            <a:ext cx="2305050" cy="2135683"/>
          </a:xfrm>
          <a:prstGeom prst="roundRect">
            <a:avLst>
              <a:gd name="adj" fmla="val 3719"/>
            </a:avLst>
          </a:prstGeom>
          <a:solidFill>
            <a:srgbClr val="FFFFFF"/>
          </a:solidFill>
          <a:ln w="2032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9744075" y="1992961"/>
            <a:ext cx="2305050" cy="310313"/>
          </a:xfrm>
          <a:prstGeom prst="roundRect">
            <a:avLst>
              <a:gd name="adj" fmla="val 3719"/>
            </a:avLst>
          </a:prstGeom>
          <a:solidFill>
            <a:srgbClr val="D9982A"/>
          </a:solidFill>
          <a:ln w="1270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106" name="TextBox 105"/>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Pricing</a:t>
            </a:r>
          </a:p>
        </p:txBody>
      </p:sp>
      <p:sp>
        <p:nvSpPr>
          <p:cNvPr id="107" name="TextBox 106"/>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08" name="TextBox 107"/>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109" name="Connector 108"/>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1" name="TextBox 110"/>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112" name="TextBox 111"/>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D9982A"/>
                </a:solidFill>
                <a:latin typeface="Segoe UI"/>
              </a:rPr>
              <a:t>Disruptor</a:t>
            </a:r>
          </a:p>
        </p:txBody>
      </p:sp>
      <p:cxnSp>
        <p:nvCxnSpPr>
          <p:cNvPr id="113" name="Connector 112"/>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5" name="TextBox 114"/>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116" name="TextBox 115"/>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Strengthened end-user and specifier pull</a:t>
            </a:r>
          </a:p>
        </p:txBody>
      </p:sp>
      <p:cxnSp>
        <p:nvCxnSpPr>
          <p:cNvPr id="117" name="Connector 116"/>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9" name="TextBox 118"/>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120" name="TextBox 119"/>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Partnership / acquisition</a:t>
            </a:r>
          </a:p>
        </p:txBody>
      </p:sp>
      <p:sp>
        <p:nvSpPr>
          <p:cNvPr id="121" name="Rounded Rectangle 120"/>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E3A5F"/>
                </a:solidFill>
                <a:latin typeface="Segoe UI"/>
              </a:rPr>
              <a:t>HOW TO DECIDE WHO SHAPED GROWTH</a:t>
            </a:r>
          </a:p>
        </p:txBody>
      </p:sp>
      <p:sp>
        <p:nvSpPr>
          <p:cNvPr id="123" name="Oval 122"/>
          <p:cNvSpPr/>
          <p:nvPr/>
        </p:nvSpPr>
        <p:spPr>
          <a:xfrm>
            <a:off x="815340" y="4539352"/>
            <a:ext cx="400050" cy="383328"/>
          </a:xfrm>
          <a:prstGeom prst="ellipse">
            <a:avLst/>
          </a:prstGeom>
          <a:solidFill>
            <a:srgbClr val="FFFFFF"/>
          </a:solidFill>
          <a:ln w="1270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25" name="TextBox 124"/>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5AA7"/>
                </a:solidFill>
                <a:latin typeface="Segoe UI"/>
              </a:rPr>
              <a:t>1. SHARE GAIN</a:t>
            </a:r>
          </a:p>
        </p:txBody>
      </p:sp>
      <p:sp>
        <p:nvSpPr>
          <p:cNvPr id="126" name="TextBox 125"/>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Company gained value or volume share</a:t>
            </a:r>
          </a:p>
        </p:txBody>
      </p:sp>
      <p:sp>
        <p:nvSpPr>
          <p:cNvPr id="127" name="Rounded Rectangle 126"/>
          <p:cNvSpPr/>
          <p:nvPr/>
        </p:nvSpPr>
        <p:spPr>
          <a:xfrm>
            <a:off x="520065" y="6027028"/>
            <a:ext cx="990600" cy="237298"/>
          </a:xfrm>
          <a:prstGeom prst="roundRect">
            <a:avLst>
              <a:gd name="adj" fmla="val 11538"/>
            </a:avLst>
          </a:prstGeom>
          <a:solidFill>
            <a:srgbClr val="FFFFFF"/>
          </a:solidFill>
          <a:ln w="1524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5AA7"/>
                </a:solidFill>
                <a:latin typeface="Segoe UI"/>
              </a:rPr>
              <a:t> </a:t>
            </a:r>
          </a:p>
        </p:txBody>
      </p:sp>
      <p:sp>
        <p:nvSpPr>
          <p:cNvPr id="129" name="TextBox 128"/>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30" name="Oval 129"/>
          <p:cNvSpPr/>
          <p:nvPr/>
        </p:nvSpPr>
        <p:spPr>
          <a:xfrm>
            <a:off x="2350770" y="4539352"/>
            <a:ext cx="400050" cy="383328"/>
          </a:xfrm>
          <a:prstGeom prst="ellipse">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32" name="TextBox 131"/>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E8833A"/>
                </a:solidFill>
                <a:latin typeface="Segoe UI"/>
              </a:rPr>
              <a:t>2. DISTRIBUTION EXPANSION</a:t>
            </a:r>
          </a:p>
        </p:txBody>
      </p:sp>
      <p:sp>
        <p:nvSpPr>
          <p:cNvPr id="133" name="TextBox 132"/>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Expanded channel, retail or e-commerce reach</a:t>
            </a:r>
          </a:p>
        </p:txBody>
      </p:sp>
      <p:sp>
        <p:nvSpPr>
          <p:cNvPr id="134" name="Rounded Rectangle 133"/>
          <p:cNvSpPr/>
          <p:nvPr/>
        </p:nvSpPr>
        <p:spPr>
          <a:xfrm>
            <a:off x="2055495" y="6027028"/>
            <a:ext cx="990600" cy="237298"/>
          </a:xfrm>
          <a:prstGeom prst="roundRect">
            <a:avLst>
              <a:gd name="adj" fmla="val 11538"/>
            </a:avLst>
          </a:prstGeom>
          <a:solidFill>
            <a:srgbClr val="FFFFFF"/>
          </a:solidFill>
          <a:ln w="1524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E8833A"/>
                </a:solidFill>
                <a:latin typeface="Segoe UI"/>
              </a:rPr>
              <a:t> </a:t>
            </a:r>
          </a:p>
        </p:txBody>
      </p:sp>
      <p:sp>
        <p:nvSpPr>
          <p:cNvPr id="136" name="TextBox 135"/>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37" name="Oval 136"/>
          <p:cNvSpPr/>
          <p:nvPr/>
        </p:nvSpPr>
        <p:spPr>
          <a:xfrm>
            <a:off x="3886200" y="4539352"/>
            <a:ext cx="400050" cy="383328"/>
          </a:xfrm>
          <a:prstGeom prst="ellipse">
            <a:avLst/>
          </a:prstGeom>
          <a:solidFill>
            <a:srgbClr val="FFFFFF"/>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39" name="TextBox 138"/>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5B7C99"/>
                </a:solidFill>
                <a:latin typeface="Segoe UI"/>
              </a:rPr>
              <a:t>3. INNOVATION / LAUNCHES</a:t>
            </a:r>
          </a:p>
        </p:txBody>
      </p:sp>
      <p:sp>
        <p:nvSpPr>
          <p:cNvPr id="140" name="TextBox 139"/>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New SKUs, pack sizes or product improvements</a:t>
            </a:r>
          </a:p>
        </p:txBody>
      </p:sp>
      <p:sp>
        <p:nvSpPr>
          <p:cNvPr id="141" name="Rounded Rectangle 140"/>
          <p:cNvSpPr/>
          <p:nvPr/>
        </p:nvSpPr>
        <p:spPr>
          <a:xfrm>
            <a:off x="3590925" y="6027028"/>
            <a:ext cx="990600" cy="237298"/>
          </a:xfrm>
          <a:prstGeom prst="roundRect">
            <a:avLst>
              <a:gd name="adj" fmla="val 11538"/>
            </a:avLst>
          </a:prstGeom>
          <a:solidFill>
            <a:srgbClr val="FFFFFF"/>
          </a:solidFill>
          <a:ln w="1524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5B7C99"/>
                </a:solidFill>
                <a:latin typeface="Segoe UI"/>
              </a:rPr>
              <a:t> </a:t>
            </a:r>
          </a:p>
        </p:txBody>
      </p:sp>
      <p:sp>
        <p:nvSpPr>
          <p:cNvPr id="143" name="TextBox 142"/>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44" name="Oval 143"/>
          <p:cNvSpPr/>
          <p:nvPr/>
        </p:nvSpPr>
        <p:spPr>
          <a:xfrm>
            <a:off x="5421630" y="4539352"/>
            <a:ext cx="400050" cy="383328"/>
          </a:xfrm>
          <a:prstGeom prst="ellipse">
            <a:avLst/>
          </a:prstGeom>
          <a:solidFill>
            <a:srgbClr val="FFFFFF"/>
          </a:solidFill>
          <a:ln w="1270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46" name="TextBox 145"/>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8A55C8"/>
                </a:solidFill>
                <a:latin typeface="Segoe UI"/>
              </a:rPr>
              <a:t>4. BUYER INFLUENCE</a:t>
            </a:r>
          </a:p>
        </p:txBody>
      </p:sp>
      <p:sp>
        <p:nvSpPr>
          <p:cNvPr id="147" name="TextBox 146"/>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Stronger specifier, channel or end-user pull</a:t>
            </a:r>
          </a:p>
        </p:txBody>
      </p:sp>
      <p:sp>
        <p:nvSpPr>
          <p:cNvPr id="148" name="Rounded Rectangle 147"/>
          <p:cNvSpPr/>
          <p:nvPr/>
        </p:nvSpPr>
        <p:spPr>
          <a:xfrm>
            <a:off x="5126355" y="6027028"/>
            <a:ext cx="990600" cy="237298"/>
          </a:xfrm>
          <a:prstGeom prst="roundRect">
            <a:avLst>
              <a:gd name="adj" fmla="val 11538"/>
            </a:avLst>
          </a:prstGeom>
          <a:solidFill>
            <a:srgbClr val="FFFFFF"/>
          </a:solidFill>
          <a:ln w="1524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8A55C8"/>
                </a:solidFill>
                <a:latin typeface="Segoe UI"/>
              </a:rPr>
              <a:t> </a:t>
            </a:r>
          </a:p>
        </p:txBody>
      </p:sp>
      <p:sp>
        <p:nvSpPr>
          <p:cNvPr id="150" name="TextBox 149"/>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51" name="Oval 150"/>
          <p:cNvSpPr/>
          <p:nvPr/>
        </p:nvSpPr>
        <p:spPr>
          <a:xfrm>
            <a:off x="6957060" y="4539352"/>
            <a:ext cx="400050" cy="383328"/>
          </a:xfrm>
          <a:prstGeom prst="ellipse">
            <a:avLst/>
          </a:prstGeom>
          <a:solidFill>
            <a:srgbClr val="FFFFFF"/>
          </a:solidFill>
          <a:ln w="1270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53" name="TextBox 152"/>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D9982A"/>
                </a:solidFill>
                <a:latin typeface="Segoe UI"/>
              </a:rPr>
              <a:t>5. BRAND / PRICING POWER</a:t>
            </a:r>
          </a:p>
        </p:txBody>
      </p:sp>
      <p:sp>
        <p:nvSpPr>
          <p:cNvPr id="154" name="TextBox 153"/>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Premiumisation, positioning or pricing execution</a:t>
            </a:r>
          </a:p>
        </p:txBody>
      </p:sp>
      <p:sp>
        <p:nvSpPr>
          <p:cNvPr id="155" name="Rounded Rectangle 154"/>
          <p:cNvSpPr/>
          <p:nvPr/>
        </p:nvSpPr>
        <p:spPr>
          <a:xfrm>
            <a:off x="6661785" y="6027028"/>
            <a:ext cx="990600" cy="237298"/>
          </a:xfrm>
          <a:prstGeom prst="roundRect">
            <a:avLst>
              <a:gd name="adj" fmla="val 11538"/>
            </a:avLst>
          </a:prstGeom>
          <a:solidFill>
            <a:srgbClr val="FFFFFF"/>
          </a:solidFill>
          <a:ln w="1524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D9982A"/>
                </a:solidFill>
                <a:latin typeface="Segoe UI"/>
              </a:rPr>
              <a:t> </a:t>
            </a:r>
          </a:p>
        </p:txBody>
      </p:sp>
      <p:sp>
        <p:nvSpPr>
          <p:cNvPr id="157" name="Rounded Rectangle 156"/>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Segoe UI"/>
              </a:rPr>
              <a:t>BEST WAY TO USE THIS SLIDE</a:t>
            </a:r>
          </a:p>
        </p:txBody>
      </p:sp>
      <p:cxnSp>
        <p:nvCxnSpPr>
          <p:cNvPr id="159" name="Connector 158"/>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2" name="TextBox 161"/>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Rank companies by impact on category growth</a:t>
            </a:r>
          </a:p>
        </p:txBody>
      </p:sp>
      <p:sp>
        <p:nvSpPr>
          <p:cNvPr id="163" name="Oval 162"/>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5" name="TextBox 164"/>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Mention the one move that explains their impact</a:t>
            </a:r>
          </a:p>
        </p:txBody>
      </p:sp>
      <p:sp>
        <p:nvSpPr>
          <p:cNvPr id="166" name="Oval 165"/>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8" name="TextBox 167"/>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Do not rely on market share alone</a:t>
            </a:r>
          </a:p>
        </p:txBody>
      </p:sp>
      <p:sp>
        <p:nvSpPr>
          <p:cNvPr id="169" name="TextBox 16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76" name="Picture 175" descr="lock.png"/>
          <p:cNvPicPr>
            <a:picLocks noChangeAspect="1"/>
          </p:cNvPicPr>
          <p:nvPr/>
        </p:nvPicPr>
        <p:blipFill>
          <a:blip r:embed="rId4"/>
          <a:stretch>
            <a:fillRect/>
          </a:stretch>
        </p:blipFill>
        <p:spPr>
          <a:xfrm>
            <a:off x="1048377" y="2391038"/>
            <a:ext cx="92663" cy="134782"/>
          </a:xfrm>
          <a:prstGeom prst="rect">
            <a:avLst/>
          </a:prstGeom>
        </p:spPr>
      </p:pic>
      <p:sp>
        <p:nvSpPr>
          <p:cNvPr id="177" name="TextBox 176"/>
          <p:cNvSpPr txBox="1"/>
          <p:nvPr/>
        </p:nvSpPr>
        <p:spPr>
          <a:xfrm>
            <a:off x="28575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78" name="Picture 177" descr="lock.png"/>
          <p:cNvPicPr>
            <a:picLocks noChangeAspect="1"/>
          </p:cNvPicPr>
          <p:nvPr/>
        </p:nvPicPr>
        <p:blipFill>
          <a:blip r:embed="rId4"/>
          <a:stretch>
            <a:fillRect/>
          </a:stretch>
        </p:blipFill>
        <p:spPr>
          <a:xfrm>
            <a:off x="3448677" y="2391038"/>
            <a:ext cx="92663" cy="134782"/>
          </a:xfrm>
          <a:prstGeom prst="rect">
            <a:avLst/>
          </a:prstGeom>
        </p:spPr>
      </p:pic>
      <p:sp>
        <p:nvSpPr>
          <p:cNvPr id="179" name="TextBox 178"/>
          <p:cNvSpPr txBox="1"/>
          <p:nvPr/>
        </p:nvSpPr>
        <p:spPr>
          <a:xfrm>
            <a:off x="52578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0" name="Picture 179" descr="lock.png"/>
          <p:cNvPicPr>
            <a:picLocks noChangeAspect="1"/>
          </p:cNvPicPr>
          <p:nvPr/>
        </p:nvPicPr>
        <p:blipFill>
          <a:blip r:embed="rId4"/>
          <a:stretch>
            <a:fillRect/>
          </a:stretch>
        </p:blipFill>
        <p:spPr>
          <a:xfrm>
            <a:off x="5848977" y="2391038"/>
            <a:ext cx="92663" cy="134782"/>
          </a:xfrm>
          <a:prstGeom prst="rect">
            <a:avLst/>
          </a:prstGeom>
        </p:spPr>
      </p:pic>
      <p:sp>
        <p:nvSpPr>
          <p:cNvPr id="181" name="TextBox 180"/>
          <p:cNvSpPr txBox="1"/>
          <p:nvPr/>
        </p:nvSpPr>
        <p:spPr>
          <a:xfrm>
            <a:off x="76581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2" name="Picture 181" descr="lock.png"/>
          <p:cNvPicPr>
            <a:picLocks noChangeAspect="1"/>
          </p:cNvPicPr>
          <p:nvPr/>
        </p:nvPicPr>
        <p:blipFill>
          <a:blip r:embed="rId4"/>
          <a:stretch>
            <a:fillRect/>
          </a:stretch>
        </p:blipFill>
        <p:spPr>
          <a:xfrm>
            <a:off x="8249277" y="2391038"/>
            <a:ext cx="92663" cy="134782"/>
          </a:xfrm>
          <a:prstGeom prst="rect">
            <a:avLst/>
          </a:prstGeom>
        </p:spPr>
      </p:pic>
      <p:sp>
        <p:nvSpPr>
          <p:cNvPr id="183" name="TextBox 182"/>
          <p:cNvSpPr txBox="1"/>
          <p:nvPr/>
        </p:nvSpPr>
        <p:spPr>
          <a:xfrm>
            <a:off x="100584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4" name="Picture 183" descr="lock.png"/>
          <p:cNvPicPr>
            <a:picLocks noChangeAspect="1"/>
          </p:cNvPicPr>
          <p:nvPr/>
        </p:nvPicPr>
        <p:blipFill>
          <a:blip r:embed="rId4"/>
          <a:stretch>
            <a:fillRect/>
          </a:stretch>
        </p:blipFill>
        <p:spPr>
          <a:xfrm>
            <a:off x="10649577" y="2391038"/>
            <a:ext cx="92663" cy="134782"/>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EcoFlow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EcoFlow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EcoFlow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EcoFlow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EcoFlow Strategy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EcoFlow Executive Market Snapshot (1/5)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total market, addressable opportunity and share of market by end-market, region and product</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Executive snapshot and strategic positioning EcoFlow: market, addressable opportunity and SOM splits by end-market, region and product.</a:t>
            </a:r>
          </a:p>
        </p:txBody>
      </p:sp>
      <p:sp>
        <p:nvSpPr>
          <p:cNvPr id="9" name="Rounded Rectangle 8"/>
          <p:cNvSpPr/>
          <p:nvPr/>
        </p:nvSpPr>
        <p:spPr>
          <a:xfrm>
            <a:off x="14287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TAM (US$ MN)</a:t>
            </a:r>
          </a:p>
          <a:p>
            <a:pPr algn="ctr">
              <a:lnSpc>
                <a:spcPct val="95000"/>
              </a:lnSpc>
            </a:pPr>
            <a:r>
              <a:rPr sz="1500" b="1">
                <a:solidFill>
                  <a:srgbClr val="00A4DC"/>
                </a:solidFill>
                <a:latin typeface="Segoe UI"/>
              </a:rPr>
              <a:t>1,950</a:t>
            </a:r>
          </a:p>
          <a:p>
            <a:pPr algn="ctr">
              <a:lnSpc>
                <a:spcPct val="95000"/>
              </a:lnSpc>
            </a:pPr>
            <a:r>
              <a:rPr sz="1100" b="0">
                <a:solidFill>
                  <a:srgbClr val="605E5C"/>
                </a:solidFill>
                <a:latin typeface="Segoe UI"/>
              </a:rPr>
              <a:t>Total market</a:t>
            </a:r>
          </a:p>
        </p:txBody>
      </p:sp>
      <p:sp>
        <p:nvSpPr>
          <p:cNvPr id="10" name="Rounded Rectangle 9"/>
          <p:cNvSpPr/>
          <p:nvPr/>
        </p:nvSpPr>
        <p:spPr>
          <a:xfrm>
            <a:off x="254317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SAM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Addressable</a:t>
            </a:r>
          </a:p>
        </p:txBody>
      </p:sp>
      <p:sp>
        <p:nvSpPr>
          <p:cNvPr id="11" name="Rounded Rectangle 10"/>
          <p:cNvSpPr/>
          <p:nvPr/>
        </p:nvSpPr>
        <p:spPr>
          <a:xfrm>
            <a:off x="4953000"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2" name="Rounded Rectangle 11"/>
          <p:cNvSpPr/>
          <p:nvPr/>
        </p:nvSpPr>
        <p:spPr>
          <a:xfrm>
            <a:off x="7353300"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BOOK-TO-BILL</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Order momentum</a:t>
            </a:r>
          </a:p>
        </p:txBody>
      </p:sp>
      <p:sp>
        <p:nvSpPr>
          <p:cNvPr id="13" name="Rounded Rectangle 12"/>
          <p:cNvSpPr/>
          <p:nvPr/>
        </p:nvSpPr>
        <p:spPr>
          <a:xfrm>
            <a:off x="976312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EBITDA MARGIN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Profitability</a:t>
            </a:r>
          </a:p>
        </p:txBody>
      </p:sp>
      <p:sp>
        <p:nvSpPr>
          <p:cNvPr id="14" name="Rectangle 13"/>
          <p:cNvSpPr/>
          <p:nvPr/>
        </p:nvSpPr>
        <p:spPr>
          <a:xfrm>
            <a:off x="142875" y="2065976"/>
            <a:ext cx="38290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End-Market (US$ Mn)</a:t>
            </a:r>
          </a:p>
        </p:txBody>
      </p:sp>
      <p:graphicFrame>
        <p:nvGraphicFramePr>
          <p:cNvPr id="16" name="Chart 15"/>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7" name="Rectangle 16"/>
          <p:cNvSpPr/>
          <p:nvPr/>
        </p:nvSpPr>
        <p:spPr>
          <a:xfrm>
            <a:off x="4124325" y="2065976"/>
            <a:ext cx="38290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Region (US$ Mn)</a:t>
            </a:r>
          </a:p>
        </p:txBody>
      </p:sp>
      <p:graphicFrame>
        <p:nvGraphicFramePr>
          <p:cNvPr id="19" name="Chart 18"/>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0" name="Rectangle 19"/>
          <p:cNvSpPr/>
          <p:nvPr/>
        </p:nvSpPr>
        <p:spPr>
          <a:xfrm>
            <a:off x="8105775" y="2065976"/>
            <a:ext cx="39433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Product Line (US$ Mn)</a:t>
            </a:r>
          </a:p>
        </p:txBody>
      </p:sp>
      <p:graphicFrame>
        <p:nvGraphicFramePr>
          <p:cNvPr id="22" name="Chart 21"/>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3" name="Rectangle 22"/>
          <p:cNvSpPr/>
          <p:nvPr/>
        </p:nvSpPr>
        <p:spPr>
          <a:xfrm>
            <a:off x="142875" y="4785777"/>
            <a:ext cx="11906250" cy="180711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25" name="Rectangle 24"/>
          <p:cNvSpPr/>
          <p:nvPr/>
        </p:nvSpPr>
        <p:spPr>
          <a:xfrm>
            <a:off x="276225" y="5109627"/>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8" name="Picture 27" descr="lock.png"/>
          <p:cNvPicPr>
            <a:picLocks noChangeAspect="1"/>
          </p:cNvPicPr>
          <p:nvPr/>
        </p:nvPicPr>
        <p:blipFill>
          <a:blip r:embed="rId7"/>
          <a:stretch>
            <a:fillRect/>
          </a:stretch>
        </p:blipFill>
        <p:spPr>
          <a:xfrm>
            <a:off x="36028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8412956"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1082278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2104623" y="3299104"/>
            <a:ext cx="197242" cy="286897"/>
          </a:xfrm>
          <a:prstGeom prst="rect">
            <a:avLst/>
          </a:prstGeom>
        </p:spPr>
      </p:pic>
      <p:pic>
        <p:nvPicPr>
          <p:cNvPr id="32" name="Picture 31" descr="lock.png"/>
          <p:cNvPicPr>
            <a:picLocks noChangeAspect="1"/>
          </p:cNvPicPr>
          <p:nvPr/>
        </p:nvPicPr>
        <p:blipFill>
          <a:blip r:embed="rId7"/>
          <a:stretch>
            <a:fillRect/>
          </a:stretch>
        </p:blipFill>
        <p:spPr>
          <a:xfrm>
            <a:off x="608607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9278088" y="3145920"/>
            <a:ext cx="444576" cy="646656"/>
          </a:xfrm>
          <a:prstGeom prst="rect">
            <a:avLst/>
          </a:prstGeom>
        </p:spPr>
      </p:pic>
      <p:sp>
        <p:nvSpPr>
          <p:cNvPr id="34" name="TextBox 33"/>
          <p:cNvSpPr txBox="1"/>
          <p:nvPr/>
        </p:nvSpPr>
        <p:spPr>
          <a:xfrm>
            <a:off x="5710511" y="1377568"/>
            <a:ext cx="837652" cy="146456"/>
          </a:xfrm>
          <a:prstGeom prst="rect">
            <a:avLst/>
          </a:prstGeom>
          <a:noFill/>
        </p:spPr>
        <p:txBody>
          <a:bodyPr wrap="none" lIns="0" rIns="0" tIns="0" bIns="0">
            <a:spAutoFit/>
          </a:bodyPr>
          <a:lstStyle/>
          <a:p>
            <a:r>
              <a:rPr sz="835" b="1">
                <a:solidFill>
                  <a:srgbClr val="605E5C"/>
                </a:solidFill>
                <a:latin typeface="Segoe UI"/>
              </a:rPr>
              <a:t>SOM (US$ MN)</a:t>
            </a:r>
          </a:p>
        </p:txBody>
      </p:sp>
      <p:pic>
        <p:nvPicPr>
          <p:cNvPr id="35" name="Picture 34" descr="lock.png"/>
          <p:cNvPicPr>
            <a:picLocks noChangeAspect="1"/>
          </p:cNvPicPr>
          <p:nvPr/>
        </p:nvPicPr>
        <p:blipFill>
          <a:blip r:embed="rId7"/>
          <a:stretch>
            <a:fillRect/>
          </a:stretch>
        </p:blipFill>
        <p:spPr>
          <a:xfrm>
            <a:off x="6017010" y="1533061"/>
            <a:ext cx="133378" cy="194005"/>
          </a:xfrm>
          <a:prstGeom prst="rect">
            <a:avLst/>
          </a:prstGeom>
        </p:spPr>
      </p:pic>
      <p:pic>
        <p:nvPicPr>
          <p:cNvPr id="36" name="Picture 35" descr="lock.png"/>
          <p:cNvPicPr>
            <a:picLocks noChangeAspect="1"/>
          </p:cNvPicPr>
          <p:nvPr/>
        </p:nvPicPr>
        <p:blipFill>
          <a:blip r:embed="rId7"/>
          <a:stretch>
            <a:fillRect/>
          </a:stretch>
        </p:blipFill>
        <p:spPr>
          <a:xfrm>
            <a:off x="5850163" y="1761621"/>
            <a:ext cx="97811" cy="142270"/>
          </a:xfrm>
          <a:prstGeom prst="rect">
            <a:avLst/>
          </a:prstGeom>
        </p:spPr>
      </p:pic>
      <p:sp>
        <p:nvSpPr>
          <p:cNvPr id="37" name="TextBox 36"/>
          <p:cNvSpPr txBox="1"/>
          <p:nvPr/>
        </p:nvSpPr>
        <p:spPr>
          <a:xfrm>
            <a:off x="5977460" y="1769053"/>
            <a:ext cx="420815" cy="146456"/>
          </a:xfrm>
          <a:prstGeom prst="rect">
            <a:avLst/>
          </a:prstGeom>
          <a:noFill/>
        </p:spPr>
        <p:txBody>
          <a:bodyPr wrap="none" lIns="0" rIns="0" tIns="0" bIns="0">
            <a:spAutoFit/>
          </a:bodyPr>
          <a:lstStyle/>
          <a:p>
            <a:r>
              <a:rPr sz="835" b="0">
                <a:solidFill>
                  <a:srgbClr val="605E5C"/>
                </a:solidFill>
                <a:latin typeface="Segoe UI"/>
              </a:rPr>
              <a:t>of SAM</a:t>
            </a:r>
          </a:p>
        </p:txBody>
      </p:sp>
      <p:sp>
        <p:nvSpPr>
          <p:cNvPr id="38" name="TextBox 37"/>
          <p:cNvSpPr txBox="1"/>
          <p:nvPr/>
        </p:nvSpPr>
        <p:spPr>
          <a:xfrm>
            <a:off x="276225" y="5204877"/>
            <a:ext cx="2506402" cy="194310"/>
          </a:xfrm>
          <a:prstGeom prst="rect">
            <a:avLst/>
          </a:prstGeom>
          <a:noFill/>
        </p:spPr>
        <p:txBody>
          <a:bodyPr wrap="none" lIns="0" rIns="0" tIns="0" bIns="0">
            <a:spAutoFit/>
          </a:bodyPr>
          <a:lstStyle/>
          <a:p>
            <a:r>
              <a:rPr sz="1150" b="0">
                <a:solidFill>
                  <a:srgbClr val="252423"/>
                </a:solidFill>
                <a:latin typeface="Segoe UI"/>
              </a:rPr>
              <a:t>▪ Market Position: EcoFlow captures ~</a:t>
            </a:r>
          </a:p>
        </p:txBody>
      </p:sp>
      <p:pic>
        <p:nvPicPr>
          <p:cNvPr id="39" name="Picture 38" descr="lock.png"/>
          <p:cNvPicPr>
            <a:picLocks noChangeAspect="1"/>
          </p:cNvPicPr>
          <p:nvPr/>
        </p:nvPicPr>
        <p:blipFill>
          <a:blip r:embed="rId7"/>
          <a:stretch>
            <a:fillRect/>
          </a:stretch>
        </p:blipFill>
        <p:spPr>
          <a:xfrm>
            <a:off x="2731781" y="5194653"/>
            <a:ext cx="134549" cy="195707"/>
          </a:xfrm>
          <a:prstGeom prst="rect">
            <a:avLst/>
          </a:prstGeom>
        </p:spPr>
      </p:pic>
      <p:sp>
        <p:nvSpPr>
          <p:cNvPr id="40" name="TextBox 39"/>
          <p:cNvSpPr txBox="1"/>
          <p:nvPr/>
        </p:nvSpPr>
        <p:spPr>
          <a:xfrm>
            <a:off x="2906891" y="5204877"/>
            <a:ext cx="6193171" cy="194310"/>
          </a:xfrm>
          <a:prstGeom prst="rect">
            <a:avLst/>
          </a:prstGeom>
          <a:noFill/>
        </p:spPr>
        <p:txBody>
          <a:bodyPr wrap="none" lIns="0" rIns="0" tIns="0" bIns="0">
            <a:spAutoFit/>
          </a:bodyPr>
          <a:lstStyle/>
          <a:p>
            <a:r>
              <a:rPr sz="1150" b="0">
                <a:solidFill>
                  <a:srgbClr val="252423"/>
                </a:solidFill>
                <a:latin typeface="Segoe UI"/>
              </a:rPr>
              <a:t>of a US$ Mn SAM, with its strongest end-market in 'Professional &amp; Specialized Portable Power'.</a:t>
            </a:r>
          </a:p>
        </p:txBody>
      </p:sp>
      <p:sp>
        <p:nvSpPr>
          <p:cNvPr id="41" name="TextBox 40"/>
          <p:cNvSpPr txBox="1"/>
          <p:nvPr/>
        </p:nvSpPr>
        <p:spPr>
          <a:xfrm>
            <a:off x="276225" y="5432715"/>
            <a:ext cx="7991273" cy="194310"/>
          </a:xfrm>
          <a:prstGeom prst="rect">
            <a:avLst/>
          </a:prstGeom>
          <a:noFill/>
        </p:spPr>
        <p:txBody>
          <a:bodyPr wrap="none" lIns="0" rIns="0" tIns="0" bIns="0">
            <a:spAutoFit/>
          </a:bodyPr>
          <a:lstStyle/>
          <a:p>
            <a:r>
              <a:rPr sz="1150" b="0">
                <a:solidFill>
                  <a:srgbClr val="252423"/>
                </a:solidFill>
                <a:latin typeface="Segoe UI"/>
              </a:rPr>
              <a:t>▪ Geographic Balance: 'North America' is the largest SOM region; 'Rest of the World' shows the highest SAM penetration (~</a:t>
            </a:r>
          </a:p>
        </p:txBody>
      </p:sp>
      <p:pic>
        <p:nvPicPr>
          <p:cNvPr id="42" name="Picture 41" descr="lock.png"/>
          <p:cNvPicPr>
            <a:picLocks noChangeAspect="1"/>
          </p:cNvPicPr>
          <p:nvPr/>
        </p:nvPicPr>
        <p:blipFill>
          <a:blip r:embed="rId7"/>
          <a:stretch>
            <a:fillRect/>
          </a:stretch>
        </p:blipFill>
        <p:spPr>
          <a:xfrm>
            <a:off x="8216652" y="5422491"/>
            <a:ext cx="134549" cy="195707"/>
          </a:xfrm>
          <a:prstGeom prst="rect">
            <a:avLst/>
          </a:prstGeom>
        </p:spPr>
      </p:pic>
      <p:sp>
        <p:nvSpPr>
          <p:cNvPr id="43" name="TextBox 42"/>
          <p:cNvSpPr txBox="1"/>
          <p:nvPr/>
        </p:nvSpPr>
        <p:spPr>
          <a:xfrm>
            <a:off x="8391762" y="543271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660552"/>
            <a:ext cx="1465805" cy="194310"/>
          </a:xfrm>
          <a:prstGeom prst="rect">
            <a:avLst/>
          </a:prstGeom>
          <a:noFill/>
        </p:spPr>
        <p:txBody>
          <a:bodyPr wrap="none" lIns="0" rIns="0" tIns="0" bIns="0">
            <a:spAutoFit/>
          </a:bodyPr>
          <a:lstStyle/>
          <a:p>
            <a:r>
              <a:rPr sz="1150" b="0">
                <a:solidFill>
                  <a:srgbClr val="252423"/>
                </a:solidFill>
                <a:latin typeface="Segoe UI"/>
              </a:rPr>
              <a:t>▪ Growth Trajectory: a</a:t>
            </a:r>
          </a:p>
        </p:txBody>
      </p:sp>
      <p:pic>
        <p:nvPicPr>
          <p:cNvPr id="45" name="Picture 44" descr="lock.png"/>
          <p:cNvPicPr>
            <a:picLocks noChangeAspect="1"/>
          </p:cNvPicPr>
          <p:nvPr/>
        </p:nvPicPr>
        <p:blipFill>
          <a:blip r:embed="rId7"/>
          <a:stretch>
            <a:fillRect/>
          </a:stretch>
        </p:blipFill>
        <p:spPr>
          <a:xfrm>
            <a:off x="1691184" y="5650329"/>
            <a:ext cx="134549" cy="195707"/>
          </a:xfrm>
          <a:prstGeom prst="rect">
            <a:avLst/>
          </a:prstGeom>
        </p:spPr>
      </p:pic>
      <p:sp>
        <p:nvSpPr>
          <p:cNvPr id="46" name="TextBox 45"/>
          <p:cNvSpPr txBox="1"/>
          <p:nvPr/>
        </p:nvSpPr>
        <p:spPr>
          <a:xfrm>
            <a:off x="1866293" y="5660552"/>
            <a:ext cx="1272951" cy="194310"/>
          </a:xfrm>
          <a:prstGeom prst="rect">
            <a:avLst/>
          </a:prstGeom>
          <a:noFill/>
        </p:spPr>
        <p:txBody>
          <a:bodyPr wrap="none" lIns="0" rIns="0" tIns="0" bIns="0">
            <a:spAutoFit/>
          </a:bodyPr>
          <a:lstStyle/>
          <a:p>
            <a:r>
              <a:rPr sz="1150" b="0">
                <a:solidFill>
                  <a:srgbClr val="252423"/>
                </a:solidFill>
                <a:latin typeface="Segoe UI"/>
              </a:rPr>
              <a:t>book-to-bill and ~</a:t>
            </a:r>
          </a:p>
        </p:txBody>
      </p:sp>
      <p:pic>
        <p:nvPicPr>
          <p:cNvPr id="47" name="Picture 46" descr="lock.png"/>
          <p:cNvPicPr>
            <a:picLocks noChangeAspect="1"/>
          </p:cNvPicPr>
          <p:nvPr/>
        </p:nvPicPr>
        <p:blipFill>
          <a:blip r:embed="rId7"/>
          <a:stretch>
            <a:fillRect/>
          </a:stretch>
        </p:blipFill>
        <p:spPr>
          <a:xfrm>
            <a:off x="3088399" y="5650329"/>
            <a:ext cx="134549" cy="195707"/>
          </a:xfrm>
          <a:prstGeom prst="rect">
            <a:avLst/>
          </a:prstGeom>
        </p:spPr>
      </p:pic>
      <p:sp>
        <p:nvSpPr>
          <p:cNvPr id="48" name="TextBox 47"/>
          <p:cNvSpPr txBox="1"/>
          <p:nvPr/>
        </p:nvSpPr>
        <p:spPr>
          <a:xfrm>
            <a:off x="3263508" y="5660552"/>
            <a:ext cx="4874143" cy="194310"/>
          </a:xfrm>
          <a:prstGeom prst="rect">
            <a:avLst/>
          </a:prstGeom>
          <a:noFill/>
        </p:spPr>
        <p:txBody>
          <a:bodyPr wrap="none" lIns="0" rIns="0" tIns="0" bIns="0">
            <a:spAutoFit/>
          </a:bodyPr>
          <a:lstStyle/>
          <a:p>
            <a:r>
              <a:rPr sz="1150" b="0">
                <a:solidFill>
                  <a:srgbClr val="252423"/>
                </a:solidFill>
                <a:latin typeface="Segoe UI"/>
              </a:rPr>
              <a:t>EBITDA margin point to a path to capture more of the addressable market.</a:t>
            </a:r>
          </a:p>
        </p:txBody>
      </p:sp>
      <p:sp>
        <p:nvSpPr>
          <p:cNvPr id="49" name="TextBox 48"/>
          <p:cNvSpPr txBox="1"/>
          <p:nvPr/>
        </p:nvSpPr>
        <p:spPr>
          <a:xfrm>
            <a:off x="276225" y="5888390"/>
            <a:ext cx="1482203" cy="194310"/>
          </a:xfrm>
          <a:prstGeom prst="rect">
            <a:avLst/>
          </a:prstGeom>
          <a:noFill/>
        </p:spPr>
        <p:txBody>
          <a:bodyPr wrap="none" lIns="0" rIns="0" tIns="0" bIns="0">
            <a:spAutoFit/>
          </a:bodyPr>
          <a:lstStyle/>
          <a:p>
            <a:r>
              <a:rPr sz="1150" b="0">
                <a:solidFill>
                  <a:srgbClr val="252423"/>
                </a:solidFill>
                <a:latin typeface="Segoe UI"/>
              </a:rPr>
              <a:t>▪ Competitive Edge: ~</a:t>
            </a:r>
          </a:p>
        </p:txBody>
      </p:sp>
      <p:pic>
        <p:nvPicPr>
          <p:cNvPr id="50" name="Picture 49" descr="lock.png"/>
          <p:cNvPicPr>
            <a:picLocks noChangeAspect="1"/>
          </p:cNvPicPr>
          <p:nvPr/>
        </p:nvPicPr>
        <p:blipFill>
          <a:blip r:embed="rId7"/>
          <a:stretch>
            <a:fillRect/>
          </a:stretch>
        </p:blipFill>
        <p:spPr>
          <a:xfrm>
            <a:off x="1707582" y="5878167"/>
            <a:ext cx="134549" cy="195707"/>
          </a:xfrm>
          <a:prstGeom prst="rect">
            <a:avLst/>
          </a:prstGeom>
        </p:spPr>
      </p:pic>
      <p:sp>
        <p:nvSpPr>
          <p:cNvPr id="51" name="TextBox 50"/>
          <p:cNvSpPr txBox="1"/>
          <p:nvPr/>
        </p:nvSpPr>
        <p:spPr>
          <a:xfrm>
            <a:off x="1882691" y="5888390"/>
            <a:ext cx="1158435" cy="194310"/>
          </a:xfrm>
          <a:prstGeom prst="rect">
            <a:avLst/>
          </a:prstGeom>
          <a:noFill/>
        </p:spPr>
        <p:txBody>
          <a:bodyPr wrap="none" lIns="0" rIns="0" tIns="0" bIns="0">
            <a:spAutoFit/>
          </a:bodyPr>
          <a:lstStyle/>
          <a:p>
            <a:r>
              <a:rPr sz="1150" b="0">
                <a:solidFill>
                  <a:srgbClr val="252423"/>
                </a:solidFill>
                <a:latin typeface="Segoe UI"/>
              </a:rPr>
              <a:t>win rate with a +</a:t>
            </a:r>
          </a:p>
        </p:txBody>
      </p:sp>
      <p:pic>
        <p:nvPicPr>
          <p:cNvPr id="52" name="Picture 51" descr="lock.png"/>
          <p:cNvPicPr>
            <a:picLocks noChangeAspect="1"/>
          </p:cNvPicPr>
          <p:nvPr/>
        </p:nvPicPr>
        <p:blipFill>
          <a:blip r:embed="rId7"/>
          <a:stretch>
            <a:fillRect/>
          </a:stretch>
        </p:blipFill>
        <p:spPr>
          <a:xfrm>
            <a:off x="2990280" y="5878167"/>
            <a:ext cx="134549" cy="195707"/>
          </a:xfrm>
          <a:prstGeom prst="rect">
            <a:avLst/>
          </a:prstGeom>
        </p:spPr>
      </p:pic>
      <p:sp>
        <p:nvSpPr>
          <p:cNvPr id="53" name="TextBox 52"/>
          <p:cNvSpPr txBox="1"/>
          <p:nvPr/>
        </p:nvSpPr>
        <p:spPr>
          <a:xfrm>
            <a:off x="3165390" y="5888390"/>
            <a:ext cx="1235725" cy="194310"/>
          </a:xfrm>
          <a:prstGeom prst="rect">
            <a:avLst/>
          </a:prstGeom>
          <a:noFill/>
        </p:spPr>
        <p:txBody>
          <a:bodyPr wrap="none" lIns="0" rIns="0" tIns="0" bIns="0">
            <a:spAutoFit/>
          </a:bodyPr>
          <a:lstStyle/>
          <a:p>
            <a:r>
              <a:rPr sz="1150" b="0">
                <a:solidFill>
                  <a:srgbClr val="252423"/>
                </a:solidFill>
                <a:latin typeface="Segoe UI"/>
              </a:rPr>
              <a:t>ASP premium and</a:t>
            </a:r>
          </a:p>
        </p:txBody>
      </p:sp>
      <p:pic>
        <p:nvPicPr>
          <p:cNvPr id="54" name="Picture 53" descr="lock.png"/>
          <p:cNvPicPr>
            <a:picLocks noChangeAspect="1"/>
          </p:cNvPicPr>
          <p:nvPr/>
        </p:nvPicPr>
        <p:blipFill>
          <a:blip r:embed="rId7"/>
          <a:stretch>
            <a:fillRect/>
          </a:stretch>
        </p:blipFill>
        <p:spPr>
          <a:xfrm>
            <a:off x="4350269" y="5878167"/>
            <a:ext cx="134549" cy="195707"/>
          </a:xfrm>
          <a:prstGeom prst="rect">
            <a:avLst/>
          </a:prstGeom>
        </p:spPr>
      </p:pic>
      <p:sp>
        <p:nvSpPr>
          <p:cNvPr id="55" name="TextBox 54"/>
          <p:cNvSpPr txBox="1"/>
          <p:nvPr/>
        </p:nvSpPr>
        <p:spPr>
          <a:xfrm>
            <a:off x="4525379" y="5888390"/>
            <a:ext cx="1355550" cy="194310"/>
          </a:xfrm>
          <a:prstGeom prst="rect">
            <a:avLst/>
          </a:prstGeom>
          <a:noFill/>
        </p:spPr>
        <p:txBody>
          <a:bodyPr wrap="none" lIns="0" rIns="0" tIns="0" bIns="0">
            <a:spAutoFit/>
          </a:bodyPr>
          <a:lstStyle/>
          <a:p>
            <a:r>
              <a:rPr sz="1150" b="0">
                <a:solidFill>
                  <a:srgbClr val="252423"/>
                </a:solidFill>
                <a:latin typeface="Segoe UI"/>
              </a:rPr>
              <a:t>x pipeline coverage.</a:t>
            </a:r>
          </a:p>
        </p:txBody>
      </p:sp>
      <p:sp>
        <p:nvSpPr>
          <p:cNvPr id="56" name="lockshield_16"/>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9"/>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22"/>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EcoFlow Regional Penetration &amp; Win Position (2/5)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penetration and competitive positioning highlighting growth potential, win rates and sales efficiency</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Regional penetration and competitive positioning EcoFlow: SOM vs SAM by region, win position, TAM/SAM/SOM and go-to-market benchmarks.</a:t>
            </a:r>
          </a:p>
        </p:txBody>
      </p:sp>
      <p:sp>
        <p:nvSpPr>
          <p:cNvPr id="9" name="Rectangle 8"/>
          <p:cNvSpPr/>
          <p:nvPr/>
        </p:nvSpPr>
        <p:spPr>
          <a:xfrm>
            <a:off x="142875" y="1299320"/>
            <a:ext cx="5905500" cy="226345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vs SAM Penetration by Region</a:t>
            </a:r>
          </a:p>
        </p:txBody>
      </p:sp>
      <p:graphicFrame>
        <p:nvGraphicFramePr>
          <p:cNvPr id="11" name="Chart 10"/>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2" name="Rectangle 11"/>
          <p:cNvSpPr/>
          <p:nvPr/>
        </p:nvSpPr>
        <p:spPr>
          <a:xfrm>
            <a:off x="6162675" y="1299320"/>
            <a:ext cx="5886450" cy="226345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Competitive Win Position</a:t>
            </a:r>
          </a:p>
        </p:txBody>
      </p:sp>
      <p:cxnSp>
        <p:nvCxnSpPr>
          <p:cNvPr id="14" name="Connector 13"/>
          <p:cNvCxnSpPr/>
          <p:nvPr/>
        </p:nvCxnSpPr>
        <p:spPr>
          <a:xfrm>
            <a:off x="6581775" y="3219879"/>
            <a:ext cx="5257800" cy="0"/>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1775" y="1680320"/>
            <a:ext cx="0" cy="1539559"/>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05E5C"/>
                </a:solidFill>
                <a:latin typeface="Segoe UI"/>
              </a:rPr>
              <a:t>0</a:t>
            </a:r>
          </a:p>
        </p:txBody>
      </p:sp>
      <p:sp>
        <p:nvSpPr>
          <p:cNvPr id="17" name="TextBox 16"/>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05E5C"/>
                </a:solidFill>
                <a:latin typeface="Segoe UI"/>
              </a:rPr>
              <a:t>1</a:t>
            </a:r>
          </a:p>
        </p:txBody>
      </p:sp>
      <p:sp>
        <p:nvSpPr>
          <p:cNvPr id="18" name="TextBox 17"/>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05E5C"/>
                </a:solidFill>
                <a:latin typeface="Segoe UI"/>
              </a:rPr>
              <a:t>2</a:t>
            </a:r>
          </a:p>
        </p:txBody>
      </p:sp>
      <p:sp>
        <p:nvSpPr>
          <p:cNvPr id="19" name="TextBox 18"/>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05E5C"/>
                </a:solidFill>
                <a:latin typeface="Segoe UI"/>
              </a:rPr>
              <a:t>3</a:t>
            </a:r>
          </a:p>
        </p:txBody>
      </p:sp>
      <p:sp>
        <p:nvSpPr>
          <p:cNvPr id="20" name="TextBox 19"/>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05E5C"/>
                </a:solidFill>
                <a:latin typeface="Segoe UI"/>
              </a:rPr>
              <a:t>Win Rate %</a:t>
            </a:r>
          </a:p>
        </p:txBody>
      </p:sp>
      <p:sp>
        <p:nvSpPr>
          <p:cNvPr id="21" name="TextBox 20"/>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05E5C"/>
                </a:solidFill>
                <a:latin typeface="Segoe UI"/>
              </a:rPr>
              <a:t>ASP vs Peer</a:t>
            </a:r>
          </a:p>
        </p:txBody>
      </p:sp>
      <p:sp>
        <p:nvSpPr>
          <p:cNvPr id="22" name="Oval 21"/>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EcoFlow</a:t>
            </a:r>
          </a:p>
        </p:txBody>
      </p:sp>
      <p:sp>
        <p:nvSpPr>
          <p:cNvPr id="24" name="Oval 23"/>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Industry Avg.</a:t>
            </a:r>
          </a:p>
        </p:txBody>
      </p:sp>
      <p:sp>
        <p:nvSpPr>
          <p:cNvPr id="26" name="Oval 25"/>
          <p:cNvSpPr/>
          <p:nvPr/>
        </p:nvSpPr>
        <p:spPr>
          <a:xfrm>
            <a:off x="10513967" y="2711164"/>
            <a:ext cx="247650" cy="247650"/>
          </a:xfrm>
          <a:prstGeom prst="ellipse">
            <a:avLst/>
          </a:prstGeom>
          <a:solidFill>
            <a:srgbClr val="2F6FB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Market Leader</a:t>
            </a:r>
          </a:p>
        </p:txBody>
      </p:sp>
      <p:sp>
        <p:nvSpPr>
          <p:cNvPr id="28" name="Rectangle 27"/>
          <p:cNvSpPr/>
          <p:nvPr/>
        </p:nvSpPr>
        <p:spPr>
          <a:xfrm>
            <a:off x="142875" y="3635794"/>
            <a:ext cx="5905500" cy="166108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TAM · SAM · SOM (US$ Mn)</a:t>
            </a:r>
          </a:p>
        </p:txBody>
      </p:sp>
      <p:sp>
        <p:nvSpPr>
          <p:cNvPr id="30" name="Rectangle 29"/>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TAM  ·  100%  ·  1,950 US$ Mn</a:t>
            </a:r>
          </a:p>
        </p:txBody>
      </p:sp>
      <p:sp>
        <p:nvSpPr>
          <p:cNvPr id="31" name="Rectangle 30"/>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
            </a:r>
          </a:p>
        </p:txBody>
      </p:sp>
      <p:sp>
        <p:nvSpPr>
          <p:cNvPr id="32" name="Rectangle 31"/>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
            </a:r>
          </a:p>
        </p:txBody>
      </p:sp>
      <p:sp>
        <p:nvSpPr>
          <p:cNvPr id="33" name="Rectangle 32"/>
          <p:cNvSpPr/>
          <p:nvPr/>
        </p:nvSpPr>
        <p:spPr>
          <a:xfrm>
            <a:off x="6162675" y="3635794"/>
            <a:ext cx="5886450" cy="166108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Go-to-Market Benchmarks (Target vs Actual)</a:t>
            </a:r>
          </a:p>
        </p:txBody>
      </p:sp>
      <p:sp>
        <p:nvSpPr>
          <p:cNvPr id="35" name="Rectangle 34"/>
          <p:cNvSpPr/>
          <p:nvPr/>
        </p:nvSpPr>
        <p:spPr>
          <a:xfrm>
            <a:off x="10391775" y="3940594"/>
            <a:ext cx="95250" cy="95250"/>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52423"/>
                </a:solidFill>
                <a:latin typeface="Segoe UI"/>
              </a:rPr>
              <a:t>Target</a:t>
            </a:r>
          </a:p>
        </p:txBody>
      </p:sp>
      <p:sp>
        <p:nvSpPr>
          <p:cNvPr id="37" name="Rectangle 36"/>
          <p:cNvSpPr/>
          <p:nvPr/>
        </p:nvSpPr>
        <p:spPr>
          <a:xfrm>
            <a:off x="11134725" y="3940594"/>
            <a:ext cx="95250" cy="95250"/>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52423"/>
                </a:solidFill>
                <a:latin typeface="Segoe UI"/>
              </a:rPr>
              <a:t>Actual</a:t>
            </a:r>
          </a:p>
        </p:txBody>
      </p:sp>
      <p:sp>
        <p:nvSpPr>
          <p:cNvPr id="39" name="TextBox 38"/>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Conversion (%)</a:t>
            </a:r>
          </a:p>
        </p:txBody>
      </p:sp>
      <p:sp>
        <p:nvSpPr>
          <p:cNvPr id="40" name="Rectangle 39"/>
          <p:cNvSpPr/>
          <p:nvPr/>
        </p:nvSpPr>
        <p:spPr>
          <a:xfrm>
            <a:off x="7381875" y="4164998"/>
            <a:ext cx="1597914"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81875" y="4277766"/>
            <a:ext cx="3018282"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Sales Cycle (Days)</a:t>
            </a:r>
          </a:p>
        </p:txBody>
      </p:sp>
      <p:sp>
        <p:nvSpPr>
          <p:cNvPr id="43" name="Rectangle 42"/>
          <p:cNvSpPr/>
          <p:nvPr/>
        </p:nvSpPr>
        <p:spPr>
          <a:xfrm>
            <a:off x="7381875" y="4477393"/>
            <a:ext cx="3817239"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81875" y="4590162"/>
            <a:ext cx="2219325"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Pipeline Coverage</a:t>
            </a:r>
          </a:p>
        </p:txBody>
      </p:sp>
      <p:sp>
        <p:nvSpPr>
          <p:cNvPr id="46" name="Rectangle 45"/>
          <p:cNvSpPr/>
          <p:nvPr/>
        </p:nvSpPr>
        <p:spPr>
          <a:xfrm>
            <a:off x="7381875" y="4789789"/>
            <a:ext cx="2130552"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1875" y="4902557"/>
            <a:ext cx="3906012"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2875" y="5369895"/>
            <a:ext cx="11906250" cy="12595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50" name="Rectangle 49"/>
          <p:cNvSpPr/>
          <p:nvPr/>
        </p:nvSpPr>
        <p:spPr>
          <a:xfrm>
            <a:off x="276225" y="569374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52" name="TextBox 5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493006"/>
            <a:ext cx="480404" cy="194310"/>
          </a:xfrm>
          <a:prstGeom prst="rect">
            <a:avLst/>
          </a:prstGeom>
          <a:noFill/>
        </p:spPr>
        <p:txBody>
          <a:bodyPr wrap="none" lIns="0" rIns="0" tIns="0" bIns="0">
            <a:spAutoFit/>
          </a:bodyPr>
          <a:lstStyle/>
          <a:p>
            <a:r>
              <a:rPr sz="1150" b="1">
                <a:solidFill>
                  <a:srgbClr val="FFFFFF"/>
                </a:solidFill>
                <a:latin typeface="Segoe UI"/>
              </a:rPr>
              <a:t>SAM ·</a:t>
            </a:r>
          </a:p>
        </p:txBody>
      </p:sp>
      <p:pic>
        <p:nvPicPr>
          <p:cNvPr id="55" name="Picture 54" descr="lock.png"/>
          <p:cNvPicPr>
            <a:picLocks noChangeAspect="1"/>
          </p:cNvPicPr>
          <p:nvPr/>
        </p:nvPicPr>
        <p:blipFill>
          <a:blip r:embed="rId5"/>
          <a:stretch>
            <a:fillRect/>
          </a:stretch>
        </p:blipFill>
        <p:spPr>
          <a:xfrm>
            <a:off x="781983" y="4482783"/>
            <a:ext cx="134549" cy="195707"/>
          </a:xfrm>
          <a:prstGeom prst="rect">
            <a:avLst/>
          </a:prstGeom>
        </p:spPr>
      </p:pic>
      <p:sp>
        <p:nvSpPr>
          <p:cNvPr id="56" name="TextBox 55"/>
          <p:cNvSpPr txBox="1"/>
          <p:nvPr/>
        </p:nvSpPr>
        <p:spPr>
          <a:xfrm>
            <a:off x="957092" y="4493006"/>
            <a:ext cx="669332" cy="194310"/>
          </a:xfrm>
          <a:prstGeom prst="rect">
            <a:avLst/>
          </a:prstGeom>
          <a:noFill/>
        </p:spPr>
        <p:txBody>
          <a:bodyPr wrap="none" lIns="0" rIns="0" tIns="0" bIns="0">
            <a:spAutoFit/>
          </a:bodyPr>
          <a:lstStyle/>
          <a:p>
            <a:r>
              <a:rPr sz="1150" b="1">
                <a:solidFill>
                  <a:srgbClr val="FFFFFF"/>
                </a:solidFill>
                <a:latin typeface="Segoe UI"/>
              </a:rPr>
              <a:t>of TAM ·</a:t>
            </a:r>
          </a:p>
        </p:txBody>
      </p:sp>
      <p:pic>
        <p:nvPicPr>
          <p:cNvPr id="57" name="Picture 56" descr="lock.png"/>
          <p:cNvPicPr>
            <a:picLocks noChangeAspect="1"/>
          </p:cNvPicPr>
          <p:nvPr/>
        </p:nvPicPr>
        <p:blipFill>
          <a:blip r:embed="rId5"/>
          <a:stretch>
            <a:fillRect/>
          </a:stretch>
        </p:blipFill>
        <p:spPr>
          <a:xfrm>
            <a:off x="1575578" y="4482783"/>
            <a:ext cx="134549" cy="195707"/>
          </a:xfrm>
          <a:prstGeom prst="rect">
            <a:avLst/>
          </a:prstGeom>
        </p:spPr>
      </p:pic>
      <p:sp>
        <p:nvSpPr>
          <p:cNvPr id="58" name="TextBox 57"/>
          <p:cNvSpPr txBox="1"/>
          <p:nvPr/>
        </p:nvSpPr>
        <p:spPr>
          <a:xfrm>
            <a:off x="1750688" y="4493006"/>
            <a:ext cx="616185" cy="194310"/>
          </a:xfrm>
          <a:prstGeom prst="rect">
            <a:avLst/>
          </a:prstGeom>
          <a:noFill/>
        </p:spPr>
        <p:txBody>
          <a:bodyPr wrap="none" lIns="0" rIns="0" tIns="0" bIns="0">
            <a:spAutoFit/>
          </a:bodyPr>
          <a:lstStyle/>
          <a:p>
            <a:r>
              <a:rPr sz="1150" b="1">
                <a:solidFill>
                  <a:srgbClr val="FFFFFF"/>
                </a:solidFill>
                <a:latin typeface="Segoe UI"/>
              </a:rPr>
              <a:t>US$ Mn</a:t>
            </a:r>
          </a:p>
        </p:txBody>
      </p:sp>
      <p:sp>
        <p:nvSpPr>
          <p:cNvPr id="59" name="TextBox 58"/>
          <p:cNvSpPr txBox="1"/>
          <p:nvPr/>
        </p:nvSpPr>
        <p:spPr>
          <a:xfrm>
            <a:off x="352425" y="4970502"/>
            <a:ext cx="488391" cy="194310"/>
          </a:xfrm>
          <a:prstGeom prst="rect">
            <a:avLst/>
          </a:prstGeom>
          <a:noFill/>
        </p:spPr>
        <p:txBody>
          <a:bodyPr wrap="none" lIns="0" rIns="0" tIns="0" bIns="0">
            <a:spAutoFit/>
          </a:bodyPr>
          <a:lstStyle/>
          <a:p>
            <a:r>
              <a:rPr sz="1150" b="1">
                <a:solidFill>
                  <a:srgbClr val="FFFFFF"/>
                </a:solidFill>
                <a:latin typeface="Segoe UI"/>
              </a:rPr>
              <a:t>SOM ·</a:t>
            </a:r>
          </a:p>
        </p:txBody>
      </p:sp>
      <p:pic>
        <p:nvPicPr>
          <p:cNvPr id="60" name="Picture 59" descr="lock.png"/>
          <p:cNvPicPr>
            <a:picLocks noChangeAspect="1"/>
          </p:cNvPicPr>
          <p:nvPr/>
        </p:nvPicPr>
        <p:blipFill>
          <a:blip r:embed="rId5"/>
          <a:stretch>
            <a:fillRect/>
          </a:stretch>
        </p:blipFill>
        <p:spPr>
          <a:xfrm>
            <a:off x="789970" y="4960279"/>
            <a:ext cx="134549" cy="195707"/>
          </a:xfrm>
          <a:prstGeom prst="rect">
            <a:avLst/>
          </a:prstGeom>
        </p:spPr>
      </p:pic>
      <p:sp>
        <p:nvSpPr>
          <p:cNvPr id="61" name="TextBox 60"/>
          <p:cNvSpPr txBox="1"/>
          <p:nvPr/>
        </p:nvSpPr>
        <p:spPr>
          <a:xfrm>
            <a:off x="965080" y="4970502"/>
            <a:ext cx="665784" cy="194310"/>
          </a:xfrm>
          <a:prstGeom prst="rect">
            <a:avLst/>
          </a:prstGeom>
          <a:noFill/>
        </p:spPr>
        <p:txBody>
          <a:bodyPr wrap="none" lIns="0" rIns="0" tIns="0" bIns="0">
            <a:spAutoFit/>
          </a:bodyPr>
          <a:lstStyle/>
          <a:p>
            <a:r>
              <a:rPr sz="1150" b="1">
                <a:solidFill>
                  <a:srgbClr val="FFFFFF"/>
                </a:solidFill>
                <a:latin typeface="Segoe UI"/>
              </a:rPr>
              <a:t>of SAM ·</a:t>
            </a:r>
          </a:p>
        </p:txBody>
      </p:sp>
      <p:pic>
        <p:nvPicPr>
          <p:cNvPr id="62" name="Picture 61" descr="lock.png"/>
          <p:cNvPicPr>
            <a:picLocks noChangeAspect="1"/>
          </p:cNvPicPr>
          <p:nvPr/>
        </p:nvPicPr>
        <p:blipFill>
          <a:blip r:embed="rId5"/>
          <a:stretch>
            <a:fillRect/>
          </a:stretch>
        </p:blipFill>
        <p:spPr>
          <a:xfrm>
            <a:off x="1580018" y="4960279"/>
            <a:ext cx="134549" cy="195707"/>
          </a:xfrm>
          <a:prstGeom prst="rect">
            <a:avLst/>
          </a:prstGeom>
        </p:spPr>
      </p:pic>
      <p:sp>
        <p:nvSpPr>
          <p:cNvPr id="63" name="TextBox 62"/>
          <p:cNvSpPr txBox="1"/>
          <p:nvPr/>
        </p:nvSpPr>
        <p:spPr>
          <a:xfrm>
            <a:off x="1755127" y="4970502"/>
            <a:ext cx="616185" cy="194310"/>
          </a:xfrm>
          <a:prstGeom prst="rect">
            <a:avLst/>
          </a:prstGeom>
          <a:noFill/>
        </p:spPr>
        <p:txBody>
          <a:bodyPr wrap="none" lIns="0" rIns="0" tIns="0" bIns="0">
            <a:spAutoFit/>
          </a:bodyPr>
          <a:lstStyle/>
          <a:p>
            <a:r>
              <a:rPr sz="1150" b="1">
                <a:solidFill>
                  <a:srgbClr val="FFFFFF"/>
                </a:solidFill>
                <a:latin typeface="Segoe UI"/>
              </a:rPr>
              <a:t>US$ Mn</a:t>
            </a:r>
          </a:p>
        </p:txBody>
      </p:sp>
      <p:sp>
        <p:nvSpPr>
          <p:cNvPr id="64" name="TextBox 63"/>
          <p:cNvSpPr txBox="1"/>
          <p:nvPr/>
        </p:nvSpPr>
        <p:spPr>
          <a:xfrm>
            <a:off x="276225" y="5788995"/>
            <a:ext cx="8271160" cy="186689"/>
          </a:xfrm>
          <a:prstGeom prst="rect">
            <a:avLst/>
          </a:prstGeom>
          <a:noFill/>
        </p:spPr>
        <p:txBody>
          <a:bodyPr wrap="none" lIns="0" rIns="0" tIns="0" bIns="0">
            <a:spAutoFit/>
          </a:bodyPr>
          <a:lstStyle/>
          <a:p>
            <a:r>
              <a:rPr sz="1100" b="0">
                <a:solidFill>
                  <a:srgbClr val="252423"/>
                </a:solidFill>
                <a:latin typeface="Segoe UI"/>
              </a:rPr>
              <a:t>▪ Regional Opportunity: 'Rest of the World' shows the highest SAM penetration; lower-penetration regions are the growth headroom.</a:t>
            </a:r>
          </a:p>
        </p:txBody>
      </p:sp>
      <p:sp>
        <p:nvSpPr>
          <p:cNvPr id="65" name="TextBox 64"/>
          <p:cNvSpPr txBox="1"/>
          <p:nvPr/>
        </p:nvSpPr>
        <p:spPr>
          <a:xfrm>
            <a:off x="276225" y="6006927"/>
            <a:ext cx="1421072" cy="186689"/>
          </a:xfrm>
          <a:prstGeom prst="rect">
            <a:avLst/>
          </a:prstGeom>
          <a:noFill/>
        </p:spPr>
        <p:txBody>
          <a:bodyPr wrap="none" lIns="0" rIns="0" tIns="0" bIns="0">
            <a:spAutoFit/>
          </a:bodyPr>
          <a:lstStyle/>
          <a:p>
            <a:r>
              <a:rPr sz="1100" b="0">
                <a:solidFill>
                  <a:srgbClr val="252423"/>
                </a:solidFill>
                <a:latin typeface="Segoe UI"/>
              </a:rPr>
              <a:t>▪ Competitive Edge: ~</a:t>
            </a:r>
          </a:p>
        </p:txBody>
      </p:sp>
      <p:pic>
        <p:nvPicPr>
          <p:cNvPr id="66" name="Picture 65" descr="lock.png"/>
          <p:cNvPicPr>
            <a:picLocks noChangeAspect="1"/>
          </p:cNvPicPr>
          <p:nvPr/>
        </p:nvPicPr>
        <p:blipFill>
          <a:blip r:embed="rId5"/>
          <a:stretch>
            <a:fillRect/>
          </a:stretch>
        </p:blipFill>
        <p:spPr>
          <a:xfrm>
            <a:off x="1645349" y="5997147"/>
            <a:ext cx="128699" cy="187198"/>
          </a:xfrm>
          <a:prstGeom prst="rect">
            <a:avLst/>
          </a:prstGeom>
        </p:spPr>
      </p:pic>
      <p:sp>
        <p:nvSpPr>
          <p:cNvPr id="67" name="TextBox 66"/>
          <p:cNvSpPr txBox="1"/>
          <p:nvPr/>
        </p:nvSpPr>
        <p:spPr>
          <a:xfrm>
            <a:off x="1812844" y="6006927"/>
            <a:ext cx="1111381" cy="186689"/>
          </a:xfrm>
          <a:prstGeom prst="rect">
            <a:avLst/>
          </a:prstGeom>
          <a:noFill/>
        </p:spPr>
        <p:txBody>
          <a:bodyPr wrap="none" lIns="0" rIns="0" tIns="0" bIns="0">
            <a:spAutoFit/>
          </a:bodyPr>
          <a:lstStyle/>
          <a:p>
            <a:r>
              <a:rPr sz="1100" b="0">
                <a:solidFill>
                  <a:srgbClr val="252423"/>
                </a:solidFill>
                <a:latin typeface="Segoe UI"/>
              </a:rPr>
              <a:t>win rate with a +</a:t>
            </a:r>
          </a:p>
        </p:txBody>
      </p:sp>
      <p:pic>
        <p:nvPicPr>
          <p:cNvPr id="68" name="Picture 67" descr="lock.png"/>
          <p:cNvPicPr>
            <a:picLocks noChangeAspect="1"/>
          </p:cNvPicPr>
          <p:nvPr/>
        </p:nvPicPr>
        <p:blipFill>
          <a:blip r:embed="rId5"/>
          <a:stretch>
            <a:fillRect/>
          </a:stretch>
        </p:blipFill>
        <p:spPr>
          <a:xfrm>
            <a:off x="2872278" y="5997147"/>
            <a:ext cx="128699" cy="187198"/>
          </a:xfrm>
          <a:prstGeom prst="rect">
            <a:avLst/>
          </a:prstGeom>
        </p:spPr>
      </p:pic>
      <p:sp>
        <p:nvSpPr>
          <p:cNvPr id="69" name="TextBox 68"/>
          <p:cNvSpPr txBox="1"/>
          <p:nvPr/>
        </p:nvSpPr>
        <p:spPr>
          <a:xfrm>
            <a:off x="3039774" y="6006927"/>
            <a:ext cx="2508027" cy="186689"/>
          </a:xfrm>
          <a:prstGeom prst="rect">
            <a:avLst/>
          </a:prstGeom>
          <a:noFill/>
        </p:spPr>
        <p:txBody>
          <a:bodyPr wrap="none" lIns="0" rIns="0" tIns="0" bIns="0">
            <a:spAutoFit/>
          </a:bodyPr>
          <a:lstStyle/>
          <a:p>
            <a:r>
              <a:rPr sz="1100" b="0">
                <a:solidFill>
                  <a:srgbClr val="252423"/>
                </a:solidFill>
                <a:latin typeface="Segoe UI"/>
              </a:rPr>
              <a:t>ASP premium signals value recognition;</a:t>
            </a:r>
          </a:p>
        </p:txBody>
      </p:sp>
      <p:pic>
        <p:nvPicPr>
          <p:cNvPr id="70" name="Picture 69" descr="lock.png"/>
          <p:cNvPicPr>
            <a:picLocks noChangeAspect="1"/>
          </p:cNvPicPr>
          <p:nvPr/>
        </p:nvPicPr>
        <p:blipFill>
          <a:blip r:embed="rId5"/>
          <a:stretch>
            <a:fillRect/>
          </a:stretch>
        </p:blipFill>
        <p:spPr>
          <a:xfrm>
            <a:off x="5495853" y="5997147"/>
            <a:ext cx="128699" cy="187198"/>
          </a:xfrm>
          <a:prstGeom prst="rect">
            <a:avLst/>
          </a:prstGeom>
        </p:spPr>
      </p:pic>
      <p:sp>
        <p:nvSpPr>
          <p:cNvPr id="71" name="TextBox 70"/>
          <p:cNvSpPr txBox="1"/>
          <p:nvPr/>
        </p:nvSpPr>
        <p:spPr>
          <a:xfrm>
            <a:off x="5663349" y="6006927"/>
            <a:ext cx="2433322" cy="186689"/>
          </a:xfrm>
          <a:prstGeom prst="rect">
            <a:avLst/>
          </a:prstGeom>
          <a:noFill/>
        </p:spPr>
        <p:txBody>
          <a:bodyPr wrap="none" lIns="0" rIns="0" tIns="0" bIns="0">
            <a:spAutoFit/>
          </a:bodyPr>
          <a:lstStyle/>
          <a:p>
            <a:r>
              <a:rPr sz="1100" b="0">
                <a:solidFill>
                  <a:srgbClr val="252423"/>
                </a:solidFill>
                <a:latin typeface="Segoe UI"/>
              </a:rPr>
              <a:t>x pipeline coverage underpins growth.</a:t>
            </a:r>
          </a:p>
        </p:txBody>
      </p:sp>
      <p:sp>
        <p:nvSpPr>
          <p:cNvPr id="72" name="TextBox 71"/>
          <p:cNvSpPr txBox="1"/>
          <p:nvPr/>
        </p:nvSpPr>
        <p:spPr>
          <a:xfrm>
            <a:off x="276225" y="6224859"/>
            <a:ext cx="2871282" cy="186689"/>
          </a:xfrm>
          <a:prstGeom prst="rect">
            <a:avLst/>
          </a:prstGeom>
          <a:noFill/>
        </p:spPr>
        <p:txBody>
          <a:bodyPr wrap="none" lIns="0" rIns="0" tIns="0" bIns="0">
            <a:spAutoFit/>
          </a:bodyPr>
          <a:lstStyle/>
          <a:p>
            <a:r>
              <a:rPr sz="1100" b="0">
                <a:solidFill>
                  <a:srgbClr val="252423"/>
                </a:solidFill>
                <a:latin typeface="Segoe UI"/>
              </a:rPr>
              <a:t>▪ Sales Efficiency: a ~95-day sales cycle and ~</a:t>
            </a:r>
          </a:p>
        </p:txBody>
      </p:sp>
      <p:pic>
        <p:nvPicPr>
          <p:cNvPr id="73" name="Picture 72" descr="lock.png"/>
          <p:cNvPicPr>
            <a:picLocks noChangeAspect="1"/>
          </p:cNvPicPr>
          <p:nvPr/>
        </p:nvPicPr>
        <p:blipFill>
          <a:blip r:embed="rId5"/>
          <a:stretch>
            <a:fillRect/>
          </a:stretch>
        </p:blipFill>
        <p:spPr>
          <a:xfrm>
            <a:off x="3095559" y="6215079"/>
            <a:ext cx="128699" cy="187198"/>
          </a:xfrm>
          <a:prstGeom prst="rect">
            <a:avLst/>
          </a:prstGeom>
        </p:spPr>
      </p:pic>
      <p:sp>
        <p:nvSpPr>
          <p:cNvPr id="74" name="TextBox 73"/>
          <p:cNvSpPr txBox="1"/>
          <p:nvPr/>
        </p:nvSpPr>
        <p:spPr>
          <a:xfrm>
            <a:off x="3263055" y="6224859"/>
            <a:ext cx="2548772" cy="186689"/>
          </a:xfrm>
          <a:prstGeom prst="rect">
            <a:avLst/>
          </a:prstGeom>
          <a:noFill/>
        </p:spPr>
        <p:txBody>
          <a:bodyPr wrap="none" lIns="0" rIns="0" tIns="0" bIns="0">
            <a:spAutoFit/>
          </a:bodyPr>
          <a:lstStyle/>
          <a:p>
            <a:r>
              <a:rPr sz="1100" b="0">
                <a:solidFill>
                  <a:srgbClr val="252423"/>
                </a:solidFill>
                <a:latin typeface="Segoe UI"/>
              </a:rPr>
              <a:t>conversion support faster share capture.</a:t>
            </a:r>
          </a:p>
        </p:txBody>
      </p:sp>
      <p:sp>
        <p:nvSpPr>
          <p:cNvPr id="75" name="lockshield_11"/>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EcoFlow SWOT Analysis (3/5)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SWOT assessment of EcoFlow: strengths, weaknesses, opportunities and threats shaping its competitive position</a:t>
            </a:r>
          </a:p>
        </p:txBody>
      </p:sp>
      <p:sp>
        <p:nvSpPr>
          <p:cNvPr id="8" name="TextBox 7"/>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52423"/>
                </a:solidFill>
                <a:latin typeface="Segoe UI"/>
              </a:rPr>
              <a:t>SWOT assessment EcoFlow: strengths, weaknesses, opportunities and threats (indicative).</a:t>
            </a:r>
          </a:p>
        </p:txBody>
      </p:sp>
      <p:cxnSp>
        <p:nvCxnSpPr>
          <p:cNvPr id="9" name="Connector 8"/>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24400" y="2577079"/>
            <a:ext cx="1257300" cy="1204744"/>
          </a:xfrm>
          <a:prstGeom prst="roundRect">
            <a:avLst>
              <a:gd name="adj" fmla="val 12121"/>
            </a:avLst>
          </a:prstGeom>
          <a:noFill/>
          <a:ln w="19050">
            <a:solidFill>
              <a:srgbClr val="5B7C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300" y="2577079"/>
            <a:ext cx="1257300" cy="1204744"/>
          </a:xfrm>
          <a:prstGeom prst="roundRect">
            <a:avLst>
              <a:gd name="adj" fmla="val 12121"/>
            </a:avLst>
          </a:prstGeom>
          <a:noFill/>
          <a:ln w="19050">
            <a:solidFill>
              <a:srgbClr val="3E6E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4000868"/>
            <a:ext cx="1257300" cy="1204744"/>
          </a:xfrm>
          <a:prstGeom prst="roundRect">
            <a:avLst>
              <a:gd name="adj" fmla="val 12121"/>
            </a:avLst>
          </a:prstGeom>
          <a:noFill/>
          <a:ln w="19050">
            <a:solidFill>
              <a:srgbClr val="E883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4000868"/>
            <a:ext cx="1257300" cy="1204744"/>
          </a:xfrm>
          <a:prstGeom prst="roundRect">
            <a:avLst>
              <a:gd name="adj" fmla="val 12121"/>
            </a:avLst>
          </a:prstGeom>
          <a:noFill/>
          <a:ln w="19050">
            <a:solidFill>
              <a:srgbClr val="F2C2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F2C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3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FFFFFF"/>
                </a:solidFill>
                <a:latin typeface="Segoe UI"/>
              </a:rPr>
              <a:t>S</a:t>
            </a:r>
          </a:p>
        </p:txBody>
      </p:sp>
      <p:sp>
        <p:nvSpPr>
          <p:cNvPr id="24" name="TextBox 23"/>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1F2933"/>
                </a:solidFill>
                <a:latin typeface="Segoe UI"/>
              </a:rPr>
              <a:t>O</a:t>
            </a:r>
          </a:p>
        </p:txBody>
      </p:sp>
      <p:sp>
        <p:nvSpPr>
          <p:cNvPr id="25" name="TextBox 24"/>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1F2933"/>
                </a:solidFill>
                <a:latin typeface="Segoe UI"/>
              </a:rPr>
              <a:t>T</a:t>
            </a:r>
          </a:p>
        </p:txBody>
      </p:sp>
      <p:sp>
        <p:nvSpPr>
          <p:cNvPr id="26" name="TextBox 25"/>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Segoe UI"/>
              </a:rPr>
              <a:t>W</a:t>
            </a:r>
          </a:p>
        </p:txBody>
      </p:sp>
      <p:sp>
        <p:nvSpPr>
          <p:cNvPr id="27" name="TextBox 26"/>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4A6A85"/>
                </a:solidFill>
                <a:latin typeface="Segoe UI"/>
              </a:rPr>
              <a:t>Strengths</a:t>
            </a:r>
          </a:p>
        </p:txBody>
      </p:sp>
      <p:sp>
        <p:nvSpPr>
          <p:cNvPr id="28" name="Rectangle 27"/>
          <p:cNvSpPr/>
          <p:nvPr/>
        </p:nvSpPr>
        <p:spPr>
          <a:xfrm>
            <a:off x="190500" y="1500111"/>
            <a:ext cx="1428750" cy="18254"/>
          </a:xfrm>
          <a:prstGeom prst="rect">
            <a:avLst/>
          </a:prstGeom>
          <a:solidFill>
            <a:srgbClr val="4A6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4788" y="1605070"/>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1" name="Oval 30"/>
          <p:cNvSpPr/>
          <p:nvPr/>
        </p:nvSpPr>
        <p:spPr>
          <a:xfrm>
            <a:off x="204788" y="2116174"/>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Balanced SOM across regions and end-markets; strongest in 'North America'.</a:t>
            </a:r>
          </a:p>
        </p:txBody>
      </p:sp>
      <p:sp>
        <p:nvSpPr>
          <p:cNvPr id="33" name="Oval 32"/>
          <p:cNvSpPr/>
          <p:nvPr/>
        </p:nvSpPr>
        <p:spPr>
          <a:xfrm>
            <a:off x="204788" y="2627277"/>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5" name="TextBox 34"/>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3E6E9E"/>
                </a:solidFill>
                <a:latin typeface="Segoe UI"/>
              </a:rPr>
              <a:t>Weaknesses</a:t>
            </a:r>
          </a:p>
        </p:txBody>
      </p:sp>
      <p:sp>
        <p:nvSpPr>
          <p:cNvPr id="36" name="Rectangle 35"/>
          <p:cNvSpPr/>
          <p:nvPr/>
        </p:nvSpPr>
        <p:spPr>
          <a:xfrm>
            <a:off x="8334375" y="1500111"/>
            <a:ext cx="1428750" cy="18254"/>
          </a:xfrm>
          <a:prstGeom prst="rect">
            <a:avLst/>
          </a:prstGeom>
          <a:solidFill>
            <a:srgbClr val="3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348662" y="1605070"/>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9" name="Oval 38"/>
          <p:cNvSpPr/>
          <p:nvPr/>
        </p:nvSpPr>
        <p:spPr>
          <a:xfrm>
            <a:off x="8348662" y="2116174"/>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Uneven SAM penetration strong in 'Rest of the World', thin elsewhere.</a:t>
            </a:r>
          </a:p>
        </p:txBody>
      </p:sp>
      <p:sp>
        <p:nvSpPr>
          <p:cNvPr id="41" name="Oval 40"/>
          <p:cNvSpPr/>
          <p:nvPr/>
        </p:nvSpPr>
        <p:spPr>
          <a:xfrm>
            <a:off x="8348662" y="2627277"/>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Reliance on a few large accounts/regions raises concentration risk.</a:t>
            </a:r>
          </a:p>
        </p:txBody>
      </p:sp>
      <p:sp>
        <p:nvSpPr>
          <p:cNvPr id="43" name="TextBox 42"/>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C4611F"/>
                </a:solidFill>
                <a:latin typeface="Segoe UI"/>
              </a:rPr>
              <a:t>Threats</a:t>
            </a:r>
          </a:p>
        </p:txBody>
      </p:sp>
      <p:sp>
        <p:nvSpPr>
          <p:cNvPr id="44" name="Rectangle 43"/>
          <p:cNvSpPr/>
          <p:nvPr/>
        </p:nvSpPr>
        <p:spPr>
          <a:xfrm>
            <a:off x="190500" y="4256419"/>
            <a:ext cx="1428750" cy="18254"/>
          </a:xfrm>
          <a:prstGeom prst="rect">
            <a:avLst/>
          </a:prstGeom>
          <a:solidFill>
            <a:srgbClr val="C46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04788" y="4361379"/>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Oval 46"/>
          <p:cNvSpPr/>
          <p:nvPr/>
        </p:nvSpPr>
        <p:spPr>
          <a:xfrm>
            <a:off x="204788" y="4872482"/>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Input-cost inflation and price pressure can squeeze margin.</a:t>
            </a:r>
          </a:p>
        </p:txBody>
      </p:sp>
      <p:sp>
        <p:nvSpPr>
          <p:cNvPr id="49" name="Oval 48"/>
          <p:cNvSpPr/>
          <p:nvPr/>
        </p:nvSpPr>
        <p:spPr>
          <a:xfrm>
            <a:off x="204788" y="5383586"/>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Tier-1 incumbents and regulation raise barriers and switching friction.</a:t>
            </a:r>
          </a:p>
        </p:txBody>
      </p:sp>
      <p:sp>
        <p:nvSpPr>
          <p:cNvPr id="51" name="TextBox 50"/>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7F1F"/>
                </a:solidFill>
                <a:latin typeface="Segoe UI"/>
              </a:rPr>
              <a:t>Opportunities</a:t>
            </a:r>
          </a:p>
        </p:txBody>
      </p:sp>
      <p:sp>
        <p:nvSpPr>
          <p:cNvPr id="52" name="Rectangle 51"/>
          <p:cNvSpPr/>
          <p:nvPr/>
        </p:nvSpPr>
        <p:spPr>
          <a:xfrm>
            <a:off x="8334375" y="4256419"/>
            <a:ext cx="1428750" cy="18254"/>
          </a:xfrm>
          <a:prstGeom prst="rect">
            <a:avLst/>
          </a:prstGeom>
          <a:solidFill>
            <a:srgbClr val="A87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348662" y="4361379"/>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Premiumisation headroom in '1,500 Wh to 2,000 Wh' and adjacent high-value lines.</a:t>
            </a:r>
          </a:p>
        </p:txBody>
      </p:sp>
      <p:sp>
        <p:nvSpPr>
          <p:cNvPr id="55" name="Oval 54"/>
          <p:cNvSpPr/>
          <p:nvPr/>
        </p:nvSpPr>
        <p:spPr>
          <a:xfrm>
            <a:off x="8348662" y="4872482"/>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Under-penetrated regions offer share-capture runway.</a:t>
            </a:r>
          </a:p>
        </p:txBody>
      </p:sp>
      <p:sp>
        <p:nvSpPr>
          <p:cNvPr id="57" name="Oval 56"/>
          <p:cNvSpPr/>
          <p:nvPr/>
        </p:nvSpPr>
        <p:spPr>
          <a:xfrm>
            <a:off x="8348662" y="5383586"/>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Channel shift to online and clinics opens new demand pools.</a:t>
            </a:r>
          </a:p>
        </p:txBody>
      </p:sp>
      <p:sp>
        <p:nvSpPr>
          <p:cNvPr id="59" name="TextBox 58"/>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Segoe UI"/>
              </a:rPr>
              <a:t>Note: competitor figures are indicative derived from market modelling and expert validation, not company disclosures.</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361950" y="1642784"/>
            <a:ext cx="17169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62" name="Picture 61" descr="lock.png"/>
          <p:cNvPicPr>
            <a:picLocks noChangeAspect="1"/>
          </p:cNvPicPr>
          <p:nvPr/>
        </p:nvPicPr>
        <p:blipFill>
          <a:blip r:embed="rId4"/>
          <a:stretch>
            <a:fillRect/>
          </a:stretch>
        </p:blipFill>
        <p:spPr>
          <a:xfrm>
            <a:off x="481699" y="1633005"/>
            <a:ext cx="128699" cy="187198"/>
          </a:xfrm>
          <a:prstGeom prst="rect">
            <a:avLst/>
          </a:prstGeom>
        </p:spPr>
      </p:pic>
      <p:sp>
        <p:nvSpPr>
          <p:cNvPr id="63" name="TextBox 62"/>
          <p:cNvSpPr txBox="1"/>
          <p:nvPr/>
        </p:nvSpPr>
        <p:spPr>
          <a:xfrm>
            <a:off x="649195" y="1642784"/>
            <a:ext cx="1111381" cy="186689"/>
          </a:xfrm>
          <a:prstGeom prst="rect">
            <a:avLst/>
          </a:prstGeom>
          <a:noFill/>
        </p:spPr>
        <p:txBody>
          <a:bodyPr wrap="none" lIns="0" rIns="0" tIns="0" bIns="0">
            <a:spAutoFit/>
          </a:bodyPr>
          <a:lstStyle/>
          <a:p>
            <a:r>
              <a:rPr sz="1100" b="0">
                <a:solidFill>
                  <a:srgbClr val="252423"/>
                </a:solidFill>
                <a:latin typeface="Segoe UI"/>
              </a:rPr>
              <a:t>win rate with a +</a:t>
            </a:r>
          </a:p>
        </p:txBody>
      </p:sp>
      <p:pic>
        <p:nvPicPr>
          <p:cNvPr id="64" name="Picture 63" descr="lock.png"/>
          <p:cNvPicPr>
            <a:picLocks noChangeAspect="1"/>
          </p:cNvPicPr>
          <p:nvPr/>
        </p:nvPicPr>
        <p:blipFill>
          <a:blip r:embed="rId4"/>
          <a:stretch>
            <a:fillRect/>
          </a:stretch>
        </p:blipFill>
        <p:spPr>
          <a:xfrm>
            <a:off x="1708628" y="1633005"/>
            <a:ext cx="128699" cy="187198"/>
          </a:xfrm>
          <a:prstGeom prst="rect">
            <a:avLst/>
          </a:prstGeom>
        </p:spPr>
      </p:pic>
      <p:sp>
        <p:nvSpPr>
          <p:cNvPr id="65" name="TextBox 64"/>
          <p:cNvSpPr txBox="1"/>
          <p:nvPr/>
        </p:nvSpPr>
        <p:spPr>
          <a:xfrm>
            <a:off x="1876124" y="1642784"/>
            <a:ext cx="1606283" cy="186689"/>
          </a:xfrm>
          <a:prstGeom prst="rect">
            <a:avLst/>
          </a:prstGeom>
          <a:noFill/>
        </p:spPr>
        <p:txBody>
          <a:bodyPr wrap="none" lIns="0" rIns="0" tIns="0" bIns="0">
            <a:spAutoFit/>
          </a:bodyPr>
          <a:lstStyle/>
          <a:p>
            <a:r>
              <a:rPr sz="1100" b="0">
                <a:solidFill>
                  <a:srgbClr val="252423"/>
                </a:solidFill>
                <a:latin typeface="Segoe UI"/>
              </a:rPr>
              <a:t>ASP premium clear value</a:t>
            </a:r>
          </a:p>
        </p:txBody>
      </p:sp>
      <p:sp>
        <p:nvSpPr>
          <p:cNvPr id="66" name="TextBox 65"/>
          <p:cNvSpPr txBox="1"/>
          <p:nvPr/>
        </p:nvSpPr>
        <p:spPr>
          <a:xfrm>
            <a:off x="361950" y="1810424"/>
            <a:ext cx="812323" cy="186689"/>
          </a:xfrm>
          <a:prstGeom prst="rect">
            <a:avLst/>
          </a:prstGeom>
          <a:noFill/>
        </p:spPr>
        <p:txBody>
          <a:bodyPr wrap="none" lIns="0" rIns="0" tIns="0" bIns="0">
            <a:spAutoFit/>
          </a:bodyPr>
          <a:lstStyle/>
          <a:p>
            <a:r>
              <a:rPr sz="1100" b="0">
                <a:solidFill>
                  <a:srgbClr val="252423"/>
                </a:solidFill>
                <a:latin typeface="Segoe U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220918" cy="186689"/>
          </a:xfrm>
          <a:prstGeom prst="rect">
            <a:avLst/>
          </a:prstGeom>
          <a:noFill/>
        </p:spPr>
        <p:txBody>
          <a:bodyPr wrap="none" lIns="0" rIns="0" tIns="0" bIns="0">
            <a:spAutoFit/>
          </a:bodyPr>
          <a:lstStyle/>
          <a:p>
            <a:r>
              <a:rPr sz="1100" b="0">
                <a:solidFill>
                  <a:srgbClr val="252423"/>
                </a:solidFill>
                <a:latin typeface="Segoe UI"/>
              </a:rPr>
              <a:t>book-to-bill and ~</a:t>
            </a:r>
          </a:p>
        </p:txBody>
      </p:sp>
      <p:pic>
        <p:nvPicPr>
          <p:cNvPr id="69" name="Picture 68" descr="lock.png"/>
          <p:cNvPicPr>
            <a:picLocks noChangeAspect="1"/>
          </p:cNvPicPr>
          <p:nvPr/>
        </p:nvPicPr>
        <p:blipFill>
          <a:blip r:embed="rId4"/>
          <a:stretch>
            <a:fillRect/>
          </a:stretch>
        </p:blipFill>
        <p:spPr>
          <a:xfrm>
            <a:off x="1684948" y="2655212"/>
            <a:ext cx="128699" cy="187198"/>
          </a:xfrm>
          <a:prstGeom prst="rect">
            <a:avLst/>
          </a:prstGeom>
        </p:spPr>
      </p:pic>
      <p:sp>
        <p:nvSpPr>
          <p:cNvPr id="70" name="TextBox 69"/>
          <p:cNvSpPr txBox="1"/>
          <p:nvPr/>
        </p:nvSpPr>
        <p:spPr>
          <a:xfrm>
            <a:off x="1852444" y="2664991"/>
            <a:ext cx="1412865" cy="186689"/>
          </a:xfrm>
          <a:prstGeom prst="rect">
            <a:avLst/>
          </a:prstGeom>
          <a:noFill/>
        </p:spPr>
        <p:txBody>
          <a:bodyPr wrap="none" lIns="0" rIns="0" tIns="0" bIns="0">
            <a:spAutoFit/>
          </a:bodyPr>
          <a:lstStyle/>
          <a:p>
            <a:r>
              <a:rPr sz="1100" b="0">
                <a:solidFill>
                  <a:srgbClr val="252423"/>
                </a:solidFill>
                <a:latin typeface="Segoe UI"/>
              </a:rPr>
              <a:t>EBITDA signal healthy</a:t>
            </a:r>
          </a:p>
        </p:txBody>
      </p:sp>
      <p:sp>
        <p:nvSpPr>
          <p:cNvPr id="71" name="TextBox 70"/>
          <p:cNvSpPr txBox="1"/>
          <p:nvPr/>
        </p:nvSpPr>
        <p:spPr>
          <a:xfrm>
            <a:off x="361950" y="2832631"/>
            <a:ext cx="828178" cy="186689"/>
          </a:xfrm>
          <a:prstGeom prst="rect">
            <a:avLst/>
          </a:prstGeom>
          <a:noFill/>
        </p:spPr>
        <p:txBody>
          <a:bodyPr wrap="none" lIns="0" rIns="0" tIns="0" bIns="0">
            <a:spAutoFit/>
          </a:bodyPr>
          <a:lstStyle/>
          <a:p>
            <a:r>
              <a:rPr sz="1100" b="0">
                <a:solidFill>
                  <a:srgbClr val="252423"/>
                </a:solidFill>
                <a:latin typeface="Segoe UI"/>
              </a:rPr>
              <a:t>momentum.</a:t>
            </a:r>
          </a:p>
        </p:txBody>
      </p:sp>
      <p:sp>
        <p:nvSpPr>
          <p:cNvPr id="72" name="TextBox 71"/>
          <p:cNvSpPr txBox="1"/>
          <p:nvPr/>
        </p:nvSpPr>
        <p:spPr>
          <a:xfrm>
            <a:off x="8505825" y="1726603"/>
            <a:ext cx="17169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73" name="Picture 72" descr="lock.png"/>
          <p:cNvPicPr>
            <a:picLocks noChangeAspect="1"/>
          </p:cNvPicPr>
          <p:nvPr/>
        </p:nvPicPr>
        <p:blipFill>
          <a:blip r:embed="rId4"/>
          <a:stretch>
            <a:fillRect/>
          </a:stretch>
        </p:blipFill>
        <p:spPr>
          <a:xfrm>
            <a:off x="8625574" y="1716825"/>
            <a:ext cx="128699" cy="187198"/>
          </a:xfrm>
          <a:prstGeom prst="rect">
            <a:avLst/>
          </a:prstGeom>
        </p:spPr>
      </p:pic>
      <p:sp>
        <p:nvSpPr>
          <p:cNvPr id="74" name="TextBox 73"/>
          <p:cNvSpPr txBox="1"/>
          <p:nvPr/>
        </p:nvSpPr>
        <p:spPr>
          <a:xfrm>
            <a:off x="8793070" y="1726603"/>
            <a:ext cx="3127784" cy="186689"/>
          </a:xfrm>
          <a:prstGeom prst="rect">
            <a:avLst/>
          </a:prstGeom>
          <a:noFill/>
        </p:spPr>
        <p:txBody>
          <a:bodyPr wrap="none" lIns="0" rIns="0" tIns="0" bIns="0">
            <a:spAutoFit/>
          </a:bodyPr>
          <a:lstStyle/>
          <a:p>
            <a:r>
              <a:rPr sz="1100" b="0">
                <a:solidFill>
                  <a:srgbClr val="252423"/>
                </a:solidFill>
                <a:latin typeface="Segoe UI"/>
              </a:rPr>
              <a:t>share leaves a scale gap versus the market leader.</a:t>
            </a:r>
          </a:p>
        </p:txBody>
      </p:sp>
      <p:sp>
        <p:nvSpPr>
          <p:cNvPr id="75" name="TextBox 74"/>
          <p:cNvSpPr txBox="1"/>
          <p:nvPr/>
        </p:nvSpPr>
        <p:spPr>
          <a:xfrm>
            <a:off x="361950" y="4482912"/>
            <a:ext cx="1442077" cy="186689"/>
          </a:xfrm>
          <a:prstGeom prst="rect">
            <a:avLst/>
          </a:prstGeom>
          <a:noFill/>
        </p:spPr>
        <p:txBody>
          <a:bodyPr wrap="none" lIns="0" rIns="0" tIns="0" bIns="0">
            <a:spAutoFit/>
          </a:bodyPr>
          <a:lstStyle/>
          <a:p>
            <a:r>
              <a:rPr sz="1100" b="0">
                <a:solidFill>
                  <a:srgbClr val="252423"/>
                </a:solidFill>
                <a:latin typeface="Segoe UI"/>
              </a:rPr>
              <a:t>Intense competition ~</a:t>
            </a:r>
          </a:p>
        </p:txBody>
      </p:sp>
      <p:pic>
        <p:nvPicPr>
          <p:cNvPr id="76" name="Picture 75" descr="lock.png"/>
          <p:cNvPicPr>
            <a:picLocks noChangeAspect="1"/>
          </p:cNvPicPr>
          <p:nvPr/>
        </p:nvPicPr>
        <p:blipFill>
          <a:blip r:embed="rId4"/>
          <a:stretch>
            <a:fillRect/>
          </a:stretch>
        </p:blipFill>
        <p:spPr>
          <a:xfrm>
            <a:off x="1752079" y="4473133"/>
            <a:ext cx="128699" cy="187198"/>
          </a:xfrm>
          <a:prstGeom prst="rect">
            <a:avLst/>
          </a:prstGeom>
        </p:spPr>
      </p:pic>
      <p:sp>
        <p:nvSpPr>
          <p:cNvPr id="77" name="TextBox 76"/>
          <p:cNvSpPr txBox="1"/>
          <p:nvPr/>
        </p:nvSpPr>
        <p:spPr>
          <a:xfrm>
            <a:off x="1919575" y="4482912"/>
            <a:ext cx="1868868" cy="186689"/>
          </a:xfrm>
          <a:prstGeom prst="rect">
            <a:avLst/>
          </a:prstGeom>
          <a:noFill/>
        </p:spPr>
        <p:txBody>
          <a:bodyPr wrap="none" lIns="0" rIns="0" tIns="0" bIns="0">
            <a:spAutoFit/>
          </a:bodyPr>
          <a:lstStyle/>
          <a:p>
            <a:r>
              <a:rPr sz="1100" b="0">
                <a:solidFill>
                  <a:srgbClr val="252423"/>
                </a:solidFill>
                <a:latin typeface="Segoe UI"/>
              </a:rPr>
              <a:t>x pipeline needed to convert.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EcoFlow Key Financials (4/5)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EcoFlow's financial performance, key ratios and pricing, highlighting margin and momentum</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Key financials and pricing EcoFlow (all figures indicative, USD Mn unless noted).</a:t>
            </a:r>
          </a:p>
        </p:txBody>
      </p:sp>
      <p:sp>
        <p:nvSpPr>
          <p:cNvPr id="9" name="Rectangle 8"/>
          <p:cNvSpPr/>
          <p:nvPr/>
        </p:nvSpPr>
        <p:spPr>
          <a:xfrm>
            <a:off x="142875" y="1354081"/>
            <a:ext cx="5905500" cy="191663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EcoFlow Financial Performance</a:t>
            </a:r>
          </a:p>
        </p:txBody>
      </p:sp>
      <p:graphicFrame>
        <p:nvGraphicFramePr>
          <p:cNvPr id="11" name="Table 10"/>
          <p:cNvGraphicFramePr>
            <a:graphicFrameLocks noGrp="1"/>
          </p:cNvGraphicFramePr>
          <p:nvPr/>
        </p:nvGraphicFramePr>
        <p:xfrm>
          <a:off x="152400" y="1611256"/>
          <a:ext cx="5886451" cy="1449914"/>
        </p:xfrm>
        <a:graphic>
          <a:graphicData uri="http://schemas.openxmlformats.org/drawingml/2006/table">
            <a:tbl>
              <a:tblPr>
                <a:tableStyleId>{5C22544A-7EE6-4342-B048-85BDC9FD1C3A}</a:tableStyleId>
              </a:tblPr>
              <a:tblGrid>
                <a:gridCol w="2495746"/>
                <a:gridCol w="678141"/>
                <a:gridCol w="678141"/>
                <a:gridCol w="678141"/>
                <a:gridCol w="678141"/>
                <a:gridCol w="678141"/>
              </a:tblGrid>
              <a:tr h="246126">
                <a:tc>
                  <a:txBody>
                    <a:bodyPr wrap="none"/>
                    <a:lstStyle/>
                    <a:p>
                      <a:pPr algn="l"/>
                      <a:r>
                        <a:rPr sz="1100" b="1">
                          <a:solidFill>
                            <a:srgbClr val="FFFFFF"/>
                          </a:solidFill>
                          <a:latin typeface="Segoe UI"/>
                        </a:rPr>
                        <a:t>USD Mn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300947">
                <a:tc>
                  <a:txBody>
                    <a:bodyPr wrap="none"/>
                    <a:lstStyle/>
                    <a:p>
                      <a:pPr algn="l"/>
                      <a:r>
                        <a:rPr sz="1100" b="1">
                          <a:solidFill>
                            <a:srgbClr val="252423"/>
                          </a:solidFill>
                          <a:latin typeface="Segoe U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52423"/>
                          </a:solidFill>
                          <a:latin typeface="Segoe UI"/>
                        </a:rPr>
                        <a:t>Gross Profit</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0947">
                <a:tc>
                  <a:txBody>
                    <a:bodyPr wrap="none"/>
                    <a:lstStyle/>
                    <a:p>
                      <a:pPr algn="l"/>
                      <a:r>
                        <a:rPr sz="1100" b="1">
                          <a:solidFill>
                            <a:srgbClr val="252423"/>
                          </a:solidFill>
                          <a:latin typeface="Segoe U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52423"/>
                          </a:solidFill>
                          <a:latin typeface="Segoe UI"/>
                        </a:rPr>
                        <a:t>Profit After Tax / Net Profit</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2" name="TextBox 11"/>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398495"/>
            <a:ext cx="5905500" cy="319439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EcoFlow Key Ratios</a:t>
            </a:r>
          </a:p>
        </p:txBody>
      </p:sp>
      <p:graphicFrame>
        <p:nvGraphicFramePr>
          <p:cNvPr id="15" name="Table 14"/>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70535"/>
                <a:gridCol w="803183"/>
                <a:gridCol w="803183"/>
                <a:gridCol w="803183"/>
                <a:gridCol w="803183"/>
                <a:gridCol w="803183"/>
              </a:tblGrid>
              <a:tr h="246126">
                <a:tc>
                  <a:txBody>
                    <a:bodyPr wrap="none"/>
                    <a:lstStyle/>
                    <a:p>
                      <a:pPr algn="l"/>
                      <a:r>
                        <a:rPr sz="1100" b="1">
                          <a:solidFill>
                            <a:srgbClr val="FFFFFF"/>
                          </a:solidFill>
                          <a:latin typeface="Segoe UI"/>
                        </a:rPr>
                        <a:t>Key Ratios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496309">
                <a:tc>
                  <a:txBody>
                    <a:bodyPr wrap="none"/>
                    <a:lstStyle/>
                    <a:p>
                      <a:pPr algn="l"/>
                      <a:r>
                        <a:rPr sz="1100" b="1">
                          <a:solidFill>
                            <a:srgbClr val="252423"/>
                          </a:solidFill>
                          <a:latin typeface="Segoe U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52423"/>
                          </a:solidFill>
                          <a:latin typeface="Segoe UI"/>
                        </a:rPr>
                        <a:t>Pre-Tax Margin</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96309">
                <a:tc>
                  <a:txBody>
                    <a:bodyPr wrap="none"/>
                    <a:lstStyle/>
                    <a:p>
                      <a:pPr algn="l"/>
                      <a:r>
                        <a:rPr sz="1100" b="1">
                          <a:solidFill>
                            <a:srgbClr val="252423"/>
                          </a:solidFill>
                          <a:latin typeface="Segoe U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52423"/>
                          </a:solidFill>
                          <a:latin typeface="Segoe UI"/>
                        </a:rPr>
                        <a:t>Return on Equity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96309">
                <a:tc>
                  <a:txBody>
                    <a:bodyPr wrap="none"/>
                    <a:lstStyle/>
                    <a:p>
                      <a:pPr algn="l"/>
                      <a:r>
                        <a:rPr sz="1100" b="1">
                          <a:solidFill>
                            <a:srgbClr val="252423"/>
                          </a:solidFill>
                          <a:latin typeface="Segoe U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6200775" y="1354081"/>
            <a:ext cx="58483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EcoFlow Pricing Analysis (US$/Units)</a:t>
            </a:r>
          </a:p>
        </p:txBody>
      </p:sp>
      <p:graphicFrame>
        <p:nvGraphicFramePr>
          <p:cNvPr id="19" name="Table 18"/>
          <p:cNvGraphicFramePr>
            <a:graphicFrameLocks noGrp="1"/>
          </p:cNvGraphicFramePr>
          <p:nvPr/>
        </p:nvGraphicFramePr>
        <p:xfrm>
          <a:off x="6210300" y="1611256"/>
          <a:ext cx="5829301" cy="4772085"/>
        </p:xfrm>
        <a:graphic>
          <a:graphicData uri="http://schemas.openxmlformats.org/drawingml/2006/table">
            <a:tbl>
              <a:tblPr>
                <a:tableStyleId>{5C22544A-7EE6-4342-B048-85BDC9FD1C3A}</a:tableStyleId>
              </a:tblPr>
              <a:tblGrid>
                <a:gridCol w="3836071"/>
                <a:gridCol w="996615"/>
                <a:gridCol w="996615"/>
              </a:tblGrid>
              <a:tr h="246126">
                <a:tc>
                  <a:txBody>
                    <a:bodyPr wrap="none"/>
                    <a:lstStyle/>
                    <a:p>
                      <a:pPr algn="l"/>
                      <a:r>
                        <a:rPr sz="1100" b="1">
                          <a:solidFill>
                            <a:srgbClr val="FFFFFF"/>
                          </a:solidFill>
                          <a:latin typeface="Segoe UI"/>
                        </a:rPr>
                        <a:t>Product Type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1508653">
                <a:tc>
                  <a:txBody>
                    <a:bodyPr wrap="none"/>
                    <a:lstStyle/>
                    <a:p>
                      <a:pPr algn="l"/>
                      <a:r>
                        <a:rPr sz="1100" b="1">
                          <a:solidFill>
                            <a:srgbClr val="252423"/>
                          </a:solidFill>
                          <a:latin typeface="Segoe UI"/>
                        </a:rPr>
                        <a:t>1,500 Wh to 2,000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508653">
                <a:tc>
                  <a:txBody>
                    <a:bodyPr wrap="none"/>
                    <a:lstStyle/>
                    <a:p>
                      <a:pPr algn="l"/>
                      <a:r>
                        <a:rPr sz="1100" b="1">
                          <a:solidFill>
                            <a:srgbClr val="252423"/>
                          </a:solidFill>
                          <a:latin typeface="Segoe UI"/>
                        </a:rPr>
                        <a:t>1,000 Wh to Below 1,500 Wh</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1508653">
                <a:tc>
                  <a:txBody>
                    <a:bodyPr wrap="none"/>
                    <a:lstStyle/>
                    <a:p>
                      <a:pPr algn="l"/>
                      <a:r>
                        <a:rPr sz="1100" b="1">
                          <a:solidFill>
                            <a:srgbClr val="252423"/>
                          </a:solidFill>
                          <a:latin typeface="Segoe UI"/>
                        </a:rPr>
                        <a:t>500 Wh to Below 1,000 Wh</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0" name="TextBox 19"/>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4175477" y="2219245"/>
            <a:ext cx="330041" cy="480060"/>
          </a:xfrm>
          <a:prstGeom prst="rect">
            <a:avLst/>
          </a:prstGeom>
        </p:spPr>
      </p:pic>
      <p:pic>
        <p:nvPicPr>
          <p:cNvPr id="23" name="Picture 22" descr="lock.png"/>
          <p:cNvPicPr>
            <a:picLocks noChangeAspect="1"/>
          </p:cNvPicPr>
          <p:nvPr/>
        </p:nvPicPr>
        <p:blipFill>
          <a:blip r:embed="rId4"/>
          <a:stretch>
            <a:fillRect/>
          </a:stretch>
        </p:blipFill>
        <p:spPr>
          <a:xfrm>
            <a:off x="3844202"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0856296" y="3853661"/>
            <a:ext cx="366712" cy="533400"/>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EcoFlow Strategy Analysis (5/5)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EcoFlow's strategic priorities and the competitive moves that support them</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Strategy analysis EcoFlow: strategic priorities and the competitive moves that support them (indicative).</a:t>
            </a:r>
          </a:p>
        </p:txBody>
      </p:sp>
      <p:sp>
        <p:nvSpPr>
          <p:cNvPr id="9" name="Rounded Rectangle 8"/>
          <p:cNvSpPr/>
          <p:nvPr/>
        </p:nvSpPr>
        <p:spPr>
          <a:xfrm>
            <a:off x="14287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MARKET SHARE</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of global value</a:t>
            </a:r>
          </a:p>
        </p:txBody>
      </p:sp>
      <p:sp>
        <p:nvSpPr>
          <p:cNvPr id="10" name="Rounded Rectangle 9"/>
          <p:cNvSpPr/>
          <p:nvPr/>
        </p:nvSpPr>
        <p:spPr>
          <a:xfrm>
            <a:off x="254317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WIN RATE</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deals won</a:t>
            </a:r>
          </a:p>
        </p:txBody>
      </p:sp>
      <p:sp>
        <p:nvSpPr>
          <p:cNvPr id="11" name="Rounded Rectangle 10"/>
          <p:cNvSpPr/>
          <p:nvPr/>
        </p:nvSpPr>
        <p:spPr>
          <a:xfrm>
            <a:off x="4953000"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ASP PREMIUM</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vs peers</a:t>
            </a:r>
          </a:p>
        </p:txBody>
      </p:sp>
      <p:sp>
        <p:nvSpPr>
          <p:cNvPr id="12" name="Rounded Rectangle 11"/>
          <p:cNvSpPr/>
          <p:nvPr/>
        </p:nvSpPr>
        <p:spPr>
          <a:xfrm>
            <a:off x="7353300"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BOOK-TO-BILL</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order momentum</a:t>
            </a:r>
          </a:p>
        </p:txBody>
      </p:sp>
      <p:sp>
        <p:nvSpPr>
          <p:cNvPr id="13" name="Rounded Rectangle 12"/>
          <p:cNvSpPr/>
          <p:nvPr/>
        </p:nvSpPr>
        <p:spPr>
          <a:xfrm>
            <a:off x="976312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EBITDA MARGIN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profitability</a:t>
            </a:r>
          </a:p>
        </p:txBody>
      </p:sp>
      <p:sp>
        <p:nvSpPr>
          <p:cNvPr id="14" name="Rectangle 13"/>
          <p:cNvSpPr/>
          <p:nvPr/>
        </p:nvSpPr>
        <p:spPr>
          <a:xfrm>
            <a:off x="142875" y="2084229"/>
            <a:ext cx="5905500" cy="44904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07BA5"/>
                </a:solidFill>
                <a:latin typeface="Segoe UI"/>
              </a:rPr>
              <a:t>Strategic Priorities</a:t>
            </a:r>
          </a:p>
        </p:txBody>
      </p:sp>
      <p:sp>
        <p:nvSpPr>
          <p:cNvPr id="16" name="Rectangle 15"/>
          <p:cNvSpPr/>
          <p:nvPr/>
        </p:nvSpPr>
        <p:spPr>
          <a:xfrm>
            <a:off x="276225" y="2408079"/>
            <a:ext cx="56388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8" name="Rectangle 17"/>
          <p:cNvSpPr/>
          <p:nvPr/>
        </p:nvSpPr>
        <p:spPr>
          <a:xfrm>
            <a:off x="6200775" y="2084229"/>
            <a:ext cx="5848350" cy="44904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07BA5"/>
                </a:solidFill>
                <a:latin typeface="Segoe UI"/>
              </a:rPr>
              <a:t>Competitive Moves</a:t>
            </a:r>
          </a:p>
        </p:txBody>
      </p:sp>
      <p:sp>
        <p:nvSpPr>
          <p:cNvPr id="20" name="Rectangle 19"/>
          <p:cNvSpPr/>
          <p:nvPr/>
        </p:nvSpPr>
        <p:spPr>
          <a:xfrm>
            <a:off x="6334125" y="2408079"/>
            <a:ext cx="5581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5081082" cy="194310"/>
          </a:xfrm>
          <a:prstGeom prst="rect">
            <a:avLst/>
          </a:prstGeom>
          <a:noFill/>
        </p:spPr>
        <p:txBody>
          <a:bodyPr wrap="none" lIns="0" rIns="0" tIns="0" bIns="0">
            <a:spAutoFit/>
          </a:bodyPr>
          <a:lstStyle/>
          <a:p>
            <a:r>
              <a:rPr sz="1150" b="0">
                <a:solidFill>
                  <a:srgbClr val="252423"/>
                </a:solidFill>
                <a:latin typeface="Segoe UI"/>
              </a:rPr>
              <a:t>▪ Defend and extend leadership in 'Professional &amp; Specialized Portable Power'</a:t>
            </a:r>
          </a:p>
        </p:txBody>
      </p:sp>
      <p:sp>
        <p:nvSpPr>
          <p:cNvPr id="29" name="TextBox 28"/>
          <p:cNvSpPr txBox="1"/>
          <p:nvPr/>
        </p:nvSpPr>
        <p:spPr>
          <a:xfrm>
            <a:off x="276225" y="2678589"/>
            <a:ext cx="4736121" cy="194310"/>
          </a:xfrm>
          <a:prstGeom prst="rect">
            <a:avLst/>
          </a:prstGeom>
          <a:noFill/>
        </p:spPr>
        <p:txBody>
          <a:bodyPr wrap="none" lIns="0" rIns="0" tIns="0" bIns="0">
            <a:spAutoFit/>
          </a:bodyPr>
          <a:lstStyle/>
          <a:p>
            <a:r>
              <a:rPr sz="1150" b="0">
                <a:solidFill>
                  <a:srgbClr val="252423"/>
                </a:solidFill>
                <a:latin typeface="Segoe UI"/>
              </a:rPr>
              <a:t>EcoFlow's strongest end-market while scaling the next-best applications.</a:t>
            </a:r>
          </a:p>
        </p:txBody>
      </p:sp>
      <p:sp>
        <p:nvSpPr>
          <p:cNvPr id="30" name="TextBox 29"/>
          <p:cNvSpPr txBox="1"/>
          <p:nvPr/>
        </p:nvSpPr>
        <p:spPr>
          <a:xfrm>
            <a:off x="276225" y="2906426"/>
            <a:ext cx="999905" cy="194310"/>
          </a:xfrm>
          <a:prstGeom prst="rect">
            <a:avLst/>
          </a:prstGeom>
          <a:noFill/>
        </p:spPr>
        <p:txBody>
          <a:bodyPr wrap="none" lIns="0" rIns="0" tIns="0" bIns="0">
            <a:spAutoFit/>
          </a:bodyPr>
          <a:lstStyle/>
          <a:p>
            <a:r>
              <a:rPr sz="1150" b="0">
                <a:solidFill>
                  <a:srgbClr val="252423"/>
                </a:solidFill>
                <a:latin typeface="Segoe UI"/>
              </a:rPr>
              <a:t>▪ Convert its ~</a:t>
            </a:r>
          </a:p>
        </p:txBody>
      </p:sp>
      <p:pic>
        <p:nvPicPr>
          <p:cNvPr id="31" name="Picture 30" descr="lock.png"/>
          <p:cNvPicPr>
            <a:picLocks noChangeAspect="1"/>
          </p:cNvPicPr>
          <p:nvPr/>
        </p:nvPicPr>
        <p:blipFill>
          <a:blip r:embed="rId4"/>
          <a:stretch>
            <a:fillRect/>
          </a:stretch>
        </p:blipFill>
        <p:spPr>
          <a:xfrm>
            <a:off x="1225284" y="2896203"/>
            <a:ext cx="134549" cy="195707"/>
          </a:xfrm>
          <a:prstGeom prst="rect">
            <a:avLst/>
          </a:prstGeom>
        </p:spPr>
      </p:pic>
      <p:sp>
        <p:nvSpPr>
          <p:cNvPr id="32" name="TextBox 31"/>
          <p:cNvSpPr txBox="1"/>
          <p:nvPr/>
        </p:nvSpPr>
        <p:spPr>
          <a:xfrm>
            <a:off x="1400393" y="2906426"/>
            <a:ext cx="1014097" cy="194310"/>
          </a:xfrm>
          <a:prstGeom prst="rect">
            <a:avLst/>
          </a:prstGeom>
          <a:noFill/>
        </p:spPr>
        <p:txBody>
          <a:bodyPr wrap="none" lIns="0" rIns="0" tIns="0" bIns="0">
            <a:spAutoFit/>
          </a:bodyPr>
          <a:lstStyle/>
          <a:p>
            <a:r>
              <a:rPr sz="1150" b="0">
                <a:solidFill>
                  <a:srgbClr val="252423"/>
                </a:solidFill>
                <a:latin typeface="Segoe UI"/>
              </a:rPr>
              <a:t>win rate and +</a:t>
            </a:r>
          </a:p>
        </p:txBody>
      </p:sp>
      <p:pic>
        <p:nvPicPr>
          <p:cNvPr id="33" name="Picture 32" descr="lock.png"/>
          <p:cNvPicPr>
            <a:picLocks noChangeAspect="1"/>
          </p:cNvPicPr>
          <p:nvPr/>
        </p:nvPicPr>
        <p:blipFill>
          <a:blip r:embed="rId4"/>
          <a:stretch>
            <a:fillRect/>
          </a:stretch>
        </p:blipFill>
        <p:spPr>
          <a:xfrm>
            <a:off x="2363644" y="2896203"/>
            <a:ext cx="134549" cy="195707"/>
          </a:xfrm>
          <a:prstGeom prst="rect">
            <a:avLst/>
          </a:prstGeom>
        </p:spPr>
      </p:pic>
      <p:sp>
        <p:nvSpPr>
          <p:cNvPr id="34" name="TextBox 33"/>
          <p:cNvSpPr txBox="1"/>
          <p:nvPr/>
        </p:nvSpPr>
        <p:spPr>
          <a:xfrm>
            <a:off x="2538754" y="2906426"/>
            <a:ext cx="2572630" cy="194310"/>
          </a:xfrm>
          <a:prstGeom prst="rect">
            <a:avLst/>
          </a:prstGeom>
          <a:noFill/>
        </p:spPr>
        <p:txBody>
          <a:bodyPr wrap="none" lIns="0" rIns="0" tIns="0" bIns="0">
            <a:spAutoFit/>
          </a:bodyPr>
          <a:lstStyle/>
          <a:p>
            <a:r>
              <a:rPr sz="1150" b="0">
                <a:solidFill>
                  <a:srgbClr val="252423"/>
                </a:solidFill>
                <a:latin typeface="Segoe UI"/>
              </a:rPr>
              <a:t>ASP premium into share gains through</a:t>
            </a:r>
          </a:p>
        </p:txBody>
      </p:sp>
      <p:sp>
        <p:nvSpPr>
          <p:cNvPr id="35" name="TextBox 34"/>
          <p:cNvSpPr txBox="1"/>
          <p:nvPr/>
        </p:nvSpPr>
        <p:spPr>
          <a:xfrm>
            <a:off x="276225" y="3081686"/>
            <a:ext cx="1343226" cy="194310"/>
          </a:xfrm>
          <a:prstGeom prst="rect">
            <a:avLst/>
          </a:prstGeom>
          <a:noFill/>
        </p:spPr>
        <p:txBody>
          <a:bodyPr wrap="none" lIns="0" rIns="0" tIns="0" bIns="0">
            <a:spAutoFit/>
          </a:bodyPr>
          <a:lstStyle/>
          <a:p>
            <a:r>
              <a:rPr sz="1150" b="0">
                <a:solidFill>
                  <a:srgbClr val="252423"/>
                </a:solidFill>
                <a:latin typeface="Segoe UI"/>
              </a:rPr>
              <a:t>value-based selling.</a:t>
            </a:r>
          </a:p>
        </p:txBody>
      </p:sp>
      <p:sp>
        <p:nvSpPr>
          <p:cNvPr id="36" name="TextBox 35"/>
          <p:cNvSpPr txBox="1"/>
          <p:nvPr/>
        </p:nvSpPr>
        <p:spPr>
          <a:xfrm>
            <a:off x="276225" y="3309524"/>
            <a:ext cx="3583517" cy="194310"/>
          </a:xfrm>
          <a:prstGeom prst="rect">
            <a:avLst/>
          </a:prstGeom>
          <a:noFill/>
        </p:spPr>
        <p:txBody>
          <a:bodyPr wrap="none" lIns="0" rIns="0" tIns="0" bIns="0">
            <a:spAutoFit/>
          </a:bodyPr>
          <a:lstStyle/>
          <a:p>
            <a:r>
              <a:rPr sz="1150" b="0">
                <a:solidFill>
                  <a:srgbClr val="252423"/>
                </a:solidFill>
                <a:latin typeface="Segoe UI"/>
              </a:rPr>
              <a:t>▪ Raise SAM penetration beyond 'Rest of the World' (~</a:t>
            </a:r>
          </a:p>
        </p:txBody>
      </p:sp>
      <p:pic>
        <p:nvPicPr>
          <p:cNvPr id="37" name="Picture 36" descr="lock.png"/>
          <p:cNvPicPr>
            <a:picLocks noChangeAspect="1"/>
          </p:cNvPicPr>
          <p:nvPr/>
        </p:nvPicPr>
        <p:blipFill>
          <a:blip r:embed="rId4"/>
          <a:stretch>
            <a:fillRect/>
          </a:stretch>
        </p:blipFill>
        <p:spPr>
          <a:xfrm>
            <a:off x="3808896" y="3299301"/>
            <a:ext cx="134549" cy="195707"/>
          </a:xfrm>
          <a:prstGeom prst="rect">
            <a:avLst/>
          </a:prstGeom>
        </p:spPr>
      </p:pic>
      <p:sp>
        <p:nvSpPr>
          <p:cNvPr id="38" name="TextBox 37"/>
          <p:cNvSpPr txBox="1"/>
          <p:nvPr/>
        </p:nvSpPr>
        <p:spPr>
          <a:xfrm>
            <a:off x="3984005" y="3309524"/>
            <a:ext cx="1615260" cy="194310"/>
          </a:xfrm>
          <a:prstGeom prst="rect">
            <a:avLst/>
          </a:prstGeom>
          <a:noFill/>
        </p:spPr>
        <p:txBody>
          <a:bodyPr wrap="none" lIns="0" rIns="0" tIns="0" bIns="0">
            <a:spAutoFit/>
          </a:bodyPr>
          <a:lstStyle/>
          <a:p>
            <a:r>
              <a:rPr sz="1150" b="0">
                <a:solidFill>
                  <a:srgbClr val="252423"/>
                </a:solidFill>
                <a:latin typeface="Segoe UI"/>
              </a:rPr>
              <a:t>) into lower-penetration</a:t>
            </a:r>
          </a:p>
        </p:txBody>
      </p:sp>
      <p:sp>
        <p:nvSpPr>
          <p:cNvPr id="39" name="TextBox 38"/>
          <p:cNvSpPr txBox="1"/>
          <p:nvPr/>
        </p:nvSpPr>
        <p:spPr>
          <a:xfrm>
            <a:off x="276225" y="3484784"/>
            <a:ext cx="586773" cy="194310"/>
          </a:xfrm>
          <a:prstGeom prst="rect">
            <a:avLst/>
          </a:prstGeom>
          <a:noFill/>
        </p:spPr>
        <p:txBody>
          <a:bodyPr wrap="none" lIns="0" rIns="0" tIns="0" bIns="0">
            <a:spAutoFit/>
          </a:bodyPr>
          <a:lstStyle/>
          <a:p>
            <a:r>
              <a:rPr sz="1150" b="0">
                <a:solidFill>
                  <a:srgbClr val="252423"/>
                </a:solidFill>
                <a:latin typeface="Segoe UI"/>
              </a:rPr>
              <a:t>regions.</a:t>
            </a:r>
          </a:p>
        </p:txBody>
      </p:sp>
      <p:sp>
        <p:nvSpPr>
          <p:cNvPr id="40" name="TextBox 39"/>
          <p:cNvSpPr txBox="1"/>
          <p:nvPr/>
        </p:nvSpPr>
        <p:spPr>
          <a:xfrm>
            <a:off x="276225" y="3712622"/>
            <a:ext cx="746546" cy="194310"/>
          </a:xfrm>
          <a:prstGeom prst="rect">
            <a:avLst/>
          </a:prstGeom>
          <a:noFill/>
        </p:spPr>
        <p:txBody>
          <a:bodyPr wrap="none" lIns="0" rIns="0" tIns="0" bIns="0">
            <a:spAutoFit/>
          </a:bodyPr>
          <a:lstStyle/>
          <a:p>
            <a:r>
              <a:rPr sz="1150" b="0">
                <a:solidFill>
                  <a:srgbClr val="252423"/>
                </a:solidFill>
                <a:latin typeface="Segoe UI"/>
              </a:rPr>
              <a:t>▪ Sustain a</a:t>
            </a:r>
          </a:p>
        </p:txBody>
      </p:sp>
      <p:pic>
        <p:nvPicPr>
          <p:cNvPr id="41" name="Picture 40" descr="lock.png"/>
          <p:cNvPicPr>
            <a:picLocks noChangeAspect="1"/>
          </p:cNvPicPr>
          <p:nvPr/>
        </p:nvPicPr>
        <p:blipFill>
          <a:blip r:embed="rId4"/>
          <a:stretch>
            <a:fillRect/>
          </a:stretch>
        </p:blipFill>
        <p:spPr>
          <a:xfrm>
            <a:off x="971925" y="3702399"/>
            <a:ext cx="134549" cy="195707"/>
          </a:xfrm>
          <a:prstGeom prst="rect">
            <a:avLst/>
          </a:prstGeom>
        </p:spPr>
      </p:pic>
      <p:sp>
        <p:nvSpPr>
          <p:cNvPr id="42" name="TextBox 41"/>
          <p:cNvSpPr txBox="1"/>
          <p:nvPr/>
        </p:nvSpPr>
        <p:spPr>
          <a:xfrm>
            <a:off x="1147034" y="3712622"/>
            <a:ext cx="4064401" cy="194310"/>
          </a:xfrm>
          <a:prstGeom prst="rect">
            <a:avLst/>
          </a:prstGeom>
          <a:noFill/>
        </p:spPr>
        <p:txBody>
          <a:bodyPr wrap="none" lIns="0" rIns="0" tIns="0" bIns="0">
            <a:spAutoFit/>
          </a:bodyPr>
          <a:lstStyle/>
          <a:p>
            <a:r>
              <a:rPr sz="1150" b="0">
                <a:solidFill>
                  <a:srgbClr val="252423"/>
                </a:solidFill>
                <a:latin typeface="Segoe UI"/>
              </a:rPr>
              <a:t>book-to-bill with disciplined capacity and channel investment.</a:t>
            </a:r>
          </a:p>
        </p:txBody>
      </p:sp>
      <p:sp>
        <p:nvSpPr>
          <p:cNvPr id="43" name="TextBox 42"/>
          <p:cNvSpPr txBox="1"/>
          <p:nvPr/>
        </p:nvSpPr>
        <p:spPr>
          <a:xfrm>
            <a:off x="276225" y="3940460"/>
            <a:ext cx="5364522" cy="194310"/>
          </a:xfrm>
          <a:prstGeom prst="rect">
            <a:avLst/>
          </a:prstGeom>
          <a:noFill/>
        </p:spPr>
        <p:txBody>
          <a:bodyPr wrap="none" lIns="0" rIns="0" tIns="0" bIns="0">
            <a:spAutoFit/>
          </a:bodyPr>
          <a:lstStyle/>
          <a:p>
            <a:r>
              <a:rPr sz="1150" b="0">
                <a:solidFill>
                  <a:srgbClr val="252423"/>
                </a:solidFill>
                <a:latin typeface="Segoe UI"/>
              </a:rPr>
              <a:t>▪ Protect margin through corridor-based pricing and cost discipline as input prices</a:t>
            </a:r>
          </a:p>
        </p:txBody>
      </p:sp>
      <p:sp>
        <p:nvSpPr>
          <p:cNvPr id="44" name="TextBox 43"/>
          <p:cNvSpPr txBox="1"/>
          <p:nvPr/>
        </p:nvSpPr>
        <p:spPr>
          <a:xfrm>
            <a:off x="276225" y="4115720"/>
            <a:ext cx="465558" cy="194310"/>
          </a:xfrm>
          <a:prstGeom prst="rect">
            <a:avLst/>
          </a:prstGeom>
          <a:noFill/>
        </p:spPr>
        <p:txBody>
          <a:bodyPr wrap="none" lIns="0" rIns="0" tIns="0" bIns="0">
            <a:spAutoFit/>
          </a:bodyPr>
          <a:lstStyle/>
          <a:p>
            <a:r>
              <a:rPr sz="1150" b="0">
                <a:solidFill>
                  <a:srgbClr val="252423"/>
                </a:solidFill>
                <a:latin typeface="Segoe UI"/>
              </a:rPr>
              <a:t>move.</a:t>
            </a:r>
          </a:p>
        </p:txBody>
      </p:sp>
      <p:sp>
        <p:nvSpPr>
          <p:cNvPr id="45" name="TextBox 44"/>
          <p:cNvSpPr txBox="1"/>
          <p:nvPr/>
        </p:nvSpPr>
        <p:spPr>
          <a:xfrm>
            <a:off x="6334125" y="2503329"/>
            <a:ext cx="5398413" cy="194310"/>
          </a:xfrm>
          <a:prstGeom prst="rect">
            <a:avLst/>
          </a:prstGeom>
          <a:noFill/>
        </p:spPr>
        <p:txBody>
          <a:bodyPr wrap="none" lIns="0" rIns="0" tIns="0" bIns="0">
            <a:spAutoFit/>
          </a:bodyPr>
          <a:lstStyle/>
          <a:p>
            <a:r>
              <a:rPr sz="1150" b="0">
                <a:solidFill>
                  <a:srgbClr val="252423"/>
                </a:solidFill>
                <a:latin typeface="Segoe UI"/>
              </a:rPr>
              <a:t>▪ Premiumise the portfolio around '1,500 Wh to 2,000 Wh' and adjacent high-value</a:t>
            </a:r>
          </a:p>
        </p:txBody>
      </p:sp>
      <p:sp>
        <p:nvSpPr>
          <p:cNvPr id="46" name="TextBox 45"/>
          <p:cNvSpPr txBox="1"/>
          <p:nvPr/>
        </p:nvSpPr>
        <p:spPr>
          <a:xfrm>
            <a:off x="6334125" y="2678589"/>
            <a:ext cx="1833671" cy="194310"/>
          </a:xfrm>
          <a:prstGeom prst="rect">
            <a:avLst/>
          </a:prstGeom>
          <a:noFill/>
        </p:spPr>
        <p:txBody>
          <a:bodyPr wrap="none" lIns="0" rIns="0" tIns="0" bIns="0">
            <a:spAutoFit/>
          </a:bodyPr>
          <a:lstStyle/>
          <a:p>
            <a:r>
              <a:rPr sz="1150" b="0">
                <a:solidFill>
                  <a:srgbClr val="252423"/>
                </a:solidFill>
                <a:latin typeface="Segoe UI"/>
              </a:rPr>
              <a:t>lines to lift blended pricing.</a:t>
            </a:r>
          </a:p>
        </p:txBody>
      </p:sp>
      <p:sp>
        <p:nvSpPr>
          <p:cNvPr id="47" name="TextBox 46"/>
          <p:cNvSpPr txBox="1"/>
          <p:nvPr/>
        </p:nvSpPr>
        <p:spPr>
          <a:xfrm>
            <a:off x="6334125" y="2906426"/>
            <a:ext cx="4779439" cy="194310"/>
          </a:xfrm>
          <a:prstGeom prst="rect">
            <a:avLst/>
          </a:prstGeom>
          <a:noFill/>
        </p:spPr>
        <p:txBody>
          <a:bodyPr wrap="none" lIns="0" rIns="0" tIns="0" bIns="0">
            <a:spAutoFit/>
          </a:bodyPr>
          <a:lstStyle/>
          <a:p>
            <a:r>
              <a:rPr sz="1150" b="0">
                <a:solidFill>
                  <a:srgbClr val="252423"/>
                </a:solidFill>
                <a:latin typeface="Segoe UI"/>
              </a:rPr>
              <a:t>▪ Deepen presence in 'North America' (largest SOM region) and build out</a:t>
            </a:r>
          </a:p>
        </p:txBody>
      </p:sp>
      <p:sp>
        <p:nvSpPr>
          <p:cNvPr id="48" name="TextBox 47"/>
          <p:cNvSpPr txBox="1"/>
          <p:nvPr/>
        </p:nvSpPr>
        <p:spPr>
          <a:xfrm>
            <a:off x="6334125" y="3081686"/>
            <a:ext cx="1808484" cy="194310"/>
          </a:xfrm>
          <a:prstGeom prst="rect">
            <a:avLst/>
          </a:prstGeom>
          <a:noFill/>
        </p:spPr>
        <p:txBody>
          <a:bodyPr wrap="none" lIns="0" rIns="0" tIns="0" bIns="0">
            <a:spAutoFit/>
          </a:bodyPr>
          <a:lstStyle/>
          <a:p>
            <a:r>
              <a:rPr sz="1150" b="0">
                <a:solidFill>
                  <a:srgbClr val="252423"/>
                </a:solidFill>
                <a:latin typeface="Segoe UI"/>
              </a:rPr>
              <a:t>under-served geographies.</a:t>
            </a:r>
          </a:p>
        </p:txBody>
      </p:sp>
      <p:sp>
        <p:nvSpPr>
          <p:cNvPr id="49" name="TextBox 48"/>
          <p:cNvSpPr txBox="1"/>
          <p:nvPr/>
        </p:nvSpPr>
        <p:spPr>
          <a:xfrm>
            <a:off x="6334125" y="3309524"/>
            <a:ext cx="5252568" cy="194310"/>
          </a:xfrm>
          <a:prstGeom prst="rect">
            <a:avLst/>
          </a:prstGeom>
          <a:noFill/>
        </p:spPr>
        <p:txBody>
          <a:bodyPr wrap="none" lIns="0" rIns="0" tIns="0" bIns="0">
            <a:spAutoFit/>
          </a:bodyPr>
          <a:lstStyle/>
          <a:p>
            <a:r>
              <a:rPr sz="1150" b="0">
                <a:solidFill>
                  <a:srgbClr val="252423"/>
                </a:solidFill>
                <a:latin typeface="Segoe UI"/>
              </a:rPr>
              <a:t>▪ Invest in R&amp;D, certification and selective M&amp;A to move up the price ladder and</a:t>
            </a:r>
          </a:p>
        </p:txBody>
      </p:sp>
      <p:sp>
        <p:nvSpPr>
          <p:cNvPr id="50" name="TextBox 49"/>
          <p:cNvSpPr txBox="1"/>
          <p:nvPr/>
        </p:nvSpPr>
        <p:spPr>
          <a:xfrm>
            <a:off x="6334125" y="3484784"/>
            <a:ext cx="1118201" cy="194310"/>
          </a:xfrm>
          <a:prstGeom prst="rect">
            <a:avLst/>
          </a:prstGeom>
          <a:noFill/>
        </p:spPr>
        <p:txBody>
          <a:bodyPr wrap="none" lIns="0" rIns="0" tIns="0" bIns="0">
            <a:spAutoFit/>
          </a:bodyPr>
          <a:lstStyle/>
          <a:p>
            <a:r>
              <a:rPr sz="1150" b="0">
                <a:solidFill>
                  <a:srgbClr val="252423"/>
                </a:solidFill>
                <a:latin typeface="Segoe UI"/>
              </a:rPr>
              <a:t>widen the moat.</a:t>
            </a:r>
          </a:p>
        </p:txBody>
      </p:sp>
      <p:sp>
        <p:nvSpPr>
          <p:cNvPr id="51" name="TextBox 50"/>
          <p:cNvSpPr txBox="1"/>
          <p:nvPr/>
        </p:nvSpPr>
        <p:spPr>
          <a:xfrm>
            <a:off x="6334125" y="3712622"/>
            <a:ext cx="5016454" cy="194310"/>
          </a:xfrm>
          <a:prstGeom prst="rect">
            <a:avLst/>
          </a:prstGeom>
          <a:noFill/>
        </p:spPr>
        <p:txBody>
          <a:bodyPr wrap="none" lIns="0" rIns="0" tIns="0" bIns="0">
            <a:spAutoFit/>
          </a:bodyPr>
          <a:lstStyle/>
          <a:p>
            <a:r>
              <a:rPr sz="1150" b="0">
                <a:solidFill>
                  <a:srgbClr val="252423"/>
                </a:solidFill>
                <a:latin typeface="Segoe UI"/>
              </a:rPr>
              <a:t>▪ Diversify the customer base and secure supply to de-risk concentration and</a:t>
            </a:r>
          </a:p>
        </p:txBody>
      </p:sp>
      <p:sp>
        <p:nvSpPr>
          <p:cNvPr id="52" name="TextBox 51"/>
          <p:cNvSpPr txBox="1"/>
          <p:nvPr/>
        </p:nvSpPr>
        <p:spPr>
          <a:xfrm>
            <a:off x="6334125" y="3887882"/>
            <a:ext cx="1239625" cy="194310"/>
          </a:xfrm>
          <a:prstGeom prst="rect">
            <a:avLst/>
          </a:prstGeom>
          <a:noFill/>
        </p:spPr>
        <p:txBody>
          <a:bodyPr wrap="none" lIns="0" rIns="0" tIns="0" bIns="0">
            <a:spAutoFit/>
          </a:bodyPr>
          <a:lstStyle/>
          <a:p>
            <a:r>
              <a:rPr sz="1150" b="0">
                <a:solidFill>
                  <a:srgbClr val="252423"/>
                </a:solidFill>
                <a:latin typeface="Segoe UI"/>
              </a:rPr>
              <a:t>input-cost shocks.</a:t>
            </a:r>
          </a:p>
        </p:txBody>
      </p:sp>
      <p:sp>
        <p:nvSpPr>
          <p:cNvPr id="53" name="TextBox 52"/>
          <p:cNvSpPr txBox="1"/>
          <p:nvPr/>
        </p:nvSpPr>
        <p:spPr>
          <a:xfrm>
            <a:off x="6334125" y="4115720"/>
            <a:ext cx="3444121" cy="194310"/>
          </a:xfrm>
          <a:prstGeom prst="rect">
            <a:avLst/>
          </a:prstGeom>
          <a:noFill/>
        </p:spPr>
        <p:txBody>
          <a:bodyPr wrap="none" lIns="0" rIns="0" tIns="0" bIns="0">
            <a:spAutoFit/>
          </a:bodyPr>
          <a:lstStyle/>
          <a:p>
            <a:r>
              <a:rPr sz="1150" b="0">
                <a:solidFill>
                  <a:srgbClr val="252423"/>
                </a:solidFill>
                <a:latin typeface="Segoe UI"/>
              </a:rPr>
              <a:t>▪ Sharpen go-to-market a ~95-day sales cycle and ~</a:t>
            </a:r>
          </a:p>
        </p:txBody>
      </p:sp>
      <p:pic>
        <p:nvPicPr>
          <p:cNvPr id="54" name="Picture 53" descr="lock.png"/>
          <p:cNvPicPr>
            <a:picLocks noChangeAspect="1"/>
          </p:cNvPicPr>
          <p:nvPr/>
        </p:nvPicPr>
        <p:blipFill>
          <a:blip r:embed="rId4"/>
          <a:stretch>
            <a:fillRect/>
          </a:stretch>
        </p:blipFill>
        <p:spPr>
          <a:xfrm>
            <a:off x="9727400" y="4105497"/>
            <a:ext cx="134549" cy="195707"/>
          </a:xfrm>
          <a:prstGeom prst="rect">
            <a:avLst/>
          </a:prstGeom>
        </p:spPr>
      </p:pic>
      <p:sp>
        <p:nvSpPr>
          <p:cNvPr id="55" name="TextBox 54"/>
          <p:cNvSpPr txBox="1"/>
          <p:nvPr/>
        </p:nvSpPr>
        <p:spPr>
          <a:xfrm>
            <a:off x="9902509" y="4115720"/>
            <a:ext cx="1587733" cy="194310"/>
          </a:xfrm>
          <a:prstGeom prst="rect">
            <a:avLst/>
          </a:prstGeom>
          <a:noFill/>
        </p:spPr>
        <p:txBody>
          <a:bodyPr wrap="none" lIns="0" rIns="0" tIns="0" bIns="0">
            <a:spAutoFit/>
          </a:bodyPr>
          <a:lstStyle/>
          <a:p>
            <a:r>
              <a:rPr sz="1150" b="0">
                <a:solidFill>
                  <a:srgbClr val="252423"/>
                </a:solidFill>
                <a:latin typeface="Segoe UI"/>
              </a:rPr>
              <a:t>conversion speed share</a:t>
            </a:r>
          </a:p>
        </p:txBody>
      </p:sp>
      <p:sp>
        <p:nvSpPr>
          <p:cNvPr id="56" name="TextBox 55"/>
          <p:cNvSpPr txBox="1"/>
          <p:nvPr/>
        </p:nvSpPr>
        <p:spPr>
          <a:xfrm>
            <a:off x="6334125" y="4290980"/>
            <a:ext cx="595330" cy="194310"/>
          </a:xfrm>
          <a:prstGeom prst="rect">
            <a:avLst/>
          </a:prstGeom>
          <a:noFill/>
        </p:spPr>
        <p:txBody>
          <a:bodyPr wrap="none" lIns="0" rIns="0" tIns="0" bIns="0">
            <a:spAutoFit/>
          </a:bodyPr>
          <a:lstStyle/>
          <a:p>
            <a:r>
              <a:rPr sz="1150" b="0">
                <a:solidFill>
                  <a:srgbClr val="252423"/>
                </a:solidFill>
                <a:latin typeface="Segoe UI"/>
              </a:rPr>
              <a:t>capture.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ac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Lithium Polymer Portable Energy Storage Market</a:t>
            </a:r>
          </a:p>
        </p:txBody>
      </p:sp>
      <p:sp>
        <p:nvSpPr>
          <p:cNvPr id="10" name="Fac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Competitive Landscape at a Glance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Market concentration, segment leadership and the moves that will shift share, 2026–2036, in one page</a:t>
            </a:r>
          </a:p>
        </p:txBody>
      </p:sp>
      <p:cxnSp>
        <p:nvCxnSpPr>
          <p:cNvPr id="8" name="Connector 7"/>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3 share, 2026</a:t>
            </a:r>
          </a:p>
        </p:txBody>
      </p:sp>
      <p:sp>
        <p:nvSpPr>
          <p:cNvPr id="10" name="TextBox 9"/>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Segoe UI"/>
              </a:rPr>
              <a:t> </a:t>
            </a:r>
          </a:p>
        </p:txBody>
      </p:sp>
      <p:cxnSp>
        <p:nvCxnSpPr>
          <p:cNvPr id="11" name="Connector 10"/>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5 share</a:t>
            </a:r>
          </a:p>
        </p:txBody>
      </p:sp>
      <p:sp>
        <p:nvSpPr>
          <p:cNvPr id="13" name="TextBox 12"/>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14" name="Connector 13"/>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3 product types</a:t>
            </a:r>
          </a:p>
        </p:txBody>
      </p:sp>
      <p:sp>
        <p:nvSpPr>
          <p:cNvPr id="16" name="TextBox 15"/>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17" name="Connector 16"/>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Largest end use</a:t>
            </a:r>
          </a:p>
        </p:txBody>
      </p:sp>
      <p:sp>
        <p:nvSpPr>
          <p:cNvPr id="19" name="TextBox 18"/>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r>
          </a:p>
        </p:txBody>
      </p:sp>
      <p:cxnSp>
        <p:nvCxnSpPr>
          <p:cNvPr id="20" name="Connector 19"/>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Named competitors</a:t>
            </a:r>
          </a:p>
        </p:txBody>
      </p:sp>
      <p:sp>
        <p:nvSpPr>
          <p:cNvPr id="22" name="TextBox 21"/>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10</a:t>
            </a:r>
          </a:p>
        </p:txBody>
      </p:sp>
      <p:cxnSp>
        <p:nvCxnSpPr>
          <p:cNvPr id="23" name="Connector 22"/>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Moves tracked</a:t>
            </a:r>
          </a:p>
        </p:txBody>
      </p:sp>
      <p:sp>
        <p:nvSpPr>
          <p:cNvPr id="25" name="TextBox 24"/>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50</a:t>
            </a:r>
          </a:p>
        </p:txBody>
      </p:sp>
      <p:cxnSp>
        <p:nvCxnSpPr>
          <p:cNvPr id="26" name="Connector 25"/>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Largest player</a:t>
            </a:r>
          </a:p>
        </p:txBody>
      </p:sp>
      <p:sp>
        <p:nvSpPr>
          <p:cNvPr id="28" name="TextBox 27"/>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EcoFlow</a:t>
            </a:r>
          </a:p>
        </p:txBody>
      </p:sp>
      <p:cxnSp>
        <p:nvCxnSpPr>
          <p:cNvPr id="29" name="Connector 28"/>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sp>
        <p:nvSpPr>
          <p:cNvPr id="31" name="TextBox 30"/>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32" name="Connector 31"/>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35" name="TextBox 34"/>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Leadership is concentrated in value, spread in capability</a:t>
            </a:r>
          </a:p>
        </p:txBody>
      </p:sp>
      <p:sp>
        <p:nvSpPr>
          <p:cNvPr id="36" name="TextBox 35"/>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37" name="Rectangle 36"/>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9" name="TextBox 38"/>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The tier structure is steep</a:t>
            </a:r>
          </a:p>
        </p:txBody>
      </p:sp>
      <p:sp>
        <p:nvSpPr>
          <p:cNvPr id="40" name="TextBox 39"/>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41" name="Rectangle 40"/>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Segoe UI"/>
              </a:rPr>
              <a:t>3</a:t>
            </a:r>
          </a:p>
        </p:txBody>
      </p:sp>
      <p:sp>
        <p:nvSpPr>
          <p:cNvPr id="43" name="TextBox 42"/>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Growth is shifting inside the product mix</a:t>
            </a:r>
          </a:p>
        </p:txBody>
      </p:sp>
      <p:sp>
        <p:nvSpPr>
          <p:cNvPr id="44" name="TextBox 43"/>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45" name="Rectangle 44"/>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Segoe UI"/>
              </a:rPr>
              <a:t>4</a:t>
            </a:r>
          </a:p>
        </p:txBody>
      </p:sp>
      <p:sp>
        <p:nvSpPr>
          <p:cNvPr id="47" name="TextBox 46"/>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Reach divides the field</a:t>
            </a:r>
          </a:p>
        </p:txBody>
      </p:sp>
      <p:sp>
        <p:nvSpPr>
          <p:cNvPr id="48" name="TextBox 47"/>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4 players compete globally, 2 regionally and 4 in one market or niche.</a:t>
            </a:r>
          </a:p>
        </p:txBody>
      </p:sp>
      <p:sp>
        <p:nvSpPr>
          <p:cNvPr id="49" name="Rectangle 48"/>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Segoe UI"/>
              </a:rPr>
              <a:t>5</a:t>
            </a:r>
          </a:p>
        </p:txBody>
      </p:sp>
      <p:sp>
        <p:nvSpPr>
          <p:cNvPr id="51" name="TextBox 50"/>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Consolidation is an active lever</a:t>
            </a:r>
          </a:p>
        </p:txBody>
      </p:sp>
      <p:sp>
        <p:nvSpPr>
          <p:cNvPr id="52" name="TextBox 51"/>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is an active strategy at 5 of 10 named players; the independent target list is shrinking.</a:t>
            </a:r>
          </a:p>
        </p:txBody>
      </p:sp>
      <p:sp>
        <p:nvSpPr>
          <p:cNvPr id="53" name="Rectangle 52"/>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Segoe UI"/>
              </a:rPr>
              <a:t>6</a:t>
            </a:r>
          </a:p>
        </p:txBody>
      </p:sp>
      <p:sp>
        <p:nvSpPr>
          <p:cNvPr id="55" name="TextBox 54"/>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Success factors, in order</a:t>
            </a:r>
          </a:p>
        </p:txBody>
      </p:sp>
      <p:sp>
        <p:nvSpPr>
          <p:cNvPr id="56" name="TextBox 55"/>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1 segment breadth, 2 scale and share, 3 geographic reach, 4 innovation pipeline, 5 strategic momentum.  Ranking leads: EcoFlow, Business Overview, Footprint.</a:t>
            </a:r>
          </a:p>
        </p:txBody>
      </p:sp>
      <p:cxnSp>
        <p:nvCxnSpPr>
          <p:cNvPr id="57" name="Connector 56"/>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Segoe UI"/>
              </a:rPr>
              <a:t>HOW THIS SECTION IS BUILT</a:t>
            </a:r>
          </a:p>
        </p:txBody>
      </p:sp>
      <p:sp>
        <p:nvSpPr>
          <p:cNvPr id="59" name="TextBox 58"/>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323975" cy="146456"/>
          </a:xfrm>
          <a:prstGeom prst="rect">
            <a:avLst/>
          </a:prstGeom>
          <a:noFill/>
        </p:spPr>
        <p:txBody>
          <a:bodyPr wrap="none" lIns="0" rIns="0" tIns="0" bIns="0">
            <a:spAutoFit/>
          </a:bodyPr>
          <a:lstStyle/>
          <a:p>
            <a:r>
              <a:rPr sz="835" b="1">
                <a:solidFill>
                  <a:srgbClr val="0F2D52"/>
                </a:solidFill>
                <a:latin typeface="Segoe UI"/>
              </a:rPr>
              <a:t>Professional &amp; Specialized</a:t>
            </a:r>
          </a:p>
        </p:txBody>
      </p:sp>
      <p:sp>
        <p:nvSpPr>
          <p:cNvPr id="66" name="TextBox 65"/>
          <p:cNvSpPr txBox="1"/>
          <p:nvPr/>
        </p:nvSpPr>
        <p:spPr>
          <a:xfrm>
            <a:off x="4705350" y="1432331"/>
            <a:ext cx="873338" cy="146456"/>
          </a:xfrm>
          <a:prstGeom prst="rect">
            <a:avLst/>
          </a:prstGeom>
          <a:noFill/>
        </p:spPr>
        <p:txBody>
          <a:bodyPr wrap="none" lIns="0" rIns="0" tIns="0" bIns="0">
            <a:spAutoFit/>
          </a:bodyPr>
          <a:lstStyle/>
          <a:p>
            <a:r>
              <a:rPr sz="835" b="1">
                <a:solidFill>
                  <a:srgbClr val="0F2D52"/>
                </a:solidFill>
                <a:latin typeface="Segoe UI"/>
              </a:rPr>
              <a:t>Portable Power,</a:t>
            </a:r>
          </a:p>
        </p:txBody>
      </p:sp>
      <p:pic>
        <p:nvPicPr>
          <p:cNvPr id="67" name="Picture 66" descr="lock.png"/>
          <p:cNvPicPr>
            <a:picLocks noChangeAspect="1"/>
          </p:cNvPicPr>
          <p:nvPr/>
        </p:nvPicPr>
        <p:blipFill>
          <a:blip r:embed="rId4"/>
          <a:stretch>
            <a:fillRect/>
          </a:stretch>
        </p:blipFill>
        <p:spPr>
          <a:xfrm>
            <a:off x="5520920" y="1424899"/>
            <a:ext cx="97811" cy="142270"/>
          </a:xfrm>
          <a:prstGeom prst="rect">
            <a:avLst/>
          </a:prstGeom>
        </p:spPr>
      </p:pic>
      <p:sp>
        <p:nvSpPr>
          <p:cNvPr id="68" name="TextBox 67"/>
          <p:cNvSpPr txBox="1"/>
          <p:nvPr/>
        </p:nvSpPr>
        <p:spPr>
          <a:xfrm>
            <a:off x="523875" y="2124075"/>
            <a:ext cx="1226222" cy="186689"/>
          </a:xfrm>
          <a:prstGeom prst="rect">
            <a:avLst/>
          </a:prstGeom>
          <a:noFill/>
        </p:spPr>
        <p:txBody>
          <a:bodyPr wrap="none" lIns="0" rIns="0" tIns="0" bIns="0">
            <a:spAutoFit/>
          </a:bodyPr>
          <a:lstStyle/>
          <a:p>
            <a:r>
              <a:rPr sz="1100" b="0">
                <a:solidFill>
                  <a:srgbClr val="1F2933"/>
                </a:solidFill>
                <a:latin typeface="Segoe UI"/>
              </a:rPr>
              <a:t>The top three hold</a:t>
            </a:r>
          </a:p>
        </p:txBody>
      </p:sp>
      <p:pic>
        <p:nvPicPr>
          <p:cNvPr id="69" name="Picture 68" descr="lock.png"/>
          <p:cNvPicPr>
            <a:picLocks noChangeAspect="1"/>
          </p:cNvPicPr>
          <p:nvPr/>
        </p:nvPicPr>
        <p:blipFill>
          <a:blip r:embed="rId4"/>
          <a:stretch>
            <a:fillRect/>
          </a:stretch>
        </p:blipFill>
        <p:spPr>
          <a:xfrm>
            <a:off x="1698149" y="2114296"/>
            <a:ext cx="128699" cy="187198"/>
          </a:xfrm>
          <a:prstGeom prst="rect">
            <a:avLst/>
          </a:prstGeom>
        </p:spPr>
      </p:pic>
      <p:sp>
        <p:nvSpPr>
          <p:cNvPr id="70" name="TextBox 69"/>
          <p:cNvSpPr txBox="1"/>
          <p:nvPr/>
        </p:nvSpPr>
        <p:spPr>
          <a:xfrm>
            <a:off x="1865644" y="2124075"/>
            <a:ext cx="3556587" cy="186689"/>
          </a:xfrm>
          <a:prstGeom prst="rect">
            <a:avLst/>
          </a:prstGeom>
          <a:noFill/>
        </p:spPr>
        <p:txBody>
          <a:bodyPr wrap="none" lIns="0" rIns="0" tIns="0" bIns="0">
            <a:spAutoFit/>
          </a:bodyPr>
          <a:lstStyle/>
          <a:p>
            <a:r>
              <a:rPr sz="1100" b="0">
                <a:solidFill>
                  <a:srgbClr val="1F2933"/>
                </a:solidFill>
                <a:latin typeface="Segoe UI"/>
              </a:rPr>
              <a:t>of 2026 value, but 3 companies lead the 7 sub-segments</a:t>
            </a:r>
          </a:p>
        </p:txBody>
      </p:sp>
      <p:sp>
        <p:nvSpPr>
          <p:cNvPr id="71" name="TextBox 70"/>
          <p:cNvSpPr txBox="1"/>
          <p:nvPr/>
        </p:nvSpPr>
        <p:spPr>
          <a:xfrm>
            <a:off x="523875" y="2291715"/>
            <a:ext cx="2213919" cy="186689"/>
          </a:xfrm>
          <a:prstGeom prst="rect">
            <a:avLst/>
          </a:prstGeom>
          <a:noFill/>
        </p:spPr>
        <p:txBody>
          <a:bodyPr wrap="none" lIns="0" rIns="0" tIns="0" bIns="0">
            <a:spAutoFit/>
          </a:bodyPr>
          <a:lstStyle/>
          <a:p>
            <a:r>
              <a:rPr sz="1100" b="0">
                <a:solidFill>
                  <a:srgbClr val="1F2933"/>
                </a:solidFill>
                <a:latin typeface="Segoe UI"/>
              </a:rPr>
              <a:t>tracked; no one leads more than 4.</a:t>
            </a:r>
          </a:p>
        </p:txBody>
      </p:sp>
      <p:sp>
        <p:nvSpPr>
          <p:cNvPr id="72" name="TextBox 71"/>
          <p:cNvSpPr txBox="1"/>
          <p:nvPr/>
        </p:nvSpPr>
        <p:spPr>
          <a:xfrm>
            <a:off x="523875" y="3228975"/>
            <a:ext cx="1465022" cy="186689"/>
          </a:xfrm>
          <a:prstGeom prst="rect">
            <a:avLst/>
          </a:prstGeom>
          <a:noFill/>
        </p:spPr>
        <p:txBody>
          <a:bodyPr wrap="none" lIns="0" rIns="0" tIns="0" bIns="0">
            <a:spAutoFit/>
          </a:bodyPr>
          <a:lstStyle/>
          <a:p>
            <a:r>
              <a:rPr sz="1100" b="0">
                <a:solidFill>
                  <a:srgbClr val="1F2933"/>
                </a:solidFill>
                <a:latin typeface="Segoe UI"/>
              </a:rPr>
              <a:t>Tier 1 (4 players) holds</a:t>
            </a:r>
          </a:p>
        </p:txBody>
      </p:sp>
      <p:pic>
        <p:nvPicPr>
          <p:cNvPr id="73" name="Picture 72" descr="lock.png"/>
          <p:cNvPicPr>
            <a:picLocks noChangeAspect="1"/>
          </p:cNvPicPr>
          <p:nvPr/>
        </p:nvPicPr>
        <p:blipFill>
          <a:blip r:embed="rId4"/>
          <a:stretch>
            <a:fillRect/>
          </a:stretch>
        </p:blipFill>
        <p:spPr>
          <a:xfrm>
            <a:off x="1936949" y="3219196"/>
            <a:ext cx="128699" cy="187198"/>
          </a:xfrm>
          <a:prstGeom prst="rect">
            <a:avLst/>
          </a:prstGeom>
        </p:spPr>
      </p:pic>
      <p:sp>
        <p:nvSpPr>
          <p:cNvPr id="74" name="TextBox 73"/>
          <p:cNvSpPr txBox="1"/>
          <p:nvPr/>
        </p:nvSpPr>
        <p:spPr>
          <a:xfrm>
            <a:off x="2104445" y="3228975"/>
            <a:ext cx="2024888" cy="186689"/>
          </a:xfrm>
          <a:prstGeom prst="rect">
            <a:avLst/>
          </a:prstGeom>
          <a:noFill/>
        </p:spPr>
        <p:txBody>
          <a:bodyPr wrap="none" lIns="0" rIns="0" tIns="0" bIns="0">
            <a:spAutoFit/>
          </a:bodyPr>
          <a:lstStyle/>
          <a:p>
            <a:r>
              <a:rPr sz="1100" b="0">
                <a:solidFill>
                  <a:srgbClr val="1F2933"/>
                </a:solidFill>
                <a:latin typeface="Segoe UI"/>
              </a:rPr>
              <a:t>; Tier 2 and Tier 3 together hold</a:t>
            </a:r>
          </a:p>
        </p:txBody>
      </p:sp>
      <p:pic>
        <p:nvPicPr>
          <p:cNvPr id="75" name="Picture 74" descr="lock.png"/>
          <p:cNvPicPr>
            <a:picLocks noChangeAspect="1"/>
          </p:cNvPicPr>
          <p:nvPr/>
        </p:nvPicPr>
        <p:blipFill>
          <a:blip r:embed="rId4"/>
          <a:stretch>
            <a:fillRect/>
          </a:stretch>
        </p:blipFill>
        <p:spPr>
          <a:xfrm>
            <a:off x="4077385" y="3219196"/>
            <a:ext cx="128699" cy="187198"/>
          </a:xfrm>
          <a:prstGeom prst="rect">
            <a:avLst/>
          </a:prstGeom>
        </p:spPr>
      </p:pic>
      <p:sp>
        <p:nvSpPr>
          <p:cNvPr id="76" name="TextBox 75"/>
          <p:cNvSpPr txBox="1"/>
          <p:nvPr/>
        </p:nvSpPr>
        <p:spPr>
          <a:xfrm>
            <a:off x="4244881" y="3228975"/>
            <a:ext cx="106486" cy="186689"/>
          </a:xfrm>
          <a:prstGeom prst="rect">
            <a:avLst/>
          </a:prstGeom>
          <a:noFill/>
        </p:spPr>
        <p:txBody>
          <a:bodyPr wrap="none" lIns="0" rIns="0" tIns="0" bIns="0">
            <a:spAutoFit/>
          </a:bodyPr>
          <a:lstStyle/>
          <a:p>
            <a:r>
              <a:rPr sz="1100" b="0">
                <a:solidFill>
                  <a:srgbClr val="1F2933"/>
                </a:solidFill>
                <a:latin typeface="Segoe UI"/>
              </a:rPr>
              <a:t>.</a:t>
            </a:r>
          </a:p>
        </p:txBody>
      </p:sp>
      <p:sp>
        <p:nvSpPr>
          <p:cNvPr id="77" name="TextBox 76"/>
          <p:cNvSpPr txBox="1"/>
          <p:nvPr/>
        </p:nvSpPr>
        <p:spPr>
          <a:xfrm>
            <a:off x="523875" y="4333875"/>
            <a:ext cx="5260315" cy="186689"/>
          </a:xfrm>
          <a:prstGeom prst="rect">
            <a:avLst/>
          </a:prstGeom>
          <a:noFill/>
        </p:spPr>
        <p:txBody>
          <a:bodyPr wrap="none" lIns="0" rIns="0" tIns="0" bIns="0">
            <a:spAutoFit/>
          </a:bodyPr>
          <a:lstStyle/>
          <a:p>
            <a:r>
              <a:rPr sz="1100" b="0">
                <a:solidFill>
                  <a:srgbClr val="1F2933"/>
                </a:solidFill>
                <a:latin typeface="Segoe UI"/>
              </a:rPr>
              <a:t>'1,500 Wh to 2,000 Wh' is the largest line; '1,000 Wh to Below 1,500 Wh' compounds</a:t>
            </a:r>
          </a:p>
        </p:txBody>
      </p:sp>
      <p:sp>
        <p:nvSpPr>
          <p:cNvPr id="78" name="TextBox 77"/>
          <p:cNvSpPr txBox="1"/>
          <p:nvPr/>
        </p:nvSpPr>
        <p:spPr>
          <a:xfrm>
            <a:off x="523875" y="4501515"/>
            <a:ext cx="634437" cy="186689"/>
          </a:xfrm>
          <a:prstGeom prst="rect">
            <a:avLst/>
          </a:prstGeom>
          <a:noFill/>
        </p:spPr>
        <p:txBody>
          <a:bodyPr wrap="none" lIns="0" rIns="0" tIns="0" bIns="0">
            <a:spAutoFit/>
          </a:bodyPr>
          <a:lstStyle/>
          <a:p>
            <a:r>
              <a:rPr sz="1100" b="0">
                <a:solidFill>
                  <a:srgbClr val="1F2933"/>
                </a:solidFill>
                <a:latin typeface="Segoe UI"/>
              </a:rPr>
              <a:t>fastest at</a:t>
            </a:r>
          </a:p>
        </p:txBody>
      </p:sp>
      <p:pic>
        <p:nvPicPr>
          <p:cNvPr id="79" name="Picture 78" descr="lock.png"/>
          <p:cNvPicPr>
            <a:picLocks noChangeAspect="1"/>
          </p:cNvPicPr>
          <p:nvPr/>
        </p:nvPicPr>
        <p:blipFill>
          <a:blip r:embed="rId4"/>
          <a:stretch>
            <a:fillRect/>
          </a:stretch>
        </p:blipFill>
        <p:spPr>
          <a:xfrm>
            <a:off x="1106363" y="4491736"/>
            <a:ext cx="128699" cy="187198"/>
          </a:xfrm>
          <a:prstGeom prst="rect">
            <a:avLst/>
          </a:prstGeom>
        </p:spPr>
      </p:pic>
      <p:sp>
        <p:nvSpPr>
          <p:cNvPr id="80" name="TextBox 79"/>
          <p:cNvSpPr txBox="1"/>
          <p:nvPr/>
        </p:nvSpPr>
        <p:spPr>
          <a:xfrm>
            <a:off x="1273859" y="4501515"/>
            <a:ext cx="462255" cy="186689"/>
          </a:xfrm>
          <a:prstGeom prst="rect">
            <a:avLst/>
          </a:prstGeom>
          <a:noFill/>
        </p:spPr>
        <p:txBody>
          <a:bodyPr wrap="none" lIns="0" rIns="0" tIns="0" bIns="0">
            <a:spAutoFit/>
          </a:bodyPr>
          <a:lstStyle/>
          <a:p>
            <a:r>
              <a:rPr sz="1100" b="0">
                <a:solidFill>
                  <a:srgbClr val="1F2933"/>
                </a:solidFill>
                <a:latin typeface="Segoe UI"/>
              </a:rPr>
              <a:t>CAGR.</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Segment Leadership Map</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Share by player group and which named player leads or is active in each sub-segment, 2026</a:t>
            </a:r>
          </a:p>
        </p:txBody>
      </p:sp>
      <p:sp>
        <p:nvSpPr>
          <p:cNvPr id="8" name="TextBox 7"/>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Segoe UI"/>
              </a:rPr>
              <a:t>Who holds the market, 2026</a:t>
            </a:r>
          </a:p>
        </p:txBody>
      </p:sp>
      <p:sp>
        <p:nvSpPr>
          <p:cNvPr id="9" name="Rectangle 8"/>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1" name="Rectangle 10"/>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3" name="Rectangle 12"/>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5" name="Rectangle 14"/>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Segoe UI"/>
              </a:rPr>
              <a:t/>
            </a:r>
          </a:p>
        </p:txBody>
      </p:sp>
      <p:sp>
        <p:nvSpPr>
          <p:cNvPr id="17" name="Rectangle 16"/>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EcoFlow, Business Overview, Relevant Portfolio</a:t>
            </a:r>
          </a:p>
        </p:txBody>
      </p:sp>
      <p:sp>
        <p:nvSpPr>
          <p:cNvPr id="19" name="Rectangle 18"/>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Footprint, Pricing</a:t>
            </a:r>
          </a:p>
        </p:txBody>
      </p:sp>
      <p:sp>
        <p:nvSpPr>
          <p:cNvPr id="21" name="Rectangle 20"/>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SWOT, Developments, Jackery, BLUETTI, Goal Zero</a:t>
            </a:r>
          </a:p>
        </p:txBody>
      </p:sp>
      <p:sp>
        <p:nvSpPr>
          <p:cNvPr id="23" name="Rectangle 22"/>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Long tail of regional and niche suppliers</a:t>
            </a:r>
          </a:p>
        </p:txBody>
      </p:sp>
      <p:cxnSp>
        <p:nvCxnSpPr>
          <p:cNvPr id="25" name="Connector 24"/>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Segoe UI"/>
              </a:rPr>
              <a:t>Who leads which sub-segment, 2026  (full = leader, half = active)</a:t>
            </a:r>
          </a:p>
        </p:txBody>
      </p:sp>
      <p:sp>
        <p:nvSpPr>
          <p:cNvPr id="27" name="TextBox 26"/>
          <p:cNvSpPr txBox="1"/>
          <p:nvPr/>
        </p:nvSpPr>
        <p:spPr>
          <a:xfrm>
            <a:off x="2114550"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1,500 Wh to 2,000 Wh</a:t>
            </a:r>
          </a:p>
        </p:txBody>
      </p:sp>
      <p:sp>
        <p:nvSpPr>
          <p:cNvPr id="28" name="TextBox 27"/>
          <p:cNvSpPr txBox="1"/>
          <p:nvPr/>
        </p:nvSpPr>
        <p:spPr>
          <a:xfrm>
            <a:off x="3529693"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1,000 Wh to Below 1,500 Wh</a:t>
            </a:r>
          </a:p>
        </p:txBody>
      </p:sp>
      <p:sp>
        <p:nvSpPr>
          <p:cNvPr id="29" name="TextBox 28"/>
          <p:cNvSpPr txBox="1"/>
          <p:nvPr/>
        </p:nvSpPr>
        <p:spPr>
          <a:xfrm>
            <a:off x="4944836"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500 Wh to Below 1,000 Wh</a:t>
            </a:r>
          </a:p>
        </p:txBody>
      </p:sp>
      <p:sp>
        <p:nvSpPr>
          <p:cNvPr id="30" name="TextBox 29"/>
          <p:cNvSpPr txBox="1"/>
          <p:nvPr/>
        </p:nvSpPr>
        <p:spPr>
          <a:xfrm>
            <a:off x="6359979"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Professional &amp; Specialized Portable Power</a:t>
            </a:r>
          </a:p>
        </p:txBody>
      </p:sp>
      <p:sp>
        <p:nvSpPr>
          <p:cNvPr id="31" name="TextBox 30"/>
          <p:cNvSpPr txBox="1"/>
          <p:nvPr/>
        </p:nvSpPr>
        <p:spPr>
          <a:xfrm>
            <a:off x="7775121"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Outdoor &amp; Recreational Power</a:t>
            </a:r>
          </a:p>
        </p:txBody>
      </p:sp>
      <p:sp>
        <p:nvSpPr>
          <p:cNvPr id="32" name="TextBox 31"/>
          <p:cNvSpPr txBox="1"/>
          <p:nvPr/>
        </p:nvSpPr>
        <p:spPr>
          <a:xfrm>
            <a:off x="9190264"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Off-Grid &amp; Remote Power</a:t>
            </a:r>
          </a:p>
        </p:txBody>
      </p:sp>
      <p:sp>
        <p:nvSpPr>
          <p:cNvPr id="33" name="TextBox 32"/>
          <p:cNvSpPr txBox="1"/>
          <p:nvPr/>
        </p:nvSpPr>
        <p:spPr>
          <a:xfrm>
            <a:off x="10605407" y="2114550"/>
            <a:ext cx="1377043"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Portable Backup Power</a:t>
            </a:r>
          </a:p>
        </p:txBody>
      </p:sp>
      <p:cxnSp>
        <p:nvCxnSpPr>
          <p:cNvPr id="34" name="Connector 33"/>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6289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EcoFlow</a:t>
            </a:r>
          </a:p>
        </p:txBody>
      </p:sp>
      <p:sp>
        <p:nvSpPr>
          <p:cNvPr id="37" name="TextBox 36"/>
          <p:cNvSpPr txBox="1"/>
          <p:nvPr/>
        </p:nvSpPr>
        <p:spPr>
          <a:xfrm>
            <a:off x="285750" y="27908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8" name="Oval 37"/>
          <p:cNvSpPr/>
          <p:nvPr/>
        </p:nvSpPr>
        <p:spPr>
          <a:xfrm>
            <a:off x="2726871"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003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14201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55715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972300"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387443"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8467725" y="2705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802586"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217729"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5750" y="29718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Business Overview</a:t>
            </a:r>
          </a:p>
        </p:txBody>
      </p:sp>
      <p:sp>
        <p:nvSpPr>
          <p:cNvPr id="50" name="TextBox 49"/>
          <p:cNvSpPr txBox="1"/>
          <p:nvPr/>
        </p:nvSpPr>
        <p:spPr>
          <a:xfrm>
            <a:off x="285750" y="31337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51" name="Oval 50"/>
          <p:cNvSpPr/>
          <p:nvPr/>
        </p:nvSpPr>
        <p:spPr>
          <a:xfrm>
            <a:off x="272687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280035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14201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42195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55715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97230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70485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387443"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802586"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21772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129665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3147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Relevant Portfolio</a:t>
            </a:r>
          </a:p>
        </p:txBody>
      </p:sp>
      <p:sp>
        <p:nvSpPr>
          <p:cNvPr id="65" name="TextBox 64"/>
          <p:cNvSpPr txBox="1"/>
          <p:nvPr/>
        </p:nvSpPr>
        <p:spPr>
          <a:xfrm>
            <a:off x="285750" y="34766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66" name="Oval 65"/>
          <p:cNvSpPr/>
          <p:nvPr/>
        </p:nvSpPr>
        <p:spPr>
          <a:xfrm>
            <a:off x="2726871"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14201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55715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5629275" y="3390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97230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387443"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80258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987742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21772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129665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5750" y="36576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Footprint</a:t>
            </a:r>
          </a:p>
        </p:txBody>
      </p:sp>
      <p:sp>
        <p:nvSpPr>
          <p:cNvPr id="79" name="TextBox 78"/>
          <p:cNvSpPr txBox="1"/>
          <p:nvPr/>
        </p:nvSpPr>
        <p:spPr>
          <a:xfrm>
            <a:off x="285750" y="38195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80" name="Oval 79"/>
          <p:cNvSpPr/>
          <p:nvPr/>
        </p:nvSpPr>
        <p:spPr>
          <a:xfrm>
            <a:off x="272687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14201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42195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555715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5629275"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97230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048500"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387443"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846772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80258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121772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0005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Pricing</a:t>
            </a:r>
          </a:p>
        </p:txBody>
      </p:sp>
      <p:sp>
        <p:nvSpPr>
          <p:cNvPr id="94" name="TextBox 93"/>
          <p:cNvSpPr txBox="1"/>
          <p:nvPr/>
        </p:nvSpPr>
        <p:spPr>
          <a:xfrm>
            <a:off x="285750" y="41624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95" name="Oval 94"/>
          <p:cNvSpPr/>
          <p:nvPr/>
        </p:nvSpPr>
        <p:spPr>
          <a:xfrm>
            <a:off x="272687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80035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14201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2195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55715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5629275"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97230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704850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87443"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80258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9877425"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121772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5750" y="43434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SWOT</a:t>
            </a:r>
          </a:p>
        </p:txBody>
      </p:sp>
      <p:sp>
        <p:nvSpPr>
          <p:cNvPr id="110" name="TextBox 109"/>
          <p:cNvSpPr txBox="1"/>
          <p:nvPr/>
        </p:nvSpPr>
        <p:spPr>
          <a:xfrm>
            <a:off x="285750" y="45053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111" name="Oval 110"/>
          <p:cNvSpPr/>
          <p:nvPr/>
        </p:nvSpPr>
        <p:spPr>
          <a:xfrm>
            <a:off x="272687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280035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414201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42195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55715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97230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387443"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846772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80258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9877425"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121772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46863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Developments</a:t>
            </a:r>
          </a:p>
        </p:txBody>
      </p:sp>
      <p:sp>
        <p:nvSpPr>
          <p:cNvPr id="125" name="TextBox 124"/>
          <p:cNvSpPr txBox="1"/>
          <p:nvPr/>
        </p:nvSpPr>
        <p:spPr>
          <a:xfrm>
            <a:off x="285750" y="48482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6" name="Oval 125"/>
          <p:cNvSpPr/>
          <p:nvPr/>
        </p:nvSpPr>
        <p:spPr>
          <a:xfrm>
            <a:off x="272687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8003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14201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555715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5629275"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697230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704850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387443"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846772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80258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121772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50292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Jackery</a:t>
            </a:r>
          </a:p>
        </p:txBody>
      </p:sp>
      <p:sp>
        <p:nvSpPr>
          <p:cNvPr id="140" name="TextBox 139"/>
          <p:cNvSpPr txBox="1"/>
          <p:nvPr/>
        </p:nvSpPr>
        <p:spPr>
          <a:xfrm>
            <a:off x="285750" y="51911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41" name="Oval 140"/>
          <p:cNvSpPr/>
          <p:nvPr/>
        </p:nvSpPr>
        <p:spPr>
          <a:xfrm>
            <a:off x="272687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14201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2195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55715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5629275"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97230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048500"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387443"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980258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9877425"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21772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3721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BLUETTI</a:t>
            </a:r>
          </a:p>
        </p:txBody>
      </p:sp>
      <p:sp>
        <p:nvSpPr>
          <p:cNvPr id="155" name="TextBox 154"/>
          <p:cNvSpPr txBox="1"/>
          <p:nvPr/>
        </p:nvSpPr>
        <p:spPr>
          <a:xfrm>
            <a:off x="285750" y="55340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56" name="Oval 155"/>
          <p:cNvSpPr/>
          <p:nvPr/>
        </p:nvSpPr>
        <p:spPr>
          <a:xfrm>
            <a:off x="272687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280035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14201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42195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555715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5629275"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697230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8387443"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Freeform 163"/>
          <p:cNvSpPr/>
          <p:nvPr/>
        </p:nvSpPr>
        <p:spPr>
          <a:xfrm>
            <a:off x="846772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980258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9877425"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21772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715000"/>
            <a:ext cx="1790700" cy="171450"/>
          </a:xfrm>
          <a:prstGeom prst="rect">
            <a:avLst/>
          </a:prstGeom>
          <a:noFill/>
        </p:spPr>
        <p:txBody>
          <a:bodyPr wrap="square" lIns="28575" rIns="28575" tIns="9525" bIns="9525" anchor="t">
            <a:spAutoFit/>
          </a:bodyPr>
          <a:lstStyle/>
          <a:p>
            <a:pPr algn="l"/>
            <a:r>
              <a:rPr sz="1100" b="1">
                <a:solidFill>
                  <a:srgbClr val="1F2933"/>
                </a:solidFill>
                <a:latin typeface="Segoe UI"/>
              </a:rPr>
              <a:t>Goal Zero</a:t>
            </a:r>
          </a:p>
        </p:txBody>
      </p:sp>
      <p:sp>
        <p:nvSpPr>
          <p:cNvPr id="171" name="TextBox 170"/>
          <p:cNvSpPr txBox="1"/>
          <p:nvPr/>
        </p:nvSpPr>
        <p:spPr>
          <a:xfrm>
            <a:off x="285750" y="5876925"/>
            <a:ext cx="179070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72" name="Oval 171"/>
          <p:cNvSpPr/>
          <p:nvPr/>
        </p:nvSpPr>
        <p:spPr>
          <a:xfrm>
            <a:off x="272687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280035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14201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42195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555715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697230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Freeform 177"/>
          <p:cNvSpPr/>
          <p:nvPr/>
        </p:nvSpPr>
        <p:spPr>
          <a:xfrm>
            <a:off x="704850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8387443"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846772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980258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121772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3" name="Connector 182"/>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4" name="Rectangle 183"/>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1</a:t>
            </a:r>
          </a:p>
        </p:txBody>
      </p:sp>
      <p:sp>
        <p:nvSpPr>
          <p:cNvPr id="186" name="Rectangle 185"/>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2</a:t>
            </a:r>
          </a:p>
        </p:txBody>
      </p:sp>
      <p:sp>
        <p:nvSpPr>
          <p:cNvPr id="188" name="Rectangle 187"/>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3</a:t>
            </a:r>
          </a:p>
        </p:txBody>
      </p:sp>
      <p:sp>
        <p:nvSpPr>
          <p:cNvPr id="190" name="TextBox 189"/>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91" name="TextBox 190"/>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Read across a row to see breadth; down a column to see contestability.  '1,500 Wh to 2,000 Wh' is the most contested column (8 players active); 'Portable Backup Power' is the most open (3).</a:t>
            </a:r>
          </a:p>
        </p:txBody>
      </p:sp>
      <p:sp>
        <p:nvSpPr>
          <p:cNvPr id="192" name="TextBox 19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93" name="TextBox 192"/>
          <p:cNvSpPr txBox="1"/>
          <p:nvPr/>
        </p:nvSpPr>
        <p:spPr>
          <a:xfrm>
            <a:off x="276225" y="1306830"/>
            <a:ext cx="448991" cy="186689"/>
          </a:xfrm>
          <a:prstGeom prst="rect">
            <a:avLst/>
          </a:prstGeom>
          <a:noFill/>
        </p:spPr>
        <p:txBody>
          <a:bodyPr wrap="none" lIns="0" rIns="0" tIns="0" bIns="0">
            <a:spAutoFit/>
          </a:bodyPr>
          <a:lstStyle/>
          <a:p>
            <a:r>
              <a:rPr sz="1100" b="1">
                <a:solidFill>
                  <a:srgbClr val="FFFFFF"/>
                </a:solidFill>
                <a:latin typeface="Segoe UI"/>
              </a:rPr>
              <a:t>Top 3</a:t>
            </a:r>
          </a:p>
        </p:txBody>
      </p:sp>
      <p:pic>
        <p:nvPicPr>
          <p:cNvPr id="194" name="Picture 193" descr="lock.png"/>
          <p:cNvPicPr>
            <a:picLocks noChangeAspect="1"/>
          </p:cNvPicPr>
          <p:nvPr/>
        </p:nvPicPr>
        <p:blipFill>
          <a:blip r:embed="rId4"/>
          <a:stretch>
            <a:fillRect/>
          </a:stretch>
        </p:blipFill>
        <p:spPr>
          <a:xfrm>
            <a:off x="673268" y="1297051"/>
            <a:ext cx="128699" cy="187198"/>
          </a:xfrm>
          <a:prstGeom prst="rect">
            <a:avLst/>
          </a:prstGeom>
        </p:spPr>
      </p:pic>
      <p:sp>
        <p:nvSpPr>
          <p:cNvPr id="195" name="TextBox 194"/>
          <p:cNvSpPr txBox="1"/>
          <p:nvPr/>
        </p:nvSpPr>
        <p:spPr>
          <a:xfrm>
            <a:off x="4786109" y="1306830"/>
            <a:ext cx="919758" cy="186689"/>
          </a:xfrm>
          <a:prstGeom prst="rect">
            <a:avLst/>
          </a:prstGeom>
          <a:noFill/>
        </p:spPr>
        <p:txBody>
          <a:bodyPr wrap="none" lIns="0" rIns="0" tIns="0" bIns="0">
            <a:spAutoFit/>
          </a:bodyPr>
          <a:lstStyle/>
          <a:p>
            <a:r>
              <a:rPr sz="1100" b="1">
                <a:solidFill>
                  <a:srgbClr val="FFFFFF"/>
                </a:solidFill>
                <a:latin typeface="Segoe UI"/>
              </a:rPr>
              <a:t>Rest of top 5</a:t>
            </a:r>
          </a:p>
        </p:txBody>
      </p:sp>
      <p:pic>
        <p:nvPicPr>
          <p:cNvPr id="196" name="Picture 195" descr="lock.png"/>
          <p:cNvPicPr>
            <a:picLocks noChangeAspect="1"/>
          </p:cNvPicPr>
          <p:nvPr/>
        </p:nvPicPr>
        <p:blipFill>
          <a:blip r:embed="rId4"/>
          <a:stretch>
            <a:fillRect/>
          </a:stretch>
        </p:blipFill>
        <p:spPr>
          <a:xfrm>
            <a:off x="5653919" y="1297051"/>
            <a:ext cx="128699" cy="187198"/>
          </a:xfrm>
          <a:prstGeom prst="rect">
            <a:avLst/>
          </a:prstGeom>
        </p:spPr>
      </p:pic>
      <p:sp>
        <p:nvSpPr>
          <p:cNvPr id="197" name="TextBox 196"/>
          <p:cNvSpPr txBox="1"/>
          <p:nvPr/>
        </p:nvSpPr>
        <p:spPr>
          <a:xfrm>
            <a:off x="6322271" y="1306830"/>
            <a:ext cx="707297" cy="186689"/>
          </a:xfrm>
          <a:prstGeom prst="rect">
            <a:avLst/>
          </a:prstGeom>
          <a:noFill/>
        </p:spPr>
        <p:txBody>
          <a:bodyPr wrap="none" lIns="0" rIns="0" tIns="0" bIns="0">
            <a:spAutoFit/>
          </a:bodyPr>
          <a:lstStyle/>
          <a:p>
            <a:r>
              <a:rPr sz="1100" b="1">
                <a:solidFill>
                  <a:srgbClr val="FFFFFF"/>
                </a:solidFill>
                <a:latin typeface="Segoe UI"/>
              </a:rPr>
              <a:t>Emerging</a:t>
            </a:r>
          </a:p>
        </p:txBody>
      </p:sp>
      <p:pic>
        <p:nvPicPr>
          <p:cNvPr id="198" name="Picture 197" descr="lock.png"/>
          <p:cNvPicPr>
            <a:picLocks noChangeAspect="1"/>
          </p:cNvPicPr>
          <p:nvPr/>
        </p:nvPicPr>
        <p:blipFill>
          <a:blip r:embed="rId4"/>
          <a:stretch>
            <a:fillRect/>
          </a:stretch>
        </p:blipFill>
        <p:spPr>
          <a:xfrm>
            <a:off x="6977619" y="1297051"/>
            <a:ext cx="128699" cy="187198"/>
          </a:xfrm>
          <a:prstGeom prst="rect">
            <a:avLst/>
          </a:prstGeom>
        </p:spPr>
      </p:pic>
      <p:sp>
        <p:nvSpPr>
          <p:cNvPr id="199" name="TextBox 198"/>
          <p:cNvSpPr txBox="1"/>
          <p:nvPr/>
        </p:nvSpPr>
        <p:spPr>
          <a:xfrm>
            <a:off x="8564687" y="1306830"/>
            <a:ext cx="513048" cy="186689"/>
          </a:xfrm>
          <a:prstGeom prst="rect">
            <a:avLst/>
          </a:prstGeom>
          <a:noFill/>
        </p:spPr>
        <p:txBody>
          <a:bodyPr wrap="none" lIns="0" rIns="0" tIns="0" bIns="0">
            <a:spAutoFit/>
          </a:bodyPr>
          <a:lstStyle/>
          <a:p>
            <a:r>
              <a:rPr sz="1100" b="1">
                <a:solidFill>
                  <a:srgbClr val="0F2D52"/>
                </a:solidFill>
                <a:latin typeface="Segoe UI"/>
              </a:rPr>
              <a:t>Others</a:t>
            </a:r>
          </a:p>
        </p:txBody>
      </p:sp>
      <p:pic>
        <p:nvPicPr>
          <p:cNvPr id="200" name="Picture 199" descr="lock.png"/>
          <p:cNvPicPr>
            <a:picLocks noChangeAspect="1"/>
          </p:cNvPicPr>
          <p:nvPr/>
        </p:nvPicPr>
        <p:blipFill>
          <a:blip r:embed="rId4"/>
          <a:stretch>
            <a:fillRect/>
          </a:stretch>
        </p:blipFill>
        <p:spPr>
          <a:xfrm>
            <a:off x="9025786" y="1297051"/>
            <a:ext cx="128699" cy="187198"/>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Value Chain Positioning of Leading Players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How the market is organised by product type and end use, and who leads at each stage</a:t>
            </a:r>
          </a:p>
        </p:txBody>
      </p:sp>
      <p:sp>
        <p:nvSpPr>
          <p:cNvPr id="8" name="TextBox 7"/>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Segoe UI"/>
              </a:rPr>
              <a:t>Top 3 share, 2026</a:t>
            </a:r>
          </a:p>
        </p:txBody>
      </p:sp>
      <p:sp>
        <p:nvSpPr>
          <p:cNvPr id="9" name="TextBox 8"/>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Segoe UI"/>
              </a:rPr>
              <a:t> </a:t>
            </a:r>
          </a:p>
        </p:txBody>
      </p:sp>
      <p:cxnSp>
        <p:nvCxnSpPr>
          <p:cNvPr id="10" name="Connector 9"/>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Segoe UI"/>
              </a:rPr>
              <a:t>Top 5 share</a:t>
            </a:r>
          </a:p>
        </p:txBody>
      </p:sp>
      <p:sp>
        <p:nvSpPr>
          <p:cNvPr id="12" name="TextBox 11"/>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3" name="Connector 12"/>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Segoe UI"/>
              </a:rPr>
              <a:t>1,500 Wh to 2,000 Wh, share</a:t>
            </a:r>
          </a:p>
        </p:txBody>
      </p:sp>
      <p:sp>
        <p:nvSpPr>
          <p:cNvPr id="15" name="TextBox 14"/>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6" name="Connector 15"/>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Segoe UI"/>
              </a:rPr>
              <a:t>1,000 Wh to Below 1,500 Wh, share</a:t>
            </a:r>
          </a:p>
        </p:txBody>
      </p:sp>
      <p:sp>
        <p:nvSpPr>
          <p:cNvPr id="18" name="TextBox 17"/>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9" name="Connector 18"/>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Segoe UI"/>
              </a:rPr>
              <a:t>500 Wh to Below 1,000 Wh, share</a:t>
            </a:r>
          </a:p>
        </p:txBody>
      </p:sp>
      <p:sp>
        <p:nvSpPr>
          <p:cNvPr id="21" name="TextBox 20"/>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22" name="Connector 21"/>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sp>
        <p:nvSpPr>
          <p:cNvPr id="26" name="TextBox 25"/>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Segoe UI"/>
              </a:rPr>
              <a:t> </a:t>
            </a:r>
          </a:p>
        </p:txBody>
      </p:sp>
      <p:sp>
        <p:nvSpPr>
          <p:cNvPr id="27" name="TextBox 26"/>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Segoe UI"/>
              </a:rPr>
              <a:t>of market</a:t>
            </a:r>
          </a:p>
        </p:txBody>
      </p:sp>
      <p:sp>
        <p:nvSpPr>
          <p:cNvPr id="28" name="TextBox 27"/>
          <p:cNvSpPr txBox="1"/>
          <p:nvPr/>
        </p:nvSpPr>
        <p:spPr>
          <a:xfrm>
            <a:off x="285750" y="2133600"/>
            <a:ext cx="666750" cy="190500"/>
          </a:xfrm>
          <a:prstGeom prst="rect">
            <a:avLst/>
          </a:prstGeom>
          <a:noFill/>
        </p:spPr>
        <p:txBody>
          <a:bodyPr wrap="square" lIns="28575" rIns="28575" tIns="9525" bIns="9525" anchor="t">
            <a:spAutoFit/>
          </a:bodyPr>
          <a:lstStyle/>
          <a:p>
            <a:pPr algn="l"/>
            <a:r>
              <a:rPr sz="1100" b="0">
                <a:solidFill>
                  <a:srgbClr val="5F6B7A"/>
                </a:solidFill>
                <a:latin typeface="Segoe UI"/>
              </a:rPr>
              <a:t> </a:t>
            </a:r>
          </a:p>
        </p:txBody>
      </p:sp>
      <p:sp>
        <p:nvSpPr>
          <p:cNvPr id="29" name="TextBox 28"/>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cxnSp>
        <p:nvCxnSpPr>
          <p:cNvPr id="30" name="Connector 29"/>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LEADS</a:t>
            </a:r>
          </a:p>
        </p:txBody>
      </p:sp>
      <p:sp>
        <p:nvSpPr>
          <p:cNvPr id="32" name="TextBox 31"/>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Segoe UI"/>
              </a:rPr>
              <a:t>●  Relevant Portfolio</a:t>
            </a:r>
          </a:p>
        </p:txBody>
      </p:sp>
      <p:sp>
        <p:nvSpPr>
          <p:cNvPr id="33" name="TextBox 32"/>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ALSO ACTIVE</a:t>
            </a:r>
          </a:p>
        </p:txBody>
      </p:sp>
      <p:sp>
        <p:nvSpPr>
          <p:cNvPr id="34" name="TextBox 33"/>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EcoFlow</a:t>
            </a:r>
          </a:p>
        </p:txBody>
      </p:sp>
      <p:sp>
        <p:nvSpPr>
          <p:cNvPr id="35" name="TextBox 34"/>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Business Overview</a:t>
            </a:r>
          </a:p>
        </p:txBody>
      </p:sp>
      <p:sp>
        <p:nvSpPr>
          <p:cNvPr id="36" name="TextBox 35"/>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Pricing</a:t>
            </a:r>
          </a:p>
        </p:txBody>
      </p:sp>
      <p:sp>
        <p:nvSpPr>
          <p:cNvPr id="37" name="TextBox 36"/>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SWOT</a:t>
            </a:r>
          </a:p>
        </p:txBody>
      </p:sp>
      <p:cxnSp>
        <p:nvCxnSpPr>
          <p:cNvPr id="38" name="Connector 37"/>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40" name="TextBox 39"/>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cxnSp>
        <p:nvCxnSpPr>
          <p:cNvPr id="41" name="Connector 40"/>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2. 1,000 Wh to Below 1,500 Wh</a:t>
            </a:r>
          </a:p>
        </p:txBody>
      </p:sp>
      <p:sp>
        <p:nvSpPr>
          <p:cNvPr id="46" name="TextBox 45"/>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Segoe UI"/>
              </a:rPr>
              <a:t> </a:t>
            </a:r>
          </a:p>
        </p:txBody>
      </p:sp>
      <p:sp>
        <p:nvSpPr>
          <p:cNvPr id="47" name="TextBox 46"/>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Segoe UI"/>
              </a:rPr>
              <a:t>of market</a:t>
            </a:r>
          </a:p>
        </p:txBody>
      </p:sp>
      <p:sp>
        <p:nvSpPr>
          <p:cNvPr id="48" name="TextBox 47"/>
          <p:cNvSpPr txBox="1"/>
          <p:nvPr/>
        </p:nvSpPr>
        <p:spPr>
          <a:xfrm>
            <a:off x="3300412" y="2133600"/>
            <a:ext cx="666750" cy="190500"/>
          </a:xfrm>
          <a:prstGeom prst="rect">
            <a:avLst/>
          </a:prstGeom>
          <a:noFill/>
        </p:spPr>
        <p:txBody>
          <a:bodyPr wrap="square" lIns="28575" rIns="28575" tIns="9525" bIns="9525" anchor="t">
            <a:spAutoFit/>
          </a:bodyPr>
          <a:lstStyle/>
          <a:p>
            <a:pPr algn="l"/>
            <a:r>
              <a:rPr sz="1100" b="0">
                <a:solidFill>
                  <a:srgbClr val="5F6B7A"/>
                </a:solidFill>
                <a:latin typeface="Segoe UI"/>
              </a:rPr>
              <a:t> </a:t>
            </a:r>
          </a:p>
        </p:txBody>
      </p:sp>
      <p:sp>
        <p:nvSpPr>
          <p:cNvPr id="49" name="TextBox 48"/>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cxnSp>
        <p:nvCxnSpPr>
          <p:cNvPr id="50" name="Connector 49"/>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LEADS</a:t>
            </a:r>
          </a:p>
        </p:txBody>
      </p:sp>
      <p:sp>
        <p:nvSpPr>
          <p:cNvPr id="52" name="TextBox 51"/>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Segoe UI"/>
              </a:rPr>
              <a:t>●  EcoFlow</a:t>
            </a:r>
          </a:p>
        </p:txBody>
      </p:sp>
      <p:sp>
        <p:nvSpPr>
          <p:cNvPr id="53" name="TextBox 52"/>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ALSO ACTIVE</a:t>
            </a:r>
          </a:p>
        </p:txBody>
      </p:sp>
      <p:sp>
        <p:nvSpPr>
          <p:cNvPr id="54" name="TextBox 53"/>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Business Overview</a:t>
            </a:r>
          </a:p>
        </p:txBody>
      </p:sp>
      <p:sp>
        <p:nvSpPr>
          <p:cNvPr id="55" name="TextBox 54"/>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Footprint</a:t>
            </a:r>
          </a:p>
        </p:txBody>
      </p:sp>
      <p:sp>
        <p:nvSpPr>
          <p:cNvPr id="56" name="TextBox 55"/>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Pricing</a:t>
            </a:r>
          </a:p>
        </p:txBody>
      </p:sp>
      <p:sp>
        <p:nvSpPr>
          <p:cNvPr id="57" name="TextBox 56"/>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SWOT</a:t>
            </a:r>
          </a:p>
        </p:txBody>
      </p:sp>
      <p:cxnSp>
        <p:nvCxnSpPr>
          <p:cNvPr id="58" name="Connector 57"/>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60" name="TextBox 59"/>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cxnSp>
        <p:nvCxnSpPr>
          <p:cNvPr id="61" name="Connector 60"/>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2" name="Freeform 61"/>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3. 500 Wh to Below 1,000 Wh</a:t>
            </a:r>
          </a:p>
        </p:txBody>
      </p:sp>
      <p:sp>
        <p:nvSpPr>
          <p:cNvPr id="66" name="TextBox 65"/>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Segoe UI"/>
              </a:rPr>
              <a:t> </a:t>
            </a:r>
          </a:p>
        </p:txBody>
      </p:sp>
      <p:sp>
        <p:nvSpPr>
          <p:cNvPr id="67" name="TextBox 66"/>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Segoe UI"/>
              </a:rPr>
              <a:t>of market</a:t>
            </a:r>
          </a:p>
        </p:txBody>
      </p:sp>
      <p:sp>
        <p:nvSpPr>
          <p:cNvPr id="68" name="TextBox 67"/>
          <p:cNvSpPr txBox="1"/>
          <p:nvPr/>
        </p:nvSpPr>
        <p:spPr>
          <a:xfrm>
            <a:off x="6315075" y="2133600"/>
            <a:ext cx="666750" cy="190500"/>
          </a:xfrm>
          <a:prstGeom prst="rect">
            <a:avLst/>
          </a:prstGeom>
          <a:noFill/>
        </p:spPr>
        <p:txBody>
          <a:bodyPr wrap="square" lIns="28575" rIns="28575" tIns="9525" bIns="9525" anchor="t">
            <a:spAutoFit/>
          </a:bodyPr>
          <a:lstStyle/>
          <a:p>
            <a:pPr algn="l"/>
            <a:r>
              <a:rPr sz="1100" b="0">
                <a:solidFill>
                  <a:srgbClr val="5F6B7A"/>
                </a:solidFill>
                <a:latin typeface="Segoe UI"/>
              </a:rPr>
              <a:t> </a:t>
            </a:r>
          </a:p>
        </p:txBody>
      </p:sp>
      <p:sp>
        <p:nvSpPr>
          <p:cNvPr id="69" name="TextBox 68"/>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cxnSp>
        <p:nvCxnSpPr>
          <p:cNvPr id="70" name="Connector 69"/>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LEADS</a:t>
            </a:r>
          </a:p>
        </p:txBody>
      </p:sp>
      <p:sp>
        <p:nvSpPr>
          <p:cNvPr id="72" name="TextBox 71"/>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Segoe UI"/>
              </a:rPr>
              <a:t>●  EcoFlow</a:t>
            </a:r>
          </a:p>
        </p:txBody>
      </p:sp>
      <p:sp>
        <p:nvSpPr>
          <p:cNvPr id="73" name="TextBox 72"/>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ALSO ACTIVE</a:t>
            </a:r>
          </a:p>
        </p:txBody>
      </p:sp>
      <p:sp>
        <p:nvSpPr>
          <p:cNvPr id="74" name="TextBox 73"/>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Relevant Portfolio</a:t>
            </a:r>
          </a:p>
        </p:txBody>
      </p:sp>
      <p:sp>
        <p:nvSpPr>
          <p:cNvPr id="75" name="TextBox 74"/>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Footprint</a:t>
            </a:r>
          </a:p>
        </p:txBody>
      </p:sp>
      <p:sp>
        <p:nvSpPr>
          <p:cNvPr id="76" name="TextBox 75"/>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Pricing</a:t>
            </a:r>
          </a:p>
        </p:txBody>
      </p:sp>
      <p:sp>
        <p:nvSpPr>
          <p:cNvPr id="77" name="TextBox 76"/>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Developments</a:t>
            </a:r>
          </a:p>
        </p:txBody>
      </p:sp>
      <p:cxnSp>
        <p:nvCxnSpPr>
          <p:cNvPr id="78" name="Connector 77"/>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80" name="TextBox 79"/>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cxnSp>
        <p:nvCxnSpPr>
          <p:cNvPr id="81" name="Connector 80"/>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4. System Application</a:t>
            </a:r>
          </a:p>
        </p:txBody>
      </p:sp>
      <p:sp>
        <p:nvSpPr>
          <p:cNvPr id="86" name="TextBox 85"/>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Segoe UI"/>
              </a:rPr>
              <a:t>By application</a:t>
            </a:r>
          </a:p>
        </p:txBody>
      </p:sp>
      <p:sp>
        <p:nvSpPr>
          <p:cNvPr id="87" name="TextBox 86"/>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Segoe UI"/>
              </a:rPr>
              <a:t>Who buys the output.</a:t>
            </a:r>
          </a:p>
        </p:txBody>
      </p:sp>
      <p:cxnSp>
        <p:nvCxnSpPr>
          <p:cNvPr id="88" name="Connector 87"/>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a:t>
            </a:r>
          </a:p>
        </p:txBody>
      </p:sp>
      <p:sp>
        <p:nvSpPr>
          <p:cNvPr id="90" name="Rectangle 89"/>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92" name="TextBox 91"/>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Outdoor &amp; Recreational Power</a:t>
            </a:r>
          </a:p>
        </p:txBody>
      </p:sp>
      <p:sp>
        <p:nvSpPr>
          <p:cNvPr id="93" name="Rectangle 92"/>
          <p:cNvSpPr/>
          <p:nvPr/>
        </p:nvSpPr>
        <p:spPr>
          <a:xfrm>
            <a:off x="10682288" y="2847975"/>
            <a:ext cx="33587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056259" y="280987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95" name="TextBox 94"/>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Off-Grid &amp; Remote Power</a:t>
            </a:r>
          </a:p>
        </p:txBody>
      </p:sp>
      <p:sp>
        <p:nvSpPr>
          <p:cNvPr id="96" name="Rectangle 95"/>
          <p:cNvSpPr/>
          <p:nvPr/>
        </p:nvSpPr>
        <p:spPr>
          <a:xfrm>
            <a:off x="10682288" y="3171825"/>
            <a:ext cx="286340"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006728" y="313372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98" name="TextBox 97"/>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Portable Backup Power</a:t>
            </a:r>
          </a:p>
        </p:txBody>
      </p:sp>
      <p:sp>
        <p:nvSpPr>
          <p:cNvPr id="99" name="Rectangle 98"/>
          <p:cNvSpPr/>
          <p:nvPr/>
        </p:nvSpPr>
        <p:spPr>
          <a:xfrm>
            <a:off x="10682288" y="3495675"/>
            <a:ext cx="5224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72628" y="345757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01" name="Connector 100"/>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103" name="TextBox 102"/>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104" name="Rectangle 103"/>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Segoe UI"/>
              </a:rPr>
              <a:t>ENABLERS</a:t>
            </a:r>
          </a:p>
        </p:txBody>
      </p:sp>
      <p:sp>
        <p:nvSpPr>
          <p:cNvPr id="107" name="TextBox 106"/>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1,000 Wh to Below 1,500 Wh Compounds Fastest Across the Energy Storage Capacity Mix  |  South Asia &amp; Pacific Emerges as the Growth Engine Among Regions  |  Premiumisation Lifts Average Realisation</a:t>
            </a:r>
          </a:p>
        </p:txBody>
      </p:sp>
      <p:sp>
        <p:nvSpPr>
          <p:cNvPr id="108" name="Rectangle 107"/>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Segoe UI"/>
              </a:rPr>
              <a:t>CONSTRAINTS</a:t>
            </a:r>
          </a:p>
        </p:txBody>
      </p:sp>
      <p:sp>
        <p:nvSpPr>
          <p:cNvPr id="111" name="TextBox 110"/>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500 Wh to Below 1,000 Wh Lags the Category and Dilutes Blended Growth  |  Uneven Region Performance Caps the Blended Rate  |  Concentration Risk Limits Pricing and Sourcing Flexibility</a:t>
            </a:r>
          </a:p>
        </p:txBody>
      </p:sp>
      <p:sp>
        <p:nvSpPr>
          <p:cNvPr id="112" name="TextBox 1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13" name="Picture 112" descr="lock.png"/>
          <p:cNvPicPr>
            <a:picLocks noChangeAspect="1"/>
          </p:cNvPicPr>
          <p:nvPr/>
        </p:nvPicPr>
        <p:blipFill>
          <a:blip r:embed="rId4"/>
          <a:stretch>
            <a:fillRect/>
          </a:stretch>
        </p:blipFill>
        <p:spPr>
          <a:xfrm>
            <a:off x="1316775" y="1258951"/>
            <a:ext cx="128699" cy="187198"/>
          </a:xfrm>
          <a:prstGeom prst="rect">
            <a:avLst/>
          </a:prstGeom>
        </p:spPr>
      </p:pic>
      <p:pic>
        <p:nvPicPr>
          <p:cNvPr id="114" name="Picture 113" descr="lock.png"/>
          <p:cNvPicPr>
            <a:picLocks noChangeAspect="1"/>
          </p:cNvPicPr>
          <p:nvPr/>
        </p:nvPicPr>
        <p:blipFill>
          <a:blip r:embed="rId4"/>
          <a:stretch>
            <a:fillRect/>
          </a:stretch>
        </p:blipFill>
        <p:spPr>
          <a:xfrm>
            <a:off x="3678975" y="1258951"/>
            <a:ext cx="128699" cy="187198"/>
          </a:xfrm>
          <a:prstGeom prst="rect">
            <a:avLst/>
          </a:prstGeom>
        </p:spPr>
      </p:pic>
      <p:pic>
        <p:nvPicPr>
          <p:cNvPr id="115" name="Picture 114" descr="lock.png"/>
          <p:cNvPicPr>
            <a:picLocks noChangeAspect="1"/>
          </p:cNvPicPr>
          <p:nvPr/>
        </p:nvPicPr>
        <p:blipFill>
          <a:blip r:embed="rId4"/>
          <a:stretch>
            <a:fillRect/>
          </a:stretch>
        </p:blipFill>
        <p:spPr>
          <a:xfrm>
            <a:off x="60411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84033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107655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1509656" y="1725676"/>
            <a:ext cx="128699" cy="187198"/>
          </a:xfrm>
          <a:prstGeom prst="rect">
            <a:avLst/>
          </a:prstGeom>
        </p:spPr>
      </p:pic>
      <p:pic>
        <p:nvPicPr>
          <p:cNvPr id="119" name="Picture 118" descr="lock.png"/>
          <p:cNvPicPr>
            <a:picLocks noChangeAspect="1"/>
          </p:cNvPicPr>
          <p:nvPr/>
        </p:nvPicPr>
        <p:blipFill>
          <a:blip r:embed="rId4"/>
          <a:stretch>
            <a:fillRect/>
          </a:stretch>
        </p:blipFill>
        <p:spPr>
          <a:xfrm>
            <a:off x="554775" y="1925701"/>
            <a:ext cx="128699" cy="187198"/>
          </a:xfrm>
          <a:prstGeom prst="rect">
            <a:avLst/>
          </a:prstGeom>
        </p:spPr>
      </p:pic>
      <p:pic>
        <p:nvPicPr>
          <p:cNvPr id="120" name="Picture 119" descr="lock.png"/>
          <p:cNvPicPr>
            <a:picLocks noChangeAspect="1"/>
          </p:cNvPicPr>
          <p:nvPr/>
        </p:nvPicPr>
        <p:blipFill>
          <a:blip r:embed="rId4"/>
          <a:stretch>
            <a:fillRect/>
          </a:stretch>
        </p:blipFill>
        <p:spPr>
          <a:xfrm>
            <a:off x="554775" y="2135251"/>
            <a:ext cx="128699" cy="187198"/>
          </a:xfrm>
          <a:prstGeom prst="rect">
            <a:avLst/>
          </a:prstGeom>
        </p:spPr>
      </p:pic>
      <p:pic>
        <p:nvPicPr>
          <p:cNvPr id="121" name="Picture 120" descr="lock.png"/>
          <p:cNvPicPr>
            <a:picLocks noChangeAspect="1"/>
          </p:cNvPicPr>
          <p:nvPr/>
        </p:nvPicPr>
        <p:blipFill>
          <a:blip r:embed="rId4"/>
          <a:stretch>
            <a:fillRect/>
          </a:stretch>
        </p:blipFill>
        <p:spPr>
          <a:xfrm>
            <a:off x="3569437" y="1925701"/>
            <a:ext cx="128699" cy="187198"/>
          </a:xfrm>
          <a:prstGeom prst="rect">
            <a:avLst/>
          </a:prstGeom>
        </p:spPr>
      </p:pic>
      <p:pic>
        <p:nvPicPr>
          <p:cNvPr id="122" name="Picture 121" descr="lock.png"/>
          <p:cNvPicPr>
            <a:picLocks noChangeAspect="1"/>
          </p:cNvPicPr>
          <p:nvPr/>
        </p:nvPicPr>
        <p:blipFill>
          <a:blip r:embed="rId4"/>
          <a:stretch>
            <a:fillRect/>
          </a:stretch>
        </p:blipFill>
        <p:spPr>
          <a:xfrm>
            <a:off x="3569437" y="2135251"/>
            <a:ext cx="128699" cy="187198"/>
          </a:xfrm>
          <a:prstGeom prst="rect">
            <a:avLst/>
          </a:prstGeom>
        </p:spPr>
      </p:pic>
      <p:pic>
        <p:nvPicPr>
          <p:cNvPr id="123" name="Picture 122" descr="lock.png"/>
          <p:cNvPicPr>
            <a:picLocks noChangeAspect="1"/>
          </p:cNvPicPr>
          <p:nvPr/>
        </p:nvPicPr>
        <p:blipFill>
          <a:blip r:embed="rId4"/>
          <a:stretch>
            <a:fillRect/>
          </a:stretch>
        </p:blipFill>
        <p:spPr>
          <a:xfrm>
            <a:off x="6584100" y="1925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6584100"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11660925" y="2487676"/>
            <a:ext cx="128699" cy="187198"/>
          </a:xfrm>
          <a:prstGeom prst="rect">
            <a:avLst/>
          </a:prstGeom>
        </p:spPr>
      </p:pic>
      <p:pic>
        <p:nvPicPr>
          <p:cNvPr id="126" name="Picture 125" descr="lock.png"/>
          <p:cNvPicPr>
            <a:picLocks noChangeAspect="1"/>
          </p:cNvPicPr>
          <p:nvPr/>
        </p:nvPicPr>
        <p:blipFill>
          <a:blip r:embed="rId4"/>
          <a:stretch>
            <a:fillRect/>
          </a:stretch>
        </p:blipFill>
        <p:spPr>
          <a:xfrm>
            <a:off x="11230034" y="2811526"/>
            <a:ext cx="128699" cy="187198"/>
          </a:xfrm>
          <a:prstGeom prst="rect">
            <a:avLst/>
          </a:prstGeom>
        </p:spPr>
      </p:pic>
      <p:pic>
        <p:nvPicPr>
          <p:cNvPr id="127" name="Picture 126" descr="lock.png"/>
          <p:cNvPicPr>
            <a:picLocks noChangeAspect="1"/>
          </p:cNvPicPr>
          <p:nvPr/>
        </p:nvPicPr>
        <p:blipFill>
          <a:blip r:embed="rId4"/>
          <a:stretch>
            <a:fillRect/>
          </a:stretch>
        </p:blipFill>
        <p:spPr>
          <a:xfrm>
            <a:off x="11180503" y="31353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0946403" y="3459226"/>
            <a:ext cx="128699" cy="187198"/>
          </a:xfrm>
          <a:prstGeom prst="rect">
            <a:avLst/>
          </a:prstGeom>
        </p:spPr>
      </p:pic>
      <p:sp>
        <p:nvSpPr>
          <p:cNvPr id="129" name="TextBox 128"/>
          <p:cNvSpPr txBox="1"/>
          <p:nvPr/>
        </p:nvSpPr>
        <p:spPr>
          <a:xfrm>
            <a:off x="314325" y="4676775"/>
            <a:ext cx="2415045" cy="186689"/>
          </a:xfrm>
          <a:prstGeom prst="rect">
            <a:avLst/>
          </a:prstGeom>
          <a:noFill/>
        </p:spPr>
        <p:txBody>
          <a:bodyPr wrap="none" lIns="0" rIns="0" tIns="0" bIns="0">
            <a:spAutoFit/>
          </a:bodyPr>
          <a:lstStyle/>
          <a:p>
            <a:r>
              <a:rPr sz="1100" b="0">
                <a:solidFill>
                  <a:srgbClr val="1F2933"/>
                </a:solidFill>
                <a:latin typeface="Segoe UI"/>
              </a:rPr>
              <a:t>5 named players compete here; '1,500</a:t>
            </a:r>
          </a:p>
        </p:txBody>
      </p:sp>
      <p:sp>
        <p:nvSpPr>
          <p:cNvPr id="130" name="TextBox 129"/>
          <p:cNvSpPr txBox="1"/>
          <p:nvPr/>
        </p:nvSpPr>
        <p:spPr>
          <a:xfrm>
            <a:off x="314325" y="4844415"/>
            <a:ext cx="1436347" cy="186689"/>
          </a:xfrm>
          <a:prstGeom prst="rect">
            <a:avLst/>
          </a:prstGeom>
          <a:noFill/>
        </p:spPr>
        <p:txBody>
          <a:bodyPr wrap="none" lIns="0" rIns="0" tIns="0" bIns="0">
            <a:spAutoFit/>
          </a:bodyPr>
          <a:lstStyle/>
          <a:p>
            <a:r>
              <a:rPr sz="1100" b="0">
                <a:solidFill>
                  <a:srgbClr val="1F2933"/>
                </a:solidFill>
                <a:latin typeface="Segoe UI"/>
              </a:rPr>
              <a:t>Wh to 2,000 Wh' adds</a:t>
            </a:r>
          </a:p>
        </p:txBody>
      </p:sp>
      <p:pic>
        <p:nvPicPr>
          <p:cNvPr id="131" name="Picture 130" descr="lock.png"/>
          <p:cNvPicPr>
            <a:picLocks noChangeAspect="1"/>
          </p:cNvPicPr>
          <p:nvPr/>
        </p:nvPicPr>
        <p:blipFill>
          <a:blip r:embed="rId4"/>
          <a:stretch>
            <a:fillRect/>
          </a:stretch>
        </p:blipFill>
        <p:spPr>
          <a:xfrm>
            <a:off x="1698724" y="4834636"/>
            <a:ext cx="128699" cy="187198"/>
          </a:xfrm>
          <a:prstGeom prst="rect">
            <a:avLst/>
          </a:prstGeom>
        </p:spPr>
      </p:pic>
      <p:sp>
        <p:nvSpPr>
          <p:cNvPr id="132" name="TextBox 131"/>
          <p:cNvSpPr txBox="1"/>
          <p:nvPr/>
        </p:nvSpPr>
        <p:spPr>
          <a:xfrm>
            <a:off x="1866220" y="4844415"/>
            <a:ext cx="752599" cy="186689"/>
          </a:xfrm>
          <a:prstGeom prst="rect">
            <a:avLst/>
          </a:prstGeom>
          <a:noFill/>
        </p:spPr>
        <p:txBody>
          <a:bodyPr wrap="none" lIns="0" rIns="0" tIns="0" bIns="0">
            <a:spAutoFit/>
          </a:bodyPr>
          <a:lstStyle/>
          <a:p>
            <a:r>
              <a:rPr sz="1100" b="0">
                <a:solidFill>
                  <a:srgbClr val="1F2933"/>
                </a:solidFill>
                <a:latin typeface="Segoe UI"/>
              </a:rPr>
              <a:t>US$ Mn by</a:t>
            </a:r>
          </a:p>
        </p:txBody>
      </p:sp>
      <p:sp>
        <p:nvSpPr>
          <p:cNvPr id="133" name="TextBox 132"/>
          <p:cNvSpPr txBox="1"/>
          <p:nvPr/>
        </p:nvSpPr>
        <p:spPr>
          <a:xfrm>
            <a:off x="314325" y="5012055"/>
            <a:ext cx="407714" cy="186689"/>
          </a:xfrm>
          <a:prstGeom prst="rect">
            <a:avLst/>
          </a:prstGeom>
          <a:noFill/>
        </p:spPr>
        <p:txBody>
          <a:bodyPr wrap="none" lIns="0" rIns="0" tIns="0" bIns="0">
            <a:spAutoFit/>
          </a:bodyPr>
          <a:lstStyle/>
          <a:p>
            <a:r>
              <a:rPr sz="1100" b="0">
                <a:solidFill>
                  <a:srgbClr val="1F2933"/>
                </a:solidFill>
                <a:latin typeface="Segoe UI"/>
              </a:rPr>
              <a:t>2036.</a:t>
            </a:r>
          </a:p>
        </p:txBody>
      </p:sp>
      <p:sp>
        <p:nvSpPr>
          <p:cNvPr id="134" name="TextBox 133"/>
          <p:cNvSpPr txBox="1"/>
          <p:nvPr/>
        </p:nvSpPr>
        <p:spPr>
          <a:xfrm>
            <a:off x="3328987" y="4676775"/>
            <a:ext cx="2415045" cy="186689"/>
          </a:xfrm>
          <a:prstGeom prst="rect">
            <a:avLst/>
          </a:prstGeom>
          <a:noFill/>
        </p:spPr>
        <p:txBody>
          <a:bodyPr wrap="none" lIns="0" rIns="0" tIns="0" bIns="0">
            <a:spAutoFit/>
          </a:bodyPr>
          <a:lstStyle/>
          <a:p>
            <a:r>
              <a:rPr sz="1100" b="0">
                <a:solidFill>
                  <a:srgbClr val="1F2933"/>
                </a:solidFill>
                <a:latin typeface="Segoe UI"/>
              </a:rPr>
              <a:t>5 named players compete here; '1,000</a:t>
            </a:r>
          </a:p>
        </p:txBody>
      </p:sp>
      <p:sp>
        <p:nvSpPr>
          <p:cNvPr id="135" name="TextBox 134"/>
          <p:cNvSpPr txBox="1"/>
          <p:nvPr/>
        </p:nvSpPr>
        <p:spPr>
          <a:xfrm>
            <a:off x="3328987" y="4844415"/>
            <a:ext cx="1844533" cy="186689"/>
          </a:xfrm>
          <a:prstGeom prst="rect">
            <a:avLst/>
          </a:prstGeom>
          <a:noFill/>
        </p:spPr>
        <p:txBody>
          <a:bodyPr wrap="none" lIns="0" rIns="0" tIns="0" bIns="0">
            <a:spAutoFit/>
          </a:bodyPr>
          <a:lstStyle/>
          <a:p>
            <a:r>
              <a:rPr sz="1100" b="0">
                <a:solidFill>
                  <a:srgbClr val="1F2933"/>
                </a:solidFill>
                <a:latin typeface="Segoe UI"/>
              </a:rPr>
              <a:t>Wh to Below 1,500 Wh' adds</a:t>
            </a:r>
          </a:p>
        </p:txBody>
      </p:sp>
      <p:pic>
        <p:nvPicPr>
          <p:cNvPr id="136" name="Picture 135" descr="lock.png"/>
          <p:cNvPicPr>
            <a:picLocks noChangeAspect="1"/>
          </p:cNvPicPr>
          <p:nvPr/>
        </p:nvPicPr>
        <p:blipFill>
          <a:blip r:embed="rId4"/>
          <a:stretch>
            <a:fillRect/>
          </a:stretch>
        </p:blipFill>
        <p:spPr>
          <a:xfrm>
            <a:off x="5121572" y="4834636"/>
            <a:ext cx="128699" cy="187198"/>
          </a:xfrm>
          <a:prstGeom prst="rect">
            <a:avLst/>
          </a:prstGeom>
        </p:spPr>
      </p:pic>
      <p:sp>
        <p:nvSpPr>
          <p:cNvPr id="137" name="TextBox 136"/>
          <p:cNvSpPr txBox="1"/>
          <p:nvPr/>
        </p:nvSpPr>
        <p:spPr>
          <a:xfrm>
            <a:off x="5289068" y="4844415"/>
            <a:ext cx="321766" cy="186689"/>
          </a:xfrm>
          <a:prstGeom prst="rect">
            <a:avLst/>
          </a:prstGeom>
          <a:noFill/>
        </p:spPr>
        <p:txBody>
          <a:bodyPr wrap="none" lIns="0" rIns="0" tIns="0" bIns="0">
            <a:spAutoFit/>
          </a:bodyPr>
          <a:lstStyle/>
          <a:p>
            <a:r>
              <a:rPr sz="1100" b="0">
                <a:solidFill>
                  <a:srgbClr val="1F2933"/>
                </a:solidFill>
                <a:latin typeface="Segoe UI"/>
              </a:rPr>
              <a:t>US$</a:t>
            </a:r>
          </a:p>
        </p:txBody>
      </p:sp>
      <p:sp>
        <p:nvSpPr>
          <p:cNvPr id="138" name="TextBox 137"/>
          <p:cNvSpPr txBox="1"/>
          <p:nvPr/>
        </p:nvSpPr>
        <p:spPr>
          <a:xfrm>
            <a:off x="3328987" y="5012055"/>
            <a:ext cx="838547" cy="186689"/>
          </a:xfrm>
          <a:prstGeom prst="rect">
            <a:avLst/>
          </a:prstGeom>
          <a:noFill/>
        </p:spPr>
        <p:txBody>
          <a:bodyPr wrap="none" lIns="0" rIns="0" tIns="0" bIns="0">
            <a:spAutoFit/>
          </a:bodyPr>
          <a:lstStyle/>
          <a:p>
            <a:r>
              <a:rPr sz="1100" b="0">
                <a:solidFill>
                  <a:srgbClr val="1F2933"/>
                </a:solidFill>
                <a:latin typeface="Segoe UI"/>
              </a:rPr>
              <a:t>Mn by 2036.</a:t>
            </a:r>
          </a:p>
        </p:txBody>
      </p:sp>
      <p:sp>
        <p:nvSpPr>
          <p:cNvPr id="139" name="TextBox 138"/>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Segoe UI"/>
              </a:rPr>
              <a:t>5 named players compete here; '500 Wh</a:t>
            </a:r>
          </a:p>
        </p:txBody>
      </p:sp>
      <p:sp>
        <p:nvSpPr>
          <p:cNvPr id="140" name="TextBox 139"/>
          <p:cNvSpPr txBox="1"/>
          <p:nvPr/>
        </p:nvSpPr>
        <p:spPr>
          <a:xfrm>
            <a:off x="6343650" y="4844415"/>
            <a:ext cx="1596784" cy="186689"/>
          </a:xfrm>
          <a:prstGeom prst="rect">
            <a:avLst/>
          </a:prstGeom>
          <a:noFill/>
        </p:spPr>
        <p:txBody>
          <a:bodyPr wrap="none" lIns="0" rIns="0" tIns="0" bIns="0">
            <a:spAutoFit/>
          </a:bodyPr>
          <a:lstStyle/>
          <a:p>
            <a:r>
              <a:rPr sz="1100" b="0">
                <a:solidFill>
                  <a:srgbClr val="1F2933"/>
                </a:solidFill>
                <a:latin typeface="Segoe UI"/>
              </a:rPr>
              <a:t>to Below 1,000 Wh' adds</a:t>
            </a:r>
          </a:p>
        </p:txBody>
      </p:sp>
      <p:pic>
        <p:nvPicPr>
          <p:cNvPr id="141" name="Picture 140" descr="lock.png"/>
          <p:cNvPicPr>
            <a:picLocks noChangeAspect="1"/>
          </p:cNvPicPr>
          <p:nvPr/>
        </p:nvPicPr>
        <p:blipFill>
          <a:blip r:embed="rId4"/>
          <a:stretch>
            <a:fillRect/>
          </a:stretch>
        </p:blipFill>
        <p:spPr>
          <a:xfrm>
            <a:off x="7888486" y="4834636"/>
            <a:ext cx="128699" cy="187198"/>
          </a:xfrm>
          <a:prstGeom prst="rect">
            <a:avLst/>
          </a:prstGeom>
        </p:spPr>
      </p:pic>
      <p:sp>
        <p:nvSpPr>
          <p:cNvPr id="142" name="TextBox 141"/>
          <p:cNvSpPr txBox="1"/>
          <p:nvPr/>
        </p:nvSpPr>
        <p:spPr>
          <a:xfrm>
            <a:off x="8055982" y="4844415"/>
            <a:ext cx="564604" cy="186689"/>
          </a:xfrm>
          <a:prstGeom prst="rect">
            <a:avLst/>
          </a:prstGeom>
          <a:noFill/>
        </p:spPr>
        <p:txBody>
          <a:bodyPr wrap="none" lIns="0" rIns="0" tIns="0" bIns="0">
            <a:spAutoFit/>
          </a:bodyPr>
          <a:lstStyle/>
          <a:p>
            <a:r>
              <a:rPr sz="1100" b="0">
                <a:solidFill>
                  <a:srgbClr val="1F2933"/>
                </a:solidFill>
                <a:latin typeface="Segoe UI"/>
              </a:rPr>
              <a:t>US$ Mn</a:t>
            </a:r>
          </a:p>
        </p:txBody>
      </p:sp>
      <p:sp>
        <p:nvSpPr>
          <p:cNvPr id="143" name="TextBox 142"/>
          <p:cNvSpPr txBox="1"/>
          <p:nvPr/>
        </p:nvSpPr>
        <p:spPr>
          <a:xfrm>
            <a:off x="6343650" y="5012055"/>
            <a:ext cx="595709" cy="186689"/>
          </a:xfrm>
          <a:prstGeom prst="rect">
            <a:avLst/>
          </a:prstGeom>
          <a:noFill/>
        </p:spPr>
        <p:txBody>
          <a:bodyPr wrap="none" lIns="0" rIns="0" tIns="0" bIns="0">
            <a:spAutoFit/>
          </a:bodyPr>
          <a:lstStyle/>
          <a:p>
            <a:r>
              <a:rPr sz="1100" b="0">
                <a:solidFill>
                  <a:srgbClr val="1F2933"/>
                </a:solidFill>
                <a:latin typeface="Segoe UI"/>
              </a:rPr>
              <a:t>by 2036.</a:t>
            </a:r>
          </a:p>
        </p:txBody>
      </p:sp>
      <p:sp>
        <p:nvSpPr>
          <p:cNvPr id="144" name="TextBox 143"/>
          <p:cNvSpPr txBox="1"/>
          <p:nvPr/>
        </p:nvSpPr>
        <p:spPr>
          <a:xfrm>
            <a:off x="9358313" y="4676775"/>
            <a:ext cx="1872876" cy="186689"/>
          </a:xfrm>
          <a:prstGeom prst="rect">
            <a:avLst/>
          </a:prstGeom>
          <a:noFill/>
        </p:spPr>
        <p:txBody>
          <a:bodyPr wrap="none" lIns="0" rIns="0" tIns="0" bIns="0">
            <a:spAutoFit/>
          </a:bodyPr>
          <a:lstStyle/>
          <a:p>
            <a:r>
              <a:rPr sz="1100" b="0">
                <a:solidFill>
                  <a:srgbClr val="1F2933"/>
                </a:solidFill>
                <a:latin typeface="Segoe UI"/>
              </a:rPr>
              <a:t>The top two end uses pay for</a:t>
            </a:r>
          </a:p>
        </p:txBody>
      </p:sp>
      <p:pic>
        <p:nvPicPr>
          <p:cNvPr id="145" name="Picture 144" descr="lock.png"/>
          <p:cNvPicPr>
            <a:picLocks noChangeAspect="1"/>
          </p:cNvPicPr>
          <p:nvPr/>
        </p:nvPicPr>
        <p:blipFill>
          <a:blip r:embed="rId4"/>
          <a:stretch>
            <a:fillRect/>
          </a:stretch>
        </p:blipFill>
        <p:spPr>
          <a:xfrm>
            <a:off x="11179240" y="4666996"/>
            <a:ext cx="128699" cy="187198"/>
          </a:xfrm>
          <a:prstGeom prst="rect">
            <a:avLst/>
          </a:prstGeom>
        </p:spPr>
      </p:pic>
      <p:sp>
        <p:nvSpPr>
          <p:cNvPr id="146" name="TextBox 145"/>
          <p:cNvSpPr txBox="1"/>
          <p:nvPr/>
        </p:nvSpPr>
        <p:spPr>
          <a:xfrm>
            <a:off x="11346736" y="4676775"/>
            <a:ext cx="439599" cy="186689"/>
          </a:xfrm>
          <a:prstGeom prst="rect">
            <a:avLst/>
          </a:prstGeom>
          <a:noFill/>
        </p:spPr>
        <p:txBody>
          <a:bodyPr wrap="none" lIns="0" rIns="0" tIns="0" bIns="0">
            <a:spAutoFit/>
          </a:bodyPr>
          <a:lstStyle/>
          <a:p>
            <a:r>
              <a:rPr sz="1100" b="0">
                <a:solidFill>
                  <a:srgbClr val="1F2933"/>
                </a:solidFill>
                <a:latin typeface="Segoe UI"/>
              </a:rPr>
              <a:t>of the</a:t>
            </a:r>
          </a:p>
        </p:txBody>
      </p:sp>
      <p:sp>
        <p:nvSpPr>
          <p:cNvPr id="147" name="TextBox 146"/>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Segoe UI"/>
              </a:rPr>
              <a:t>market; vendors package for one vertical</a:t>
            </a:r>
          </a:p>
        </p:txBody>
      </p:sp>
      <p:sp>
        <p:nvSpPr>
          <p:cNvPr id="148" name="TextBox 147"/>
          <p:cNvSpPr txBox="1"/>
          <p:nvPr/>
        </p:nvSpPr>
        <p:spPr>
          <a:xfrm>
            <a:off x="9358313" y="5012055"/>
            <a:ext cx="647551" cy="186689"/>
          </a:xfrm>
          <a:prstGeom prst="rect">
            <a:avLst/>
          </a:prstGeom>
          <a:noFill/>
        </p:spPr>
        <p:txBody>
          <a:bodyPr wrap="none" lIns="0" rIns="0" tIns="0" bIns="0">
            <a:spAutoFit/>
          </a:bodyPr>
          <a:lstStyle/>
          <a:p>
            <a:r>
              <a:rPr sz="1100" b="0">
                <a:solidFill>
                  <a:srgbClr val="1F2933"/>
                </a:solidFill>
                <a:latin typeface="Segoe UI"/>
              </a:rPr>
              <a:t>at a time.</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Player Landscape by Business Type and Reach</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Named players by business type and geographic reach, with how each group competes</a:t>
            </a:r>
          </a:p>
        </p:txBody>
      </p:sp>
      <p:sp>
        <p:nvSpPr>
          <p:cNvPr id="8" name="Rectangle 7"/>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1  (4)</a:t>
            </a:r>
          </a:p>
        </p:txBody>
      </p:sp>
      <p:sp>
        <p:nvSpPr>
          <p:cNvPr id="10" name="Rectangle 9"/>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2  (2)</a:t>
            </a:r>
          </a:p>
        </p:txBody>
      </p:sp>
      <p:sp>
        <p:nvSpPr>
          <p:cNvPr id="12" name="Rectangle 11"/>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3  (4)</a:t>
            </a:r>
          </a:p>
        </p:txBody>
      </p:sp>
      <p:sp>
        <p:nvSpPr>
          <p:cNvPr id="14" name="TextBox 13"/>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Global (4)</a:t>
            </a:r>
          </a:p>
        </p:txBody>
      </p:sp>
      <p:sp>
        <p:nvSpPr>
          <p:cNvPr id="15" name="TextBox 14"/>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Sells in most major regions</a:t>
            </a:r>
          </a:p>
        </p:txBody>
      </p:sp>
      <p:cxnSp>
        <p:nvCxnSpPr>
          <p:cNvPr id="16" name="Connector 15"/>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19" name="TextBox 18"/>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EcoFlow</a:t>
            </a:r>
          </a:p>
        </p:txBody>
      </p:sp>
      <p:sp>
        <p:nvSpPr>
          <p:cNvPr id="20" name="Rectangle 19"/>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2" name="TextBox 21"/>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Business Overview</a:t>
            </a:r>
          </a:p>
        </p:txBody>
      </p:sp>
      <p:sp>
        <p:nvSpPr>
          <p:cNvPr id="23" name="Rectangle 22"/>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5" name="TextBox 24"/>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Relevant Portfolio</a:t>
            </a:r>
          </a:p>
        </p:txBody>
      </p:sp>
      <p:sp>
        <p:nvSpPr>
          <p:cNvPr id="26" name="Rectangle 25"/>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8" name="TextBox 27"/>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Footprint</a:t>
            </a:r>
          </a:p>
        </p:txBody>
      </p:sp>
      <p:cxnSp>
        <p:nvCxnSpPr>
          <p:cNvPr id="29" name="Connector 28"/>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Regional (2)</a:t>
            </a:r>
          </a:p>
        </p:txBody>
      </p:sp>
      <p:sp>
        <p:nvSpPr>
          <p:cNvPr id="32" name="TextBox 31"/>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Strong in one or two regions</a:t>
            </a:r>
          </a:p>
        </p:txBody>
      </p:sp>
      <p:cxnSp>
        <p:nvCxnSpPr>
          <p:cNvPr id="33" name="Connector 32"/>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8" name="TextBox 37"/>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Pricing</a:t>
            </a:r>
          </a:p>
        </p:txBody>
      </p:sp>
      <p:sp>
        <p:nvSpPr>
          <p:cNvPr id="39" name="Rectangle 38"/>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41" name="TextBox 40"/>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SWOT</a:t>
            </a:r>
          </a:p>
        </p:txBody>
      </p:sp>
      <p:cxnSp>
        <p:nvCxnSpPr>
          <p:cNvPr id="42" name="Connector 41"/>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Local or niche (4)</a:t>
            </a:r>
          </a:p>
        </p:txBody>
      </p:sp>
      <p:sp>
        <p:nvSpPr>
          <p:cNvPr id="44" name="TextBox 43"/>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One market or one specialist use</a:t>
            </a:r>
          </a:p>
        </p:txBody>
      </p:sp>
      <p:cxnSp>
        <p:nvCxnSpPr>
          <p:cNvPr id="45" name="Connector 44"/>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1" name="TextBox 50"/>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Developments</a:t>
            </a:r>
          </a:p>
        </p:txBody>
      </p:sp>
      <p:sp>
        <p:nvSpPr>
          <p:cNvPr id="52" name="Rectangle 51"/>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4" name="TextBox 53"/>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Jackery</a:t>
            </a:r>
          </a:p>
        </p:txBody>
      </p:sp>
      <p:sp>
        <p:nvSpPr>
          <p:cNvPr id="55" name="Rectangle 54"/>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7" name="TextBox 56"/>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BLUETTI</a:t>
            </a:r>
          </a:p>
        </p:txBody>
      </p:sp>
      <p:sp>
        <p:nvSpPr>
          <p:cNvPr id="58" name="Rectangle 57"/>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60" name="TextBox 59"/>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Goal Zero</a:t>
            </a:r>
          </a:p>
        </p:txBody>
      </p:sp>
      <p:sp>
        <p:nvSpPr>
          <p:cNvPr id="61" name="Rectangle 60"/>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1</a:t>
            </a:r>
          </a:p>
        </p:txBody>
      </p:sp>
      <p:sp>
        <p:nvSpPr>
          <p:cNvPr id="63" name="TextBox 62"/>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64" name="TextBox 63"/>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65" name="Rectangle 64"/>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2</a:t>
            </a:r>
          </a:p>
        </p:txBody>
      </p:sp>
      <p:sp>
        <p:nvSpPr>
          <p:cNvPr id="67" name="TextBox 66"/>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68" name="TextBox 67"/>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69" name="Rectangle 68"/>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3</a:t>
            </a:r>
          </a:p>
        </p:txBody>
      </p:sp>
      <p:sp>
        <p:nvSpPr>
          <p:cNvPr id="71" name="TextBox 70"/>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72" name="TextBox 71"/>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73" name="TextBox 72"/>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Segoe UI"/>
              </a:rPr>
              <a:t>BY TYPE   Tier 1 4   |   Tier 2 2   |   Tier 3 4      BY REACH   Global 4   |   Regional 2   |   Local or niche 4</a:t>
            </a:r>
          </a:p>
        </p:txBody>
      </p:sp>
      <p:sp>
        <p:nvSpPr>
          <p:cNvPr id="74" name="Rectangle 73"/>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1</a:t>
            </a:r>
          </a:p>
        </p:txBody>
      </p:sp>
      <p:sp>
        <p:nvSpPr>
          <p:cNvPr id="76" name="TextBox 75"/>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77" name="TextBox 76"/>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Direct + key accounts; premium / bundled positioning.</a:t>
            </a:r>
          </a:p>
        </p:txBody>
      </p:sp>
      <p:sp>
        <p:nvSpPr>
          <p:cNvPr id="78" name="TextBox 77"/>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79" name="TextBox 78"/>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80" name="Rectangle 79"/>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2</a:t>
            </a:r>
          </a:p>
        </p:txBody>
      </p:sp>
      <p:sp>
        <p:nvSpPr>
          <p:cNvPr id="82" name="TextBox 81"/>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83" name="TextBox 82"/>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Distributors; mid / value-added positioning.</a:t>
            </a:r>
          </a:p>
        </p:txBody>
      </p:sp>
      <p:sp>
        <p:nvSpPr>
          <p:cNvPr id="84" name="TextBox 83"/>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85" name="TextBox 84"/>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86" name="Rectangle 85"/>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3</a:t>
            </a:r>
          </a:p>
        </p:txBody>
      </p:sp>
      <p:sp>
        <p:nvSpPr>
          <p:cNvPr id="88" name="TextBox 87"/>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89" name="TextBox 88"/>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Regional partners; value / entry positioning.</a:t>
            </a:r>
          </a:p>
        </p:txBody>
      </p:sp>
      <p:sp>
        <p:nvSpPr>
          <p:cNvPr id="90" name="TextBox 89"/>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91" name="TextBox 90"/>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92" name="TextBox 9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97" name="Picture 96" descr="lock.png"/>
          <p:cNvPicPr>
            <a:picLocks noChangeAspect="1"/>
          </p:cNvPicPr>
          <p:nvPr/>
        </p:nvPicPr>
        <p:blipFill>
          <a:blip r:embed="rId4"/>
          <a:stretch>
            <a:fillRect/>
          </a:stretch>
        </p:blipFill>
        <p:spPr>
          <a:xfrm>
            <a:off x="1436476" y="5867145"/>
            <a:ext cx="128699" cy="187198"/>
          </a:xfrm>
          <a:prstGeom prst="rect">
            <a:avLst/>
          </a:prstGeom>
        </p:spPr>
      </p:pic>
      <p:sp>
        <p:nvSpPr>
          <p:cNvPr id="98" name="TextBox 97"/>
          <p:cNvSpPr txBox="1"/>
          <p:nvPr/>
        </p:nvSpPr>
        <p:spPr>
          <a:xfrm>
            <a:off x="1603972"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
        <p:nvSpPr>
          <p:cNvPr id="99" name="TextBox 98"/>
          <p:cNvSpPr txBox="1"/>
          <p:nvPr/>
        </p:nvSpPr>
        <p:spPr>
          <a:xfrm>
            <a:off x="3219450"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100" name="Picture 99" descr="lock.png"/>
          <p:cNvPicPr>
            <a:picLocks noChangeAspect="1"/>
          </p:cNvPicPr>
          <p:nvPr/>
        </p:nvPicPr>
        <p:blipFill>
          <a:blip r:embed="rId4"/>
          <a:stretch>
            <a:fillRect/>
          </a:stretch>
        </p:blipFill>
        <p:spPr>
          <a:xfrm>
            <a:off x="4436851" y="5867145"/>
            <a:ext cx="128699" cy="187198"/>
          </a:xfrm>
          <a:prstGeom prst="rect">
            <a:avLst/>
          </a:prstGeom>
        </p:spPr>
      </p:pic>
      <p:sp>
        <p:nvSpPr>
          <p:cNvPr id="101" name="TextBox 100"/>
          <p:cNvSpPr txBox="1"/>
          <p:nvPr/>
        </p:nvSpPr>
        <p:spPr>
          <a:xfrm>
            <a:off x="4604347"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
        <p:nvSpPr>
          <p:cNvPr id="102" name="TextBox 101"/>
          <p:cNvSpPr txBox="1"/>
          <p:nvPr/>
        </p:nvSpPr>
        <p:spPr>
          <a:xfrm>
            <a:off x="6219825"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103" name="Picture 102" descr="lock.png"/>
          <p:cNvPicPr>
            <a:picLocks noChangeAspect="1"/>
          </p:cNvPicPr>
          <p:nvPr/>
        </p:nvPicPr>
        <p:blipFill>
          <a:blip r:embed="rId4"/>
          <a:stretch>
            <a:fillRect/>
          </a:stretch>
        </p:blipFill>
        <p:spPr>
          <a:xfrm>
            <a:off x="7437226" y="5867145"/>
            <a:ext cx="128699" cy="187198"/>
          </a:xfrm>
          <a:prstGeom prst="rect">
            <a:avLst/>
          </a:prstGeom>
        </p:spPr>
      </p:pic>
      <p:sp>
        <p:nvSpPr>
          <p:cNvPr id="104" name="TextBox 103"/>
          <p:cNvSpPr txBox="1"/>
          <p:nvPr/>
        </p:nvSpPr>
        <p:spPr>
          <a:xfrm>
            <a:off x="7604722"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Corporate Scorecard: Who They Are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Eight corporate Ps for every named competitor: ownership, strategy, breadth, presence, scale and performance</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1, CORPORATE: WHO THEY ARE</a:t>
            </a:r>
          </a:p>
        </p:txBody>
      </p:sp>
      <p:sp>
        <p:nvSpPr>
          <p:cNvPr id="10" name="TextBox 9"/>
          <p:cNvSpPr txBox="1"/>
          <p:nvPr/>
        </p:nvSpPr>
        <p:spPr>
          <a:xfrm>
            <a:off x="2038350" y="1295400"/>
            <a:ext cx="230505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Parent and ownership</a:t>
            </a:r>
          </a:p>
        </p:txBody>
      </p:sp>
      <p:sp>
        <p:nvSpPr>
          <p:cNvPr id="11" name="TextBox 10"/>
          <p:cNvSpPr txBox="1"/>
          <p:nvPr/>
        </p:nvSpPr>
        <p:spPr>
          <a:xfrm>
            <a:off x="2038350" y="1657350"/>
            <a:ext cx="230505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From the company roster</a:t>
            </a:r>
          </a:p>
        </p:txBody>
      </p:sp>
      <p:sp>
        <p:nvSpPr>
          <p:cNvPr id="12" name="TextBox 11"/>
          <p:cNvSpPr txBox="1"/>
          <p:nvPr/>
        </p:nvSpPr>
        <p:spPr>
          <a:xfrm>
            <a:off x="4419600" y="1295400"/>
            <a:ext cx="119380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Purpose (strategy)</a:t>
            </a:r>
          </a:p>
        </p:txBody>
      </p:sp>
      <p:sp>
        <p:nvSpPr>
          <p:cNvPr id="13" name="TextBox 12"/>
          <p:cNvSpPr txBox="1"/>
          <p:nvPr/>
        </p:nvSpPr>
        <p:spPr>
          <a:xfrm>
            <a:off x="4419600" y="1657350"/>
            <a:ext cx="119380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Dominant active move</a:t>
            </a:r>
          </a:p>
        </p:txBody>
      </p:sp>
      <p:sp>
        <p:nvSpPr>
          <p:cNvPr id="14" name="TextBox 13"/>
          <p:cNvSpPr txBox="1"/>
          <p:nvPr/>
        </p:nvSpPr>
        <p:spPr>
          <a:xfrm>
            <a:off x="5689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Portfolio breadth</a:t>
            </a:r>
          </a:p>
        </p:txBody>
      </p:sp>
      <p:sp>
        <p:nvSpPr>
          <p:cNvPr id="15" name="TextBox 14"/>
          <p:cNvSpPr txBox="1"/>
          <p:nvPr/>
        </p:nvSpPr>
        <p:spPr>
          <a:xfrm>
            <a:off x="5689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Sub-segments: 6+ 3, 4+ 2, 2+ 1</a:t>
            </a:r>
          </a:p>
        </p:txBody>
      </p:sp>
      <p:sp>
        <p:nvSpPr>
          <p:cNvPr id="16" name="TextBox 15"/>
          <p:cNvSpPr txBox="1"/>
          <p:nvPr/>
        </p:nvSpPr>
        <p:spPr>
          <a:xfrm>
            <a:off x="6747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Presence</a:t>
            </a:r>
          </a:p>
        </p:txBody>
      </p:sp>
      <p:sp>
        <p:nvSpPr>
          <p:cNvPr id="17" name="TextBox 16"/>
          <p:cNvSpPr txBox="1"/>
          <p:nvPr/>
        </p:nvSpPr>
        <p:spPr>
          <a:xfrm>
            <a:off x="6747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Global 3, regional 2, local 1</a:t>
            </a:r>
          </a:p>
        </p:txBody>
      </p:sp>
      <p:sp>
        <p:nvSpPr>
          <p:cNvPr id="18" name="TextBox 17"/>
          <p:cNvSpPr txBox="1"/>
          <p:nvPr/>
        </p:nvSpPr>
        <p:spPr>
          <a:xfrm>
            <a:off x="7806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Power (scale)</a:t>
            </a:r>
          </a:p>
        </p:txBody>
      </p:sp>
      <p:sp>
        <p:nvSpPr>
          <p:cNvPr id="19" name="TextBox 18"/>
          <p:cNvSpPr txBox="1"/>
          <p:nvPr/>
        </p:nvSpPr>
        <p:spPr>
          <a:xfrm>
            <a:off x="7806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Tier 1 = 3, 2 = 2, 3 = 1</a:t>
            </a:r>
          </a:p>
        </p:txBody>
      </p:sp>
      <p:sp>
        <p:nvSpPr>
          <p:cNvPr id="20" name="TextBox 19"/>
          <p:cNvSpPr txBox="1"/>
          <p:nvPr/>
        </p:nvSpPr>
        <p:spPr>
          <a:xfrm>
            <a:off x="8864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Performance</a:t>
            </a:r>
          </a:p>
        </p:txBody>
      </p:sp>
      <p:sp>
        <p:nvSpPr>
          <p:cNvPr id="21" name="TextBox 20"/>
          <p:cNvSpPr txBox="1"/>
          <p:nvPr/>
        </p:nvSpPr>
        <p:spPr>
          <a:xfrm>
            <a:off x="8864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
            </a:r>
          </a:p>
        </p:txBody>
      </p:sp>
      <p:sp>
        <p:nvSpPr>
          <p:cNvPr id="22" name="TextBox 21"/>
          <p:cNvSpPr txBox="1"/>
          <p:nvPr/>
        </p:nvSpPr>
        <p:spPr>
          <a:xfrm>
            <a:off x="9922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People</a:t>
            </a:r>
          </a:p>
        </p:txBody>
      </p:sp>
      <p:sp>
        <p:nvSpPr>
          <p:cNvPr id="23" name="TextBox 22"/>
          <p:cNvSpPr txBox="1"/>
          <p:nvPr/>
        </p:nvSpPr>
        <p:spPr>
          <a:xfrm>
            <a:off x="9922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Talent; not assessed</a:t>
            </a:r>
          </a:p>
        </p:txBody>
      </p:sp>
      <p:sp>
        <p:nvSpPr>
          <p:cNvPr id="24" name="TextBox 23"/>
          <p:cNvSpPr txBox="1"/>
          <p:nvPr/>
        </p:nvSpPr>
        <p:spPr>
          <a:xfrm>
            <a:off x="10981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Partnerships</a:t>
            </a:r>
          </a:p>
        </p:txBody>
      </p:sp>
      <p:sp>
        <p:nvSpPr>
          <p:cNvPr id="25" name="TextBox 24"/>
          <p:cNvSpPr txBox="1"/>
          <p:nvPr/>
        </p:nvSpPr>
        <p:spPr>
          <a:xfrm>
            <a:off x="10981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Named alliances</a:t>
            </a:r>
          </a:p>
        </p:txBody>
      </p:sp>
      <p:cxnSp>
        <p:nvCxnSpPr>
          <p:cNvPr id="26" name="Connector 25"/>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EcoFlow</a:t>
            </a:r>
          </a:p>
        </p:txBody>
      </p:sp>
      <p:sp>
        <p:nvSpPr>
          <p:cNvPr id="29" name="TextBox 28"/>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0" name="TextBox 29"/>
          <p:cNvSpPr txBox="1"/>
          <p:nvPr/>
        </p:nvSpPr>
        <p:spPr>
          <a:xfrm>
            <a:off x="2000250" y="22288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1" name="TextBox 30"/>
          <p:cNvSpPr txBox="1"/>
          <p:nvPr/>
        </p:nvSpPr>
        <p:spPr>
          <a:xfrm>
            <a:off x="4419600" y="22288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32" name="Oval 31"/>
          <p:cNvSpPr/>
          <p:nvPr/>
        </p:nvSpPr>
        <p:spPr>
          <a:xfrm>
            <a:off x="6104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6280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211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279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4833"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7" name="TextBox 36"/>
          <p:cNvSpPr txBox="1"/>
          <p:nvPr/>
        </p:nvSpPr>
        <p:spPr>
          <a:xfrm>
            <a:off x="10943167"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38" name="Connector 37"/>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Business Overview</a:t>
            </a:r>
          </a:p>
        </p:txBody>
      </p:sp>
      <p:sp>
        <p:nvSpPr>
          <p:cNvPr id="41" name="TextBox 40"/>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2" name="TextBox 41"/>
          <p:cNvSpPr txBox="1"/>
          <p:nvPr/>
        </p:nvSpPr>
        <p:spPr>
          <a:xfrm>
            <a:off x="2000250" y="25717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3" name="TextBox 42"/>
          <p:cNvSpPr txBox="1"/>
          <p:nvPr/>
        </p:nvSpPr>
        <p:spPr>
          <a:xfrm>
            <a:off x="4419600" y="25717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44" name="Oval 43"/>
          <p:cNvSpPr/>
          <p:nvPr/>
        </p:nvSpPr>
        <p:spPr>
          <a:xfrm>
            <a:off x="6104467"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618172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16280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113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279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833"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0" name="TextBox 49"/>
          <p:cNvSpPr txBox="1"/>
          <p:nvPr/>
        </p:nvSpPr>
        <p:spPr>
          <a:xfrm>
            <a:off x="10943167"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51" name="Connector 50"/>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Relevant Portfolio</a:t>
            </a:r>
          </a:p>
        </p:txBody>
      </p:sp>
      <p:sp>
        <p:nvSpPr>
          <p:cNvPr id="54" name="TextBox 53"/>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55" name="TextBox 54"/>
          <p:cNvSpPr txBox="1"/>
          <p:nvPr/>
        </p:nvSpPr>
        <p:spPr>
          <a:xfrm>
            <a:off x="2000250" y="29146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6" name="TextBox 55"/>
          <p:cNvSpPr txBox="1"/>
          <p:nvPr/>
        </p:nvSpPr>
        <p:spPr>
          <a:xfrm>
            <a:off x="4419600" y="29146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57" name="Oval 56"/>
          <p:cNvSpPr/>
          <p:nvPr/>
        </p:nvSpPr>
        <p:spPr>
          <a:xfrm>
            <a:off x="6104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618172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6280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22113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79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3535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84833"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4" name="TextBox 63"/>
          <p:cNvSpPr txBox="1"/>
          <p:nvPr/>
        </p:nvSpPr>
        <p:spPr>
          <a:xfrm>
            <a:off x="10943167"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Footprint</a:t>
            </a:r>
          </a:p>
        </p:txBody>
      </p:sp>
      <p:sp>
        <p:nvSpPr>
          <p:cNvPr id="68" name="TextBox 67"/>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69" name="TextBox 68"/>
          <p:cNvSpPr txBox="1"/>
          <p:nvPr/>
        </p:nvSpPr>
        <p:spPr>
          <a:xfrm>
            <a:off x="2000250" y="32575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0" name="TextBox 69"/>
          <p:cNvSpPr txBox="1"/>
          <p:nvPr/>
        </p:nvSpPr>
        <p:spPr>
          <a:xfrm>
            <a:off x="4419600" y="32575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71" name="Oval 70"/>
          <p:cNvSpPr/>
          <p:nvPr/>
        </p:nvSpPr>
        <p:spPr>
          <a:xfrm>
            <a:off x="6104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1817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16280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2113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279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3535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84833"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8" name="TextBox 77"/>
          <p:cNvSpPr txBox="1"/>
          <p:nvPr/>
        </p:nvSpPr>
        <p:spPr>
          <a:xfrm>
            <a:off x="10943167"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Pricing</a:t>
            </a:r>
          </a:p>
        </p:txBody>
      </p:sp>
      <p:sp>
        <p:nvSpPr>
          <p:cNvPr id="82" name="TextBox 8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83" name="TextBox 82"/>
          <p:cNvSpPr txBox="1"/>
          <p:nvPr/>
        </p:nvSpPr>
        <p:spPr>
          <a:xfrm>
            <a:off x="2000250" y="36004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4" name="TextBox 83"/>
          <p:cNvSpPr txBox="1"/>
          <p:nvPr/>
        </p:nvSpPr>
        <p:spPr>
          <a:xfrm>
            <a:off x="4419600" y="36004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85" name="Oval 84"/>
          <p:cNvSpPr/>
          <p:nvPr/>
        </p:nvSpPr>
        <p:spPr>
          <a:xfrm>
            <a:off x="6104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181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16280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2390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2211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296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279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3535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84833"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4" name="TextBox 93"/>
          <p:cNvSpPr txBox="1"/>
          <p:nvPr/>
        </p:nvSpPr>
        <p:spPr>
          <a:xfrm>
            <a:off x="10943167"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SWOT</a:t>
            </a:r>
          </a:p>
        </p:txBody>
      </p:sp>
      <p:sp>
        <p:nvSpPr>
          <p:cNvPr id="98" name="TextBox 9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99" name="TextBox 98"/>
          <p:cNvSpPr txBox="1"/>
          <p:nvPr/>
        </p:nvSpPr>
        <p:spPr>
          <a:xfrm>
            <a:off x="2000250" y="39433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0" name="TextBox 99"/>
          <p:cNvSpPr txBox="1"/>
          <p:nvPr/>
        </p:nvSpPr>
        <p:spPr>
          <a:xfrm>
            <a:off x="4419600" y="39433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01" name="Oval 100"/>
          <p:cNvSpPr/>
          <p:nvPr/>
        </p:nvSpPr>
        <p:spPr>
          <a:xfrm>
            <a:off x="6104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181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16280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2390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211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296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79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3535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884833"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0" name="TextBox 109"/>
          <p:cNvSpPr txBox="1"/>
          <p:nvPr/>
        </p:nvSpPr>
        <p:spPr>
          <a:xfrm>
            <a:off x="10943167"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Developments</a:t>
            </a:r>
          </a:p>
        </p:txBody>
      </p:sp>
      <p:sp>
        <p:nvSpPr>
          <p:cNvPr id="114" name="TextBox 11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5" name="TextBox 114"/>
          <p:cNvSpPr txBox="1"/>
          <p:nvPr/>
        </p:nvSpPr>
        <p:spPr>
          <a:xfrm>
            <a:off x="2000250" y="42862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6" name="TextBox 115"/>
          <p:cNvSpPr txBox="1"/>
          <p:nvPr/>
        </p:nvSpPr>
        <p:spPr>
          <a:xfrm>
            <a:off x="4419600" y="42862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117" name="Oval 116"/>
          <p:cNvSpPr/>
          <p:nvPr/>
        </p:nvSpPr>
        <p:spPr>
          <a:xfrm>
            <a:off x="6104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1817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6280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2390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2211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2962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279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3535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884833"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6" name="TextBox 125"/>
          <p:cNvSpPr txBox="1"/>
          <p:nvPr/>
        </p:nvSpPr>
        <p:spPr>
          <a:xfrm>
            <a:off x="10943167"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Jackery</a:t>
            </a:r>
          </a:p>
        </p:txBody>
      </p:sp>
      <p:sp>
        <p:nvSpPr>
          <p:cNvPr id="130" name="TextBox 12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31" name="TextBox 130"/>
          <p:cNvSpPr txBox="1"/>
          <p:nvPr/>
        </p:nvSpPr>
        <p:spPr>
          <a:xfrm>
            <a:off x="2000250" y="46291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32" name="TextBox 131"/>
          <p:cNvSpPr txBox="1"/>
          <p:nvPr/>
        </p:nvSpPr>
        <p:spPr>
          <a:xfrm>
            <a:off x="4419600" y="46291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33" name="Oval 132"/>
          <p:cNvSpPr/>
          <p:nvPr/>
        </p:nvSpPr>
        <p:spPr>
          <a:xfrm>
            <a:off x="6104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1817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16280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2390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2211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2962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279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3535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884833"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42" name="TextBox 141"/>
          <p:cNvSpPr txBox="1"/>
          <p:nvPr/>
        </p:nvSpPr>
        <p:spPr>
          <a:xfrm>
            <a:off x="10943167"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BLUETTI</a:t>
            </a:r>
          </a:p>
        </p:txBody>
      </p:sp>
      <p:sp>
        <p:nvSpPr>
          <p:cNvPr id="146" name="TextBox 145"/>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47" name="TextBox 146"/>
          <p:cNvSpPr txBox="1"/>
          <p:nvPr/>
        </p:nvSpPr>
        <p:spPr>
          <a:xfrm>
            <a:off x="2000250" y="49720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48" name="TextBox 147"/>
          <p:cNvSpPr txBox="1"/>
          <p:nvPr/>
        </p:nvSpPr>
        <p:spPr>
          <a:xfrm>
            <a:off x="4419600" y="49720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149" name="Oval 148"/>
          <p:cNvSpPr/>
          <p:nvPr/>
        </p:nvSpPr>
        <p:spPr>
          <a:xfrm>
            <a:off x="6104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61817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16280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72390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22113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82962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279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93535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884833"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58" name="TextBox 157"/>
          <p:cNvSpPr txBox="1"/>
          <p:nvPr/>
        </p:nvSpPr>
        <p:spPr>
          <a:xfrm>
            <a:off x="10943167"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Goal Zero</a:t>
            </a:r>
          </a:p>
        </p:txBody>
      </p:sp>
      <p:sp>
        <p:nvSpPr>
          <p:cNvPr id="162" name="TextBox 161"/>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63" name="TextBox 162"/>
          <p:cNvSpPr txBox="1"/>
          <p:nvPr/>
        </p:nvSpPr>
        <p:spPr>
          <a:xfrm>
            <a:off x="2000250" y="5314950"/>
            <a:ext cx="2381250"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64" name="TextBox 163"/>
          <p:cNvSpPr txBox="1"/>
          <p:nvPr/>
        </p:nvSpPr>
        <p:spPr>
          <a:xfrm>
            <a:off x="4419600" y="53149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65" name="Oval 164"/>
          <p:cNvSpPr/>
          <p:nvPr/>
        </p:nvSpPr>
        <p:spPr>
          <a:xfrm>
            <a:off x="6104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817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16280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2390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22113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82962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279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93535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884833"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74" name="TextBox 173"/>
          <p:cNvSpPr txBox="1"/>
          <p:nvPr/>
        </p:nvSpPr>
        <p:spPr>
          <a:xfrm>
            <a:off x="10943167"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86" name="TextBox 185"/>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87" name="TextBox 186"/>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4 of 10 named players compete globally; scale and share follow the tier structure.</a:t>
            </a:r>
          </a:p>
        </p:txBody>
      </p:sp>
      <p:sp>
        <p:nvSpPr>
          <p:cNvPr id="188" name="TextBox 18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89" name="TextBox 188"/>
          <p:cNvSpPr txBox="1"/>
          <p:nvPr/>
        </p:nvSpPr>
        <p:spPr>
          <a:xfrm>
            <a:off x="8893175" y="1666875"/>
            <a:ext cx="380872" cy="166573"/>
          </a:xfrm>
          <a:prstGeom prst="rect">
            <a:avLst/>
          </a:prstGeom>
          <a:noFill/>
        </p:spPr>
        <p:txBody>
          <a:bodyPr wrap="none" lIns="0" rIns="0" tIns="0" bIns="0">
            <a:spAutoFit/>
          </a:bodyPr>
          <a:lstStyle/>
          <a:p>
            <a:r>
              <a:rPr sz="968" b="0">
                <a:solidFill>
                  <a:srgbClr val="5F6B7A"/>
                </a:solidFill>
                <a:latin typeface="Segoe UI"/>
              </a:rPr>
              <a:t>Share</a:t>
            </a:r>
          </a:p>
        </p:txBody>
      </p:sp>
      <p:pic>
        <p:nvPicPr>
          <p:cNvPr id="190" name="Picture 189" descr="lock.png"/>
          <p:cNvPicPr>
            <a:picLocks noChangeAspect="1"/>
          </p:cNvPicPr>
          <p:nvPr/>
        </p:nvPicPr>
        <p:blipFill>
          <a:blip r:embed="rId4"/>
          <a:stretch>
            <a:fillRect/>
          </a:stretch>
        </p:blipFill>
        <p:spPr>
          <a:xfrm>
            <a:off x="9219188" y="1658269"/>
            <a:ext cx="113255" cy="164734"/>
          </a:xfrm>
          <a:prstGeom prst="rect">
            <a:avLst/>
          </a:prstGeom>
        </p:spPr>
      </p:pic>
      <p:sp>
        <p:nvSpPr>
          <p:cNvPr id="191" name="TextBox 190"/>
          <p:cNvSpPr txBox="1"/>
          <p:nvPr/>
        </p:nvSpPr>
        <p:spPr>
          <a:xfrm>
            <a:off x="9366585" y="1666875"/>
            <a:ext cx="404429" cy="166573"/>
          </a:xfrm>
          <a:prstGeom prst="rect">
            <a:avLst/>
          </a:prstGeom>
          <a:noFill/>
        </p:spPr>
        <p:txBody>
          <a:bodyPr wrap="none" lIns="0" rIns="0" tIns="0" bIns="0">
            <a:spAutoFit/>
          </a:bodyPr>
          <a:lstStyle/>
          <a:p>
            <a:r>
              <a:rPr sz="968" b="0">
                <a:solidFill>
                  <a:srgbClr val="5F6B7A"/>
                </a:solidFill>
                <a:latin typeface="Segoe UI"/>
              </a:rPr>
              <a:t>+ = 3,</a:t>
            </a:r>
          </a:p>
        </p:txBody>
      </p:sp>
      <p:pic>
        <p:nvPicPr>
          <p:cNvPr id="192" name="Picture 191" descr="lock.png"/>
          <p:cNvPicPr>
            <a:picLocks noChangeAspect="1"/>
          </p:cNvPicPr>
          <p:nvPr/>
        </p:nvPicPr>
        <p:blipFill>
          <a:blip r:embed="rId4"/>
          <a:stretch>
            <a:fillRect/>
          </a:stretch>
        </p:blipFill>
        <p:spPr>
          <a:xfrm>
            <a:off x="8881323" y="1805792"/>
            <a:ext cx="113255" cy="164734"/>
          </a:xfrm>
          <a:prstGeom prst="rect">
            <a:avLst/>
          </a:prstGeom>
        </p:spPr>
      </p:pic>
      <p:sp>
        <p:nvSpPr>
          <p:cNvPr id="193" name="TextBox 192"/>
          <p:cNvSpPr txBox="1"/>
          <p:nvPr/>
        </p:nvSpPr>
        <p:spPr>
          <a:xfrm>
            <a:off x="9028720" y="1814398"/>
            <a:ext cx="630852" cy="166573"/>
          </a:xfrm>
          <a:prstGeom prst="rect">
            <a:avLst/>
          </a:prstGeom>
          <a:noFill/>
        </p:spPr>
        <p:txBody>
          <a:bodyPr wrap="none" lIns="0" rIns="0" tIns="0" bIns="0">
            <a:spAutoFit/>
          </a:bodyPr>
          <a:lstStyle/>
          <a:p>
            <a:r>
              <a:rPr sz="968" b="0">
                <a:solidFill>
                  <a:srgbClr val="5F6B7A"/>
                </a:solidFill>
                <a:latin typeface="Segoe UI"/>
              </a:rPr>
              <a:t>= 2, else 1</a:t>
            </a:r>
          </a:p>
        </p:txBody>
      </p:sp>
      <p:pic>
        <p:nvPicPr>
          <p:cNvPr id="194" name="Picture 193" descr="lock.png"/>
          <p:cNvPicPr>
            <a:picLocks noChangeAspect="1"/>
          </p:cNvPicPr>
          <p:nvPr/>
        </p:nvPicPr>
        <p:blipFill>
          <a:blip r:embed="rId4"/>
          <a:stretch>
            <a:fillRect/>
          </a:stretch>
        </p:blipFill>
        <p:spPr>
          <a:xfrm>
            <a:off x="3126525"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349650"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0798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3126525"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349650"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0798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126525"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349650"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0798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126525"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349650"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0798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126525"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349650"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0798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126525"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349650"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0798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126525"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349650"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0798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126525"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349650"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0798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126525"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349650"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0798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126525"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349650"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07984" y="5392801"/>
            <a:ext cx="128699" cy="187198"/>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Offering Scorecard: What They Sell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Six offering Ps: product, technology, price and model, verticals, proof and IP</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2, OFFERING: WHAT THEY SELL</a:t>
            </a:r>
          </a:p>
        </p:txBody>
      </p:sp>
      <p:sp>
        <p:nvSpPr>
          <p:cNvPr id="10" name="TextBox 9"/>
          <p:cNvSpPr txBox="1"/>
          <p:nvPr/>
        </p:nvSpPr>
        <p:spPr>
          <a:xfrm>
            <a:off x="2038350"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Product</a:t>
            </a:r>
          </a:p>
        </p:txBody>
      </p:sp>
      <p:sp>
        <p:nvSpPr>
          <p:cNvPr id="11" name="TextBox 10"/>
          <p:cNvSpPr txBox="1"/>
          <p:nvPr/>
        </p:nvSpPr>
        <p:spPr>
          <a:xfrm>
            <a:off x="2038350"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Of the top three types offered</a:t>
            </a:r>
          </a:p>
        </p:txBody>
      </p:sp>
      <p:sp>
        <p:nvSpPr>
          <p:cNvPr id="12" name="TextBox 11"/>
          <p:cNvSpPr txBox="1"/>
          <p:nvPr/>
        </p:nvSpPr>
        <p:spPr>
          <a:xfrm>
            <a:off x="3509122"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Platform (technology)</a:t>
            </a:r>
          </a:p>
        </p:txBody>
      </p:sp>
      <p:sp>
        <p:nvSpPr>
          <p:cNvPr id="13" name="TextBox 12"/>
          <p:cNvSpPr txBox="1"/>
          <p:nvPr/>
        </p:nvSpPr>
        <p:spPr>
          <a:xfrm>
            <a:off x="3509122"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R&amp;D and development: both 3, one 2</a:t>
            </a:r>
          </a:p>
        </p:txBody>
      </p:sp>
      <p:sp>
        <p:nvSpPr>
          <p:cNvPr id="14" name="TextBox 13"/>
          <p:cNvSpPr txBox="1"/>
          <p:nvPr/>
        </p:nvSpPr>
        <p:spPr>
          <a:xfrm>
            <a:off x="497989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Price and model</a:t>
            </a:r>
          </a:p>
        </p:txBody>
      </p:sp>
      <p:sp>
        <p:nvSpPr>
          <p:cNvPr id="15" name="TextBox 14"/>
          <p:cNvSpPr txBox="1"/>
          <p:nvPr/>
        </p:nvSpPr>
        <p:spPr>
          <a:xfrm>
            <a:off x="497989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Positioning by tier</a:t>
            </a:r>
          </a:p>
        </p:txBody>
      </p:sp>
      <p:sp>
        <p:nvSpPr>
          <p:cNvPr id="16" name="TextBox 15"/>
          <p:cNvSpPr txBox="1"/>
          <p:nvPr/>
        </p:nvSpPr>
        <p:spPr>
          <a:xfrm>
            <a:off x="674482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Positioning (verticals)</a:t>
            </a:r>
          </a:p>
        </p:txBody>
      </p:sp>
      <p:sp>
        <p:nvSpPr>
          <p:cNvPr id="17" name="TextBox 16"/>
          <p:cNvSpPr txBox="1"/>
          <p:nvPr/>
        </p:nvSpPr>
        <p:spPr>
          <a:xfrm>
            <a:off x="674482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End uses served</a:t>
            </a:r>
          </a:p>
        </p:txBody>
      </p:sp>
      <p:sp>
        <p:nvSpPr>
          <p:cNvPr id="18" name="TextBox 17"/>
          <p:cNvSpPr txBox="1"/>
          <p:nvPr/>
        </p:nvSpPr>
        <p:spPr>
          <a:xfrm>
            <a:off x="8509747"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Proof</a:t>
            </a:r>
          </a:p>
        </p:txBody>
      </p:sp>
      <p:sp>
        <p:nvSpPr>
          <p:cNvPr id="19" name="TextBox 18"/>
          <p:cNvSpPr txBox="1"/>
          <p:nvPr/>
        </p:nvSpPr>
        <p:spPr>
          <a:xfrm>
            <a:off x="8509747"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Named customer references</a:t>
            </a:r>
          </a:p>
        </p:txBody>
      </p:sp>
      <p:sp>
        <p:nvSpPr>
          <p:cNvPr id="20" name="TextBox 19"/>
          <p:cNvSpPr txBox="1"/>
          <p:nvPr/>
        </p:nvSpPr>
        <p:spPr>
          <a:xfrm>
            <a:off x="1027467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Patents and IP</a:t>
            </a:r>
          </a:p>
        </p:txBody>
      </p:sp>
      <p:sp>
        <p:nvSpPr>
          <p:cNvPr id="21" name="TextBox 20"/>
          <p:cNvSpPr txBox="1"/>
          <p:nvPr/>
        </p:nvSpPr>
        <p:spPr>
          <a:xfrm>
            <a:off x="1027467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Where the study covers patents</a:t>
            </a:r>
          </a:p>
        </p:txBody>
      </p:sp>
      <p:cxnSp>
        <p:nvCxnSpPr>
          <p:cNvPr id="22" name="Connector 21"/>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EcoFlow</a:t>
            </a:r>
          </a:p>
        </p:txBody>
      </p:sp>
      <p:sp>
        <p:nvSpPr>
          <p:cNvPr id="25" name="TextBox 24"/>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26" name="Oval 25"/>
          <p:cNvSpPr/>
          <p:nvPr/>
        </p:nvSpPr>
        <p:spPr>
          <a:xfrm>
            <a:off x="26594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13020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210050"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9894"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30" name="TextBox 29"/>
          <p:cNvSpPr txBox="1"/>
          <p:nvPr/>
        </p:nvSpPr>
        <p:spPr>
          <a:xfrm>
            <a:off x="6744821"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Outdoor &amp; Recreational Power</a:t>
            </a:r>
          </a:p>
        </p:txBody>
      </p:sp>
      <p:sp>
        <p:nvSpPr>
          <p:cNvPr id="31" name="TextBox 30"/>
          <p:cNvSpPr txBox="1"/>
          <p:nvPr/>
        </p:nvSpPr>
        <p:spPr>
          <a:xfrm>
            <a:off x="8471647"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2" name="TextBox 31"/>
          <p:cNvSpPr txBox="1"/>
          <p:nvPr/>
        </p:nvSpPr>
        <p:spPr>
          <a:xfrm>
            <a:off x="10236574"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33" name="Connector 32"/>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Business Overview</a:t>
            </a:r>
          </a:p>
        </p:txBody>
      </p:sp>
      <p:sp>
        <p:nvSpPr>
          <p:cNvPr id="36" name="TextBox 35"/>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7" name="Oval 36"/>
          <p:cNvSpPr/>
          <p:nvPr/>
        </p:nvSpPr>
        <p:spPr>
          <a:xfrm>
            <a:off x="265943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733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13020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79894"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41" name="TextBox 40"/>
          <p:cNvSpPr txBox="1"/>
          <p:nvPr/>
        </p:nvSpPr>
        <p:spPr>
          <a:xfrm>
            <a:off x="6744821"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Off-Grid &amp; Remote Power</a:t>
            </a:r>
          </a:p>
        </p:txBody>
      </p:sp>
      <p:sp>
        <p:nvSpPr>
          <p:cNvPr id="42" name="TextBox 41"/>
          <p:cNvSpPr txBox="1"/>
          <p:nvPr/>
        </p:nvSpPr>
        <p:spPr>
          <a:xfrm>
            <a:off x="8471647"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3" name="TextBox 42"/>
          <p:cNvSpPr txBox="1"/>
          <p:nvPr/>
        </p:nvSpPr>
        <p:spPr>
          <a:xfrm>
            <a:off x="10236574"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Relevant Portfolio</a:t>
            </a:r>
          </a:p>
        </p:txBody>
      </p:sp>
      <p:sp>
        <p:nvSpPr>
          <p:cNvPr id="47" name="TextBox 46"/>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8" name="Oval 47"/>
          <p:cNvSpPr/>
          <p:nvPr/>
        </p:nvSpPr>
        <p:spPr>
          <a:xfrm>
            <a:off x="265943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733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13020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42100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79894"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53" name="TextBox 52"/>
          <p:cNvSpPr txBox="1"/>
          <p:nvPr/>
        </p:nvSpPr>
        <p:spPr>
          <a:xfrm>
            <a:off x="6744821"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Outdoor &amp; Recreational Power, Off-Grid &amp; Remote Power</a:t>
            </a:r>
          </a:p>
        </p:txBody>
      </p:sp>
      <p:sp>
        <p:nvSpPr>
          <p:cNvPr id="54" name="TextBox 53"/>
          <p:cNvSpPr txBox="1"/>
          <p:nvPr/>
        </p:nvSpPr>
        <p:spPr>
          <a:xfrm>
            <a:off x="8471647"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5" name="TextBox 54"/>
          <p:cNvSpPr txBox="1"/>
          <p:nvPr/>
        </p:nvSpPr>
        <p:spPr>
          <a:xfrm>
            <a:off x="10236574"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56" name="Connector 55"/>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Footprint</a:t>
            </a:r>
          </a:p>
        </p:txBody>
      </p:sp>
      <p:sp>
        <p:nvSpPr>
          <p:cNvPr id="59" name="TextBox 58"/>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60" name="Oval 59"/>
          <p:cNvSpPr/>
          <p:nvPr/>
        </p:nvSpPr>
        <p:spPr>
          <a:xfrm>
            <a:off x="26594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733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13020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79894"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64" name="TextBox 63"/>
          <p:cNvSpPr txBox="1"/>
          <p:nvPr/>
        </p:nvSpPr>
        <p:spPr>
          <a:xfrm>
            <a:off x="6744821"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Outdoor &amp; Recreational Power</a:t>
            </a:r>
          </a:p>
        </p:txBody>
      </p:sp>
      <p:sp>
        <p:nvSpPr>
          <p:cNvPr id="65" name="TextBox 64"/>
          <p:cNvSpPr txBox="1"/>
          <p:nvPr/>
        </p:nvSpPr>
        <p:spPr>
          <a:xfrm>
            <a:off x="8471647"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6" name="TextBox 65"/>
          <p:cNvSpPr txBox="1"/>
          <p:nvPr/>
        </p:nvSpPr>
        <p:spPr>
          <a:xfrm>
            <a:off x="10236574"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67" name="Connector 66"/>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Pricing</a:t>
            </a:r>
          </a:p>
        </p:txBody>
      </p:sp>
      <p:sp>
        <p:nvSpPr>
          <p:cNvPr id="70" name="TextBox 69"/>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71" name="Oval 70"/>
          <p:cNvSpPr/>
          <p:nvPr/>
        </p:nvSpPr>
        <p:spPr>
          <a:xfrm>
            <a:off x="26594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13020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42100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979894"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Mid / value-added</a:t>
            </a:r>
          </a:p>
        </p:txBody>
      </p:sp>
      <p:sp>
        <p:nvSpPr>
          <p:cNvPr id="75" name="TextBox 74"/>
          <p:cNvSpPr txBox="1"/>
          <p:nvPr/>
        </p:nvSpPr>
        <p:spPr>
          <a:xfrm>
            <a:off x="6744821"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Off-Grid &amp; Remote Power</a:t>
            </a:r>
          </a:p>
        </p:txBody>
      </p:sp>
      <p:sp>
        <p:nvSpPr>
          <p:cNvPr id="76" name="TextBox 75"/>
          <p:cNvSpPr txBox="1"/>
          <p:nvPr/>
        </p:nvSpPr>
        <p:spPr>
          <a:xfrm>
            <a:off x="8471647"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7" name="TextBox 76"/>
          <p:cNvSpPr txBox="1"/>
          <p:nvPr/>
        </p:nvSpPr>
        <p:spPr>
          <a:xfrm>
            <a:off x="10236574"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78" name="Connector 77"/>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SWOT</a:t>
            </a:r>
          </a:p>
        </p:txBody>
      </p:sp>
      <p:sp>
        <p:nvSpPr>
          <p:cNvPr id="81" name="TextBox 80"/>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82" name="Oval 81"/>
          <p:cNvSpPr/>
          <p:nvPr/>
        </p:nvSpPr>
        <p:spPr>
          <a:xfrm>
            <a:off x="26594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2733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13020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979894"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Mid / value-added</a:t>
            </a:r>
          </a:p>
        </p:txBody>
      </p:sp>
      <p:sp>
        <p:nvSpPr>
          <p:cNvPr id="86" name="TextBox 85"/>
          <p:cNvSpPr txBox="1"/>
          <p:nvPr/>
        </p:nvSpPr>
        <p:spPr>
          <a:xfrm>
            <a:off x="6744821"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Outdoor &amp; Recreational Power, Off-Grid &amp; Remote Power</a:t>
            </a:r>
          </a:p>
        </p:txBody>
      </p:sp>
      <p:sp>
        <p:nvSpPr>
          <p:cNvPr id="87" name="TextBox 86"/>
          <p:cNvSpPr txBox="1"/>
          <p:nvPr/>
        </p:nvSpPr>
        <p:spPr>
          <a:xfrm>
            <a:off x="8471647"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8" name="TextBox 87"/>
          <p:cNvSpPr txBox="1"/>
          <p:nvPr/>
        </p:nvSpPr>
        <p:spPr>
          <a:xfrm>
            <a:off x="10236574"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89" name="Connector 88"/>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Developments</a:t>
            </a:r>
          </a:p>
        </p:txBody>
      </p:sp>
      <p:sp>
        <p:nvSpPr>
          <p:cNvPr id="92" name="TextBox 91"/>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93" name="Oval 92"/>
          <p:cNvSpPr/>
          <p:nvPr/>
        </p:nvSpPr>
        <p:spPr>
          <a:xfrm>
            <a:off x="26594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2733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13020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42100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979894"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98" name="TextBox 97"/>
          <p:cNvSpPr txBox="1"/>
          <p:nvPr/>
        </p:nvSpPr>
        <p:spPr>
          <a:xfrm>
            <a:off x="6744821"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Outdoor &amp; Recreational Power</a:t>
            </a:r>
          </a:p>
        </p:txBody>
      </p:sp>
      <p:sp>
        <p:nvSpPr>
          <p:cNvPr id="99" name="TextBox 98"/>
          <p:cNvSpPr txBox="1"/>
          <p:nvPr/>
        </p:nvSpPr>
        <p:spPr>
          <a:xfrm>
            <a:off x="8471647"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0" name="TextBox 99"/>
          <p:cNvSpPr txBox="1"/>
          <p:nvPr/>
        </p:nvSpPr>
        <p:spPr>
          <a:xfrm>
            <a:off x="10236574"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01" name="Connector 100"/>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Jackery</a:t>
            </a:r>
          </a:p>
        </p:txBody>
      </p:sp>
      <p:sp>
        <p:nvSpPr>
          <p:cNvPr id="104" name="TextBox 103"/>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05" name="Oval 104"/>
          <p:cNvSpPr/>
          <p:nvPr/>
        </p:nvSpPr>
        <p:spPr>
          <a:xfrm>
            <a:off x="26594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2733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413020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979894"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09" name="TextBox 108"/>
          <p:cNvSpPr txBox="1"/>
          <p:nvPr/>
        </p:nvSpPr>
        <p:spPr>
          <a:xfrm>
            <a:off x="6744821"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Off-Grid &amp; Remote Power</a:t>
            </a:r>
          </a:p>
        </p:txBody>
      </p:sp>
      <p:sp>
        <p:nvSpPr>
          <p:cNvPr id="110" name="TextBox 109"/>
          <p:cNvSpPr txBox="1"/>
          <p:nvPr/>
        </p:nvSpPr>
        <p:spPr>
          <a:xfrm>
            <a:off x="8471647"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1" name="TextBox 110"/>
          <p:cNvSpPr txBox="1"/>
          <p:nvPr/>
        </p:nvSpPr>
        <p:spPr>
          <a:xfrm>
            <a:off x="10236574"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12" name="Connector 111"/>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BLUETTI</a:t>
            </a:r>
          </a:p>
        </p:txBody>
      </p:sp>
      <p:sp>
        <p:nvSpPr>
          <p:cNvPr id="115" name="TextBox 114"/>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6" name="Oval 115"/>
          <p:cNvSpPr/>
          <p:nvPr/>
        </p:nvSpPr>
        <p:spPr>
          <a:xfrm>
            <a:off x="265943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13020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4210050"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979894"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20" name="TextBox 119"/>
          <p:cNvSpPr txBox="1"/>
          <p:nvPr/>
        </p:nvSpPr>
        <p:spPr>
          <a:xfrm>
            <a:off x="6744821"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Outdoor &amp; Recreational Power, Off-Grid &amp; Remote Power</a:t>
            </a:r>
          </a:p>
        </p:txBody>
      </p:sp>
      <p:sp>
        <p:nvSpPr>
          <p:cNvPr id="121" name="TextBox 120"/>
          <p:cNvSpPr txBox="1"/>
          <p:nvPr/>
        </p:nvSpPr>
        <p:spPr>
          <a:xfrm>
            <a:off x="8471647"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2" name="TextBox 121"/>
          <p:cNvSpPr txBox="1"/>
          <p:nvPr/>
        </p:nvSpPr>
        <p:spPr>
          <a:xfrm>
            <a:off x="10236574"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23" name="Connector 122"/>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Goal Zero</a:t>
            </a:r>
          </a:p>
        </p:txBody>
      </p:sp>
      <p:sp>
        <p:nvSpPr>
          <p:cNvPr id="126" name="TextBox 125"/>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7" name="Oval 126"/>
          <p:cNvSpPr/>
          <p:nvPr/>
        </p:nvSpPr>
        <p:spPr>
          <a:xfrm>
            <a:off x="26594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27336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13020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979894"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31" name="TextBox 130"/>
          <p:cNvSpPr txBox="1"/>
          <p:nvPr/>
        </p:nvSpPr>
        <p:spPr>
          <a:xfrm>
            <a:off x="6744821"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Professional &amp; Specialized Portable Power, Outdoor &amp; Recreational Power</a:t>
            </a:r>
          </a:p>
        </p:txBody>
      </p:sp>
      <p:sp>
        <p:nvSpPr>
          <p:cNvPr id="132" name="TextBox 131"/>
          <p:cNvSpPr txBox="1"/>
          <p:nvPr/>
        </p:nvSpPr>
        <p:spPr>
          <a:xfrm>
            <a:off x="8471647"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33" name="TextBox 132"/>
          <p:cNvSpPr txBox="1"/>
          <p:nvPr/>
        </p:nvSpPr>
        <p:spPr>
          <a:xfrm>
            <a:off x="10236574"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34" name="Connector 133"/>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37" name="Oval 136"/>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40" name="Oval 139"/>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43" name="Oval 142"/>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45" name="TextBox 144"/>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46" name="TextBox 145"/>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breadth and technology strength do not always go together; the end uses each player serves show where it competes head to head.  Proof needs customer research.</a:t>
            </a:r>
          </a:p>
        </p:txBody>
      </p:sp>
      <p:sp>
        <p:nvSpPr>
          <p:cNvPr id="147" name="TextBox 1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8" name="Picture 147" descr="lock.png"/>
          <p:cNvPicPr>
            <a:picLocks noChangeAspect="1"/>
          </p:cNvPicPr>
          <p:nvPr/>
        </p:nvPicPr>
        <p:blipFill>
          <a:blip r:embed="rId4"/>
          <a:stretch>
            <a:fillRect/>
          </a:stretch>
        </p:blipFill>
        <p:spPr>
          <a:xfrm>
            <a:off x="9289760"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054687"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289760"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54687"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289760"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54687"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289760"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54687"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289760"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54687"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289760"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54687"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289760"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54687"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289760"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54687"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289760"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54687"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289760"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54687" y="5392801"/>
            <a:ext cx="128699" cy="187198"/>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Execution Scorecard: How They Win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Six execution Ps: channel, promotion, momentum, pipeline, policy exposure and prospects</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3, EXECUTION: HOW THEY WIN</a:t>
            </a:r>
          </a:p>
        </p:txBody>
      </p:sp>
      <p:sp>
        <p:nvSpPr>
          <p:cNvPr id="10" name="TextBox 9"/>
          <p:cNvSpPr txBox="1"/>
          <p:nvPr/>
        </p:nvSpPr>
        <p:spPr>
          <a:xfrm>
            <a:off x="2038350"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Place (channel)</a:t>
            </a:r>
          </a:p>
        </p:txBody>
      </p:sp>
      <p:sp>
        <p:nvSpPr>
          <p:cNvPr id="11" name="TextBox 10"/>
          <p:cNvSpPr txBox="1"/>
          <p:nvPr/>
        </p:nvSpPr>
        <p:spPr>
          <a:xfrm>
            <a:off x="2038350"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Route to market by tier</a:t>
            </a:r>
          </a:p>
        </p:txBody>
      </p:sp>
      <p:sp>
        <p:nvSpPr>
          <p:cNvPr id="12" name="TextBox 11"/>
          <p:cNvSpPr txBox="1"/>
          <p:nvPr/>
        </p:nvSpPr>
        <p:spPr>
          <a:xfrm>
            <a:off x="3803276"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Promotion</a:t>
            </a:r>
          </a:p>
        </p:txBody>
      </p:sp>
      <p:sp>
        <p:nvSpPr>
          <p:cNvPr id="13" name="TextBox 12"/>
          <p:cNvSpPr txBox="1"/>
          <p:nvPr/>
        </p:nvSpPr>
        <p:spPr>
          <a:xfrm>
            <a:off x="3803276"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Go-to-market; not assessed</a:t>
            </a:r>
          </a:p>
        </p:txBody>
      </p:sp>
      <p:sp>
        <p:nvSpPr>
          <p:cNvPr id="14" name="TextBox 13"/>
          <p:cNvSpPr txBox="1"/>
          <p:nvPr/>
        </p:nvSpPr>
        <p:spPr>
          <a:xfrm>
            <a:off x="5568203"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Pace (momentum)</a:t>
            </a:r>
          </a:p>
        </p:txBody>
      </p:sp>
      <p:sp>
        <p:nvSpPr>
          <p:cNvPr id="15" name="TextBox 14"/>
          <p:cNvSpPr txBox="1"/>
          <p:nvPr/>
        </p:nvSpPr>
        <p:spPr>
          <a:xfrm>
            <a:off x="5568203"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Active moves: 5+ = 3, 3-4 = 2</a:t>
            </a:r>
          </a:p>
        </p:txBody>
      </p:sp>
      <p:sp>
        <p:nvSpPr>
          <p:cNvPr id="16" name="TextBox 15"/>
          <p:cNvSpPr txBox="1"/>
          <p:nvPr/>
        </p:nvSpPr>
        <p:spPr>
          <a:xfrm>
            <a:off x="7038975"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Pipeline</a:t>
            </a:r>
          </a:p>
        </p:txBody>
      </p:sp>
      <p:sp>
        <p:nvSpPr>
          <p:cNvPr id="17" name="TextBox 16"/>
          <p:cNvSpPr txBox="1"/>
          <p:nvPr/>
        </p:nvSpPr>
        <p:spPr>
          <a:xfrm>
            <a:off x="7038975"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Launch or development in motion</a:t>
            </a:r>
          </a:p>
        </p:txBody>
      </p:sp>
      <p:sp>
        <p:nvSpPr>
          <p:cNvPr id="18" name="TextBox 17"/>
          <p:cNvSpPr txBox="1"/>
          <p:nvPr/>
        </p:nvSpPr>
        <p:spPr>
          <a:xfrm>
            <a:off x="880390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Policy exposure</a:t>
            </a:r>
          </a:p>
        </p:txBody>
      </p:sp>
      <p:sp>
        <p:nvSpPr>
          <p:cNvPr id="19" name="TextBox 18"/>
          <p:cNvSpPr txBox="1"/>
          <p:nvPr/>
        </p:nvSpPr>
        <p:spPr>
          <a:xfrm>
            <a:off x="880390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Regulation in its favour or against</a:t>
            </a:r>
          </a:p>
        </p:txBody>
      </p:sp>
      <p:sp>
        <p:nvSpPr>
          <p:cNvPr id="20" name="TextBox 19"/>
          <p:cNvSpPr txBox="1"/>
          <p:nvPr/>
        </p:nvSpPr>
        <p:spPr>
          <a:xfrm>
            <a:off x="10568828"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Prospects</a:t>
            </a:r>
          </a:p>
        </p:txBody>
      </p:sp>
      <p:sp>
        <p:nvSpPr>
          <p:cNvPr id="21" name="TextBox 20"/>
          <p:cNvSpPr txBox="1"/>
          <p:nvPr/>
        </p:nvSpPr>
        <p:spPr>
          <a:xfrm>
            <a:off x="10568828"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Gaining 3, holding 2, at risk 1</a:t>
            </a:r>
          </a:p>
        </p:txBody>
      </p:sp>
      <p:cxnSp>
        <p:nvCxnSpPr>
          <p:cNvPr id="22" name="Connector 21"/>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EcoFlow</a:t>
            </a:r>
          </a:p>
        </p:txBody>
      </p:sp>
      <p:sp>
        <p:nvSpPr>
          <p:cNvPr id="25" name="TextBox 24"/>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26" name="TextBox 25"/>
          <p:cNvSpPr txBox="1"/>
          <p:nvPr/>
        </p:nvSpPr>
        <p:spPr>
          <a:xfrm>
            <a:off x="2038350"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27" name="TextBox 26"/>
          <p:cNvSpPr txBox="1"/>
          <p:nvPr/>
        </p:nvSpPr>
        <p:spPr>
          <a:xfrm>
            <a:off x="3765176"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28" name="Oval 27"/>
          <p:cNvSpPr/>
          <p:nvPr/>
        </p:nvSpPr>
        <p:spPr>
          <a:xfrm>
            <a:off x="61892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00875"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0" name="TextBox 29"/>
          <p:cNvSpPr txBox="1"/>
          <p:nvPr/>
        </p:nvSpPr>
        <p:spPr>
          <a:xfrm>
            <a:off x="8765801"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1" name="Oval 30"/>
          <p:cNvSpPr/>
          <p:nvPr/>
        </p:nvSpPr>
        <p:spPr>
          <a:xfrm>
            <a:off x="1118991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Business Overview</a:t>
            </a:r>
          </a:p>
        </p:txBody>
      </p:sp>
      <p:sp>
        <p:nvSpPr>
          <p:cNvPr id="35" name="TextBox 34"/>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6" name="TextBox 35"/>
          <p:cNvSpPr txBox="1"/>
          <p:nvPr/>
        </p:nvSpPr>
        <p:spPr>
          <a:xfrm>
            <a:off x="2038350"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37" name="TextBox 36"/>
          <p:cNvSpPr txBox="1"/>
          <p:nvPr/>
        </p:nvSpPr>
        <p:spPr>
          <a:xfrm>
            <a:off x="3765176"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8" name="Oval 37"/>
          <p:cNvSpPr/>
          <p:nvPr/>
        </p:nvSpPr>
        <p:spPr>
          <a:xfrm>
            <a:off x="61892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38975"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40" name="TextBox 39"/>
          <p:cNvSpPr txBox="1"/>
          <p:nvPr/>
        </p:nvSpPr>
        <p:spPr>
          <a:xfrm>
            <a:off x="8765801"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1" name="Oval 40"/>
          <p:cNvSpPr/>
          <p:nvPr/>
        </p:nvSpPr>
        <p:spPr>
          <a:xfrm>
            <a:off x="1118991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Relevant Portfolio</a:t>
            </a:r>
          </a:p>
        </p:txBody>
      </p:sp>
      <p:sp>
        <p:nvSpPr>
          <p:cNvPr id="45" name="TextBox 44"/>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6" name="TextBox 45"/>
          <p:cNvSpPr txBox="1"/>
          <p:nvPr/>
        </p:nvSpPr>
        <p:spPr>
          <a:xfrm>
            <a:off x="2038350"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47" name="TextBox 46"/>
          <p:cNvSpPr txBox="1"/>
          <p:nvPr/>
        </p:nvSpPr>
        <p:spPr>
          <a:xfrm>
            <a:off x="3765176"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8" name="Oval 47"/>
          <p:cNvSpPr/>
          <p:nvPr/>
        </p:nvSpPr>
        <p:spPr>
          <a:xfrm>
            <a:off x="61892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00875"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0" name="TextBox 49"/>
          <p:cNvSpPr txBox="1"/>
          <p:nvPr/>
        </p:nvSpPr>
        <p:spPr>
          <a:xfrm>
            <a:off x="8765801"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1" name="Oval 50"/>
          <p:cNvSpPr/>
          <p:nvPr/>
        </p:nvSpPr>
        <p:spPr>
          <a:xfrm>
            <a:off x="1118991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Footprint</a:t>
            </a:r>
          </a:p>
        </p:txBody>
      </p:sp>
      <p:sp>
        <p:nvSpPr>
          <p:cNvPr id="55" name="TextBox 54"/>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56" name="TextBox 55"/>
          <p:cNvSpPr txBox="1"/>
          <p:nvPr/>
        </p:nvSpPr>
        <p:spPr>
          <a:xfrm>
            <a:off x="2038350"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57" name="TextBox 56"/>
          <p:cNvSpPr txBox="1"/>
          <p:nvPr/>
        </p:nvSpPr>
        <p:spPr>
          <a:xfrm>
            <a:off x="3765176"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8" name="Oval 57"/>
          <p:cNvSpPr/>
          <p:nvPr/>
        </p:nvSpPr>
        <p:spPr>
          <a:xfrm>
            <a:off x="61892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38975"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60" name="TextBox 59"/>
          <p:cNvSpPr txBox="1"/>
          <p:nvPr/>
        </p:nvSpPr>
        <p:spPr>
          <a:xfrm>
            <a:off x="8765801"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1" name="Oval 60"/>
          <p:cNvSpPr/>
          <p:nvPr/>
        </p:nvSpPr>
        <p:spPr>
          <a:xfrm>
            <a:off x="1118991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Pricing</a:t>
            </a:r>
          </a:p>
        </p:txBody>
      </p:sp>
      <p:sp>
        <p:nvSpPr>
          <p:cNvPr id="65" name="TextBox 64"/>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66" name="TextBox 65"/>
          <p:cNvSpPr txBox="1"/>
          <p:nvPr/>
        </p:nvSpPr>
        <p:spPr>
          <a:xfrm>
            <a:off x="2038350"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Distributors</a:t>
            </a:r>
          </a:p>
        </p:txBody>
      </p:sp>
      <p:sp>
        <p:nvSpPr>
          <p:cNvPr id="67" name="TextBox 66"/>
          <p:cNvSpPr txBox="1"/>
          <p:nvPr/>
        </p:nvSpPr>
        <p:spPr>
          <a:xfrm>
            <a:off x="3765176"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8" name="Oval 67"/>
          <p:cNvSpPr/>
          <p:nvPr/>
        </p:nvSpPr>
        <p:spPr>
          <a:xfrm>
            <a:off x="61892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00875"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0" name="TextBox 69"/>
          <p:cNvSpPr txBox="1"/>
          <p:nvPr/>
        </p:nvSpPr>
        <p:spPr>
          <a:xfrm>
            <a:off x="8765801"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1" name="Oval 70"/>
          <p:cNvSpPr/>
          <p:nvPr/>
        </p:nvSpPr>
        <p:spPr>
          <a:xfrm>
            <a:off x="1118991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12680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SWOT</a:t>
            </a:r>
          </a:p>
        </p:txBody>
      </p:sp>
      <p:sp>
        <p:nvSpPr>
          <p:cNvPr id="76" name="TextBox 75"/>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77" name="TextBox 76"/>
          <p:cNvSpPr txBox="1"/>
          <p:nvPr/>
        </p:nvSpPr>
        <p:spPr>
          <a:xfrm>
            <a:off x="2038350"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Distributors</a:t>
            </a:r>
          </a:p>
        </p:txBody>
      </p:sp>
      <p:sp>
        <p:nvSpPr>
          <p:cNvPr id="78" name="TextBox 77"/>
          <p:cNvSpPr txBox="1"/>
          <p:nvPr/>
        </p:nvSpPr>
        <p:spPr>
          <a:xfrm>
            <a:off x="3765176"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9" name="Oval 78"/>
          <p:cNvSpPr/>
          <p:nvPr/>
        </p:nvSpPr>
        <p:spPr>
          <a:xfrm>
            <a:off x="618928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038975"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81" name="TextBox 80"/>
          <p:cNvSpPr txBox="1"/>
          <p:nvPr/>
        </p:nvSpPr>
        <p:spPr>
          <a:xfrm>
            <a:off x="8765801"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2" name="Oval 81"/>
          <p:cNvSpPr/>
          <p:nvPr/>
        </p:nvSpPr>
        <p:spPr>
          <a:xfrm>
            <a:off x="1118991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12680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Developments</a:t>
            </a:r>
          </a:p>
        </p:txBody>
      </p:sp>
      <p:sp>
        <p:nvSpPr>
          <p:cNvPr id="87" name="TextBox 86"/>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88" name="TextBox 87"/>
          <p:cNvSpPr txBox="1"/>
          <p:nvPr/>
        </p:nvSpPr>
        <p:spPr>
          <a:xfrm>
            <a:off x="2038350"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89" name="TextBox 88"/>
          <p:cNvSpPr txBox="1"/>
          <p:nvPr/>
        </p:nvSpPr>
        <p:spPr>
          <a:xfrm>
            <a:off x="3765176"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0" name="Oval 89"/>
          <p:cNvSpPr/>
          <p:nvPr/>
        </p:nvSpPr>
        <p:spPr>
          <a:xfrm>
            <a:off x="618928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00875"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2" name="TextBox 91"/>
          <p:cNvSpPr txBox="1"/>
          <p:nvPr/>
        </p:nvSpPr>
        <p:spPr>
          <a:xfrm>
            <a:off x="8765801"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3" name="Oval 92"/>
          <p:cNvSpPr/>
          <p:nvPr/>
        </p:nvSpPr>
        <p:spPr>
          <a:xfrm>
            <a:off x="1118991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112680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Jackery</a:t>
            </a:r>
          </a:p>
        </p:txBody>
      </p:sp>
      <p:sp>
        <p:nvSpPr>
          <p:cNvPr id="98" name="TextBox 97"/>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99" name="TextBox 98"/>
          <p:cNvSpPr txBox="1"/>
          <p:nvPr/>
        </p:nvSpPr>
        <p:spPr>
          <a:xfrm>
            <a:off x="2038350"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00" name="TextBox 99"/>
          <p:cNvSpPr txBox="1"/>
          <p:nvPr/>
        </p:nvSpPr>
        <p:spPr>
          <a:xfrm>
            <a:off x="3765176"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1" name="Oval 100"/>
          <p:cNvSpPr/>
          <p:nvPr/>
        </p:nvSpPr>
        <p:spPr>
          <a:xfrm>
            <a:off x="618928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038975"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103" name="TextBox 102"/>
          <p:cNvSpPr txBox="1"/>
          <p:nvPr/>
        </p:nvSpPr>
        <p:spPr>
          <a:xfrm>
            <a:off x="8765801"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4" name="Oval 103"/>
          <p:cNvSpPr/>
          <p:nvPr/>
        </p:nvSpPr>
        <p:spPr>
          <a:xfrm>
            <a:off x="1118991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112680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BLUETTI</a:t>
            </a:r>
          </a:p>
        </p:txBody>
      </p:sp>
      <p:sp>
        <p:nvSpPr>
          <p:cNvPr id="109" name="TextBox 108"/>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0" name="TextBox 109"/>
          <p:cNvSpPr txBox="1"/>
          <p:nvPr/>
        </p:nvSpPr>
        <p:spPr>
          <a:xfrm>
            <a:off x="2038350"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11" name="TextBox 110"/>
          <p:cNvSpPr txBox="1"/>
          <p:nvPr/>
        </p:nvSpPr>
        <p:spPr>
          <a:xfrm>
            <a:off x="3765176"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2" name="Oval 111"/>
          <p:cNvSpPr/>
          <p:nvPr/>
        </p:nvSpPr>
        <p:spPr>
          <a:xfrm>
            <a:off x="618928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000875"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4" name="TextBox 113"/>
          <p:cNvSpPr txBox="1"/>
          <p:nvPr/>
        </p:nvSpPr>
        <p:spPr>
          <a:xfrm>
            <a:off x="8765801"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5" name="Oval 114"/>
          <p:cNvSpPr/>
          <p:nvPr/>
        </p:nvSpPr>
        <p:spPr>
          <a:xfrm>
            <a:off x="1118991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112680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Segoe UI"/>
              </a:rPr>
              <a:t>Goal Zero</a:t>
            </a:r>
          </a:p>
        </p:txBody>
      </p:sp>
      <p:sp>
        <p:nvSpPr>
          <p:cNvPr id="120" name="TextBox 119"/>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1" name="TextBox 120"/>
          <p:cNvSpPr txBox="1"/>
          <p:nvPr/>
        </p:nvSpPr>
        <p:spPr>
          <a:xfrm>
            <a:off x="2038350"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22" name="TextBox 121"/>
          <p:cNvSpPr txBox="1"/>
          <p:nvPr/>
        </p:nvSpPr>
        <p:spPr>
          <a:xfrm>
            <a:off x="3765176"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3" name="Oval 122"/>
          <p:cNvSpPr/>
          <p:nvPr/>
        </p:nvSpPr>
        <p:spPr>
          <a:xfrm>
            <a:off x="6189289"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038975"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125" name="TextBox 124"/>
          <p:cNvSpPr txBox="1"/>
          <p:nvPr/>
        </p:nvSpPr>
        <p:spPr>
          <a:xfrm>
            <a:off x="8765801"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6" name="Oval 125"/>
          <p:cNvSpPr/>
          <p:nvPr/>
        </p:nvSpPr>
        <p:spPr>
          <a:xfrm>
            <a:off x="1118991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112680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8" name="Connector 127"/>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Oval 128"/>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31" name="Oval 130"/>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34" name="Oval 133"/>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37" name="Oval 136"/>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39" name="TextBox 138"/>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40" name="TextBox 139"/>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Momentum sits with the players running the most strategic moves; prospects combine breadth, reach, scale and pace.  Promotion and policy exposure need market and regulatory research.</a:t>
            </a:r>
          </a:p>
        </p:txBody>
      </p:sp>
      <p:sp>
        <p:nvSpPr>
          <p:cNvPr id="141" name="TextBox 1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2" name="Picture 141" descr="lock.png"/>
          <p:cNvPicPr>
            <a:picLocks noChangeAspect="1"/>
          </p:cNvPicPr>
          <p:nvPr/>
        </p:nvPicPr>
        <p:blipFill>
          <a:blip r:embed="rId4"/>
          <a:stretch>
            <a:fillRect/>
          </a:stretch>
        </p:blipFill>
        <p:spPr>
          <a:xfrm>
            <a:off x="4583289"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7818988"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583914"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4583289"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583914"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583289"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7818988"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583914"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583289"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83914"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583289"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7818988"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83914"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583289"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83914"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583289"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7818988"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583914"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4583289"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583914"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583289"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7818988"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583914"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4583289"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83914" y="5392801"/>
            <a:ext cx="128699" cy="187198"/>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Success Factors and Composite Ranking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Five weighted success factors and the composite ranking they produce</a:t>
            </a:r>
          </a:p>
        </p:txBody>
      </p:sp>
      <p:sp>
        <p:nvSpPr>
          <p:cNvPr id="8" name="TextBox 7"/>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1. Segment breadth</a:t>
            </a:r>
          </a:p>
        </p:txBody>
      </p:sp>
      <p:sp>
        <p:nvSpPr>
          <p:cNvPr id="9" name="TextBox 8"/>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0" name="TextBox 9"/>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Lead or be active in several sub-segments</a:t>
            </a:r>
          </a:p>
        </p:txBody>
      </p:sp>
      <p:sp>
        <p:nvSpPr>
          <p:cNvPr id="11" name="TextBox 10"/>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2. Scale and share</a:t>
            </a:r>
          </a:p>
        </p:txBody>
      </p:sp>
      <p:sp>
        <p:nvSpPr>
          <p:cNvPr id="12" name="TextBox 11"/>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3" name="TextBox 12"/>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Tier position and share of market value</a:t>
            </a:r>
          </a:p>
        </p:txBody>
      </p:sp>
      <p:sp>
        <p:nvSpPr>
          <p:cNvPr id="14" name="TextBox 13"/>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3. Geographic reach</a:t>
            </a:r>
          </a:p>
        </p:txBody>
      </p:sp>
      <p:sp>
        <p:nvSpPr>
          <p:cNvPr id="15" name="TextBox 14"/>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6" name="TextBox 15"/>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Global, regional or single-market footprint</a:t>
            </a:r>
          </a:p>
        </p:txBody>
      </p:sp>
      <p:sp>
        <p:nvSpPr>
          <p:cNvPr id="17" name="TextBox 16"/>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4. Innovation pipeline</a:t>
            </a:r>
          </a:p>
        </p:txBody>
      </p:sp>
      <p:sp>
        <p:nvSpPr>
          <p:cNvPr id="18" name="TextBox 17"/>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9" name="TextBox 18"/>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R&amp;D and product development in motion</a:t>
            </a:r>
          </a:p>
        </p:txBody>
      </p:sp>
      <p:sp>
        <p:nvSpPr>
          <p:cNvPr id="20" name="TextBox 19"/>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5. Strategic momentum</a:t>
            </a:r>
          </a:p>
        </p:txBody>
      </p:sp>
      <p:sp>
        <p:nvSpPr>
          <p:cNvPr id="21" name="TextBox 20"/>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22" name="TextBox 21"/>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Number of active strategic moves</a:t>
            </a:r>
          </a:p>
        </p:txBody>
      </p:sp>
      <p:sp>
        <p:nvSpPr>
          <p:cNvPr id="23" name="TextBox 22"/>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Segoe UI"/>
              </a:rPr>
              <a:t>Composite</a:t>
            </a:r>
          </a:p>
        </p:txBody>
      </p:sp>
      <p:sp>
        <p:nvSpPr>
          <p:cNvPr id="24" name="TextBox 23"/>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Segoe UI"/>
              </a:rPr>
              <a:t>weighted 0 to 3</a:t>
            </a:r>
          </a:p>
        </p:txBody>
      </p:sp>
      <p:cxnSp>
        <p:nvCxnSpPr>
          <p:cNvPr id="25" name="Connector 24"/>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EcoFlow</a:t>
            </a:r>
          </a:p>
        </p:txBody>
      </p:sp>
      <p:sp>
        <p:nvSpPr>
          <p:cNvPr id="28" name="Oval 27"/>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420350" y="18954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44300" y="18097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36" name="Connector 35"/>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Business Overview</a:t>
            </a:r>
          </a:p>
        </p:txBody>
      </p:sp>
      <p:sp>
        <p:nvSpPr>
          <p:cNvPr id="39" name="Oval 38"/>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92417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20350" y="22002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487150" y="21145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47" name="Connector 46"/>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Footprint</a:t>
            </a:r>
          </a:p>
        </p:txBody>
      </p:sp>
      <p:sp>
        <p:nvSpPr>
          <p:cNvPr id="50" name="Oval 49"/>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20350" y="25050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487150" y="24193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58" name="Connector 57"/>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Relevant Portfolio</a:t>
            </a:r>
          </a:p>
        </p:txBody>
      </p:sp>
      <p:sp>
        <p:nvSpPr>
          <p:cNvPr id="61" name="Oval 60"/>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82002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789622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30000" y="27241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SWOT</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Pricing</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Jackery</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Goal Zero</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Developments</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BLUETTI</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62" name="TextBox 161"/>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1</a:t>
            </a:r>
          </a:p>
        </p:txBody>
      </p:sp>
      <p:sp>
        <p:nvSpPr>
          <p:cNvPr id="165" name="TextBox 164"/>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EcoFlow, Business Overview, Footprint, Relevant Portfolio</a:t>
            </a:r>
          </a:p>
        </p:txBody>
      </p:sp>
      <p:sp>
        <p:nvSpPr>
          <p:cNvPr id="166" name="TextBox 165"/>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scale and share; weakest on segment breadth.</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2</a:t>
            </a:r>
          </a:p>
        </p:txBody>
      </p:sp>
      <p:sp>
        <p:nvSpPr>
          <p:cNvPr id="169" name="TextBox 168"/>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SWOT, Pricing</a:t>
            </a:r>
          </a:p>
        </p:txBody>
      </p:sp>
      <p:sp>
        <p:nvSpPr>
          <p:cNvPr id="170" name="TextBox 169"/>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3</a:t>
            </a:r>
          </a:p>
        </p:txBody>
      </p:sp>
      <p:sp>
        <p:nvSpPr>
          <p:cNvPr id="173" name="TextBox 172"/>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Jackery, Goal Zero, Developments, BLUETTI</a:t>
            </a:r>
          </a:p>
        </p:txBody>
      </p:sp>
      <p:sp>
        <p:nvSpPr>
          <p:cNvPr id="174" name="TextBox 173"/>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strategic momentum; weakest on scale and share.</a:t>
            </a:r>
          </a:p>
        </p:txBody>
      </p:sp>
      <p:sp>
        <p:nvSpPr>
          <p:cNvPr id="175" name="TextBox 1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6" name="Picture 175" descr="lock.png"/>
          <p:cNvPicPr>
            <a:picLocks noChangeAspect="1"/>
          </p:cNvPicPr>
          <p:nvPr/>
        </p:nvPicPr>
        <p:blipFill>
          <a:blip r:embed="rId4"/>
          <a:stretch>
            <a:fillRect/>
          </a:stretch>
        </p:blipFill>
        <p:spPr>
          <a:xfrm>
            <a:off x="1168950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3235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3235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57520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87" name="Picture 186" descr="lock.png"/>
          <p:cNvPicPr>
            <a:picLocks noChangeAspect="1"/>
          </p:cNvPicPr>
          <p:nvPr/>
        </p:nvPicPr>
        <p:blipFill>
          <a:blip r:embed="rId4"/>
          <a:stretch>
            <a:fillRect/>
          </a:stretch>
        </p:blipFill>
        <p:spPr>
          <a:xfrm>
            <a:off x="2525743" y="1212159"/>
            <a:ext cx="92663" cy="134782"/>
          </a:xfrm>
          <a:prstGeom prst="rect">
            <a:avLst/>
          </a:prstGeom>
        </p:spPr>
      </p:pic>
      <p:sp>
        <p:nvSpPr>
          <p:cNvPr id="188" name="TextBox 187"/>
          <p:cNvSpPr txBox="1"/>
          <p:nvPr/>
        </p:nvSpPr>
        <p:spPr>
          <a:xfrm>
            <a:off x="381952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89" name="Picture 188" descr="lock.png"/>
          <p:cNvPicPr>
            <a:picLocks noChangeAspect="1"/>
          </p:cNvPicPr>
          <p:nvPr/>
        </p:nvPicPr>
        <p:blipFill>
          <a:blip r:embed="rId4"/>
          <a:stretch>
            <a:fillRect/>
          </a:stretch>
        </p:blipFill>
        <p:spPr>
          <a:xfrm>
            <a:off x="4183093" y="1212159"/>
            <a:ext cx="92663" cy="134782"/>
          </a:xfrm>
          <a:prstGeom prst="rect">
            <a:avLst/>
          </a:prstGeom>
        </p:spPr>
      </p:pic>
      <p:sp>
        <p:nvSpPr>
          <p:cNvPr id="190" name="TextBox 189"/>
          <p:cNvSpPr txBox="1"/>
          <p:nvPr/>
        </p:nvSpPr>
        <p:spPr>
          <a:xfrm>
            <a:off x="54768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1" name="Picture 190" descr="lock.png"/>
          <p:cNvPicPr>
            <a:picLocks noChangeAspect="1"/>
          </p:cNvPicPr>
          <p:nvPr/>
        </p:nvPicPr>
        <p:blipFill>
          <a:blip r:embed="rId4"/>
          <a:stretch>
            <a:fillRect/>
          </a:stretch>
        </p:blipFill>
        <p:spPr>
          <a:xfrm>
            <a:off x="5840443" y="1212159"/>
            <a:ext cx="92663" cy="134782"/>
          </a:xfrm>
          <a:prstGeom prst="rect">
            <a:avLst/>
          </a:prstGeom>
        </p:spPr>
      </p:pic>
      <p:sp>
        <p:nvSpPr>
          <p:cNvPr id="192" name="TextBox 191"/>
          <p:cNvSpPr txBox="1"/>
          <p:nvPr/>
        </p:nvSpPr>
        <p:spPr>
          <a:xfrm>
            <a:off x="713422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3" name="Picture 192" descr="lock.png"/>
          <p:cNvPicPr>
            <a:picLocks noChangeAspect="1"/>
          </p:cNvPicPr>
          <p:nvPr/>
        </p:nvPicPr>
        <p:blipFill>
          <a:blip r:embed="rId4"/>
          <a:stretch>
            <a:fillRect/>
          </a:stretch>
        </p:blipFill>
        <p:spPr>
          <a:xfrm>
            <a:off x="7497793" y="1212159"/>
            <a:ext cx="92663" cy="134782"/>
          </a:xfrm>
          <a:prstGeom prst="rect">
            <a:avLst/>
          </a:prstGeom>
        </p:spPr>
      </p:pic>
      <p:sp>
        <p:nvSpPr>
          <p:cNvPr id="194" name="TextBox 193"/>
          <p:cNvSpPr txBox="1"/>
          <p:nvPr/>
        </p:nvSpPr>
        <p:spPr>
          <a:xfrm>
            <a:off x="87915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5" name="Picture 194" descr="lock.png"/>
          <p:cNvPicPr>
            <a:picLocks noChangeAspect="1"/>
          </p:cNvPicPr>
          <p:nvPr/>
        </p:nvPicPr>
        <p:blipFill>
          <a:blip r:embed="rId4"/>
          <a:stretch>
            <a:fillRect/>
          </a:stretch>
        </p:blipFill>
        <p:spPr>
          <a:xfrm>
            <a:off x="9155143" y="1212159"/>
            <a:ext cx="92663" cy="134782"/>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Strategic Activity Tracker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Each player's active strategic moves: what, type, source department, signal and who should act</a:t>
            </a:r>
          </a:p>
        </p:txBody>
      </p:sp>
      <p:sp>
        <p:nvSpPr>
          <p:cNvPr id="8" name="TextBox 7"/>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Segoe UI"/>
              </a:rPr>
              <a:t>COMPANY</a:t>
            </a:r>
          </a:p>
        </p:txBody>
      </p:sp>
      <p:sp>
        <p:nvSpPr>
          <p:cNvPr id="9" name="TextBox 8"/>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Segoe UI"/>
              </a:rPr>
              <a:t>DEVELOPMENT (WHAT IS HAPPENING)</a:t>
            </a:r>
          </a:p>
        </p:txBody>
      </p:sp>
      <p:sp>
        <p:nvSpPr>
          <p:cNvPr id="10" name="TextBox 9"/>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Segoe UI"/>
              </a:rPr>
              <a:t>DATE</a:t>
            </a:r>
          </a:p>
        </p:txBody>
      </p:sp>
      <p:sp>
        <p:nvSpPr>
          <p:cNvPr id="11" name="TextBox 10"/>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Segoe UI"/>
              </a:rPr>
              <a:t>TYPE</a:t>
            </a:r>
          </a:p>
        </p:txBody>
      </p:sp>
      <p:sp>
        <p:nvSpPr>
          <p:cNvPr id="12" name="TextBox 11"/>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Segoe UI"/>
              </a:rPr>
              <a:t>SOURCE DEPT</a:t>
            </a:r>
          </a:p>
        </p:txBody>
      </p:sp>
      <p:sp>
        <p:nvSpPr>
          <p:cNvPr id="13" name="TextBox 12"/>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Segoe UI"/>
              </a:rPr>
              <a:t>EVIDENCE</a:t>
            </a:r>
          </a:p>
        </p:txBody>
      </p:sp>
      <p:sp>
        <p:nvSpPr>
          <p:cNvPr id="14" name="TextBox 13"/>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Segoe UI"/>
              </a:rPr>
              <a:t>SIGNAL (WHAT IT INDICATES)</a:t>
            </a:r>
          </a:p>
        </p:txBody>
      </p:sp>
      <p:sp>
        <p:nvSpPr>
          <p:cNvPr id="15" name="TextBox 14"/>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Segoe UI"/>
              </a:rPr>
              <a:t>WHO SHOULD ACT</a:t>
            </a:r>
          </a:p>
        </p:txBody>
      </p:sp>
      <p:cxnSp>
        <p:nvCxnSpPr>
          <p:cNvPr id="16" name="Connector 15"/>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EcoFlow</a:t>
            </a:r>
          </a:p>
        </p:txBody>
      </p:sp>
      <p:sp>
        <p:nvSpPr>
          <p:cNvPr id="19" name="TextBox 18"/>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North America</a:t>
            </a:r>
          </a:p>
        </p:txBody>
      </p:sp>
      <p:sp>
        <p:nvSpPr>
          <p:cNvPr id="20" name="TextBox 19"/>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21" name="Rectangle 20"/>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23" name="TextBox 22"/>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24" name="TextBox 23"/>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25" name="TextBox 24"/>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26" name="TextBox 25"/>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27" name="Connector 26"/>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Business Overview</a:t>
            </a:r>
          </a:p>
        </p:txBody>
      </p:sp>
      <p:sp>
        <p:nvSpPr>
          <p:cNvPr id="30" name="TextBox 29"/>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1,500 Wh to 2,000 Wh</a:t>
            </a:r>
          </a:p>
        </p:txBody>
      </p:sp>
      <p:sp>
        <p:nvSpPr>
          <p:cNvPr id="31" name="TextBox 30"/>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32" name="Rectangle 31"/>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34" name="TextBox 33"/>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35" name="TextBox 34"/>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36" name="TextBox 35"/>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37" name="TextBox 36"/>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38" name="Connector 37"/>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Relevant Portfolio</a:t>
            </a:r>
          </a:p>
        </p:txBody>
      </p:sp>
      <p:sp>
        <p:nvSpPr>
          <p:cNvPr id="41" name="TextBox 40"/>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East Asia</a:t>
            </a:r>
          </a:p>
        </p:txBody>
      </p:sp>
      <p:sp>
        <p:nvSpPr>
          <p:cNvPr id="42" name="TextBox 41"/>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43" name="Rectangle 42"/>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45" name="TextBox 44"/>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46" name="TextBox 45"/>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47" name="TextBox 46"/>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48" name="TextBox 47"/>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49" name="Connector 48"/>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Footprint</a:t>
            </a:r>
          </a:p>
        </p:txBody>
      </p:sp>
      <p:sp>
        <p:nvSpPr>
          <p:cNvPr id="52" name="TextBox 51"/>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1,000 Wh to Below 1,500 Wh</a:t>
            </a:r>
          </a:p>
        </p:txBody>
      </p:sp>
      <p:sp>
        <p:nvSpPr>
          <p:cNvPr id="53" name="TextBox 52"/>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54" name="Rectangle 53"/>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56" name="TextBox 55"/>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57" name="TextBox 56"/>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58" name="TextBox 57"/>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59" name="TextBox 58"/>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60" name="Connector 59"/>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Pricing</a:t>
            </a:r>
          </a:p>
        </p:txBody>
      </p:sp>
      <p:sp>
        <p:nvSpPr>
          <p:cNvPr id="63" name="TextBox 62"/>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Middle East &amp; Africa</a:t>
            </a:r>
          </a:p>
        </p:txBody>
      </p:sp>
      <p:sp>
        <p:nvSpPr>
          <p:cNvPr id="64" name="TextBox 63"/>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65" name="Rectangle 64"/>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67" name="TextBox 66"/>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68" name="TextBox 67"/>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69" name="TextBox 68"/>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70" name="TextBox 69"/>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71" name="Connector 70"/>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SWOT</a:t>
            </a:r>
          </a:p>
        </p:txBody>
      </p:sp>
      <p:sp>
        <p:nvSpPr>
          <p:cNvPr id="74" name="TextBox 73"/>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1,500 Wh to 2,000 Wh</a:t>
            </a:r>
          </a:p>
        </p:txBody>
      </p:sp>
      <p:sp>
        <p:nvSpPr>
          <p:cNvPr id="75" name="TextBox 74"/>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76" name="Rectangle 75"/>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78" name="TextBox 77"/>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79" name="TextBox 78"/>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80" name="TextBox 79"/>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81" name="TextBox 80"/>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82" name="Connector 81"/>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Developments</a:t>
            </a:r>
          </a:p>
        </p:txBody>
      </p:sp>
      <p:sp>
        <p:nvSpPr>
          <p:cNvPr id="85" name="TextBox 84"/>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Western Europe</a:t>
            </a:r>
          </a:p>
        </p:txBody>
      </p:sp>
      <p:sp>
        <p:nvSpPr>
          <p:cNvPr id="86" name="TextBox 85"/>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87" name="Rectangle 86"/>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89" name="TextBox 88"/>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90" name="TextBox 89"/>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91" name="TextBox 90"/>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92" name="TextBox 91"/>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93" name="Connector 92"/>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Jackery</a:t>
            </a:r>
          </a:p>
        </p:txBody>
      </p:sp>
      <p:sp>
        <p:nvSpPr>
          <p:cNvPr id="96" name="TextBox 95"/>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1,000 Wh to Below 1,500 Wh</a:t>
            </a:r>
          </a:p>
        </p:txBody>
      </p:sp>
      <p:sp>
        <p:nvSpPr>
          <p:cNvPr id="97" name="TextBox 96"/>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98" name="Rectangle 97"/>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00" name="TextBox 99"/>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101" name="TextBox 100"/>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02" name="TextBox 101"/>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103" name="TextBox 102"/>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104" name="Connector 103"/>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BLUETTI</a:t>
            </a:r>
          </a:p>
        </p:txBody>
      </p:sp>
      <p:sp>
        <p:nvSpPr>
          <p:cNvPr id="107" name="TextBox 106"/>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South Asia &amp; Pacific</a:t>
            </a:r>
          </a:p>
        </p:txBody>
      </p:sp>
      <p:sp>
        <p:nvSpPr>
          <p:cNvPr id="108" name="TextBox 107"/>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109" name="Rectangle 108"/>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111" name="TextBox 110"/>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112" name="TextBox 111"/>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13" name="TextBox 112"/>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114" name="TextBox 113"/>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115" name="Connector 114"/>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6" name="Rectangle 115"/>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Goal Zero</a:t>
            </a:r>
          </a:p>
        </p:txBody>
      </p:sp>
      <p:sp>
        <p:nvSpPr>
          <p:cNvPr id="118" name="TextBox 117"/>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1,500 Wh to 2,000 Wh</a:t>
            </a:r>
          </a:p>
        </p:txBody>
      </p:sp>
      <p:sp>
        <p:nvSpPr>
          <p:cNvPr id="119" name="TextBox 118"/>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120" name="Rectangle 119"/>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22" name="TextBox 121"/>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123" name="TextBox 122"/>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24" name="TextBox 123"/>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125" name="TextBox 124"/>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126" name="Connector 125"/>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129" name="TextBox 128"/>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M&amp;A</a:t>
            </a:r>
          </a:p>
        </p:txBody>
      </p:sp>
      <p:sp>
        <p:nvSpPr>
          <p:cNvPr id="130" name="Rectangle 129"/>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32" name="TextBox 131"/>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Product / portfolio</a:t>
            </a:r>
          </a:p>
        </p:txBody>
      </p:sp>
      <p:sp>
        <p:nvSpPr>
          <p:cNvPr id="133" name="Rectangle 132"/>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EX</a:t>
            </a:r>
          </a:p>
        </p:txBody>
      </p:sp>
      <p:sp>
        <p:nvSpPr>
          <p:cNvPr id="135" name="TextBox 134"/>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Expansion</a:t>
            </a:r>
          </a:p>
        </p:txBody>
      </p:sp>
      <p:sp>
        <p:nvSpPr>
          <p:cNvPr id="136" name="Rectangle 135"/>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RD</a:t>
            </a:r>
          </a:p>
        </p:txBody>
      </p:sp>
      <p:sp>
        <p:nvSpPr>
          <p:cNvPr id="138" name="TextBox 137"/>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R&amp;D / technology</a:t>
            </a:r>
          </a:p>
        </p:txBody>
      </p:sp>
      <p:sp>
        <p:nvSpPr>
          <p:cNvPr id="139" name="Rectangle 138"/>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RG</a:t>
            </a:r>
          </a:p>
        </p:txBody>
      </p:sp>
      <p:sp>
        <p:nvSpPr>
          <p:cNvPr id="141" name="TextBox 140"/>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Regulation / compliance</a:t>
            </a:r>
          </a:p>
        </p:txBody>
      </p:sp>
      <p:sp>
        <p:nvSpPr>
          <p:cNvPr id="142" name="Rectangle 141"/>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CP</a:t>
            </a:r>
          </a:p>
        </p:txBody>
      </p:sp>
      <p:sp>
        <p:nvSpPr>
          <p:cNvPr id="144" name="TextBox 143"/>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Capital / funding</a:t>
            </a:r>
          </a:p>
        </p:txBody>
      </p:sp>
      <p:sp>
        <p:nvSpPr>
          <p:cNvPr id="145" name="TextBox 144"/>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Segoe UI"/>
              </a:rPr>
              <a:t>Dates, deal values and evidence sources populate from the research feed; until then each row reads the player's most telling active strategy.</a:t>
            </a:r>
          </a:p>
        </p:txBody>
      </p:sp>
      <p:sp>
        <p:nvSpPr>
          <p:cNvPr id="146" name="TextBox 1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Strategic Activity by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Where competitor activity concentrates by type and department, and what it means for each function</a:t>
            </a:r>
          </a:p>
        </p:txBody>
      </p:sp>
      <p:sp>
        <p:nvSpPr>
          <p:cNvPr id="8" name="Rectangle 7"/>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EcoFlow</a:t>
            </a:r>
          </a:p>
        </p:txBody>
      </p:sp>
      <p:sp>
        <p:nvSpPr>
          <p:cNvPr id="10" name="Rectangle 9"/>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Business Overview</a:t>
            </a:r>
          </a:p>
        </p:txBody>
      </p:sp>
      <p:sp>
        <p:nvSpPr>
          <p:cNvPr id="12" name="Rectangle 11"/>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Relevant Portfolio</a:t>
            </a:r>
          </a:p>
        </p:txBody>
      </p:sp>
      <p:sp>
        <p:nvSpPr>
          <p:cNvPr id="14" name="Rectangle 13"/>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Footprint</a:t>
            </a:r>
          </a:p>
        </p:txBody>
      </p:sp>
      <p:sp>
        <p:nvSpPr>
          <p:cNvPr id="16" name="Rectangle 15"/>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Pricing</a:t>
            </a:r>
          </a:p>
        </p:txBody>
      </p:sp>
      <p:sp>
        <p:nvSpPr>
          <p:cNvPr id="18" name="Rectangle 17"/>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SWOT</a:t>
            </a:r>
          </a:p>
        </p:txBody>
      </p:sp>
      <p:sp>
        <p:nvSpPr>
          <p:cNvPr id="20" name="Rectangle 19"/>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Developments</a:t>
            </a:r>
          </a:p>
        </p:txBody>
      </p:sp>
      <p:sp>
        <p:nvSpPr>
          <p:cNvPr id="22" name="Rectangle 21"/>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Jackery</a:t>
            </a:r>
          </a:p>
        </p:txBody>
      </p:sp>
      <p:sp>
        <p:nvSpPr>
          <p:cNvPr id="24" name="Rectangle 23"/>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BLUETTI</a:t>
            </a:r>
          </a:p>
        </p:txBody>
      </p:sp>
      <p:sp>
        <p:nvSpPr>
          <p:cNvPr id="26" name="Rectangle 25"/>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Goal Zero</a:t>
            </a:r>
          </a:p>
        </p:txBody>
      </p:sp>
      <p:sp>
        <p:nvSpPr>
          <p:cNvPr id="28" name="TextBox 27"/>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Moves by type (count)</a:t>
            </a:r>
          </a:p>
        </p:txBody>
      </p:sp>
      <p:sp>
        <p:nvSpPr>
          <p:cNvPr id="29" name="TextBox 28"/>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MA</a:t>
            </a:r>
          </a:p>
        </p:txBody>
      </p:sp>
      <p:sp>
        <p:nvSpPr>
          <p:cNvPr id="30" name="TextBox 29"/>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PR</a:t>
            </a:r>
          </a:p>
        </p:txBody>
      </p:sp>
      <p:sp>
        <p:nvSpPr>
          <p:cNvPr id="31" name="TextBox 30"/>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EX</a:t>
            </a:r>
          </a:p>
        </p:txBody>
      </p:sp>
      <p:sp>
        <p:nvSpPr>
          <p:cNvPr id="32" name="TextBox 31"/>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RD</a:t>
            </a:r>
          </a:p>
        </p:txBody>
      </p:sp>
      <p:sp>
        <p:nvSpPr>
          <p:cNvPr id="33" name="TextBox 32"/>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RG</a:t>
            </a:r>
          </a:p>
        </p:txBody>
      </p:sp>
      <p:sp>
        <p:nvSpPr>
          <p:cNvPr id="34" name="TextBox 33"/>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CP</a:t>
            </a:r>
          </a:p>
        </p:txBody>
      </p:sp>
      <p:sp>
        <p:nvSpPr>
          <p:cNvPr id="35" name="Rectangle 34"/>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7" name="Rectangle 36"/>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0" name="Rectangle 39"/>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2" name="Rectangle 41"/>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4" name="Rectangle 43"/>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6" name="Rectangle 45"/>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49" name="Rectangle 48"/>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1" name="Rectangle 50"/>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3" name="Rectangle 52"/>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6" name="Rectangle 55"/>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8" name="Rectangle 57"/>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1" name="Rectangle 60"/>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3" name="Rectangle 62"/>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5" name="Rectangle 64"/>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7" name="Rectangle 66"/>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70" name="Rectangle 69"/>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2" name="Rectangle 71"/>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4" name="Rectangle 73"/>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7" name="Rectangle 76"/>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9" name="Rectangle 78"/>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2" name="Rectangle 81"/>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4" name="Rectangle 83"/>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6" name="Rectangle 85"/>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8" name="Rectangle 87"/>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91" name="Rectangle 90"/>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3" name="Rectangle 92"/>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5" name="Rectangle 94"/>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8" name="Rectangle 97"/>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0" name="Rectangle 99"/>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3" name="Rectangle 102"/>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5" name="Rectangle 104"/>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7" name="Rectangle 106"/>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9" name="Rectangle 108"/>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112" name="Rectangle 111"/>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4" name="Rectangle 113"/>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6" name="Rectangle 115"/>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9" name="Rectangle 118"/>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1" name="Rectangle 120"/>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4" name="Rectangle 123"/>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6" name="Rectangle 125"/>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8" name="Rectangle 127"/>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0" name="Rectangle 129"/>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133" name="Rectangle 132"/>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5" name="Rectangle 134"/>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7" name="Rectangle 136"/>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40" name="TextBox 139"/>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By department</a:t>
            </a:r>
          </a:p>
        </p:txBody>
      </p:sp>
      <p:sp>
        <p:nvSpPr>
          <p:cNvPr id="141" name="TextBox 140"/>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Product &amp; R&amp;D</a:t>
            </a:r>
          </a:p>
        </p:txBody>
      </p:sp>
      <p:sp>
        <p:nvSpPr>
          <p:cNvPr id="142" name="TextBox 141"/>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Corp. dev.</a:t>
            </a:r>
          </a:p>
        </p:txBody>
      </p:sp>
      <p:sp>
        <p:nvSpPr>
          <p:cNvPr id="143" name="TextBox 142"/>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Operations</a:t>
            </a:r>
          </a:p>
        </p:txBody>
      </p:sp>
      <p:sp>
        <p:nvSpPr>
          <p:cNvPr id="144" name="TextBox 143"/>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Legal &amp; reg.</a:t>
            </a:r>
          </a:p>
        </p:txBody>
      </p:sp>
      <p:sp>
        <p:nvSpPr>
          <p:cNvPr id="145" name="Rectangle 144"/>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47" name="Rectangle 146"/>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49" name="Rectangle 148"/>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1" name="Rectangle 150"/>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3" name="Rectangle 152"/>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55" name="Rectangle 154"/>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8" name="Rectangle 157"/>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1" name="Rectangle 160"/>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3" name="Rectangle 162"/>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5" name="Rectangle 164"/>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7" name="Rectangle 166"/>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69" name="Rectangle 168"/>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2" name="Rectangle 171"/>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5" name="Rectangle 174"/>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7" name="Rectangle 176"/>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9" name="Rectangle 178"/>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1" name="Rectangle 180"/>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83" name="Rectangle 182"/>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6" name="Rectangle 185"/>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9" name="Rectangle 188"/>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1" name="Rectangle 190"/>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3" name="Rectangle 192"/>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5" name="Rectangle 194"/>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97" name="Rectangle 196"/>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0" name="Rectangle 199"/>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3" name="Rectangle 202"/>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5" name="Rectangle 204"/>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7" name="Rectangle 206"/>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9" name="Rectangle 208"/>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211" name="Rectangle 210"/>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14" name="Rectangle 213"/>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By region of activity</a:t>
            </a:r>
          </a:p>
        </p:txBody>
      </p:sp>
      <p:sp>
        <p:nvSpPr>
          <p:cNvPr id="216" name="TextBox 215"/>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N. America</a:t>
            </a:r>
          </a:p>
        </p:txBody>
      </p:sp>
      <p:sp>
        <p:nvSpPr>
          <p:cNvPr id="217" name="TextBox 216"/>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S. Asia &amp; Pac.</a:t>
            </a:r>
          </a:p>
        </p:txBody>
      </p:sp>
      <p:sp>
        <p:nvSpPr>
          <p:cNvPr id="218" name="TextBox 217"/>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E. Asia</a:t>
            </a:r>
          </a:p>
        </p:txBody>
      </p:sp>
      <p:sp>
        <p:nvSpPr>
          <p:cNvPr id="219" name="TextBox 218"/>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LATAM</a:t>
            </a:r>
          </a:p>
        </p:txBody>
      </p:sp>
      <p:sp>
        <p:nvSpPr>
          <p:cNvPr id="220" name="TextBox 219"/>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MEA</a:t>
            </a:r>
          </a:p>
        </p:txBody>
      </p:sp>
      <p:sp>
        <p:nvSpPr>
          <p:cNvPr id="221" name="TextBox 220"/>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E. Europe</a:t>
            </a:r>
          </a:p>
        </p:txBody>
      </p:sp>
      <p:sp>
        <p:nvSpPr>
          <p:cNvPr id="222" name="Rectangle 221"/>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24" name="Rectangle 223"/>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26" name="Rectangle 225"/>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28" name="Rectangle 227"/>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34" name="Rectangle 233"/>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36" name="Rectangle 235"/>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38" name="Rectangle 237"/>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44" name="Rectangle 243"/>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46" name="Rectangle 245"/>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48" name="Rectangle 247"/>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54" name="Rectangle 253"/>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56" name="Rectangle 255"/>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58" name="Rectangle 257"/>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64" name="Rectangle 263"/>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66" name="Rectangle 265"/>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68" name="Rectangle 267"/>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74" name="Rectangle 273"/>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76" name="Rectangle 275"/>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78" name="Rectangle 277"/>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84" name="Rectangle 283"/>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86" name="Rectangle 285"/>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88" name="Rectangle 287"/>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94" name="Rectangle 293"/>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96" name="Rectangle 295"/>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98" name="Rectangle 297"/>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304" name="Rectangle 303"/>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06" name="Rectangle 305"/>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08" name="Rectangle 307"/>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1 move</a:t>
            </a:r>
          </a:p>
        </p:txBody>
      </p:sp>
      <p:sp>
        <p:nvSpPr>
          <p:cNvPr id="311" name="Rectangle 310"/>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2 moves</a:t>
            </a:r>
          </a:p>
        </p:txBody>
      </p:sp>
      <p:sp>
        <p:nvSpPr>
          <p:cNvPr id="313" name="Rectangle 312"/>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3+ moves</a:t>
            </a:r>
          </a:p>
        </p:txBody>
      </p:sp>
      <p:sp>
        <p:nvSpPr>
          <p:cNvPr id="315" name="TextBox 314"/>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Segoe UI"/>
              </a:rPr>
              <a:t>Type codes: MA M&amp;A, PR Product / portfolio, EX Expansion, RD R&amp;D / technology, RG Regulation / compliance, CP Capital / funding</a:t>
            </a:r>
          </a:p>
        </p:txBody>
      </p:sp>
      <p:cxnSp>
        <p:nvCxnSpPr>
          <p:cNvPr id="316" name="Connector 315"/>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7" name="TextBox 316"/>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Segoe UI"/>
              </a:rPr>
              <a:t>WHAT IT MEANS FOR EACH OF YOUR DEPARTMENTS</a:t>
            </a:r>
          </a:p>
        </p:txBody>
      </p:sp>
      <p:sp>
        <p:nvSpPr>
          <p:cNvPr id="318" name="Rectangle 317"/>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Sales</a:t>
            </a:r>
          </a:p>
        </p:txBody>
      </p:sp>
      <p:sp>
        <p:nvSpPr>
          <p:cNvPr id="320" name="TextBox 319"/>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10 expansion moves target new regions and volume tiers: defend key accounts where rivals expand.</a:t>
            </a:r>
          </a:p>
        </p:txBody>
      </p:sp>
      <p:sp>
        <p:nvSpPr>
          <p:cNvPr id="321" name="Rectangle 320"/>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Marketing</a:t>
            </a:r>
          </a:p>
        </p:txBody>
      </p:sp>
      <p:sp>
        <p:nvSpPr>
          <p:cNvPr id="323" name="TextBox 322"/>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Certification and compliance are being used as trust signals; make your own credentials visible.</a:t>
            </a:r>
          </a:p>
        </p:txBody>
      </p:sp>
      <p:sp>
        <p:nvSpPr>
          <p:cNvPr id="324" name="Rectangle 323"/>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Product and R&amp;D</a:t>
            </a:r>
          </a:p>
        </p:txBody>
      </p:sp>
      <p:sp>
        <p:nvSpPr>
          <p:cNvPr id="326" name="TextBox 325"/>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20 product and R&amp;D moves: benchmark launches and the technology roadmap.</a:t>
            </a:r>
          </a:p>
        </p:txBody>
      </p:sp>
      <p:sp>
        <p:nvSpPr>
          <p:cNvPr id="327" name="Rectangle 326"/>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Corporate development</a:t>
            </a:r>
          </a:p>
        </p:txBody>
      </p:sp>
      <p:sp>
        <p:nvSpPr>
          <p:cNvPr id="329" name="TextBox 328"/>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5 players are acquiring; the independent target list is shrinking.</a:t>
            </a:r>
          </a:p>
        </p:txBody>
      </p:sp>
      <p:sp>
        <p:nvSpPr>
          <p:cNvPr id="330" name="Rectangle 329"/>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Operations</a:t>
            </a:r>
          </a:p>
        </p:txBody>
      </p:sp>
      <p:sp>
        <p:nvSpPr>
          <p:cNvPr id="332" name="TextBox 331"/>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Expansion moves add capacity in rivals' home regions; review supply and lead times.</a:t>
            </a:r>
          </a:p>
        </p:txBody>
      </p:sp>
      <p:sp>
        <p:nvSpPr>
          <p:cNvPr id="333" name="Rectangle 332"/>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Legal and regulatory</a:t>
            </a:r>
          </a:p>
        </p:txBody>
      </p:sp>
      <p:sp>
        <p:nvSpPr>
          <p:cNvPr id="335" name="TextBox 334"/>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5 players lean on certification; audit your own compliance position.</a:t>
            </a:r>
          </a:p>
        </p:txBody>
      </p:sp>
      <p:sp>
        <p:nvSpPr>
          <p:cNvPr id="336" name="TextBox 33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Industry Structure Landscape – Lithium Polymer Portable Energy Storage Market, Global 2026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Tier ladder, market concentration and tier profile, and the structural shift 2026→2036 shaping the tier structure</a:t>
            </a:r>
          </a:p>
        </p:txBody>
      </p:sp>
      <p:sp>
        <p:nvSpPr>
          <p:cNvPr id="8" name="Rectangle 7"/>
          <p:cNvSpPr/>
          <p:nvPr/>
        </p:nvSpPr>
        <p:spPr>
          <a:xfrm>
            <a:off x="142875" y="1047750"/>
            <a:ext cx="5810250" cy="40005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52423"/>
                </a:solidFill>
                <a:latin typeface="Segoe UI"/>
              </a:rPr>
              <a:t>Tier Ladder – Share of Market Value, 2026</a:t>
            </a:r>
          </a:p>
        </p:txBody>
      </p:sp>
      <p:sp>
        <p:nvSpPr>
          <p:cNvPr id="10" name="TextBox 9"/>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Segoe UI"/>
              </a:rPr>
              <a:t/>
            </a:r>
          </a:p>
        </p:txBody>
      </p:sp>
      <p:sp>
        <p:nvSpPr>
          <p:cNvPr id="11" name="TextBox 10"/>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1</a:t>
            </a:r>
          </a:p>
        </p:txBody>
      </p:sp>
      <p:sp>
        <p:nvSpPr>
          <p:cNvPr id="12" name="TextBox 11"/>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Top / global players</a:t>
            </a:r>
          </a:p>
        </p:txBody>
      </p:sp>
      <p:sp>
        <p:nvSpPr>
          <p:cNvPr id="13" name="Rectangle 12"/>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15" name="TextBox 14"/>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16" name="TextBox 15"/>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EcoFlow · Business Overview · Relevant Portfolio · Footprint</a:t>
            </a:r>
          </a:p>
        </p:txBody>
      </p:sp>
      <p:sp>
        <p:nvSpPr>
          <p:cNvPr id="17" name="TextBox 16"/>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2</a:t>
            </a:r>
          </a:p>
        </p:txBody>
      </p:sp>
      <p:sp>
        <p:nvSpPr>
          <p:cNvPr id="18" name="TextBox 17"/>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Mid-sized players</a:t>
            </a:r>
          </a:p>
        </p:txBody>
      </p:sp>
      <p:sp>
        <p:nvSpPr>
          <p:cNvPr id="19" name="Rectangle 18"/>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21" name="TextBox 20"/>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22" name="TextBox 21"/>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Pricing · SWOT</a:t>
            </a:r>
          </a:p>
        </p:txBody>
      </p:sp>
      <p:sp>
        <p:nvSpPr>
          <p:cNvPr id="23" name="TextBox 22"/>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3</a:t>
            </a:r>
          </a:p>
        </p:txBody>
      </p:sp>
      <p:sp>
        <p:nvSpPr>
          <p:cNvPr id="24" name="TextBox 23"/>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Emerging / local players</a:t>
            </a:r>
          </a:p>
        </p:txBody>
      </p:sp>
      <p:sp>
        <p:nvSpPr>
          <p:cNvPr id="25" name="Rectangle 24"/>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27" name="TextBox 26"/>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28" name="TextBox 27"/>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Developments · Jackery · BLUETTI · Goal Zero</a:t>
            </a:r>
          </a:p>
        </p:txBody>
      </p:sp>
      <p:sp>
        <p:nvSpPr>
          <p:cNvPr id="29" name="TextBox 28"/>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Others</a:t>
            </a:r>
          </a:p>
        </p:txBody>
      </p:sp>
      <p:sp>
        <p:nvSpPr>
          <p:cNvPr id="30" name="TextBox 29"/>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Long tail</a:t>
            </a:r>
          </a:p>
        </p:txBody>
      </p:sp>
      <p:sp>
        <p:nvSpPr>
          <p:cNvPr id="31" name="Rectangle 30"/>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Segoe UI"/>
              </a:rPr>
              <a:t> </a:t>
            </a:r>
          </a:p>
        </p:txBody>
      </p:sp>
      <p:sp>
        <p:nvSpPr>
          <p:cNvPr id="33" name="TextBox 32"/>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Segoe UI"/>
              </a:rPr>
              <a:t/>
            </a:r>
          </a:p>
        </p:txBody>
      </p:sp>
      <p:sp>
        <p:nvSpPr>
          <p:cNvPr id="34" name="TextBox 33"/>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Regional &amp; niche suppliers</a:t>
            </a:r>
          </a:p>
        </p:txBody>
      </p:sp>
      <p:sp>
        <p:nvSpPr>
          <p:cNvPr id="35" name="Rectangle 34"/>
          <p:cNvSpPr/>
          <p:nvPr/>
        </p:nvSpPr>
        <p:spPr>
          <a:xfrm>
            <a:off x="142875" y="5162550"/>
            <a:ext cx="5810250" cy="1466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52423"/>
                </a:solidFill>
                <a:latin typeface="Segoe UI"/>
              </a:rPr>
              <a:t>Concentration Read-out</a:t>
            </a:r>
          </a:p>
        </p:txBody>
      </p:sp>
      <p:sp>
        <p:nvSpPr>
          <p:cNvPr id="37" name="Rectangle 36"/>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Segoe UI"/>
              </a:rPr>
              <a:t>Fragmented HHI &lt; 1,500</a:t>
            </a:r>
          </a:p>
        </p:txBody>
      </p:sp>
      <p:sp>
        <p:nvSpPr>
          <p:cNvPr id="39" name="Rectangle 38"/>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Segoe UI"/>
              </a:rPr>
              <a:t>Moderate 1,500–2,500</a:t>
            </a:r>
          </a:p>
        </p:txBody>
      </p:sp>
      <p:sp>
        <p:nvSpPr>
          <p:cNvPr id="41" name="Rectangle 40"/>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Segoe UI"/>
              </a:rPr>
              <a:t>Concentrated &gt; 2,500</a:t>
            </a:r>
          </a:p>
        </p:txBody>
      </p:sp>
      <p:sp>
        <p:nvSpPr>
          <p:cNvPr id="43" name="TextBox 42"/>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Segoe UI"/>
              </a:rPr>
              <a:t/>
            </a:r>
          </a:p>
        </p:txBody>
      </p:sp>
      <p:sp>
        <p:nvSpPr>
          <p:cNvPr id="44" name="TextBox 43"/>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Segoe UI"/>
              </a:rPr>
              <a:t/>
            </a:r>
          </a:p>
        </p:txBody>
      </p:sp>
      <p:sp>
        <p:nvSpPr>
          <p:cNvPr id="45" name="Rectangle 44"/>
          <p:cNvSpPr/>
          <p:nvPr/>
        </p:nvSpPr>
        <p:spPr>
          <a:xfrm>
            <a:off x="6096000" y="1047750"/>
            <a:ext cx="5953125" cy="40005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52423"/>
                </a:solidFill>
                <a:latin typeface="Segoe UI"/>
              </a:rPr>
              <a:t>Tier Profile Matrix</a:t>
            </a:r>
          </a:p>
        </p:txBody>
      </p:sp>
      <p:sp>
        <p:nvSpPr>
          <p:cNvPr id="47" name="TextBox 46"/>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Segoe UI"/>
              </a:rPr>
              <a:t>Size, growth and competitive characteristics of each tier</a:t>
            </a:r>
          </a:p>
        </p:txBody>
      </p:sp>
      <p:sp>
        <p:nvSpPr>
          <p:cNvPr id="48" name="Rectangle 47"/>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Segoe UI"/>
              </a:rPr>
              <a:t>Metric</a:t>
            </a:r>
          </a:p>
        </p:txBody>
      </p:sp>
      <p:sp>
        <p:nvSpPr>
          <p:cNvPr id="50" name="Rectangle 49"/>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1</a:t>
            </a:r>
          </a:p>
        </p:txBody>
      </p:sp>
      <p:sp>
        <p:nvSpPr>
          <p:cNvPr id="52" name="Rectangle 51"/>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2</a:t>
            </a:r>
          </a:p>
        </p:txBody>
      </p:sp>
      <p:sp>
        <p:nvSpPr>
          <p:cNvPr id="54" name="Rectangle 53"/>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3</a:t>
            </a:r>
          </a:p>
        </p:txBody>
      </p:sp>
      <p:sp>
        <p:nvSpPr>
          <p:cNvPr id="56" name="Rectangle 55"/>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Segoe UI"/>
              </a:rPr>
              <a:t>Others</a:t>
            </a:r>
          </a:p>
        </p:txBody>
      </p:sp>
      <p:sp>
        <p:nvSpPr>
          <p:cNvPr id="58" name="Rectangle 57"/>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Total</a:t>
            </a:r>
          </a:p>
        </p:txBody>
      </p:sp>
      <p:sp>
        <p:nvSpPr>
          <p:cNvPr id="60" name="Rectangle 59"/>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Players</a:t>
            </a:r>
          </a:p>
        </p:txBody>
      </p:sp>
      <p:sp>
        <p:nvSpPr>
          <p:cNvPr id="62" name="Rectangle 61"/>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4</a:t>
            </a:r>
          </a:p>
        </p:txBody>
      </p:sp>
      <p:sp>
        <p:nvSpPr>
          <p:cNvPr id="64" name="Rectangle 63"/>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2</a:t>
            </a:r>
          </a:p>
        </p:txBody>
      </p:sp>
      <p:sp>
        <p:nvSpPr>
          <p:cNvPr id="66" name="Rectangle 65"/>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4</a:t>
            </a:r>
          </a:p>
        </p:txBody>
      </p:sp>
      <p:sp>
        <p:nvSpPr>
          <p:cNvPr id="68" name="Rectangle 67"/>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Long tail</a:t>
            </a:r>
          </a:p>
        </p:txBody>
      </p:sp>
      <p:sp>
        <p:nvSpPr>
          <p:cNvPr id="70" name="Rectangle 69"/>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 </a:t>
            </a:r>
          </a:p>
        </p:txBody>
      </p:sp>
      <p:sp>
        <p:nvSpPr>
          <p:cNvPr id="72" name="Rectangle 71"/>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Value 2026 (US$ Mn)</a:t>
            </a:r>
          </a:p>
        </p:txBody>
      </p:sp>
      <p:sp>
        <p:nvSpPr>
          <p:cNvPr id="74" name="Rectangle 73"/>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76" name="Rectangle 75"/>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78" name="Rectangle 77"/>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80" name="Rectangle 79"/>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82" name="Rectangle 81"/>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650.0</a:t>
            </a:r>
          </a:p>
        </p:txBody>
      </p:sp>
      <p:sp>
        <p:nvSpPr>
          <p:cNvPr id="84" name="Rectangle 83"/>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of value 2026</a:t>
            </a:r>
          </a:p>
        </p:txBody>
      </p:sp>
      <p:sp>
        <p:nvSpPr>
          <p:cNvPr id="86" name="Rectangle 85"/>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88" name="TextBox 87"/>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89" name="Rectangle 88"/>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1" name="TextBox 90"/>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2" name="Rectangle 91"/>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4" name="TextBox 93"/>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5" name="Rectangle 94"/>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7" name="TextBox 96"/>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8" name="Rectangle 97"/>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00" name="Rectangle 99"/>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of value 2036</a:t>
            </a:r>
          </a:p>
        </p:txBody>
      </p:sp>
      <p:sp>
        <p:nvSpPr>
          <p:cNvPr id="102" name="Rectangle 101"/>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04" name="TextBox 103"/>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05" name="Rectangle 104"/>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07" name="TextBox 106"/>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08" name="Rectangle 107"/>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10" name="TextBox 109"/>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11" name="Rectangle 110"/>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13" name="TextBox 112"/>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14" name="Rectangle 113"/>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16" name="Rectangle 115"/>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change (pp)</a:t>
            </a:r>
          </a:p>
        </p:txBody>
      </p:sp>
      <p:sp>
        <p:nvSpPr>
          <p:cNvPr id="118" name="Rectangle 117"/>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0" name="TextBox 119"/>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1" name="Rectangle 120"/>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3" name="TextBox 122"/>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4" name="Rectangle 123"/>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6" name="TextBox 125"/>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7" name="Rectangle 126"/>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9" name="TextBox 128"/>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0" name="Rectangle 129"/>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a:t>
            </a:r>
          </a:p>
        </p:txBody>
      </p:sp>
      <p:sp>
        <p:nvSpPr>
          <p:cNvPr id="132" name="Rectangle 131"/>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CAGR 2026–2036</a:t>
            </a:r>
          </a:p>
        </p:txBody>
      </p:sp>
      <p:sp>
        <p:nvSpPr>
          <p:cNvPr id="134" name="Rectangle 133"/>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076248" y="29527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6" name="TextBox 135"/>
          <p:cNvSpPr txBox="1"/>
          <p:nvPr/>
        </p:nvSpPr>
        <p:spPr>
          <a:xfrm>
            <a:off x="8363902"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37" name="Rectangle 136"/>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904922" y="29527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9" name="TextBox 138"/>
          <p:cNvSpPr txBox="1"/>
          <p:nvPr/>
        </p:nvSpPr>
        <p:spPr>
          <a:xfrm>
            <a:off x="9192578"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0" name="Rectangle 139"/>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33598" y="29527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42" name="TextBox 141"/>
          <p:cNvSpPr txBox="1"/>
          <p:nvPr/>
        </p:nvSpPr>
        <p:spPr>
          <a:xfrm>
            <a:off x="10021252"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3" name="Rectangle 142"/>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562272" y="29527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45" name="TextBox 144"/>
          <p:cNvSpPr txBox="1"/>
          <p:nvPr/>
        </p:nvSpPr>
        <p:spPr>
          <a:xfrm>
            <a:off x="10849928"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6" name="Rectangle 145"/>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390948" y="2952750"/>
            <a:ext cx="297180" cy="228600"/>
          </a:xfrm>
          <a:prstGeom prst="rect">
            <a:avLst/>
          </a:prstGeom>
          <a:noFill/>
        </p:spPr>
        <p:txBody>
          <a:bodyPr wrap="none" lIns="0" rIns="0" tIns="0" bIns="0" anchor="ctr">
            <a:spAutoFit/>
          </a:bodyPr>
          <a:lstStyle/>
          <a:p>
            <a:pPr algn="ctr"/>
            <a:r>
              <a:rPr sz="1100" b="1">
                <a:solidFill>
                  <a:srgbClr val="14213D"/>
                </a:solidFill>
                <a:latin typeface="Segoe UI"/>
              </a:rPr>
              <a:t> </a:t>
            </a:r>
          </a:p>
        </p:txBody>
      </p:sp>
      <p:sp>
        <p:nvSpPr>
          <p:cNvPr id="148" name="TextBox 147"/>
          <p:cNvSpPr txBox="1"/>
          <p:nvPr/>
        </p:nvSpPr>
        <p:spPr>
          <a:xfrm>
            <a:off x="11678602" y="2952750"/>
            <a:ext cx="133350" cy="228600"/>
          </a:xfrm>
          <a:prstGeom prst="rect">
            <a:avLst/>
          </a:prstGeom>
          <a:noFill/>
        </p:spPr>
        <p:txBody>
          <a:bodyPr wrap="none" lIns="0" rIns="0" tIns="0" bIns="0" anchor="ctr">
            <a:spAutoFit/>
          </a:bodyPr>
          <a:lstStyle/>
          <a:p>
            <a:pPr algn="l"/>
            <a:r>
              <a:rPr sz="1100" b="1">
                <a:solidFill>
                  <a:srgbClr val="14213D"/>
                </a:solidFill>
                <a:latin typeface="Segoe UI"/>
              </a:rPr>
              <a:t>%</a:t>
            </a:r>
          </a:p>
        </p:txBody>
      </p:sp>
      <p:sp>
        <p:nvSpPr>
          <p:cNvPr id="149" name="Rectangle 148"/>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Avg / player (US$ Mn)</a:t>
            </a:r>
          </a:p>
        </p:txBody>
      </p:sp>
      <p:sp>
        <p:nvSpPr>
          <p:cNvPr id="151" name="Rectangle 150"/>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3" name="Rectangle 152"/>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5" name="Rectangle 154"/>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7" name="Rectangle 156"/>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a:t>
            </a:r>
          </a:p>
        </p:txBody>
      </p:sp>
      <p:sp>
        <p:nvSpPr>
          <p:cNvPr id="159" name="Rectangle 158"/>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a:t>
            </a:r>
          </a:p>
        </p:txBody>
      </p:sp>
      <p:sp>
        <p:nvSpPr>
          <p:cNvPr id="161" name="Rectangle 160"/>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Installed base share (units)</a:t>
            </a:r>
          </a:p>
        </p:txBody>
      </p:sp>
      <p:sp>
        <p:nvSpPr>
          <p:cNvPr id="163" name="Rectangle 162"/>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65" name="TextBox 164"/>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66" name="Rectangle 165"/>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68" name="TextBox 167"/>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69" name="Rectangle 168"/>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71" name="TextBox 170"/>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72" name="Rectangle 171"/>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74" name="TextBox 173"/>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75" name="Rectangle 174"/>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77" name="Rectangle 176"/>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Price positioning</a:t>
            </a:r>
          </a:p>
        </p:txBody>
      </p:sp>
      <p:sp>
        <p:nvSpPr>
          <p:cNvPr id="179" name="Rectangle 178"/>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Premium</a:t>
            </a:r>
          </a:p>
        </p:txBody>
      </p:sp>
      <p:sp>
        <p:nvSpPr>
          <p:cNvPr id="181" name="Rectangle 180"/>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Mid / value</a:t>
            </a:r>
          </a:p>
        </p:txBody>
      </p:sp>
      <p:sp>
        <p:nvSpPr>
          <p:cNvPr id="183" name="Rectangle 182"/>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Value / entry</a:t>
            </a:r>
          </a:p>
        </p:txBody>
      </p:sp>
      <p:sp>
        <p:nvSpPr>
          <p:cNvPr id="185" name="Rectangle 184"/>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Mixed</a:t>
            </a:r>
          </a:p>
        </p:txBody>
      </p:sp>
      <p:sp>
        <p:nvSpPr>
          <p:cNvPr id="187" name="Rectangle 186"/>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189" name="Rectangle 188"/>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Route-to-market</a:t>
            </a:r>
          </a:p>
        </p:txBody>
      </p:sp>
      <p:sp>
        <p:nvSpPr>
          <p:cNvPr id="191" name="Rectangle 190"/>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Direct / key accounts</a:t>
            </a:r>
          </a:p>
        </p:txBody>
      </p:sp>
      <p:sp>
        <p:nvSpPr>
          <p:cNvPr id="193" name="Rectangle 192"/>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Distributors</a:t>
            </a:r>
          </a:p>
        </p:txBody>
      </p:sp>
      <p:sp>
        <p:nvSpPr>
          <p:cNvPr id="195" name="Rectangle 194"/>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Regional partners</a:t>
            </a:r>
          </a:p>
        </p:txBody>
      </p:sp>
      <p:sp>
        <p:nvSpPr>
          <p:cNvPr id="197" name="Rectangle 196"/>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Local / online</a:t>
            </a:r>
          </a:p>
        </p:txBody>
      </p:sp>
      <p:sp>
        <p:nvSpPr>
          <p:cNvPr id="199" name="Rectangle 198"/>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01" name="Rectangle 200"/>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Portfolio breadth</a:t>
            </a:r>
          </a:p>
        </p:txBody>
      </p:sp>
      <p:sp>
        <p:nvSpPr>
          <p:cNvPr id="203" name="Rectangle 202"/>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Full portfolio</a:t>
            </a:r>
          </a:p>
        </p:txBody>
      </p:sp>
      <p:sp>
        <p:nvSpPr>
          <p:cNvPr id="205" name="Rectangle 204"/>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2–3 core lines</a:t>
            </a:r>
          </a:p>
        </p:txBody>
      </p:sp>
      <p:sp>
        <p:nvSpPr>
          <p:cNvPr id="207" name="Rectangle 206"/>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Single line</a:t>
            </a:r>
          </a:p>
        </p:txBody>
      </p:sp>
      <p:sp>
        <p:nvSpPr>
          <p:cNvPr id="209" name="Rectangle 208"/>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Niche</a:t>
            </a:r>
          </a:p>
        </p:txBody>
      </p:sp>
      <p:sp>
        <p:nvSpPr>
          <p:cNvPr id="211" name="Rectangle 210"/>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13" name="Rectangle 212"/>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Strategic posture</a:t>
            </a:r>
          </a:p>
        </p:txBody>
      </p:sp>
      <p:sp>
        <p:nvSpPr>
          <p:cNvPr id="215" name="Rectangle 214"/>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Defend &amp; bundle</a:t>
            </a:r>
          </a:p>
        </p:txBody>
      </p:sp>
      <p:sp>
        <p:nvSpPr>
          <p:cNvPr id="217" name="Rectangle 216"/>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Niche deepening</a:t>
            </a:r>
          </a:p>
        </p:txBody>
      </p:sp>
      <p:sp>
        <p:nvSpPr>
          <p:cNvPr id="219" name="Rectangle 218"/>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Scale-up or exit</a:t>
            </a:r>
          </a:p>
        </p:txBody>
      </p:sp>
      <p:sp>
        <p:nvSpPr>
          <p:cNvPr id="221" name="Rectangle 220"/>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Long-tail</a:t>
            </a:r>
          </a:p>
        </p:txBody>
      </p:sp>
      <p:sp>
        <p:nvSpPr>
          <p:cNvPr id="223" name="Rectangle 222"/>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25" name="Rectangle 224"/>
          <p:cNvSpPr/>
          <p:nvPr/>
        </p:nvSpPr>
        <p:spPr>
          <a:xfrm>
            <a:off x="6096000" y="5162550"/>
            <a:ext cx="5953125" cy="1466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52423"/>
                </a:solidFill>
                <a:latin typeface="Segoe UI"/>
              </a:rPr>
              <a:t>Key Takeaways</a:t>
            </a:r>
          </a:p>
        </p:txBody>
      </p:sp>
      <p:sp>
        <p:nvSpPr>
          <p:cNvPr id="227" name="TextBox 226"/>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28" name="TextBox 227"/>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29" name="TextBox 228"/>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30" name="TextBox 229"/>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31" name="TextBox 230"/>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32" name="TextBox 231"/>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33" name="TextBox 2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8160488" y="22876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989162"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9817838"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10646512"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160488" y="25162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989162"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9817838"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10646512"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160487" y="27448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989163"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9817837"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10646513"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160488" y="29734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989162"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9817838"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10646512"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1475188"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8160488" y="32020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989163"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9817838"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478276"/>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2"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10646512" y="3478276"/>
            <a:ext cx="128699" cy="187198"/>
          </a:xfrm>
          <a:prstGeom prst="rect">
            <a:avLst/>
          </a:prstGeom>
        </p:spPr>
      </p:pic>
      <p:sp>
        <p:nvSpPr>
          <p:cNvPr id="267" name="TextBox 266"/>
          <p:cNvSpPr txBox="1"/>
          <p:nvPr/>
        </p:nvSpPr>
        <p:spPr>
          <a:xfrm>
            <a:off x="266700" y="1344930"/>
            <a:ext cx="2226197" cy="186689"/>
          </a:xfrm>
          <a:prstGeom prst="rect">
            <a:avLst/>
          </a:prstGeom>
          <a:noFill/>
        </p:spPr>
        <p:txBody>
          <a:bodyPr wrap="none" lIns="0" rIns="0" tIns="0" bIns="0">
            <a:spAutoFit/>
          </a:bodyPr>
          <a:lstStyle/>
          <a:p>
            <a:r>
              <a:rPr sz="1100" b="0">
                <a:solidFill>
                  <a:srgbClr val="6B7280"/>
                </a:solidFill>
                <a:latin typeface="Segoe UI"/>
              </a:rPr>
              <a:t>Market 650.0 US$ Mn · Tier 1 share</a:t>
            </a:r>
          </a:p>
        </p:txBody>
      </p:sp>
      <p:pic>
        <p:nvPicPr>
          <p:cNvPr id="268" name="Picture 267" descr="lock.png"/>
          <p:cNvPicPr>
            <a:picLocks noChangeAspect="1"/>
          </p:cNvPicPr>
          <p:nvPr/>
        </p:nvPicPr>
        <p:blipFill>
          <a:blip r:embed="rId4"/>
          <a:stretch>
            <a:fillRect/>
          </a:stretch>
        </p:blipFill>
        <p:spPr>
          <a:xfrm>
            <a:off x="2440949" y="1335151"/>
            <a:ext cx="128699" cy="187198"/>
          </a:xfrm>
          <a:prstGeom prst="rect">
            <a:avLst/>
          </a:prstGeom>
        </p:spPr>
      </p:pic>
      <p:sp>
        <p:nvSpPr>
          <p:cNvPr id="269" name="TextBox 268"/>
          <p:cNvSpPr txBox="1"/>
          <p:nvPr/>
        </p:nvSpPr>
        <p:spPr>
          <a:xfrm>
            <a:off x="2608445" y="1344930"/>
            <a:ext cx="196800" cy="186689"/>
          </a:xfrm>
          <a:prstGeom prst="rect">
            <a:avLst/>
          </a:prstGeom>
          <a:noFill/>
        </p:spPr>
        <p:txBody>
          <a:bodyPr wrap="none" lIns="0" rIns="0" tIns="0" bIns="0">
            <a:spAutoFit/>
          </a:bodyPr>
          <a:lstStyle/>
          <a:p>
            <a:r>
              <a:rPr sz="1100" b="0">
                <a:solidFill>
                  <a:srgbClr val="6B7280"/>
                </a:solidFill>
                <a:latin typeface="Segoe UI"/>
              </a:rPr>
              <a:t>→</a:t>
            </a:r>
          </a:p>
        </p:txBody>
      </p:sp>
      <p:pic>
        <p:nvPicPr>
          <p:cNvPr id="270" name="Picture 269" descr="lock.png"/>
          <p:cNvPicPr>
            <a:picLocks noChangeAspect="1"/>
          </p:cNvPicPr>
          <p:nvPr/>
        </p:nvPicPr>
        <p:blipFill>
          <a:blip r:embed="rId4"/>
          <a:stretch>
            <a:fillRect/>
          </a:stretch>
        </p:blipFill>
        <p:spPr>
          <a:xfrm>
            <a:off x="2753297" y="1335151"/>
            <a:ext cx="128699" cy="187198"/>
          </a:xfrm>
          <a:prstGeom prst="rect">
            <a:avLst/>
          </a:prstGeom>
        </p:spPr>
      </p:pic>
      <p:sp>
        <p:nvSpPr>
          <p:cNvPr id="271" name="TextBox 270"/>
          <p:cNvSpPr txBox="1"/>
          <p:nvPr/>
        </p:nvSpPr>
        <p:spPr>
          <a:xfrm>
            <a:off x="2920793" y="1344930"/>
            <a:ext cx="565422" cy="186689"/>
          </a:xfrm>
          <a:prstGeom prst="rect">
            <a:avLst/>
          </a:prstGeom>
          <a:noFill/>
        </p:spPr>
        <p:txBody>
          <a:bodyPr wrap="none" lIns="0" rIns="0" tIns="0" bIns="0">
            <a:spAutoFit/>
          </a:bodyPr>
          <a:lstStyle/>
          <a:p>
            <a:r>
              <a:rPr sz="1100" b="0">
                <a:solidFill>
                  <a:srgbClr val="6B7280"/>
                </a:solidFill>
                <a:latin typeface="Segoe UI"/>
              </a:rPr>
              <a:t>by 2036</a:t>
            </a:r>
          </a:p>
        </p:txBody>
      </p:sp>
      <p:pic>
        <p:nvPicPr>
          <p:cNvPr id="272" name="Picture 271" descr="lock.png"/>
          <p:cNvPicPr>
            <a:picLocks noChangeAspect="1"/>
          </p:cNvPicPr>
          <p:nvPr/>
        </p:nvPicPr>
        <p:blipFill>
          <a:blip r:embed="rId4"/>
          <a:stretch>
            <a:fillRect/>
          </a:stretch>
        </p:blipFill>
        <p:spPr>
          <a:xfrm>
            <a:off x="1377182" y="1839976"/>
            <a:ext cx="128699" cy="187198"/>
          </a:xfrm>
          <a:prstGeom prst="rect">
            <a:avLst/>
          </a:prstGeom>
        </p:spPr>
      </p:pic>
      <p:sp>
        <p:nvSpPr>
          <p:cNvPr id="273" name="TextBox 272"/>
          <p:cNvSpPr txBox="1"/>
          <p:nvPr/>
        </p:nvSpPr>
        <p:spPr>
          <a:xfrm>
            <a:off x="1544678" y="1849755"/>
            <a:ext cx="1547684" cy="186689"/>
          </a:xfrm>
          <a:prstGeom prst="rect">
            <a:avLst/>
          </a:prstGeom>
          <a:noFill/>
        </p:spPr>
        <p:txBody>
          <a:bodyPr wrap="none" lIns="0" rIns="0" tIns="0" bIns="0">
            <a:spAutoFit/>
          </a:bodyPr>
          <a:lstStyle/>
          <a:p>
            <a:r>
              <a:rPr sz="1100" b="0">
                <a:solidFill>
                  <a:srgbClr val="FFFFFF"/>
                </a:solidFill>
                <a:latin typeface="Segoe UI"/>
              </a:rPr>
              <a:t>US$ Mn · 4 players · avg</a:t>
            </a:r>
          </a:p>
        </p:txBody>
      </p:sp>
      <p:pic>
        <p:nvPicPr>
          <p:cNvPr id="274" name="Picture 273" descr="lock.png"/>
          <p:cNvPicPr>
            <a:picLocks noChangeAspect="1"/>
          </p:cNvPicPr>
          <p:nvPr/>
        </p:nvPicPr>
        <p:blipFill>
          <a:blip r:embed="rId4"/>
          <a:stretch>
            <a:fillRect/>
          </a:stretch>
        </p:blipFill>
        <p:spPr>
          <a:xfrm>
            <a:off x="3040414" y="1839976"/>
            <a:ext cx="128699" cy="187198"/>
          </a:xfrm>
          <a:prstGeom prst="rect">
            <a:avLst/>
          </a:prstGeom>
        </p:spPr>
      </p:pic>
      <p:sp>
        <p:nvSpPr>
          <p:cNvPr id="275" name="TextBox 274"/>
          <p:cNvSpPr txBox="1"/>
          <p:nvPr/>
        </p:nvSpPr>
        <p:spPr>
          <a:xfrm>
            <a:off x="3207910" y="184975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76" name="Picture 275" descr="lock.png"/>
          <p:cNvPicPr>
            <a:picLocks noChangeAspect="1"/>
          </p:cNvPicPr>
          <p:nvPr/>
        </p:nvPicPr>
        <p:blipFill>
          <a:blip r:embed="rId4"/>
          <a:stretch>
            <a:fillRect/>
          </a:stretch>
        </p:blipFill>
        <p:spPr>
          <a:xfrm>
            <a:off x="1377182" y="2697226"/>
            <a:ext cx="128699" cy="187198"/>
          </a:xfrm>
          <a:prstGeom prst="rect">
            <a:avLst/>
          </a:prstGeom>
        </p:spPr>
      </p:pic>
      <p:sp>
        <p:nvSpPr>
          <p:cNvPr id="277" name="TextBox 276"/>
          <p:cNvSpPr txBox="1"/>
          <p:nvPr/>
        </p:nvSpPr>
        <p:spPr>
          <a:xfrm>
            <a:off x="1544678" y="2707005"/>
            <a:ext cx="1547684" cy="186689"/>
          </a:xfrm>
          <a:prstGeom prst="rect">
            <a:avLst/>
          </a:prstGeom>
          <a:noFill/>
        </p:spPr>
        <p:txBody>
          <a:bodyPr wrap="none" lIns="0" rIns="0" tIns="0" bIns="0">
            <a:spAutoFit/>
          </a:bodyPr>
          <a:lstStyle/>
          <a:p>
            <a:r>
              <a:rPr sz="1100" b="0">
                <a:solidFill>
                  <a:srgbClr val="FFFFFF"/>
                </a:solidFill>
                <a:latin typeface="Segoe UI"/>
              </a:rPr>
              <a:t>US$ Mn · 2 players · avg</a:t>
            </a:r>
          </a:p>
        </p:txBody>
      </p:sp>
      <p:pic>
        <p:nvPicPr>
          <p:cNvPr id="278" name="Picture 277" descr="lock.png"/>
          <p:cNvPicPr>
            <a:picLocks noChangeAspect="1"/>
          </p:cNvPicPr>
          <p:nvPr/>
        </p:nvPicPr>
        <p:blipFill>
          <a:blip r:embed="rId4"/>
          <a:stretch>
            <a:fillRect/>
          </a:stretch>
        </p:blipFill>
        <p:spPr>
          <a:xfrm>
            <a:off x="3040414" y="2697226"/>
            <a:ext cx="128699" cy="187198"/>
          </a:xfrm>
          <a:prstGeom prst="rect">
            <a:avLst/>
          </a:prstGeom>
        </p:spPr>
      </p:pic>
      <p:sp>
        <p:nvSpPr>
          <p:cNvPr id="279" name="TextBox 278"/>
          <p:cNvSpPr txBox="1"/>
          <p:nvPr/>
        </p:nvSpPr>
        <p:spPr>
          <a:xfrm>
            <a:off x="3207910" y="270700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80" name="Picture 279" descr="lock.png"/>
          <p:cNvPicPr>
            <a:picLocks noChangeAspect="1"/>
          </p:cNvPicPr>
          <p:nvPr/>
        </p:nvPicPr>
        <p:blipFill>
          <a:blip r:embed="rId4"/>
          <a:stretch>
            <a:fillRect/>
          </a:stretch>
        </p:blipFill>
        <p:spPr>
          <a:xfrm>
            <a:off x="1377182" y="3554476"/>
            <a:ext cx="128699" cy="187198"/>
          </a:xfrm>
          <a:prstGeom prst="rect">
            <a:avLst/>
          </a:prstGeom>
        </p:spPr>
      </p:pic>
      <p:sp>
        <p:nvSpPr>
          <p:cNvPr id="281" name="TextBox 280"/>
          <p:cNvSpPr txBox="1"/>
          <p:nvPr/>
        </p:nvSpPr>
        <p:spPr>
          <a:xfrm>
            <a:off x="1544678" y="3564255"/>
            <a:ext cx="1547684" cy="186689"/>
          </a:xfrm>
          <a:prstGeom prst="rect">
            <a:avLst/>
          </a:prstGeom>
          <a:noFill/>
        </p:spPr>
        <p:txBody>
          <a:bodyPr wrap="none" lIns="0" rIns="0" tIns="0" bIns="0">
            <a:spAutoFit/>
          </a:bodyPr>
          <a:lstStyle/>
          <a:p>
            <a:r>
              <a:rPr sz="1100" b="0">
                <a:solidFill>
                  <a:srgbClr val="FFFFFF"/>
                </a:solidFill>
                <a:latin typeface="Segoe UI"/>
              </a:rPr>
              <a:t>US$ Mn · 4 players · avg</a:t>
            </a:r>
          </a:p>
        </p:txBody>
      </p:sp>
      <p:pic>
        <p:nvPicPr>
          <p:cNvPr id="282" name="Picture 281" descr="lock.png"/>
          <p:cNvPicPr>
            <a:picLocks noChangeAspect="1"/>
          </p:cNvPicPr>
          <p:nvPr/>
        </p:nvPicPr>
        <p:blipFill>
          <a:blip r:embed="rId4"/>
          <a:stretch>
            <a:fillRect/>
          </a:stretch>
        </p:blipFill>
        <p:spPr>
          <a:xfrm>
            <a:off x="3040414" y="3554476"/>
            <a:ext cx="128699" cy="187198"/>
          </a:xfrm>
          <a:prstGeom prst="rect">
            <a:avLst/>
          </a:prstGeom>
        </p:spPr>
      </p:pic>
      <p:sp>
        <p:nvSpPr>
          <p:cNvPr id="283" name="TextBox 282"/>
          <p:cNvSpPr txBox="1"/>
          <p:nvPr/>
        </p:nvSpPr>
        <p:spPr>
          <a:xfrm>
            <a:off x="3207910" y="356425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84" name="Picture 283" descr="lock.png"/>
          <p:cNvPicPr>
            <a:picLocks noChangeAspect="1"/>
          </p:cNvPicPr>
          <p:nvPr/>
        </p:nvPicPr>
        <p:blipFill>
          <a:blip r:embed="rId4"/>
          <a:stretch>
            <a:fillRect/>
          </a:stretch>
        </p:blipFill>
        <p:spPr>
          <a:xfrm>
            <a:off x="1377182" y="4411726"/>
            <a:ext cx="128699" cy="187198"/>
          </a:xfrm>
          <a:prstGeom prst="rect">
            <a:avLst/>
          </a:prstGeom>
        </p:spPr>
      </p:pic>
      <p:sp>
        <p:nvSpPr>
          <p:cNvPr id="285" name="TextBox 284"/>
          <p:cNvSpPr txBox="1"/>
          <p:nvPr/>
        </p:nvSpPr>
        <p:spPr>
          <a:xfrm>
            <a:off x="1544678" y="4421505"/>
            <a:ext cx="1349598" cy="186689"/>
          </a:xfrm>
          <a:prstGeom prst="rect">
            <a:avLst/>
          </a:prstGeom>
          <a:noFill/>
        </p:spPr>
        <p:txBody>
          <a:bodyPr wrap="none" lIns="0" rIns="0" tIns="0" bIns="0">
            <a:spAutoFit/>
          </a:bodyPr>
          <a:lstStyle/>
          <a:p>
            <a:r>
              <a:rPr sz="1100" b="0">
                <a:solidFill>
                  <a:srgbClr val="14213D"/>
                </a:solidFill>
                <a:latin typeface="Segoe UI"/>
              </a:rPr>
              <a:t>US$ Mn · – · long tail</a:t>
            </a:r>
          </a:p>
        </p:txBody>
      </p:sp>
      <p:sp>
        <p:nvSpPr>
          <p:cNvPr id="286" name="TextBox 285"/>
          <p:cNvSpPr txBox="1"/>
          <p:nvPr/>
        </p:nvSpPr>
        <p:spPr>
          <a:xfrm>
            <a:off x="1172820" y="5802630"/>
            <a:ext cx="630361" cy="186689"/>
          </a:xfrm>
          <a:prstGeom prst="rect">
            <a:avLst/>
          </a:prstGeom>
          <a:noFill/>
        </p:spPr>
        <p:txBody>
          <a:bodyPr wrap="none" lIns="0" rIns="0" tIns="0" bIns="0">
            <a:spAutoFit/>
          </a:bodyPr>
          <a:lstStyle/>
          <a:p>
            <a:r>
              <a:rPr sz="1100" b="1">
                <a:solidFill>
                  <a:srgbClr val="2E7D32"/>
                </a:solidFill>
                <a:latin typeface="Segoe UI"/>
              </a:rPr>
              <a:t>▲</a:t>
            </a:r>
            <a:r>
              <a:rPr sz="1100" b="1">
                <a:solidFill>
                  <a:srgbClr val="14213D"/>
                </a:solidFill>
                <a:latin typeface="Segoe UI"/>
              </a:rPr>
              <a:t> HHI =</a:t>
            </a:r>
          </a:p>
        </p:txBody>
      </p:sp>
      <p:pic>
        <p:nvPicPr>
          <p:cNvPr id="287" name="Picture 286" descr="lock.png"/>
          <p:cNvPicPr>
            <a:picLocks noChangeAspect="1"/>
          </p:cNvPicPr>
          <p:nvPr/>
        </p:nvPicPr>
        <p:blipFill>
          <a:blip r:embed="rId4"/>
          <a:stretch>
            <a:fillRect/>
          </a:stretch>
        </p:blipFill>
        <p:spPr>
          <a:xfrm>
            <a:off x="1751233" y="5792851"/>
            <a:ext cx="128699" cy="187198"/>
          </a:xfrm>
          <a:prstGeom prst="rect">
            <a:avLst/>
          </a:prstGeom>
        </p:spPr>
      </p:pic>
      <p:sp>
        <p:nvSpPr>
          <p:cNvPr id="288" name="TextBox 287"/>
          <p:cNvSpPr txBox="1"/>
          <p:nvPr/>
        </p:nvSpPr>
        <p:spPr>
          <a:xfrm>
            <a:off x="598277" y="6107430"/>
            <a:ext cx="472380" cy="186689"/>
          </a:xfrm>
          <a:prstGeom prst="rect">
            <a:avLst/>
          </a:prstGeom>
          <a:noFill/>
        </p:spPr>
        <p:txBody>
          <a:bodyPr wrap="none" lIns="0" rIns="0" tIns="0" bIns="0">
            <a:spAutoFit/>
          </a:bodyPr>
          <a:lstStyle/>
          <a:p>
            <a:r>
              <a:rPr sz="1100" b="1">
                <a:solidFill>
                  <a:srgbClr val="14213D"/>
                </a:solidFill>
                <a:latin typeface="Segoe UI"/>
              </a:rPr>
              <a:t>CR4 =</a:t>
            </a:r>
          </a:p>
        </p:txBody>
      </p:sp>
      <p:pic>
        <p:nvPicPr>
          <p:cNvPr id="289" name="Picture 288" descr="lock.png"/>
          <p:cNvPicPr>
            <a:picLocks noChangeAspect="1"/>
          </p:cNvPicPr>
          <p:nvPr/>
        </p:nvPicPr>
        <p:blipFill>
          <a:blip r:embed="rId4"/>
          <a:stretch>
            <a:fillRect/>
          </a:stretch>
        </p:blipFill>
        <p:spPr>
          <a:xfrm>
            <a:off x="1018709" y="6097651"/>
            <a:ext cx="128699" cy="187198"/>
          </a:xfrm>
          <a:prstGeom prst="rect">
            <a:avLst/>
          </a:prstGeom>
        </p:spPr>
      </p:pic>
      <p:sp>
        <p:nvSpPr>
          <p:cNvPr id="290" name="TextBox 289"/>
          <p:cNvSpPr txBox="1"/>
          <p:nvPr/>
        </p:nvSpPr>
        <p:spPr>
          <a:xfrm>
            <a:off x="1186205" y="6107430"/>
            <a:ext cx="1213458" cy="186689"/>
          </a:xfrm>
          <a:prstGeom prst="rect">
            <a:avLst/>
          </a:prstGeom>
          <a:noFill/>
        </p:spPr>
        <p:txBody>
          <a:bodyPr wrap="none" lIns="0" rIns="0" tIns="0" bIns="0">
            <a:spAutoFit/>
          </a:bodyPr>
          <a:lstStyle/>
          <a:p>
            <a:r>
              <a:rPr sz="1100" b="1">
                <a:solidFill>
                  <a:srgbClr val="14213D"/>
                </a:solidFill>
                <a:latin typeface="Segoe UI"/>
              </a:rPr>
              <a:t>· Tier 1 : Others =</a:t>
            </a:r>
          </a:p>
        </p:txBody>
      </p:sp>
      <p:pic>
        <p:nvPicPr>
          <p:cNvPr id="291" name="Picture 290" descr="lock.png"/>
          <p:cNvPicPr>
            <a:picLocks noChangeAspect="1"/>
          </p:cNvPicPr>
          <p:nvPr/>
        </p:nvPicPr>
        <p:blipFill>
          <a:blip r:embed="rId4"/>
          <a:stretch>
            <a:fillRect/>
          </a:stretch>
        </p:blipFill>
        <p:spPr>
          <a:xfrm>
            <a:off x="2347715" y="6097651"/>
            <a:ext cx="128699" cy="187198"/>
          </a:xfrm>
          <a:prstGeom prst="rect">
            <a:avLst/>
          </a:prstGeom>
        </p:spPr>
      </p:pic>
      <p:sp>
        <p:nvSpPr>
          <p:cNvPr id="292" name="TextBox 291"/>
          <p:cNvSpPr txBox="1"/>
          <p:nvPr/>
        </p:nvSpPr>
        <p:spPr>
          <a:xfrm>
            <a:off x="2515210" y="6107430"/>
            <a:ext cx="1594392" cy="186689"/>
          </a:xfrm>
          <a:prstGeom prst="rect">
            <a:avLst/>
          </a:prstGeom>
          <a:noFill/>
        </p:spPr>
        <p:txBody>
          <a:bodyPr wrap="none" lIns="0" rIns="0" tIns="0" bIns="0">
            <a:spAutoFit/>
          </a:bodyPr>
          <a:lstStyle/>
          <a:p>
            <a:r>
              <a:rPr sz="1100" b="1">
                <a:solidFill>
                  <a:srgbClr val="14213D"/>
                </a:solidFill>
                <a:latin typeface="Segoe UI"/>
              </a:rPr>
              <a:t>: 1 · Top-player share =</a:t>
            </a:r>
          </a:p>
        </p:txBody>
      </p:sp>
      <p:pic>
        <p:nvPicPr>
          <p:cNvPr id="293" name="Picture 292" descr="lock.png"/>
          <p:cNvPicPr>
            <a:picLocks noChangeAspect="1"/>
          </p:cNvPicPr>
          <p:nvPr/>
        </p:nvPicPr>
        <p:blipFill>
          <a:blip r:embed="rId4"/>
          <a:stretch>
            <a:fillRect/>
          </a:stretch>
        </p:blipFill>
        <p:spPr>
          <a:xfrm>
            <a:off x="4057655" y="6097651"/>
            <a:ext cx="128699" cy="187198"/>
          </a:xfrm>
          <a:prstGeom prst="rect">
            <a:avLst/>
          </a:prstGeom>
        </p:spPr>
      </p:pic>
      <p:sp>
        <p:nvSpPr>
          <p:cNvPr id="294" name="TextBox 293"/>
          <p:cNvSpPr txBox="1"/>
          <p:nvPr/>
        </p:nvSpPr>
        <p:spPr>
          <a:xfrm>
            <a:off x="4225151" y="6107430"/>
            <a:ext cx="1348771" cy="186689"/>
          </a:xfrm>
          <a:prstGeom prst="rect">
            <a:avLst/>
          </a:prstGeom>
          <a:noFill/>
        </p:spPr>
        <p:txBody>
          <a:bodyPr wrap="none" lIns="0" rIns="0" tIns="0" bIns="0">
            <a:spAutoFit/>
          </a:bodyPr>
          <a:lstStyle/>
          <a:p>
            <a:r>
              <a:rPr sz="1100" b="1">
                <a:solidFill>
                  <a:srgbClr val="14213D"/>
                </a:solidFill>
                <a:latin typeface="Segoe UI"/>
              </a:rPr>
              <a:t>· Class: Fragmented</a:t>
            </a:r>
          </a:p>
        </p:txBody>
      </p:sp>
      <p:sp>
        <p:nvSpPr>
          <p:cNvPr id="295" name="TextBox 294"/>
          <p:cNvSpPr txBox="1"/>
          <p:nvPr/>
        </p:nvSpPr>
        <p:spPr>
          <a:xfrm>
            <a:off x="6372225" y="5476875"/>
            <a:ext cx="498847" cy="186689"/>
          </a:xfrm>
          <a:prstGeom prst="rect">
            <a:avLst/>
          </a:prstGeom>
          <a:noFill/>
        </p:spPr>
        <p:txBody>
          <a:bodyPr wrap="none" lIns="0" rIns="0" tIns="0" bIns="0">
            <a:spAutoFit/>
          </a:bodyPr>
          <a:lstStyle/>
          <a:p>
            <a:r>
              <a:rPr sz="1100" b="0">
                <a:solidFill>
                  <a:srgbClr val="14213D"/>
                </a:solidFill>
                <a:latin typeface="Segoe UI"/>
              </a:rPr>
              <a:t>Tier 1 (</a:t>
            </a:r>
          </a:p>
        </p:txBody>
      </p:sp>
      <p:pic>
        <p:nvPicPr>
          <p:cNvPr id="296" name="Picture 295" descr="lock.png"/>
          <p:cNvPicPr>
            <a:picLocks noChangeAspect="1"/>
          </p:cNvPicPr>
          <p:nvPr/>
        </p:nvPicPr>
        <p:blipFill>
          <a:blip r:embed="rId4"/>
          <a:stretch>
            <a:fillRect/>
          </a:stretch>
        </p:blipFill>
        <p:spPr>
          <a:xfrm>
            <a:off x="6819123" y="5467095"/>
            <a:ext cx="128699" cy="187198"/>
          </a:xfrm>
          <a:prstGeom prst="rect">
            <a:avLst/>
          </a:prstGeom>
        </p:spPr>
      </p:pic>
      <p:sp>
        <p:nvSpPr>
          <p:cNvPr id="297" name="TextBox 296"/>
          <p:cNvSpPr txBox="1"/>
          <p:nvPr/>
        </p:nvSpPr>
        <p:spPr>
          <a:xfrm>
            <a:off x="6986619" y="5476875"/>
            <a:ext cx="4487216" cy="186689"/>
          </a:xfrm>
          <a:prstGeom prst="rect">
            <a:avLst/>
          </a:prstGeom>
          <a:noFill/>
        </p:spPr>
        <p:txBody>
          <a:bodyPr wrap="none" lIns="0" rIns="0" tIns="0" bIns="0">
            <a:spAutoFit/>
          </a:bodyPr>
          <a:lstStyle/>
          <a:p>
            <a:r>
              <a:rPr sz="1100" b="0">
                <a:solidFill>
                  <a:srgbClr val="14213D"/>
                </a:solidFill>
                <a:latin typeface="Segoe UI"/>
              </a:rPr>
              <a:t>) holds the largest single block of value on a 650.0 US$ Mn base; CR4 of</a:t>
            </a:r>
          </a:p>
        </p:txBody>
      </p:sp>
      <p:pic>
        <p:nvPicPr>
          <p:cNvPr id="298" name="Picture 297" descr="lock.png"/>
          <p:cNvPicPr>
            <a:picLocks noChangeAspect="1"/>
          </p:cNvPicPr>
          <p:nvPr/>
        </p:nvPicPr>
        <p:blipFill>
          <a:blip r:embed="rId4"/>
          <a:stretch>
            <a:fillRect/>
          </a:stretch>
        </p:blipFill>
        <p:spPr>
          <a:xfrm>
            <a:off x="11421887" y="5467095"/>
            <a:ext cx="128699" cy="187198"/>
          </a:xfrm>
          <a:prstGeom prst="rect">
            <a:avLst/>
          </a:prstGeom>
        </p:spPr>
      </p:pic>
      <p:sp>
        <p:nvSpPr>
          <p:cNvPr id="299" name="TextBox 298"/>
          <p:cNvSpPr txBox="1"/>
          <p:nvPr/>
        </p:nvSpPr>
        <p:spPr>
          <a:xfrm>
            <a:off x="6372225" y="5644515"/>
            <a:ext cx="746557" cy="186689"/>
          </a:xfrm>
          <a:prstGeom prst="rect">
            <a:avLst/>
          </a:prstGeom>
          <a:noFill/>
        </p:spPr>
        <p:txBody>
          <a:bodyPr wrap="none" lIns="0" rIns="0" tIns="0" bIns="0">
            <a:spAutoFit/>
          </a:bodyPr>
          <a:lstStyle/>
          <a:p>
            <a:r>
              <a:rPr sz="1100" b="0">
                <a:solidFill>
                  <a:srgbClr val="14213D"/>
                </a:solidFill>
                <a:latin typeface="Segoe UI"/>
              </a:rPr>
              <a:t>and HHI of</a:t>
            </a:r>
          </a:p>
        </p:txBody>
      </p:sp>
      <p:pic>
        <p:nvPicPr>
          <p:cNvPr id="300" name="Picture 299" descr="lock.png"/>
          <p:cNvPicPr>
            <a:picLocks noChangeAspect="1"/>
          </p:cNvPicPr>
          <p:nvPr/>
        </p:nvPicPr>
        <p:blipFill>
          <a:blip r:embed="rId4"/>
          <a:stretch>
            <a:fillRect/>
          </a:stretch>
        </p:blipFill>
        <p:spPr>
          <a:xfrm>
            <a:off x="7066834" y="5634735"/>
            <a:ext cx="128699" cy="187198"/>
          </a:xfrm>
          <a:prstGeom prst="rect">
            <a:avLst/>
          </a:prstGeom>
        </p:spPr>
      </p:pic>
      <p:sp>
        <p:nvSpPr>
          <p:cNvPr id="301" name="TextBox 300"/>
          <p:cNvSpPr txBox="1"/>
          <p:nvPr/>
        </p:nvSpPr>
        <p:spPr>
          <a:xfrm>
            <a:off x="7234330" y="5644515"/>
            <a:ext cx="2174402" cy="186689"/>
          </a:xfrm>
          <a:prstGeom prst="rect">
            <a:avLst/>
          </a:prstGeom>
          <a:noFill/>
        </p:spPr>
        <p:txBody>
          <a:bodyPr wrap="none" lIns="0" rIns="0" tIns="0" bIns="0">
            <a:spAutoFit/>
          </a:bodyPr>
          <a:lstStyle/>
          <a:p>
            <a:r>
              <a:rPr sz="1100" b="0">
                <a:solidFill>
                  <a:srgbClr val="14213D"/>
                </a:solidFill>
                <a:latin typeface="Segoe UI"/>
              </a:rPr>
              <a:t>classify the market as fragmented.</a:t>
            </a:r>
          </a:p>
        </p:txBody>
      </p:sp>
      <p:sp>
        <p:nvSpPr>
          <p:cNvPr id="302" name="TextBox 301"/>
          <p:cNvSpPr txBox="1"/>
          <p:nvPr/>
        </p:nvSpPr>
        <p:spPr>
          <a:xfrm>
            <a:off x="6372225" y="5857875"/>
            <a:ext cx="1425949" cy="186689"/>
          </a:xfrm>
          <a:prstGeom prst="rect">
            <a:avLst/>
          </a:prstGeom>
          <a:noFill/>
        </p:spPr>
        <p:txBody>
          <a:bodyPr wrap="none" lIns="0" rIns="0" tIns="0" bIns="0">
            <a:spAutoFit/>
          </a:bodyPr>
          <a:lstStyle/>
          <a:p>
            <a:r>
              <a:rPr sz="1100" b="0">
                <a:solidFill>
                  <a:srgbClr val="14213D"/>
                </a:solidFill>
                <a:latin typeface="Segoe UI"/>
              </a:rPr>
              <a:t>Tier 2 grows fastest at</a:t>
            </a:r>
          </a:p>
        </p:txBody>
      </p:sp>
      <p:pic>
        <p:nvPicPr>
          <p:cNvPr id="303" name="Picture 302" descr="lock.png"/>
          <p:cNvPicPr>
            <a:picLocks noChangeAspect="1"/>
          </p:cNvPicPr>
          <p:nvPr/>
        </p:nvPicPr>
        <p:blipFill>
          <a:blip r:embed="rId4"/>
          <a:stretch>
            <a:fillRect/>
          </a:stretch>
        </p:blipFill>
        <p:spPr>
          <a:xfrm>
            <a:off x="7746226" y="5848095"/>
            <a:ext cx="128699" cy="187198"/>
          </a:xfrm>
          <a:prstGeom prst="rect">
            <a:avLst/>
          </a:prstGeom>
        </p:spPr>
      </p:pic>
      <p:sp>
        <p:nvSpPr>
          <p:cNvPr id="304" name="TextBox 303"/>
          <p:cNvSpPr txBox="1"/>
          <p:nvPr/>
        </p:nvSpPr>
        <p:spPr>
          <a:xfrm>
            <a:off x="7913722" y="5857875"/>
            <a:ext cx="1098544" cy="186689"/>
          </a:xfrm>
          <a:prstGeom prst="rect">
            <a:avLst/>
          </a:prstGeom>
          <a:noFill/>
        </p:spPr>
        <p:txBody>
          <a:bodyPr wrap="none" lIns="0" rIns="0" tIns="0" bIns="0">
            <a:spAutoFit/>
          </a:bodyPr>
          <a:lstStyle/>
          <a:p>
            <a:r>
              <a:rPr sz="1100" b="0">
                <a:solidFill>
                  <a:srgbClr val="14213D"/>
                </a:solidFill>
                <a:latin typeface="Segoe UI"/>
              </a:rPr>
              <a:t>CAGR, moving +</a:t>
            </a:r>
          </a:p>
        </p:txBody>
      </p:sp>
      <p:pic>
        <p:nvPicPr>
          <p:cNvPr id="305" name="Picture 304" descr="lock.png"/>
          <p:cNvPicPr>
            <a:picLocks noChangeAspect="1"/>
          </p:cNvPicPr>
          <p:nvPr/>
        </p:nvPicPr>
        <p:blipFill>
          <a:blip r:embed="rId4"/>
          <a:stretch>
            <a:fillRect/>
          </a:stretch>
        </p:blipFill>
        <p:spPr>
          <a:xfrm>
            <a:off x="8960318" y="5848095"/>
            <a:ext cx="128699" cy="187198"/>
          </a:xfrm>
          <a:prstGeom prst="rect">
            <a:avLst/>
          </a:prstGeom>
        </p:spPr>
      </p:pic>
      <p:sp>
        <p:nvSpPr>
          <p:cNvPr id="306" name="TextBox 305"/>
          <p:cNvSpPr txBox="1"/>
          <p:nvPr/>
        </p:nvSpPr>
        <p:spPr>
          <a:xfrm>
            <a:off x="9127814" y="5857875"/>
            <a:ext cx="1331248" cy="186689"/>
          </a:xfrm>
          <a:prstGeom prst="rect">
            <a:avLst/>
          </a:prstGeom>
          <a:noFill/>
        </p:spPr>
        <p:txBody>
          <a:bodyPr wrap="none" lIns="0" rIns="0" tIns="0" bIns="0">
            <a:spAutoFit/>
          </a:bodyPr>
          <a:lstStyle/>
          <a:p>
            <a:r>
              <a:rPr sz="1100" b="0">
                <a:solidFill>
                  <a:srgbClr val="14213D"/>
                </a:solidFill>
                <a:latin typeface="Segoe UI"/>
              </a:rPr>
              <a:t>pp of share by 2036.</a:t>
            </a:r>
          </a:p>
        </p:txBody>
      </p:sp>
      <p:sp>
        <p:nvSpPr>
          <p:cNvPr id="307" name="TextBox 306"/>
          <p:cNvSpPr txBox="1"/>
          <p:nvPr/>
        </p:nvSpPr>
        <p:spPr>
          <a:xfrm>
            <a:off x="6372225" y="6076950"/>
            <a:ext cx="2353947" cy="186689"/>
          </a:xfrm>
          <a:prstGeom prst="rect">
            <a:avLst/>
          </a:prstGeom>
          <a:noFill/>
        </p:spPr>
        <p:txBody>
          <a:bodyPr wrap="none" lIns="0" rIns="0" tIns="0" bIns="0">
            <a:spAutoFit/>
          </a:bodyPr>
          <a:lstStyle/>
          <a:p>
            <a:r>
              <a:rPr sz="1100" b="0">
                <a:solidFill>
                  <a:srgbClr val="14213D"/>
                </a:solidFill>
                <a:latin typeface="Segoe UI"/>
              </a:rPr>
              <a:t>Tier 3 and the long tail together hold</a:t>
            </a:r>
          </a:p>
        </p:txBody>
      </p:sp>
      <p:pic>
        <p:nvPicPr>
          <p:cNvPr id="308" name="Picture 307" descr="lock.png"/>
          <p:cNvPicPr>
            <a:picLocks noChangeAspect="1"/>
          </p:cNvPicPr>
          <p:nvPr/>
        </p:nvPicPr>
        <p:blipFill>
          <a:blip r:embed="rId4"/>
          <a:stretch>
            <a:fillRect/>
          </a:stretch>
        </p:blipFill>
        <p:spPr>
          <a:xfrm>
            <a:off x="8674224" y="6067170"/>
            <a:ext cx="128699" cy="187198"/>
          </a:xfrm>
          <a:prstGeom prst="rect">
            <a:avLst/>
          </a:prstGeom>
        </p:spPr>
      </p:pic>
      <p:sp>
        <p:nvSpPr>
          <p:cNvPr id="309" name="TextBox 308"/>
          <p:cNvSpPr txBox="1"/>
          <p:nvPr/>
        </p:nvSpPr>
        <p:spPr>
          <a:xfrm>
            <a:off x="8841720" y="6076950"/>
            <a:ext cx="2283198" cy="186689"/>
          </a:xfrm>
          <a:prstGeom prst="rect">
            <a:avLst/>
          </a:prstGeom>
          <a:noFill/>
        </p:spPr>
        <p:txBody>
          <a:bodyPr wrap="none" lIns="0" rIns="0" tIns="0" bIns="0">
            <a:spAutoFit/>
          </a:bodyPr>
          <a:lstStyle/>
          <a:p>
            <a:r>
              <a:rPr sz="1100" b="0">
                <a:solidFill>
                  <a:srgbClr val="14213D"/>
                </a:solidFill>
                <a:latin typeface="Segoe UI"/>
              </a:rPr>
              <a:t>of value; the average Tier 3 player is</a:t>
            </a:r>
          </a:p>
        </p:txBody>
      </p:sp>
      <p:pic>
        <p:nvPicPr>
          <p:cNvPr id="310" name="Picture 309" descr="lock.png"/>
          <p:cNvPicPr>
            <a:picLocks noChangeAspect="1"/>
          </p:cNvPicPr>
          <p:nvPr/>
        </p:nvPicPr>
        <p:blipFill>
          <a:blip r:embed="rId4"/>
          <a:stretch>
            <a:fillRect/>
          </a:stretch>
        </p:blipFill>
        <p:spPr>
          <a:xfrm>
            <a:off x="11072970" y="6067170"/>
            <a:ext cx="128699" cy="187198"/>
          </a:xfrm>
          <a:prstGeom prst="rect">
            <a:avLst/>
          </a:prstGeom>
        </p:spPr>
      </p:pic>
      <p:sp>
        <p:nvSpPr>
          <p:cNvPr id="311" name="TextBox 310"/>
          <p:cNvSpPr txBox="1"/>
          <p:nvPr/>
        </p:nvSpPr>
        <p:spPr>
          <a:xfrm>
            <a:off x="11240465" y="6076950"/>
            <a:ext cx="140320" cy="186689"/>
          </a:xfrm>
          <a:prstGeom prst="rect">
            <a:avLst/>
          </a:prstGeom>
          <a:noFill/>
        </p:spPr>
        <p:txBody>
          <a:bodyPr wrap="none" lIns="0" rIns="0" tIns="0" bIns="0">
            <a:spAutoFit/>
          </a:bodyPr>
          <a:lstStyle/>
          <a:p>
            <a:r>
              <a:rPr sz="1100" b="0">
                <a:solidFill>
                  <a:srgbClr val="14213D"/>
                </a:solidFill>
                <a:latin typeface="Segoe UI"/>
              </a:rPr>
              <a:t>x</a:t>
            </a:r>
          </a:p>
        </p:txBody>
      </p:sp>
      <p:sp>
        <p:nvSpPr>
          <p:cNvPr id="312" name="TextBox 311"/>
          <p:cNvSpPr txBox="1"/>
          <p:nvPr/>
        </p:nvSpPr>
        <p:spPr>
          <a:xfrm>
            <a:off x="6372225" y="6244590"/>
            <a:ext cx="1881479" cy="186689"/>
          </a:xfrm>
          <a:prstGeom prst="rect">
            <a:avLst/>
          </a:prstGeom>
          <a:noFill/>
        </p:spPr>
        <p:txBody>
          <a:bodyPr wrap="none" lIns="0" rIns="0" tIns="0" bIns="0">
            <a:spAutoFit/>
          </a:bodyPr>
          <a:lstStyle/>
          <a:p>
            <a:r>
              <a:rPr sz="1100" b="0">
                <a:solidFill>
                  <a:srgbClr val="14213D"/>
                </a:solidFill>
                <a:latin typeface="Segoe UI"/>
              </a:rPr>
              <a:t>smaller than a Tier 1 supplier.</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Industry Structure Landscape – Lithium Polymer Portable Energy Storage Market, Global 2026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Tier ladder, market concentration and tier profile, and the structural shift 2026→2036 shaping the tier structure</a:t>
            </a:r>
          </a:p>
        </p:txBody>
      </p:sp>
      <p:sp>
        <p:nvSpPr>
          <p:cNvPr id="8" name="Rectangle 7"/>
          <p:cNvSpPr/>
          <p:nvPr/>
        </p:nvSpPr>
        <p:spPr>
          <a:xfrm>
            <a:off x="142875" y="1047750"/>
            <a:ext cx="11906250" cy="23812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52423"/>
                </a:solidFill>
                <a:latin typeface="Segoe UI"/>
              </a:rPr>
              <a:t>Structural Shift, 2026 → 2036 – Tier Migration and Entry / Exit</a:t>
            </a:r>
          </a:p>
        </p:txBody>
      </p:sp>
      <p:sp>
        <p:nvSpPr>
          <p:cNvPr id="10" name="Rounded Rectangle 9"/>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1</a:t>
            </a:r>
          </a:p>
        </p:txBody>
      </p:sp>
      <p:sp>
        <p:nvSpPr>
          <p:cNvPr id="12" name="TextBox 11"/>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Top / global players</a:t>
            </a:r>
          </a:p>
        </p:txBody>
      </p:sp>
      <p:sp>
        <p:nvSpPr>
          <p:cNvPr id="13" name="TextBox 12"/>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14" name="TextBox 13"/>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1 up-tier (M&amp;A)</a:t>
            </a:r>
          </a:p>
        </p:txBody>
      </p:sp>
      <p:cxnSp>
        <p:nvCxnSpPr>
          <p:cNvPr id="15" name="Connector 14"/>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0 down / exit</a:t>
            </a:r>
          </a:p>
        </p:txBody>
      </p:sp>
      <p:sp>
        <p:nvSpPr>
          <p:cNvPr id="20" name="Rounded Rectangle 19"/>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2</a:t>
            </a:r>
          </a:p>
        </p:txBody>
      </p:sp>
      <p:sp>
        <p:nvSpPr>
          <p:cNvPr id="22" name="TextBox 21"/>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Mid-sized players</a:t>
            </a:r>
          </a:p>
        </p:txBody>
      </p:sp>
      <p:sp>
        <p:nvSpPr>
          <p:cNvPr id="23" name="TextBox 22"/>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24" name="TextBox 23"/>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1 up-tier (M&amp;A)</a:t>
            </a:r>
          </a:p>
        </p:txBody>
      </p:sp>
      <p:cxnSp>
        <p:nvCxnSpPr>
          <p:cNvPr id="25" name="Connector 24"/>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0 down / exit</a:t>
            </a:r>
          </a:p>
        </p:txBody>
      </p:sp>
      <p:sp>
        <p:nvSpPr>
          <p:cNvPr id="30" name="Rounded Rectangle 29"/>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3</a:t>
            </a:r>
          </a:p>
        </p:txBody>
      </p:sp>
      <p:sp>
        <p:nvSpPr>
          <p:cNvPr id="32" name="TextBox 31"/>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Emerging / local players</a:t>
            </a:r>
          </a:p>
        </p:txBody>
      </p:sp>
      <p:sp>
        <p:nvSpPr>
          <p:cNvPr id="33" name="TextBox 32"/>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34" name="TextBox 33"/>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2 up-tier (M&amp;A)</a:t>
            </a:r>
          </a:p>
        </p:txBody>
      </p:sp>
      <p:cxnSp>
        <p:nvCxnSpPr>
          <p:cNvPr id="35" name="Connector 34"/>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1 down / exit</a:t>
            </a:r>
          </a:p>
        </p:txBody>
      </p:sp>
      <p:sp>
        <p:nvSpPr>
          <p:cNvPr id="40" name="Rounded Rectangle 39"/>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Segoe UI"/>
              </a:rPr>
              <a:t>Others</a:t>
            </a:r>
          </a:p>
        </p:txBody>
      </p:sp>
      <p:sp>
        <p:nvSpPr>
          <p:cNvPr id="42" name="TextBox 41"/>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Segoe UI"/>
              </a:rPr>
              <a:t>Long tail</a:t>
            </a:r>
          </a:p>
        </p:txBody>
      </p:sp>
      <p:sp>
        <p:nvSpPr>
          <p:cNvPr id="43" name="TextBox 42"/>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r>
          </a:p>
        </p:txBody>
      </p:sp>
      <p:sp>
        <p:nvSpPr>
          <p:cNvPr id="44" name="Rounded Rectangle 43"/>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actMR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46" name="TextBox 45"/>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New entrants 2026–2036</a:t>
            </a:r>
          </a:p>
        </p:txBody>
      </p:sp>
      <p:sp>
        <p:nvSpPr>
          <p:cNvPr id="47" name="TextBox 46"/>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scaling up from the long tail</a:t>
            </a:r>
          </a:p>
        </p:txBody>
      </p:sp>
      <p:sp>
        <p:nvSpPr>
          <p:cNvPr id="48" name="Rounded Rectangle 47"/>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actMR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0" name="TextBox 49"/>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Exits / acquisitions</a:t>
            </a:r>
          </a:p>
        </p:txBody>
      </p:sp>
      <p:sp>
        <p:nvSpPr>
          <p:cNvPr id="51" name="TextBox 50"/>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absorbed mainly by Tier 1–2 acquirers</a:t>
            </a:r>
          </a:p>
        </p:txBody>
      </p:sp>
      <p:sp>
        <p:nvSpPr>
          <p:cNvPr id="52" name="Rounded Rectangle 51"/>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actMR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4" name="TextBox 53"/>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Net change in player count</a:t>
            </a:r>
          </a:p>
        </p:txBody>
      </p:sp>
      <p:sp>
        <p:nvSpPr>
          <p:cNvPr id="55" name="TextBox 54"/>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Between 2026 and 2036</a:t>
            </a:r>
          </a:p>
        </p:txBody>
      </p:sp>
      <p:sp>
        <p:nvSpPr>
          <p:cNvPr id="56" name="Rounded Rectangle 55"/>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actMR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8" name="TextBox 57"/>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Share moving between tiers</a:t>
            </a:r>
          </a:p>
        </p:txBody>
      </p:sp>
      <p:sp>
        <p:nvSpPr>
          <p:cNvPr id="59" name="TextBox 58"/>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largest transfer: Others → Tier 2</a:t>
            </a:r>
          </a:p>
        </p:txBody>
      </p:sp>
      <p:sp>
        <p:nvSpPr>
          <p:cNvPr id="60" name="Rectangle 59"/>
          <p:cNvSpPr/>
          <p:nvPr/>
        </p:nvSpPr>
        <p:spPr>
          <a:xfrm>
            <a:off x="142875" y="3543300"/>
            <a:ext cx="7096125" cy="3086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52423"/>
                </a:solidFill>
                <a:latin typeface="Segoe UI"/>
              </a:rPr>
              <a:t>Structural Forces Shaping the Tier Structure (1 = weak, 5 = strong)</a:t>
            </a:r>
          </a:p>
        </p:txBody>
      </p:sp>
      <p:sp>
        <p:nvSpPr>
          <p:cNvPr id="62" name="Rectangle 61"/>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Segoe UI"/>
              </a:rPr>
              <a:t>Force</a:t>
            </a:r>
          </a:p>
        </p:txBody>
      </p:sp>
      <p:sp>
        <p:nvSpPr>
          <p:cNvPr id="64" name="Rectangle 63"/>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Segoe UI"/>
              </a:rPr>
              <a:t>Drivers in the market</a:t>
            </a:r>
          </a:p>
        </p:txBody>
      </p:sp>
      <p:sp>
        <p:nvSpPr>
          <p:cNvPr id="66" name="Rectangle 65"/>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Segoe UI"/>
              </a:rPr>
              <a:t>Score</a:t>
            </a:r>
          </a:p>
        </p:txBody>
      </p:sp>
      <p:sp>
        <p:nvSpPr>
          <p:cNvPr id="68" name="Rectangle 67"/>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Segoe UI"/>
              </a:rPr>
              <a:t>Effect on tier structure</a:t>
            </a:r>
          </a:p>
        </p:txBody>
      </p:sp>
      <p:sp>
        <p:nvSpPr>
          <p:cNvPr id="70" name="Rectangle 69"/>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Entry barriers</a:t>
            </a:r>
          </a:p>
        </p:txBody>
      </p:sp>
      <p:sp>
        <p:nvSpPr>
          <p:cNvPr id="72" name="Rectangle 71"/>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Certification, qualification, scale economics</a:t>
            </a:r>
          </a:p>
        </p:txBody>
      </p:sp>
      <p:sp>
        <p:nvSpPr>
          <p:cNvPr id="74" name="Rectangle 73"/>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76" name="Rectangle 75"/>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Protects Tier 1–2; slows new entry</a:t>
            </a:r>
          </a:p>
        </p:txBody>
      </p:sp>
      <p:sp>
        <p:nvSpPr>
          <p:cNvPr id="78" name="Rectangle 77"/>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Buyer power</a:t>
            </a:r>
          </a:p>
        </p:txBody>
      </p:sp>
      <p:sp>
        <p:nvSpPr>
          <p:cNvPr id="80" name="Rectangle 79"/>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Key-account purchasing, multi-year supply contracts</a:t>
            </a:r>
          </a:p>
        </p:txBody>
      </p:sp>
      <p:sp>
        <p:nvSpPr>
          <p:cNvPr id="82" name="Rectangle 81"/>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84" name="Rectangle 83"/>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Compresses Tier 3 pricing</a:t>
            </a:r>
          </a:p>
        </p:txBody>
      </p:sp>
      <p:sp>
        <p:nvSpPr>
          <p:cNvPr id="86" name="Rectangle 85"/>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Switching costs</a:t>
            </a:r>
          </a:p>
        </p:txBody>
      </p:sp>
      <p:sp>
        <p:nvSpPr>
          <p:cNvPr id="88" name="Rectangle 87"/>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Requalification, integration and retraining</a:t>
            </a:r>
          </a:p>
        </p:txBody>
      </p:sp>
      <p:sp>
        <p:nvSpPr>
          <p:cNvPr id="90" name="Rectangle 89"/>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92" name="Rectangle 91"/>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Locks in the installed base</a:t>
            </a:r>
          </a:p>
        </p:txBody>
      </p:sp>
      <p:sp>
        <p:nvSpPr>
          <p:cNvPr id="94" name="Rectangle 93"/>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Technology substitution</a:t>
            </a:r>
          </a:p>
        </p:txBody>
      </p:sp>
      <p:sp>
        <p:nvSpPr>
          <p:cNvPr id="96" name="Rectangle 95"/>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Alternative materials and next-generation formats</a:t>
            </a:r>
          </a:p>
        </p:txBody>
      </p:sp>
      <p:sp>
        <p:nvSpPr>
          <p:cNvPr id="98" name="Rectangle 97"/>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00" name="Rectangle 99"/>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Opens demand to Tier 2–3 innovators</a:t>
            </a:r>
          </a:p>
        </p:txBody>
      </p:sp>
      <p:sp>
        <p:nvSpPr>
          <p:cNvPr id="102" name="Rectangle 101"/>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Supplier power</a:t>
            </a:r>
          </a:p>
        </p:txBody>
      </p:sp>
      <p:sp>
        <p:nvSpPr>
          <p:cNvPr id="104" name="Rectangle 103"/>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Few qualified input and component suppliers</a:t>
            </a:r>
          </a:p>
        </p:txBody>
      </p:sp>
      <p:sp>
        <p:nvSpPr>
          <p:cNvPr id="106" name="Rectangle 105"/>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08" name="Rectangle 107"/>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Raises input cost for sub-scale players</a:t>
            </a:r>
          </a:p>
        </p:txBody>
      </p:sp>
      <p:sp>
        <p:nvSpPr>
          <p:cNvPr id="110" name="Rectangle 109"/>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Overall structural pressure</a:t>
            </a:r>
          </a:p>
        </p:txBody>
      </p:sp>
      <p:sp>
        <p:nvSpPr>
          <p:cNvPr id="112" name="Rectangle 111"/>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Average of the five forces</a:t>
            </a:r>
          </a:p>
        </p:txBody>
      </p:sp>
      <p:sp>
        <p:nvSpPr>
          <p:cNvPr id="114" name="Rectangle 113"/>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16" name="Rectangle 115"/>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Structure broadly stable</a:t>
            </a:r>
          </a:p>
        </p:txBody>
      </p:sp>
      <p:sp>
        <p:nvSpPr>
          <p:cNvPr id="118" name="Rectangle 117"/>
          <p:cNvSpPr/>
          <p:nvPr/>
        </p:nvSpPr>
        <p:spPr>
          <a:xfrm>
            <a:off x="7381875" y="3543300"/>
            <a:ext cx="4667250" cy="3086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52423"/>
                </a:solidFill>
                <a:latin typeface="Segoe UI"/>
              </a:rPr>
              <a:t>Key Takeaways</a:t>
            </a:r>
          </a:p>
        </p:txBody>
      </p:sp>
      <p:sp>
        <p:nvSpPr>
          <p:cNvPr id="120" name="TextBox 119"/>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1" name="TextBox 120"/>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122" name="TextBox 121"/>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3" name="TextBox 122"/>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1 Tier 2 player is positioned to move up-tier by 2036 through M&amp;A and key-account wins – the main structural change of the decade.</a:t>
            </a:r>
          </a:p>
        </p:txBody>
      </p:sp>
      <p:sp>
        <p:nvSpPr>
          <p:cNvPr id="124" name="TextBox 123"/>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5" name="TextBox 124"/>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126" name="TextBox 125"/>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7" name="TextBox 126"/>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Supplier power (4 / 5) and buyer power (3 / 5) are the dominant forces shaping the tier structure.</a:t>
            </a:r>
          </a:p>
        </p:txBody>
      </p:sp>
      <p:sp>
        <p:nvSpPr>
          <p:cNvPr id="128" name="TextBox 1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4279050" y="4225988"/>
            <a:ext cx="128699" cy="187198"/>
          </a:xfrm>
          <a:prstGeom prst="rect">
            <a:avLst/>
          </a:prstGeom>
        </p:spPr>
      </p:pic>
      <p:pic>
        <p:nvPicPr>
          <p:cNvPr id="134" name="Picture 133" descr="lock.png"/>
          <p:cNvPicPr>
            <a:picLocks noChangeAspect="1"/>
          </p:cNvPicPr>
          <p:nvPr/>
        </p:nvPicPr>
        <p:blipFill>
          <a:blip r:embed="rId4"/>
          <a:stretch>
            <a:fillRect/>
          </a:stretch>
        </p:blipFill>
        <p:spPr>
          <a:xfrm>
            <a:off x="4279050" y="4635563"/>
            <a:ext cx="128699" cy="187198"/>
          </a:xfrm>
          <a:prstGeom prst="rect">
            <a:avLst/>
          </a:prstGeom>
        </p:spPr>
      </p:pic>
      <p:pic>
        <p:nvPicPr>
          <p:cNvPr id="135" name="Picture 134" descr="lock.png"/>
          <p:cNvPicPr>
            <a:picLocks noChangeAspect="1"/>
          </p:cNvPicPr>
          <p:nvPr/>
        </p:nvPicPr>
        <p:blipFill>
          <a:blip r:embed="rId4"/>
          <a:stretch>
            <a:fillRect/>
          </a:stretch>
        </p:blipFill>
        <p:spPr>
          <a:xfrm>
            <a:off x="4279050" y="504513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545471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86428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6273863"/>
            <a:ext cx="128699" cy="187198"/>
          </a:xfrm>
          <a:prstGeom prst="rect">
            <a:avLst/>
          </a:prstGeom>
        </p:spPr>
      </p:pic>
      <p:sp>
        <p:nvSpPr>
          <p:cNvPr id="139" name="TextBox 138"/>
          <p:cNvSpPr txBox="1"/>
          <p:nvPr/>
        </p:nvSpPr>
        <p:spPr>
          <a:xfrm>
            <a:off x="504867" y="1870710"/>
            <a:ext cx="1019439" cy="186689"/>
          </a:xfrm>
          <a:prstGeom prst="rect">
            <a:avLst/>
          </a:prstGeom>
          <a:noFill/>
        </p:spPr>
        <p:txBody>
          <a:bodyPr wrap="none" lIns="0" rIns="0" tIns="0" bIns="0">
            <a:spAutoFit/>
          </a:bodyPr>
          <a:lstStyle/>
          <a:p>
            <a:r>
              <a:rPr sz="1100" b="1">
                <a:solidFill>
                  <a:srgbClr val="FFFFFF"/>
                </a:solidFill>
                <a:latin typeface="Segoe UI"/>
              </a:rPr>
              <a:t>4 → 5 players ·</a:t>
            </a:r>
          </a:p>
        </p:txBody>
      </p:sp>
      <p:pic>
        <p:nvPicPr>
          <p:cNvPr id="140" name="Picture 139" descr="lock.png"/>
          <p:cNvPicPr>
            <a:picLocks noChangeAspect="1"/>
          </p:cNvPicPr>
          <p:nvPr/>
        </p:nvPicPr>
        <p:blipFill>
          <a:blip r:embed="rId4"/>
          <a:stretch>
            <a:fillRect/>
          </a:stretch>
        </p:blipFill>
        <p:spPr>
          <a:xfrm>
            <a:off x="1472358" y="1860931"/>
            <a:ext cx="128699" cy="187198"/>
          </a:xfrm>
          <a:prstGeom prst="rect">
            <a:avLst/>
          </a:prstGeom>
        </p:spPr>
      </p:pic>
      <p:sp>
        <p:nvSpPr>
          <p:cNvPr id="141" name="TextBox 140"/>
          <p:cNvSpPr txBox="1"/>
          <p:nvPr/>
        </p:nvSpPr>
        <p:spPr>
          <a:xfrm>
            <a:off x="163985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42" name="Picture 141" descr="lock.png"/>
          <p:cNvPicPr>
            <a:picLocks noChangeAspect="1"/>
          </p:cNvPicPr>
          <p:nvPr/>
        </p:nvPicPr>
        <p:blipFill>
          <a:blip r:embed="rId4"/>
          <a:stretch>
            <a:fillRect/>
          </a:stretch>
        </p:blipFill>
        <p:spPr>
          <a:xfrm>
            <a:off x="1784705" y="1860931"/>
            <a:ext cx="128699" cy="187198"/>
          </a:xfrm>
          <a:prstGeom prst="rect">
            <a:avLst/>
          </a:prstGeom>
        </p:spPr>
      </p:pic>
      <p:sp>
        <p:nvSpPr>
          <p:cNvPr id="143" name="TextBox 142"/>
          <p:cNvSpPr txBox="1"/>
          <p:nvPr/>
        </p:nvSpPr>
        <p:spPr>
          <a:xfrm>
            <a:off x="103369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44" name="TextBox 143"/>
          <p:cNvSpPr txBox="1"/>
          <p:nvPr/>
        </p:nvSpPr>
        <p:spPr>
          <a:xfrm>
            <a:off x="3762417" y="1870710"/>
            <a:ext cx="1019439" cy="186689"/>
          </a:xfrm>
          <a:prstGeom prst="rect">
            <a:avLst/>
          </a:prstGeom>
          <a:noFill/>
        </p:spPr>
        <p:txBody>
          <a:bodyPr wrap="none" lIns="0" rIns="0" tIns="0" bIns="0">
            <a:spAutoFit/>
          </a:bodyPr>
          <a:lstStyle/>
          <a:p>
            <a:r>
              <a:rPr sz="1100" b="1">
                <a:solidFill>
                  <a:srgbClr val="FFFFFF"/>
                </a:solidFill>
                <a:latin typeface="Segoe UI"/>
              </a:rPr>
              <a:t>2 → 2 players ·</a:t>
            </a:r>
          </a:p>
        </p:txBody>
      </p:sp>
      <p:pic>
        <p:nvPicPr>
          <p:cNvPr id="145" name="Picture 144" descr="lock.png"/>
          <p:cNvPicPr>
            <a:picLocks noChangeAspect="1"/>
          </p:cNvPicPr>
          <p:nvPr/>
        </p:nvPicPr>
        <p:blipFill>
          <a:blip r:embed="rId4"/>
          <a:stretch>
            <a:fillRect/>
          </a:stretch>
        </p:blipFill>
        <p:spPr>
          <a:xfrm>
            <a:off x="4729908" y="1860931"/>
            <a:ext cx="128699" cy="187198"/>
          </a:xfrm>
          <a:prstGeom prst="rect">
            <a:avLst/>
          </a:prstGeom>
        </p:spPr>
      </p:pic>
      <p:sp>
        <p:nvSpPr>
          <p:cNvPr id="146" name="TextBox 145"/>
          <p:cNvSpPr txBox="1"/>
          <p:nvPr/>
        </p:nvSpPr>
        <p:spPr>
          <a:xfrm>
            <a:off x="489740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47" name="Picture 146" descr="lock.png"/>
          <p:cNvPicPr>
            <a:picLocks noChangeAspect="1"/>
          </p:cNvPicPr>
          <p:nvPr/>
        </p:nvPicPr>
        <p:blipFill>
          <a:blip r:embed="rId4"/>
          <a:stretch>
            <a:fillRect/>
          </a:stretch>
        </p:blipFill>
        <p:spPr>
          <a:xfrm>
            <a:off x="5042255" y="1860931"/>
            <a:ext cx="128699" cy="187198"/>
          </a:xfrm>
          <a:prstGeom prst="rect">
            <a:avLst/>
          </a:prstGeom>
        </p:spPr>
      </p:pic>
      <p:sp>
        <p:nvSpPr>
          <p:cNvPr id="148" name="TextBox 147"/>
          <p:cNvSpPr txBox="1"/>
          <p:nvPr/>
        </p:nvSpPr>
        <p:spPr>
          <a:xfrm>
            <a:off x="429124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49" name="TextBox 148"/>
          <p:cNvSpPr txBox="1"/>
          <p:nvPr/>
        </p:nvSpPr>
        <p:spPr>
          <a:xfrm>
            <a:off x="7019967" y="1870710"/>
            <a:ext cx="1019439" cy="186689"/>
          </a:xfrm>
          <a:prstGeom prst="rect">
            <a:avLst/>
          </a:prstGeom>
          <a:noFill/>
        </p:spPr>
        <p:txBody>
          <a:bodyPr wrap="none" lIns="0" rIns="0" tIns="0" bIns="0">
            <a:spAutoFit/>
          </a:bodyPr>
          <a:lstStyle/>
          <a:p>
            <a:r>
              <a:rPr sz="1100" b="1">
                <a:solidFill>
                  <a:srgbClr val="FFFFFF"/>
                </a:solidFill>
                <a:latin typeface="Segoe UI"/>
              </a:rPr>
              <a:t>4 → 4 players ·</a:t>
            </a:r>
          </a:p>
        </p:txBody>
      </p:sp>
      <p:pic>
        <p:nvPicPr>
          <p:cNvPr id="150" name="Picture 149" descr="lock.png"/>
          <p:cNvPicPr>
            <a:picLocks noChangeAspect="1"/>
          </p:cNvPicPr>
          <p:nvPr/>
        </p:nvPicPr>
        <p:blipFill>
          <a:blip r:embed="rId4"/>
          <a:stretch>
            <a:fillRect/>
          </a:stretch>
        </p:blipFill>
        <p:spPr>
          <a:xfrm>
            <a:off x="7987458" y="1860931"/>
            <a:ext cx="128699" cy="187198"/>
          </a:xfrm>
          <a:prstGeom prst="rect">
            <a:avLst/>
          </a:prstGeom>
        </p:spPr>
      </p:pic>
      <p:sp>
        <p:nvSpPr>
          <p:cNvPr id="151" name="TextBox 150"/>
          <p:cNvSpPr txBox="1"/>
          <p:nvPr/>
        </p:nvSpPr>
        <p:spPr>
          <a:xfrm>
            <a:off x="815495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52" name="Picture 151" descr="lock.png"/>
          <p:cNvPicPr>
            <a:picLocks noChangeAspect="1"/>
          </p:cNvPicPr>
          <p:nvPr/>
        </p:nvPicPr>
        <p:blipFill>
          <a:blip r:embed="rId4"/>
          <a:stretch>
            <a:fillRect/>
          </a:stretch>
        </p:blipFill>
        <p:spPr>
          <a:xfrm>
            <a:off x="8299805" y="1860931"/>
            <a:ext cx="128699" cy="187198"/>
          </a:xfrm>
          <a:prstGeom prst="rect">
            <a:avLst/>
          </a:prstGeom>
        </p:spPr>
      </p:pic>
      <p:sp>
        <p:nvSpPr>
          <p:cNvPr id="153" name="TextBox 152"/>
          <p:cNvSpPr txBox="1"/>
          <p:nvPr/>
        </p:nvSpPr>
        <p:spPr>
          <a:xfrm>
            <a:off x="754879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54" name="TextBox 153"/>
          <p:cNvSpPr txBox="1"/>
          <p:nvPr/>
        </p:nvSpPr>
        <p:spPr>
          <a:xfrm>
            <a:off x="10423079" y="1870710"/>
            <a:ext cx="728315" cy="186689"/>
          </a:xfrm>
          <a:prstGeom prst="rect">
            <a:avLst/>
          </a:prstGeom>
          <a:noFill/>
        </p:spPr>
        <p:txBody>
          <a:bodyPr wrap="none" lIns="0" rIns="0" tIns="0" bIns="0">
            <a:spAutoFit/>
          </a:bodyPr>
          <a:lstStyle/>
          <a:p>
            <a:r>
              <a:rPr sz="1100" b="1">
                <a:solidFill>
                  <a:srgbClr val="14213D"/>
                </a:solidFill>
                <a:latin typeface="Segoe UI"/>
              </a:rPr>
              <a:t>Long tail ·</a:t>
            </a:r>
          </a:p>
        </p:txBody>
      </p:sp>
      <p:pic>
        <p:nvPicPr>
          <p:cNvPr id="155" name="Picture 154" descr="lock.png"/>
          <p:cNvPicPr>
            <a:picLocks noChangeAspect="1"/>
          </p:cNvPicPr>
          <p:nvPr/>
        </p:nvPicPr>
        <p:blipFill>
          <a:blip r:embed="rId4"/>
          <a:stretch>
            <a:fillRect/>
          </a:stretch>
        </p:blipFill>
        <p:spPr>
          <a:xfrm>
            <a:off x="11099446" y="1860931"/>
            <a:ext cx="128699" cy="187198"/>
          </a:xfrm>
          <a:prstGeom prst="rect">
            <a:avLst/>
          </a:prstGeom>
        </p:spPr>
      </p:pic>
      <p:sp>
        <p:nvSpPr>
          <p:cNvPr id="156" name="TextBox 155"/>
          <p:cNvSpPr txBox="1"/>
          <p:nvPr/>
        </p:nvSpPr>
        <p:spPr>
          <a:xfrm>
            <a:off x="11266941" y="1870710"/>
            <a:ext cx="196800" cy="186689"/>
          </a:xfrm>
          <a:prstGeom prst="rect">
            <a:avLst/>
          </a:prstGeom>
          <a:noFill/>
        </p:spPr>
        <p:txBody>
          <a:bodyPr wrap="none" lIns="0" rIns="0" tIns="0" bIns="0">
            <a:spAutoFit/>
          </a:bodyPr>
          <a:lstStyle/>
          <a:p>
            <a:r>
              <a:rPr sz="1100" b="1">
                <a:solidFill>
                  <a:srgbClr val="14213D"/>
                </a:solidFill>
                <a:latin typeface="Segoe UI"/>
              </a:rPr>
              <a:t>→</a:t>
            </a:r>
          </a:p>
        </p:txBody>
      </p:sp>
      <p:pic>
        <p:nvPicPr>
          <p:cNvPr id="157" name="Picture 156" descr="lock.png"/>
          <p:cNvPicPr>
            <a:picLocks noChangeAspect="1"/>
          </p:cNvPicPr>
          <p:nvPr/>
        </p:nvPicPr>
        <p:blipFill>
          <a:blip r:embed="rId4"/>
          <a:stretch>
            <a:fillRect/>
          </a:stretch>
        </p:blipFill>
        <p:spPr>
          <a:xfrm>
            <a:off x="11411793" y="1860931"/>
            <a:ext cx="128699" cy="187198"/>
          </a:xfrm>
          <a:prstGeom prst="rect">
            <a:avLst/>
          </a:prstGeom>
        </p:spPr>
      </p:pic>
      <p:sp>
        <p:nvSpPr>
          <p:cNvPr id="158" name="TextBox 157"/>
          <p:cNvSpPr txBox="1"/>
          <p:nvPr/>
        </p:nvSpPr>
        <p:spPr>
          <a:xfrm>
            <a:off x="10806340" y="2038350"/>
            <a:ext cx="428169" cy="186689"/>
          </a:xfrm>
          <a:prstGeom prst="rect">
            <a:avLst/>
          </a:prstGeom>
          <a:noFill/>
        </p:spPr>
        <p:txBody>
          <a:bodyPr wrap="none" lIns="0" rIns="0" tIns="0" bIns="0">
            <a:spAutoFit/>
          </a:bodyPr>
          <a:lstStyle/>
          <a:p>
            <a:r>
              <a:rPr sz="1100" b="1">
                <a:solidFill>
                  <a:srgbClr val="14213D"/>
                </a:solidFill>
                <a:latin typeface="Segoe UI"/>
              </a:rPr>
              <a:t>share</a:t>
            </a:r>
          </a:p>
        </p:txBody>
      </p:sp>
      <p:sp>
        <p:nvSpPr>
          <p:cNvPr id="159" name="TextBox 158"/>
          <p:cNvSpPr txBox="1"/>
          <p:nvPr/>
        </p:nvSpPr>
        <p:spPr>
          <a:xfrm>
            <a:off x="7658100" y="3857625"/>
            <a:ext cx="1977097" cy="186689"/>
          </a:xfrm>
          <a:prstGeom prst="rect">
            <a:avLst/>
          </a:prstGeom>
          <a:noFill/>
        </p:spPr>
        <p:txBody>
          <a:bodyPr wrap="none" lIns="0" rIns="0" tIns="0" bIns="0">
            <a:spAutoFit/>
          </a:bodyPr>
          <a:lstStyle/>
          <a:p>
            <a:r>
              <a:rPr sz="1100" b="0">
                <a:solidFill>
                  <a:srgbClr val="14213D"/>
                </a:solidFill>
                <a:latin typeface="Segoe UI"/>
              </a:rPr>
              <a:t>The market is fragmented (HHI</a:t>
            </a:r>
          </a:p>
        </p:txBody>
      </p:sp>
      <p:pic>
        <p:nvPicPr>
          <p:cNvPr id="160" name="Picture 159" descr="lock.png"/>
          <p:cNvPicPr>
            <a:picLocks noChangeAspect="1"/>
          </p:cNvPicPr>
          <p:nvPr/>
        </p:nvPicPr>
        <p:blipFill>
          <a:blip r:embed="rId4"/>
          <a:stretch>
            <a:fillRect/>
          </a:stretch>
        </p:blipFill>
        <p:spPr>
          <a:xfrm>
            <a:off x="9583248" y="3847846"/>
            <a:ext cx="128699" cy="187198"/>
          </a:xfrm>
          <a:prstGeom prst="rect">
            <a:avLst/>
          </a:prstGeom>
        </p:spPr>
      </p:pic>
      <p:sp>
        <p:nvSpPr>
          <p:cNvPr id="161" name="TextBox 160"/>
          <p:cNvSpPr txBox="1"/>
          <p:nvPr/>
        </p:nvSpPr>
        <p:spPr>
          <a:xfrm>
            <a:off x="9750744" y="3857625"/>
            <a:ext cx="1540048" cy="186689"/>
          </a:xfrm>
          <a:prstGeom prst="rect">
            <a:avLst/>
          </a:prstGeom>
          <a:noFill/>
        </p:spPr>
        <p:txBody>
          <a:bodyPr wrap="none" lIns="0" rIns="0" tIns="0" bIns="0">
            <a:spAutoFit/>
          </a:bodyPr>
          <a:lstStyle/>
          <a:p>
            <a:r>
              <a:rPr sz="1100" b="0">
                <a:solidFill>
                  <a:srgbClr val="14213D"/>
                </a:solidFill>
                <a:latin typeface="Segoe UI"/>
              </a:rPr>
              <a:t>); Tier 1 sets pricing and</a:t>
            </a:r>
          </a:p>
        </p:txBody>
      </p:sp>
      <p:sp>
        <p:nvSpPr>
          <p:cNvPr id="162" name="TextBox 161"/>
          <p:cNvSpPr txBox="1"/>
          <p:nvPr/>
        </p:nvSpPr>
        <p:spPr>
          <a:xfrm>
            <a:off x="7658100" y="4025265"/>
            <a:ext cx="2999186" cy="186689"/>
          </a:xfrm>
          <a:prstGeom prst="rect">
            <a:avLst/>
          </a:prstGeom>
          <a:noFill/>
        </p:spPr>
        <p:txBody>
          <a:bodyPr wrap="none" lIns="0" rIns="0" tIns="0" bIns="0">
            <a:spAutoFit/>
          </a:bodyPr>
          <a:lstStyle/>
          <a:p>
            <a:r>
              <a:rPr sz="1100" b="0">
                <a:solidFill>
                  <a:srgbClr val="14213D"/>
                </a:solidFill>
                <a:latin typeface="Segoe UI"/>
              </a:rPr>
              <a:t>innovation benchmarks and is expected to hold</a:t>
            </a:r>
          </a:p>
        </p:txBody>
      </p:sp>
      <p:pic>
        <p:nvPicPr>
          <p:cNvPr id="163" name="Picture 162" descr="lock.png"/>
          <p:cNvPicPr>
            <a:picLocks noChangeAspect="1"/>
          </p:cNvPicPr>
          <p:nvPr/>
        </p:nvPicPr>
        <p:blipFill>
          <a:blip r:embed="rId4"/>
          <a:stretch>
            <a:fillRect/>
          </a:stretch>
        </p:blipFill>
        <p:spPr>
          <a:xfrm>
            <a:off x="10605337" y="4015486"/>
            <a:ext cx="128699" cy="187198"/>
          </a:xfrm>
          <a:prstGeom prst="rect">
            <a:avLst/>
          </a:prstGeom>
        </p:spPr>
      </p:pic>
      <p:sp>
        <p:nvSpPr>
          <p:cNvPr id="164" name="TextBox 163"/>
          <p:cNvSpPr txBox="1"/>
          <p:nvPr/>
        </p:nvSpPr>
        <p:spPr>
          <a:xfrm>
            <a:off x="10772833" y="4025265"/>
            <a:ext cx="715141" cy="186689"/>
          </a:xfrm>
          <a:prstGeom prst="rect">
            <a:avLst/>
          </a:prstGeom>
          <a:noFill/>
        </p:spPr>
        <p:txBody>
          <a:bodyPr wrap="none" lIns="0" rIns="0" tIns="0" bIns="0">
            <a:spAutoFit/>
          </a:bodyPr>
          <a:lstStyle/>
          <a:p>
            <a:r>
              <a:rPr sz="1100" b="0">
                <a:solidFill>
                  <a:srgbClr val="14213D"/>
                </a:solidFill>
                <a:latin typeface="Segoe UI"/>
              </a:rPr>
              <a:t>of value in</a:t>
            </a:r>
          </a:p>
        </p:txBody>
      </p:sp>
      <p:sp>
        <p:nvSpPr>
          <p:cNvPr id="165" name="TextBox 164"/>
          <p:cNvSpPr txBox="1"/>
          <p:nvPr/>
        </p:nvSpPr>
        <p:spPr>
          <a:xfrm>
            <a:off x="7658100" y="4192905"/>
            <a:ext cx="407714" cy="186689"/>
          </a:xfrm>
          <a:prstGeom prst="rect">
            <a:avLst/>
          </a:prstGeom>
          <a:noFill/>
        </p:spPr>
        <p:txBody>
          <a:bodyPr wrap="none" lIns="0" rIns="0" tIns="0" bIns="0">
            <a:spAutoFit/>
          </a:bodyPr>
          <a:lstStyle/>
          <a:p>
            <a:r>
              <a:rPr sz="1100" b="0">
                <a:solidFill>
                  <a:srgbClr val="14213D"/>
                </a:solidFill>
                <a:latin typeface="Segoe UI"/>
              </a:rPr>
              <a:t>2036.</a:t>
            </a:r>
          </a:p>
        </p:txBody>
      </p:sp>
      <p:sp>
        <p:nvSpPr>
          <p:cNvPr id="166" name="TextBox 165"/>
          <p:cNvSpPr txBox="1"/>
          <p:nvPr/>
        </p:nvSpPr>
        <p:spPr>
          <a:xfrm>
            <a:off x="7658100" y="5019675"/>
            <a:ext cx="3747630" cy="186689"/>
          </a:xfrm>
          <a:prstGeom prst="rect">
            <a:avLst/>
          </a:prstGeom>
          <a:noFill/>
        </p:spPr>
        <p:txBody>
          <a:bodyPr wrap="none" lIns="0" rIns="0" tIns="0" bIns="0">
            <a:spAutoFit/>
          </a:bodyPr>
          <a:lstStyle/>
          <a:p>
            <a:r>
              <a:rPr sz="1100" b="0">
                <a:solidFill>
                  <a:srgbClr val="14213D"/>
                </a:solidFill>
                <a:latin typeface="Segoe UI"/>
              </a:rPr>
              <a:t>Tier 3 and the long tail face the highest structural pressure (</a:t>
            </a:r>
          </a:p>
        </p:txBody>
      </p:sp>
      <p:pic>
        <p:nvPicPr>
          <p:cNvPr id="167" name="Picture 166" descr="lock.png"/>
          <p:cNvPicPr>
            <a:picLocks noChangeAspect="1"/>
          </p:cNvPicPr>
          <p:nvPr/>
        </p:nvPicPr>
        <p:blipFill>
          <a:blip r:embed="rId4"/>
          <a:stretch>
            <a:fillRect/>
          </a:stretch>
        </p:blipFill>
        <p:spPr>
          <a:xfrm>
            <a:off x="11353782" y="5009895"/>
            <a:ext cx="128699" cy="187198"/>
          </a:xfrm>
          <a:prstGeom prst="rect">
            <a:avLst/>
          </a:prstGeom>
        </p:spPr>
      </p:pic>
      <p:sp>
        <p:nvSpPr>
          <p:cNvPr id="168" name="TextBox 167"/>
          <p:cNvSpPr txBox="1"/>
          <p:nvPr/>
        </p:nvSpPr>
        <p:spPr>
          <a:xfrm>
            <a:off x="11521278" y="5019675"/>
            <a:ext cx="316855" cy="186689"/>
          </a:xfrm>
          <a:prstGeom prst="rect">
            <a:avLst/>
          </a:prstGeom>
          <a:noFill/>
        </p:spPr>
        <p:txBody>
          <a:bodyPr wrap="none" lIns="0" rIns="0" tIns="0" bIns="0">
            <a:spAutoFit/>
          </a:bodyPr>
          <a:lstStyle/>
          <a:p>
            <a:r>
              <a:rPr sz="1100" b="0">
                <a:solidFill>
                  <a:srgbClr val="14213D"/>
                </a:solidFill>
                <a:latin typeface="Segoe UI"/>
              </a:rPr>
              <a:t>/ 5);</a:t>
            </a:r>
          </a:p>
        </p:txBody>
      </p:sp>
      <p:sp>
        <p:nvSpPr>
          <p:cNvPr id="169" name="TextBox 168"/>
          <p:cNvSpPr txBox="1"/>
          <p:nvPr/>
        </p:nvSpPr>
        <p:spPr>
          <a:xfrm>
            <a:off x="7658100" y="5187315"/>
            <a:ext cx="2845012" cy="186689"/>
          </a:xfrm>
          <a:prstGeom prst="rect">
            <a:avLst/>
          </a:prstGeom>
          <a:noFill/>
        </p:spPr>
        <p:txBody>
          <a:bodyPr wrap="none" lIns="0" rIns="0" tIns="0" bIns="0">
            <a:spAutoFit/>
          </a:bodyPr>
          <a:lstStyle/>
          <a:p>
            <a:r>
              <a:rPr sz="1100" b="0">
                <a:solidFill>
                  <a:srgbClr val="14213D"/>
                </a:solidFill>
                <a:latin typeface="Segoe UI"/>
              </a:rPr>
              <a:t>2 players are expected to exit or be acquired.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Lithium Polymer Portable Energy Storage Market Competitive Dashboard View (2026)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Benchmarking of companies on portfolio, coverage, revenue, share, regional presence and strategy</a:t>
            </a:r>
          </a:p>
        </p:txBody>
      </p:sp>
      <p:sp>
        <p:nvSpPr>
          <p:cNvPr id="8" name="TextBox 7"/>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05E5C"/>
                </a:solidFill>
                <a:latin typeface="Segoe UI"/>
              </a:rPr>
              <a:t>Intensified competition across the leading players portfolio, revenue, share, regional presence and strategy.  All figures 2026.</a:t>
            </a:r>
          </a:p>
        </p:txBody>
      </p:sp>
      <p:sp>
        <p:nvSpPr>
          <p:cNvPr id="9" name="Rectangle 8"/>
          <p:cNvSpPr/>
          <p:nvPr/>
        </p:nvSpPr>
        <p:spPr>
          <a:xfrm>
            <a:off x="133350" y="1153291"/>
            <a:ext cx="11925300" cy="456342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33350" y="1536618"/>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1792170"/>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631840"/>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2960407"/>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3288973"/>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4055629"/>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5041328"/>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0586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954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717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480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2437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007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770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533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2967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060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9823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0586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3350" y="5698461"/>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Company / Brand</a:t>
            </a:r>
          </a:p>
        </p:txBody>
      </p:sp>
      <p:sp>
        <p:nvSpPr>
          <p:cNvPr id="34" name="TextBox 33"/>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Product Portfolio</a:t>
            </a:r>
          </a:p>
        </p:txBody>
      </p:sp>
      <p:sp>
        <p:nvSpPr>
          <p:cNvPr id="35" name="TextBox 34"/>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Overall Rev (US$ Mn)</a:t>
            </a:r>
          </a:p>
        </p:txBody>
      </p:sp>
      <p:sp>
        <p:nvSpPr>
          <p:cNvPr id="36" name="TextBox 35"/>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Target Rev (US$ Mn)</a:t>
            </a:r>
          </a:p>
        </p:txBody>
      </p:sp>
      <p:sp>
        <p:nvSpPr>
          <p:cNvPr id="37" name="TextBox 36"/>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Market Share (%)</a:t>
            </a:r>
          </a:p>
        </p:txBody>
      </p:sp>
      <p:sp>
        <p:nvSpPr>
          <p:cNvPr id="38" name="TextBox 37"/>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Regional Presence</a:t>
            </a:r>
          </a:p>
        </p:txBody>
      </p:sp>
      <p:sp>
        <p:nvSpPr>
          <p:cNvPr id="39" name="TextBox 38"/>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Strategies</a:t>
            </a:r>
          </a:p>
        </p:txBody>
      </p:sp>
      <p:sp>
        <p:nvSpPr>
          <p:cNvPr id="40" name="TextBox 39"/>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EcoFlow</a:t>
            </a:r>
          </a:p>
        </p:txBody>
      </p:sp>
      <p:cxnSp>
        <p:nvCxnSpPr>
          <p:cNvPr id="41" name="Connector 40"/>
          <p:cNvCxnSpPr/>
          <p:nvPr/>
        </p:nvCxnSpPr>
        <p:spPr>
          <a:xfrm>
            <a:off x="16049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A</a:t>
            </a:r>
          </a:p>
        </p:txBody>
      </p:sp>
      <p:sp>
        <p:nvSpPr>
          <p:cNvPr id="43" name="TextBox 42"/>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44" name="TextBox 43"/>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45" name="Rectangle 44"/>
          <p:cNvSpPr/>
          <p:nvPr/>
        </p:nvSpPr>
        <p:spPr>
          <a:xfrm>
            <a:off x="16049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7764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9478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49" name="TextBox 48"/>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50" name="Oval 49"/>
          <p:cNvSpPr/>
          <p:nvPr/>
        </p:nvSpPr>
        <p:spPr>
          <a:xfrm>
            <a:off x="15859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07BA5"/>
                </a:solidFill>
                <a:latin typeface="Segoe UI"/>
              </a:rPr>
              <a:t> </a:t>
            </a:r>
          </a:p>
        </p:txBody>
      </p:sp>
      <p:sp>
        <p:nvSpPr>
          <p:cNvPr id="54" name="TextBox 53"/>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North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9AA0A6"/>
                </a:solidFill>
                <a:latin typeface="Segoe UI"/>
              </a:rPr>
              <a:t>▲</a:t>
            </a:r>
          </a:p>
        </p:txBody>
      </p:sp>
      <p:sp>
        <p:nvSpPr>
          <p:cNvPr id="55" name="Oval 54"/>
          <p:cNvSpPr/>
          <p:nvPr/>
        </p:nvSpPr>
        <p:spPr>
          <a:xfrm>
            <a:off x="14287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57" name="Oval 56"/>
          <p:cNvSpPr/>
          <p:nvPr/>
        </p:nvSpPr>
        <p:spPr>
          <a:xfrm>
            <a:off x="16383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59" name="Oval 58"/>
          <p:cNvSpPr/>
          <p:nvPr/>
        </p:nvSpPr>
        <p:spPr>
          <a:xfrm>
            <a:off x="18478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61" name="Oval 60"/>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63" name="Oval 62"/>
          <p:cNvSpPr/>
          <p:nvPr/>
        </p:nvSpPr>
        <p:spPr>
          <a:xfrm>
            <a:off x="15335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65" name="Oval 64"/>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67" name="Oval 66"/>
          <p:cNvSpPr/>
          <p:nvPr/>
        </p:nvSpPr>
        <p:spPr>
          <a:xfrm>
            <a:off x="19526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69" name="TextBox 68"/>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Business Overview</a:t>
            </a:r>
          </a:p>
        </p:txBody>
      </p:sp>
      <p:cxnSp>
        <p:nvCxnSpPr>
          <p:cNvPr id="70" name="Connector 69"/>
          <p:cNvCxnSpPr/>
          <p:nvPr/>
        </p:nvCxnSpPr>
        <p:spPr>
          <a:xfrm>
            <a:off x="26812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B</a:t>
            </a:r>
          </a:p>
        </p:txBody>
      </p:sp>
      <p:sp>
        <p:nvSpPr>
          <p:cNvPr id="72" name="TextBox 71"/>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73" name="TextBox 72"/>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74" name="Rectangle 73"/>
          <p:cNvSpPr/>
          <p:nvPr/>
        </p:nvSpPr>
        <p:spPr>
          <a:xfrm>
            <a:off x="26812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8527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0241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78" name="TextBox 77"/>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79" name="Oval 78"/>
          <p:cNvSpPr/>
          <p:nvPr/>
        </p:nvSpPr>
        <p:spPr>
          <a:xfrm>
            <a:off x="26622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07BA5"/>
                </a:solidFill>
                <a:latin typeface="Segoe UI"/>
              </a:rPr>
              <a:t> </a:t>
            </a:r>
          </a:p>
        </p:txBody>
      </p:sp>
      <p:sp>
        <p:nvSpPr>
          <p:cNvPr id="83" name="TextBox 82"/>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South Asia &amp; Pacific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9AA0A6"/>
                </a:solidFill>
                <a:latin typeface="Segoe UI"/>
              </a:rPr>
              <a:t>▲</a:t>
            </a:r>
          </a:p>
        </p:txBody>
      </p:sp>
      <p:sp>
        <p:nvSpPr>
          <p:cNvPr id="84" name="Oval 83"/>
          <p:cNvSpPr/>
          <p:nvPr/>
        </p:nvSpPr>
        <p:spPr>
          <a:xfrm>
            <a:off x="25050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86" name="Oval 85"/>
          <p:cNvSpPr/>
          <p:nvPr/>
        </p:nvSpPr>
        <p:spPr>
          <a:xfrm>
            <a:off x="27146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88" name="Oval 87"/>
          <p:cNvSpPr/>
          <p:nvPr/>
        </p:nvSpPr>
        <p:spPr>
          <a:xfrm>
            <a:off x="29241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90" name="Oval 89"/>
          <p:cNvSpPr/>
          <p:nvPr/>
        </p:nvSpPr>
        <p:spPr>
          <a:xfrm>
            <a:off x="31337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92" name="Oval 91"/>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94" name="Oval 93"/>
          <p:cNvSpPr/>
          <p:nvPr/>
        </p:nvSpPr>
        <p:spPr>
          <a:xfrm>
            <a:off x="28194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96" name="Oval 95"/>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98" name="TextBox 97"/>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Relevant Portfolio</a:t>
            </a:r>
          </a:p>
        </p:txBody>
      </p:sp>
      <p:cxnSp>
        <p:nvCxnSpPr>
          <p:cNvPr id="99" name="Connector 98"/>
          <p:cNvCxnSpPr/>
          <p:nvPr/>
        </p:nvCxnSpPr>
        <p:spPr>
          <a:xfrm>
            <a:off x="375761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C</a:t>
            </a:r>
          </a:p>
        </p:txBody>
      </p:sp>
      <p:sp>
        <p:nvSpPr>
          <p:cNvPr id="101" name="TextBox 100"/>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102" name="TextBox 101"/>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103" name="Rectangle 102"/>
          <p:cNvSpPr/>
          <p:nvPr/>
        </p:nvSpPr>
        <p:spPr>
          <a:xfrm>
            <a:off x="375761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929062" y="2303274"/>
            <a:ext cx="114300" cy="109522"/>
          </a:xfrm>
          <a:prstGeom prst="rect">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10051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07" name="TextBox 106"/>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08" name="Oval 107"/>
          <p:cNvSpPr/>
          <p:nvPr/>
        </p:nvSpPr>
        <p:spPr>
          <a:xfrm>
            <a:off x="373856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12" name="TextBox 111"/>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 Asia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9AA0A6"/>
                </a:solidFill>
                <a:latin typeface="Segoe UI"/>
              </a:rPr>
              <a:t>▲</a:t>
            </a:r>
          </a:p>
        </p:txBody>
      </p:sp>
      <p:sp>
        <p:nvSpPr>
          <p:cNvPr id="113" name="Oval 112"/>
          <p:cNvSpPr/>
          <p:nvPr/>
        </p:nvSpPr>
        <p:spPr>
          <a:xfrm>
            <a:off x="35814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15" name="Oval 114"/>
          <p:cNvSpPr/>
          <p:nvPr/>
        </p:nvSpPr>
        <p:spPr>
          <a:xfrm>
            <a:off x="37909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17" name="Oval 116"/>
          <p:cNvSpPr/>
          <p:nvPr/>
        </p:nvSpPr>
        <p:spPr>
          <a:xfrm>
            <a:off x="40005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19" name="Oval 118"/>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21" name="Oval 120"/>
          <p:cNvSpPr/>
          <p:nvPr/>
        </p:nvSpPr>
        <p:spPr>
          <a:xfrm>
            <a:off x="36861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23" name="Oval 122"/>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25" name="Oval 124"/>
          <p:cNvSpPr/>
          <p:nvPr/>
        </p:nvSpPr>
        <p:spPr>
          <a:xfrm>
            <a:off x="41052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27" name="TextBox 126"/>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Footprint</a:t>
            </a:r>
          </a:p>
        </p:txBody>
      </p:sp>
      <p:cxnSp>
        <p:nvCxnSpPr>
          <p:cNvPr id="128" name="Connector 127"/>
          <p:cNvCxnSpPr/>
          <p:nvPr/>
        </p:nvCxnSpPr>
        <p:spPr>
          <a:xfrm>
            <a:off x="483393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D</a:t>
            </a:r>
          </a:p>
        </p:txBody>
      </p:sp>
      <p:sp>
        <p:nvSpPr>
          <p:cNvPr id="130" name="TextBox 129"/>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131" name="TextBox 130"/>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132" name="Rectangle 131"/>
          <p:cNvSpPr/>
          <p:nvPr/>
        </p:nvSpPr>
        <p:spPr>
          <a:xfrm>
            <a:off x="4833938" y="2303274"/>
            <a:ext cx="114300" cy="109522"/>
          </a:xfrm>
          <a:prstGeom prst="rect">
            <a:avLst/>
          </a:prstGeom>
          <a:solidFill>
            <a:srgbClr val="FFFFFF"/>
          </a:solidFill>
          <a:ln w="12700">
            <a:solidFill>
              <a:srgbClr val="F2B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00538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176838"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36" name="TextBox 135"/>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37" name="Oval 136"/>
          <p:cNvSpPr/>
          <p:nvPr/>
        </p:nvSpPr>
        <p:spPr>
          <a:xfrm>
            <a:off x="481488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41" name="TextBox 140"/>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Latin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Eastern Europe  </a:t>
            </a:r>
            <a:r>
              <a:rPr sz="1100" b="1">
                <a:solidFill>
                  <a:srgbClr val="9AA0A6"/>
                </a:solidFill>
                <a:latin typeface="Segoe UI"/>
              </a:rPr>
              <a:t>▲</a:t>
            </a:r>
          </a:p>
        </p:txBody>
      </p:sp>
      <p:sp>
        <p:nvSpPr>
          <p:cNvPr id="142" name="Oval 141"/>
          <p:cNvSpPr/>
          <p:nvPr/>
        </p:nvSpPr>
        <p:spPr>
          <a:xfrm>
            <a:off x="46577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44" name="Oval 143"/>
          <p:cNvSpPr/>
          <p:nvPr/>
        </p:nvSpPr>
        <p:spPr>
          <a:xfrm>
            <a:off x="48672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46" name="Oval 145"/>
          <p:cNvSpPr/>
          <p:nvPr/>
        </p:nvSpPr>
        <p:spPr>
          <a:xfrm>
            <a:off x="50768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48" name="Oval 147"/>
          <p:cNvSpPr/>
          <p:nvPr/>
        </p:nvSpPr>
        <p:spPr>
          <a:xfrm>
            <a:off x="52863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50" name="Oval 149"/>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52" name="Oval 151"/>
          <p:cNvSpPr/>
          <p:nvPr/>
        </p:nvSpPr>
        <p:spPr>
          <a:xfrm>
            <a:off x="497205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54" name="Oval 153"/>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56" name="TextBox 155"/>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Pricing</a:t>
            </a:r>
          </a:p>
        </p:txBody>
      </p:sp>
      <p:cxnSp>
        <p:nvCxnSpPr>
          <p:cNvPr id="157" name="Connector 156"/>
          <p:cNvCxnSpPr/>
          <p:nvPr/>
        </p:nvCxnSpPr>
        <p:spPr>
          <a:xfrm>
            <a:off x="59102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E</a:t>
            </a:r>
          </a:p>
        </p:txBody>
      </p:sp>
      <p:sp>
        <p:nvSpPr>
          <p:cNvPr id="159" name="TextBox 158"/>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160" name="TextBox 159"/>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161" name="Rectangle 160"/>
          <p:cNvSpPr/>
          <p:nvPr/>
        </p:nvSpPr>
        <p:spPr>
          <a:xfrm>
            <a:off x="59102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0817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2531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65" name="TextBox 164"/>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66" name="Oval 165"/>
          <p:cNvSpPr/>
          <p:nvPr/>
        </p:nvSpPr>
        <p:spPr>
          <a:xfrm>
            <a:off x="58912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70" name="TextBox 169"/>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Middle East &amp; Africa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Eastern Europe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Western Europe  </a:t>
            </a:r>
            <a:r>
              <a:rPr sz="1100" b="1">
                <a:solidFill>
                  <a:srgbClr val="9AA0A6"/>
                </a:solidFill>
                <a:latin typeface="Segoe UI"/>
              </a:rPr>
              <a:t>▲</a:t>
            </a:r>
          </a:p>
        </p:txBody>
      </p:sp>
      <p:sp>
        <p:nvSpPr>
          <p:cNvPr id="171" name="Oval 170"/>
          <p:cNvSpPr/>
          <p:nvPr/>
        </p:nvSpPr>
        <p:spPr>
          <a:xfrm>
            <a:off x="57340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73" name="Oval 172"/>
          <p:cNvSpPr/>
          <p:nvPr/>
        </p:nvSpPr>
        <p:spPr>
          <a:xfrm>
            <a:off x="59436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75" name="Oval 174"/>
          <p:cNvSpPr/>
          <p:nvPr/>
        </p:nvSpPr>
        <p:spPr>
          <a:xfrm>
            <a:off x="61531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77" name="Oval 176"/>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79" name="Oval 178"/>
          <p:cNvSpPr/>
          <p:nvPr/>
        </p:nvSpPr>
        <p:spPr>
          <a:xfrm>
            <a:off x="58388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81" name="Oval 180"/>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83" name="Oval 182"/>
          <p:cNvSpPr/>
          <p:nvPr/>
        </p:nvSpPr>
        <p:spPr>
          <a:xfrm>
            <a:off x="62579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85" name="TextBox 184"/>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SWOT</a:t>
            </a:r>
          </a:p>
        </p:txBody>
      </p:sp>
      <p:cxnSp>
        <p:nvCxnSpPr>
          <p:cNvPr id="186" name="Connector 185"/>
          <p:cNvCxnSpPr/>
          <p:nvPr/>
        </p:nvCxnSpPr>
        <p:spPr>
          <a:xfrm>
            <a:off x="69865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F</a:t>
            </a:r>
          </a:p>
        </p:txBody>
      </p:sp>
      <p:sp>
        <p:nvSpPr>
          <p:cNvPr id="188" name="TextBox 187"/>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189" name="TextBox 188"/>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190" name="Rectangle 189"/>
          <p:cNvSpPr/>
          <p:nvPr/>
        </p:nvSpPr>
        <p:spPr>
          <a:xfrm>
            <a:off x="69865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1580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73294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94" name="TextBox 193"/>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95" name="Oval 194"/>
          <p:cNvSpPr/>
          <p:nvPr/>
        </p:nvSpPr>
        <p:spPr>
          <a:xfrm>
            <a:off x="69675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99" name="TextBox 198"/>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Eastern Europe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Western Europe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North America  </a:t>
            </a:r>
            <a:r>
              <a:rPr sz="1100" b="1">
                <a:solidFill>
                  <a:srgbClr val="9AA0A6"/>
                </a:solidFill>
                <a:latin typeface="Segoe UI"/>
              </a:rPr>
              <a:t>▲</a:t>
            </a:r>
          </a:p>
        </p:txBody>
      </p:sp>
      <p:sp>
        <p:nvSpPr>
          <p:cNvPr id="200" name="Oval 199"/>
          <p:cNvSpPr/>
          <p:nvPr/>
        </p:nvSpPr>
        <p:spPr>
          <a:xfrm>
            <a:off x="68103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02" name="Oval 201"/>
          <p:cNvSpPr/>
          <p:nvPr/>
        </p:nvSpPr>
        <p:spPr>
          <a:xfrm>
            <a:off x="70199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04" name="Oval 203"/>
          <p:cNvSpPr/>
          <p:nvPr/>
        </p:nvSpPr>
        <p:spPr>
          <a:xfrm>
            <a:off x="72294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06" name="Oval 205"/>
          <p:cNvSpPr/>
          <p:nvPr/>
        </p:nvSpPr>
        <p:spPr>
          <a:xfrm>
            <a:off x="74390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08" name="Oval 207"/>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10" name="Oval 209"/>
          <p:cNvSpPr/>
          <p:nvPr/>
        </p:nvSpPr>
        <p:spPr>
          <a:xfrm>
            <a:off x="71247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12" name="Oval 211"/>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14" name="TextBox 213"/>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Developments</a:t>
            </a:r>
          </a:p>
        </p:txBody>
      </p:sp>
      <p:cxnSp>
        <p:nvCxnSpPr>
          <p:cNvPr id="215" name="Connector 214"/>
          <p:cNvCxnSpPr/>
          <p:nvPr/>
        </p:nvCxnSpPr>
        <p:spPr>
          <a:xfrm>
            <a:off x="806291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G</a:t>
            </a:r>
          </a:p>
        </p:txBody>
      </p:sp>
      <p:sp>
        <p:nvSpPr>
          <p:cNvPr id="217" name="TextBox 216"/>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218" name="TextBox 217"/>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219" name="Rectangle 218"/>
          <p:cNvSpPr/>
          <p:nvPr/>
        </p:nvSpPr>
        <p:spPr>
          <a:xfrm>
            <a:off x="806291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234362" y="2303274"/>
            <a:ext cx="114300" cy="109522"/>
          </a:xfrm>
          <a:prstGeom prst="rect">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40581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23" name="TextBox 222"/>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24" name="Oval 223"/>
          <p:cNvSpPr/>
          <p:nvPr/>
        </p:nvSpPr>
        <p:spPr>
          <a:xfrm>
            <a:off x="804386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Freeform 224"/>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28" name="TextBox 227"/>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Western Europe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North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9AA0A6"/>
                </a:solidFill>
                <a:latin typeface="Segoe UI"/>
              </a:rPr>
              <a:t>▲</a:t>
            </a:r>
          </a:p>
        </p:txBody>
      </p:sp>
      <p:sp>
        <p:nvSpPr>
          <p:cNvPr id="229" name="Oval 228"/>
          <p:cNvSpPr/>
          <p:nvPr/>
        </p:nvSpPr>
        <p:spPr>
          <a:xfrm>
            <a:off x="78867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31" name="Oval 230"/>
          <p:cNvSpPr/>
          <p:nvPr/>
        </p:nvSpPr>
        <p:spPr>
          <a:xfrm>
            <a:off x="80962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33" name="Oval 232"/>
          <p:cNvSpPr/>
          <p:nvPr/>
        </p:nvSpPr>
        <p:spPr>
          <a:xfrm>
            <a:off x="83058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35" name="Oval 234"/>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37" name="Oval 236"/>
          <p:cNvSpPr/>
          <p:nvPr/>
        </p:nvSpPr>
        <p:spPr>
          <a:xfrm>
            <a:off x="79914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39" name="Oval 238"/>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41" name="Oval 240"/>
          <p:cNvSpPr/>
          <p:nvPr/>
        </p:nvSpPr>
        <p:spPr>
          <a:xfrm>
            <a:off x="84105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43" name="TextBox 242"/>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Jackery</a:t>
            </a:r>
          </a:p>
        </p:txBody>
      </p:sp>
      <p:cxnSp>
        <p:nvCxnSpPr>
          <p:cNvPr id="244" name="Connector 243"/>
          <p:cNvCxnSpPr/>
          <p:nvPr/>
        </p:nvCxnSpPr>
        <p:spPr>
          <a:xfrm>
            <a:off x="913923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H</a:t>
            </a:r>
          </a:p>
        </p:txBody>
      </p:sp>
      <p:sp>
        <p:nvSpPr>
          <p:cNvPr id="246" name="TextBox 245"/>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247" name="TextBox 246"/>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248" name="Rectangle 247"/>
          <p:cNvSpPr/>
          <p:nvPr/>
        </p:nvSpPr>
        <p:spPr>
          <a:xfrm>
            <a:off x="9139238" y="2303274"/>
            <a:ext cx="114300" cy="109522"/>
          </a:xfrm>
          <a:prstGeom prst="rect">
            <a:avLst/>
          </a:prstGeom>
          <a:solidFill>
            <a:srgbClr val="FFFFFF"/>
          </a:solidFill>
          <a:ln w="12700">
            <a:solidFill>
              <a:srgbClr val="F2B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1068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482138"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52" name="TextBox 251"/>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53" name="Oval 252"/>
          <p:cNvSpPr/>
          <p:nvPr/>
        </p:nvSpPr>
        <p:spPr>
          <a:xfrm>
            <a:off x="912018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57" name="TextBox 256"/>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North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9AA0A6"/>
                </a:solidFill>
                <a:latin typeface="Segoe UI"/>
              </a:rPr>
              <a:t>▲</a:t>
            </a:r>
          </a:p>
        </p:txBody>
      </p:sp>
      <p:sp>
        <p:nvSpPr>
          <p:cNvPr id="258" name="Oval 257"/>
          <p:cNvSpPr/>
          <p:nvPr/>
        </p:nvSpPr>
        <p:spPr>
          <a:xfrm>
            <a:off x="89630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60" name="Oval 259"/>
          <p:cNvSpPr/>
          <p:nvPr/>
        </p:nvSpPr>
        <p:spPr>
          <a:xfrm>
            <a:off x="91725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62" name="Oval 261"/>
          <p:cNvSpPr/>
          <p:nvPr/>
        </p:nvSpPr>
        <p:spPr>
          <a:xfrm>
            <a:off x="93821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64" name="Oval 263"/>
          <p:cNvSpPr/>
          <p:nvPr/>
        </p:nvSpPr>
        <p:spPr>
          <a:xfrm>
            <a:off x="95916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66" name="Oval 265"/>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68" name="Oval 267"/>
          <p:cNvSpPr/>
          <p:nvPr/>
        </p:nvSpPr>
        <p:spPr>
          <a:xfrm>
            <a:off x="927735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70" name="Oval 269"/>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72" name="TextBox 271"/>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BLUETTI</a:t>
            </a:r>
          </a:p>
        </p:txBody>
      </p:sp>
      <p:cxnSp>
        <p:nvCxnSpPr>
          <p:cNvPr id="273" name="Connector 272"/>
          <p:cNvCxnSpPr/>
          <p:nvPr/>
        </p:nvCxnSpPr>
        <p:spPr>
          <a:xfrm>
            <a:off x="102155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74" name="TextBox 273"/>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I</a:t>
            </a:r>
          </a:p>
        </p:txBody>
      </p:sp>
      <p:sp>
        <p:nvSpPr>
          <p:cNvPr id="275" name="TextBox 274"/>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276" name="TextBox 275"/>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277" name="Rectangle 276"/>
          <p:cNvSpPr/>
          <p:nvPr/>
        </p:nvSpPr>
        <p:spPr>
          <a:xfrm>
            <a:off x="102155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3870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5584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81" name="TextBox 280"/>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82" name="Oval 281"/>
          <p:cNvSpPr/>
          <p:nvPr/>
        </p:nvSpPr>
        <p:spPr>
          <a:xfrm>
            <a:off x="101965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Freeform 282"/>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86" name="TextBox 285"/>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South Asia &amp; Pacific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9AA0A6"/>
                </a:solidFill>
                <a:latin typeface="Segoe UI"/>
              </a:rPr>
              <a:t>▲</a:t>
            </a:r>
          </a:p>
        </p:txBody>
      </p:sp>
      <p:sp>
        <p:nvSpPr>
          <p:cNvPr id="287" name="Oval 286"/>
          <p:cNvSpPr/>
          <p:nvPr/>
        </p:nvSpPr>
        <p:spPr>
          <a:xfrm>
            <a:off x="100393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89" name="Oval 288"/>
          <p:cNvSpPr/>
          <p:nvPr/>
        </p:nvSpPr>
        <p:spPr>
          <a:xfrm>
            <a:off x="102489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91" name="Oval 290"/>
          <p:cNvSpPr/>
          <p:nvPr/>
        </p:nvSpPr>
        <p:spPr>
          <a:xfrm>
            <a:off x="104584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93" name="Oval 292"/>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95" name="Oval 294"/>
          <p:cNvSpPr/>
          <p:nvPr/>
        </p:nvSpPr>
        <p:spPr>
          <a:xfrm>
            <a:off x="101441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97" name="Oval 296"/>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99" name="Oval 298"/>
          <p:cNvSpPr/>
          <p:nvPr/>
        </p:nvSpPr>
        <p:spPr>
          <a:xfrm>
            <a:off x="105632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01" name="TextBox 300"/>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Goal Zero</a:t>
            </a:r>
          </a:p>
        </p:txBody>
      </p:sp>
      <p:cxnSp>
        <p:nvCxnSpPr>
          <p:cNvPr id="302" name="Connector 301"/>
          <p:cNvCxnSpPr/>
          <p:nvPr/>
        </p:nvCxnSpPr>
        <p:spPr>
          <a:xfrm>
            <a:off x="112918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J</a:t>
            </a:r>
          </a:p>
        </p:txBody>
      </p:sp>
      <p:sp>
        <p:nvSpPr>
          <p:cNvPr id="304" name="TextBox 303"/>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305" name="TextBox 304"/>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306" name="Rectangle 305"/>
          <p:cNvSpPr/>
          <p:nvPr/>
        </p:nvSpPr>
        <p:spPr>
          <a:xfrm>
            <a:off x="112918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4633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6347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310" name="TextBox 309"/>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311" name="Oval 310"/>
          <p:cNvSpPr/>
          <p:nvPr/>
        </p:nvSpPr>
        <p:spPr>
          <a:xfrm>
            <a:off x="112728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Freeform 311"/>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315" name="TextBox 314"/>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 Asia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9AA0A6"/>
                </a:solidFill>
                <a:latin typeface="Segoe UI"/>
              </a:rPr>
              <a:t>▲</a:t>
            </a:r>
          </a:p>
        </p:txBody>
      </p:sp>
      <p:sp>
        <p:nvSpPr>
          <p:cNvPr id="316" name="Oval 315"/>
          <p:cNvSpPr/>
          <p:nvPr/>
        </p:nvSpPr>
        <p:spPr>
          <a:xfrm>
            <a:off x="111156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318" name="Oval 317"/>
          <p:cNvSpPr/>
          <p:nvPr/>
        </p:nvSpPr>
        <p:spPr>
          <a:xfrm>
            <a:off x="113252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320" name="Oval 319"/>
          <p:cNvSpPr/>
          <p:nvPr/>
        </p:nvSpPr>
        <p:spPr>
          <a:xfrm>
            <a:off x="115347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322" name="Oval 321"/>
          <p:cNvSpPr/>
          <p:nvPr/>
        </p:nvSpPr>
        <p:spPr>
          <a:xfrm>
            <a:off x="117443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324" name="Oval 323"/>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326" name="Oval 325"/>
          <p:cNvSpPr/>
          <p:nvPr/>
        </p:nvSpPr>
        <p:spPr>
          <a:xfrm>
            <a:off x="114300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328" name="Oval 327"/>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30" name="TextBox 329"/>
          <p:cNvSpPr txBox="1"/>
          <p:nvPr/>
        </p:nvSpPr>
        <p:spPr>
          <a:xfrm>
            <a:off x="285750" y="5716715"/>
            <a:ext cx="1262062" cy="164283"/>
          </a:xfrm>
          <a:prstGeom prst="rect">
            <a:avLst/>
          </a:prstGeom>
          <a:noFill/>
        </p:spPr>
        <p:txBody>
          <a:bodyPr wrap="square" lIns="0" rIns="0" tIns="0" bIns="0" anchor="ctr">
            <a:spAutoFit/>
          </a:bodyPr>
          <a:lstStyle/>
          <a:p>
            <a:pPr algn="l"/>
            <a:r>
              <a:rPr sz="1100" b="1">
                <a:solidFill>
                  <a:srgbClr val="252423"/>
                </a:solidFill>
                <a:latin typeface="Segoe UI"/>
              </a:rPr>
              <a:t>Product Portfolio:</a:t>
            </a:r>
          </a:p>
        </p:txBody>
      </p:sp>
      <p:sp>
        <p:nvSpPr>
          <p:cNvPr id="331" name="Rectangle 330"/>
          <p:cNvSpPr/>
          <p:nvPr/>
        </p:nvSpPr>
        <p:spPr>
          <a:xfrm>
            <a:off x="1528762" y="5744096"/>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1681162" y="5716715"/>
            <a:ext cx="1450181" cy="164283"/>
          </a:xfrm>
          <a:prstGeom prst="rect">
            <a:avLst/>
          </a:prstGeom>
          <a:noFill/>
        </p:spPr>
        <p:txBody>
          <a:bodyPr wrap="square" lIns="0" rIns="0" tIns="0" bIns="0" anchor="ctr">
            <a:spAutoFit/>
          </a:bodyPr>
          <a:lstStyle/>
          <a:p>
            <a:pPr algn="l"/>
            <a:r>
              <a:rPr sz="1100" b="0">
                <a:solidFill>
                  <a:srgbClr val="252423"/>
                </a:solidFill>
                <a:latin typeface="Segoe UI"/>
              </a:rPr>
              <a:t>1,500 Wh to 2,000 Wh</a:t>
            </a:r>
          </a:p>
        </p:txBody>
      </p:sp>
      <p:sp>
        <p:nvSpPr>
          <p:cNvPr id="333" name="Rectangle 332"/>
          <p:cNvSpPr/>
          <p:nvPr/>
        </p:nvSpPr>
        <p:spPr>
          <a:xfrm>
            <a:off x="3188494" y="5744096"/>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3340894" y="5716715"/>
            <a:ext cx="1862138" cy="164283"/>
          </a:xfrm>
          <a:prstGeom prst="rect">
            <a:avLst/>
          </a:prstGeom>
          <a:noFill/>
        </p:spPr>
        <p:txBody>
          <a:bodyPr wrap="square" lIns="0" rIns="0" tIns="0" bIns="0" anchor="ctr">
            <a:spAutoFit/>
          </a:bodyPr>
          <a:lstStyle/>
          <a:p>
            <a:pPr algn="l"/>
            <a:r>
              <a:rPr sz="1100" b="0">
                <a:solidFill>
                  <a:srgbClr val="252423"/>
                </a:solidFill>
                <a:latin typeface="Segoe UI"/>
              </a:rPr>
              <a:t>1,000 Wh to Below 1,500 Wh</a:t>
            </a:r>
          </a:p>
        </p:txBody>
      </p:sp>
      <p:sp>
        <p:nvSpPr>
          <p:cNvPr id="335" name="Rectangle 334"/>
          <p:cNvSpPr/>
          <p:nvPr/>
        </p:nvSpPr>
        <p:spPr>
          <a:xfrm>
            <a:off x="5260181" y="5744096"/>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5412581" y="5716715"/>
            <a:ext cx="1754981" cy="164283"/>
          </a:xfrm>
          <a:prstGeom prst="rect">
            <a:avLst/>
          </a:prstGeom>
          <a:noFill/>
        </p:spPr>
        <p:txBody>
          <a:bodyPr wrap="square" lIns="0" rIns="0" tIns="0" bIns="0" anchor="ctr">
            <a:spAutoFit/>
          </a:bodyPr>
          <a:lstStyle/>
          <a:p>
            <a:pPr algn="l"/>
            <a:r>
              <a:rPr sz="1100" b="0">
                <a:solidFill>
                  <a:srgbClr val="252423"/>
                </a:solidFill>
                <a:latin typeface="Segoe UI"/>
              </a:rPr>
              <a:t>500 Wh to Below 1,000 Wh</a:t>
            </a:r>
          </a:p>
        </p:txBody>
      </p:sp>
      <p:sp>
        <p:nvSpPr>
          <p:cNvPr id="337" name="Rectangle 336"/>
          <p:cNvSpPr/>
          <p:nvPr/>
        </p:nvSpPr>
        <p:spPr>
          <a:xfrm>
            <a:off x="7224712" y="5744096"/>
            <a:ext cx="114300" cy="109522"/>
          </a:xfrm>
          <a:prstGeom prst="rect">
            <a:avLst/>
          </a:prstGeom>
          <a:solidFill>
            <a:srgbClr val="FFFFFF"/>
          </a:solidFill>
          <a:ln w="12700">
            <a:solidFill>
              <a:srgbClr val="605E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7377112" y="5716715"/>
            <a:ext cx="800026" cy="164283"/>
          </a:xfrm>
          <a:prstGeom prst="rect">
            <a:avLst/>
          </a:prstGeom>
          <a:noFill/>
        </p:spPr>
        <p:txBody>
          <a:bodyPr wrap="square" lIns="0" rIns="0" tIns="0" bIns="0" anchor="ctr">
            <a:spAutoFit/>
          </a:bodyPr>
          <a:lstStyle/>
          <a:p>
            <a:pPr algn="l"/>
            <a:r>
              <a:rPr sz="1100" b="0">
                <a:solidFill>
                  <a:srgbClr val="252423"/>
                </a:solidFill>
                <a:latin typeface="Segoe UI"/>
              </a:rPr>
              <a:t>Not offered</a:t>
            </a:r>
          </a:p>
        </p:txBody>
      </p:sp>
      <p:sp>
        <p:nvSpPr>
          <p:cNvPr id="339" name="TextBox 338"/>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2F6FB0"/>
                </a:solidFill>
                <a:latin typeface="Segoe UI"/>
              </a:rPr>
              <a:t>✔</a:t>
            </a:r>
          </a:p>
        </p:txBody>
      </p:sp>
      <p:sp>
        <p:nvSpPr>
          <p:cNvPr id="340" name="TextBox 339"/>
          <p:cNvSpPr txBox="1"/>
          <p:nvPr/>
        </p:nvSpPr>
        <p:spPr>
          <a:xfrm>
            <a:off x="475615" y="5890125"/>
            <a:ext cx="483468" cy="164283"/>
          </a:xfrm>
          <a:prstGeom prst="rect">
            <a:avLst/>
          </a:prstGeom>
          <a:noFill/>
        </p:spPr>
        <p:txBody>
          <a:bodyPr wrap="square" lIns="0" rIns="0" tIns="0" bIns="0" anchor="ctr">
            <a:spAutoFit/>
          </a:bodyPr>
          <a:lstStyle/>
          <a:p>
            <a:pPr algn="l"/>
            <a:r>
              <a:rPr sz="1100" b="0">
                <a:solidFill>
                  <a:srgbClr val="252423"/>
                </a:solidFill>
                <a:latin typeface="Segoe UI"/>
              </a:rPr>
              <a:t>served</a:t>
            </a:r>
          </a:p>
        </p:txBody>
      </p:sp>
      <p:sp>
        <p:nvSpPr>
          <p:cNvPr id="341" name="TextBox 340"/>
          <p:cNvSpPr txBox="1"/>
          <p:nvPr/>
        </p:nvSpPr>
        <p:spPr>
          <a:xfrm>
            <a:off x="940033" y="5890125"/>
            <a:ext cx="208915" cy="164283"/>
          </a:xfrm>
          <a:prstGeom prst="rect">
            <a:avLst/>
          </a:prstGeom>
          <a:noFill/>
        </p:spPr>
        <p:txBody>
          <a:bodyPr wrap="none" lIns="0" rIns="0" tIns="0" bIns="0" anchor="ctr">
            <a:spAutoFit/>
          </a:bodyPr>
          <a:lstStyle/>
          <a:p>
            <a:pPr algn="l"/>
            <a:r>
              <a:rPr sz="1100" b="1">
                <a:solidFill>
                  <a:srgbClr val="D24B3E"/>
                </a:solidFill>
                <a:latin typeface="Segoe UI"/>
              </a:rPr>
              <a:t>✘</a:t>
            </a:r>
          </a:p>
        </p:txBody>
      </p:sp>
      <p:sp>
        <p:nvSpPr>
          <p:cNvPr id="342" name="TextBox 341"/>
          <p:cNvSpPr txBox="1"/>
          <p:nvPr/>
        </p:nvSpPr>
        <p:spPr>
          <a:xfrm>
            <a:off x="1129898" y="5890125"/>
            <a:ext cx="731118" cy="164283"/>
          </a:xfrm>
          <a:prstGeom prst="rect">
            <a:avLst/>
          </a:prstGeom>
          <a:noFill/>
        </p:spPr>
        <p:txBody>
          <a:bodyPr wrap="square" lIns="0" rIns="0" tIns="0" bIns="0" anchor="ctr">
            <a:spAutoFit/>
          </a:bodyPr>
          <a:lstStyle/>
          <a:p>
            <a:pPr algn="l"/>
            <a:r>
              <a:rPr sz="1100" b="0">
                <a:solidFill>
                  <a:srgbClr val="252423"/>
                </a:solidFill>
                <a:latin typeface="Segoe UI"/>
              </a:rPr>
              <a:t>not served</a:t>
            </a:r>
          </a:p>
        </p:txBody>
      </p:sp>
      <p:sp>
        <p:nvSpPr>
          <p:cNvPr id="343" name="TextBox 342"/>
          <p:cNvSpPr txBox="1"/>
          <p:nvPr/>
        </p:nvSpPr>
        <p:spPr>
          <a:xfrm>
            <a:off x="2013416" y="5890125"/>
            <a:ext cx="1323938" cy="164283"/>
          </a:xfrm>
          <a:prstGeom prst="rect">
            <a:avLst/>
          </a:prstGeom>
          <a:noFill/>
        </p:spPr>
        <p:txBody>
          <a:bodyPr wrap="square" lIns="0" rIns="0" tIns="0" bIns="0" anchor="ctr">
            <a:spAutoFit/>
          </a:bodyPr>
          <a:lstStyle/>
          <a:p>
            <a:pPr algn="l"/>
            <a:r>
              <a:rPr sz="1100" b="1">
                <a:solidFill>
                  <a:srgbClr val="252423"/>
                </a:solidFill>
                <a:latin typeface="Segoe UI"/>
              </a:rPr>
              <a:t>Regional presence:</a:t>
            </a:r>
          </a:p>
        </p:txBody>
      </p:sp>
      <p:sp>
        <p:nvSpPr>
          <p:cNvPr id="344" name="TextBox 343"/>
          <p:cNvSpPr txBox="1"/>
          <p:nvPr/>
        </p:nvSpPr>
        <p:spPr>
          <a:xfrm>
            <a:off x="3318304" y="5890125"/>
            <a:ext cx="208915" cy="164283"/>
          </a:xfrm>
          <a:prstGeom prst="rect">
            <a:avLst/>
          </a:prstGeom>
          <a:noFill/>
        </p:spPr>
        <p:txBody>
          <a:bodyPr wrap="none" lIns="0" rIns="0" tIns="0" bIns="0" anchor="ctr">
            <a:spAutoFit/>
          </a:bodyPr>
          <a:lstStyle/>
          <a:p>
            <a:pPr algn="l"/>
            <a:r>
              <a:rPr sz="1100" b="1">
                <a:solidFill>
                  <a:srgbClr val="2F6FB0"/>
                </a:solidFill>
                <a:latin typeface="Segoe UI"/>
              </a:rPr>
              <a:t>▲</a:t>
            </a:r>
          </a:p>
        </p:txBody>
      </p:sp>
      <p:sp>
        <p:nvSpPr>
          <p:cNvPr id="345" name="TextBox 344"/>
          <p:cNvSpPr txBox="1"/>
          <p:nvPr/>
        </p:nvSpPr>
        <p:spPr>
          <a:xfrm>
            <a:off x="3508169" y="5890125"/>
            <a:ext cx="371475" cy="164283"/>
          </a:xfrm>
          <a:prstGeom prst="rect">
            <a:avLst/>
          </a:prstGeom>
          <a:noFill/>
        </p:spPr>
        <p:txBody>
          <a:bodyPr wrap="none" lIns="0" rIns="0" tIns="0" bIns="0" anchor="ctr">
            <a:spAutoFit/>
          </a:bodyPr>
          <a:lstStyle/>
          <a:p>
            <a:pPr algn="l"/>
            <a:r>
              <a:rPr sz="1100" b="0">
                <a:solidFill>
                  <a:srgbClr val="252423"/>
                </a:solidFill>
                <a:latin typeface="Segoe UI"/>
              </a:rPr>
              <a:t>High</a:t>
            </a:r>
          </a:p>
        </p:txBody>
      </p:sp>
      <p:sp>
        <p:nvSpPr>
          <p:cNvPr id="346" name="TextBox 345"/>
          <p:cNvSpPr txBox="1"/>
          <p:nvPr/>
        </p:nvSpPr>
        <p:spPr>
          <a:xfrm>
            <a:off x="3860594" y="5890125"/>
            <a:ext cx="208915" cy="164283"/>
          </a:xfrm>
          <a:prstGeom prst="rect">
            <a:avLst/>
          </a:prstGeom>
          <a:noFill/>
        </p:spPr>
        <p:txBody>
          <a:bodyPr wrap="none" lIns="0" rIns="0" tIns="0" bIns="0" anchor="ctr">
            <a:spAutoFit/>
          </a:bodyPr>
          <a:lstStyle/>
          <a:p>
            <a:pPr algn="l"/>
            <a:r>
              <a:rPr sz="1100" b="1">
                <a:solidFill>
                  <a:srgbClr val="E2A828"/>
                </a:solidFill>
                <a:latin typeface="Segoe UI"/>
              </a:rPr>
              <a:t>▲</a:t>
            </a:r>
          </a:p>
        </p:txBody>
      </p:sp>
      <p:sp>
        <p:nvSpPr>
          <p:cNvPr id="347" name="TextBox 346"/>
          <p:cNvSpPr txBox="1"/>
          <p:nvPr/>
        </p:nvSpPr>
        <p:spPr>
          <a:xfrm>
            <a:off x="4050459" y="5890125"/>
            <a:ext cx="592931" cy="164283"/>
          </a:xfrm>
          <a:prstGeom prst="rect">
            <a:avLst/>
          </a:prstGeom>
          <a:noFill/>
        </p:spPr>
        <p:txBody>
          <a:bodyPr wrap="square" lIns="0" rIns="0" tIns="0" bIns="0" anchor="ctr">
            <a:spAutoFit/>
          </a:bodyPr>
          <a:lstStyle/>
          <a:p>
            <a:pPr algn="l"/>
            <a:r>
              <a:rPr sz="1100" b="0">
                <a:solidFill>
                  <a:srgbClr val="252423"/>
                </a:solidFill>
                <a:latin typeface="Segoe UI"/>
              </a:rPr>
              <a:t>Medium</a:t>
            </a:r>
          </a:p>
        </p:txBody>
      </p:sp>
      <p:sp>
        <p:nvSpPr>
          <p:cNvPr id="348" name="TextBox 347"/>
          <p:cNvSpPr txBox="1"/>
          <p:nvPr/>
        </p:nvSpPr>
        <p:spPr>
          <a:xfrm>
            <a:off x="4624340" y="5890125"/>
            <a:ext cx="208915" cy="164283"/>
          </a:xfrm>
          <a:prstGeom prst="rect">
            <a:avLst/>
          </a:prstGeom>
          <a:noFill/>
        </p:spPr>
        <p:txBody>
          <a:bodyPr wrap="none" lIns="0" rIns="0" tIns="0" bIns="0" anchor="ctr">
            <a:spAutoFit/>
          </a:bodyPr>
          <a:lstStyle/>
          <a:p>
            <a:pPr algn="l"/>
            <a:r>
              <a:rPr sz="1100" b="1">
                <a:solidFill>
                  <a:srgbClr val="9AA0A6"/>
                </a:solidFill>
                <a:latin typeface="Segoe UI"/>
              </a:rPr>
              <a:t>▲</a:t>
            </a:r>
          </a:p>
        </p:txBody>
      </p:sp>
      <p:sp>
        <p:nvSpPr>
          <p:cNvPr id="349" name="TextBox 348"/>
          <p:cNvSpPr txBox="1"/>
          <p:nvPr/>
        </p:nvSpPr>
        <p:spPr>
          <a:xfrm>
            <a:off x="4814205" y="5890125"/>
            <a:ext cx="328612" cy="164283"/>
          </a:xfrm>
          <a:prstGeom prst="rect">
            <a:avLst/>
          </a:prstGeom>
          <a:noFill/>
        </p:spPr>
        <p:txBody>
          <a:bodyPr wrap="none" lIns="0" rIns="0" tIns="0" bIns="0" anchor="ctr">
            <a:spAutoFit/>
          </a:bodyPr>
          <a:lstStyle/>
          <a:p>
            <a:pPr algn="l"/>
            <a:r>
              <a:rPr sz="1100" b="0">
                <a:solidFill>
                  <a:srgbClr val="252423"/>
                </a:solidFill>
                <a:latin typeface="Segoe UI"/>
              </a:rPr>
              <a:t>Low</a:t>
            </a:r>
          </a:p>
        </p:txBody>
      </p:sp>
      <p:sp>
        <p:nvSpPr>
          <p:cNvPr id="350" name="Oval 349"/>
          <p:cNvSpPr/>
          <p:nvPr/>
        </p:nvSpPr>
        <p:spPr>
          <a:xfrm>
            <a:off x="285750"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352" name="TextBox 351"/>
          <p:cNvSpPr txBox="1"/>
          <p:nvPr/>
        </p:nvSpPr>
        <p:spPr>
          <a:xfrm>
            <a:off x="495300" y="6072662"/>
            <a:ext cx="700050" cy="182537"/>
          </a:xfrm>
          <a:prstGeom prst="rect">
            <a:avLst/>
          </a:prstGeom>
          <a:noFill/>
        </p:spPr>
        <p:txBody>
          <a:bodyPr wrap="square" lIns="0" rIns="0" tIns="0" bIns="0" anchor="ctr">
            <a:spAutoFit/>
          </a:bodyPr>
          <a:lstStyle/>
          <a:p>
            <a:pPr algn="l"/>
            <a:r>
              <a:rPr sz="1100" b="0">
                <a:solidFill>
                  <a:srgbClr val="252423"/>
                </a:solidFill>
                <a:latin typeface="Segoe UI"/>
              </a:rPr>
              <a:t>Expansion</a:t>
            </a:r>
          </a:p>
        </p:txBody>
      </p:sp>
      <p:sp>
        <p:nvSpPr>
          <p:cNvPr id="353" name="Oval 352"/>
          <p:cNvSpPr/>
          <p:nvPr/>
        </p:nvSpPr>
        <p:spPr>
          <a:xfrm>
            <a:off x="1290600"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1290600"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355" name="TextBox 354"/>
          <p:cNvSpPr txBox="1"/>
          <p:nvPr/>
        </p:nvSpPr>
        <p:spPr>
          <a:xfrm>
            <a:off x="1500150" y="6072662"/>
            <a:ext cx="1092994" cy="182537"/>
          </a:xfrm>
          <a:prstGeom prst="rect">
            <a:avLst/>
          </a:prstGeom>
          <a:noFill/>
        </p:spPr>
        <p:txBody>
          <a:bodyPr wrap="square" lIns="0" rIns="0" tIns="0" bIns="0" anchor="ctr">
            <a:spAutoFit/>
          </a:bodyPr>
          <a:lstStyle/>
          <a:p>
            <a:pPr algn="l"/>
            <a:r>
              <a:rPr sz="1100" b="0">
                <a:solidFill>
                  <a:srgbClr val="252423"/>
                </a:solidFill>
                <a:latin typeface="Segoe UI"/>
              </a:rPr>
              <a:t>R&amp;D Investment</a:t>
            </a:r>
          </a:p>
        </p:txBody>
      </p:sp>
      <p:sp>
        <p:nvSpPr>
          <p:cNvPr id="356" name="Oval 355"/>
          <p:cNvSpPr/>
          <p:nvPr/>
        </p:nvSpPr>
        <p:spPr>
          <a:xfrm>
            <a:off x="2688394"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356"/>
          <p:cNvSpPr txBox="1"/>
          <p:nvPr/>
        </p:nvSpPr>
        <p:spPr>
          <a:xfrm>
            <a:off x="2688394"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358" name="TextBox 357"/>
          <p:cNvSpPr txBox="1"/>
          <p:nvPr/>
        </p:nvSpPr>
        <p:spPr>
          <a:xfrm>
            <a:off x="2897944" y="6072662"/>
            <a:ext cx="854869" cy="182537"/>
          </a:xfrm>
          <a:prstGeom prst="rect">
            <a:avLst/>
          </a:prstGeom>
          <a:noFill/>
        </p:spPr>
        <p:txBody>
          <a:bodyPr wrap="square" lIns="0" rIns="0" tIns="0" bIns="0" anchor="ctr">
            <a:spAutoFit/>
          </a:bodyPr>
          <a:lstStyle/>
          <a:p>
            <a:pPr algn="l"/>
            <a:r>
              <a:rPr sz="1100" b="0">
                <a:solidFill>
                  <a:srgbClr val="252423"/>
                </a:solidFill>
                <a:latin typeface="Segoe UI"/>
              </a:rPr>
              <a:t>Financial Aid</a:t>
            </a:r>
          </a:p>
        </p:txBody>
      </p:sp>
      <p:sp>
        <p:nvSpPr>
          <p:cNvPr id="359" name="Oval 358"/>
          <p:cNvSpPr/>
          <p:nvPr/>
        </p:nvSpPr>
        <p:spPr>
          <a:xfrm>
            <a:off x="3848063"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3848063"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361" name="TextBox 360"/>
          <p:cNvSpPr txBox="1"/>
          <p:nvPr/>
        </p:nvSpPr>
        <p:spPr>
          <a:xfrm>
            <a:off x="4057613" y="6072662"/>
            <a:ext cx="1433475" cy="182537"/>
          </a:xfrm>
          <a:prstGeom prst="rect">
            <a:avLst/>
          </a:prstGeom>
          <a:noFill/>
        </p:spPr>
        <p:txBody>
          <a:bodyPr wrap="square" lIns="0" rIns="0" tIns="0" bIns="0" anchor="ctr">
            <a:spAutoFit/>
          </a:bodyPr>
          <a:lstStyle/>
          <a:p>
            <a:pPr algn="l"/>
            <a:r>
              <a:rPr sz="1100" b="0">
                <a:solidFill>
                  <a:srgbClr val="252423"/>
                </a:solidFill>
                <a:latin typeface="Segoe UI"/>
              </a:rPr>
              <a:t>Product Development</a:t>
            </a:r>
          </a:p>
        </p:txBody>
      </p:sp>
      <p:sp>
        <p:nvSpPr>
          <p:cNvPr id="362" name="Oval 361"/>
          <p:cNvSpPr/>
          <p:nvPr/>
        </p:nvSpPr>
        <p:spPr>
          <a:xfrm>
            <a:off x="5586338"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5586338"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364" name="TextBox 363"/>
          <p:cNvSpPr txBox="1"/>
          <p:nvPr/>
        </p:nvSpPr>
        <p:spPr>
          <a:xfrm>
            <a:off x="5795888" y="6072662"/>
            <a:ext cx="762000" cy="182537"/>
          </a:xfrm>
          <a:prstGeom prst="rect">
            <a:avLst/>
          </a:prstGeom>
          <a:noFill/>
        </p:spPr>
        <p:txBody>
          <a:bodyPr wrap="square" lIns="0" rIns="0" tIns="0" bIns="0" anchor="ctr">
            <a:spAutoFit/>
          </a:bodyPr>
          <a:lstStyle/>
          <a:p>
            <a:pPr algn="l"/>
            <a:r>
              <a:rPr sz="1100" b="0">
                <a:solidFill>
                  <a:srgbClr val="252423"/>
                </a:solidFill>
                <a:latin typeface="Segoe UI"/>
              </a:rPr>
              <a:t>Acquisition</a:t>
            </a:r>
          </a:p>
        </p:txBody>
      </p:sp>
      <p:sp>
        <p:nvSpPr>
          <p:cNvPr id="365" name="Oval 364"/>
          <p:cNvSpPr/>
          <p:nvPr/>
        </p:nvSpPr>
        <p:spPr>
          <a:xfrm>
            <a:off x="6653138"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6653138"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367" name="TextBox 366"/>
          <p:cNvSpPr txBox="1"/>
          <p:nvPr/>
        </p:nvSpPr>
        <p:spPr>
          <a:xfrm>
            <a:off x="6862688" y="6072662"/>
            <a:ext cx="1038188" cy="182537"/>
          </a:xfrm>
          <a:prstGeom prst="rect">
            <a:avLst/>
          </a:prstGeom>
          <a:noFill/>
        </p:spPr>
        <p:txBody>
          <a:bodyPr wrap="square" lIns="0" rIns="0" tIns="0" bIns="0" anchor="ctr">
            <a:spAutoFit/>
          </a:bodyPr>
          <a:lstStyle/>
          <a:p>
            <a:pPr algn="l"/>
            <a:r>
              <a:rPr sz="1100" b="0">
                <a:solidFill>
                  <a:srgbClr val="252423"/>
                </a:solidFill>
                <a:latin typeface="Segoe UI"/>
              </a:rPr>
              <a:t>Product Launch</a:t>
            </a:r>
          </a:p>
        </p:txBody>
      </p:sp>
      <p:sp>
        <p:nvSpPr>
          <p:cNvPr id="368" name="Oval 367"/>
          <p:cNvSpPr/>
          <p:nvPr/>
        </p:nvSpPr>
        <p:spPr>
          <a:xfrm>
            <a:off x="7996126"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368"/>
          <p:cNvSpPr txBox="1"/>
          <p:nvPr/>
        </p:nvSpPr>
        <p:spPr>
          <a:xfrm>
            <a:off x="7996126"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70" name="TextBox 369"/>
          <p:cNvSpPr txBox="1"/>
          <p:nvPr/>
        </p:nvSpPr>
        <p:spPr>
          <a:xfrm>
            <a:off x="8205676" y="6072662"/>
            <a:ext cx="823987" cy="182537"/>
          </a:xfrm>
          <a:prstGeom prst="rect">
            <a:avLst/>
          </a:prstGeom>
          <a:noFill/>
        </p:spPr>
        <p:txBody>
          <a:bodyPr wrap="square" lIns="0" rIns="0" tIns="0" bIns="0" anchor="ctr">
            <a:spAutoFit/>
          </a:bodyPr>
          <a:lstStyle/>
          <a:p>
            <a:pPr algn="l"/>
            <a:r>
              <a:rPr sz="1100" b="0">
                <a:solidFill>
                  <a:srgbClr val="252423"/>
                </a:solidFill>
                <a:latin typeface="Segoe UI"/>
              </a:rPr>
              <a:t>Certification</a:t>
            </a:r>
          </a:p>
        </p:txBody>
      </p:sp>
      <p:sp>
        <p:nvSpPr>
          <p:cNvPr id="371" name="TextBox 370"/>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B06A2C"/>
                </a:solidFill>
                <a:latin typeface="Segoe UI"/>
              </a:rPr>
              <a:t>Note: Market Share indicates the contribution of target revenue in Market</a:t>
            </a:r>
          </a:p>
        </p:txBody>
      </p:sp>
      <p:sp>
        <p:nvSpPr>
          <p:cNvPr id="372" name="TextBox 371"/>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B06A2C"/>
                </a:solidFill>
                <a:latin typeface="Segoe UI"/>
              </a:rPr>
              <a:t>Revenue represents sales of the company from target market</a:t>
            </a:r>
          </a:p>
        </p:txBody>
      </p:sp>
      <p:sp>
        <p:nvSpPr>
          <p:cNvPr id="373" name="TextBox 37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
          <p:cNvSpPr/>
          <p:nvPr userDrawn="1"/>
        </p:nvSpPr>
        <p:spPr>
          <a:xfrm>
            <a:off x="-1" y="0"/>
            <a:ext cx="12188825" cy="6224588"/>
          </a:xfrm>
          <a:prstGeom prst="rect">
            <a:avLst/>
          </a:prstGeom>
          <a:solidFill>
            <a:srgbClr val="FFFFF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9" name="Footer Placeholder 1">
            <a:extLst>
              <a:ext uri="{FF2B5EF4-FFF2-40B4-BE49-F238E27FC236}">
                <a16:creationId xmlns:a16="http://schemas.microsoft.com/office/drawing/2014/main" id="{0FF216E4-8655-20ED-6557-5AF033D14335}"/>
              </a:ext>
            </a:extLst>
          </p:cNvPr>
          <p:cNvSpPr>
            <a:spLocks noGrp="1"/>
          </p:cNvSpPr>
          <p:nvPr/>
        </p:nvSpPr>
        <p:spPr>
          <a:xfrm>
            <a:off x="152400" y="6513512"/>
            <a:ext cx="3466790" cy="269876"/>
          </a:xfrm>
        </p:spPr>
        <p:txBody>
          <a:bodyPr lIns="0" anchor="ctr">
            <a:noAutofit/>
          </a:bodyPr>
          <a:lstStyle>
            <a:lvl1pPr algn="l">
              <a:defRPr sz="1100">
                <a:solidFill>
                  <a:srgbClr val="FFFFFF"/>
                </a:solidFill>
                <a:latin typeface="+mn-lt"/>
              </a:defRPr>
            </a:lvl1pPr>
          </a:lstStyle>
          <a:p>
            <a:r>
              <a:rPr lang="en-US" dirty="0"/>
              <a:t>©2026 Fact.MR, All Rights Reserved</a:t>
            </a:r>
          </a:p>
        </p:txBody>
      </p:sp>
      <p:pic>
        <p:nvPicPr>
          <p:cNvPr id="30" name="Picture 7" descr="ToC-Template-for-Fact.MR00">
            <a:extLst>
              <a:ext uri="{FF2B5EF4-FFF2-40B4-BE49-F238E27FC236}">
                <a16:creationId xmlns:a16="http://schemas.microsoft.com/office/drawing/2014/main" id="{E01E74BD-8C0C-2DA1-84BC-F0FB6B91C451}"/>
              </a:ext>
            </a:extLst>
          </p:cNvPr>
          <p:cNvPicPr/>
          <p:nvPr/>
        </p:nvPicPr>
        <p:blipFill>
          <a:blip r:embed="rId3" cstate="email">
            <a:extLst>
              <a:ext uri="{28A0092B-C50C-407E-A947-70E740481C1C}">
                <a14:useLocalDpi xmlns:a14="http://schemas.microsoft.com/office/drawing/2010/main"/>
              </a:ext>
            </a:extLst>
          </a:blip>
          <a:stretch>
            <a:fillRect/>
          </a:stretch>
        </p:blipFill>
        <p:spPr bwMode="auto">
          <a:xfrm>
            <a:off x="7355435" y="1400538"/>
            <a:ext cx="3843278" cy="4983148"/>
          </a:xfrm>
          <a:prstGeom prst="rect">
            <a:avLst/>
          </a:prstGeom>
          <a:noFill/>
        </p:spPr>
      </p:pic>
      <p:sp>
        <p:nvSpPr>
          <p:cNvPr id="31" name="TextBox 9">
            <a:extLst>
              <a:ext uri="{FF2B5EF4-FFF2-40B4-BE49-F238E27FC236}">
                <a16:creationId xmlns:a16="http://schemas.microsoft.com/office/drawing/2014/main" id="{5EEF0DCE-F017-96AA-8684-BEC3942CBEAD}"/>
              </a:ext>
            </a:extLst>
          </p:cNvPr>
          <p:cNvSpPr txBox="1"/>
          <p:nvPr/>
        </p:nvSpPr>
        <p:spPr>
          <a:xfrm>
            <a:off x="882588" y="1044750"/>
            <a:ext cx="6015923" cy="3941720"/>
          </a:xfrm>
          <a:prstGeom prst="rect">
            <a:avLst/>
          </a:prstGeom>
          <a:noFill/>
        </p:spPr>
        <p:txBody>
          <a:bodyPr wrap="square" rtlCol="0">
            <a:spAutoFit/>
          </a:bodyPr>
          <a:lstStyle/>
          <a:p>
            <a:pPr>
              <a:lnSpc>
                <a:spcPct val="150000"/>
              </a:lnSpc>
            </a:pPr>
            <a:r>
              <a:rPr lang="en-US" sz="1200" dirty="0">
                <a:solidFill>
                  <a:srgbClr val="000000">
                    <a:lumMod val="75000"/>
                    <a:lumOff val="25000"/>
                  </a:srgbClr>
                </a:solidFill>
              </a:rPr>
              <a:t>Fact.MR is an independent, pure play market intelligence firm incorporated with an objective to deliver high quality, customized market research solutions that help our clients successfully go to the market equipped with actionable insights capable of impacting crucial business decisions. Our laser-like focus on providing fact-based solutions is underpinned by insights gleaned from over 100 million data points, painstakingly gathered over the last decade and consolidated among a diverse range of industry sectors. This has allowed us to patent a proven and tested research methodology where we analyze historical data and compare this with projections for the immediate future to arrive at accurate market forecasts. This approach enable us to deliver precise statistics, actionable strategic insights, and state of the art market research solutions. Besides in-depth primary and secondary research comprising focused interviews with industry experts and key market stakeholders, our analysts gather real-time data from a plethora of channels, including but not limited to POS, social media channels, annual reports, financial documents and filter this into our market estimates and forecasts to provide the latest updates shaping global markets.</a:t>
            </a:r>
          </a:p>
        </p:txBody>
      </p:sp>
      <p:sp>
        <p:nvSpPr>
          <p:cNvPr id="32" name="TextBox 11">
            <a:extLst>
              <a:ext uri="{FF2B5EF4-FFF2-40B4-BE49-F238E27FC236}">
                <a16:creationId xmlns:a16="http://schemas.microsoft.com/office/drawing/2014/main" id="{2F875F8A-B92D-B1E8-E4A0-3F2D58AFED8E}"/>
              </a:ext>
            </a:extLst>
          </p:cNvPr>
          <p:cNvSpPr txBox="1"/>
          <p:nvPr/>
        </p:nvSpPr>
        <p:spPr>
          <a:xfrm>
            <a:off x="2987329" y="5889088"/>
            <a:ext cx="1868627" cy="507831"/>
          </a:xfrm>
          <a:prstGeom prst="rect">
            <a:avLst/>
          </a:prstGeom>
          <a:noFill/>
        </p:spPr>
        <p:txBody>
          <a:bodyPr wrap="square" rtlCol="0">
            <a:spAutoFit/>
          </a:bodyPr>
          <a:lstStyle/>
          <a:p>
            <a:pPr algn="ctr"/>
            <a:r>
              <a:rPr lang="en-US" sz="1600" dirty="0">
                <a:solidFill>
                  <a:srgbClr val="0070C0"/>
                </a:solidFill>
              </a:rPr>
              <a:t>Call the Consultant</a:t>
            </a:r>
          </a:p>
          <a:p>
            <a:pPr algn="ctr"/>
            <a:r>
              <a:rPr lang="en-US" sz="1100" dirty="0">
                <a:solidFill>
                  <a:srgbClr val="000000">
                    <a:lumMod val="50000"/>
                    <a:lumOff val="50000"/>
                  </a:srgbClr>
                </a:solidFill>
              </a:rPr>
              <a:t>(Fact.MR Brochure)</a:t>
            </a:r>
            <a:endParaRPr lang="en-IN" sz="1100" dirty="0">
              <a:solidFill>
                <a:srgbClr val="000000">
                  <a:lumMod val="50000"/>
                  <a:lumOff val="50000"/>
                </a:srgbClr>
              </a:solidFill>
            </a:endParaRPr>
          </a:p>
        </p:txBody>
      </p:sp>
      <p:grpSp>
        <p:nvGrpSpPr>
          <p:cNvPr id="33" name="Group 18">
            <a:extLst>
              <a:ext uri="{FF2B5EF4-FFF2-40B4-BE49-F238E27FC236}">
                <a16:creationId xmlns:a16="http://schemas.microsoft.com/office/drawing/2014/main" id="{6FC95BD5-103D-EC7D-0762-E8FA100182AA}"/>
              </a:ext>
            </a:extLst>
          </p:cNvPr>
          <p:cNvGrpSpPr/>
          <p:nvPr/>
        </p:nvGrpSpPr>
        <p:grpSpPr>
          <a:xfrm>
            <a:off x="903497" y="5015496"/>
            <a:ext cx="5686658" cy="1498016"/>
            <a:chOff x="575436" y="5033127"/>
            <a:chExt cx="4928816" cy="1245790"/>
          </a:xfrm>
        </p:grpSpPr>
        <p:sp>
          <p:nvSpPr>
            <p:cNvPr id="34" name="TextBox 19">
              <a:extLst>
                <a:ext uri="{FF2B5EF4-FFF2-40B4-BE49-F238E27FC236}">
                  <a16:creationId xmlns:a16="http://schemas.microsoft.com/office/drawing/2014/main" id="{13451374-B269-CB11-A98A-6D9F03D23441}"/>
                </a:ext>
              </a:extLst>
            </p:cNvPr>
            <p:cNvSpPr txBox="1"/>
            <p:nvPr/>
          </p:nvSpPr>
          <p:spPr>
            <a:xfrm>
              <a:off x="588933" y="5755697"/>
              <a:ext cx="1698752" cy="523220"/>
            </a:xfrm>
            <a:prstGeom prst="rect">
              <a:avLst/>
            </a:prstGeom>
            <a:noFill/>
          </p:spPr>
          <p:txBody>
            <a:bodyPr wrap="square" rtlCol="0">
              <a:spAutoFit/>
            </a:bodyPr>
            <a:lstStyle/>
            <a:p>
              <a:pPr algn="ctr"/>
              <a:r>
                <a:rPr lang="en-US" sz="1600" dirty="0">
                  <a:solidFill>
                    <a:srgbClr val="0070C0"/>
                  </a:solidFill>
                </a:rPr>
                <a:t>Know us More</a:t>
              </a:r>
            </a:p>
            <a:p>
              <a:pPr algn="ctr"/>
              <a:r>
                <a:rPr lang="en-US" sz="1100" dirty="0">
                  <a:solidFill>
                    <a:srgbClr val="000000">
                      <a:lumMod val="50000"/>
                      <a:lumOff val="50000"/>
                    </a:srgbClr>
                  </a:solidFill>
                </a:rPr>
                <a:t>(Fact.MR Brochure)</a:t>
              </a:r>
              <a:endParaRPr lang="en-IN" sz="1100" dirty="0">
                <a:solidFill>
                  <a:srgbClr val="000000">
                    <a:lumMod val="50000"/>
                    <a:lumOff val="50000"/>
                  </a:srgbClr>
                </a:solidFill>
              </a:endParaRPr>
            </a:p>
          </p:txBody>
        </p:sp>
        <p:pic>
          <p:nvPicPr>
            <p:cNvPr id="35" name="Picture 20">
              <a:extLst>
                <a:ext uri="{FF2B5EF4-FFF2-40B4-BE49-F238E27FC236}">
                  <a16:creationId xmlns:a16="http://schemas.microsoft.com/office/drawing/2014/main" id="{D59C991B-2241-FA7A-2251-488489F042D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0689" y="5316658"/>
              <a:ext cx="368270" cy="376276"/>
            </a:xfrm>
            <a:prstGeom prst="rect">
              <a:avLst/>
            </a:prstGeom>
          </p:spPr>
        </p:pic>
        <p:pic>
          <p:nvPicPr>
            <p:cNvPr id="36" name="Picture 21">
              <a:extLst>
                <a:ext uri="{FF2B5EF4-FFF2-40B4-BE49-F238E27FC236}">
                  <a16:creationId xmlns:a16="http://schemas.microsoft.com/office/drawing/2014/main" id="{DB412F43-34F2-C3C0-00D4-5D3338DBC41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51180" y="5319802"/>
              <a:ext cx="360260" cy="383756"/>
            </a:xfrm>
            <a:prstGeom prst="rect">
              <a:avLst/>
            </a:prstGeom>
          </p:spPr>
        </p:pic>
        <p:pic>
          <p:nvPicPr>
            <p:cNvPr id="37" name="Picture 22">
              <a:extLst>
                <a:ext uri="{FF2B5EF4-FFF2-40B4-BE49-F238E27FC236}">
                  <a16:creationId xmlns:a16="http://schemas.microsoft.com/office/drawing/2014/main" id="{8B39B747-937C-A236-6CDF-8B3D46BEC40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96890" y="5319554"/>
              <a:ext cx="365683" cy="381583"/>
            </a:xfrm>
            <a:prstGeom prst="rect">
              <a:avLst/>
            </a:prstGeom>
          </p:spPr>
        </p:pic>
        <p:pic>
          <p:nvPicPr>
            <p:cNvPr id="38" name="Picture 23">
              <a:extLst>
                <a:ext uri="{FF2B5EF4-FFF2-40B4-BE49-F238E27FC236}">
                  <a16:creationId xmlns:a16="http://schemas.microsoft.com/office/drawing/2014/main" id="{F3086995-5A4E-4EE7-308B-3E2B194E93D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506566" y="5239119"/>
              <a:ext cx="475224" cy="498986"/>
            </a:xfrm>
            <a:prstGeom prst="rect">
              <a:avLst/>
            </a:prstGeom>
          </p:spPr>
        </p:pic>
        <p:pic>
          <p:nvPicPr>
            <p:cNvPr id="39" name="Picture 24">
              <a:extLst>
                <a:ext uri="{FF2B5EF4-FFF2-40B4-BE49-F238E27FC236}">
                  <a16:creationId xmlns:a16="http://schemas.microsoft.com/office/drawing/2014/main" id="{14F2E23C-3C22-6547-5ADF-D98658772CB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575716" y="5238252"/>
              <a:ext cx="881478" cy="905302"/>
            </a:xfrm>
            <a:prstGeom prst="rect">
              <a:avLst/>
            </a:prstGeom>
          </p:spPr>
        </p:pic>
        <p:sp>
          <p:nvSpPr>
            <p:cNvPr id="40" name="Rectangle 25">
              <a:extLst>
                <a:ext uri="{FF2B5EF4-FFF2-40B4-BE49-F238E27FC236}">
                  <a16:creationId xmlns:a16="http://schemas.microsoft.com/office/drawing/2014/main" id="{9FE5E435-FC89-89EA-7009-D77D985EE62F}"/>
                </a:ext>
              </a:extLst>
            </p:cNvPr>
            <p:cNvSpPr/>
            <p:nvPr/>
          </p:nvSpPr>
          <p:spPr>
            <a:xfrm>
              <a:off x="4522231" y="5042620"/>
              <a:ext cx="982021" cy="177449"/>
            </a:xfrm>
            <a:prstGeom prst="rect">
              <a:avLst/>
            </a:prstGeom>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r>
                <a:rPr lang="en-US" sz="1000" dirty="0"/>
                <a:t>SCAN</a:t>
              </a:r>
              <a:endParaRPr lang="en-IN" sz="1000" dirty="0"/>
            </a:p>
          </p:txBody>
        </p:sp>
        <p:sp>
          <p:nvSpPr>
            <p:cNvPr id="41" name="Rectangle 26">
              <a:extLst>
                <a:ext uri="{FF2B5EF4-FFF2-40B4-BE49-F238E27FC236}">
                  <a16:creationId xmlns:a16="http://schemas.microsoft.com/office/drawing/2014/main" id="{0951F2F9-8062-17B3-B722-81CA49087CC9}"/>
                </a:ext>
              </a:extLst>
            </p:cNvPr>
            <p:cNvSpPr/>
            <p:nvPr/>
          </p:nvSpPr>
          <p:spPr>
            <a:xfrm>
              <a:off x="575436" y="5033127"/>
              <a:ext cx="3655744" cy="177449"/>
            </a:xfrm>
            <a:prstGeom prst="rect">
              <a:avLst/>
            </a:prstGeom>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r>
                <a:rPr lang="en-US" sz="1000" dirty="0"/>
                <a:t>CLICK</a:t>
              </a:r>
              <a:endParaRPr lang="en-IN" sz="1000" dirty="0"/>
            </a:p>
          </p:txBody>
        </p:sp>
      </p:grpSp>
      <p:sp>
        <p:nvSpPr>
          <p:cNvPr id="42" name="TextBox 27">
            <a:extLst>
              <a:ext uri="{FF2B5EF4-FFF2-40B4-BE49-F238E27FC236}">
                <a16:creationId xmlns:a16="http://schemas.microsoft.com/office/drawing/2014/main" id="{09DD9639-7994-B576-C300-A62477ED0561}"/>
              </a:ext>
            </a:extLst>
          </p:cNvPr>
          <p:cNvSpPr txBox="1"/>
          <p:nvPr/>
        </p:nvSpPr>
        <p:spPr>
          <a:xfrm>
            <a:off x="823897" y="532189"/>
            <a:ext cx="9894260" cy="284693"/>
          </a:xfrm>
          <a:prstGeom prst="rect">
            <a:avLst/>
          </a:prstGeom>
          <a:noFill/>
        </p:spPr>
        <p:txBody>
          <a:bodyPr wrap="square" rtlCol="0">
            <a:spAutoFit/>
          </a:bodyPr>
          <a:lstStyle/>
          <a:p>
            <a:r>
              <a:rPr lang="en-US" sz="1250" dirty="0">
                <a:solidFill>
                  <a:srgbClr val="0070C0"/>
                </a:solidFill>
              </a:rPr>
              <a:t>MARKET STATISTICS | DEMAND FORECASTING | COMPETITION EVALUATION | TRENDS &amp; DYNAMICS | PRICING DATA  |  ADVISORY  | CONSULTING</a:t>
            </a:r>
            <a:endParaRPr lang="en-IN" sz="1250" dirty="0">
              <a:solidFill>
                <a:srgbClr val="0070C0"/>
              </a:solidFill>
            </a:endParaRPr>
          </a:p>
        </p:txBody>
      </p:sp>
      <p:sp>
        <p:nvSpPr>
          <p:cNvPr id="43" name="TextBox 28">
            <a:extLst>
              <a:ext uri="{FF2B5EF4-FFF2-40B4-BE49-F238E27FC236}">
                <a16:creationId xmlns:a16="http://schemas.microsoft.com/office/drawing/2014/main" id="{8D98CB54-108E-88C4-13CA-F3F80064B81B}"/>
              </a:ext>
            </a:extLst>
          </p:cNvPr>
          <p:cNvSpPr txBox="1"/>
          <p:nvPr/>
        </p:nvSpPr>
        <p:spPr>
          <a:xfrm>
            <a:off x="7164663" y="1027258"/>
            <a:ext cx="3453384" cy="338554"/>
          </a:xfrm>
          <a:prstGeom prst="rect">
            <a:avLst/>
          </a:prstGeom>
          <a:noFill/>
        </p:spPr>
        <p:txBody>
          <a:bodyPr wrap="square" rtlCol="0">
            <a:spAutoFit/>
          </a:bodyPr>
          <a:lstStyle/>
          <a:p>
            <a:r>
              <a:rPr lang="en-US" sz="1600" dirty="0">
                <a:solidFill>
                  <a:srgbClr val="0070C0"/>
                </a:solidFill>
              </a:rPr>
              <a:t>Thank Your!! For Trusting Fact.MR</a:t>
            </a:r>
            <a:endParaRPr lang="en-IN" sz="1100" dirty="0">
              <a:solidFill>
                <a:srgbClr val="000000">
                  <a:lumMod val="50000"/>
                  <a:lumOff val="50000"/>
                </a:srgbClr>
              </a:solidFill>
            </a:endParaRP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
          <p:cNvSpPr/>
          <p:nvPr userDrawn="1"/>
        </p:nvSpPr>
        <p:spPr>
          <a:xfrm>
            <a:off x="-1" y="0"/>
            <a:ext cx="12188825" cy="6224588"/>
          </a:xfrm>
          <a:prstGeom prst="rect">
            <a:avLst/>
          </a:prstGeom>
          <a:solidFill>
            <a:srgbClr val="FFFFF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9" name="Footer Placeholder 1">
            <a:extLst>
              <a:ext uri="{FF2B5EF4-FFF2-40B4-BE49-F238E27FC236}">
                <a16:creationId xmlns:a16="http://schemas.microsoft.com/office/drawing/2014/main" id="{0792B2E1-BA9A-3A88-210A-A6E9BB2F3A0D}"/>
              </a:ext>
            </a:extLst>
          </p:cNvPr>
          <p:cNvSpPr>
            <a:spLocks noGrp="1"/>
          </p:cNvSpPr>
          <p:nvPr/>
        </p:nvSpPr>
        <p:spPr>
          <a:xfrm>
            <a:off x="152400" y="6513512"/>
            <a:ext cx="3466790" cy="269876"/>
          </a:xfrm>
        </p:spPr>
        <p:txBody>
          <a:bodyPr lIns="0" anchor="ctr">
            <a:noAutofit/>
          </a:bodyPr>
          <a:lstStyle>
            <a:lvl1pPr algn="l">
              <a:defRPr sz="1100">
                <a:solidFill>
                  <a:srgbClr val="FFFFFF"/>
                </a:solidFill>
                <a:latin typeface="+mn-lt"/>
              </a:defRPr>
            </a:lvl1pPr>
          </a:lstStyle>
          <a:p>
            <a:r>
              <a:rPr lang="en-US"/>
              <a:t>©2026 Fact.MR, All Rights Reserved</a:t>
            </a:r>
            <a:endParaRPr lang="en-US" dirty="0"/>
          </a:p>
        </p:txBody>
      </p:sp>
      <p:pic>
        <p:nvPicPr>
          <p:cNvPr id="30" name="Picture 3">
            <a:extLst>
              <a:ext uri="{FF2B5EF4-FFF2-40B4-BE49-F238E27FC236}">
                <a16:creationId xmlns:a16="http://schemas.microsoft.com/office/drawing/2014/main" id="{08A50285-99EB-6AE6-02AC-019726D162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058399" cy="6858000"/>
          </a:xfrm>
          <a:prstGeom prst="rect">
            <a:avLst/>
          </a:prstGeom>
        </p:spPr>
      </p:pic>
      <p:sp>
        <p:nvSpPr>
          <p:cNvPr id="31" name="Rectangle 5">
            <a:extLst>
              <a:ext uri="{FF2B5EF4-FFF2-40B4-BE49-F238E27FC236}">
                <a16:creationId xmlns:a16="http://schemas.microsoft.com/office/drawing/2014/main" id="{029B9271-A9D1-2B3F-65F7-8A09A85F6F61}"/>
              </a:ext>
            </a:extLst>
          </p:cNvPr>
          <p:cNvSpPr/>
          <p:nvPr/>
        </p:nvSpPr>
        <p:spPr>
          <a:xfrm>
            <a:off x="5151125" y="4115774"/>
            <a:ext cx="2212027" cy="1323439"/>
          </a:xfrm>
          <a:prstGeom prst="rect">
            <a:avLst/>
          </a:prstGeom>
        </p:spPr>
        <p:txBody>
          <a:bodyPr wrap="square">
            <a:spAutoFit/>
          </a:bodyPr>
          <a:lstStyle/>
          <a:p>
            <a:pPr algn="ctr"/>
            <a:r>
              <a:rPr lang="en-IN" sz="1600" dirty="0">
                <a:solidFill>
                  <a:srgbClr val="EAE5EB">
                    <a:lumMod val="25000"/>
                  </a:srgbClr>
                </a:solidFill>
              </a:rPr>
              <a:t>11140 Rockville Pike, Suite 400, Rockville,</a:t>
            </a:r>
            <a:br>
              <a:rPr lang="en-IN" sz="1600" dirty="0">
                <a:solidFill>
                  <a:srgbClr val="EAE5EB">
                    <a:lumMod val="25000"/>
                  </a:srgbClr>
                </a:solidFill>
              </a:rPr>
            </a:br>
            <a:r>
              <a:rPr lang="en-IN" sz="1600" dirty="0">
                <a:solidFill>
                  <a:srgbClr val="EAE5EB">
                    <a:lumMod val="25000"/>
                  </a:srgbClr>
                </a:solidFill>
              </a:rPr>
              <a:t>MD 20852,</a:t>
            </a:r>
            <a:br>
              <a:rPr lang="en-IN" sz="1600" dirty="0">
                <a:solidFill>
                  <a:srgbClr val="EAE5EB">
                    <a:lumMod val="25000"/>
                  </a:srgbClr>
                </a:solidFill>
              </a:rPr>
            </a:br>
            <a:r>
              <a:rPr lang="en-IN" sz="1600" dirty="0">
                <a:solidFill>
                  <a:srgbClr val="EAE5EB">
                    <a:lumMod val="25000"/>
                  </a:srgbClr>
                </a:solidFill>
              </a:rPr>
              <a:t>United States</a:t>
            </a:r>
          </a:p>
          <a:p>
            <a:pPr algn="ctr"/>
            <a:r>
              <a:rPr lang="en-IN" sz="1600" dirty="0">
                <a:solidFill>
                  <a:srgbClr val="EAE5EB">
                    <a:lumMod val="25000"/>
                  </a:srgbClr>
                </a:solidFill>
              </a:rPr>
              <a:t>Tel: +1 (628) 251-1583</a:t>
            </a:r>
          </a:p>
        </p:txBody>
      </p:sp>
      <p:sp>
        <p:nvSpPr>
          <p:cNvPr id="32" name="Rectangle 6">
            <a:extLst>
              <a:ext uri="{FF2B5EF4-FFF2-40B4-BE49-F238E27FC236}">
                <a16:creationId xmlns:a16="http://schemas.microsoft.com/office/drawing/2014/main" id="{571547CA-BD89-9E30-483A-7AEE46324227}"/>
              </a:ext>
            </a:extLst>
          </p:cNvPr>
          <p:cNvSpPr/>
          <p:nvPr/>
        </p:nvSpPr>
        <p:spPr>
          <a:xfrm>
            <a:off x="7989398" y="4115774"/>
            <a:ext cx="2348504" cy="1323439"/>
          </a:xfrm>
          <a:prstGeom prst="rect">
            <a:avLst/>
          </a:prstGeom>
        </p:spPr>
        <p:txBody>
          <a:bodyPr wrap="square">
            <a:spAutoFit/>
          </a:bodyPr>
          <a:lstStyle/>
          <a:p>
            <a:pPr algn="ctr"/>
            <a:r>
              <a:rPr lang="en-IN" sz="1600" dirty="0">
                <a:solidFill>
                  <a:srgbClr val="EAE5EB">
                    <a:lumMod val="25000"/>
                  </a:srgbClr>
                </a:solidFill>
              </a:rPr>
              <a:t>Suite 9884, 27 Upper Pembroke Street,</a:t>
            </a:r>
          </a:p>
          <a:p>
            <a:pPr algn="ctr"/>
            <a:r>
              <a:rPr lang="en-IN" sz="1600" dirty="0">
                <a:solidFill>
                  <a:srgbClr val="EAE5EB">
                    <a:lumMod val="25000"/>
                  </a:srgbClr>
                </a:solidFill>
              </a:rPr>
              <a:t>Dublin 2,</a:t>
            </a:r>
            <a:br>
              <a:rPr lang="en-IN" sz="1600" dirty="0">
                <a:solidFill>
                  <a:srgbClr val="EAE5EB">
                    <a:lumMod val="25000"/>
                  </a:srgbClr>
                </a:solidFill>
              </a:rPr>
            </a:br>
            <a:r>
              <a:rPr lang="en-IN" sz="1600" dirty="0">
                <a:solidFill>
                  <a:srgbClr val="EAE5EB">
                    <a:lumMod val="25000"/>
                  </a:srgbClr>
                </a:solidFill>
              </a:rPr>
              <a:t>Ireland</a:t>
            </a:r>
          </a:p>
          <a:p>
            <a:pPr algn="ctr"/>
            <a:r>
              <a:rPr lang="en-IN" sz="1600" dirty="0">
                <a:solidFill>
                  <a:srgbClr val="EAE5EB">
                    <a:lumMod val="25000"/>
                  </a:srgbClr>
                </a:solidFill>
              </a:rPr>
              <a:t>Tel: +353-1-4434-232 (D)</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